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av" ContentType="audio/x-wav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5"/>
  </p:notesMasterIdLst>
  <p:sldIdLst>
    <p:sldId id="262" r:id="rId2"/>
    <p:sldId id="264" r:id="rId3"/>
    <p:sldId id="273" r:id="rId4"/>
    <p:sldId id="263" r:id="rId5"/>
    <p:sldId id="265" r:id="rId6"/>
    <p:sldId id="267" r:id="rId7"/>
    <p:sldId id="266" r:id="rId8"/>
    <p:sldId id="274" r:id="rId9"/>
    <p:sldId id="268" r:id="rId10"/>
    <p:sldId id="269" r:id="rId11"/>
    <p:sldId id="272" r:id="rId12"/>
    <p:sldId id="270" r:id="rId13"/>
    <p:sldId id="271" r:id="rId1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811CF97-5BCE-4365-9853-7486CAEEC6DE}">
          <p14:sldIdLst>
            <p14:sldId id="262"/>
          </p14:sldIdLst>
        </p14:section>
        <p14:section name="micro:bit" id="{172194C1-BB1B-4A4D-B985-CC8AF15F9346}">
          <p14:sldIdLst>
            <p14:sldId id="264"/>
            <p14:sldId id="273"/>
          </p14:sldIdLst>
        </p14:section>
        <p14:section name="Morse Code" id="{51437BB4-8CFF-4FB8-9774-B27354A75F73}">
          <p14:sldIdLst>
            <p14:sldId id="263"/>
            <p14:sldId id="265"/>
            <p14:sldId id="267"/>
            <p14:sldId id="266"/>
            <p14:sldId id="274"/>
            <p14:sldId id="268"/>
          </p14:sldIdLst>
        </p14:section>
        <p14:section name="iDEA Award" id="{DC07E008-E0CF-4EAA-96DA-3F06DA55619E}">
          <p14:sldIdLst>
            <p14:sldId id="269"/>
            <p14:sldId id="272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D7EE"/>
    <a:srgbClr val="B2B2B2"/>
    <a:srgbClr val="0086B3"/>
    <a:srgbClr val="183691"/>
    <a:srgbClr val="4472C4"/>
    <a:srgbClr val="2F528F"/>
    <a:srgbClr val="5482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81383" autoAdjust="0"/>
  </p:normalViewPr>
  <p:slideViewPr>
    <p:cSldViewPr snapToGrid="0" showGuides="1">
      <p:cViewPr varScale="1">
        <p:scale>
          <a:sx n="54" d="100"/>
          <a:sy n="54" d="100"/>
        </p:scale>
        <p:origin x="900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words per minute (wpm): Hello</a:t>
            </a:r>
          </a:p>
          <a:p>
            <a:r>
              <a:rPr lang="en-GB" dirty="0"/>
              <a:t>Titanic: https://www.youtube.com/watch?v=TzUet_MLh8Q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5811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Task: https://mrfriendcs.github.io/s1/S1-SDD-Morse/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9250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SOS was picked as easy to be use, not because it meant anything.</a:t>
            </a:r>
          </a:p>
          <a:p>
            <a:r>
              <a:rPr lang="en-GB" dirty="0"/>
              <a:t>https://en.wikipedia.org/wiki/Q_code</a:t>
            </a:r>
          </a:p>
          <a:p>
            <a:r>
              <a:rPr lang="en-GB" dirty="0"/>
              <a:t>https://en.wikipedia.org/wiki/BATCO</a:t>
            </a:r>
          </a:p>
          <a:p>
            <a:r>
              <a:rPr lang="en-GB" dirty="0"/>
              <a:t>https://www.idahoares.info/_downloads/articles/DigitalComms/ACP131F09%20Operating%20(Z%20and%20Q)%20Signals.pdf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45199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Make </a:t>
            </a:r>
            <a:r>
              <a:rPr lang="en-GB"/>
              <a:t>own brevity codes – English / Gàidhlig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289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964BB-7D85-3557-B4C1-140CBC03A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6D543-A667-1370-DE66-7BEF4E590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AB2AAC-447E-AE92-B06E-0E98E69D2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C.7Fbe4MCp8H=x!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92CAF-B5F9-552D-FD0F-06AF084DED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84215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964BB-7D85-3557-B4C1-140CBC03A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6D543-A667-1370-DE66-7BEF4E590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AB2AAC-447E-AE92-B06E-0E98E69D2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92CAF-B5F9-552D-FD0F-06AF084DED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05894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4315D-424F-F713-CEB8-011B84902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EA6347-9F27-CE45-A829-AF5A3A922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F2E814-1A02-5CF1-76F4-897B90EFD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EBFCE-BA75-8F42-80A8-27F5A5F5F0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7991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audio" Target="../media/audio3.wav"/><Relationship Id="rId5" Type="http://schemas.openxmlformats.org/officeDocument/2006/relationships/audio" Target="../media/audio2.wav"/><Relationship Id="rId4" Type="http://schemas.openxmlformats.org/officeDocument/2006/relationships/audio" Target="../media/audio1.wav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wav"/><Relationship Id="rId7" Type="http://schemas.openxmlformats.org/officeDocument/2006/relationships/image" Target="../media/image2.png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6.xml"/><Relationship Id="rId4" Type="http://schemas.openxmlformats.org/officeDocument/2006/relationships/audio" Target="../media/media2.wav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S1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0FB59-6DD7-4566-9473-3C5EEAA75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micro:bit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38C75-3B13-4D75-85C4-477AFD2DA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197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12148-9529-439E-8A83-D89C6D310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micro:bit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9DF13-812A-4C28-B550-1C58865628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E12837-F442-4F47-9ABC-ACC0A71288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8563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0FB59-6DD7-4566-9473-3C5EEAA75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Morse Code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38C75-3B13-4D75-85C4-477AFD2DA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8057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E1A05-3EA3-4B3D-8591-CF55CA7CA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Morse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0BEDC-C070-438C-8BC4-447D1A1E3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Letters encoded as dots and dashes</a:t>
            </a:r>
          </a:p>
          <a:p>
            <a:r>
              <a:rPr lang="en-GB" b="1" i="1" dirty="0"/>
              <a:t>E</a:t>
            </a:r>
            <a:r>
              <a:rPr lang="en-GB" dirty="0"/>
              <a:t> is a single dot: </a:t>
            </a:r>
            <a:r>
              <a:rPr lang="en-GB" dirty="0">
                <a:solidFill>
                  <a:srgbClr val="FF0000"/>
                </a:solidFill>
              </a:rPr>
              <a:t>●</a:t>
            </a:r>
          </a:p>
          <a:p>
            <a:r>
              <a:rPr lang="en-GB" b="1" i="1" dirty="0"/>
              <a:t>Y</a:t>
            </a:r>
            <a:r>
              <a:rPr lang="en-GB" dirty="0"/>
              <a:t> is dash dot dash </a:t>
            </a:r>
            <a:r>
              <a:rPr lang="en-GB" dirty="0" err="1"/>
              <a:t>dash</a:t>
            </a:r>
            <a:r>
              <a:rPr lang="en-GB" dirty="0"/>
              <a:t> : </a:t>
            </a:r>
            <a:r>
              <a:rPr lang="en-GB" dirty="0">
                <a:solidFill>
                  <a:srgbClr val="FF0000"/>
                </a:solidFill>
              </a:rPr>
              <a:t>– ● – –</a:t>
            </a:r>
          </a:p>
          <a:p>
            <a:r>
              <a:rPr lang="en-GB" dirty="0"/>
              <a:t>Letters that are used lots are shorter</a:t>
            </a:r>
          </a:p>
          <a:p>
            <a:r>
              <a:rPr lang="en-GB" dirty="0"/>
              <a:t>Can be sent as sound, light, electricity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BBDA4-3CE9-4950-8CEC-D8EF36634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1771" y="365125"/>
            <a:ext cx="2717954" cy="6127750"/>
          </a:xfrm>
          <a:prstGeom prst="rect">
            <a:avLst/>
          </a:prstGeom>
        </p:spPr>
      </p:pic>
      <p:sp>
        <p:nvSpPr>
          <p:cNvPr id="5" name="Action Button: Go Forward or Next 4">
            <a:hlinkClick r:id="" action="ppaction://noaction" highlightClick="1">
              <a:snd r:embed="rId4" name="Hello 20 wpm.wav"/>
            </a:hlinkClick>
            <a:extLst>
              <a:ext uri="{FF2B5EF4-FFF2-40B4-BE49-F238E27FC236}">
                <a16:creationId xmlns:a16="http://schemas.microsoft.com/office/drawing/2014/main" id="{ADD600CF-B169-486E-8745-0F2B1990FAF8}"/>
              </a:ext>
            </a:extLst>
          </p:cNvPr>
          <p:cNvSpPr/>
          <p:nvPr/>
        </p:nvSpPr>
        <p:spPr>
          <a:xfrm>
            <a:off x="1779373" y="5782961"/>
            <a:ext cx="1080000" cy="72000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20</a:t>
            </a:r>
            <a:endParaRPr lang="en-GB" sz="2400" b="1" dirty="0"/>
          </a:p>
        </p:txBody>
      </p:sp>
      <p:sp>
        <p:nvSpPr>
          <p:cNvPr id="8" name="Action Button: Go Forward or Next 7">
            <a:hlinkClick r:id="" action="ppaction://noaction" highlightClick="1">
              <a:snd r:embed="rId5" name="Hello 10 wpm.wav"/>
            </a:hlinkClick>
            <a:extLst>
              <a:ext uri="{FF2B5EF4-FFF2-40B4-BE49-F238E27FC236}">
                <a16:creationId xmlns:a16="http://schemas.microsoft.com/office/drawing/2014/main" id="{EAB25F5F-C4F1-4B80-B552-470B1F8F855D}"/>
              </a:ext>
            </a:extLst>
          </p:cNvPr>
          <p:cNvSpPr/>
          <p:nvPr/>
        </p:nvSpPr>
        <p:spPr>
          <a:xfrm>
            <a:off x="3778030" y="5782961"/>
            <a:ext cx="1080000" cy="72000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10</a:t>
            </a:r>
          </a:p>
        </p:txBody>
      </p:sp>
      <p:sp>
        <p:nvSpPr>
          <p:cNvPr id="9" name="Action Button: Go Forward or Next 8">
            <a:hlinkClick r:id="" action="ppaction://noaction" highlightClick="1">
              <a:snd r:embed="rId6" name="Hello 5 wpm.wav"/>
            </a:hlinkClick>
            <a:extLst>
              <a:ext uri="{FF2B5EF4-FFF2-40B4-BE49-F238E27FC236}">
                <a16:creationId xmlns:a16="http://schemas.microsoft.com/office/drawing/2014/main" id="{C484783C-3202-4983-BA50-409E9B75AA4E}"/>
              </a:ext>
            </a:extLst>
          </p:cNvPr>
          <p:cNvSpPr/>
          <p:nvPr/>
        </p:nvSpPr>
        <p:spPr>
          <a:xfrm>
            <a:off x="5776686" y="5782961"/>
            <a:ext cx="1080000" cy="72000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001927-4A9E-4348-BD49-9A3F6F3E3666}"/>
              </a:ext>
            </a:extLst>
          </p:cNvPr>
          <p:cNvSpPr/>
          <p:nvPr/>
        </p:nvSpPr>
        <p:spPr>
          <a:xfrm>
            <a:off x="11689939" y="6488668"/>
            <a:ext cx="502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🚢</a:t>
            </a:r>
          </a:p>
        </p:txBody>
      </p:sp>
    </p:spTree>
    <p:extLst>
      <p:ext uri="{BB962C8B-B14F-4D97-AF65-F5344CB8AC3E}">
        <p14:creationId xmlns:p14="http://schemas.microsoft.com/office/powerpoint/2010/main" val="2662190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dah">
            <a:hlinkClick r:id="" action="ppaction://media"/>
            <a:extLst>
              <a:ext uri="{FF2B5EF4-FFF2-40B4-BE49-F238E27FC236}">
                <a16:creationId xmlns:a16="http://schemas.microsoft.com/office/drawing/2014/main" id="{015C1D76-62B7-4734-BE29-6440CDDB632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806273" y="4656667"/>
            <a:ext cx="406400" cy="406400"/>
          </a:xfrm>
          <a:prstGeom prst="rect">
            <a:avLst/>
          </a:prstGeom>
        </p:spPr>
      </p:pic>
      <p:pic>
        <p:nvPicPr>
          <p:cNvPr id="14" name="dit">
            <a:hlinkClick r:id="" action="ppaction://media"/>
            <a:extLst>
              <a:ext uri="{FF2B5EF4-FFF2-40B4-BE49-F238E27FC236}">
                <a16:creationId xmlns:a16="http://schemas.microsoft.com/office/drawing/2014/main" id="{2BE22A55-8B4E-40B9-BE3F-C377C2285BE0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792542" y="2913129"/>
            <a:ext cx="406400" cy="406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812A30-DF50-4A59-8B2E-36C79C53C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micro:bit</a:t>
            </a:r>
            <a:r>
              <a:rPr lang="en-GB" dirty="0"/>
              <a:t> Morse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2FF212-0334-47A0-8B99-C16756F0243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2249051"/>
            <a:ext cx="4100277" cy="33485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D2DF8E-D468-42BF-B347-C24CFA765E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3526" y="2249050"/>
            <a:ext cx="4100276" cy="334855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B5CEF11D-9B60-4CBA-A85F-F0B8E948EBBA}"/>
              </a:ext>
            </a:extLst>
          </p:cNvPr>
          <p:cNvSpPr/>
          <p:nvPr/>
        </p:nvSpPr>
        <p:spPr>
          <a:xfrm>
            <a:off x="1145166" y="3828757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76ABD3B-6AE7-4C8C-96D4-F0AB3CFDF0C7}"/>
              </a:ext>
            </a:extLst>
          </p:cNvPr>
          <p:cNvSpPr/>
          <p:nvPr/>
        </p:nvSpPr>
        <p:spPr>
          <a:xfrm>
            <a:off x="8854931" y="3593882"/>
            <a:ext cx="900000" cy="90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78523CA-49CC-4B2A-BBC7-31AC77E9772A}"/>
              </a:ext>
            </a:extLst>
          </p:cNvPr>
          <p:cNvSpPr/>
          <p:nvPr/>
        </p:nvSpPr>
        <p:spPr>
          <a:xfrm>
            <a:off x="4390995" y="3832189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C82590-2A0E-4AF4-B7A5-D222F7B50A5E}"/>
              </a:ext>
            </a:extLst>
          </p:cNvPr>
          <p:cNvSpPr/>
          <p:nvPr/>
        </p:nvSpPr>
        <p:spPr>
          <a:xfrm>
            <a:off x="8600929" y="3937434"/>
            <a:ext cx="1440000" cy="2160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Arrow: Curved Left 12">
            <a:extLst>
              <a:ext uri="{FF2B5EF4-FFF2-40B4-BE49-F238E27FC236}">
                <a16:creationId xmlns:a16="http://schemas.microsoft.com/office/drawing/2014/main" id="{F853702A-E672-4A56-9427-A465693D56DF}"/>
              </a:ext>
            </a:extLst>
          </p:cNvPr>
          <p:cNvSpPr/>
          <p:nvPr/>
        </p:nvSpPr>
        <p:spPr>
          <a:xfrm rot="16200000">
            <a:off x="5720027" y="268521"/>
            <a:ext cx="867285" cy="3305206"/>
          </a:xfrm>
          <a:prstGeom prst="curvedLeftArrow">
            <a:avLst>
              <a:gd name="adj1" fmla="val 25000"/>
              <a:gd name="adj2" fmla="val 67713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484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2" presetClass="exit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mediacall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245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750"/>
                            </p:stCondLst>
                            <p:childTnLst>
                              <p:par>
                                <p:cTn id="2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9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30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31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2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xit" presetSubtype="8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0"/>
                            </p:stCondLst>
                            <p:childTnLst>
                              <p:par>
                                <p:cTn id="4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5" dur="725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0"/>
                            </p:stCondLst>
                            <p:childTnLst>
                              <p:par>
                                <p:cTn id="47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4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5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  <p:bldLst>
      <p:bldP spid="7" grpId="0" animBg="1"/>
      <p:bldP spid="8" grpId="0" animBg="1"/>
      <p:bldP spid="8" grpId="1" animBg="1"/>
      <p:bldP spid="9" grpId="0" animBg="1"/>
      <p:bldP spid="12" grpId="0" animBg="1"/>
      <p:bldP spid="12" grpId="1" animBg="1"/>
      <p:bldP spid="13" grpId="0" animBg="1"/>
      <p:bldP spid="13" grpId="1" animBg="1"/>
      <p:bldP spid="13" grpId="2" animBg="1"/>
      <p:bldP spid="13" grpId="3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11540-3E01-475E-9749-B403C2177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Brevity Codes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537A0-03C2-41A9-87A1-03EC14BD1E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short code that means something longer</a:t>
            </a:r>
          </a:p>
          <a:p>
            <a:r>
              <a:rPr lang="en-GB" dirty="0"/>
              <a:t>LOL</a:t>
            </a:r>
          </a:p>
          <a:p>
            <a:r>
              <a:rPr lang="en-GB" dirty="0"/>
              <a:t>SOS</a:t>
            </a:r>
          </a:p>
          <a:p>
            <a:r>
              <a:rPr lang="en-GB" dirty="0"/>
              <a:t>Battle Code (</a:t>
            </a:r>
            <a:r>
              <a:rPr lang="en-GB" dirty="0" err="1"/>
              <a:t>BATCO</a:t>
            </a:r>
            <a:r>
              <a:rPr lang="en-GB" dirty="0"/>
              <a:t>) – British Army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03DA11-0DC5-4E85-AF30-61F07A382B9A}"/>
              </a:ext>
            </a:extLst>
          </p:cNvPr>
          <p:cNvSpPr txBox="1"/>
          <p:nvPr/>
        </p:nvSpPr>
        <p:spPr>
          <a:xfrm>
            <a:off x="1786461" y="2589744"/>
            <a:ext cx="30348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 Laugh Out Loud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AFEAB1-F44A-46E6-906F-29AC886E64CA}"/>
              </a:ext>
            </a:extLst>
          </p:cNvPr>
          <p:cNvSpPr txBox="1"/>
          <p:nvPr/>
        </p:nvSpPr>
        <p:spPr>
          <a:xfrm>
            <a:off x="1786461" y="3353863"/>
            <a:ext cx="28620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 </a:t>
            </a:r>
            <a:r>
              <a:rPr lang="en-GB" sz="3200" i="1" dirty="0"/>
              <a:t>Save Our Souls</a:t>
            </a:r>
          </a:p>
        </p:txBody>
      </p:sp>
    </p:spTree>
    <p:extLst>
      <p:ext uri="{BB962C8B-B14F-4D97-AF65-F5344CB8AC3E}">
        <p14:creationId xmlns:p14="http://schemas.microsoft.com/office/powerpoint/2010/main" val="461924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EE604-1976-406C-A04F-FBFAA914F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Brevity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4B1506-3798-43B8-9555-6B74BDCFEF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1157210"/>
              </p:ext>
            </p:extLst>
          </p:nvPr>
        </p:nvGraphicFramePr>
        <p:xfrm>
          <a:off x="838200" y="1825625"/>
          <a:ext cx="10515600" cy="463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0642">
                  <a:extLst>
                    <a:ext uri="{9D8B030D-6E8A-4147-A177-3AD203B41FA5}">
                      <a16:colId xmlns:a16="http://schemas.microsoft.com/office/drawing/2014/main" val="951556185"/>
                    </a:ext>
                  </a:extLst>
                </a:gridCol>
                <a:gridCol w="8004958">
                  <a:extLst>
                    <a:ext uri="{9D8B030D-6E8A-4147-A177-3AD203B41FA5}">
                      <a16:colId xmlns:a16="http://schemas.microsoft.com/office/drawing/2014/main" val="36430503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Meaning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954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KEE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How are you?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088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3200" dirty="0" err="1"/>
                        <a:t>KAA</a:t>
                      </a:r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Good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072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3200" dirty="0" err="1"/>
                        <a:t>KAB</a:t>
                      </a:r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Bad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696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4207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3200" dirty="0" err="1"/>
                        <a:t>KTC</a:t>
                      </a:r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Meet me at 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9922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3200" dirty="0" err="1"/>
                        <a:t>KXV</a:t>
                      </a:r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Foyer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456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9628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0160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885CD-2565-F9B2-8FD4-5EF0FB4E3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7C425A3-F1C0-53FB-7422-9419D059C3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3973512"/>
              </p:ext>
            </p:extLst>
          </p:nvPr>
        </p:nvGraphicFramePr>
        <p:xfrm>
          <a:off x="838200" y="1825625"/>
          <a:ext cx="10601186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618">
                  <a:extLst>
                    <a:ext uri="{9D8B030D-6E8A-4147-A177-3AD203B41FA5}">
                      <a16:colId xmlns:a16="http://schemas.microsoft.com/office/drawing/2014/main" val="317950728"/>
                    </a:ext>
                  </a:extLst>
                </a:gridCol>
                <a:gridCol w="4775200">
                  <a:extLst>
                    <a:ext uri="{9D8B030D-6E8A-4147-A177-3AD203B41FA5}">
                      <a16:colId xmlns:a16="http://schemas.microsoft.com/office/drawing/2014/main" val="4271928514"/>
                    </a:ext>
                  </a:extLst>
                </a:gridCol>
                <a:gridCol w="4822368">
                  <a:extLst>
                    <a:ext uri="{9D8B030D-6E8A-4147-A177-3AD203B41FA5}">
                      <a16:colId xmlns:a16="http://schemas.microsoft.com/office/drawing/2014/main" val="2765410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Answer, Advice or Order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03529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800" dirty="0"/>
                        <a:t>QEA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May I cross the runway ahead of you?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You may cross the runway ahead of me.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5184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800" dirty="0" err="1"/>
                        <a:t>QOD</a:t>
                      </a:r>
                      <a:endParaRPr lang="en-GB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Can you communicate with me in...</a:t>
                      </a:r>
                    </a:p>
                    <a:p>
                      <a:r>
                        <a:rPr lang="en-GB" sz="2400" dirty="0"/>
                        <a:t>0. Dutch 	1. English</a:t>
                      </a:r>
                    </a:p>
                    <a:p>
                      <a:r>
                        <a:rPr lang="en-GB" sz="2400" dirty="0"/>
                        <a:t>2. French 	3. German?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I can you communicate with you in...</a:t>
                      </a:r>
                    </a:p>
                    <a:p>
                      <a:r>
                        <a:rPr lang="en-GB" sz="2400" dirty="0"/>
                        <a:t>0. Dutch 	1. English</a:t>
                      </a:r>
                    </a:p>
                    <a:p>
                      <a:r>
                        <a:rPr lang="en-GB" sz="2400" dirty="0"/>
                        <a:t>2. French 	3. German?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648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800" dirty="0" err="1"/>
                        <a:t>QUS</a:t>
                      </a:r>
                      <a:endParaRPr lang="en-GB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Have you sighted survivors or wreckage?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Have sighted... </a:t>
                      </a:r>
                    </a:p>
                    <a:p>
                      <a:pPr marL="0" indent="0">
                        <a:buNone/>
                      </a:pPr>
                      <a:r>
                        <a:rPr lang="en-GB" sz="2400" dirty="0"/>
                        <a:t>1) survivors in water,</a:t>
                      </a:r>
                    </a:p>
                    <a:p>
                      <a:pPr marL="0" indent="0">
                        <a:buNone/>
                      </a:pPr>
                      <a:r>
                        <a:rPr lang="en-GB" sz="2400" dirty="0"/>
                        <a:t>2) survivors on rafts,</a:t>
                      </a:r>
                    </a:p>
                    <a:p>
                      <a:pPr marL="0" indent="0">
                        <a:buNone/>
                      </a:pPr>
                      <a:r>
                        <a:rPr lang="en-GB" sz="2400" dirty="0"/>
                        <a:t>3) wreckage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64558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AB5AC47F-9C27-3051-D195-43D66443F58E}"/>
              </a:ext>
            </a:extLst>
          </p:cNvPr>
          <p:cNvSpPr/>
          <p:nvPr/>
        </p:nvSpPr>
        <p:spPr>
          <a:xfrm>
            <a:off x="747486" y="2317749"/>
            <a:ext cx="10827657" cy="798831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D11E21-B118-7025-BB68-6AFA46DE4DAB}"/>
              </a:ext>
            </a:extLst>
          </p:cNvPr>
          <p:cNvSpPr/>
          <p:nvPr/>
        </p:nvSpPr>
        <p:spPr>
          <a:xfrm>
            <a:off x="838200" y="3116579"/>
            <a:ext cx="10827657" cy="119634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3FCF57-680C-3B21-95D2-6A1CD2E64DBF}"/>
              </a:ext>
            </a:extLst>
          </p:cNvPr>
          <p:cNvSpPr/>
          <p:nvPr/>
        </p:nvSpPr>
        <p:spPr>
          <a:xfrm>
            <a:off x="747486" y="4312919"/>
            <a:ext cx="10827657" cy="1573531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940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3FA91-EE48-6F0E-5082-7026C9049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0DD91-1F9B-0C93-DB8C-02887CB20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iDEA Award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F1230C-BA39-55DA-3DF8-B5AED8DE76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0765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AA212-8D61-7E0A-251F-1EA18250B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E1C6B-788B-C8A6-B07D-8BE93BA42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Bronze Award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25B6F-5918-AEC0-2CC2-248B1B81F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Award: </a:t>
            </a:r>
            <a:r>
              <a:rPr lang="en-GB" sz="4000" dirty="0">
                <a:solidFill>
                  <a:srgbClr val="7030A0"/>
                </a:solidFill>
              </a:rPr>
              <a:t>250 points</a:t>
            </a:r>
          </a:p>
          <a:p>
            <a:pPr lvl="1"/>
            <a:r>
              <a:rPr lang="en-GB" sz="4000" dirty="0"/>
              <a:t>Citizen: </a:t>
            </a:r>
            <a:r>
              <a:rPr lang="en-GB" sz="4000" dirty="0">
                <a:solidFill>
                  <a:srgbClr val="7030A0"/>
                </a:solidFill>
              </a:rPr>
              <a:t>50 points</a:t>
            </a:r>
          </a:p>
          <a:p>
            <a:pPr lvl="1"/>
            <a:r>
              <a:rPr lang="en-GB" sz="4000" dirty="0"/>
              <a:t>Worker: </a:t>
            </a:r>
            <a:r>
              <a:rPr lang="en-GB" sz="4000" dirty="0">
                <a:solidFill>
                  <a:srgbClr val="7030A0"/>
                </a:solidFill>
              </a:rPr>
              <a:t>50 points</a:t>
            </a:r>
          </a:p>
          <a:p>
            <a:pPr lvl="1"/>
            <a:r>
              <a:rPr lang="en-GB" sz="4000" dirty="0"/>
              <a:t>Maker: </a:t>
            </a:r>
            <a:r>
              <a:rPr lang="en-GB" sz="4000" dirty="0">
                <a:solidFill>
                  <a:srgbClr val="7030A0"/>
                </a:solidFill>
              </a:rPr>
              <a:t>50 points</a:t>
            </a:r>
          </a:p>
          <a:p>
            <a:pPr lvl="1"/>
            <a:r>
              <a:rPr lang="en-GB" sz="4000" dirty="0"/>
              <a:t>Entrepreneur: </a:t>
            </a:r>
            <a:r>
              <a:rPr lang="en-GB" sz="4000" dirty="0">
                <a:solidFill>
                  <a:srgbClr val="7030A0"/>
                </a:solidFill>
              </a:rPr>
              <a:t>50 points</a:t>
            </a:r>
          </a:p>
        </p:txBody>
      </p:sp>
    </p:spTree>
    <p:extLst>
      <p:ext uri="{BB962C8B-B14F-4D97-AF65-F5344CB8AC3E}">
        <p14:creationId xmlns:p14="http://schemas.microsoft.com/office/powerpoint/2010/main" val="155606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AA212-8D61-7E0A-251F-1EA18250B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E1C6B-788B-C8A6-B07D-8BE93BA42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Sign Up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25B6F-5918-AEC0-2CC2-248B1B81F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Website: </a:t>
            </a:r>
            <a:r>
              <a:rPr lang="en-GB" sz="4000" dirty="0">
                <a:solidFill>
                  <a:srgbClr val="7030A0"/>
                </a:solidFill>
              </a:rPr>
              <a:t>idea.org.uk</a:t>
            </a:r>
          </a:p>
          <a:p>
            <a:r>
              <a:rPr lang="en-GB" sz="4000" dirty="0"/>
              <a:t>Glow email: </a:t>
            </a:r>
            <a:r>
              <a:rPr lang="en-GB" sz="4000" dirty="0">
                <a:solidFill>
                  <a:srgbClr val="7030A0"/>
                </a:solidFill>
              </a:rPr>
              <a:t>es</a:t>
            </a:r>
            <a:r>
              <a:rPr lang="en-GB" sz="4000" i="1" dirty="0">
                <a:solidFill>
                  <a:srgbClr val="FF0000"/>
                </a:solidFill>
              </a:rPr>
              <a:t>&lt;username&gt;</a:t>
            </a:r>
            <a:r>
              <a:rPr lang="en-GB" sz="4000" dirty="0">
                <a:solidFill>
                  <a:srgbClr val="7030A0"/>
                </a:solidFill>
              </a:rPr>
              <a:t>@glow.sch.uk</a:t>
            </a:r>
          </a:p>
          <a:p>
            <a:r>
              <a:rPr lang="en-GB" sz="4000" dirty="0"/>
              <a:t>Group code: </a:t>
            </a:r>
            <a:r>
              <a:rPr lang="en-GB" sz="4000" dirty="0">
                <a:solidFill>
                  <a:srgbClr val="7030A0"/>
                </a:solidFill>
              </a:rPr>
              <a:t>S1_2025-26</a:t>
            </a:r>
          </a:p>
          <a:p>
            <a:r>
              <a:rPr lang="en-GB" sz="4000" dirty="0"/>
              <a:t>Nickname: </a:t>
            </a:r>
            <a:r>
              <a:rPr lang="en-GB" sz="4000" dirty="0">
                <a:solidFill>
                  <a:srgbClr val="7030A0"/>
                </a:solidFill>
              </a:rPr>
              <a:t>es</a:t>
            </a:r>
            <a:r>
              <a:rPr lang="en-GB" sz="4000" i="1" dirty="0">
                <a:solidFill>
                  <a:srgbClr val="FF0000"/>
                </a:solidFill>
              </a:rPr>
              <a:t>&lt;username&gt;</a:t>
            </a:r>
            <a:endParaRPr lang="en-GB" sz="4000" dirty="0"/>
          </a:p>
          <a:p>
            <a:r>
              <a:rPr lang="en-GB" sz="4000" dirty="0"/>
              <a:t>Save login details in personal OneNote</a:t>
            </a:r>
          </a:p>
        </p:txBody>
      </p:sp>
    </p:spTree>
    <p:extLst>
      <p:ext uri="{BB962C8B-B14F-4D97-AF65-F5344CB8AC3E}">
        <p14:creationId xmlns:p14="http://schemas.microsoft.com/office/powerpoint/2010/main" val="737452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00316-FFAF-848A-62E6-567B84F7D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FE51B-90F4-F436-9347-2DE4740B8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Sign Up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1BE9B-0866-87E4-8945-91BA2AD78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Recovery email: </a:t>
            </a:r>
            <a:r>
              <a:rPr lang="en-GB" sz="4000" dirty="0">
                <a:solidFill>
                  <a:srgbClr val="7030A0"/>
                </a:solidFill>
              </a:rPr>
              <a:t>No</a:t>
            </a:r>
          </a:p>
          <a:p>
            <a:r>
              <a:rPr lang="en-GB" sz="4000" dirty="0"/>
              <a:t>Email updates: </a:t>
            </a:r>
            <a:r>
              <a:rPr lang="en-GB" sz="4000" dirty="0">
                <a:solidFill>
                  <a:srgbClr val="7030A0"/>
                </a:solidFill>
              </a:rPr>
              <a:t>No</a:t>
            </a:r>
          </a:p>
          <a:p>
            <a:r>
              <a:rPr lang="en-GB" sz="4000" dirty="0"/>
              <a:t>Group code: </a:t>
            </a:r>
            <a:r>
              <a:rPr lang="en-GB" sz="4000" dirty="0">
                <a:solidFill>
                  <a:srgbClr val="7030A0"/>
                </a:solidFill>
              </a:rPr>
              <a:t>S1_2025-26</a:t>
            </a:r>
          </a:p>
          <a:p>
            <a:r>
              <a:rPr lang="en-GB" sz="4000" dirty="0"/>
              <a:t>Guardian's name: </a:t>
            </a:r>
            <a:r>
              <a:rPr lang="en-GB" sz="4000" dirty="0">
                <a:solidFill>
                  <a:srgbClr val="7030A0"/>
                </a:solidFill>
              </a:rPr>
              <a:t>Mr Friend</a:t>
            </a:r>
          </a:p>
          <a:p>
            <a:r>
              <a:rPr lang="en-GB" sz="4000" dirty="0"/>
              <a:t>Guardian's email: </a:t>
            </a:r>
            <a:r>
              <a:rPr lang="en-GB" sz="4000" dirty="0">
                <a:solidFill>
                  <a:srgbClr val="7030A0"/>
                </a:solidFill>
              </a:rPr>
              <a:t>es</a:t>
            </a:r>
            <a:r>
              <a:rPr lang="en-GB" sz="4000" i="1" dirty="0">
                <a:solidFill>
                  <a:srgbClr val="FF0000"/>
                </a:solidFill>
              </a:rPr>
              <a:t>afriend1r</a:t>
            </a:r>
            <a:r>
              <a:rPr lang="en-GB" sz="4000" dirty="0">
                <a:solidFill>
                  <a:srgbClr val="7030A0"/>
                </a:solidFill>
              </a:rPr>
              <a:t>@glow.sch.uk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4B726B-FCCB-E788-B191-55BF2F0E56E6}"/>
              </a:ext>
            </a:extLst>
          </p:cNvPr>
          <p:cNvSpPr txBox="1"/>
          <p:nvPr/>
        </p:nvSpPr>
        <p:spPr>
          <a:xfrm>
            <a:off x="8191849" y="4001294"/>
            <a:ext cx="365906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Use parent's details, if email known</a:t>
            </a:r>
          </a:p>
        </p:txBody>
      </p:sp>
    </p:spTree>
    <p:extLst>
      <p:ext uri="{BB962C8B-B14F-4D97-AF65-F5344CB8AC3E}">
        <p14:creationId xmlns:p14="http://schemas.microsoft.com/office/powerpoint/2010/main" val="1445285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438</Words>
  <Application>Microsoft Office PowerPoint</Application>
  <PresentationFormat>Widescreen</PresentationFormat>
  <Paragraphs>92</Paragraphs>
  <Slides>13</Slides>
  <Notes>8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S1 Computing Science</vt:lpstr>
      <vt:lpstr>micro:bit</vt:lpstr>
      <vt:lpstr>micro:bit</vt:lpstr>
      <vt:lpstr>Morse Code</vt:lpstr>
      <vt:lpstr>Morse Code</vt:lpstr>
      <vt:lpstr>micro:bit Morse</vt:lpstr>
      <vt:lpstr>Brevity Codes</vt:lpstr>
      <vt:lpstr>Create Brevity Codes</vt:lpstr>
      <vt:lpstr>Q Codes</vt:lpstr>
      <vt:lpstr>iDEA Award</vt:lpstr>
      <vt:lpstr>Bronze Award</vt:lpstr>
      <vt:lpstr>Sign Up (1)</vt:lpstr>
      <vt:lpstr>Sign Up (2)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2026-03-13T11:07:20Z</dcterms:modified>
</cp:coreProperties>
</file>
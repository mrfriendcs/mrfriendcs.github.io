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4"/>
  </p:notesMasterIdLst>
  <p:sldIdLst>
    <p:sldId id="262" r:id="rId2"/>
    <p:sldId id="264" r:id="rId3"/>
    <p:sldId id="273" r:id="rId4"/>
    <p:sldId id="263" r:id="rId5"/>
    <p:sldId id="265" r:id="rId6"/>
    <p:sldId id="267" r:id="rId7"/>
    <p:sldId id="266" r:id="rId8"/>
    <p:sldId id="268" r:id="rId9"/>
    <p:sldId id="269" r:id="rId10"/>
    <p:sldId id="272" r:id="rId11"/>
    <p:sldId id="270" r:id="rId12"/>
    <p:sldId id="271" r:id="rId13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11CF97-5BCE-4365-9853-7486CAEEC6DE}">
          <p14:sldIdLst>
            <p14:sldId id="262"/>
          </p14:sldIdLst>
        </p14:section>
        <p14:section name="micro:bit" id="{172194C1-BB1B-4A4D-B985-CC8AF15F9346}">
          <p14:sldIdLst>
            <p14:sldId id="264"/>
            <p14:sldId id="273"/>
          </p14:sldIdLst>
        </p14:section>
        <p14:section name="Morse Code" id="{51437BB4-8CFF-4FB8-9774-B27354A75F73}">
          <p14:sldIdLst>
            <p14:sldId id="263"/>
            <p14:sldId id="265"/>
            <p14:sldId id="267"/>
            <p14:sldId id="266"/>
            <p14:sldId id="268"/>
          </p14:sldIdLst>
        </p14:section>
        <p14:section name="iDEA Award" id="{DC07E008-E0CF-4EAA-96DA-3F06DA55619E}">
          <p14:sldIdLst>
            <p14:sldId id="269"/>
            <p14:sldId id="272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  <a:srgbClr val="B2B2B2"/>
    <a:srgbClr val="0086B3"/>
    <a:srgbClr val="183691"/>
    <a:srgbClr val="4472C4"/>
    <a:srgbClr val="2F528F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 autoAdjust="0"/>
    <p:restoredTop sz="81383" autoAdjust="0"/>
  </p:normalViewPr>
  <p:slideViewPr>
    <p:cSldViewPr snapToGrid="0" showGuides="1">
      <p:cViewPr varScale="1">
        <p:scale>
          <a:sx n="54" d="100"/>
          <a:sy n="54" d="100"/>
        </p:scale>
        <p:origin x="90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E35528A-819C-4AD3-BDC3-2CDCE7BEAF5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B71FE5B5-A979-4370-A255-218EAB36A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0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16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words per minute (wpm): Hello</a:t>
            </a:r>
          </a:p>
          <a:p>
            <a:r>
              <a:rPr lang="en-GB" dirty="0"/>
              <a:t>Titanic: https://www.youtube.com/watch?v=TzUet_MLh8Q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581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Task: https://mrfriendcs.github.io/s1/S1-SDD-Morse/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250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SOS was picked as easy to be use, not because it meant anything.</a:t>
            </a:r>
          </a:p>
          <a:p>
            <a:r>
              <a:rPr lang="en-GB" dirty="0"/>
              <a:t>https://en.wikipedia.org/wiki/Q_code</a:t>
            </a:r>
          </a:p>
          <a:p>
            <a:r>
              <a:rPr lang="en-GB" dirty="0"/>
              <a:t>https://en.wikipedia.org/wiki/BATCO</a:t>
            </a:r>
          </a:p>
          <a:p>
            <a:r>
              <a:rPr lang="en-GB" dirty="0"/>
              <a:t>https://www.idahoares.info/_downloads/articles/DigitalComms/ACP131F09%20Operating%20(Z%20and%20Q)%20Signals.pdf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519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Make </a:t>
            </a:r>
            <a:r>
              <a:rPr lang="en-GB"/>
              <a:t>own brevity codes – English / Gàidhlig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8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64BB-7D85-3557-B4C1-140CBC03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6D543-A667-1370-DE66-7BEF4E590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B2AAC-447E-AE92-B06E-0E98E69D2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C.7Fbe4MCp8H=x!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92CAF-B5F9-552D-FD0F-06AF084DE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421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64BB-7D85-3557-B4C1-140CBC03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6D543-A667-1370-DE66-7BEF4E590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B2AAC-447E-AE92-B06E-0E98E69D2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92CAF-B5F9-552D-FD0F-06AF084DE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589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315D-424F-F713-CEB8-011B8490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A6347-9F27-CE45-A829-AF5A3A922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2E814-1A02-5CF1-76F4-897B90EFD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EBFCE-BA75-8F42-80A8-27F5A5F5F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991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564-5510-4968-B83C-E0988A9D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D860D-1211-4E26-A35E-A80BC376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5969-3F05-4100-9F8A-DB9A82EB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9FB1B-2516-429F-B867-4823287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1741A-33DE-4C5E-8C9F-B4AD75D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201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5E7B-67B3-496A-822C-C32976D9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EDAD-10D4-47B6-8F35-0155F7D63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0D4F-7E43-4DFE-B626-E846C85B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DBDD-527D-4909-8BEF-723EEB35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5016-CD99-4792-B5CE-4FC2732A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972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A82-2BA5-4E38-B83A-773E8009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DA602-023E-4AF2-8A02-5ED3BE4E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AF83-9AAB-4395-A1CD-8B1810E8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4F5F-ED11-4FF4-8082-EF13CCF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B83B-7338-4290-BCDC-071F1F55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5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38D4-5905-4C6E-BCBB-B9407311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C15E6-8B9A-4199-90FC-6E9303270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19C19-84FB-4E02-8D3E-A145EF70F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29DE-CB61-4172-B1A0-5F570A6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8137-140C-4C10-9A2D-A8BEA88D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88274-F0A0-4D87-9901-05DB5CB1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0B87-D3F8-4BAA-8DE3-3836317B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ADC46-22A7-453D-BB94-D1CA48C5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35B5B-116B-4974-BF81-F7294090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9685-D393-44B4-B943-5A951A472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29B97-30F9-4234-A140-11E2C150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  <a:lvl2pPr>
              <a:lnSpc>
                <a:spcPct val="100000"/>
              </a:lnSpc>
              <a:spcAft>
                <a:spcPts val="1200"/>
              </a:spcAft>
              <a:defRPr/>
            </a:lvl2pPr>
            <a:lvl3pPr>
              <a:lnSpc>
                <a:spcPct val="100000"/>
              </a:lnSpc>
              <a:spcAft>
                <a:spcPts val="1200"/>
              </a:spcAft>
              <a:defRPr/>
            </a:lvl3pPr>
            <a:lvl4pPr>
              <a:lnSpc>
                <a:spcPct val="100000"/>
              </a:lnSpc>
              <a:spcAft>
                <a:spcPts val="1200"/>
              </a:spcAft>
              <a:defRPr/>
            </a:lvl4pPr>
            <a:lvl5pPr>
              <a:lnSpc>
                <a:spcPct val="100000"/>
              </a:lnSpc>
              <a:spcAft>
                <a:spcPts val="12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D1C8F-089B-4A81-946C-8404750F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E9EF7-FF78-45D1-965B-99664AD0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1DFC4-4931-4DBE-A0A7-A1E0A15D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4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7CCB-CA9F-4F77-978B-946CBCC2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2E69A-AA02-4CC0-9FE5-3C50B8F4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0F08-87A5-4B96-B446-1337E28A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3645-39BF-4DC7-A6DC-E10EB4E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463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6AF93-0450-4C93-8AED-561C8D0B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36096-32F7-4552-856B-0F42E86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2CEA9-085F-4023-8477-F0F082AE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01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9064-4077-4B58-8BD0-E8642C90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7D8E-F32F-4041-9FDE-C12CBB527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3200"/>
            </a:lvl1pPr>
            <a:lvl2pPr>
              <a:lnSpc>
                <a:spcPct val="100000"/>
              </a:lnSpc>
              <a:spcAft>
                <a:spcPts val="1200"/>
              </a:spcAft>
              <a:defRPr sz="2800"/>
            </a:lvl2pPr>
            <a:lvl3pPr>
              <a:lnSpc>
                <a:spcPct val="100000"/>
              </a:lnSpc>
              <a:spcAft>
                <a:spcPts val="1200"/>
              </a:spcAft>
              <a:defRPr sz="24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lnSpc>
                <a:spcPct val="100000"/>
              </a:lnSpc>
              <a:spcAft>
                <a:spcPts val="12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CF05-D7DF-470D-8951-656268BB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19F6-CB71-4073-820E-814F731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668D-5D63-440F-B937-227682F0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DC044-699A-457B-A741-69E8543C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CDCB-7EE6-4D7B-9EC9-99982982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A68D7-4A60-4176-AEF9-C7224992D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DDFE-E588-428C-9ACE-BF6D4DC2B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AD98-EFA3-40FD-B220-0CEFA3B0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92CB-8784-44CD-8BE4-F038F0D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88F3-B6B9-4DE8-80B4-B31DCC6F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70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7571-E3AA-47DA-8A99-A8577E9E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6407A-F3C5-4467-999F-12834F3D5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1D0D-C52B-4D14-AEAB-FF648467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58F66-3EB8-48B5-B410-20C1141D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5733-F1B0-47F6-B3EA-C32A5911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81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78E59-2798-47E7-97DF-12EB43D4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F44B-7DC4-4852-9AAB-98C84D69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EF75-C039-4933-808F-7735F402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11B2-1EEF-4630-AB8B-1FC4D8E1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3AA0-545D-40FB-A090-776833B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9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34EA5-96D5-44F8-8B2E-EB636C3A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96C3A-1C2D-4B6E-9BA6-958361A9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72CA-E085-451A-A6D7-D31116C42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66F6-7471-47DA-8EED-C7BCCA53B015}" type="datetimeFigureOut">
              <a:rPr lang="en-GB" noProof="0" smtClean="0"/>
              <a:t>24/02/2026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A142-8F89-49C4-92C2-0106F5541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D0BA0-3B07-4BE4-ACEC-E0EC8756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9890C-4870-410D-A143-591B2BA0A39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924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3.wav"/><Relationship Id="rId5" Type="http://schemas.openxmlformats.org/officeDocument/2006/relationships/audio" Target="../media/audio2.wav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wav"/><Relationship Id="rId7" Type="http://schemas.openxmlformats.org/officeDocument/2006/relationships/image" Target="../media/image2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S1 Computing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37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FB59-6DD7-4566-9473-3C5EEAA7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micro:bit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38C75-3B13-4D75-85C4-477AFD2D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97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2148-9529-439E-8A83-D89C6D31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micro:bit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DF13-812A-4C28-B550-1C58865628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12837-F442-4F47-9ABC-ACC0A71288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56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FB59-6DD7-4566-9473-3C5EEAA7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Morse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38C75-3B13-4D75-85C4-477AFD2D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05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1A05-3EA3-4B3D-8591-CF55CA7C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Morse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0BEDC-C070-438C-8BC4-447D1A1E3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Letters encoded as dots and dashes</a:t>
            </a:r>
          </a:p>
          <a:p>
            <a:r>
              <a:rPr lang="en-GB" b="1" i="1" dirty="0"/>
              <a:t>E</a:t>
            </a:r>
            <a:r>
              <a:rPr lang="en-GB" dirty="0"/>
              <a:t> is a single dot: </a:t>
            </a:r>
            <a:r>
              <a:rPr lang="en-GB" dirty="0">
                <a:solidFill>
                  <a:srgbClr val="FF0000"/>
                </a:solidFill>
              </a:rPr>
              <a:t>●</a:t>
            </a:r>
          </a:p>
          <a:p>
            <a:r>
              <a:rPr lang="en-GB" b="1" i="1" dirty="0"/>
              <a:t>Y</a:t>
            </a:r>
            <a:r>
              <a:rPr lang="en-GB" dirty="0"/>
              <a:t> is dash dot dash </a:t>
            </a:r>
            <a:r>
              <a:rPr lang="en-GB" dirty="0" err="1"/>
              <a:t>dash</a:t>
            </a:r>
            <a:r>
              <a:rPr lang="en-GB" dirty="0"/>
              <a:t> : </a:t>
            </a:r>
            <a:r>
              <a:rPr lang="en-GB" dirty="0">
                <a:solidFill>
                  <a:srgbClr val="FF0000"/>
                </a:solidFill>
              </a:rPr>
              <a:t>– ● – –</a:t>
            </a:r>
          </a:p>
          <a:p>
            <a:r>
              <a:rPr lang="en-GB" dirty="0"/>
              <a:t>Letters that are used lots are shorter</a:t>
            </a:r>
          </a:p>
          <a:p>
            <a:r>
              <a:rPr lang="en-GB" dirty="0"/>
              <a:t>Can be sent as sound, light, electricity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BBDA4-3CE9-4950-8CEC-D8EF36634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771" y="365125"/>
            <a:ext cx="2717954" cy="6127750"/>
          </a:xfrm>
          <a:prstGeom prst="rect">
            <a:avLst/>
          </a:prstGeom>
        </p:spPr>
      </p:pic>
      <p:sp>
        <p:nvSpPr>
          <p:cNvPr id="5" name="Action Button: Go Forward or Next 4">
            <a:hlinkClick r:id="" action="ppaction://noaction" highlightClick="1">
              <a:snd r:embed="rId4" name="Hello 20 wpm.wav"/>
            </a:hlinkClick>
            <a:extLst>
              <a:ext uri="{FF2B5EF4-FFF2-40B4-BE49-F238E27FC236}">
                <a16:creationId xmlns:a16="http://schemas.microsoft.com/office/drawing/2014/main" id="{ADD600CF-B169-486E-8745-0F2B1990FAF8}"/>
              </a:ext>
            </a:extLst>
          </p:cNvPr>
          <p:cNvSpPr/>
          <p:nvPr/>
        </p:nvSpPr>
        <p:spPr>
          <a:xfrm>
            <a:off x="1779373" y="5782961"/>
            <a:ext cx="1080000" cy="7200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20</a:t>
            </a:r>
            <a:endParaRPr lang="en-GB" sz="2400" b="1" dirty="0"/>
          </a:p>
        </p:txBody>
      </p:sp>
      <p:sp>
        <p:nvSpPr>
          <p:cNvPr id="8" name="Action Button: Go Forward or Next 7">
            <a:hlinkClick r:id="" action="ppaction://noaction" highlightClick="1">
              <a:snd r:embed="rId5" name="Hello 10 wpm.wav"/>
            </a:hlinkClick>
            <a:extLst>
              <a:ext uri="{FF2B5EF4-FFF2-40B4-BE49-F238E27FC236}">
                <a16:creationId xmlns:a16="http://schemas.microsoft.com/office/drawing/2014/main" id="{EAB25F5F-C4F1-4B80-B552-470B1F8F855D}"/>
              </a:ext>
            </a:extLst>
          </p:cNvPr>
          <p:cNvSpPr/>
          <p:nvPr/>
        </p:nvSpPr>
        <p:spPr>
          <a:xfrm>
            <a:off x="3778030" y="5782961"/>
            <a:ext cx="1080000" cy="7200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10</a:t>
            </a:r>
          </a:p>
        </p:txBody>
      </p:sp>
      <p:sp>
        <p:nvSpPr>
          <p:cNvPr id="9" name="Action Button: Go Forward or Next 8">
            <a:hlinkClick r:id="" action="ppaction://noaction" highlightClick="1">
              <a:snd r:embed="rId6" name="Hello 5 wpm.wav"/>
            </a:hlinkClick>
            <a:extLst>
              <a:ext uri="{FF2B5EF4-FFF2-40B4-BE49-F238E27FC236}">
                <a16:creationId xmlns:a16="http://schemas.microsoft.com/office/drawing/2014/main" id="{C484783C-3202-4983-BA50-409E9B75AA4E}"/>
              </a:ext>
            </a:extLst>
          </p:cNvPr>
          <p:cNvSpPr/>
          <p:nvPr/>
        </p:nvSpPr>
        <p:spPr>
          <a:xfrm>
            <a:off x="5776686" y="5782961"/>
            <a:ext cx="1080000" cy="7200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001927-4A9E-4348-BD49-9A3F6F3E3666}"/>
              </a:ext>
            </a:extLst>
          </p:cNvPr>
          <p:cNvSpPr/>
          <p:nvPr/>
        </p:nvSpPr>
        <p:spPr>
          <a:xfrm>
            <a:off x="11689939" y="6488668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🚢</a:t>
            </a:r>
          </a:p>
        </p:txBody>
      </p:sp>
    </p:spTree>
    <p:extLst>
      <p:ext uri="{BB962C8B-B14F-4D97-AF65-F5344CB8AC3E}">
        <p14:creationId xmlns:p14="http://schemas.microsoft.com/office/powerpoint/2010/main" val="266219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dah">
            <a:hlinkClick r:id="" action="ppaction://media"/>
            <a:extLst>
              <a:ext uri="{FF2B5EF4-FFF2-40B4-BE49-F238E27FC236}">
                <a16:creationId xmlns:a16="http://schemas.microsoft.com/office/drawing/2014/main" id="{015C1D76-62B7-4734-BE29-6440CDDB63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806273" y="4656667"/>
            <a:ext cx="406400" cy="406400"/>
          </a:xfrm>
          <a:prstGeom prst="rect">
            <a:avLst/>
          </a:prstGeom>
        </p:spPr>
      </p:pic>
      <p:pic>
        <p:nvPicPr>
          <p:cNvPr id="14" name="dit">
            <a:hlinkClick r:id="" action="ppaction://media"/>
            <a:extLst>
              <a:ext uri="{FF2B5EF4-FFF2-40B4-BE49-F238E27FC236}">
                <a16:creationId xmlns:a16="http://schemas.microsoft.com/office/drawing/2014/main" id="{2BE22A55-8B4E-40B9-BE3F-C377C2285BE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92542" y="2913129"/>
            <a:ext cx="406400" cy="40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812A30-DF50-4A59-8B2E-36C79C53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micro:bit</a:t>
            </a:r>
            <a:r>
              <a:rPr lang="en-GB" dirty="0"/>
              <a:t> Morse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FF212-0334-47A0-8B99-C16756F024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249051"/>
            <a:ext cx="4100277" cy="3348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D2DF8E-D468-42BF-B347-C24CFA765E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526" y="2249050"/>
            <a:ext cx="4100276" cy="334855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5CEF11D-9B60-4CBA-A85F-F0B8E948EBBA}"/>
              </a:ext>
            </a:extLst>
          </p:cNvPr>
          <p:cNvSpPr/>
          <p:nvPr/>
        </p:nvSpPr>
        <p:spPr>
          <a:xfrm>
            <a:off x="1145166" y="3828757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6ABD3B-6AE7-4C8C-96D4-F0AB3CFDF0C7}"/>
              </a:ext>
            </a:extLst>
          </p:cNvPr>
          <p:cNvSpPr/>
          <p:nvPr/>
        </p:nvSpPr>
        <p:spPr>
          <a:xfrm>
            <a:off x="8854931" y="3593882"/>
            <a:ext cx="900000" cy="90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8523CA-49CC-4B2A-BBC7-31AC77E9772A}"/>
              </a:ext>
            </a:extLst>
          </p:cNvPr>
          <p:cNvSpPr/>
          <p:nvPr/>
        </p:nvSpPr>
        <p:spPr>
          <a:xfrm>
            <a:off x="4390995" y="3832189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C82590-2A0E-4AF4-B7A5-D222F7B50A5E}"/>
              </a:ext>
            </a:extLst>
          </p:cNvPr>
          <p:cNvSpPr/>
          <p:nvPr/>
        </p:nvSpPr>
        <p:spPr>
          <a:xfrm>
            <a:off x="8600929" y="3937434"/>
            <a:ext cx="1440000" cy="216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F853702A-E672-4A56-9427-A465693D56DF}"/>
              </a:ext>
            </a:extLst>
          </p:cNvPr>
          <p:cNvSpPr/>
          <p:nvPr/>
        </p:nvSpPr>
        <p:spPr>
          <a:xfrm rot="16200000">
            <a:off x="5720027" y="268521"/>
            <a:ext cx="867285" cy="3305206"/>
          </a:xfrm>
          <a:prstGeom prst="curvedLeftArrow">
            <a:avLst>
              <a:gd name="adj1" fmla="val 25000"/>
              <a:gd name="adj2" fmla="val 6771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48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mediacall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4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id="24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xit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72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5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7" grpId="0" animBg="1"/>
      <p:bldP spid="8" grpId="0" animBg="1"/>
      <p:bldP spid="8" grpId="1" animBg="1"/>
      <p:bldP spid="9" grpId="0" animBg="1"/>
      <p:bldP spid="12" grpId="0" animBg="1"/>
      <p:bldP spid="12" grpId="1" animBg="1"/>
      <p:bldP spid="13" grpId="0" animBg="1"/>
      <p:bldP spid="13" grpId="1" animBg="1"/>
      <p:bldP spid="13" grpId="2" animBg="1"/>
      <p:bldP spid="13" grpId="3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1540-3E01-475E-9749-B403C217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Brevity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537A0-03C2-41A9-87A1-03EC14BD1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short code that means something longer</a:t>
            </a:r>
          </a:p>
          <a:p>
            <a:r>
              <a:rPr lang="en-GB" dirty="0"/>
              <a:t>LOL</a:t>
            </a:r>
          </a:p>
          <a:p>
            <a:r>
              <a:rPr lang="en-GB" dirty="0"/>
              <a:t>SOS</a:t>
            </a:r>
          </a:p>
          <a:p>
            <a:r>
              <a:rPr lang="en-GB" dirty="0" err="1"/>
              <a:t>QRV</a:t>
            </a:r>
            <a:endParaRPr lang="en-GB" dirty="0"/>
          </a:p>
          <a:p>
            <a:r>
              <a:rPr lang="en-GB" dirty="0"/>
              <a:t>ZEV</a:t>
            </a:r>
          </a:p>
          <a:p>
            <a:r>
              <a:rPr lang="en-GB" dirty="0"/>
              <a:t>Battle Code (</a:t>
            </a:r>
            <a:r>
              <a:rPr lang="en-GB" dirty="0" err="1"/>
              <a:t>BATCO</a:t>
            </a:r>
            <a:r>
              <a:rPr lang="en-GB" dirty="0"/>
              <a:t>) – British Army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3DA11-0DC5-4E85-AF30-61F07A382B9A}"/>
              </a:ext>
            </a:extLst>
          </p:cNvPr>
          <p:cNvSpPr txBox="1"/>
          <p:nvPr/>
        </p:nvSpPr>
        <p:spPr>
          <a:xfrm>
            <a:off x="1769527" y="2483856"/>
            <a:ext cx="3034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- Laugh Out Loud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FEAB1-F44A-46E6-906F-29AC886E64CA}"/>
              </a:ext>
            </a:extLst>
          </p:cNvPr>
          <p:cNvSpPr txBox="1"/>
          <p:nvPr/>
        </p:nvSpPr>
        <p:spPr>
          <a:xfrm>
            <a:off x="1786461" y="3209300"/>
            <a:ext cx="2862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- </a:t>
            </a:r>
            <a:r>
              <a:rPr lang="en-GB" sz="3200" i="1" dirty="0"/>
              <a:t>Save Our Souls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8A4E6-8FF3-4DB4-82A4-A00897415129}"/>
              </a:ext>
            </a:extLst>
          </p:cNvPr>
          <p:cNvSpPr txBox="1"/>
          <p:nvPr/>
        </p:nvSpPr>
        <p:spPr>
          <a:xfrm>
            <a:off x="1880968" y="3929012"/>
            <a:ext cx="4340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- Q Code: Are you ready?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29A72-7625-419B-9E11-298F9F0BAE02}"/>
              </a:ext>
            </a:extLst>
          </p:cNvPr>
          <p:cNvSpPr txBox="1"/>
          <p:nvPr/>
        </p:nvSpPr>
        <p:spPr>
          <a:xfrm>
            <a:off x="1771221" y="4648724"/>
            <a:ext cx="7623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- Z Code: Request you acknowledge message</a:t>
            </a:r>
          </a:p>
        </p:txBody>
      </p:sp>
    </p:spTree>
    <p:extLst>
      <p:ext uri="{BB962C8B-B14F-4D97-AF65-F5344CB8AC3E}">
        <p14:creationId xmlns:p14="http://schemas.microsoft.com/office/powerpoint/2010/main" val="46192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85CD-2565-F9B2-8FD4-5EF0FB4E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 Codes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C425A3-F1C0-53FB-7422-9419D059C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973512"/>
              </p:ext>
            </p:extLst>
          </p:nvPr>
        </p:nvGraphicFramePr>
        <p:xfrm>
          <a:off x="838200" y="1825625"/>
          <a:ext cx="10601186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618">
                  <a:extLst>
                    <a:ext uri="{9D8B030D-6E8A-4147-A177-3AD203B41FA5}">
                      <a16:colId xmlns:a16="http://schemas.microsoft.com/office/drawing/2014/main" val="317950728"/>
                    </a:ext>
                  </a:extLst>
                </a:gridCol>
                <a:gridCol w="4775200">
                  <a:extLst>
                    <a:ext uri="{9D8B030D-6E8A-4147-A177-3AD203B41FA5}">
                      <a16:colId xmlns:a16="http://schemas.microsoft.com/office/drawing/2014/main" val="4271928514"/>
                    </a:ext>
                  </a:extLst>
                </a:gridCol>
                <a:gridCol w="4822368">
                  <a:extLst>
                    <a:ext uri="{9D8B030D-6E8A-4147-A177-3AD203B41FA5}">
                      <a16:colId xmlns:a16="http://schemas.microsoft.com/office/drawing/2014/main" val="2765410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Answer, Advice or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5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/>
                        <a:t>QEA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May I cross the runway ahead of you?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You may cross the runway ahead of 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184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 err="1"/>
                        <a:t>QOD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Can you communicate with me in...</a:t>
                      </a:r>
                    </a:p>
                    <a:p>
                      <a:r>
                        <a:rPr lang="en-GB" sz="2400" dirty="0"/>
                        <a:t>0. Dutch 	1. English</a:t>
                      </a:r>
                    </a:p>
                    <a:p>
                      <a:r>
                        <a:rPr lang="en-GB" sz="2400" dirty="0"/>
                        <a:t>2. French 	3. German?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I can you communicate with you in...</a:t>
                      </a:r>
                    </a:p>
                    <a:p>
                      <a:r>
                        <a:rPr lang="en-GB" sz="2400" dirty="0"/>
                        <a:t>0. Dutch 	1. English</a:t>
                      </a:r>
                    </a:p>
                    <a:p>
                      <a:r>
                        <a:rPr lang="en-GB" sz="2400" dirty="0"/>
                        <a:t>2. French 	3. German?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64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800" dirty="0" err="1"/>
                        <a:t>QUS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Have you sighted survivors or wreckage?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Have sighted... </a:t>
                      </a:r>
                    </a:p>
                    <a:p>
                      <a:pPr marL="0" indent="0">
                        <a:buNone/>
                      </a:pPr>
                      <a:r>
                        <a:rPr lang="en-GB" sz="2400" dirty="0"/>
                        <a:t>1) survivors in water,</a:t>
                      </a:r>
                    </a:p>
                    <a:p>
                      <a:pPr marL="0" indent="0">
                        <a:buNone/>
                      </a:pPr>
                      <a:r>
                        <a:rPr lang="en-GB" sz="2400" dirty="0"/>
                        <a:t>2) survivors on rafts,</a:t>
                      </a:r>
                    </a:p>
                    <a:p>
                      <a:pPr marL="0" indent="0">
                        <a:buNone/>
                      </a:pPr>
                      <a:r>
                        <a:rPr lang="en-GB" sz="2400" dirty="0"/>
                        <a:t>3) wreckage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64558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5AC47F-9C27-3051-D195-43D66443F58E}"/>
              </a:ext>
            </a:extLst>
          </p:cNvPr>
          <p:cNvSpPr/>
          <p:nvPr/>
        </p:nvSpPr>
        <p:spPr>
          <a:xfrm>
            <a:off x="747486" y="2317749"/>
            <a:ext cx="10827657" cy="798831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11E21-B118-7025-BB68-6AFA46DE4DAB}"/>
              </a:ext>
            </a:extLst>
          </p:cNvPr>
          <p:cNvSpPr/>
          <p:nvPr/>
        </p:nvSpPr>
        <p:spPr>
          <a:xfrm>
            <a:off x="682171" y="3116580"/>
            <a:ext cx="10827657" cy="119634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FCF57-680C-3B21-95D2-6A1CD2E64DBF}"/>
              </a:ext>
            </a:extLst>
          </p:cNvPr>
          <p:cNvSpPr/>
          <p:nvPr/>
        </p:nvSpPr>
        <p:spPr>
          <a:xfrm>
            <a:off x="747486" y="4312919"/>
            <a:ext cx="10827657" cy="1573531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94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3FA91-EE48-6F0E-5082-7026C904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DD91-1F9B-0C93-DB8C-02887CB2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iDEA Award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1230C-BA39-55DA-3DF8-B5AED8DE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765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AA212-8D61-7E0A-251F-1EA18250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1C6B-788B-C8A6-B07D-8BE93BA4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Bronze Award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5B6F-5918-AEC0-2CC2-248B1B81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Award: </a:t>
            </a:r>
            <a:r>
              <a:rPr lang="en-GB" sz="4000" dirty="0">
                <a:solidFill>
                  <a:srgbClr val="7030A0"/>
                </a:solidFill>
              </a:rPr>
              <a:t>250 points</a:t>
            </a:r>
          </a:p>
          <a:p>
            <a:pPr lvl="1"/>
            <a:r>
              <a:rPr lang="en-GB" sz="4000" dirty="0"/>
              <a:t>Citizen: </a:t>
            </a:r>
            <a:r>
              <a:rPr lang="en-GB" sz="4000" dirty="0">
                <a:solidFill>
                  <a:srgbClr val="7030A0"/>
                </a:solidFill>
              </a:rPr>
              <a:t>50 points</a:t>
            </a:r>
          </a:p>
          <a:p>
            <a:pPr lvl="1"/>
            <a:r>
              <a:rPr lang="en-GB" sz="4000" dirty="0"/>
              <a:t>Worker: </a:t>
            </a:r>
            <a:r>
              <a:rPr lang="en-GB" sz="4000" dirty="0">
                <a:solidFill>
                  <a:srgbClr val="7030A0"/>
                </a:solidFill>
              </a:rPr>
              <a:t>50 points</a:t>
            </a:r>
          </a:p>
          <a:p>
            <a:pPr lvl="1"/>
            <a:r>
              <a:rPr lang="en-GB" sz="4000" dirty="0"/>
              <a:t>Maker: </a:t>
            </a:r>
            <a:r>
              <a:rPr lang="en-GB" sz="4000" dirty="0">
                <a:solidFill>
                  <a:srgbClr val="7030A0"/>
                </a:solidFill>
              </a:rPr>
              <a:t>50 points</a:t>
            </a:r>
          </a:p>
          <a:p>
            <a:pPr lvl="1"/>
            <a:r>
              <a:rPr lang="en-GB" sz="4000" dirty="0"/>
              <a:t>Entrepreneur: </a:t>
            </a:r>
            <a:r>
              <a:rPr lang="en-GB" sz="4000" dirty="0">
                <a:solidFill>
                  <a:srgbClr val="7030A0"/>
                </a:solidFill>
              </a:rPr>
              <a:t>50 points</a:t>
            </a:r>
          </a:p>
        </p:txBody>
      </p:sp>
    </p:spTree>
    <p:extLst>
      <p:ext uri="{BB962C8B-B14F-4D97-AF65-F5344CB8AC3E}">
        <p14:creationId xmlns:p14="http://schemas.microsoft.com/office/powerpoint/2010/main" val="15560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AA212-8D61-7E0A-251F-1EA18250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1C6B-788B-C8A6-B07D-8BE93BA4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 Up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5B6F-5918-AEC0-2CC2-248B1B81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Website: </a:t>
            </a:r>
            <a:r>
              <a:rPr lang="en-GB" sz="4000" dirty="0">
                <a:solidFill>
                  <a:srgbClr val="7030A0"/>
                </a:solidFill>
              </a:rPr>
              <a:t>idea.org.uk</a:t>
            </a:r>
          </a:p>
          <a:p>
            <a:r>
              <a:rPr lang="en-GB" sz="4000" dirty="0"/>
              <a:t>Glow email: </a:t>
            </a:r>
            <a:r>
              <a:rPr lang="en-GB" sz="4000" dirty="0">
                <a:solidFill>
                  <a:srgbClr val="7030A0"/>
                </a:solidFill>
              </a:rPr>
              <a:t>es</a:t>
            </a:r>
            <a:r>
              <a:rPr lang="en-GB" sz="4000" i="1" dirty="0">
                <a:solidFill>
                  <a:srgbClr val="FF0000"/>
                </a:solidFill>
              </a:rPr>
              <a:t>&lt;username&gt;</a:t>
            </a:r>
            <a:r>
              <a:rPr lang="en-GB" sz="4000" dirty="0">
                <a:solidFill>
                  <a:srgbClr val="7030A0"/>
                </a:solidFill>
              </a:rPr>
              <a:t>@glow.sch.uk</a:t>
            </a:r>
          </a:p>
          <a:p>
            <a:r>
              <a:rPr lang="en-GB" sz="4000" dirty="0"/>
              <a:t>Group code: </a:t>
            </a:r>
            <a:r>
              <a:rPr lang="en-GB" sz="4000" dirty="0">
                <a:solidFill>
                  <a:srgbClr val="7030A0"/>
                </a:solidFill>
              </a:rPr>
              <a:t>S1_2025-26</a:t>
            </a:r>
          </a:p>
          <a:p>
            <a:r>
              <a:rPr lang="en-GB" sz="4000" dirty="0"/>
              <a:t>Nickname: </a:t>
            </a:r>
            <a:r>
              <a:rPr lang="en-GB" sz="4000" dirty="0">
                <a:solidFill>
                  <a:srgbClr val="7030A0"/>
                </a:solidFill>
              </a:rPr>
              <a:t>es</a:t>
            </a:r>
            <a:r>
              <a:rPr lang="en-GB" sz="4000" i="1" dirty="0">
                <a:solidFill>
                  <a:srgbClr val="FF0000"/>
                </a:solidFill>
              </a:rPr>
              <a:t>&lt;username&gt;</a:t>
            </a:r>
            <a:endParaRPr lang="en-GB" sz="4000" dirty="0"/>
          </a:p>
          <a:p>
            <a:r>
              <a:rPr lang="en-GB" sz="4000" dirty="0"/>
              <a:t>Save login details in personal OneNote</a:t>
            </a:r>
          </a:p>
        </p:txBody>
      </p:sp>
    </p:spTree>
    <p:extLst>
      <p:ext uri="{BB962C8B-B14F-4D97-AF65-F5344CB8AC3E}">
        <p14:creationId xmlns:p14="http://schemas.microsoft.com/office/powerpoint/2010/main" val="73745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0316-FFAF-848A-62E6-567B84F7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E51B-90F4-F436-9347-2DE4740B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 Up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1BE9B-0866-87E4-8945-91BA2AD78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Recovery email: </a:t>
            </a:r>
            <a:r>
              <a:rPr lang="en-GB" sz="4000" dirty="0">
                <a:solidFill>
                  <a:srgbClr val="7030A0"/>
                </a:solidFill>
              </a:rPr>
              <a:t>No</a:t>
            </a:r>
          </a:p>
          <a:p>
            <a:r>
              <a:rPr lang="en-GB" sz="4000" dirty="0"/>
              <a:t>Email updates: </a:t>
            </a:r>
            <a:r>
              <a:rPr lang="en-GB" sz="4000" dirty="0">
                <a:solidFill>
                  <a:srgbClr val="7030A0"/>
                </a:solidFill>
              </a:rPr>
              <a:t>No</a:t>
            </a:r>
          </a:p>
          <a:p>
            <a:r>
              <a:rPr lang="en-GB" sz="4000" dirty="0"/>
              <a:t>Group code: </a:t>
            </a:r>
            <a:r>
              <a:rPr lang="en-GB" sz="4000" dirty="0">
                <a:solidFill>
                  <a:srgbClr val="7030A0"/>
                </a:solidFill>
              </a:rPr>
              <a:t>S1_2025-26</a:t>
            </a:r>
          </a:p>
          <a:p>
            <a:r>
              <a:rPr lang="en-GB" sz="4000" dirty="0"/>
              <a:t>Guardian's name: </a:t>
            </a:r>
            <a:r>
              <a:rPr lang="en-GB" sz="4000" dirty="0">
                <a:solidFill>
                  <a:srgbClr val="7030A0"/>
                </a:solidFill>
              </a:rPr>
              <a:t>Mr Friend</a:t>
            </a:r>
          </a:p>
          <a:p>
            <a:r>
              <a:rPr lang="en-GB" sz="4000" dirty="0"/>
              <a:t>Guardian's email: </a:t>
            </a:r>
            <a:r>
              <a:rPr lang="en-GB" sz="4000" dirty="0">
                <a:solidFill>
                  <a:srgbClr val="7030A0"/>
                </a:solidFill>
              </a:rPr>
              <a:t>es</a:t>
            </a:r>
            <a:r>
              <a:rPr lang="en-GB" sz="4000" i="1" dirty="0">
                <a:solidFill>
                  <a:srgbClr val="FF0000"/>
                </a:solidFill>
              </a:rPr>
              <a:t>afriend1r</a:t>
            </a:r>
            <a:r>
              <a:rPr lang="en-GB" sz="4000" dirty="0">
                <a:solidFill>
                  <a:srgbClr val="7030A0"/>
                </a:solidFill>
              </a:rPr>
              <a:t>@glow.sch.uk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B726B-FCCB-E788-B191-55BF2F0E56E6}"/>
              </a:ext>
            </a:extLst>
          </p:cNvPr>
          <p:cNvSpPr txBox="1"/>
          <p:nvPr/>
        </p:nvSpPr>
        <p:spPr>
          <a:xfrm>
            <a:off x="8191849" y="4001294"/>
            <a:ext cx="36590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Use parent's details, if email known</a:t>
            </a:r>
          </a:p>
        </p:txBody>
      </p:sp>
    </p:spTree>
    <p:extLst>
      <p:ext uri="{BB962C8B-B14F-4D97-AF65-F5344CB8AC3E}">
        <p14:creationId xmlns:p14="http://schemas.microsoft.com/office/powerpoint/2010/main" val="144528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435</Words>
  <Application>Microsoft Office PowerPoint</Application>
  <PresentationFormat>Widescreen</PresentationFormat>
  <Paragraphs>83</Paragraphs>
  <Slides>12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S1 Computing Science</vt:lpstr>
      <vt:lpstr>micro:bit</vt:lpstr>
      <vt:lpstr>micro:bit</vt:lpstr>
      <vt:lpstr>Morse Code</vt:lpstr>
      <vt:lpstr>Morse Code</vt:lpstr>
      <vt:lpstr>micro:bit Morse</vt:lpstr>
      <vt:lpstr>Brevity Codes</vt:lpstr>
      <vt:lpstr>Q Codes</vt:lpstr>
      <vt:lpstr>iDEA Award</vt:lpstr>
      <vt:lpstr>Bronze Award</vt:lpstr>
      <vt:lpstr>Sign Up (1)</vt:lpstr>
      <vt:lpstr>Sign Up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N5 Computing Science</dc:title>
  <dc:creator/>
  <cp:lastModifiedBy/>
  <cp:revision>29</cp:revision>
  <dcterms:created xsi:type="dcterms:W3CDTF">2023-06-15T12:40:24Z</dcterms:created>
  <dcterms:modified xsi:type="dcterms:W3CDTF">2026-02-24T09:41:35Z</dcterms:modified>
</cp:coreProperties>
</file>
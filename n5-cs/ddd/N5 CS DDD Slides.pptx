
<file path=[Content_Types].xml><?xml version="1.0" encoding="utf-8"?>
<Types xmlns="http://schemas.openxmlformats.org/package/2006/content-types">
  <Default Extension="png" ContentType="image/png"/>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227.xml" ContentType="application/vnd.openxmlformats-officedocument.presentationml.slide+xml"/>
  <Override PartName="/ppt/slides/slide228.xml" ContentType="application/vnd.openxmlformats-officedocument.presentationml.slide+xml"/>
  <Override PartName="/ppt/slides/slide229.xml" ContentType="application/vnd.openxmlformats-officedocument.presentationml.slide+xml"/>
  <Override PartName="/ppt/slides/slide230.xml" ContentType="application/vnd.openxmlformats-officedocument.presentationml.slide+xml"/>
  <Override PartName="/ppt/slides/slide231.xml" ContentType="application/vnd.openxmlformats-officedocument.presentationml.slide+xml"/>
  <Override PartName="/ppt/slides/slide232.xml" ContentType="application/vnd.openxmlformats-officedocument.presentationml.slide+xml"/>
  <Override PartName="/ppt/slides/slide233.xml" ContentType="application/vnd.openxmlformats-officedocument.presentationml.slide+xml"/>
  <Override PartName="/ppt/slides/slide234.xml" ContentType="application/vnd.openxmlformats-officedocument.presentationml.slide+xml"/>
  <Override PartName="/ppt/slides/slide235.xml" ContentType="application/vnd.openxmlformats-officedocument.presentationml.slide+xml"/>
  <Override PartName="/ppt/slides/slide236.xml" ContentType="application/vnd.openxmlformats-officedocument.presentationml.slide+xml"/>
  <Override PartName="/ppt/slides/slide237.xml" ContentType="application/vnd.openxmlformats-officedocument.presentationml.slide+xml"/>
  <Override PartName="/ppt/slides/slide238.xml" ContentType="application/vnd.openxmlformats-officedocument.presentationml.slide+xml"/>
  <Override PartName="/ppt/slides/slide239.xml" ContentType="application/vnd.openxmlformats-officedocument.presentationml.slide+xml"/>
  <Override PartName="/ppt/slides/slide240.xml" ContentType="application/vnd.openxmlformats-officedocument.presentationml.slide+xml"/>
  <Override PartName="/ppt/slides/slide241.xml" ContentType="application/vnd.openxmlformats-officedocument.presentationml.slide+xml"/>
  <Override PartName="/ppt/slides/slide242.xml" ContentType="application/vnd.openxmlformats-officedocument.presentationml.slide+xml"/>
  <Override PartName="/ppt/slides/slide243.xml" ContentType="application/vnd.openxmlformats-officedocument.presentationml.slide+xml"/>
  <Override PartName="/ppt/slides/slide244.xml" ContentType="application/vnd.openxmlformats-officedocument.presentationml.slide+xml"/>
  <Override PartName="/ppt/slides/slide245.xml" ContentType="application/vnd.openxmlformats-officedocument.presentationml.slide+xml"/>
  <Override PartName="/ppt/slides/slide246.xml" ContentType="application/vnd.openxmlformats-officedocument.presentationml.slide+xml"/>
  <Override PartName="/ppt/slides/slide247.xml" ContentType="application/vnd.openxmlformats-officedocument.presentationml.slide+xml"/>
  <Override PartName="/ppt/slides/slide248.xml" ContentType="application/vnd.openxmlformats-officedocument.presentationml.slide+xml"/>
  <Override PartName="/ppt/slides/slide249.xml" ContentType="application/vnd.openxmlformats-officedocument.presentationml.slide+xml"/>
  <Override PartName="/ppt/slides/slide250.xml" ContentType="application/vnd.openxmlformats-officedocument.presentationml.slide+xml"/>
  <Override PartName="/ppt/slides/slide251.xml" ContentType="application/vnd.openxmlformats-officedocument.presentationml.slide+xml"/>
  <Override PartName="/ppt/slides/slide252.xml" ContentType="application/vnd.openxmlformats-officedocument.presentationml.slide+xml"/>
  <Override PartName="/ppt/slides/slide253.xml" ContentType="application/vnd.openxmlformats-officedocument.presentationml.slide+xml"/>
  <Override PartName="/ppt/slides/slide254.xml" ContentType="application/vnd.openxmlformats-officedocument.presentationml.slide+xml"/>
  <Override PartName="/ppt/slides/slide255.xml" ContentType="application/vnd.openxmlformats-officedocument.presentationml.slide+xml"/>
  <Override PartName="/ppt/slides/slide256.xml" ContentType="application/vnd.openxmlformats-officedocument.presentationml.slide+xml"/>
  <Override PartName="/ppt/slides/slide257.xml" ContentType="application/vnd.openxmlformats-officedocument.presentationml.slide+xml"/>
  <Override PartName="/ppt/slides/slide258.xml" ContentType="application/vnd.openxmlformats-officedocument.presentationml.slide+xml"/>
  <Override PartName="/ppt/notesMasters/notesMaster1.xml" ContentType="application/vnd.openxmlformats-officedocument.presentationml.notes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theme/themeOverride1.xml" ContentType="application/vnd.openxmlformats-officedocument.themeOverride+xml"/>
  <Override PartName="/ppt/notesSlides/notesSlide50.xml" ContentType="application/vnd.openxmlformats-officedocument.presentationml.notesSlide+xml"/>
  <Override PartName="/ppt/theme/themeOverride2.xml" ContentType="application/vnd.openxmlformats-officedocument.themeOverride+xml"/>
  <Override PartName="/ppt/notesSlides/notesSlide51.xml" ContentType="application/vnd.openxmlformats-officedocument.presentationml.notesSlide+xml"/>
  <Override PartName="/ppt/theme/themeOverride3.xml" ContentType="application/vnd.openxmlformats-officedocument.themeOverride+xml"/>
  <Override PartName="/ppt/notesSlides/notesSlide52.xml" ContentType="application/vnd.openxmlformats-officedocument.presentationml.notesSlide+xml"/>
  <Override PartName="/ppt/theme/themeOverride4.xml" ContentType="application/vnd.openxmlformats-officedocument.themeOverride+xml"/>
  <Override PartName="/ppt/notesSlides/notesSlide53.xml" ContentType="application/vnd.openxmlformats-officedocument.presentationml.notesSlide+xml"/>
  <Override PartName="/ppt/theme/themeOverride5.xml" ContentType="application/vnd.openxmlformats-officedocument.themeOverride+xml"/>
  <Override PartName="/ppt/notesSlides/notesSlide54.xml" ContentType="application/vnd.openxmlformats-officedocument.presentationml.notesSlide+xml"/>
  <Override PartName="/ppt/theme/themeOverride6.xml" ContentType="application/vnd.openxmlformats-officedocument.themeOverr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03.xml" ContentType="application/vnd.openxmlformats-officedocument.presentationml.notesSlide+xml"/>
  <Override PartName="/ppt/notesSlides/notesSlide104.xml" ContentType="application/vnd.openxmlformats-officedocument.presentationml.notesSlide+xml"/>
  <Override PartName="/ppt/notesSlides/notesSlide105.xml" ContentType="application/vnd.openxmlformats-officedocument.presentationml.notesSlide+xml"/>
  <Override PartName="/ppt/notesSlides/notesSlide106.xml" ContentType="application/vnd.openxmlformats-officedocument.presentationml.notesSlide+xml"/>
  <Override PartName="/ppt/notesSlides/notesSlide107.xml" ContentType="application/vnd.openxmlformats-officedocument.presentationml.notesSlide+xml"/>
  <Override PartName="/ppt/notesSlides/notesSlide108.xml" ContentType="application/vnd.openxmlformats-officedocument.presentationml.notesSlide+xml"/>
  <Override PartName="/ppt/notesSlides/notesSlide109.xml" ContentType="application/vnd.openxmlformats-officedocument.presentationml.notesSlide+xml"/>
  <Override PartName="/ppt/notesSlides/notesSlide110.xml" ContentType="application/vnd.openxmlformats-officedocument.presentationml.notesSlide+xml"/>
  <Override PartName="/ppt/notesSlides/notesSlide111.xml" ContentType="application/vnd.openxmlformats-officedocument.presentationml.notesSlide+xml"/>
  <Override PartName="/ppt/notesSlides/notesSlide112.xml" ContentType="application/vnd.openxmlformats-officedocument.presentationml.notesSlide+xml"/>
  <Override PartName="/ppt/notesSlides/notesSlide113.xml" ContentType="application/vnd.openxmlformats-officedocument.presentationml.notesSlide+xml"/>
  <Override PartName="/ppt/notesSlides/notesSlide114.xml" ContentType="application/vnd.openxmlformats-officedocument.presentationml.notesSlide+xml"/>
  <Override PartName="/ppt/notesSlides/notesSlide115.xml" ContentType="application/vnd.openxmlformats-officedocument.presentationml.notesSlide+xml"/>
  <Override PartName="/ppt/notesSlides/notesSlide116.xml" ContentType="application/vnd.openxmlformats-officedocument.presentationml.notesSlide+xml"/>
  <Override PartName="/ppt/notesSlides/notesSlide117.xml" ContentType="application/vnd.openxmlformats-officedocument.presentationml.notesSlide+xml"/>
  <Override PartName="/ppt/notesSlides/notesSlide118.xml" ContentType="application/vnd.openxmlformats-officedocument.presentationml.notesSlide+xml"/>
  <Override PartName="/ppt/notesSlides/notesSlide119.xml" ContentType="application/vnd.openxmlformats-officedocument.presentationml.notesSlide+xml"/>
  <Override PartName="/ppt/notesSlides/notesSlide120.xml" ContentType="application/vnd.openxmlformats-officedocument.presentationml.notesSlide+xml"/>
  <Override PartName="/ppt/notesSlides/notesSlide121.xml" ContentType="application/vnd.openxmlformats-officedocument.presentationml.notesSlide+xml"/>
  <Override PartName="/ppt/notesSlides/notesSlide122.xml" ContentType="application/vnd.openxmlformats-officedocument.presentationml.notesSlide+xml"/>
  <Override PartName="/ppt/notesSlides/notesSlide123.xml" ContentType="application/vnd.openxmlformats-officedocument.presentationml.notesSlide+xml"/>
  <Override PartName="/ppt/notesSlides/notesSlide124.xml" ContentType="application/vnd.openxmlformats-officedocument.presentationml.notesSlide+xml"/>
  <Override PartName="/ppt/diagrams/data2.xml" ContentType="application/vnd.openxmlformats-officedocument.drawingml.diagramData+xml"/>
  <Override PartName="/ppt/diagrams/layout2.xml" ContentType="application/vnd.openxmlformats-officedocument.drawingml.diagramLayout+xml"/>
  <Override PartName="/ppt/diagrams/quickStyle2.xml" ContentType="application/vnd.openxmlformats-officedocument.drawingml.diagramStyle+xml"/>
  <Override PartName="/ppt/diagrams/colors2.xml" ContentType="application/vnd.openxmlformats-officedocument.drawingml.diagramColors+xml"/>
  <Override PartName="/ppt/diagrams/drawing2.xml" ContentType="application/vnd.ms-office.drawingml.diagramDrawing+xml"/>
  <Override PartName="/ppt/notesSlides/notesSlide125.xml" ContentType="application/vnd.openxmlformats-officedocument.presentationml.notesSlide+xml"/>
  <Override PartName="/ppt/notesSlides/notesSlide126.xml" ContentType="application/vnd.openxmlformats-officedocument.presentationml.notesSlide+xml"/>
  <Override PartName="/ppt/notesSlides/notesSlide127.xml" ContentType="application/vnd.openxmlformats-officedocument.presentationml.notesSlide+xml"/>
  <Override PartName="/ppt/notesSlides/notesSlide128.xml" ContentType="application/vnd.openxmlformats-officedocument.presentationml.notesSlide+xml"/>
  <Override PartName="/ppt/notesSlides/notesSlide129.xml" ContentType="application/vnd.openxmlformats-officedocument.presentationml.notesSlide+xml"/>
  <Override PartName="/ppt/notesSlides/notesSlide130.xml" ContentType="application/vnd.openxmlformats-officedocument.presentationml.notesSlide+xml"/>
  <Override PartName="/ppt/notesSlides/notesSlide131.xml" ContentType="application/vnd.openxmlformats-officedocument.presentationml.notesSlide+xml"/>
  <Override PartName="/ppt/notesSlides/notesSlide132.xml" ContentType="application/vnd.openxmlformats-officedocument.presentationml.notesSlide+xml"/>
  <Override PartName="/ppt/notesSlides/notesSlide133.xml" ContentType="application/vnd.openxmlformats-officedocument.presentationml.notesSlide+xml"/>
  <Override PartName="/ppt/notesSlides/notesSlide134.xml" ContentType="application/vnd.openxmlformats-officedocument.presentationml.notesSlide+xml"/>
  <Override PartName="/ppt/notesSlides/notesSlide135.xml" ContentType="application/vnd.openxmlformats-officedocument.presentationml.notesSlide+xml"/>
  <Override PartName="/ppt/notesSlides/notesSlide136.xml" ContentType="application/vnd.openxmlformats-officedocument.presentationml.notesSlide+xml"/>
  <Override PartName="/ppt/notesSlides/notesSlide137.xml" ContentType="application/vnd.openxmlformats-officedocument.presentationml.notesSlide+xml"/>
  <Override PartName="/ppt/notesSlides/notesSlide138.xml" ContentType="application/vnd.openxmlformats-officedocument.presentationml.notesSlide+xml"/>
  <Override PartName="/ppt/notesSlides/notesSlide139.xml" ContentType="application/vnd.openxmlformats-officedocument.presentationml.notesSlide+xml"/>
  <Override PartName="/ppt/notesSlides/notesSlide140.xml" ContentType="application/vnd.openxmlformats-officedocument.presentationml.notesSlide+xml"/>
  <Override PartName="/ppt/notesSlides/notesSlide141.xml" ContentType="application/vnd.openxmlformats-officedocument.presentationml.notesSlide+xml"/>
  <Override PartName="/ppt/notesSlides/notesSlide142.xml" ContentType="application/vnd.openxmlformats-officedocument.presentationml.notesSlide+xml"/>
  <Override PartName="/ppt/notesSlides/notesSlide143.xml" ContentType="application/vnd.openxmlformats-officedocument.presentationml.notesSlide+xml"/>
  <Override PartName="/ppt/notesSlides/notesSlide144.xml" ContentType="application/vnd.openxmlformats-officedocument.presentationml.notesSlide+xml"/>
  <Override PartName="/ppt/notesSlides/notesSlide145.xml" ContentType="application/vnd.openxmlformats-officedocument.presentationml.notesSlide+xml"/>
  <Override PartName="/ppt/notesSlides/notesSlide146.xml" ContentType="application/vnd.openxmlformats-officedocument.presentationml.notesSlide+xml"/>
  <Override PartName="/ppt/notesSlides/notesSlide147.xml" ContentType="application/vnd.openxmlformats-officedocument.presentationml.notesSlide+xml"/>
  <Override PartName="/ppt/notesSlides/notesSlide148.xml" ContentType="application/vnd.openxmlformats-officedocument.presentationml.notesSlide+xml"/>
  <Override PartName="/ppt/notesSlides/notesSlide149.xml" ContentType="application/vnd.openxmlformats-officedocument.presentationml.notesSlide+xml"/>
  <Override PartName="/ppt/notesSlides/notesSlide150.xml" ContentType="application/vnd.openxmlformats-officedocument.presentationml.notesSlide+xml"/>
  <Override PartName="/ppt/notesSlides/notesSlide151.xml" ContentType="application/vnd.openxmlformats-officedocument.presentationml.notesSlide+xml"/>
  <Override PartName="/ppt/notesSlides/notesSlide152.xml" ContentType="application/vnd.openxmlformats-officedocument.presentationml.notesSlide+xml"/>
  <Override PartName="/ppt/notesSlides/notesSlide153.xml" ContentType="application/vnd.openxmlformats-officedocument.presentationml.notesSlide+xml"/>
  <Override PartName="/ppt/notesSlides/notesSlide154.xml" ContentType="application/vnd.openxmlformats-officedocument.presentationml.notesSlide+xml"/>
  <Override PartName="/ppt/notesSlides/notesSlide155.xml" ContentType="application/vnd.openxmlformats-officedocument.presentationml.notesSlide+xml"/>
  <Override PartName="/ppt/notesSlides/notesSlide156.xml" ContentType="application/vnd.openxmlformats-officedocument.presentationml.notesSlide+xml"/>
  <Override PartName="/ppt/notesSlides/notesSlide157.xml" ContentType="application/vnd.openxmlformats-officedocument.presentationml.notesSlide+xml"/>
  <Override PartName="/ppt/notesSlides/notesSlide158.xml" ContentType="application/vnd.openxmlformats-officedocument.presentationml.notesSlide+xml"/>
  <Override PartName="/ppt/notesSlides/notesSlide159.xml" ContentType="application/vnd.openxmlformats-officedocument.presentationml.notesSlide+xml"/>
  <Override PartName="/ppt/notesSlides/notesSlide160.xml" ContentType="application/vnd.openxmlformats-officedocument.presentationml.notesSlide+xml"/>
  <Override PartName="/ppt/notesSlides/notesSlide161.xml" ContentType="application/vnd.openxmlformats-officedocument.presentationml.notesSlide+xml"/>
  <Override PartName="/ppt/notesSlides/notesSlide162.xml" ContentType="application/vnd.openxmlformats-officedocument.presentationml.notesSlide+xml"/>
  <Override PartName="/ppt/notesSlides/notesSlide163.xml" ContentType="application/vnd.openxmlformats-officedocument.presentationml.notesSlide+xml"/>
  <Override PartName="/ppt/notesSlides/notesSlide164.xml" ContentType="application/vnd.openxmlformats-officedocument.presentationml.notesSlide+xml"/>
  <Override PartName="/ppt/notesSlides/notesSlide165.xml" ContentType="application/vnd.openxmlformats-officedocument.presentationml.notesSlide+xml"/>
  <Override PartName="/ppt/notesSlides/notesSlide166.xml" ContentType="application/vnd.openxmlformats-officedocument.presentationml.notesSlide+xml"/>
  <Override PartName="/ppt/notesSlides/notesSlide167.xml" ContentType="application/vnd.openxmlformats-officedocument.presentationml.notesSlide+xml"/>
  <Override PartName="/ppt/notesSlides/notesSlide168.xml" ContentType="application/vnd.openxmlformats-officedocument.presentationml.notesSlide+xml"/>
  <Override PartName="/ppt/notesSlides/notesSlide169.xml" ContentType="application/vnd.openxmlformats-officedocument.presentationml.notesSlide+xml"/>
  <Override PartName="/ppt/notesSlides/notesSlide170.xml" ContentType="application/vnd.openxmlformats-officedocument.presentationml.notesSlide+xml"/>
  <Override PartName="/ppt/notesSlides/notesSlide171.xml" ContentType="application/vnd.openxmlformats-officedocument.presentationml.notesSlide+xml"/>
  <Override PartName="/ppt/notesSlides/notesSlide172.xml" ContentType="application/vnd.openxmlformats-officedocument.presentationml.notesSlide+xml"/>
  <Override PartName="/ppt/notesSlides/notesSlide173.xml" ContentType="application/vnd.openxmlformats-officedocument.presentationml.notesSlide+xml"/>
  <Override PartName="/ppt/notesSlides/notesSlide174.xml" ContentType="application/vnd.openxmlformats-officedocument.presentationml.notesSlide+xml"/>
  <Override PartName="/ppt/notesSlides/notesSlide175.xml" ContentType="application/vnd.openxmlformats-officedocument.presentationml.notesSlide+xml"/>
  <Override PartName="/ppt/notesSlides/notesSlide176.xml" ContentType="application/vnd.openxmlformats-officedocument.presentationml.notesSlide+xml"/>
  <Override PartName="/ppt/notesSlides/notesSlide177.xml" ContentType="application/vnd.openxmlformats-officedocument.presentationml.notesSlide+xml"/>
  <Override PartName="/ppt/notesSlides/notesSlide178.xml" ContentType="application/vnd.openxmlformats-officedocument.presentationml.notesSlide+xml"/>
  <Override PartName="/ppt/notesSlides/notesSlide179.xml" ContentType="application/vnd.openxmlformats-officedocument.presentationml.notesSlide+xml"/>
  <Override PartName="/ppt/notesSlides/notesSlide180.xml" ContentType="application/vnd.openxmlformats-officedocument.presentationml.notesSlide+xml"/>
  <Override PartName="/ppt/notesSlides/notesSlide181.xml" ContentType="application/vnd.openxmlformats-officedocument.presentationml.notesSlide+xml"/>
  <Override PartName="/ppt/notesSlides/notesSlide182.xml" ContentType="application/vnd.openxmlformats-officedocument.presentationml.notesSlide+xml"/>
  <Override PartName="/ppt/notesSlides/notesSlide183.xml" ContentType="application/vnd.openxmlformats-officedocument.presentationml.notesSlide+xml"/>
  <Override PartName="/ppt/notesSlides/notesSlide184.xml" ContentType="application/vnd.openxmlformats-officedocument.presentationml.notesSlide+xml"/>
  <Override PartName="/ppt/notesSlides/notesSlide185.xml" ContentType="application/vnd.openxmlformats-officedocument.presentationml.notesSlide+xml"/>
  <Override PartName="/ppt/notesSlides/notesSlide186.xml" ContentType="application/vnd.openxmlformats-officedocument.presentationml.notesSlide+xml"/>
  <Override PartName="/ppt/notesSlides/notesSlide187.xml" ContentType="application/vnd.openxmlformats-officedocument.presentationml.notesSlide+xml"/>
  <Override PartName="/ppt/notesSlides/notesSlide188.xml" ContentType="application/vnd.openxmlformats-officedocument.presentationml.notesSlide+xml"/>
  <Override PartName="/ppt/notesSlides/notesSlide189.xml" ContentType="application/vnd.openxmlformats-officedocument.presentationml.notesSlide+xml"/>
  <Override PartName="/ppt/notesSlides/notesSlide190.xml" ContentType="application/vnd.openxmlformats-officedocument.presentationml.notesSlide+xml"/>
  <Override PartName="/ppt/notesSlides/notesSlide191.xml" ContentType="application/vnd.openxmlformats-officedocument.presentationml.notesSlide+xml"/>
  <Override PartName="/ppt/notesSlides/notesSlide192.xml" ContentType="application/vnd.openxmlformats-officedocument.presentationml.notesSlide+xml"/>
  <Override PartName="/ppt/notesSlides/notesSlide193.xml" ContentType="application/vnd.openxmlformats-officedocument.presentationml.notesSlide+xml"/>
  <Override PartName="/ppt/notesSlides/notesSlide194.xml" ContentType="application/vnd.openxmlformats-officedocument.presentationml.notesSlide+xml"/>
  <Override PartName="/ppt/notesSlides/notesSlide195.xml" ContentType="application/vnd.openxmlformats-officedocument.presentationml.notesSlide+xml"/>
  <Override PartName="/ppt/notesSlides/notesSlide196.xml" ContentType="application/vnd.openxmlformats-officedocument.presentationml.notesSlide+xml"/>
  <Override PartName="/ppt/notesSlides/notesSlide197.xml" ContentType="application/vnd.openxmlformats-officedocument.presentationml.notesSlide+xml"/>
  <Override PartName="/ppt/notesSlides/notesSlide198.xml" ContentType="application/vnd.openxmlformats-officedocument.presentationml.notesSlide+xml"/>
  <Override PartName="/ppt/notesSlides/notesSlide199.xml" ContentType="application/vnd.openxmlformats-officedocument.presentationml.notesSlide+xml"/>
  <Override PartName="/ppt/notesSlides/notesSlide200.xml" ContentType="application/vnd.openxmlformats-officedocument.presentationml.notesSlide+xml"/>
  <Override PartName="/ppt/notesSlides/notesSlide201.xml" ContentType="application/vnd.openxmlformats-officedocument.presentationml.notesSlide+xml"/>
  <Override PartName="/ppt/notesSlides/notesSlide202.xml" ContentType="application/vnd.openxmlformats-officedocument.presentationml.notesSlide+xml"/>
  <Override PartName="/ppt/notesSlides/notesSlide203.xml" ContentType="application/vnd.openxmlformats-officedocument.presentationml.notesSlide+xml"/>
  <Override PartName="/ppt/notesSlides/notesSlide204.xml" ContentType="application/vnd.openxmlformats-officedocument.presentationml.notesSlide+xml"/>
  <Override PartName="/ppt/changesInfos/changesInfo1.xml" ContentType="application/vnd.ms-powerpoint.changes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260"/>
  </p:notesMasterIdLst>
  <p:sldIdLst>
    <p:sldId id="262" r:id="rId2"/>
    <p:sldId id="424" r:id="rId3"/>
    <p:sldId id="430" r:id="rId4"/>
    <p:sldId id="470" r:id="rId5"/>
    <p:sldId id="465" r:id="rId6"/>
    <p:sldId id="886" r:id="rId7"/>
    <p:sldId id="481" r:id="rId8"/>
    <p:sldId id="887" r:id="rId9"/>
    <p:sldId id="479" r:id="rId10"/>
    <p:sldId id="686" r:id="rId11"/>
    <p:sldId id="888" r:id="rId12"/>
    <p:sldId id="889" r:id="rId13"/>
    <p:sldId id="891" r:id="rId14"/>
    <p:sldId id="892" r:id="rId15"/>
    <p:sldId id="893" r:id="rId16"/>
    <p:sldId id="595" r:id="rId17"/>
    <p:sldId id="659" r:id="rId18"/>
    <p:sldId id="660" r:id="rId19"/>
    <p:sldId id="688" r:id="rId20"/>
    <p:sldId id="689" r:id="rId21"/>
    <p:sldId id="658" r:id="rId22"/>
    <p:sldId id="260" r:id="rId23"/>
    <p:sldId id="661" r:id="rId24"/>
    <p:sldId id="434" r:id="rId25"/>
    <p:sldId id="436" r:id="rId26"/>
    <p:sldId id="435" r:id="rId27"/>
    <p:sldId id="455" r:id="rId28"/>
    <p:sldId id="437" r:id="rId29"/>
    <p:sldId id="589" r:id="rId30"/>
    <p:sldId id="830" r:id="rId31"/>
    <p:sldId id="831" r:id="rId32"/>
    <p:sldId id="662" r:id="rId33"/>
    <p:sldId id="448" r:id="rId34"/>
    <p:sldId id="536" r:id="rId35"/>
    <p:sldId id="287" r:id="rId36"/>
    <p:sldId id="710" r:id="rId37"/>
    <p:sldId id="894" r:id="rId38"/>
    <p:sldId id="895" r:id="rId39"/>
    <p:sldId id="438" r:id="rId40"/>
    <p:sldId id="590" r:id="rId41"/>
    <p:sldId id="772" r:id="rId42"/>
    <p:sldId id="832" r:id="rId43"/>
    <p:sldId id="553" r:id="rId44"/>
    <p:sldId id="591" r:id="rId45"/>
    <p:sldId id="555" r:id="rId46"/>
    <p:sldId id="592" r:id="rId47"/>
    <p:sldId id="559" r:id="rId48"/>
    <p:sldId id="593" r:id="rId49"/>
    <p:sldId id="554" r:id="rId50"/>
    <p:sldId id="594" r:id="rId51"/>
    <p:sldId id="663" r:id="rId52"/>
    <p:sldId id="472" r:id="rId53"/>
    <p:sldId id="711" r:id="rId54"/>
    <p:sldId id="473" r:id="rId55"/>
    <p:sldId id="712" r:id="rId56"/>
    <p:sldId id="851" r:id="rId57"/>
    <p:sldId id="852" r:id="rId58"/>
    <p:sldId id="471" r:id="rId59"/>
    <p:sldId id="713" r:id="rId60"/>
    <p:sldId id="664" r:id="rId61"/>
    <p:sldId id="539" r:id="rId62"/>
    <p:sldId id="665" r:id="rId63"/>
    <p:sldId id="896" r:id="rId64"/>
    <p:sldId id="897" r:id="rId65"/>
    <p:sldId id="898" r:id="rId66"/>
    <p:sldId id="899" r:id="rId67"/>
    <p:sldId id="773" r:id="rId68"/>
    <p:sldId id="833" r:id="rId69"/>
    <p:sldId id="543" r:id="rId70"/>
    <p:sldId id="441" r:id="rId71"/>
    <p:sldId id="669" r:id="rId72"/>
    <p:sldId id="730" r:id="rId73"/>
    <p:sldId id="731" r:id="rId74"/>
    <p:sldId id="544" r:id="rId75"/>
    <p:sldId id="445" r:id="rId76"/>
    <p:sldId id="732" r:id="rId77"/>
    <p:sldId id="853" r:id="rId78"/>
    <p:sldId id="444" r:id="rId79"/>
    <p:sldId id="447" r:id="rId80"/>
    <p:sldId id="460" r:id="rId81"/>
    <p:sldId id="446" r:id="rId82"/>
    <p:sldId id="671" r:id="rId83"/>
    <p:sldId id="521" r:id="rId84"/>
    <p:sldId id="735" r:id="rId85"/>
    <p:sldId id="776" r:id="rId86"/>
    <p:sldId id="855" r:id="rId87"/>
    <p:sldId id="854" r:id="rId88"/>
    <p:sldId id="857" r:id="rId89"/>
    <p:sldId id="450" r:id="rId90"/>
    <p:sldId id="449" r:id="rId91"/>
    <p:sldId id="675" r:id="rId92"/>
    <p:sldId id="862" r:id="rId93"/>
    <p:sldId id="863" r:id="rId94"/>
    <p:sldId id="864" r:id="rId95"/>
    <p:sldId id="865" r:id="rId96"/>
    <p:sldId id="468" r:id="rId97"/>
    <p:sldId id="673" r:id="rId98"/>
    <p:sldId id="570" r:id="rId99"/>
    <p:sldId id="674" r:id="rId100"/>
    <p:sldId id="451" r:id="rId101"/>
    <p:sldId id="452" r:id="rId102"/>
    <p:sldId id="676" r:id="rId103"/>
    <p:sldId id="736" r:id="rId104"/>
    <p:sldId id="737" r:id="rId105"/>
    <p:sldId id="574" r:id="rId106"/>
    <p:sldId id="677" r:id="rId107"/>
    <p:sldId id="454" r:id="rId108"/>
    <p:sldId id="453" r:id="rId109"/>
    <p:sldId id="678" r:id="rId110"/>
    <p:sldId id="738" r:id="rId111"/>
    <p:sldId id="739" r:id="rId112"/>
    <p:sldId id="778" r:id="rId113"/>
    <p:sldId id="781" r:id="rId114"/>
    <p:sldId id="545" r:id="rId115"/>
    <p:sldId id="577" r:id="rId116"/>
    <p:sldId id="715" r:id="rId117"/>
    <p:sldId id="743" r:id="rId118"/>
    <p:sldId id="586" r:id="rId119"/>
    <p:sldId id="714" r:id="rId120"/>
    <p:sldId id="588" r:id="rId121"/>
    <p:sldId id="752" r:id="rId122"/>
    <p:sldId id="748" r:id="rId123"/>
    <p:sldId id="750" r:id="rId124"/>
    <p:sldId id="749" r:id="rId125"/>
    <p:sldId id="751" r:id="rId126"/>
    <p:sldId id="587" r:id="rId127"/>
    <p:sldId id="702" r:id="rId128"/>
    <p:sldId id="754" r:id="rId129"/>
    <p:sldId id="670" r:id="rId130"/>
    <p:sldId id="717" r:id="rId131"/>
    <p:sldId id="728" r:id="rId132"/>
    <p:sldId id="719" r:id="rId133"/>
    <p:sldId id="780" r:id="rId134"/>
    <p:sldId id="718" r:id="rId135"/>
    <p:sldId id="703" r:id="rId136"/>
    <p:sldId id="581" r:id="rId137"/>
    <p:sldId id="753" r:id="rId138"/>
    <p:sldId id="582" r:id="rId139"/>
    <p:sldId id="705" r:id="rId140"/>
    <p:sldId id="755" r:id="rId141"/>
    <p:sldId id="756" r:id="rId142"/>
    <p:sldId id="724" r:id="rId143"/>
    <p:sldId id="726" r:id="rId144"/>
    <p:sldId id="723" r:id="rId145"/>
    <p:sldId id="706" r:id="rId146"/>
    <p:sldId id="584" r:id="rId147"/>
    <p:sldId id="707" r:id="rId148"/>
    <p:sldId id="725" r:id="rId149"/>
    <p:sldId id="727" r:id="rId150"/>
    <p:sldId id="461" r:id="rId151"/>
    <p:sldId id="729" r:id="rId152"/>
    <p:sldId id="819" r:id="rId153"/>
    <p:sldId id="256" r:id="rId154"/>
    <p:sldId id="524" r:id="rId155"/>
    <p:sldId id="820" r:id="rId156"/>
    <p:sldId id="821" r:id="rId157"/>
    <p:sldId id="822" r:id="rId158"/>
    <p:sldId id="823" r:id="rId159"/>
    <p:sldId id="824" r:id="rId160"/>
    <p:sldId id="826" r:id="rId161"/>
    <p:sldId id="523" r:id="rId162"/>
    <p:sldId id="827" r:id="rId163"/>
    <p:sldId id="690" r:id="rId164"/>
    <p:sldId id="480" r:id="rId165"/>
    <p:sldId id="777" r:id="rId166"/>
    <p:sldId id="680" r:id="rId167"/>
    <p:sldId id="684" r:id="rId168"/>
    <p:sldId id="682" r:id="rId169"/>
    <p:sldId id="681" r:id="rId170"/>
    <p:sldId id="874" r:id="rId171"/>
    <p:sldId id="482" r:id="rId172"/>
    <p:sldId id="873" r:id="rId173"/>
    <p:sldId id="842" r:id="rId174"/>
    <p:sldId id="843" r:id="rId175"/>
    <p:sldId id="846" r:id="rId176"/>
    <p:sldId id="850" r:id="rId177"/>
    <p:sldId id="847" r:id="rId178"/>
    <p:sldId id="849" r:id="rId179"/>
    <p:sldId id="828" r:id="rId180"/>
    <p:sldId id="829" r:id="rId181"/>
    <p:sldId id="533" r:id="rId182"/>
    <p:sldId id="763" r:id="rId183"/>
    <p:sldId id="761" r:id="rId184"/>
    <p:sldId id="759" r:id="rId185"/>
    <p:sldId id="760" r:id="rId186"/>
    <p:sldId id="757" r:id="rId187"/>
    <p:sldId id="758" r:id="rId188"/>
    <p:sldId id="501" r:id="rId189"/>
    <p:sldId id="508" r:id="rId190"/>
    <p:sldId id="495" r:id="rId191"/>
    <p:sldId id="509" r:id="rId192"/>
    <p:sldId id="493" r:id="rId193"/>
    <p:sldId id="528" r:id="rId194"/>
    <p:sldId id="529" r:id="rId195"/>
    <p:sldId id="530" r:id="rId196"/>
    <p:sldId id="499" r:id="rId197"/>
    <p:sldId id="506" r:id="rId198"/>
    <p:sldId id="500" r:id="rId199"/>
    <p:sldId id="507" r:id="rId200"/>
    <p:sldId id="496" r:id="rId201"/>
    <p:sldId id="467" r:id="rId202"/>
    <p:sldId id="875" r:id="rId203"/>
    <p:sldId id="838" r:id="rId204"/>
    <p:sldId id="876" r:id="rId205"/>
    <p:sldId id="534" r:id="rId206"/>
    <p:sldId id="503" r:id="rId207"/>
    <p:sldId id="512" r:id="rId208"/>
    <p:sldId id="836" r:id="rId209"/>
    <p:sldId id="837" r:id="rId210"/>
    <p:sldId id="519" r:id="rId211"/>
    <p:sldId id="877" r:id="rId212"/>
    <p:sldId id="532" r:id="rId213"/>
    <p:sldId id="878" r:id="rId214"/>
    <p:sldId id="502" r:id="rId215"/>
    <p:sldId id="879" r:id="rId216"/>
    <p:sldId id="513" r:id="rId217"/>
    <p:sldId id="535" r:id="rId218"/>
    <p:sldId id="514" r:id="rId219"/>
    <p:sldId id="880" r:id="rId220"/>
    <p:sldId id="515" r:id="rId221"/>
    <p:sldId id="881" r:id="rId222"/>
    <p:sldId id="516" r:id="rId223"/>
    <p:sldId id="883" r:id="rId224"/>
    <p:sldId id="517" r:id="rId225"/>
    <p:sldId id="882" r:id="rId226"/>
    <p:sldId id="537" r:id="rId227"/>
    <p:sldId id="884" r:id="rId228"/>
    <p:sldId id="885" r:id="rId229"/>
    <p:sldId id="856" r:id="rId230"/>
    <p:sldId id="866" r:id="rId231"/>
    <p:sldId id="860" r:id="rId232"/>
    <p:sldId id="867" r:id="rId233"/>
    <p:sldId id="858" r:id="rId234"/>
    <p:sldId id="868" r:id="rId235"/>
    <p:sldId id="869" r:id="rId236"/>
    <p:sldId id="871" r:id="rId237"/>
    <p:sldId id="870" r:id="rId238"/>
    <p:sldId id="872" r:id="rId239"/>
    <p:sldId id="691" r:id="rId240"/>
    <p:sldId id="692" r:id="rId241"/>
    <p:sldId id="693" r:id="rId242"/>
    <p:sldId id="694" r:id="rId243"/>
    <p:sldId id="695" r:id="rId244"/>
    <p:sldId id="696" r:id="rId245"/>
    <p:sldId id="697" r:id="rId246"/>
    <p:sldId id="698" r:id="rId247"/>
    <p:sldId id="699" r:id="rId248"/>
    <p:sldId id="700" r:id="rId249"/>
    <p:sldId id="701" r:id="rId250"/>
    <p:sldId id="740" r:id="rId251"/>
    <p:sldId id="741" r:id="rId252"/>
    <p:sldId id="769" r:id="rId253"/>
    <p:sldId id="742" r:id="rId254"/>
    <p:sldId id="774" r:id="rId255"/>
    <p:sldId id="764" r:id="rId256"/>
    <p:sldId id="766" r:id="rId257"/>
    <p:sldId id="765" r:id="rId258"/>
    <p:sldId id="768" r:id="rId259"/>
  </p:sldIdLst>
  <p:sldSz cx="12192000" cy="6858000"/>
  <p:notesSz cx="7102475" cy="10234613"/>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Year 1 Intro" id="{8CD916D4-C61B-4DE1-BA53-06CFF0F5F6D1}">
          <p14:sldIdLst>
            <p14:sldId id="262"/>
            <p14:sldId id="424"/>
            <p14:sldId id="430"/>
            <p14:sldId id="470"/>
            <p14:sldId id="465"/>
            <p14:sldId id="886"/>
            <p14:sldId id="481"/>
            <p14:sldId id="887"/>
            <p14:sldId id="479"/>
            <p14:sldId id="686"/>
          </p14:sldIdLst>
        </p14:section>
        <p14:section name="SQL" id="{DD89DABE-A453-49AB-9CCB-EE9E631C2A80}">
          <p14:sldIdLst>
            <p14:sldId id="888"/>
            <p14:sldId id="889"/>
          </p14:sldIdLst>
        </p14:section>
        <p14:section name="DB4S" id="{CFDB8A92-3B4F-42B9-A8E1-EED9786AB2F7}">
          <p14:sldIdLst>
            <p14:sldId id="891"/>
            <p14:sldId id="892"/>
            <p14:sldId id="893"/>
          </p14:sldIdLst>
        </p14:section>
        <p14:section name="Internal commentary" id="{1C33CE3C-DDFD-4A04-A8B3-5B64861D3E79}">
          <p14:sldIdLst>
            <p14:sldId id="595"/>
            <p14:sldId id="659"/>
            <p14:sldId id="660"/>
            <p14:sldId id="688"/>
            <p14:sldId id="689"/>
            <p14:sldId id="658"/>
            <p14:sldId id="260"/>
            <p14:sldId id="661"/>
          </p14:sldIdLst>
        </p14:section>
        <p14:section name="Selecting data" id="{2EDCD0F4-5722-4C0A-AACB-6CCC95B63552}">
          <p14:sldIdLst>
            <p14:sldId id="434"/>
            <p14:sldId id="436"/>
            <p14:sldId id="435"/>
            <p14:sldId id="455"/>
            <p14:sldId id="437"/>
            <p14:sldId id="589"/>
            <p14:sldId id="830"/>
            <p14:sldId id="831"/>
          </p14:sldIdLst>
        </p14:section>
        <p14:section name="Simple filtering" id="{4EB2FB9F-0FB5-438F-B6F9-2895898BD036}">
          <p14:sldIdLst>
            <p14:sldId id="662"/>
            <p14:sldId id="448"/>
            <p14:sldId id="536"/>
            <p14:sldId id="287"/>
            <p14:sldId id="710"/>
            <p14:sldId id="894"/>
            <p14:sldId id="895"/>
            <p14:sldId id="438"/>
            <p14:sldId id="590"/>
            <p14:sldId id="772"/>
            <p14:sldId id="832"/>
            <p14:sldId id="553"/>
            <p14:sldId id="591"/>
            <p14:sldId id="555"/>
            <p14:sldId id="592"/>
            <p14:sldId id="559"/>
            <p14:sldId id="593"/>
            <p14:sldId id="554"/>
            <p14:sldId id="594"/>
          </p14:sldIdLst>
        </p14:section>
        <p14:section name="Sorting" id="{A0843CDC-A3D8-42E2-A92F-876C3B7F5B35}">
          <p14:sldIdLst>
            <p14:sldId id="663"/>
            <p14:sldId id="472"/>
            <p14:sldId id="711"/>
            <p14:sldId id="473"/>
            <p14:sldId id="712"/>
            <p14:sldId id="851"/>
            <p14:sldId id="852"/>
            <p14:sldId id="471"/>
            <p14:sldId id="713"/>
          </p14:sldIdLst>
        </p14:section>
        <p14:section name="Complex filtering" id="{9260256F-28F3-4E9E-9446-CE52F48BD61A}">
          <p14:sldIdLst>
            <p14:sldId id="664"/>
            <p14:sldId id="539"/>
            <p14:sldId id="665"/>
            <p14:sldId id="896"/>
            <p14:sldId id="897"/>
            <p14:sldId id="898"/>
            <p14:sldId id="899"/>
            <p14:sldId id="773"/>
            <p14:sldId id="833"/>
          </p14:sldIdLst>
        </p14:section>
        <p14:section name="Task 1 - Prison" id="{03337F12-57C8-453A-971A-F8161C78F81A}">
          <p14:sldIdLst>
            <p14:sldId id="543"/>
          </p14:sldIdLst>
        </p14:section>
        <p14:section name="Example" id="{B6EB70A0-1A80-446A-8A12-585F4D8FA8F1}">
          <p14:sldIdLst>
            <p14:sldId id="441"/>
            <p14:sldId id="669"/>
          </p14:sldIdLst>
        </p14:section>
        <p14:section name="Santa's List" id="{2C9D3CBD-6540-4C6A-A58A-81BD1FCDA0C9}">
          <p14:sldIdLst>
            <p14:sldId id="730"/>
            <p14:sldId id="731"/>
          </p14:sldIdLst>
        </p14:section>
        <p14:section name="Task 2 - Video Games" id="{3BCFA8B2-C681-4E71-834C-6EEF522B4C45}">
          <p14:sldIdLst>
            <p14:sldId id="544"/>
          </p14:sldIdLst>
        </p14:section>
        <p14:section name="Equi-join" id="{9156AF32-3F4A-4277-919D-54926F4D484A}">
          <p14:sldIdLst>
            <p14:sldId id="445"/>
            <p14:sldId id="732"/>
            <p14:sldId id="853"/>
            <p14:sldId id="444"/>
            <p14:sldId id="447"/>
            <p14:sldId id="460"/>
            <p14:sldId id="446"/>
            <p14:sldId id="671"/>
            <p14:sldId id="521"/>
            <p14:sldId id="735"/>
          </p14:sldIdLst>
        </p14:section>
        <p14:section name="Order of Operations" id="{11B55FB4-B940-4A7E-92D4-97A5E14B2FF2}">
          <p14:sldIdLst>
            <p14:sldId id="776"/>
            <p14:sldId id="855"/>
            <p14:sldId id="854"/>
            <p14:sldId id="857"/>
          </p14:sldIdLst>
        </p14:section>
        <p14:section name="INSERT" id="{45B73AF7-9771-40C9-90A1-856F89D715F7}">
          <p14:sldIdLst>
            <p14:sldId id="450"/>
            <p14:sldId id="449"/>
            <p14:sldId id="675"/>
            <p14:sldId id="862"/>
            <p14:sldId id="863"/>
            <p14:sldId id="864"/>
            <p14:sldId id="865"/>
            <p14:sldId id="468"/>
            <p14:sldId id="673"/>
            <p14:sldId id="570"/>
            <p14:sldId id="674"/>
          </p14:sldIdLst>
        </p14:section>
        <p14:section name="UPDATE" id="{9BC599F8-639E-4FCE-BD7E-70C803913791}">
          <p14:sldIdLst>
            <p14:sldId id="451"/>
            <p14:sldId id="452"/>
            <p14:sldId id="676"/>
            <p14:sldId id="736"/>
            <p14:sldId id="737"/>
            <p14:sldId id="574"/>
            <p14:sldId id="677"/>
          </p14:sldIdLst>
        </p14:section>
        <p14:section name="DELETE" id="{F1AC29AD-00A0-4DA8-8F76-72F463CC9F85}">
          <p14:sldIdLst>
            <p14:sldId id="454"/>
            <p14:sldId id="453"/>
            <p14:sldId id="678"/>
            <p14:sldId id="738"/>
            <p14:sldId id="739"/>
          </p14:sldIdLst>
        </p14:section>
        <p14:section name="SQL Overview" id="{FFFB8ABA-72F5-423C-8F68-E44D6D6CBCDF}">
          <p14:sldIdLst>
            <p14:sldId id="778"/>
            <p14:sldId id="781"/>
          </p14:sldIdLst>
        </p14:section>
        <p14:section name="Task 3" id="{619E6DFC-3992-4A59-82E7-7B22C820B3E6}">
          <p14:sldIdLst>
            <p14:sldId id="545"/>
          </p14:sldIdLst>
        </p14:section>
        <p14:section name="Create Table" id="{8ACCEF9C-31EB-4348-9580-7D53892E83BF}">
          <p14:sldIdLst>
            <p14:sldId id="577"/>
            <p14:sldId id="715"/>
            <p14:sldId id="743"/>
            <p14:sldId id="586"/>
            <p14:sldId id="714"/>
            <p14:sldId id="588"/>
            <p14:sldId id="752"/>
            <p14:sldId id="748"/>
            <p14:sldId id="750"/>
            <p14:sldId id="749"/>
            <p14:sldId id="751"/>
          </p14:sldIdLst>
        </p14:section>
        <p14:section name="Modify Table" id="{DF38FDF2-0431-4BF2-8BBE-659739AD517E}">
          <p14:sldIdLst>
            <p14:sldId id="587"/>
            <p14:sldId id="702"/>
            <p14:sldId id="754"/>
            <p14:sldId id="670"/>
            <p14:sldId id="717"/>
            <p14:sldId id="728"/>
            <p14:sldId id="719"/>
            <p14:sldId id="780"/>
            <p14:sldId id="718"/>
            <p14:sldId id="703"/>
            <p14:sldId id="581"/>
            <p14:sldId id="753"/>
            <p14:sldId id="582"/>
            <p14:sldId id="705"/>
            <p14:sldId id="755"/>
            <p14:sldId id="756"/>
            <p14:sldId id="724"/>
            <p14:sldId id="726"/>
            <p14:sldId id="723"/>
            <p14:sldId id="706"/>
            <p14:sldId id="584"/>
            <p14:sldId id="707"/>
            <p14:sldId id="725"/>
            <p14:sldId id="727"/>
          </p14:sldIdLst>
        </p14:section>
        <p14:section name="Year 2 Intro" id="{49A7278B-A6C0-4D9B-A99D-A786B3EA68AB}">
          <p14:sldIdLst>
            <p14:sldId id="461"/>
            <p14:sldId id="729"/>
            <p14:sldId id="819"/>
          </p14:sldIdLst>
        </p14:section>
        <p14:section name="GDPR" id="{E37955AC-40BA-4116-85D2-DB10939CD5EC}">
          <p14:sldIdLst>
            <p14:sldId id="256"/>
            <p14:sldId id="524"/>
            <p14:sldId id="820"/>
            <p14:sldId id="821"/>
            <p14:sldId id="822"/>
            <p14:sldId id="823"/>
            <p14:sldId id="824"/>
            <p14:sldId id="826"/>
            <p14:sldId id="523"/>
            <p14:sldId id="827"/>
          </p14:sldIdLst>
        </p14:section>
        <p14:section name="Analysis" id="{FC1A97FF-E730-48B4-9EC4-29660A1AAE1C}">
          <p14:sldIdLst>
            <p14:sldId id="690"/>
            <p14:sldId id="480"/>
            <p14:sldId id="777"/>
            <p14:sldId id="680"/>
            <p14:sldId id="684"/>
            <p14:sldId id="682"/>
            <p14:sldId id="681"/>
          </p14:sldIdLst>
        </p14:section>
        <p14:section name="Design" id="{56203B2E-7417-47BB-9FEF-6B2DD80B6A0E}">
          <p14:sldIdLst>
            <p14:sldId id="874"/>
            <p14:sldId id="482"/>
            <p14:sldId id="873"/>
            <p14:sldId id="842"/>
            <p14:sldId id="843"/>
            <p14:sldId id="846"/>
            <p14:sldId id="850"/>
            <p14:sldId id="847"/>
            <p14:sldId id="849"/>
            <p14:sldId id="828"/>
            <p14:sldId id="829"/>
          </p14:sldIdLst>
        </p14:section>
        <p14:section name="ER Diagrams" id="{092385FA-4484-4009-B3DD-2DCFD486ADB0}">
          <p14:sldIdLst>
            <p14:sldId id="533"/>
            <p14:sldId id="763"/>
            <p14:sldId id="761"/>
            <p14:sldId id="759"/>
            <p14:sldId id="760"/>
            <p14:sldId id="757"/>
            <p14:sldId id="758"/>
            <p14:sldId id="501"/>
            <p14:sldId id="508"/>
            <p14:sldId id="495"/>
            <p14:sldId id="509"/>
          </p14:sldIdLst>
        </p14:section>
        <p14:section name="Cardinality" id="{12EF5A2B-A0F7-4F06-BD1F-F08B7156C11F}">
          <p14:sldIdLst>
            <p14:sldId id="493"/>
            <p14:sldId id="528"/>
            <p14:sldId id="529"/>
            <p14:sldId id="530"/>
            <p14:sldId id="499"/>
            <p14:sldId id="506"/>
            <p14:sldId id="500"/>
            <p14:sldId id="507"/>
            <p14:sldId id="496"/>
          </p14:sldIdLst>
        </p14:section>
        <p14:section name="Validation" id="{960C753B-D75F-4BD0-BB9D-EFEB3AE6A3E3}">
          <p14:sldIdLst>
            <p14:sldId id="467"/>
            <p14:sldId id="875"/>
            <p14:sldId id="838"/>
            <p14:sldId id="876"/>
          </p14:sldIdLst>
        </p14:section>
        <p14:section name="Data dictionary" id="{9CA5A04E-ED73-4CF8-B424-44457E4EFEF6}">
          <p14:sldIdLst>
            <p14:sldId id="534"/>
            <p14:sldId id="503"/>
            <p14:sldId id="512"/>
            <p14:sldId id="836"/>
            <p14:sldId id="837"/>
            <p14:sldId id="519"/>
            <p14:sldId id="877"/>
            <p14:sldId id="532"/>
            <p14:sldId id="878"/>
            <p14:sldId id="502"/>
            <p14:sldId id="879"/>
            <p14:sldId id="513"/>
          </p14:sldIdLst>
        </p14:section>
        <p14:section name="Query design" id="{C6B6DB09-4C97-48C8-99C9-D1EA85B0A8EC}">
          <p14:sldIdLst>
            <p14:sldId id="535"/>
            <p14:sldId id="514"/>
            <p14:sldId id="880"/>
            <p14:sldId id="515"/>
            <p14:sldId id="881"/>
            <p14:sldId id="516"/>
            <p14:sldId id="883"/>
            <p14:sldId id="517"/>
            <p14:sldId id="882"/>
          </p14:sldIdLst>
        </p14:section>
        <p14:section name="Testing / Evaluation" id="{17170198-367D-4381-96A8-6FAB281DB504}">
          <p14:sldIdLst>
            <p14:sldId id="537"/>
            <p14:sldId id="884"/>
            <p14:sldId id="885"/>
            <p14:sldId id="856"/>
            <p14:sldId id="866"/>
            <p14:sldId id="860"/>
            <p14:sldId id="867"/>
            <p14:sldId id="858"/>
            <p14:sldId id="868"/>
            <p14:sldId id="869"/>
            <p14:sldId id="871"/>
            <p14:sldId id="870"/>
            <p14:sldId id="872"/>
          </p14:sldIdLst>
        </p14:section>
        <p14:section name="Unused" id="{6B78BB24-7CD6-4957-A4D8-8AE3A74FF31C}">
          <p14:sldIdLst>
            <p14:sldId id="691"/>
            <p14:sldId id="692"/>
            <p14:sldId id="693"/>
            <p14:sldId id="694"/>
            <p14:sldId id="695"/>
            <p14:sldId id="696"/>
            <p14:sldId id="697"/>
            <p14:sldId id="698"/>
            <p14:sldId id="699"/>
            <p14:sldId id="700"/>
            <p14:sldId id="701"/>
            <p14:sldId id="740"/>
            <p14:sldId id="741"/>
            <p14:sldId id="769"/>
            <p14:sldId id="742"/>
            <p14:sldId id="774"/>
            <p14:sldId id="764"/>
            <p14:sldId id="766"/>
            <p14:sldId id="765"/>
            <p14:sldId id="768"/>
          </p14:sldIdLst>
        </p14:section>
      </p14:sectionLst>
    </p:ext>
    <p:ext uri="{EFAFB233-063F-42B5-8137-9DF3F51BA10A}">
      <p15:sldGuideLst xmlns:p15="http://schemas.microsoft.com/office/powerpoint/2012/main">
        <p15:guide id="1" orient="horz" pos="2137" userDrawn="1">
          <p15:clr>
            <a:srgbClr val="A4A3A4"/>
          </p15:clr>
        </p15:guide>
        <p15:guide id="2" pos="3840" userDrawn="1">
          <p15:clr>
            <a:srgbClr val="A4A3A4"/>
          </p15:clr>
        </p15:guide>
      </p15:sldGuideLst>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1" name="Al Friend" initials="AF" lastIdx="1" clrIdx="0">
    <p:extLst>
      <p:ext uri="{19B8F6BF-5375-455C-9EA6-DF929625EA0E}">
        <p15:presenceInfo xmlns:p15="http://schemas.microsoft.com/office/powerpoint/2012/main" userId="S-1-5-21-1186014672-3240467572-3005593719-4332" providerId="AD"/>
      </p:ext>
    </p:extLst>
  </p:cmAuthor>
</p:cmAuthorLst>
</file>

<file path=ppt/presProps.xml><?xml version="1.0" encoding="utf-8"?>
<p:presentationPr xmlns:a="http://schemas.openxmlformats.org/drawingml/2006/main" xmlns:r="http://schemas.openxmlformats.org/officeDocument/2006/relationships" xmlns:p="http://schemas.openxmlformats.org/presentationml/2006/main">
  <p:clrMru>
    <a:srgbClr val="A71D5D"/>
    <a:srgbClr val="0086B3"/>
    <a:srgbClr val="FF00FF"/>
    <a:srgbClr val="183691"/>
    <a:srgbClr val="FFFF00"/>
    <a:srgbClr val="8BC2DE"/>
    <a:srgbClr val="49A5CA"/>
    <a:srgbClr val="BDD7EE"/>
    <a:srgbClr val="E9EBF5"/>
    <a:srgbClr val="CFD5EA"/>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3C2FFA5D-87B4-456A-9821-1D502468CF0F}" styleName="Themed Style 1 - Accent 1">
    <a:tblBg>
      <a:fillRef idx="2">
        <a:schemeClr val="accent1"/>
      </a:fillRef>
      <a:effectRef idx="1">
        <a:schemeClr val="accent1"/>
      </a:effectRef>
    </a:tblBg>
    <a:wholeTbl>
      <a:tcTxStyle>
        <a:fontRef idx="minor">
          <a:scrgbClr r="0" g="0" b="0"/>
        </a:fontRef>
        <a:schemeClr val="dk1"/>
      </a:tcTxStyle>
      <a:tcStyle>
        <a:tcBdr>
          <a:left>
            <a:lnRef idx="1">
              <a:schemeClr val="accent1"/>
            </a:lnRef>
          </a:left>
          <a:right>
            <a:lnRef idx="1">
              <a:schemeClr val="accent1"/>
            </a:lnRef>
          </a:right>
          <a:top>
            <a:lnRef idx="1">
              <a:schemeClr val="accent1"/>
            </a:lnRef>
          </a:top>
          <a:bottom>
            <a:lnRef idx="1">
              <a:schemeClr val="accent1"/>
            </a:lnRef>
          </a:bottom>
          <a:insideH>
            <a:lnRef idx="1">
              <a:schemeClr val="accent1"/>
            </a:lnRef>
          </a:insideH>
          <a:insideV>
            <a:lnRef idx="1">
              <a:schemeClr val="accent1"/>
            </a:lnRef>
          </a:insideV>
        </a:tcBdr>
        <a:fill>
          <a:noFill/>
        </a:fill>
      </a:tcStyle>
    </a:wholeTbl>
    <a:band1H>
      <a:tcStyle>
        <a:tcBdr/>
        <a:fill>
          <a:solidFill>
            <a:schemeClr val="accent1">
              <a:alpha val="40000"/>
            </a:schemeClr>
          </a:solidFill>
        </a:fill>
      </a:tcStyle>
    </a:band1H>
    <a:band2H>
      <a:tcStyle>
        <a:tcBdr/>
      </a:tcStyle>
    </a:band2H>
    <a:band1V>
      <a:tcStyle>
        <a:tcBdr>
          <a:top>
            <a:lnRef idx="1">
              <a:schemeClr val="accent1"/>
            </a:lnRef>
          </a:top>
          <a:bottom>
            <a:lnRef idx="1">
              <a:schemeClr val="accent1"/>
            </a:lnRef>
          </a:bottom>
        </a:tcBdr>
        <a:fill>
          <a:solidFill>
            <a:schemeClr val="accent1">
              <a:alpha val="40000"/>
            </a:schemeClr>
          </a:solidFill>
        </a:fill>
      </a:tcStyle>
    </a:band1V>
    <a:band2V>
      <a:tcStyle>
        <a:tcBdr/>
      </a:tcStyle>
    </a:band2V>
    <a:lastCol>
      <a:tcTxStyle b="on"/>
      <a:tcStyle>
        <a:tcBdr>
          <a:left>
            <a:lnRef idx="2">
              <a:schemeClr val="accent1"/>
            </a:lnRef>
          </a:left>
          <a:right>
            <a:lnRef idx="1">
              <a:schemeClr val="accent1"/>
            </a:lnRef>
          </a:right>
          <a:top>
            <a:lnRef idx="1">
              <a:schemeClr val="accent1"/>
            </a:lnRef>
          </a:top>
          <a:bottom>
            <a:lnRef idx="1">
              <a:schemeClr val="accent1"/>
            </a:lnRef>
          </a:bottom>
          <a:insideH>
            <a:lnRef idx="1">
              <a:schemeClr val="accent1"/>
            </a:lnRef>
          </a:insideH>
          <a:insideV>
            <a:ln>
              <a:noFill/>
            </a:ln>
          </a:insideV>
        </a:tcBdr>
      </a:tcStyle>
    </a:lastCol>
    <a:firstCol>
      <a:tcTxStyle b="on"/>
      <a:tcStyle>
        <a:tcBdr>
          <a:left>
            <a:lnRef idx="1">
              <a:schemeClr val="accent1"/>
            </a:lnRef>
          </a:left>
          <a:right>
            <a:lnRef idx="2">
              <a:schemeClr val="accent1"/>
            </a:lnRef>
          </a:right>
          <a:top>
            <a:lnRef idx="1">
              <a:schemeClr val="accent1"/>
            </a:lnRef>
          </a:top>
          <a:bottom>
            <a:lnRef idx="1">
              <a:schemeClr val="accent1"/>
            </a:lnRef>
          </a:bottom>
          <a:insideH>
            <a:lnRef idx="1">
              <a:schemeClr val="accent1"/>
            </a:lnRef>
          </a:insideH>
          <a:insideV>
            <a:ln>
              <a:noFill/>
            </a:ln>
          </a:insideV>
        </a:tcBdr>
      </a:tcStyle>
    </a:firstCol>
    <a:lastRow>
      <a:tcTxStyle b="on"/>
      <a:tcStyle>
        <a:tcBdr>
          <a:left>
            <a:lnRef idx="1">
              <a:schemeClr val="accent1"/>
            </a:lnRef>
          </a:left>
          <a:right>
            <a:lnRef idx="1">
              <a:schemeClr val="accent1"/>
            </a:lnRef>
          </a:right>
          <a:top>
            <a:lnRef idx="2">
              <a:schemeClr val="accent1"/>
            </a:lnRef>
          </a:top>
          <a:bottom>
            <a:lnRef idx="2">
              <a:schemeClr val="accent1"/>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1"/>
            </a:lnRef>
          </a:left>
          <a:right>
            <a:lnRef idx="1">
              <a:schemeClr val="accent1"/>
            </a:lnRef>
          </a:right>
          <a:top>
            <a:lnRef idx="1">
              <a:schemeClr val="accent1"/>
            </a:lnRef>
          </a:top>
          <a:bottom>
            <a:lnRef idx="2">
              <a:schemeClr val="lt1"/>
            </a:lnRef>
          </a:bottom>
          <a:insideH>
            <a:ln>
              <a:noFill/>
            </a:ln>
          </a:insideH>
          <a:insideV>
            <a:ln>
              <a:noFill/>
            </a:ln>
          </a:insideV>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4734" autoAdjust="0"/>
    <p:restoredTop sz="81622" autoAdjust="0"/>
  </p:normalViewPr>
  <p:slideViewPr>
    <p:cSldViewPr snapToGrid="0" showGuides="1">
      <p:cViewPr varScale="1">
        <p:scale>
          <a:sx n="54" d="100"/>
          <a:sy n="54" d="100"/>
        </p:scale>
        <p:origin x="1160" y="52"/>
      </p:cViewPr>
      <p:guideLst>
        <p:guide orient="horz" pos="2137"/>
        <p:guide pos="3840"/>
      </p:guideLst>
    </p:cSldViewPr>
  </p:slideViewPr>
  <p:outlineViewPr>
    <p:cViewPr>
      <p:scale>
        <a:sx n="33" d="100"/>
        <a:sy n="33" d="100"/>
      </p:scale>
      <p:origin x="0" y="0"/>
    </p:cViewPr>
  </p:outlineViewPr>
  <p:notesTextViewPr>
    <p:cViewPr>
      <p:scale>
        <a:sx n="150" d="100"/>
        <a:sy n="150" d="100"/>
      </p:scale>
      <p:origin x="0" y="0"/>
    </p:cViewPr>
  </p:notesTextViewPr>
  <p:sorterViewPr>
    <p:cViewPr>
      <p:scale>
        <a:sx n="80" d="100"/>
        <a:sy n="80" d="100"/>
      </p:scale>
      <p:origin x="0" y="-12758"/>
    </p:cViewPr>
  </p:sorterViewPr>
  <p:gridSpacing cx="72008" cy="72008"/>
</p:viewPr>
</file>

<file path=ppt/_rels/presentation.xml.rels><?xml version="1.0" encoding="UTF-8" standalone="yes"?>
<Relationships xmlns="http://schemas.openxmlformats.org/package/2006/relationships"><Relationship Id="rId117" Type="http://schemas.openxmlformats.org/officeDocument/2006/relationships/slide" Target="slides/slide116.xml"/><Relationship Id="rId21" Type="http://schemas.openxmlformats.org/officeDocument/2006/relationships/slide" Target="slides/slide20.xml"/><Relationship Id="rId63" Type="http://schemas.openxmlformats.org/officeDocument/2006/relationships/slide" Target="slides/slide62.xml"/><Relationship Id="rId159" Type="http://schemas.openxmlformats.org/officeDocument/2006/relationships/slide" Target="slides/slide158.xml"/><Relationship Id="rId170" Type="http://schemas.openxmlformats.org/officeDocument/2006/relationships/slide" Target="slides/slide169.xml"/><Relationship Id="rId226" Type="http://schemas.openxmlformats.org/officeDocument/2006/relationships/slide" Target="slides/slide225.xml"/><Relationship Id="rId107" Type="http://schemas.openxmlformats.org/officeDocument/2006/relationships/slide" Target="slides/slide106.xml"/><Relationship Id="rId11" Type="http://schemas.openxmlformats.org/officeDocument/2006/relationships/slide" Target="slides/slide10.xml"/><Relationship Id="rId32" Type="http://schemas.openxmlformats.org/officeDocument/2006/relationships/slide" Target="slides/slide31.xml"/><Relationship Id="rId53" Type="http://schemas.openxmlformats.org/officeDocument/2006/relationships/slide" Target="slides/slide52.xml"/><Relationship Id="rId74" Type="http://schemas.openxmlformats.org/officeDocument/2006/relationships/slide" Target="slides/slide73.xml"/><Relationship Id="rId128" Type="http://schemas.openxmlformats.org/officeDocument/2006/relationships/slide" Target="slides/slide127.xml"/><Relationship Id="rId149" Type="http://schemas.openxmlformats.org/officeDocument/2006/relationships/slide" Target="slides/slide148.xml"/><Relationship Id="rId5" Type="http://schemas.openxmlformats.org/officeDocument/2006/relationships/slide" Target="slides/slide4.xml"/><Relationship Id="rId95" Type="http://schemas.openxmlformats.org/officeDocument/2006/relationships/slide" Target="slides/slide94.xml"/><Relationship Id="rId160" Type="http://schemas.openxmlformats.org/officeDocument/2006/relationships/slide" Target="slides/slide159.xml"/><Relationship Id="rId181" Type="http://schemas.openxmlformats.org/officeDocument/2006/relationships/slide" Target="slides/slide180.xml"/><Relationship Id="rId216" Type="http://schemas.openxmlformats.org/officeDocument/2006/relationships/slide" Target="slides/slide215.xml"/><Relationship Id="rId237" Type="http://schemas.openxmlformats.org/officeDocument/2006/relationships/slide" Target="slides/slide236.xml"/><Relationship Id="rId258" Type="http://schemas.openxmlformats.org/officeDocument/2006/relationships/slide" Target="slides/slide257.xml"/><Relationship Id="rId22" Type="http://schemas.openxmlformats.org/officeDocument/2006/relationships/slide" Target="slides/slide21.xml"/><Relationship Id="rId43" Type="http://schemas.openxmlformats.org/officeDocument/2006/relationships/slide" Target="slides/slide42.xml"/><Relationship Id="rId64" Type="http://schemas.openxmlformats.org/officeDocument/2006/relationships/slide" Target="slides/slide63.xml"/><Relationship Id="rId118" Type="http://schemas.openxmlformats.org/officeDocument/2006/relationships/slide" Target="slides/slide117.xml"/><Relationship Id="rId139" Type="http://schemas.openxmlformats.org/officeDocument/2006/relationships/slide" Target="slides/slide138.xml"/><Relationship Id="rId85" Type="http://schemas.openxmlformats.org/officeDocument/2006/relationships/slide" Target="slides/slide84.xml"/><Relationship Id="rId150" Type="http://schemas.openxmlformats.org/officeDocument/2006/relationships/slide" Target="slides/slide149.xml"/><Relationship Id="rId171" Type="http://schemas.openxmlformats.org/officeDocument/2006/relationships/slide" Target="slides/slide170.xml"/><Relationship Id="rId192" Type="http://schemas.openxmlformats.org/officeDocument/2006/relationships/slide" Target="slides/slide191.xml"/><Relationship Id="rId206" Type="http://schemas.openxmlformats.org/officeDocument/2006/relationships/slide" Target="slides/slide205.xml"/><Relationship Id="rId227" Type="http://schemas.openxmlformats.org/officeDocument/2006/relationships/slide" Target="slides/slide226.xml"/><Relationship Id="rId248" Type="http://schemas.openxmlformats.org/officeDocument/2006/relationships/slide" Target="slides/slide247.xml"/><Relationship Id="rId12" Type="http://schemas.openxmlformats.org/officeDocument/2006/relationships/slide" Target="slides/slide11.xml"/><Relationship Id="rId33" Type="http://schemas.openxmlformats.org/officeDocument/2006/relationships/slide" Target="slides/slide32.xml"/><Relationship Id="rId108" Type="http://schemas.openxmlformats.org/officeDocument/2006/relationships/slide" Target="slides/slide107.xml"/><Relationship Id="rId129" Type="http://schemas.openxmlformats.org/officeDocument/2006/relationships/slide" Target="slides/slide128.xml"/><Relationship Id="rId54" Type="http://schemas.openxmlformats.org/officeDocument/2006/relationships/slide" Target="slides/slide53.xml"/><Relationship Id="rId75" Type="http://schemas.openxmlformats.org/officeDocument/2006/relationships/slide" Target="slides/slide74.xml"/><Relationship Id="rId96" Type="http://schemas.openxmlformats.org/officeDocument/2006/relationships/slide" Target="slides/slide95.xml"/><Relationship Id="rId140" Type="http://schemas.openxmlformats.org/officeDocument/2006/relationships/slide" Target="slides/slide139.xml"/><Relationship Id="rId161" Type="http://schemas.openxmlformats.org/officeDocument/2006/relationships/slide" Target="slides/slide160.xml"/><Relationship Id="rId182" Type="http://schemas.openxmlformats.org/officeDocument/2006/relationships/slide" Target="slides/slide181.xml"/><Relationship Id="rId217" Type="http://schemas.openxmlformats.org/officeDocument/2006/relationships/slide" Target="slides/slide216.xml"/><Relationship Id="rId6" Type="http://schemas.openxmlformats.org/officeDocument/2006/relationships/slide" Target="slides/slide5.xml"/><Relationship Id="rId238" Type="http://schemas.openxmlformats.org/officeDocument/2006/relationships/slide" Target="slides/slide237.xml"/><Relationship Id="rId259" Type="http://schemas.openxmlformats.org/officeDocument/2006/relationships/slide" Target="slides/slide258.xml"/><Relationship Id="rId23" Type="http://schemas.openxmlformats.org/officeDocument/2006/relationships/slide" Target="slides/slide22.xml"/><Relationship Id="rId119" Type="http://schemas.openxmlformats.org/officeDocument/2006/relationships/slide" Target="slides/slide118.xml"/><Relationship Id="rId44" Type="http://schemas.openxmlformats.org/officeDocument/2006/relationships/slide" Target="slides/slide43.xml"/><Relationship Id="rId65" Type="http://schemas.openxmlformats.org/officeDocument/2006/relationships/slide" Target="slides/slide64.xml"/><Relationship Id="rId86" Type="http://schemas.openxmlformats.org/officeDocument/2006/relationships/slide" Target="slides/slide85.xml"/><Relationship Id="rId130" Type="http://schemas.openxmlformats.org/officeDocument/2006/relationships/slide" Target="slides/slide129.xml"/><Relationship Id="rId151" Type="http://schemas.openxmlformats.org/officeDocument/2006/relationships/slide" Target="slides/slide150.xml"/><Relationship Id="rId172" Type="http://schemas.openxmlformats.org/officeDocument/2006/relationships/slide" Target="slides/slide171.xml"/><Relationship Id="rId193" Type="http://schemas.openxmlformats.org/officeDocument/2006/relationships/slide" Target="slides/slide192.xml"/><Relationship Id="rId207" Type="http://schemas.openxmlformats.org/officeDocument/2006/relationships/slide" Target="slides/slide206.xml"/><Relationship Id="rId228" Type="http://schemas.openxmlformats.org/officeDocument/2006/relationships/slide" Target="slides/slide227.xml"/><Relationship Id="rId249" Type="http://schemas.openxmlformats.org/officeDocument/2006/relationships/slide" Target="slides/slide248.xml"/><Relationship Id="rId13" Type="http://schemas.openxmlformats.org/officeDocument/2006/relationships/slide" Target="slides/slide12.xml"/><Relationship Id="rId109" Type="http://schemas.openxmlformats.org/officeDocument/2006/relationships/slide" Target="slides/slide108.xml"/><Relationship Id="rId260" Type="http://schemas.openxmlformats.org/officeDocument/2006/relationships/notesMaster" Target="notesMasters/notesMaster1.xml"/><Relationship Id="rId34" Type="http://schemas.openxmlformats.org/officeDocument/2006/relationships/slide" Target="slides/slide33.xml"/><Relationship Id="rId55" Type="http://schemas.openxmlformats.org/officeDocument/2006/relationships/slide" Target="slides/slide54.xml"/><Relationship Id="rId76" Type="http://schemas.openxmlformats.org/officeDocument/2006/relationships/slide" Target="slides/slide75.xml"/><Relationship Id="rId97" Type="http://schemas.openxmlformats.org/officeDocument/2006/relationships/slide" Target="slides/slide96.xml"/><Relationship Id="rId120" Type="http://schemas.openxmlformats.org/officeDocument/2006/relationships/slide" Target="slides/slide119.xml"/><Relationship Id="rId141" Type="http://schemas.openxmlformats.org/officeDocument/2006/relationships/slide" Target="slides/slide140.xml"/><Relationship Id="rId7" Type="http://schemas.openxmlformats.org/officeDocument/2006/relationships/slide" Target="slides/slide6.xml"/><Relationship Id="rId162" Type="http://schemas.openxmlformats.org/officeDocument/2006/relationships/slide" Target="slides/slide161.xml"/><Relationship Id="rId183" Type="http://schemas.openxmlformats.org/officeDocument/2006/relationships/slide" Target="slides/slide182.xml"/><Relationship Id="rId218" Type="http://schemas.openxmlformats.org/officeDocument/2006/relationships/slide" Target="slides/slide217.xml"/><Relationship Id="rId239" Type="http://schemas.openxmlformats.org/officeDocument/2006/relationships/slide" Target="slides/slide238.xml"/><Relationship Id="rId250" Type="http://schemas.openxmlformats.org/officeDocument/2006/relationships/slide" Target="slides/slide249.xml"/><Relationship Id="rId24" Type="http://schemas.openxmlformats.org/officeDocument/2006/relationships/slide" Target="slides/slide23.xml"/><Relationship Id="rId45" Type="http://schemas.openxmlformats.org/officeDocument/2006/relationships/slide" Target="slides/slide44.xml"/><Relationship Id="rId66" Type="http://schemas.openxmlformats.org/officeDocument/2006/relationships/slide" Target="slides/slide65.xml"/><Relationship Id="rId87" Type="http://schemas.openxmlformats.org/officeDocument/2006/relationships/slide" Target="slides/slide86.xml"/><Relationship Id="rId110" Type="http://schemas.openxmlformats.org/officeDocument/2006/relationships/slide" Target="slides/slide109.xml"/><Relationship Id="rId131" Type="http://schemas.openxmlformats.org/officeDocument/2006/relationships/slide" Target="slides/slide130.xml"/><Relationship Id="rId152" Type="http://schemas.openxmlformats.org/officeDocument/2006/relationships/slide" Target="slides/slide151.xml"/><Relationship Id="rId173" Type="http://schemas.openxmlformats.org/officeDocument/2006/relationships/slide" Target="slides/slide172.xml"/><Relationship Id="rId194" Type="http://schemas.openxmlformats.org/officeDocument/2006/relationships/slide" Target="slides/slide193.xml"/><Relationship Id="rId208" Type="http://schemas.openxmlformats.org/officeDocument/2006/relationships/slide" Target="slides/slide207.xml"/><Relationship Id="rId229" Type="http://schemas.openxmlformats.org/officeDocument/2006/relationships/slide" Target="slides/slide228.xml"/><Relationship Id="rId240" Type="http://schemas.openxmlformats.org/officeDocument/2006/relationships/slide" Target="slides/slide239.xml"/><Relationship Id="rId261" Type="http://schemas.openxmlformats.org/officeDocument/2006/relationships/commentAuthors" Target="commentAuthors.xml"/><Relationship Id="rId14" Type="http://schemas.openxmlformats.org/officeDocument/2006/relationships/slide" Target="slides/slide13.xml"/><Relationship Id="rId35" Type="http://schemas.openxmlformats.org/officeDocument/2006/relationships/slide" Target="slides/slide34.xml"/><Relationship Id="rId56" Type="http://schemas.openxmlformats.org/officeDocument/2006/relationships/slide" Target="slides/slide55.xml"/><Relationship Id="rId77" Type="http://schemas.openxmlformats.org/officeDocument/2006/relationships/slide" Target="slides/slide76.xml"/><Relationship Id="rId100" Type="http://schemas.openxmlformats.org/officeDocument/2006/relationships/slide" Target="slides/slide99.xml"/><Relationship Id="rId8" Type="http://schemas.openxmlformats.org/officeDocument/2006/relationships/slide" Target="slides/slide7.xml"/><Relationship Id="rId98" Type="http://schemas.openxmlformats.org/officeDocument/2006/relationships/slide" Target="slides/slide97.xml"/><Relationship Id="rId121" Type="http://schemas.openxmlformats.org/officeDocument/2006/relationships/slide" Target="slides/slide120.xml"/><Relationship Id="rId142" Type="http://schemas.openxmlformats.org/officeDocument/2006/relationships/slide" Target="slides/slide141.xml"/><Relationship Id="rId163" Type="http://schemas.openxmlformats.org/officeDocument/2006/relationships/slide" Target="slides/slide162.xml"/><Relationship Id="rId184" Type="http://schemas.openxmlformats.org/officeDocument/2006/relationships/slide" Target="slides/slide183.xml"/><Relationship Id="rId219" Type="http://schemas.openxmlformats.org/officeDocument/2006/relationships/slide" Target="slides/slide218.xml"/><Relationship Id="rId230" Type="http://schemas.openxmlformats.org/officeDocument/2006/relationships/slide" Target="slides/slide229.xml"/><Relationship Id="rId251" Type="http://schemas.openxmlformats.org/officeDocument/2006/relationships/slide" Target="slides/slide250.xml"/><Relationship Id="rId25" Type="http://schemas.openxmlformats.org/officeDocument/2006/relationships/slide" Target="slides/slide24.xml"/><Relationship Id="rId46" Type="http://schemas.openxmlformats.org/officeDocument/2006/relationships/slide" Target="slides/slide45.xml"/><Relationship Id="rId67" Type="http://schemas.openxmlformats.org/officeDocument/2006/relationships/slide" Target="slides/slide66.xml"/><Relationship Id="rId88" Type="http://schemas.openxmlformats.org/officeDocument/2006/relationships/slide" Target="slides/slide87.xml"/><Relationship Id="rId111" Type="http://schemas.openxmlformats.org/officeDocument/2006/relationships/slide" Target="slides/slide110.xml"/><Relationship Id="rId132" Type="http://schemas.openxmlformats.org/officeDocument/2006/relationships/slide" Target="slides/slide131.xml"/><Relationship Id="rId153" Type="http://schemas.openxmlformats.org/officeDocument/2006/relationships/slide" Target="slides/slide152.xml"/><Relationship Id="rId174" Type="http://schemas.openxmlformats.org/officeDocument/2006/relationships/slide" Target="slides/slide173.xml"/><Relationship Id="rId195" Type="http://schemas.openxmlformats.org/officeDocument/2006/relationships/slide" Target="slides/slide194.xml"/><Relationship Id="rId209" Type="http://schemas.openxmlformats.org/officeDocument/2006/relationships/slide" Target="slides/slide208.xml"/><Relationship Id="rId220" Type="http://schemas.openxmlformats.org/officeDocument/2006/relationships/slide" Target="slides/slide219.xml"/><Relationship Id="rId241" Type="http://schemas.openxmlformats.org/officeDocument/2006/relationships/slide" Target="slides/slide240.xml"/><Relationship Id="rId15" Type="http://schemas.openxmlformats.org/officeDocument/2006/relationships/slide" Target="slides/slide14.xml"/><Relationship Id="rId36" Type="http://schemas.openxmlformats.org/officeDocument/2006/relationships/slide" Target="slides/slide35.xml"/><Relationship Id="rId57" Type="http://schemas.openxmlformats.org/officeDocument/2006/relationships/slide" Target="slides/slide56.xml"/><Relationship Id="rId262" Type="http://schemas.openxmlformats.org/officeDocument/2006/relationships/presProps" Target="presProps.xml"/><Relationship Id="rId78" Type="http://schemas.openxmlformats.org/officeDocument/2006/relationships/slide" Target="slides/slide77.xml"/><Relationship Id="rId99" Type="http://schemas.openxmlformats.org/officeDocument/2006/relationships/slide" Target="slides/slide98.xml"/><Relationship Id="rId101" Type="http://schemas.openxmlformats.org/officeDocument/2006/relationships/slide" Target="slides/slide100.xml"/><Relationship Id="rId122" Type="http://schemas.openxmlformats.org/officeDocument/2006/relationships/slide" Target="slides/slide121.xml"/><Relationship Id="rId143" Type="http://schemas.openxmlformats.org/officeDocument/2006/relationships/slide" Target="slides/slide142.xml"/><Relationship Id="rId164" Type="http://schemas.openxmlformats.org/officeDocument/2006/relationships/slide" Target="slides/slide163.xml"/><Relationship Id="rId185" Type="http://schemas.openxmlformats.org/officeDocument/2006/relationships/slide" Target="slides/slide184.xml"/><Relationship Id="rId9" Type="http://schemas.openxmlformats.org/officeDocument/2006/relationships/slide" Target="slides/slide8.xml"/><Relationship Id="rId210" Type="http://schemas.openxmlformats.org/officeDocument/2006/relationships/slide" Target="slides/slide209.xml"/><Relationship Id="rId26" Type="http://schemas.openxmlformats.org/officeDocument/2006/relationships/slide" Target="slides/slide25.xml"/><Relationship Id="rId231" Type="http://schemas.openxmlformats.org/officeDocument/2006/relationships/slide" Target="slides/slide230.xml"/><Relationship Id="rId252" Type="http://schemas.openxmlformats.org/officeDocument/2006/relationships/slide" Target="slides/slide251.xml"/><Relationship Id="rId47" Type="http://schemas.openxmlformats.org/officeDocument/2006/relationships/slide" Target="slides/slide46.xml"/><Relationship Id="rId68" Type="http://schemas.openxmlformats.org/officeDocument/2006/relationships/slide" Target="slides/slide67.xml"/><Relationship Id="rId89" Type="http://schemas.openxmlformats.org/officeDocument/2006/relationships/slide" Target="slides/slide88.xml"/><Relationship Id="rId112" Type="http://schemas.openxmlformats.org/officeDocument/2006/relationships/slide" Target="slides/slide111.xml"/><Relationship Id="rId133" Type="http://schemas.openxmlformats.org/officeDocument/2006/relationships/slide" Target="slides/slide132.xml"/><Relationship Id="rId154" Type="http://schemas.openxmlformats.org/officeDocument/2006/relationships/slide" Target="slides/slide153.xml"/><Relationship Id="rId175" Type="http://schemas.openxmlformats.org/officeDocument/2006/relationships/slide" Target="slides/slide174.xml"/><Relationship Id="rId196" Type="http://schemas.openxmlformats.org/officeDocument/2006/relationships/slide" Target="slides/slide195.xml"/><Relationship Id="rId200" Type="http://schemas.openxmlformats.org/officeDocument/2006/relationships/slide" Target="slides/slide199.xml"/><Relationship Id="rId16" Type="http://schemas.openxmlformats.org/officeDocument/2006/relationships/slide" Target="slides/slide15.xml"/><Relationship Id="rId221" Type="http://schemas.openxmlformats.org/officeDocument/2006/relationships/slide" Target="slides/slide220.xml"/><Relationship Id="rId242" Type="http://schemas.openxmlformats.org/officeDocument/2006/relationships/slide" Target="slides/slide241.xml"/><Relationship Id="rId263" Type="http://schemas.openxmlformats.org/officeDocument/2006/relationships/viewProps" Target="viewProps.xml"/><Relationship Id="rId37" Type="http://schemas.openxmlformats.org/officeDocument/2006/relationships/slide" Target="slides/slide36.xml"/><Relationship Id="rId58" Type="http://schemas.openxmlformats.org/officeDocument/2006/relationships/slide" Target="slides/slide57.xml"/><Relationship Id="rId79" Type="http://schemas.openxmlformats.org/officeDocument/2006/relationships/slide" Target="slides/slide78.xml"/><Relationship Id="rId102" Type="http://schemas.openxmlformats.org/officeDocument/2006/relationships/slide" Target="slides/slide101.xml"/><Relationship Id="rId123" Type="http://schemas.openxmlformats.org/officeDocument/2006/relationships/slide" Target="slides/slide122.xml"/><Relationship Id="rId144" Type="http://schemas.openxmlformats.org/officeDocument/2006/relationships/slide" Target="slides/slide143.xml"/><Relationship Id="rId90" Type="http://schemas.openxmlformats.org/officeDocument/2006/relationships/slide" Target="slides/slide89.xml"/><Relationship Id="rId165" Type="http://schemas.openxmlformats.org/officeDocument/2006/relationships/slide" Target="slides/slide164.xml"/><Relationship Id="rId186" Type="http://schemas.openxmlformats.org/officeDocument/2006/relationships/slide" Target="slides/slide185.xml"/><Relationship Id="rId211" Type="http://schemas.openxmlformats.org/officeDocument/2006/relationships/slide" Target="slides/slide210.xml"/><Relationship Id="rId232" Type="http://schemas.openxmlformats.org/officeDocument/2006/relationships/slide" Target="slides/slide231.xml"/><Relationship Id="rId253" Type="http://schemas.openxmlformats.org/officeDocument/2006/relationships/slide" Target="slides/slide252.xml"/><Relationship Id="rId27" Type="http://schemas.openxmlformats.org/officeDocument/2006/relationships/slide" Target="slides/slide26.xml"/><Relationship Id="rId48" Type="http://schemas.openxmlformats.org/officeDocument/2006/relationships/slide" Target="slides/slide47.xml"/><Relationship Id="rId69" Type="http://schemas.openxmlformats.org/officeDocument/2006/relationships/slide" Target="slides/slide68.xml"/><Relationship Id="rId113" Type="http://schemas.openxmlformats.org/officeDocument/2006/relationships/slide" Target="slides/slide112.xml"/><Relationship Id="rId134" Type="http://schemas.openxmlformats.org/officeDocument/2006/relationships/slide" Target="slides/slide133.xml"/><Relationship Id="rId80" Type="http://schemas.openxmlformats.org/officeDocument/2006/relationships/slide" Target="slides/slide79.xml"/><Relationship Id="rId155" Type="http://schemas.openxmlformats.org/officeDocument/2006/relationships/slide" Target="slides/slide154.xml"/><Relationship Id="rId176" Type="http://schemas.openxmlformats.org/officeDocument/2006/relationships/slide" Target="slides/slide175.xml"/><Relationship Id="rId197" Type="http://schemas.openxmlformats.org/officeDocument/2006/relationships/slide" Target="slides/slide196.xml"/><Relationship Id="rId201" Type="http://schemas.openxmlformats.org/officeDocument/2006/relationships/slide" Target="slides/slide200.xml"/><Relationship Id="rId222" Type="http://schemas.openxmlformats.org/officeDocument/2006/relationships/slide" Target="slides/slide221.xml"/><Relationship Id="rId243" Type="http://schemas.openxmlformats.org/officeDocument/2006/relationships/slide" Target="slides/slide242.xml"/><Relationship Id="rId264" Type="http://schemas.openxmlformats.org/officeDocument/2006/relationships/theme" Target="theme/theme1.xml"/><Relationship Id="rId17" Type="http://schemas.openxmlformats.org/officeDocument/2006/relationships/slide" Target="slides/slide16.xml"/><Relationship Id="rId38" Type="http://schemas.openxmlformats.org/officeDocument/2006/relationships/slide" Target="slides/slide37.xml"/><Relationship Id="rId59" Type="http://schemas.openxmlformats.org/officeDocument/2006/relationships/slide" Target="slides/slide58.xml"/><Relationship Id="rId103" Type="http://schemas.openxmlformats.org/officeDocument/2006/relationships/slide" Target="slides/slide102.xml"/><Relationship Id="rId124" Type="http://schemas.openxmlformats.org/officeDocument/2006/relationships/slide" Target="slides/slide123.xml"/><Relationship Id="rId70" Type="http://schemas.openxmlformats.org/officeDocument/2006/relationships/slide" Target="slides/slide69.xml"/><Relationship Id="rId91" Type="http://schemas.openxmlformats.org/officeDocument/2006/relationships/slide" Target="slides/slide90.xml"/><Relationship Id="rId145" Type="http://schemas.openxmlformats.org/officeDocument/2006/relationships/slide" Target="slides/slide144.xml"/><Relationship Id="rId166" Type="http://schemas.openxmlformats.org/officeDocument/2006/relationships/slide" Target="slides/slide165.xml"/><Relationship Id="rId187" Type="http://schemas.openxmlformats.org/officeDocument/2006/relationships/slide" Target="slides/slide186.xml"/><Relationship Id="rId1" Type="http://schemas.openxmlformats.org/officeDocument/2006/relationships/slideMaster" Target="slideMasters/slideMaster1.xml"/><Relationship Id="rId212" Type="http://schemas.openxmlformats.org/officeDocument/2006/relationships/slide" Target="slides/slide211.xml"/><Relationship Id="rId233" Type="http://schemas.openxmlformats.org/officeDocument/2006/relationships/slide" Target="slides/slide232.xml"/><Relationship Id="rId254" Type="http://schemas.openxmlformats.org/officeDocument/2006/relationships/slide" Target="slides/slide253.xml"/><Relationship Id="rId28" Type="http://schemas.openxmlformats.org/officeDocument/2006/relationships/slide" Target="slides/slide27.xml"/><Relationship Id="rId49" Type="http://schemas.openxmlformats.org/officeDocument/2006/relationships/slide" Target="slides/slide48.xml"/><Relationship Id="rId114" Type="http://schemas.openxmlformats.org/officeDocument/2006/relationships/slide" Target="slides/slide113.xml"/><Relationship Id="rId60" Type="http://schemas.openxmlformats.org/officeDocument/2006/relationships/slide" Target="slides/slide59.xml"/><Relationship Id="rId81" Type="http://schemas.openxmlformats.org/officeDocument/2006/relationships/slide" Target="slides/slide80.xml"/><Relationship Id="rId135" Type="http://schemas.openxmlformats.org/officeDocument/2006/relationships/slide" Target="slides/slide134.xml"/><Relationship Id="rId156" Type="http://schemas.openxmlformats.org/officeDocument/2006/relationships/slide" Target="slides/slide155.xml"/><Relationship Id="rId177" Type="http://schemas.openxmlformats.org/officeDocument/2006/relationships/slide" Target="slides/slide176.xml"/><Relationship Id="rId198" Type="http://schemas.openxmlformats.org/officeDocument/2006/relationships/slide" Target="slides/slide197.xml"/><Relationship Id="rId202" Type="http://schemas.openxmlformats.org/officeDocument/2006/relationships/slide" Target="slides/slide201.xml"/><Relationship Id="rId223" Type="http://schemas.openxmlformats.org/officeDocument/2006/relationships/slide" Target="slides/slide222.xml"/><Relationship Id="rId244" Type="http://schemas.openxmlformats.org/officeDocument/2006/relationships/slide" Target="slides/slide243.xml"/><Relationship Id="rId18" Type="http://schemas.openxmlformats.org/officeDocument/2006/relationships/slide" Target="slides/slide17.xml"/><Relationship Id="rId39" Type="http://schemas.openxmlformats.org/officeDocument/2006/relationships/slide" Target="slides/slide38.xml"/><Relationship Id="rId265" Type="http://schemas.openxmlformats.org/officeDocument/2006/relationships/tableStyles" Target="tableStyles.xml"/><Relationship Id="rId50" Type="http://schemas.openxmlformats.org/officeDocument/2006/relationships/slide" Target="slides/slide49.xml"/><Relationship Id="rId104" Type="http://schemas.openxmlformats.org/officeDocument/2006/relationships/slide" Target="slides/slide103.xml"/><Relationship Id="rId125" Type="http://schemas.openxmlformats.org/officeDocument/2006/relationships/slide" Target="slides/slide124.xml"/><Relationship Id="rId146" Type="http://schemas.openxmlformats.org/officeDocument/2006/relationships/slide" Target="slides/slide145.xml"/><Relationship Id="rId167" Type="http://schemas.openxmlformats.org/officeDocument/2006/relationships/slide" Target="slides/slide166.xml"/><Relationship Id="rId188" Type="http://schemas.openxmlformats.org/officeDocument/2006/relationships/slide" Target="slides/slide187.xml"/><Relationship Id="rId71" Type="http://schemas.openxmlformats.org/officeDocument/2006/relationships/slide" Target="slides/slide70.xml"/><Relationship Id="rId92" Type="http://schemas.openxmlformats.org/officeDocument/2006/relationships/slide" Target="slides/slide91.xml"/><Relationship Id="rId213" Type="http://schemas.openxmlformats.org/officeDocument/2006/relationships/slide" Target="slides/slide212.xml"/><Relationship Id="rId234" Type="http://schemas.openxmlformats.org/officeDocument/2006/relationships/slide" Target="slides/slide233.xml"/><Relationship Id="rId2" Type="http://schemas.openxmlformats.org/officeDocument/2006/relationships/slide" Target="slides/slide1.xml"/><Relationship Id="rId29" Type="http://schemas.openxmlformats.org/officeDocument/2006/relationships/slide" Target="slides/slide28.xml"/><Relationship Id="rId255" Type="http://schemas.openxmlformats.org/officeDocument/2006/relationships/slide" Target="slides/slide254.xml"/><Relationship Id="rId40" Type="http://schemas.openxmlformats.org/officeDocument/2006/relationships/slide" Target="slides/slide39.xml"/><Relationship Id="rId115" Type="http://schemas.openxmlformats.org/officeDocument/2006/relationships/slide" Target="slides/slide114.xml"/><Relationship Id="rId136" Type="http://schemas.openxmlformats.org/officeDocument/2006/relationships/slide" Target="slides/slide135.xml"/><Relationship Id="rId157" Type="http://schemas.openxmlformats.org/officeDocument/2006/relationships/slide" Target="slides/slide156.xml"/><Relationship Id="rId178" Type="http://schemas.openxmlformats.org/officeDocument/2006/relationships/slide" Target="slides/slide177.xml"/><Relationship Id="rId61" Type="http://schemas.openxmlformats.org/officeDocument/2006/relationships/slide" Target="slides/slide60.xml"/><Relationship Id="rId82" Type="http://schemas.openxmlformats.org/officeDocument/2006/relationships/slide" Target="slides/slide81.xml"/><Relationship Id="rId199" Type="http://schemas.openxmlformats.org/officeDocument/2006/relationships/slide" Target="slides/slide198.xml"/><Relationship Id="rId203" Type="http://schemas.openxmlformats.org/officeDocument/2006/relationships/slide" Target="slides/slide202.xml"/><Relationship Id="rId19" Type="http://schemas.openxmlformats.org/officeDocument/2006/relationships/slide" Target="slides/slide18.xml"/><Relationship Id="rId224" Type="http://schemas.openxmlformats.org/officeDocument/2006/relationships/slide" Target="slides/slide223.xml"/><Relationship Id="rId245" Type="http://schemas.openxmlformats.org/officeDocument/2006/relationships/slide" Target="slides/slide244.xml"/><Relationship Id="rId266" Type="http://schemas.microsoft.com/office/2016/11/relationships/changesInfo" Target="changesInfos/changesInfo1.xml"/><Relationship Id="rId30" Type="http://schemas.openxmlformats.org/officeDocument/2006/relationships/slide" Target="slides/slide29.xml"/><Relationship Id="rId105" Type="http://schemas.openxmlformats.org/officeDocument/2006/relationships/slide" Target="slides/slide104.xml"/><Relationship Id="rId126" Type="http://schemas.openxmlformats.org/officeDocument/2006/relationships/slide" Target="slides/slide125.xml"/><Relationship Id="rId147" Type="http://schemas.openxmlformats.org/officeDocument/2006/relationships/slide" Target="slides/slide146.xml"/><Relationship Id="rId168" Type="http://schemas.openxmlformats.org/officeDocument/2006/relationships/slide" Target="slides/slide167.xml"/><Relationship Id="rId51" Type="http://schemas.openxmlformats.org/officeDocument/2006/relationships/slide" Target="slides/slide50.xml"/><Relationship Id="rId72" Type="http://schemas.openxmlformats.org/officeDocument/2006/relationships/slide" Target="slides/slide71.xml"/><Relationship Id="rId93" Type="http://schemas.openxmlformats.org/officeDocument/2006/relationships/slide" Target="slides/slide92.xml"/><Relationship Id="rId189" Type="http://schemas.openxmlformats.org/officeDocument/2006/relationships/slide" Target="slides/slide188.xml"/><Relationship Id="rId3" Type="http://schemas.openxmlformats.org/officeDocument/2006/relationships/slide" Target="slides/slide2.xml"/><Relationship Id="rId214" Type="http://schemas.openxmlformats.org/officeDocument/2006/relationships/slide" Target="slides/slide213.xml"/><Relationship Id="rId235" Type="http://schemas.openxmlformats.org/officeDocument/2006/relationships/slide" Target="slides/slide234.xml"/><Relationship Id="rId256" Type="http://schemas.openxmlformats.org/officeDocument/2006/relationships/slide" Target="slides/slide255.xml"/><Relationship Id="rId116" Type="http://schemas.openxmlformats.org/officeDocument/2006/relationships/slide" Target="slides/slide115.xml"/><Relationship Id="rId137" Type="http://schemas.openxmlformats.org/officeDocument/2006/relationships/slide" Target="slides/slide136.xml"/><Relationship Id="rId158" Type="http://schemas.openxmlformats.org/officeDocument/2006/relationships/slide" Target="slides/slide157.xml"/><Relationship Id="rId20" Type="http://schemas.openxmlformats.org/officeDocument/2006/relationships/slide" Target="slides/slide19.xml"/><Relationship Id="rId41" Type="http://schemas.openxmlformats.org/officeDocument/2006/relationships/slide" Target="slides/slide40.xml"/><Relationship Id="rId62" Type="http://schemas.openxmlformats.org/officeDocument/2006/relationships/slide" Target="slides/slide61.xml"/><Relationship Id="rId83" Type="http://schemas.openxmlformats.org/officeDocument/2006/relationships/slide" Target="slides/slide82.xml"/><Relationship Id="rId179" Type="http://schemas.openxmlformats.org/officeDocument/2006/relationships/slide" Target="slides/slide178.xml"/><Relationship Id="rId190" Type="http://schemas.openxmlformats.org/officeDocument/2006/relationships/slide" Target="slides/slide189.xml"/><Relationship Id="rId204" Type="http://schemas.openxmlformats.org/officeDocument/2006/relationships/slide" Target="slides/slide203.xml"/><Relationship Id="rId225" Type="http://schemas.openxmlformats.org/officeDocument/2006/relationships/slide" Target="slides/slide224.xml"/><Relationship Id="rId246" Type="http://schemas.openxmlformats.org/officeDocument/2006/relationships/slide" Target="slides/slide245.xml"/><Relationship Id="rId106" Type="http://schemas.openxmlformats.org/officeDocument/2006/relationships/slide" Target="slides/slide105.xml"/><Relationship Id="rId127" Type="http://schemas.openxmlformats.org/officeDocument/2006/relationships/slide" Target="slides/slide126.xml"/><Relationship Id="rId10" Type="http://schemas.openxmlformats.org/officeDocument/2006/relationships/slide" Target="slides/slide9.xml"/><Relationship Id="rId31" Type="http://schemas.openxmlformats.org/officeDocument/2006/relationships/slide" Target="slides/slide30.xml"/><Relationship Id="rId52" Type="http://schemas.openxmlformats.org/officeDocument/2006/relationships/slide" Target="slides/slide51.xml"/><Relationship Id="rId73" Type="http://schemas.openxmlformats.org/officeDocument/2006/relationships/slide" Target="slides/slide72.xml"/><Relationship Id="rId94" Type="http://schemas.openxmlformats.org/officeDocument/2006/relationships/slide" Target="slides/slide93.xml"/><Relationship Id="rId148" Type="http://schemas.openxmlformats.org/officeDocument/2006/relationships/slide" Target="slides/slide147.xml"/><Relationship Id="rId169" Type="http://schemas.openxmlformats.org/officeDocument/2006/relationships/slide" Target="slides/slide168.xml"/><Relationship Id="rId4" Type="http://schemas.openxmlformats.org/officeDocument/2006/relationships/slide" Target="slides/slide3.xml"/><Relationship Id="rId180" Type="http://schemas.openxmlformats.org/officeDocument/2006/relationships/slide" Target="slides/slide179.xml"/><Relationship Id="rId215" Type="http://schemas.openxmlformats.org/officeDocument/2006/relationships/slide" Target="slides/slide214.xml"/><Relationship Id="rId236" Type="http://schemas.openxmlformats.org/officeDocument/2006/relationships/slide" Target="slides/slide235.xml"/><Relationship Id="rId257" Type="http://schemas.openxmlformats.org/officeDocument/2006/relationships/slide" Target="slides/slide256.xml"/><Relationship Id="rId42" Type="http://schemas.openxmlformats.org/officeDocument/2006/relationships/slide" Target="slides/slide41.xml"/><Relationship Id="rId84" Type="http://schemas.openxmlformats.org/officeDocument/2006/relationships/slide" Target="slides/slide83.xml"/><Relationship Id="rId138" Type="http://schemas.openxmlformats.org/officeDocument/2006/relationships/slide" Target="slides/slide137.xml"/><Relationship Id="rId191" Type="http://schemas.openxmlformats.org/officeDocument/2006/relationships/slide" Target="slides/slide190.xml"/><Relationship Id="rId205" Type="http://schemas.openxmlformats.org/officeDocument/2006/relationships/slide" Target="slides/slide204.xml"/><Relationship Id="rId247" Type="http://schemas.openxmlformats.org/officeDocument/2006/relationships/slide" Target="slides/slide246.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Al Friend" userId="e5ed79da-d858-46d4-9eed-a7a24903f2de" providerId="ADAL" clId="{9EB0769B-6403-4A8A-804B-F964790C5CE3}"/>
    <pc:docChg chg="undo addSld delSld modSld sldOrd delSection modSection">
      <pc:chgData name="Al Friend" userId="e5ed79da-d858-46d4-9eed-a7a24903f2de" providerId="ADAL" clId="{9EB0769B-6403-4A8A-804B-F964790C5CE3}" dt="2025-12-18T13:39:27.882" v="463"/>
      <pc:docMkLst>
        <pc:docMk/>
      </pc:docMkLst>
      <pc:sldChg chg="addSp modSp modAnim">
        <pc:chgData name="Al Friend" userId="e5ed79da-d858-46d4-9eed-a7a24903f2de" providerId="ADAL" clId="{9EB0769B-6403-4A8A-804B-F964790C5CE3}" dt="2025-12-09T08:56:52.134" v="19" actId="20577"/>
        <pc:sldMkLst>
          <pc:docMk/>
          <pc:sldMk cId="3543521991" sldId="514"/>
        </pc:sldMkLst>
        <pc:spChg chg="add mod">
          <ac:chgData name="Al Friend" userId="e5ed79da-d858-46d4-9eed-a7a24903f2de" providerId="ADAL" clId="{9EB0769B-6403-4A8A-804B-F964790C5CE3}" dt="2025-12-09T08:56:52.134" v="19" actId="20577"/>
          <ac:spMkLst>
            <pc:docMk/>
            <pc:sldMk cId="3543521991" sldId="514"/>
            <ac:spMk id="5" creationId="{2E080607-7F49-4880-84B0-EC36CA907A6A}"/>
          </ac:spMkLst>
        </pc:spChg>
      </pc:sldChg>
      <pc:sldChg chg="modSp">
        <pc:chgData name="Al Friend" userId="e5ed79da-d858-46d4-9eed-a7a24903f2de" providerId="ADAL" clId="{9EB0769B-6403-4A8A-804B-F964790C5CE3}" dt="2025-12-16T09:37:47.943" v="431" actId="20577"/>
        <pc:sldMkLst>
          <pc:docMk/>
          <pc:sldMk cId="4015496597" sldId="521"/>
        </pc:sldMkLst>
        <pc:spChg chg="mod">
          <ac:chgData name="Al Friend" userId="e5ed79da-d858-46d4-9eed-a7a24903f2de" providerId="ADAL" clId="{9EB0769B-6403-4A8A-804B-F964790C5CE3}" dt="2025-12-16T09:37:47.943" v="431" actId="20577"/>
          <ac:spMkLst>
            <pc:docMk/>
            <pc:sldMk cId="4015496597" sldId="521"/>
            <ac:spMk id="3" creationId="{E4EE7085-4C5B-409B-8843-A8A3D3CB6E90}"/>
          </ac:spMkLst>
        </pc:spChg>
      </pc:sldChg>
      <pc:sldChg chg="modSp modAnim">
        <pc:chgData name="Al Friend" userId="e5ed79da-d858-46d4-9eed-a7a24903f2de" providerId="ADAL" clId="{9EB0769B-6403-4A8A-804B-F964790C5CE3}" dt="2025-12-18T13:39:27.882" v="463"/>
        <pc:sldMkLst>
          <pc:docMk/>
          <pc:sldMk cId="3622404688" sldId="523"/>
        </pc:sldMkLst>
        <pc:spChg chg="mod">
          <ac:chgData name="Al Friend" userId="e5ed79da-d858-46d4-9eed-a7a24903f2de" providerId="ADAL" clId="{9EB0769B-6403-4A8A-804B-F964790C5CE3}" dt="2025-12-18T13:38:15.737" v="447" actId="20577"/>
          <ac:spMkLst>
            <pc:docMk/>
            <pc:sldMk cId="3622404688" sldId="523"/>
            <ac:spMk id="3" creationId="{257141CB-89B9-453C-950A-3B96F4293BEE}"/>
          </ac:spMkLst>
        </pc:spChg>
      </pc:sldChg>
      <pc:sldChg chg="modSp">
        <pc:chgData name="Al Friend" userId="e5ed79da-d858-46d4-9eed-a7a24903f2de" providerId="ADAL" clId="{9EB0769B-6403-4A8A-804B-F964790C5CE3}" dt="2025-12-11T13:16:55.434" v="100" actId="20577"/>
        <pc:sldMkLst>
          <pc:docMk/>
          <pc:sldMk cId="780501331" sldId="537"/>
        </pc:sldMkLst>
        <pc:spChg chg="mod">
          <ac:chgData name="Al Friend" userId="e5ed79da-d858-46d4-9eed-a7a24903f2de" providerId="ADAL" clId="{9EB0769B-6403-4A8A-804B-F964790C5CE3}" dt="2025-12-11T13:16:55.434" v="100" actId="20577"/>
          <ac:spMkLst>
            <pc:docMk/>
            <pc:sldMk cId="780501331" sldId="537"/>
            <ac:spMk id="3" creationId="{ABB964B2-0CC2-489B-8E1F-1BC040B76915}"/>
          </ac:spMkLst>
        </pc:spChg>
      </pc:sldChg>
      <pc:sldChg chg="modSp modAnim">
        <pc:chgData name="Al Friend" userId="e5ed79da-d858-46d4-9eed-a7a24903f2de" providerId="ADAL" clId="{9EB0769B-6403-4A8A-804B-F964790C5CE3}" dt="2025-12-16T09:38:07.377" v="432"/>
        <pc:sldMkLst>
          <pc:docMk/>
          <pc:sldMk cId="3963149759" sldId="735"/>
        </pc:sldMkLst>
        <pc:spChg chg="mod">
          <ac:chgData name="Al Friend" userId="e5ed79da-d858-46d4-9eed-a7a24903f2de" providerId="ADAL" clId="{9EB0769B-6403-4A8A-804B-F964790C5CE3}" dt="2025-12-16T09:38:07.377" v="432"/>
          <ac:spMkLst>
            <pc:docMk/>
            <pc:sldMk cId="3963149759" sldId="735"/>
            <ac:spMk id="3" creationId="{E4EE7085-4C5B-409B-8843-A8A3D3CB6E90}"/>
          </ac:spMkLst>
        </pc:spChg>
      </pc:sldChg>
      <pc:sldChg chg="modSp">
        <pc:chgData name="Al Friend" userId="e5ed79da-d858-46d4-9eed-a7a24903f2de" providerId="ADAL" clId="{9EB0769B-6403-4A8A-804B-F964790C5CE3}" dt="2025-12-18T13:38:43.833" v="448" actId="948"/>
        <pc:sldMkLst>
          <pc:docMk/>
          <pc:sldMk cId="2584223036" sldId="827"/>
        </pc:sldMkLst>
        <pc:spChg chg="mod">
          <ac:chgData name="Al Friend" userId="e5ed79da-d858-46d4-9eed-a7a24903f2de" providerId="ADAL" clId="{9EB0769B-6403-4A8A-804B-F964790C5CE3}" dt="2025-12-18T13:38:43.833" v="448" actId="948"/>
          <ac:spMkLst>
            <pc:docMk/>
            <pc:sldMk cId="2584223036" sldId="827"/>
            <ac:spMk id="3" creationId="{257141CB-89B9-453C-950A-3B96F4293BEE}"/>
          </ac:spMkLst>
        </pc:spChg>
      </pc:sldChg>
      <pc:sldChg chg="modSp">
        <pc:chgData name="Al Friend" userId="e5ed79da-d858-46d4-9eed-a7a24903f2de" providerId="ADAL" clId="{9EB0769B-6403-4A8A-804B-F964790C5CE3}" dt="2025-12-11T13:18:34.085" v="118" actId="255"/>
        <pc:sldMkLst>
          <pc:docMk/>
          <pc:sldMk cId="3750724401" sldId="866"/>
        </pc:sldMkLst>
        <pc:spChg chg="mod">
          <ac:chgData name="Al Friend" userId="e5ed79da-d858-46d4-9eed-a7a24903f2de" providerId="ADAL" clId="{9EB0769B-6403-4A8A-804B-F964790C5CE3}" dt="2025-12-11T13:18:34.085" v="118" actId="255"/>
          <ac:spMkLst>
            <pc:docMk/>
            <pc:sldMk cId="3750724401" sldId="866"/>
            <ac:spMk id="4" creationId="{ECF8A258-5D7E-4EE3-814B-67DD52E72862}"/>
          </ac:spMkLst>
        </pc:spChg>
      </pc:sldChg>
      <pc:sldChg chg="modSp modAnim">
        <pc:chgData name="Al Friend" userId="e5ed79da-d858-46d4-9eed-a7a24903f2de" providerId="ADAL" clId="{9EB0769B-6403-4A8A-804B-F964790C5CE3}" dt="2025-12-11T13:19:45.145" v="177" actId="207"/>
        <pc:sldMkLst>
          <pc:docMk/>
          <pc:sldMk cId="2610940249" sldId="869"/>
        </pc:sldMkLst>
        <pc:spChg chg="mod">
          <ac:chgData name="Al Friend" userId="e5ed79da-d858-46d4-9eed-a7a24903f2de" providerId="ADAL" clId="{9EB0769B-6403-4A8A-804B-F964790C5CE3}" dt="2025-12-11T13:19:45.145" v="177" actId="207"/>
          <ac:spMkLst>
            <pc:docMk/>
            <pc:sldMk cId="2610940249" sldId="869"/>
            <ac:spMk id="3" creationId="{06B8E349-DC6D-4A5B-8DA3-98695E00841D}"/>
          </ac:spMkLst>
        </pc:spChg>
      </pc:sldChg>
      <pc:sldChg chg="modSp">
        <pc:chgData name="Al Friend" userId="e5ed79da-d858-46d4-9eed-a7a24903f2de" providerId="ADAL" clId="{9EB0769B-6403-4A8A-804B-F964790C5CE3}" dt="2025-12-11T13:19:50.774" v="179" actId="207"/>
        <pc:sldMkLst>
          <pc:docMk/>
          <pc:sldMk cId="1175320702" sldId="870"/>
        </pc:sldMkLst>
        <pc:spChg chg="mod">
          <ac:chgData name="Al Friend" userId="e5ed79da-d858-46d4-9eed-a7a24903f2de" providerId="ADAL" clId="{9EB0769B-6403-4A8A-804B-F964790C5CE3}" dt="2025-12-11T13:19:50.774" v="179" actId="207"/>
          <ac:spMkLst>
            <pc:docMk/>
            <pc:sldMk cId="1175320702" sldId="870"/>
            <ac:spMk id="3" creationId="{06B8E349-DC6D-4A5B-8DA3-98695E00841D}"/>
          </ac:spMkLst>
        </pc:spChg>
      </pc:sldChg>
      <pc:sldChg chg="modSp">
        <pc:chgData name="Al Friend" userId="e5ed79da-d858-46d4-9eed-a7a24903f2de" providerId="ADAL" clId="{9EB0769B-6403-4A8A-804B-F964790C5CE3}" dt="2025-12-09T09:01:46.539" v="20" actId="6549"/>
        <pc:sldMkLst>
          <pc:docMk/>
          <pc:sldMk cId="3145385377" sldId="881"/>
        </pc:sldMkLst>
        <pc:graphicFrameChg chg="modGraphic">
          <ac:chgData name="Al Friend" userId="e5ed79da-d858-46d4-9eed-a7a24903f2de" providerId="ADAL" clId="{9EB0769B-6403-4A8A-804B-F964790C5CE3}" dt="2025-12-09T09:01:46.539" v="20" actId="6549"/>
          <ac:graphicFrameMkLst>
            <pc:docMk/>
            <pc:sldMk cId="3145385377" sldId="881"/>
            <ac:graphicFrameMk id="4" creationId="{00000000-0000-0000-0000-000000000000}"/>
          </ac:graphicFrameMkLst>
        </pc:graphicFrameChg>
      </pc:sldChg>
      <pc:sldChg chg="modSp">
        <pc:chgData name="Al Friend" userId="e5ed79da-d858-46d4-9eed-a7a24903f2de" providerId="ADAL" clId="{9EB0769B-6403-4A8A-804B-F964790C5CE3}" dt="2025-12-09T09:02:11.063" v="21" actId="6549"/>
        <pc:sldMkLst>
          <pc:docMk/>
          <pc:sldMk cId="423321490" sldId="882"/>
        </pc:sldMkLst>
        <pc:graphicFrameChg chg="modGraphic">
          <ac:chgData name="Al Friend" userId="e5ed79da-d858-46d4-9eed-a7a24903f2de" providerId="ADAL" clId="{9EB0769B-6403-4A8A-804B-F964790C5CE3}" dt="2025-12-09T09:02:11.063" v="21" actId="6549"/>
          <ac:graphicFrameMkLst>
            <pc:docMk/>
            <pc:sldMk cId="423321490" sldId="882"/>
            <ac:graphicFrameMk id="4" creationId="{00000000-0000-0000-0000-000000000000}"/>
          </ac:graphicFrameMkLst>
        </pc:graphicFrameChg>
      </pc:sldChg>
      <pc:sldChg chg="modSp add modTransition">
        <pc:chgData name="Al Friend" userId="e5ed79da-d858-46d4-9eed-a7a24903f2de" providerId="ADAL" clId="{9EB0769B-6403-4A8A-804B-F964790C5CE3}" dt="2025-12-09T09:03:14.013" v="24" actId="6549"/>
        <pc:sldMkLst>
          <pc:docMk/>
          <pc:sldMk cId="1355594162" sldId="883"/>
        </pc:sldMkLst>
        <pc:graphicFrameChg chg="modGraphic">
          <ac:chgData name="Al Friend" userId="e5ed79da-d858-46d4-9eed-a7a24903f2de" providerId="ADAL" clId="{9EB0769B-6403-4A8A-804B-F964790C5CE3}" dt="2025-12-09T09:03:14.013" v="24" actId="6549"/>
          <ac:graphicFrameMkLst>
            <pc:docMk/>
            <pc:sldMk cId="1355594162" sldId="883"/>
            <ac:graphicFrameMk id="4" creationId="{00000000-0000-0000-0000-000000000000}"/>
          </ac:graphicFrameMkLst>
        </pc:graphicFrameChg>
      </pc:sldChg>
      <pc:sldChg chg="modSp add ord modNotesTx">
        <pc:chgData name="Al Friend" userId="e5ed79da-d858-46d4-9eed-a7a24903f2de" providerId="ADAL" clId="{9EB0769B-6403-4A8A-804B-F964790C5CE3}" dt="2025-12-11T14:52:42.433" v="302" actId="20577"/>
        <pc:sldMkLst>
          <pc:docMk/>
          <pc:sldMk cId="887359266" sldId="884"/>
        </pc:sldMkLst>
        <pc:spChg chg="mod">
          <ac:chgData name="Al Friend" userId="e5ed79da-d858-46d4-9eed-a7a24903f2de" providerId="ADAL" clId="{9EB0769B-6403-4A8A-804B-F964790C5CE3}" dt="2025-12-11T13:17:59.174" v="114" actId="20577"/>
          <ac:spMkLst>
            <pc:docMk/>
            <pc:sldMk cId="887359266" sldId="884"/>
            <ac:spMk id="2" creationId="{354BA070-2C10-4880-9E17-C099725CF02B}"/>
          </ac:spMkLst>
        </pc:spChg>
        <pc:spChg chg="mod">
          <ac:chgData name="Al Friend" userId="e5ed79da-d858-46d4-9eed-a7a24903f2de" providerId="ADAL" clId="{9EB0769B-6403-4A8A-804B-F964790C5CE3}" dt="2025-12-10T11:48:58.618" v="92" actId="404"/>
          <ac:spMkLst>
            <pc:docMk/>
            <pc:sldMk cId="887359266" sldId="884"/>
            <ac:spMk id="3" creationId="{DBA10379-742D-4968-A43A-99F7383FD78F}"/>
          </ac:spMkLst>
        </pc:spChg>
      </pc:sldChg>
      <pc:sldChg chg="modSp add modNotesTx">
        <pc:chgData name="Al Friend" userId="e5ed79da-d858-46d4-9eed-a7a24903f2de" providerId="ADAL" clId="{9EB0769B-6403-4A8A-804B-F964790C5CE3}" dt="2025-12-11T15:07:40.136" v="415" actId="6549"/>
        <pc:sldMkLst>
          <pc:docMk/>
          <pc:sldMk cId="1093687535" sldId="885"/>
        </pc:sldMkLst>
        <pc:spChg chg="mod">
          <ac:chgData name="Al Friend" userId="e5ed79da-d858-46d4-9eed-a7a24903f2de" providerId="ADAL" clId="{9EB0769B-6403-4A8A-804B-F964790C5CE3}" dt="2025-12-11T14:40:38.940" v="195" actId="20577"/>
          <ac:spMkLst>
            <pc:docMk/>
            <pc:sldMk cId="1093687535" sldId="885"/>
            <ac:spMk id="2" creationId="{F333451D-0114-4DF6-AABC-755019BC213E}"/>
          </ac:spMkLst>
        </pc:spChg>
        <pc:spChg chg="mod">
          <ac:chgData name="Al Friend" userId="e5ed79da-d858-46d4-9eed-a7a24903f2de" providerId="ADAL" clId="{9EB0769B-6403-4A8A-804B-F964790C5CE3}" dt="2025-12-11T15:03:21.247" v="350" actId="20577"/>
          <ac:spMkLst>
            <pc:docMk/>
            <pc:sldMk cId="1093687535" sldId="885"/>
            <ac:spMk id="3" creationId="{BFCD6E65-E1E8-4D4D-8116-9135D4F98C8D}"/>
          </ac:spMkLst>
        </pc:spChg>
      </pc:sldChg>
    </pc:docChg>
  </pc:docChgLst>
  <pc:docChgLst>
    <pc:chgData name="Al Friend" userId="e5ed79da-d858-46d4-9eed-a7a24903f2de" providerId="ADAL" clId="{7537B086-0992-4C5F-A071-F6F8659556F1}"/>
    <pc:docChg chg="undo redo custSel addSld delSld modSld sldOrd modMainMaster delSection modSection">
      <pc:chgData name="Al Friend" userId="e5ed79da-d858-46d4-9eed-a7a24903f2de" providerId="ADAL" clId="{7537B086-0992-4C5F-A071-F6F8659556F1}" dt="2026-01-15T10:16:21.355" v="869" actId="20577"/>
      <pc:docMkLst>
        <pc:docMk/>
      </pc:docMkLst>
      <pc:sldChg chg="modSp">
        <pc:chgData name="Al Friend" userId="e5ed79da-d858-46d4-9eed-a7a24903f2de" providerId="ADAL" clId="{7537B086-0992-4C5F-A071-F6F8659556F1}" dt="2026-01-08T09:15:52.870" v="80" actId="403"/>
        <pc:sldMkLst>
          <pc:docMk/>
          <pc:sldMk cId="1397375078" sldId="262"/>
        </pc:sldMkLst>
        <pc:spChg chg="mod">
          <ac:chgData name="Al Friend" userId="e5ed79da-d858-46d4-9eed-a7a24903f2de" providerId="ADAL" clId="{7537B086-0992-4C5F-A071-F6F8659556F1}" dt="2026-01-08T09:15:52.870" v="80" actId="403"/>
          <ac:spMkLst>
            <pc:docMk/>
            <pc:sldMk cId="1397375078" sldId="262"/>
            <ac:spMk id="3" creationId="{00000000-0000-0000-0000-000000000000}"/>
          </ac:spMkLst>
        </pc:spChg>
      </pc:sldChg>
      <pc:sldChg chg="modSp modAnim">
        <pc:chgData name="Al Friend" userId="e5ed79da-d858-46d4-9eed-a7a24903f2de" providerId="ADAL" clId="{7537B086-0992-4C5F-A071-F6F8659556F1}" dt="2026-01-08T08:59:13.966" v="5"/>
        <pc:sldMkLst>
          <pc:docMk/>
          <pc:sldMk cId="1842242945" sldId="430"/>
        </pc:sldMkLst>
        <pc:spChg chg="mod">
          <ac:chgData name="Al Friend" userId="e5ed79da-d858-46d4-9eed-a7a24903f2de" providerId="ADAL" clId="{7537B086-0992-4C5F-A071-F6F8659556F1}" dt="2026-01-08T08:59:13.966" v="5"/>
          <ac:spMkLst>
            <pc:docMk/>
            <pc:sldMk cId="1842242945" sldId="430"/>
            <ac:spMk id="3" creationId="{00000000-0000-0000-0000-000000000000}"/>
          </ac:spMkLst>
        </pc:spChg>
      </pc:sldChg>
      <pc:sldChg chg="modSp">
        <pc:chgData name="Al Friend" userId="e5ed79da-d858-46d4-9eed-a7a24903f2de" providerId="ADAL" clId="{7537B086-0992-4C5F-A071-F6F8659556F1}" dt="2026-01-09T11:12:38.584" v="360" actId="20577"/>
        <pc:sldMkLst>
          <pc:docMk/>
          <pc:sldMk cId="1701761292" sldId="435"/>
        </pc:sldMkLst>
        <pc:spChg chg="mod">
          <ac:chgData name="Al Friend" userId="e5ed79da-d858-46d4-9eed-a7a24903f2de" providerId="ADAL" clId="{7537B086-0992-4C5F-A071-F6F8659556F1}" dt="2026-01-09T11:12:36.200" v="358" actId="20577"/>
          <ac:spMkLst>
            <pc:docMk/>
            <pc:sldMk cId="1701761292" sldId="435"/>
            <ac:spMk id="3" creationId="{E4EE7085-4C5B-409B-8843-A8A3D3CB6E90}"/>
          </ac:spMkLst>
        </pc:spChg>
        <pc:spChg chg="mod">
          <ac:chgData name="Al Friend" userId="e5ed79da-d858-46d4-9eed-a7a24903f2de" providerId="ADAL" clId="{7537B086-0992-4C5F-A071-F6F8659556F1}" dt="2026-01-09T11:12:38.584" v="360" actId="20577"/>
          <ac:spMkLst>
            <pc:docMk/>
            <pc:sldMk cId="1701761292" sldId="435"/>
            <ac:spMk id="7" creationId="{5FE7746D-D127-4927-B238-DF71612EDD32}"/>
          </ac:spMkLst>
        </pc:spChg>
      </pc:sldChg>
      <pc:sldChg chg="modSp">
        <pc:chgData name="Al Friend" userId="e5ed79da-d858-46d4-9eed-a7a24903f2de" providerId="ADAL" clId="{7537B086-0992-4C5F-A071-F6F8659556F1}" dt="2026-01-09T11:13:33.491" v="364" actId="20577"/>
        <pc:sldMkLst>
          <pc:docMk/>
          <pc:sldMk cId="2774159214" sldId="437"/>
        </pc:sldMkLst>
        <pc:spChg chg="mod">
          <ac:chgData name="Al Friend" userId="e5ed79da-d858-46d4-9eed-a7a24903f2de" providerId="ADAL" clId="{7537B086-0992-4C5F-A071-F6F8659556F1}" dt="2026-01-09T11:13:33.491" v="364" actId="20577"/>
          <ac:spMkLst>
            <pc:docMk/>
            <pc:sldMk cId="2774159214" sldId="437"/>
            <ac:spMk id="3" creationId="{E4EE7085-4C5B-409B-8843-A8A3D3CB6E90}"/>
          </ac:spMkLst>
        </pc:spChg>
      </pc:sldChg>
      <pc:sldChg chg="modSp">
        <pc:chgData name="Al Friend" userId="e5ed79da-d858-46d4-9eed-a7a24903f2de" providerId="ADAL" clId="{7537B086-0992-4C5F-A071-F6F8659556F1}" dt="2026-01-12T15:20:44.330" v="690" actId="20577"/>
        <pc:sldMkLst>
          <pc:docMk/>
          <pc:sldMk cId="3662892889" sldId="438"/>
        </pc:sldMkLst>
        <pc:spChg chg="mod">
          <ac:chgData name="Al Friend" userId="e5ed79da-d858-46d4-9eed-a7a24903f2de" providerId="ADAL" clId="{7537B086-0992-4C5F-A071-F6F8659556F1}" dt="2026-01-12T15:20:44.330" v="690" actId="20577"/>
          <ac:spMkLst>
            <pc:docMk/>
            <pc:sldMk cId="3662892889" sldId="438"/>
            <ac:spMk id="3" creationId="{E4EE7085-4C5B-409B-8843-A8A3D3CB6E90}"/>
          </ac:spMkLst>
        </pc:spChg>
      </pc:sldChg>
      <pc:sldChg chg="modSp">
        <pc:chgData name="Al Friend" userId="e5ed79da-d858-46d4-9eed-a7a24903f2de" providerId="ADAL" clId="{7537B086-0992-4C5F-A071-F6F8659556F1}" dt="2026-01-09T11:12:42.041" v="362" actId="20577"/>
        <pc:sldMkLst>
          <pc:docMk/>
          <pc:sldMk cId="1739365771" sldId="455"/>
        </pc:sldMkLst>
        <pc:spChg chg="mod">
          <ac:chgData name="Al Friend" userId="e5ed79da-d858-46d4-9eed-a7a24903f2de" providerId="ADAL" clId="{7537B086-0992-4C5F-A071-F6F8659556F1}" dt="2026-01-09T11:12:42.041" v="362" actId="20577"/>
          <ac:spMkLst>
            <pc:docMk/>
            <pc:sldMk cId="1739365771" sldId="455"/>
            <ac:spMk id="3" creationId="{E4EE7085-4C5B-409B-8843-A8A3D3CB6E90}"/>
          </ac:spMkLst>
        </pc:spChg>
      </pc:sldChg>
      <pc:sldChg chg="modSp ord">
        <pc:chgData name="Al Friend" userId="e5ed79da-d858-46d4-9eed-a7a24903f2de" providerId="ADAL" clId="{7537B086-0992-4C5F-A071-F6F8659556F1}" dt="2026-01-12T15:51:52.111" v="824" actId="1076"/>
        <pc:sldMkLst>
          <pc:docMk/>
          <pc:sldMk cId="818983537" sldId="471"/>
        </pc:sldMkLst>
        <pc:spChg chg="mod">
          <ac:chgData name="Al Friend" userId="e5ed79da-d858-46d4-9eed-a7a24903f2de" providerId="ADAL" clId="{7537B086-0992-4C5F-A071-F6F8659556F1}" dt="2026-01-12T15:43:32.063" v="718" actId="20577"/>
          <ac:spMkLst>
            <pc:docMk/>
            <pc:sldMk cId="818983537" sldId="471"/>
            <ac:spMk id="3" creationId="{E4EE7085-4C5B-409B-8843-A8A3D3CB6E90}"/>
          </ac:spMkLst>
        </pc:spChg>
        <pc:spChg chg="mod">
          <ac:chgData name="Al Friend" userId="e5ed79da-d858-46d4-9eed-a7a24903f2de" providerId="ADAL" clId="{7537B086-0992-4C5F-A071-F6F8659556F1}" dt="2026-01-12T15:51:52.111" v="824" actId="1076"/>
          <ac:spMkLst>
            <pc:docMk/>
            <pc:sldMk cId="818983537" sldId="471"/>
            <ac:spMk id="7" creationId="{DFBCD4FE-B2C2-4A7E-BA42-AFCA68B5BE18}"/>
          </ac:spMkLst>
        </pc:spChg>
      </pc:sldChg>
      <pc:sldChg chg="modSp ord">
        <pc:chgData name="Al Friend" userId="e5ed79da-d858-46d4-9eed-a7a24903f2de" providerId="ADAL" clId="{7537B086-0992-4C5F-A071-F6F8659556F1}" dt="2026-01-12T15:42:02.680" v="710" actId="20577"/>
        <pc:sldMkLst>
          <pc:docMk/>
          <pc:sldMk cId="2545018025" sldId="472"/>
        </pc:sldMkLst>
        <pc:spChg chg="mod">
          <ac:chgData name="Al Friend" userId="e5ed79da-d858-46d4-9eed-a7a24903f2de" providerId="ADAL" clId="{7537B086-0992-4C5F-A071-F6F8659556F1}" dt="2026-01-12T15:42:02.680" v="710" actId="20577"/>
          <ac:spMkLst>
            <pc:docMk/>
            <pc:sldMk cId="2545018025" sldId="472"/>
            <ac:spMk id="3" creationId="{E4EE7085-4C5B-409B-8843-A8A3D3CB6E90}"/>
          </ac:spMkLst>
        </pc:spChg>
      </pc:sldChg>
      <pc:sldChg chg="modSp ord">
        <pc:chgData name="Al Friend" userId="e5ed79da-d858-46d4-9eed-a7a24903f2de" providerId="ADAL" clId="{7537B086-0992-4C5F-A071-F6F8659556F1}" dt="2026-01-12T15:42:11.323" v="714" actId="20577"/>
        <pc:sldMkLst>
          <pc:docMk/>
          <pc:sldMk cId="2752439583" sldId="473"/>
        </pc:sldMkLst>
        <pc:spChg chg="mod">
          <ac:chgData name="Al Friend" userId="e5ed79da-d858-46d4-9eed-a7a24903f2de" providerId="ADAL" clId="{7537B086-0992-4C5F-A071-F6F8659556F1}" dt="2026-01-12T15:42:11.323" v="714" actId="20577"/>
          <ac:spMkLst>
            <pc:docMk/>
            <pc:sldMk cId="2752439583" sldId="473"/>
            <ac:spMk id="3" creationId="{E4EE7085-4C5B-409B-8843-A8A3D3CB6E90}"/>
          </ac:spMkLst>
        </pc:spChg>
      </pc:sldChg>
      <pc:sldChg chg="modSp">
        <pc:chgData name="Al Friend" userId="e5ed79da-d858-46d4-9eed-a7a24903f2de" providerId="ADAL" clId="{7537B086-0992-4C5F-A071-F6F8659556F1}" dt="2026-01-08T10:07:15.003" v="117" actId="113"/>
        <pc:sldMkLst>
          <pc:docMk/>
          <pc:sldMk cId="1529298100" sldId="479"/>
        </pc:sldMkLst>
        <pc:spChg chg="mod">
          <ac:chgData name="Al Friend" userId="e5ed79da-d858-46d4-9eed-a7a24903f2de" providerId="ADAL" clId="{7537B086-0992-4C5F-A071-F6F8659556F1}" dt="2026-01-08T10:07:15.003" v="117" actId="113"/>
          <ac:spMkLst>
            <pc:docMk/>
            <pc:sldMk cId="1529298100" sldId="479"/>
            <ac:spMk id="9" creationId="{B935E981-B7C6-4BDF-ADC2-EFF2B075D3D8}"/>
          </ac:spMkLst>
        </pc:spChg>
        <pc:spChg chg="mod">
          <ac:chgData name="Al Friend" userId="e5ed79da-d858-46d4-9eed-a7a24903f2de" providerId="ADAL" clId="{7537B086-0992-4C5F-A071-F6F8659556F1}" dt="2026-01-08T09:04:28.708" v="76" actId="113"/>
          <ac:spMkLst>
            <pc:docMk/>
            <pc:sldMk cId="1529298100" sldId="479"/>
            <ac:spMk id="15" creationId="{B935E981-B7C6-4BDF-ADC2-EFF2B075D3D8}"/>
          </ac:spMkLst>
        </pc:spChg>
      </pc:sldChg>
      <pc:sldChg chg="modSp modAnim">
        <pc:chgData name="Al Friend" userId="e5ed79da-d858-46d4-9eed-a7a24903f2de" providerId="ADAL" clId="{7537B086-0992-4C5F-A071-F6F8659556F1}" dt="2026-01-08T10:06:50.205" v="116" actId="20577"/>
        <pc:sldMkLst>
          <pc:docMk/>
          <pc:sldMk cId="3877628735" sldId="481"/>
        </pc:sldMkLst>
        <pc:spChg chg="mod">
          <ac:chgData name="Al Friend" userId="e5ed79da-d858-46d4-9eed-a7a24903f2de" providerId="ADAL" clId="{7537B086-0992-4C5F-A071-F6F8659556F1}" dt="2026-01-08T10:06:50.205" v="116" actId="20577"/>
          <ac:spMkLst>
            <pc:docMk/>
            <pc:sldMk cId="3877628735" sldId="481"/>
            <ac:spMk id="3" creationId="{52A295CC-8959-7191-3AFD-BD54D14A7EC9}"/>
          </ac:spMkLst>
        </pc:spChg>
        <pc:spChg chg="mod">
          <ac:chgData name="Al Friend" userId="e5ed79da-d858-46d4-9eed-a7a24903f2de" providerId="ADAL" clId="{7537B086-0992-4C5F-A071-F6F8659556F1}" dt="2026-01-08T09:02:22.070" v="42" actId="20577"/>
          <ac:spMkLst>
            <pc:docMk/>
            <pc:sldMk cId="3877628735" sldId="481"/>
            <ac:spMk id="6" creationId="{924404A3-ED4C-4699-9CA9-EFEB23F51AA9}"/>
          </ac:spMkLst>
        </pc:spChg>
      </pc:sldChg>
      <pc:sldChg chg="modSp">
        <pc:chgData name="Al Friend" userId="e5ed79da-d858-46d4-9eed-a7a24903f2de" providerId="ADAL" clId="{7537B086-0992-4C5F-A071-F6F8659556F1}" dt="2026-01-08T08:58:12.553" v="3" actId="27636"/>
        <pc:sldMkLst>
          <pc:docMk/>
          <pc:sldMk cId="1645342312" sldId="513"/>
        </pc:sldMkLst>
        <pc:spChg chg="mod">
          <ac:chgData name="Al Friend" userId="e5ed79da-d858-46d4-9eed-a7a24903f2de" providerId="ADAL" clId="{7537B086-0992-4C5F-A071-F6F8659556F1}" dt="2026-01-08T08:58:12.553" v="3" actId="27636"/>
          <ac:spMkLst>
            <pc:docMk/>
            <pc:sldMk cId="1645342312" sldId="513"/>
            <ac:spMk id="3" creationId="{00000000-0000-0000-0000-000000000000}"/>
          </ac:spMkLst>
        </pc:spChg>
      </pc:sldChg>
      <pc:sldChg chg="delSp modSp delAnim">
        <pc:chgData name="Al Friend" userId="e5ed79da-d858-46d4-9eed-a7a24903f2de" providerId="ADAL" clId="{7537B086-0992-4C5F-A071-F6F8659556F1}" dt="2026-01-12T15:44:55.104" v="739" actId="478"/>
        <pc:sldMkLst>
          <pc:docMk/>
          <pc:sldMk cId="2830124929" sldId="539"/>
        </pc:sldMkLst>
        <pc:spChg chg="mod">
          <ac:chgData name="Al Friend" userId="e5ed79da-d858-46d4-9eed-a7a24903f2de" providerId="ADAL" clId="{7537B086-0992-4C5F-A071-F6F8659556F1}" dt="2026-01-12T15:44:46.398" v="738" actId="20577"/>
          <ac:spMkLst>
            <pc:docMk/>
            <pc:sldMk cId="2830124929" sldId="539"/>
            <ac:spMk id="2" creationId="{2CE87805-17F2-4B70-B505-57FB17E1FEE3}"/>
          </ac:spMkLst>
        </pc:spChg>
        <pc:spChg chg="mod">
          <ac:chgData name="Al Friend" userId="e5ed79da-d858-46d4-9eed-a7a24903f2de" providerId="ADAL" clId="{7537B086-0992-4C5F-A071-F6F8659556F1}" dt="2026-01-12T15:44:05.204" v="724" actId="20577"/>
          <ac:spMkLst>
            <pc:docMk/>
            <pc:sldMk cId="2830124929" sldId="539"/>
            <ac:spMk id="3" creationId="{E4EE7085-4C5B-409B-8843-A8A3D3CB6E90}"/>
          </ac:spMkLst>
        </pc:spChg>
        <pc:grpChg chg="del">
          <ac:chgData name="Al Friend" userId="e5ed79da-d858-46d4-9eed-a7a24903f2de" providerId="ADAL" clId="{7537B086-0992-4C5F-A071-F6F8659556F1}" dt="2026-01-12T15:44:55.104" v="739" actId="478"/>
          <ac:grpSpMkLst>
            <pc:docMk/>
            <pc:sldMk cId="2830124929" sldId="539"/>
            <ac:grpSpMk id="7" creationId="{C7B59F06-E9C9-56FF-C7CA-BC1A6DABE3C1}"/>
          </ac:grpSpMkLst>
        </pc:grpChg>
      </pc:sldChg>
      <pc:sldChg chg="modSp">
        <pc:chgData name="Al Friend" userId="e5ed79da-d858-46d4-9eed-a7a24903f2de" providerId="ADAL" clId="{7537B086-0992-4C5F-A071-F6F8659556F1}" dt="2026-01-12T15:38:27.244" v="694" actId="20577"/>
        <pc:sldMkLst>
          <pc:docMk/>
          <pc:sldMk cId="2796949558" sldId="553"/>
        </pc:sldMkLst>
        <pc:spChg chg="mod">
          <ac:chgData name="Al Friend" userId="e5ed79da-d858-46d4-9eed-a7a24903f2de" providerId="ADAL" clId="{7537B086-0992-4C5F-A071-F6F8659556F1}" dt="2026-01-12T15:38:27.244" v="694" actId="20577"/>
          <ac:spMkLst>
            <pc:docMk/>
            <pc:sldMk cId="2796949558" sldId="553"/>
            <ac:spMk id="3" creationId="{E4EE7085-4C5B-409B-8843-A8A3D3CB6E90}"/>
          </ac:spMkLst>
        </pc:spChg>
      </pc:sldChg>
      <pc:sldChg chg="modSp">
        <pc:chgData name="Al Friend" userId="e5ed79da-d858-46d4-9eed-a7a24903f2de" providerId="ADAL" clId="{7537B086-0992-4C5F-A071-F6F8659556F1}" dt="2026-01-12T15:40:44.934" v="706" actId="20577"/>
        <pc:sldMkLst>
          <pc:docMk/>
          <pc:sldMk cId="1736274729" sldId="554"/>
        </pc:sldMkLst>
        <pc:spChg chg="mod">
          <ac:chgData name="Al Friend" userId="e5ed79da-d858-46d4-9eed-a7a24903f2de" providerId="ADAL" clId="{7537B086-0992-4C5F-A071-F6F8659556F1}" dt="2026-01-12T15:40:44.934" v="706" actId="20577"/>
          <ac:spMkLst>
            <pc:docMk/>
            <pc:sldMk cId="1736274729" sldId="554"/>
            <ac:spMk id="3" creationId="{E4EE7085-4C5B-409B-8843-A8A3D3CB6E90}"/>
          </ac:spMkLst>
        </pc:spChg>
      </pc:sldChg>
      <pc:sldChg chg="addSp delSp modSp">
        <pc:chgData name="Al Friend" userId="e5ed79da-d858-46d4-9eed-a7a24903f2de" providerId="ADAL" clId="{7537B086-0992-4C5F-A071-F6F8659556F1}" dt="2026-01-12T15:38:33.253" v="698" actId="20577"/>
        <pc:sldMkLst>
          <pc:docMk/>
          <pc:sldMk cId="3656827312" sldId="555"/>
        </pc:sldMkLst>
        <pc:spChg chg="mod">
          <ac:chgData name="Al Friend" userId="e5ed79da-d858-46d4-9eed-a7a24903f2de" providerId="ADAL" clId="{7537B086-0992-4C5F-A071-F6F8659556F1}" dt="2026-01-12T15:38:33.253" v="698" actId="20577"/>
          <ac:spMkLst>
            <pc:docMk/>
            <pc:sldMk cId="3656827312" sldId="555"/>
            <ac:spMk id="3" creationId="{E4EE7085-4C5B-409B-8843-A8A3D3CB6E90}"/>
          </ac:spMkLst>
        </pc:spChg>
        <pc:cxnChg chg="add del mod">
          <ac:chgData name="Al Friend" userId="e5ed79da-d858-46d4-9eed-a7a24903f2de" providerId="ADAL" clId="{7537B086-0992-4C5F-A071-F6F8659556F1}" dt="2026-01-12T10:00:51.887" v="611" actId="478"/>
          <ac:cxnSpMkLst>
            <pc:docMk/>
            <pc:sldMk cId="3656827312" sldId="555"/>
            <ac:cxnSpMk id="6" creationId="{BEAA4597-DD2E-4DD4-BF30-10CE238F69D2}"/>
          </ac:cxnSpMkLst>
        </pc:cxnChg>
      </pc:sldChg>
      <pc:sldChg chg="modSp">
        <pc:chgData name="Al Friend" userId="e5ed79da-d858-46d4-9eed-a7a24903f2de" providerId="ADAL" clId="{7537B086-0992-4C5F-A071-F6F8659556F1}" dt="2026-01-12T15:40:37.364" v="702" actId="20577"/>
        <pc:sldMkLst>
          <pc:docMk/>
          <pc:sldMk cId="970874047" sldId="559"/>
        </pc:sldMkLst>
        <pc:spChg chg="mod">
          <ac:chgData name="Al Friend" userId="e5ed79da-d858-46d4-9eed-a7a24903f2de" providerId="ADAL" clId="{7537B086-0992-4C5F-A071-F6F8659556F1}" dt="2026-01-12T15:40:37.364" v="702" actId="20577"/>
          <ac:spMkLst>
            <pc:docMk/>
            <pc:sldMk cId="970874047" sldId="559"/>
            <ac:spMk id="3" creationId="{E4EE7085-4C5B-409B-8843-A8A3D3CB6E90}"/>
          </ac:spMkLst>
        </pc:spChg>
      </pc:sldChg>
      <pc:sldChg chg="modSp">
        <pc:chgData name="Al Friend" userId="e5ed79da-d858-46d4-9eed-a7a24903f2de" providerId="ADAL" clId="{7537B086-0992-4C5F-A071-F6F8659556F1}" dt="2026-01-09T11:13:39.379" v="366" actId="20577"/>
        <pc:sldMkLst>
          <pc:docMk/>
          <pc:sldMk cId="1599820182" sldId="589"/>
        </pc:sldMkLst>
        <pc:spChg chg="mod">
          <ac:chgData name="Al Friend" userId="e5ed79da-d858-46d4-9eed-a7a24903f2de" providerId="ADAL" clId="{7537B086-0992-4C5F-A071-F6F8659556F1}" dt="2026-01-09T11:13:39.379" v="366" actId="20577"/>
          <ac:spMkLst>
            <pc:docMk/>
            <pc:sldMk cId="1599820182" sldId="589"/>
            <ac:spMk id="3" creationId="{E4EE7085-4C5B-409B-8843-A8A3D3CB6E90}"/>
          </ac:spMkLst>
        </pc:spChg>
      </pc:sldChg>
      <pc:sldChg chg="modSp">
        <pc:chgData name="Al Friend" userId="e5ed79da-d858-46d4-9eed-a7a24903f2de" providerId="ADAL" clId="{7537B086-0992-4C5F-A071-F6F8659556F1}" dt="2026-01-12T15:21:35.082" v="692" actId="20577"/>
        <pc:sldMkLst>
          <pc:docMk/>
          <pc:sldMk cId="2929584588" sldId="590"/>
        </pc:sldMkLst>
        <pc:spChg chg="mod">
          <ac:chgData name="Al Friend" userId="e5ed79da-d858-46d4-9eed-a7a24903f2de" providerId="ADAL" clId="{7537B086-0992-4C5F-A071-F6F8659556F1}" dt="2026-01-12T15:21:35.082" v="692" actId="20577"/>
          <ac:spMkLst>
            <pc:docMk/>
            <pc:sldMk cId="2929584588" sldId="590"/>
            <ac:spMk id="3" creationId="{E4EE7085-4C5B-409B-8843-A8A3D3CB6E90}"/>
          </ac:spMkLst>
        </pc:spChg>
      </pc:sldChg>
      <pc:sldChg chg="modSp">
        <pc:chgData name="Al Friend" userId="e5ed79da-d858-46d4-9eed-a7a24903f2de" providerId="ADAL" clId="{7537B086-0992-4C5F-A071-F6F8659556F1}" dt="2026-01-12T15:38:30.470" v="696" actId="20577"/>
        <pc:sldMkLst>
          <pc:docMk/>
          <pc:sldMk cId="3483862181" sldId="591"/>
        </pc:sldMkLst>
        <pc:spChg chg="mod">
          <ac:chgData name="Al Friend" userId="e5ed79da-d858-46d4-9eed-a7a24903f2de" providerId="ADAL" clId="{7537B086-0992-4C5F-A071-F6F8659556F1}" dt="2026-01-12T15:38:30.470" v="696" actId="20577"/>
          <ac:spMkLst>
            <pc:docMk/>
            <pc:sldMk cId="3483862181" sldId="591"/>
            <ac:spMk id="3" creationId="{E4EE7085-4C5B-409B-8843-A8A3D3CB6E90}"/>
          </ac:spMkLst>
        </pc:spChg>
      </pc:sldChg>
      <pc:sldChg chg="modSp">
        <pc:chgData name="Al Friend" userId="e5ed79da-d858-46d4-9eed-a7a24903f2de" providerId="ADAL" clId="{7537B086-0992-4C5F-A071-F6F8659556F1}" dt="2026-01-12T15:40:34.293" v="700" actId="20577"/>
        <pc:sldMkLst>
          <pc:docMk/>
          <pc:sldMk cId="818404692" sldId="592"/>
        </pc:sldMkLst>
        <pc:spChg chg="mod">
          <ac:chgData name="Al Friend" userId="e5ed79da-d858-46d4-9eed-a7a24903f2de" providerId="ADAL" clId="{7537B086-0992-4C5F-A071-F6F8659556F1}" dt="2026-01-12T15:40:34.293" v="700" actId="20577"/>
          <ac:spMkLst>
            <pc:docMk/>
            <pc:sldMk cId="818404692" sldId="592"/>
            <ac:spMk id="3" creationId="{E4EE7085-4C5B-409B-8843-A8A3D3CB6E90}"/>
          </ac:spMkLst>
        </pc:spChg>
      </pc:sldChg>
      <pc:sldChg chg="modSp">
        <pc:chgData name="Al Friend" userId="e5ed79da-d858-46d4-9eed-a7a24903f2de" providerId="ADAL" clId="{7537B086-0992-4C5F-A071-F6F8659556F1}" dt="2026-01-12T15:40:40.776" v="704" actId="20577"/>
        <pc:sldMkLst>
          <pc:docMk/>
          <pc:sldMk cId="1368737392" sldId="593"/>
        </pc:sldMkLst>
        <pc:spChg chg="mod">
          <ac:chgData name="Al Friend" userId="e5ed79da-d858-46d4-9eed-a7a24903f2de" providerId="ADAL" clId="{7537B086-0992-4C5F-A071-F6F8659556F1}" dt="2026-01-12T15:40:40.776" v="704" actId="20577"/>
          <ac:spMkLst>
            <pc:docMk/>
            <pc:sldMk cId="1368737392" sldId="593"/>
            <ac:spMk id="3" creationId="{E4EE7085-4C5B-409B-8843-A8A3D3CB6E90}"/>
          </ac:spMkLst>
        </pc:spChg>
      </pc:sldChg>
      <pc:sldChg chg="modSp">
        <pc:chgData name="Al Friend" userId="e5ed79da-d858-46d4-9eed-a7a24903f2de" providerId="ADAL" clId="{7537B086-0992-4C5F-A071-F6F8659556F1}" dt="2026-01-12T15:40:48.874" v="708" actId="20577"/>
        <pc:sldMkLst>
          <pc:docMk/>
          <pc:sldMk cId="3908499378" sldId="594"/>
        </pc:sldMkLst>
        <pc:spChg chg="mod">
          <ac:chgData name="Al Friend" userId="e5ed79da-d858-46d4-9eed-a7a24903f2de" providerId="ADAL" clId="{7537B086-0992-4C5F-A071-F6F8659556F1}" dt="2026-01-12T15:40:48.874" v="708" actId="20577"/>
          <ac:spMkLst>
            <pc:docMk/>
            <pc:sldMk cId="3908499378" sldId="594"/>
            <ac:spMk id="3" creationId="{E4EE7085-4C5B-409B-8843-A8A3D3CB6E90}"/>
          </ac:spMkLst>
        </pc:spChg>
      </pc:sldChg>
      <pc:sldChg chg="modSp">
        <pc:chgData name="Al Friend" userId="e5ed79da-d858-46d4-9eed-a7a24903f2de" providerId="ADAL" clId="{7537B086-0992-4C5F-A071-F6F8659556F1}" dt="2026-01-09T10:57:01.974" v="356" actId="1036"/>
        <pc:sldMkLst>
          <pc:docMk/>
          <pc:sldMk cId="3288459417" sldId="659"/>
        </pc:sldMkLst>
        <pc:grpChg chg="mod">
          <ac:chgData name="Al Friend" userId="e5ed79da-d858-46d4-9eed-a7a24903f2de" providerId="ADAL" clId="{7537B086-0992-4C5F-A071-F6F8659556F1}" dt="2026-01-09T10:57:01.974" v="356" actId="1036"/>
          <ac:grpSpMkLst>
            <pc:docMk/>
            <pc:sldMk cId="3288459417" sldId="659"/>
            <ac:grpSpMk id="6" creationId="{CDA2DFA6-83BE-D060-BDA8-CF34E45D5A03}"/>
          </ac:grpSpMkLst>
        </pc:grpChg>
      </pc:sldChg>
      <pc:sldChg chg="ord">
        <pc:chgData name="Al Friend" userId="e5ed79da-d858-46d4-9eed-a7a24903f2de" providerId="ADAL" clId="{7537B086-0992-4C5F-A071-F6F8659556F1}" dt="2026-01-12T10:29:48.173" v="613"/>
        <pc:sldMkLst>
          <pc:docMk/>
          <pc:sldMk cId="3590783804" sldId="663"/>
        </pc:sldMkLst>
      </pc:sldChg>
      <pc:sldChg chg="modNotesTx">
        <pc:chgData name="Al Friend" userId="e5ed79da-d858-46d4-9eed-a7a24903f2de" providerId="ADAL" clId="{7537B086-0992-4C5F-A071-F6F8659556F1}" dt="2026-01-12T15:58:37.551" v="860" actId="20577"/>
        <pc:sldMkLst>
          <pc:docMk/>
          <pc:sldMk cId="3589467266" sldId="664"/>
        </pc:sldMkLst>
      </pc:sldChg>
      <pc:sldChg chg="modSp">
        <pc:chgData name="Al Friend" userId="e5ed79da-d858-46d4-9eed-a7a24903f2de" providerId="ADAL" clId="{7537B086-0992-4C5F-A071-F6F8659556F1}" dt="2026-01-12T15:44:38.483" v="730" actId="20577"/>
        <pc:sldMkLst>
          <pc:docMk/>
          <pc:sldMk cId="3697990193" sldId="665"/>
        </pc:sldMkLst>
        <pc:spChg chg="mod">
          <ac:chgData name="Al Friend" userId="e5ed79da-d858-46d4-9eed-a7a24903f2de" providerId="ADAL" clId="{7537B086-0992-4C5F-A071-F6F8659556F1}" dt="2026-01-12T15:44:38.483" v="730" actId="20577"/>
          <ac:spMkLst>
            <pc:docMk/>
            <pc:sldMk cId="3697990193" sldId="665"/>
            <ac:spMk id="2" creationId="{2CE87805-17F2-4B70-B505-57FB17E1FEE3}"/>
          </ac:spMkLst>
        </pc:spChg>
        <pc:spChg chg="mod">
          <ac:chgData name="Al Friend" userId="e5ed79da-d858-46d4-9eed-a7a24903f2de" providerId="ADAL" clId="{7537B086-0992-4C5F-A071-F6F8659556F1}" dt="2026-01-12T15:44:02.582" v="722" actId="20577"/>
          <ac:spMkLst>
            <pc:docMk/>
            <pc:sldMk cId="3697990193" sldId="665"/>
            <ac:spMk id="3" creationId="{E4EE7085-4C5B-409B-8843-A8A3D3CB6E90}"/>
          </ac:spMkLst>
        </pc:spChg>
      </pc:sldChg>
      <pc:sldChg chg="modSp">
        <pc:chgData name="Al Friend" userId="e5ed79da-d858-46d4-9eed-a7a24903f2de" providerId="ADAL" clId="{7537B086-0992-4C5F-A071-F6F8659556F1}" dt="2026-01-08T08:58:12.334" v="1" actId="27636"/>
        <pc:sldMkLst>
          <pc:docMk/>
          <pc:sldMk cId="4089413313" sldId="688"/>
        </pc:sldMkLst>
        <pc:spChg chg="mod">
          <ac:chgData name="Al Friend" userId="e5ed79da-d858-46d4-9eed-a7a24903f2de" providerId="ADAL" clId="{7537B086-0992-4C5F-A071-F6F8659556F1}" dt="2026-01-08T08:58:12.334" v="1" actId="27636"/>
          <ac:spMkLst>
            <pc:docMk/>
            <pc:sldMk cId="4089413313" sldId="688"/>
            <ac:spMk id="3" creationId="{141DFD40-5B60-02A6-A1F0-71163A85F354}"/>
          </ac:spMkLst>
        </pc:spChg>
      </pc:sldChg>
      <pc:sldChg chg="modSp">
        <pc:chgData name="Al Friend" userId="e5ed79da-d858-46d4-9eed-a7a24903f2de" providerId="ADAL" clId="{7537B086-0992-4C5F-A071-F6F8659556F1}" dt="2026-01-08T08:58:12.395" v="2" actId="27636"/>
        <pc:sldMkLst>
          <pc:docMk/>
          <pc:sldMk cId="1265154754" sldId="689"/>
        </pc:sldMkLst>
        <pc:spChg chg="mod">
          <ac:chgData name="Al Friend" userId="e5ed79da-d858-46d4-9eed-a7a24903f2de" providerId="ADAL" clId="{7537B086-0992-4C5F-A071-F6F8659556F1}" dt="2026-01-08T08:58:12.395" v="2" actId="27636"/>
          <ac:spMkLst>
            <pc:docMk/>
            <pc:sldMk cId="1265154754" sldId="689"/>
            <ac:spMk id="3" creationId="{141DFD40-5B60-02A6-A1F0-71163A85F354}"/>
          </ac:spMkLst>
        </pc:spChg>
      </pc:sldChg>
      <pc:sldChg chg="modSp ord">
        <pc:chgData name="Al Friend" userId="e5ed79da-d858-46d4-9eed-a7a24903f2de" providerId="ADAL" clId="{7537B086-0992-4C5F-A071-F6F8659556F1}" dt="2026-01-12T15:42:07.231" v="712" actId="20577"/>
        <pc:sldMkLst>
          <pc:docMk/>
          <pc:sldMk cId="630824385" sldId="711"/>
        </pc:sldMkLst>
        <pc:spChg chg="mod">
          <ac:chgData name="Al Friend" userId="e5ed79da-d858-46d4-9eed-a7a24903f2de" providerId="ADAL" clId="{7537B086-0992-4C5F-A071-F6F8659556F1}" dt="2026-01-12T15:42:07.231" v="712" actId="20577"/>
          <ac:spMkLst>
            <pc:docMk/>
            <pc:sldMk cId="630824385" sldId="711"/>
            <ac:spMk id="3" creationId="{E4EE7085-4C5B-409B-8843-A8A3D3CB6E90}"/>
          </ac:spMkLst>
        </pc:spChg>
      </pc:sldChg>
      <pc:sldChg chg="modSp ord">
        <pc:chgData name="Al Friend" userId="e5ed79da-d858-46d4-9eed-a7a24903f2de" providerId="ADAL" clId="{7537B086-0992-4C5F-A071-F6F8659556F1}" dt="2026-01-12T15:42:14.865" v="716" actId="20577"/>
        <pc:sldMkLst>
          <pc:docMk/>
          <pc:sldMk cId="2327285765" sldId="712"/>
        </pc:sldMkLst>
        <pc:spChg chg="mod">
          <ac:chgData name="Al Friend" userId="e5ed79da-d858-46d4-9eed-a7a24903f2de" providerId="ADAL" clId="{7537B086-0992-4C5F-A071-F6F8659556F1}" dt="2026-01-12T15:42:14.865" v="716" actId="20577"/>
          <ac:spMkLst>
            <pc:docMk/>
            <pc:sldMk cId="2327285765" sldId="712"/>
            <ac:spMk id="3" creationId="{E4EE7085-4C5B-409B-8843-A8A3D3CB6E90}"/>
          </ac:spMkLst>
        </pc:spChg>
      </pc:sldChg>
      <pc:sldChg chg="modSp ord">
        <pc:chgData name="Al Friend" userId="e5ed79da-d858-46d4-9eed-a7a24903f2de" providerId="ADAL" clId="{7537B086-0992-4C5F-A071-F6F8659556F1}" dt="2026-01-12T15:43:36.113" v="720" actId="20577"/>
        <pc:sldMkLst>
          <pc:docMk/>
          <pc:sldMk cId="3019406255" sldId="713"/>
        </pc:sldMkLst>
        <pc:spChg chg="mod">
          <ac:chgData name="Al Friend" userId="e5ed79da-d858-46d4-9eed-a7a24903f2de" providerId="ADAL" clId="{7537B086-0992-4C5F-A071-F6F8659556F1}" dt="2026-01-12T15:43:36.113" v="720" actId="20577"/>
          <ac:spMkLst>
            <pc:docMk/>
            <pc:sldMk cId="3019406255" sldId="713"/>
            <ac:spMk id="3" creationId="{E4EE7085-4C5B-409B-8843-A8A3D3CB6E90}"/>
          </ac:spMkLst>
        </pc:spChg>
      </pc:sldChg>
      <pc:sldChg chg="modSp">
        <pc:chgData name="Al Friend" userId="e5ed79da-d858-46d4-9eed-a7a24903f2de" providerId="ADAL" clId="{7537B086-0992-4C5F-A071-F6F8659556F1}" dt="2026-01-15T10:16:18.633" v="867" actId="20577"/>
        <pc:sldMkLst>
          <pc:docMk/>
          <pc:sldMk cId="1135862847" sldId="773"/>
        </pc:sldMkLst>
        <pc:spChg chg="mod">
          <ac:chgData name="Al Friend" userId="e5ed79da-d858-46d4-9eed-a7a24903f2de" providerId="ADAL" clId="{7537B086-0992-4C5F-A071-F6F8659556F1}" dt="2026-01-15T10:16:18.633" v="867" actId="20577"/>
          <ac:spMkLst>
            <pc:docMk/>
            <pc:sldMk cId="1135862847" sldId="773"/>
            <ac:spMk id="4" creationId="{08C76DEA-F650-51AB-7EE7-9B3064808EC0}"/>
          </ac:spMkLst>
        </pc:spChg>
      </pc:sldChg>
      <pc:sldChg chg="modSp">
        <pc:chgData name="Al Friend" userId="e5ed79da-d858-46d4-9eed-a7a24903f2de" providerId="ADAL" clId="{7537B086-0992-4C5F-A071-F6F8659556F1}" dt="2026-01-15T10:16:21.355" v="869" actId="20577"/>
        <pc:sldMkLst>
          <pc:docMk/>
          <pc:sldMk cId="2176521065" sldId="833"/>
        </pc:sldMkLst>
        <pc:spChg chg="mod">
          <ac:chgData name="Al Friend" userId="e5ed79da-d858-46d4-9eed-a7a24903f2de" providerId="ADAL" clId="{7537B086-0992-4C5F-A071-F6F8659556F1}" dt="2026-01-15T10:16:21.355" v="869" actId="20577"/>
          <ac:spMkLst>
            <pc:docMk/>
            <pc:sldMk cId="2176521065" sldId="833"/>
            <ac:spMk id="4" creationId="{08C76DEA-F650-51AB-7EE7-9B3064808EC0}"/>
          </ac:spMkLst>
        </pc:spChg>
      </pc:sldChg>
      <pc:sldChg chg="modSp ord">
        <pc:chgData name="Al Friend" userId="e5ed79da-d858-46d4-9eed-a7a24903f2de" providerId="ADAL" clId="{7537B086-0992-4C5F-A071-F6F8659556F1}" dt="2026-01-15T10:15:28.368" v="862" actId="20577"/>
        <pc:sldMkLst>
          <pc:docMk/>
          <pc:sldMk cId="4078011167" sldId="851"/>
        </pc:sldMkLst>
        <pc:spChg chg="mod">
          <ac:chgData name="Al Friend" userId="e5ed79da-d858-46d4-9eed-a7a24903f2de" providerId="ADAL" clId="{7537B086-0992-4C5F-A071-F6F8659556F1}" dt="2026-01-15T10:15:28.368" v="862" actId="20577"/>
          <ac:spMkLst>
            <pc:docMk/>
            <pc:sldMk cId="4078011167" sldId="851"/>
            <ac:spMk id="4" creationId="{B4D7039D-DC4C-3007-1F96-6D1B58A2A3A3}"/>
          </ac:spMkLst>
        </pc:spChg>
      </pc:sldChg>
      <pc:sldChg chg="modSp ord modNotesTx">
        <pc:chgData name="Al Friend" userId="e5ed79da-d858-46d4-9eed-a7a24903f2de" providerId="ADAL" clId="{7537B086-0992-4C5F-A071-F6F8659556F1}" dt="2026-01-15T10:15:34.810" v="865" actId="6549"/>
        <pc:sldMkLst>
          <pc:docMk/>
          <pc:sldMk cId="1092475532" sldId="852"/>
        </pc:sldMkLst>
        <pc:spChg chg="mod">
          <ac:chgData name="Al Friend" userId="e5ed79da-d858-46d4-9eed-a7a24903f2de" providerId="ADAL" clId="{7537B086-0992-4C5F-A071-F6F8659556F1}" dt="2026-01-15T10:15:31.770" v="864" actId="20577"/>
          <ac:spMkLst>
            <pc:docMk/>
            <pc:sldMk cId="1092475532" sldId="852"/>
            <ac:spMk id="4" creationId="{A1CF8388-E071-F307-5668-99A634416365}"/>
          </ac:spMkLst>
        </pc:spChg>
      </pc:sldChg>
      <pc:sldChg chg="delSp add modTransition modAnim">
        <pc:chgData name="Al Friend" userId="e5ed79da-d858-46d4-9eed-a7a24903f2de" providerId="ADAL" clId="{7537B086-0992-4C5F-A071-F6F8659556F1}" dt="2026-01-08T08:59:48.965" v="9" actId="478"/>
        <pc:sldMkLst>
          <pc:docMk/>
          <pc:sldMk cId="504513756" sldId="886"/>
        </pc:sldMkLst>
        <pc:spChg chg="del">
          <ac:chgData name="Al Friend" userId="e5ed79da-d858-46d4-9eed-a7a24903f2de" providerId="ADAL" clId="{7537B086-0992-4C5F-A071-F6F8659556F1}" dt="2026-01-08T08:59:48.965" v="9" actId="478"/>
          <ac:spMkLst>
            <pc:docMk/>
            <pc:sldMk cId="504513756" sldId="886"/>
            <ac:spMk id="10" creationId="{924404A3-ED4C-4699-9CA9-EFEB23F51AA9}"/>
          </ac:spMkLst>
        </pc:spChg>
      </pc:sldChg>
      <pc:sldChg chg="delSp add modTransition modAnim">
        <pc:chgData name="Al Friend" userId="e5ed79da-d858-46d4-9eed-a7a24903f2de" providerId="ADAL" clId="{7537B086-0992-4C5F-A071-F6F8659556F1}" dt="2026-01-08T09:03:03.953" v="50" actId="478"/>
        <pc:sldMkLst>
          <pc:docMk/>
          <pc:sldMk cId="274477786" sldId="887"/>
        </pc:sldMkLst>
        <pc:spChg chg="del">
          <ac:chgData name="Al Friend" userId="e5ed79da-d858-46d4-9eed-a7a24903f2de" providerId="ADAL" clId="{7537B086-0992-4C5F-A071-F6F8659556F1}" dt="2026-01-08T09:02:56.947" v="46" actId="478"/>
          <ac:spMkLst>
            <pc:docMk/>
            <pc:sldMk cId="274477786" sldId="887"/>
            <ac:spMk id="3" creationId="{52A295CC-8959-7191-3AFD-BD54D14A7EC9}"/>
          </ac:spMkLst>
        </pc:spChg>
        <pc:spChg chg="del">
          <ac:chgData name="Al Friend" userId="e5ed79da-d858-46d4-9eed-a7a24903f2de" providerId="ADAL" clId="{7537B086-0992-4C5F-A071-F6F8659556F1}" dt="2026-01-08T09:02:58.976" v="47" actId="478"/>
          <ac:spMkLst>
            <pc:docMk/>
            <pc:sldMk cId="274477786" sldId="887"/>
            <ac:spMk id="4" creationId="{5D773087-09BD-45AD-89A6-29025E9351DE}"/>
          </ac:spMkLst>
        </pc:spChg>
        <pc:spChg chg="del">
          <ac:chgData name="Al Friend" userId="e5ed79da-d858-46d4-9eed-a7a24903f2de" providerId="ADAL" clId="{7537B086-0992-4C5F-A071-F6F8659556F1}" dt="2026-01-08T09:03:03.953" v="50" actId="478"/>
          <ac:spMkLst>
            <pc:docMk/>
            <pc:sldMk cId="274477786" sldId="887"/>
            <ac:spMk id="6" creationId="{924404A3-ED4C-4699-9CA9-EFEB23F51AA9}"/>
          </ac:spMkLst>
        </pc:spChg>
        <pc:spChg chg="del">
          <ac:chgData name="Al Friend" userId="e5ed79da-d858-46d4-9eed-a7a24903f2de" providerId="ADAL" clId="{7537B086-0992-4C5F-A071-F6F8659556F1}" dt="2026-01-08T09:03:01.819" v="48" actId="478"/>
          <ac:spMkLst>
            <pc:docMk/>
            <pc:sldMk cId="274477786" sldId="887"/>
            <ac:spMk id="7" creationId="{EBD85118-3121-322A-A785-D7E5BC3C6DDB}"/>
          </ac:spMkLst>
        </pc:spChg>
        <pc:spChg chg="del">
          <ac:chgData name="Al Friend" userId="e5ed79da-d858-46d4-9eed-a7a24903f2de" providerId="ADAL" clId="{7537B086-0992-4C5F-A071-F6F8659556F1}" dt="2026-01-08T09:03:02.719" v="49" actId="478"/>
          <ac:spMkLst>
            <pc:docMk/>
            <pc:sldMk cId="274477786" sldId="887"/>
            <ac:spMk id="8" creationId="{B9255652-7499-91E1-0752-F0DD357DD42C}"/>
          </ac:spMkLst>
        </pc:spChg>
      </pc:sldChg>
      <pc:sldChg chg="modSp add ord">
        <pc:chgData name="Al Friend" userId="e5ed79da-d858-46d4-9eed-a7a24903f2de" providerId="ADAL" clId="{7537B086-0992-4C5F-A071-F6F8659556F1}" dt="2026-01-09T10:07:31.309" v="119"/>
        <pc:sldMkLst>
          <pc:docMk/>
          <pc:sldMk cId="28860088" sldId="888"/>
        </pc:sldMkLst>
        <pc:spChg chg="mod">
          <ac:chgData name="Al Friend" userId="e5ed79da-d858-46d4-9eed-a7a24903f2de" providerId="ADAL" clId="{7537B086-0992-4C5F-A071-F6F8659556F1}" dt="2026-01-08T09:34:45.577" v="102" actId="113"/>
          <ac:spMkLst>
            <pc:docMk/>
            <pc:sldMk cId="28860088" sldId="888"/>
            <ac:spMk id="5" creationId="{964D77D7-D52A-864E-2F76-F013C7C8D4FE}"/>
          </ac:spMkLst>
        </pc:spChg>
      </pc:sldChg>
      <pc:sldChg chg="delSp modSp add ord modTransition modAnim">
        <pc:chgData name="Al Friend" userId="e5ed79da-d858-46d4-9eed-a7a24903f2de" providerId="ADAL" clId="{7537B086-0992-4C5F-A071-F6F8659556F1}" dt="2026-01-09T10:07:31.309" v="119"/>
        <pc:sldMkLst>
          <pc:docMk/>
          <pc:sldMk cId="1610565375" sldId="889"/>
        </pc:sldMkLst>
        <pc:spChg chg="mod">
          <ac:chgData name="Al Friend" userId="e5ed79da-d858-46d4-9eed-a7a24903f2de" providerId="ADAL" clId="{7537B086-0992-4C5F-A071-F6F8659556F1}" dt="2026-01-08T09:34:29.477" v="100" actId="27636"/>
          <ac:spMkLst>
            <pc:docMk/>
            <pc:sldMk cId="1610565375" sldId="889"/>
            <ac:spMk id="3" creationId="{3006BFFB-0638-4D0F-887F-1B4CD48CA2DD}"/>
          </ac:spMkLst>
        </pc:spChg>
        <pc:spChg chg="del">
          <ac:chgData name="Al Friend" userId="e5ed79da-d858-46d4-9eed-a7a24903f2de" providerId="ADAL" clId="{7537B086-0992-4C5F-A071-F6F8659556F1}" dt="2026-01-08T09:34:07.467" v="87" actId="478"/>
          <ac:spMkLst>
            <pc:docMk/>
            <pc:sldMk cId="1610565375" sldId="889"/>
            <ac:spMk id="5" creationId="{964D77D7-D52A-864E-2F76-F013C7C8D4FE}"/>
          </ac:spMkLst>
        </pc:spChg>
      </pc:sldChg>
      <pc:sldChg chg="modSp add">
        <pc:chgData name="Al Friend" userId="e5ed79da-d858-46d4-9eed-a7a24903f2de" providerId="ADAL" clId="{7537B086-0992-4C5F-A071-F6F8659556F1}" dt="2026-01-09T10:10:00.162" v="155" actId="403"/>
        <pc:sldMkLst>
          <pc:docMk/>
          <pc:sldMk cId="2120745638" sldId="891"/>
        </pc:sldMkLst>
        <pc:spChg chg="mod">
          <ac:chgData name="Al Friend" userId="e5ed79da-d858-46d4-9eed-a7a24903f2de" providerId="ADAL" clId="{7537B086-0992-4C5F-A071-F6F8659556F1}" dt="2026-01-09T10:09:50.186" v="142" actId="20577"/>
          <ac:spMkLst>
            <pc:docMk/>
            <pc:sldMk cId="2120745638" sldId="891"/>
            <ac:spMk id="2" creationId="{DFDD032C-747B-43CF-884D-7ACD26C31B4A}"/>
          </ac:spMkLst>
        </pc:spChg>
        <pc:spChg chg="mod">
          <ac:chgData name="Al Friend" userId="e5ed79da-d858-46d4-9eed-a7a24903f2de" providerId="ADAL" clId="{7537B086-0992-4C5F-A071-F6F8659556F1}" dt="2026-01-09T10:10:00.162" v="155" actId="403"/>
          <ac:spMkLst>
            <pc:docMk/>
            <pc:sldMk cId="2120745638" sldId="891"/>
            <ac:spMk id="3" creationId="{F6399757-F604-4277-99DE-AE75EE3A83E3}"/>
          </ac:spMkLst>
        </pc:spChg>
      </pc:sldChg>
      <pc:sldChg chg="addSp modSp add modAnim">
        <pc:chgData name="Al Friend" userId="e5ed79da-d858-46d4-9eed-a7a24903f2de" providerId="ADAL" clId="{7537B086-0992-4C5F-A071-F6F8659556F1}" dt="2026-01-09T10:39:47.634" v="345" actId="13244"/>
        <pc:sldMkLst>
          <pc:docMk/>
          <pc:sldMk cId="4100891914" sldId="892"/>
        </pc:sldMkLst>
        <pc:spChg chg="mod">
          <ac:chgData name="Al Friend" userId="e5ed79da-d858-46d4-9eed-a7a24903f2de" providerId="ADAL" clId="{7537B086-0992-4C5F-A071-F6F8659556F1}" dt="2026-01-09T10:29:19.853" v="264" actId="20577"/>
          <ac:spMkLst>
            <pc:docMk/>
            <pc:sldMk cId="4100891914" sldId="892"/>
            <ac:spMk id="2" creationId="{D049432C-9C31-40D9-8C26-6E288E61F0CD}"/>
          </ac:spMkLst>
        </pc:spChg>
        <pc:picChg chg="add mod ord">
          <ac:chgData name="Al Friend" userId="e5ed79da-d858-46d4-9eed-a7a24903f2de" providerId="ADAL" clId="{7537B086-0992-4C5F-A071-F6F8659556F1}" dt="2026-01-09T10:22:52.542" v="230" actId="167"/>
          <ac:picMkLst>
            <pc:docMk/>
            <pc:sldMk cId="4100891914" sldId="892"/>
            <ac:picMk id="3" creationId="{6372C94C-F39C-4633-9690-936896E7997C}"/>
          </ac:picMkLst>
        </pc:picChg>
        <pc:picChg chg="add mod ord modCrop">
          <ac:chgData name="Al Friend" userId="e5ed79da-d858-46d4-9eed-a7a24903f2de" providerId="ADAL" clId="{7537B086-0992-4C5F-A071-F6F8659556F1}" dt="2026-01-09T10:39:47.634" v="345" actId="13244"/>
          <ac:picMkLst>
            <pc:docMk/>
            <pc:sldMk cId="4100891914" sldId="892"/>
            <ac:picMk id="4" creationId="{431D348A-1E20-4DD1-9964-01135A5AF008}"/>
          </ac:picMkLst>
        </pc:picChg>
        <pc:picChg chg="add mod ord modCrop">
          <ac:chgData name="Al Friend" userId="e5ed79da-d858-46d4-9eed-a7a24903f2de" providerId="ADAL" clId="{7537B086-0992-4C5F-A071-F6F8659556F1}" dt="2026-01-09T10:23:22.071" v="234" actId="167"/>
          <ac:picMkLst>
            <pc:docMk/>
            <pc:sldMk cId="4100891914" sldId="892"/>
            <ac:picMk id="5" creationId="{FD0C6429-8DF0-4AEF-A5E4-B8A8869104C9}"/>
          </ac:picMkLst>
        </pc:picChg>
        <pc:picChg chg="add mod ord modCrop">
          <ac:chgData name="Al Friend" userId="e5ed79da-d858-46d4-9eed-a7a24903f2de" providerId="ADAL" clId="{7537B086-0992-4C5F-A071-F6F8659556F1}" dt="2026-01-09T10:39:00.665" v="342" actId="167"/>
          <ac:picMkLst>
            <pc:docMk/>
            <pc:sldMk cId="4100891914" sldId="892"/>
            <ac:picMk id="6" creationId="{D1E8208F-9679-4FB9-BD07-D2EBB831BEFC}"/>
          </ac:picMkLst>
        </pc:picChg>
        <pc:picChg chg="add mod ord modCrop">
          <ac:chgData name="Al Friend" userId="e5ed79da-d858-46d4-9eed-a7a24903f2de" providerId="ADAL" clId="{7537B086-0992-4C5F-A071-F6F8659556F1}" dt="2026-01-09T10:39:24.648" v="344" actId="167"/>
          <ac:picMkLst>
            <pc:docMk/>
            <pc:sldMk cId="4100891914" sldId="892"/>
            <ac:picMk id="7" creationId="{69EEEA1B-CA96-47AA-938A-E625989FE2B8}"/>
          </ac:picMkLst>
        </pc:picChg>
      </pc:sldChg>
      <pc:sldChg chg="addSp modSp add modAnim">
        <pc:chgData name="Al Friend" userId="e5ed79da-d858-46d4-9eed-a7a24903f2de" providerId="ADAL" clId="{7537B086-0992-4C5F-A071-F6F8659556F1}" dt="2026-01-09T10:35:04.356" v="340"/>
        <pc:sldMkLst>
          <pc:docMk/>
          <pc:sldMk cId="1002852827" sldId="893"/>
        </pc:sldMkLst>
        <pc:spChg chg="mod">
          <ac:chgData name="Al Friend" userId="e5ed79da-d858-46d4-9eed-a7a24903f2de" providerId="ADAL" clId="{7537B086-0992-4C5F-A071-F6F8659556F1}" dt="2026-01-09T10:29:42.232" v="280" actId="20577"/>
          <ac:spMkLst>
            <pc:docMk/>
            <pc:sldMk cId="1002852827" sldId="893"/>
            <ac:spMk id="2" creationId="{E8277E8C-E4DA-48E1-A57F-56A67EA6539B}"/>
          </ac:spMkLst>
        </pc:spChg>
        <pc:spChg chg="add mod">
          <ac:chgData name="Al Friend" userId="e5ed79da-d858-46d4-9eed-a7a24903f2de" providerId="ADAL" clId="{7537B086-0992-4C5F-A071-F6F8659556F1}" dt="2026-01-09T10:34:27.537" v="333" actId="1076"/>
          <ac:spMkLst>
            <pc:docMk/>
            <pc:sldMk cId="1002852827" sldId="893"/>
            <ac:spMk id="4" creationId="{9540C108-C9FE-42D7-BD6F-E1997C341839}"/>
          </ac:spMkLst>
        </pc:spChg>
        <pc:picChg chg="add mod">
          <ac:chgData name="Al Friend" userId="e5ed79da-d858-46d4-9eed-a7a24903f2de" providerId="ADAL" clId="{7537B086-0992-4C5F-A071-F6F8659556F1}" dt="2026-01-09T10:32:50.957" v="284" actId="14100"/>
          <ac:picMkLst>
            <pc:docMk/>
            <pc:sldMk cId="1002852827" sldId="893"/>
            <ac:picMk id="3" creationId="{4999E231-EF80-4729-892E-1ED241F4B497}"/>
          </ac:picMkLst>
        </pc:picChg>
      </pc:sldChg>
      <pc:sldChg chg="addSp delSp modSp delAnim modAnim modNotesTx">
        <pc:chgData name="Al Friend" userId="e5ed79da-d858-46d4-9eed-a7a24903f2de" providerId="ADAL" clId="{7537B086-0992-4C5F-A071-F6F8659556F1}" dt="2026-01-12T15:17:33.419" v="688" actId="1038"/>
        <pc:sldMkLst>
          <pc:docMk/>
          <pc:sldMk cId="3739040659" sldId="894"/>
        </pc:sldMkLst>
        <pc:spChg chg="mod">
          <ac:chgData name="Al Friend" userId="e5ed79da-d858-46d4-9eed-a7a24903f2de" providerId="ADAL" clId="{7537B086-0992-4C5F-A071-F6F8659556F1}" dt="2026-01-12T15:07:07.549" v="625" actId="20577"/>
          <ac:spMkLst>
            <pc:docMk/>
            <pc:sldMk cId="3739040659" sldId="894"/>
            <ac:spMk id="2" creationId="{2CE87805-17F2-4B70-B505-57FB17E1FEE3}"/>
          </ac:spMkLst>
        </pc:spChg>
        <pc:spChg chg="mod">
          <ac:chgData name="Al Friend" userId="e5ed79da-d858-46d4-9eed-a7a24903f2de" providerId="ADAL" clId="{7537B086-0992-4C5F-A071-F6F8659556F1}" dt="2026-01-12T15:10:03.777" v="653" actId="20577"/>
          <ac:spMkLst>
            <pc:docMk/>
            <pc:sldMk cId="3739040659" sldId="894"/>
            <ac:spMk id="3" creationId="{E4EE7085-4C5B-409B-8843-A8A3D3CB6E90}"/>
          </ac:spMkLst>
        </pc:spChg>
        <pc:spChg chg="del">
          <ac:chgData name="Al Friend" userId="e5ed79da-d858-46d4-9eed-a7a24903f2de" providerId="ADAL" clId="{7537B086-0992-4C5F-A071-F6F8659556F1}" dt="2026-01-12T09:28:50.068" v="368" actId="478"/>
          <ac:spMkLst>
            <pc:docMk/>
            <pc:sldMk cId="3739040659" sldId="894"/>
            <ac:spMk id="4" creationId="{973BE903-2B4C-5BCA-8CFF-AD26E80D1A76}"/>
          </ac:spMkLst>
        </pc:spChg>
        <pc:spChg chg="del">
          <ac:chgData name="Al Friend" userId="e5ed79da-d858-46d4-9eed-a7a24903f2de" providerId="ADAL" clId="{7537B086-0992-4C5F-A071-F6F8659556F1}" dt="2026-01-12T09:28:48.571" v="367" actId="478"/>
          <ac:spMkLst>
            <pc:docMk/>
            <pc:sldMk cId="3739040659" sldId="894"/>
            <ac:spMk id="5" creationId="{87B61908-2A1E-ED5C-FE12-C6DCD5EF3C3F}"/>
          </ac:spMkLst>
        </pc:spChg>
        <pc:spChg chg="del">
          <ac:chgData name="Al Friend" userId="e5ed79da-d858-46d4-9eed-a7a24903f2de" providerId="ADAL" clId="{7537B086-0992-4C5F-A071-F6F8659556F1}" dt="2026-01-12T09:29:00.007" v="373" actId="478"/>
          <ac:spMkLst>
            <pc:docMk/>
            <pc:sldMk cId="3739040659" sldId="894"/>
            <ac:spMk id="6" creationId="{00EF8586-C5C9-BBB7-2263-DED3452C407B}"/>
          </ac:spMkLst>
        </pc:spChg>
        <pc:spChg chg="del">
          <ac:chgData name="Al Friend" userId="e5ed79da-d858-46d4-9eed-a7a24903f2de" providerId="ADAL" clId="{7537B086-0992-4C5F-A071-F6F8659556F1}" dt="2026-01-12T09:29:04.855" v="375" actId="478"/>
          <ac:spMkLst>
            <pc:docMk/>
            <pc:sldMk cId="3739040659" sldId="894"/>
            <ac:spMk id="10" creationId="{DF4BA8FF-524A-4C13-87BF-68801971FA28}"/>
          </ac:spMkLst>
        </pc:spChg>
        <pc:spChg chg="del">
          <ac:chgData name="Al Friend" userId="e5ed79da-d858-46d4-9eed-a7a24903f2de" providerId="ADAL" clId="{7537B086-0992-4C5F-A071-F6F8659556F1}" dt="2026-01-12T09:29:01.319" v="374" actId="478"/>
          <ac:spMkLst>
            <pc:docMk/>
            <pc:sldMk cId="3739040659" sldId="894"/>
            <ac:spMk id="13" creationId="{55A11A63-969F-4B38-8776-DA4F6EC83E0A}"/>
          </ac:spMkLst>
        </pc:spChg>
        <pc:spChg chg="add del mod">
          <ac:chgData name="Al Friend" userId="e5ed79da-d858-46d4-9eed-a7a24903f2de" providerId="ADAL" clId="{7537B086-0992-4C5F-A071-F6F8659556F1}" dt="2026-01-12T09:35:29.630" v="413" actId="478"/>
          <ac:spMkLst>
            <pc:docMk/>
            <pc:sldMk cId="3739040659" sldId="894"/>
            <ac:spMk id="17" creationId="{B177373B-D294-4CE2-9186-4DE11D079A69}"/>
          </ac:spMkLst>
        </pc:spChg>
        <pc:spChg chg="mod">
          <ac:chgData name="Al Friend" userId="e5ed79da-d858-46d4-9eed-a7a24903f2de" providerId="ADAL" clId="{7537B086-0992-4C5F-A071-F6F8659556F1}" dt="2026-01-12T09:38:40.099" v="526" actId="14100"/>
          <ac:spMkLst>
            <pc:docMk/>
            <pc:sldMk cId="3739040659" sldId="894"/>
            <ac:spMk id="21" creationId="{E0A16EF2-6826-471D-B2CF-BB71EDA6BFB1}"/>
          </ac:spMkLst>
        </pc:spChg>
        <pc:spChg chg="mod">
          <ac:chgData name="Al Friend" userId="e5ed79da-d858-46d4-9eed-a7a24903f2de" providerId="ADAL" clId="{7537B086-0992-4C5F-A071-F6F8659556F1}" dt="2026-01-12T09:58:46.422" v="584" actId="14100"/>
          <ac:spMkLst>
            <pc:docMk/>
            <pc:sldMk cId="3739040659" sldId="894"/>
            <ac:spMk id="25" creationId="{6B8F1B0E-5AD5-4146-85BD-47A29F3B0A53}"/>
          </ac:spMkLst>
        </pc:spChg>
        <pc:spChg chg="mod">
          <ac:chgData name="Al Friend" userId="e5ed79da-d858-46d4-9eed-a7a24903f2de" providerId="ADAL" clId="{7537B086-0992-4C5F-A071-F6F8659556F1}" dt="2026-01-12T09:38:07.846" v="519" actId="14100"/>
          <ac:spMkLst>
            <pc:docMk/>
            <pc:sldMk cId="3739040659" sldId="894"/>
            <ac:spMk id="29" creationId="{F8FB1546-1B52-4F92-944F-FB89E2921207}"/>
          </ac:spMkLst>
        </pc:spChg>
        <pc:spChg chg="mod">
          <ac:chgData name="Al Friend" userId="e5ed79da-d858-46d4-9eed-a7a24903f2de" providerId="ADAL" clId="{7537B086-0992-4C5F-A071-F6F8659556F1}" dt="2026-01-12T09:38:14.011" v="521" actId="14100"/>
          <ac:spMkLst>
            <pc:docMk/>
            <pc:sldMk cId="3739040659" sldId="894"/>
            <ac:spMk id="35" creationId="{00087746-F36A-4347-9616-5F4CCF533EDD}"/>
          </ac:spMkLst>
        </pc:spChg>
        <pc:spChg chg="mod">
          <ac:chgData name="Al Friend" userId="e5ed79da-d858-46d4-9eed-a7a24903f2de" providerId="ADAL" clId="{7537B086-0992-4C5F-A071-F6F8659556F1}" dt="2026-01-12T09:58:17.875" v="568" actId="14100"/>
          <ac:spMkLst>
            <pc:docMk/>
            <pc:sldMk cId="3739040659" sldId="894"/>
            <ac:spMk id="42" creationId="{96E29D66-D360-436C-AF89-BB680EDD5EDF}"/>
          </ac:spMkLst>
        </pc:spChg>
        <pc:grpChg chg="del">
          <ac:chgData name="Al Friend" userId="e5ed79da-d858-46d4-9eed-a7a24903f2de" providerId="ADAL" clId="{7537B086-0992-4C5F-A071-F6F8659556F1}" dt="2026-01-12T09:28:58.568" v="372" actId="478"/>
          <ac:grpSpMkLst>
            <pc:docMk/>
            <pc:sldMk cId="3739040659" sldId="894"/>
            <ac:grpSpMk id="16" creationId="{BF181095-D978-47A3-6622-982A1296D1CD}"/>
          </ac:grpSpMkLst>
        </pc:grpChg>
        <pc:grpChg chg="add mod">
          <ac:chgData name="Al Friend" userId="e5ed79da-d858-46d4-9eed-a7a24903f2de" providerId="ADAL" clId="{7537B086-0992-4C5F-A071-F6F8659556F1}" dt="2026-01-12T09:35:54.914" v="419" actId="1076"/>
          <ac:grpSpMkLst>
            <pc:docMk/>
            <pc:sldMk cId="3739040659" sldId="894"/>
            <ac:grpSpMk id="18" creationId="{3BB9987A-6107-490D-B52C-8CAAA98CF371}"/>
          </ac:grpSpMkLst>
        </pc:grpChg>
        <pc:grpChg chg="add mod">
          <ac:chgData name="Al Friend" userId="e5ed79da-d858-46d4-9eed-a7a24903f2de" providerId="ADAL" clId="{7537B086-0992-4C5F-A071-F6F8659556F1}" dt="2026-01-12T15:17:06.251" v="670" actId="1037"/>
          <ac:grpSpMkLst>
            <pc:docMk/>
            <pc:sldMk cId="3739040659" sldId="894"/>
            <ac:grpSpMk id="22" creationId="{C7316428-005D-402D-8EEB-3402A215C071}"/>
          </ac:grpSpMkLst>
        </pc:grpChg>
        <pc:grpChg chg="add mod">
          <ac:chgData name="Al Friend" userId="e5ed79da-d858-46d4-9eed-a7a24903f2de" providerId="ADAL" clId="{7537B086-0992-4C5F-A071-F6F8659556F1}" dt="2026-01-12T15:17:06.251" v="670" actId="1037"/>
          <ac:grpSpMkLst>
            <pc:docMk/>
            <pc:sldMk cId="3739040659" sldId="894"/>
            <ac:grpSpMk id="26" creationId="{19D75174-A5CA-4929-9FBC-0CB13DA416CB}"/>
          </ac:grpSpMkLst>
        </pc:grpChg>
        <pc:grpChg chg="add mod">
          <ac:chgData name="Al Friend" userId="e5ed79da-d858-46d4-9eed-a7a24903f2de" providerId="ADAL" clId="{7537B086-0992-4C5F-A071-F6F8659556F1}" dt="2026-01-12T15:17:23.131" v="680" actId="1038"/>
          <ac:grpSpMkLst>
            <pc:docMk/>
            <pc:sldMk cId="3739040659" sldId="894"/>
            <ac:grpSpMk id="32" creationId="{E90030F4-B936-4A76-A772-450565C086DC}"/>
          </ac:grpSpMkLst>
        </pc:grpChg>
        <pc:grpChg chg="add mod">
          <ac:chgData name="Al Friend" userId="e5ed79da-d858-46d4-9eed-a7a24903f2de" providerId="ADAL" clId="{7537B086-0992-4C5F-A071-F6F8659556F1}" dt="2026-01-12T15:17:33.419" v="688" actId="1038"/>
          <ac:grpSpMkLst>
            <pc:docMk/>
            <pc:sldMk cId="3739040659" sldId="894"/>
            <ac:grpSpMk id="39" creationId="{E653B77E-1210-43EE-9222-E347BDC74DBE}"/>
          </ac:grpSpMkLst>
        </pc:grpChg>
        <pc:picChg chg="add mod">
          <ac:chgData name="Al Friend" userId="e5ed79da-d858-46d4-9eed-a7a24903f2de" providerId="ADAL" clId="{7537B086-0992-4C5F-A071-F6F8659556F1}" dt="2026-01-12T15:10:10.724" v="654"/>
          <ac:picMkLst>
            <pc:docMk/>
            <pc:sldMk cId="3739040659" sldId="894"/>
            <ac:picMk id="4" creationId="{8C1D1F9B-AFC7-498D-B082-EB8D8DDB68BD}"/>
          </ac:picMkLst>
        </pc:picChg>
        <pc:picChg chg="add del">
          <ac:chgData name="Al Friend" userId="e5ed79da-d858-46d4-9eed-a7a24903f2de" providerId="ADAL" clId="{7537B086-0992-4C5F-A071-F6F8659556F1}" dt="2026-01-12T09:30:52.427" v="389" actId="478"/>
          <ac:picMkLst>
            <pc:docMk/>
            <pc:sldMk cId="3739040659" sldId="894"/>
            <ac:picMk id="7" creationId="{EBD4BFA7-CB5E-45C0-9024-0E3CF1F3D133}"/>
          </ac:picMkLst>
        </pc:picChg>
        <pc:picChg chg="add del mod ord modCrop">
          <ac:chgData name="Al Friend" userId="e5ed79da-d858-46d4-9eed-a7a24903f2de" providerId="ADAL" clId="{7537B086-0992-4C5F-A071-F6F8659556F1}" dt="2026-01-12T15:07:33.422" v="626" actId="478"/>
          <ac:picMkLst>
            <pc:docMk/>
            <pc:sldMk cId="3739040659" sldId="894"/>
            <ac:picMk id="8" creationId="{AF18B919-74D7-496A-A0DF-031099F48334}"/>
          </ac:picMkLst>
        </pc:picChg>
        <pc:cxnChg chg="mod">
          <ac:chgData name="Al Friend" userId="e5ed79da-d858-46d4-9eed-a7a24903f2de" providerId="ADAL" clId="{7537B086-0992-4C5F-A071-F6F8659556F1}" dt="2026-01-12T09:58:38.716" v="582" actId="1038"/>
          <ac:cxnSpMkLst>
            <pc:docMk/>
            <pc:sldMk cId="3739040659" sldId="894"/>
            <ac:cxnSpMk id="23" creationId="{3C5E83A0-6FED-47EE-9101-1780FD393035}"/>
          </ac:cxnSpMkLst>
        </pc:cxnChg>
        <pc:cxnChg chg="mod">
          <ac:chgData name="Al Friend" userId="e5ed79da-d858-46d4-9eed-a7a24903f2de" providerId="ADAL" clId="{7537B086-0992-4C5F-A071-F6F8659556F1}" dt="2026-01-12T09:59:24.898" v="608" actId="1038"/>
          <ac:cxnSpMkLst>
            <pc:docMk/>
            <pc:sldMk cId="3739040659" sldId="894"/>
            <ac:cxnSpMk id="24" creationId="{7EC6D469-0506-45A0-827C-A9B1181B6DD4}"/>
          </ac:cxnSpMkLst>
        </pc:cxnChg>
        <pc:cxnChg chg="mod">
          <ac:chgData name="Al Friend" userId="e5ed79da-d858-46d4-9eed-a7a24903f2de" providerId="ADAL" clId="{7537B086-0992-4C5F-A071-F6F8659556F1}" dt="2026-01-12T09:36:36.925" v="437" actId="14100"/>
          <ac:cxnSpMkLst>
            <pc:docMk/>
            <pc:sldMk cId="3739040659" sldId="894"/>
            <ac:cxnSpMk id="27" creationId="{F7CB9BEC-190A-4581-BCED-C1C666114E61}"/>
          </ac:cxnSpMkLst>
        </pc:cxnChg>
        <pc:cxnChg chg="mod">
          <ac:chgData name="Al Friend" userId="e5ed79da-d858-46d4-9eed-a7a24903f2de" providerId="ADAL" clId="{7537B086-0992-4C5F-A071-F6F8659556F1}" dt="2026-01-12T09:59:15.565" v="606" actId="1037"/>
          <ac:cxnSpMkLst>
            <pc:docMk/>
            <pc:sldMk cId="3739040659" sldId="894"/>
            <ac:cxnSpMk id="28" creationId="{5AC3FF36-1D2A-41E1-B14C-C0507DF33682}"/>
          </ac:cxnSpMkLst>
        </pc:cxnChg>
        <pc:cxnChg chg="mod">
          <ac:chgData name="Al Friend" userId="e5ed79da-d858-46d4-9eed-a7a24903f2de" providerId="ADAL" clId="{7537B086-0992-4C5F-A071-F6F8659556F1}" dt="2026-01-12T09:36:50.121" v="441" actId="14100"/>
          <ac:cxnSpMkLst>
            <pc:docMk/>
            <pc:sldMk cId="3739040659" sldId="894"/>
            <ac:cxnSpMk id="33" creationId="{882D16C4-CB66-4DD9-8E2A-DB745713908F}"/>
          </ac:cxnSpMkLst>
        </pc:cxnChg>
        <pc:cxnChg chg="mod">
          <ac:chgData name="Al Friend" userId="e5ed79da-d858-46d4-9eed-a7a24903f2de" providerId="ADAL" clId="{7537B086-0992-4C5F-A071-F6F8659556F1}" dt="2026-01-12T09:38:30.315" v="524" actId="14100"/>
          <ac:cxnSpMkLst>
            <pc:docMk/>
            <pc:sldMk cId="3739040659" sldId="894"/>
            <ac:cxnSpMk id="34" creationId="{B5631C90-EBAE-475E-93F4-AE9C811DBF4B}"/>
          </ac:cxnSpMkLst>
        </pc:cxnChg>
        <pc:cxnChg chg="mod">
          <ac:chgData name="Al Friend" userId="e5ed79da-d858-46d4-9eed-a7a24903f2de" providerId="ADAL" clId="{7537B086-0992-4C5F-A071-F6F8659556F1}" dt="2026-01-12T09:37:37.925" v="472" actId="14100"/>
          <ac:cxnSpMkLst>
            <pc:docMk/>
            <pc:sldMk cId="3739040659" sldId="894"/>
            <ac:cxnSpMk id="40" creationId="{56EF5190-3D39-4234-A022-68EE2427B1A5}"/>
          </ac:cxnSpMkLst>
        </pc:cxnChg>
        <pc:cxnChg chg="mod">
          <ac:chgData name="Al Friend" userId="e5ed79da-d858-46d4-9eed-a7a24903f2de" providerId="ADAL" clId="{7537B086-0992-4C5F-A071-F6F8659556F1}" dt="2026-01-12T09:37:50.810" v="503" actId="1038"/>
          <ac:cxnSpMkLst>
            <pc:docMk/>
            <pc:sldMk cId="3739040659" sldId="894"/>
            <ac:cxnSpMk id="41" creationId="{E623CE62-5819-48A4-B9A0-481F616A91E5}"/>
          </ac:cxnSpMkLst>
        </pc:cxnChg>
      </pc:sldChg>
      <pc:sldChg chg="addSp delSp modSp add modTransition delAnim modAnim">
        <pc:chgData name="Al Friend" userId="e5ed79da-d858-46d4-9eed-a7a24903f2de" providerId="ADAL" clId="{7537B086-0992-4C5F-A071-F6F8659556F1}" dt="2026-01-12T15:09:57.820" v="650"/>
        <pc:sldMkLst>
          <pc:docMk/>
          <pc:sldMk cId="4214137901" sldId="895"/>
        </pc:sldMkLst>
        <pc:spChg chg="mod">
          <ac:chgData name="Al Friend" userId="e5ed79da-d858-46d4-9eed-a7a24903f2de" providerId="ADAL" clId="{7537B086-0992-4C5F-A071-F6F8659556F1}" dt="2026-01-12T15:08:43.709" v="648" actId="20577"/>
          <ac:spMkLst>
            <pc:docMk/>
            <pc:sldMk cId="4214137901" sldId="895"/>
            <ac:spMk id="2" creationId="{2CE87805-17F2-4B70-B505-57FB17E1FEE3}"/>
          </ac:spMkLst>
        </pc:spChg>
        <pc:spChg chg="mod">
          <ac:chgData name="Al Friend" userId="e5ed79da-d858-46d4-9eed-a7a24903f2de" providerId="ADAL" clId="{7537B086-0992-4C5F-A071-F6F8659556F1}" dt="2026-01-12T09:40:27.852" v="551" actId="20577"/>
          <ac:spMkLst>
            <pc:docMk/>
            <pc:sldMk cId="4214137901" sldId="895"/>
            <ac:spMk id="3" creationId="{E4EE7085-4C5B-409B-8843-A8A3D3CB6E90}"/>
          </ac:spMkLst>
        </pc:spChg>
        <pc:grpChg chg="del">
          <ac:chgData name="Al Friend" userId="e5ed79da-d858-46d4-9eed-a7a24903f2de" providerId="ADAL" clId="{7537B086-0992-4C5F-A071-F6F8659556F1}" dt="2026-01-12T09:40:21.894" v="546" actId="478"/>
          <ac:grpSpMkLst>
            <pc:docMk/>
            <pc:sldMk cId="4214137901" sldId="895"/>
            <ac:grpSpMk id="18" creationId="{3BB9987A-6107-490D-B52C-8CAAA98CF371}"/>
          </ac:grpSpMkLst>
        </pc:grpChg>
        <pc:grpChg chg="del">
          <ac:chgData name="Al Friend" userId="e5ed79da-d858-46d4-9eed-a7a24903f2de" providerId="ADAL" clId="{7537B086-0992-4C5F-A071-F6F8659556F1}" dt="2026-01-12T09:40:23.143" v="547" actId="478"/>
          <ac:grpSpMkLst>
            <pc:docMk/>
            <pc:sldMk cId="4214137901" sldId="895"/>
            <ac:grpSpMk id="22" creationId="{C7316428-005D-402D-8EEB-3402A215C071}"/>
          </ac:grpSpMkLst>
        </pc:grpChg>
        <pc:grpChg chg="del">
          <ac:chgData name="Al Friend" userId="e5ed79da-d858-46d4-9eed-a7a24903f2de" providerId="ADAL" clId="{7537B086-0992-4C5F-A071-F6F8659556F1}" dt="2026-01-12T09:40:23.769" v="548" actId="478"/>
          <ac:grpSpMkLst>
            <pc:docMk/>
            <pc:sldMk cId="4214137901" sldId="895"/>
            <ac:grpSpMk id="26" creationId="{19D75174-A5CA-4929-9FBC-0CB13DA416CB}"/>
          </ac:grpSpMkLst>
        </pc:grpChg>
        <pc:grpChg chg="del">
          <ac:chgData name="Al Friend" userId="e5ed79da-d858-46d4-9eed-a7a24903f2de" providerId="ADAL" clId="{7537B086-0992-4C5F-A071-F6F8659556F1}" dt="2026-01-12T09:40:24.779" v="549" actId="478"/>
          <ac:grpSpMkLst>
            <pc:docMk/>
            <pc:sldMk cId="4214137901" sldId="895"/>
            <ac:grpSpMk id="32" creationId="{E90030F4-B936-4A76-A772-450565C086DC}"/>
          </ac:grpSpMkLst>
        </pc:grpChg>
        <pc:grpChg chg="del">
          <ac:chgData name="Al Friend" userId="e5ed79da-d858-46d4-9eed-a7a24903f2de" providerId="ADAL" clId="{7537B086-0992-4C5F-A071-F6F8659556F1}" dt="2026-01-12T09:40:25.643" v="550" actId="478"/>
          <ac:grpSpMkLst>
            <pc:docMk/>
            <pc:sldMk cId="4214137901" sldId="895"/>
            <ac:grpSpMk id="39" creationId="{E653B77E-1210-43EE-9222-E347BDC74DBE}"/>
          </ac:grpSpMkLst>
        </pc:grpChg>
        <pc:picChg chg="add mod">
          <ac:chgData name="Al Friend" userId="e5ed79da-d858-46d4-9eed-a7a24903f2de" providerId="ADAL" clId="{7537B086-0992-4C5F-A071-F6F8659556F1}" dt="2026-01-12T15:09:57.820" v="650"/>
          <ac:picMkLst>
            <pc:docMk/>
            <pc:sldMk cId="4214137901" sldId="895"/>
            <ac:picMk id="5" creationId="{8640A34F-AFC9-46B7-83C9-B3616F182BE6}"/>
          </ac:picMkLst>
        </pc:picChg>
        <pc:picChg chg="del">
          <ac:chgData name="Al Friend" userId="e5ed79da-d858-46d4-9eed-a7a24903f2de" providerId="ADAL" clId="{7537B086-0992-4C5F-A071-F6F8659556F1}" dt="2026-01-12T15:07:55.486" v="630" actId="478"/>
          <ac:picMkLst>
            <pc:docMk/>
            <pc:sldMk cId="4214137901" sldId="895"/>
            <ac:picMk id="8" creationId="{AF18B919-74D7-496A-A0DF-031099F48334}"/>
          </ac:picMkLst>
        </pc:picChg>
        <pc:cxnChg chg="mod">
          <ac:chgData name="Al Friend" userId="e5ed79da-d858-46d4-9eed-a7a24903f2de" providerId="ADAL" clId="{7537B086-0992-4C5F-A071-F6F8659556F1}" dt="2026-01-12T09:40:24.779" v="549" actId="478"/>
          <ac:cxnSpMkLst>
            <pc:docMk/>
            <pc:sldMk cId="4214137901" sldId="895"/>
            <ac:cxnSpMk id="34" creationId="{B5631C90-EBAE-475E-93F4-AE9C811DBF4B}"/>
          </ac:cxnSpMkLst>
        </pc:cxnChg>
      </pc:sldChg>
      <pc:sldChg chg="modSp add ord modNotesTx">
        <pc:chgData name="Al Friend" userId="e5ed79da-d858-46d4-9eed-a7a24903f2de" providerId="ADAL" clId="{7537B086-0992-4C5F-A071-F6F8659556F1}" dt="2026-01-12T15:58:22.751" v="859" actId="6549"/>
        <pc:sldMkLst>
          <pc:docMk/>
          <pc:sldMk cId="2976992114" sldId="896"/>
        </pc:sldMkLst>
        <pc:spChg chg="mod">
          <ac:chgData name="Al Friend" userId="e5ed79da-d858-46d4-9eed-a7a24903f2de" providerId="ADAL" clId="{7537B086-0992-4C5F-A071-F6F8659556F1}" dt="2026-01-12T15:45:04.949" v="742" actId="20577"/>
          <ac:spMkLst>
            <pc:docMk/>
            <pc:sldMk cId="2976992114" sldId="896"/>
            <ac:spMk id="2" creationId="{2CE87805-17F2-4B70-B505-57FB17E1FEE3}"/>
          </ac:spMkLst>
        </pc:spChg>
        <pc:spChg chg="mod">
          <ac:chgData name="Al Friend" userId="e5ed79da-d858-46d4-9eed-a7a24903f2de" providerId="ADAL" clId="{7537B086-0992-4C5F-A071-F6F8659556F1}" dt="2026-01-12T15:45:09.936" v="745" actId="20577"/>
          <ac:spMkLst>
            <pc:docMk/>
            <pc:sldMk cId="2976992114" sldId="896"/>
            <ac:spMk id="3" creationId="{E4EE7085-4C5B-409B-8843-A8A3D3CB6E90}"/>
          </ac:spMkLst>
        </pc:spChg>
      </pc:sldChg>
      <pc:sldChg chg="modSp add ord">
        <pc:chgData name="Al Friend" userId="e5ed79da-d858-46d4-9eed-a7a24903f2de" providerId="ADAL" clId="{7537B086-0992-4C5F-A071-F6F8659556F1}" dt="2026-01-12T15:45:31.986" v="753"/>
        <pc:sldMkLst>
          <pc:docMk/>
          <pc:sldMk cId="3497065734" sldId="897"/>
        </pc:sldMkLst>
        <pc:spChg chg="mod">
          <ac:chgData name="Al Friend" userId="e5ed79da-d858-46d4-9eed-a7a24903f2de" providerId="ADAL" clId="{7537B086-0992-4C5F-A071-F6F8659556F1}" dt="2026-01-12T15:45:23.094" v="749" actId="20577"/>
          <ac:spMkLst>
            <pc:docMk/>
            <pc:sldMk cId="3497065734" sldId="897"/>
            <ac:spMk id="2" creationId="{2CE87805-17F2-4B70-B505-57FB17E1FEE3}"/>
          </ac:spMkLst>
        </pc:spChg>
        <pc:spChg chg="mod">
          <ac:chgData name="Al Friend" userId="e5ed79da-d858-46d4-9eed-a7a24903f2de" providerId="ADAL" clId="{7537B086-0992-4C5F-A071-F6F8659556F1}" dt="2026-01-12T15:45:27.079" v="752" actId="20577"/>
          <ac:spMkLst>
            <pc:docMk/>
            <pc:sldMk cId="3497065734" sldId="897"/>
            <ac:spMk id="3" creationId="{E4EE7085-4C5B-409B-8843-A8A3D3CB6E90}"/>
          </ac:spMkLst>
        </pc:spChg>
      </pc:sldChg>
      <pc:sldChg chg="addSp modSp add ord modAnim modNotesTx">
        <pc:chgData name="Al Friend" userId="e5ed79da-d858-46d4-9eed-a7a24903f2de" providerId="ADAL" clId="{7537B086-0992-4C5F-A071-F6F8659556F1}" dt="2026-01-12T15:58:10.741" v="858" actId="6549"/>
        <pc:sldMkLst>
          <pc:docMk/>
          <pc:sldMk cId="3988729821" sldId="898"/>
        </pc:sldMkLst>
        <pc:spChg chg="mod">
          <ac:chgData name="Al Friend" userId="e5ed79da-d858-46d4-9eed-a7a24903f2de" providerId="ADAL" clId="{7537B086-0992-4C5F-A071-F6F8659556F1}" dt="2026-01-12T15:47:02.668" v="761" actId="20577"/>
          <ac:spMkLst>
            <pc:docMk/>
            <pc:sldMk cId="3988729821" sldId="898"/>
            <ac:spMk id="2" creationId="{2CE87805-17F2-4B70-B505-57FB17E1FEE3}"/>
          </ac:spMkLst>
        </pc:spChg>
        <pc:spChg chg="mod">
          <ac:chgData name="Al Friend" userId="e5ed79da-d858-46d4-9eed-a7a24903f2de" providerId="ADAL" clId="{7537B086-0992-4C5F-A071-F6F8659556F1}" dt="2026-01-12T15:52:47.382" v="827" actId="20577"/>
          <ac:spMkLst>
            <pc:docMk/>
            <pc:sldMk cId="3988729821" sldId="898"/>
            <ac:spMk id="3" creationId="{E4EE7085-4C5B-409B-8843-A8A3D3CB6E90}"/>
          </ac:spMkLst>
        </pc:spChg>
        <pc:spChg chg="add mod">
          <ac:chgData name="Al Friend" userId="e5ed79da-d858-46d4-9eed-a7a24903f2de" providerId="ADAL" clId="{7537B086-0992-4C5F-A071-F6F8659556F1}" dt="2026-01-12T15:54:20.962" v="841" actId="164"/>
          <ac:spMkLst>
            <pc:docMk/>
            <pc:sldMk cId="3988729821" sldId="898"/>
            <ac:spMk id="4" creationId="{30E87908-1EAB-4528-8776-4B1B0F4F6DF3}"/>
          </ac:spMkLst>
        </pc:spChg>
        <pc:spChg chg="add mod">
          <ac:chgData name="Al Friend" userId="e5ed79da-d858-46d4-9eed-a7a24903f2de" providerId="ADAL" clId="{7537B086-0992-4C5F-A071-F6F8659556F1}" dt="2026-01-12T15:54:20.962" v="841" actId="164"/>
          <ac:spMkLst>
            <pc:docMk/>
            <pc:sldMk cId="3988729821" sldId="898"/>
            <ac:spMk id="5" creationId="{3A2C89A4-6DE3-4DAB-AF80-8A8E82E7F79A}"/>
          </ac:spMkLst>
        </pc:spChg>
        <pc:grpChg chg="add mod">
          <ac:chgData name="Al Friend" userId="e5ed79da-d858-46d4-9eed-a7a24903f2de" providerId="ADAL" clId="{7537B086-0992-4C5F-A071-F6F8659556F1}" dt="2026-01-12T15:54:39.353" v="854" actId="1038"/>
          <ac:grpSpMkLst>
            <pc:docMk/>
            <pc:sldMk cId="3988729821" sldId="898"/>
            <ac:grpSpMk id="6" creationId="{B8534C20-C1CB-4A7A-B7AC-6BB11132EE15}"/>
          </ac:grpSpMkLst>
        </pc:grpChg>
      </pc:sldChg>
      <pc:sldChg chg="addSp delSp modSp add modTransition modAnim modNotesTx">
        <pc:chgData name="Al Friend" userId="e5ed79da-d858-46d4-9eed-a7a24903f2de" providerId="ADAL" clId="{7537B086-0992-4C5F-A071-F6F8659556F1}" dt="2026-01-12T15:58:06.858" v="857" actId="6549"/>
        <pc:sldMkLst>
          <pc:docMk/>
          <pc:sldMk cId="762284221" sldId="899"/>
        </pc:sldMkLst>
        <pc:spChg chg="mod">
          <ac:chgData name="Al Friend" userId="e5ed79da-d858-46d4-9eed-a7a24903f2de" providerId="ADAL" clId="{7537B086-0992-4C5F-A071-F6F8659556F1}" dt="2026-01-12T15:49:10.706" v="787"/>
          <ac:spMkLst>
            <pc:docMk/>
            <pc:sldMk cId="762284221" sldId="899"/>
            <ac:spMk id="2" creationId="{2CE87805-17F2-4B70-B505-57FB17E1FEE3}"/>
          </ac:spMkLst>
        </pc:spChg>
        <pc:spChg chg="mod">
          <ac:chgData name="Al Friend" userId="e5ed79da-d858-46d4-9eed-a7a24903f2de" providerId="ADAL" clId="{7537B086-0992-4C5F-A071-F6F8659556F1}" dt="2026-01-12T15:49:06.336" v="786" actId="20577"/>
          <ac:spMkLst>
            <pc:docMk/>
            <pc:sldMk cId="762284221" sldId="899"/>
            <ac:spMk id="3" creationId="{E4EE7085-4C5B-409B-8843-A8A3D3CB6E90}"/>
          </ac:spMkLst>
        </pc:spChg>
        <pc:spChg chg="add del mod">
          <ac:chgData name="Al Friend" userId="e5ed79da-d858-46d4-9eed-a7a24903f2de" providerId="ADAL" clId="{7537B086-0992-4C5F-A071-F6F8659556F1}" dt="2026-01-12T15:52:58.273" v="829" actId="478"/>
          <ac:spMkLst>
            <pc:docMk/>
            <pc:sldMk cId="762284221" sldId="899"/>
            <ac:spMk id="4" creationId="{36174EB3-C374-4108-A98C-D8D22CD036E6}"/>
          </ac:spMkLst>
        </pc:spChg>
        <pc:spChg chg="add">
          <ac:chgData name="Al Friend" userId="e5ed79da-d858-46d4-9eed-a7a24903f2de" providerId="ADAL" clId="{7537B086-0992-4C5F-A071-F6F8659556F1}" dt="2026-01-12T15:57:00.682" v="856"/>
          <ac:spMkLst>
            <pc:docMk/>
            <pc:sldMk cId="762284221" sldId="899"/>
            <ac:spMk id="6" creationId="{1350B37A-7342-47C8-B677-C965C745D8E8}"/>
          </ac:spMkLst>
        </pc:spChg>
        <pc:spChg chg="del">
          <ac:chgData name="Al Friend" userId="e5ed79da-d858-46d4-9eed-a7a24903f2de" providerId="ADAL" clId="{7537B086-0992-4C5F-A071-F6F8659556F1}" dt="2026-01-12T15:57:00.189" v="855" actId="478"/>
          <ac:spMkLst>
            <pc:docMk/>
            <pc:sldMk cId="762284221" sldId="899"/>
            <ac:spMk id="12" creationId="{AF313AC3-2051-D946-A4BD-CB8D61AE849C}"/>
          </ac:spMkLst>
        </pc:spChg>
      </pc:sldChg>
      <pc:sldMasterChg chg="modSldLayout">
        <pc:chgData name="Al Friend" userId="e5ed79da-d858-46d4-9eed-a7a24903f2de" providerId="ADAL" clId="{7537B086-0992-4C5F-A071-F6F8659556F1}" dt="2026-01-09T10:10:17.631" v="157" actId="403"/>
        <pc:sldMasterMkLst>
          <pc:docMk/>
          <pc:sldMasterMk cId="3492412801" sldId="2147483648"/>
        </pc:sldMasterMkLst>
        <pc:sldLayoutChg chg="modSp">
          <pc:chgData name="Al Friend" userId="e5ed79da-d858-46d4-9eed-a7a24903f2de" providerId="ADAL" clId="{7537B086-0992-4C5F-A071-F6F8659556F1}" dt="2026-01-08T09:16:15.128" v="82" actId="403"/>
          <pc:sldLayoutMkLst>
            <pc:docMk/>
            <pc:sldMasterMk cId="3492412801" sldId="2147483648"/>
            <pc:sldLayoutMk cId="1983201955" sldId="2147483649"/>
          </pc:sldLayoutMkLst>
          <pc:spChg chg="mod">
            <ac:chgData name="Al Friend" userId="e5ed79da-d858-46d4-9eed-a7a24903f2de" providerId="ADAL" clId="{7537B086-0992-4C5F-A071-F6F8659556F1}" dt="2026-01-08T09:16:15.128" v="82" actId="403"/>
            <ac:spMkLst>
              <pc:docMk/>
              <pc:sldMasterMk cId="3492412801" sldId="2147483648"/>
              <pc:sldLayoutMk cId="1983201955" sldId="2147483649"/>
              <ac:spMk id="3" creationId="{DF3D860D-1211-4E26-A35E-A80BC376E9A1}"/>
            </ac:spMkLst>
          </pc:spChg>
        </pc:sldLayoutChg>
        <pc:sldLayoutChg chg="modSp">
          <pc:chgData name="Al Friend" userId="e5ed79da-d858-46d4-9eed-a7a24903f2de" providerId="ADAL" clId="{7537B086-0992-4C5F-A071-F6F8659556F1}" dt="2026-01-08T08:58:12.277" v="0" actId="403"/>
          <pc:sldLayoutMkLst>
            <pc:docMk/>
            <pc:sldMasterMk cId="3492412801" sldId="2147483648"/>
            <pc:sldLayoutMk cId="4028972730" sldId="2147483650"/>
          </pc:sldLayoutMkLst>
          <pc:spChg chg="mod">
            <ac:chgData name="Al Friend" userId="e5ed79da-d858-46d4-9eed-a7a24903f2de" providerId="ADAL" clId="{7537B086-0992-4C5F-A071-F6F8659556F1}" dt="2026-01-08T08:58:12.277" v="0" actId="403"/>
            <ac:spMkLst>
              <pc:docMk/>
              <pc:sldMasterMk cId="3492412801" sldId="2147483648"/>
              <pc:sldLayoutMk cId="4028972730" sldId="2147483650"/>
              <ac:spMk id="3" creationId="{4DBFEDAD-10D4-47B6-8F35-0155F7D63DF8}"/>
            </ac:spMkLst>
          </pc:spChg>
        </pc:sldLayoutChg>
        <pc:sldLayoutChg chg="modSp">
          <pc:chgData name="Al Friend" userId="e5ed79da-d858-46d4-9eed-a7a24903f2de" providerId="ADAL" clId="{7537B086-0992-4C5F-A071-F6F8659556F1}" dt="2026-01-09T10:10:17.631" v="157" actId="403"/>
          <pc:sldLayoutMkLst>
            <pc:docMk/>
            <pc:sldMasterMk cId="3492412801" sldId="2147483648"/>
            <pc:sldLayoutMk cId="3274567511" sldId="2147483651"/>
          </pc:sldLayoutMkLst>
          <pc:spChg chg="mod">
            <ac:chgData name="Al Friend" userId="e5ed79da-d858-46d4-9eed-a7a24903f2de" providerId="ADAL" clId="{7537B086-0992-4C5F-A071-F6F8659556F1}" dt="2026-01-09T10:10:17.631" v="157" actId="403"/>
            <ac:spMkLst>
              <pc:docMk/>
              <pc:sldMasterMk cId="3492412801" sldId="2147483648"/>
              <pc:sldLayoutMk cId="3274567511" sldId="2147483651"/>
              <ac:spMk id="3" creationId="{EC8DA602-023E-4AF2-8A02-5ED3BE4E1C63}"/>
            </ac:spMkLst>
          </pc:spChg>
        </pc:sldLayoutChg>
      </pc:sldMasterChg>
    </pc:docChg>
  </pc:docChgLst>
  <pc:docChgLst>
    <pc:chgData name="Al Friend" userId="e5ed79da-d858-46d4-9eed-a7a24903f2de" providerId="ADAL" clId="{8EE75906-5173-4B3D-81F1-C9888A5A8C46}"/>
    <pc:docChg chg="modSld sldOrd modSection">
      <pc:chgData name="Al Friend" userId="e5ed79da-d858-46d4-9eed-a7a24903f2de" providerId="ADAL" clId="{8EE75906-5173-4B3D-81F1-C9888A5A8C46}" dt="2026-01-04T11:16:34.028" v="7"/>
      <pc:docMkLst>
        <pc:docMk/>
      </pc:docMkLst>
      <pc:sldChg chg="ord">
        <pc:chgData name="Al Friend" userId="e5ed79da-d858-46d4-9eed-a7a24903f2de" providerId="ADAL" clId="{8EE75906-5173-4B3D-81F1-C9888A5A8C46}" dt="2026-01-04T11:16:34.028" v="7"/>
        <pc:sldMkLst>
          <pc:docMk/>
          <pc:sldMk cId="3436463184" sldId="260"/>
        </pc:sldMkLst>
      </pc:sldChg>
      <pc:sldChg chg="ord">
        <pc:chgData name="Al Friend" userId="e5ed79da-d858-46d4-9eed-a7a24903f2de" providerId="ADAL" clId="{8EE75906-5173-4B3D-81F1-C9888A5A8C46}" dt="2026-01-04T11:16:34.028" v="7"/>
        <pc:sldMkLst>
          <pc:docMk/>
          <pc:sldMk cId="3817082245" sldId="658"/>
        </pc:sldMkLst>
      </pc:sldChg>
      <pc:sldChg chg="ord">
        <pc:chgData name="Al Friend" userId="e5ed79da-d858-46d4-9eed-a7a24903f2de" providerId="ADAL" clId="{8EE75906-5173-4B3D-81F1-C9888A5A8C46}" dt="2026-01-04T11:16:34.028" v="7"/>
        <pc:sldMkLst>
          <pc:docMk/>
          <pc:sldMk cId="861823585" sldId="661"/>
        </pc:sldMkLst>
      </pc:sldChg>
      <pc:sldChg chg="modSp mod">
        <pc:chgData name="Al Friend" userId="e5ed79da-d858-46d4-9eed-a7a24903f2de" providerId="ADAL" clId="{8EE75906-5173-4B3D-81F1-C9888A5A8C46}" dt="2026-01-03T12:11:11.321" v="1" actId="20577"/>
        <pc:sldMkLst>
          <pc:docMk/>
          <pc:sldMk cId="1265154754" sldId="689"/>
        </pc:sldMkLst>
        <pc:spChg chg="mod">
          <ac:chgData name="Al Friend" userId="e5ed79da-d858-46d4-9eed-a7a24903f2de" providerId="ADAL" clId="{8EE75906-5173-4B3D-81F1-C9888A5A8C46}" dt="2026-01-03T12:11:11.321" v="1" actId="20577"/>
          <ac:spMkLst>
            <pc:docMk/>
            <pc:sldMk cId="1265154754" sldId="689"/>
            <ac:spMk id="3" creationId="{141DFD40-5B60-02A6-A1F0-71163A85F354}"/>
          </ac:spMkLst>
        </pc:spChg>
      </pc:sldChg>
    </pc:docChg>
  </pc:docChgLst>
</pc:chgInfo>
</file>

<file path=ppt/diagrams/colors1.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AADFB80D-C2E8-416C-B522-D5F6D93F18D7}" type="doc">
      <dgm:prSet loTypeId="urn:microsoft.com/office/officeart/2005/8/layout/chevron2" loCatId="list" qsTypeId="urn:microsoft.com/office/officeart/2005/8/quickstyle/simple1" qsCatId="simple" csTypeId="urn:microsoft.com/office/officeart/2005/8/colors/accent1_2" csCatId="accent1" phldr="1"/>
      <dgm:spPr/>
      <dgm:t>
        <a:bodyPr/>
        <a:lstStyle/>
        <a:p>
          <a:endParaRPr lang="en-US"/>
        </a:p>
      </dgm:t>
    </dgm:pt>
    <dgm:pt modelId="{13A3E740-D063-442F-85E3-8C13FFBDAFFB}">
      <dgm:prSet phldrT="[Text]"/>
      <dgm:spPr/>
      <dgm:t>
        <a:bodyPr/>
        <a:lstStyle/>
        <a:p>
          <a:r>
            <a:rPr lang="en-US" dirty="0"/>
            <a:t>SDD</a:t>
          </a:r>
        </a:p>
      </dgm:t>
    </dgm:pt>
    <dgm:pt modelId="{055E1BD7-FB8E-4E56-9F39-EF9F6386A053}" type="parTrans" cxnId="{1B5B31EC-2D9A-481F-92B4-9BD3DD315797}">
      <dgm:prSet/>
      <dgm:spPr/>
      <dgm:t>
        <a:bodyPr/>
        <a:lstStyle/>
        <a:p>
          <a:endParaRPr lang="en-US"/>
        </a:p>
      </dgm:t>
    </dgm:pt>
    <dgm:pt modelId="{87670CDC-835B-4F9F-927F-1317C8E87F86}" type="sibTrans" cxnId="{1B5B31EC-2D9A-481F-92B4-9BD3DD315797}">
      <dgm:prSet/>
      <dgm:spPr/>
      <dgm:t>
        <a:bodyPr/>
        <a:lstStyle/>
        <a:p>
          <a:endParaRPr lang="en-US"/>
        </a:p>
      </dgm:t>
    </dgm:pt>
    <dgm:pt modelId="{AC2B0C85-A34A-449C-BDB1-A298878DE704}">
      <dgm:prSet phldrT="[Text]"/>
      <dgm:spPr/>
      <dgm:t>
        <a:bodyPr/>
        <a:lstStyle/>
        <a:p>
          <a:r>
            <a:rPr lang="en-US" dirty="0"/>
            <a:t>Software Design and Development (40%)</a:t>
          </a:r>
        </a:p>
      </dgm:t>
    </dgm:pt>
    <dgm:pt modelId="{E5225F41-044B-4F7C-A813-74912B7609F7}" type="parTrans" cxnId="{A2F04726-03B2-41D7-AC39-4EB0FD25F0DB}">
      <dgm:prSet/>
      <dgm:spPr/>
      <dgm:t>
        <a:bodyPr/>
        <a:lstStyle/>
        <a:p>
          <a:endParaRPr lang="en-US"/>
        </a:p>
      </dgm:t>
    </dgm:pt>
    <dgm:pt modelId="{C96E9F27-EE7F-4F89-BD19-DC4C6EA4193D}" type="sibTrans" cxnId="{A2F04726-03B2-41D7-AC39-4EB0FD25F0DB}">
      <dgm:prSet/>
      <dgm:spPr/>
      <dgm:t>
        <a:bodyPr/>
        <a:lstStyle/>
        <a:p>
          <a:endParaRPr lang="en-US"/>
        </a:p>
      </dgm:t>
    </dgm:pt>
    <dgm:pt modelId="{711BDD39-3FCE-427A-B0DC-2C28CEED9EDF}">
      <dgm:prSet phldrT="[Text]"/>
      <dgm:spPr/>
      <dgm:t>
        <a:bodyPr/>
        <a:lstStyle/>
        <a:p>
          <a:r>
            <a:rPr lang="en-US" dirty="0"/>
            <a:t>DDD</a:t>
          </a:r>
        </a:p>
      </dgm:t>
    </dgm:pt>
    <dgm:pt modelId="{2D0B9227-5F25-49F4-84E9-F7E211C285CA}" type="parTrans" cxnId="{07BC019F-EA5F-4290-A7F2-F044F5CF5F67}">
      <dgm:prSet/>
      <dgm:spPr/>
      <dgm:t>
        <a:bodyPr/>
        <a:lstStyle/>
        <a:p>
          <a:endParaRPr lang="en-US"/>
        </a:p>
      </dgm:t>
    </dgm:pt>
    <dgm:pt modelId="{56806687-EA3D-424E-8880-B9427A94FF7E}" type="sibTrans" cxnId="{07BC019F-EA5F-4290-A7F2-F044F5CF5F67}">
      <dgm:prSet/>
      <dgm:spPr/>
      <dgm:t>
        <a:bodyPr/>
        <a:lstStyle/>
        <a:p>
          <a:endParaRPr lang="en-US"/>
        </a:p>
      </dgm:t>
    </dgm:pt>
    <dgm:pt modelId="{856C5D97-053A-4768-924C-7BBED1694139}">
      <dgm:prSet phldrT="[Text]"/>
      <dgm:spPr/>
      <dgm:t>
        <a:bodyPr/>
        <a:lstStyle/>
        <a:p>
          <a:r>
            <a:rPr lang="en-US" dirty="0"/>
            <a:t>Database Design and Development (25%)</a:t>
          </a:r>
        </a:p>
      </dgm:t>
    </dgm:pt>
    <dgm:pt modelId="{5882EAA0-9B73-4D58-9B28-101A1A118DA7}" type="parTrans" cxnId="{5ED434D9-CD48-4632-9238-0AD1DC8B7F67}">
      <dgm:prSet/>
      <dgm:spPr/>
      <dgm:t>
        <a:bodyPr/>
        <a:lstStyle/>
        <a:p>
          <a:endParaRPr lang="en-US"/>
        </a:p>
      </dgm:t>
    </dgm:pt>
    <dgm:pt modelId="{FB282A4C-1B09-4A3E-BA59-953ECF9E16C0}" type="sibTrans" cxnId="{5ED434D9-CD48-4632-9238-0AD1DC8B7F67}">
      <dgm:prSet/>
      <dgm:spPr/>
      <dgm:t>
        <a:bodyPr/>
        <a:lstStyle/>
        <a:p>
          <a:endParaRPr lang="en-US"/>
        </a:p>
      </dgm:t>
    </dgm:pt>
    <dgm:pt modelId="{4C2AC2DB-DA7B-4EE8-A271-F42910EF38FA}">
      <dgm:prSet phldrT="[Text]"/>
      <dgm:spPr/>
      <dgm:t>
        <a:bodyPr/>
        <a:lstStyle/>
        <a:p>
          <a:r>
            <a:rPr lang="en-US" dirty="0"/>
            <a:t>WDD</a:t>
          </a:r>
        </a:p>
      </dgm:t>
    </dgm:pt>
    <dgm:pt modelId="{4DCD8EEA-C4AA-404D-A26F-F433BB0189EA}" type="parTrans" cxnId="{F4016BC7-2E72-4F45-A906-6E7F3BDA4E2F}">
      <dgm:prSet/>
      <dgm:spPr/>
      <dgm:t>
        <a:bodyPr/>
        <a:lstStyle/>
        <a:p>
          <a:endParaRPr lang="en-US"/>
        </a:p>
      </dgm:t>
    </dgm:pt>
    <dgm:pt modelId="{E3247148-B6B0-4C23-B610-041B2044E035}" type="sibTrans" cxnId="{F4016BC7-2E72-4F45-A906-6E7F3BDA4E2F}">
      <dgm:prSet/>
      <dgm:spPr/>
      <dgm:t>
        <a:bodyPr/>
        <a:lstStyle/>
        <a:p>
          <a:endParaRPr lang="en-US"/>
        </a:p>
      </dgm:t>
    </dgm:pt>
    <dgm:pt modelId="{6F17941D-CCAD-4AF8-9198-4E8B5F9AEDC2}">
      <dgm:prSet phldrT="[Text]"/>
      <dgm:spPr/>
      <dgm:t>
        <a:bodyPr/>
        <a:lstStyle/>
        <a:p>
          <a:r>
            <a:rPr lang="en-US" dirty="0"/>
            <a:t>Web Design and Development (25%)</a:t>
          </a:r>
        </a:p>
      </dgm:t>
    </dgm:pt>
    <dgm:pt modelId="{6A62EC5C-257B-4078-AC75-009164CBD245}" type="parTrans" cxnId="{9A2AE9EC-1703-4071-9D5B-2F76EC9F4AA5}">
      <dgm:prSet/>
      <dgm:spPr/>
      <dgm:t>
        <a:bodyPr/>
        <a:lstStyle/>
        <a:p>
          <a:endParaRPr lang="en-US"/>
        </a:p>
      </dgm:t>
    </dgm:pt>
    <dgm:pt modelId="{6908D1C2-C5D8-437D-AE20-3870EC3D4B13}" type="sibTrans" cxnId="{9A2AE9EC-1703-4071-9D5B-2F76EC9F4AA5}">
      <dgm:prSet/>
      <dgm:spPr/>
      <dgm:t>
        <a:bodyPr/>
        <a:lstStyle/>
        <a:p>
          <a:endParaRPr lang="en-US"/>
        </a:p>
      </dgm:t>
    </dgm:pt>
    <dgm:pt modelId="{E2BA0B41-F146-425E-9754-1E81B83EDF8B}">
      <dgm:prSet phldrT="[Text]"/>
      <dgm:spPr/>
      <dgm:t>
        <a:bodyPr/>
        <a:lstStyle/>
        <a:p>
          <a:r>
            <a:rPr lang="en-US" dirty="0"/>
            <a:t>Computer Systems (10%)</a:t>
          </a:r>
        </a:p>
      </dgm:t>
    </dgm:pt>
    <dgm:pt modelId="{09E005FD-F987-4EBD-9D26-CE4C06669AB5}" type="parTrans" cxnId="{56AEC75D-06D3-4BA4-8933-FE1A0F7AE162}">
      <dgm:prSet/>
      <dgm:spPr/>
      <dgm:t>
        <a:bodyPr/>
        <a:lstStyle/>
        <a:p>
          <a:endParaRPr lang="en-US"/>
        </a:p>
      </dgm:t>
    </dgm:pt>
    <dgm:pt modelId="{017B98FE-F345-4459-B767-E6B696310854}" type="sibTrans" cxnId="{56AEC75D-06D3-4BA4-8933-FE1A0F7AE162}">
      <dgm:prSet/>
      <dgm:spPr/>
      <dgm:t>
        <a:bodyPr/>
        <a:lstStyle/>
        <a:p>
          <a:endParaRPr lang="en-US"/>
        </a:p>
      </dgm:t>
    </dgm:pt>
    <dgm:pt modelId="{4A3955F4-B1A6-4812-98ED-2D6D02D94E35}">
      <dgm:prSet phldrT="[Text]"/>
      <dgm:spPr/>
      <dgm:t>
        <a:bodyPr/>
        <a:lstStyle/>
        <a:p>
          <a:r>
            <a:rPr lang="en-US" dirty="0"/>
            <a:t>Sys</a:t>
          </a:r>
          <a:endParaRPr lang="en-US" b="1" dirty="0"/>
        </a:p>
      </dgm:t>
    </dgm:pt>
    <dgm:pt modelId="{10EB35A1-EA5F-40EF-95CA-BDAB4D957484}" type="sibTrans" cxnId="{7E5A0596-4D16-4207-B5F3-C2FD778C5412}">
      <dgm:prSet/>
      <dgm:spPr/>
      <dgm:t>
        <a:bodyPr/>
        <a:lstStyle/>
        <a:p>
          <a:endParaRPr lang="en-US"/>
        </a:p>
      </dgm:t>
    </dgm:pt>
    <dgm:pt modelId="{1EF809BA-BB9B-41F6-9A35-2C78CE3A0913}" type="parTrans" cxnId="{7E5A0596-4D16-4207-B5F3-C2FD778C5412}">
      <dgm:prSet/>
      <dgm:spPr/>
      <dgm:t>
        <a:bodyPr/>
        <a:lstStyle/>
        <a:p>
          <a:endParaRPr lang="en-US"/>
        </a:p>
      </dgm:t>
    </dgm:pt>
    <dgm:pt modelId="{7EBBDEE6-A55E-47FA-9020-5BC46200AFFC}" type="pres">
      <dgm:prSet presAssocID="{AADFB80D-C2E8-416C-B522-D5F6D93F18D7}" presName="linearFlow" presStyleCnt="0">
        <dgm:presLayoutVars>
          <dgm:dir/>
          <dgm:animLvl val="lvl"/>
          <dgm:resizeHandles val="exact"/>
        </dgm:presLayoutVars>
      </dgm:prSet>
      <dgm:spPr/>
    </dgm:pt>
    <dgm:pt modelId="{C2DD6752-EEDA-4174-9D58-1EADF09490B5}" type="pres">
      <dgm:prSet presAssocID="{13A3E740-D063-442F-85E3-8C13FFBDAFFB}" presName="composite" presStyleCnt="0"/>
      <dgm:spPr/>
    </dgm:pt>
    <dgm:pt modelId="{DFA48299-B840-4714-A5F6-769C74D74113}" type="pres">
      <dgm:prSet presAssocID="{13A3E740-D063-442F-85E3-8C13FFBDAFFB}" presName="parentText" presStyleLbl="alignNode1" presStyleIdx="0" presStyleCnt="4">
        <dgm:presLayoutVars>
          <dgm:chMax val="1"/>
          <dgm:bulletEnabled val="1"/>
        </dgm:presLayoutVars>
      </dgm:prSet>
      <dgm:spPr/>
    </dgm:pt>
    <dgm:pt modelId="{19C32B8D-512E-49A1-A0E6-109384C61E4D}" type="pres">
      <dgm:prSet presAssocID="{13A3E740-D063-442F-85E3-8C13FFBDAFFB}" presName="descendantText" presStyleLbl="alignAcc1" presStyleIdx="0" presStyleCnt="4">
        <dgm:presLayoutVars>
          <dgm:bulletEnabled val="1"/>
        </dgm:presLayoutVars>
      </dgm:prSet>
      <dgm:spPr/>
    </dgm:pt>
    <dgm:pt modelId="{EB6649E3-7C43-464A-A458-4DE8A2D95277}" type="pres">
      <dgm:prSet presAssocID="{87670CDC-835B-4F9F-927F-1317C8E87F86}" presName="sp" presStyleCnt="0"/>
      <dgm:spPr/>
    </dgm:pt>
    <dgm:pt modelId="{B03EC7DE-1F17-45FD-8EC4-5657CB3CA06B}" type="pres">
      <dgm:prSet presAssocID="{711BDD39-3FCE-427A-B0DC-2C28CEED9EDF}" presName="composite" presStyleCnt="0"/>
      <dgm:spPr/>
    </dgm:pt>
    <dgm:pt modelId="{AAD30B60-88C6-4919-B6DD-9F480459E84E}" type="pres">
      <dgm:prSet presAssocID="{711BDD39-3FCE-427A-B0DC-2C28CEED9EDF}" presName="parentText" presStyleLbl="alignNode1" presStyleIdx="1" presStyleCnt="4">
        <dgm:presLayoutVars>
          <dgm:chMax val="1"/>
          <dgm:bulletEnabled val="1"/>
        </dgm:presLayoutVars>
      </dgm:prSet>
      <dgm:spPr/>
    </dgm:pt>
    <dgm:pt modelId="{0DFDFC6D-8604-4378-B6A3-6A6720006C95}" type="pres">
      <dgm:prSet presAssocID="{711BDD39-3FCE-427A-B0DC-2C28CEED9EDF}" presName="descendantText" presStyleLbl="alignAcc1" presStyleIdx="1" presStyleCnt="4">
        <dgm:presLayoutVars>
          <dgm:bulletEnabled val="1"/>
        </dgm:presLayoutVars>
      </dgm:prSet>
      <dgm:spPr/>
    </dgm:pt>
    <dgm:pt modelId="{8738B044-A46F-4E69-BD1E-16537D77F816}" type="pres">
      <dgm:prSet presAssocID="{56806687-EA3D-424E-8880-B9427A94FF7E}" presName="sp" presStyleCnt="0"/>
      <dgm:spPr/>
    </dgm:pt>
    <dgm:pt modelId="{D4F01D1E-88B7-466D-B76A-F726FF7DE3F8}" type="pres">
      <dgm:prSet presAssocID="{4C2AC2DB-DA7B-4EE8-A271-F42910EF38FA}" presName="composite" presStyleCnt="0"/>
      <dgm:spPr/>
    </dgm:pt>
    <dgm:pt modelId="{3451A250-69C4-4911-A975-CCB8D5F6053B}" type="pres">
      <dgm:prSet presAssocID="{4C2AC2DB-DA7B-4EE8-A271-F42910EF38FA}" presName="parentText" presStyleLbl="alignNode1" presStyleIdx="2" presStyleCnt="4">
        <dgm:presLayoutVars>
          <dgm:chMax val="1"/>
          <dgm:bulletEnabled val="1"/>
        </dgm:presLayoutVars>
      </dgm:prSet>
      <dgm:spPr/>
    </dgm:pt>
    <dgm:pt modelId="{56AFEC8A-7D45-4965-A718-64DE087BA59E}" type="pres">
      <dgm:prSet presAssocID="{4C2AC2DB-DA7B-4EE8-A271-F42910EF38FA}" presName="descendantText" presStyleLbl="alignAcc1" presStyleIdx="2" presStyleCnt="4">
        <dgm:presLayoutVars>
          <dgm:bulletEnabled val="1"/>
        </dgm:presLayoutVars>
      </dgm:prSet>
      <dgm:spPr/>
    </dgm:pt>
    <dgm:pt modelId="{E061B53C-41F2-4FB1-8AB8-871078ECF09F}" type="pres">
      <dgm:prSet presAssocID="{E3247148-B6B0-4C23-B610-041B2044E035}" presName="sp" presStyleCnt="0"/>
      <dgm:spPr/>
    </dgm:pt>
    <dgm:pt modelId="{89371C0B-1BC9-410A-A890-27274727CC89}" type="pres">
      <dgm:prSet presAssocID="{4A3955F4-B1A6-4812-98ED-2D6D02D94E35}" presName="composite" presStyleCnt="0"/>
      <dgm:spPr/>
    </dgm:pt>
    <dgm:pt modelId="{FC3BC805-9B18-48D9-A4F4-4BE17D54A28E}" type="pres">
      <dgm:prSet presAssocID="{4A3955F4-B1A6-4812-98ED-2D6D02D94E35}" presName="parentText" presStyleLbl="alignNode1" presStyleIdx="3" presStyleCnt="4">
        <dgm:presLayoutVars>
          <dgm:chMax val="1"/>
          <dgm:bulletEnabled val="1"/>
        </dgm:presLayoutVars>
      </dgm:prSet>
      <dgm:spPr/>
    </dgm:pt>
    <dgm:pt modelId="{DEB3B5C2-DCC9-444C-A40C-E0CEA06D8FF2}" type="pres">
      <dgm:prSet presAssocID="{4A3955F4-B1A6-4812-98ED-2D6D02D94E35}" presName="descendantText" presStyleLbl="alignAcc1" presStyleIdx="3" presStyleCnt="4">
        <dgm:presLayoutVars>
          <dgm:bulletEnabled val="1"/>
        </dgm:presLayoutVars>
      </dgm:prSet>
      <dgm:spPr/>
    </dgm:pt>
  </dgm:ptLst>
  <dgm:cxnLst>
    <dgm:cxn modelId="{B5BAA509-F012-4E82-9E50-DD70E5E7F1B2}" type="presOf" srcId="{AADFB80D-C2E8-416C-B522-D5F6D93F18D7}" destId="{7EBBDEE6-A55E-47FA-9020-5BC46200AFFC}" srcOrd="0" destOrd="0" presId="urn:microsoft.com/office/officeart/2005/8/layout/chevron2"/>
    <dgm:cxn modelId="{75D9DC0C-11C7-49DD-8A71-811F74721BA7}" type="presOf" srcId="{4C2AC2DB-DA7B-4EE8-A271-F42910EF38FA}" destId="{3451A250-69C4-4911-A975-CCB8D5F6053B}" srcOrd="0" destOrd="0" presId="urn:microsoft.com/office/officeart/2005/8/layout/chevron2"/>
    <dgm:cxn modelId="{0113120F-3FE7-4154-8079-D7AA5B4E9BD0}" type="presOf" srcId="{6F17941D-CCAD-4AF8-9198-4E8B5F9AEDC2}" destId="{56AFEC8A-7D45-4965-A718-64DE087BA59E}" srcOrd="0" destOrd="0" presId="urn:microsoft.com/office/officeart/2005/8/layout/chevron2"/>
    <dgm:cxn modelId="{6521D611-0B51-48EB-B293-CE7ADA48FE29}" type="presOf" srcId="{711BDD39-3FCE-427A-B0DC-2C28CEED9EDF}" destId="{AAD30B60-88C6-4919-B6DD-9F480459E84E}" srcOrd="0" destOrd="0" presId="urn:microsoft.com/office/officeart/2005/8/layout/chevron2"/>
    <dgm:cxn modelId="{A2F04726-03B2-41D7-AC39-4EB0FD25F0DB}" srcId="{13A3E740-D063-442F-85E3-8C13FFBDAFFB}" destId="{AC2B0C85-A34A-449C-BDB1-A298878DE704}" srcOrd="0" destOrd="0" parTransId="{E5225F41-044B-4F7C-A813-74912B7609F7}" sibTransId="{C96E9F27-EE7F-4F89-BD19-DC4C6EA4193D}"/>
    <dgm:cxn modelId="{465C8D34-FC72-4D1A-9E65-4F4016ABC282}" type="presOf" srcId="{13A3E740-D063-442F-85E3-8C13FFBDAFFB}" destId="{DFA48299-B840-4714-A5F6-769C74D74113}" srcOrd="0" destOrd="0" presId="urn:microsoft.com/office/officeart/2005/8/layout/chevron2"/>
    <dgm:cxn modelId="{56AEC75D-06D3-4BA4-8933-FE1A0F7AE162}" srcId="{4A3955F4-B1A6-4812-98ED-2D6D02D94E35}" destId="{E2BA0B41-F146-425E-9754-1E81B83EDF8B}" srcOrd="0" destOrd="0" parTransId="{09E005FD-F987-4EBD-9D26-CE4C06669AB5}" sibTransId="{017B98FE-F345-4459-B767-E6B696310854}"/>
    <dgm:cxn modelId="{E1577B58-8BFA-4B02-9737-EE277E89C7A2}" type="presOf" srcId="{E2BA0B41-F146-425E-9754-1E81B83EDF8B}" destId="{DEB3B5C2-DCC9-444C-A40C-E0CEA06D8FF2}" srcOrd="0" destOrd="0" presId="urn:microsoft.com/office/officeart/2005/8/layout/chevron2"/>
    <dgm:cxn modelId="{7E5A0596-4D16-4207-B5F3-C2FD778C5412}" srcId="{AADFB80D-C2E8-416C-B522-D5F6D93F18D7}" destId="{4A3955F4-B1A6-4812-98ED-2D6D02D94E35}" srcOrd="3" destOrd="0" parTransId="{1EF809BA-BB9B-41F6-9A35-2C78CE3A0913}" sibTransId="{10EB35A1-EA5F-40EF-95CA-BDAB4D957484}"/>
    <dgm:cxn modelId="{07BC019F-EA5F-4290-A7F2-F044F5CF5F67}" srcId="{AADFB80D-C2E8-416C-B522-D5F6D93F18D7}" destId="{711BDD39-3FCE-427A-B0DC-2C28CEED9EDF}" srcOrd="1" destOrd="0" parTransId="{2D0B9227-5F25-49F4-84E9-F7E211C285CA}" sibTransId="{56806687-EA3D-424E-8880-B9427A94FF7E}"/>
    <dgm:cxn modelId="{2AB70DB2-120D-4916-A542-8BD092D58E08}" type="presOf" srcId="{AC2B0C85-A34A-449C-BDB1-A298878DE704}" destId="{19C32B8D-512E-49A1-A0E6-109384C61E4D}" srcOrd="0" destOrd="0" presId="urn:microsoft.com/office/officeart/2005/8/layout/chevron2"/>
    <dgm:cxn modelId="{F4016BC7-2E72-4F45-A906-6E7F3BDA4E2F}" srcId="{AADFB80D-C2E8-416C-B522-D5F6D93F18D7}" destId="{4C2AC2DB-DA7B-4EE8-A271-F42910EF38FA}" srcOrd="2" destOrd="0" parTransId="{4DCD8EEA-C4AA-404D-A26F-F433BB0189EA}" sibTransId="{E3247148-B6B0-4C23-B610-041B2044E035}"/>
    <dgm:cxn modelId="{5ED434D9-CD48-4632-9238-0AD1DC8B7F67}" srcId="{711BDD39-3FCE-427A-B0DC-2C28CEED9EDF}" destId="{856C5D97-053A-4768-924C-7BBED1694139}" srcOrd="0" destOrd="0" parTransId="{5882EAA0-9B73-4D58-9B28-101A1A118DA7}" sibTransId="{FB282A4C-1B09-4A3E-BA59-953ECF9E16C0}"/>
    <dgm:cxn modelId="{37E82DE3-0EF4-4A02-AA7D-36369B21C5B2}" type="presOf" srcId="{856C5D97-053A-4768-924C-7BBED1694139}" destId="{0DFDFC6D-8604-4378-B6A3-6A6720006C95}" srcOrd="0" destOrd="0" presId="urn:microsoft.com/office/officeart/2005/8/layout/chevron2"/>
    <dgm:cxn modelId="{1B5B31EC-2D9A-481F-92B4-9BD3DD315797}" srcId="{AADFB80D-C2E8-416C-B522-D5F6D93F18D7}" destId="{13A3E740-D063-442F-85E3-8C13FFBDAFFB}" srcOrd="0" destOrd="0" parTransId="{055E1BD7-FB8E-4E56-9F39-EF9F6386A053}" sibTransId="{87670CDC-835B-4F9F-927F-1317C8E87F86}"/>
    <dgm:cxn modelId="{9A2AE9EC-1703-4071-9D5B-2F76EC9F4AA5}" srcId="{4C2AC2DB-DA7B-4EE8-A271-F42910EF38FA}" destId="{6F17941D-CCAD-4AF8-9198-4E8B5F9AEDC2}" srcOrd="0" destOrd="0" parTransId="{6A62EC5C-257B-4078-AC75-009164CBD245}" sibTransId="{6908D1C2-C5D8-437D-AE20-3870EC3D4B13}"/>
    <dgm:cxn modelId="{597912EF-E408-4BB7-9C85-9F209D456791}" type="presOf" srcId="{4A3955F4-B1A6-4812-98ED-2D6D02D94E35}" destId="{FC3BC805-9B18-48D9-A4F4-4BE17D54A28E}" srcOrd="0" destOrd="0" presId="urn:microsoft.com/office/officeart/2005/8/layout/chevron2"/>
    <dgm:cxn modelId="{2CC3E848-3291-4CD0-B317-41F5D7C45A7F}" type="presParOf" srcId="{7EBBDEE6-A55E-47FA-9020-5BC46200AFFC}" destId="{C2DD6752-EEDA-4174-9D58-1EADF09490B5}" srcOrd="0" destOrd="0" presId="urn:microsoft.com/office/officeart/2005/8/layout/chevron2"/>
    <dgm:cxn modelId="{F2611B9D-ED34-4E48-B173-7425A1C12702}" type="presParOf" srcId="{C2DD6752-EEDA-4174-9D58-1EADF09490B5}" destId="{DFA48299-B840-4714-A5F6-769C74D74113}" srcOrd="0" destOrd="0" presId="urn:microsoft.com/office/officeart/2005/8/layout/chevron2"/>
    <dgm:cxn modelId="{0339950F-F790-4C54-B5C5-7E748C166A64}" type="presParOf" srcId="{C2DD6752-EEDA-4174-9D58-1EADF09490B5}" destId="{19C32B8D-512E-49A1-A0E6-109384C61E4D}" srcOrd="1" destOrd="0" presId="urn:microsoft.com/office/officeart/2005/8/layout/chevron2"/>
    <dgm:cxn modelId="{8C3B7F65-E991-4727-96FD-4A397BC99530}" type="presParOf" srcId="{7EBBDEE6-A55E-47FA-9020-5BC46200AFFC}" destId="{EB6649E3-7C43-464A-A458-4DE8A2D95277}" srcOrd="1" destOrd="0" presId="urn:microsoft.com/office/officeart/2005/8/layout/chevron2"/>
    <dgm:cxn modelId="{67686BDB-624B-4768-B17C-649608EC595D}" type="presParOf" srcId="{7EBBDEE6-A55E-47FA-9020-5BC46200AFFC}" destId="{B03EC7DE-1F17-45FD-8EC4-5657CB3CA06B}" srcOrd="2" destOrd="0" presId="urn:microsoft.com/office/officeart/2005/8/layout/chevron2"/>
    <dgm:cxn modelId="{E384677C-5D5C-4BA0-9373-811233886715}" type="presParOf" srcId="{B03EC7DE-1F17-45FD-8EC4-5657CB3CA06B}" destId="{AAD30B60-88C6-4919-B6DD-9F480459E84E}" srcOrd="0" destOrd="0" presId="urn:microsoft.com/office/officeart/2005/8/layout/chevron2"/>
    <dgm:cxn modelId="{990050CC-88AF-4BFD-BA57-27FA9CC550C6}" type="presParOf" srcId="{B03EC7DE-1F17-45FD-8EC4-5657CB3CA06B}" destId="{0DFDFC6D-8604-4378-B6A3-6A6720006C95}" srcOrd="1" destOrd="0" presId="urn:microsoft.com/office/officeart/2005/8/layout/chevron2"/>
    <dgm:cxn modelId="{577D7B9B-111D-49E5-8B31-17247683DAAB}" type="presParOf" srcId="{7EBBDEE6-A55E-47FA-9020-5BC46200AFFC}" destId="{8738B044-A46F-4E69-BD1E-16537D77F816}" srcOrd="3" destOrd="0" presId="urn:microsoft.com/office/officeart/2005/8/layout/chevron2"/>
    <dgm:cxn modelId="{EAF4121D-00B1-46BD-B1F6-93EB6FBED3D3}" type="presParOf" srcId="{7EBBDEE6-A55E-47FA-9020-5BC46200AFFC}" destId="{D4F01D1E-88B7-466D-B76A-F726FF7DE3F8}" srcOrd="4" destOrd="0" presId="urn:microsoft.com/office/officeart/2005/8/layout/chevron2"/>
    <dgm:cxn modelId="{460F7729-81B3-46BB-891B-6E4175CCD089}" type="presParOf" srcId="{D4F01D1E-88B7-466D-B76A-F726FF7DE3F8}" destId="{3451A250-69C4-4911-A975-CCB8D5F6053B}" srcOrd="0" destOrd="0" presId="urn:microsoft.com/office/officeart/2005/8/layout/chevron2"/>
    <dgm:cxn modelId="{A48AB365-FFFF-4401-96B5-C1A6F80EE146}" type="presParOf" srcId="{D4F01D1E-88B7-466D-B76A-F726FF7DE3F8}" destId="{56AFEC8A-7D45-4965-A718-64DE087BA59E}" srcOrd="1" destOrd="0" presId="urn:microsoft.com/office/officeart/2005/8/layout/chevron2"/>
    <dgm:cxn modelId="{A114524B-CDF1-4D77-9C13-30CC18B34AFA}" type="presParOf" srcId="{7EBBDEE6-A55E-47FA-9020-5BC46200AFFC}" destId="{E061B53C-41F2-4FB1-8AB8-871078ECF09F}" srcOrd="5" destOrd="0" presId="urn:microsoft.com/office/officeart/2005/8/layout/chevron2"/>
    <dgm:cxn modelId="{AA8B150E-49B0-4E4E-A524-3300C932E6C9}" type="presParOf" srcId="{7EBBDEE6-A55E-47FA-9020-5BC46200AFFC}" destId="{89371C0B-1BC9-410A-A890-27274727CC89}" srcOrd="6" destOrd="0" presId="urn:microsoft.com/office/officeart/2005/8/layout/chevron2"/>
    <dgm:cxn modelId="{69626FD0-CF2C-4646-BB72-23A5794E309F}" type="presParOf" srcId="{89371C0B-1BC9-410A-A890-27274727CC89}" destId="{FC3BC805-9B18-48D9-A4F4-4BE17D54A28E}" srcOrd="0" destOrd="0" presId="urn:microsoft.com/office/officeart/2005/8/layout/chevron2"/>
    <dgm:cxn modelId="{A5FF9F77-DE54-40D0-9805-1272A2C4D196}" type="presParOf" srcId="{89371C0B-1BC9-410A-A890-27274727CC89}" destId="{DEB3B5C2-DCC9-444C-A40C-E0CEA06D8FF2}" srcOrd="1" destOrd="0" presId="urn:microsoft.com/office/officeart/2005/8/layout/chevron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2.xml><?xml version="1.0" encoding="utf-8"?>
<dgm:dataModel xmlns:dgm="http://schemas.openxmlformats.org/drawingml/2006/diagram" xmlns:a="http://schemas.openxmlformats.org/drawingml/2006/main">
  <dgm:ptLst>
    <dgm:pt modelId="{AADFB80D-C2E8-416C-B522-D5F6D93F18D7}" type="doc">
      <dgm:prSet loTypeId="urn:microsoft.com/office/officeart/2005/8/layout/chevron2" loCatId="list" qsTypeId="urn:microsoft.com/office/officeart/2005/8/quickstyle/simple1" qsCatId="simple" csTypeId="urn:microsoft.com/office/officeart/2005/8/colors/accent1_2" csCatId="accent1" phldr="1"/>
      <dgm:spPr/>
      <dgm:t>
        <a:bodyPr/>
        <a:lstStyle/>
        <a:p>
          <a:endParaRPr lang="en-US"/>
        </a:p>
      </dgm:t>
    </dgm:pt>
    <dgm:pt modelId="{13A3E740-D063-442F-85E3-8C13FFBDAFFB}">
      <dgm:prSet phldrT="[Text]"/>
      <dgm:spPr/>
      <dgm:t>
        <a:bodyPr/>
        <a:lstStyle/>
        <a:p>
          <a:r>
            <a:rPr lang="en-US" dirty="0"/>
            <a:t>SDD</a:t>
          </a:r>
        </a:p>
      </dgm:t>
    </dgm:pt>
    <dgm:pt modelId="{055E1BD7-FB8E-4E56-9F39-EF9F6386A053}" type="parTrans" cxnId="{1B5B31EC-2D9A-481F-92B4-9BD3DD315797}">
      <dgm:prSet/>
      <dgm:spPr/>
      <dgm:t>
        <a:bodyPr/>
        <a:lstStyle/>
        <a:p>
          <a:endParaRPr lang="en-US"/>
        </a:p>
      </dgm:t>
    </dgm:pt>
    <dgm:pt modelId="{87670CDC-835B-4F9F-927F-1317C8E87F86}" type="sibTrans" cxnId="{1B5B31EC-2D9A-481F-92B4-9BD3DD315797}">
      <dgm:prSet/>
      <dgm:spPr/>
      <dgm:t>
        <a:bodyPr/>
        <a:lstStyle/>
        <a:p>
          <a:endParaRPr lang="en-US"/>
        </a:p>
      </dgm:t>
    </dgm:pt>
    <dgm:pt modelId="{AC2B0C85-A34A-449C-BDB1-A298878DE704}">
      <dgm:prSet phldrT="[Text]"/>
      <dgm:spPr/>
      <dgm:t>
        <a:bodyPr/>
        <a:lstStyle/>
        <a:p>
          <a:r>
            <a:rPr lang="en-US" dirty="0"/>
            <a:t>Software Design and Development (54%)</a:t>
          </a:r>
        </a:p>
      </dgm:t>
    </dgm:pt>
    <dgm:pt modelId="{E5225F41-044B-4F7C-A813-74912B7609F7}" type="parTrans" cxnId="{A2F04726-03B2-41D7-AC39-4EB0FD25F0DB}">
      <dgm:prSet/>
      <dgm:spPr/>
      <dgm:t>
        <a:bodyPr/>
        <a:lstStyle/>
        <a:p>
          <a:endParaRPr lang="en-US"/>
        </a:p>
      </dgm:t>
    </dgm:pt>
    <dgm:pt modelId="{C96E9F27-EE7F-4F89-BD19-DC4C6EA4193D}" type="sibTrans" cxnId="{A2F04726-03B2-41D7-AC39-4EB0FD25F0DB}">
      <dgm:prSet/>
      <dgm:spPr/>
      <dgm:t>
        <a:bodyPr/>
        <a:lstStyle/>
        <a:p>
          <a:endParaRPr lang="en-US"/>
        </a:p>
      </dgm:t>
    </dgm:pt>
    <dgm:pt modelId="{711BDD39-3FCE-427A-B0DC-2C28CEED9EDF}">
      <dgm:prSet phldrT="[Text]"/>
      <dgm:spPr/>
      <dgm:t>
        <a:bodyPr/>
        <a:lstStyle/>
        <a:p>
          <a:r>
            <a:rPr lang="en-US" dirty="0"/>
            <a:t>DDD</a:t>
          </a:r>
        </a:p>
      </dgm:t>
    </dgm:pt>
    <dgm:pt modelId="{2D0B9227-5F25-49F4-84E9-F7E211C285CA}" type="parTrans" cxnId="{07BC019F-EA5F-4290-A7F2-F044F5CF5F67}">
      <dgm:prSet/>
      <dgm:spPr/>
      <dgm:t>
        <a:bodyPr/>
        <a:lstStyle/>
        <a:p>
          <a:endParaRPr lang="en-US"/>
        </a:p>
      </dgm:t>
    </dgm:pt>
    <dgm:pt modelId="{56806687-EA3D-424E-8880-B9427A94FF7E}" type="sibTrans" cxnId="{07BC019F-EA5F-4290-A7F2-F044F5CF5F67}">
      <dgm:prSet/>
      <dgm:spPr/>
      <dgm:t>
        <a:bodyPr/>
        <a:lstStyle/>
        <a:p>
          <a:endParaRPr lang="en-US"/>
        </a:p>
      </dgm:t>
    </dgm:pt>
    <dgm:pt modelId="{856C5D97-053A-4768-924C-7BBED1694139}">
      <dgm:prSet phldrT="[Text]"/>
      <dgm:spPr/>
      <dgm:t>
        <a:bodyPr/>
        <a:lstStyle/>
        <a:p>
          <a:r>
            <a:rPr lang="en-US" dirty="0"/>
            <a:t>Database Design and Development (33%)</a:t>
          </a:r>
        </a:p>
      </dgm:t>
    </dgm:pt>
    <dgm:pt modelId="{5882EAA0-9B73-4D58-9B28-101A1A118DA7}" type="parTrans" cxnId="{5ED434D9-CD48-4632-9238-0AD1DC8B7F67}">
      <dgm:prSet/>
      <dgm:spPr/>
      <dgm:t>
        <a:bodyPr/>
        <a:lstStyle/>
        <a:p>
          <a:endParaRPr lang="en-US"/>
        </a:p>
      </dgm:t>
    </dgm:pt>
    <dgm:pt modelId="{FB282A4C-1B09-4A3E-BA59-953ECF9E16C0}" type="sibTrans" cxnId="{5ED434D9-CD48-4632-9238-0AD1DC8B7F67}">
      <dgm:prSet/>
      <dgm:spPr/>
      <dgm:t>
        <a:bodyPr/>
        <a:lstStyle/>
        <a:p>
          <a:endParaRPr lang="en-US"/>
        </a:p>
      </dgm:t>
    </dgm:pt>
    <dgm:pt modelId="{4A3955F4-B1A6-4812-98ED-2D6D02D94E35}">
      <dgm:prSet phldrT="[Text]"/>
      <dgm:spPr/>
      <dgm:t>
        <a:bodyPr/>
        <a:lstStyle/>
        <a:p>
          <a:r>
            <a:rPr lang="en-US" b="1" dirty="0">
              <a:latin typeface="+mn-lt"/>
            </a:rPr>
            <a:t>Assignment</a:t>
          </a:r>
          <a:r>
            <a:rPr lang="en-US" b="0" dirty="0">
              <a:latin typeface="+mn-lt"/>
            </a:rPr>
            <a:t> (</a:t>
          </a:r>
          <a:r>
            <a:rPr lang="en-US" b="0" dirty="0">
              <a:solidFill>
                <a:srgbClr val="FF0000"/>
              </a:solidFill>
              <a:latin typeface="+mn-lt"/>
            </a:rPr>
            <a:t>⅓ of marks</a:t>
          </a:r>
          <a:r>
            <a:rPr lang="en-US" b="0" dirty="0">
              <a:latin typeface="+mn-lt"/>
            </a:rPr>
            <a:t>)</a:t>
          </a:r>
          <a:endParaRPr lang="en-US" b="1" dirty="0">
            <a:latin typeface="+mn-lt"/>
          </a:endParaRPr>
        </a:p>
      </dgm:t>
    </dgm:pt>
    <dgm:pt modelId="{1EF809BA-BB9B-41F6-9A35-2C78CE3A0913}" type="parTrans" cxnId="{7E5A0596-4D16-4207-B5F3-C2FD778C5412}">
      <dgm:prSet/>
      <dgm:spPr/>
      <dgm:t>
        <a:bodyPr/>
        <a:lstStyle/>
        <a:p>
          <a:endParaRPr lang="en-US"/>
        </a:p>
      </dgm:t>
    </dgm:pt>
    <dgm:pt modelId="{10EB35A1-EA5F-40EF-95CA-BDAB4D957484}" type="sibTrans" cxnId="{7E5A0596-4D16-4207-B5F3-C2FD778C5412}">
      <dgm:prSet/>
      <dgm:spPr/>
      <dgm:t>
        <a:bodyPr/>
        <a:lstStyle/>
        <a:p>
          <a:endParaRPr lang="en-US"/>
        </a:p>
      </dgm:t>
    </dgm:pt>
    <dgm:pt modelId="{4C515B8D-87D1-4362-95C3-18B42B452625}">
      <dgm:prSet phldrT="[Text]"/>
      <dgm:spPr>
        <a:solidFill>
          <a:srgbClr val="FF0000"/>
        </a:solidFill>
        <a:ln>
          <a:solidFill>
            <a:srgbClr val="FF0000"/>
          </a:solidFill>
        </a:ln>
      </dgm:spPr>
      <dgm:t>
        <a:bodyPr/>
        <a:lstStyle/>
        <a:p>
          <a:endParaRPr lang="en-US" dirty="0"/>
        </a:p>
      </dgm:t>
    </dgm:pt>
    <dgm:pt modelId="{3413E62F-FACB-412C-9FEF-2E9D080F65F5}" type="parTrans" cxnId="{4AB28759-DCAB-43B1-B5BE-36D4FCDBAA0B}">
      <dgm:prSet/>
      <dgm:spPr/>
      <dgm:t>
        <a:bodyPr/>
        <a:lstStyle/>
        <a:p>
          <a:endParaRPr lang="en-US"/>
        </a:p>
      </dgm:t>
    </dgm:pt>
    <dgm:pt modelId="{387E11D6-6F89-470A-86BE-C608C2106AF6}" type="sibTrans" cxnId="{4AB28759-DCAB-43B1-B5BE-36D4FCDBAA0B}">
      <dgm:prSet/>
      <dgm:spPr/>
      <dgm:t>
        <a:bodyPr/>
        <a:lstStyle/>
        <a:p>
          <a:endParaRPr lang="en-US"/>
        </a:p>
      </dgm:t>
    </dgm:pt>
    <dgm:pt modelId="{E2BA0B41-F146-425E-9754-1E81B83EDF8B}">
      <dgm:prSet phldrT="[Text]"/>
      <dgm:spPr/>
      <dgm:t>
        <a:bodyPr/>
        <a:lstStyle/>
        <a:p>
          <a:r>
            <a:rPr lang="en-US" dirty="0"/>
            <a:t>Computer Systems (13%)</a:t>
          </a:r>
        </a:p>
      </dgm:t>
    </dgm:pt>
    <dgm:pt modelId="{09E005FD-F987-4EBD-9D26-CE4C06669AB5}" type="parTrans" cxnId="{56AEC75D-06D3-4BA4-8933-FE1A0F7AE162}">
      <dgm:prSet/>
      <dgm:spPr/>
      <dgm:t>
        <a:bodyPr/>
        <a:lstStyle/>
        <a:p>
          <a:endParaRPr lang="en-US"/>
        </a:p>
      </dgm:t>
    </dgm:pt>
    <dgm:pt modelId="{017B98FE-F345-4459-B767-E6B696310854}" type="sibTrans" cxnId="{56AEC75D-06D3-4BA4-8933-FE1A0F7AE162}">
      <dgm:prSet/>
      <dgm:spPr/>
      <dgm:t>
        <a:bodyPr/>
        <a:lstStyle/>
        <a:p>
          <a:endParaRPr lang="en-US"/>
        </a:p>
      </dgm:t>
    </dgm:pt>
    <dgm:pt modelId="{780589F0-2154-4E4C-8595-8806E5EF917A}">
      <dgm:prSet phldrT="[Text]"/>
      <dgm:spPr/>
      <dgm:t>
        <a:bodyPr/>
        <a:lstStyle/>
        <a:p>
          <a:r>
            <a:rPr lang="en-US" dirty="0"/>
            <a:t>C/Sys</a:t>
          </a:r>
        </a:p>
      </dgm:t>
    </dgm:pt>
    <dgm:pt modelId="{F00962FA-5389-4E36-9ABB-07A219FF91D3}" type="parTrans" cxnId="{AAFC0F9A-ADA1-4827-BB1A-86C8E3CBC8EB}">
      <dgm:prSet/>
      <dgm:spPr/>
      <dgm:t>
        <a:bodyPr/>
        <a:lstStyle/>
        <a:p>
          <a:endParaRPr lang="en-US"/>
        </a:p>
      </dgm:t>
    </dgm:pt>
    <dgm:pt modelId="{DED9E408-00AC-4B08-A19D-D94226C9548F}" type="sibTrans" cxnId="{AAFC0F9A-ADA1-4827-BB1A-86C8E3CBC8EB}">
      <dgm:prSet/>
      <dgm:spPr/>
      <dgm:t>
        <a:bodyPr/>
        <a:lstStyle/>
        <a:p>
          <a:endParaRPr lang="en-US"/>
        </a:p>
      </dgm:t>
    </dgm:pt>
    <dgm:pt modelId="{75E710BF-3292-4B3F-A454-B7E6BF72E2C7}">
      <dgm:prSet phldrT="[Text]"/>
      <dgm:spPr/>
      <dgm:t>
        <a:bodyPr/>
        <a:lstStyle/>
        <a:p>
          <a:r>
            <a:rPr lang="en-US" b="1" dirty="0">
              <a:latin typeface="+mn-lt"/>
            </a:rPr>
            <a:t>Exam</a:t>
          </a:r>
          <a:r>
            <a:rPr lang="en-US" b="0" dirty="0">
              <a:latin typeface="+mn-lt"/>
            </a:rPr>
            <a:t> (</a:t>
          </a:r>
          <a:r>
            <a:rPr lang="en-US" b="0" dirty="0">
              <a:solidFill>
                <a:srgbClr val="FF0000"/>
              </a:solidFill>
              <a:latin typeface="+mn-lt"/>
            </a:rPr>
            <a:t>⅔ of marks</a:t>
          </a:r>
          <a:r>
            <a:rPr lang="en-US" b="0" dirty="0">
              <a:latin typeface="+mn-lt"/>
            </a:rPr>
            <a:t>)</a:t>
          </a:r>
          <a:endParaRPr lang="en-US" b="1" dirty="0">
            <a:latin typeface="+mn-lt"/>
          </a:endParaRPr>
        </a:p>
      </dgm:t>
    </dgm:pt>
    <dgm:pt modelId="{E03E4501-7796-49DD-B7C4-88D3AB91E6DB}" type="parTrans" cxnId="{F320287E-B3C2-4880-9516-FFD6695AE0E7}">
      <dgm:prSet/>
      <dgm:spPr/>
      <dgm:t>
        <a:bodyPr/>
        <a:lstStyle/>
        <a:p>
          <a:endParaRPr lang="en-US"/>
        </a:p>
      </dgm:t>
    </dgm:pt>
    <dgm:pt modelId="{7BCEDD18-C1A5-4D74-BD02-31A9F5C8DF2C}" type="sibTrans" cxnId="{F320287E-B3C2-4880-9516-FFD6695AE0E7}">
      <dgm:prSet/>
      <dgm:spPr/>
      <dgm:t>
        <a:bodyPr/>
        <a:lstStyle/>
        <a:p>
          <a:endParaRPr lang="en-US"/>
        </a:p>
      </dgm:t>
    </dgm:pt>
    <dgm:pt modelId="{9EC5D7E7-13E1-4749-A134-4C83AB922A61}">
      <dgm:prSet phldrT="[Text]"/>
      <dgm:spPr>
        <a:solidFill>
          <a:srgbClr val="FF0000"/>
        </a:solidFill>
        <a:ln>
          <a:solidFill>
            <a:srgbClr val="FF0000"/>
          </a:solidFill>
        </a:ln>
      </dgm:spPr>
      <dgm:t>
        <a:bodyPr/>
        <a:lstStyle/>
        <a:p>
          <a:endParaRPr lang="en-US"/>
        </a:p>
      </dgm:t>
    </dgm:pt>
    <dgm:pt modelId="{5C3B17FD-DFBE-4B56-9F97-5E041A0D5E90}" type="parTrans" cxnId="{4944EAFC-B2B0-4E7D-94E9-B17B5C2D380E}">
      <dgm:prSet/>
      <dgm:spPr/>
      <dgm:t>
        <a:bodyPr/>
        <a:lstStyle/>
        <a:p>
          <a:endParaRPr lang="en-US"/>
        </a:p>
      </dgm:t>
    </dgm:pt>
    <dgm:pt modelId="{B7023446-8BB7-45ED-9CB6-4F5FC1A1AF95}" type="sibTrans" cxnId="{4944EAFC-B2B0-4E7D-94E9-B17B5C2D380E}">
      <dgm:prSet/>
      <dgm:spPr/>
      <dgm:t>
        <a:bodyPr/>
        <a:lstStyle/>
        <a:p>
          <a:endParaRPr lang="en-US"/>
        </a:p>
      </dgm:t>
    </dgm:pt>
    <dgm:pt modelId="{7EBBDEE6-A55E-47FA-9020-5BC46200AFFC}" type="pres">
      <dgm:prSet presAssocID="{AADFB80D-C2E8-416C-B522-D5F6D93F18D7}" presName="linearFlow" presStyleCnt="0">
        <dgm:presLayoutVars>
          <dgm:dir/>
          <dgm:animLvl val="lvl"/>
          <dgm:resizeHandles val="exact"/>
        </dgm:presLayoutVars>
      </dgm:prSet>
      <dgm:spPr/>
    </dgm:pt>
    <dgm:pt modelId="{C2DD6752-EEDA-4174-9D58-1EADF09490B5}" type="pres">
      <dgm:prSet presAssocID="{13A3E740-D063-442F-85E3-8C13FFBDAFFB}" presName="composite" presStyleCnt="0"/>
      <dgm:spPr/>
    </dgm:pt>
    <dgm:pt modelId="{DFA48299-B840-4714-A5F6-769C74D74113}" type="pres">
      <dgm:prSet presAssocID="{13A3E740-D063-442F-85E3-8C13FFBDAFFB}" presName="parentText" presStyleLbl="alignNode1" presStyleIdx="0" presStyleCnt="5">
        <dgm:presLayoutVars>
          <dgm:chMax val="1"/>
          <dgm:bulletEnabled val="1"/>
        </dgm:presLayoutVars>
      </dgm:prSet>
      <dgm:spPr/>
    </dgm:pt>
    <dgm:pt modelId="{19C32B8D-512E-49A1-A0E6-109384C61E4D}" type="pres">
      <dgm:prSet presAssocID="{13A3E740-D063-442F-85E3-8C13FFBDAFFB}" presName="descendantText" presStyleLbl="alignAcc1" presStyleIdx="0" presStyleCnt="5">
        <dgm:presLayoutVars>
          <dgm:bulletEnabled val="1"/>
        </dgm:presLayoutVars>
      </dgm:prSet>
      <dgm:spPr/>
    </dgm:pt>
    <dgm:pt modelId="{EB6649E3-7C43-464A-A458-4DE8A2D95277}" type="pres">
      <dgm:prSet presAssocID="{87670CDC-835B-4F9F-927F-1317C8E87F86}" presName="sp" presStyleCnt="0"/>
      <dgm:spPr/>
    </dgm:pt>
    <dgm:pt modelId="{B03EC7DE-1F17-45FD-8EC4-5657CB3CA06B}" type="pres">
      <dgm:prSet presAssocID="{711BDD39-3FCE-427A-B0DC-2C28CEED9EDF}" presName="composite" presStyleCnt="0"/>
      <dgm:spPr/>
    </dgm:pt>
    <dgm:pt modelId="{AAD30B60-88C6-4919-B6DD-9F480459E84E}" type="pres">
      <dgm:prSet presAssocID="{711BDD39-3FCE-427A-B0DC-2C28CEED9EDF}" presName="parentText" presStyleLbl="alignNode1" presStyleIdx="1" presStyleCnt="5">
        <dgm:presLayoutVars>
          <dgm:chMax val="1"/>
          <dgm:bulletEnabled val="1"/>
        </dgm:presLayoutVars>
      </dgm:prSet>
      <dgm:spPr/>
    </dgm:pt>
    <dgm:pt modelId="{0DFDFC6D-8604-4378-B6A3-6A6720006C95}" type="pres">
      <dgm:prSet presAssocID="{711BDD39-3FCE-427A-B0DC-2C28CEED9EDF}" presName="descendantText" presStyleLbl="alignAcc1" presStyleIdx="1" presStyleCnt="5">
        <dgm:presLayoutVars>
          <dgm:bulletEnabled val="1"/>
        </dgm:presLayoutVars>
      </dgm:prSet>
      <dgm:spPr/>
    </dgm:pt>
    <dgm:pt modelId="{8738B044-A46F-4E69-BD1E-16537D77F816}" type="pres">
      <dgm:prSet presAssocID="{56806687-EA3D-424E-8880-B9427A94FF7E}" presName="sp" presStyleCnt="0"/>
      <dgm:spPr/>
    </dgm:pt>
    <dgm:pt modelId="{3E2A20E0-2799-4B60-847C-0291A143F060}" type="pres">
      <dgm:prSet presAssocID="{4C515B8D-87D1-4362-95C3-18B42B452625}" presName="composite" presStyleCnt="0"/>
      <dgm:spPr/>
    </dgm:pt>
    <dgm:pt modelId="{17253025-0BE3-46B4-B2C8-BFD879D75B26}" type="pres">
      <dgm:prSet presAssocID="{4C515B8D-87D1-4362-95C3-18B42B452625}" presName="parentText" presStyleLbl="alignNode1" presStyleIdx="2" presStyleCnt="5">
        <dgm:presLayoutVars>
          <dgm:chMax val="1"/>
          <dgm:bulletEnabled val="1"/>
        </dgm:presLayoutVars>
      </dgm:prSet>
      <dgm:spPr/>
    </dgm:pt>
    <dgm:pt modelId="{B2D4CD90-7709-4B59-AC85-D09667CFC12B}" type="pres">
      <dgm:prSet presAssocID="{4C515B8D-87D1-4362-95C3-18B42B452625}" presName="descendantText" presStyleLbl="alignAcc1" presStyleIdx="2" presStyleCnt="5">
        <dgm:presLayoutVars>
          <dgm:bulletEnabled val="1"/>
        </dgm:presLayoutVars>
      </dgm:prSet>
      <dgm:spPr/>
    </dgm:pt>
    <dgm:pt modelId="{FCA35A52-5E56-41CA-AAAA-74E510180904}" type="pres">
      <dgm:prSet presAssocID="{387E11D6-6F89-470A-86BE-C608C2106AF6}" presName="sp" presStyleCnt="0"/>
      <dgm:spPr/>
    </dgm:pt>
    <dgm:pt modelId="{BC0413A5-5CFC-41A1-A4D1-32D9D3A580EB}" type="pres">
      <dgm:prSet presAssocID="{780589F0-2154-4E4C-8595-8806E5EF917A}" presName="composite" presStyleCnt="0"/>
      <dgm:spPr/>
    </dgm:pt>
    <dgm:pt modelId="{056CCBB6-5CE0-4348-89C6-99FB2D3AB62B}" type="pres">
      <dgm:prSet presAssocID="{780589F0-2154-4E4C-8595-8806E5EF917A}" presName="parentText" presStyleLbl="alignNode1" presStyleIdx="3" presStyleCnt="5">
        <dgm:presLayoutVars>
          <dgm:chMax val="1"/>
          <dgm:bulletEnabled val="1"/>
        </dgm:presLayoutVars>
      </dgm:prSet>
      <dgm:spPr/>
    </dgm:pt>
    <dgm:pt modelId="{90709722-0E94-45E4-BEDD-48CB660682DD}" type="pres">
      <dgm:prSet presAssocID="{780589F0-2154-4E4C-8595-8806E5EF917A}" presName="descendantText" presStyleLbl="alignAcc1" presStyleIdx="3" presStyleCnt="5">
        <dgm:presLayoutVars>
          <dgm:bulletEnabled val="1"/>
        </dgm:presLayoutVars>
      </dgm:prSet>
      <dgm:spPr/>
    </dgm:pt>
    <dgm:pt modelId="{13B0A0BF-E273-47AE-B262-3C6C9C4E8968}" type="pres">
      <dgm:prSet presAssocID="{DED9E408-00AC-4B08-A19D-D94226C9548F}" presName="sp" presStyleCnt="0"/>
      <dgm:spPr/>
    </dgm:pt>
    <dgm:pt modelId="{5FCAE6DF-E40E-46F3-84CF-149E85A19097}" type="pres">
      <dgm:prSet presAssocID="{9EC5D7E7-13E1-4749-A134-4C83AB922A61}" presName="composite" presStyleCnt="0"/>
      <dgm:spPr/>
    </dgm:pt>
    <dgm:pt modelId="{EB2E52AE-8FCF-47D0-B499-CFCFAF1883A9}" type="pres">
      <dgm:prSet presAssocID="{9EC5D7E7-13E1-4749-A134-4C83AB922A61}" presName="parentText" presStyleLbl="alignNode1" presStyleIdx="4" presStyleCnt="5">
        <dgm:presLayoutVars>
          <dgm:chMax val="1"/>
          <dgm:bulletEnabled val="1"/>
        </dgm:presLayoutVars>
      </dgm:prSet>
      <dgm:spPr/>
    </dgm:pt>
    <dgm:pt modelId="{C92F1771-01AA-4FF3-B7EC-0229DB7A592C}" type="pres">
      <dgm:prSet presAssocID="{9EC5D7E7-13E1-4749-A134-4C83AB922A61}" presName="descendantText" presStyleLbl="alignAcc1" presStyleIdx="4" presStyleCnt="5">
        <dgm:presLayoutVars>
          <dgm:bulletEnabled val="1"/>
        </dgm:presLayoutVars>
      </dgm:prSet>
      <dgm:spPr/>
    </dgm:pt>
  </dgm:ptLst>
  <dgm:cxnLst>
    <dgm:cxn modelId="{B5BAA509-F012-4E82-9E50-DD70E5E7F1B2}" type="presOf" srcId="{AADFB80D-C2E8-416C-B522-D5F6D93F18D7}" destId="{7EBBDEE6-A55E-47FA-9020-5BC46200AFFC}" srcOrd="0" destOrd="0" presId="urn:microsoft.com/office/officeart/2005/8/layout/chevron2"/>
    <dgm:cxn modelId="{51AC560A-15D5-4873-A728-46FA9B3877F9}" type="presOf" srcId="{780589F0-2154-4E4C-8595-8806E5EF917A}" destId="{056CCBB6-5CE0-4348-89C6-99FB2D3AB62B}" srcOrd="0" destOrd="0" presId="urn:microsoft.com/office/officeart/2005/8/layout/chevron2"/>
    <dgm:cxn modelId="{6521D611-0B51-48EB-B293-CE7ADA48FE29}" type="presOf" srcId="{711BDD39-3FCE-427A-B0DC-2C28CEED9EDF}" destId="{AAD30B60-88C6-4919-B6DD-9F480459E84E}" srcOrd="0" destOrd="0" presId="urn:microsoft.com/office/officeart/2005/8/layout/chevron2"/>
    <dgm:cxn modelId="{A2F04726-03B2-41D7-AC39-4EB0FD25F0DB}" srcId="{13A3E740-D063-442F-85E3-8C13FFBDAFFB}" destId="{AC2B0C85-A34A-449C-BDB1-A298878DE704}" srcOrd="0" destOrd="0" parTransId="{E5225F41-044B-4F7C-A813-74912B7609F7}" sibTransId="{C96E9F27-EE7F-4F89-BD19-DC4C6EA4193D}"/>
    <dgm:cxn modelId="{D49F1534-E21B-49CA-902B-89FB72311FD2}" type="presOf" srcId="{4C515B8D-87D1-4362-95C3-18B42B452625}" destId="{17253025-0BE3-46B4-B2C8-BFD879D75B26}" srcOrd="0" destOrd="0" presId="urn:microsoft.com/office/officeart/2005/8/layout/chevron2"/>
    <dgm:cxn modelId="{465C8D34-FC72-4D1A-9E65-4F4016ABC282}" type="presOf" srcId="{13A3E740-D063-442F-85E3-8C13FFBDAFFB}" destId="{DFA48299-B840-4714-A5F6-769C74D74113}" srcOrd="0" destOrd="0" presId="urn:microsoft.com/office/officeart/2005/8/layout/chevron2"/>
    <dgm:cxn modelId="{56AEC75D-06D3-4BA4-8933-FE1A0F7AE162}" srcId="{780589F0-2154-4E4C-8595-8806E5EF917A}" destId="{E2BA0B41-F146-425E-9754-1E81B83EDF8B}" srcOrd="0" destOrd="0" parTransId="{09E005FD-F987-4EBD-9D26-CE4C06669AB5}" sibTransId="{017B98FE-F345-4459-B767-E6B696310854}"/>
    <dgm:cxn modelId="{2B7AD66F-7BCF-434E-A3B5-2F39AADE0BF7}" type="presOf" srcId="{E2BA0B41-F146-425E-9754-1E81B83EDF8B}" destId="{90709722-0E94-45E4-BEDD-48CB660682DD}" srcOrd="0" destOrd="0" presId="urn:microsoft.com/office/officeart/2005/8/layout/chevron2"/>
    <dgm:cxn modelId="{5C508956-AB66-4052-8A09-9D7A16ABB973}" type="presOf" srcId="{4A3955F4-B1A6-4812-98ED-2D6D02D94E35}" destId="{B2D4CD90-7709-4B59-AC85-D09667CFC12B}" srcOrd="0" destOrd="0" presId="urn:microsoft.com/office/officeart/2005/8/layout/chevron2"/>
    <dgm:cxn modelId="{4AB28759-DCAB-43B1-B5BE-36D4FCDBAA0B}" srcId="{AADFB80D-C2E8-416C-B522-D5F6D93F18D7}" destId="{4C515B8D-87D1-4362-95C3-18B42B452625}" srcOrd="2" destOrd="0" parTransId="{3413E62F-FACB-412C-9FEF-2E9D080F65F5}" sibTransId="{387E11D6-6F89-470A-86BE-C608C2106AF6}"/>
    <dgm:cxn modelId="{F320287E-B3C2-4880-9516-FFD6695AE0E7}" srcId="{9EC5D7E7-13E1-4749-A134-4C83AB922A61}" destId="{75E710BF-3292-4B3F-A454-B7E6BF72E2C7}" srcOrd="0" destOrd="0" parTransId="{E03E4501-7796-49DD-B7C4-88D3AB91E6DB}" sibTransId="{7BCEDD18-C1A5-4D74-BD02-31A9F5C8DF2C}"/>
    <dgm:cxn modelId="{D36EDC8C-BDD1-4F1F-9AB5-8EDEF33F628F}" type="presOf" srcId="{75E710BF-3292-4B3F-A454-B7E6BF72E2C7}" destId="{C92F1771-01AA-4FF3-B7EC-0229DB7A592C}" srcOrd="0" destOrd="0" presId="urn:microsoft.com/office/officeart/2005/8/layout/chevron2"/>
    <dgm:cxn modelId="{7E5A0596-4D16-4207-B5F3-C2FD778C5412}" srcId="{4C515B8D-87D1-4362-95C3-18B42B452625}" destId="{4A3955F4-B1A6-4812-98ED-2D6D02D94E35}" srcOrd="0" destOrd="0" parTransId="{1EF809BA-BB9B-41F6-9A35-2C78CE3A0913}" sibTransId="{10EB35A1-EA5F-40EF-95CA-BDAB4D957484}"/>
    <dgm:cxn modelId="{AAFC0F9A-ADA1-4827-BB1A-86C8E3CBC8EB}" srcId="{AADFB80D-C2E8-416C-B522-D5F6D93F18D7}" destId="{780589F0-2154-4E4C-8595-8806E5EF917A}" srcOrd="3" destOrd="0" parTransId="{F00962FA-5389-4E36-9ABB-07A219FF91D3}" sibTransId="{DED9E408-00AC-4B08-A19D-D94226C9548F}"/>
    <dgm:cxn modelId="{07BC019F-EA5F-4290-A7F2-F044F5CF5F67}" srcId="{AADFB80D-C2E8-416C-B522-D5F6D93F18D7}" destId="{711BDD39-3FCE-427A-B0DC-2C28CEED9EDF}" srcOrd="1" destOrd="0" parTransId="{2D0B9227-5F25-49F4-84E9-F7E211C285CA}" sibTransId="{56806687-EA3D-424E-8880-B9427A94FF7E}"/>
    <dgm:cxn modelId="{2AB70DB2-120D-4916-A542-8BD092D58E08}" type="presOf" srcId="{AC2B0C85-A34A-449C-BDB1-A298878DE704}" destId="{19C32B8D-512E-49A1-A0E6-109384C61E4D}" srcOrd="0" destOrd="0" presId="urn:microsoft.com/office/officeart/2005/8/layout/chevron2"/>
    <dgm:cxn modelId="{95BAE2D2-7669-469D-9AF0-D651B51FCE91}" type="presOf" srcId="{9EC5D7E7-13E1-4749-A134-4C83AB922A61}" destId="{EB2E52AE-8FCF-47D0-B499-CFCFAF1883A9}" srcOrd="0" destOrd="0" presId="urn:microsoft.com/office/officeart/2005/8/layout/chevron2"/>
    <dgm:cxn modelId="{5ED434D9-CD48-4632-9238-0AD1DC8B7F67}" srcId="{711BDD39-3FCE-427A-B0DC-2C28CEED9EDF}" destId="{856C5D97-053A-4768-924C-7BBED1694139}" srcOrd="0" destOrd="0" parTransId="{5882EAA0-9B73-4D58-9B28-101A1A118DA7}" sibTransId="{FB282A4C-1B09-4A3E-BA59-953ECF9E16C0}"/>
    <dgm:cxn modelId="{37E82DE3-0EF4-4A02-AA7D-36369B21C5B2}" type="presOf" srcId="{856C5D97-053A-4768-924C-7BBED1694139}" destId="{0DFDFC6D-8604-4378-B6A3-6A6720006C95}" srcOrd="0" destOrd="0" presId="urn:microsoft.com/office/officeart/2005/8/layout/chevron2"/>
    <dgm:cxn modelId="{1B5B31EC-2D9A-481F-92B4-9BD3DD315797}" srcId="{AADFB80D-C2E8-416C-B522-D5F6D93F18D7}" destId="{13A3E740-D063-442F-85E3-8C13FFBDAFFB}" srcOrd="0" destOrd="0" parTransId="{055E1BD7-FB8E-4E56-9F39-EF9F6386A053}" sibTransId="{87670CDC-835B-4F9F-927F-1317C8E87F86}"/>
    <dgm:cxn modelId="{4944EAFC-B2B0-4E7D-94E9-B17B5C2D380E}" srcId="{AADFB80D-C2E8-416C-B522-D5F6D93F18D7}" destId="{9EC5D7E7-13E1-4749-A134-4C83AB922A61}" srcOrd="4" destOrd="0" parTransId="{5C3B17FD-DFBE-4B56-9F97-5E041A0D5E90}" sibTransId="{B7023446-8BB7-45ED-9CB6-4F5FC1A1AF95}"/>
    <dgm:cxn modelId="{2CC3E848-3291-4CD0-B317-41F5D7C45A7F}" type="presParOf" srcId="{7EBBDEE6-A55E-47FA-9020-5BC46200AFFC}" destId="{C2DD6752-EEDA-4174-9D58-1EADF09490B5}" srcOrd="0" destOrd="0" presId="urn:microsoft.com/office/officeart/2005/8/layout/chevron2"/>
    <dgm:cxn modelId="{F2611B9D-ED34-4E48-B173-7425A1C12702}" type="presParOf" srcId="{C2DD6752-EEDA-4174-9D58-1EADF09490B5}" destId="{DFA48299-B840-4714-A5F6-769C74D74113}" srcOrd="0" destOrd="0" presId="urn:microsoft.com/office/officeart/2005/8/layout/chevron2"/>
    <dgm:cxn modelId="{0339950F-F790-4C54-B5C5-7E748C166A64}" type="presParOf" srcId="{C2DD6752-EEDA-4174-9D58-1EADF09490B5}" destId="{19C32B8D-512E-49A1-A0E6-109384C61E4D}" srcOrd="1" destOrd="0" presId="urn:microsoft.com/office/officeart/2005/8/layout/chevron2"/>
    <dgm:cxn modelId="{8C3B7F65-E991-4727-96FD-4A397BC99530}" type="presParOf" srcId="{7EBBDEE6-A55E-47FA-9020-5BC46200AFFC}" destId="{EB6649E3-7C43-464A-A458-4DE8A2D95277}" srcOrd="1" destOrd="0" presId="urn:microsoft.com/office/officeart/2005/8/layout/chevron2"/>
    <dgm:cxn modelId="{67686BDB-624B-4768-B17C-649608EC595D}" type="presParOf" srcId="{7EBBDEE6-A55E-47FA-9020-5BC46200AFFC}" destId="{B03EC7DE-1F17-45FD-8EC4-5657CB3CA06B}" srcOrd="2" destOrd="0" presId="urn:microsoft.com/office/officeart/2005/8/layout/chevron2"/>
    <dgm:cxn modelId="{E384677C-5D5C-4BA0-9373-811233886715}" type="presParOf" srcId="{B03EC7DE-1F17-45FD-8EC4-5657CB3CA06B}" destId="{AAD30B60-88C6-4919-B6DD-9F480459E84E}" srcOrd="0" destOrd="0" presId="urn:microsoft.com/office/officeart/2005/8/layout/chevron2"/>
    <dgm:cxn modelId="{990050CC-88AF-4BFD-BA57-27FA9CC550C6}" type="presParOf" srcId="{B03EC7DE-1F17-45FD-8EC4-5657CB3CA06B}" destId="{0DFDFC6D-8604-4378-B6A3-6A6720006C95}" srcOrd="1" destOrd="0" presId="urn:microsoft.com/office/officeart/2005/8/layout/chevron2"/>
    <dgm:cxn modelId="{577D7B9B-111D-49E5-8B31-17247683DAAB}" type="presParOf" srcId="{7EBBDEE6-A55E-47FA-9020-5BC46200AFFC}" destId="{8738B044-A46F-4E69-BD1E-16537D77F816}" srcOrd="3" destOrd="0" presId="urn:microsoft.com/office/officeart/2005/8/layout/chevron2"/>
    <dgm:cxn modelId="{4B8D09CE-12DA-4A98-A079-57B4B36ABD66}" type="presParOf" srcId="{7EBBDEE6-A55E-47FA-9020-5BC46200AFFC}" destId="{3E2A20E0-2799-4B60-847C-0291A143F060}" srcOrd="4" destOrd="0" presId="urn:microsoft.com/office/officeart/2005/8/layout/chevron2"/>
    <dgm:cxn modelId="{DD09799F-3B55-4A21-B1D8-51D0255A8FC0}" type="presParOf" srcId="{3E2A20E0-2799-4B60-847C-0291A143F060}" destId="{17253025-0BE3-46B4-B2C8-BFD879D75B26}" srcOrd="0" destOrd="0" presId="urn:microsoft.com/office/officeart/2005/8/layout/chevron2"/>
    <dgm:cxn modelId="{B28B55D1-C1C4-4929-B387-2753095F16BC}" type="presParOf" srcId="{3E2A20E0-2799-4B60-847C-0291A143F060}" destId="{B2D4CD90-7709-4B59-AC85-D09667CFC12B}" srcOrd="1" destOrd="0" presId="urn:microsoft.com/office/officeart/2005/8/layout/chevron2"/>
    <dgm:cxn modelId="{14614803-1AE9-4484-B475-713BAB65206C}" type="presParOf" srcId="{7EBBDEE6-A55E-47FA-9020-5BC46200AFFC}" destId="{FCA35A52-5E56-41CA-AAAA-74E510180904}" srcOrd="5" destOrd="0" presId="urn:microsoft.com/office/officeart/2005/8/layout/chevron2"/>
    <dgm:cxn modelId="{5FCECAA4-B55F-4524-B52B-5579AFC35055}" type="presParOf" srcId="{7EBBDEE6-A55E-47FA-9020-5BC46200AFFC}" destId="{BC0413A5-5CFC-41A1-A4D1-32D9D3A580EB}" srcOrd="6" destOrd="0" presId="urn:microsoft.com/office/officeart/2005/8/layout/chevron2"/>
    <dgm:cxn modelId="{A5C36485-CCE1-4523-911E-6345AFDCF231}" type="presParOf" srcId="{BC0413A5-5CFC-41A1-A4D1-32D9D3A580EB}" destId="{056CCBB6-5CE0-4348-89C6-99FB2D3AB62B}" srcOrd="0" destOrd="0" presId="urn:microsoft.com/office/officeart/2005/8/layout/chevron2"/>
    <dgm:cxn modelId="{49CDF3A4-EBDD-472A-8CEE-35499F216772}" type="presParOf" srcId="{BC0413A5-5CFC-41A1-A4D1-32D9D3A580EB}" destId="{90709722-0E94-45E4-BEDD-48CB660682DD}" srcOrd="1" destOrd="0" presId="urn:microsoft.com/office/officeart/2005/8/layout/chevron2"/>
    <dgm:cxn modelId="{5DA3A105-B2B5-4570-ACCF-A2B4BFFDA4E8}" type="presParOf" srcId="{7EBBDEE6-A55E-47FA-9020-5BC46200AFFC}" destId="{13B0A0BF-E273-47AE-B262-3C6C9C4E8968}" srcOrd="7" destOrd="0" presId="urn:microsoft.com/office/officeart/2005/8/layout/chevron2"/>
    <dgm:cxn modelId="{9C5603DB-FB5F-489A-A5FC-119F4545BE24}" type="presParOf" srcId="{7EBBDEE6-A55E-47FA-9020-5BC46200AFFC}" destId="{5FCAE6DF-E40E-46F3-84CF-149E85A19097}" srcOrd="8" destOrd="0" presId="urn:microsoft.com/office/officeart/2005/8/layout/chevron2"/>
    <dgm:cxn modelId="{F75C00D0-5E0F-413E-AC94-1D55800F95C3}" type="presParOf" srcId="{5FCAE6DF-E40E-46F3-84CF-149E85A19097}" destId="{EB2E52AE-8FCF-47D0-B499-CFCFAF1883A9}" srcOrd="0" destOrd="0" presId="urn:microsoft.com/office/officeart/2005/8/layout/chevron2"/>
    <dgm:cxn modelId="{3052A6C1-D8FE-443D-9D61-8901A566CBC1}" type="presParOf" srcId="{5FCAE6DF-E40E-46F3-84CF-149E85A19097}" destId="{C92F1771-01AA-4FF3-B7EC-0229DB7A592C}" srcOrd="1" destOrd="0" presId="urn:microsoft.com/office/officeart/2005/8/layout/chevron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DFA48299-B840-4714-A5F6-769C74D74113}">
      <dsp:nvSpPr>
        <dsp:cNvPr id="0" name=""/>
        <dsp:cNvSpPr/>
      </dsp:nvSpPr>
      <dsp:spPr>
        <a:xfrm rot="5400000">
          <a:off x="-179747" y="180063"/>
          <a:ext cx="1198317" cy="838822"/>
        </a:xfrm>
        <a:prstGeom prst="chevron">
          <a:avLst/>
        </a:prstGeom>
        <a:solidFill>
          <a:schemeClr val="accent1">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4605" tIns="14605" rIns="14605" bIns="14605" numCol="1" spcCol="1270" anchor="ctr" anchorCtr="0">
          <a:noAutofit/>
        </a:bodyPr>
        <a:lstStyle/>
        <a:p>
          <a:pPr marL="0" lvl="0" indent="0" algn="ctr" defTabSz="1022350">
            <a:lnSpc>
              <a:spcPct val="90000"/>
            </a:lnSpc>
            <a:spcBef>
              <a:spcPct val="0"/>
            </a:spcBef>
            <a:spcAft>
              <a:spcPct val="35000"/>
            </a:spcAft>
            <a:buNone/>
          </a:pPr>
          <a:r>
            <a:rPr lang="en-US" sz="2300" kern="1200" dirty="0"/>
            <a:t>SDD</a:t>
          </a:r>
        </a:p>
      </dsp:txBody>
      <dsp:txXfrm rot="-5400000">
        <a:off x="1" y="419726"/>
        <a:ext cx="838822" cy="359495"/>
      </dsp:txXfrm>
    </dsp:sp>
    <dsp:sp modelId="{19C32B8D-512E-49A1-A0E6-109384C61E4D}">
      <dsp:nvSpPr>
        <dsp:cNvPr id="0" name=""/>
        <dsp:cNvSpPr/>
      </dsp:nvSpPr>
      <dsp:spPr>
        <a:xfrm rot="5400000">
          <a:off x="4083797" y="-3244660"/>
          <a:ext cx="778906" cy="7268857"/>
        </a:xfrm>
        <a:prstGeom prst="round2SameRect">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220472" tIns="19685" rIns="19685" bIns="19685" numCol="1" spcCol="1270" anchor="ctr" anchorCtr="0">
          <a:noAutofit/>
        </a:bodyPr>
        <a:lstStyle/>
        <a:p>
          <a:pPr marL="285750" lvl="1" indent="-285750" algn="l" defTabSz="1377950">
            <a:lnSpc>
              <a:spcPct val="90000"/>
            </a:lnSpc>
            <a:spcBef>
              <a:spcPct val="0"/>
            </a:spcBef>
            <a:spcAft>
              <a:spcPct val="15000"/>
            </a:spcAft>
            <a:buChar char="•"/>
          </a:pPr>
          <a:r>
            <a:rPr lang="en-US" sz="3100" kern="1200" dirty="0"/>
            <a:t>Software Design and Development (40%)</a:t>
          </a:r>
        </a:p>
      </dsp:txBody>
      <dsp:txXfrm rot="-5400000">
        <a:off x="838822" y="38338"/>
        <a:ext cx="7230834" cy="702860"/>
      </dsp:txXfrm>
    </dsp:sp>
    <dsp:sp modelId="{AAD30B60-88C6-4919-B6DD-9F480459E84E}">
      <dsp:nvSpPr>
        <dsp:cNvPr id="0" name=""/>
        <dsp:cNvSpPr/>
      </dsp:nvSpPr>
      <dsp:spPr>
        <a:xfrm rot="5400000">
          <a:off x="-179747" y="1230859"/>
          <a:ext cx="1198317" cy="838822"/>
        </a:xfrm>
        <a:prstGeom prst="chevron">
          <a:avLst/>
        </a:prstGeom>
        <a:solidFill>
          <a:schemeClr val="accent1">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4605" tIns="14605" rIns="14605" bIns="14605" numCol="1" spcCol="1270" anchor="ctr" anchorCtr="0">
          <a:noAutofit/>
        </a:bodyPr>
        <a:lstStyle/>
        <a:p>
          <a:pPr marL="0" lvl="0" indent="0" algn="ctr" defTabSz="1022350">
            <a:lnSpc>
              <a:spcPct val="90000"/>
            </a:lnSpc>
            <a:spcBef>
              <a:spcPct val="0"/>
            </a:spcBef>
            <a:spcAft>
              <a:spcPct val="35000"/>
            </a:spcAft>
            <a:buNone/>
          </a:pPr>
          <a:r>
            <a:rPr lang="en-US" sz="2300" kern="1200" dirty="0"/>
            <a:t>DDD</a:t>
          </a:r>
        </a:p>
      </dsp:txBody>
      <dsp:txXfrm rot="-5400000">
        <a:off x="1" y="1470522"/>
        <a:ext cx="838822" cy="359495"/>
      </dsp:txXfrm>
    </dsp:sp>
    <dsp:sp modelId="{0DFDFC6D-8604-4378-B6A3-6A6720006C95}">
      <dsp:nvSpPr>
        <dsp:cNvPr id="0" name=""/>
        <dsp:cNvSpPr/>
      </dsp:nvSpPr>
      <dsp:spPr>
        <a:xfrm rot="5400000">
          <a:off x="4083797" y="-2193863"/>
          <a:ext cx="778906" cy="7268857"/>
        </a:xfrm>
        <a:prstGeom prst="round2SameRect">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220472" tIns="19685" rIns="19685" bIns="19685" numCol="1" spcCol="1270" anchor="ctr" anchorCtr="0">
          <a:noAutofit/>
        </a:bodyPr>
        <a:lstStyle/>
        <a:p>
          <a:pPr marL="285750" lvl="1" indent="-285750" algn="l" defTabSz="1377950">
            <a:lnSpc>
              <a:spcPct val="90000"/>
            </a:lnSpc>
            <a:spcBef>
              <a:spcPct val="0"/>
            </a:spcBef>
            <a:spcAft>
              <a:spcPct val="15000"/>
            </a:spcAft>
            <a:buChar char="•"/>
          </a:pPr>
          <a:r>
            <a:rPr lang="en-US" sz="3100" kern="1200" dirty="0"/>
            <a:t>Database Design and Development (25%)</a:t>
          </a:r>
        </a:p>
      </dsp:txBody>
      <dsp:txXfrm rot="-5400000">
        <a:off x="838822" y="1089135"/>
        <a:ext cx="7230834" cy="702860"/>
      </dsp:txXfrm>
    </dsp:sp>
    <dsp:sp modelId="{3451A250-69C4-4911-A975-CCB8D5F6053B}">
      <dsp:nvSpPr>
        <dsp:cNvPr id="0" name=""/>
        <dsp:cNvSpPr/>
      </dsp:nvSpPr>
      <dsp:spPr>
        <a:xfrm rot="5400000">
          <a:off x="-179747" y="2281656"/>
          <a:ext cx="1198317" cy="838822"/>
        </a:xfrm>
        <a:prstGeom prst="chevron">
          <a:avLst/>
        </a:prstGeom>
        <a:solidFill>
          <a:schemeClr val="accent1">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4605" tIns="14605" rIns="14605" bIns="14605" numCol="1" spcCol="1270" anchor="ctr" anchorCtr="0">
          <a:noAutofit/>
        </a:bodyPr>
        <a:lstStyle/>
        <a:p>
          <a:pPr marL="0" lvl="0" indent="0" algn="ctr" defTabSz="1022350">
            <a:lnSpc>
              <a:spcPct val="90000"/>
            </a:lnSpc>
            <a:spcBef>
              <a:spcPct val="0"/>
            </a:spcBef>
            <a:spcAft>
              <a:spcPct val="35000"/>
            </a:spcAft>
            <a:buNone/>
          </a:pPr>
          <a:r>
            <a:rPr lang="en-US" sz="2300" kern="1200" dirty="0"/>
            <a:t>WDD</a:t>
          </a:r>
        </a:p>
      </dsp:txBody>
      <dsp:txXfrm rot="-5400000">
        <a:off x="1" y="2521319"/>
        <a:ext cx="838822" cy="359495"/>
      </dsp:txXfrm>
    </dsp:sp>
    <dsp:sp modelId="{56AFEC8A-7D45-4965-A718-64DE087BA59E}">
      <dsp:nvSpPr>
        <dsp:cNvPr id="0" name=""/>
        <dsp:cNvSpPr/>
      </dsp:nvSpPr>
      <dsp:spPr>
        <a:xfrm rot="5400000">
          <a:off x="4083797" y="-1143067"/>
          <a:ext cx="778906" cy="7268857"/>
        </a:xfrm>
        <a:prstGeom prst="round2SameRect">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220472" tIns="19685" rIns="19685" bIns="19685" numCol="1" spcCol="1270" anchor="ctr" anchorCtr="0">
          <a:noAutofit/>
        </a:bodyPr>
        <a:lstStyle/>
        <a:p>
          <a:pPr marL="285750" lvl="1" indent="-285750" algn="l" defTabSz="1377950">
            <a:lnSpc>
              <a:spcPct val="90000"/>
            </a:lnSpc>
            <a:spcBef>
              <a:spcPct val="0"/>
            </a:spcBef>
            <a:spcAft>
              <a:spcPct val="15000"/>
            </a:spcAft>
            <a:buChar char="•"/>
          </a:pPr>
          <a:r>
            <a:rPr lang="en-US" sz="3100" kern="1200" dirty="0"/>
            <a:t>Web Design and Development (25%)</a:t>
          </a:r>
        </a:p>
      </dsp:txBody>
      <dsp:txXfrm rot="-5400000">
        <a:off x="838822" y="2139931"/>
        <a:ext cx="7230834" cy="702860"/>
      </dsp:txXfrm>
    </dsp:sp>
    <dsp:sp modelId="{FC3BC805-9B18-48D9-A4F4-4BE17D54A28E}">
      <dsp:nvSpPr>
        <dsp:cNvPr id="0" name=""/>
        <dsp:cNvSpPr/>
      </dsp:nvSpPr>
      <dsp:spPr>
        <a:xfrm rot="5400000">
          <a:off x="-179747" y="3332452"/>
          <a:ext cx="1198317" cy="838822"/>
        </a:xfrm>
        <a:prstGeom prst="chevron">
          <a:avLst/>
        </a:prstGeom>
        <a:solidFill>
          <a:schemeClr val="accent1">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4605" tIns="14605" rIns="14605" bIns="14605" numCol="1" spcCol="1270" anchor="ctr" anchorCtr="0">
          <a:noAutofit/>
        </a:bodyPr>
        <a:lstStyle/>
        <a:p>
          <a:pPr marL="0" lvl="0" indent="0" algn="ctr" defTabSz="1022350">
            <a:lnSpc>
              <a:spcPct val="90000"/>
            </a:lnSpc>
            <a:spcBef>
              <a:spcPct val="0"/>
            </a:spcBef>
            <a:spcAft>
              <a:spcPct val="35000"/>
            </a:spcAft>
            <a:buNone/>
          </a:pPr>
          <a:r>
            <a:rPr lang="en-US" sz="2300" kern="1200" dirty="0"/>
            <a:t>Sys</a:t>
          </a:r>
          <a:endParaRPr lang="en-US" sz="2300" b="1" kern="1200" dirty="0"/>
        </a:p>
      </dsp:txBody>
      <dsp:txXfrm rot="-5400000">
        <a:off x="1" y="3572115"/>
        <a:ext cx="838822" cy="359495"/>
      </dsp:txXfrm>
    </dsp:sp>
    <dsp:sp modelId="{DEB3B5C2-DCC9-444C-A40C-E0CEA06D8FF2}">
      <dsp:nvSpPr>
        <dsp:cNvPr id="0" name=""/>
        <dsp:cNvSpPr/>
      </dsp:nvSpPr>
      <dsp:spPr>
        <a:xfrm rot="5400000">
          <a:off x="4083797" y="-92270"/>
          <a:ext cx="778906" cy="7268857"/>
        </a:xfrm>
        <a:prstGeom prst="round2SameRect">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220472" tIns="19685" rIns="19685" bIns="19685" numCol="1" spcCol="1270" anchor="ctr" anchorCtr="0">
          <a:noAutofit/>
        </a:bodyPr>
        <a:lstStyle/>
        <a:p>
          <a:pPr marL="285750" lvl="1" indent="-285750" algn="l" defTabSz="1377950">
            <a:lnSpc>
              <a:spcPct val="90000"/>
            </a:lnSpc>
            <a:spcBef>
              <a:spcPct val="0"/>
            </a:spcBef>
            <a:spcAft>
              <a:spcPct val="15000"/>
            </a:spcAft>
            <a:buChar char="•"/>
          </a:pPr>
          <a:r>
            <a:rPr lang="en-US" sz="3100" kern="1200" dirty="0"/>
            <a:t>Computer Systems (10%)</a:t>
          </a:r>
        </a:p>
      </dsp:txBody>
      <dsp:txXfrm rot="-5400000">
        <a:off x="838822" y="3190728"/>
        <a:ext cx="7230834" cy="702860"/>
      </dsp:txXfrm>
    </dsp:sp>
  </dsp:spTree>
</dsp:drawing>
</file>

<file path=ppt/diagrams/drawing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DFA48299-B840-4714-A5F6-769C74D74113}">
      <dsp:nvSpPr>
        <dsp:cNvPr id="0" name=""/>
        <dsp:cNvSpPr/>
      </dsp:nvSpPr>
      <dsp:spPr>
        <a:xfrm rot="5400000">
          <a:off x="-144690" y="146350"/>
          <a:ext cx="964603" cy="675222"/>
        </a:xfrm>
        <a:prstGeom prst="chevron">
          <a:avLst/>
        </a:prstGeom>
        <a:solidFill>
          <a:schemeClr val="accent1">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2065" tIns="12065" rIns="12065" bIns="12065" numCol="1" spcCol="1270" anchor="ctr" anchorCtr="0">
          <a:noAutofit/>
        </a:bodyPr>
        <a:lstStyle/>
        <a:p>
          <a:pPr marL="0" lvl="0" indent="0" algn="ctr" defTabSz="844550">
            <a:lnSpc>
              <a:spcPct val="90000"/>
            </a:lnSpc>
            <a:spcBef>
              <a:spcPct val="0"/>
            </a:spcBef>
            <a:spcAft>
              <a:spcPct val="35000"/>
            </a:spcAft>
            <a:buNone/>
          </a:pPr>
          <a:r>
            <a:rPr lang="en-US" sz="1900" kern="1200" dirty="0"/>
            <a:t>SDD</a:t>
          </a:r>
        </a:p>
      </dsp:txBody>
      <dsp:txXfrm rot="-5400000">
        <a:off x="1" y="339270"/>
        <a:ext cx="675222" cy="289381"/>
      </dsp:txXfrm>
    </dsp:sp>
    <dsp:sp modelId="{19C32B8D-512E-49A1-A0E6-109384C61E4D}">
      <dsp:nvSpPr>
        <dsp:cNvPr id="0" name=""/>
        <dsp:cNvSpPr/>
      </dsp:nvSpPr>
      <dsp:spPr>
        <a:xfrm rot="5400000">
          <a:off x="4077955" y="-3401073"/>
          <a:ext cx="626992" cy="7432457"/>
        </a:xfrm>
        <a:prstGeom prst="round2SameRect">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227584" tIns="20320" rIns="20320" bIns="20320" numCol="1" spcCol="1270" anchor="ctr" anchorCtr="0">
          <a:noAutofit/>
        </a:bodyPr>
        <a:lstStyle/>
        <a:p>
          <a:pPr marL="285750" lvl="1" indent="-285750" algn="l" defTabSz="1422400">
            <a:lnSpc>
              <a:spcPct val="90000"/>
            </a:lnSpc>
            <a:spcBef>
              <a:spcPct val="0"/>
            </a:spcBef>
            <a:spcAft>
              <a:spcPct val="15000"/>
            </a:spcAft>
            <a:buChar char="•"/>
          </a:pPr>
          <a:r>
            <a:rPr lang="en-US" sz="3200" kern="1200" dirty="0"/>
            <a:t>Software Design and Development (54%)</a:t>
          </a:r>
        </a:p>
      </dsp:txBody>
      <dsp:txXfrm rot="-5400000">
        <a:off x="675223" y="32266"/>
        <a:ext cx="7401850" cy="565778"/>
      </dsp:txXfrm>
    </dsp:sp>
    <dsp:sp modelId="{AAD30B60-88C6-4919-B6DD-9F480459E84E}">
      <dsp:nvSpPr>
        <dsp:cNvPr id="0" name=""/>
        <dsp:cNvSpPr/>
      </dsp:nvSpPr>
      <dsp:spPr>
        <a:xfrm rot="5400000">
          <a:off x="-144690" y="992203"/>
          <a:ext cx="964603" cy="675222"/>
        </a:xfrm>
        <a:prstGeom prst="chevron">
          <a:avLst/>
        </a:prstGeom>
        <a:solidFill>
          <a:schemeClr val="accent1">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2065" tIns="12065" rIns="12065" bIns="12065" numCol="1" spcCol="1270" anchor="ctr" anchorCtr="0">
          <a:noAutofit/>
        </a:bodyPr>
        <a:lstStyle/>
        <a:p>
          <a:pPr marL="0" lvl="0" indent="0" algn="ctr" defTabSz="844550">
            <a:lnSpc>
              <a:spcPct val="90000"/>
            </a:lnSpc>
            <a:spcBef>
              <a:spcPct val="0"/>
            </a:spcBef>
            <a:spcAft>
              <a:spcPct val="35000"/>
            </a:spcAft>
            <a:buNone/>
          </a:pPr>
          <a:r>
            <a:rPr lang="en-US" sz="1900" kern="1200" dirty="0"/>
            <a:t>DDD</a:t>
          </a:r>
        </a:p>
      </dsp:txBody>
      <dsp:txXfrm rot="-5400000">
        <a:off x="1" y="1185123"/>
        <a:ext cx="675222" cy="289381"/>
      </dsp:txXfrm>
    </dsp:sp>
    <dsp:sp modelId="{0DFDFC6D-8604-4378-B6A3-6A6720006C95}">
      <dsp:nvSpPr>
        <dsp:cNvPr id="0" name=""/>
        <dsp:cNvSpPr/>
      </dsp:nvSpPr>
      <dsp:spPr>
        <a:xfrm rot="5400000">
          <a:off x="4077955" y="-2555219"/>
          <a:ext cx="626992" cy="7432457"/>
        </a:xfrm>
        <a:prstGeom prst="round2SameRect">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227584" tIns="20320" rIns="20320" bIns="20320" numCol="1" spcCol="1270" anchor="ctr" anchorCtr="0">
          <a:noAutofit/>
        </a:bodyPr>
        <a:lstStyle/>
        <a:p>
          <a:pPr marL="285750" lvl="1" indent="-285750" algn="l" defTabSz="1422400">
            <a:lnSpc>
              <a:spcPct val="90000"/>
            </a:lnSpc>
            <a:spcBef>
              <a:spcPct val="0"/>
            </a:spcBef>
            <a:spcAft>
              <a:spcPct val="15000"/>
            </a:spcAft>
            <a:buChar char="•"/>
          </a:pPr>
          <a:r>
            <a:rPr lang="en-US" sz="3200" kern="1200" dirty="0"/>
            <a:t>Database Design and Development (33%)</a:t>
          </a:r>
        </a:p>
      </dsp:txBody>
      <dsp:txXfrm rot="-5400000">
        <a:off x="675223" y="878120"/>
        <a:ext cx="7401850" cy="565778"/>
      </dsp:txXfrm>
    </dsp:sp>
    <dsp:sp modelId="{17253025-0BE3-46B4-B2C8-BFD879D75B26}">
      <dsp:nvSpPr>
        <dsp:cNvPr id="0" name=""/>
        <dsp:cNvSpPr/>
      </dsp:nvSpPr>
      <dsp:spPr>
        <a:xfrm rot="5400000">
          <a:off x="-144690" y="1838057"/>
          <a:ext cx="964603" cy="675222"/>
        </a:xfrm>
        <a:prstGeom prst="chevron">
          <a:avLst/>
        </a:prstGeom>
        <a:solidFill>
          <a:srgbClr val="FF0000"/>
        </a:solidFill>
        <a:ln w="12700" cap="flat" cmpd="sng" algn="ctr">
          <a:solidFill>
            <a:srgbClr val="FF0000"/>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2065" tIns="12065" rIns="12065" bIns="12065" numCol="1" spcCol="1270" anchor="ctr" anchorCtr="0">
          <a:noAutofit/>
        </a:bodyPr>
        <a:lstStyle/>
        <a:p>
          <a:pPr marL="0" lvl="0" indent="0" algn="ctr" defTabSz="844550">
            <a:lnSpc>
              <a:spcPct val="90000"/>
            </a:lnSpc>
            <a:spcBef>
              <a:spcPct val="0"/>
            </a:spcBef>
            <a:spcAft>
              <a:spcPct val="35000"/>
            </a:spcAft>
            <a:buNone/>
          </a:pPr>
          <a:endParaRPr lang="en-US" sz="1900" kern="1200" dirty="0"/>
        </a:p>
      </dsp:txBody>
      <dsp:txXfrm rot="-5400000">
        <a:off x="1" y="2030977"/>
        <a:ext cx="675222" cy="289381"/>
      </dsp:txXfrm>
    </dsp:sp>
    <dsp:sp modelId="{B2D4CD90-7709-4B59-AC85-D09667CFC12B}">
      <dsp:nvSpPr>
        <dsp:cNvPr id="0" name=""/>
        <dsp:cNvSpPr/>
      </dsp:nvSpPr>
      <dsp:spPr>
        <a:xfrm rot="5400000">
          <a:off x="4077955" y="-1709365"/>
          <a:ext cx="626992" cy="7432457"/>
        </a:xfrm>
        <a:prstGeom prst="round2SameRect">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227584" tIns="20320" rIns="20320" bIns="20320" numCol="1" spcCol="1270" anchor="ctr" anchorCtr="0">
          <a:noAutofit/>
        </a:bodyPr>
        <a:lstStyle/>
        <a:p>
          <a:pPr marL="285750" lvl="1" indent="-285750" algn="l" defTabSz="1422400">
            <a:lnSpc>
              <a:spcPct val="90000"/>
            </a:lnSpc>
            <a:spcBef>
              <a:spcPct val="0"/>
            </a:spcBef>
            <a:spcAft>
              <a:spcPct val="15000"/>
            </a:spcAft>
            <a:buChar char="•"/>
          </a:pPr>
          <a:r>
            <a:rPr lang="en-US" sz="3200" b="1" kern="1200" dirty="0">
              <a:latin typeface="+mn-lt"/>
            </a:rPr>
            <a:t>Assignment</a:t>
          </a:r>
          <a:r>
            <a:rPr lang="en-US" sz="3200" b="0" kern="1200" dirty="0">
              <a:latin typeface="+mn-lt"/>
            </a:rPr>
            <a:t> (</a:t>
          </a:r>
          <a:r>
            <a:rPr lang="en-US" sz="3200" b="0" kern="1200" dirty="0">
              <a:solidFill>
                <a:srgbClr val="FF0000"/>
              </a:solidFill>
              <a:latin typeface="+mn-lt"/>
            </a:rPr>
            <a:t>⅓ of marks</a:t>
          </a:r>
          <a:r>
            <a:rPr lang="en-US" sz="3200" b="0" kern="1200" dirty="0">
              <a:latin typeface="+mn-lt"/>
            </a:rPr>
            <a:t>)</a:t>
          </a:r>
          <a:endParaRPr lang="en-US" sz="3200" b="1" kern="1200" dirty="0">
            <a:latin typeface="+mn-lt"/>
          </a:endParaRPr>
        </a:p>
      </dsp:txBody>
      <dsp:txXfrm rot="-5400000">
        <a:off x="675223" y="1723974"/>
        <a:ext cx="7401850" cy="565778"/>
      </dsp:txXfrm>
    </dsp:sp>
    <dsp:sp modelId="{056CCBB6-5CE0-4348-89C6-99FB2D3AB62B}">
      <dsp:nvSpPr>
        <dsp:cNvPr id="0" name=""/>
        <dsp:cNvSpPr/>
      </dsp:nvSpPr>
      <dsp:spPr>
        <a:xfrm rot="5400000">
          <a:off x="-144690" y="2683911"/>
          <a:ext cx="964603" cy="675222"/>
        </a:xfrm>
        <a:prstGeom prst="chevron">
          <a:avLst/>
        </a:prstGeom>
        <a:solidFill>
          <a:schemeClr val="accent1">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2065" tIns="12065" rIns="12065" bIns="12065" numCol="1" spcCol="1270" anchor="ctr" anchorCtr="0">
          <a:noAutofit/>
        </a:bodyPr>
        <a:lstStyle/>
        <a:p>
          <a:pPr marL="0" lvl="0" indent="0" algn="ctr" defTabSz="844550">
            <a:lnSpc>
              <a:spcPct val="90000"/>
            </a:lnSpc>
            <a:spcBef>
              <a:spcPct val="0"/>
            </a:spcBef>
            <a:spcAft>
              <a:spcPct val="35000"/>
            </a:spcAft>
            <a:buNone/>
          </a:pPr>
          <a:r>
            <a:rPr lang="en-US" sz="1900" kern="1200" dirty="0"/>
            <a:t>C/Sys</a:t>
          </a:r>
        </a:p>
      </dsp:txBody>
      <dsp:txXfrm rot="-5400000">
        <a:off x="1" y="2876831"/>
        <a:ext cx="675222" cy="289381"/>
      </dsp:txXfrm>
    </dsp:sp>
    <dsp:sp modelId="{90709722-0E94-45E4-BEDD-48CB660682DD}">
      <dsp:nvSpPr>
        <dsp:cNvPr id="0" name=""/>
        <dsp:cNvSpPr/>
      </dsp:nvSpPr>
      <dsp:spPr>
        <a:xfrm rot="5400000">
          <a:off x="4077955" y="-863511"/>
          <a:ext cx="626992" cy="7432457"/>
        </a:xfrm>
        <a:prstGeom prst="round2SameRect">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227584" tIns="20320" rIns="20320" bIns="20320" numCol="1" spcCol="1270" anchor="ctr" anchorCtr="0">
          <a:noAutofit/>
        </a:bodyPr>
        <a:lstStyle/>
        <a:p>
          <a:pPr marL="285750" lvl="1" indent="-285750" algn="l" defTabSz="1422400">
            <a:lnSpc>
              <a:spcPct val="90000"/>
            </a:lnSpc>
            <a:spcBef>
              <a:spcPct val="0"/>
            </a:spcBef>
            <a:spcAft>
              <a:spcPct val="15000"/>
            </a:spcAft>
            <a:buChar char="•"/>
          </a:pPr>
          <a:r>
            <a:rPr lang="en-US" sz="3200" kern="1200" dirty="0"/>
            <a:t>Computer Systems (13%)</a:t>
          </a:r>
        </a:p>
      </dsp:txBody>
      <dsp:txXfrm rot="-5400000">
        <a:off x="675223" y="2569828"/>
        <a:ext cx="7401850" cy="565778"/>
      </dsp:txXfrm>
    </dsp:sp>
    <dsp:sp modelId="{EB2E52AE-8FCF-47D0-B499-CFCFAF1883A9}">
      <dsp:nvSpPr>
        <dsp:cNvPr id="0" name=""/>
        <dsp:cNvSpPr/>
      </dsp:nvSpPr>
      <dsp:spPr>
        <a:xfrm rot="5400000">
          <a:off x="-144690" y="3529765"/>
          <a:ext cx="964603" cy="675222"/>
        </a:xfrm>
        <a:prstGeom prst="chevron">
          <a:avLst/>
        </a:prstGeom>
        <a:solidFill>
          <a:srgbClr val="FF0000"/>
        </a:solidFill>
        <a:ln w="12700" cap="flat" cmpd="sng" algn="ctr">
          <a:solidFill>
            <a:srgbClr val="FF0000"/>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2065" tIns="12065" rIns="12065" bIns="12065" numCol="1" spcCol="1270" anchor="ctr" anchorCtr="0">
          <a:noAutofit/>
        </a:bodyPr>
        <a:lstStyle/>
        <a:p>
          <a:pPr marL="0" lvl="0" indent="0" algn="ctr" defTabSz="844550">
            <a:lnSpc>
              <a:spcPct val="90000"/>
            </a:lnSpc>
            <a:spcBef>
              <a:spcPct val="0"/>
            </a:spcBef>
            <a:spcAft>
              <a:spcPct val="35000"/>
            </a:spcAft>
            <a:buNone/>
          </a:pPr>
          <a:endParaRPr lang="en-US" sz="1900" kern="1200"/>
        </a:p>
      </dsp:txBody>
      <dsp:txXfrm rot="-5400000">
        <a:off x="1" y="3722685"/>
        <a:ext cx="675222" cy="289381"/>
      </dsp:txXfrm>
    </dsp:sp>
    <dsp:sp modelId="{C92F1771-01AA-4FF3-B7EC-0229DB7A592C}">
      <dsp:nvSpPr>
        <dsp:cNvPr id="0" name=""/>
        <dsp:cNvSpPr/>
      </dsp:nvSpPr>
      <dsp:spPr>
        <a:xfrm rot="5400000">
          <a:off x="4077955" y="-17657"/>
          <a:ext cx="626992" cy="7432457"/>
        </a:xfrm>
        <a:prstGeom prst="round2SameRect">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227584" tIns="20320" rIns="20320" bIns="20320" numCol="1" spcCol="1270" anchor="ctr" anchorCtr="0">
          <a:noAutofit/>
        </a:bodyPr>
        <a:lstStyle/>
        <a:p>
          <a:pPr marL="285750" lvl="1" indent="-285750" algn="l" defTabSz="1422400">
            <a:lnSpc>
              <a:spcPct val="90000"/>
            </a:lnSpc>
            <a:spcBef>
              <a:spcPct val="0"/>
            </a:spcBef>
            <a:spcAft>
              <a:spcPct val="15000"/>
            </a:spcAft>
            <a:buChar char="•"/>
          </a:pPr>
          <a:r>
            <a:rPr lang="en-US" sz="3200" b="1" kern="1200" dirty="0">
              <a:latin typeface="+mn-lt"/>
            </a:rPr>
            <a:t>Exam</a:t>
          </a:r>
          <a:r>
            <a:rPr lang="en-US" sz="3200" b="0" kern="1200" dirty="0">
              <a:latin typeface="+mn-lt"/>
            </a:rPr>
            <a:t> (</a:t>
          </a:r>
          <a:r>
            <a:rPr lang="en-US" sz="3200" b="0" kern="1200" dirty="0">
              <a:solidFill>
                <a:srgbClr val="FF0000"/>
              </a:solidFill>
              <a:latin typeface="+mn-lt"/>
            </a:rPr>
            <a:t>⅔ of marks</a:t>
          </a:r>
          <a:r>
            <a:rPr lang="en-US" sz="3200" b="0" kern="1200" dirty="0">
              <a:latin typeface="+mn-lt"/>
            </a:rPr>
            <a:t>)</a:t>
          </a:r>
          <a:endParaRPr lang="en-US" sz="3200" b="1" kern="1200" dirty="0">
            <a:latin typeface="+mn-lt"/>
          </a:endParaRPr>
        </a:p>
      </dsp:txBody>
      <dsp:txXfrm rot="-5400000">
        <a:off x="675223" y="3415682"/>
        <a:ext cx="7401850" cy="565778"/>
      </dsp:txXfrm>
    </dsp:sp>
  </dsp:spTree>
</dsp:drawing>
</file>

<file path=ppt/diagrams/layout1.xml><?xml version="1.0" encoding="utf-8"?>
<dgm:layoutDef xmlns:dgm="http://schemas.openxmlformats.org/drawingml/2006/diagram" xmlns:a="http://schemas.openxmlformats.org/drawingml/2006/main" uniqueId="urn:microsoft.com/office/officeart/2005/8/layout/chevron2">
  <dgm:title val=""/>
  <dgm:desc val=""/>
  <dgm:catLst>
    <dgm:cat type="process" pri="12000"/>
    <dgm:cat type="list" pri="16000"/>
    <dgm:cat type="convert" pri="11000"/>
  </dgm:catLst>
  <dgm:sampData>
    <dgm:dataModel>
      <dgm:ptLst>
        <dgm:pt modelId="0" type="doc"/>
        <dgm:pt modelId="1">
          <dgm:prSet phldr="1"/>
        </dgm:pt>
        <dgm:pt modelId="11">
          <dgm:prSet phldr="1"/>
        </dgm:pt>
        <dgm:pt modelId="12">
          <dgm:prSet phldr="1"/>
        </dgm:pt>
        <dgm:pt modelId="2">
          <dgm:prSet phldr="1"/>
        </dgm:pt>
        <dgm:pt modelId="21">
          <dgm:prSet phldr="1"/>
        </dgm:pt>
        <dgm:pt modelId="22">
          <dgm:prSet phldr="1"/>
        </dgm:pt>
        <dgm:pt modelId="3">
          <dgm:prSet phldr="1"/>
        </dgm:pt>
        <dgm:pt modelId="31">
          <dgm:prSet phldr="1"/>
        </dgm:pt>
        <dgm:pt modelId="32">
          <dgm:prSet phldr="1"/>
        </dgm:pt>
      </dgm:ptLst>
      <dgm:cxnLst>
        <dgm:cxn modelId="4" srcId="0" destId="1" srcOrd="0" destOrd="0"/>
        <dgm:cxn modelId="5" srcId="0" destId="2" srcOrd="1" destOrd="0"/>
        <dgm:cxn modelId="6" srcId="0" destId="3" srcOrd="2" destOrd="0"/>
        <dgm:cxn modelId="13" srcId="1" destId="11" srcOrd="0" destOrd="0"/>
        <dgm:cxn modelId="14" srcId="1" destId="12" srcOrd="1" destOrd="0"/>
        <dgm:cxn modelId="23" srcId="2" destId="21" srcOrd="0" destOrd="0"/>
        <dgm:cxn modelId="24" srcId="2" destId="22" srcOrd="1" destOrd="0"/>
        <dgm:cxn modelId="33" srcId="3" destId="31" srcOrd="0" destOrd="0"/>
        <dgm:cxn modelId="34" srcId="3" destId="32" srcOrd="1" destOrd="0"/>
      </dgm:cxnLst>
      <dgm:bg/>
      <dgm:whole/>
    </dgm:dataModel>
  </dgm:sampData>
  <dgm:styleData>
    <dgm:dataModel>
      <dgm:ptLst>
        <dgm:pt modelId="0" type="doc"/>
        <dgm:pt modelId="1"/>
      </dgm:ptLst>
      <dgm:cxnLst>
        <dgm:cxn modelId="4" srcId="0" destId="1" srcOrd="0" destOrd="0"/>
      </dgm:cxnLst>
      <dgm:bg/>
      <dgm:whole/>
    </dgm:dataModel>
  </dgm:styleData>
  <dgm:clrData>
    <dgm:dataModel>
      <dgm:ptLst>
        <dgm:pt modelId="0" type="doc"/>
        <dgm:pt modelId="1"/>
        <dgm:pt modelId="11"/>
        <dgm:pt modelId="2"/>
        <dgm:pt modelId="21"/>
        <dgm:pt modelId="3"/>
        <dgm:pt modelId="31"/>
        <dgm:pt modelId="4"/>
        <dgm:pt modelId="41"/>
      </dgm:ptLst>
      <dgm:cxnLst>
        <dgm:cxn modelId="5" srcId="0" destId="1" srcOrd="0" destOrd="0"/>
        <dgm:cxn modelId="6" srcId="0" destId="2" srcOrd="1" destOrd="0"/>
        <dgm:cxn modelId="7" srcId="0" destId="3" srcOrd="2" destOrd="0"/>
        <dgm:cxn modelId="8" srcId="0" destId="4" srcOrd="3" destOrd="0"/>
        <dgm:cxn modelId="13" srcId="1" destId="11" srcOrd="0" destOrd="0"/>
        <dgm:cxn modelId="23" srcId="2" destId="21" srcOrd="0" destOrd="0"/>
        <dgm:cxn modelId="33" srcId="3" destId="31" srcOrd="0" destOrd="0"/>
        <dgm:cxn modelId="43" srcId="4" destId="41" srcOrd="0" destOrd="0"/>
      </dgm:cxnLst>
      <dgm:bg/>
      <dgm:whole/>
    </dgm:dataModel>
  </dgm:clrData>
  <dgm:layoutNode name="linearFlow">
    <dgm:varLst>
      <dgm:dir/>
      <dgm:animLvl val="lvl"/>
      <dgm:resizeHandles val="exact"/>
    </dgm:varLst>
    <dgm:alg type="lin">
      <dgm:param type="linDir" val="fromT"/>
      <dgm:param type="nodeHorzAlign" val="l"/>
    </dgm:alg>
    <dgm:shape xmlns:r="http://schemas.openxmlformats.org/officeDocument/2006/relationships" r:blip="">
      <dgm:adjLst/>
    </dgm:shape>
    <dgm:presOf/>
    <dgm:constrLst>
      <dgm:constr type="h" for="ch" forName="composite" refType="h"/>
      <dgm:constr type="w" for="ch" forName="composite" refType="w"/>
      <dgm:constr type="h" for="des" forName="parentText" op="equ"/>
      <dgm:constr type="h" for="ch" forName="sp" val="-14.88"/>
      <dgm:constr type="h" for="ch" forName="sp" refType="w" refFor="des" refForName="parentText" op="gte" fact="-0.3"/>
      <dgm:constr type="primFontSz" for="des" forName="parentText" op="equ" val="65"/>
      <dgm:constr type="primFontSz" for="des" forName="descendantText" op="equ" val="65"/>
    </dgm:constrLst>
    <dgm:ruleLst/>
    <dgm:forEach name="Name0" axis="ch" ptType="node">
      <dgm:layoutNode name="composite">
        <dgm:alg type="composite"/>
        <dgm:shape xmlns:r="http://schemas.openxmlformats.org/officeDocument/2006/relationships" r:blip="">
          <dgm:adjLst/>
        </dgm:shape>
        <dgm:presOf/>
        <dgm:choose name="Name1">
          <dgm:if name="Name2" func="var" arg="dir" op="equ" val="norm">
            <dgm:constrLst>
              <dgm:constr type="t" for="ch" forName="parentText"/>
              <dgm:constr type="l" for="ch" forName="parentText"/>
              <dgm:constr type="w" for="ch" forName="parentText" refType="w" fact="0.4"/>
              <dgm:constr type="h" for="ch" forName="parentText" refType="h"/>
              <dgm:constr type="w" for="ch" forName="parentText" refType="w" op="lte" fact="0.5"/>
              <dgm:constr type="w" for="ch" forName="parentText" refType="h" refFor="ch" refForName="parentText" op="lte" fact="0.7"/>
              <dgm:constr type="h" for="ch" forName="parentText" refType="w" refFor="ch" refForName="parentText" op="lte" fact="3"/>
              <dgm:constr type="l" for="ch" forName="descendantText" refType="w" refFor="ch" refForName="parentText"/>
              <dgm:constr type="w" for="ch" forName="descendantText" refType="w"/>
              <dgm:constr type="wOff" for="ch" forName="descendantText" refType="w" refFor="ch" refForName="parentText" fact="-1"/>
              <dgm:constr type="t" for="ch" forName="descendantText"/>
              <dgm:constr type="b" for="ch" forName="descendantText" refType="h" refFor="ch" refForName="parentText"/>
              <dgm:constr type="bOff" for="ch" forName="descendantText" refType="w" refFor="ch" refForName="parentText" fact="-0.5"/>
            </dgm:constrLst>
          </dgm:if>
          <dgm:else name="Name3">
            <dgm:constrLst>
              <dgm:constr type="t" for="ch" forName="parentText"/>
              <dgm:constr type="r" for="ch" forName="parentText" refType="w"/>
              <dgm:constr type="w" for="ch" forName="parentText" refType="w" fact="0.4"/>
              <dgm:constr type="h" for="ch" forName="parentText" refType="h"/>
              <dgm:constr type="w" for="ch" forName="parentText" refType="w" op="lte" fact="0.5"/>
              <dgm:constr type="w" for="ch" forName="parentText" refType="h" refFor="ch" refForName="parentText" op="lte" fact="0.7"/>
              <dgm:constr type="h" for="ch" forName="parentText" refType="w" refFor="ch" refForName="parentText" op="lte" fact="3"/>
              <dgm:constr type="l" for="ch" forName="descendantText"/>
              <dgm:constr type="w" for="ch" forName="descendantText" refType="w"/>
              <dgm:constr type="wOff" for="ch" forName="descendantText" refType="w" refFor="ch" refForName="parentText" fact="-1"/>
              <dgm:constr type="t" for="ch" forName="descendantText"/>
              <dgm:constr type="b" for="ch" forName="descendantText" refType="h" refFor="ch" refForName="parentText"/>
              <dgm:constr type="bOff" for="ch" forName="descendantText" refType="w" refFor="ch" refForName="parentText" fact="-0.5"/>
            </dgm:constrLst>
          </dgm:else>
        </dgm:choose>
        <dgm:ruleLst/>
        <dgm:layoutNode name="parentText" styleLbl="alignNode1">
          <dgm:varLst>
            <dgm:chMax val="1"/>
            <dgm:bulletEnabled val="1"/>
          </dgm:varLst>
          <dgm:alg type="tx"/>
          <dgm:shape xmlns:r="http://schemas.openxmlformats.org/officeDocument/2006/relationships" rot="90" type="chevron" r:blip="">
            <dgm:adjLst/>
          </dgm:shape>
          <dgm:presOf axis="self" ptType="node"/>
          <dgm:constrLst>
            <dgm:constr type="lMarg" refType="primFontSz" fact="0.05"/>
            <dgm:constr type="rMarg" refType="primFontSz" fact="0.05"/>
            <dgm:constr type="tMarg" refType="primFontSz" fact="0.05"/>
            <dgm:constr type="bMarg" refType="primFontSz" fact="0.05"/>
          </dgm:constrLst>
          <dgm:ruleLst>
            <dgm:rule type="h" val="100" fact="NaN" max="NaN"/>
            <dgm:rule type="primFontSz" val="24" fact="NaN" max="NaN"/>
            <dgm:rule type="h" val="110" fact="NaN" max="NaN"/>
            <dgm:rule type="primFontSz" val="18" fact="NaN" max="NaN"/>
            <dgm:rule type="h" val="INF" fact="NaN" max="NaN"/>
            <dgm:rule type="primFontSz" val="5" fact="NaN" max="NaN"/>
          </dgm:ruleLst>
        </dgm:layoutNode>
        <dgm:layoutNode name="descendantText" styleLbl="alignAcc1">
          <dgm:varLst>
            <dgm:bulletEnabled val="1"/>
          </dgm:varLst>
          <dgm:choose name="Name4">
            <dgm:if name="Name5" func="var" arg="dir" op="equ" val="norm">
              <dgm:alg type="tx">
                <dgm:param type="stBulletLvl" val="1"/>
                <dgm:param type="txAnchorVertCh" val="mid"/>
              </dgm:alg>
              <dgm:shape xmlns:r="http://schemas.openxmlformats.org/officeDocument/2006/relationships" rot="90" type="round2SameRect" r:blip="">
                <dgm:adjLst/>
              </dgm:shape>
            </dgm:if>
            <dgm:else name="Name6">
              <dgm:alg type="tx">
                <dgm:param type="stBulletLvl" val="1"/>
                <dgm:param type="txAnchorVertCh" val="mid"/>
              </dgm:alg>
              <dgm:shape xmlns:r="http://schemas.openxmlformats.org/officeDocument/2006/relationships" rot="-90" type="round2SameRect" r:blip="">
                <dgm:adjLst/>
              </dgm:shape>
            </dgm:else>
          </dgm:choose>
          <dgm:presOf axis="des" ptType="node"/>
          <dgm:choose name="Name7">
            <dgm:if name="Name8" func="var" arg="dir" op="equ" val="norm">
              <dgm:constrLst>
                <dgm:constr type="secFontSz" refType="primFontSz"/>
                <dgm:constr type="tMarg" refType="primFontSz" fact="0.05"/>
                <dgm:constr type="bMarg" refType="primFontSz" fact="0.05"/>
                <dgm:constr type="rMarg" refType="primFontSz" fact="0.05"/>
              </dgm:constrLst>
            </dgm:if>
            <dgm:else name="Name9">
              <dgm:constrLst>
                <dgm:constr type="secFontSz" refType="primFontSz"/>
                <dgm:constr type="tMarg" refType="primFontSz" fact="0.05"/>
                <dgm:constr type="bMarg" refType="primFontSz" fact="0.05"/>
                <dgm:constr type="lMarg" refType="primFontSz" fact="0.05"/>
              </dgm:constrLst>
            </dgm:else>
          </dgm:choose>
          <dgm:ruleLst>
            <dgm:rule type="primFontSz" val="5" fact="NaN" max="NaN"/>
          </dgm:ruleLst>
        </dgm:layoutNode>
      </dgm:layoutNode>
      <dgm:forEach name="Name10" axis="followSib" ptType="sibTrans" cnt="1">
        <dgm:layoutNode name="sp">
          <dgm:alg type="sp"/>
          <dgm:shape xmlns:r="http://schemas.openxmlformats.org/officeDocument/2006/relationships" r:blip="">
            <dgm:adjLst/>
          </dgm:shape>
          <dgm:presOf axis="self"/>
          <dgm:constrLst>
            <dgm:constr type="w" val="1"/>
            <dgm:constr type="h" val="37.5"/>
          </dgm:constrLst>
          <dgm:ruleLst/>
        </dgm:layoutNode>
      </dgm:forEach>
    </dgm:forEach>
  </dgm:layoutNode>
</dgm:layoutDef>
</file>

<file path=ppt/diagrams/layout2.xml><?xml version="1.0" encoding="utf-8"?>
<dgm:layoutDef xmlns:dgm="http://schemas.openxmlformats.org/drawingml/2006/diagram" xmlns:a="http://schemas.openxmlformats.org/drawingml/2006/main" uniqueId="urn:microsoft.com/office/officeart/2005/8/layout/chevron2">
  <dgm:title val=""/>
  <dgm:desc val=""/>
  <dgm:catLst>
    <dgm:cat type="process" pri="12000"/>
    <dgm:cat type="list" pri="16000"/>
    <dgm:cat type="convert" pri="11000"/>
  </dgm:catLst>
  <dgm:sampData>
    <dgm:dataModel>
      <dgm:ptLst>
        <dgm:pt modelId="0" type="doc"/>
        <dgm:pt modelId="1">
          <dgm:prSet phldr="1"/>
        </dgm:pt>
        <dgm:pt modelId="11">
          <dgm:prSet phldr="1"/>
        </dgm:pt>
        <dgm:pt modelId="12">
          <dgm:prSet phldr="1"/>
        </dgm:pt>
        <dgm:pt modelId="2">
          <dgm:prSet phldr="1"/>
        </dgm:pt>
        <dgm:pt modelId="21">
          <dgm:prSet phldr="1"/>
        </dgm:pt>
        <dgm:pt modelId="22">
          <dgm:prSet phldr="1"/>
        </dgm:pt>
        <dgm:pt modelId="3">
          <dgm:prSet phldr="1"/>
        </dgm:pt>
        <dgm:pt modelId="31">
          <dgm:prSet phldr="1"/>
        </dgm:pt>
        <dgm:pt modelId="32">
          <dgm:prSet phldr="1"/>
        </dgm:pt>
      </dgm:ptLst>
      <dgm:cxnLst>
        <dgm:cxn modelId="4" srcId="0" destId="1" srcOrd="0" destOrd="0"/>
        <dgm:cxn modelId="5" srcId="0" destId="2" srcOrd="1" destOrd="0"/>
        <dgm:cxn modelId="6" srcId="0" destId="3" srcOrd="2" destOrd="0"/>
        <dgm:cxn modelId="13" srcId="1" destId="11" srcOrd="0" destOrd="0"/>
        <dgm:cxn modelId="14" srcId="1" destId="12" srcOrd="1" destOrd="0"/>
        <dgm:cxn modelId="23" srcId="2" destId="21" srcOrd="0" destOrd="0"/>
        <dgm:cxn modelId="24" srcId="2" destId="22" srcOrd="1" destOrd="0"/>
        <dgm:cxn modelId="33" srcId="3" destId="31" srcOrd="0" destOrd="0"/>
        <dgm:cxn modelId="34" srcId="3" destId="32" srcOrd="1" destOrd="0"/>
      </dgm:cxnLst>
      <dgm:bg/>
      <dgm:whole/>
    </dgm:dataModel>
  </dgm:sampData>
  <dgm:styleData>
    <dgm:dataModel>
      <dgm:ptLst>
        <dgm:pt modelId="0" type="doc"/>
        <dgm:pt modelId="1"/>
      </dgm:ptLst>
      <dgm:cxnLst>
        <dgm:cxn modelId="4" srcId="0" destId="1" srcOrd="0" destOrd="0"/>
      </dgm:cxnLst>
      <dgm:bg/>
      <dgm:whole/>
    </dgm:dataModel>
  </dgm:styleData>
  <dgm:clrData>
    <dgm:dataModel>
      <dgm:ptLst>
        <dgm:pt modelId="0" type="doc"/>
        <dgm:pt modelId="1"/>
        <dgm:pt modelId="11"/>
        <dgm:pt modelId="2"/>
        <dgm:pt modelId="21"/>
        <dgm:pt modelId="3"/>
        <dgm:pt modelId="31"/>
        <dgm:pt modelId="4"/>
        <dgm:pt modelId="41"/>
      </dgm:ptLst>
      <dgm:cxnLst>
        <dgm:cxn modelId="5" srcId="0" destId="1" srcOrd="0" destOrd="0"/>
        <dgm:cxn modelId="6" srcId="0" destId="2" srcOrd="1" destOrd="0"/>
        <dgm:cxn modelId="7" srcId="0" destId="3" srcOrd="2" destOrd="0"/>
        <dgm:cxn modelId="8" srcId="0" destId="4" srcOrd="3" destOrd="0"/>
        <dgm:cxn modelId="13" srcId="1" destId="11" srcOrd="0" destOrd="0"/>
        <dgm:cxn modelId="23" srcId="2" destId="21" srcOrd="0" destOrd="0"/>
        <dgm:cxn modelId="33" srcId="3" destId="31" srcOrd="0" destOrd="0"/>
        <dgm:cxn modelId="43" srcId="4" destId="41" srcOrd="0" destOrd="0"/>
      </dgm:cxnLst>
      <dgm:bg/>
      <dgm:whole/>
    </dgm:dataModel>
  </dgm:clrData>
  <dgm:layoutNode name="linearFlow">
    <dgm:varLst>
      <dgm:dir/>
      <dgm:animLvl val="lvl"/>
      <dgm:resizeHandles val="exact"/>
    </dgm:varLst>
    <dgm:alg type="lin">
      <dgm:param type="linDir" val="fromT"/>
      <dgm:param type="nodeHorzAlign" val="l"/>
    </dgm:alg>
    <dgm:shape xmlns:r="http://schemas.openxmlformats.org/officeDocument/2006/relationships" r:blip="">
      <dgm:adjLst/>
    </dgm:shape>
    <dgm:presOf/>
    <dgm:constrLst>
      <dgm:constr type="h" for="ch" forName="composite" refType="h"/>
      <dgm:constr type="w" for="ch" forName="composite" refType="w"/>
      <dgm:constr type="h" for="des" forName="parentText" op="equ"/>
      <dgm:constr type="h" for="ch" forName="sp" val="-14.88"/>
      <dgm:constr type="h" for="ch" forName="sp" refType="w" refFor="des" refForName="parentText" op="gte" fact="-0.3"/>
      <dgm:constr type="primFontSz" for="des" forName="parentText" op="equ" val="65"/>
      <dgm:constr type="primFontSz" for="des" forName="descendantText" op="equ" val="65"/>
    </dgm:constrLst>
    <dgm:ruleLst/>
    <dgm:forEach name="Name0" axis="ch" ptType="node">
      <dgm:layoutNode name="composite">
        <dgm:alg type="composite"/>
        <dgm:shape xmlns:r="http://schemas.openxmlformats.org/officeDocument/2006/relationships" r:blip="">
          <dgm:adjLst/>
        </dgm:shape>
        <dgm:presOf/>
        <dgm:choose name="Name1">
          <dgm:if name="Name2" func="var" arg="dir" op="equ" val="norm">
            <dgm:constrLst>
              <dgm:constr type="t" for="ch" forName="parentText"/>
              <dgm:constr type="l" for="ch" forName="parentText"/>
              <dgm:constr type="w" for="ch" forName="parentText" refType="w" fact="0.4"/>
              <dgm:constr type="h" for="ch" forName="parentText" refType="h"/>
              <dgm:constr type="w" for="ch" forName="parentText" refType="w" op="lte" fact="0.5"/>
              <dgm:constr type="w" for="ch" forName="parentText" refType="h" refFor="ch" refForName="parentText" op="lte" fact="0.7"/>
              <dgm:constr type="h" for="ch" forName="parentText" refType="w" refFor="ch" refForName="parentText" op="lte" fact="3"/>
              <dgm:constr type="l" for="ch" forName="descendantText" refType="w" refFor="ch" refForName="parentText"/>
              <dgm:constr type="w" for="ch" forName="descendantText" refType="w"/>
              <dgm:constr type="wOff" for="ch" forName="descendantText" refType="w" refFor="ch" refForName="parentText" fact="-1"/>
              <dgm:constr type="t" for="ch" forName="descendantText"/>
              <dgm:constr type="b" for="ch" forName="descendantText" refType="h" refFor="ch" refForName="parentText"/>
              <dgm:constr type="bOff" for="ch" forName="descendantText" refType="w" refFor="ch" refForName="parentText" fact="-0.5"/>
            </dgm:constrLst>
          </dgm:if>
          <dgm:else name="Name3">
            <dgm:constrLst>
              <dgm:constr type="t" for="ch" forName="parentText"/>
              <dgm:constr type="r" for="ch" forName="parentText" refType="w"/>
              <dgm:constr type="w" for="ch" forName="parentText" refType="w" fact="0.4"/>
              <dgm:constr type="h" for="ch" forName="parentText" refType="h"/>
              <dgm:constr type="w" for="ch" forName="parentText" refType="w" op="lte" fact="0.5"/>
              <dgm:constr type="w" for="ch" forName="parentText" refType="h" refFor="ch" refForName="parentText" op="lte" fact="0.7"/>
              <dgm:constr type="h" for="ch" forName="parentText" refType="w" refFor="ch" refForName="parentText" op="lte" fact="3"/>
              <dgm:constr type="l" for="ch" forName="descendantText"/>
              <dgm:constr type="w" for="ch" forName="descendantText" refType="w"/>
              <dgm:constr type="wOff" for="ch" forName="descendantText" refType="w" refFor="ch" refForName="parentText" fact="-1"/>
              <dgm:constr type="t" for="ch" forName="descendantText"/>
              <dgm:constr type="b" for="ch" forName="descendantText" refType="h" refFor="ch" refForName="parentText"/>
              <dgm:constr type="bOff" for="ch" forName="descendantText" refType="w" refFor="ch" refForName="parentText" fact="-0.5"/>
            </dgm:constrLst>
          </dgm:else>
        </dgm:choose>
        <dgm:ruleLst/>
        <dgm:layoutNode name="parentText" styleLbl="alignNode1">
          <dgm:varLst>
            <dgm:chMax val="1"/>
            <dgm:bulletEnabled val="1"/>
          </dgm:varLst>
          <dgm:alg type="tx"/>
          <dgm:shape xmlns:r="http://schemas.openxmlformats.org/officeDocument/2006/relationships" rot="90" type="chevron" r:blip="">
            <dgm:adjLst/>
          </dgm:shape>
          <dgm:presOf axis="self" ptType="node"/>
          <dgm:constrLst>
            <dgm:constr type="lMarg" refType="primFontSz" fact="0.05"/>
            <dgm:constr type="rMarg" refType="primFontSz" fact="0.05"/>
            <dgm:constr type="tMarg" refType="primFontSz" fact="0.05"/>
            <dgm:constr type="bMarg" refType="primFontSz" fact="0.05"/>
          </dgm:constrLst>
          <dgm:ruleLst>
            <dgm:rule type="h" val="100" fact="NaN" max="NaN"/>
            <dgm:rule type="primFontSz" val="24" fact="NaN" max="NaN"/>
            <dgm:rule type="h" val="110" fact="NaN" max="NaN"/>
            <dgm:rule type="primFontSz" val="18" fact="NaN" max="NaN"/>
            <dgm:rule type="h" val="INF" fact="NaN" max="NaN"/>
            <dgm:rule type="primFontSz" val="5" fact="NaN" max="NaN"/>
          </dgm:ruleLst>
        </dgm:layoutNode>
        <dgm:layoutNode name="descendantText" styleLbl="alignAcc1">
          <dgm:varLst>
            <dgm:bulletEnabled val="1"/>
          </dgm:varLst>
          <dgm:choose name="Name4">
            <dgm:if name="Name5" func="var" arg="dir" op="equ" val="norm">
              <dgm:alg type="tx">
                <dgm:param type="stBulletLvl" val="1"/>
                <dgm:param type="txAnchorVertCh" val="mid"/>
              </dgm:alg>
              <dgm:shape xmlns:r="http://schemas.openxmlformats.org/officeDocument/2006/relationships" rot="90" type="round2SameRect" r:blip="">
                <dgm:adjLst/>
              </dgm:shape>
            </dgm:if>
            <dgm:else name="Name6">
              <dgm:alg type="tx">
                <dgm:param type="stBulletLvl" val="1"/>
                <dgm:param type="txAnchorVertCh" val="mid"/>
              </dgm:alg>
              <dgm:shape xmlns:r="http://schemas.openxmlformats.org/officeDocument/2006/relationships" rot="-90" type="round2SameRect" r:blip="">
                <dgm:adjLst/>
              </dgm:shape>
            </dgm:else>
          </dgm:choose>
          <dgm:presOf axis="des" ptType="node"/>
          <dgm:choose name="Name7">
            <dgm:if name="Name8" func="var" arg="dir" op="equ" val="norm">
              <dgm:constrLst>
                <dgm:constr type="secFontSz" refType="primFontSz"/>
                <dgm:constr type="tMarg" refType="primFontSz" fact="0.05"/>
                <dgm:constr type="bMarg" refType="primFontSz" fact="0.05"/>
                <dgm:constr type="rMarg" refType="primFontSz" fact="0.05"/>
              </dgm:constrLst>
            </dgm:if>
            <dgm:else name="Name9">
              <dgm:constrLst>
                <dgm:constr type="secFontSz" refType="primFontSz"/>
                <dgm:constr type="tMarg" refType="primFontSz" fact="0.05"/>
                <dgm:constr type="bMarg" refType="primFontSz" fact="0.05"/>
                <dgm:constr type="lMarg" refType="primFontSz" fact="0.05"/>
              </dgm:constrLst>
            </dgm:else>
          </dgm:choose>
          <dgm:ruleLst>
            <dgm:rule type="primFontSz" val="5" fact="NaN" max="NaN"/>
          </dgm:ruleLst>
        </dgm:layoutNode>
      </dgm:layoutNode>
      <dgm:forEach name="Name10" axis="followSib" ptType="sibTrans" cnt="1">
        <dgm:layoutNode name="sp">
          <dgm:alg type="sp"/>
          <dgm:shape xmlns:r="http://schemas.openxmlformats.org/officeDocument/2006/relationships" r:blip="">
            <dgm:adjLst/>
          </dgm:shape>
          <dgm:presOf axis="self"/>
          <dgm:constrLst>
            <dgm:constr type="w" val="1"/>
            <dgm:constr type="h" val="37.5"/>
          </dgm:constrLst>
          <dgm:ruleLst/>
        </dgm:layoutNode>
      </dgm:forEach>
    </dgm:forEach>
  </dgm:layoutNode>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077739" cy="513508"/>
          </a:xfrm>
          <a:prstGeom prst="rect">
            <a:avLst/>
          </a:prstGeom>
        </p:spPr>
        <p:txBody>
          <a:bodyPr vert="horz" lIns="99066" tIns="49533" rIns="99066" bIns="49533" rtlCol="0"/>
          <a:lstStyle>
            <a:lvl1pPr algn="l">
              <a:defRPr sz="1300"/>
            </a:lvl1pPr>
          </a:lstStyle>
          <a:p>
            <a:endParaRPr lang="en-GB"/>
          </a:p>
        </p:txBody>
      </p:sp>
      <p:sp>
        <p:nvSpPr>
          <p:cNvPr id="3" name="Date Placeholder 2"/>
          <p:cNvSpPr>
            <a:spLocks noGrp="1"/>
          </p:cNvSpPr>
          <p:nvPr>
            <p:ph type="dt" idx="1"/>
          </p:nvPr>
        </p:nvSpPr>
        <p:spPr>
          <a:xfrm>
            <a:off x="4023092" y="0"/>
            <a:ext cx="3077739" cy="513508"/>
          </a:xfrm>
          <a:prstGeom prst="rect">
            <a:avLst/>
          </a:prstGeom>
        </p:spPr>
        <p:txBody>
          <a:bodyPr vert="horz" lIns="99066" tIns="49533" rIns="99066" bIns="49533" rtlCol="0"/>
          <a:lstStyle>
            <a:lvl1pPr algn="r">
              <a:defRPr sz="1300"/>
            </a:lvl1pPr>
          </a:lstStyle>
          <a:p>
            <a:fld id="{0E35528A-819C-4AD3-BDC3-2CDCE7BEAF53}" type="datetimeFigureOut">
              <a:rPr lang="en-GB" smtClean="0"/>
              <a:t>15/01/2026</a:t>
            </a:fld>
            <a:endParaRPr lang="en-GB"/>
          </a:p>
        </p:txBody>
      </p:sp>
      <p:sp>
        <p:nvSpPr>
          <p:cNvPr id="4" name="Slide Image Placeholder 3"/>
          <p:cNvSpPr>
            <a:spLocks noGrp="1" noRot="1" noChangeAspect="1"/>
          </p:cNvSpPr>
          <p:nvPr>
            <p:ph type="sldImg" idx="2"/>
          </p:nvPr>
        </p:nvSpPr>
        <p:spPr>
          <a:xfrm>
            <a:off x="481013" y="1279525"/>
            <a:ext cx="6140450" cy="3454400"/>
          </a:xfrm>
          <a:prstGeom prst="rect">
            <a:avLst/>
          </a:prstGeom>
          <a:noFill/>
          <a:ln w="12700">
            <a:solidFill>
              <a:prstClr val="black"/>
            </a:solidFill>
          </a:ln>
        </p:spPr>
        <p:txBody>
          <a:bodyPr vert="horz" lIns="99066" tIns="49533" rIns="99066" bIns="49533" rtlCol="0" anchor="ctr"/>
          <a:lstStyle/>
          <a:p>
            <a:endParaRPr lang="en-GB"/>
          </a:p>
        </p:txBody>
      </p:sp>
      <p:sp>
        <p:nvSpPr>
          <p:cNvPr id="5" name="Notes Placeholder 4"/>
          <p:cNvSpPr>
            <a:spLocks noGrp="1"/>
          </p:cNvSpPr>
          <p:nvPr>
            <p:ph type="body" sz="quarter" idx="3"/>
          </p:nvPr>
        </p:nvSpPr>
        <p:spPr>
          <a:xfrm>
            <a:off x="710248" y="4925407"/>
            <a:ext cx="5681980" cy="4029879"/>
          </a:xfrm>
          <a:prstGeom prst="rect">
            <a:avLst/>
          </a:prstGeom>
        </p:spPr>
        <p:txBody>
          <a:bodyPr vert="horz" lIns="99066" tIns="49533" rIns="99066" bIns="49533" rtlCol="0"/>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6" name="Footer Placeholder 5"/>
          <p:cNvSpPr>
            <a:spLocks noGrp="1"/>
          </p:cNvSpPr>
          <p:nvPr>
            <p:ph type="ftr" sz="quarter" idx="4"/>
          </p:nvPr>
        </p:nvSpPr>
        <p:spPr>
          <a:xfrm>
            <a:off x="0" y="9721107"/>
            <a:ext cx="3077739" cy="513507"/>
          </a:xfrm>
          <a:prstGeom prst="rect">
            <a:avLst/>
          </a:prstGeom>
        </p:spPr>
        <p:txBody>
          <a:bodyPr vert="horz" lIns="99066" tIns="49533" rIns="99066" bIns="49533" rtlCol="0" anchor="b"/>
          <a:lstStyle>
            <a:lvl1pPr algn="l">
              <a:defRPr sz="1300"/>
            </a:lvl1pPr>
          </a:lstStyle>
          <a:p>
            <a:endParaRPr lang="en-GB"/>
          </a:p>
        </p:txBody>
      </p:sp>
      <p:sp>
        <p:nvSpPr>
          <p:cNvPr id="7" name="Slide Number Placeholder 6"/>
          <p:cNvSpPr>
            <a:spLocks noGrp="1"/>
          </p:cNvSpPr>
          <p:nvPr>
            <p:ph type="sldNum" sz="quarter" idx="5"/>
          </p:nvPr>
        </p:nvSpPr>
        <p:spPr>
          <a:xfrm>
            <a:off x="4023092" y="9721107"/>
            <a:ext cx="3077739" cy="513507"/>
          </a:xfrm>
          <a:prstGeom prst="rect">
            <a:avLst/>
          </a:prstGeom>
        </p:spPr>
        <p:txBody>
          <a:bodyPr vert="horz" lIns="99066" tIns="49533" rIns="99066" bIns="49533" rtlCol="0" anchor="b"/>
          <a:lstStyle>
            <a:lvl1pPr algn="r">
              <a:defRPr sz="1300"/>
            </a:lvl1pPr>
          </a:lstStyle>
          <a:p>
            <a:fld id="{B71FE5B5-A979-4370-A255-218EAB36A5F4}" type="slidenum">
              <a:rPr lang="en-GB" smtClean="0"/>
              <a:t>‹#›</a:t>
            </a:fld>
            <a:endParaRPr lang="en-GB"/>
          </a:p>
        </p:txBody>
      </p:sp>
    </p:spTree>
    <p:extLst>
      <p:ext uri="{BB962C8B-B14F-4D97-AF65-F5344CB8AC3E}">
        <p14:creationId xmlns:p14="http://schemas.microsoft.com/office/powerpoint/2010/main" val="2595202506"/>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57.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58.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59.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60.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61.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62.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63.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64.xml"/><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2" Type="http://schemas.openxmlformats.org/officeDocument/2006/relationships/slide" Target="../slides/slide65.xml"/><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2" Type="http://schemas.openxmlformats.org/officeDocument/2006/relationships/slide" Target="../slides/slide66.xml"/><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2" Type="http://schemas.openxmlformats.org/officeDocument/2006/relationships/slide" Target="../slides/slide67.xml"/><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2" Type="http://schemas.openxmlformats.org/officeDocument/2006/relationships/slide" Target="../slides/slide68.xml"/><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2" Type="http://schemas.openxmlformats.org/officeDocument/2006/relationships/slide" Target="../slides/slide69.xml"/><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2" Type="http://schemas.openxmlformats.org/officeDocument/2006/relationships/slide" Target="../slides/slide70.xml"/><Relationship Id="rId1"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Id2" Type="http://schemas.openxmlformats.org/officeDocument/2006/relationships/slide" Target="../slides/slide71.xml"/><Relationship Id="rId1" Type="http://schemas.openxmlformats.org/officeDocument/2006/relationships/notesMaster" Target="../notesMasters/notesMaster1.xml"/></Relationships>
</file>

<file path=ppt/notesSlides/_rels/notesSlide61.xml.rels><?xml version="1.0" encoding="UTF-8" standalone="yes"?>
<Relationships xmlns="http://schemas.openxmlformats.org/package/2006/relationships"><Relationship Id="rId2" Type="http://schemas.openxmlformats.org/officeDocument/2006/relationships/slide" Target="../slides/slide73.xml"/><Relationship Id="rId1" Type="http://schemas.openxmlformats.org/officeDocument/2006/relationships/notesMaster" Target="../notesMasters/notesMaster1.xml"/></Relationships>
</file>

<file path=ppt/notesSlides/_rels/notesSlide62.xml.rels><?xml version="1.0" encoding="UTF-8" standalone="yes"?>
<Relationships xmlns="http://schemas.openxmlformats.org/package/2006/relationships"><Relationship Id="rId2" Type="http://schemas.openxmlformats.org/officeDocument/2006/relationships/slide" Target="../slides/slide74.xml"/><Relationship Id="rId1" Type="http://schemas.openxmlformats.org/officeDocument/2006/relationships/notesMaster" Target="../notesMasters/notesMaster1.xml"/></Relationships>
</file>

<file path=ppt/notesSlides/_rels/notesSlide63.xml.rels><?xml version="1.0" encoding="UTF-8" standalone="yes"?>
<Relationships xmlns="http://schemas.openxmlformats.org/package/2006/relationships"><Relationship Id="rId2" Type="http://schemas.openxmlformats.org/officeDocument/2006/relationships/slide" Target="../slides/slide76.xml"/><Relationship Id="rId1" Type="http://schemas.openxmlformats.org/officeDocument/2006/relationships/notesMaster" Target="../notesMasters/notesMaster1.xml"/></Relationships>
</file>

<file path=ppt/notesSlides/_rels/notesSlide64.xml.rels><?xml version="1.0" encoding="UTF-8" standalone="yes"?>
<Relationships xmlns="http://schemas.openxmlformats.org/package/2006/relationships"><Relationship Id="rId2" Type="http://schemas.openxmlformats.org/officeDocument/2006/relationships/slide" Target="../slides/slide77.xml"/><Relationship Id="rId1" Type="http://schemas.openxmlformats.org/officeDocument/2006/relationships/notesMaster" Target="../notesMasters/notesMaster1.xml"/></Relationships>
</file>

<file path=ppt/notesSlides/_rels/notesSlide65.xml.rels><?xml version="1.0" encoding="UTF-8" standalone="yes"?>
<Relationships xmlns="http://schemas.openxmlformats.org/package/2006/relationships"><Relationship Id="rId2" Type="http://schemas.openxmlformats.org/officeDocument/2006/relationships/slide" Target="../slides/slide78.xml"/><Relationship Id="rId1" Type="http://schemas.openxmlformats.org/officeDocument/2006/relationships/notesMaster" Target="../notesMasters/notesMaster1.xml"/></Relationships>
</file>

<file path=ppt/notesSlides/_rels/notesSlide66.xml.rels><?xml version="1.0" encoding="UTF-8" standalone="yes"?>
<Relationships xmlns="http://schemas.openxmlformats.org/package/2006/relationships"><Relationship Id="rId2" Type="http://schemas.openxmlformats.org/officeDocument/2006/relationships/slide" Target="../slides/slide79.xml"/><Relationship Id="rId1" Type="http://schemas.openxmlformats.org/officeDocument/2006/relationships/notesMaster" Target="../notesMasters/notesMaster1.xml"/></Relationships>
</file>

<file path=ppt/notesSlides/_rels/notesSlide67.xml.rels><?xml version="1.0" encoding="UTF-8" standalone="yes"?>
<Relationships xmlns="http://schemas.openxmlformats.org/package/2006/relationships"><Relationship Id="rId2" Type="http://schemas.openxmlformats.org/officeDocument/2006/relationships/slide" Target="../slides/slide80.xml"/><Relationship Id="rId1" Type="http://schemas.openxmlformats.org/officeDocument/2006/relationships/notesMaster" Target="../notesMasters/notesMaster1.xml"/></Relationships>
</file>

<file path=ppt/notesSlides/_rels/notesSlide68.xml.rels><?xml version="1.0" encoding="UTF-8" standalone="yes"?>
<Relationships xmlns="http://schemas.openxmlformats.org/package/2006/relationships"><Relationship Id="rId2" Type="http://schemas.openxmlformats.org/officeDocument/2006/relationships/slide" Target="../slides/slide81.xml"/><Relationship Id="rId1" Type="http://schemas.openxmlformats.org/officeDocument/2006/relationships/notesMaster" Target="../notesMasters/notesMaster1.xml"/></Relationships>
</file>

<file path=ppt/notesSlides/_rels/notesSlide69.xml.rels><?xml version="1.0" encoding="UTF-8" standalone="yes"?>
<Relationships xmlns="http://schemas.openxmlformats.org/package/2006/relationships"><Relationship Id="rId2" Type="http://schemas.openxmlformats.org/officeDocument/2006/relationships/slide" Target="../slides/slide82.xml"/><Relationship Id="rId1" Type="http://schemas.openxmlformats.org/officeDocument/2006/relationships/notesMaster" Target="../notesMasters/notesMaster1.xml"/></Relationships>
</file>

<file path=ppt/notesSlides/_rels/notesSlide70.xml.rels><?xml version="1.0" encoding="UTF-8" standalone="yes"?>
<Relationships xmlns="http://schemas.openxmlformats.org/package/2006/relationships"><Relationship Id="rId2" Type="http://schemas.openxmlformats.org/officeDocument/2006/relationships/slide" Target="../slides/slide83.xml"/><Relationship Id="rId1" Type="http://schemas.openxmlformats.org/officeDocument/2006/relationships/notesMaster" Target="../notesMasters/notesMaster1.xml"/></Relationships>
</file>

<file path=ppt/notesSlides/_rels/notesSlide71.xml.rels><?xml version="1.0" encoding="UTF-8" standalone="yes"?>
<Relationships xmlns="http://schemas.openxmlformats.org/package/2006/relationships"><Relationship Id="rId2" Type="http://schemas.openxmlformats.org/officeDocument/2006/relationships/slide" Target="../slides/slide84.xml"/><Relationship Id="rId1" Type="http://schemas.openxmlformats.org/officeDocument/2006/relationships/notesMaster" Target="../notesMasters/notesMaster1.xml"/></Relationships>
</file>

<file path=ppt/notesSlides/_rels/notesSlide72.xml.rels><?xml version="1.0" encoding="UTF-8" standalone="yes"?>
<Relationships xmlns="http://schemas.openxmlformats.org/package/2006/relationships"><Relationship Id="rId2" Type="http://schemas.openxmlformats.org/officeDocument/2006/relationships/slide" Target="../slides/slide85.xml"/><Relationship Id="rId1" Type="http://schemas.openxmlformats.org/officeDocument/2006/relationships/notesMaster" Target="../notesMasters/notesMaster1.xml"/></Relationships>
</file>

<file path=ppt/notesSlides/_rels/notesSlide73.xml.rels><?xml version="1.0" encoding="UTF-8" standalone="yes"?>
<Relationships xmlns="http://schemas.openxmlformats.org/package/2006/relationships"><Relationship Id="rId2" Type="http://schemas.openxmlformats.org/officeDocument/2006/relationships/slide" Target="../slides/slide86.xml"/><Relationship Id="rId1" Type="http://schemas.openxmlformats.org/officeDocument/2006/relationships/notesMaster" Target="../notesMasters/notesMaster1.xml"/></Relationships>
</file>

<file path=ppt/notesSlides/_rels/notesSlide74.xml.rels><?xml version="1.0" encoding="UTF-8" standalone="yes"?>
<Relationships xmlns="http://schemas.openxmlformats.org/package/2006/relationships"><Relationship Id="rId2" Type="http://schemas.openxmlformats.org/officeDocument/2006/relationships/slide" Target="../slides/slide87.xml"/><Relationship Id="rId1" Type="http://schemas.openxmlformats.org/officeDocument/2006/relationships/notesMaster" Target="../notesMasters/notesMaster1.xml"/></Relationships>
</file>

<file path=ppt/notesSlides/_rels/notesSlide75.xml.rels><?xml version="1.0" encoding="UTF-8" standalone="yes"?>
<Relationships xmlns="http://schemas.openxmlformats.org/package/2006/relationships"><Relationship Id="rId2" Type="http://schemas.openxmlformats.org/officeDocument/2006/relationships/slide" Target="../slides/slide88.xml"/><Relationship Id="rId1" Type="http://schemas.openxmlformats.org/officeDocument/2006/relationships/notesMaster" Target="../notesMasters/notesMaster1.xml"/></Relationships>
</file>

<file path=ppt/notesSlides/_rels/notesSlide76.xml.rels><?xml version="1.0" encoding="UTF-8" standalone="yes"?>
<Relationships xmlns="http://schemas.openxmlformats.org/package/2006/relationships"><Relationship Id="rId2" Type="http://schemas.openxmlformats.org/officeDocument/2006/relationships/slide" Target="../slides/slide90.xml"/><Relationship Id="rId1" Type="http://schemas.openxmlformats.org/officeDocument/2006/relationships/notesMaster" Target="../notesMasters/notesMaster1.xml"/></Relationships>
</file>

<file path=ppt/notesSlides/_rels/notesSlide77.xml.rels><?xml version="1.0" encoding="UTF-8" standalone="yes"?>
<Relationships xmlns="http://schemas.openxmlformats.org/package/2006/relationships"><Relationship Id="rId2" Type="http://schemas.openxmlformats.org/officeDocument/2006/relationships/slide" Target="../slides/slide91.xml"/><Relationship Id="rId1" Type="http://schemas.openxmlformats.org/officeDocument/2006/relationships/notesMaster" Target="../notesMasters/notesMaster1.xml"/></Relationships>
</file>

<file path=ppt/notesSlides/_rels/notesSlide78.xml.rels><?xml version="1.0" encoding="UTF-8" standalone="yes"?>
<Relationships xmlns="http://schemas.openxmlformats.org/package/2006/relationships"><Relationship Id="rId2" Type="http://schemas.openxmlformats.org/officeDocument/2006/relationships/slide" Target="../slides/slide92.xml"/><Relationship Id="rId1" Type="http://schemas.openxmlformats.org/officeDocument/2006/relationships/notesMaster" Target="../notesMasters/notesMaster1.xml"/></Relationships>
</file>

<file path=ppt/notesSlides/_rels/notesSlide79.xml.rels><?xml version="1.0" encoding="UTF-8" standalone="yes"?>
<Relationships xmlns="http://schemas.openxmlformats.org/package/2006/relationships"><Relationship Id="rId2" Type="http://schemas.openxmlformats.org/officeDocument/2006/relationships/slide" Target="../slides/slide93.xml"/><Relationship Id="rId1" Type="http://schemas.openxmlformats.org/officeDocument/2006/relationships/notesMaster" Target="../notesMasters/notesMaster1.xml"/></Relationships>
</file>

<file path=ppt/notesSlides/_rels/notesSlide80.xml.rels><?xml version="1.0" encoding="UTF-8" standalone="yes"?>
<Relationships xmlns="http://schemas.openxmlformats.org/package/2006/relationships"><Relationship Id="rId2" Type="http://schemas.openxmlformats.org/officeDocument/2006/relationships/slide" Target="../slides/slide94.xml"/><Relationship Id="rId1" Type="http://schemas.openxmlformats.org/officeDocument/2006/relationships/notesMaster" Target="../notesMasters/notesMaster1.xml"/></Relationships>
</file>

<file path=ppt/notesSlides/_rels/notesSlide81.xml.rels><?xml version="1.0" encoding="UTF-8" standalone="yes"?>
<Relationships xmlns="http://schemas.openxmlformats.org/package/2006/relationships"><Relationship Id="rId2" Type="http://schemas.openxmlformats.org/officeDocument/2006/relationships/slide" Target="../slides/slide95.xml"/><Relationship Id="rId1" Type="http://schemas.openxmlformats.org/officeDocument/2006/relationships/notesMaster" Target="../notesMasters/notesMaster1.xml"/></Relationships>
</file>

<file path=ppt/notesSlides/_rels/notesSlide82.xml.rels><?xml version="1.0" encoding="UTF-8" standalone="yes"?>
<Relationships xmlns="http://schemas.openxmlformats.org/package/2006/relationships"><Relationship Id="rId2" Type="http://schemas.openxmlformats.org/officeDocument/2006/relationships/slide" Target="../slides/slide96.xml"/><Relationship Id="rId1" Type="http://schemas.openxmlformats.org/officeDocument/2006/relationships/notesMaster" Target="../notesMasters/notesMaster1.xml"/></Relationships>
</file>

<file path=ppt/notesSlides/_rels/notesSlide83.xml.rels><?xml version="1.0" encoding="UTF-8" standalone="yes"?>
<Relationships xmlns="http://schemas.openxmlformats.org/package/2006/relationships"><Relationship Id="rId2" Type="http://schemas.openxmlformats.org/officeDocument/2006/relationships/slide" Target="../slides/slide97.xml"/><Relationship Id="rId1" Type="http://schemas.openxmlformats.org/officeDocument/2006/relationships/notesMaster" Target="../notesMasters/notesMaster1.xml"/></Relationships>
</file>

<file path=ppt/notesSlides/_rels/notesSlide84.xml.rels><?xml version="1.0" encoding="UTF-8" standalone="yes"?>
<Relationships xmlns="http://schemas.openxmlformats.org/package/2006/relationships"><Relationship Id="rId2" Type="http://schemas.openxmlformats.org/officeDocument/2006/relationships/slide" Target="../slides/slide98.xml"/><Relationship Id="rId1" Type="http://schemas.openxmlformats.org/officeDocument/2006/relationships/notesMaster" Target="../notesMasters/notesMaster1.xml"/></Relationships>
</file>

<file path=ppt/notesSlides/_rels/notesSlide85.xml.rels><?xml version="1.0" encoding="UTF-8" standalone="yes"?>
<Relationships xmlns="http://schemas.openxmlformats.org/package/2006/relationships"><Relationship Id="rId2" Type="http://schemas.openxmlformats.org/officeDocument/2006/relationships/slide" Target="../slides/slide99.xml"/><Relationship Id="rId1" Type="http://schemas.openxmlformats.org/officeDocument/2006/relationships/notesMaster" Target="../notesMasters/notesMaster1.xml"/></Relationships>
</file>

<file path=ppt/notesSlides/_rels/notesSlide86.xml.rels><?xml version="1.0" encoding="UTF-8" standalone="yes"?>
<Relationships xmlns="http://schemas.openxmlformats.org/package/2006/relationships"><Relationship Id="rId2" Type="http://schemas.openxmlformats.org/officeDocument/2006/relationships/slide" Target="../slides/slide101.xml"/><Relationship Id="rId1" Type="http://schemas.openxmlformats.org/officeDocument/2006/relationships/notesMaster" Target="../notesMasters/notesMaster1.xml"/></Relationships>
</file>

<file path=ppt/notesSlides/_rels/notesSlide87.xml.rels><?xml version="1.0" encoding="UTF-8" standalone="yes"?>
<Relationships xmlns="http://schemas.openxmlformats.org/package/2006/relationships"><Relationship Id="rId2" Type="http://schemas.openxmlformats.org/officeDocument/2006/relationships/slide" Target="../slides/slide102.xml"/><Relationship Id="rId1" Type="http://schemas.openxmlformats.org/officeDocument/2006/relationships/notesMaster" Target="../notesMasters/notesMaster1.xml"/></Relationships>
</file>

<file path=ppt/notesSlides/_rels/notesSlide88.xml.rels><?xml version="1.0" encoding="UTF-8" standalone="yes"?>
<Relationships xmlns="http://schemas.openxmlformats.org/package/2006/relationships"><Relationship Id="rId2" Type="http://schemas.openxmlformats.org/officeDocument/2006/relationships/slide" Target="../slides/slide105.xml"/><Relationship Id="rId1" Type="http://schemas.openxmlformats.org/officeDocument/2006/relationships/notesMaster" Target="../notesMasters/notesMaster1.xml"/></Relationships>
</file>

<file path=ppt/notesSlides/_rels/notesSlide89.xml.rels><?xml version="1.0" encoding="UTF-8" standalone="yes"?>
<Relationships xmlns="http://schemas.openxmlformats.org/package/2006/relationships"><Relationship Id="rId2" Type="http://schemas.openxmlformats.org/officeDocument/2006/relationships/slide" Target="../slides/slide106.xml"/><Relationship Id="rId1" Type="http://schemas.openxmlformats.org/officeDocument/2006/relationships/notesMaster" Target="../notesMasters/notesMaster1.xml"/></Relationships>
</file>

<file path=ppt/notesSlides/_rels/notesSlide90.xml.rels><?xml version="1.0" encoding="UTF-8" standalone="yes"?>
<Relationships xmlns="http://schemas.openxmlformats.org/package/2006/relationships"><Relationship Id="rId2" Type="http://schemas.openxmlformats.org/officeDocument/2006/relationships/slide" Target="../slides/slide108.xml"/><Relationship Id="rId1" Type="http://schemas.openxmlformats.org/officeDocument/2006/relationships/notesMaster" Target="../notesMasters/notesMaster1.xml"/></Relationships>
</file>

<file path=ppt/notesSlides/_rels/notesSlide91.xml.rels><?xml version="1.0" encoding="UTF-8" standalone="yes"?>
<Relationships xmlns="http://schemas.openxmlformats.org/package/2006/relationships"><Relationship Id="rId2" Type="http://schemas.openxmlformats.org/officeDocument/2006/relationships/slide" Target="../slides/slide109.xml"/><Relationship Id="rId1" Type="http://schemas.openxmlformats.org/officeDocument/2006/relationships/notesMaster" Target="../notesMasters/notesMaster1.xml"/></Relationships>
</file>

<file path=ppt/notesSlides/_rels/notesSlide92.xml.rels><?xml version="1.0" encoding="UTF-8" standalone="yes"?>
<Relationships xmlns="http://schemas.openxmlformats.org/package/2006/relationships"><Relationship Id="rId2" Type="http://schemas.openxmlformats.org/officeDocument/2006/relationships/slide" Target="../slides/slide112.xml"/><Relationship Id="rId1" Type="http://schemas.openxmlformats.org/officeDocument/2006/relationships/notesMaster" Target="../notesMasters/notesMaster1.xml"/></Relationships>
</file>

<file path=ppt/notesSlides/_rels/notesSlide93.xml.rels><?xml version="1.0" encoding="UTF-8" standalone="yes"?>
<Relationships xmlns="http://schemas.openxmlformats.org/package/2006/relationships"><Relationship Id="rId2" Type="http://schemas.openxmlformats.org/officeDocument/2006/relationships/slide" Target="../slides/slide114.xml"/><Relationship Id="rId1" Type="http://schemas.openxmlformats.org/officeDocument/2006/relationships/notesMaster" Target="../notesMasters/notesMaster1.xml"/></Relationships>
</file>

<file path=ppt/notesSlides/_rels/notesSlide94.xml.rels><?xml version="1.0" encoding="UTF-8" standalone="yes"?>
<Relationships xmlns="http://schemas.openxmlformats.org/package/2006/relationships"><Relationship Id="rId2" Type="http://schemas.openxmlformats.org/officeDocument/2006/relationships/slide" Target="../slides/slide118.xml"/><Relationship Id="rId1" Type="http://schemas.openxmlformats.org/officeDocument/2006/relationships/notesMaster" Target="../notesMasters/notesMaster1.xml"/></Relationships>
</file>

<file path=ppt/notesSlides/_rels/notesSlide95.xml.rels><?xml version="1.0" encoding="UTF-8" standalone="yes"?>
<Relationships xmlns="http://schemas.openxmlformats.org/package/2006/relationships"><Relationship Id="rId2" Type="http://schemas.openxmlformats.org/officeDocument/2006/relationships/slide" Target="../slides/slide119.xml"/><Relationship Id="rId1" Type="http://schemas.openxmlformats.org/officeDocument/2006/relationships/notesMaster" Target="../notesMasters/notesMaster1.xml"/></Relationships>
</file>

<file path=ppt/notesSlides/_rels/notesSlide96.xml.rels><?xml version="1.0" encoding="UTF-8" standalone="yes"?>
<Relationships xmlns="http://schemas.openxmlformats.org/package/2006/relationships"><Relationship Id="rId2" Type="http://schemas.openxmlformats.org/officeDocument/2006/relationships/slide" Target="../slides/slide120.xml"/><Relationship Id="rId1" Type="http://schemas.openxmlformats.org/officeDocument/2006/relationships/notesMaster" Target="../notesMasters/notesMaster1.xml"/></Relationships>
</file>

<file path=ppt/notesSlides/_rels/notesSlide97.xml.rels><?xml version="1.0" encoding="UTF-8" standalone="yes"?>
<Relationships xmlns="http://schemas.openxmlformats.org/package/2006/relationships"><Relationship Id="rId2" Type="http://schemas.openxmlformats.org/officeDocument/2006/relationships/slide" Target="../slides/slide121.xml"/><Relationship Id="rId1" Type="http://schemas.openxmlformats.org/officeDocument/2006/relationships/notesMaster" Target="../notesMasters/notesMaster1.xml"/></Relationships>
</file>

<file path=ppt/notesSlides/_rels/notesSlide98.xml.rels><?xml version="1.0" encoding="UTF-8" standalone="yes"?>
<Relationships xmlns="http://schemas.openxmlformats.org/package/2006/relationships"><Relationship Id="rId2" Type="http://schemas.openxmlformats.org/officeDocument/2006/relationships/slide" Target="../slides/slide122.xml"/><Relationship Id="rId1" Type="http://schemas.openxmlformats.org/officeDocument/2006/relationships/notesMaster" Target="../notesMasters/notesMaster1.xml"/></Relationships>
</file>

<file path=ppt/notesSlides/_rels/notesSlide99.xml.rels><?xml version="1.0" encoding="UTF-8" standalone="yes"?>
<Relationships xmlns="http://schemas.openxmlformats.org/package/2006/relationships"><Relationship Id="rId2" Type="http://schemas.openxmlformats.org/officeDocument/2006/relationships/slide" Target="../slides/slide123.xml"/><Relationship Id="rId1" Type="http://schemas.openxmlformats.org/officeDocument/2006/relationships/notesMaster" Target="../notesMasters/notesMaster1.xml"/></Relationships>
</file>

<file path=ppt/notesSlides/_rels/notesSlide100.xml.rels><?xml version="1.0" encoding="UTF-8" standalone="yes"?>
<Relationships xmlns="http://schemas.openxmlformats.org/package/2006/relationships"><Relationship Id="rId2" Type="http://schemas.openxmlformats.org/officeDocument/2006/relationships/slide" Target="../slides/slide124.xml"/><Relationship Id="rId1" Type="http://schemas.openxmlformats.org/officeDocument/2006/relationships/notesMaster" Target="../notesMasters/notesMaster1.xml"/></Relationships>
</file>

<file path=ppt/notesSlides/_rels/notesSlide101.xml.rels><?xml version="1.0" encoding="UTF-8" standalone="yes"?>
<Relationships xmlns="http://schemas.openxmlformats.org/package/2006/relationships"><Relationship Id="rId2" Type="http://schemas.openxmlformats.org/officeDocument/2006/relationships/slide" Target="../slides/slide125.xml"/><Relationship Id="rId1" Type="http://schemas.openxmlformats.org/officeDocument/2006/relationships/notesMaster" Target="../notesMasters/notesMaster1.xml"/></Relationships>
</file>

<file path=ppt/notesSlides/_rels/notesSlide102.xml.rels><?xml version="1.0" encoding="UTF-8" standalone="yes"?>
<Relationships xmlns="http://schemas.openxmlformats.org/package/2006/relationships"><Relationship Id="rId2" Type="http://schemas.openxmlformats.org/officeDocument/2006/relationships/slide" Target="../slides/slide127.xml"/><Relationship Id="rId1" Type="http://schemas.openxmlformats.org/officeDocument/2006/relationships/notesMaster" Target="../notesMasters/notesMaster1.xml"/></Relationships>
</file>

<file path=ppt/notesSlides/_rels/notesSlide103.xml.rels><?xml version="1.0" encoding="UTF-8" standalone="yes"?>
<Relationships xmlns="http://schemas.openxmlformats.org/package/2006/relationships"><Relationship Id="rId2" Type="http://schemas.openxmlformats.org/officeDocument/2006/relationships/slide" Target="../slides/slide128.xml"/><Relationship Id="rId1" Type="http://schemas.openxmlformats.org/officeDocument/2006/relationships/notesMaster" Target="../notesMasters/notesMaster1.xml"/></Relationships>
</file>

<file path=ppt/notesSlides/_rels/notesSlide104.xml.rels><?xml version="1.0" encoding="UTF-8" standalone="yes"?>
<Relationships xmlns="http://schemas.openxmlformats.org/package/2006/relationships"><Relationship Id="rId2" Type="http://schemas.openxmlformats.org/officeDocument/2006/relationships/slide" Target="../slides/slide130.xml"/><Relationship Id="rId1" Type="http://schemas.openxmlformats.org/officeDocument/2006/relationships/notesMaster" Target="../notesMasters/notesMaster1.xml"/></Relationships>
</file>

<file path=ppt/notesSlides/_rels/notesSlide105.xml.rels><?xml version="1.0" encoding="UTF-8" standalone="yes"?>
<Relationships xmlns="http://schemas.openxmlformats.org/package/2006/relationships"><Relationship Id="rId2" Type="http://schemas.openxmlformats.org/officeDocument/2006/relationships/slide" Target="../slides/slide131.xml"/><Relationship Id="rId1" Type="http://schemas.openxmlformats.org/officeDocument/2006/relationships/notesMaster" Target="../notesMasters/notesMaster1.xml"/></Relationships>
</file>

<file path=ppt/notesSlides/_rels/notesSlide106.xml.rels><?xml version="1.0" encoding="UTF-8" standalone="yes"?>
<Relationships xmlns="http://schemas.openxmlformats.org/package/2006/relationships"><Relationship Id="rId2" Type="http://schemas.openxmlformats.org/officeDocument/2006/relationships/slide" Target="../slides/slide132.xml"/><Relationship Id="rId1" Type="http://schemas.openxmlformats.org/officeDocument/2006/relationships/notesMaster" Target="../notesMasters/notesMaster1.xml"/></Relationships>
</file>

<file path=ppt/notesSlides/_rels/notesSlide107.xml.rels><?xml version="1.0" encoding="UTF-8" standalone="yes"?>
<Relationships xmlns="http://schemas.openxmlformats.org/package/2006/relationships"><Relationship Id="rId2" Type="http://schemas.openxmlformats.org/officeDocument/2006/relationships/slide" Target="../slides/slide133.xml"/><Relationship Id="rId1" Type="http://schemas.openxmlformats.org/officeDocument/2006/relationships/notesMaster" Target="../notesMasters/notesMaster1.xml"/></Relationships>
</file>

<file path=ppt/notesSlides/_rels/notesSlide108.xml.rels><?xml version="1.0" encoding="UTF-8" standalone="yes"?>
<Relationships xmlns="http://schemas.openxmlformats.org/package/2006/relationships"><Relationship Id="rId2" Type="http://schemas.openxmlformats.org/officeDocument/2006/relationships/slide" Target="../slides/slide134.xml"/><Relationship Id="rId1" Type="http://schemas.openxmlformats.org/officeDocument/2006/relationships/notesMaster" Target="../notesMasters/notesMaster1.xml"/></Relationships>
</file>

<file path=ppt/notesSlides/_rels/notesSlide109.xml.rels><?xml version="1.0" encoding="UTF-8" standalone="yes"?>
<Relationships xmlns="http://schemas.openxmlformats.org/package/2006/relationships"><Relationship Id="rId2" Type="http://schemas.openxmlformats.org/officeDocument/2006/relationships/slide" Target="../slides/slide135.xml"/><Relationship Id="rId1" Type="http://schemas.openxmlformats.org/officeDocument/2006/relationships/notesMaster" Target="../notesMasters/notesMaster1.xml"/></Relationships>
</file>

<file path=ppt/notesSlides/_rels/notesSlide110.xml.rels><?xml version="1.0" encoding="UTF-8" standalone="yes"?>
<Relationships xmlns="http://schemas.openxmlformats.org/package/2006/relationships"><Relationship Id="rId2" Type="http://schemas.openxmlformats.org/officeDocument/2006/relationships/slide" Target="../slides/slide136.xml"/><Relationship Id="rId1" Type="http://schemas.openxmlformats.org/officeDocument/2006/relationships/notesMaster" Target="../notesMasters/notesMaster1.xml"/></Relationships>
</file>

<file path=ppt/notesSlides/_rels/notesSlide111.xml.rels><?xml version="1.0" encoding="UTF-8" standalone="yes"?>
<Relationships xmlns="http://schemas.openxmlformats.org/package/2006/relationships"><Relationship Id="rId2" Type="http://schemas.openxmlformats.org/officeDocument/2006/relationships/slide" Target="../slides/slide137.xml"/><Relationship Id="rId1" Type="http://schemas.openxmlformats.org/officeDocument/2006/relationships/notesMaster" Target="../notesMasters/notesMaster1.xml"/></Relationships>
</file>

<file path=ppt/notesSlides/_rels/notesSlide112.xml.rels><?xml version="1.0" encoding="UTF-8" standalone="yes"?>
<Relationships xmlns="http://schemas.openxmlformats.org/package/2006/relationships"><Relationship Id="rId2" Type="http://schemas.openxmlformats.org/officeDocument/2006/relationships/slide" Target="../slides/slide138.xml"/><Relationship Id="rId1" Type="http://schemas.openxmlformats.org/officeDocument/2006/relationships/notesMaster" Target="../notesMasters/notesMaster1.xml"/></Relationships>
</file>

<file path=ppt/notesSlides/_rels/notesSlide113.xml.rels><?xml version="1.0" encoding="UTF-8" standalone="yes"?>
<Relationships xmlns="http://schemas.openxmlformats.org/package/2006/relationships"><Relationship Id="rId2" Type="http://schemas.openxmlformats.org/officeDocument/2006/relationships/slide" Target="../slides/slide139.xml"/><Relationship Id="rId1" Type="http://schemas.openxmlformats.org/officeDocument/2006/relationships/notesMaster" Target="../notesMasters/notesMaster1.xml"/></Relationships>
</file>

<file path=ppt/notesSlides/_rels/notesSlide114.xml.rels><?xml version="1.0" encoding="UTF-8" standalone="yes"?>
<Relationships xmlns="http://schemas.openxmlformats.org/package/2006/relationships"><Relationship Id="rId2" Type="http://schemas.openxmlformats.org/officeDocument/2006/relationships/slide" Target="../slides/slide140.xml"/><Relationship Id="rId1" Type="http://schemas.openxmlformats.org/officeDocument/2006/relationships/notesMaster" Target="../notesMasters/notesMaster1.xml"/></Relationships>
</file>

<file path=ppt/notesSlides/_rels/notesSlide115.xml.rels><?xml version="1.0" encoding="UTF-8" standalone="yes"?>
<Relationships xmlns="http://schemas.openxmlformats.org/package/2006/relationships"><Relationship Id="rId2" Type="http://schemas.openxmlformats.org/officeDocument/2006/relationships/slide" Target="../slides/slide141.xml"/><Relationship Id="rId1" Type="http://schemas.openxmlformats.org/officeDocument/2006/relationships/notesMaster" Target="../notesMasters/notesMaster1.xml"/></Relationships>
</file>

<file path=ppt/notesSlides/_rels/notesSlide116.xml.rels><?xml version="1.0" encoding="UTF-8" standalone="yes"?>
<Relationships xmlns="http://schemas.openxmlformats.org/package/2006/relationships"><Relationship Id="rId2" Type="http://schemas.openxmlformats.org/officeDocument/2006/relationships/slide" Target="../slides/slide142.xml"/><Relationship Id="rId1" Type="http://schemas.openxmlformats.org/officeDocument/2006/relationships/notesMaster" Target="../notesMasters/notesMaster1.xml"/></Relationships>
</file>

<file path=ppt/notesSlides/_rels/notesSlide117.xml.rels><?xml version="1.0" encoding="UTF-8" standalone="yes"?>
<Relationships xmlns="http://schemas.openxmlformats.org/package/2006/relationships"><Relationship Id="rId2" Type="http://schemas.openxmlformats.org/officeDocument/2006/relationships/slide" Target="../slides/slide143.xml"/><Relationship Id="rId1" Type="http://schemas.openxmlformats.org/officeDocument/2006/relationships/notesMaster" Target="../notesMasters/notesMaster1.xml"/></Relationships>
</file>

<file path=ppt/notesSlides/_rels/notesSlide118.xml.rels><?xml version="1.0" encoding="UTF-8" standalone="yes"?>
<Relationships xmlns="http://schemas.openxmlformats.org/package/2006/relationships"><Relationship Id="rId2" Type="http://schemas.openxmlformats.org/officeDocument/2006/relationships/slide" Target="../slides/slide144.xml"/><Relationship Id="rId1" Type="http://schemas.openxmlformats.org/officeDocument/2006/relationships/notesMaster" Target="../notesMasters/notesMaster1.xml"/></Relationships>
</file>

<file path=ppt/notesSlides/_rels/notesSlide119.xml.rels><?xml version="1.0" encoding="UTF-8" standalone="yes"?>
<Relationships xmlns="http://schemas.openxmlformats.org/package/2006/relationships"><Relationship Id="rId2" Type="http://schemas.openxmlformats.org/officeDocument/2006/relationships/slide" Target="../slides/slide145.xml"/><Relationship Id="rId1" Type="http://schemas.openxmlformats.org/officeDocument/2006/relationships/notesMaster" Target="../notesMasters/notesMaster1.xml"/></Relationships>
</file>

<file path=ppt/notesSlides/_rels/notesSlide120.xml.rels><?xml version="1.0" encoding="UTF-8" standalone="yes"?>
<Relationships xmlns="http://schemas.openxmlformats.org/package/2006/relationships"><Relationship Id="rId2" Type="http://schemas.openxmlformats.org/officeDocument/2006/relationships/slide" Target="../slides/slide146.xml"/><Relationship Id="rId1" Type="http://schemas.openxmlformats.org/officeDocument/2006/relationships/notesMaster" Target="../notesMasters/notesMaster1.xml"/></Relationships>
</file>

<file path=ppt/notesSlides/_rels/notesSlide121.xml.rels><?xml version="1.0" encoding="UTF-8" standalone="yes"?>
<Relationships xmlns="http://schemas.openxmlformats.org/package/2006/relationships"><Relationship Id="rId2" Type="http://schemas.openxmlformats.org/officeDocument/2006/relationships/slide" Target="../slides/slide147.xml"/><Relationship Id="rId1" Type="http://schemas.openxmlformats.org/officeDocument/2006/relationships/notesMaster" Target="../notesMasters/notesMaster1.xml"/></Relationships>
</file>

<file path=ppt/notesSlides/_rels/notesSlide122.xml.rels><?xml version="1.0" encoding="UTF-8" standalone="yes"?>
<Relationships xmlns="http://schemas.openxmlformats.org/package/2006/relationships"><Relationship Id="rId2" Type="http://schemas.openxmlformats.org/officeDocument/2006/relationships/slide" Target="../slides/slide148.xml"/><Relationship Id="rId1" Type="http://schemas.openxmlformats.org/officeDocument/2006/relationships/notesMaster" Target="../notesMasters/notesMaster1.xml"/></Relationships>
</file>

<file path=ppt/notesSlides/_rels/notesSlide123.xml.rels><?xml version="1.0" encoding="UTF-8" standalone="yes"?>
<Relationships xmlns="http://schemas.openxmlformats.org/package/2006/relationships"><Relationship Id="rId2" Type="http://schemas.openxmlformats.org/officeDocument/2006/relationships/slide" Target="../slides/slide149.xml"/><Relationship Id="rId1" Type="http://schemas.openxmlformats.org/officeDocument/2006/relationships/notesMaster" Target="../notesMasters/notesMaster1.xml"/></Relationships>
</file>

<file path=ppt/notesSlides/_rels/notesSlide124.xml.rels><?xml version="1.0" encoding="UTF-8" standalone="yes"?>
<Relationships xmlns="http://schemas.openxmlformats.org/package/2006/relationships"><Relationship Id="rId2" Type="http://schemas.openxmlformats.org/officeDocument/2006/relationships/slide" Target="../slides/slide150.xml"/><Relationship Id="rId1" Type="http://schemas.openxmlformats.org/officeDocument/2006/relationships/notesMaster" Target="../notesMasters/notesMaster1.xml"/></Relationships>
</file>

<file path=ppt/notesSlides/_rels/notesSlide125.xml.rels><?xml version="1.0" encoding="UTF-8" standalone="yes"?>
<Relationships xmlns="http://schemas.openxmlformats.org/package/2006/relationships"><Relationship Id="rId2" Type="http://schemas.openxmlformats.org/officeDocument/2006/relationships/slide" Target="../slides/slide151.xml"/><Relationship Id="rId1" Type="http://schemas.openxmlformats.org/officeDocument/2006/relationships/notesMaster" Target="../notesMasters/notesMaster1.xml"/></Relationships>
</file>

<file path=ppt/notesSlides/_rels/notesSlide126.xml.rels><?xml version="1.0" encoding="UTF-8" standalone="yes"?>
<Relationships xmlns="http://schemas.openxmlformats.org/package/2006/relationships"><Relationship Id="rId2" Type="http://schemas.openxmlformats.org/officeDocument/2006/relationships/slide" Target="../slides/slide152.xml"/><Relationship Id="rId1" Type="http://schemas.openxmlformats.org/officeDocument/2006/relationships/notesMaster" Target="../notesMasters/notesMaster1.xml"/></Relationships>
</file>

<file path=ppt/notesSlides/_rels/notesSlide127.xml.rels><?xml version="1.0" encoding="UTF-8" standalone="yes"?>
<Relationships xmlns="http://schemas.openxmlformats.org/package/2006/relationships"><Relationship Id="rId2" Type="http://schemas.openxmlformats.org/officeDocument/2006/relationships/slide" Target="../slides/slide153.xml"/><Relationship Id="rId1" Type="http://schemas.openxmlformats.org/officeDocument/2006/relationships/notesMaster" Target="../notesMasters/notesMaster1.xml"/></Relationships>
</file>

<file path=ppt/notesSlides/_rels/notesSlide128.xml.rels><?xml version="1.0" encoding="UTF-8" standalone="yes"?>
<Relationships xmlns="http://schemas.openxmlformats.org/package/2006/relationships"><Relationship Id="rId2" Type="http://schemas.openxmlformats.org/officeDocument/2006/relationships/slide" Target="../slides/slide154.xml"/><Relationship Id="rId1" Type="http://schemas.openxmlformats.org/officeDocument/2006/relationships/notesMaster" Target="../notesMasters/notesMaster1.xml"/></Relationships>
</file>

<file path=ppt/notesSlides/_rels/notesSlide129.xml.rels><?xml version="1.0" encoding="UTF-8" standalone="yes"?>
<Relationships xmlns="http://schemas.openxmlformats.org/package/2006/relationships"><Relationship Id="rId2" Type="http://schemas.openxmlformats.org/officeDocument/2006/relationships/slide" Target="../slides/slide161.xml"/><Relationship Id="rId1" Type="http://schemas.openxmlformats.org/officeDocument/2006/relationships/notesMaster" Target="../notesMasters/notesMaster1.xml"/></Relationships>
</file>

<file path=ppt/notesSlides/_rels/notesSlide130.xml.rels><?xml version="1.0" encoding="UTF-8" standalone="yes"?>
<Relationships xmlns="http://schemas.openxmlformats.org/package/2006/relationships"><Relationship Id="rId2" Type="http://schemas.openxmlformats.org/officeDocument/2006/relationships/slide" Target="../slides/slide162.xml"/><Relationship Id="rId1" Type="http://schemas.openxmlformats.org/officeDocument/2006/relationships/notesMaster" Target="../notesMasters/notesMaster1.xml"/></Relationships>
</file>

<file path=ppt/notesSlides/_rels/notesSlide131.xml.rels><?xml version="1.0" encoding="UTF-8" standalone="yes"?>
<Relationships xmlns="http://schemas.openxmlformats.org/package/2006/relationships"><Relationship Id="rId2" Type="http://schemas.openxmlformats.org/officeDocument/2006/relationships/slide" Target="../slides/slide164.xml"/><Relationship Id="rId1" Type="http://schemas.openxmlformats.org/officeDocument/2006/relationships/notesMaster" Target="../notesMasters/notesMaster1.xml"/></Relationships>
</file>

<file path=ppt/notesSlides/_rels/notesSlide132.xml.rels><?xml version="1.0" encoding="UTF-8" standalone="yes"?>
<Relationships xmlns="http://schemas.openxmlformats.org/package/2006/relationships"><Relationship Id="rId2" Type="http://schemas.openxmlformats.org/officeDocument/2006/relationships/slide" Target="../slides/slide165.xml"/><Relationship Id="rId1" Type="http://schemas.openxmlformats.org/officeDocument/2006/relationships/notesMaster" Target="../notesMasters/notesMaster1.xml"/></Relationships>
</file>

<file path=ppt/notesSlides/_rels/notesSlide133.xml.rels><?xml version="1.0" encoding="UTF-8" standalone="yes"?>
<Relationships xmlns="http://schemas.openxmlformats.org/package/2006/relationships"><Relationship Id="rId2" Type="http://schemas.openxmlformats.org/officeDocument/2006/relationships/slide" Target="../slides/slide166.xml"/><Relationship Id="rId1" Type="http://schemas.openxmlformats.org/officeDocument/2006/relationships/notesMaster" Target="../notesMasters/notesMaster1.xml"/></Relationships>
</file>

<file path=ppt/notesSlides/_rels/notesSlide134.xml.rels><?xml version="1.0" encoding="UTF-8" standalone="yes"?>
<Relationships xmlns="http://schemas.openxmlformats.org/package/2006/relationships"><Relationship Id="rId2" Type="http://schemas.openxmlformats.org/officeDocument/2006/relationships/slide" Target="../slides/slide167.xml"/><Relationship Id="rId1" Type="http://schemas.openxmlformats.org/officeDocument/2006/relationships/notesMaster" Target="../notesMasters/notesMaster1.xml"/></Relationships>
</file>

<file path=ppt/notesSlides/_rels/notesSlide135.xml.rels><?xml version="1.0" encoding="UTF-8" standalone="yes"?>
<Relationships xmlns="http://schemas.openxmlformats.org/package/2006/relationships"><Relationship Id="rId2" Type="http://schemas.openxmlformats.org/officeDocument/2006/relationships/slide" Target="../slides/slide171.xml"/><Relationship Id="rId1" Type="http://schemas.openxmlformats.org/officeDocument/2006/relationships/notesMaster" Target="../notesMasters/notesMaster1.xml"/></Relationships>
</file>

<file path=ppt/notesSlides/_rels/notesSlide136.xml.rels><?xml version="1.0" encoding="UTF-8" standalone="yes"?>
<Relationships xmlns="http://schemas.openxmlformats.org/package/2006/relationships"><Relationship Id="rId2" Type="http://schemas.openxmlformats.org/officeDocument/2006/relationships/slide" Target="../slides/slide172.xml"/><Relationship Id="rId1" Type="http://schemas.openxmlformats.org/officeDocument/2006/relationships/notesMaster" Target="../notesMasters/notesMaster1.xml"/></Relationships>
</file>

<file path=ppt/notesSlides/_rels/notesSlide137.xml.rels><?xml version="1.0" encoding="UTF-8" standalone="yes"?>
<Relationships xmlns="http://schemas.openxmlformats.org/package/2006/relationships"><Relationship Id="rId2" Type="http://schemas.openxmlformats.org/officeDocument/2006/relationships/slide" Target="../slides/slide173.xml"/><Relationship Id="rId1" Type="http://schemas.openxmlformats.org/officeDocument/2006/relationships/notesMaster" Target="../notesMasters/notesMaster1.xml"/></Relationships>
</file>

<file path=ppt/notesSlides/_rels/notesSlide138.xml.rels><?xml version="1.0" encoding="UTF-8" standalone="yes"?>
<Relationships xmlns="http://schemas.openxmlformats.org/package/2006/relationships"><Relationship Id="rId2" Type="http://schemas.openxmlformats.org/officeDocument/2006/relationships/slide" Target="../slides/slide174.xml"/><Relationship Id="rId1" Type="http://schemas.openxmlformats.org/officeDocument/2006/relationships/notesMaster" Target="../notesMasters/notesMaster1.xml"/></Relationships>
</file>

<file path=ppt/notesSlides/_rels/notesSlide139.xml.rels><?xml version="1.0" encoding="UTF-8" standalone="yes"?>
<Relationships xmlns="http://schemas.openxmlformats.org/package/2006/relationships"><Relationship Id="rId2" Type="http://schemas.openxmlformats.org/officeDocument/2006/relationships/slide" Target="../slides/slide175.xml"/><Relationship Id="rId1" Type="http://schemas.openxmlformats.org/officeDocument/2006/relationships/notesMaster" Target="../notesMasters/notesMaster1.xml"/></Relationships>
</file>

<file path=ppt/notesSlides/_rels/notesSlide140.xml.rels><?xml version="1.0" encoding="UTF-8" standalone="yes"?>
<Relationships xmlns="http://schemas.openxmlformats.org/package/2006/relationships"><Relationship Id="rId2" Type="http://schemas.openxmlformats.org/officeDocument/2006/relationships/slide" Target="../slides/slide176.xml"/><Relationship Id="rId1" Type="http://schemas.openxmlformats.org/officeDocument/2006/relationships/notesMaster" Target="../notesMasters/notesMaster1.xml"/></Relationships>
</file>

<file path=ppt/notesSlides/_rels/notesSlide141.xml.rels><?xml version="1.0" encoding="UTF-8" standalone="yes"?>
<Relationships xmlns="http://schemas.openxmlformats.org/package/2006/relationships"><Relationship Id="rId2" Type="http://schemas.openxmlformats.org/officeDocument/2006/relationships/slide" Target="../slides/slide177.xml"/><Relationship Id="rId1" Type="http://schemas.openxmlformats.org/officeDocument/2006/relationships/notesMaster" Target="../notesMasters/notesMaster1.xml"/></Relationships>
</file>

<file path=ppt/notesSlides/_rels/notesSlide142.xml.rels><?xml version="1.0" encoding="UTF-8" standalone="yes"?>
<Relationships xmlns="http://schemas.openxmlformats.org/package/2006/relationships"><Relationship Id="rId2" Type="http://schemas.openxmlformats.org/officeDocument/2006/relationships/slide" Target="../slides/slide178.xml"/><Relationship Id="rId1" Type="http://schemas.openxmlformats.org/officeDocument/2006/relationships/notesMaster" Target="../notesMasters/notesMaster1.xml"/></Relationships>
</file>

<file path=ppt/notesSlides/_rels/notesSlide143.xml.rels><?xml version="1.0" encoding="UTF-8" standalone="yes"?>
<Relationships xmlns="http://schemas.openxmlformats.org/package/2006/relationships"><Relationship Id="rId2" Type="http://schemas.openxmlformats.org/officeDocument/2006/relationships/slide" Target="../slides/slide179.xml"/><Relationship Id="rId1" Type="http://schemas.openxmlformats.org/officeDocument/2006/relationships/notesMaster" Target="../notesMasters/notesMaster1.xml"/></Relationships>
</file>

<file path=ppt/notesSlides/_rels/notesSlide144.xml.rels><?xml version="1.0" encoding="UTF-8" standalone="yes"?>
<Relationships xmlns="http://schemas.openxmlformats.org/package/2006/relationships"><Relationship Id="rId2" Type="http://schemas.openxmlformats.org/officeDocument/2006/relationships/slide" Target="../slides/slide180.xml"/><Relationship Id="rId1" Type="http://schemas.openxmlformats.org/officeDocument/2006/relationships/notesMaster" Target="../notesMasters/notesMaster1.xml"/></Relationships>
</file>

<file path=ppt/notesSlides/_rels/notesSlide145.xml.rels><?xml version="1.0" encoding="UTF-8" standalone="yes"?>
<Relationships xmlns="http://schemas.openxmlformats.org/package/2006/relationships"><Relationship Id="rId2" Type="http://schemas.openxmlformats.org/officeDocument/2006/relationships/slide" Target="../slides/slide182.xml"/><Relationship Id="rId1" Type="http://schemas.openxmlformats.org/officeDocument/2006/relationships/notesMaster" Target="../notesMasters/notesMaster1.xml"/></Relationships>
</file>

<file path=ppt/notesSlides/_rels/notesSlide146.xml.rels><?xml version="1.0" encoding="UTF-8" standalone="yes"?>
<Relationships xmlns="http://schemas.openxmlformats.org/package/2006/relationships"><Relationship Id="rId2" Type="http://schemas.openxmlformats.org/officeDocument/2006/relationships/slide" Target="../slides/slide183.xml"/><Relationship Id="rId1" Type="http://schemas.openxmlformats.org/officeDocument/2006/relationships/notesMaster" Target="../notesMasters/notesMaster1.xml"/></Relationships>
</file>

<file path=ppt/notesSlides/_rels/notesSlide147.xml.rels><?xml version="1.0" encoding="UTF-8" standalone="yes"?>
<Relationships xmlns="http://schemas.openxmlformats.org/package/2006/relationships"><Relationship Id="rId2" Type="http://schemas.openxmlformats.org/officeDocument/2006/relationships/slide" Target="../slides/slide184.xml"/><Relationship Id="rId1" Type="http://schemas.openxmlformats.org/officeDocument/2006/relationships/notesMaster" Target="../notesMasters/notesMaster1.xml"/></Relationships>
</file>

<file path=ppt/notesSlides/_rels/notesSlide148.xml.rels><?xml version="1.0" encoding="UTF-8" standalone="yes"?>
<Relationships xmlns="http://schemas.openxmlformats.org/package/2006/relationships"><Relationship Id="rId2" Type="http://schemas.openxmlformats.org/officeDocument/2006/relationships/slide" Target="../slides/slide185.xml"/><Relationship Id="rId1" Type="http://schemas.openxmlformats.org/officeDocument/2006/relationships/notesMaster" Target="../notesMasters/notesMaster1.xml"/></Relationships>
</file>

<file path=ppt/notesSlides/_rels/notesSlide149.xml.rels><?xml version="1.0" encoding="UTF-8" standalone="yes"?>
<Relationships xmlns="http://schemas.openxmlformats.org/package/2006/relationships"><Relationship Id="rId2" Type="http://schemas.openxmlformats.org/officeDocument/2006/relationships/slide" Target="../slides/slide186.xml"/><Relationship Id="rId1" Type="http://schemas.openxmlformats.org/officeDocument/2006/relationships/notesMaster" Target="../notesMasters/notesMaster1.xml"/></Relationships>
</file>

<file path=ppt/notesSlides/_rels/notesSlide150.xml.rels><?xml version="1.0" encoding="UTF-8" standalone="yes"?>
<Relationships xmlns="http://schemas.openxmlformats.org/package/2006/relationships"><Relationship Id="rId2" Type="http://schemas.openxmlformats.org/officeDocument/2006/relationships/slide" Target="../slides/slide187.xml"/><Relationship Id="rId1" Type="http://schemas.openxmlformats.org/officeDocument/2006/relationships/notesMaster" Target="../notesMasters/notesMaster1.xml"/></Relationships>
</file>

<file path=ppt/notesSlides/_rels/notesSlide151.xml.rels><?xml version="1.0" encoding="UTF-8" standalone="yes"?>
<Relationships xmlns="http://schemas.openxmlformats.org/package/2006/relationships"><Relationship Id="rId2" Type="http://schemas.openxmlformats.org/officeDocument/2006/relationships/slide" Target="../slides/slide188.xml"/><Relationship Id="rId1" Type="http://schemas.openxmlformats.org/officeDocument/2006/relationships/notesMaster" Target="../notesMasters/notesMaster1.xml"/></Relationships>
</file>

<file path=ppt/notesSlides/_rels/notesSlide152.xml.rels><?xml version="1.0" encoding="UTF-8" standalone="yes"?>
<Relationships xmlns="http://schemas.openxmlformats.org/package/2006/relationships"><Relationship Id="rId2" Type="http://schemas.openxmlformats.org/officeDocument/2006/relationships/slide" Target="../slides/slide189.xml"/><Relationship Id="rId1" Type="http://schemas.openxmlformats.org/officeDocument/2006/relationships/notesMaster" Target="../notesMasters/notesMaster1.xml"/></Relationships>
</file>

<file path=ppt/notesSlides/_rels/notesSlide153.xml.rels><?xml version="1.0" encoding="UTF-8" standalone="yes"?>
<Relationships xmlns="http://schemas.openxmlformats.org/package/2006/relationships"><Relationship Id="rId2" Type="http://schemas.openxmlformats.org/officeDocument/2006/relationships/slide" Target="../slides/slide190.xml"/><Relationship Id="rId1" Type="http://schemas.openxmlformats.org/officeDocument/2006/relationships/notesMaster" Target="../notesMasters/notesMaster1.xml"/></Relationships>
</file>

<file path=ppt/notesSlides/_rels/notesSlide154.xml.rels><?xml version="1.0" encoding="UTF-8" standalone="yes"?>
<Relationships xmlns="http://schemas.openxmlformats.org/package/2006/relationships"><Relationship Id="rId2" Type="http://schemas.openxmlformats.org/officeDocument/2006/relationships/slide" Target="../slides/slide191.xml"/><Relationship Id="rId1" Type="http://schemas.openxmlformats.org/officeDocument/2006/relationships/notesMaster" Target="../notesMasters/notesMaster1.xml"/></Relationships>
</file>

<file path=ppt/notesSlides/_rels/notesSlide155.xml.rels><?xml version="1.0" encoding="UTF-8" standalone="yes"?>
<Relationships xmlns="http://schemas.openxmlformats.org/package/2006/relationships"><Relationship Id="rId2" Type="http://schemas.openxmlformats.org/officeDocument/2006/relationships/slide" Target="../slides/slide192.xml"/><Relationship Id="rId1" Type="http://schemas.openxmlformats.org/officeDocument/2006/relationships/notesMaster" Target="../notesMasters/notesMaster1.xml"/></Relationships>
</file>

<file path=ppt/notesSlides/_rels/notesSlide156.xml.rels><?xml version="1.0" encoding="UTF-8" standalone="yes"?>
<Relationships xmlns="http://schemas.openxmlformats.org/package/2006/relationships"><Relationship Id="rId2" Type="http://schemas.openxmlformats.org/officeDocument/2006/relationships/slide" Target="../slides/slide193.xml"/><Relationship Id="rId1" Type="http://schemas.openxmlformats.org/officeDocument/2006/relationships/notesMaster" Target="../notesMasters/notesMaster1.xml"/></Relationships>
</file>

<file path=ppt/notesSlides/_rels/notesSlide157.xml.rels><?xml version="1.0" encoding="UTF-8" standalone="yes"?>
<Relationships xmlns="http://schemas.openxmlformats.org/package/2006/relationships"><Relationship Id="rId2" Type="http://schemas.openxmlformats.org/officeDocument/2006/relationships/slide" Target="../slides/slide194.xml"/><Relationship Id="rId1" Type="http://schemas.openxmlformats.org/officeDocument/2006/relationships/notesMaster" Target="../notesMasters/notesMaster1.xml"/></Relationships>
</file>

<file path=ppt/notesSlides/_rels/notesSlide158.xml.rels><?xml version="1.0" encoding="UTF-8" standalone="yes"?>
<Relationships xmlns="http://schemas.openxmlformats.org/package/2006/relationships"><Relationship Id="rId2" Type="http://schemas.openxmlformats.org/officeDocument/2006/relationships/slide" Target="../slides/slide195.xml"/><Relationship Id="rId1" Type="http://schemas.openxmlformats.org/officeDocument/2006/relationships/notesMaster" Target="../notesMasters/notesMaster1.xml"/></Relationships>
</file>

<file path=ppt/notesSlides/_rels/notesSlide159.xml.rels><?xml version="1.0" encoding="UTF-8" standalone="yes"?>
<Relationships xmlns="http://schemas.openxmlformats.org/package/2006/relationships"><Relationship Id="rId2" Type="http://schemas.openxmlformats.org/officeDocument/2006/relationships/slide" Target="../slides/slide196.xml"/><Relationship Id="rId1" Type="http://schemas.openxmlformats.org/officeDocument/2006/relationships/notesMaster" Target="../notesMasters/notesMaster1.xml"/></Relationships>
</file>

<file path=ppt/notesSlides/_rels/notesSlide160.xml.rels><?xml version="1.0" encoding="UTF-8" standalone="yes"?>
<Relationships xmlns="http://schemas.openxmlformats.org/package/2006/relationships"><Relationship Id="rId2" Type="http://schemas.openxmlformats.org/officeDocument/2006/relationships/slide" Target="../slides/slide197.xml"/><Relationship Id="rId1" Type="http://schemas.openxmlformats.org/officeDocument/2006/relationships/notesMaster" Target="../notesMasters/notesMaster1.xml"/></Relationships>
</file>

<file path=ppt/notesSlides/_rels/notesSlide161.xml.rels><?xml version="1.0" encoding="UTF-8" standalone="yes"?>
<Relationships xmlns="http://schemas.openxmlformats.org/package/2006/relationships"><Relationship Id="rId2" Type="http://schemas.openxmlformats.org/officeDocument/2006/relationships/slide" Target="../slides/slide198.xml"/><Relationship Id="rId1" Type="http://schemas.openxmlformats.org/officeDocument/2006/relationships/notesMaster" Target="../notesMasters/notesMaster1.xml"/></Relationships>
</file>

<file path=ppt/notesSlides/_rels/notesSlide162.xml.rels><?xml version="1.0" encoding="UTF-8" standalone="yes"?>
<Relationships xmlns="http://schemas.openxmlformats.org/package/2006/relationships"><Relationship Id="rId2" Type="http://schemas.openxmlformats.org/officeDocument/2006/relationships/slide" Target="../slides/slide199.xml"/><Relationship Id="rId1" Type="http://schemas.openxmlformats.org/officeDocument/2006/relationships/notesMaster" Target="../notesMasters/notesMaster1.xml"/></Relationships>
</file>

<file path=ppt/notesSlides/_rels/notesSlide163.xml.rels><?xml version="1.0" encoding="UTF-8" standalone="yes"?>
<Relationships xmlns="http://schemas.openxmlformats.org/package/2006/relationships"><Relationship Id="rId2" Type="http://schemas.openxmlformats.org/officeDocument/2006/relationships/slide" Target="../slides/slide200.xml"/><Relationship Id="rId1" Type="http://schemas.openxmlformats.org/officeDocument/2006/relationships/notesMaster" Target="../notesMasters/notesMaster1.xml"/></Relationships>
</file>

<file path=ppt/notesSlides/_rels/notesSlide164.xml.rels><?xml version="1.0" encoding="UTF-8" standalone="yes"?>
<Relationships xmlns="http://schemas.openxmlformats.org/package/2006/relationships"><Relationship Id="rId2" Type="http://schemas.openxmlformats.org/officeDocument/2006/relationships/slide" Target="../slides/slide203.xml"/><Relationship Id="rId1" Type="http://schemas.openxmlformats.org/officeDocument/2006/relationships/notesMaster" Target="../notesMasters/notesMaster1.xml"/></Relationships>
</file>

<file path=ppt/notesSlides/_rels/notesSlide165.xml.rels><?xml version="1.0" encoding="UTF-8" standalone="yes"?>
<Relationships xmlns="http://schemas.openxmlformats.org/package/2006/relationships"><Relationship Id="rId2" Type="http://schemas.openxmlformats.org/officeDocument/2006/relationships/slide" Target="../slides/slide204.xml"/><Relationship Id="rId1" Type="http://schemas.openxmlformats.org/officeDocument/2006/relationships/notesMaster" Target="../notesMasters/notesMaster1.xml"/></Relationships>
</file>

<file path=ppt/notesSlides/_rels/notesSlide166.xml.rels><?xml version="1.0" encoding="UTF-8" standalone="yes"?>
<Relationships xmlns="http://schemas.openxmlformats.org/package/2006/relationships"><Relationship Id="rId2" Type="http://schemas.openxmlformats.org/officeDocument/2006/relationships/slide" Target="../slides/slide206.xml"/><Relationship Id="rId1" Type="http://schemas.openxmlformats.org/officeDocument/2006/relationships/notesMaster" Target="../notesMasters/notesMaster1.xml"/></Relationships>
</file>

<file path=ppt/notesSlides/_rels/notesSlide167.xml.rels><?xml version="1.0" encoding="UTF-8" standalone="yes"?>
<Relationships xmlns="http://schemas.openxmlformats.org/package/2006/relationships"><Relationship Id="rId2" Type="http://schemas.openxmlformats.org/officeDocument/2006/relationships/slide" Target="../slides/slide207.xml"/><Relationship Id="rId1" Type="http://schemas.openxmlformats.org/officeDocument/2006/relationships/notesMaster" Target="../notesMasters/notesMaster1.xml"/></Relationships>
</file>

<file path=ppt/notesSlides/_rels/notesSlide168.xml.rels><?xml version="1.0" encoding="UTF-8" standalone="yes"?>
<Relationships xmlns="http://schemas.openxmlformats.org/package/2006/relationships"><Relationship Id="rId2" Type="http://schemas.openxmlformats.org/officeDocument/2006/relationships/slide" Target="../slides/slide210.xml"/><Relationship Id="rId1" Type="http://schemas.openxmlformats.org/officeDocument/2006/relationships/notesMaster" Target="../notesMasters/notesMaster1.xml"/></Relationships>
</file>

<file path=ppt/notesSlides/_rels/notesSlide169.xml.rels><?xml version="1.0" encoding="UTF-8" standalone="yes"?>
<Relationships xmlns="http://schemas.openxmlformats.org/package/2006/relationships"><Relationship Id="rId2" Type="http://schemas.openxmlformats.org/officeDocument/2006/relationships/slide" Target="../slides/slide211.xml"/><Relationship Id="rId1" Type="http://schemas.openxmlformats.org/officeDocument/2006/relationships/notesMaster" Target="../notesMasters/notesMaster1.xml"/></Relationships>
</file>

<file path=ppt/notesSlides/_rels/notesSlide170.xml.rels><?xml version="1.0" encoding="UTF-8" standalone="yes"?>
<Relationships xmlns="http://schemas.openxmlformats.org/package/2006/relationships"><Relationship Id="rId2" Type="http://schemas.openxmlformats.org/officeDocument/2006/relationships/slide" Target="../slides/slide212.xml"/><Relationship Id="rId1" Type="http://schemas.openxmlformats.org/officeDocument/2006/relationships/notesMaster" Target="../notesMasters/notesMaster1.xml"/></Relationships>
</file>

<file path=ppt/notesSlides/_rels/notesSlide171.xml.rels><?xml version="1.0" encoding="UTF-8" standalone="yes"?>
<Relationships xmlns="http://schemas.openxmlformats.org/package/2006/relationships"><Relationship Id="rId2" Type="http://schemas.openxmlformats.org/officeDocument/2006/relationships/slide" Target="../slides/slide213.xml"/><Relationship Id="rId1" Type="http://schemas.openxmlformats.org/officeDocument/2006/relationships/notesMaster" Target="../notesMasters/notesMaster1.xml"/></Relationships>
</file>

<file path=ppt/notesSlides/_rels/notesSlide172.xml.rels><?xml version="1.0" encoding="UTF-8" standalone="yes"?>
<Relationships xmlns="http://schemas.openxmlformats.org/package/2006/relationships"><Relationship Id="rId2" Type="http://schemas.openxmlformats.org/officeDocument/2006/relationships/slide" Target="../slides/slide214.xml"/><Relationship Id="rId1" Type="http://schemas.openxmlformats.org/officeDocument/2006/relationships/notesMaster" Target="../notesMasters/notesMaster1.xml"/></Relationships>
</file>

<file path=ppt/notesSlides/_rels/notesSlide173.xml.rels><?xml version="1.0" encoding="UTF-8" standalone="yes"?>
<Relationships xmlns="http://schemas.openxmlformats.org/package/2006/relationships"><Relationship Id="rId2" Type="http://schemas.openxmlformats.org/officeDocument/2006/relationships/slide" Target="../slides/slide215.xml"/><Relationship Id="rId1" Type="http://schemas.openxmlformats.org/officeDocument/2006/relationships/notesMaster" Target="../notesMasters/notesMaster1.xml"/></Relationships>
</file>

<file path=ppt/notesSlides/_rels/notesSlide174.xml.rels><?xml version="1.0" encoding="UTF-8" standalone="yes"?>
<Relationships xmlns="http://schemas.openxmlformats.org/package/2006/relationships"><Relationship Id="rId2" Type="http://schemas.openxmlformats.org/officeDocument/2006/relationships/slide" Target="../slides/slide218.xml"/><Relationship Id="rId1" Type="http://schemas.openxmlformats.org/officeDocument/2006/relationships/notesMaster" Target="../notesMasters/notesMaster1.xml"/></Relationships>
</file>

<file path=ppt/notesSlides/_rels/notesSlide175.xml.rels><?xml version="1.0" encoding="UTF-8" standalone="yes"?>
<Relationships xmlns="http://schemas.openxmlformats.org/package/2006/relationships"><Relationship Id="rId2" Type="http://schemas.openxmlformats.org/officeDocument/2006/relationships/slide" Target="../slides/slide219.xml"/><Relationship Id="rId1" Type="http://schemas.openxmlformats.org/officeDocument/2006/relationships/notesMaster" Target="../notesMasters/notesMaster1.xml"/></Relationships>
</file>

<file path=ppt/notesSlides/_rels/notesSlide176.xml.rels><?xml version="1.0" encoding="UTF-8" standalone="yes"?>
<Relationships xmlns="http://schemas.openxmlformats.org/package/2006/relationships"><Relationship Id="rId2" Type="http://schemas.openxmlformats.org/officeDocument/2006/relationships/slide" Target="../slides/slide220.xml"/><Relationship Id="rId1" Type="http://schemas.openxmlformats.org/officeDocument/2006/relationships/notesMaster" Target="../notesMasters/notesMaster1.xml"/></Relationships>
</file>

<file path=ppt/notesSlides/_rels/notesSlide177.xml.rels><?xml version="1.0" encoding="UTF-8" standalone="yes"?>
<Relationships xmlns="http://schemas.openxmlformats.org/package/2006/relationships"><Relationship Id="rId2" Type="http://schemas.openxmlformats.org/officeDocument/2006/relationships/slide" Target="../slides/slide221.xml"/><Relationship Id="rId1" Type="http://schemas.openxmlformats.org/officeDocument/2006/relationships/notesMaster" Target="../notesMasters/notesMaster1.xml"/></Relationships>
</file>

<file path=ppt/notesSlides/_rels/notesSlide178.xml.rels><?xml version="1.0" encoding="UTF-8" standalone="yes"?>
<Relationships xmlns="http://schemas.openxmlformats.org/package/2006/relationships"><Relationship Id="rId2" Type="http://schemas.openxmlformats.org/officeDocument/2006/relationships/slide" Target="../slides/slide222.xml"/><Relationship Id="rId1" Type="http://schemas.openxmlformats.org/officeDocument/2006/relationships/notesMaster" Target="../notesMasters/notesMaster1.xml"/></Relationships>
</file>

<file path=ppt/notesSlides/_rels/notesSlide179.xml.rels><?xml version="1.0" encoding="UTF-8" standalone="yes"?>
<Relationships xmlns="http://schemas.openxmlformats.org/package/2006/relationships"><Relationship Id="rId2" Type="http://schemas.openxmlformats.org/officeDocument/2006/relationships/slide" Target="../slides/slide223.xml"/><Relationship Id="rId1" Type="http://schemas.openxmlformats.org/officeDocument/2006/relationships/notesMaster" Target="../notesMasters/notesMaster1.xml"/></Relationships>
</file>

<file path=ppt/notesSlides/_rels/notesSlide180.xml.rels><?xml version="1.0" encoding="UTF-8" standalone="yes"?>
<Relationships xmlns="http://schemas.openxmlformats.org/package/2006/relationships"><Relationship Id="rId2" Type="http://schemas.openxmlformats.org/officeDocument/2006/relationships/slide" Target="../slides/slide224.xml"/><Relationship Id="rId1" Type="http://schemas.openxmlformats.org/officeDocument/2006/relationships/notesMaster" Target="../notesMasters/notesMaster1.xml"/></Relationships>
</file>

<file path=ppt/notesSlides/_rels/notesSlide181.xml.rels><?xml version="1.0" encoding="UTF-8" standalone="yes"?>
<Relationships xmlns="http://schemas.openxmlformats.org/package/2006/relationships"><Relationship Id="rId2" Type="http://schemas.openxmlformats.org/officeDocument/2006/relationships/slide" Target="../slides/slide225.xml"/><Relationship Id="rId1" Type="http://schemas.openxmlformats.org/officeDocument/2006/relationships/notesMaster" Target="../notesMasters/notesMaster1.xml"/></Relationships>
</file>

<file path=ppt/notesSlides/_rels/notesSlide182.xml.rels><?xml version="1.0" encoding="UTF-8" standalone="yes"?>
<Relationships xmlns="http://schemas.openxmlformats.org/package/2006/relationships"><Relationship Id="rId2" Type="http://schemas.openxmlformats.org/officeDocument/2006/relationships/slide" Target="../slides/slide227.xml"/><Relationship Id="rId1" Type="http://schemas.openxmlformats.org/officeDocument/2006/relationships/notesMaster" Target="../notesMasters/notesMaster1.xml"/></Relationships>
</file>

<file path=ppt/notesSlides/_rels/notesSlide183.xml.rels><?xml version="1.0" encoding="UTF-8" standalone="yes"?>
<Relationships xmlns="http://schemas.openxmlformats.org/package/2006/relationships"><Relationship Id="rId2" Type="http://schemas.openxmlformats.org/officeDocument/2006/relationships/slide" Target="../slides/slide228.xml"/><Relationship Id="rId1" Type="http://schemas.openxmlformats.org/officeDocument/2006/relationships/notesMaster" Target="../notesMasters/notesMaster1.xml"/></Relationships>
</file>

<file path=ppt/notesSlides/_rels/notesSlide184.xml.rels><?xml version="1.0" encoding="UTF-8" standalone="yes"?>
<Relationships xmlns="http://schemas.openxmlformats.org/package/2006/relationships"><Relationship Id="rId2" Type="http://schemas.openxmlformats.org/officeDocument/2006/relationships/slide" Target="../slides/slide229.xml"/><Relationship Id="rId1" Type="http://schemas.openxmlformats.org/officeDocument/2006/relationships/notesMaster" Target="../notesMasters/notesMaster1.xml"/></Relationships>
</file>

<file path=ppt/notesSlides/_rels/notesSlide185.xml.rels><?xml version="1.0" encoding="UTF-8" standalone="yes"?>
<Relationships xmlns="http://schemas.openxmlformats.org/package/2006/relationships"><Relationship Id="rId2" Type="http://schemas.openxmlformats.org/officeDocument/2006/relationships/slide" Target="../slides/slide231.xml"/><Relationship Id="rId1" Type="http://schemas.openxmlformats.org/officeDocument/2006/relationships/notesMaster" Target="../notesMasters/notesMaster1.xml"/></Relationships>
</file>

<file path=ppt/notesSlides/_rels/notesSlide186.xml.rels><?xml version="1.0" encoding="UTF-8" standalone="yes"?>
<Relationships xmlns="http://schemas.openxmlformats.org/package/2006/relationships"><Relationship Id="rId2" Type="http://schemas.openxmlformats.org/officeDocument/2006/relationships/slide" Target="../slides/slide232.xml"/><Relationship Id="rId1" Type="http://schemas.openxmlformats.org/officeDocument/2006/relationships/notesMaster" Target="../notesMasters/notesMaster1.xml"/></Relationships>
</file>

<file path=ppt/notesSlides/_rels/notesSlide187.xml.rels><?xml version="1.0" encoding="UTF-8" standalone="yes"?>
<Relationships xmlns="http://schemas.openxmlformats.org/package/2006/relationships"><Relationship Id="rId2" Type="http://schemas.openxmlformats.org/officeDocument/2006/relationships/slide" Target="../slides/slide241.xml"/><Relationship Id="rId1" Type="http://schemas.openxmlformats.org/officeDocument/2006/relationships/notesMaster" Target="../notesMasters/notesMaster1.xml"/></Relationships>
</file>

<file path=ppt/notesSlides/_rels/notesSlide188.xml.rels><?xml version="1.0" encoding="UTF-8" standalone="yes"?>
<Relationships xmlns="http://schemas.openxmlformats.org/package/2006/relationships"><Relationship Id="rId2" Type="http://schemas.openxmlformats.org/officeDocument/2006/relationships/slide" Target="../slides/slide242.xml"/><Relationship Id="rId1" Type="http://schemas.openxmlformats.org/officeDocument/2006/relationships/notesMaster" Target="../notesMasters/notesMaster1.xml"/></Relationships>
</file>

<file path=ppt/notesSlides/_rels/notesSlide189.xml.rels><?xml version="1.0" encoding="UTF-8" standalone="yes"?>
<Relationships xmlns="http://schemas.openxmlformats.org/package/2006/relationships"><Relationship Id="rId2" Type="http://schemas.openxmlformats.org/officeDocument/2006/relationships/slide" Target="../slides/slide243.xml"/><Relationship Id="rId1" Type="http://schemas.openxmlformats.org/officeDocument/2006/relationships/notesMaster" Target="../notesMasters/notesMaster1.xml"/></Relationships>
</file>

<file path=ppt/notesSlides/_rels/notesSlide190.xml.rels><?xml version="1.0" encoding="UTF-8" standalone="yes"?>
<Relationships xmlns="http://schemas.openxmlformats.org/package/2006/relationships"><Relationship Id="rId2" Type="http://schemas.openxmlformats.org/officeDocument/2006/relationships/slide" Target="../slides/slide244.xml"/><Relationship Id="rId1" Type="http://schemas.openxmlformats.org/officeDocument/2006/relationships/notesMaster" Target="../notesMasters/notesMaster1.xml"/></Relationships>
</file>

<file path=ppt/notesSlides/_rels/notesSlide191.xml.rels><?xml version="1.0" encoding="UTF-8" standalone="yes"?>
<Relationships xmlns="http://schemas.openxmlformats.org/package/2006/relationships"><Relationship Id="rId2" Type="http://schemas.openxmlformats.org/officeDocument/2006/relationships/slide" Target="../slides/slide245.xml"/><Relationship Id="rId1" Type="http://schemas.openxmlformats.org/officeDocument/2006/relationships/notesMaster" Target="../notesMasters/notesMaster1.xml"/></Relationships>
</file>

<file path=ppt/notesSlides/_rels/notesSlide192.xml.rels><?xml version="1.0" encoding="UTF-8" standalone="yes"?>
<Relationships xmlns="http://schemas.openxmlformats.org/package/2006/relationships"><Relationship Id="rId2" Type="http://schemas.openxmlformats.org/officeDocument/2006/relationships/slide" Target="../slides/slide246.xml"/><Relationship Id="rId1" Type="http://schemas.openxmlformats.org/officeDocument/2006/relationships/notesMaster" Target="../notesMasters/notesMaster1.xml"/></Relationships>
</file>

<file path=ppt/notesSlides/_rels/notesSlide193.xml.rels><?xml version="1.0" encoding="UTF-8" standalone="yes"?>
<Relationships xmlns="http://schemas.openxmlformats.org/package/2006/relationships"><Relationship Id="rId2" Type="http://schemas.openxmlformats.org/officeDocument/2006/relationships/slide" Target="../slides/slide247.xml"/><Relationship Id="rId1" Type="http://schemas.openxmlformats.org/officeDocument/2006/relationships/notesMaster" Target="../notesMasters/notesMaster1.xml"/></Relationships>
</file>

<file path=ppt/notesSlides/_rels/notesSlide194.xml.rels><?xml version="1.0" encoding="UTF-8" standalone="yes"?>
<Relationships xmlns="http://schemas.openxmlformats.org/package/2006/relationships"><Relationship Id="rId2" Type="http://schemas.openxmlformats.org/officeDocument/2006/relationships/slide" Target="../slides/slide248.xml"/><Relationship Id="rId1" Type="http://schemas.openxmlformats.org/officeDocument/2006/relationships/notesMaster" Target="../notesMasters/notesMaster1.xml"/></Relationships>
</file>

<file path=ppt/notesSlides/_rels/notesSlide195.xml.rels><?xml version="1.0" encoding="UTF-8" standalone="yes"?>
<Relationships xmlns="http://schemas.openxmlformats.org/package/2006/relationships"><Relationship Id="rId2" Type="http://schemas.openxmlformats.org/officeDocument/2006/relationships/slide" Target="../slides/slide249.xml"/><Relationship Id="rId1" Type="http://schemas.openxmlformats.org/officeDocument/2006/relationships/notesMaster" Target="../notesMasters/notesMaster1.xml"/></Relationships>
</file>

<file path=ppt/notesSlides/_rels/notesSlide196.xml.rels><?xml version="1.0" encoding="UTF-8" standalone="yes"?>
<Relationships xmlns="http://schemas.openxmlformats.org/package/2006/relationships"><Relationship Id="rId2" Type="http://schemas.openxmlformats.org/officeDocument/2006/relationships/slide" Target="../slides/slide250.xml"/><Relationship Id="rId1" Type="http://schemas.openxmlformats.org/officeDocument/2006/relationships/notesMaster" Target="../notesMasters/notesMaster1.xml"/></Relationships>
</file>

<file path=ppt/notesSlides/_rels/notesSlide197.xml.rels><?xml version="1.0" encoding="UTF-8" standalone="yes"?>
<Relationships xmlns="http://schemas.openxmlformats.org/package/2006/relationships"><Relationship Id="rId2" Type="http://schemas.openxmlformats.org/officeDocument/2006/relationships/slide" Target="../slides/slide251.xml"/><Relationship Id="rId1" Type="http://schemas.openxmlformats.org/officeDocument/2006/relationships/notesMaster" Target="../notesMasters/notesMaster1.xml"/></Relationships>
</file>

<file path=ppt/notesSlides/_rels/notesSlide198.xml.rels><?xml version="1.0" encoding="UTF-8" standalone="yes"?>
<Relationships xmlns="http://schemas.openxmlformats.org/package/2006/relationships"><Relationship Id="rId2" Type="http://schemas.openxmlformats.org/officeDocument/2006/relationships/slide" Target="../slides/slide252.xml"/><Relationship Id="rId1" Type="http://schemas.openxmlformats.org/officeDocument/2006/relationships/notesMaster" Target="../notesMasters/notesMaster1.xml"/></Relationships>
</file>

<file path=ppt/notesSlides/_rels/notesSlide199.xml.rels><?xml version="1.0" encoding="UTF-8" standalone="yes"?>
<Relationships xmlns="http://schemas.openxmlformats.org/package/2006/relationships"><Relationship Id="rId2" Type="http://schemas.openxmlformats.org/officeDocument/2006/relationships/slide" Target="../slides/slide253.xml"/><Relationship Id="rId1" Type="http://schemas.openxmlformats.org/officeDocument/2006/relationships/notesMaster" Target="../notesMasters/notesMaster1.xml"/></Relationships>
</file>

<file path=ppt/notesSlides/_rels/notesSlide200.xml.rels><?xml version="1.0" encoding="UTF-8" standalone="yes"?>
<Relationships xmlns="http://schemas.openxmlformats.org/package/2006/relationships"><Relationship Id="rId2" Type="http://schemas.openxmlformats.org/officeDocument/2006/relationships/slide" Target="../slides/slide254.xml"/><Relationship Id="rId1" Type="http://schemas.openxmlformats.org/officeDocument/2006/relationships/notesMaster" Target="../notesMasters/notesMaster1.xml"/></Relationships>
</file>

<file path=ppt/notesSlides/_rels/notesSlide201.xml.rels><?xml version="1.0" encoding="UTF-8" standalone="yes"?>
<Relationships xmlns="http://schemas.openxmlformats.org/package/2006/relationships"><Relationship Id="rId2" Type="http://schemas.openxmlformats.org/officeDocument/2006/relationships/slide" Target="../slides/slide255.xml"/><Relationship Id="rId1" Type="http://schemas.openxmlformats.org/officeDocument/2006/relationships/notesMaster" Target="../notesMasters/notesMaster1.xml"/></Relationships>
</file>

<file path=ppt/notesSlides/_rels/notesSlide202.xml.rels><?xml version="1.0" encoding="UTF-8" standalone="yes"?>
<Relationships xmlns="http://schemas.openxmlformats.org/package/2006/relationships"><Relationship Id="rId2" Type="http://schemas.openxmlformats.org/officeDocument/2006/relationships/slide" Target="../slides/slide256.xml"/><Relationship Id="rId1" Type="http://schemas.openxmlformats.org/officeDocument/2006/relationships/notesMaster" Target="../notesMasters/notesMaster1.xml"/></Relationships>
</file>

<file path=ppt/notesSlides/_rels/notesSlide203.xml.rels><?xml version="1.0" encoding="UTF-8" standalone="yes"?>
<Relationships xmlns="http://schemas.openxmlformats.org/package/2006/relationships"><Relationship Id="rId2" Type="http://schemas.openxmlformats.org/officeDocument/2006/relationships/slide" Target="../slides/slide257.xml"/><Relationship Id="rId1" Type="http://schemas.openxmlformats.org/officeDocument/2006/relationships/notesMaster" Target="../notesMasters/notesMaster1.xml"/></Relationships>
</file>

<file path=ppt/notesSlides/_rels/notesSlide204.xml.rels><?xml version="1.0" encoding="UTF-8" standalone="yes"?>
<Relationships xmlns="http://schemas.openxmlformats.org/package/2006/relationships"><Relationship Id="rId2" Type="http://schemas.openxmlformats.org/officeDocument/2006/relationships/slide" Target="../slides/slide258.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Attribute: camelCase</a:t>
            </a:r>
          </a:p>
          <a:p>
            <a:r>
              <a:rPr lang="en-GB" dirty="0"/>
              <a:t>Entity: </a:t>
            </a:r>
            <a:r>
              <a:rPr lang="en-GB" dirty="0" err="1"/>
              <a:t>EachWordCapitailised</a:t>
            </a: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a:t>
            </a:fld>
            <a:endParaRPr lang="en-GB"/>
          </a:p>
        </p:txBody>
      </p:sp>
    </p:spTree>
    <p:extLst>
      <p:ext uri="{BB962C8B-B14F-4D97-AF65-F5344CB8AC3E}">
        <p14:creationId xmlns:p14="http://schemas.microsoft.com/office/powerpoint/2010/main" val="3293913602"/>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Hide as appropriate</a:t>
            </a:r>
          </a:p>
        </p:txBody>
      </p:sp>
      <p:sp>
        <p:nvSpPr>
          <p:cNvPr id="4" name="Slide Number Placeholder 3"/>
          <p:cNvSpPr>
            <a:spLocks noGrp="1"/>
          </p:cNvSpPr>
          <p:nvPr>
            <p:ph type="sldNum" sz="quarter" idx="10"/>
          </p:nvPr>
        </p:nvSpPr>
        <p:spPr/>
        <p:txBody>
          <a:bodyPr/>
          <a:lstStyle/>
          <a:p>
            <a:fld id="{B71FE5B5-A979-4370-A255-218EAB36A5F4}" type="slidenum">
              <a:rPr lang="en-GB" smtClean="0"/>
              <a:t>2</a:t>
            </a:fld>
            <a:endParaRPr lang="en-GB"/>
          </a:p>
        </p:txBody>
      </p:sp>
    </p:spTree>
    <p:extLst>
      <p:ext uri="{BB962C8B-B14F-4D97-AF65-F5344CB8AC3E}">
        <p14:creationId xmlns:p14="http://schemas.microsoft.com/office/powerpoint/2010/main" val="387718313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sz="1200" dirty="0"/>
              <a:t>Used</a:t>
            </a:r>
            <a:r>
              <a:rPr lang="en-GB" sz="1200" baseline="0" dirty="0"/>
              <a:t> on websites – Amazon</a:t>
            </a:r>
          </a:p>
          <a:p>
            <a:r>
              <a:rPr lang="en-GB" sz="1200" baseline="0" dirty="0"/>
              <a:t>Used by government – HMRC, DVLA</a:t>
            </a:r>
          </a:p>
          <a:p>
            <a:r>
              <a:rPr lang="en-GB" sz="1200" baseline="0" dirty="0"/>
              <a:t>Used by school – SEEMIS</a:t>
            </a:r>
            <a:endParaRPr lang="en-GB" sz="1200" dirty="0"/>
          </a:p>
        </p:txBody>
      </p:sp>
      <p:sp>
        <p:nvSpPr>
          <p:cNvPr id="4" name="Slide Number Placeholder 3"/>
          <p:cNvSpPr>
            <a:spLocks noGrp="1"/>
          </p:cNvSpPr>
          <p:nvPr>
            <p:ph type="sldNum" sz="quarter" idx="10"/>
          </p:nvPr>
        </p:nvSpPr>
        <p:spPr/>
        <p:txBody>
          <a:bodyPr/>
          <a:lstStyle/>
          <a:p>
            <a:fld id="{B71FE5B5-A979-4370-A255-218EAB36A5F4}" type="slidenum">
              <a:rPr lang="en-GB" smtClean="0"/>
              <a:t>3</a:t>
            </a:fld>
            <a:endParaRPr lang="en-GB"/>
          </a:p>
        </p:txBody>
      </p:sp>
    </p:spTree>
    <p:extLst>
      <p:ext uri="{BB962C8B-B14F-4D97-AF65-F5344CB8AC3E}">
        <p14:creationId xmlns:p14="http://schemas.microsoft.com/office/powerpoint/2010/main" val="2298897104"/>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Imagine visiting a shopping website (Amazon) and all the images, information, and prices had to be retrieved by hand!</a:t>
            </a:r>
          </a:p>
          <a:p>
            <a:endParaRPr lang="en-GB" dirty="0"/>
          </a:p>
          <a:p>
            <a:r>
              <a:rPr lang="en-GB" dirty="0"/>
              <a:t>Image: https://placesjournal.org/article/the-filing-cabinet-and-20th-century-information-infrastructure/  (School office ~1923 </a:t>
            </a:r>
            <a:r>
              <a:rPr lang="en-GB" dirty="0">
                <a:sym typeface="Wingdings" panose="05000000000000000000" pitchFamily="2" charset="2"/>
              </a:rPr>
              <a:t>)</a:t>
            </a: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4</a:t>
            </a:fld>
            <a:endParaRPr lang="en-GB"/>
          </a:p>
        </p:txBody>
      </p:sp>
    </p:spTree>
    <p:extLst>
      <p:ext uri="{BB962C8B-B14F-4D97-AF65-F5344CB8AC3E}">
        <p14:creationId xmlns:p14="http://schemas.microsoft.com/office/powerpoint/2010/main" val="3461112480"/>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Olden days: filing cabinets full of records</a:t>
            </a:r>
          </a:p>
        </p:txBody>
      </p:sp>
      <p:sp>
        <p:nvSpPr>
          <p:cNvPr id="4" name="Slide Number Placeholder 3"/>
          <p:cNvSpPr>
            <a:spLocks noGrp="1"/>
          </p:cNvSpPr>
          <p:nvPr>
            <p:ph type="sldNum" sz="quarter" idx="10"/>
          </p:nvPr>
        </p:nvSpPr>
        <p:spPr/>
        <p:txBody>
          <a:bodyPr/>
          <a:lstStyle/>
          <a:p>
            <a:fld id="{B71FE5B5-A979-4370-A255-218EAB36A5F4}" type="slidenum">
              <a:rPr lang="en-GB" smtClean="0"/>
              <a:t>5</a:t>
            </a:fld>
            <a:endParaRPr lang="en-GB"/>
          </a:p>
        </p:txBody>
      </p:sp>
    </p:spTree>
    <p:extLst>
      <p:ext uri="{BB962C8B-B14F-4D97-AF65-F5344CB8AC3E}">
        <p14:creationId xmlns:p14="http://schemas.microsoft.com/office/powerpoint/2010/main" val="2411971555"/>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Olden days: filing cabinets full of records</a:t>
            </a:r>
          </a:p>
        </p:txBody>
      </p:sp>
      <p:sp>
        <p:nvSpPr>
          <p:cNvPr id="4" name="Slide Number Placeholder 3"/>
          <p:cNvSpPr>
            <a:spLocks noGrp="1"/>
          </p:cNvSpPr>
          <p:nvPr>
            <p:ph type="sldNum" sz="quarter" idx="10"/>
          </p:nvPr>
        </p:nvSpPr>
        <p:spPr/>
        <p:txBody>
          <a:bodyPr/>
          <a:lstStyle/>
          <a:p>
            <a:fld id="{B71FE5B5-A979-4370-A255-218EAB36A5F4}" type="slidenum">
              <a:rPr lang="en-GB" smtClean="0"/>
              <a:t>6</a:t>
            </a:fld>
            <a:endParaRPr lang="en-GB"/>
          </a:p>
        </p:txBody>
      </p:sp>
    </p:spTree>
    <p:extLst>
      <p:ext uri="{BB962C8B-B14F-4D97-AF65-F5344CB8AC3E}">
        <p14:creationId xmlns:p14="http://schemas.microsoft.com/office/powerpoint/2010/main" val="352567148"/>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7</a:t>
            </a:fld>
            <a:endParaRPr lang="en-GB"/>
          </a:p>
        </p:txBody>
      </p:sp>
    </p:spTree>
    <p:extLst>
      <p:ext uri="{BB962C8B-B14F-4D97-AF65-F5344CB8AC3E}">
        <p14:creationId xmlns:p14="http://schemas.microsoft.com/office/powerpoint/2010/main" val="4081218966"/>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8</a:t>
            </a:fld>
            <a:endParaRPr lang="en-GB"/>
          </a:p>
        </p:txBody>
      </p:sp>
    </p:spTree>
    <p:extLst>
      <p:ext uri="{BB962C8B-B14F-4D97-AF65-F5344CB8AC3E}">
        <p14:creationId xmlns:p14="http://schemas.microsoft.com/office/powerpoint/2010/main" val="148135212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Data from BBC Bitesize: https://www.bbc.co.uk/bitesize/guides/zc93tv4/revision/1</a:t>
            </a:r>
          </a:p>
        </p:txBody>
      </p:sp>
      <p:sp>
        <p:nvSpPr>
          <p:cNvPr id="4" name="Slide Number Placeholder 3"/>
          <p:cNvSpPr>
            <a:spLocks noGrp="1"/>
          </p:cNvSpPr>
          <p:nvPr>
            <p:ph type="sldNum" sz="quarter" idx="5"/>
          </p:nvPr>
        </p:nvSpPr>
        <p:spPr/>
        <p:txBody>
          <a:bodyPr/>
          <a:lstStyle/>
          <a:p>
            <a:fld id="{B71FE5B5-A979-4370-A255-218EAB36A5F4}" type="slidenum">
              <a:rPr lang="en-GB" smtClean="0"/>
              <a:t>9</a:t>
            </a:fld>
            <a:endParaRPr lang="en-GB"/>
          </a:p>
        </p:txBody>
      </p:sp>
    </p:spTree>
    <p:extLst>
      <p:ext uri="{BB962C8B-B14F-4D97-AF65-F5344CB8AC3E}">
        <p14:creationId xmlns:p14="http://schemas.microsoft.com/office/powerpoint/2010/main" val="2506133462"/>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10</a:t>
            </a:fld>
            <a:endParaRPr lang="en-GB"/>
          </a:p>
        </p:txBody>
      </p:sp>
    </p:spTree>
    <p:extLst>
      <p:ext uri="{BB962C8B-B14F-4D97-AF65-F5344CB8AC3E}">
        <p14:creationId xmlns:p14="http://schemas.microsoft.com/office/powerpoint/2010/main" val="3819886854"/>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SEQUEL: </a:t>
            </a:r>
            <a:r>
              <a:rPr lang="en-GB" b="1" dirty="0"/>
              <a:t>S</a:t>
            </a:r>
            <a:r>
              <a:rPr lang="en-GB" dirty="0"/>
              <a:t>tructured </a:t>
            </a:r>
            <a:r>
              <a:rPr lang="en-GB" b="1" dirty="0"/>
              <a:t>E</a:t>
            </a:r>
            <a:r>
              <a:rPr lang="en-GB" dirty="0"/>
              <a:t>nglish </a:t>
            </a:r>
            <a:r>
              <a:rPr lang="en-GB" b="1" dirty="0" err="1"/>
              <a:t>QUE</a:t>
            </a:r>
            <a:r>
              <a:rPr lang="en-GB" dirty="0" err="1"/>
              <a:t>ry</a:t>
            </a:r>
            <a:r>
              <a:rPr lang="en-GB" dirty="0"/>
              <a:t> </a:t>
            </a:r>
            <a:r>
              <a:rPr lang="en-GB" b="1" dirty="0"/>
              <a:t>L</a:t>
            </a:r>
            <a:r>
              <a:rPr lang="en-GB" dirty="0"/>
              <a:t>anguage</a:t>
            </a:r>
          </a:p>
        </p:txBody>
      </p:sp>
      <p:sp>
        <p:nvSpPr>
          <p:cNvPr id="4" name="Slide Number Placeholder 3"/>
          <p:cNvSpPr>
            <a:spLocks noGrp="1"/>
          </p:cNvSpPr>
          <p:nvPr>
            <p:ph type="sldNum" sz="quarter" idx="5"/>
          </p:nvPr>
        </p:nvSpPr>
        <p:spPr/>
        <p:txBody>
          <a:bodyPr/>
          <a:lstStyle/>
          <a:p>
            <a:fld id="{B71FE5B5-A979-4370-A255-218EAB36A5F4}" type="slidenum">
              <a:rPr lang="en-GB" smtClean="0"/>
              <a:t>11</a:t>
            </a:fld>
            <a:endParaRPr lang="en-GB"/>
          </a:p>
        </p:txBody>
      </p:sp>
    </p:spTree>
    <p:extLst>
      <p:ext uri="{BB962C8B-B14F-4D97-AF65-F5344CB8AC3E}">
        <p14:creationId xmlns:p14="http://schemas.microsoft.com/office/powerpoint/2010/main" val="502836077"/>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SEQUEL: </a:t>
            </a:r>
            <a:r>
              <a:rPr lang="en-GB" b="1" dirty="0"/>
              <a:t>S</a:t>
            </a:r>
            <a:r>
              <a:rPr lang="en-GB" dirty="0"/>
              <a:t>tructured </a:t>
            </a:r>
            <a:r>
              <a:rPr lang="en-GB" b="1" dirty="0"/>
              <a:t>E</a:t>
            </a:r>
            <a:r>
              <a:rPr lang="en-GB" dirty="0"/>
              <a:t>nglish </a:t>
            </a:r>
            <a:r>
              <a:rPr lang="en-GB" b="1" dirty="0" err="1"/>
              <a:t>QUE</a:t>
            </a:r>
            <a:r>
              <a:rPr lang="en-GB" dirty="0" err="1"/>
              <a:t>ry</a:t>
            </a:r>
            <a:r>
              <a:rPr lang="en-GB" dirty="0"/>
              <a:t> </a:t>
            </a:r>
            <a:r>
              <a:rPr lang="en-GB" b="1" dirty="0"/>
              <a:t>L</a:t>
            </a:r>
            <a:r>
              <a:rPr lang="en-GB" dirty="0"/>
              <a:t>anguage</a:t>
            </a:r>
          </a:p>
        </p:txBody>
      </p:sp>
      <p:sp>
        <p:nvSpPr>
          <p:cNvPr id="4" name="Slide Number Placeholder 3"/>
          <p:cNvSpPr>
            <a:spLocks noGrp="1"/>
          </p:cNvSpPr>
          <p:nvPr>
            <p:ph type="sldNum" sz="quarter" idx="5"/>
          </p:nvPr>
        </p:nvSpPr>
        <p:spPr/>
        <p:txBody>
          <a:bodyPr/>
          <a:lstStyle/>
          <a:p>
            <a:fld id="{B71FE5B5-A979-4370-A255-218EAB36A5F4}" type="slidenum">
              <a:rPr lang="en-GB" smtClean="0"/>
              <a:t>12</a:t>
            </a:fld>
            <a:endParaRPr lang="en-GB"/>
          </a:p>
        </p:txBody>
      </p:sp>
    </p:spTree>
    <p:extLst>
      <p:ext uri="{BB962C8B-B14F-4D97-AF65-F5344CB8AC3E}">
        <p14:creationId xmlns:p14="http://schemas.microsoft.com/office/powerpoint/2010/main" val="2754221318"/>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Helps to tell the 'story' of what the program does</a:t>
            </a:r>
          </a:p>
        </p:txBody>
      </p:sp>
      <p:sp>
        <p:nvSpPr>
          <p:cNvPr id="4" name="Slide Number Placeholder 3"/>
          <p:cNvSpPr>
            <a:spLocks noGrp="1"/>
          </p:cNvSpPr>
          <p:nvPr>
            <p:ph type="sldNum" sz="quarter" idx="5"/>
          </p:nvPr>
        </p:nvSpPr>
        <p:spPr/>
        <p:txBody>
          <a:bodyPr/>
          <a:lstStyle/>
          <a:p>
            <a:fld id="{B71FE5B5-A979-4370-A255-218EAB36A5F4}" type="slidenum">
              <a:rPr lang="en-GB" smtClean="0"/>
              <a:t>17</a:t>
            </a:fld>
            <a:endParaRPr lang="en-GB"/>
          </a:p>
        </p:txBody>
      </p:sp>
    </p:spTree>
    <p:extLst>
      <p:ext uri="{BB962C8B-B14F-4D97-AF65-F5344CB8AC3E}">
        <p14:creationId xmlns:p14="http://schemas.microsoft.com/office/powerpoint/2010/main" val="2911402822"/>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18</a:t>
            </a:fld>
            <a:endParaRPr lang="en-GB"/>
          </a:p>
        </p:txBody>
      </p:sp>
    </p:spTree>
    <p:extLst>
      <p:ext uri="{BB962C8B-B14F-4D97-AF65-F5344CB8AC3E}">
        <p14:creationId xmlns:p14="http://schemas.microsoft.com/office/powerpoint/2010/main" val="4241405170"/>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Helps to tell the 'story' of what the program does</a:t>
            </a:r>
          </a:p>
        </p:txBody>
      </p:sp>
      <p:sp>
        <p:nvSpPr>
          <p:cNvPr id="4" name="Slide Number Placeholder 3"/>
          <p:cNvSpPr>
            <a:spLocks noGrp="1"/>
          </p:cNvSpPr>
          <p:nvPr>
            <p:ph type="sldNum" sz="quarter" idx="5"/>
          </p:nvPr>
        </p:nvSpPr>
        <p:spPr/>
        <p:txBody>
          <a:bodyPr/>
          <a:lstStyle/>
          <a:p>
            <a:fld id="{B71FE5B5-A979-4370-A255-218EAB36A5F4}" type="slidenum">
              <a:rPr lang="en-GB" smtClean="0"/>
              <a:t>19</a:t>
            </a:fld>
            <a:endParaRPr lang="en-GB"/>
          </a:p>
        </p:txBody>
      </p:sp>
    </p:spTree>
    <p:extLst>
      <p:ext uri="{BB962C8B-B14F-4D97-AF65-F5344CB8AC3E}">
        <p14:creationId xmlns:p14="http://schemas.microsoft.com/office/powerpoint/2010/main" val="768228616"/>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Helps to tell the 'story' of what the program does</a:t>
            </a:r>
          </a:p>
        </p:txBody>
      </p:sp>
      <p:sp>
        <p:nvSpPr>
          <p:cNvPr id="4" name="Slide Number Placeholder 3"/>
          <p:cNvSpPr>
            <a:spLocks noGrp="1"/>
          </p:cNvSpPr>
          <p:nvPr>
            <p:ph type="sldNum" sz="quarter" idx="5"/>
          </p:nvPr>
        </p:nvSpPr>
        <p:spPr/>
        <p:txBody>
          <a:bodyPr/>
          <a:lstStyle/>
          <a:p>
            <a:fld id="{B71FE5B5-A979-4370-A255-218EAB36A5F4}" type="slidenum">
              <a:rPr lang="en-GB" smtClean="0"/>
              <a:t>20</a:t>
            </a:fld>
            <a:endParaRPr lang="en-GB"/>
          </a:p>
        </p:txBody>
      </p:sp>
    </p:spTree>
    <p:extLst>
      <p:ext uri="{BB962C8B-B14F-4D97-AF65-F5344CB8AC3E}">
        <p14:creationId xmlns:p14="http://schemas.microsoft.com/office/powerpoint/2010/main" val="3793207737"/>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21</a:t>
            </a:fld>
            <a:endParaRPr lang="en-GB"/>
          </a:p>
        </p:txBody>
      </p:sp>
    </p:spTree>
    <p:extLst>
      <p:ext uri="{BB962C8B-B14F-4D97-AF65-F5344CB8AC3E}">
        <p14:creationId xmlns:p14="http://schemas.microsoft.com/office/powerpoint/2010/main" val="412546574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Works in Replit but not DB Browser for SQLite</a:t>
            </a:r>
          </a:p>
        </p:txBody>
      </p:sp>
      <p:sp>
        <p:nvSpPr>
          <p:cNvPr id="4" name="Slide Number Placeholder 3"/>
          <p:cNvSpPr>
            <a:spLocks noGrp="1"/>
          </p:cNvSpPr>
          <p:nvPr>
            <p:ph type="sldNum" sz="quarter" idx="5"/>
          </p:nvPr>
        </p:nvSpPr>
        <p:spPr/>
        <p:txBody>
          <a:bodyPr/>
          <a:lstStyle/>
          <a:p>
            <a:fld id="{B71FE5B5-A979-4370-A255-218EAB36A5F4}" type="slidenum">
              <a:rPr lang="en-GB" smtClean="0"/>
              <a:t>22</a:t>
            </a:fld>
            <a:endParaRPr lang="en-GB"/>
          </a:p>
        </p:txBody>
      </p:sp>
    </p:spTree>
    <p:extLst>
      <p:ext uri="{BB962C8B-B14F-4D97-AF65-F5344CB8AC3E}">
        <p14:creationId xmlns:p14="http://schemas.microsoft.com/office/powerpoint/2010/main" val="1534994590"/>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23</a:t>
            </a:fld>
            <a:endParaRPr lang="en-GB"/>
          </a:p>
        </p:txBody>
      </p:sp>
    </p:spTree>
    <p:extLst>
      <p:ext uri="{BB962C8B-B14F-4D97-AF65-F5344CB8AC3E}">
        <p14:creationId xmlns:p14="http://schemas.microsoft.com/office/powerpoint/2010/main" val="125051571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25</a:t>
            </a:fld>
            <a:endParaRPr lang="en-GB"/>
          </a:p>
        </p:txBody>
      </p:sp>
    </p:spTree>
    <p:extLst>
      <p:ext uri="{BB962C8B-B14F-4D97-AF65-F5344CB8AC3E}">
        <p14:creationId xmlns:p14="http://schemas.microsoft.com/office/powerpoint/2010/main" val="116834991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26</a:t>
            </a:fld>
            <a:endParaRPr lang="en-GB"/>
          </a:p>
        </p:txBody>
      </p:sp>
    </p:spTree>
    <p:extLst>
      <p:ext uri="{BB962C8B-B14F-4D97-AF65-F5344CB8AC3E}">
        <p14:creationId xmlns:p14="http://schemas.microsoft.com/office/powerpoint/2010/main" val="3446551362"/>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27</a:t>
            </a:fld>
            <a:endParaRPr lang="en-GB"/>
          </a:p>
        </p:txBody>
      </p:sp>
    </p:spTree>
    <p:extLst>
      <p:ext uri="{BB962C8B-B14F-4D97-AF65-F5344CB8AC3E}">
        <p14:creationId xmlns:p14="http://schemas.microsoft.com/office/powerpoint/2010/main" val="332089286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28</a:t>
            </a:fld>
            <a:endParaRPr lang="en-GB"/>
          </a:p>
        </p:txBody>
      </p:sp>
    </p:spTree>
    <p:extLst>
      <p:ext uri="{BB962C8B-B14F-4D97-AF65-F5344CB8AC3E}">
        <p14:creationId xmlns:p14="http://schemas.microsoft.com/office/powerpoint/2010/main" val="279862494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29</a:t>
            </a:fld>
            <a:endParaRPr lang="en-GB"/>
          </a:p>
        </p:txBody>
      </p:sp>
    </p:spTree>
    <p:extLst>
      <p:ext uri="{BB962C8B-B14F-4D97-AF65-F5344CB8AC3E}">
        <p14:creationId xmlns:p14="http://schemas.microsoft.com/office/powerpoint/2010/main" val="510220239"/>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This happens in the computer's memory, only the output is displayed.</a:t>
            </a:r>
          </a:p>
        </p:txBody>
      </p:sp>
      <p:sp>
        <p:nvSpPr>
          <p:cNvPr id="4" name="Slide Number Placeholder 3"/>
          <p:cNvSpPr>
            <a:spLocks noGrp="1"/>
          </p:cNvSpPr>
          <p:nvPr>
            <p:ph type="sldNum" sz="quarter" idx="5"/>
          </p:nvPr>
        </p:nvSpPr>
        <p:spPr/>
        <p:txBody>
          <a:bodyPr/>
          <a:lstStyle/>
          <a:p>
            <a:fld id="{B71FE5B5-A979-4370-A255-218EAB36A5F4}" type="slidenum">
              <a:rPr lang="en-GB" smtClean="0"/>
              <a:t>30</a:t>
            </a:fld>
            <a:endParaRPr lang="en-GB"/>
          </a:p>
        </p:txBody>
      </p:sp>
    </p:spTree>
    <p:extLst>
      <p:ext uri="{BB962C8B-B14F-4D97-AF65-F5344CB8AC3E}">
        <p14:creationId xmlns:p14="http://schemas.microsoft.com/office/powerpoint/2010/main" val="114529797"/>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31</a:t>
            </a:fld>
            <a:endParaRPr lang="en-GB"/>
          </a:p>
        </p:txBody>
      </p:sp>
    </p:spTree>
    <p:extLst>
      <p:ext uri="{BB962C8B-B14F-4D97-AF65-F5344CB8AC3E}">
        <p14:creationId xmlns:p14="http://schemas.microsoft.com/office/powerpoint/2010/main" val="1581668153"/>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37</a:t>
            </a:fld>
            <a:endParaRPr lang="en-GB"/>
          </a:p>
        </p:txBody>
      </p:sp>
    </p:spTree>
    <p:extLst>
      <p:ext uri="{BB962C8B-B14F-4D97-AF65-F5344CB8AC3E}">
        <p14:creationId xmlns:p14="http://schemas.microsoft.com/office/powerpoint/2010/main" val="3254597403"/>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38</a:t>
            </a:fld>
            <a:endParaRPr lang="en-GB"/>
          </a:p>
        </p:txBody>
      </p:sp>
    </p:spTree>
    <p:extLst>
      <p:ext uri="{BB962C8B-B14F-4D97-AF65-F5344CB8AC3E}">
        <p14:creationId xmlns:p14="http://schemas.microsoft.com/office/powerpoint/2010/main" val="2761382"/>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SQL 'WHERE' is like Python 'if'</a:t>
            </a:r>
          </a:p>
        </p:txBody>
      </p:sp>
      <p:sp>
        <p:nvSpPr>
          <p:cNvPr id="4" name="Slide Number Placeholder 3"/>
          <p:cNvSpPr>
            <a:spLocks noGrp="1"/>
          </p:cNvSpPr>
          <p:nvPr>
            <p:ph type="sldNum" sz="quarter" idx="5"/>
          </p:nvPr>
        </p:nvSpPr>
        <p:spPr/>
        <p:txBody>
          <a:bodyPr/>
          <a:lstStyle/>
          <a:p>
            <a:fld id="{B71FE5B5-A979-4370-A255-218EAB36A5F4}" type="slidenum">
              <a:rPr lang="en-GB" smtClean="0"/>
              <a:t>39</a:t>
            </a:fld>
            <a:endParaRPr lang="en-GB"/>
          </a:p>
        </p:txBody>
      </p:sp>
    </p:spTree>
    <p:extLst>
      <p:ext uri="{BB962C8B-B14F-4D97-AF65-F5344CB8AC3E}">
        <p14:creationId xmlns:p14="http://schemas.microsoft.com/office/powerpoint/2010/main" val="2380417204"/>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40</a:t>
            </a:fld>
            <a:endParaRPr lang="en-GB"/>
          </a:p>
        </p:txBody>
      </p:sp>
    </p:spTree>
    <p:extLst>
      <p:ext uri="{BB962C8B-B14F-4D97-AF65-F5344CB8AC3E}">
        <p14:creationId xmlns:p14="http://schemas.microsoft.com/office/powerpoint/2010/main" val="576656754"/>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This happens in the computer's memory, only the output is displayed.</a:t>
            </a:r>
          </a:p>
        </p:txBody>
      </p:sp>
      <p:sp>
        <p:nvSpPr>
          <p:cNvPr id="4" name="Slide Number Placeholder 3"/>
          <p:cNvSpPr>
            <a:spLocks noGrp="1"/>
          </p:cNvSpPr>
          <p:nvPr>
            <p:ph type="sldNum" sz="quarter" idx="5"/>
          </p:nvPr>
        </p:nvSpPr>
        <p:spPr/>
        <p:txBody>
          <a:bodyPr/>
          <a:lstStyle/>
          <a:p>
            <a:fld id="{B71FE5B5-A979-4370-A255-218EAB36A5F4}" type="slidenum">
              <a:rPr lang="en-GB" smtClean="0"/>
              <a:t>41</a:t>
            </a:fld>
            <a:endParaRPr lang="en-GB"/>
          </a:p>
        </p:txBody>
      </p:sp>
    </p:spTree>
    <p:extLst>
      <p:ext uri="{BB962C8B-B14F-4D97-AF65-F5344CB8AC3E}">
        <p14:creationId xmlns:p14="http://schemas.microsoft.com/office/powerpoint/2010/main" val="2859290033"/>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42</a:t>
            </a:fld>
            <a:endParaRPr lang="en-GB"/>
          </a:p>
        </p:txBody>
      </p:sp>
    </p:spTree>
    <p:extLst>
      <p:ext uri="{BB962C8B-B14F-4D97-AF65-F5344CB8AC3E}">
        <p14:creationId xmlns:p14="http://schemas.microsoft.com/office/powerpoint/2010/main" val="2934177623"/>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43</a:t>
            </a:fld>
            <a:endParaRPr lang="en-GB"/>
          </a:p>
        </p:txBody>
      </p:sp>
    </p:spTree>
    <p:extLst>
      <p:ext uri="{BB962C8B-B14F-4D97-AF65-F5344CB8AC3E}">
        <p14:creationId xmlns:p14="http://schemas.microsoft.com/office/powerpoint/2010/main" val="1787756928"/>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44</a:t>
            </a:fld>
            <a:endParaRPr lang="en-GB"/>
          </a:p>
        </p:txBody>
      </p:sp>
    </p:spTree>
    <p:extLst>
      <p:ext uri="{BB962C8B-B14F-4D97-AF65-F5344CB8AC3E}">
        <p14:creationId xmlns:p14="http://schemas.microsoft.com/office/powerpoint/2010/main" val="4207249467"/>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err="1"/>
              <a:t>YYYY</a:t>
            </a:r>
            <a:r>
              <a:rPr lang="en-GB" dirty="0"/>
              <a:t>-MM-DD</a:t>
            </a:r>
          </a:p>
        </p:txBody>
      </p:sp>
      <p:sp>
        <p:nvSpPr>
          <p:cNvPr id="4" name="Slide Number Placeholder 3"/>
          <p:cNvSpPr>
            <a:spLocks noGrp="1"/>
          </p:cNvSpPr>
          <p:nvPr>
            <p:ph type="sldNum" sz="quarter" idx="5"/>
          </p:nvPr>
        </p:nvSpPr>
        <p:spPr/>
        <p:txBody>
          <a:bodyPr/>
          <a:lstStyle/>
          <a:p>
            <a:fld id="{B71FE5B5-A979-4370-A255-218EAB36A5F4}" type="slidenum">
              <a:rPr lang="en-GB" smtClean="0"/>
              <a:t>45</a:t>
            </a:fld>
            <a:endParaRPr lang="en-GB"/>
          </a:p>
        </p:txBody>
      </p:sp>
    </p:spTree>
    <p:extLst>
      <p:ext uri="{BB962C8B-B14F-4D97-AF65-F5344CB8AC3E}">
        <p14:creationId xmlns:p14="http://schemas.microsoft.com/office/powerpoint/2010/main" val="327313296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46</a:t>
            </a:fld>
            <a:endParaRPr lang="en-GB"/>
          </a:p>
        </p:txBody>
      </p:sp>
    </p:spTree>
    <p:extLst>
      <p:ext uri="{BB962C8B-B14F-4D97-AF65-F5344CB8AC3E}">
        <p14:creationId xmlns:p14="http://schemas.microsoft.com/office/powerpoint/2010/main" val="2574762198"/>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err="1"/>
              <a:t>HH:MM:SS</a:t>
            </a: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47</a:t>
            </a:fld>
            <a:endParaRPr lang="en-GB"/>
          </a:p>
        </p:txBody>
      </p:sp>
    </p:spTree>
    <p:extLst>
      <p:ext uri="{BB962C8B-B14F-4D97-AF65-F5344CB8AC3E}">
        <p14:creationId xmlns:p14="http://schemas.microsoft.com/office/powerpoint/2010/main" val="3472476287"/>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48</a:t>
            </a:fld>
            <a:endParaRPr lang="en-GB"/>
          </a:p>
        </p:txBody>
      </p:sp>
    </p:spTree>
    <p:extLst>
      <p:ext uri="{BB962C8B-B14F-4D97-AF65-F5344CB8AC3E}">
        <p14:creationId xmlns:p14="http://schemas.microsoft.com/office/powerpoint/2010/main" val="3439542696"/>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49</a:t>
            </a:fld>
            <a:endParaRPr lang="en-GB"/>
          </a:p>
        </p:txBody>
      </p:sp>
    </p:spTree>
    <p:extLst>
      <p:ext uri="{BB962C8B-B14F-4D97-AF65-F5344CB8AC3E}">
        <p14:creationId xmlns:p14="http://schemas.microsoft.com/office/powerpoint/2010/main" val="1799391477"/>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50</a:t>
            </a:fld>
            <a:endParaRPr lang="en-GB"/>
          </a:p>
        </p:txBody>
      </p:sp>
    </p:spTree>
    <p:extLst>
      <p:ext uri="{BB962C8B-B14F-4D97-AF65-F5344CB8AC3E}">
        <p14:creationId xmlns:p14="http://schemas.microsoft.com/office/powerpoint/2010/main" val="361577724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Can order by fields that aren't displayed.</a:t>
            </a:r>
          </a:p>
        </p:txBody>
      </p:sp>
      <p:sp>
        <p:nvSpPr>
          <p:cNvPr id="4" name="Slide Number Placeholder 3"/>
          <p:cNvSpPr>
            <a:spLocks noGrp="1"/>
          </p:cNvSpPr>
          <p:nvPr>
            <p:ph type="sldNum" sz="quarter" idx="5"/>
          </p:nvPr>
        </p:nvSpPr>
        <p:spPr/>
        <p:txBody>
          <a:bodyPr/>
          <a:lstStyle/>
          <a:p>
            <a:fld id="{B71FE5B5-A979-4370-A255-218EAB36A5F4}" type="slidenum">
              <a:rPr lang="en-GB" smtClean="0"/>
              <a:t>52</a:t>
            </a:fld>
            <a:endParaRPr lang="en-GB"/>
          </a:p>
        </p:txBody>
      </p:sp>
    </p:spTree>
    <p:extLst>
      <p:ext uri="{BB962C8B-B14F-4D97-AF65-F5344CB8AC3E}">
        <p14:creationId xmlns:p14="http://schemas.microsoft.com/office/powerpoint/2010/main" val="1732358885"/>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53</a:t>
            </a:fld>
            <a:endParaRPr lang="en-GB"/>
          </a:p>
        </p:txBody>
      </p:sp>
    </p:spTree>
    <p:extLst>
      <p:ext uri="{BB962C8B-B14F-4D97-AF65-F5344CB8AC3E}">
        <p14:creationId xmlns:p14="http://schemas.microsoft.com/office/powerpoint/2010/main" val="1799939624"/>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54</a:t>
            </a:fld>
            <a:endParaRPr lang="en-GB"/>
          </a:p>
        </p:txBody>
      </p:sp>
    </p:spTree>
    <p:extLst>
      <p:ext uri="{BB962C8B-B14F-4D97-AF65-F5344CB8AC3E}">
        <p14:creationId xmlns:p14="http://schemas.microsoft.com/office/powerpoint/2010/main" val="1584151889"/>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55</a:t>
            </a:fld>
            <a:endParaRPr lang="en-GB"/>
          </a:p>
        </p:txBody>
      </p:sp>
    </p:spTree>
    <p:extLst>
      <p:ext uri="{BB962C8B-B14F-4D97-AF65-F5344CB8AC3E}">
        <p14:creationId xmlns:p14="http://schemas.microsoft.com/office/powerpoint/2010/main" val="3824970056"/>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1E8C167-1F80-F8FF-5BFA-744E134879E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2086833-A557-1912-6067-C6780571AA1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371B0D9-535A-DF56-6CE3-824D5E0B0060}"/>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Highlighting field not selected but can still be used for ordering (H CS: think aliases)</a:t>
            </a:r>
          </a:p>
        </p:txBody>
      </p:sp>
      <p:sp>
        <p:nvSpPr>
          <p:cNvPr id="4" name="Slide Number Placeholder 3">
            <a:extLst>
              <a:ext uri="{FF2B5EF4-FFF2-40B4-BE49-F238E27FC236}">
                <a16:creationId xmlns:a16="http://schemas.microsoft.com/office/drawing/2014/main" id="{5AA207C0-AEEF-0931-E07E-3E8724F6DA28}"/>
              </a:ext>
            </a:extLst>
          </p:cNvPr>
          <p:cNvSpPr>
            <a:spLocks noGrp="1"/>
          </p:cNvSpPr>
          <p:nvPr>
            <p:ph type="sldNum" sz="quarter" idx="5"/>
          </p:nvPr>
        </p:nvSpPr>
        <p:spPr/>
        <p:txBody>
          <a:bodyPr/>
          <a:lstStyle/>
          <a:p>
            <a:fld id="{B71FE5B5-A979-4370-A255-218EAB36A5F4}" type="slidenum">
              <a:rPr lang="en-GB" smtClean="0"/>
              <a:t>56</a:t>
            </a:fld>
            <a:endParaRPr lang="en-GB"/>
          </a:p>
        </p:txBody>
      </p:sp>
    </p:spTree>
    <p:extLst>
      <p:ext uri="{BB962C8B-B14F-4D97-AF65-F5344CB8AC3E}">
        <p14:creationId xmlns:p14="http://schemas.microsoft.com/office/powerpoint/2010/main" val="3845318822"/>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A5EF935-4F26-DF99-EA97-44E7763FA58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F386F61-8742-6F48-6451-85A5F2BABF0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2E18928-F9AC-7F88-E090-3BC6F67B9AE3}"/>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a:extLst>
              <a:ext uri="{FF2B5EF4-FFF2-40B4-BE49-F238E27FC236}">
                <a16:creationId xmlns:a16="http://schemas.microsoft.com/office/drawing/2014/main" id="{69D7E630-F075-AAD0-A755-7A27445B4EAE}"/>
              </a:ext>
            </a:extLst>
          </p:cNvPr>
          <p:cNvSpPr>
            <a:spLocks noGrp="1"/>
          </p:cNvSpPr>
          <p:nvPr>
            <p:ph type="sldNum" sz="quarter" idx="5"/>
          </p:nvPr>
        </p:nvSpPr>
        <p:spPr/>
        <p:txBody>
          <a:bodyPr/>
          <a:lstStyle/>
          <a:p>
            <a:fld id="{B71FE5B5-A979-4370-A255-218EAB36A5F4}" type="slidenum">
              <a:rPr lang="en-GB" smtClean="0"/>
              <a:t>57</a:t>
            </a:fld>
            <a:endParaRPr lang="en-GB"/>
          </a:p>
        </p:txBody>
      </p:sp>
    </p:spTree>
    <p:extLst>
      <p:ext uri="{BB962C8B-B14F-4D97-AF65-F5344CB8AC3E}">
        <p14:creationId xmlns:p14="http://schemas.microsoft.com/office/powerpoint/2010/main" val="2839954920"/>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58</a:t>
            </a:fld>
            <a:endParaRPr lang="en-GB"/>
          </a:p>
        </p:txBody>
      </p:sp>
    </p:spTree>
    <p:extLst>
      <p:ext uri="{BB962C8B-B14F-4D97-AF65-F5344CB8AC3E}">
        <p14:creationId xmlns:p14="http://schemas.microsoft.com/office/powerpoint/2010/main" val="338286311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59</a:t>
            </a:fld>
            <a:endParaRPr lang="en-GB"/>
          </a:p>
        </p:txBody>
      </p:sp>
    </p:spTree>
    <p:extLst>
      <p:ext uri="{BB962C8B-B14F-4D97-AF65-F5344CB8AC3E}">
        <p14:creationId xmlns:p14="http://schemas.microsoft.com/office/powerpoint/2010/main" val="917948619"/>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NOT isn't in the spec.</a:t>
            </a:r>
          </a:p>
          <a:p>
            <a:endParaRPr lang="en-GB" dirty="0"/>
          </a:p>
          <a:p>
            <a:r>
              <a:rPr lang="en-GB" dirty="0"/>
              <a:t>WHERE NOT age = 11  </a:t>
            </a:r>
            <a:r>
              <a:rPr lang="en-GB" baseline="0" dirty="0"/>
              <a:t> (WHERE age &lt;&gt; 11) - </a:t>
            </a:r>
            <a:r>
              <a:rPr lang="en-GB" dirty="0"/>
              <a:t>Everyone but the 11 year olds</a:t>
            </a:r>
          </a:p>
        </p:txBody>
      </p:sp>
      <p:sp>
        <p:nvSpPr>
          <p:cNvPr id="4" name="Slide Number Placeholder 3"/>
          <p:cNvSpPr>
            <a:spLocks noGrp="1"/>
          </p:cNvSpPr>
          <p:nvPr>
            <p:ph type="sldNum" sz="quarter" idx="5"/>
          </p:nvPr>
        </p:nvSpPr>
        <p:spPr/>
        <p:txBody>
          <a:bodyPr/>
          <a:lstStyle/>
          <a:p>
            <a:fld id="{B71FE5B5-A979-4370-A255-218EAB36A5F4}" type="slidenum">
              <a:rPr lang="en-GB" smtClean="0"/>
              <a:t>60</a:t>
            </a:fld>
            <a:endParaRPr lang="en-GB"/>
          </a:p>
        </p:txBody>
      </p:sp>
    </p:spTree>
    <p:extLst>
      <p:ext uri="{BB962C8B-B14F-4D97-AF65-F5344CB8AC3E}">
        <p14:creationId xmlns:p14="http://schemas.microsoft.com/office/powerpoint/2010/main" val="4101381739"/>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61</a:t>
            </a:fld>
            <a:endParaRPr lang="en-GB"/>
          </a:p>
        </p:txBody>
      </p:sp>
    </p:spTree>
    <p:extLst>
      <p:ext uri="{BB962C8B-B14F-4D97-AF65-F5344CB8AC3E}">
        <p14:creationId xmlns:p14="http://schemas.microsoft.com/office/powerpoint/2010/main" val="2002212368"/>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62</a:t>
            </a:fld>
            <a:endParaRPr lang="en-GB"/>
          </a:p>
        </p:txBody>
      </p:sp>
    </p:spTree>
    <p:extLst>
      <p:ext uri="{BB962C8B-B14F-4D97-AF65-F5344CB8AC3E}">
        <p14:creationId xmlns:p14="http://schemas.microsoft.com/office/powerpoint/2010/main" val="817013212"/>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63</a:t>
            </a:fld>
            <a:endParaRPr lang="en-GB"/>
          </a:p>
        </p:txBody>
      </p:sp>
    </p:spTree>
    <p:extLst>
      <p:ext uri="{BB962C8B-B14F-4D97-AF65-F5344CB8AC3E}">
        <p14:creationId xmlns:p14="http://schemas.microsoft.com/office/powerpoint/2010/main" val="300571302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64</a:t>
            </a:fld>
            <a:endParaRPr lang="en-GB"/>
          </a:p>
        </p:txBody>
      </p:sp>
    </p:spTree>
    <p:extLst>
      <p:ext uri="{BB962C8B-B14F-4D97-AF65-F5344CB8AC3E}">
        <p14:creationId xmlns:p14="http://schemas.microsoft.com/office/powerpoint/2010/main" val="4175450815"/>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65</a:t>
            </a:fld>
            <a:endParaRPr lang="en-GB"/>
          </a:p>
        </p:txBody>
      </p:sp>
    </p:spTree>
    <p:extLst>
      <p:ext uri="{BB962C8B-B14F-4D97-AF65-F5344CB8AC3E}">
        <p14:creationId xmlns:p14="http://schemas.microsoft.com/office/powerpoint/2010/main" val="3291553333"/>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66</a:t>
            </a:fld>
            <a:endParaRPr lang="en-GB"/>
          </a:p>
        </p:txBody>
      </p:sp>
    </p:spTree>
    <p:extLst>
      <p:ext uri="{BB962C8B-B14F-4D97-AF65-F5344CB8AC3E}">
        <p14:creationId xmlns:p14="http://schemas.microsoft.com/office/powerpoint/2010/main" val="2612181527"/>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This happens in the computer's memory, only the output is displayed.</a:t>
            </a:r>
          </a:p>
        </p:txBody>
      </p:sp>
      <p:sp>
        <p:nvSpPr>
          <p:cNvPr id="4" name="Slide Number Placeholder 3"/>
          <p:cNvSpPr>
            <a:spLocks noGrp="1"/>
          </p:cNvSpPr>
          <p:nvPr>
            <p:ph type="sldNum" sz="quarter" idx="5"/>
          </p:nvPr>
        </p:nvSpPr>
        <p:spPr/>
        <p:txBody>
          <a:bodyPr/>
          <a:lstStyle/>
          <a:p>
            <a:fld id="{B71FE5B5-A979-4370-A255-218EAB36A5F4}" type="slidenum">
              <a:rPr lang="en-GB" smtClean="0"/>
              <a:t>67</a:t>
            </a:fld>
            <a:endParaRPr lang="en-GB"/>
          </a:p>
        </p:txBody>
      </p:sp>
    </p:spTree>
    <p:extLst>
      <p:ext uri="{BB962C8B-B14F-4D97-AF65-F5344CB8AC3E}">
        <p14:creationId xmlns:p14="http://schemas.microsoft.com/office/powerpoint/2010/main" val="716842849"/>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68</a:t>
            </a:fld>
            <a:endParaRPr lang="en-GB"/>
          </a:p>
        </p:txBody>
      </p:sp>
    </p:spTree>
    <p:extLst>
      <p:ext uri="{BB962C8B-B14F-4D97-AF65-F5344CB8AC3E}">
        <p14:creationId xmlns:p14="http://schemas.microsoft.com/office/powerpoint/2010/main" val="3851908217"/>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69</a:t>
            </a:fld>
            <a:endParaRPr lang="en-GB"/>
          </a:p>
        </p:txBody>
      </p:sp>
    </p:spTree>
    <p:extLst>
      <p:ext uri="{BB962C8B-B14F-4D97-AF65-F5344CB8AC3E}">
        <p14:creationId xmlns:p14="http://schemas.microsoft.com/office/powerpoint/2010/main" val="2121117043"/>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70</a:t>
            </a:fld>
            <a:endParaRPr lang="en-GB"/>
          </a:p>
        </p:txBody>
      </p:sp>
    </p:spTree>
    <p:extLst>
      <p:ext uri="{BB962C8B-B14F-4D97-AF65-F5344CB8AC3E}">
        <p14:creationId xmlns:p14="http://schemas.microsoft.com/office/powerpoint/2010/main" val="791076907"/>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71</a:t>
            </a:fld>
            <a:endParaRPr lang="en-GB"/>
          </a:p>
        </p:txBody>
      </p:sp>
    </p:spTree>
    <p:extLst>
      <p:ext uri="{BB962C8B-B14F-4D97-AF65-F5344CB8AC3E}">
        <p14:creationId xmlns:p14="http://schemas.microsoft.com/office/powerpoint/2010/main" val="2919774384"/>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73</a:t>
            </a:fld>
            <a:endParaRPr lang="en-GB"/>
          </a:p>
        </p:txBody>
      </p:sp>
    </p:spTree>
    <p:extLst>
      <p:ext uri="{BB962C8B-B14F-4D97-AF65-F5344CB8AC3E}">
        <p14:creationId xmlns:p14="http://schemas.microsoft.com/office/powerpoint/2010/main" val="4081388198"/>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74</a:t>
            </a:fld>
            <a:endParaRPr lang="en-GB"/>
          </a:p>
        </p:txBody>
      </p:sp>
    </p:spTree>
    <p:extLst>
      <p:ext uri="{BB962C8B-B14F-4D97-AF65-F5344CB8AC3E}">
        <p14:creationId xmlns:p14="http://schemas.microsoft.com/office/powerpoint/2010/main" val="4213321124"/>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Design: Entity</a:t>
            </a:r>
          </a:p>
          <a:p>
            <a:r>
              <a:rPr lang="en-GB" dirty="0"/>
              <a:t>Implementation: Table</a:t>
            </a:r>
          </a:p>
        </p:txBody>
      </p:sp>
      <p:sp>
        <p:nvSpPr>
          <p:cNvPr id="4" name="Slide Number Placeholder 3"/>
          <p:cNvSpPr>
            <a:spLocks noGrp="1"/>
          </p:cNvSpPr>
          <p:nvPr>
            <p:ph type="sldNum" sz="quarter" idx="5"/>
          </p:nvPr>
        </p:nvSpPr>
        <p:spPr/>
        <p:txBody>
          <a:bodyPr/>
          <a:lstStyle/>
          <a:p>
            <a:fld id="{B71FE5B5-A979-4370-A255-218EAB36A5F4}" type="slidenum">
              <a:rPr lang="en-GB" smtClean="0"/>
              <a:t>76</a:t>
            </a:fld>
            <a:endParaRPr lang="en-GB"/>
          </a:p>
        </p:txBody>
      </p:sp>
    </p:spTree>
    <p:extLst>
      <p:ext uri="{BB962C8B-B14F-4D97-AF65-F5344CB8AC3E}">
        <p14:creationId xmlns:p14="http://schemas.microsoft.com/office/powerpoint/2010/main" val="1304527271"/>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77</a:t>
            </a:fld>
            <a:endParaRPr lang="en-GB"/>
          </a:p>
        </p:txBody>
      </p:sp>
    </p:spTree>
    <p:extLst>
      <p:ext uri="{BB962C8B-B14F-4D97-AF65-F5344CB8AC3E}">
        <p14:creationId xmlns:p14="http://schemas.microsoft.com/office/powerpoint/2010/main" val="633820622"/>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Need a second table</a:t>
            </a:r>
          </a:p>
        </p:txBody>
      </p:sp>
      <p:sp>
        <p:nvSpPr>
          <p:cNvPr id="4" name="Slide Number Placeholder 3"/>
          <p:cNvSpPr>
            <a:spLocks noGrp="1"/>
          </p:cNvSpPr>
          <p:nvPr>
            <p:ph type="sldNum" sz="quarter" idx="5"/>
          </p:nvPr>
        </p:nvSpPr>
        <p:spPr/>
        <p:txBody>
          <a:bodyPr/>
          <a:lstStyle/>
          <a:p>
            <a:fld id="{B71FE5B5-A979-4370-A255-218EAB36A5F4}" type="slidenum">
              <a:rPr lang="en-GB" smtClean="0"/>
              <a:t>78</a:t>
            </a:fld>
            <a:endParaRPr lang="en-GB"/>
          </a:p>
        </p:txBody>
      </p:sp>
    </p:spTree>
    <p:extLst>
      <p:ext uri="{BB962C8B-B14F-4D97-AF65-F5344CB8AC3E}">
        <p14:creationId xmlns:p14="http://schemas.microsoft.com/office/powerpoint/2010/main" val="1595185363"/>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Design: Entity</a:t>
            </a:r>
          </a:p>
          <a:p>
            <a:r>
              <a:rPr lang="en-GB" dirty="0"/>
              <a:t>Implementation: Table</a:t>
            </a:r>
          </a:p>
        </p:txBody>
      </p:sp>
      <p:sp>
        <p:nvSpPr>
          <p:cNvPr id="4" name="Slide Number Placeholder 3"/>
          <p:cNvSpPr>
            <a:spLocks noGrp="1"/>
          </p:cNvSpPr>
          <p:nvPr>
            <p:ph type="sldNum" sz="quarter" idx="5"/>
          </p:nvPr>
        </p:nvSpPr>
        <p:spPr/>
        <p:txBody>
          <a:bodyPr/>
          <a:lstStyle/>
          <a:p>
            <a:fld id="{B71FE5B5-A979-4370-A255-218EAB36A5F4}" type="slidenum">
              <a:rPr lang="en-GB" smtClean="0"/>
              <a:t>79</a:t>
            </a:fld>
            <a:endParaRPr lang="en-GB"/>
          </a:p>
        </p:txBody>
      </p:sp>
    </p:spTree>
    <p:extLst>
      <p:ext uri="{BB962C8B-B14F-4D97-AF65-F5344CB8AC3E}">
        <p14:creationId xmlns:p14="http://schemas.microsoft.com/office/powerpoint/2010/main" val="1450480754"/>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80</a:t>
            </a:fld>
            <a:endParaRPr lang="en-GB"/>
          </a:p>
        </p:txBody>
      </p:sp>
    </p:spTree>
    <p:extLst>
      <p:ext uri="{BB962C8B-B14F-4D97-AF65-F5344CB8AC3E}">
        <p14:creationId xmlns:p14="http://schemas.microsoft.com/office/powerpoint/2010/main" val="3428113577"/>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81</a:t>
            </a:fld>
            <a:endParaRPr lang="en-GB"/>
          </a:p>
        </p:txBody>
      </p:sp>
    </p:spTree>
    <p:extLst>
      <p:ext uri="{BB962C8B-B14F-4D97-AF65-F5344CB8AC3E}">
        <p14:creationId xmlns:p14="http://schemas.microsoft.com/office/powerpoint/2010/main" val="2870893638"/>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82</a:t>
            </a:fld>
            <a:endParaRPr lang="en-GB"/>
          </a:p>
        </p:txBody>
      </p:sp>
    </p:spTree>
    <p:extLst>
      <p:ext uri="{BB962C8B-B14F-4D97-AF65-F5344CB8AC3E}">
        <p14:creationId xmlns:p14="http://schemas.microsoft.com/office/powerpoint/2010/main" val="3009014899"/>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83</a:t>
            </a:fld>
            <a:endParaRPr lang="en-GB"/>
          </a:p>
        </p:txBody>
      </p:sp>
    </p:spTree>
    <p:extLst>
      <p:ext uri="{BB962C8B-B14F-4D97-AF65-F5344CB8AC3E}">
        <p14:creationId xmlns:p14="http://schemas.microsoft.com/office/powerpoint/2010/main" val="587460887"/>
      </p:ext>
    </p:extLst>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84</a:t>
            </a:fld>
            <a:endParaRPr lang="en-GB"/>
          </a:p>
        </p:txBody>
      </p:sp>
    </p:spTree>
    <p:extLst>
      <p:ext uri="{BB962C8B-B14F-4D97-AF65-F5344CB8AC3E}">
        <p14:creationId xmlns:p14="http://schemas.microsoft.com/office/powerpoint/2010/main" val="3977641004"/>
      </p:ext>
    </p:extLst>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This happens in the computer's memory, only the output is displayed.</a:t>
            </a:r>
          </a:p>
        </p:txBody>
      </p:sp>
      <p:sp>
        <p:nvSpPr>
          <p:cNvPr id="4" name="Slide Number Placeholder 3"/>
          <p:cNvSpPr>
            <a:spLocks noGrp="1"/>
          </p:cNvSpPr>
          <p:nvPr>
            <p:ph type="sldNum" sz="quarter" idx="5"/>
          </p:nvPr>
        </p:nvSpPr>
        <p:spPr/>
        <p:txBody>
          <a:bodyPr/>
          <a:lstStyle/>
          <a:p>
            <a:fld id="{B71FE5B5-A979-4370-A255-218EAB36A5F4}" type="slidenum">
              <a:rPr lang="en-GB" smtClean="0"/>
              <a:t>85</a:t>
            </a:fld>
            <a:endParaRPr lang="en-GB"/>
          </a:p>
        </p:txBody>
      </p:sp>
    </p:spTree>
    <p:extLst>
      <p:ext uri="{BB962C8B-B14F-4D97-AF65-F5344CB8AC3E}">
        <p14:creationId xmlns:p14="http://schemas.microsoft.com/office/powerpoint/2010/main" val="1638164360"/>
      </p:ext>
    </p:extLst>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86</a:t>
            </a:fld>
            <a:endParaRPr lang="en-GB"/>
          </a:p>
        </p:txBody>
      </p:sp>
    </p:spTree>
    <p:extLst>
      <p:ext uri="{BB962C8B-B14F-4D97-AF65-F5344CB8AC3E}">
        <p14:creationId xmlns:p14="http://schemas.microsoft.com/office/powerpoint/2010/main" val="1530024623"/>
      </p:ext>
    </p:extLst>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This happens in the computer's memory, only the output is displayed.</a:t>
            </a:r>
          </a:p>
        </p:txBody>
      </p:sp>
      <p:sp>
        <p:nvSpPr>
          <p:cNvPr id="4" name="Slide Number Placeholder 3"/>
          <p:cNvSpPr>
            <a:spLocks noGrp="1"/>
          </p:cNvSpPr>
          <p:nvPr>
            <p:ph type="sldNum" sz="quarter" idx="5"/>
          </p:nvPr>
        </p:nvSpPr>
        <p:spPr/>
        <p:txBody>
          <a:bodyPr/>
          <a:lstStyle/>
          <a:p>
            <a:fld id="{B71FE5B5-A979-4370-A255-218EAB36A5F4}" type="slidenum">
              <a:rPr lang="en-GB" smtClean="0"/>
              <a:t>87</a:t>
            </a:fld>
            <a:endParaRPr lang="en-GB"/>
          </a:p>
        </p:txBody>
      </p:sp>
    </p:spTree>
    <p:extLst>
      <p:ext uri="{BB962C8B-B14F-4D97-AF65-F5344CB8AC3E}">
        <p14:creationId xmlns:p14="http://schemas.microsoft.com/office/powerpoint/2010/main" val="310288780"/>
      </p:ext>
    </p:extLst>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88</a:t>
            </a:fld>
            <a:endParaRPr lang="en-GB"/>
          </a:p>
        </p:txBody>
      </p:sp>
    </p:spTree>
    <p:extLst>
      <p:ext uri="{BB962C8B-B14F-4D97-AF65-F5344CB8AC3E}">
        <p14:creationId xmlns:p14="http://schemas.microsoft.com/office/powerpoint/2010/main" val="472998384"/>
      </p:ext>
    </p:extLst>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Creates a new record</a:t>
            </a:r>
          </a:p>
        </p:txBody>
      </p:sp>
      <p:sp>
        <p:nvSpPr>
          <p:cNvPr id="4" name="Slide Number Placeholder 3"/>
          <p:cNvSpPr>
            <a:spLocks noGrp="1"/>
          </p:cNvSpPr>
          <p:nvPr>
            <p:ph type="sldNum" sz="quarter" idx="5"/>
          </p:nvPr>
        </p:nvSpPr>
        <p:spPr/>
        <p:txBody>
          <a:bodyPr/>
          <a:lstStyle/>
          <a:p>
            <a:fld id="{B71FE5B5-A979-4370-A255-218EAB36A5F4}" type="slidenum">
              <a:rPr lang="en-GB" smtClean="0"/>
              <a:t>90</a:t>
            </a:fld>
            <a:endParaRPr lang="en-GB"/>
          </a:p>
        </p:txBody>
      </p:sp>
    </p:spTree>
    <p:extLst>
      <p:ext uri="{BB962C8B-B14F-4D97-AF65-F5344CB8AC3E}">
        <p14:creationId xmlns:p14="http://schemas.microsoft.com/office/powerpoint/2010/main" val="3871145248"/>
      </p:ext>
    </p:extLst>
  </p:cSld>
  <p:clrMapOvr>
    <a:masterClrMapping/>
  </p:clrMapOvr>
</p:notes>
</file>

<file path=ppt/notesSlides/notesSlide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Creates a new record</a:t>
            </a:r>
          </a:p>
        </p:txBody>
      </p:sp>
      <p:sp>
        <p:nvSpPr>
          <p:cNvPr id="4" name="Slide Number Placeholder 3"/>
          <p:cNvSpPr>
            <a:spLocks noGrp="1"/>
          </p:cNvSpPr>
          <p:nvPr>
            <p:ph type="sldNum" sz="quarter" idx="5"/>
          </p:nvPr>
        </p:nvSpPr>
        <p:spPr/>
        <p:txBody>
          <a:bodyPr/>
          <a:lstStyle/>
          <a:p>
            <a:fld id="{B71FE5B5-A979-4370-A255-218EAB36A5F4}" type="slidenum">
              <a:rPr lang="en-GB" smtClean="0"/>
              <a:t>91</a:t>
            </a:fld>
            <a:endParaRPr lang="en-GB"/>
          </a:p>
        </p:txBody>
      </p:sp>
    </p:spTree>
    <p:extLst>
      <p:ext uri="{BB962C8B-B14F-4D97-AF65-F5344CB8AC3E}">
        <p14:creationId xmlns:p14="http://schemas.microsoft.com/office/powerpoint/2010/main" val="3211131683"/>
      </p:ext>
    </p:extLst>
  </p:cSld>
  <p:clrMapOvr>
    <a:masterClrMapping/>
  </p:clrMapOvr>
</p:notes>
</file>

<file path=ppt/notesSlides/notesSlide7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0FCFD4F-2C29-C2E6-EE63-36FB79AA2C3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92DC1EB-A6D5-F3FE-7314-EE204E204CD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8081254-3759-D07F-A860-ACD3FB407238}"/>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Creates a new record</a:t>
            </a:r>
          </a:p>
        </p:txBody>
      </p:sp>
      <p:sp>
        <p:nvSpPr>
          <p:cNvPr id="4" name="Slide Number Placeholder 3">
            <a:extLst>
              <a:ext uri="{FF2B5EF4-FFF2-40B4-BE49-F238E27FC236}">
                <a16:creationId xmlns:a16="http://schemas.microsoft.com/office/drawing/2014/main" id="{8A42AE60-7556-25E8-19B0-E26826DB1102}"/>
              </a:ext>
            </a:extLst>
          </p:cNvPr>
          <p:cNvSpPr>
            <a:spLocks noGrp="1"/>
          </p:cNvSpPr>
          <p:nvPr>
            <p:ph type="sldNum" sz="quarter" idx="5"/>
          </p:nvPr>
        </p:nvSpPr>
        <p:spPr/>
        <p:txBody>
          <a:bodyPr/>
          <a:lstStyle/>
          <a:p>
            <a:fld id="{B71FE5B5-A979-4370-A255-218EAB36A5F4}" type="slidenum">
              <a:rPr lang="en-GB" smtClean="0"/>
              <a:t>92</a:t>
            </a:fld>
            <a:endParaRPr lang="en-GB"/>
          </a:p>
        </p:txBody>
      </p:sp>
    </p:spTree>
    <p:extLst>
      <p:ext uri="{BB962C8B-B14F-4D97-AF65-F5344CB8AC3E}">
        <p14:creationId xmlns:p14="http://schemas.microsoft.com/office/powerpoint/2010/main" val="2417942"/>
      </p:ext>
    </p:extLst>
  </p:cSld>
  <p:clrMapOvr>
    <a:masterClrMapping/>
  </p:clrMapOvr>
</p:notes>
</file>

<file path=ppt/notesSlides/notesSlide7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F5903E7-D899-FE19-A0CD-BE103B23E15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675BECA-AA10-7636-0C9D-22D9E416A80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D85464D-B16E-999D-2BE9-E252CB129B78}"/>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Creates a new record</a:t>
            </a:r>
          </a:p>
        </p:txBody>
      </p:sp>
      <p:sp>
        <p:nvSpPr>
          <p:cNvPr id="4" name="Slide Number Placeholder 3">
            <a:extLst>
              <a:ext uri="{FF2B5EF4-FFF2-40B4-BE49-F238E27FC236}">
                <a16:creationId xmlns:a16="http://schemas.microsoft.com/office/drawing/2014/main" id="{00C0B06F-30F5-EEDF-FC18-64F498AEC050}"/>
              </a:ext>
            </a:extLst>
          </p:cNvPr>
          <p:cNvSpPr>
            <a:spLocks noGrp="1"/>
          </p:cNvSpPr>
          <p:nvPr>
            <p:ph type="sldNum" sz="quarter" idx="5"/>
          </p:nvPr>
        </p:nvSpPr>
        <p:spPr/>
        <p:txBody>
          <a:bodyPr/>
          <a:lstStyle/>
          <a:p>
            <a:fld id="{B71FE5B5-A979-4370-A255-218EAB36A5F4}" type="slidenum">
              <a:rPr lang="en-GB" smtClean="0"/>
              <a:t>93</a:t>
            </a:fld>
            <a:endParaRPr lang="en-GB"/>
          </a:p>
        </p:txBody>
      </p:sp>
    </p:spTree>
    <p:extLst>
      <p:ext uri="{BB962C8B-B14F-4D97-AF65-F5344CB8AC3E}">
        <p14:creationId xmlns:p14="http://schemas.microsoft.com/office/powerpoint/2010/main" val="3536962149"/>
      </p:ext>
    </p:extLst>
  </p:cSld>
  <p:clrMapOvr>
    <a:masterClrMapping/>
  </p:clrMapOvr>
</p:notes>
</file>

<file path=ppt/notesSlides/notesSlide8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4E297AD-EAF9-B99B-916C-206BB3A24E5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558FE4F-250C-658C-56AD-CB4783FDB1E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CEC1BBF-7770-A4F6-17EA-1D8A95BD5873}"/>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Creates two new records</a:t>
            </a:r>
          </a:p>
        </p:txBody>
      </p:sp>
      <p:sp>
        <p:nvSpPr>
          <p:cNvPr id="4" name="Slide Number Placeholder 3">
            <a:extLst>
              <a:ext uri="{FF2B5EF4-FFF2-40B4-BE49-F238E27FC236}">
                <a16:creationId xmlns:a16="http://schemas.microsoft.com/office/drawing/2014/main" id="{C05ABB3D-FA2C-7914-AD04-E07494E9884B}"/>
              </a:ext>
            </a:extLst>
          </p:cNvPr>
          <p:cNvSpPr>
            <a:spLocks noGrp="1"/>
          </p:cNvSpPr>
          <p:nvPr>
            <p:ph type="sldNum" sz="quarter" idx="5"/>
          </p:nvPr>
        </p:nvSpPr>
        <p:spPr/>
        <p:txBody>
          <a:bodyPr/>
          <a:lstStyle/>
          <a:p>
            <a:fld id="{B71FE5B5-A979-4370-A255-218EAB36A5F4}" type="slidenum">
              <a:rPr lang="en-GB" smtClean="0"/>
              <a:t>94</a:t>
            </a:fld>
            <a:endParaRPr lang="en-GB"/>
          </a:p>
        </p:txBody>
      </p:sp>
    </p:spTree>
    <p:extLst>
      <p:ext uri="{BB962C8B-B14F-4D97-AF65-F5344CB8AC3E}">
        <p14:creationId xmlns:p14="http://schemas.microsoft.com/office/powerpoint/2010/main" val="2315862228"/>
      </p:ext>
    </p:extLst>
  </p:cSld>
  <p:clrMapOvr>
    <a:masterClrMapping/>
  </p:clrMapOvr>
</p:notes>
</file>

<file path=ppt/notesSlides/notesSlide8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D66BD71-684B-EE80-720E-CCF88B1DF60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360CA92-120C-F0D3-40C6-49E97CE40A3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21E749D-DBAA-0A5B-026E-89FC701152DA}"/>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Creates two new records</a:t>
            </a:r>
          </a:p>
        </p:txBody>
      </p:sp>
      <p:sp>
        <p:nvSpPr>
          <p:cNvPr id="4" name="Slide Number Placeholder 3">
            <a:extLst>
              <a:ext uri="{FF2B5EF4-FFF2-40B4-BE49-F238E27FC236}">
                <a16:creationId xmlns:a16="http://schemas.microsoft.com/office/drawing/2014/main" id="{4A954D5B-A84B-701F-3069-8D8309E380AF}"/>
              </a:ext>
            </a:extLst>
          </p:cNvPr>
          <p:cNvSpPr>
            <a:spLocks noGrp="1"/>
          </p:cNvSpPr>
          <p:nvPr>
            <p:ph type="sldNum" sz="quarter" idx="5"/>
          </p:nvPr>
        </p:nvSpPr>
        <p:spPr/>
        <p:txBody>
          <a:bodyPr/>
          <a:lstStyle/>
          <a:p>
            <a:fld id="{B71FE5B5-A979-4370-A255-218EAB36A5F4}" type="slidenum">
              <a:rPr lang="en-GB" smtClean="0"/>
              <a:t>95</a:t>
            </a:fld>
            <a:endParaRPr lang="en-GB"/>
          </a:p>
        </p:txBody>
      </p:sp>
    </p:spTree>
    <p:extLst>
      <p:ext uri="{BB962C8B-B14F-4D97-AF65-F5344CB8AC3E}">
        <p14:creationId xmlns:p14="http://schemas.microsoft.com/office/powerpoint/2010/main" val="3227884330"/>
      </p:ext>
    </p:extLst>
  </p:cSld>
  <p:clrMapOvr>
    <a:masterClrMapping/>
  </p:clrMapOvr>
</p:notes>
</file>

<file path=ppt/notesSlides/notesSlide8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Creates a </a:t>
            </a:r>
            <a:r>
              <a:rPr lang="en-GB"/>
              <a:t>new record</a:t>
            </a: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96</a:t>
            </a:fld>
            <a:endParaRPr lang="en-GB"/>
          </a:p>
        </p:txBody>
      </p:sp>
    </p:spTree>
    <p:extLst>
      <p:ext uri="{BB962C8B-B14F-4D97-AF65-F5344CB8AC3E}">
        <p14:creationId xmlns:p14="http://schemas.microsoft.com/office/powerpoint/2010/main" val="2946280569"/>
      </p:ext>
    </p:extLst>
  </p:cSld>
  <p:clrMapOvr>
    <a:masterClrMapping/>
  </p:clrMapOvr>
</p:notes>
</file>

<file path=ppt/notesSlides/notesSlide8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Creates a </a:t>
            </a:r>
            <a:r>
              <a:rPr lang="en-GB"/>
              <a:t>new record</a:t>
            </a: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97</a:t>
            </a:fld>
            <a:endParaRPr lang="en-GB"/>
          </a:p>
        </p:txBody>
      </p:sp>
    </p:spTree>
    <p:extLst>
      <p:ext uri="{BB962C8B-B14F-4D97-AF65-F5344CB8AC3E}">
        <p14:creationId xmlns:p14="http://schemas.microsoft.com/office/powerpoint/2010/main" val="1128918433"/>
      </p:ext>
    </p:extLst>
  </p:cSld>
  <p:clrMapOvr>
    <a:masterClrMapping/>
  </p:clrMapOvr>
</p:notes>
</file>

<file path=ppt/notesSlides/notesSlide8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Creates a new record</a:t>
            </a:r>
          </a:p>
        </p:txBody>
      </p:sp>
      <p:sp>
        <p:nvSpPr>
          <p:cNvPr id="4" name="Slide Number Placeholder 3"/>
          <p:cNvSpPr>
            <a:spLocks noGrp="1"/>
          </p:cNvSpPr>
          <p:nvPr>
            <p:ph type="sldNum" sz="quarter" idx="5"/>
          </p:nvPr>
        </p:nvSpPr>
        <p:spPr/>
        <p:txBody>
          <a:bodyPr/>
          <a:lstStyle/>
          <a:p>
            <a:fld id="{B71FE5B5-A979-4370-A255-218EAB36A5F4}" type="slidenum">
              <a:rPr lang="en-GB" smtClean="0"/>
              <a:t>98</a:t>
            </a:fld>
            <a:endParaRPr lang="en-GB"/>
          </a:p>
        </p:txBody>
      </p:sp>
    </p:spTree>
    <p:extLst>
      <p:ext uri="{BB962C8B-B14F-4D97-AF65-F5344CB8AC3E}">
        <p14:creationId xmlns:p14="http://schemas.microsoft.com/office/powerpoint/2010/main" val="2614315927"/>
      </p:ext>
    </p:extLst>
  </p:cSld>
  <p:clrMapOvr>
    <a:masterClrMapping/>
  </p:clrMapOvr>
</p:notes>
</file>

<file path=ppt/notesSlides/notesSlide8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99</a:t>
            </a:fld>
            <a:endParaRPr lang="en-GB"/>
          </a:p>
        </p:txBody>
      </p:sp>
    </p:spTree>
    <p:extLst>
      <p:ext uri="{BB962C8B-B14F-4D97-AF65-F5344CB8AC3E}">
        <p14:creationId xmlns:p14="http://schemas.microsoft.com/office/powerpoint/2010/main" val="3170509145"/>
      </p:ext>
    </p:extLst>
  </p:cSld>
  <p:clrMapOvr>
    <a:masterClrMapping/>
  </p:clrMapOvr>
</p:notes>
</file>

<file path=ppt/notesSlides/notesSlide8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Tip: Create a SELECT statement first with the same WHERE condition to see what will be updated.</a:t>
            </a:r>
          </a:p>
        </p:txBody>
      </p:sp>
      <p:sp>
        <p:nvSpPr>
          <p:cNvPr id="4" name="Slide Number Placeholder 3"/>
          <p:cNvSpPr>
            <a:spLocks noGrp="1"/>
          </p:cNvSpPr>
          <p:nvPr>
            <p:ph type="sldNum" sz="quarter" idx="5"/>
          </p:nvPr>
        </p:nvSpPr>
        <p:spPr/>
        <p:txBody>
          <a:bodyPr/>
          <a:lstStyle/>
          <a:p>
            <a:fld id="{B71FE5B5-A979-4370-A255-218EAB36A5F4}" type="slidenum">
              <a:rPr lang="en-GB" smtClean="0"/>
              <a:t>101</a:t>
            </a:fld>
            <a:endParaRPr lang="en-GB"/>
          </a:p>
        </p:txBody>
      </p:sp>
    </p:spTree>
    <p:extLst>
      <p:ext uri="{BB962C8B-B14F-4D97-AF65-F5344CB8AC3E}">
        <p14:creationId xmlns:p14="http://schemas.microsoft.com/office/powerpoint/2010/main" val="3600638846"/>
      </p:ext>
    </p:extLst>
  </p:cSld>
  <p:clrMapOvr>
    <a:masterClrMapping/>
  </p:clrMapOvr>
</p:notes>
</file>

<file path=ppt/notesSlides/notesSlide8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102</a:t>
            </a:fld>
            <a:endParaRPr lang="en-GB"/>
          </a:p>
        </p:txBody>
      </p:sp>
    </p:spTree>
    <p:extLst>
      <p:ext uri="{BB962C8B-B14F-4D97-AF65-F5344CB8AC3E}">
        <p14:creationId xmlns:p14="http://schemas.microsoft.com/office/powerpoint/2010/main" val="378274697"/>
      </p:ext>
    </p:extLst>
  </p:cSld>
  <p:clrMapOvr>
    <a:masterClrMapping/>
  </p:clrMapOvr>
</p:notes>
</file>

<file path=ppt/notesSlides/notesSlide8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Tip: Create a SELECT statement first with the same WHERE condition to see what will be updated.</a:t>
            </a:r>
          </a:p>
        </p:txBody>
      </p:sp>
      <p:sp>
        <p:nvSpPr>
          <p:cNvPr id="4" name="Slide Number Placeholder 3"/>
          <p:cNvSpPr>
            <a:spLocks noGrp="1"/>
          </p:cNvSpPr>
          <p:nvPr>
            <p:ph type="sldNum" sz="quarter" idx="5"/>
          </p:nvPr>
        </p:nvSpPr>
        <p:spPr/>
        <p:txBody>
          <a:bodyPr/>
          <a:lstStyle/>
          <a:p>
            <a:fld id="{B71FE5B5-A979-4370-A255-218EAB36A5F4}" type="slidenum">
              <a:rPr lang="en-GB" smtClean="0"/>
              <a:t>105</a:t>
            </a:fld>
            <a:endParaRPr lang="en-GB"/>
          </a:p>
        </p:txBody>
      </p:sp>
    </p:spTree>
    <p:extLst>
      <p:ext uri="{BB962C8B-B14F-4D97-AF65-F5344CB8AC3E}">
        <p14:creationId xmlns:p14="http://schemas.microsoft.com/office/powerpoint/2010/main" val="2689212330"/>
      </p:ext>
    </p:extLst>
  </p:cSld>
  <p:clrMapOvr>
    <a:masterClrMapping/>
  </p:clrMapOvr>
</p:notes>
</file>

<file path=ppt/notesSlides/notesSlide8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106</a:t>
            </a:fld>
            <a:endParaRPr lang="en-GB"/>
          </a:p>
        </p:txBody>
      </p:sp>
    </p:spTree>
    <p:extLst>
      <p:ext uri="{BB962C8B-B14F-4D97-AF65-F5344CB8AC3E}">
        <p14:creationId xmlns:p14="http://schemas.microsoft.com/office/powerpoint/2010/main" val="2374288171"/>
      </p:ext>
    </p:extLst>
  </p:cSld>
  <p:clrMapOvr>
    <a:masterClrMapping/>
  </p:clrMapOvr>
</p:notes>
</file>

<file path=ppt/notesSlides/notesSlide9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Tip: Create a SELECT statement first with the same WHERE condition to see what will be deleted.</a:t>
            </a:r>
          </a:p>
        </p:txBody>
      </p:sp>
      <p:sp>
        <p:nvSpPr>
          <p:cNvPr id="4" name="Slide Number Placeholder 3"/>
          <p:cNvSpPr>
            <a:spLocks noGrp="1"/>
          </p:cNvSpPr>
          <p:nvPr>
            <p:ph type="sldNum" sz="quarter" idx="5"/>
          </p:nvPr>
        </p:nvSpPr>
        <p:spPr/>
        <p:txBody>
          <a:bodyPr/>
          <a:lstStyle/>
          <a:p>
            <a:fld id="{B71FE5B5-A979-4370-A255-218EAB36A5F4}" type="slidenum">
              <a:rPr lang="en-GB" smtClean="0"/>
              <a:t>108</a:t>
            </a:fld>
            <a:endParaRPr lang="en-GB"/>
          </a:p>
        </p:txBody>
      </p:sp>
    </p:spTree>
    <p:extLst>
      <p:ext uri="{BB962C8B-B14F-4D97-AF65-F5344CB8AC3E}">
        <p14:creationId xmlns:p14="http://schemas.microsoft.com/office/powerpoint/2010/main" val="2341292322"/>
      </p:ext>
    </p:extLst>
  </p:cSld>
  <p:clrMapOvr>
    <a:masterClrMapping/>
  </p:clrMapOvr>
</p:notes>
</file>

<file path=ppt/notesSlides/notesSlide9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109</a:t>
            </a:fld>
            <a:endParaRPr lang="en-GB"/>
          </a:p>
        </p:txBody>
      </p:sp>
    </p:spTree>
    <p:extLst>
      <p:ext uri="{BB962C8B-B14F-4D97-AF65-F5344CB8AC3E}">
        <p14:creationId xmlns:p14="http://schemas.microsoft.com/office/powerpoint/2010/main" val="2433716050"/>
      </p:ext>
    </p:extLst>
  </p:cSld>
  <p:clrMapOvr>
    <a:masterClrMapping/>
  </p:clrMapOvr>
</p:notes>
</file>

<file path=ppt/notesSlides/notesSlide9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112</a:t>
            </a:fld>
            <a:endParaRPr lang="en-GB"/>
          </a:p>
        </p:txBody>
      </p:sp>
    </p:spTree>
    <p:extLst>
      <p:ext uri="{BB962C8B-B14F-4D97-AF65-F5344CB8AC3E}">
        <p14:creationId xmlns:p14="http://schemas.microsoft.com/office/powerpoint/2010/main" val="537537598"/>
      </p:ext>
    </p:extLst>
  </p:cSld>
  <p:clrMapOvr>
    <a:masterClrMapping/>
  </p:clrMapOvr>
</p:notes>
</file>

<file path=ppt/notesSlides/notesSlide9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114</a:t>
            </a:fld>
            <a:endParaRPr lang="en-GB"/>
          </a:p>
        </p:txBody>
      </p:sp>
    </p:spTree>
    <p:extLst>
      <p:ext uri="{BB962C8B-B14F-4D97-AF65-F5344CB8AC3E}">
        <p14:creationId xmlns:p14="http://schemas.microsoft.com/office/powerpoint/2010/main" val="129484578"/>
      </p:ext>
    </p:extLst>
  </p:cSld>
  <p:clrMapOvr>
    <a:masterClrMapping/>
  </p:clrMapOvr>
</p:notes>
</file>

<file path=ppt/notesSlides/notesSlide9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118</a:t>
            </a:fld>
            <a:endParaRPr lang="en-GB"/>
          </a:p>
        </p:txBody>
      </p:sp>
    </p:spTree>
    <p:extLst>
      <p:ext uri="{BB962C8B-B14F-4D97-AF65-F5344CB8AC3E}">
        <p14:creationId xmlns:p14="http://schemas.microsoft.com/office/powerpoint/2010/main" val="314106023"/>
      </p:ext>
    </p:extLst>
  </p:cSld>
  <p:clrMapOvr>
    <a:masterClrMapping/>
  </p:clrMapOvr>
</p:notes>
</file>

<file path=ppt/notesSlides/notesSlide9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119</a:t>
            </a:fld>
            <a:endParaRPr lang="en-GB"/>
          </a:p>
        </p:txBody>
      </p:sp>
    </p:spTree>
    <p:extLst>
      <p:ext uri="{BB962C8B-B14F-4D97-AF65-F5344CB8AC3E}">
        <p14:creationId xmlns:p14="http://schemas.microsoft.com/office/powerpoint/2010/main" val="4004483340"/>
      </p:ext>
    </p:extLst>
  </p:cSld>
  <p:clrMapOvr>
    <a:masterClrMapping/>
  </p:clrMapOvr>
</p:notes>
</file>

<file path=ppt/notesSlides/notesSlide9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FK needed for </a:t>
            </a:r>
            <a:r>
              <a:rPr lang="en-GB"/>
              <a:t>referential integrity</a:t>
            </a: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120</a:t>
            </a:fld>
            <a:endParaRPr lang="en-GB"/>
          </a:p>
        </p:txBody>
      </p:sp>
    </p:spTree>
    <p:extLst>
      <p:ext uri="{BB962C8B-B14F-4D97-AF65-F5344CB8AC3E}">
        <p14:creationId xmlns:p14="http://schemas.microsoft.com/office/powerpoint/2010/main" val="2713169666"/>
      </p:ext>
    </p:extLst>
  </p:cSld>
  <p:clrMapOvr>
    <a:masterClrMapping/>
  </p:clrMapOvr>
</p:notes>
</file>

<file path=ppt/notesSlides/notesSlide9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121</a:t>
            </a:fld>
            <a:endParaRPr lang="en-GB"/>
          </a:p>
        </p:txBody>
      </p:sp>
    </p:spTree>
    <p:extLst>
      <p:ext uri="{BB962C8B-B14F-4D97-AF65-F5344CB8AC3E}">
        <p14:creationId xmlns:p14="http://schemas.microsoft.com/office/powerpoint/2010/main" val="3508654565"/>
      </p:ext>
    </p:extLst>
  </p:cSld>
  <p:clrMapOvr>
    <a:masterClrMapping/>
  </p:clrMapOvr>
</p:notes>
</file>

<file path=ppt/notesSlides/notesSlide9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Active: active supplier or no longer used.</a:t>
            </a:r>
          </a:p>
        </p:txBody>
      </p:sp>
      <p:sp>
        <p:nvSpPr>
          <p:cNvPr id="4" name="Slide Number Placeholder 3"/>
          <p:cNvSpPr>
            <a:spLocks noGrp="1"/>
          </p:cNvSpPr>
          <p:nvPr>
            <p:ph type="sldNum" sz="quarter" idx="5"/>
          </p:nvPr>
        </p:nvSpPr>
        <p:spPr/>
        <p:txBody>
          <a:bodyPr/>
          <a:lstStyle/>
          <a:p>
            <a:fld id="{B71FE5B5-A979-4370-A255-218EAB36A5F4}" type="slidenum">
              <a:rPr lang="en-GB" smtClean="0"/>
              <a:t>122</a:t>
            </a:fld>
            <a:endParaRPr lang="en-GB"/>
          </a:p>
        </p:txBody>
      </p:sp>
    </p:spTree>
    <p:extLst>
      <p:ext uri="{BB962C8B-B14F-4D97-AF65-F5344CB8AC3E}">
        <p14:creationId xmlns:p14="http://schemas.microsoft.com/office/powerpoint/2010/main" val="1213270724"/>
      </p:ext>
    </p:extLst>
  </p:cSld>
  <p:clrMapOvr>
    <a:masterClrMapping/>
  </p:clrMapOvr>
</p:notes>
</file>

<file path=ppt/notesSlides/notesSlide9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123</a:t>
            </a:fld>
            <a:endParaRPr lang="en-GB"/>
          </a:p>
        </p:txBody>
      </p:sp>
    </p:spTree>
    <p:extLst>
      <p:ext uri="{BB962C8B-B14F-4D97-AF65-F5344CB8AC3E}">
        <p14:creationId xmlns:p14="http://schemas.microsoft.com/office/powerpoint/2010/main" val="2441774481"/>
      </p:ext>
    </p:extLst>
  </p:cSld>
  <p:clrMapOvr>
    <a:masterClrMapping/>
  </p:clrMapOvr>
</p:notes>
</file>

<file path=ppt/notesSlides/notesSlide10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Quantity: -1 to indicate no longer stock, rather than all sold.</a:t>
            </a:r>
          </a:p>
        </p:txBody>
      </p:sp>
      <p:sp>
        <p:nvSpPr>
          <p:cNvPr id="4" name="Slide Number Placeholder 3"/>
          <p:cNvSpPr>
            <a:spLocks noGrp="1"/>
          </p:cNvSpPr>
          <p:nvPr>
            <p:ph type="sldNum" sz="quarter" idx="5"/>
          </p:nvPr>
        </p:nvSpPr>
        <p:spPr/>
        <p:txBody>
          <a:bodyPr/>
          <a:lstStyle/>
          <a:p>
            <a:fld id="{B71FE5B5-A979-4370-A255-218EAB36A5F4}" type="slidenum">
              <a:rPr lang="en-GB" smtClean="0"/>
              <a:t>124</a:t>
            </a:fld>
            <a:endParaRPr lang="en-GB"/>
          </a:p>
        </p:txBody>
      </p:sp>
    </p:spTree>
    <p:extLst>
      <p:ext uri="{BB962C8B-B14F-4D97-AF65-F5344CB8AC3E}">
        <p14:creationId xmlns:p14="http://schemas.microsoft.com/office/powerpoint/2010/main" val="3123373317"/>
      </p:ext>
    </p:extLst>
  </p:cSld>
  <p:clrMapOvr>
    <a:masterClrMapping/>
  </p:clrMapOvr>
</p:notes>
</file>

<file path=ppt/notesSlides/notesSlide10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FK needed for referential integrity</a:t>
            </a:r>
          </a:p>
        </p:txBody>
      </p:sp>
      <p:sp>
        <p:nvSpPr>
          <p:cNvPr id="4" name="Slide Number Placeholder 3"/>
          <p:cNvSpPr>
            <a:spLocks noGrp="1"/>
          </p:cNvSpPr>
          <p:nvPr>
            <p:ph type="sldNum" sz="quarter" idx="5"/>
          </p:nvPr>
        </p:nvSpPr>
        <p:spPr/>
        <p:txBody>
          <a:bodyPr/>
          <a:lstStyle/>
          <a:p>
            <a:fld id="{B71FE5B5-A979-4370-A255-218EAB36A5F4}" type="slidenum">
              <a:rPr lang="en-GB" smtClean="0"/>
              <a:t>125</a:t>
            </a:fld>
            <a:endParaRPr lang="en-GB"/>
          </a:p>
        </p:txBody>
      </p:sp>
    </p:spTree>
    <p:extLst>
      <p:ext uri="{BB962C8B-B14F-4D97-AF65-F5344CB8AC3E}">
        <p14:creationId xmlns:p14="http://schemas.microsoft.com/office/powerpoint/2010/main" val="4154863708"/>
      </p:ext>
    </p:extLst>
  </p:cSld>
  <p:clrMapOvr>
    <a:masterClrMapping/>
  </p:clrMapOvr>
</p:notes>
</file>

<file path=ppt/notesSlides/notesSlide10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https://www.sqlitetutorial.net/sqlite-alter-table/</a:t>
            </a:r>
          </a:p>
        </p:txBody>
      </p:sp>
      <p:sp>
        <p:nvSpPr>
          <p:cNvPr id="4" name="Slide Number Placeholder 3"/>
          <p:cNvSpPr>
            <a:spLocks noGrp="1"/>
          </p:cNvSpPr>
          <p:nvPr>
            <p:ph type="sldNum" sz="quarter" idx="5"/>
          </p:nvPr>
        </p:nvSpPr>
        <p:spPr/>
        <p:txBody>
          <a:bodyPr/>
          <a:lstStyle/>
          <a:p>
            <a:fld id="{B71FE5B5-A979-4370-A255-218EAB36A5F4}" type="slidenum">
              <a:rPr lang="en-GB" smtClean="0"/>
              <a:t>127</a:t>
            </a:fld>
            <a:endParaRPr lang="en-GB"/>
          </a:p>
        </p:txBody>
      </p:sp>
    </p:spTree>
    <p:extLst>
      <p:ext uri="{BB962C8B-B14F-4D97-AF65-F5344CB8AC3E}">
        <p14:creationId xmlns:p14="http://schemas.microsoft.com/office/powerpoint/2010/main" val="3789703319"/>
      </p:ext>
    </p:extLst>
  </p:cSld>
  <p:clrMapOvr>
    <a:masterClrMapping/>
  </p:clrMapOvr>
</p:notes>
</file>

<file path=ppt/notesSlides/notesSlide10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https://www.sqlitetutorial.net/sqlite-alter-table/</a:t>
            </a:r>
          </a:p>
        </p:txBody>
      </p:sp>
      <p:sp>
        <p:nvSpPr>
          <p:cNvPr id="4" name="Slide Number Placeholder 3"/>
          <p:cNvSpPr>
            <a:spLocks noGrp="1"/>
          </p:cNvSpPr>
          <p:nvPr>
            <p:ph type="sldNum" sz="quarter" idx="5"/>
          </p:nvPr>
        </p:nvSpPr>
        <p:spPr/>
        <p:txBody>
          <a:bodyPr/>
          <a:lstStyle/>
          <a:p>
            <a:fld id="{B71FE5B5-A979-4370-A255-218EAB36A5F4}" type="slidenum">
              <a:rPr lang="en-GB" smtClean="0"/>
              <a:t>128</a:t>
            </a:fld>
            <a:endParaRPr lang="en-GB"/>
          </a:p>
        </p:txBody>
      </p:sp>
    </p:spTree>
    <p:extLst>
      <p:ext uri="{BB962C8B-B14F-4D97-AF65-F5344CB8AC3E}">
        <p14:creationId xmlns:p14="http://schemas.microsoft.com/office/powerpoint/2010/main" val="1149501121"/>
      </p:ext>
    </p:extLst>
  </p:cSld>
  <p:clrMapOvr>
    <a:masterClrMapping/>
  </p:clrMapOvr>
</p:notes>
</file>

<file path=ppt/notesSlides/notesSlide10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130</a:t>
            </a:fld>
            <a:endParaRPr lang="en-GB"/>
          </a:p>
        </p:txBody>
      </p:sp>
    </p:spTree>
    <p:extLst>
      <p:ext uri="{BB962C8B-B14F-4D97-AF65-F5344CB8AC3E}">
        <p14:creationId xmlns:p14="http://schemas.microsoft.com/office/powerpoint/2010/main" val="3833660925"/>
      </p:ext>
    </p:extLst>
  </p:cSld>
  <p:clrMapOvr>
    <a:masterClrMapping/>
  </p:clrMapOvr>
</p:notes>
</file>

<file path=ppt/notesSlides/notesSlide10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131</a:t>
            </a:fld>
            <a:endParaRPr lang="en-GB"/>
          </a:p>
        </p:txBody>
      </p:sp>
    </p:spTree>
    <p:extLst>
      <p:ext uri="{BB962C8B-B14F-4D97-AF65-F5344CB8AC3E}">
        <p14:creationId xmlns:p14="http://schemas.microsoft.com/office/powerpoint/2010/main" val="2320964817"/>
      </p:ext>
    </p:extLst>
  </p:cSld>
  <p:clrMapOvr>
    <a:masterClrMapping/>
  </p:clrMapOvr>
</p:notes>
</file>

<file path=ppt/notesSlides/notesSlide10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132</a:t>
            </a:fld>
            <a:endParaRPr lang="en-GB"/>
          </a:p>
        </p:txBody>
      </p:sp>
    </p:spTree>
    <p:extLst>
      <p:ext uri="{BB962C8B-B14F-4D97-AF65-F5344CB8AC3E}">
        <p14:creationId xmlns:p14="http://schemas.microsoft.com/office/powerpoint/2010/main" val="684865037"/>
      </p:ext>
    </p:extLst>
  </p:cSld>
  <p:clrMapOvr>
    <a:masterClrMapping/>
  </p:clrMapOvr>
</p:notes>
</file>

<file path=ppt/notesSlides/notesSlide10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84F7E2D-B680-D7BB-2102-3D917395200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13CE41B-1B34-EBCE-5B84-720B301F001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251AFC2-CAFD-FDF6-F536-F8762D986FB5}"/>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a:extLst>
              <a:ext uri="{FF2B5EF4-FFF2-40B4-BE49-F238E27FC236}">
                <a16:creationId xmlns:a16="http://schemas.microsoft.com/office/drawing/2014/main" id="{D7DA937D-A337-46B2-E46B-BEABC61DA30F}"/>
              </a:ext>
            </a:extLst>
          </p:cNvPr>
          <p:cNvSpPr>
            <a:spLocks noGrp="1"/>
          </p:cNvSpPr>
          <p:nvPr>
            <p:ph type="sldNum" sz="quarter" idx="5"/>
          </p:nvPr>
        </p:nvSpPr>
        <p:spPr/>
        <p:txBody>
          <a:bodyPr/>
          <a:lstStyle/>
          <a:p>
            <a:fld id="{B71FE5B5-A979-4370-A255-218EAB36A5F4}" type="slidenum">
              <a:rPr lang="en-GB" smtClean="0"/>
              <a:t>133</a:t>
            </a:fld>
            <a:endParaRPr lang="en-GB"/>
          </a:p>
        </p:txBody>
      </p:sp>
    </p:spTree>
    <p:extLst>
      <p:ext uri="{BB962C8B-B14F-4D97-AF65-F5344CB8AC3E}">
        <p14:creationId xmlns:p14="http://schemas.microsoft.com/office/powerpoint/2010/main" val="2969542328"/>
      </p:ext>
    </p:extLst>
  </p:cSld>
  <p:clrMapOvr>
    <a:masterClrMapping/>
  </p:clrMapOvr>
</p:notes>
</file>

<file path=ppt/notesSlides/notesSlide10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.schema without a table name will display all tables</a:t>
            </a:r>
          </a:p>
        </p:txBody>
      </p:sp>
      <p:sp>
        <p:nvSpPr>
          <p:cNvPr id="4" name="Slide Number Placeholder 3"/>
          <p:cNvSpPr>
            <a:spLocks noGrp="1"/>
          </p:cNvSpPr>
          <p:nvPr>
            <p:ph type="sldNum" sz="quarter" idx="5"/>
          </p:nvPr>
        </p:nvSpPr>
        <p:spPr/>
        <p:txBody>
          <a:bodyPr/>
          <a:lstStyle/>
          <a:p>
            <a:fld id="{B71FE5B5-A979-4370-A255-218EAB36A5F4}" type="slidenum">
              <a:rPr lang="en-GB" smtClean="0"/>
              <a:t>134</a:t>
            </a:fld>
            <a:endParaRPr lang="en-GB"/>
          </a:p>
        </p:txBody>
      </p:sp>
    </p:spTree>
    <p:extLst>
      <p:ext uri="{BB962C8B-B14F-4D97-AF65-F5344CB8AC3E}">
        <p14:creationId xmlns:p14="http://schemas.microsoft.com/office/powerpoint/2010/main" val="2543579161"/>
      </p:ext>
    </p:extLst>
  </p:cSld>
  <p:clrMapOvr>
    <a:masterClrMapping/>
  </p:clrMapOvr>
</p:notes>
</file>

<file path=ppt/notesSlides/notesSlide10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135</a:t>
            </a:fld>
            <a:endParaRPr lang="en-GB"/>
          </a:p>
        </p:txBody>
      </p:sp>
    </p:spTree>
    <p:extLst>
      <p:ext uri="{BB962C8B-B14F-4D97-AF65-F5344CB8AC3E}">
        <p14:creationId xmlns:p14="http://schemas.microsoft.com/office/powerpoint/2010/main" val="3685852903"/>
      </p:ext>
    </p:extLst>
  </p:cSld>
  <p:clrMapOvr>
    <a:masterClrMapping/>
  </p:clrMapOvr>
</p:notes>
</file>

<file path=ppt/notesSlides/notesSlide1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136</a:t>
            </a:fld>
            <a:endParaRPr lang="en-GB"/>
          </a:p>
        </p:txBody>
      </p:sp>
    </p:spTree>
    <p:extLst>
      <p:ext uri="{BB962C8B-B14F-4D97-AF65-F5344CB8AC3E}">
        <p14:creationId xmlns:p14="http://schemas.microsoft.com/office/powerpoint/2010/main" val="2590957402"/>
      </p:ext>
    </p:extLst>
  </p:cSld>
  <p:clrMapOvr>
    <a:masterClrMapping/>
  </p:clrMapOvr>
</p:notes>
</file>

<file path=ppt/notesSlides/notesSlide1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137</a:t>
            </a:fld>
            <a:endParaRPr lang="en-GB"/>
          </a:p>
        </p:txBody>
      </p:sp>
    </p:spTree>
    <p:extLst>
      <p:ext uri="{BB962C8B-B14F-4D97-AF65-F5344CB8AC3E}">
        <p14:creationId xmlns:p14="http://schemas.microsoft.com/office/powerpoint/2010/main" val="1332596973"/>
      </p:ext>
    </p:extLst>
  </p:cSld>
  <p:clrMapOvr>
    <a:masterClrMapping/>
  </p:clrMapOvr>
</p:notes>
</file>

<file path=ppt/notesSlides/notesSlide1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138</a:t>
            </a:fld>
            <a:endParaRPr lang="en-GB"/>
          </a:p>
        </p:txBody>
      </p:sp>
    </p:spTree>
    <p:extLst>
      <p:ext uri="{BB962C8B-B14F-4D97-AF65-F5344CB8AC3E}">
        <p14:creationId xmlns:p14="http://schemas.microsoft.com/office/powerpoint/2010/main" val="1869686318"/>
      </p:ext>
    </p:extLst>
  </p:cSld>
  <p:clrMapOvr>
    <a:masterClrMapping/>
  </p:clrMapOvr>
</p:notes>
</file>

<file path=ppt/notesSlides/notesSlide1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139</a:t>
            </a:fld>
            <a:endParaRPr lang="en-GB"/>
          </a:p>
        </p:txBody>
      </p:sp>
    </p:spTree>
    <p:extLst>
      <p:ext uri="{BB962C8B-B14F-4D97-AF65-F5344CB8AC3E}">
        <p14:creationId xmlns:p14="http://schemas.microsoft.com/office/powerpoint/2010/main" val="1008356157"/>
      </p:ext>
    </p:extLst>
  </p:cSld>
  <p:clrMapOvr>
    <a:masterClrMapping/>
  </p:clrMapOvr>
</p:notes>
</file>

<file path=ppt/notesSlides/notesSlide1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140</a:t>
            </a:fld>
            <a:endParaRPr lang="en-GB"/>
          </a:p>
        </p:txBody>
      </p:sp>
    </p:spTree>
    <p:extLst>
      <p:ext uri="{BB962C8B-B14F-4D97-AF65-F5344CB8AC3E}">
        <p14:creationId xmlns:p14="http://schemas.microsoft.com/office/powerpoint/2010/main" val="911684978"/>
      </p:ext>
    </p:extLst>
  </p:cSld>
  <p:clrMapOvr>
    <a:masterClrMapping/>
  </p:clrMapOvr>
</p:notes>
</file>

<file path=ppt/notesSlides/notesSlide1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141</a:t>
            </a:fld>
            <a:endParaRPr lang="en-GB"/>
          </a:p>
        </p:txBody>
      </p:sp>
    </p:spTree>
    <p:extLst>
      <p:ext uri="{BB962C8B-B14F-4D97-AF65-F5344CB8AC3E}">
        <p14:creationId xmlns:p14="http://schemas.microsoft.com/office/powerpoint/2010/main" val="2937794336"/>
      </p:ext>
    </p:extLst>
  </p:cSld>
  <p:clrMapOvr>
    <a:masterClrMapping/>
  </p:clrMapOvr>
</p:notes>
</file>

<file path=ppt/notesSlides/notesSlide1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142</a:t>
            </a:fld>
            <a:endParaRPr lang="en-GB"/>
          </a:p>
        </p:txBody>
      </p:sp>
    </p:spTree>
    <p:extLst>
      <p:ext uri="{BB962C8B-B14F-4D97-AF65-F5344CB8AC3E}">
        <p14:creationId xmlns:p14="http://schemas.microsoft.com/office/powerpoint/2010/main" val="2878239281"/>
      </p:ext>
    </p:extLst>
  </p:cSld>
  <p:clrMapOvr>
    <a:masterClrMapping/>
  </p:clrMapOvr>
</p:notes>
</file>

<file path=ppt/notesSlides/notesSlide1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143</a:t>
            </a:fld>
            <a:endParaRPr lang="en-GB"/>
          </a:p>
        </p:txBody>
      </p:sp>
    </p:spTree>
    <p:extLst>
      <p:ext uri="{BB962C8B-B14F-4D97-AF65-F5344CB8AC3E}">
        <p14:creationId xmlns:p14="http://schemas.microsoft.com/office/powerpoint/2010/main" val="2185605282"/>
      </p:ext>
    </p:extLst>
  </p:cSld>
  <p:clrMapOvr>
    <a:masterClrMapping/>
  </p:clrMapOvr>
</p:notes>
</file>

<file path=ppt/notesSlides/notesSlide1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144</a:t>
            </a:fld>
            <a:endParaRPr lang="en-GB"/>
          </a:p>
        </p:txBody>
      </p:sp>
    </p:spTree>
    <p:extLst>
      <p:ext uri="{BB962C8B-B14F-4D97-AF65-F5344CB8AC3E}">
        <p14:creationId xmlns:p14="http://schemas.microsoft.com/office/powerpoint/2010/main" val="262346198"/>
      </p:ext>
    </p:extLst>
  </p:cSld>
  <p:clrMapOvr>
    <a:masterClrMapping/>
  </p:clrMapOvr>
</p:notes>
</file>

<file path=ppt/notesSlides/notesSlide1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145</a:t>
            </a:fld>
            <a:endParaRPr lang="en-GB"/>
          </a:p>
        </p:txBody>
      </p:sp>
    </p:spTree>
    <p:extLst>
      <p:ext uri="{BB962C8B-B14F-4D97-AF65-F5344CB8AC3E}">
        <p14:creationId xmlns:p14="http://schemas.microsoft.com/office/powerpoint/2010/main" val="3903670601"/>
      </p:ext>
    </p:extLst>
  </p:cSld>
  <p:clrMapOvr>
    <a:masterClrMapping/>
  </p:clrMapOvr>
</p:notes>
</file>

<file path=ppt/notesSlides/notesSlide1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146</a:t>
            </a:fld>
            <a:endParaRPr lang="en-GB"/>
          </a:p>
        </p:txBody>
      </p:sp>
    </p:spTree>
    <p:extLst>
      <p:ext uri="{BB962C8B-B14F-4D97-AF65-F5344CB8AC3E}">
        <p14:creationId xmlns:p14="http://schemas.microsoft.com/office/powerpoint/2010/main" val="3426361966"/>
      </p:ext>
    </p:extLst>
  </p:cSld>
  <p:clrMapOvr>
    <a:masterClrMapping/>
  </p:clrMapOvr>
</p:notes>
</file>

<file path=ppt/notesSlides/notesSlide1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147</a:t>
            </a:fld>
            <a:endParaRPr lang="en-GB"/>
          </a:p>
        </p:txBody>
      </p:sp>
    </p:spTree>
    <p:extLst>
      <p:ext uri="{BB962C8B-B14F-4D97-AF65-F5344CB8AC3E}">
        <p14:creationId xmlns:p14="http://schemas.microsoft.com/office/powerpoint/2010/main" val="650129555"/>
      </p:ext>
    </p:extLst>
  </p:cSld>
  <p:clrMapOvr>
    <a:masterClrMapping/>
  </p:clrMapOvr>
</p:notes>
</file>

<file path=ppt/notesSlides/notesSlide1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148</a:t>
            </a:fld>
            <a:endParaRPr lang="en-GB"/>
          </a:p>
        </p:txBody>
      </p:sp>
    </p:spTree>
    <p:extLst>
      <p:ext uri="{BB962C8B-B14F-4D97-AF65-F5344CB8AC3E}">
        <p14:creationId xmlns:p14="http://schemas.microsoft.com/office/powerpoint/2010/main" val="2122183883"/>
      </p:ext>
    </p:extLst>
  </p:cSld>
  <p:clrMapOvr>
    <a:masterClrMapping/>
  </p:clrMapOvr>
</p:notes>
</file>

<file path=ppt/notesSlides/notesSlide1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149</a:t>
            </a:fld>
            <a:endParaRPr lang="en-GB"/>
          </a:p>
        </p:txBody>
      </p:sp>
    </p:spTree>
    <p:extLst>
      <p:ext uri="{BB962C8B-B14F-4D97-AF65-F5344CB8AC3E}">
        <p14:creationId xmlns:p14="http://schemas.microsoft.com/office/powerpoint/2010/main" val="353745764"/>
      </p:ext>
    </p:extLst>
  </p:cSld>
  <p:clrMapOvr>
    <a:masterClrMapping/>
  </p:clrMapOvr>
</p:notes>
</file>

<file path=ppt/notesSlides/notesSlide1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cs typeface="Calibri"/>
              </a:rPr>
              <a:t>Prelim 1: part way through DDD</a:t>
            </a:r>
            <a:endParaRPr lang="en-GB" dirty="0"/>
          </a:p>
        </p:txBody>
      </p:sp>
      <p:sp>
        <p:nvSpPr>
          <p:cNvPr id="4" name="Slide Number Placeholder 3"/>
          <p:cNvSpPr>
            <a:spLocks noGrp="1"/>
          </p:cNvSpPr>
          <p:nvPr>
            <p:ph type="sldNum" sz="quarter" idx="10"/>
          </p:nvPr>
        </p:nvSpPr>
        <p:spPr/>
        <p:txBody>
          <a:bodyPr/>
          <a:lstStyle/>
          <a:p>
            <a:fld id="{B71FE5B5-A979-4370-A255-218EAB36A5F4}" type="slidenum">
              <a:rPr lang="en-GB" smtClean="0"/>
              <a:t>150</a:t>
            </a:fld>
            <a:endParaRPr lang="en-GB"/>
          </a:p>
        </p:txBody>
      </p:sp>
    </p:spTree>
    <p:extLst>
      <p:ext uri="{BB962C8B-B14F-4D97-AF65-F5344CB8AC3E}">
        <p14:creationId xmlns:p14="http://schemas.microsoft.com/office/powerpoint/2010/main" val="3328011253"/>
      </p:ext>
    </p:extLst>
  </p:cSld>
  <p:clrMapOvr>
    <a:masterClrMapping/>
  </p:clrMapOvr>
</p:notes>
</file>

<file path=ppt/notesSlides/notesSlide1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Hide as appropriate</a:t>
            </a:r>
            <a:endParaRPr lang="en-GB" dirty="0">
              <a:cs typeface="Calibri"/>
            </a:endParaRPr>
          </a:p>
        </p:txBody>
      </p:sp>
      <p:sp>
        <p:nvSpPr>
          <p:cNvPr id="4" name="Slide Number Placeholder 3"/>
          <p:cNvSpPr>
            <a:spLocks noGrp="1"/>
          </p:cNvSpPr>
          <p:nvPr>
            <p:ph type="sldNum" sz="quarter" idx="5"/>
          </p:nvPr>
        </p:nvSpPr>
        <p:spPr/>
        <p:txBody>
          <a:bodyPr/>
          <a:lstStyle/>
          <a:p>
            <a:fld id="{B71FE5B5-A979-4370-A255-218EAB36A5F4}" type="slidenum">
              <a:rPr lang="en-GB" smtClean="0"/>
              <a:t>151</a:t>
            </a:fld>
            <a:endParaRPr lang="en-GB"/>
          </a:p>
        </p:txBody>
      </p:sp>
    </p:spTree>
    <p:extLst>
      <p:ext uri="{BB962C8B-B14F-4D97-AF65-F5344CB8AC3E}">
        <p14:creationId xmlns:p14="http://schemas.microsoft.com/office/powerpoint/2010/main" val="2528411544"/>
      </p:ext>
    </p:extLst>
  </p:cSld>
  <p:clrMapOvr>
    <a:masterClrMapping/>
  </p:clrMapOvr>
</p:notes>
</file>

<file path=ppt/notesSlides/notesSlide1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DDD: 0-5, 0-5</a:t>
            </a:r>
            <a:r>
              <a:rPr lang="en-GB"/>
              <a:t>, 7-9, </a:t>
            </a:r>
            <a:r>
              <a:rPr lang="en-GB" dirty="0"/>
              <a:t>0-5, 0-5</a:t>
            </a:r>
          </a:p>
        </p:txBody>
      </p:sp>
      <p:sp>
        <p:nvSpPr>
          <p:cNvPr id="4" name="Slide Number Placeholder 3"/>
          <p:cNvSpPr>
            <a:spLocks noGrp="1"/>
          </p:cNvSpPr>
          <p:nvPr>
            <p:ph type="sldNum" sz="quarter" idx="5"/>
          </p:nvPr>
        </p:nvSpPr>
        <p:spPr/>
        <p:txBody>
          <a:bodyPr/>
          <a:lstStyle/>
          <a:p>
            <a:fld id="{B71FE5B5-A979-4370-A255-218EAB36A5F4}" type="slidenum">
              <a:rPr lang="en-GB" smtClean="0"/>
              <a:t>152</a:t>
            </a:fld>
            <a:endParaRPr lang="en-GB"/>
          </a:p>
        </p:txBody>
      </p:sp>
    </p:spTree>
    <p:extLst>
      <p:ext uri="{BB962C8B-B14F-4D97-AF65-F5344CB8AC3E}">
        <p14:creationId xmlns:p14="http://schemas.microsoft.com/office/powerpoint/2010/main" val="2612935149"/>
      </p:ext>
    </p:extLst>
  </p:cSld>
  <p:clrMapOvr>
    <a:masterClrMapping/>
  </p:clrMapOvr>
</p:notes>
</file>

<file path=ppt/notesSlides/notesSlide1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2018 Spec Q3    2019 Q14(d)</a:t>
            </a:r>
          </a:p>
        </p:txBody>
      </p:sp>
      <p:sp>
        <p:nvSpPr>
          <p:cNvPr id="4" name="Slide Number Placeholder 3"/>
          <p:cNvSpPr>
            <a:spLocks noGrp="1"/>
          </p:cNvSpPr>
          <p:nvPr>
            <p:ph type="sldNum" sz="quarter" idx="10"/>
          </p:nvPr>
        </p:nvSpPr>
        <p:spPr/>
        <p:txBody>
          <a:bodyPr/>
          <a:lstStyle/>
          <a:p>
            <a:fld id="{265FC814-8CAE-44D9-AECE-C1B52634DDCB}" type="slidenum">
              <a:rPr lang="en-GB" smtClean="0"/>
              <a:t>153</a:t>
            </a:fld>
            <a:endParaRPr lang="en-GB"/>
          </a:p>
        </p:txBody>
      </p:sp>
    </p:spTree>
    <p:extLst>
      <p:ext uri="{BB962C8B-B14F-4D97-AF65-F5344CB8AC3E}">
        <p14:creationId xmlns:p14="http://schemas.microsoft.com/office/powerpoint/2010/main" val="1183438466"/>
      </p:ext>
    </p:extLst>
  </p:cSld>
  <p:clrMapOvr>
    <a:masterClrMapping/>
  </p:clrMapOvr>
</p:notes>
</file>

<file path=ppt/notesSlides/notesSlide1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GDPR (0-17:36): https://www.youtube.com/embed/gBJXfayW40M?start=0&amp;end=1056</a:t>
            </a:r>
          </a:p>
        </p:txBody>
      </p:sp>
      <p:sp>
        <p:nvSpPr>
          <p:cNvPr id="4" name="Slide Number Placeholder 3"/>
          <p:cNvSpPr>
            <a:spLocks noGrp="1"/>
          </p:cNvSpPr>
          <p:nvPr>
            <p:ph type="sldNum" sz="quarter" idx="5"/>
          </p:nvPr>
        </p:nvSpPr>
        <p:spPr/>
        <p:txBody>
          <a:bodyPr/>
          <a:lstStyle/>
          <a:p>
            <a:fld id="{B71FE5B5-A979-4370-A255-218EAB36A5F4}" type="slidenum">
              <a:rPr lang="en-GB" smtClean="0"/>
              <a:t>154</a:t>
            </a:fld>
            <a:endParaRPr lang="en-GB"/>
          </a:p>
        </p:txBody>
      </p:sp>
    </p:spTree>
    <p:extLst>
      <p:ext uri="{BB962C8B-B14F-4D97-AF65-F5344CB8AC3E}">
        <p14:creationId xmlns:p14="http://schemas.microsoft.com/office/powerpoint/2010/main" val="1762167996"/>
      </p:ext>
    </p:extLst>
  </p:cSld>
  <p:clrMapOvr>
    <a:masterClrMapping/>
  </p:clrMapOvr>
</p:notes>
</file>

<file path=ppt/notesSlides/notesSlide1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b="0" dirty="0"/>
              <a:t>SQA </a:t>
            </a:r>
            <a:r>
              <a:rPr lang="en-GB" b="0" i="0" dirty="0">
                <a:solidFill>
                  <a:srgbClr val="000000"/>
                </a:solidFill>
                <a:effectLst/>
                <a:latin typeface="Helvetica Neue"/>
              </a:rPr>
              <a:t>Privacy Statement: </a:t>
            </a:r>
            <a:r>
              <a:rPr lang="en-GB" b="0" dirty="0"/>
              <a:t>https://www.sqa.org.uk/sqa/97458.html</a:t>
            </a:r>
          </a:p>
          <a:p>
            <a:pPr marL="0" marR="0" lvl="0" indent="0" algn="l" defTabSz="914400" rtl="0" eaLnBrk="1" fontAlgn="auto" latinLnBrk="0" hangingPunct="1">
              <a:lnSpc>
                <a:spcPct val="100000"/>
              </a:lnSpc>
              <a:spcBef>
                <a:spcPts val="0"/>
              </a:spcBef>
              <a:spcAft>
                <a:spcPts val="0"/>
              </a:spcAft>
              <a:buClrTx/>
              <a:buSzTx/>
              <a:buFontTx/>
              <a:buNone/>
              <a:tabLst/>
              <a:defRPr/>
            </a:pPr>
            <a:r>
              <a:rPr lang="en-GB" b="0" dirty="0"/>
              <a:t>Facebook Data Policy: https://en-gb.facebook.com/privacy/explanation/</a:t>
            </a:r>
          </a:p>
          <a:p>
            <a:pPr marL="0" marR="0" lvl="0" indent="0" algn="l" defTabSz="914400" rtl="0" eaLnBrk="1" fontAlgn="auto" latinLnBrk="0" hangingPunct="1">
              <a:lnSpc>
                <a:spcPct val="100000"/>
              </a:lnSpc>
              <a:spcBef>
                <a:spcPts val="0"/>
              </a:spcBef>
              <a:spcAft>
                <a:spcPts val="0"/>
              </a:spcAft>
              <a:buClrTx/>
              <a:buSzTx/>
              <a:buFontTx/>
              <a:buNone/>
              <a:tabLst/>
              <a:defRPr/>
            </a:pPr>
            <a:r>
              <a:rPr lang="en-GB" b="0" dirty="0"/>
              <a:t>Enforcement: https://www.enforcementtracker.com/</a:t>
            </a:r>
          </a:p>
          <a:p>
            <a:pPr marL="0" marR="0" lvl="0" indent="0" algn="l" defTabSz="914400" rtl="0" eaLnBrk="1" fontAlgn="auto" latinLnBrk="0" hangingPunct="1">
              <a:lnSpc>
                <a:spcPct val="100000"/>
              </a:lnSpc>
              <a:spcBef>
                <a:spcPts val="0"/>
              </a:spcBef>
              <a:spcAft>
                <a:spcPts val="0"/>
              </a:spcAft>
              <a:buClrTx/>
              <a:buSzTx/>
              <a:buFontTx/>
              <a:buNone/>
              <a:tabLst/>
              <a:defRPr/>
            </a:pPr>
            <a:r>
              <a:rPr lang="en-GB" b="0" dirty="0" err="1"/>
              <a:t>ICO</a:t>
            </a:r>
            <a:r>
              <a:rPr lang="en-GB" b="0" dirty="0"/>
              <a:t>: https://ico.org.uk/for-organisations/uk-gdpr-guidance-and-resources/data-protection-principles/a-guide-to-the-data-protection-principles/</a:t>
            </a:r>
          </a:p>
        </p:txBody>
      </p:sp>
      <p:sp>
        <p:nvSpPr>
          <p:cNvPr id="4" name="Slide Number Placeholder 3"/>
          <p:cNvSpPr>
            <a:spLocks noGrp="1"/>
          </p:cNvSpPr>
          <p:nvPr>
            <p:ph type="sldNum" sz="quarter" idx="5"/>
          </p:nvPr>
        </p:nvSpPr>
        <p:spPr/>
        <p:txBody>
          <a:bodyPr/>
          <a:lstStyle/>
          <a:p>
            <a:fld id="{B71FE5B5-A979-4370-A255-218EAB36A5F4}" type="slidenum">
              <a:rPr lang="en-GB" smtClean="0"/>
              <a:t>161</a:t>
            </a:fld>
            <a:endParaRPr lang="en-GB"/>
          </a:p>
        </p:txBody>
      </p:sp>
    </p:spTree>
    <p:extLst>
      <p:ext uri="{BB962C8B-B14F-4D97-AF65-F5344CB8AC3E}">
        <p14:creationId xmlns:p14="http://schemas.microsoft.com/office/powerpoint/2010/main" val="1144111330"/>
      </p:ext>
    </p:extLst>
  </p:cSld>
  <p:clrMapOvr>
    <a:masterClrMapping/>
  </p:clrMapOvr>
</p:notes>
</file>

<file path=ppt/notesSlides/notesSlide1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b="0" dirty="0"/>
          </a:p>
        </p:txBody>
      </p:sp>
      <p:sp>
        <p:nvSpPr>
          <p:cNvPr id="4" name="Slide Number Placeholder 3"/>
          <p:cNvSpPr>
            <a:spLocks noGrp="1"/>
          </p:cNvSpPr>
          <p:nvPr>
            <p:ph type="sldNum" sz="quarter" idx="5"/>
          </p:nvPr>
        </p:nvSpPr>
        <p:spPr/>
        <p:txBody>
          <a:bodyPr/>
          <a:lstStyle/>
          <a:p>
            <a:fld id="{B71FE5B5-A979-4370-A255-218EAB36A5F4}" type="slidenum">
              <a:rPr lang="en-GB" smtClean="0"/>
              <a:t>162</a:t>
            </a:fld>
            <a:endParaRPr lang="en-GB"/>
          </a:p>
        </p:txBody>
      </p:sp>
    </p:spTree>
    <p:extLst>
      <p:ext uri="{BB962C8B-B14F-4D97-AF65-F5344CB8AC3E}">
        <p14:creationId xmlns:p14="http://schemas.microsoft.com/office/powerpoint/2010/main" val="3397717022"/>
      </p:ext>
    </p:extLst>
  </p:cSld>
  <p:clrMapOvr>
    <a:masterClrMapping/>
  </p:clrMapOvr>
</p:notes>
</file>

<file path=ppt/notesSlides/notesSlide1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End-user: https://www.bbc.co.uk/bitesize/guides/zg8gpbk/revision/1</a:t>
            </a:r>
          </a:p>
          <a:p>
            <a:r>
              <a:rPr lang="en-GB" dirty="0"/>
              <a:t>Functional: https://www.bbc.co.uk/bitesize/guides/zg8gpbk/revision/2</a:t>
            </a:r>
          </a:p>
        </p:txBody>
      </p:sp>
      <p:sp>
        <p:nvSpPr>
          <p:cNvPr id="4" name="Slide Number Placeholder 3"/>
          <p:cNvSpPr>
            <a:spLocks noGrp="1"/>
          </p:cNvSpPr>
          <p:nvPr>
            <p:ph type="sldNum" sz="quarter" idx="5"/>
          </p:nvPr>
        </p:nvSpPr>
        <p:spPr/>
        <p:txBody>
          <a:bodyPr/>
          <a:lstStyle/>
          <a:p>
            <a:fld id="{B71FE5B5-A979-4370-A255-218EAB36A5F4}" type="slidenum">
              <a:rPr lang="en-GB" smtClean="0"/>
              <a:t>164</a:t>
            </a:fld>
            <a:endParaRPr lang="en-GB"/>
          </a:p>
        </p:txBody>
      </p:sp>
    </p:spTree>
    <p:extLst>
      <p:ext uri="{BB962C8B-B14F-4D97-AF65-F5344CB8AC3E}">
        <p14:creationId xmlns:p14="http://schemas.microsoft.com/office/powerpoint/2010/main" val="457775565"/>
      </p:ext>
    </p:extLst>
  </p:cSld>
  <p:clrMapOvr>
    <a:masterClrMapping/>
  </p:clrMapOvr>
</p:notes>
</file>

<file path=ppt/notesSlides/notesSlide1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165</a:t>
            </a:fld>
            <a:endParaRPr lang="en-GB"/>
          </a:p>
        </p:txBody>
      </p:sp>
    </p:spTree>
    <p:extLst>
      <p:ext uri="{BB962C8B-B14F-4D97-AF65-F5344CB8AC3E}">
        <p14:creationId xmlns:p14="http://schemas.microsoft.com/office/powerpoint/2010/main" val="1039903544"/>
      </p:ext>
    </p:extLst>
  </p:cSld>
  <p:clrMapOvr>
    <a:masterClrMapping/>
  </p:clrMapOvr>
</p:notes>
</file>

<file path=ppt/notesSlides/notesSlide1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166</a:t>
            </a:fld>
            <a:endParaRPr lang="en-GB"/>
          </a:p>
        </p:txBody>
      </p:sp>
    </p:spTree>
    <p:extLst>
      <p:ext uri="{BB962C8B-B14F-4D97-AF65-F5344CB8AC3E}">
        <p14:creationId xmlns:p14="http://schemas.microsoft.com/office/powerpoint/2010/main" val="4093156812"/>
      </p:ext>
    </p:extLst>
  </p:cSld>
  <p:clrMapOvr>
    <a:masterClrMapping/>
  </p:clrMapOvr>
</p:notes>
</file>

<file path=ppt/notesSlides/notesSlide1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167</a:t>
            </a:fld>
            <a:endParaRPr lang="en-GB"/>
          </a:p>
        </p:txBody>
      </p:sp>
    </p:spTree>
    <p:extLst>
      <p:ext uri="{BB962C8B-B14F-4D97-AF65-F5344CB8AC3E}">
        <p14:creationId xmlns:p14="http://schemas.microsoft.com/office/powerpoint/2010/main" val="2434363262"/>
      </p:ext>
    </p:extLst>
  </p:cSld>
  <p:clrMapOvr>
    <a:masterClrMapping/>
  </p:clrMapOvr>
</p:notes>
</file>

<file path=ppt/notesSlides/notesSlide1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Each</a:t>
            </a:r>
            <a:r>
              <a:rPr lang="en-GB" baseline="0" dirty="0"/>
              <a:t> field has a datatype.</a:t>
            </a: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171</a:t>
            </a:fld>
            <a:endParaRPr lang="en-GB"/>
          </a:p>
        </p:txBody>
      </p:sp>
    </p:spTree>
    <p:extLst>
      <p:ext uri="{BB962C8B-B14F-4D97-AF65-F5344CB8AC3E}">
        <p14:creationId xmlns:p14="http://schemas.microsoft.com/office/powerpoint/2010/main" val="968848753"/>
      </p:ext>
    </p:extLst>
  </p:cSld>
  <p:clrMapOvr>
    <a:masterClrMapping/>
  </p:clrMapOvr>
</p:notes>
</file>

<file path=ppt/notesSlides/notesSlide1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Each</a:t>
            </a:r>
            <a:r>
              <a:rPr lang="en-GB" baseline="0" dirty="0"/>
              <a:t> field has a datatype.</a:t>
            </a: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172</a:t>
            </a:fld>
            <a:endParaRPr lang="en-GB"/>
          </a:p>
        </p:txBody>
      </p:sp>
    </p:spTree>
    <p:extLst>
      <p:ext uri="{BB962C8B-B14F-4D97-AF65-F5344CB8AC3E}">
        <p14:creationId xmlns:p14="http://schemas.microsoft.com/office/powerpoint/2010/main" val="1593546186"/>
      </p:ext>
    </p:extLst>
  </p:cSld>
  <p:clrMapOvr>
    <a:masterClrMapping/>
  </p:clrMapOvr>
</p:notes>
</file>

<file path=ppt/notesSlides/notesSlide1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173</a:t>
            </a:fld>
            <a:endParaRPr lang="en-GB"/>
          </a:p>
        </p:txBody>
      </p:sp>
    </p:spTree>
    <p:extLst>
      <p:ext uri="{BB962C8B-B14F-4D97-AF65-F5344CB8AC3E}">
        <p14:creationId xmlns:p14="http://schemas.microsoft.com/office/powerpoint/2010/main" val="3637848546"/>
      </p:ext>
    </p:extLst>
  </p:cSld>
  <p:clrMapOvr>
    <a:masterClrMapping/>
  </p:clrMapOvr>
</p:notes>
</file>

<file path=ppt/notesSlides/notesSlide1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174</a:t>
            </a:fld>
            <a:endParaRPr lang="en-GB"/>
          </a:p>
        </p:txBody>
      </p:sp>
    </p:spTree>
    <p:extLst>
      <p:ext uri="{BB962C8B-B14F-4D97-AF65-F5344CB8AC3E}">
        <p14:creationId xmlns:p14="http://schemas.microsoft.com/office/powerpoint/2010/main" val="1445441241"/>
      </p:ext>
    </p:extLst>
  </p:cSld>
  <p:clrMapOvr>
    <a:masterClrMapping/>
  </p:clrMapOvr>
</p:notes>
</file>

<file path=ppt/notesSlides/notesSlide1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175</a:t>
            </a:fld>
            <a:endParaRPr lang="en-GB"/>
          </a:p>
        </p:txBody>
      </p:sp>
    </p:spTree>
    <p:extLst>
      <p:ext uri="{BB962C8B-B14F-4D97-AF65-F5344CB8AC3E}">
        <p14:creationId xmlns:p14="http://schemas.microsoft.com/office/powerpoint/2010/main" val="4265791776"/>
      </p:ext>
    </p:extLst>
  </p:cSld>
  <p:clrMapOvr>
    <a:masterClrMapping/>
  </p:clrMapOvr>
</p:notes>
</file>

<file path=ppt/notesSlides/notesSlide1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176</a:t>
            </a:fld>
            <a:endParaRPr lang="en-GB"/>
          </a:p>
        </p:txBody>
      </p:sp>
    </p:spTree>
    <p:extLst>
      <p:ext uri="{BB962C8B-B14F-4D97-AF65-F5344CB8AC3E}">
        <p14:creationId xmlns:p14="http://schemas.microsoft.com/office/powerpoint/2010/main" val="4251800469"/>
      </p:ext>
    </p:extLst>
  </p:cSld>
  <p:clrMapOvr>
    <a:masterClrMapping/>
  </p:clrMapOvr>
</p:notes>
</file>

<file path=ppt/notesSlides/notesSlide1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177</a:t>
            </a:fld>
            <a:endParaRPr lang="en-GB"/>
          </a:p>
        </p:txBody>
      </p:sp>
    </p:spTree>
    <p:extLst>
      <p:ext uri="{BB962C8B-B14F-4D97-AF65-F5344CB8AC3E}">
        <p14:creationId xmlns:p14="http://schemas.microsoft.com/office/powerpoint/2010/main" val="1000160223"/>
      </p:ext>
    </p:extLst>
  </p:cSld>
  <p:clrMapOvr>
    <a:masterClrMapping/>
  </p:clrMapOvr>
</p:notes>
</file>

<file path=ppt/notesSlides/notesSlide1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178</a:t>
            </a:fld>
            <a:endParaRPr lang="en-GB"/>
          </a:p>
        </p:txBody>
      </p:sp>
    </p:spTree>
    <p:extLst>
      <p:ext uri="{BB962C8B-B14F-4D97-AF65-F5344CB8AC3E}">
        <p14:creationId xmlns:p14="http://schemas.microsoft.com/office/powerpoint/2010/main" val="113630487"/>
      </p:ext>
    </p:extLst>
  </p:cSld>
  <p:clrMapOvr>
    <a:masterClrMapping/>
  </p:clrMapOvr>
</p:notes>
</file>

<file path=ppt/notesSlides/notesSlide1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https://support.microsoft.com/en-gb/office/database-design-basics-eb2159cf-1e30-401a-8084-bd4f9c9ca1f5</a:t>
            </a:r>
          </a:p>
        </p:txBody>
      </p:sp>
      <p:sp>
        <p:nvSpPr>
          <p:cNvPr id="4" name="Slide Number Placeholder 3"/>
          <p:cNvSpPr>
            <a:spLocks noGrp="1"/>
          </p:cNvSpPr>
          <p:nvPr>
            <p:ph type="sldNum" sz="quarter" idx="5"/>
          </p:nvPr>
        </p:nvSpPr>
        <p:spPr/>
        <p:txBody>
          <a:bodyPr/>
          <a:lstStyle/>
          <a:p>
            <a:fld id="{B71FE5B5-A979-4370-A255-218EAB36A5F4}" type="slidenum">
              <a:rPr lang="en-GB" smtClean="0"/>
              <a:t>179</a:t>
            </a:fld>
            <a:endParaRPr lang="en-GB"/>
          </a:p>
        </p:txBody>
      </p:sp>
    </p:spTree>
    <p:extLst>
      <p:ext uri="{BB962C8B-B14F-4D97-AF65-F5344CB8AC3E}">
        <p14:creationId xmlns:p14="http://schemas.microsoft.com/office/powerpoint/2010/main" val="559352785"/>
      </p:ext>
    </p:extLst>
  </p:cSld>
  <p:clrMapOvr>
    <a:masterClrMapping/>
  </p:clrMapOvr>
</p:notes>
</file>

<file path=ppt/notesSlides/notesSlide1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180</a:t>
            </a:fld>
            <a:endParaRPr lang="en-GB"/>
          </a:p>
        </p:txBody>
      </p:sp>
    </p:spTree>
    <p:extLst>
      <p:ext uri="{BB962C8B-B14F-4D97-AF65-F5344CB8AC3E}">
        <p14:creationId xmlns:p14="http://schemas.microsoft.com/office/powerpoint/2010/main" val="3573796866"/>
      </p:ext>
    </p:extLst>
  </p:cSld>
  <p:clrMapOvr>
    <a:masterClrMapping/>
  </p:clrMapOvr>
</p:notes>
</file>

<file path=ppt/notesSlides/notesSlide1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More like the layout in MS Access</a:t>
            </a:r>
          </a:p>
        </p:txBody>
      </p:sp>
      <p:sp>
        <p:nvSpPr>
          <p:cNvPr id="4" name="Slide Number Placeholder 3"/>
          <p:cNvSpPr>
            <a:spLocks noGrp="1"/>
          </p:cNvSpPr>
          <p:nvPr>
            <p:ph type="sldNum" sz="quarter" idx="5"/>
          </p:nvPr>
        </p:nvSpPr>
        <p:spPr/>
        <p:txBody>
          <a:bodyPr/>
          <a:lstStyle/>
          <a:p>
            <a:fld id="{B71FE5B5-A979-4370-A255-218EAB36A5F4}" type="slidenum">
              <a:rPr lang="en-GB" smtClean="0"/>
              <a:t>182</a:t>
            </a:fld>
            <a:endParaRPr lang="en-GB"/>
          </a:p>
        </p:txBody>
      </p:sp>
    </p:spTree>
    <p:extLst>
      <p:ext uri="{BB962C8B-B14F-4D97-AF65-F5344CB8AC3E}">
        <p14:creationId xmlns:p14="http://schemas.microsoft.com/office/powerpoint/2010/main" val="2680230881"/>
      </p:ext>
    </p:extLst>
  </p:cSld>
  <p:clrMapOvr>
    <a:masterClrMapping/>
  </p:clrMapOvr>
</p:notes>
</file>

<file path=ppt/notesSlides/notesSlide1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183</a:t>
            </a:fld>
            <a:endParaRPr lang="en-GB"/>
          </a:p>
        </p:txBody>
      </p:sp>
    </p:spTree>
    <p:extLst>
      <p:ext uri="{BB962C8B-B14F-4D97-AF65-F5344CB8AC3E}">
        <p14:creationId xmlns:p14="http://schemas.microsoft.com/office/powerpoint/2010/main" val="206383270"/>
      </p:ext>
    </p:extLst>
  </p:cSld>
  <p:clrMapOvr>
    <a:masterClrMapping/>
  </p:clrMapOvr>
</p:notes>
</file>

<file path=ppt/notesSlides/notesSlide1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More like the layout in MS Access</a:t>
            </a:r>
          </a:p>
        </p:txBody>
      </p:sp>
      <p:sp>
        <p:nvSpPr>
          <p:cNvPr id="4" name="Slide Number Placeholder 3"/>
          <p:cNvSpPr>
            <a:spLocks noGrp="1"/>
          </p:cNvSpPr>
          <p:nvPr>
            <p:ph type="sldNum" sz="quarter" idx="5"/>
          </p:nvPr>
        </p:nvSpPr>
        <p:spPr/>
        <p:txBody>
          <a:bodyPr/>
          <a:lstStyle/>
          <a:p>
            <a:fld id="{B71FE5B5-A979-4370-A255-218EAB36A5F4}" type="slidenum">
              <a:rPr lang="en-GB" smtClean="0"/>
              <a:t>184</a:t>
            </a:fld>
            <a:endParaRPr lang="en-GB"/>
          </a:p>
        </p:txBody>
      </p:sp>
    </p:spTree>
    <p:extLst>
      <p:ext uri="{BB962C8B-B14F-4D97-AF65-F5344CB8AC3E}">
        <p14:creationId xmlns:p14="http://schemas.microsoft.com/office/powerpoint/2010/main" val="1125127047"/>
      </p:ext>
    </p:extLst>
  </p:cSld>
  <p:clrMapOvr>
    <a:masterClrMapping/>
  </p:clrMapOvr>
</p:notes>
</file>

<file path=ppt/notesSlides/notesSlide1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185</a:t>
            </a:fld>
            <a:endParaRPr lang="en-GB"/>
          </a:p>
        </p:txBody>
      </p:sp>
    </p:spTree>
    <p:extLst>
      <p:ext uri="{BB962C8B-B14F-4D97-AF65-F5344CB8AC3E}">
        <p14:creationId xmlns:p14="http://schemas.microsoft.com/office/powerpoint/2010/main" val="1953163397"/>
      </p:ext>
    </p:extLst>
  </p:cSld>
  <p:clrMapOvr>
    <a:masterClrMapping/>
  </p:clrMapOvr>
</p:notes>
</file>

<file path=ppt/notesSlides/notesSlide1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More like the layout in MS Access</a:t>
            </a:r>
          </a:p>
        </p:txBody>
      </p:sp>
      <p:sp>
        <p:nvSpPr>
          <p:cNvPr id="4" name="Slide Number Placeholder 3"/>
          <p:cNvSpPr>
            <a:spLocks noGrp="1"/>
          </p:cNvSpPr>
          <p:nvPr>
            <p:ph type="sldNum" sz="quarter" idx="5"/>
          </p:nvPr>
        </p:nvSpPr>
        <p:spPr/>
        <p:txBody>
          <a:bodyPr/>
          <a:lstStyle/>
          <a:p>
            <a:fld id="{B71FE5B5-A979-4370-A255-218EAB36A5F4}" type="slidenum">
              <a:rPr lang="en-GB" smtClean="0"/>
              <a:t>186</a:t>
            </a:fld>
            <a:endParaRPr lang="en-GB"/>
          </a:p>
        </p:txBody>
      </p:sp>
    </p:spTree>
    <p:extLst>
      <p:ext uri="{BB962C8B-B14F-4D97-AF65-F5344CB8AC3E}">
        <p14:creationId xmlns:p14="http://schemas.microsoft.com/office/powerpoint/2010/main" val="1967756829"/>
      </p:ext>
    </p:extLst>
  </p:cSld>
  <p:clrMapOvr>
    <a:masterClrMapping/>
  </p:clrMapOvr>
</p:notes>
</file>

<file path=ppt/notesSlides/notesSlide1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187</a:t>
            </a:fld>
            <a:endParaRPr lang="en-GB"/>
          </a:p>
        </p:txBody>
      </p:sp>
    </p:spTree>
    <p:extLst>
      <p:ext uri="{BB962C8B-B14F-4D97-AF65-F5344CB8AC3E}">
        <p14:creationId xmlns:p14="http://schemas.microsoft.com/office/powerpoint/2010/main" val="3439857080"/>
      </p:ext>
    </p:extLst>
  </p:cSld>
  <p:clrMapOvr>
    <a:masterClrMapping/>
  </p:clrMapOvr>
</p:notes>
</file>

<file path=ppt/notesSlides/notesSlide1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Shows entities, relationship, cardinality, attributes, and keys</a:t>
            </a:r>
          </a:p>
          <a:p>
            <a:r>
              <a:rPr lang="en-GB" dirty="0"/>
              <a:t>Entity (Design) / Table (Implementation)</a:t>
            </a:r>
          </a:p>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188</a:t>
            </a:fld>
            <a:endParaRPr lang="en-GB"/>
          </a:p>
        </p:txBody>
      </p:sp>
    </p:spTree>
    <p:extLst>
      <p:ext uri="{BB962C8B-B14F-4D97-AF65-F5344CB8AC3E}">
        <p14:creationId xmlns:p14="http://schemas.microsoft.com/office/powerpoint/2010/main" val="2034855199"/>
      </p:ext>
    </p:extLst>
  </p:cSld>
  <p:clrMapOvr>
    <a:masterClrMapping/>
  </p:clrMapOvr>
</p:notes>
</file>

<file path=ppt/notesSlides/notesSlide1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Shows entities, relationship, cardinality, attributes, and keys</a:t>
            </a:r>
          </a:p>
          <a:p>
            <a:r>
              <a:rPr lang="en-GB" dirty="0"/>
              <a:t>Entity (Design) / Table (Implementation)</a:t>
            </a:r>
          </a:p>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189</a:t>
            </a:fld>
            <a:endParaRPr lang="en-GB"/>
          </a:p>
        </p:txBody>
      </p:sp>
    </p:spTree>
    <p:extLst>
      <p:ext uri="{BB962C8B-B14F-4D97-AF65-F5344CB8AC3E}">
        <p14:creationId xmlns:p14="http://schemas.microsoft.com/office/powerpoint/2010/main" val="1693875435"/>
      </p:ext>
    </p:extLst>
  </p:cSld>
  <p:clrMapOvr>
    <a:masterClrMapping/>
  </p:clrMapOvr>
</p:notes>
</file>

<file path=ppt/notesSlides/notesSlide1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More like the layout in MS Access</a:t>
            </a:r>
          </a:p>
        </p:txBody>
      </p:sp>
      <p:sp>
        <p:nvSpPr>
          <p:cNvPr id="4" name="Slide Number Placeholder 3"/>
          <p:cNvSpPr>
            <a:spLocks noGrp="1"/>
          </p:cNvSpPr>
          <p:nvPr>
            <p:ph type="sldNum" sz="quarter" idx="5"/>
          </p:nvPr>
        </p:nvSpPr>
        <p:spPr/>
        <p:txBody>
          <a:bodyPr/>
          <a:lstStyle/>
          <a:p>
            <a:fld id="{B71FE5B5-A979-4370-A255-218EAB36A5F4}" type="slidenum">
              <a:rPr lang="en-GB" smtClean="0"/>
              <a:t>190</a:t>
            </a:fld>
            <a:endParaRPr lang="en-GB"/>
          </a:p>
        </p:txBody>
      </p:sp>
    </p:spTree>
    <p:extLst>
      <p:ext uri="{BB962C8B-B14F-4D97-AF65-F5344CB8AC3E}">
        <p14:creationId xmlns:p14="http://schemas.microsoft.com/office/powerpoint/2010/main" val="1967756829"/>
      </p:ext>
    </p:extLst>
  </p:cSld>
  <p:clrMapOvr>
    <a:masterClrMapping/>
  </p:clrMapOvr>
</p:notes>
</file>

<file path=ppt/notesSlides/notesSlide1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More like the layout in MS Access</a:t>
            </a:r>
          </a:p>
        </p:txBody>
      </p:sp>
      <p:sp>
        <p:nvSpPr>
          <p:cNvPr id="4" name="Slide Number Placeholder 3"/>
          <p:cNvSpPr>
            <a:spLocks noGrp="1"/>
          </p:cNvSpPr>
          <p:nvPr>
            <p:ph type="sldNum" sz="quarter" idx="5"/>
          </p:nvPr>
        </p:nvSpPr>
        <p:spPr/>
        <p:txBody>
          <a:bodyPr/>
          <a:lstStyle/>
          <a:p>
            <a:fld id="{B71FE5B5-A979-4370-A255-218EAB36A5F4}" type="slidenum">
              <a:rPr lang="en-GB" smtClean="0"/>
              <a:t>191</a:t>
            </a:fld>
            <a:endParaRPr lang="en-GB"/>
          </a:p>
        </p:txBody>
      </p:sp>
    </p:spTree>
    <p:extLst>
      <p:ext uri="{BB962C8B-B14F-4D97-AF65-F5344CB8AC3E}">
        <p14:creationId xmlns:p14="http://schemas.microsoft.com/office/powerpoint/2010/main" val="2284566975"/>
      </p:ext>
    </p:extLst>
  </p:cSld>
  <p:clrMapOvr>
    <a:masterClrMapping/>
  </p:clrMapOvr>
</p:notes>
</file>

<file path=ppt/notesSlides/notesSlide1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Names of relationships not stated in specification but shown.</a:t>
            </a:r>
          </a:p>
        </p:txBody>
      </p:sp>
      <p:sp>
        <p:nvSpPr>
          <p:cNvPr id="4" name="Slide Number Placeholder 3"/>
          <p:cNvSpPr>
            <a:spLocks noGrp="1"/>
          </p:cNvSpPr>
          <p:nvPr>
            <p:ph type="sldNum" sz="quarter" idx="5"/>
          </p:nvPr>
        </p:nvSpPr>
        <p:spPr/>
        <p:txBody>
          <a:bodyPr/>
          <a:lstStyle/>
          <a:p>
            <a:fld id="{B71FE5B5-A979-4370-A255-218EAB36A5F4}" type="slidenum">
              <a:rPr lang="en-GB" smtClean="0"/>
              <a:t>192</a:t>
            </a:fld>
            <a:endParaRPr lang="en-GB"/>
          </a:p>
        </p:txBody>
      </p:sp>
    </p:spTree>
    <p:extLst>
      <p:ext uri="{BB962C8B-B14F-4D97-AF65-F5344CB8AC3E}">
        <p14:creationId xmlns:p14="http://schemas.microsoft.com/office/powerpoint/2010/main" val="3391572721"/>
      </p:ext>
    </p:extLst>
  </p:cSld>
  <p:clrMapOvr>
    <a:masterClrMapping/>
  </p:clrMapOvr>
</p:notes>
</file>

<file path=ppt/notesSlides/notesSlide1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Names of relationships not stated in specification but shown.  Used in H CS Specimen Task 1a</a:t>
            </a:r>
          </a:p>
        </p:txBody>
      </p:sp>
      <p:sp>
        <p:nvSpPr>
          <p:cNvPr id="4" name="Slide Number Placeholder 3"/>
          <p:cNvSpPr>
            <a:spLocks noGrp="1"/>
          </p:cNvSpPr>
          <p:nvPr>
            <p:ph type="sldNum" sz="quarter" idx="5"/>
          </p:nvPr>
        </p:nvSpPr>
        <p:spPr/>
        <p:txBody>
          <a:bodyPr/>
          <a:lstStyle/>
          <a:p>
            <a:fld id="{B71FE5B5-A979-4370-A255-218EAB36A5F4}" type="slidenum">
              <a:rPr lang="en-GB" smtClean="0"/>
              <a:t>193</a:t>
            </a:fld>
            <a:endParaRPr lang="en-GB"/>
          </a:p>
        </p:txBody>
      </p:sp>
    </p:spTree>
    <p:extLst>
      <p:ext uri="{BB962C8B-B14F-4D97-AF65-F5344CB8AC3E}">
        <p14:creationId xmlns:p14="http://schemas.microsoft.com/office/powerpoint/2010/main" val="1162696845"/>
      </p:ext>
    </p:extLst>
  </p:cSld>
  <p:clrMapOvr>
    <a:masterClrMapping/>
  </p:clrMapOvr>
</p:notes>
</file>

<file path=ppt/notesSlides/notesSlide1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A school is led by a headteacher – A headteacher leads a school</a:t>
            </a:r>
          </a:p>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194</a:t>
            </a:fld>
            <a:endParaRPr lang="en-GB"/>
          </a:p>
        </p:txBody>
      </p:sp>
    </p:spTree>
    <p:extLst>
      <p:ext uri="{BB962C8B-B14F-4D97-AF65-F5344CB8AC3E}">
        <p14:creationId xmlns:p14="http://schemas.microsoft.com/office/powerpoint/2010/main" val="1039919869"/>
      </p:ext>
    </p:extLst>
  </p:cSld>
  <p:clrMapOvr>
    <a:masterClrMapping/>
  </p:clrMapOvr>
</p:notes>
</file>

<file path=ppt/notesSlides/notesSlide1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A school is led by a headteacher – A headteacher leads a school</a:t>
            </a:r>
          </a:p>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195</a:t>
            </a:fld>
            <a:endParaRPr lang="en-GB"/>
          </a:p>
        </p:txBody>
      </p:sp>
    </p:spTree>
    <p:extLst>
      <p:ext uri="{BB962C8B-B14F-4D97-AF65-F5344CB8AC3E}">
        <p14:creationId xmlns:p14="http://schemas.microsoft.com/office/powerpoint/2010/main" val="2619915768"/>
      </p:ext>
    </p:extLst>
  </p:cSld>
  <p:clrMapOvr>
    <a:masterClrMapping/>
  </p:clrMapOvr>
</p:notes>
</file>

<file path=ppt/notesSlides/notesSlide1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This is what N5 uses</a:t>
            </a:r>
          </a:p>
          <a:p>
            <a:r>
              <a:rPr lang="en-GB" dirty="0"/>
              <a:t>A school teaches many pupils – Many pupils are taught at a school</a:t>
            </a:r>
          </a:p>
        </p:txBody>
      </p:sp>
      <p:sp>
        <p:nvSpPr>
          <p:cNvPr id="4" name="Slide Number Placeholder 3"/>
          <p:cNvSpPr>
            <a:spLocks noGrp="1"/>
          </p:cNvSpPr>
          <p:nvPr>
            <p:ph type="sldNum" sz="quarter" idx="5"/>
          </p:nvPr>
        </p:nvSpPr>
        <p:spPr/>
        <p:txBody>
          <a:bodyPr/>
          <a:lstStyle/>
          <a:p>
            <a:fld id="{B71FE5B5-A979-4370-A255-218EAB36A5F4}" type="slidenum">
              <a:rPr lang="en-GB" smtClean="0"/>
              <a:t>196</a:t>
            </a:fld>
            <a:endParaRPr lang="en-GB"/>
          </a:p>
        </p:txBody>
      </p:sp>
    </p:spTree>
    <p:extLst>
      <p:ext uri="{BB962C8B-B14F-4D97-AF65-F5344CB8AC3E}">
        <p14:creationId xmlns:p14="http://schemas.microsoft.com/office/powerpoint/2010/main" val="872202893"/>
      </p:ext>
    </p:extLst>
  </p:cSld>
  <p:clrMapOvr>
    <a:masterClrMapping/>
  </p:clrMapOvr>
</p:notes>
</file>

<file path=ppt/notesSlides/notesSlide1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This is what N5 uses</a:t>
            </a:r>
          </a:p>
          <a:p>
            <a:r>
              <a:rPr lang="en-GB" dirty="0"/>
              <a:t>A school teaches many pupils – Many pupils are taught at a school</a:t>
            </a:r>
          </a:p>
        </p:txBody>
      </p:sp>
      <p:sp>
        <p:nvSpPr>
          <p:cNvPr id="4" name="Slide Number Placeholder 3"/>
          <p:cNvSpPr>
            <a:spLocks noGrp="1"/>
          </p:cNvSpPr>
          <p:nvPr>
            <p:ph type="sldNum" sz="quarter" idx="5"/>
          </p:nvPr>
        </p:nvSpPr>
        <p:spPr/>
        <p:txBody>
          <a:bodyPr/>
          <a:lstStyle/>
          <a:p>
            <a:fld id="{B71FE5B5-A979-4370-A255-218EAB36A5F4}" type="slidenum">
              <a:rPr lang="en-GB" smtClean="0"/>
              <a:t>197</a:t>
            </a:fld>
            <a:endParaRPr lang="en-GB"/>
          </a:p>
        </p:txBody>
      </p:sp>
    </p:spTree>
    <p:extLst>
      <p:ext uri="{BB962C8B-B14F-4D97-AF65-F5344CB8AC3E}">
        <p14:creationId xmlns:p14="http://schemas.microsoft.com/office/powerpoint/2010/main" val="865910790"/>
      </p:ext>
    </p:extLst>
  </p:cSld>
  <p:clrMapOvr>
    <a:masterClrMapping/>
  </p:clrMapOvr>
</p:notes>
</file>

<file path=ppt/notesSlides/notesSlide1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Many pupils study many subjects – Many subjects are studied by many pupils</a:t>
            </a:r>
          </a:p>
        </p:txBody>
      </p:sp>
      <p:sp>
        <p:nvSpPr>
          <p:cNvPr id="4" name="Slide Number Placeholder 3"/>
          <p:cNvSpPr>
            <a:spLocks noGrp="1"/>
          </p:cNvSpPr>
          <p:nvPr>
            <p:ph type="sldNum" sz="quarter" idx="5"/>
          </p:nvPr>
        </p:nvSpPr>
        <p:spPr/>
        <p:txBody>
          <a:bodyPr/>
          <a:lstStyle/>
          <a:p>
            <a:fld id="{B71FE5B5-A979-4370-A255-218EAB36A5F4}" type="slidenum">
              <a:rPr lang="en-GB" smtClean="0"/>
              <a:t>198</a:t>
            </a:fld>
            <a:endParaRPr lang="en-GB"/>
          </a:p>
        </p:txBody>
      </p:sp>
    </p:spTree>
    <p:extLst>
      <p:ext uri="{BB962C8B-B14F-4D97-AF65-F5344CB8AC3E}">
        <p14:creationId xmlns:p14="http://schemas.microsoft.com/office/powerpoint/2010/main" val="3549111192"/>
      </p:ext>
    </p:extLst>
  </p:cSld>
  <p:clrMapOvr>
    <a:masterClrMapping/>
  </p:clrMapOvr>
</p:notes>
</file>

<file path=ppt/notesSlides/notesSlide1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Many pupils study many subjects – Many subjects are studied by many pupils</a:t>
            </a:r>
          </a:p>
        </p:txBody>
      </p:sp>
      <p:sp>
        <p:nvSpPr>
          <p:cNvPr id="4" name="Slide Number Placeholder 3"/>
          <p:cNvSpPr>
            <a:spLocks noGrp="1"/>
          </p:cNvSpPr>
          <p:nvPr>
            <p:ph type="sldNum" sz="quarter" idx="5"/>
          </p:nvPr>
        </p:nvSpPr>
        <p:spPr/>
        <p:txBody>
          <a:bodyPr/>
          <a:lstStyle/>
          <a:p>
            <a:fld id="{B71FE5B5-A979-4370-A255-218EAB36A5F4}" type="slidenum">
              <a:rPr lang="en-GB" smtClean="0"/>
              <a:t>199</a:t>
            </a:fld>
            <a:endParaRPr lang="en-GB"/>
          </a:p>
        </p:txBody>
      </p:sp>
    </p:spTree>
    <p:extLst>
      <p:ext uri="{BB962C8B-B14F-4D97-AF65-F5344CB8AC3E}">
        <p14:creationId xmlns:p14="http://schemas.microsoft.com/office/powerpoint/2010/main" val="284273311"/>
      </p:ext>
    </p:extLst>
  </p:cSld>
  <p:clrMapOvr>
    <a:masterClrMapping/>
  </p:clrMapOvr>
</p:notes>
</file>

<file path=ppt/notesSlides/notesSlide1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200</a:t>
            </a:fld>
            <a:endParaRPr lang="en-GB"/>
          </a:p>
        </p:txBody>
      </p:sp>
    </p:spTree>
    <p:extLst>
      <p:ext uri="{BB962C8B-B14F-4D97-AF65-F5344CB8AC3E}">
        <p14:creationId xmlns:p14="http://schemas.microsoft.com/office/powerpoint/2010/main" val="4243211703"/>
      </p:ext>
    </p:extLst>
  </p:cSld>
  <p:clrMapOvr>
    <a:masterClrMapping/>
  </p:clrMapOvr>
</p:notes>
</file>

<file path=ppt/notesSlides/notesSlide1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203</a:t>
            </a:fld>
            <a:endParaRPr lang="en-GB"/>
          </a:p>
        </p:txBody>
      </p:sp>
    </p:spTree>
    <p:extLst>
      <p:ext uri="{BB962C8B-B14F-4D97-AF65-F5344CB8AC3E}">
        <p14:creationId xmlns:p14="http://schemas.microsoft.com/office/powerpoint/2010/main" val="976421226"/>
      </p:ext>
    </p:extLst>
  </p:cSld>
  <p:clrMapOvr>
    <a:masterClrMapping/>
  </p:clrMapOvr>
</p:notes>
</file>

<file path=ppt/notesSlides/notesSlide1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204</a:t>
            </a:fld>
            <a:endParaRPr lang="en-GB"/>
          </a:p>
        </p:txBody>
      </p:sp>
    </p:spTree>
    <p:extLst>
      <p:ext uri="{BB962C8B-B14F-4D97-AF65-F5344CB8AC3E}">
        <p14:creationId xmlns:p14="http://schemas.microsoft.com/office/powerpoint/2010/main" val="2232617775"/>
      </p:ext>
    </p:extLst>
  </p:cSld>
  <p:clrMapOvr>
    <a:masterClrMapping/>
  </p:clrMapOvr>
</p:notes>
</file>

<file path=ppt/notesSlides/notesSlide1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206</a:t>
            </a:fld>
            <a:endParaRPr lang="en-GB"/>
          </a:p>
        </p:txBody>
      </p:sp>
    </p:spTree>
    <p:extLst>
      <p:ext uri="{BB962C8B-B14F-4D97-AF65-F5344CB8AC3E}">
        <p14:creationId xmlns:p14="http://schemas.microsoft.com/office/powerpoint/2010/main" val="3841702982"/>
      </p:ext>
    </p:extLst>
  </p:cSld>
  <p:clrMapOvr>
    <a:masterClrMapping/>
  </p:clrMapOvr>
</p:notes>
</file>

<file path=ppt/notesSlides/notesSlide1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207</a:t>
            </a:fld>
            <a:endParaRPr lang="en-GB"/>
          </a:p>
        </p:txBody>
      </p:sp>
    </p:spTree>
    <p:extLst>
      <p:ext uri="{BB962C8B-B14F-4D97-AF65-F5344CB8AC3E}">
        <p14:creationId xmlns:p14="http://schemas.microsoft.com/office/powerpoint/2010/main" val="609781868"/>
      </p:ext>
    </p:extLst>
  </p:cSld>
  <p:clrMapOvr>
    <a:masterClrMapping/>
  </p:clrMapOvr>
</p:notes>
</file>

<file path=ppt/notesSlides/notesSlide1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210</a:t>
            </a:fld>
            <a:endParaRPr lang="en-GB"/>
          </a:p>
        </p:txBody>
      </p:sp>
    </p:spTree>
    <p:extLst>
      <p:ext uri="{BB962C8B-B14F-4D97-AF65-F5344CB8AC3E}">
        <p14:creationId xmlns:p14="http://schemas.microsoft.com/office/powerpoint/2010/main" val="39181069"/>
      </p:ext>
    </p:extLst>
  </p:cSld>
  <p:clrMapOvr>
    <a:masterClrMapping/>
  </p:clrMapOvr>
</p:notes>
</file>

<file path=ppt/notesSlides/notesSlide1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211</a:t>
            </a:fld>
            <a:endParaRPr lang="en-GB"/>
          </a:p>
        </p:txBody>
      </p:sp>
    </p:spTree>
    <p:extLst>
      <p:ext uri="{BB962C8B-B14F-4D97-AF65-F5344CB8AC3E}">
        <p14:creationId xmlns:p14="http://schemas.microsoft.com/office/powerpoint/2010/main" val="1617227628"/>
      </p:ext>
    </p:extLst>
  </p:cSld>
  <p:clrMapOvr>
    <a:masterClrMapping/>
  </p:clrMapOvr>
</p:notes>
</file>

<file path=ppt/notesSlides/notesSlide1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212</a:t>
            </a:fld>
            <a:endParaRPr lang="en-GB"/>
          </a:p>
        </p:txBody>
      </p:sp>
    </p:spTree>
    <p:extLst>
      <p:ext uri="{BB962C8B-B14F-4D97-AF65-F5344CB8AC3E}">
        <p14:creationId xmlns:p14="http://schemas.microsoft.com/office/powerpoint/2010/main" val="3324475712"/>
      </p:ext>
    </p:extLst>
  </p:cSld>
  <p:clrMapOvr>
    <a:masterClrMapping/>
  </p:clrMapOvr>
</p:notes>
</file>

<file path=ppt/notesSlides/notesSlide1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213</a:t>
            </a:fld>
            <a:endParaRPr lang="en-GB"/>
          </a:p>
        </p:txBody>
      </p:sp>
    </p:spTree>
    <p:extLst>
      <p:ext uri="{BB962C8B-B14F-4D97-AF65-F5344CB8AC3E}">
        <p14:creationId xmlns:p14="http://schemas.microsoft.com/office/powerpoint/2010/main" val="1460637816"/>
      </p:ext>
    </p:extLst>
  </p:cSld>
  <p:clrMapOvr>
    <a:masterClrMapping/>
  </p:clrMapOvr>
</p:notes>
</file>

<file path=ppt/notesSlides/notesSlide1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214</a:t>
            </a:fld>
            <a:endParaRPr lang="en-GB"/>
          </a:p>
        </p:txBody>
      </p:sp>
    </p:spTree>
    <p:extLst>
      <p:ext uri="{BB962C8B-B14F-4D97-AF65-F5344CB8AC3E}">
        <p14:creationId xmlns:p14="http://schemas.microsoft.com/office/powerpoint/2010/main" val="1466149990"/>
      </p:ext>
    </p:extLst>
  </p:cSld>
  <p:clrMapOvr>
    <a:masterClrMapping/>
  </p:clrMapOvr>
</p:notes>
</file>

<file path=ppt/notesSlides/notesSlide1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215</a:t>
            </a:fld>
            <a:endParaRPr lang="en-GB"/>
          </a:p>
        </p:txBody>
      </p:sp>
    </p:spTree>
    <p:extLst>
      <p:ext uri="{BB962C8B-B14F-4D97-AF65-F5344CB8AC3E}">
        <p14:creationId xmlns:p14="http://schemas.microsoft.com/office/powerpoint/2010/main" val="3294852894"/>
      </p:ext>
    </p:extLst>
  </p:cSld>
  <p:clrMapOvr>
    <a:masterClrMapping/>
  </p:clrMapOvr>
</p:notes>
</file>

<file path=ppt/notesSlides/notesSlide1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10"/>
          </p:nvPr>
        </p:nvSpPr>
        <p:spPr/>
        <p:txBody>
          <a:bodyPr/>
          <a:lstStyle/>
          <a:p>
            <a:fld id="{B71FE5B5-A979-4370-A255-218EAB36A5F4}" type="slidenum">
              <a:rPr lang="en-GB" smtClean="0"/>
              <a:t>218</a:t>
            </a:fld>
            <a:endParaRPr lang="en-GB"/>
          </a:p>
        </p:txBody>
      </p:sp>
    </p:spTree>
    <p:extLst>
      <p:ext uri="{BB962C8B-B14F-4D97-AF65-F5344CB8AC3E}">
        <p14:creationId xmlns:p14="http://schemas.microsoft.com/office/powerpoint/2010/main" val="3107008297"/>
      </p:ext>
    </p:extLst>
  </p:cSld>
  <p:clrMapOvr>
    <a:masterClrMapping/>
  </p:clrMapOvr>
</p:notes>
</file>

<file path=ppt/notesSlides/notesSlide1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10"/>
          </p:nvPr>
        </p:nvSpPr>
        <p:spPr/>
        <p:txBody>
          <a:bodyPr/>
          <a:lstStyle/>
          <a:p>
            <a:fld id="{B71FE5B5-A979-4370-A255-218EAB36A5F4}" type="slidenum">
              <a:rPr lang="en-GB" smtClean="0"/>
              <a:t>219</a:t>
            </a:fld>
            <a:endParaRPr lang="en-GB"/>
          </a:p>
        </p:txBody>
      </p:sp>
    </p:spTree>
    <p:extLst>
      <p:ext uri="{BB962C8B-B14F-4D97-AF65-F5344CB8AC3E}">
        <p14:creationId xmlns:p14="http://schemas.microsoft.com/office/powerpoint/2010/main" val="2021262334"/>
      </p:ext>
    </p:extLst>
  </p:cSld>
  <p:clrMapOvr>
    <a:masterClrMapping/>
  </p:clrMapOvr>
</p:notes>
</file>

<file path=ppt/notesSlides/notesSlide1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10"/>
          </p:nvPr>
        </p:nvSpPr>
        <p:spPr/>
        <p:txBody>
          <a:bodyPr/>
          <a:lstStyle/>
          <a:p>
            <a:fld id="{B71FE5B5-A979-4370-A255-218EAB36A5F4}" type="slidenum">
              <a:rPr lang="en-GB" smtClean="0"/>
              <a:t>220</a:t>
            </a:fld>
            <a:endParaRPr lang="en-GB"/>
          </a:p>
        </p:txBody>
      </p:sp>
    </p:spTree>
    <p:extLst>
      <p:ext uri="{BB962C8B-B14F-4D97-AF65-F5344CB8AC3E}">
        <p14:creationId xmlns:p14="http://schemas.microsoft.com/office/powerpoint/2010/main" val="3791186684"/>
      </p:ext>
    </p:extLst>
  </p:cSld>
  <p:clrMapOvr>
    <a:masterClrMapping/>
  </p:clrMapOvr>
</p:notes>
</file>

<file path=ppt/notesSlides/notesSlide1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10"/>
          </p:nvPr>
        </p:nvSpPr>
        <p:spPr/>
        <p:txBody>
          <a:bodyPr/>
          <a:lstStyle/>
          <a:p>
            <a:fld id="{B71FE5B5-A979-4370-A255-218EAB36A5F4}" type="slidenum">
              <a:rPr lang="en-GB" smtClean="0"/>
              <a:t>221</a:t>
            </a:fld>
            <a:endParaRPr lang="en-GB"/>
          </a:p>
        </p:txBody>
      </p:sp>
    </p:spTree>
    <p:extLst>
      <p:ext uri="{BB962C8B-B14F-4D97-AF65-F5344CB8AC3E}">
        <p14:creationId xmlns:p14="http://schemas.microsoft.com/office/powerpoint/2010/main" val="3294339116"/>
      </p:ext>
    </p:extLst>
  </p:cSld>
  <p:clrMapOvr>
    <a:masterClrMapping/>
  </p:clrMapOvr>
</p:notes>
</file>

<file path=ppt/notesSlides/notesSlide1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10"/>
          </p:nvPr>
        </p:nvSpPr>
        <p:spPr/>
        <p:txBody>
          <a:bodyPr/>
          <a:lstStyle/>
          <a:p>
            <a:fld id="{B71FE5B5-A979-4370-A255-218EAB36A5F4}" type="slidenum">
              <a:rPr lang="en-GB" smtClean="0"/>
              <a:t>222</a:t>
            </a:fld>
            <a:endParaRPr lang="en-GB"/>
          </a:p>
        </p:txBody>
      </p:sp>
    </p:spTree>
    <p:extLst>
      <p:ext uri="{BB962C8B-B14F-4D97-AF65-F5344CB8AC3E}">
        <p14:creationId xmlns:p14="http://schemas.microsoft.com/office/powerpoint/2010/main" val="1997455130"/>
      </p:ext>
    </p:extLst>
  </p:cSld>
  <p:clrMapOvr>
    <a:masterClrMapping/>
  </p:clrMapOvr>
</p:notes>
</file>

<file path=ppt/notesSlides/notesSlide17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10"/>
          </p:nvPr>
        </p:nvSpPr>
        <p:spPr/>
        <p:txBody>
          <a:bodyPr/>
          <a:lstStyle/>
          <a:p>
            <a:fld id="{B71FE5B5-A979-4370-A255-218EAB36A5F4}" type="slidenum">
              <a:rPr lang="en-GB" smtClean="0"/>
              <a:t>223</a:t>
            </a:fld>
            <a:endParaRPr lang="en-GB"/>
          </a:p>
        </p:txBody>
      </p:sp>
    </p:spTree>
    <p:extLst>
      <p:ext uri="{BB962C8B-B14F-4D97-AF65-F5344CB8AC3E}">
        <p14:creationId xmlns:p14="http://schemas.microsoft.com/office/powerpoint/2010/main" val="2985514565"/>
      </p:ext>
    </p:extLst>
  </p:cSld>
  <p:clrMapOvr>
    <a:masterClrMapping/>
  </p:clrMapOvr>
</p:notes>
</file>

<file path=ppt/notesSlides/notesSlide18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10"/>
          </p:nvPr>
        </p:nvSpPr>
        <p:spPr/>
        <p:txBody>
          <a:bodyPr/>
          <a:lstStyle/>
          <a:p>
            <a:fld id="{B71FE5B5-A979-4370-A255-218EAB36A5F4}" type="slidenum">
              <a:rPr lang="en-GB" smtClean="0"/>
              <a:t>224</a:t>
            </a:fld>
            <a:endParaRPr lang="en-GB"/>
          </a:p>
        </p:txBody>
      </p:sp>
    </p:spTree>
    <p:extLst>
      <p:ext uri="{BB962C8B-B14F-4D97-AF65-F5344CB8AC3E}">
        <p14:creationId xmlns:p14="http://schemas.microsoft.com/office/powerpoint/2010/main" val="293104372"/>
      </p:ext>
    </p:extLst>
  </p:cSld>
  <p:clrMapOvr>
    <a:masterClrMapping/>
  </p:clrMapOvr>
</p:notes>
</file>

<file path=ppt/notesSlides/notesSlide18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10"/>
          </p:nvPr>
        </p:nvSpPr>
        <p:spPr/>
        <p:txBody>
          <a:bodyPr/>
          <a:lstStyle/>
          <a:p>
            <a:fld id="{B71FE5B5-A979-4370-A255-218EAB36A5F4}" type="slidenum">
              <a:rPr lang="en-GB" smtClean="0"/>
              <a:t>225</a:t>
            </a:fld>
            <a:endParaRPr lang="en-GB"/>
          </a:p>
        </p:txBody>
      </p:sp>
    </p:spTree>
    <p:extLst>
      <p:ext uri="{BB962C8B-B14F-4D97-AF65-F5344CB8AC3E}">
        <p14:creationId xmlns:p14="http://schemas.microsoft.com/office/powerpoint/2010/main" val="3183988724"/>
      </p:ext>
    </p:extLst>
  </p:cSld>
  <p:clrMapOvr>
    <a:masterClrMapping/>
  </p:clrMapOvr>
</p:notes>
</file>

<file path=ppt/notesSlides/notesSlide18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2018 Q20(d)(ii)</a:t>
            </a:r>
          </a:p>
        </p:txBody>
      </p:sp>
      <p:sp>
        <p:nvSpPr>
          <p:cNvPr id="4" name="Slide Number Placeholder 3"/>
          <p:cNvSpPr>
            <a:spLocks noGrp="1"/>
          </p:cNvSpPr>
          <p:nvPr>
            <p:ph type="sldNum" sz="quarter" idx="5"/>
          </p:nvPr>
        </p:nvSpPr>
        <p:spPr/>
        <p:txBody>
          <a:bodyPr/>
          <a:lstStyle/>
          <a:p>
            <a:fld id="{B71FE5B5-A979-4370-A255-218EAB36A5F4}" type="slidenum">
              <a:rPr lang="en-GB" smtClean="0"/>
              <a:t>227</a:t>
            </a:fld>
            <a:endParaRPr lang="en-GB"/>
          </a:p>
        </p:txBody>
      </p:sp>
    </p:spTree>
    <p:extLst>
      <p:ext uri="{BB962C8B-B14F-4D97-AF65-F5344CB8AC3E}">
        <p14:creationId xmlns:p14="http://schemas.microsoft.com/office/powerpoint/2010/main" val="2863481507"/>
      </p:ext>
    </p:extLst>
  </p:cSld>
  <p:clrMapOvr>
    <a:masterClrMapping/>
  </p:clrMapOvr>
</p:notes>
</file>

<file path=ppt/notesSlides/notesSlide18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err="1"/>
              <a:t>QP</a:t>
            </a:r>
            <a:r>
              <a:rPr lang="en-GB" dirty="0"/>
              <a:t> 2023 Q15(c)(</a:t>
            </a:r>
            <a:r>
              <a:rPr lang="en-GB" dirty="0" err="1"/>
              <a:t>i</a:t>
            </a:r>
            <a:r>
              <a:rPr lang="en-GB" dirty="0"/>
              <a:t>), 2019 Q17(c)(</a:t>
            </a:r>
            <a:r>
              <a:rPr lang="en-GB" dirty="0" err="1"/>
              <a:t>i</a:t>
            </a:r>
            <a:r>
              <a:rPr lang="en-GB" dirty="0"/>
              <a:t>)</a:t>
            </a:r>
          </a:p>
          <a:p>
            <a:r>
              <a:rPr lang="en-GB" dirty="0"/>
              <a:t>Assignment 2024S 2f(ii), 2023 2e(</a:t>
            </a:r>
            <a:r>
              <a:rPr lang="en-GB" dirty="0" err="1"/>
              <a:t>i</a:t>
            </a:r>
            <a:r>
              <a:rPr lang="en-GB" dirty="0"/>
              <a:t>), 2022 2e</a:t>
            </a:r>
          </a:p>
        </p:txBody>
      </p:sp>
      <p:sp>
        <p:nvSpPr>
          <p:cNvPr id="4" name="Slide Number Placeholder 3"/>
          <p:cNvSpPr>
            <a:spLocks noGrp="1"/>
          </p:cNvSpPr>
          <p:nvPr>
            <p:ph type="sldNum" sz="quarter" idx="5"/>
          </p:nvPr>
        </p:nvSpPr>
        <p:spPr/>
        <p:txBody>
          <a:bodyPr/>
          <a:lstStyle/>
          <a:p>
            <a:fld id="{B71FE5B5-A979-4370-A255-218EAB36A5F4}" type="slidenum">
              <a:rPr lang="en-GB" smtClean="0"/>
              <a:t>228</a:t>
            </a:fld>
            <a:endParaRPr lang="en-GB"/>
          </a:p>
        </p:txBody>
      </p:sp>
    </p:spTree>
    <p:extLst>
      <p:ext uri="{BB962C8B-B14F-4D97-AF65-F5344CB8AC3E}">
        <p14:creationId xmlns:p14="http://schemas.microsoft.com/office/powerpoint/2010/main" val="290188265"/>
      </p:ext>
    </p:extLst>
  </p:cSld>
  <p:clrMapOvr>
    <a:masterClrMapping/>
  </p:clrMapOvr>
</p:notes>
</file>

<file path=ppt/notesSlides/notesSlide18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There's more to it than this but it's a start!</a:t>
            </a:r>
          </a:p>
          <a:p>
            <a:endParaRPr lang="en-GB" dirty="0"/>
          </a:p>
          <a:p>
            <a:r>
              <a:rPr lang="en-GB" sz="1200" b="0" i="0" kern="1200" dirty="0">
                <a:solidFill>
                  <a:schemeClr val="tx1"/>
                </a:solidFill>
                <a:effectLst/>
                <a:latin typeface="+mn-lt"/>
                <a:ea typeface="+mn-ea"/>
                <a:cs typeface="+mn-cs"/>
              </a:rPr>
              <a:t>Accuracy of output:</a:t>
            </a:r>
          </a:p>
          <a:p>
            <a:r>
              <a:rPr lang="en-GB" sz="1200" b="0" i="0" kern="1200" dirty="0">
                <a:solidFill>
                  <a:schemeClr val="tx1"/>
                </a:solidFill>
                <a:effectLst/>
                <a:latin typeface="+mn-lt"/>
                <a:ea typeface="+mn-ea"/>
                <a:cs typeface="+mn-cs"/>
              </a:rPr>
              <a:t>This may be related to the output not being as intended but it could also be that the SQL is correct but the database data is incorrect or has not been kept up to date.  A good example of this would be a customer moving house but their address not being updated.  The SQL used to search for their details would be correct but the output would not be.</a:t>
            </a:r>
          </a:p>
          <a:p>
            <a:r>
              <a:rPr lang="en-GB" sz="1200" b="0" i="0" kern="1200" dirty="0">
                <a:solidFill>
                  <a:schemeClr val="tx1"/>
                </a:solidFill>
                <a:effectLst/>
                <a:latin typeface="+mn-lt"/>
                <a:ea typeface="+mn-ea"/>
                <a:cs typeface="+mn-cs"/>
              </a:rPr>
              <a:t> </a:t>
            </a:r>
          </a:p>
          <a:p>
            <a:r>
              <a:rPr lang="en-GB" sz="1200" b="0" i="0" kern="1200" dirty="0">
                <a:solidFill>
                  <a:schemeClr val="tx1"/>
                </a:solidFill>
                <a:effectLst/>
                <a:latin typeface="+mn-lt"/>
                <a:ea typeface="+mn-ea"/>
                <a:cs typeface="+mn-cs"/>
              </a:rPr>
              <a:t>Fitness for purpose:</a:t>
            </a:r>
          </a:p>
          <a:p>
            <a:r>
              <a:rPr lang="en-GB" sz="1200" b="0" i="0" kern="1200" dirty="0">
                <a:solidFill>
                  <a:schemeClr val="tx1"/>
                </a:solidFill>
                <a:effectLst/>
                <a:latin typeface="+mn-lt"/>
                <a:ea typeface="+mn-ea"/>
                <a:cs typeface="+mn-cs"/>
              </a:rPr>
              <a:t>A database system as being fit for purpose if it meets the functional requirements.  The functional requirements for a database will be the data that is to be stored and how it organised along with the operations that will be performed on the database (SQL that searches, sorts, updates, inserts and deletes).  The reference to functional requirements is important though as that’s how it would be phrased in any assignment or exam database question.</a:t>
            </a:r>
          </a:p>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229</a:t>
            </a:fld>
            <a:endParaRPr lang="en-GB"/>
          </a:p>
        </p:txBody>
      </p:sp>
    </p:spTree>
    <p:extLst>
      <p:ext uri="{BB962C8B-B14F-4D97-AF65-F5344CB8AC3E}">
        <p14:creationId xmlns:p14="http://schemas.microsoft.com/office/powerpoint/2010/main" val="3884963375"/>
      </p:ext>
    </p:extLst>
  </p:cSld>
  <p:clrMapOvr>
    <a:masterClrMapping/>
  </p:clrMapOvr>
</p:notes>
</file>

<file path=ppt/notesSlides/notesSlide18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Example 4 from N5 CS Specification, page 69</a:t>
            </a:r>
          </a:p>
        </p:txBody>
      </p:sp>
      <p:sp>
        <p:nvSpPr>
          <p:cNvPr id="4" name="Slide Number Placeholder 3"/>
          <p:cNvSpPr>
            <a:spLocks noGrp="1"/>
          </p:cNvSpPr>
          <p:nvPr>
            <p:ph type="sldNum" sz="quarter" idx="5"/>
          </p:nvPr>
        </p:nvSpPr>
        <p:spPr/>
        <p:txBody>
          <a:bodyPr/>
          <a:lstStyle/>
          <a:p>
            <a:fld id="{B71FE5B5-A979-4370-A255-218EAB36A5F4}" type="slidenum">
              <a:rPr lang="en-GB" smtClean="0"/>
              <a:t>231</a:t>
            </a:fld>
            <a:endParaRPr lang="en-GB"/>
          </a:p>
        </p:txBody>
      </p:sp>
    </p:spTree>
    <p:extLst>
      <p:ext uri="{BB962C8B-B14F-4D97-AF65-F5344CB8AC3E}">
        <p14:creationId xmlns:p14="http://schemas.microsoft.com/office/powerpoint/2010/main" val="714423846"/>
      </p:ext>
    </p:extLst>
  </p:cSld>
  <p:clrMapOvr>
    <a:masterClrMapping/>
  </p:clrMapOvr>
</p:notes>
</file>

<file path=ppt/notesSlides/notesSlide18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232</a:t>
            </a:fld>
            <a:endParaRPr lang="en-GB"/>
          </a:p>
        </p:txBody>
      </p:sp>
    </p:spTree>
    <p:extLst>
      <p:ext uri="{BB962C8B-B14F-4D97-AF65-F5344CB8AC3E}">
        <p14:creationId xmlns:p14="http://schemas.microsoft.com/office/powerpoint/2010/main" val="284436752"/>
      </p:ext>
    </p:extLst>
  </p:cSld>
  <p:clrMapOvr>
    <a:masterClrMapping/>
  </p:clrMapOvr>
</p:notes>
</file>

<file path=ppt/notesSlides/notesSlide18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Data from BBC Bitesize: https://www.bbc.co.uk/bitesize/guides/zc93tv4/revision/1</a:t>
            </a:r>
          </a:p>
        </p:txBody>
      </p:sp>
      <p:sp>
        <p:nvSpPr>
          <p:cNvPr id="4" name="Slide Number Placeholder 3"/>
          <p:cNvSpPr>
            <a:spLocks noGrp="1"/>
          </p:cNvSpPr>
          <p:nvPr>
            <p:ph type="sldNum" sz="quarter" idx="5"/>
          </p:nvPr>
        </p:nvSpPr>
        <p:spPr/>
        <p:txBody>
          <a:bodyPr/>
          <a:lstStyle/>
          <a:p>
            <a:fld id="{B71FE5B5-A979-4370-A255-218EAB36A5F4}" type="slidenum">
              <a:rPr lang="en-GB" smtClean="0"/>
              <a:t>241</a:t>
            </a:fld>
            <a:endParaRPr lang="en-GB"/>
          </a:p>
        </p:txBody>
      </p:sp>
    </p:spTree>
    <p:extLst>
      <p:ext uri="{BB962C8B-B14F-4D97-AF65-F5344CB8AC3E}">
        <p14:creationId xmlns:p14="http://schemas.microsoft.com/office/powerpoint/2010/main" val="263235924"/>
      </p:ext>
    </p:extLst>
  </p:cSld>
  <p:clrMapOvr>
    <a:masterClrMapping/>
  </p:clrMapOvr>
</p:notes>
</file>

<file path=ppt/notesSlides/notesSlide18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242</a:t>
            </a:fld>
            <a:endParaRPr lang="en-GB"/>
          </a:p>
        </p:txBody>
      </p:sp>
    </p:spTree>
    <p:extLst>
      <p:ext uri="{BB962C8B-B14F-4D97-AF65-F5344CB8AC3E}">
        <p14:creationId xmlns:p14="http://schemas.microsoft.com/office/powerpoint/2010/main" val="265930157"/>
      </p:ext>
    </p:extLst>
  </p:cSld>
  <p:clrMapOvr>
    <a:masterClrMapping/>
  </p:clrMapOvr>
</p:notes>
</file>

<file path=ppt/notesSlides/notesSlide18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BBC Bitesize: https://www.bbc.co.uk/bitesize/guides/zc93tv4/revision/2</a:t>
            </a:r>
          </a:p>
        </p:txBody>
      </p:sp>
      <p:sp>
        <p:nvSpPr>
          <p:cNvPr id="4" name="Slide Number Placeholder 3"/>
          <p:cNvSpPr>
            <a:spLocks noGrp="1"/>
          </p:cNvSpPr>
          <p:nvPr>
            <p:ph type="sldNum" sz="quarter" idx="5"/>
          </p:nvPr>
        </p:nvSpPr>
        <p:spPr/>
        <p:txBody>
          <a:bodyPr/>
          <a:lstStyle/>
          <a:p>
            <a:fld id="{B71FE5B5-A979-4370-A255-218EAB36A5F4}" type="slidenum">
              <a:rPr lang="en-GB" smtClean="0"/>
              <a:t>243</a:t>
            </a:fld>
            <a:endParaRPr lang="en-GB"/>
          </a:p>
        </p:txBody>
      </p:sp>
    </p:spTree>
    <p:extLst>
      <p:ext uri="{BB962C8B-B14F-4D97-AF65-F5344CB8AC3E}">
        <p14:creationId xmlns:p14="http://schemas.microsoft.com/office/powerpoint/2010/main" val="3511927680"/>
      </p:ext>
    </p:extLst>
  </p:cSld>
  <p:clrMapOvr>
    <a:masterClrMapping/>
  </p:clrMapOvr>
</p:notes>
</file>

<file path=ppt/notesSlides/notesSlide19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244</a:t>
            </a:fld>
            <a:endParaRPr lang="en-GB"/>
          </a:p>
        </p:txBody>
      </p:sp>
    </p:spTree>
    <p:extLst>
      <p:ext uri="{BB962C8B-B14F-4D97-AF65-F5344CB8AC3E}">
        <p14:creationId xmlns:p14="http://schemas.microsoft.com/office/powerpoint/2010/main" val="2085732484"/>
      </p:ext>
    </p:extLst>
  </p:cSld>
  <p:clrMapOvr>
    <a:masterClrMapping/>
  </p:clrMapOvr>
</p:notes>
</file>

<file path=ppt/notesSlides/notesSlide19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BBC Bitesize: https://www.bbc.co.uk/bitesize/guides/zc93tv4/revision/2</a:t>
            </a:r>
          </a:p>
        </p:txBody>
      </p:sp>
      <p:sp>
        <p:nvSpPr>
          <p:cNvPr id="4" name="Slide Number Placeholder 3"/>
          <p:cNvSpPr>
            <a:spLocks noGrp="1"/>
          </p:cNvSpPr>
          <p:nvPr>
            <p:ph type="sldNum" sz="quarter" idx="5"/>
          </p:nvPr>
        </p:nvSpPr>
        <p:spPr/>
        <p:txBody>
          <a:bodyPr/>
          <a:lstStyle/>
          <a:p>
            <a:fld id="{B71FE5B5-A979-4370-A255-218EAB36A5F4}" type="slidenum">
              <a:rPr lang="en-GB" smtClean="0"/>
              <a:t>245</a:t>
            </a:fld>
            <a:endParaRPr lang="en-GB"/>
          </a:p>
        </p:txBody>
      </p:sp>
    </p:spTree>
    <p:extLst>
      <p:ext uri="{BB962C8B-B14F-4D97-AF65-F5344CB8AC3E}">
        <p14:creationId xmlns:p14="http://schemas.microsoft.com/office/powerpoint/2010/main" val="2108403095"/>
      </p:ext>
    </p:extLst>
  </p:cSld>
  <p:clrMapOvr>
    <a:masterClrMapping/>
  </p:clrMapOvr>
</p:notes>
</file>

<file path=ppt/notesSlides/notesSlide19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246</a:t>
            </a:fld>
            <a:endParaRPr lang="en-GB"/>
          </a:p>
        </p:txBody>
      </p:sp>
    </p:spTree>
    <p:extLst>
      <p:ext uri="{BB962C8B-B14F-4D97-AF65-F5344CB8AC3E}">
        <p14:creationId xmlns:p14="http://schemas.microsoft.com/office/powerpoint/2010/main" val="3989248327"/>
      </p:ext>
    </p:extLst>
  </p:cSld>
  <p:clrMapOvr>
    <a:masterClrMapping/>
  </p:clrMapOvr>
</p:notes>
</file>

<file path=ppt/notesSlides/notesSlide19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BBC Bitesize: https://www.bbc.co.uk/bitesize/guides/zc93tv4/revision/2</a:t>
            </a:r>
          </a:p>
        </p:txBody>
      </p:sp>
      <p:sp>
        <p:nvSpPr>
          <p:cNvPr id="4" name="Slide Number Placeholder 3"/>
          <p:cNvSpPr>
            <a:spLocks noGrp="1"/>
          </p:cNvSpPr>
          <p:nvPr>
            <p:ph type="sldNum" sz="quarter" idx="5"/>
          </p:nvPr>
        </p:nvSpPr>
        <p:spPr/>
        <p:txBody>
          <a:bodyPr/>
          <a:lstStyle/>
          <a:p>
            <a:fld id="{B71FE5B5-A979-4370-A255-218EAB36A5F4}" type="slidenum">
              <a:rPr lang="en-GB" smtClean="0"/>
              <a:t>247</a:t>
            </a:fld>
            <a:endParaRPr lang="en-GB"/>
          </a:p>
        </p:txBody>
      </p:sp>
    </p:spTree>
    <p:extLst>
      <p:ext uri="{BB962C8B-B14F-4D97-AF65-F5344CB8AC3E}">
        <p14:creationId xmlns:p14="http://schemas.microsoft.com/office/powerpoint/2010/main" val="582574010"/>
      </p:ext>
    </p:extLst>
  </p:cSld>
  <p:clrMapOvr>
    <a:masterClrMapping/>
  </p:clrMapOvr>
</p:notes>
</file>

<file path=ppt/notesSlides/notesSlide19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248</a:t>
            </a:fld>
            <a:endParaRPr lang="en-GB"/>
          </a:p>
        </p:txBody>
      </p:sp>
    </p:spTree>
    <p:extLst>
      <p:ext uri="{BB962C8B-B14F-4D97-AF65-F5344CB8AC3E}">
        <p14:creationId xmlns:p14="http://schemas.microsoft.com/office/powerpoint/2010/main" val="2093979400"/>
      </p:ext>
    </p:extLst>
  </p:cSld>
  <p:clrMapOvr>
    <a:masterClrMapping/>
  </p:clrMapOvr>
</p:notes>
</file>

<file path=ppt/notesSlides/notesSlide19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b="1" dirty="0">
                <a:solidFill>
                  <a:srgbClr val="FF0000"/>
                </a:solidFill>
              </a:rPr>
              <a:t>Share</a:t>
            </a:r>
            <a:r>
              <a:rPr lang="en-GB" dirty="0"/>
              <a:t> OneNote page.</a:t>
            </a:r>
          </a:p>
        </p:txBody>
      </p:sp>
      <p:sp>
        <p:nvSpPr>
          <p:cNvPr id="4" name="Slide Number Placeholder 3"/>
          <p:cNvSpPr>
            <a:spLocks noGrp="1"/>
          </p:cNvSpPr>
          <p:nvPr>
            <p:ph type="sldNum" sz="quarter" idx="5"/>
          </p:nvPr>
        </p:nvSpPr>
        <p:spPr/>
        <p:txBody>
          <a:bodyPr/>
          <a:lstStyle/>
          <a:p>
            <a:fld id="{B71FE5B5-A979-4370-A255-218EAB36A5F4}" type="slidenum">
              <a:rPr lang="en-GB" smtClean="0"/>
              <a:t>249</a:t>
            </a:fld>
            <a:endParaRPr lang="en-GB"/>
          </a:p>
        </p:txBody>
      </p:sp>
    </p:spTree>
    <p:extLst>
      <p:ext uri="{BB962C8B-B14F-4D97-AF65-F5344CB8AC3E}">
        <p14:creationId xmlns:p14="http://schemas.microsoft.com/office/powerpoint/2010/main" val="3806169592"/>
      </p:ext>
    </p:extLst>
  </p:cSld>
  <p:clrMapOvr>
    <a:masterClrMapping/>
  </p:clrMapOvr>
</p:notes>
</file>

<file path=ppt/notesSlides/notesSlide19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Share OneNote page.</a:t>
            </a:r>
          </a:p>
        </p:txBody>
      </p:sp>
      <p:sp>
        <p:nvSpPr>
          <p:cNvPr id="4" name="Slide Number Placeholder 3"/>
          <p:cNvSpPr>
            <a:spLocks noGrp="1"/>
          </p:cNvSpPr>
          <p:nvPr>
            <p:ph type="sldNum" sz="quarter" idx="5"/>
          </p:nvPr>
        </p:nvSpPr>
        <p:spPr/>
        <p:txBody>
          <a:bodyPr/>
          <a:lstStyle/>
          <a:p>
            <a:fld id="{B71FE5B5-A979-4370-A255-218EAB36A5F4}" type="slidenum">
              <a:rPr lang="en-GB" smtClean="0"/>
              <a:t>250</a:t>
            </a:fld>
            <a:endParaRPr lang="en-GB"/>
          </a:p>
        </p:txBody>
      </p:sp>
    </p:spTree>
    <p:extLst>
      <p:ext uri="{BB962C8B-B14F-4D97-AF65-F5344CB8AC3E}">
        <p14:creationId xmlns:p14="http://schemas.microsoft.com/office/powerpoint/2010/main" val="1783093588"/>
      </p:ext>
    </p:extLst>
  </p:cSld>
  <p:clrMapOvr>
    <a:masterClrMapping/>
  </p:clrMapOvr>
</p:notes>
</file>

<file path=ppt/notesSlides/notesSlide19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indent="0">
              <a:buFont typeface="+mj-lt"/>
              <a:buNone/>
            </a:pPr>
            <a:r>
              <a:rPr lang="en-GB" dirty="0"/>
              <a:t>FROM, WHERE, SELECT, ORDER BY</a:t>
            </a:r>
          </a:p>
        </p:txBody>
      </p:sp>
      <p:sp>
        <p:nvSpPr>
          <p:cNvPr id="4" name="Slide Number Placeholder 3"/>
          <p:cNvSpPr>
            <a:spLocks noGrp="1"/>
          </p:cNvSpPr>
          <p:nvPr>
            <p:ph type="sldNum" sz="quarter" idx="5"/>
          </p:nvPr>
        </p:nvSpPr>
        <p:spPr/>
        <p:txBody>
          <a:bodyPr/>
          <a:lstStyle/>
          <a:p>
            <a:fld id="{B71FE5B5-A979-4370-A255-218EAB36A5F4}" type="slidenum">
              <a:rPr lang="en-GB" smtClean="0"/>
              <a:t>251</a:t>
            </a:fld>
            <a:endParaRPr lang="en-GB"/>
          </a:p>
        </p:txBody>
      </p:sp>
    </p:spTree>
    <p:extLst>
      <p:ext uri="{BB962C8B-B14F-4D97-AF65-F5344CB8AC3E}">
        <p14:creationId xmlns:p14="http://schemas.microsoft.com/office/powerpoint/2010/main" val="3277974932"/>
      </p:ext>
    </p:extLst>
  </p:cSld>
  <p:clrMapOvr>
    <a:masterClrMapping/>
  </p:clrMapOvr>
</p:notes>
</file>

<file path=ppt/notesSlides/notesSlide19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indent="0">
              <a:buFont typeface="+mj-lt"/>
              <a:buNone/>
            </a:pPr>
            <a:r>
              <a:rPr lang="en-GB" dirty="0"/>
              <a:t>FROM, WHERE, SELECT, ORDER BY</a:t>
            </a:r>
          </a:p>
        </p:txBody>
      </p:sp>
      <p:sp>
        <p:nvSpPr>
          <p:cNvPr id="4" name="Slide Number Placeholder 3"/>
          <p:cNvSpPr>
            <a:spLocks noGrp="1"/>
          </p:cNvSpPr>
          <p:nvPr>
            <p:ph type="sldNum" sz="quarter" idx="5"/>
          </p:nvPr>
        </p:nvSpPr>
        <p:spPr/>
        <p:txBody>
          <a:bodyPr/>
          <a:lstStyle/>
          <a:p>
            <a:fld id="{B71FE5B5-A979-4370-A255-218EAB36A5F4}" type="slidenum">
              <a:rPr lang="en-GB" smtClean="0"/>
              <a:t>252</a:t>
            </a:fld>
            <a:endParaRPr lang="en-GB"/>
          </a:p>
        </p:txBody>
      </p:sp>
    </p:spTree>
    <p:extLst>
      <p:ext uri="{BB962C8B-B14F-4D97-AF65-F5344CB8AC3E}">
        <p14:creationId xmlns:p14="http://schemas.microsoft.com/office/powerpoint/2010/main" val="3348702982"/>
      </p:ext>
    </p:extLst>
  </p:cSld>
  <p:clrMapOvr>
    <a:masterClrMapping/>
  </p:clrMapOvr>
</p:notes>
</file>

<file path=ppt/notesSlides/notesSlide19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FROM, WHERE, SELECT, ORDER BY</a:t>
            </a:r>
          </a:p>
        </p:txBody>
      </p:sp>
      <p:sp>
        <p:nvSpPr>
          <p:cNvPr id="4" name="Slide Number Placeholder 3"/>
          <p:cNvSpPr>
            <a:spLocks noGrp="1"/>
          </p:cNvSpPr>
          <p:nvPr>
            <p:ph type="sldNum" sz="quarter" idx="5"/>
          </p:nvPr>
        </p:nvSpPr>
        <p:spPr/>
        <p:txBody>
          <a:bodyPr/>
          <a:lstStyle/>
          <a:p>
            <a:fld id="{B71FE5B5-A979-4370-A255-218EAB36A5F4}" type="slidenum">
              <a:rPr lang="en-GB" smtClean="0"/>
              <a:t>253</a:t>
            </a:fld>
            <a:endParaRPr lang="en-GB"/>
          </a:p>
        </p:txBody>
      </p:sp>
    </p:spTree>
    <p:extLst>
      <p:ext uri="{BB962C8B-B14F-4D97-AF65-F5344CB8AC3E}">
        <p14:creationId xmlns:p14="http://schemas.microsoft.com/office/powerpoint/2010/main" val="817057899"/>
      </p:ext>
    </p:extLst>
  </p:cSld>
  <p:clrMapOvr>
    <a:masterClrMapping/>
  </p:clrMapOvr>
</p:notes>
</file>

<file path=ppt/notesSlides/notesSlide20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This happens in the computer's memory, only the output is displayed.</a:t>
            </a:r>
          </a:p>
        </p:txBody>
      </p:sp>
      <p:sp>
        <p:nvSpPr>
          <p:cNvPr id="4" name="Slide Number Placeholder 3"/>
          <p:cNvSpPr>
            <a:spLocks noGrp="1"/>
          </p:cNvSpPr>
          <p:nvPr>
            <p:ph type="sldNum" sz="quarter" idx="5"/>
          </p:nvPr>
        </p:nvSpPr>
        <p:spPr/>
        <p:txBody>
          <a:bodyPr/>
          <a:lstStyle/>
          <a:p>
            <a:fld id="{B71FE5B5-A979-4370-A255-218EAB36A5F4}" type="slidenum">
              <a:rPr lang="en-GB" smtClean="0"/>
              <a:t>254</a:t>
            </a:fld>
            <a:endParaRPr lang="en-GB"/>
          </a:p>
        </p:txBody>
      </p:sp>
    </p:spTree>
    <p:extLst>
      <p:ext uri="{BB962C8B-B14F-4D97-AF65-F5344CB8AC3E}">
        <p14:creationId xmlns:p14="http://schemas.microsoft.com/office/powerpoint/2010/main" val="3899173194"/>
      </p:ext>
    </p:extLst>
  </p:cSld>
  <p:clrMapOvr>
    <a:masterClrMapping/>
  </p:clrMapOvr>
</p:notes>
</file>

<file path=ppt/notesSlides/notesSlide20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Question:  Who borrowed which laptop, and has it been returned?</a:t>
            </a:r>
          </a:p>
          <a:p>
            <a:r>
              <a:rPr lang="en-GB" dirty="0"/>
              <a:t>FROM executed first</a:t>
            </a:r>
          </a:p>
          <a:p>
            <a:r>
              <a:rPr lang="en-GB" dirty="0"/>
              <a:t>Cartesian join – every row of first table joined to every row of second table</a:t>
            </a:r>
          </a:p>
        </p:txBody>
      </p:sp>
      <p:sp>
        <p:nvSpPr>
          <p:cNvPr id="4" name="Slide Number Placeholder 3"/>
          <p:cNvSpPr>
            <a:spLocks noGrp="1"/>
          </p:cNvSpPr>
          <p:nvPr>
            <p:ph type="sldNum" sz="quarter" idx="5"/>
          </p:nvPr>
        </p:nvSpPr>
        <p:spPr/>
        <p:txBody>
          <a:bodyPr/>
          <a:lstStyle/>
          <a:p>
            <a:fld id="{B71FE5B5-A979-4370-A255-218EAB36A5F4}" type="slidenum">
              <a:rPr lang="en-GB" smtClean="0"/>
              <a:t>255</a:t>
            </a:fld>
            <a:endParaRPr lang="en-GB"/>
          </a:p>
        </p:txBody>
      </p:sp>
    </p:spTree>
    <p:extLst>
      <p:ext uri="{BB962C8B-B14F-4D97-AF65-F5344CB8AC3E}">
        <p14:creationId xmlns:p14="http://schemas.microsoft.com/office/powerpoint/2010/main" val="1185188110"/>
      </p:ext>
    </p:extLst>
  </p:cSld>
  <p:clrMapOvr>
    <a:masterClrMapping/>
  </p:clrMapOvr>
</p:notes>
</file>

<file path=ppt/notesSlides/notesSlide20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256</a:t>
            </a:fld>
            <a:endParaRPr lang="en-GB"/>
          </a:p>
        </p:txBody>
      </p:sp>
    </p:spTree>
    <p:extLst>
      <p:ext uri="{BB962C8B-B14F-4D97-AF65-F5344CB8AC3E}">
        <p14:creationId xmlns:p14="http://schemas.microsoft.com/office/powerpoint/2010/main" val="131586739"/>
      </p:ext>
    </p:extLst>
  </p:cSld>
  <p:clrMapOvr>
    <a:masterClrMapping/>
  </p:clrMapOvr>
</p:notes>
</file>

<file path=ppt/notesSlides/notesSlide20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SELECT executed</a:t>
            </a:r>
          </a:p>
          <a:p>
            <a:r>
              <a:rPr lang="en-GB" dirty="0"/>
              <a:t>Example: Annie has borrowed laptop 3 but hasn't returned it, and Chris has it, and Dan, and Erin!</a:t>
            </a:r>
          </a:p>
        </p:txBody>
      </p:sp>
      <p:sp>
        <p:nvSpPr>
          <p:cNvPr id="4" name="Slide Number Placeholder 3"/>
          <p:cNvSpPr>
            <a:spLocks noGrp="1"/>
          </p:cNvSpPr>
          <p:nvPr>
            <p:ph type="sldNum" sz="quarter" idx="5"/>
          </p:nvPr>
        </p:nvSpPr>
        <p:spPr/>
        <p:txBody>
          <a:bodyPr/>
          <a:lstStyle/>
          <a:p>
            <a:fld id="{B71FE5B5-A979-4370-A255-218EAB36A5F4}" type="slidenum">
              <a:rPr lang="en-GB" smtClean="0"/>
              <a:t>257</a:t>
            </a:fld>
            <a:endParaRPr lang="en-GB"/>
          </a:p>
        </p:txBody>
      </p:sp>
    </p:spTree>
    <p:extLst>
      <p:ext uri="{BB962C8B-B14F-4D97-AF65-F5344CB8AC3E}">
        <p14:creationId xmlns:p14="http://schemas.microsoft.com/office/powerpoint/2010/main" val="1221708792"/>
      </p:ext>
    </p:extLst>
  </p:cSld>
  <p:clrMapOvr>
    <a:masterClrMapping/>
  </p:clrMapOvr>
</p:notes>
</file>

<file path=ppt/notesSlides/notesSlide20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258</a:t>
            </a:fld>
            <a:endParaRPr lang="en-GB"/>
          </a:p>
        </p:txBody>
      </p:sp>
    </p:spTree>
    <p:extLst>
      <p:ext uri="{BB962C8B-B14F-4D97-AF65-F5344CB8AC3E}">
        <p14:creationId xmlns:p14="http://schemas.microsoft.com/office/powerpoint/2010/main" val="32320420"/>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7260564-5510-4968-B83C-E0988A9D5BEF}"/>
              </a:ext>
            </a:extLst>
          </p:cNvPr>
          <p:cNvSpPr>
            <a:spLocks noGrp="1"/>
          </p:cNvSpPr>
          <p:nvPr>
            <p:ph type="ctrTitle"/>
          </p:nvPr>
        </p:nvSpPr>
        <p:spPr>
          <a:xfrm>
            <a:off x="1524000" y="1122363"/>
            <a:ext cx="9144000" cy="2387600"/>
          </a:xfrm>
        </p:spPr>
        <p:txBody>
          <a:bodyPr anchor="b"/>
          <a:lstStyle>
            <a:lvl1pPr algn="ctr">
              <a:defRPr sz="6000"/>
            </a:lvl1pPr>
          </a:lstStyle>
          <a:p>
            <a:r>
              <a:rPr lang="en-US" dirty="0"/>
              <a:t>Click to edit Master title style</a:t>
            </a:r>
            <a:endParaRPr lang="en-GB" dirty="0"/>
          </a:p>
        </p:txBody>
      </p:sp>
      <p:sp>
        <p:nvSpPr>
          <p:cNvPr id="3" name="Subtitle 2">
            <a:extLst>
              <a:ext uri="{FF2B5EF4-FFF2-40B4-BE49-F238E27FC236}">
                <a16:creationId xmlns:a16="http://schemas.microsoft.com/office/drawing/2014/main" id="{DF3D860D-1211-4E26-A35E-A80BC376E9A1}"/>
              </a:ext>
            </a:extLst>
          </p:cNvPr>
          <p:cNvSpPr>
            <a:spLocks noGrp="1"/>
          </p:cNvSpPr>
          <p:nvPr>
            <p:ph type="subTitle" idx="1"/>
          </p:nvPr>
        </p:nvSpPr>
        <p:spPr>
          <a:xfrm>
            <a:off x="1524000" y="3602038"/>
            <a:ext cx="9144000" cy="1655762"/>
          </a:xfrm>
        </p:spPr>
        <p:txBody>
          <a:bodyPr>
            <a:normAutofit/>
          </a:bodyPr>
          <a:lstStyle>
            <a:lvl1pPr marL="0" indent="0" algn="ctr">
              <a:buNone/>
              <a:defRPr sz="32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dirty="0"/>
              <a:t>Click to edit Master subtitle style</a:t>
            </a:r>
            <a:endParaRPr lang="en-GB" dirty="0"/>
          </a:p>
        </p:txBody>
      </p:sp>
      <p:sp>
        <p:nvSpPr>
          <p:cNvPr id="4" name="Date Placeholder 3">
            <a:extLst>
              <a:ext uri="{FF2B5EF4-FFF2-40B4-BE49-F238E27FC236}">
                <a16:creationId xmlns:a16="http://schemas.microsoft.com/office/drawing/2014/main" id="{C23C5969-3F05-4100-9F8A-DB9A82EB4B23}"/>
              </a:ext>
            </a:extLst>
          </p:cNvPr>
          <p:cNvSpPr>
            <a:spLocks noGrp="1"/>
          </p:cNvSpPr>
          <p:nvPr>
            <p:ph type="dt" sz="half" idx="10"/>
          </p:nvPr>
        </p:nvSpPr>
        <p:spPr/>
        <p:txBody>
          <a:bodyPr/>
          <a:lstStyle/>
          <a:p>
            <a:fld id="{CBBB66F6-7471-47DA-8EED-C7BCCA53B015}" type="datetimeFigureOut">
              <a:rPr lang="en-GB" smtClean="0"/>
              <a:t>15/01/2026</a:t>
            </a:fld>
            <a:endParaRPr lang="en-GB"/>
          </a:p>
        </p:txBody>
      </p:sp>
      <p:sp>
        <p:nvSpPr>
          <p:cNvPr id="5" name="Footer Placeholder 4">
            <a:extLst>
              <a:ext uri="{FF2B5EF4-FFF2-40B4-BE49-F238E27FC236}">
                <a16:creationId xmlns:a16="http://schemas.microsoft.com/office/drawing/2014/main" id="{8879FB1B-2516-429F-B867-4823287B8D12}"/>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6AF1741A-33DE-4C5E-8C9F-B4AD75DA464D}"/>
              </a:ext>
            </a:extLst>
          </p:cNvPr>
          <p:cNvSpPr>
            <a:spLocks noGrp="1"/>
          </p:cNvSpPr>
          <p:nvPr>
            <p:ph type="sldNum" sz="quarter" idx="12"/>
          </p:nvPr>
        </p:nvSpPr>
        <p:spPr/>
        <p:txBody>
          <a:bodyPr/>
          <a:lstStyle/>
          <a:p>
            <a:fld id="{DFB9890C-4870-410D-A143-591B2BA0A39B}" type="slidenum">
              <a:rPr lang="en-GB" smtClean="0"/>
              <a:t>‹#›</a:t>
            </a:fld>
            <a:endParaRPr lang="en-GB"/>
          </a:p>
        </p:txBody>
      </p:sp>
    </p:spTree>
    <p:extLst>
      <p:ext uri="{BB962C8B-B14F-4D97-AF65-F5344CB8AC3E}">
        <p14:creationId xmlns:p14="http://schemas.microsoft.com/office/powerpoint/2010/main" val="1983201955"/>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9CF5E7B-67B3-496A-822C-C32976D9157A}"/>
              </a:ext>
            </a:extLst>
          </p:cNvPr>
          <p:cNvSpPr>
            <a:spLocks noGrp="1"/>
          </p:cNvSpPr>
          <p:nvPr>
            <p:ph type="title"/>
          </p:nvPr>
        </p:nvSpPr>
        <p:spPr/>
        <p:txBody>
          <a:bodyPr/>
          <a:lstStyle/>
          <a:p>
            <a:r>
              <a:rPr lang="en-US"/>
              <a:t>Click to edit Master title style</a:t>
            </a:r>
            <a:endParaRPr lang="en-GB"/>
          </a:p>
        </p:txBody>
      </p:sp>
      <p:sp>
        <p:nvSpPr>
          <p:cNvPr id="3" name="Content Placeholder 2">
            <a:extLst>
              <a:ext uri="{FF2B5EF4-FFF2-40B4-BE49-F238E27FC236}">
                <a16:creationId xmlns:a16="http://schemas.microsoft.com/office/drawing/2014/main" id="{4DBFEDAD-10D4-47B6-8F35-0155F7D63DF8}"/>
              </a:ext>
            </a:extLst>
          </p:cNvPr>
          <p:cNvSpPr>
            <a:spLocks noGrp="1"/>
          </p:cNvSpPr>
          <p:nvPr>
            <p:ph idx="1"/>
          </p:nvPr>
        </p:nvSpPr>
        <p:spPr/>
        <p:txBody>
          <a:bodyPr>
            <a:normAutofit/>
          </a:bodyPr>
          <a:lstStyle>
            <a:lvl1pPr>
              <a:lnSpc>
                <a:spcPct val="120000"/>
              </a:lnSpc>
              <a:spcBef>
                <a:spcPts val="0"/>
              </a:spcBef>
              <a:defRPr sz="3200"/>
            </a:lvl1pPr>
            <a:lvl2pPr>
              <a:lnSpc>
                <a:spcPct val="120000"/>
              </a:lnSpc>
              <a:spcBef>
                <a:spcPts val="0"/>
              </a:spcBef>
              <a:defRPr sz="2800"/>
            </a:lvl2pPr>
            <a:lvl3pPr>
              <a:lnSpc>
                <a:spcPct val="120000"/>
              </a:lnSpc>
              <a:spcBef>
                <a:spcPts val="0"/>
              </a:spcBef>
              <a:defRPr sz="2400"/>
            </a:lvl3pPr>
            <a:lvl4pPr>
              <a:lnSpc>
                <a:spcPct val="120000"/>
              </a:lnSpc>
              <a:spcBef>
                <a:spcPts val="0"/>
              </a:spcBef>
              <a:defRPr sz="2000"/>
            </a:lvl4pPr>
            <a:lvl5pPr>
              <a:lnSpc>
                <a:spcPct val="120000"/>
              </a:lnSpc>
              <a:spcBef>
                <a:spcPts val="0"/>
              </a:spcBef>
              <a:defRPr sz="20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endParaRPr lang="en-GB" dirty="0"/>
          </a:p>
        </p:txBody>
      </p:sp>
      <p:sp>
        <p:nvSpPr>
          <p:cNvPr id="4" name="Date Placeholder 3">
            <a:extLst>
              <a:ext uri="{FF2B5EF4-FFF2-40B4-BE49-F238E27FC236}">
                <a16:creationId xmlns:a16="http://schemas.microsoft.com/office/drawing/2014/main" id="{17020D4F-7E43-4DFE-B626-E846C85BC6A4}"/>
              </a:ext>
            </a:extLst>
          </p:cNvPr>
          <p:cNvSpPr>
            <a:spLocks noGrp="1"/>
          </p:cNvSpPr>
          <p:nvPr>
            <p:ph type="dt" sz="half" idx="10"/>
          </p:nvPr>
        </p:nvSpPr>
        <p:spPr/>
        <p:txBody>
          <a:bodyPr/>
          <a:lstStyle/>
          <a:p>
            <a:fld id="{CBBB66F6-7471-47DA-8EED-C7BCCA53B015}" type="datetimeFigureOut">
              <a:rPr lang="en-GB" smtClean="0"/>
              <a:t>15/01/2026</a:t>
            </a:fld>
            <a:endParaRPr lang="en-GB"/>
          </a:p>
        </p:txBody>
      </p:sp>
      <p:sp>
        <p:nvSpPr>
          <p:cNvPr id="5" name="Footer Placeholder 4">
            <a:extLst>
              <a:ext uri="{FF2B5EF4-FFF2-40B4-BE49-F238E27FC236}">
                <a16:creationId xmlns:a16="http://schemas.microsoft.com/office/drawing/2014/main" id="{ED3EDBDD-527D-4909-8BEF-723EEB35016E}"/>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AD505016-CD99-4792-B5CE-4FC2732AB212}"/>
              </a:ext>
            </a:extLst>
          </p:cNvPr>
          <p:cNvSpPr>
            <a:spLocks noGrp="1"/>
          </p:cNvSpPr>
          <p:nvPr>
            <p:ph type="sldNum" sz="quarter" idx="12"/>
          </p:nvPr>
        </p:nvSpPr>
        <p:spPr/>
        <p:txBody>
          <a:bodyPr/>
          <a:lstStyle/>
          <a:p>
            <a:fld id="{DFB9890C-4870-410D-A143-591B2BA0A39B}" type="slidenum">
              <a:rPr lang="en-GB" smtClean="0"/>
              <a:t>‹#›</a:t>
            </a:fld>
            <a:endParaRPr lang="en-GB"/>
          </a:p>
        </p:txBody>
      </p:sp>
    </p:spTree>
    <p:extLst>
      <p:ext uri="{BB962C8B-B14F-4D97-AF65-F5344CB8AC3E}">
        <p14:creationId xmlns:p14="http://schemas.microsoft.com/office/powerpoint/2010/main" val="4028972730"/>
      </p:ext>
    </p:extLst>
  </p:cSld>
  <p:clrMapOvr>
    <a:masterClrMapping/>
  </p:clrMapOvr>
  <p:extLst mod="1">
    <p:ext uri="{DCECCB84-F9BA-43D5-87BE-67443E8EF086}">
      <p15:sldGuideLst xmlns:p15="http://schemas.microsoft.com/office/powerpoint/2012/main">
        <p15:guide id="1" orient="horz" pos="2160" userDrawn="1">
          <p15:clr>
            <a:srgbClr val="FBAE40"/>
          </p15:clr>
        </p15:guide>
        <p15:guide id="2" pos="3840" userDrawn="1">
          <p15:clr>
            <a:srgbClr val="FBAE40"/>
          </p15:clr>
        </p15:guide>
      </p15:sldGuideLst>
    </p:ext>
  </p:extLst>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432FA82-2BA5-4E38-B83A-773E80096220}"/>
              </a:ext>
            </a:extLst>
          </p:cNvPr>
          <p:cNvSpPr>
            <a:spLocks noGrp="1"/>
          </p:cNvSpPr>
          <p:nvPr>
            <p:ph type="title"/>
          </p:nvPr>
        </p:nvSpPr>
        <p:spPr>
          <a:xfrm>
            <a:off x="831850" y="1709738"/>
            <a:ext cx="10515600" cy="2852737"/>
          </a:xfrm>
        </p:spPr>
        <p:txBody>
          <a:bodyPr anchor="b"/>
          <a:lstStyle>
            <a:lvl1pPr>
              <a:defRPr sz="6000"/>
            </a:lvl1pPr>
          </a:lstStyle>
          <a:p>
            <a:r>
              <a:rPr lang="en-US" dirty="0"/>
              <a:t>Click to edit Master title style</a:t>
            </a:r>
            <a:endParaRPr lang="en-GB" dirty="0"/>
          </a:p>
        </p:txBody>
      </p:sp>
      <p:sp>
        <p:nvSpPr>
          <p:cNvPr id="3" name="Text Placeholder 2">
            <a:extLst>
              <a:ext uri="{FF2B5EF4-FFF2-40B4-BE49-F238E27FC236}">
                <a16:creationId xmlns:a16="http://schemas.microsoft.com/office/drawing/2014/main" id="{EC8DA602-023E-4AF2-8A02-5ED3BE4E1C63}"/>
              </a:ext>
            </a:extLst>
          </p:cNvPr>
          <p:cNvSpPr>
            <a:spLocks noGrp="1"/>
          </p:cNvSpPr>
          <p:nvPr>
            <p:ph type="body" idx="1"/>
          </p:nvPr>
        </p:nvSpPr>
        <p:spPr>
          <a:xfrm>
            <a:off x="831850" y="4589463"/>
            <a:ext cx="10515600" cy="1500187"/>
          </a:xfrm>
        </p:spPr>
        <p:txBody>
          <a:bodyPr>
            <a:normAutofit/>
          </a:bodyPr>
          <a:lstStyle>
            <a:lvl1pPr marL="0" indent="0">
              <a:buNone/>
              <a:defRPr sz="32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dirty="0"/>
              <a:t>Click to edit Master text styles</a:t>
            </a:r>
          </a:p>
        </p:txBody>
      </p:sp>
      <p:sp>
        <p:nvSpPr>
          <p:cNvPr id="4" name="Date Placeholder 3">
            <a:extLst>
              <a:ext uri="{FF2B5EF4-FFF2-40B4-BE49-F238E27FC236}">
                <a16:creationId xmlns:a16="http://schemas.microsoft.com/office/drawing/2014/main" id="{1A97AF83-9AAB-4395-A1CD-8B1810E80A15}"/>
              </a:ext>
            </a:extLst>
          </p:cNvPr>
          <p:cNvSpPr>
            <a:spLocks noGrp="1"/>
          </p:cNvSpPr>
          <p:nvPr>
            <p:ph type="dt" sz="half" idx="10"/>
          </p:nvPr>
        </p:nvSpPr>
        <p:spPr/>
        <p:txBody>
          <a:bodyPr/>
          <a:lstStyle/>
          <a:p>
            <a:fld id="{CBBB66F6-7471-47DA-8EED-C7BCCA53B015}" type="datetimeFigureOut">
              <a:rPr lang="en-GB" smtClean="0"/>
              <a:t>15/01/2026</a:t>
            </a:fld>
            <a:endParaRPr lang="en-GB"/>
          </a:p>
        </p:txBody>
      </p:sp>
      <p:sp>
        <p:nvSpPr>
          <p:cNvPr id="5" name="Footer Placeholder 4">
            <a:extLst>
              <a:ext uri="{FF2B5EF4-FFF2-40B4-BE49-F238E27FC236}">
                <a16:creationId xmlns:a16="http://schemas.microsoft.com/office/drawing/2014/main" id="{929F4F5F-ED11-4FF4-8082-EF13CCF8D9A5}"/>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2F17B83B-7338-4290-BCDC-071F1F558BEE}"/>
              </a:ext>
            </a:extLst>
          </p:cNvPr>
          <p:cNvSpPr>
            <a:spLocks noGrp="1"/>
          </p:cNvSpPr>
          <p:nvPr>
            <p:ph type="sldNum" sz="quarter" idx="12"/>
          </p:nvPr>
        </p:nvSpPr>
        <p:spPr/>
        <p:txBody>
          <a:bodyPr/>
          <a:lstStyle/>
          <a:p>
            <a:fld id="{DFB9890C-4870-410D-A143-591B2BA0A39B}" type="slidenum">
              <a:rPr lang="en-GB" smtClean="0"/>
              <a:t>‹#›</a:t>
            </a:fld>
            <a:endParaRPr lang="en-GB"/>
          </a:p>
        </p:txBody>
      </p:sp>
    </p:spTree>
    <p:extLst>
      <p:ext uri="{BB962C8B-B14F-4D97-AF65-F5344CB8AC3E}">
        <p14:creationId xmlns:p14="http://schemas.microsoft.com/office/powerpoint/2010/main" val="3274567511"/>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80238D4-5905-4C6E-BCBB-B94073114190}"/>
              </a:ext>
            </a:extLst>
          </p:cNvPr>
          <p:cNvSpPr>
            <a:spLocks noGrp="1"/>
          </p:cNvSpPr>
          <p:nvPr>
            <p:ph type="title"/>
          </p:nvPr>
        </p:nvSpPr>
        <p:spPr/>
        <p:txBody>
          <a:bodyPr/>
          <a:lstStyle/>
          <a:p>
            <a:r>
              <a:rPr lang="en-US"/>
              <a:t>Click to edit Master title style</a:t>
            </a:r>
            <a:endParaRPr lang="en-GB"/>
          </a:p>
        </p:txBody>
      </p:sp>
      <p:sp>
        <p:nvSpPr>
          <p:cNvPr id="3" name="Content Placeholder 2">
            <a:extLst>
              <a:ext uri="{FF2B5EF4-FFF2-40B4-BE49-F238E27FC236}">
                <a16:creationId xmlns:a16="http://schemas.microsoft.com/office/drawing/2014/main" id="{CD6C15E6-8B9A-4199-90FC-6E930327004D}"/>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Content Placeholder 3">
            <a:extLst>
              <a:ext uri="{FF2B5EF4-FFF2-40B4-BE49-F238E27FC236}">
                <a16:creationId xmlns:a16="http://schemas.microsoft.com/office/drawing/2014/main" id="{9CE19C19-84FB-4E02-8D3E-A145EF70F644}"/>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5" name="Date Placeholder 4">
            <a:extLst>
              <a:ext uri="{FF2B5EF4-FFF2-40B4-BE49-F238E27FC236}">
                <a16:creationId xmlns:a16="http://schemas.microsoft.com/office/drawing/2014/main" id="{010729DE-CB61-4172-B1A0-5F570A694499}"/>
              </a:ext>
            </a:extLst>
          </p:cNvPr>
          <p:cNvSpPr>
            <a:spLocks noGrp="1"/>
          </p:cNvSpPr>
          <p:nvPr>
            <p:ph type="dt" sz="half" idx="10"/>
          </p:nvPr>
        </p:nvSpPr>
        <p:spPr/>
        <p:txBody>
          <a:bodyPr/>
          <a:lstStyle/>
          <a:p>
            <a:fld id="{CBBB66F6-7471-47DA-8EED-C7BCCA53B015}" type="datetimeFigureOut">
              <a:rPr lang="en-GB" smtClean="0"/>
              <a:t>15/01/2026</a:t>
            </a:fld>
            <a:endParaRPr lang="en-GB"/>
          </a:p>
        </p:txBody>
      </p:sp>
      <p:sp>
        <p:nvSpPr>
          <p:cNvPr id="6" name="Footer Placeholder 5">
            <a:extLst>
              <a:ext uri="{FF2B5EF4-FFF2-40B4-BE49-F238E27FC236}">
                <a16:creationId xmlns:a16="http://schemas.microsoft.com/office/drawing/2014/main" id="{8FE18137-140C-4C10-9A2D-A8BEA88DADC4}"/>
              </a:ext>
            </a:extLst>
          </p:cNvPr>
          <p:cNvSpPr>
            <a:spLocks noGrp="1"/>
          </p:cNvSpPr>
          <p:nvPr>
            <p:ph type="ftr" sz="quarter" idx="11"/>
          </p:nvPr>
        </p:nvSpPr>
        <p:spPr/>
        <p:txBody>
          <a:bodyPr/>
          <a:lstStyle/>
          <a:p>
            <a:endParaRPr lang="en-GB"/>
          </a:p>
        </p:txBody>
      </p:sp>
      <p:sp>
        <p:nvSpPr>
          <p:cNvPr id="7" name="Slide Number Placeholder 6">
            <a:extLst>
              <a:ext uri="{FF2B5EF4-FFF2-40B4-BE49-F238E27FC236}">
                <a16:creationId xmlns:a16="http://schemas.microsoft.com/office/drawing/2014/main" id="{E7788274-F0A0-4D87-9901-05DB5CB1C875}"/>
              </a:ext>
            </a:extLst>
          </p:cNvPr>
          <p:cNvSpPr>
            <a:spLocks noGrp="1"/>
          </p:cNvSpPr>
          <p:nvPr>
            <p:ph type="sldNum" sz="quarter" idx="12"/>
          </p:nvPr>
        </p:nvSpPr>
        <p:spPr/>
        <p:txBody>
          <a:bodyPr/>
          <a:lstStyle/>
          <a:p>
            <a:fld id="{DFB9890C-4870-410D-A143-591B2BA0A39B}" type="slidenum">
              <a:rPr lang="en-GB" smtClean="0"/>
              <a:t>‹#›</a:t>
            </a:fld>
            <a:endParaRPr lang="en-GB"/>
          </a:p>
        </p:txBody>
      </p:sp>
    </p:spTree>
    <p:extLst>
      <p:ext uri="{BB962C8B-B14F-4D97-AF65-F5344CB8AC3E}">
        <p14:creationId xmlns:p14="http://schemas.microsoft.com/office/powerpoint/2010/main" val="33274920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9880B87-D3F8-4BAA-8DE3-3836317BC442}"/>
              </a:ext>
            </a:extLst>
          </p:cNvPr>
          <p:cNvSpPr>
            <a:spLocks noGrp="1"/>
          </p:cNvSpPr>
          <p:nvPr>
            <p:ph type="title"/>
          </p:nvPr>
        </p:nvSpPr>
        <p:spPr>
          <a:xfrm>
            <a:off x="839788" y="365125"/>
            <a:ext cx="10515600" cy="1325563"/>
          </a:xfrm>
        </p:spPr>
        <p:txBody>
          <a:bodyPr/>
          <a:lstStyle/>
          <a:p>
            <a:r>
              <a:rPr lang="en-US"/>
              <a:t>Click to edit Master title style</a:t>
            </a:r>
            <a:endParaRPr lang="en-GB"/>
          </a:p>
        </p:txBody>
      </p:sp>
      <p:sp>
        <p:nvSpPr>
          <p:cNvPr id="3" name="Text Placeholder 2">
            <a:extLst>
              <a:ext uri="{FF2B5EF4-FFF2-40B4-BE49-F238E27FC236}">
                <a16:creationId xmlns:a16="http://schemas.microsoft.com/office/drawing/2014/main" id="{028ADC46-22A7-453D-BB94-D1CA48C5A852}"/>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4C035B5B-116B-4974-BF81-F7294090D1FE}"/>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5" name="Text Placeholder 4">
            <a:extLst>
              <a:ext uri="{FF2B5EF4-FFF2-40B4-BE49-F238E27FC236}">
                <a16:creationId xmlns:a16="http://schemas.microsoft.com/office/drawing/2014/main" id="{6ED89685-D393-44B4-B943-5A951A47259E}"/>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FB529B97-30F9-4234-A140-11E2C1505C27}"/>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7" name="Date Placeholder 6">
            <a:extLst>
              <a:ext uri="{FF2B5EF4-FFF2-40B4-BE49-F238E27FC236}">
                <a16:creationId xmlns:a16="http://schemas.microsoft.com/office/drawing/2014/main" id="{F7FD1C8F-089B-4A81-946C-8404750F99B0}"/>
              </a:ext>
            </a:extLst>
          </p:cNvPr>
          <p:cNvSpPr>
            <a:spLocks noGrp="1"/>
          </p:cNvSpPr>
          <p:nvPr>
            <p:ph type="dt" sz="half" idx="10"/>
          </p:nvPr>
        </p:nvSpPr>
        <p:spPr/>
        <p:txBody>
          <a:bodyPr/>
          <a:lstStyle/>
          <a:p>
            <a:fld id="{CBBB66F6-7471-47DA-8EED-C7BCCA53B015}" type="datetimeFigureOut">
              <a:rPr lang="en-GB" smtClean="0"/>
              <a:t>15/01/2026</a:t>
            </a:fld>
            <a:endParaRPr lang="en-GB"/>
          </a:p>
        </p:txBody>
      </p:sp>
      <p:sp>
        <p:nvSpPr>
          <p:cNvPr id="8" name="Footer Placeholder 7">
            <a:extLst>
              <a:ext uri="{FF2B5EF4-FFF2-40B4-BE49-F238E27FC236}">
                <a16:creationId xmlns:a16="http://schemas.microsoft.com/office/drawing/2014/main" id="{59EE9EF7-FF78-45D1-965B-99664AD00F96}"/>
              </a:ext>
            </a:extLst>
          </p:cNvPr>
          <p:cNvSpPr>
            <a:spLocks noGrp="1"/>
          </p:cNvSpPr>
          <p:nvPr>
            <p:ph type="ftr" sz="quarter" idx="11"/>
          </p:nvPr>
        </p:nvSpPr>
        <p:spPr/>
        <p:txBody>
          <a:bodyPr/>
          <a:lstStyle/>
          <a:p>
            <a:endParaRPr lang="en-GB"/>
          </a:p>
        </p:txBody>
      </p:sp>
      <p:sp>
        <p:nvSpPr>
          <p:cNvPr id="9" name="Slide Number Placeholder 8">
            <a:extLst>
              <a:ext uri="{FF2B5EF4-FFF2-40B4-BE49-F238E27FC236}">
                <a16:creationId xmlns:a16="http://schemas.microsoft.com/office/drawing/2014/main" id="{8441DFC4-4931-4DBE-A0A7-A1E0A15DC20A}"/>
              </a:ext>
            </a:extLst>
          </p:cNvPr>
          <p:cNvSpPr>
            <a:spLocks noGrp="1"/>
          </p:cNvSpPr>
          <p:nvPr>
            <p:ph type="sldNum" sz="quarter" idx="12"/>
          </p:nvPr>
        </p:nvSpPr>
        <p:spPr/>
        <p:txBody>
          <a:bodyPr/>
          <a:lstStyle/>
          <a:p>
            <a:fld id="{DFB9890C-4870-410D-A143-591B2BA0A39B}" type="slidenum">
              <a:rPr lang="en-GB" smtClean="0"/>
              <a:t>‹#›</a:t>
            </a:fld>
            <a:endParaRPr lang="en-GB"/>
          </a:p>
        </p:txBody>
      </p:sp>
    </p:spTree>
    <p:extLst>
      <p:ext uri="{BB962C8B-B14F-4D97-AF65-F5344CB8AC3E}">
        <p14:creationId xmlns:p14="http://schemas.microsoft.com/office/powerpoint/2010/main" val="25806427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0B67CCB-CA9F-4F77-978B-946CBCC20A9C}"/>
              </a:ext>
            </a:extLst>
          </p:cNvPr>
          <p:cNvSpPr>
            <a:spLocks noGrp="1"/>
          </p:cNvSpPr>
          <p:nvPr>
            <p:ph type="title"/>
          </p:nvPr>
        </p:nvSpPr>
        <p:spPr/>
        <p:txBody>
          <a:bodyPr/>
          <a:lstStyle/>
          <a:p>
            <a:r>
              <a:rPr lang="en-US"/>
              <a:t>Click to edit Master title style</a:t>
            </a:r>
            <a:endParaRPr lang="en-GB"/>
          </a:p>
        </p:txBody>
      </p:sp>
      <p:sp>
        <p:nvSpPr>
          <p:cNvPr id="3" name="Date Placeholder 2">
            <a:extLst>
              <a:ext uri="{FF2B5EF4-FFF2-40B4-BE49-F238E27FC236}">
                <a16:creationId xmlns:a16="http://schemas.microsoft.com/office/drawing/2014/main" id="{B692E69A-AA02-4CC0-9FE5-3C50B8F4E60A}"/>
              </a:ext>
            </a:extLst>
          </p:cNvPr>
          <p:cNvSpPr>
            <a:spLocks noGrp="1"/>
          </p:cNvSpPr>
          <p:nvPr>
            <p:ph type="dt" sz="half" idx="10"/>
          </p:nvPr>
        </p:nvSpPr>
        <p:spPr/>
        <p:txBody>
          <a:bodyPr/>
          <a:lstStyle/>
          <a:p>
            <a:fld id="{CBBB66F6-7471-47DA-8EED-C7BCCA53B015}" type="datetimeFigureOut">
              <a:rPr lang="en-GB" smtClean="0"/>
              <a:t>15/01/2026</a:t>
            </a:fld>
            <a:endParaRPr lang="en-GB"/>
          </a:p>
        </p:txBody>
      </p:sp>
      <p:sp>
        <p:nvSpPr>
          <p:cNvPr id="4" name="Footer Placeholder 3">
            <a:extLst>
              <a:ext uri="{FF2B5EF4-FFF2-40B4-BE49-F238E27FC236}">
                <a16:creationId xmlns:a16="http://schemas.microsoft.com/office/drawing/2014/main" id="{964A0F08-87A5-4B96-B446-1337E28A93DF}"/>
              </a:ext>
            </a:extLst>
          </p:cNvPr>
          <p:cNvSpPr>
            <a:spLocks noGrp="1"/>
          </p:cNvSpPr>
          <p:nvPr>
            <p:ph type="ftr" sz="quarter" idx="11"/>
          </p:nvPr>
        </p:nvSpPr>
        <p:spPr/>
        <p:txBody>
          <a:bodyPr/>
          <a:lstStyle/>
          <a:p>
            <a:endParaRPr lang="en-GB"/>
          </a:p>
        </p:txBody>
      </p:sp>
      <p:sp>
        <p:nvSpPr>
          <p:cNvPr id="5" name="Slide Number Placeholder 4">
            <a:extLst>
              <a:ext uri="{FF2B5EF4-FFF2-40B4-BE49-F238E27FC236}">
                <a16:creationId xmlns:a16="http://schemas.microsoft.com/office/drawing/2014/main" id="{049B3645-39BF-4DC7-A6DC-E10EB4E4D358}"/>
              </a:ext>
            </a:extLst>
          </p:cNvPr>
          <p:cNvSpPr>
            <a:spLocks noGrp="1"/>
          </p:cNvSpPr>
          <p:nvPr>
            <p:ph type="sldNum" sz="quarter" idx="12"/>
          </p:nvPr>
        </p:nvSpPr>
        <p:spPr/>
        <p:txBody>
          <a:bodyPr/>
          <a:lstStyle/>
          <a:p>
            <a:fld id="{DFB9890C-4870-410D-A143-591B2BA0A39B}" type="slidenum">
              <a:rPr lang="en-GB" smtClean="0"/>
              <a:t>‹#›</a:t>
            </a:fld>
            <a:endParaRPr lang="en-GB"/>
          </a:p>
        </p:txBody>
      </p:sp>
    </p:spTree>
    <p:extLst>
      <p:ext uri="{BB962C8B-B14F-4D97-AF65-F5344CB8AC3E}">
        <p14:creationId xmlns:p14="http://schemas.microsoft.com/office/powerpoint/2010/main" val="1559463445"/>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9336AF93-0450-4C93-8AED-561C8D0B9C42}"/>
              </a:ext>
            </a:extLst>
          </p:cNvPr>
          <p:cNvSpPr>
            <a:spLocks noGrp="1"/>
          </p:cNvSpPr>
          <p:nvPr>
            <p:ph type="dt" sz="half" idx="10"/>
          </p:nvPr>
        </p:nvSpPr>
        <p:spPr/>
        <p:txBody>
          <a:bodyPr/>
          <a:lstStyle/>
          <a:p>
            <a:fld id="{CBBB66F6-7471-47DA-8EED-C7BCCA53B015}" type="datetimeFigureOut">
              <a:rPr lang="en-GB" smtClean="0"/>
              <a:t>15/01/2026</a:t>
            </a:fld>
            <a:endParaRPr lang="en-GB"/>
          </a:p>
        </p:txBody>
      </p:sp>
      <p:sp>
        <p:nvSpPr>
          <p:cNvPr id="3" name="Footer Placeholder 2">
            <a:extLst>
              <a:ext uri="{FF2B5EF4-FFF2-40B4-BE49-F238E27FC236}">
                <a16:creationId xmlns:a16="http://schemas.microsoft.com/office/drawing/2014/main" id="{D2336096-32F7-4552-856B-0F42E86F0BAD}"/>
              </a:ext>
            </a:extLst>
          </p:cNvPr>
          <p:cNvSpPr>
            <a:spLocks noGrp="1"/>
          </p:cNvSpPr>
          <p:nvPr>
            <p:ph type="ftr" sz="quarter" idx="11"/>
          </p:nvPr>
        </p:nvSpPr>
        <p:spPr/>
        <p:txBody>
          <a:bodyPr/>
          <a:lstStyle/>
          <a:p>
            <a:endParaRPr lang="en-GB"/>
          </a:p>
        </p:txBody>
      </p:sp>
      <p:sp>
        <p:nvSpPr>
          <p:cNvPr id="4" name="Slide Number Placeholder 3">
            <a:extLst>
              <a:ext uri="{FF2B5EF4-FFF2-40B4-BE49-F238E27FC236}">
                <a16:creationId xmlns:a16="http://schemas.microsoft.com/office/drawing/2014/main" id="{08B2CEA9-085F-4023-8477-F0F082AED997}"/>
              </a:ext>
            </a:extLst>
          </p:cNvPr>
          <p:cNvSpPr>
            <a:spLocks noGrp="1"/>
          </p:cNvSpPr>
          <p:nvPr>
            <p:ph type="sldNum" sz="quarter" idx="12"/>
          </p:nvPr>
        </p:nvSpPr>
        <p:spPr/>
        <p:txBody>
          <a:bodyPr/>
          <a:lstStyle/>
          <a:p>
            <a:fld id="{DFB9890C-4870-410D-A143-591B2BA0A39B}" type="slidenum">
              <a:rPr lang="en-GB" smtClean="0"/>
              <a:t>‹#›</a:t>
            </a:fld>
            <a:endParaRPr lang="en-GB"/>
          </a:p>
        </p:txBody>
      </p:sp>
    </p:spTree>
    <p:extLst>
      <p:ext uri="{BB962C8B-B14F-4D97-AF65-F5344CB8AC3E}">
        <p14:creationId xmlns:p14="http://schemas.microsoft.com/office/powerpoint/2010/main" val="2470016719"/>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5FF9064-4077-4B58-8BD0-E8642C9064E3}"/>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GB"/>
          </a:p>
        </p:txBody>
      </p:sp>
      <p:sp>
        <p:nvSpPr>
          <p:cNvPr id="3" name="Content Placeholder 2">
            <a:extLst>
              <a:ext uri="{FF2B5EF4-FFF2-40B4-BE49-F238E27FC236}">
                <a16:creationId xmlns:a16="http://schemas.microsoft.com/office/drawing/2014/main" id="{0C367D8E-F32F-4041-9FDE-C12CBB527806}"/>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Text Placeholder 3">
            <a:extLst>
              <a:ext uri="{FF2B5EF4-FFF2-40B4-BE49-F238E27FC236}">
                <a16:creationId xmlns:a16="http://schemas.microsoft.com/office/drawing/2014/main" id="{1761CF05-D7DF-470D-8951-656268BBBA89}"/>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EDEF19F6-CB71-4073-820E-814F731641A1}"/>
              </a:ext>
            </a:extLst>
          </p:cNvPr>
          <p:cNvSpPr>
            <a:spLocks noGrp="1"/>
          </p:cNvSpPr>
          <p:nvPr>
            <p:ph type="dt" sz="half" idx="10"/>
          </p:nvPr>
        </p:nvSpPr>
        <p:spPr/>
        <p:txBody>
          <a:bodyPr/>
          <a:lstStyle/>
          <a:p>
            <a:fld id="{CBBB66F6-7471-47DA-8EED-C7BCCA53B015}" type="datetimeFigureOut">
              <a:rPr lang="en-GB" smtClean="0"/>
              <a:t>15/01/2026</a:t>
            </a:fld>
            <a:endParaRPr lang="en-GB"/>
          </a:p>
        </p:txBody>
      </p:sp>
      <p:sp>
        <p:nvSpPr>
          <p:cNvPr id="6" name="Footer Placeholder 5">
            <a:extLst>
              <a:ext uri="{FF2B5EF4-FFF2-40B4-BE49-F238E27FC236}">
                <a16:creationId xmlns:a16="http://schemas.microsoft.com/office/drawing/2014/main" id="{7389668D-5D63-440F-B937-227682F00CB4}"/>
              </a:ext>
            </a:extLst>
          </p:cNvPr>
          <p:cNvSpPr>
            <a:spLocks noGrp="1"/>
          </p:cNvSpPr>
          <p:nvPr>
            <p:ph type="ftr" sz="quarter" idx="11"/>
          </p:nvPr>
        </p:nvSpPr>
        <p:spPr/>
        <p:txBody>
          <a:bodyPr/>
          <a:lstStyle/>
          <a:p>
            <a:endParaRPr lang="en-GB"/>
          </a:p>
        </p:txBody>
      </p:sp>
      <p:sp>
        <p:nvSpPr>
          <p:cNvPr id="7" name="Slide Number Placeholder 6">
            <a:extLst>
              <a:ext uri="{FF2B5EF4-FFF2-40B4-BE49-F238E27FC236}">
                <a16:creationId xmlns:a16="http://schemas.microsoft.com/office/drawing/2014/main" id="{874DC044-699A-457B-A741-69E8543CEE3E}"/>
              </a:ext>
            </a:extLst>
          </p:cNvPr>
          <p:cNvSpPr>
            <a:spLocks noGrp="1"/>
          </p:cNvSpPr>
          <p:nvPr>
            <p:ph type="sldNum" sz="quarter" idx="12"/>
          </p:nvPr>
        </p:nvSpPr>
        <p:spPr/>
        <p:txBody>
          <a:bodyPr/>
          <a:lstStyle/>
          <a:p>
            <a:fld id="{DFB9890C-4870-410D-A143-591B2BA0A39B}" type="slidenum">
              <a:rPr lang="en-GB" smtClean="0"/>
              <a:t>‹#›</a:t>
            </a:fld>
            <a:endParaRPr lang="en-GB"/>
          </a:p>
        </p:txBody>
      </p:sp>
    </p:spTree>
    <p:extLst>
      <p:ext uri="{BB962C8B-B14F-4D97-AF65-F5344CB8AC3E}">
        <p14:creationId xmlns:p14="http://schemas.microsoft.com/office/powerpoint/2010/main" val="40363619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478CDCB-7EE6-4D7B-9EC9-99982982369D}"/>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GB"/>
          </a:p>
        </p:txBody>
      </p:sp>
      <p:sp>
        <p:nvSpPr>
          <p:cNvPr id="3" name="Picture Placeholder 2">
            <a:extLst>
              <a:ext uri="{FF2B5EF4-FFF2-40B4-BE49-F238E27FC236}">
                <a16:creationId xmlns:a16="http://schemas.microsoft.com/office/drawing/2014/main" id="{9B8A68D7-4A60-4176-AEF9-C7224992D673}"/>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GB"/>
          </a:p>
        </p:txBody>
      </p:sp>
      <p:sp>
        <p:nvSpPr>
          <p:cNvPr id="4" name="Text Placeholder 3">
            <a:extLst>
              <a:ext uri="{FF2B5EF4-FFF2-40B4-BE49-F238E27FC236}">
                <a16:creationId xmlns:a16="http://schemas.microsoft.com/office/drawing/2014/main" id="{9CDADDFE-E588-428C-9ACE-BF6D4DC2BABB}"/>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CC8DAD98-EFA3-40FD-B220-0CEFA3B04D0A}"/>
              </a:ext>
            </a:extLst>
          </p:cNvPr>
          <p:cNvSpPr>
            <a:spLocks noGrp="1"/>
          </p:cNvSpPr>
          <p:nvPr>
            <p:ph type="dt" sz="half" idx="10"/>
          </p:nvPr>
        </p:nvSpPr>
        <p:spPr/>
        <p:txBody>
          <a:bodyPr/>
          <a:lstStyle/>
          <a:p>
            <a:fld id="{CBBB66F6-7471-47DA-8EED-C7BCCA53B015}" type="datetimeFigureOut">
              <a:rPr lang="en-GB" smtClean="0"/>
              <a:t>15/01/2026</a:t>
            </a:fld>
            <a:endParaRPr lang="en-GB"/>
          </a:p>
        </p:txBody>
      </p:sp>
      <p:sp>
        <p:nvSpPr>
          <p:cNvPr id="6" name="Footer Placeholder 5">
            <a:extLst>
              <a:ext uri="{FF2B5EF4-FFF2-40B4-BE49-F238E27FC236}">
                <a16:creationId xmlns:a16="http://schemas.microsoft.com/office/drawing/2014/main" id="{533492CB-8784-44CD-8BE4-F038F0DA8E31}"/>
              </a:ext>
            </a:extLst>
          </p:cNvPr>
          <p:cNvSpPr>
            <a:spLocks noGrp="1"/>
          </p:cNvSpPr>
          <p:nvPr>
            <p:ph type="ftr" sz="quarter" idx="11"/>
          </p:nvPr>
        </p:nvSpPr>
        <p:spPr/>
        <p:txBody>
          <a:bodyPr/>
          <a:lstStyle/>
          <a:p>
            <a:endParaRPr lang="en-GB"/>
          </a:p>
        </p:txBody>
      </p:sp>
      <p:sp>
        <p:nvSpPr>
          <p:cNvPr id="7" name="Slide Number Placeholder 6">
            <a:extLst>
              <a:ext uri="{FF2B5EF4-FFF2-40B4-BE49-F238E27FC236}">
                <a16:creationId xmlns:a16="http://schemas.microsoft.com/office/drawing/2014/main" id="{5A6B88F3-B6B9-4DE8-80B4-B31DCC6FF152}"/>
              </a:ext>
            </a:extLst>
          </p:cNvPr>
          <p:cNvSpPr>
            <a:spLocks noGrp="1"/>
          </p:cNvSpPr>
          <p:nvPr>
            <p:ph type="sldNum" sz="quarter" idx="12"/>
          </p:nvPr>
        </p:nvSpPr>
        <p:spPr/>
        <p:txBody>
          <a:bodyPr/>
          <a:lstStyle/>
          <a:p>
            <a:fld id="{DFB9890C-4870-410D-A143-591B2BA0A39B}" type="slidenum">
              <a:rPr lang="en-GB" smtClean="0"/>
              <a:t>‹#›</a:t>
            </a:fld>
            <a:endParaRPr lang="en-GB"/>
          </a:p>
        </p:txBody>
      </p:sp>
    </p:spTree>
    <p:extLst>
      <p:ext uri="{BB962C8B-B14F-4D97-AF65-F5344CB8AC3E}">
        <p14:creationId xmlns:p14="http://schemas.microsoft.com/office/powerpoint/2010/main" val="2626704474"/>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DFB7571-E3AA-47DA-8A99-A8577E9EAE41}"/>
              </a:ext>
            </a:extLst>
          </p:cNvPr>
          <p:cNvSpPr>
            <a:spLocks noGrp="1"/>
          </p:cNvSpPr>
          <p:nvPr>
            <p:ph type="title"/>
          </p:nvPr>
        </p:nvSpPr>
        <p:spPr/>
        <p:txBody>
          <a:bodyPr/>
          <a:lstStyle/>
          <a:p>
            <a:r>
              <a:rPr lang="en-US"/>
              <a:t>Click to edit Master title style</a:t>
            </a:r>
            <a:endParaRPr lang="en-GB"/>
          </a:p>
        </p:txBody>
      </p:sp>
      <p:sp>
        <p:nvSpPr>
          <p:cNvPr id="3" name="Vertical Text Placeholder 2">
            <a:extLst>
              <a:ext uri="{FF2B5EF4-FFF2-40B4-BE49-F238E27FC236}">
                <a16:creationId xmlns:a16="http://schemas.microsoft.com/office/drawing/2014/main" id="{3556407A-F3C5-4467-999F-12834F3D5EA0}"/>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7DBC1D0D-C52B-4D14-AEAB-FF6484676A94}"/>
              </a:ext>
            </a:extLst>
          </p:cNvPr>
          <p:cNvSpPr>
            <a:spLocks noGrp="1"/>
          </p:cNvSpPr>
          <p:nvPr>
            <p:ph type="dt" sz="half" idx="10"/>
          </p:nvPr>
        </p:nvSpPr>
        <p:spPr/>
        <p:txBody>
          <a:bodyPr/>
          <a:lstStyle/>
          <a:p>
            <a:fld id="{CBBB66F6-7471-47DA-8EED-C7BCCA53B015}" type="datetimeFigureOut">
              <a:rPr lang="en-GB" smtClean="0"/>
              <a:t>15/01/2026</a:t>
            </a:fld>
            <a:endParaRPr lang="en-GB"/>
          </a:p>
        </p:txBody>
      </p:sp>
      <p:sp>
        <p:nvSpPr>
          <p:cNvPr id="5" name="Footer Placeholder 4">
            <a:extLst>
              <a:ext uri="{FF2B5EF4-FFF2-40B4-BE49-F238E27FC236}">
                <a16:creationId xmlns:a16="http://schemas.microsoft.com/office/drawing/2014/main" id="{34558F66-3EB8-48B5-B410-20C1141D6895}"/>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C9E85733-F1B0-47F6-B3EA-C32A59118EA0}"/>
              </a:ext>
            </a:extLst>
          </p:cNvPr>
          <p:cNvSpPr>
            <a:spLocks noGrp="1"/>
          </p:cNvSpPr>
          <p:nvPr>
            <p:ph type="sldNum" sz="quarter" idx="12"/>
          </p:nvPr>
        </p:nvSpPr>
        <p:spPr/>
        <p:txBody>
          <a:bodyPr/>
          <a:lstStyle/>
          <a:p>
            <a:fld id="{DFB9890C-4870-410D-A143-591B2BA0A39B}" type="slidenum">
              <a:rPr lang="en-GB" smtClean="0"/>
              <a:t>‹#›</a:t>
            </a:fld>
            <a:endParaRPr lang="en-GB"/>
          </a:p>
        </p:txBody>
      </p:sp>
    </p:spTree>
    <p:extLst>
      <p:ext uri="{BB962C8B-B14F-4D97-AF65-F5344CB8AC3E}">
        <p14:creationId xmlns:p14="http://schemas.microsoft.com/office/powerpoint/2010/main" val="2204816340"/>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ECE78E59-2798-47E7-97DF-12EB43D4DBD4}"/>
              </a:ext>
            </a:extLst>
          </p:cNvPr>
          <p:cNvSpPr>
            <a:spLocks noGrp="1"/>
          </p:cNvSpPr>
          <p:nvPr>
            <p:ph type="title" orient="vert"/>
          </p:nvPr>
        </p:nvSpPr>
        <p:spPr>
          <a:xfrm>
            <a:off x="8724900" y="365125"/>
            <a:ext cx="2628900" cy="5811838"/>
          </a:xfrm>
        </p:spPr>
        <p:txBody>
          <a:bodyPr vert="eaVert"/>
          <a:lstStyle/>
          <a:p>
            <a:r>
              <a:rPr lang="en-US"/>
              <a:t>Click to edit Master title style</a:t>
            </a:r>
            <a:endParaRPr lang="en-GB"/>
          </a:p>
        </p:txBody>
      </p:sp>
      <p:sp>
        <p:nvSpPr>
          <p:cNvPr id="3" name="Vertical Text Placeholder 2">
            <a:extLst>
              <a:ext uri="{FF2B5EF4-FFF2-40B4-BE49-F238E27FC236}">
                <a16:creationId xmlns:a16="http://schemas.microsoft.com/office/drawing/2014/main" id="{1823F44B-7DC4-4852-9AAB-98C84D691210}"/>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A42AEF75-C039-4933-808F-7735F4020E9A}"/>
              </a:ext>
            </a:extLst>
          </p:cNvPr>
          <p:cNvSpPr>
            <a:spLocks noGrp="1"/>
          </p:cNvSpPr>
          <p:nvPr>
            <p:ph type="dt" sz="half" idx="10"/>
          </p:nvPr>
        </p:nvSpPr>
        <p:spPr/>
        <p:txBody>
          <a:bodyPr/>
          <a:lstStyle/>
          <a:p>
            <a:fld id="{CBBB66F6-7471-47DA-8EED-C7BCCA53B015}" type="datetimeFigureOut">
              <a:rPr lang="en-GB" smtClean="0"/>
              <a:t>15/01/2026</a:t>
            </a:fld>
            <a:endParaRPr lang="en-GB"/>
          </a:p>
        </p:txBody>
      </p:sp>
      <p:sp>
        <p:nvSpPr>
          <p:cNvPr id="5" name="Footer Placeholder 4">
            <a:extLst>
              <a:ext uri="{FF2B5EF4-FFF2-40B4-BE49-F238E27FC236}">
                <a16:creationId xmlns:a16="http://schemas.microsoft.com/office/drawing/2014/main" id="{047011B2-1EEF-4630-AB8B-1FC4D8E1FBCB}"/>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43B43AA0-545D-40FB-A090-776833BF596A}"/>
              </a:ext>
            </a:extLst>
          </p:cNvPr>
          <p:cNvSpPr>
            <a:spLocks noGrp="1"/>
          </p:cNvSpPr>
          <p:nvPr>
            <p:ph type="sldNum" sz="quarter" idx="12"/>
          </p:nvPr>
        </p:nvSpPr>
        <p:spPr/>
        <p:txBody>
          <a:bodyPr/>
          <a:lstStyle/>
          <a:p>
            <a:fld id="{DFB9890C-4870-410D-A143-591B2BA0A39B}" type="slidenum">
              <a:rPr lang="en-GB" smtClean="0"/>
              <a:t>‹#›</a:t>
            </a:fld>
            <a:endParaRPr lang="en-GB"/>
          </a:p>
        </p:txBody>
      </p:sp>
    </p:spTree>
    <p:extLst>
      <p:ext uri="{BB962C8B-B14F-4D97-AF65-F5344CB8AC3E}">
        <p14:creationId xmlns:p14="http://schemas.microsoft.com/office/powerpoint/2010/main" val="1977995680"/>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accent5">
            <a:lumMod val="40000"/>
            <a:lumOff val="60000"/>
          </a:schemeClr>
        </a:solidFill>
        <a:effectLst/>
      </p:bgPr>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C4934EA5-96D5-44F8-8B2E-EB636C3A9754}"/>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endParaRPr lang="en-GB"/>
          </a:p>
        </p:txBody>
      </p:sp>
      <p:sp>
        <p:nvSpPr>
          <p:cNvPr id="3" name="Text Placeholder 2">
            <a:extLst>
              <a:ext uri="{FF2B5EF4-FFF2-40B4-BE49-F238E27FC236}">
                <a16:creationId xmlns:a16="http://schemas.microsoft.com/office/drawing/2014/main" id="{72096C3A-1C2D-4B6E-9BA6-958361A91953}"/>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endParaRPr lang="en-GB" dirty="0"/>
          </a:p>
        </p:txBody>
      </p:sp>
      <p:sp>
        <p:nvSpPr>
          <p:cNvPr id="4" name="Date Placeholder 3">
            <a:extLst>
              <a:ext uri="{FF2B5EF4-FFF2-40B4-BE49-F238E27FC236}">
                <a16:creationId xmlns:a16="http://schemas.microsoft.com/office/drawing/2014/main" id="{795E72CA-E085-451A-A6D7-D31116C42209}"/>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CBBB66F6-7471-47DA-8EED-C7BCCA53B015}" type="datetimeFigureOut">
              <a:rPr lang="en-GB" smtClean="0"/>
              <a:t>15/01/2026</a:t>
            </a:fld>
            <a:endParaRPr lang="en-GB"/>
          </a:p>
        </p:txBody>
      </p:sp>
      <p:sp>
        <p:nvSpPr>
          <p:cNvPr id="5" name="Footer Placeholder 4">
            <a:extLst>
              <a:ext uri="{FF2B5EF4-FFF2-40B4-BE49-F238E27FC236}">
                <a16:creationId xmlns:a16="http://schemas.microsoft.com/office/drawing/2014/main" id="{903CA142-8F89-49C4-92C2-0106F5541446}"/>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GB"/>
          </a:p>
        </p:txBody>
      </p:sp>
      <p:sp>
        <p:nvSpPr>
          <p:cNvPr id="6" name="Slide Number Placeholder 5">
            <a:extLst>
              <a:ext uri="{FF2B5EF4-FFF2-40B4-BE49-F238E27FC236}">
                <a16:creationId xmlns:a16="http://schemas.microsoft.com/office/drawing/2014/main" id="{9C0D0BA0-3B07-4BE4-ACEC-E0EC87569D8B}"/>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DFB9890C-4870-410D-A143-591B2BA0A39B}" type="slidenum">
              <a:rPr lang="en-GB" smtClean="0"/>
              <a:t>‹#›</a:t>
            </a:fld>
            <a:endParaRPr lang="en-GB"/>
          </a:p>
        </p:txBody>
      </p:sp>
    </p:spTree>
    <p:extLst>
      <p:ext uri="{BB962C8B-B14F-4D97-AF65-F5344CB8AC3E}">
        <p14:creationId xmlns:p14="http://schemas.microsoft.com/office/powerpoint/2010/main" val="3492412801"/>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120000"/>
        </a:lnSpc>
        <a:spcBef>
          <a:spcPts val="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120000"/>
        </a:lnSpc>
        <a:spcBef>
          <a:spcPts val="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120000"/>
        </a:lnSpc>
        <a:spcBef>
          <a:spcPts val="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120000"/>
        </a:lnSpc>
        <a:spcBef>
          <a:spcPts val="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120000"/>
        </a:lnSpc>
        <a:spcBef>
          <a:spcPts val="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2160" userDrawn="1">
          <p15:clr>
            <a:srgbClr val="F26B43"/>
          </p15:clr>
        </p15:guide>
        <p15:guide id="2" pos="3840" userDrawn="1">
          <p15:clr>
            <a:srgbClr val="F26B43"/>
          </p15:clr>
        </p15:guide>
      </p15:sldGuideLst>
    </p:ext>
  </p:extLst>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diagramData" Target="../diagrams/data1.xml"/><Relationship Id="rId7" Type="http://schemas.microsoft.com/office/2007/relationships/diagramDrawing" Target="../diagrams/drawing1.xml"/><Relationship Id="rId2" Type="http://schemas.openxmlformats.org/officeDocument/2006/relationships/notesSlide" Target="../notesSlides/notesSlide2.xml"/><Relationship Id="rId1" Type="http://schemas.openxmlformats.org/officeDocument/2006/relationships/slideLayout" Target="../slideLayouts/slideLayout2.xml"/><Relationship Id="rId6" Type="http://schemas.openxmlformats.org/officeDocument/2006/relationships/diagramColors" Target="../diagrams/colors1.xml"/><Relationship Id="rId5" Type="http://schemas.openxmlformats.org/officeDocument/2006/relationships/diagramQuickStyle" Target="../diagrams/quickStyle1.xml"/><Relationship Id="rId4" Type="http://schemas.openxmlformats.org/officeDocument/2006/relationships/diagramLayout" Target="../diagrams/layout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4.xml"/><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6.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6.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Layout" Target="../slideLayouts/slideLayout6.xml"/><Relationship Id="rId6" Type="http://schemas.openxmlformats.org/officeDocument/2006/relationships/image" Target="../media/image6.png"/><Relationship Id="rId5" Type="http://schemas.openxmlformats.org/officeDocument/2006/relationships/image" Target="../media/image5.png"/><Relationship Id="rId4" Type="http://schemas.openxmlformats.org/officeDocument/2006/relationships/image" Target="../media/image4.png"/></Relationships>
</file>

<file path=ppt/slides/_rels/slide15.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6.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6.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6.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6.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6.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7.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27.xml"/><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28.xml"/><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6.xml"/></Relationships>
</file>

<file path=ppt/slides/_rels/slide42.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6.xml"/></Relationships>
</file>

<file path=ppt/slides/_rels/slide43.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2" Type="http://schemas.openxmlformats.org/officeDocument/2006/relationships/notesSlide" Target="../notesSlides/notesSlide36.xml"/><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2" Type="http://schemas.openxmlformats.org/officeDocument/2006/relationships/notesSlide" Target="../notesSlides/notesSlide37.xml"/><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2" Type="http://schemas.openxmlformats.org/officeDocument/2006/relationships/notesSlide" Target="../notesSlides/notesSlide38.xml"/><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2" Type="http://schemas.openxmlformats.org/officeDocument/2006/relationships/notesSlide" Target="../notesSlides/notesSlide39.xml"/><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2" Type="http://schemas.openxmlformats.org/officeDocument/2006/relationships/notesSlide" Target="../notesSlides/notesSlide40.xml"/><Relationship Id="rId1" Type="http://schemas.openxmlformats.org/officeDocument/2006/relationships/slideLayout" Target="../slideLayouts/slideLayout2.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2" Type="http://schemas.openxmlformats.org/officeDocument/2006/relationships/notesSlide" Target="../notesSlides/notesSlide41.xml"/><Relationship Id="rId1" Type="http://schemas.openxmlformats.org/officeDocument/2006/relationships/slideLayout" Target="../slideLayouts/slideLayout2.xml"/></Relationships>
</file>

<file path=ppt/slides/_rels/slide53.xml.rels><?xml version="1.0" encoding="UTF-8" standalone="yes"?>
<Relationships xmlns="http://schemas.openxmlformats.org/package/2006/relationships"><Relationship Id="rId2" Type="http://schemas.openxmlformats.org/officeDocument/2006/relationships/notesSlide" Target="../notesSlides/notesSlide42.xml"/><Relationship Id="rId1" Type="http://schemas.openxmlformats.org/officeDocument/2006/relationships/slideLayout" Target="../slideLayouts/slideLayout2.xml"/></Relationships>
</file>

<file path=ppt/slides/_rels/slide54.xml.rels><?xml version="1.0" encoding="UTF-8" standalone="yes"?>
<Relationships xmlns="http://schemas.openxmlformats.org/package/2006/relationships"><Relationship Id="rId2" Type="http://schemas.openxmlformats.org/officeDocument/2006/relationships/notesSlide" Target="../notesSlides/notesSlide43.xml"/><Relationship Id="rId1" Type="http://schemas.openxmlformats.org/officeDocument/2006/relationships/slideLayout" Target="../slideLayouts/slideLayout2.xml"/></Relationships>
</file>

<file path=ppt/slides/_rels/slide55.xml.rels><?xml version="1.0" encoding="UTF-8" standalone="yes"?>
<Relationships xmlns="http://schemas.openxmlformats.org/package/2006/relationships"><Relationship Id="rId2" Type="http://schemas.openxmlformats.org/officeDocument/2006/relationships/notesSlide" Target="../notesSlides/notesSlide44.xml"/><Relationship Id="rId1" Type="http://schemas.openxmlformats.org/officeDocument/2006/relationships/slideLayout" Target="../slideLayouts/slideLayout2.xml"/></Relationships>
</file>

<file path=ppt/slides/_rels/slide56.xml.rels><?xml version="1.0" encoding="UTF-8" standalone="yes"?>
<Relationships xmlns="http://schemas.openxmlformats.org/package/2006/relationships"><Relationship Id="rId2" Type="http://schemas.openxmlformats.org/officeDocument/2006/relationships/notesSlide" Target="../notesSlides/notesSlide45.xml"/><Relationship Id="rId1" Type="http://schemas.openxmlformats.org/officeDocument/2006/relationships/slideLayout" Target="../slideLayouts/slideLayout6.xml"/></Relationships>
</file>

<file path=ppt/slides/_rels/slide57.xml.rels><?xml version="1.0" encoding="UTF-8" standalone="yes"?>
<Relationships xmlns="http://schemas.openxmlformats.org/package/2006/relationships"><Relationship Id="rId2" Type="http://schemas.openxmlformats.org/officeDocument/2006/relationships/notesSlide" Target="../notesSlides/notesSlide46.xml"/><Relationship Id="rId1" Type="http://schemas.openxmlformats.org/officeDocument/2006/relationships/slideLayout" Target="../slideLayouts/slideLayout6.xml"/></Relationships>
</file>

<file path=ppt/slides/_rels/slide58.xml.rels><?xml version="1.0" encoding="UTF-8" standalone="yes"?>
<Relationships xmlns="http://schemas.openxmlformats.org/package/2006/relationships"><Relationship Id="rId2" Type="http://schemas.openxmlformats.org/officeDocument/2006/relationships/notesSlide" Target="../notesSlides/notesSlide47.xml"/><Relationship Id="rId1" Type="http://schemas.openxmlformats.org/officeDocument/2006/relationships/slideLayout" Target="../slideLayouts/slideLayout2.xml"/></Relationships>
</file>

<file path=ppt/slides/_rels/slide59.xml.rels><?xml version="1.0" encoding="UTF-8" standalone="yes"?>
<Relationships xmlns="http://schemas.openxmlformats.org/package/2006/relationships"><Relationship Id="rId2" Type="http://schemas.openxmlformats.org/officeDocument/2006/relationships/notesSlide" Target="../notesSlides/notesSlide48.xml"/><Relationship Id="rId1" Type="http://schemas.openxmlformats.org/officeDocument/2006/relationships/slideLayout" Target="../slideLayouts/slideLayout2.xml"/></Relationships>
</file>

<file path=ppt/slides/_rels/slide60.xml.rels><?xml version="1.0" encoding="UTF-8" standalone="yes"?>
<Relationships xmlns="http://schemas.openxmlformats.org/package/2006/relationships"><Relationship Id="rId2" Type="http://schemas.openxmlformats.org/officeDocument/2006/relationships/notesSlide" Target="../notesSlides/notesSlide49.xml"/><Relationship Id="rId1" Type="http://schemas.openxmlformats.org/officeDocument/2006/relationships/slideLayout" Target="../slideLayouts/slideLayout2.xml"/></Relationships>
</file>

<file path=ppt/slides/_rels/slide61.xml.rels><?xml version="1.0" encoding="UTF-8" standalone="yes"?>
<Relationships xmlns="http://schemas.openxmlformats.org/package/2006/relationships"><Relationship Id="rId3" Type="http://schemas.openxmlformats.org/officeDocument/2006/relationships/notesSlide" Target="../notesSlides/notesSlide50.xml"/><Relationship Id="rId2" Type="http://schemas.openxmlformats.org/officeDocument/2006/relationships/slideLayout" Target="../slideLayouts/slideLayout2.xml"/><Relationship Id="rId1" Type="http://schemas.openxmlformats.org/officeDocument/2006/relationships/themeOverride" Target="../theme/themeOverride1.xml"/></Relationships>
</file>

<file path=ppt/slides/_rels/slide62.xml.rels><?xml version="1.0" encoding="UTF-8" standalone="yes"?>
<Relationships xmlns="http://schemas.openxmlformats.org/package/2006/relationships"><Relationship Id="rId3" Type="http://schemas.openxmlformats.org/officeDocument/2006/relationships/notesSlide" Target="../notesSlides/notesSlide51.xml"/><Relationship Id="rId2" Type="http://schemas.openxmlformats.org/officeDocument/2006/relationships/slideLayout" Target="../slideLayouts/slideLayout2.xml"/><Relationship Id="rId1" Type="http://schemas.openxmlformats.org/officeDocument/2006/relationships/themeOverride" Target="../theme/themeOverride2.xml"/></Relationships>
</file>

<file path=ppt/slides/_rels/slide63.xml.rels><?xml version="1.0" encoding="UTF-8" standalone="yes"?>
<Relationships xmlns="http://schemas.openxmlformats.org/package/2006/relationships"><Relationship Id="rId3" Type="http://schemas.openxmlformats.org/officeDocument/2006/relationships/notesSlide" Target="../notesSlides/notesSlide52.xml"/><Relationship Id="rId2" Type="http://schemas.openxmlformats.org/officeDocument/2006/relationships/slideLayout" Target="../slideLayouts/slideLayout2.xml"/><Relationship Id="rId1" Type="http://schemas.openxmlformats.org/officeDocument/2006/relationships/themeOverride" Target="../theme/themeOverride3.xml"/></Relationships>
</file>

<file path=ppt/slides/_rels/slide64.xml.rels><?xml version="1.0" encoding="UTF-8" standalone="yes"?>
<Relationships xmlns="http://schemas.openxmlformats.org/package/2006/relationships"><Relationship Id="rId3" Type="http://schemas.openxmlformats.org/officeDocument/2006/relationships/notesSlide" Target="../notesSlides/notesSlide53.xml"/><Relationship Id="rId2" Type="http://schemas.openxmlformats.org/officeDocument/2006/relationships/slideLayout" Target="../slideLayouts/slideLayout2.xml"/><Relationship Id="rId1" Type="http://schemas.openxmlformats.org/officeDocument/2006/relationships/themeOverride" Target="../theme/themeOverride4.xml"/></Relationships>
</file>

<file path=ppt/slides/_rels/slide65.xml.rels><?xml version="1.0" encoding="UTF-8" standalone="yes"?>
<Relationships xmlns="http://schemas.openxmlformats.org/package/2006/relationships"><Relationship Id="rId3" Type="http://schemas.openxmlformats.org/officeDocument/2006/relationships/notesSlide" Target="../notesSlides/notesSlide54.xml"/><Relationship Id="rId2" Type="http://schemas.openxmlformats.org/officeDocument/2006/relationships/slideLayout" Target="../slideLayouts/slideLayout2.xml"/><Relationship Id="rId1" Type="http://schemas.openxmlformats.org/officeDocument/2006/relationships/themeOverride" Target="../theme/themeOverride5.xml"/></Relationships>
</file>

<file path=ppt/slides/_rels/slide66.xml.rels><?xml version="1.0" encoding="UTF-8" standalone="yes"?>
<Relationships xmlns="http://schemas.openxmlformats.org/package/2006/relationships"><Relationship Id="rId3" Type="http://schemas.openxmlformats.org/officeDocument/2006/relationships/notesSlide" Target="../notesSlides/notesSlide55.xml"/><Relationship Id="rId2" Type="http://schemas.openxmlformats.org/officeDocument/2006/relationships/slideLayout" Target="../slideLayouts/slideLayout2.xml"/><Relationship Id="rId1" Type="http://schemas.openxmlformats.org/officeDocument/2006/relationships/themeOverride" Target="../theme/themeOverride6.xml"/></Relationships>
</file>

<file path=ppt/slides/_rels/slide67.xml.rels><?xml version="1.0" encoding="UTF-8" standalone="yes"?>
<Relationships xmlns="http://schemas.openxmlformats.org/package/2006/relationships"><Relationship Id="rId2" Type="http://schemas.openxmlformats.org/officeDocument/2006/relationships/notesSlide" Target="../notesSlides/notesSlide56.xml"/><Relationship Id="rId1" Type="http://schemas.openxmlformats.org/officeDocument/2006/relationships/slideLayout" Target="../slideLayouts/slideLayout6.xml"/></Relationships>
</file>

<file path=ppt/slides/_rels/slide68.xml.rels><?xml version="1.0" encoding="UTF-8" standalone="yes"?>
<Relationships xmlns="http://schemas.openxmlformats.org/package/2006/relationships"><Relationship Id="rId2" Type="http://schemas.openxmlformats.org/officeDocument/2006/relationships/notesSlide" Target="../notesSlides/notesSlide57.xml"/><Relationship Id="rId1" Type="http://schemas.openxmlformats.org/officeDocument/2006/relationships/slideLayout" Target="../slideLayouts/slideLayout6.xml"/></Relationships>
</file>

<file path=ppt/slides/_rels/slide69.xml.rels><?xml version="1.0" encoding="UTF-8" standalone="yes"?>
<Relationships xmlns="http://schemas.openxmlformats.org/package/2006/relationships"><Relationship Id="rId2" Type="http://schemas.openxmlformats.org/officeDocument/2006/relationships/notesSlide" Target="../notesSlides/notesSlide58.xml"/><Relationship Id="rId1" Type="http://schemas.openxmlformats.org/officeDocument/2006/relationships/slideLayout" Target="../slideLayouts/slideLayout2.xml"/></Relationships>
</file>

<file path=ppt/slides/_rels/slide70.xml.rels><?xml version="1.0" encoding="UTF-8" standalone="yes"?>
<Relationships xmlns="http://schemas.openxmlformats.org/package/2006/relationships"><Relationship Id="rId2" Type="http://schemas.openxmlformats.org/officeDocument/2006/relationships/notesSlide" Target="../notesSlides/notesSlide59.xml"/><Relationship Id="rId1" Type="http://schemas.openxmlformats.org/officeDocument/2006/relationships/slideLayout" Target="../slideLayouts/slideLayout2.xml"/></Relationships>
</file>

<file path=ppt/slides/_rels/slide71.xml.rels><?xml version="1.0" encoding="UTF-8" standalone="yes"?>
<Relationships xmlns="http://schemas.openxmlformats.org/package/2006/relationships"><Relationship Id="rId2" Type="http://schemas.openxmlformats.org/officeDocument/2006/relationships/notesSlide" Target="../notesSlides/notesSlide60.xml"/><Relationship Id="rId1" Type="http://schemas.openxmlformats.org/officeDocument/2006/relationships/slideLayout" Target="../slideLayouts/slideLayout2.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73.xml.rels><?xml version="1.0" encoding="UTF-8" standalone="yes"?>
<Relationships xmlns="http://schemas.openxmlformats.org/package/2006/relationships"><Relationship Id="rId2" Type="http://schemas.openxmlformats.org/officeDocument/2006/relationships/notesSlide" Target="../notesSlides/notesSlide61.xml"/><Relationship Id="rId1" Type="http://schemas.openxmlformats.org/officeDocument/2006/relationships/slideLayout" Target="../slideLayouts/slideLayout2.xml"/></Relationships>
</file>

<file path=ppt/slides/_rels/slide74.xml.rels><?xml version="1.0" encoding="UTF-8" standalone="yes"?>
<Relationships xmlns="http://schemas.openxmlformats.org/package/2006/relationships"><Relationship Id="rId2" Type="http://schemas.openxmlformats.org/officeDocument/2006/relationships/notesSlide" Target="../notesSlides/notesSlide62.xml"/><Relationship Id="rId1" Type="http://schemas.openxmlformats.org/officeDocument/2006/relationships/slideLayout" Target="../slideLayouts/slideLayout2.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6.xml.rels><?xml version="1.0" encoding="UTF-8" standalone="yes"?>
<Relationships xmlns="http://schemas.openxmlformats.org/package/2006/relationships"><Relationship Id="rId2" Type="http://schemas.openxmlformats.org/officeDocument/2006/relationships/notesSlide" Target="../notesSlides/notesSlide63.xml"/><Relationship Id="rId1" Type="http://schemas.openxmlformats.org/officeDocument/2006/relationships/slideLayout" Target="../slideLayouts/slideLayout6.xml"/></Relationships>
</file>

<file path=ppt/slides/_rels/slide77.xml.rels><?xml version="1.0" encoding="UTF-8" standalone="yes"?>
<Relationships xmlns="http://schemas.openxmlformats.org/package/2006/relationships"><Relationship Id="rId2" Type="http://schemas.openxmlformats.org/officeDocument/2006/relationships/notesSlide" Target="../notesSlides/notesSlide64.xml"/><Relationship Id="rId1" Type="http://schemas.openxmlformats.org/officeDocument/2006/relationships/slideLayout" Target="../slideLayouts/slideLayout6.xml"/></Relationships>
</file>

<file path=ppt/slides/_rels/slide78.xml.rels><?xml version="1.0" encoding="UTF-8" standalone="yes"?>
<Relationships xmlns="http://schemas.openxmlformats.org/package/2006/relationships"><Relationship Id="rId2" Type="http://schemas.openxmlformats.org/officeDocument/2006/relationships/notesSlide" Target="../notesSlides/notesSlide65.xml"/><Relationship Id="rId1" Type="http://schemas.openxmlformats.org/officeDocument/2006/relationships/slideLayout" Target="../slideLayouts/slideLayout2.xml"/></Relationships>
</file>

<file path=ppt/slides/_rels/slide79.xml.rels><?xml version="1.0" encoding="UTF-8" standalone="yes"?>
<Relationships xmlns="http://schemas.openxmlformats.org/package/2006/relationships"><Relationship Id="rId2" Type="http://schemas.openxmlformats.org/officeDocument/2006/relationships/notesSlide" Target="../notesSlides/notesSlide66.xml"/><Relationship Id="rId1" Type="http://schemas.openxmlformats.org/officeDocument/2006/relationships/slideLayout" Target="../slideLayouts/slideLayout6.xml"/></Relationships>
</file>

<file path=ppt/slides/_rels/slide80.xml.rels><?xml version="1.0" encoding="UTF-8" standalone="yes"?>
<Relationships xmlns="http://schemas.openxmlformats.org/package/2006/relationships"><Relationship Id="rId2" Type="http://schemas.openxmlformats.org/officeDocument/2006/relationships/notesSlide" Target="../notesSlides/notesSlide67.xml"/><Relationship Id="rId1" Type="http://schemas.openxmlformats.org/officeDocument/2006/relationships/slideLayout" Target="../slideLayouts/slideLayout6.xml"/></Relationships>
</file>

<file path=ppt/slides/_rels/slide81.xml.rels><?xml version="1.0" encoding="UTF-8" standalone="yes"?>
<Relationships xmlns="http://schemas.openxmlformats.org/package/2006/relationships"><Relationship Id="rId2" Type="http://schemas.openxmlformats.org/officeDocument/2006/relationships/notesSlide" Target="../notesSlides/notesSlide68.xml"/><Relationship Id="rId1" Type="http://schemas.openxmlformats.org/officeDocument/2006/relationships/slideLayout" Target="../slideLayouts/slideLayout2.xml"/></Relationships>
</file>

<file path=ppt/slides/_rels/slide82.xml.rels><?xml version="1.0" encoding="UTF-8" standalone="yes"?>
<Relationships xmlns="http://schemas.openxmlformats.org/package/2006/relationships"><Relationship Id="rId2" Type="http://schemas.openxmlformats.org/officeDocument/2006/relationships/notesSlide" Target="../notesSlides/notesSlide69.xml"/><Relationship Id="rId1" Type="http://schemas.openxmlformats.org/officeDocument/2006/relationships/slideLayout" Target="../slideLayouts/slideLayout2.xml"/></Relationships>
</file>

<file path=ppt/slides/_rels/slide83.xml.rels><?xml version="1.0" encoding="UTF-8" standalone="yes"?>
<Relationships xmlns="http://schemas.openxmlformats.org/package/2006/relationships"><Relationship Id="rId2" Type="http://schemas.openxmlformats.org/officeDocument/2006/relationships/notesSlide" Target="../notesSlides/notesSlide70.xml"/><Relationship Id="rId1" Type="http://schemas.openxmlformats.org/officeDocument/2006/relationships/slideLayout" Target="../slideLayouts/slideLayout2.xml"/></Relationships>
</file>

<file path=ppt/slides/_rels/slide84.xml.rels><?xml version="1.0" encoding="UTF-8" standalone="yes"?>
<Relationships xmlns="http://schemas.openxmlformats.org/package/2006/relationships"><Relationship Id="rId2" Type="http://schemas.openxmlformats.org/officeDocument/2006/relationships/notesSlide" Target="../notesSlides/notesSlide71.xml"/><Relationship Id="rId1" Type="http://schemas.openxmlformats.org/officeDocument/2006/relationships/slideLayout" Target="../slideLayouts/slideLayout2.xml"/></Relationships>
</file>

<file path=ppt/slides/_rels/slide85.xml.rels><?xml version="1.0" encoding="UTF-8" standalone="yes"?>
<Relationships xmlns="http://schemas.openxmlformats.org/package/2006/relationships"><Relationship Id="rId2" Type="http://schemas.openxmlformats.org/officeDocument/2006/relationships/notesSlide" Target="../notesSlides/notesSlide72.xml"/><Relationship Id="rId1" Type="http://schemas.openxmlformats.org/officeDocument/2006/relationships/slideLayout" Target="../slideLayouts/slideLayout6.xml"/></Relationships>
</file>

<file path=ppt/slides/_rels/slide86.xml.rels><?xml version="1.0" encoding="UTF-8" standalone="yes"?>
<Relationships xmlns="http://schemas.openxmlformats.org/package/2006/relationships"><Relationship Id="rId2" Type="http://schemas.openxmlformats.org/officeDocument/2006/relationships/notesSlide" Target="../notesSlides/notesSlide73.xml"/><Relationship Id="rId1" Type="http://schemas.openxmlformats.org/officeDocument/2006/relationships/slideLayout" Target="../slideLayouts/slideLayout6.xml"/></Relationships>
</file>

<file path=ppt/slides/_rels/slide87.xml.rels><?xml version="1.0" encoding="UTF-8" standalone="yes"?>
<Relationships xmlns="http://schemas.openxmlformats.org/package/2006/relationships"><Relationship Id="rId2" Type="http://schemas.openxmlformats.org/officeDocument/2006/relationships/notesSlide" Target="../notesSlides/notesSlide74.xml"/><Relationship Id="rId1" Type="http://schemas.openxmlformats.org/officeDocument/2006/relationships/slideLayout" Target="../slideLayouts/slideLayout6.xml"/></Relationships>
</file>

<file path=ppt/slides/_rels/slide88.xml.rels><?xml version="1.0" encoding="UTF-8" standalone="yes"?>
<Relationships xmlns="http://schemas.openxmlformats.org/package/2006/relationships"><Relationship Id="rId2" Type="http://schemas.openxmlformats.org/officeDocument/2006/relationships/notesSlide" Target="../notesSlides/notesSlide75.xml"/><Relationship Id="rId1" Type="http://schemas.openxmlformats.org/officeDocument/2006/relationships/slideLayout" Target="../slideLayouts/slideLayout6.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0.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76.xml"/><Relationship Id="rId1" Type="http://schemas.openxmlformats.org/officeDocument/2006/relationships/slideLayout" Target="../slideLayouts/slideLayout2.xml"/></Relationships>
</file>

<file path=ppt/slides/_rels/slide91.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77.xml"/><Relationship Id="rId1" Type="http://schemas.openxmlformats.org/officeDocument/2006/relationships/slideLayout" Target="../slideLayouts/slideLayout2.xml"/></Relationships>
</file>

<file path=ppt/slides/_rels/slide92.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78.xml"/><Relationship Id="rId1" Type="http://schemas.openxmlformats.org/officeDocument/2006/relationships/slideLayout" Target="../slideLayouts/slideLayout2.xml"/></Relationships>
</file>

<file path=ppt/slides/_rels/slide93.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79.xml"/><Relationship Id="rId1" Type="http://schemas.openxmlformats.org/officeDocument/2006/relationships/slideLayout" Target="../slideLayouts/slideLayout2.xml"/></Relationships>
</file>

<file path=ppt/slides/_rels/slide94.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80.xml"/><Relationship Id="rId1" Type="http://schemas.openxmlformats.org/officeDocument/2006/relationships/slideLayout" Target="../slideLayouts/slideLayout2.xml"/></Relationships>
</file>

<file path=ppt/slides/_rels/slide95.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81.xml"/><Relationship Id="rId1" Type="http://schemas.openxmlformats.org/officeDocument/2006/relationships/slideLayout" Target="../slideLayouts/slideLayout2.xml"/></Relationships>
</file>

<file path=ppt/slides/_rels/slide96.xml.rels><?xml version="1.0" encoding="UTF-8" standalone="yes"?>
<Relationships xmlns="http://schemas.openxmlformats.org/package/2006/relationships"><Relationship Id="rId2" Type="http://schemas.openxmlformats.org/officeDocument/2006/relationships/notesSlide" Target="../notesSlides/notesSlide82.xml"/><Relationship Id="rId1" Type="http://schemas.openxmlformats.org/officeDocument/2006/relationships/slideLayout" Target="../slideLayouts/slideLayout2.xml"/></Relationships>
</file>

<file path=ppt/slides/_rels/slide97.xml.rels><?xml version="1.0" encoding="UTF-8" standalone="yes"?>
<Relationships xmlns="http://schemas.openxmlformats.org/package/2006/relationships"><Relationship Id="rId2" Type="http://schemas.openxmlformats.org/officeDocument/2006/relationships/notesSlide" Target="../notesSlides/notesSlide83.xml"/><Relationship Id="rId1" Type="http://schemas.openxmlformats.org/officeDocument/2006/relationships/slideLayout" Target="../slideLayouts/slideLayout2.xml"/></Relationships>
</file>

<file path=ppt/slides/_rels/slide98.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84.xml"/><Relationship Id="rId1" Type="http://schemas.openxmlformats.org/officeDocument/2006/relationships/slideLayout" Target="../slideLayouts/slideLayout2.xml"/></Relationships>
</file>

<file path=ppt/slides/_rels/slide99.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85.xml"/><Relationship Id="rId1" Type="http://schemas.openxmlformats.org/officeDocument/2006/relationships/slideLayout" Target="../slideLayouts/slideLayout2.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1.xml.rels><?xml version="1.0" encoding="UTF-8" standalone="yes"?>
<Relationships xmlns="http://schemas.openxmlformats.org/package/2006/relationships"><Relationship Id="rId2" Type="http://schemas.openxmlformats.org/officeDocument/2006/relationships/notesSlide" Target="../notesSlides/notesSlide86.xml"/><Relationship Id="rId1" Type="http://schemas.openxmlformats.org/officeDocument/2006/relationships/slideLayout" Target="../slideLayouts/slideLayout2.xml"/></Relationships>
</file>

<file path=ppt/slides/_rels/slide102.xml.rels><?xml version="1.0" encoding="UTF-8" standalone="yes"?>
<Relationships xmlns="http://schemas.openxmlformats.org/package/2006/relationships"><Relationship Id="rId2" Type="http://schemas.openxmlformats.org/officeDocument/2006/relationships/notesSlide" Target="../notesSlides/notesSlide87.xml"/><Relationship Id="rId1" Type="http://schemas.openxmlformats.org/officeDocument/2006/relationships/slideLayout" Target="../slideLayouts/slideLayout2.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05.xml.rels><?xml version="1.0" encoding="UTF-8" standalone="yes"?>
<Relationships xmlns="http://schemas.openxmlformats.org/package/2006/relationships"><Relationship Id="rId2" Type="http://schemas.openxmlformats.org/officeDocument/2006/relationships/notesSlide" Target="../notesSlides/notesSlide88.xml"/><Relationship Id="rId1" Type="http://schemas.openxmlformats.org/officeDocument/2006/relationships/slideLayout" Target="../slideLayouts/slideLayout2.xml"/></Relationships>
</file>

<file path=ppt/slides/_rels/slide106.xml.rels><?xml version="1.0" encoding="UTF-8" standalone="yes"?>
<Relationships xmlns="http://schemas.openxmlformats.org/package/2006/relationships"><Relationship Id="rId2" Type="http://schemas.openxmlformats.org/officeDocument/2006/relationships/notesSlide" Target="../notesSlides/notesSlide89.xml"/><Relationship Id="rId1" Type="http://schemas.openxmlformats.org/officeDocument/2006/relationships/slideLayout" Target="../slideLayouts/slideLayout2.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8.xml.rels><?xml version="1.0" encoding="UTF-8" standalone="yes"?>
<Relationships xmlns="http://schemas.openxmlformats.org/package/2006/relationships"><Relationship Id="rId2" Type="http://schemas.openxmlformats.org/officeDocument/2006/relationships/notesSlide" Target="../notesSlides/notesSlide90.xml"/><Relationship Id="rId1" Type="http://schemas.openxmlformats.org/officeDocument/2006/relationships/slideLayout" Target="../slideLayouts/slideLayout2.xml"/></Relationships>
</file>

<file path=ppt/slides/_rels/slide109.xml.rels><?xml version="1.0" encoding="UTF-8" standalone="yes"?>
<Relationships xmlns="http://schemas.openxmlformats.org/package/2006/relationships"><Relationship Id="rId2" Type="http://schemas.openxmlformats.org/officeDocument/2006/relationships/notesSlide" Target="../notesSlides/notesSlide91.xml"/><Relationship Id="rId1" Type="http://schemas.openxmlformats.org/officeDocument/2006/relationships/slideLayout" Target="../slideLayouts/slideLayout2.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12.xml.rels><?xml version="1.0" encoding="UTF-8" standalone="yes"?>
<Relationships xmlns="http://schemas.openxmlformats.org/package/2006/relationships"><Relationship Id="rId2" Type="http://schemas.openxmlformats.org/officeDocument/2006/relationships/notesSlide" Target="../notesSlides/notesSlide92.xml"/><Relationship Id="rId1" Type="http://schemas.openxmlformats.org/officeDocument/2006/relationships/slideLayout" Target="../slideLayouts/slideLayout6.xml"/></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14.xml.rels><?xml version="1.0" encoding="UTF-8" standalone="yes"?>
<Relationships xmlns="http://schemas.openxmlformats.org/package/2006/relationships"><Relationship Id="rId2" Type="http://schemas.openxmlformats.org/officeDocument/2006/relationships/notesSlide" Target="../notesSlides/notesSlide93.xml"/><Relationship Id="rId1" Type="http://schemas.openxmlformats.org/officeDocument/2006/relationships/slideLayout" Target="../slideLayouts/slideLayout2.xml"/></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18.xml.rels><?xml version="1.0" encoding="UTF-8" standalone="yes"?>
<Relationships xmlns="http://schemas.openxmlformats.org/package/2006/relationships"><Relationship Id="rId2" Type="http://schemas.openxmlformats.org/officeDocument/2006/relationships/notesSlide" Target="../notesSlides/notesSlide94.xml"/><Relationship Id="rId1" Type="http://schemas.openxmlformats.org/officeDocument/2006/relationships/slideLayout" Target="../slideLayouts/slideLayout2.xml"/></Relationships>
</file>

<file path=ppt/slides/_rels/slide119.xml.rels><?xml version="1.0" encoding="UTF-8" standalone="yes"?>
<Relationships xmlns="http://schemas.openxmlformats.org/package/2006/relationships"><Relationship Id="rId2" Type="http://schemas.openxmlformats.org/officeDocument/2006/relationships/notesSlide" Target="../notesSlides/notesSlide95.xml"/><Relationship Id="rId1" Type="http://schemas.openxmlformats.org/officeDocument/2006/relationships/slideLayout" Target="../slideLayouts/slideLayout2.xml"/></Relationships>
</file>

<file path=ppt/slides/_rels/slide120.xml.rels><?xml version="1.0" encoding="UTF-8" standalone="yes"?>
<Relationships xmlns="http://schemas.openxmlformats.org/package/2006/relationships"><Relationship Id="rId2" Type="http://schemas.openxmlformats.org/officeDocument/2006/relationships/notesSlide" Target="../notesSlides/notesSlide96.xml"/><Relationship Id="rId1" Type="http://schemas.openxmlformats.org/officeDocument/2006/relationships/slideLayout" Target="../slideLayouts/slideLayout2.xml"/></Relationships>
</file>

<file path=ppt/slides/_rels/slide121.xml.rels><?xml version="1.0" encoding="UTF-8" standalone="yes"?>
<Relationships xmlns="http://schemas.openxmlformats.org/package/2006/relationships"><Relationship Id="rId2" Type="http://schemas.openxmlformats.org/officeDocument/2006/relationships/notesSlide" Target="../notesSlides/notesSlide97.xml"/><Relationship Id="rId1" Type="http://schemas.openxmlformats.org/officeDocument/2006/relationships/slideLayout" Target="../slideLayouts/slideLayout2.xml"/></Relationships>
</file>

<file path=ppt/slides/_rels/slide122.xml.rels><?xml version="1.0" encoding="UTF-8" standalone="yes"?>
<Relationships xmlns="http://schemas.openxmlformats.org/package/2006/relationships"><Relationship Id="rId2" Type="http://schemas.openxmlformats.org/officeDocument/2006/relationships/notesSlide" Target="../notesSlides/notesSlide98.xml"/><Relationship Id="rId1" Type="http://schemas.openxmlformats.org/officeDocument/2006/relationships/slideLayout" Target="../slideLayouts/slideLayout2.xml"/></Relationships>
</file>

<file path=ppt/slides/_rels/slide123.xml.rels><?xml version="1.0" encoding="UTF-8" standalone="yes"?>
<Relationships xmlns="http://schemas.openxmlformats.org/package/2006/relationships"><Relationship Id="rId2" Type="http://schemas.openxmlformats.org/officeDocument/2006/relationships/notesSlide" Target="../notesSlides/notesSlide99.xml"/><Relationship Id="rId1" Type="http://schemas.openxmlformats.org/officeDocument/2006/relationships/slideLayout" Target="../slideLayouts/slideLayout2.xml"/></Relationships>
</file>

<file path=ppt/slides/_rels/slide124.xml.rels><?xml version="1.0" encoding="UTF-8" standalone="yes"?>
<Relationships xmlns="http://schemas.openxmlformats.org/package/2006/relationships"><Relationship Id="rId2" Type="http://schemas.openxmlformats.org/officeDocument/2006/relationships/notesSlide" Target="../notesSlides/notesSlide100.xml"/><Relationship Id="rId1" Type="http://schemas.openxmlformats.org/officeDocument/2006/relationships/slideLayout" Target="../slideLayouts/slideLayout2.xml"/></Relationships>
</file>

<file path=ppt/slides/_rels/slide125.xml.rels><?xml version="1.0" encoding="UTF-8" standalone="yes"?>
<Relationships xmlns="http://schemas.openxmlformats.org/package/2006/relationships"><Relationship Id="rId2" Type="http://schemas.openxmlformats.org/officeDocument/2006/relationships/notesSlide" Target="../notesSlides/notesSlide101.xml"/><Relationship Id="rId1" Type="http://schemas.openxmlformats.org/officeDocument/2006/relationships/slideLayout" Target="../slideLayouts/slideLayout2.xml"/></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7.xml.rels><?xml version="1.0" encoding="UTF-8" standalone="yes"?>
<Relationships xmlns="http://schemas.openxmlformats.org/package/2006/relationships"><Relationship Id="rId2" Type="http://schemas.openxmlformats.org/officeDocument/2006/relationships/notesSlide" Target="../notesSlides/notesSlide102.xml"/><Relationship Id="rId1" Type="http://schemas.openxmlformats.org/officeDocument/2006/relationships/slideLayout" Target="../slideLayouts/slideLayout2.xml"/></Relationships>
</file>

<file path=ppt/slides/_rels/slide128.xml.rels><?xml version="1.0" encoding="UTF-8" standalone="yes"?>
<Relationships xmlns="http://schemas.openxmlformats.org/package/2006/relationships"><Relationship Id="rId2" Type="http://schemas.openxmlformats.org/officeDocument/2006/relationships/notesSlide" Target="../notesSlides/notesSlide103.xml"/><Relationship Id="rId1" Type="http://schemas.openxmlformats.org/officeDocument/2006/relationships/slideLayout" Target="../slideLayouts/slideLayout2.xml"/></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0.xml.rels><?xml version="1.0" encoding="UTF-8" standalone="yes"?>
<Relationships xmlns="http://schemas.openxmlformats.org/package/2006/relationships"><Relationship Id="rId2" Type="http://schemas.openxmlformats.org/officeDocument/2006/relationships/notesSlide" Target="../notesSlides/notesSlide104.xml"/><Relationship Id="rId1" Type="http://schemas.openxmlformats.org/officeDocument/2006/relationships/slideLayout" Target="../slideLayouts/slideLayout2.xml"/></Relationships>
</file>

<file path=ppt/slides/_rels/slide131.xml.rels><?xml version="1.0" encoding="UTF-8" standalone="yes"?>
<Relationships xmlns="http://schemas.openxmlformats.org/package/2006/relationships"><Relationship Id="rId2" Type="http://schemas.openxmlformats.org/officeDocument/2006/relationships/notesSlide" Target="../notesSlides/notesSlide105.xml"/><Relationship Id="rId1" Type="http://schemas.openxmlformats.org/officeDocument/2006/relationships/slideLayout" Target="../slideLayouts/slideLayout2.xml"/></Relationships>
</file>

<file path=ppt/slides/_rels/slide132.xml.rels><?xml version="1.0" encoding="UTF-8" standalone="yes"?>
<Relationships xmlns="http://schemas.openxmlformats.org/package/2006/relationships"><Relationship Id="rId2" Type="http://schemas.openxmlformats.org/officeDocument/2006/relationships/notesSlide" Target="../notesSlides/notesSlide106.xml"/><Relationship Id="rId1" Type="http://schemas.openxmlformats.org/officeDocument/2006/relationships/slideLayout" Target="../slideLayouts/slideLayout2.xml"/></Relationships>
</file>

<file path=ppt/slides/_rels/slide133.xml.rels><?xml version="1.0" encoding="UTF-8" standalone="yes"?>
<Relationships xmlns="http://schemas.openxmlformats.org/package/2006/relationships"><Relationship Id="rId2" Type="http://schemas.openxmlformats.org/officeDocument/2006/relationships/notesSlide" Target="../notesSlides/notesSlide107.xml"/><Relationship Id="rId1" Type="http://schemas.openxmlformats.org/officeDocument/2006/relationships/slideLayout" Target="../slideLayouts/slideLayout2.xml"/></Relationships>
</file>

<file path=ppt/slides/_rels/slide134.xml.rels><?xml version="1.0" encoding="UTF-8" standalone="yes"?>
<Relationships xmlns="http://schemas.openxmlformats.org/package/2006/relationships"><Relationship Id="rId2" Type="http://schemas.openxmlformats.org/officeDocument/2006/relationships/notesSlide" Target="../notesSlides/notesSlide108.xml"/><Relationship Id="rId1" Type="http://schemas.openxmlformats.org/officeDocument/2006/relationships/slideLayout" Target="../slideLayouts/slideLayout2.xml"/></Relationships>
</file>

<file path=ppt/slides/_rels/slide135.xml.rels><?xml version="1.0" encoding="UTF-8" standalone="yes"?>
<Relationships xmlns="http://schemas.openxmlformats.org/package/2006/relationships"><Relationship Id="rId2" Type="http://schemas.openxmlformats.org/officeDocument/2006/relationships/notesSlide" Target="../notesSlides/notesSlide109.xml"/><Relationship Id="rId1" Type="http://schemas.openxmlformats.org/officeDocument/2006/relationships/slideLayout" Target="../slideLayouts/slideLayout2.xml"/></Relationships>
</file>

<file path=ppt/slides/_rels/slide136.xml.rels><?xml version="1.0" encoding="UTF-8" standalone="yes"?>
<Relationships xmlns="http://schemas.openxmlformats.org/package/2006/relationships"><Relationship Id="rId2" Type="http://schemas.openxmlformats.org/officeDocument/2006/relationships/notesSlide" Target="../notesSlides/notesSlide110.xml"/><Relationship Id="rId1" Type="http://schemas.openxmlformats.org/officeDocument/2006/relationships/slideLayout" Target="../slideLayouts/slideLayout2.xml"/></Relationships>
</file>

<file path=ppt/slides/_rels/slide137.xml.rels><?xml version="1.0" encoding="UTF-8" standalone="yes"?>
<Relationships xmlns="http://schemas.openxmlformats.org/package/2006/relationships"><Relationship Id="rId2" Type="http://schemas.openxmlformats.org/officeDocument/2006/relationships/notesSlide" Target="../notesSlides/notesSlide111.xml"/><Relationship Id="rId1" Type="http://schemas.openxmlformats.org/officeDocument/2006/relationships/slideLayout" Target="../slideLayouts/slideLayout2.xml"/></Relationships>
</file>

<file path=ppt/slides/_rels/slide138.xml.rels><?xml version="1.0" encoding="UTF-8" standalone="yes"?>
<Relationships xmlns="http://schemas.openxmlformats.org/package/2006/relationships"><Relationship Id="rId2" Type="http://schemas.openxmlformats.org/officeDocument/2006/relationships/notesSlide" Target="../notesSlides/notesSlide112.xml"/><Relationship Id="rId1" Type="http://schemas.openxmlformats.org/officeDocument/2006/relationships/slideLayout" Target="../slideLayouts/slideLayout2.xml"/></Relationships>
</file>

<file path=ppt/slides/_rels/slide139.xml.rels><?xml version="1.0" encoding="UTF-8" standalone="yes"?>
<Relationships xmlns="http://schemas.openxmlformats.org/package/2006/relationships"><Relationship Id="rId2" Type="http://schemas.openxmlformats.org/officeDocument/2006/relationships/notesSlide" Target="../notesSlides/notesSlide113.xml"/><Relationship Id="rId1" Type="http://schemas.openxmlformats.org/officeDocument/2006/relationships/slideLayout" Target="../slideLayouts/slideLayout2.xml"/></Relationships>
</file>

<file path=ppt/slides/_rels/slide140.xml.rels><?xml version="1.0" encoding="UTF-8" standalone="yes"?>
<Relationships xmlns="http://schemas.openxmlformats.org/package/2006/relationships"><Relationship Id="rId2" Type="http://schemas.openxmlformats.org/officeDocument/2006/relationships/notesSlide" Target="../notesSlides/notesSlide114.xml"/><Relationship Id="rId1" Type="http://schemas.openxmlformats.org/officeDocument/2006/relationships/slideLayout" Target="../slideLayouts/slideLayout2.xml"/></Relationships>
</file>

<file path=ppt/slides/_rels/slide141.xml.rels><?xml version="1.0" encoding="UTF-8" standalone="yes"?>
<Relationships xmlns="http://schemas.openxmlformats.org/package/2006/relationships"><Relationship Id="rId2" Type="http://schemas.openxmlformats.org/officeDocument/2006/relationships/notesSlide" Target="../notesSlides/notesSlide115.xml"/><Relationship Id="rId1" Type="http://schemas.openxmlformats.org/officeDocument/2006/relationships/slideLayout" Target="../slideLayouts/slideLayout2.xml"/></Relationships>
</file>

<file path=ppt/slides/_rels/slide142.xml.rels><?xml version="1.0" encoding="UTF-8" standalone="yes"?>
<Relationships xmlns="http://schemas.openxmlformats.org/package/2006/relationships"><Relationship Id="rId2" Type="http://schemas.openxmlformats.org/officeDocument/2006/relationships/notesSlide" Target="../notesSlides/notesSlide116.xml"/><Relationship Id="rId1" Type="http://schemas.openxmlformats.org/officeDocument/2006/relationships/slideLayout" Target="../slideLayouts/slideLayout2.xml"/></Relationships>
</file>

<file path=ppt/slides/_rels/slide143.xml.rels><?xml version="1.0" encoding="UTF-8" standalone="yes"?>
<Relationships xmlns="http://schemas.openxmlformats.org/package/2006/relationships"><Relationship Id="rId2" Type="http://schemas.openxmlformats.org/officeDocument/2006/relationships/notesSlide" Target="../notesSlides/notesSlide117.xml"/><Relationship Id="rId1" Type="http://schemas.openxmlformats.org/officeDocument/2006/relationships/slideLayout" Target="../slideLayouts/slideLayout2.xml"/></Relationships>
</file>

<file path=ppt/slides/_rels/slide144.xml.rels><?xml version="1.0" encoding="UTF-8" standalone="yes"?>
<Relationships xmlns="http://schemas.openxmlformats.org/package/2006/relationships"><Relationship Id="rId2" Type="http://schemas.openxmlformats.org/officeDocument/2006/relationships/notesSlide" Target="../notesSlides/notesSlide118.xml"/><Relationship Id="rId1" Type="http://schemas.openxmlformats.org/officeDocument/2006/relationships/slideLayout" Target="../slideLayouts/slideLayout2.xml"/></Relationships>
</file>

<file path=ppt/slides/_rels/slide145.xml.rels><?xml version="1.0" encoding="UTF-8" standalone="yes"?>
<Relationships xmlns="http://schemas.openxmlformats.org/package/2006/relationships"><Relationship Id="rId2" Type="http://schemas.openxmlformats.org/officeDocument/2006/relationships/notesSlide" Target="../notesSlides/notesSlide119.xml"/><Relationship Id="rId1" Type="http://schemas.openxmlformats.org/officeDocument/2006/relationships/slideLayout" Target="../slideLayouts/slideLayout2.xml"/></Relationships>
</file>

<file path=ppt/slides/_rels/slide146.xml.rels><?xml version="1.0" encoding="UTF-8" standalone="yes"?>
<Relationships xmlns="http://schemas.openxmlformats.org/package/2006/relationships"><Relationship Id="rId2" Type="http://schemas.openxmlformats.org/officeDocument/2006/relationships/notesSlide" Target="../notesSlides/notesSlide120.xml"/><Relationship Id="rId1" Type="http://schemas.openxmlformats.org/officeDocument/2006/relationships/slideLayout" Target="../slideLayouts/slideLayout2.xml"/></Relationships>
</file>

<file path=ppt/slides/_rels/slide147.xml.rels><?xml version="1.0" encoding="UTF-8" standalone="yes"?>
<Relationships xmlns="http://schemas.openxmlformats.org/package/2006/relationships"><Relationship Id="rId2" Type="http://schemas.openxmlformats.org/officeDocument/2006/relationships/notesSlide" Target="../notesSlides/notesSlide121.xml"/><Relationship Id="rId1" Type="http://schemas.openxmlformats.org/officeDocument/2006/relationships/slideLayout" Target="../slideLayouts/slideLayout2.xml"/></Relationships>
</file>

<file path=ppt/slides/_rels/slide148.xml.rels><?xml version="1.0" encoding="UTF-8" standalone="yes"?>
<Relationships xmlns="http://schemas.openxmlformats.org/package/2006/relationships"><Relationship Id="rId2" Type="http://schemas.openxmlformats.org/officeDocument/2006/relationships/notesSlide" Target="../notesSlides/notesSlide122.xml"/><Relationship Id="rId1" Type="http://schemas.openxmlformats.org/officeDocument/2006/relationships/slideLayout" Target="../slideLayouts/slideLayout2.xml"/></Relationships>
</file>

<file path=ppt/slides/_rels/slide149.xml.rels><?xml version="1.0" encoding="UTF-8" standalone="yes"?>
<Relationships xmlns="http://schemas.openxmlformats.org/package/2006/relationships"><Relationship Id="rId2" Type="http://schemas.openxmlformats.org/officeDocument/2006/relationships/notesSlide" Target="../notesSlides/notesSlide123.xml"/><Relationship Id="rId1" Type="http://schemas.openxmlformats.org/officeDocument/2006/relationships/slideLayout" Target="../slideLayouts/slideLayout2.xml"/></Relationships>
</file>

<file path=ppt/slides/_rels/slide150.xml.rels><?xml version="1.0" encoding="UTF-8" standalone="yes"?>
<Relationships xmlns="http://schemas.openxmlformats.org/package/2006/relationships"><Relationship Id="rId3" Type="http://schemas.openxmlformats.org/officeDocument/2006/relationships/diagramData" Target="../diagrams/data2.xml"/><Relationship Id="rId7" Type="http://schemas.microsoft.com/office/2007/relationships/diagramDrawing" Target="../diagrams/drawing2.xml"/><Relationship Id="rId2" Type="http://schemas.openxmlformats.org/officeDocument/2006/relationships/notesSlide" Target="../notesSlides/notesSlide124.xml"/><Relationship Id="rId1" Type="http://schemas.openxmlformats.org/officeDocument/2006/relationships/slideLayout" Target="../slideLayouts/slideLayout2.xml"/><Relationship Id="rId6" Type="http://schemas.openxmlformats.org/officeDocument/2006/relationships/diagramColors" Target="../diagrams/colors2.xml"/><Relationship Id="rId5" Type="http://schemas.openxmlformats.org/officeDocument/2006/relationships/diagramQuickStyle" Target="../diagrams/quickStyle2.xml"/><Relationship Id="rId4" Type="http://schemas.openxmlformats.org/officeDocument/2006/relationships/diagramLayout" Target="../diagrams/layout2.xml"/></Relationships>
</file>

<file path=ppt/slides/_rels/slide151.xml.rels><?xml version="1.0" encoding="UTF-8" standalone="yes"?>
<Relationships xmlns="http://schemas.openxmlformats.org/package/2006/relationships"><Relationship Id="rId2" Type="http://schemas.openxmlformats.org/officeDocument/2006/relationships/notesSlide" Target="../notesSlides/notesSlide125.xml"/><Relationship Id="rId1" Type="http://schemas.openxmlformats.org/officeDocument/2006/relationships/slideLayout" Target="../slideLayouts/slideLayout5.xml"/></Relationships>
</file>

<file path=ppt/slides/_rels/slide152.xml.rels><?xml version="1.0" encoding="UTF-8" standalone="yes"?>
<Relationships xmlns="http://schemas.openxmlformats.org/package/2006/relationships"><Relationship Id="rId2" Type="http://schemas.openxmlformats.org/officeDocument/2006/relationships/notesSlide" Target="../notesSlides/notesSlide126.xml"/><Relationship Id="rId1" Type="http://schemas.openxmlformats.org/officeDocument/2006/relationships/slideLayout" Target="../slideLayouts/slideLayout5.xml"/></Relationships>
</file>

<file path=ppt/slides/_rels/slide153.xml.rels><?xml version="1.0" encoding="UTF-8" standalone="yes"?>
<Relationships xmlns="http://schemas.openxmlformats.org/package/2006/relationships"><Relationship Id="rId2" Type="http://schemas.openxmlformats.org/officeDocument/2006/relationships/notesSlide" Target="../notesSlides/notesSlide127.xml"/><Relationship Id="rId1" Type="http://schemas.openxmlformats.org/officeDocument/2006/relationships/slideLayout" Target="../slideLayouts/slideLayout3.xml"/></Relationships>
</file>

<file path=ppt/slides/_rels/slide154.xml.rels><?xml version="1.0" encoding="UTF-8" standalone="yes"?>
<Relationships xmlns="http://schemas.openxmlformats.org/package/2006/relationships"><Relationship Id="rId3" Type="http://schemas.openxmlformats.org/officeDocument/2006/relationships/hyperlink" Target="https://www.youtube.com/embed/gBJXfayW40M?start=0&amp;end=1056" TargetMode="External"/><Relationship Id="rId2" Type="http://schemas.openxmlformats.org/officeDocument/2006/relationships/notesSlide" Target="../notesSlides/notesSlide128.xml"/><Relationship Id="rId1" Type="http://schemas.openxmlformats.org/officeDocument/2006/relationships/slideLayout" Target="../slideLayouts/slideLayout2.xml"/></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1.xml.rels><?xml version="1.0" encoding="UTF-8" standalone="yes"?>
<Relationships xmlns="http://schemas.openxmlformats.org/package/2006/relationships"><Relationship Id="rId2" Type="http://schemas.openxmlformats.org/officeDocument/2006/relationships/notesSlide" Target="../notesSlides/notesSlide129.xml"/><Relationship Id="rId1" Type="http://schemas.openxmlformats.org/officeDocument/2006/relationships/slideLayout" Target="../slideLayouts/slideLayout2.xml"/></Relationships>
</file>

<file path=ppt/slides/_rels/slide162.xml.rels><?xml version="1.0" encoding="UTF-8" standalone="yes"?>
<Relationships xmlns="http://schemas.openxmlformats.org/package/2006/relationships"><Relationship Id="rId2" Type="http://schemas.openxmlformats.org/officeDocument/2006/relationships/notesSlide" Target="../notesSlides/notesSlide130.xml"/><Relationship Id="rId1" Type="http://schemas.openxmlformats.org/officeDocument/2006/relationships/slideLayout" Target="../slideLayouts/slideLayout2.xml"/></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4.xml.rels><?xml version="1.0" encoding="UTF-8" standalone="yes"?>
<Relationships xmlns="http://schemas.openxmlformats.org/package/2006/relationships"><Relationship Id="rId2" Type="http://schemas.openxmlformats.org/officeDocument/2006/relationships/notesSlide" Target="../notesSlides/notesSlide131.xml"/><Relationship Id="rId1" Type="http://schemas.openxmlformats.org/officeDocument/2006/relationships/slideLayout" Target="../slideLayouts/slideLayout5.xml"/></Relationships>
</file>

<file path=ppt/slides/_rels/slide165.xml.rels><?xml version="1.0" encoding="UTF-8" standalone="yes"?>
<Relationships xmlns="http://schemas.openxmlformats.org/package/2006/relationships"><Relationship Id="rId2" Type="http://schemas.openxmlformats.org/officeDocument/2006/relationships/notesSlide" Target="../notesSlides/notesSlide132.xml"/><Relationship Id="rId1" Type="http://schemas.openxmlformats.org/officeDocument/2006/relationships/slideLayout" Target="../slideLayouts/slideLayout5.xml"/></Relationships>
</file>

<file path=ppt/slides/_rels/slide166.xml.rels><?xml version="1.0" encoding="UTF-8" standalone="yes"?>
<Relationships xmlns="http://schemas.openxmlformats.org/package/2006/relationships"><Relationship Id="rId2" Type="http://schemas.openxmlformats.org/officeDocument/2006/relationships/notesSlide" Target="../notesSlides/notesSlide133.xml"/><Relationship Id="rId1" Type="http://schemas.openxmlformats.org/officeDocument/2006/relationships/slideLayout" Target="../slideLayouts/slideLayout6.xml"/></Relationships>
</file>

<file path=ppt/slides/_rels/slide167.xml.rels><?xml version="1.0" encoding="UTF-8" standalone="yes"?>
<Relationships xmlns="http://schemas.openxmlformats.org/package/2006/relationships"><Relationship Id="rId2" Type="http://schemas.openxmlformats.org/officeDocument/2006/relationships/notesSlide" Target="../notesSlides/notesSlide134.xml"/><Relationship Id="rId1" Type="http://schemas.openxmlformats.org/officeDocument/2006/relationships/slideLayout" Target="../slideLayouts/slideLayout6.xml"/></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1.xml.rels><?xml version="1.0" encoding="UTF-8" standalone="yes"?>
<Relationships xmlns="http://schemas.openxmlformats.org/package/2006/relationships"><Relationship Id="rId2" Type="http://schemas.openxmlformats.org/officeDocument/2006/relationships/notesSlide" Target="../notesSlides/notesSlide135.xml"/><Relationship Id="rId1" Type="http://schemas.openxmlformats.org/officeDocument/2006/relationships/slideLayout" Target="../slideLayouts/slideLayout6.xml"/></Relationships>
</file>

<file path=ppt/slides/_rels/slide172.xml.rels><?xml version="1.0" encoding="UTF-8" standalone="yes"?>
<Relationships xmlns="http://schemas.openxmlformats.org/package/2006/relationships"><Relationship Id="rId2" Type="http://schemas.openxmlformats.org/officeDocument/2006/relationships/notesSlide" Target="../notesSlides/notesSlide136.xml"/><Relationship Id="rId1" Type="http://schemas.openxmlformats.org/officeDocument/2006/relationships/slideLayout" Target="../slideLayouts/slideLayout6.xml"/></Relationships>
</file>

<file path=ppt/slides/_rels/slide173.xml.rels><?xml version="1.0" encoding="UTF-8" standalone="yes"?>
<Relationships xmlns="http://schemas.openxmlformats.org/package/2006/relationships"><Relationship Id="rId2" Type="http://schemas.openxmlformats.org/officeDocument/2006/relationships/notesSlide" Target="../notesSlides/notesSlide137.xml"/><Relationship Id="rId1" Type="http://schemas.openxmlformats.org/officeDocument/2006/relationships/slideLayout" Target="../slideLayouts/slideLayout6.xml"/></Relationships>
</file>

<file path=ppt/slides/_rels/slide174.xml.rels><?xml version="1.0" encoding="UTF-8" standalone="yes"?>
<Relationships xmlns="http://schemas.openxmlformats.org/package/2006/relationships"><Relationship Id="rId2" Type="http://schemas.openxmlformats.org/officeDocument/2006/relationships/notesSlide" Target="../notesSlides/notesSlide138.xml"/><Relationship Id="rId1" Type="http://schemas.openxmlformats.org/officeDocument/2006/relationships/slideLayout" Target="../slideLayouts/slideLayout6.xml"/></Relationships>
</file>

<file path=ppt/slides/_rels/slide175.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139.xml"/><Relationship Id="rId1" Type="http://schemas.openxmlformats.org/officeDocument/2006/relationships/slideLayout" Target="../slideLayouts/slideLayout6.xml"/></Relationships>
</file>

<file path=ppt/slides/_rels/slide176.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140.xml"/><Relationship Id="rId1" Type="http://schemas.openxmlformats.org/officeDocument/2006/relationships/slideLayout" Target="../slideLayouts/slideLayout6.xml"/></Relationships>
</file>

<file path=ppt/slides/_rels/slide177.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141.xml"/><Relationship Id="rId1" Type="http://schemas.openxmlformats.org/officeDocument/2006/relationships/slideLayout" Target="../slideLayouts/slideLayout6.xml"/></Relationships>
</file>

<file path=ppt/slides/_rels/slide178.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142.xml"/><Relationship Id="rId1" Type="http://schemas.openxmlformats.org/officeDocument/2006/relationships/slideLayout" Target="../slideLayouts/slideLayout6.xml"/></Relationships>
</file>

<file path=ppt/slides/_rels/slide179.xml.rels><?xml version="1.0" encoding="UTF-8" standalone="yes"?>
<Relationships xmlns="http://schemas.openxmlformats.org/package/2006/relationships"><Relationship Id="rId2" Type="http://schemas.openxmlformats.org/officeDocument/2006/relationships/notesSlide" Target="../notesSlides/notesSlide143.xml"/><Relationship Id="rId1" Type="http://schemas.openxmlformats.org/officeDocument/2006/relationships/slideLayout" Target="../slideLayouts/slideLayout4.xml"/></Relationships>
</file>

<file path=ppt/slides/_rels/slide180.xml.rels><?xml version="1.0" encoding="UTF-8" standalone="yes"?>
<Relationships xmlns="http://schemas.openxmlformats.org/package/2006/relationships"><Relationship Id="rId2" Type="http://schemas.openxmlformats.org/officeDocument/2006/relationships/notesSlide" Target="../notesSlides/notesSlide144.xml"/><Relationship Id="rId1" Type="http://schemas.openxmlformats.org/officeDocument/2006/relationships/slideLayout" Target="../slideLayouts/slideLayout4.xml"/></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2.xml.rels><?xml version="1.0" encoding="UTF-8" standalone="yes"?>
<Relationships xmlns="http://schemas.openxmlformats.org/package/2006/relationships"><Relationship Id="rId2" Type="http://schemas.openxmlformats.org/officeDocument/2006/relationships/notesSlide" Target="../notesSlides/notesSlide145.xml"/><Relationship Id="rId1" Type="http://schemas.openxmlformats.org/officeDocument/2006/relationships/slideLayout" Target="../slideLayouts/slideLayout6.xml"/></Relationships>
</file>

<file path=ppt/slides/_rels/slide183.xml.rels><?xml version="1.0" encoding="UTF-8" standalone="yes"?>
<Relationships xmlns="http://schemas.openxmlformats.org/package/2006/relationships"><Relationship Id="rId2" Type="http://schemas.openxmlformats.org/officeDocument/2006/relationships/notesSlide" Target="../notesSlides/notesSlide146.xml"/><Relationship Id="rId1" Type="http://schemas.openxmlformats.org/officeDocument/2006/relationships/slideLayout" Target="../slideLayouts/slideLayout6.xml"/></Relationships>
</file>

<file path=ppt/slides/_rels/slide184.xml.rels><?xml version="1.0" encoding="UTF-8" standalone="yes"?>
<Relationships xmlns="http://schemas.openxmlformats.org/package/2006/relationships"><Relationship Id="rId2" Type="http://schemas.openxmlformats.org/officeDocument/2006/relationships/notesSlide" Target="../notesSlides/notesSlide147.xml"/><Relationship Id="rId1" Type="http://schemas.openxmlformats.org/officeDocument/2006/relationships/slideLayout" Target="../slideLayouts/slideLayout6.xml"/></Relationships>
</file>

<file path=ppt/slides/_rels/slide185.xml.rels><?xml version="1.0" encoding="UTF-8" standalone="yes"?>
<Relationships xmlns="http://schemas.openxmlformats.org/package/2006/relationships"><Relationship Id="rId2" Type="http://schemas.openxmlformats.org/officeDocument/2006/relationships/notesSlide" Target="../notesSlides/notesSlide148.xml"/><Relationship Id="rId1" Type="http://schemas.openxmlformats.org/officeDocument/2006/relationships/slideLayout" Target="../slideLayouts/slideLayout6.xml"/></Relationships>
</file>

<file path=ppt/slides/_rels/slide186.xml.rels><?xml version="1.0" encoding="UTF-8" standalone="yes"?>
<Relationships xmlns="http://schemas.openxmlformats.org/package/2006/relationships"><Relationship Id="rId2" Type="http://schemas.openxmlformats.org/officeDocument/2006/relationships/notesSlide" Target="../notesSlides/notesSlide149.xml"/><Relationship Id="rId1" Type="http://schemas.openxmlformats.org/officeDocument/2006/relationships/slideLayout" Target="../slideLayouts/slideLayout6.xml"/></Relationships>
</file>

<file path=ppt/slides/_rels/slide187.xml.rels><?xml version="1.0" encoding="UTF-8" standalone="yes"?>
<Relationships xmlns="http://schemas.openxmlformats.org/package/2006/relationships"><Relationship Id="rId2" Type="http://schemas.openxmlformats.org/officeDocument/2006/relationships/notesSlide" Target="../notesSlides/notesSlide150.xml"/><Relationship Id="rId1" Type="http://schemas.openxmlformats.org/officeDocument/2006/relationships/slideLayout" Target="../slideLayouts/slideLayout6.xml"/></Relationships>
</file>

<file path=ppt/slides/_rels/slide188.xml.rels><?xml version="1.0" encoding="UTF-8" standalone="yes"?>
<Relationships xmlns="http://schemas.openxmlformats.org/package/2006/relationships"><Relationship Id="rId2" Type="http://schemas.openxmlformats.org/officeDocument/2006/relationships/notesSlide" Target="../notesSlides/notesSlide151.xml"/><Relationship Id="rId1" Type="http://schemas.openxmlformats.org/officeDocument/2006/relationships/slideLayout" Target="../slideLayouts/slideLayout6.xml"/></Relationships>
</file>

<file path=ppt/slides/_rels/slide189.xml.rels><?xml version="1.0" encoding="UTF-8" standalone="yes"?>
<Relationships xmlns="http://schemas.openxmlformats.org/package/2006/relationships"><Relationship Id="rId2" Type="http://schemas.openxmlformats.org/officeDocument/2006/relationships/notesSlide" Target="../notesSlides/notesSlide152.xml"/><Relationship Id="rId1" Type="http://schemas.openxmlformats.org/officeDocument/2006/relationships/slideLayout" Target="../slideLayouts/slideLayout6.xml"/></Relationships>
</file>

<file path=ppt/slides/_rels/slide190.xml.rels><?xml version="1.0" encoding="UTF-8" standalone="yes"?>
<Relationships xmlns="http://schemas.openxmlformats.org/package/2006/relationships"><Relationship Id="rId2" Type="http://schemas.openxmlformats.org/officeDocument/2006/relationships/notesSlide" Target="../notesSlides/notesSlide153.xml"/><Relationship Id="rId1" Type="http://schemas.openxmlformats.org/officeDocument/2006/relationships/slideLayout" Target="../slideLayouts/slideLayout6.xml"/></Relationships>
</file>

<file path=ppt/slides/_rels/slide191.xml.rels><?xml version="1.0" encoding="UTF-8" standalone="yes"?>
<Relationships xmlns="http://schemas.openxmlformats.org/package/2006/relationships"><Relationship Id="rId2" Type="http://schemas.openxmlformats.org/officeDocument/2006/relationships/notesSlide" Target="../notesSlides/notesSlide154.xml"/><Relationship Id="rId1" Type="http://schemas.openxmlformats.org/officeDocument/2006/relationships/slideLayout" Target="../slideLayouts/slideLayout6.xml"/></Relationships>
</file>

<file path=ppt/slides/_rels/slide192.xml.rels><?xml version="1.0" encoding="UTF-8" standalone="yes"?>
<Relationships xmlns="http://schemas.openxmlformats.org/package/2006/relationships"><Relationship Id="rId2" Type="http://schemas.openxmlformats.org/officeDocument/2006/relationships/notesSlide" Target="../notesSlides/notesSlide155.xml"/><Relationship Id="rId1" Type="http://schemas.openxmlformats.org/officeDocument/2006/relationships/slideLayout" Target="../slideLayouts/slideLayout6.xml"/></Relationships>
</file>

<file path=ppt/slides/_rels/slide193.xml.rels><?xml version="1.0" encoding="UTF-8" standalone="yes"?>
<Relationships xmlns="http://schemas.openxmlformats.org/package/2006/relationships"><Relationship Id="rId2" Type="http://schemas.openxmlformats.org/officeDocument/2006/relationships/notesSlide" Target="../notesSlides/notesSlide156.xml"/><Relationship Id="rId1" Type="http://schemas.openxmlformats.org/officeDocument/2006/relationships/slideLayout" Target="../slideLayouts/slideLayout6.xml"/></Relationships>
</file>

<file path=ppt/slides/_rels/slide194.xml.rels><?xml version="1.0" encoding="UTF-8" standalone="yes"?>
<Relationships xmlns="http://schemas.openxmlformats.org/package/2006/relationships"><Relationship Id="rId2" Type="http://schemas.openxmlformats.org/officeDocument/2006/relationships/notesSlide" Target="../notesSlides/notesSlide157.xml"/><Relationship Id="rId1" Type="http://schemas.openxmlformats.org/officeDocument/2006/relationships/slideLayout" Target="../slideLayouts/slideLayout6.xml"/></Relationships>
</file>

<file path=ppt/slides/_rels/slide195.xml.rels><?xml version="1.0" encoding="UTF-8" standalone="yes"?>
<Relationships xmlns="http://schemas.openxmlformats.org/package/2006/relationships"><Relationship Id="rId2" Type="http://schemas.openxmlformats.org/officeDocument/2006/relationships/notesSlide" Target="../notesSlides/notesSlide158.xml"/><Relationship Id="rId1" Type="http://schemas.openxmlformats.org/officeDocument/2006/relationships/slideLayout" Target="../slideLayouts/slideLayout6.xml"/></Relationships>
</file>

<file path=ppt/slides/_rels/slide196.xml.rels><?xml version="1.0" encoding="UTF-8" standalone="yes"?>
<Relationships xmlns="http://schemas.openxmlformats.org/package/2006/relationships"><Relationship Id="rId2" Type="http://schemas.openxmlformats.org/officeDocument/2006/relationships/notesSlide" Target="../notesSlides/notesSlide159.xml"/><Relationship Id="rId1" Type="http://schemas.openxmlformats.org/officeDocument/2006/relationships/slideLayout" Target="../slideLayouts/slideLayout6.xml"/></Relationships>
</file>

<file path=ppt/slides/_rels/slide197.xml.rels><?xml version="1.0" encoding="UTF-8" standalone="yes"?>
<Relationships xmlns="http://schemas.openxmlformats.org/package/2006/relationships"><Relationship Id="rId2" Type="http://schemas.openxmlformats.org/officeDocument/2006/relationships/notesSlide" Target="../notesSlides/notesSlide160.xml"/><Relationship Id="rId1" Type="http://schemas.openxmlformats.org/officeDocument/2006/relationships/slideLayout" Target="../slideLayouts/slideLayout6.xml"/></Relationships>
</file>

<file path=ppt/slides/_rels/slide198.xml.rels><?xml version="1.0" encoding="UTF-8" standalone="yes"?>
<Relationships xmlns="http://schemas.openxmlformats.org/package/2006/relationships"><Relationship Id="rId2" Type="http://schemas.openxmlformats.org/officeDocument/2006/relationships/notesSlide" Target="../notesSlides/notesSlide161.xml"/><Relationship Id="rId1" Type="http://schemas.openxmlformats.org/officeDocument/2006/relationships/slideLayout" Target="../slideLayouts/slideLayout6.xml"/></Relationships>
</file>

<file path=ppt/slides/_rels/slide199.xml.rels><?xml version="1.0" encoding="UTF-8" standalone="yes"?>
<Relationships xmlns="http://schemas.openxmlformats.org/package/2006/relationships"><Relationship Id="rId2" Type="http://schemas.openxmlformats.org/officeDocument/2006/relationships/notesSlide" Target="../notesSlides/notesSlide162.xml"/><Relationship Id="rId1" Type="http://schemas.openxmlformats.org/officeDocument/2006/relationships/slideLayout" Target="../slideLayouts/slideLayout6.xml"/></Relationships>
</file>

<file path=ppt/slides/_rels/slide200.xml.rels><?xml version="1.0" encoding="UTF-8" standalone="yes"?>
<Relationships xmlns="http://schemas.openxmlformats.org/package/2006/relationships"><Relationship Id="rId2" Type="http://schemas.openxmlformats.org/officeDocument/2006/relationships/notesSlide" Target="../notesSlides/notesSlide163.xml"/><Relationship Id="rId1" Type="http://schemas.openxmlformats.org/officeDocument/2006/relationships/slideLayout" Target="../slideLayouts/slideLayout6.xml"/></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03.xml.rels><?xml version="1.0" encoding="UTF-8" standalone="yes"?>
<Relationships xmlns="http://schemas.openxmlformats.org/package/2006/relationships"><Relationship Id="rId2" Type="http://schemas.openxmlformats.org/officeDocument/2006/relationships/notesSlide" Target="../notesSlides/notesSlide164.xml"/><Relationship Id="rId1" Type="http://schemas.openxmlformats.org/officeDocument/2006/relationships/slideLayout" Target="../slideLayouts/slideLayout5.xml"/></Relationships>
</file>

<file path=ppt/slides/_rels/slide204.xml.rels><?xml version="1.0" encoding="UTF-8" standalone="yes"?>
<Relationships xmlns="http://schemas.openxmlformats.org/package/2006/relationships"><Relationship Id="rId2" Type="http://schemas.openxmlformats.org/officeDocument/2006/relationships/notesSlide" Target="../notesSlides/notesSlide165.xml"/><Relationship Id="rId1" Type="http://schemas.openxmlformats.org/officeDocument/2006/relationships/slideLayout" Target="../slideLayouts/slideLayout5.xml"/></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6.xml.rels><?xml version="1.0" encoding="UTF-8" standalone="yes"?>
<Relationships xmlns="http://schemas.openxmlformats.org/package/2006/relationships"><Relationship Id="rId2" Type="http://schemas.openxmlformats.org/officeDocument/2006/relationships/notesSlide" Target="../notesSlides/notesSlide166.xml"/><Relationship Id="rId1" Type="http://schemas.openxmlformats.org/officeDocument/2006/relationships/slideLayout" Target="../slideLayouts/slideLayout2.xml"/></Relationships>
</file>

<file path=ppt/slides/_rels/slide207.xml.rels><?xml version="1.0" encoding="UTF-8" standalone="yes"?>
<Relationships xmlns="http://schemas.openxmlformats.org/package/2006/relationships"><Relationship Id="rId2" Type="http://schemas.openxmlformats.org/officeDocument/2006/relationships/notesSlide" Target="../notesSlides/notesSlide167.xml"/><Relationship Id="rId1" Type="http://schemas.openxmlformats.org/officeDocument/2006/relationships/slideLayout" Target="../slideLayouts/slideLayout2.xml"/></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0.xml.rels><?xml version="1.0" encoding="UTF-8" standalone="yes"?>
<Relationships xmlns="http://schemas.openxmlformats.org/package/2006/relationships"><Relationship Id="rId2" Type="http://schemas.openxmlformats.org/officeDocument/2006/relationships/notesSlide" Target="../notesSlides/notesSlide168.xml"/><Relationship Id="rId1" Type="http://schemas.openxmlformats.org/officeDocument/2006/relationships/slideLayout" Target="../slideLayouts/slideLayout2.xml"/></Relationships>
</file>

<file path=ppt/slides/_rels/slide211.xml.rels><?xml version="1.0" encoding="UTF-8" standalone="yes"?>
<Relationships xmlns="http://schemas.openxmlformats.org/package/2006/relationships"><Relationship Id="rId2" Type="http://schemas.openxmlformats.org/officeDocument/2006/relationships/notesSlide" Target="../notesSlides/notesSlide169.xml"/><Relationship Id="rId1" Type="http://schemas.openxmlformats.org/officeDocument/2006/relationships/slideLayout" Target="../slideLayouts/slideLayout2.xml"/></Relationships>
</file>

<file path=ppt/slides/_rels/slide212.xml.rels><?xml version="1.0" encoding="UTF-8" standalone="yes"?>
<Relationships xmlns="http://schemas.openxmlformats.org/package/2006/relationships"><Relationship Id="rId2" Type="http://schemas.openxmlformats.org/officeDocument/2006/relationships/notesSlide" Target="../notesSlides/notesSlide170.xml"/><Relationship Id="rId1" Type="http://schemas.openxmlformats.org/officeDocument/2006/relationships/slideLayout" Target="../slideLayouts/slideLayout2.xml"/></Relationships>
</file>

<file path=ppt/slides/_rels/slide213.xml.rels><?xml version="1.0" encoding="UTF-8" standalone="yes"?>
<Relationships xmlns="http://schemas.openxmlformats.org/package/2006/relationships"><Relationship Id="rId2" Type="http://schemas.openxmlformats.org/officeDocument/2006/relationships/notesSlide" Target="../notesSlides/notesSlide171.xml"/><Relationship Id="rId1" Type="http://schemas.openxmlformats.org/officeDocument/2006/relationships/slideLayout" Target="../slideLayouts/slideLayout2.xml"/></Relationships>
</file>

<file path=ppt/slides/_rels/slide214.xml.rels><?xml version="1.0" encoding="UTF-8" standalone="yes"?>
<Relationships xmlns="http://schemas.openxmlformats.org/package/2006/relationships"><Relationship Id="rId2" Type="http://schemas.openxmlformats.org/officeDocument/2006/relationships/notesSlide" Target="../notesSlides/notesSlide172.xml"/><Relationship Id="rId1" Type="http://schemas.openxmlformats.org/officeDocument/2006/relationships/slideLayout" Target="../slideLayouts/slideLayout2.xml"/></Relationships>
</file>

<file path=ppt/slides/_rels/slide215.xml.rels><?xml version="1.0" encoding="UTF-8" standalone="yes"?>
<Relationships xmlns="http://schemas.openxmlformats.org/package/2006/relationships"><Relationship Id="rId2" Type="http://schemas.openxmlformats.org/officeDocument/2006/relationships/notesSlide" Target="../notesSlides/notesSlide173.xml"/><Relationship Id="rId1" Type="http://schemas.openxmlformats.org/officeDocument/2006/relationships/slideLayout" Target="../slideLayouts/slideLayout2.xml"/></Relationships>
</file>

<file path=ppt/slides/_rels/slide2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8.xml.rels><?xml version="1.0" encoding="UTF-8" standalone="yes"?>
<Relationships xmlns="http://schemas.openxmlformats.org/package/2006/relationships"><Relationship Id="rId2" Type="http://schemas.openxmlformats.org/officeDocument/2006/relationships/notesSlide" Target="../notesSlides/notesSlide174.xml"/><Relationship Id="rId1" Type="http://schemas.openxmlformats.org/officeDocument/2006/relationships/slideLayout" Target="../slideLayouts/slideLayout2.xml"/></Relationships>
</file>

<file path=ppt/slides/_rels/slide219.xml.rels><?xml version="1.0" encoding="UTF-8" standalone="yes"?>
<Relationships xmlns="http://schemas.openxmlformats.org/package/2006/relationships"><Relationship Id="rId2" Type="http://schemas.openxmlformats.org/officeDocument/2006/relationships/notesSlide" Target="../notesSlides/notesSlide175.xml"/><Relationship Id="rId1" Type="http://schemas.openxmlformats.org/officeDocument/2006/relationships/slideLayout" Target="../slideLayouts/slideLayout2.xml"/></Relationships>
</file>

<file path=ppt/slides/_rels/slide220.xml.rels><?xml version="1.0" encoding="UTF-8" standalone="yes"?>
<Relationships xmlns="http://schemas.openxmlformats.org/package/2006/relationships"><Relationship Id="rId2" Type="http://schemas.openxmlformats.org/officeDocument/2006/relationships/notesSlide" Target="../notesSlides/notesSlide176.xml"/><Relationship Id="rId1" Type="http://schemas.openxmlformats.org/officeDocument/2006/relationships/slideLayout" Target="../slideLayouts/slideLayout2.xml"/></Relationships>
</file>

<file path=ppt/slides/_rels/slide221.xml.rels><?xml version="1.0" encoding="UTF-8" standalone="yes"?>
<Relationships xmlns="http://schemas.openxmlformats.org/package/2006/relationships"><Relationship Id="rId2" Type="http://schemas.openxmlformats.org/officeDocument/2006/relationships/notesSlide" Target="../notesSlides/notesSlide177.xml"/><Relationship Id="rId1" Type="http://schemas.openxmlformats.org/officeDocument/2006/relationships/slideLayout" Target="../slideLayouts/slideLayout2.xml"/></Relationships>
</file>

<file path=ppt/slides/_rels/slide222.xml.rels><?xml version="1.0" encoding="UTF-8" standalone="yes"?>
<Relationships xmlns="http://schemas.openxmlformats.org/package/2006/relationships"><Relationship Id="rId2" Type="http://schemas.openxmlformats.org/officeDocument/2006/relationships/notesSlide" Target="../notesSlides/notesSlide178.xml"/><Relationship Id="rId1" Type="http://schemas.openxmlformats.org/officeDocument/2006/relationships/slideLayout" Target="../slideLayouts/slideLayout2.xml"/></Relationships>
</file>

<file path=ppt/slides/_rels/slide223.xml.rels><?xml version="1.0" encoding="UTF-8" standalone="yes"?>
<Relationships xmlns="http://schemas.openxmlformats.org/package/2006/relationships"><Relationship Id="rId2" Type="http://schemas.openxmlformats.org/officeDocument/2006/relationships/notesSlide" Target="../notesSlides/notesSlide179.xml"/><Relationship Id="rId1" Type="http://schemas.openxmlformats.org/officeDocument/2006/relationships/slideLayout" Target="../slideLayouts/slideLayout2.xml"/></Relationships>
</file>

<file path=ppt/slides/_rels/slide224.xml.rels><?xml version="1.0" encoding="UTF-8" standalone="yes"?>
<Relationships xmlns="http://schemas.openxmlformats.org/package/2006/relationships"><Relationship Id="rId2" Type="http://schemas.openxmlformats.org/officeDocument/2006/relationships/notesSlide" Target="../notesSlides/notesSlide180.xml"/><Relationship Id="rId1" Type="http://schemas.openxmlformats.org/officeDocument/2006/relationships/slideLayout" Target="../slideLayouts/slideLayout2.xml"/></Relationships>
</file>

<file path=ppt/slides/_rels/slide225.xml.rels><?xml version="1.0" encoding="UTF-8" standalone="yes"?>
<Relationships xmlns="http://schemas.openxmlformats.org/package/2006/relationships"><Relationship Id="rId2" Type="http://schemas.openxmlformats.org/officeDocument/2006/relationships/notesSlide" Target="../notesSlides/notesSlide181.xml"/><Relationship Id="rId1" Type="http://schemas.openxmlformats.org/officeDocument/2006/relationships/slideLayout" Target="../slideLayouts/slideLayout2.xml"/></Relationships>
</file>

<file path=ppt/slides/_rels/slide22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7.xml.rels><?xml version="1.0" encoding="UTF-8" standalone="yes"?>
<Relationships xmlns="http://schemas.openxmlformats.org/package/2006/relationships"><Relationship Id="rId2" Type="http://schemas.openxmlformats.org/officeDocument/2006/relationships/notesSlide" Target="../notesSlides/notesSlide182.xml"/><Relationship Id="rId1" Type="http://schemas.openxmlformats.org/officeDocument/2006/relationships/slideLayout" Target="../slideLayouts/slideLayout2.xml"/></Relationships>
</file>

<file path=ppt/slides/_rels/slide228.xml.rels><?xml version="1.0" encoding="UTF-8" standalone="yes"?>
<Relationships xmlns="http://schemas.openxmlformats.org/package/2006/relationships"><Relationship Id="rId2" Type="http://schemas.openxmlformats.org/officeDocument/2006/relationships/notesSlide" Target="../notesSlides/notesSlide183.xml"/><Relationship Id="rId1" Type="http://schemas.openxmlformats.org/officeDocument/2006/relationships/slideLayout" Target="../slideLayouts/slideLayout2.xml"/></Relationships>
</file>

<file path=ppt/slides/_rels/slide229.xml.rels><?xml version="1.0" encoding="UTF-8" standalone="yes"?>
<Relationships xmlns="http://schemas.openxmlformats.org/package/2006/relationships"><Relationship Id="rId2" Type="http://schemas.openxmlformats.org/officeDocument/2006/relationships/notesSlide" Target="../notesSlides/notesSlide184.xml"/><Relationship Id="rId1" Type="http://schemas.openxmlformats.org/officeDocument/2006/relationships/slideLayout" Target="../slideLayouts/slideLayout5.xml"/></Relationships>
</file>

<file path=ppt/slides/_rels/slide230.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31.xml.rels><?xml version="1.0" encoding="UTF-8" standalone="yes"?>
<Relationships xmlns="http://schemas.openxmlformats.org/package/2006/relationships"><Relationship Id="rId2" Type="http://schemas.openxmlformats.org/officeDocument/2006/relationships/notesSlide" Target="../notesSlides/notesSlide185.xml"/><Relationship Id="rId1" Type="http://schemas.openxmlformats.org/officeDocument/2006/relationships/slideLayout" Target="../slideLayouts/slideLayout7.xml"/></Relationships>
</file>

<file path=ppt/slides/_rels/slide232.xml.rels><?xml version="1.0" encoding="UTF-8" standalone="yes"?>
<Relationships xmlns="http://schemas.openxmlformats.org/package/2006/relationships"><Relationship Id="rId2" Type="http://schemas.openxmlformats.org/officeDocument/2006/relationships/notesSlide" Target="../notesSlides/notesSlide186.xml"/><Relationship Id="rId1" Type="http://schemas.openxmlformats.org/officeDocument/2006/relationships/slideLayout" Target="../slideLayouts/slideLayout7.xml"/></Relationships>
</file>

<file path=ppt/slides/_rels/slide23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9.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image" Target="../media/image14.jpeg"/><Relationship Id="rId1" Type="http://schemas.openxmlformats.org/officeDocument/2006/relationships/slideLayout" Target="../slideLayouts/slideLayout2.xml"/></Relationships>
</file>

<file path=ppt/slides/_rels/slide240.xml.rels><?xml version="1.0" encoding="UTF-8" standalone="yes"?>
<Relationships xmlns="http://schemas.openxmlformats.org/package/2006/relationships"><Relationship Id="rId3" Type="http://schemas.openxmlformats.org/officeDocument/2006/relationships/image" Target="../media/image17.jpeg"/><Relationship Id="rId2" Type="http://schemas.openxmlformats.org/officeDocument/2006/relationships/image" Target="../media/image16.jpeg"/><Relationship Id="rId1" Type="http://schemas.openxmlformats.org/officeDocument/2006/relationships/slideLayout" Target="../slideLayouts/slideLayout2.xml"/></Relationships>
</file>

<file path=ppt/slides/_rels/slide241.xml.rels><?xml version="1.0" encoding="UTF-8" standalone="yes"?>
<Relationships xmlns="http://schemas.openxmlformats.org/package/2006/relationships"><Relationship Id="rId2" Type="http://schemas.openxmlformats.org/officeDocument/2006/relationships/notesSlide" Target="../notesSlides/notesSlide187.xml"/><Relationship Id="rId1" Type="http://schemas.openxmlformats.org/officeDocument/2006/relationships/slideLayout" Target="../slideLayouts/slideLayout2.xml"/></Relationships>
</file>

<file path=ppt/slides/_rels/slide242.xml.rels><?xml version="1.0" encoding="UTF-8" standalone="yes"?>
<Relationships xmlns="http://schemas.openxmlformats.org/package/2006/relationships"><Relationship Id="rId2" Type="http://schemas.openxmlformats.org/officeDocument/2006/relationships/notesSlide" Target="../notesSlides/notesSlide188.xml"/><Relationship Id="rId1" Type="http://schemas.openxmlformats.org/officeDocument/2006/relationships/slideLayout" Target="../slideLayouts/slideLayout2.xml"/></Relationships>
</file>

<file path=ppt/slides/_rels/slide243.xml.rels><?xml version="1.0" encoding="UTF-8" standalone="yes"?>
<Relationships xmlns="http://schemas.openxmlformats.org/package/2006/relationships"><Relationship Id="rId2" Type="http://schemas.openxmlformats.org/officeDocument/2006/relationships/notesSlide" Target="../notesSlides/notesSlide189.xml"/><Relationship Id="rId1" Type="http://schemas.openxmlformats.org/officeDocument/2006/relationships/slideLayout" Target="../slideLayouts/slideLayout2.xml"/></Relationships>
</file>

<file path=ppt/slides/_rels/slide244.xml.rels><?xml version="1.0" encoding="UTF-8" standalone="yes"?>
<Relationships xmlns="http://schemas.openxmlformats.org/package/2006/relationships"><Relationship Id="rId2" Type="http://schemas.openxmlformats.org/officeDocument/2006/relationships/notesSlide" Target="../notesSlides/notesSlide190.xml"/><Relationship Id="rId1" Type="http://schemas.openxmlformats.org/officeDocument/2006/relationships/slideLayout" Target="../slideLayouts/slideLayout2.xml"/></Relationships>
</file>

<file path=ppt/slides/_rels/slide245.xml.rels><?xml version="1.0" encoding="UTF-8" standalone="yes"?>
<Relationships xmlns="http://schemas.openxmlformats.org/package/2006/relationships"><Relationship Id="rId2" Type="http://schemas.openxmlformats.org/officeDocument/2006/relationships/notesSlide" Target="../notesSlides/notesSlide191.xml"/><Relationship Id="rId1" Type="http://schemas.openxmlformats.org/officeDocument/2006/relationships/slideLayout" Target="../slideLayouts/slideLayout2.xml"/></Relationships>
</file>

<file path=ppt/slides/_rels/slide246.xml.rels><?xml version="1.0" encoding="UTF-8" standalone="yes"?>
<Relationships xmlns="http://schemas.openxmlformats.org/package/2006/relationships"><Relationship Id="rId2" Type="http://schemas.openxmlformats.org/officeDocument/2006/relationships/notesSlide" Target="../notesSlides/notesSlide192.xml"/><Relationship Id="rId1" Type="http://schemas.openxmlformats.org/officeDocument/2006/relationships/slideLayout" Target="../slideLayouts/slideLayout2.xml"/></Relationships>
</file>

<file path=ppt/slides/_rels/slide247.xml.rels><?xml version="1.0" encoding="UTF-8" standalone="yes"?>
<Relationships xmlns="http://schemas.openxmlformats.org/package/2006/relationships"><Relationship Id="rId2" Type="http://schemas.openxmlformats.org/officeDocument/2006/relationships/notesSlide" Target="../notesSlides/notesSlide193.xml"/><Relationship Id="rId1" Type="http://schemas.openxmlformats.org/officeDocument/2006/relationships/slideLayout" Target="../slideLayouts/slideLayout2.xml"/></Relationships>
</file>

<file path=ppt/slides/_rels/slide248.xml.rels><?xml version="1.0" encoding="UTF-8" standalone="yes"?>
<Relationships xmlns="http://schemas.openxmlformats.org/package/2006/relationships"><Relationship Id="rId2" Type="http://schemas.openxmlformats.org/officeDocument/2006/relationships/notesSlide" Target="../notesSlides/notesSlide194.xml"/><Relationship Id="rId1" Type="http://schemas.openxmlformats.org/officeDocument/2006/relationships/slideLayout" Target="../slideLayouts/slideLayout2.xml"/></Relationships>
</file>

<file path=ppt/slides/_rels/slide249.xml.rels><?xml version="1.0" encoding="UTF-8" standalone="yes"?>
<Relationships xmlns="http://schemas.openxmlformats.org/package/2006/relationships"><Relationship Id="rId2" Type="http://schemas.openxmlformats.org/officeDocument/2006/relationships/notesSlide" Target="../notesSlides/notesSlide195.xml"/><Relationship Id="rId1" Type="http://schemas.openxmlformats.org/officeDocument/2006/relationships/slideLayout" Target="../slideLayouts/slideLayout5.xml"/></Relationships>
</file>

<file path=ppt/slides/_rels/slide250.xml.rels><?xml version="1.0" encoding="UTF-8" standalone="yes"?>
<Relationships xmlns="http://schemas.openxmlformats.org/package/2006/relationships"><Relationship Id="rId2" Type="http://schemas.openxmlformats.org/officeDocument/2006/relationships/notesSlide" Target="../notesSlides/notesSlide196.xml"/><Relationship Id="rId1" Type="http://schemas.openxmlformats.org/officeDocument/2006/relationships/slideLayout" Target="../slideLayouts/slideLayout5.xml"/></Relationships>
</file>

<file path=ppt/slides/_rels/slide251.xml.rels><?xml version="1.0" encoding="UTF-8" standalone="yes"?>
<Relationships xmlns="http://schemas.openxmlformats.org/package/2006/relationships"><Relationship Id="rId2" Type="http://schemas.openxmlformats.org/officeDocument/2006/relationships/notesSlide" Target="../notesSlides/notesSlide197.xml"/><Relationship Id="rId1" Type="http://schemas.openxmlformats.org/officeDocument/2006/relationships/slideLayout" Target="../slideLayouts/slideLayout5.xml"/></Relationships>
</file>

<file path=ppt/slides/_rels/slide252.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198.xml"/><Relationship Id="rId1" Type="http://schemas.openxmlformats.org/officeDocument/2006/relationships/slideLayout" Target="../slideLayouts/slideLayout5.xml"/></Relationships>
</file>

<file path=ppt/slides/_rels/slide253.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199.xml"/><Relationship Id="rId1" Type="http://schemas.openxmlformats.org/officeDocument/2006/relationships/slideLayout" Target="../slideLayouts/slideLayout5.xml"/></Relationships>
</file>

<file path=ppt/slides/_rels/slide254.xml.rels><?xml version="1.0" encoding="UTF-8" standalone="yes"?>
<Relationships xmlns="http://schemas.openxmlformats.org/package/2006/relationships"><Relationship Id="rId2" Type="http://schemas.openxmlformats.org/officeDocument/2006/relationships/notesSlide" Target="../notesSlides/notesSlide200.xml"/><Relationship Id="rId1" Type="http://schemas.openxmlformats.org/officeDocument/2006/relationships/slideLayout" Target="../slideLayouts/slideLayout6.xml"/></Relationships>
</file>

<file path=ppt/slides/_rels/slide255.xml.rels><?xml version="1.0" encoding="UTF-8" standalone="yes"?>
<Relationships xmlns="http://schemas.openxmlformats.org/package/2006/relationships"><Relationship Id="rId2" Type="http://schemas.openxmlformats.org/officeDocument/2006/relationships/notesSlide" Target="../notesSlides/notesSlide201.xml"/><Relationship Id="rId1" Type="http://schemas.openxmlformats.org/officeDocument/2006/relationships/slideLayout" Target="../slideLayouts/slideLayout6.xml"/></Relationships>
</file>

<file path=ppt/slides/_rels/slide256.xml.rels><?xml version="1.0" encoding="UTF-8" standalone="yes"?>
<Relationships xmlns="http://schemas.openxmlformats.org/package/2006/relationships"><Relationship Id="rId2" Type="http://schemas.openxmlformats.org/officeDocument/2006/relationships/notesSlide" Target="../notesSlides/notesSlide202.xml"/><Relationship Id="rId1" Type="http://schemas.openxmlformats.org/officeDocument/2006/relationships/slideLayout" Target="../slideLayouts/slideLayout6.xml"/></Relationships>
</file>

<file path=ppt/slides/_rels/slide257.xml.rels><?xml version="1.0" encoding="UTF-8" standalone="yes"?>
<Relationships xmlns="http://schemas.openxmlformats.org/package/2006/relationships"><Relationship Id="rId2" Type="http://schemas.openxmlformats.org/officeDocument/2006/relationships/notesSlide" Target="../notesSlides/notesSlide203.xml"/><Relationship Id="rId1" Type="http://schemas.openxmlformats.org/officeDocument/2006/relationships/slideLayout" Target="../slideLayouts/slideLayout6.xml"/></Relationships>
</file>

<file path=ppt/slides/_rels/slide258.xml.rels><?xml version="1.0" encoding="UTF-8" standalone="yes"?>
<Relationships xmlns="http://schemas.openxmlformats.org/package/2006/relationships"><Relationship Id="rId2" Type="http://schemas.openxmlformats.org/officeDocument/2006/relationships/notesSlide" Target="../notesSlides/notesSlide204.xml"/><Relationship Id="rId1" Type="http://schemas.openxmlformats.org/officeDocument/2006/relationships/slideLayout" Target="../slideLayouts/slideLayout6.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p:txBody>
          <a:bodyPr/>
          <a:lstStyle/>
          <a:p>
            <a:r>
              <a:rPr lang="en-GB" dirty="0"/>
              <a:t>N5 Computing Science</a:t>
            </a:r>
          </a:p>
        </p:txBody>
      </p:sp>
      <p:sp>
        <p:nvSpPr>
          <p:cNvPr id="3" name="Subtitle 2"/>
          <p:cNvSpPr>
            <a:spLocks noGrp="1"/>
          </p:cNvSpPr>
          <p:nvPr>
            <p:ph type="subTitle" idx="1"/>
          </p:nvPr>
        </p:nvSpPr>
        <p:spPr/>
        <p:txBody>
          <a:bodyPr>
            <a:normAutofit/>
          </a:bodyPr>
          <a:lstStyle/>
          <a:p>
            <a:r>
              <a:rPr lang="en-GB" sz="3200" dirty="0"/>
              <a:t>Database Design and Development</a:t>
            </a:r>
          </a:p>
        </p:txBody>
      </p:sp>
    </p:spTree>
    <p:extLst>
      <p:ext uri="{BB962C8B-B14F-4D97-AF65-F5344CB8AC3E}">
        <p14:creationId xmlns:p14="http://schemas.microsoft.com/office/powerpoint/2010/main" val="1397375078"/>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Plan – N5 Year 1</a:t>
            </a:r>
          </a:p>
        </p:txBody>
      </p:sp>
      <p:graphicFrame>
        <p:nvGraphicFramePr>
          <p:cNvPr id="5" name="Content Placeholder 4"/>
          <p:cNvGraphicFramePr>
            <a:graphicFrameLocks noGrp="1"/>
          </p:cNvGraphicFramePr>
          <p:nvPr>
            <p:ph idx="1"/>
            <p:extLst>
              <p:ext uri="{D42A27DB-BD31-4B8C-83A1-F6EECF244321}">
                <p14:modId xmlns:p14="http://schemas.microsoft.com/office/powerpoint/2010/main" val="2720241271"/>
              </p:ext>
            </p:extLst>
          </p:nvPr>
        </p:nvGraphicFramePr>
        <p:xfrm>
          <a:off x="2042160" y="1825625"/>
          <a:ext cx="8107680" cy="4351338"/>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cxnSp>
        <p:nvCxnSpPr>
          <p:cNvPr id="4" name="Straight Arrow Connector 3"/>
          <p:cNvCxnSpPr/>
          <p:nvPr/>
        </p:nvCxnSpPr>
        <p:spPr>
          <a:xfrm>
            <a:off x="762000" y="3235291"/>
            <a:ext cx="1080000" cy="0"/>
          </a:xfrm>
          <a:prstGeom prst="straightConnector1">
            <a:avLst/>
          </a:prstGeom>
          <a:ln w="76200">
            <a:solidFill>
              <a:srgbClr val="FF0000"/>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6" name="Straight Arrow Connector 5"/>
          <p:cNvCxnSpPr/>
          <p:nvPr/>
        </p:nvCxnSpPr>
        <p:spPr>
          <a:xfrm flipH="1">
            <a:off x="10393680" y="3235291"/>
            <a:ext cx="1080000" cy="0"/>
          </a:xfrm>
          <a:prstGeom prst="straightConnector1">
            <a:avLst/>
          </a:prstGeom>
          <a:ln w="76200">
            <a:solidFill>
              <a:srgbClr val="FF0000"/>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20325226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5">
                                            <p:graphicEl>
                                              <a:dgm id="{DFA48299-B840-4714-A5F6-769C74D74113}"/>
                                            </p:graphicEl>
                                          </p:spTgt>
                                        </p:tgtEl>
                                        <p:attrNameLst>
                                          <p:attrName>style.visibility</p:attrName>
                                        </p:attrNameLst>
                                      </p:cBhvr>
                                      <p:to>
                                        <p:strVal val="visible"/>
                                      </p:to>
                                    </p:set>
                                    <p:animEffect transition="in" filter="wipe(left)">
                                      <p:cBhvr>
                                        <p:cTn id="7" dur="500"/>
                                        <p:tgtEl>
                                          <p:spTgt spid="5">
                                            <p:graphicEl>
                                              <a:dgm id="{DFA48299-B840-4714-A5F6-769C74D74113}"/>
                                            </p:graphic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5">
                                            <p:graphicEl>
                                              <a:dgm id="{19C32B8D-512E-49A1-A0E6-109384C61E4D}"/>
                                            </p:graphicEl>
                                          </p:spTgt>
                                        </p:tgtEl>
                                        <p:attrNameLst>
                                          <p:attrName>style.visibility</p:attrName>
                                        </p:attrNameLst>
                                      </p:cBhvr>
                                      <p:to>
                                        <p:strVal val="visible"/>
                                      </p:to>
                                    </p:set>
                                    <p:animEffect transition="in" filter="wipe(left)">
                                      <p:cBhvr>
                                        <p:cTn id="12" dur="500"/>
                                        <p:tgtEl>
                                          <p:spTgt spid="5">
                                            <p:graphicEl>
                                              <a:dgm id="{19C32B8D-512E-49A1-A0E6-109384C61E4D}"/>
                                            </p:graphic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5">
                                            <p:graphicEl>
                                              <a:dgm id="{AAD30B60-88C6-4919-B6DD-9F480459E84E}"/>
                                            </p:graphicEl>
                                          </p:spTgt>
                                        </p:tgtEl>
                                        <p:attrNameLst>
                                          <p:attrName>style.visibility</p:attrName>
                                        </p:attrNameLst>
                                      </p:cBhvr>
                                      <p:to>
                                        <p:strVal val="visible"/>
                                      </p:to>
                                    </p:set>
                                    <p:animEffect transition="in" filter="wipe(left)">
                                      <p:cBhvr>
                                        <p:cTn id="17" dur="500"/>
                                        <p:tgtEl>
                                          <p:spTgt spid="5">
                                            <p:graphicEl>
                                              <a:dgm id="{AAD30B60-88C6-4919-B6DD-9F480459E84E}"/>
                                            </p:graphic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5">
                                            <p:graphicEl>
                                              <a:dgm id="{0DFDFC6D-8604-4378-B6A3-6A6720006C95}"/>
                                            </p:graphicEl>
                                          </p:spTgt>
                                        </p:tgtEl>
                                        <p:attrNameLst>
                                          <p:attrName>style.visibility</p:attrName>
                                        </p:attrNameLst>
                                      </p:cBhvr>
                                      <p:to>
                                        <p:strVal val="visible"/>
                                      </p:to>
                                    </p:set>
                                    <p:animEffect transition="in" filter="wipe(left)">
                                      <p:cBhvr>
                                        <p:cTn id="22" dur="500"/>
                                        <p:tgtEl>
                                          <p:spTgt spid="5">
                                            <p:graphicEl>
                                              <a:dgm id="{0DFDFC6D-8604-4378-B6A3-6A6720006C95}"/>
                                            </p:graphicEl>
                                          </p:spTgt>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5">
                                            <p:graphicEl>
                                              <a:dgm id="{3451A250-69C4-4911-A975-CCB8D5F6053B}"/>
                                            </p:graphicEl>
                                          </p:spTgt>
                                        </p:tgtEl>
                                        <p:attrNameLst>
                                          <p:attrName>style.visibility</p:attrName>
                                        </p:attrNameLst>
                                      </p:cBhvr>
                                      <p:to>
                                        <p:strVal val="visible"/>
                                      </p:to>
                                    </p:set>
                                    <p:animEffect transition="in" filter="wipe(left)">
                                      <p:cBhvr>
                                        <p:cTn id="27" dur="500"/>
                                        <p:tgtEl>
                                          <p:spTgt spid="5">
                                            <p:graphicEl>
                                              <a:dgm id="{3451A250-69C4-4911-A975-CCB8D5F6053B}"/>
                                            </p:graphicEl>
                                          </p:spTgt>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5">
                                            <p:graphicEl>
                                              <a:dgm id="{56AFEC8A-7D45-4965-A718-64DE087BA59E}"/>
                                            </p:graphicEl>
                                          </p:spTgt>
                                        </p:tgtEl>
                                        <p:attrNameLst>
                                          <p:attrName>style.visibility</p:attrName>
                                        </p:attrNameLst>
                                      </p:cBhvr>
                                      <p:to>
                                        <p:strVal val="visible"/>
                                      </p:to>
                                    </p:set>
                                    <p:animEffect transition="in" filter="wipe(left)">
                                      <p:cBhvr>
                                        <p:cTn id="32" dur="500"/>
                                        <p:tgtEl>
                                          <p:spTgt spid="5">
                                            <p:graphicEl>
                                              <a:dgm id="{56AFEC8A-7D45-4965-A718-64DE087BA59E}"/>
                                            </p:graphicEl>
                                          </p:spTgt>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5">
                                            <p:graphicEl>
                                              <a:dgm id="{FC3BC805-9B18-48D9-A4F4-4BE17D54A28E}"/>
                                            </p:graphicEl>
                                          </p:spTgt>
                                        </p:tgtEl>
                                        <p:attrNameLst>
                                          <p:attrName>style.visibility</p:attrName>
                                        </p:attrNameLst>
                                      </p:cBhvr>
                                      <p:to>
                                        <p:strVal val="visible"/>
                                      </p:to>
                                    </p:set>
                                    <p:animEffect transition="in" filter="wipe(left)">
                                      <p:cBhvr>
                                        <p:cTn id="37" dur="500"/>
                                        <p:tgtEl>
                                          <p:spTgt spid="5">
                                            <p:graphicEl>
                                              <a:dgm id="{FC3BC805-9B18-48D9-A4F4-4BE17D54A28E}"/>
                                            </p:graphicEl>
                                          </p:spTgt>
                                        </p:tgtEl>
                                      </p:cBhvr>
                                    </p:animEffect>
                                  </p:childTnLst>
                                </p:cTn>
                              </p:par>
                            </p:childTnLst>
                          </p:cTn>
                        </p:par>
                      </p:childTnLst>
                    </p:cTn>
                  </p:par>
                  <p:par>
                    <p:cTn id="38" fill="hold">
                      <p:stCondLst>
                        <p:cond delay="indefinite"/>
                      </p:stCondLst>
                      <p:childTnLst>
                        <p:par>
                          <p:cTn id="39" fill="hold">
                            <p:stCondLst>
                              <p:cond delay="0"/>
                            </p:stCondLst>
                            <p:childTnLst>
                              <p:par>
                                <p:cTn id="40" presetID="22" presetClass="entr" presetSubtype="8" fill="hold" grpId="0" nodeType="clickEffect">
                                  <p:stCondLst>
                                    <p:cond delay="0"/>
                                  </p:stCondLst>
                                  <p:childTnLst>
                                    <p:set>
                                      <p:cBhvr>
                                        <p:cTn id="41" dur="1" fill="hold">
                                          <p:stCondLst>
                                            <p:cond delay="0"/>
                                          </p:stCondLst>
                                        </p:cTn>
                                        <p:tgtEl>
                                          <p:spTgt spid="5">
                                            <p:graphicEl>
                                              <a:dgm id="{DEB3B5C2-DCC9-444C-A40C-E0CEA06D8FF2}"/>
                                            </p:graphicEl>
                                          </p:spTgt>
                                        </p:tgtEl>
                                        <p:attrNameLst>
                                          <p:attrName>style.visibility</p:attrName>
                                        </p:attrNameLst>
                                      </p:cBhvr>
                                      <p:to>
                                        <p:strVal val="visible"/>
                                      </p:to>
                                    </p:set>
                                    <p:animEffect transition="in" filter="wipe(left)">
                                      <p:cBhvr>
                                        <p:cTn id="42" dur="500"/>
                                        <p:tgtEl>
                                          <p:spTgt spid="5">
                                            <p:graphicEl>
                                              <a:dgm id="{DEB3B5C2-DCC9-444C-A40C-E0CEA06D8FF2}"/>
                                            </p:graphicEl>
                                          </p:spTgt>
                                        </p:tgtEl>
                                      </p:cBhvr>
                                    </p:animEffect>
                                  </p:childTnLst>
                                </p:cTn>
                              </p:par>
                            </p:childTnLst>
                          </p:cTn>
                        </p:par>
                      </p:childTnLst>
                    </p:cTn>
                  </p:par>
                  <p:par>
                    <p:cTn id="43" fill="hold">
                      <p:stCondLst>
                        <p:cond delay="indefinite"/>
                      </p:stCondLst>
                      <p:childTnLst>
                        <p:par>
                          <p:cTn id="44" fill="hold">
                            <p:stCondLst>
                              <p:cond delay="0"/>
                            </p:stCondLst>
                            <p:childTnLst>
                              <p:par>
                                <p:cTn id="45" presetID="22" presetClass="entr" presetSubtype="8" fill="hold" nodeType="clickEffect">
                                  <p:stCondLst>
                                    <p:cond delay="0"/>
                                  </p:stCondLst>
                                  <p:childTnLst>
                                    <p:set>
                                      <p:cBhvr>
                                        <p:cTn id="46" dur="1" fill="hold">
                                          <p:stCondLst>
                                            <p:cond delay="0"/>
                                          </p:stCondLst>
                                        </p:cTn>
                                        <p:tgtEl>
                                          <p:spTgt spid="4"/>
                                        </p:tgtEl>
                                        <p:attrNameLst>
                                          <p:attrName>style.visibility</p:attrName>
                                        </p:attrNameLst>
                                      </p:cBhvr>
                                      <p:to>
                                        <p:strVal val="visible"/>
                                      </p:to>
                                    </p:set>
                                    <p:animEffect transition="in" filter="wipe(left)">
                                      <p:cBhvr>
                                        <p:cTn id="47" dur="1500"/>
                                        <p:tgtEl>
                                          <p:spTgt spid="4"/>
                                        </p:tgtEl>
                                      </p:cBhvr>
                                    </p:animEffect>
                                  </p:childTnLst>
                                </p:cTn>
                              </p:par>
                              <p:par>
                                <p:cTn id="48" presetID="22" presetClass="entr" presetSubtype="2" fill="hold" nodeType="withEffect">
                                  <p:stCondLst>
                                    <p:cond delay="0"/>
                                  </p:stCondLst>
                                  <p:childTnLst>
                                    <p:set>
                                      <p:cBhvr>
                                        <p:cTn id="49" dur="1" fill="hold">
                                          <p:stCondLst>
                                            <p:cond delay="0"/>
                                          </p:stCondLst>
                                        </p:cTn>
                                        <p:tgtEl>
                                          <p:spTgt spid="6"/>
                                        </p:tgtEl>
                                        <p:attrNameLst>
                                          <p:attrName>style.visibility</p:attrName>
                                        </p:attrNameLst>
                                      </p:cBhvr>
                                      <p:to>
                                        <p:strVal val="visible"/>
                                      </p:to>
                                    </p:set>
                                    <p:animEffect transition="in" filter="wipe(right)">
                                      <p:cBhvr>
                                        <p:cTn id="50" dur="15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Graphic spid="5" grpId="0" uiExpand="1">
        <p:bldSub>
          <a:bldDgm bld="one"/>
        </p:bldSub>
      </p:bldGraphic>
    </p:bld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What is a database?</a:t>
            </a:r>
          </a:p>
        </p:txBody>
      </p:sp>
      <p:sp>
        <p:nvSpPr>
          <p:cNvPr id="3" name="Content Placeholder 2"/>
          <p:cNvSpPr>
            <a:spLocks noGrp="1"/>
          </p:cNvSpPr>
          <p:nvPr>
            <p:ph idx="1"/>
          </p:nvPr>
        </p:nvSpPr>
        <p:spPr/>
        <p:txBody>
          <a:bodyPr/>
          <a:lstStyle/>
          <a:p>
            <a:r>
              <a:rPr lang="en-GB" dirty="0"/>
              <a:t>A database is used to store information</a:t>
            </a:r>
          </a:p>
          <a:p>
            <a:r>
              <a:rPr lang="en-GB" dirty="0"/>
              <a:t>Able to search for information</a:t>
            </a:r>
          </a:p>
          <a:p>
            <a:r>
              <a:rPr lang="en-GB" dirty="0"/>
              <a:t>Computerised</a:t>
            </a:r>
          </a:p>
        </p:txBody>
      </p:sp>
    </p:spTree>
    <p:extLst>
      <p:ext uri="{BB962C8B-B14F-4D97-AF65-F5344CB8AC3E}">
        <p14:creationId xmlns:p14="http://schemas.microsoft.com/office/powerpoint/2010/main" val="184224294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0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10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1000"/>
                                        <p:tgtEl>
                                          <p:spTgt spid="3">
                                            <p:txEl>
                                              <p:pRg st="2" end="2"/>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026" name="Picture 2">
            <a:extLst>
              <a:ext uri="{FF2B5EF4-FFF2-40B4-BE49-F238E27FC236}">
                <a16:creationId xmlns:a16="http://schemas.microsoft.com/office/drawing/2014/main" id="{069E68C3-B6C9-4117-911E-3D36F6079B6E}"/>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0" y="20638"/>
            <a:ext cx="12192000" cy="6815137"/>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0074614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withEffect">
                                  <p:stCondLst>
                                    <p:cond delay="0"/>
                                  </p:stCondLst>
                                  <p:childTnLst>
                                    <p:set>
                                      <p:cBhvr>
                                        <p:cTn id="6" dur="1" fill="hold">
                                          <p:stCondLst>
                                            <p:cond delay="0"/>
                                          </p:stCondLst>
                                        </p:cTn>
                                        <p:tgtEl>
                                          <p:spTgt spid="1026"/>
                                        </p:tgtEl>
                                        <p:attrNameLst>
                                          <p:attrName>style.visibility</p:attrName>
                                        </p:attrNameLst>
                                      </p:cBhvr>
                                      <p:to>
                                        <p:strVal val="visible"/>
                                      </p:to>
                                    </p:set>
                                    <p:animEffect transition="in" filter="fade">
                                      <p:cBhvr>
                                        <p:cTn id="7" dur="2000"/>
                                        <p:tgtEl>
                                          <p:spTgt spid="102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Records – Paper based</a:t>
            </a:r>
          </a:p>
        </p:txBody>
      </p:sp>
      <p:sp>
        <p:nvSpPr>
          <p:cNvPr id="3" name="TextBox 2">
            <a:extLst>
              <a:ext uri="{FF2B5EF4-FFF2-40B4-BE49-F238E27FC236}">
                <a16:creationId xmlns:a16="http://schemas.microsoft.com/office/drawing/2014/main" id="{9E8D577D-F9B0-4C26-95CB-954FFDF61DBD}"/>
              </a:ext>
            </a:extLst>
          </p:cNvPr>
          <p:cNvSpPr txBox="1"/>
          <p:nvPr/>
        </p:nvSpPr>
        <p:spPr>
          <a:xfrm>
            <a:off x="690544" y="1644016"/>
            <a:ext cx="3396892" cy="2308324"/>
          </a:xfrm>
          <a:prstGeom prst="rect">
            <a:avLst/>
          </a:prstGeom>
          <a:solidFill>
            <a:schemeClr val="accent4">
              <a:lumMod val="20000"/>
              <a:lumOff val="80000"/>
            </a:schemeClr>
          </a:solidFill>
          <a:ln>
            <a:solidFill>
              <a:schemeClr val="tx1"/>
            </a:solidFill>
          </a:ln>
        </p:spPr>
        <p:txBody>
          <a:bodyPr wrap="none" rtlCol="0">
            <a:spAutoFit/>
          </a:bodyPr>
          <a:lstStyle/>
          <a:p>
            <a:r>
              <a:rPr lang="en-GB" sz="3600" b="1" dirty="0">
                <a:highlight>
                  <a:srgbClr val="C0C0C0"/>
                </a:highlight>
              </a:rPr>
              <a:t>Pupil Record</a:t>
            </a:r>
            <a:r>
              <a:rPr lang="en-GB" sz="3600" dirty="0"/>
              <a:t> </a:t>
            </a:r>
            <a:endParaRPr lang="en-GB" sz="3600" u="sng" dirty="0"/>
          </a:p>
          <a:p>
            <a:r>
              <a:rPr lang="en-GB" sz="3600" dirty="0"/>
              <a:t>Forename: Sam</a:t>
            </a:r>
          </a:p>
          <a:p>
            <a:r>
              <a:rPr lang="en-GB" sz="3600" dirty="0"/>
              <a:t>Surname:	Wilson</a:t>
            </a:r>
          </a:p>
          <a:p>
            <a:r>
              <a:rPr lang="en-GB" sz="3600" dirty="0"/>
              <a:t>Age: 11</a:t>
            </a:r>
          </a:p>
        </p:txBody>
      </p:sp>
      <p:sp>
        <p:nvSpPr>
          <p:cNvPr id="6" name="TextBox 5">
            <a:extLst>
              <a:ext uri="{FF2B5EF4-FFF2-40B4-BE49-F238E27FC236}">
                <a16:creationId xmlns:a16="http://schemas.microsoft.com/office/drawing/2014/main" id="{9E8D577D-F9B0-4C26-95CB-954FFDF61DBD}"/>
              </a:ext>
            </a:extLst>
          </p:cNvPr>
          <p:cNvSpPr txBox="1"/>
          <p:nvPr/>
        </p:nvSpPr>
        <p:spPr>
          <a:xfrm>
            <a:off x="4681107" y="1644016"/>
            <a:ext cx="3327321" cy="2308324"/>
          </a:xfrm>
          <a:prstGeom prst="rect">
            <a:avLst/>
          </a:prstGeom>
          <a:solidFill>
            <a:schemeClr val="accent4">
              <a:lumMod val="20000"/>
              <a:lumOff val="80000"/>
            </a:schemeClr>
          </a:solidFill>
          <a:ln>
            <a:solidFill>
              <a:schemeClr val="tx1"/>
            </a:solidFill>
          </a:ln>
        </p:spPr>
        <p:txBody>
          <a:bodyPr wrap="none" rtlCol="0">
            <a:spAutoFit/>
          </a:bodyPr>
          <a:lstStyle/>
          <a:p>
            <a:r>
              <a:rPr lang="en-GB" sz="3600" b="1" dirty="0">
                <a:highlight>
                  <a:srgbClr val="C0C0C0"/>
                </a:highlight>
              </a:rPr>
              <a:t>Pupil Record</a:t>
            </a:r>
            <a:r>
              <a:rPr lang="en-GB" sz="3600" dirty="0"/>
              <a:t> </a:t>
            </a:r>
            <a:endParaRPr lang="en-GB" sz="3600" u="sng" dirty="0"/>
          </a:p>
          <a:p>
            <a:r>
              <a:rPr lang="en-GB" sz="3600" dirty="0"/>
              <a:t>Forename: Kim</a:t>
            </a:r>
          </a:p>
          <a:p>
            <a:r>
              <a:rPr lang="en-GB" sz="3600" dirty="0"/>
              <a:t>Surname: Young</a:t>
            </a:r>
          </a:p>
          <a:p>
            <a:r>
              <a:rPr lang="en-GB" sz="3600" dirty="0"/>
              <a:t>Age: 18</a:t>
            </a:r>
          </a:p>
        </p:txBody>
      </p:sp>
      <p:sp>
        <p:nvSpPr>
          <p:cNvPr id="5" name="TextBox 4">
            <a:extLst>
              <a:ext uri="{FF2B5EF4-FFF2-40B4-BE49-F238E27FC236}">
                <a16:creationId xmlns:a16="http://schemas.microsoft.com/office/drawing/2014/main" id="{9E8D577D-F9B0-4C26-95CB-954FFDF61DBD}"/>
              </a:ext>
            </a:extLst>
          </p:cNvPr>
          <p:cNvSpPr txBox="1"/>
          <p:nvPr/>
        </p:nvSpPr>
        <p:spPr>
          <a:xfrm>
            <a:off x="5357044" y="4324500"/>
            <a:ext cx="3158685" cy="2308324"/>
          </a:xfrm>
          <a:prstGeom prst="rect">
            <a:avLst/>
          </a:prstGeom>
          <a:solidFill>
            <a:schemeClr val="accent4">
              <a:lumMod val="20000"/>
              <a:lumOff val="80000"/>
            </a:schemeClr>
          </a:solidFill>
          <a:ln>
            <a:solidFill>
              <a:schemeClr val="tx1"/>
            </a:solidFill>
          </a:ln>
        </p:spPr>
        <p:txBody>
          <a:bodyPr wrap="none" rtlCol="0">
            <a:spAutoFit/>
          </a:bodyPr>
          <a:lstStyle/>
          <a:p>
            <a:r>
              <a:rPr lang="en-GB" sz="3600" b="1" dirty="0">
                <a:highlight>
                  <a:srgbClr val="C0C0C0"/>
                </a:highlight>
              </a:rPr>
              <a:t>Pupil Record</a:t>
            </a:r>
            <a:r>
              <a:rPr lang="en-GB" sz="3600" dirty="0"/>
              <a:t> </a:t>
            </a:r>
            <a:endParaRPr lang="en-GB" sz="3600" u="sng" dirty="0"/>
          </a:p>
          <a:p>
            <a:r>
              <a:rPr lang="en-GB" sz="3600" dirty="0"/>
              <a:t>Forename: Sally</a:t>
            </a:r>
          </a:p>
          <a:p>
            <a:r>
              <a:rPr lang="en-GB" sz="3600" dirty="0"/>
              <a:t>Surname: Clark</a:t>
            </a:r>
          </a:p>
          <a:p>
            <a:r>
              <a:rPr lang="en-GB" sz="3600" dirty="0"/>
              <a:t>Age: 14</a:t>
            </a:r>
          </a:p>
        </p:txBody>
      </p:sp>
      <p:sp>
        <p:nvSpPr>
          <p:cNvPr id="8" name="TextBox 7">
            <a:extLst>
              <a:ext uri="{FF2B5EF4-FFF2-40B4-BE49-F238E27FC236}">
                <a16:creationId xmlns:a16="http://schemas.microsoft.com/office/drawing/2014/main" id="{9E8D577D-F9B0-4C26-95CB-954FFDF61DBD}"/>
              </a:ext>
            </a:extLst>
          </p:cNvPr>
          <p:cNvSpPr txBox="1"/>
          <p:nvPr/>
        </p:nvSpPr>
        <p:spPr>
          <a:xfrm>
            <a:off x="8441799" y="1644016"/>
            <a:ext cx="3404906" cy="2308324"/>
          </a:xfrm>
          <a:prstGeom prst="rect">
            <a:avLst/>
          </a:prstGeom>
          <a:solidFill>
            <a:schemeClr val="accent4">
              <a:lumMod val="20000"/>
              <a:lumOff val="80000"/>
            </a:schemeClr>
          </a:solidFill>
          <a:ln>
            <a:solidFill>
              <a:schemeClr val="tx1"/>
            </a:solidFill>
          </a:ln>
        </p:spPr>
        <p:txBody>
          <a:bodyPr wrap="none" rtlCol="0">
            <a:spAutoFit/>
          </a:bodyPr>
          <a:lstStyle/>
          <a:p>
            <a:r>
              <a:rPr lang="en-GB" sz="3600" b="1" dirty="0">
                <a:highlight>
                  <a:srgbClr val="C0C0C0"/>
                </a:highlight>
              </a:rPr>
              <a:t>Pupil Record</a:t>
            </a:r>
            <a:r>
              <a:rPr lang="en-GB" sz="3600" dirty="0"/>
              <a:t> </a:t>
            </a:r>
            <a:endParaRPr lang="en-GB" sz="3600" u="sng" dirty="0"/>
          </a:p>
          <a:p>
            <a:r>
              <a:rPr lang="en-GB" sz="3600" dirty="0"/>
              <a:t>Forename: Peter</a:t>
            </a:r>
          </a:p>
          <a:p>
            <a:r>
              <a:rPr lang="en-GB" sz="3600" dirty="0"/>
              <a:t>Surname: Jones</a:t>
            </a:r>
          </a:p>
          <a:p>
            <a:r>
              <a:rPr lang="en-GB" sz="3600" dirty="0"/>
              <a:t>Age: 9</a:t>
            </a:r>
          </a:p>
        </p:txBody>
      </p:sp>
      <p:sp>
        <p:nvSpPr>
          <p:cNvPr id="7" name="TextBox 6">
            <a:extLst>
              <a:ext uri="{FF2B5EF4-FFF2-40B4-BE49-F238E27FC236}">
                <a16:creationId xmlns:a16="http://schemas.microsoft.com/office/drawing/2014/main" id="{9E8D577D-F9B0-4C26-95CB-954FFDF61DBD}"/>
              </a:ext>
            </a:extLst>
          </p:cNvPr>
          <p:cNvSpPr txBox="1"/>
          <p:nvPr/>
        </p:nvSpPr>
        <p:spPr>
          <a:xfrm>
            <a:off x="1518253" y="4324500"/>
            <a:ext cx="3113353" cy="2308324"/>
          </a:xfrm>
          <a:prstGeom prst="rect">
            <a:avLst/>
          </a:prstGeom>
          <a:solidFill>
            <a:schemeClr val="accent4">
              <a:lumMod val="20000"/>
              <a:lumOff val="80000"/>
            </a:schemeClr>
          </a:solidFill>
          <a:ln>
            <a:solidFill>
              <a:schemeClr val="tx1"/>
            </a:solidFill>
          </a:ln>
        </p:spPr>
        <p:txBody>
          <a:bodyPr wrap="none" rtlCol="0">
            <a:spAutoFit/>
          </a:bodyPr>
          <a:lstStyle/>
          <a:p>
            <a:r>
              <a:rPr lang="en-GB" sz="3600" b="1" dirty="0">
                <a:highlight>
                  <a:srgbClr val="C0C0C0"/>
                </a:highlight>
              </a:rPr>
              <a:t>Pupil Record</a:t>
            </a:r>
            <a:r>
              <a:rPr lang="en-GB" sz="3600" dirty="0"/>
              <a:t> </a:t>
            </a:r>
            <a:endParaRPr lang="en-GB" sz="3600" u="sng" dirty="0"/>
          </a:p>
          <a:p>
            <a:r>
              <a:rPr lang="en-GB" sz="3600" dirty="0"/>
              <a:t>Forename: Tom</a:t>
            </a:r>
          </a:p>
          <a:p>
            <a:r>
              <a:rPr lang="en-GB" sz="3600" dirty="0"/>
              <a:t>Surname:	Smith</a:t>
            </a:r>
          </a:p>
          <a:p>
            <a:r>
              <a:rPr lang="en-GB" sz="3600" dirty="0"/>
              <a:t>Age: 6</a:t>
            </a:r>
          </a:p>
        </p:txBody>
      </p:sp>
      <p:sp>
        <p:nvSpPr>
          <p:cNvPr id="10" name="Callout: Bent Line with No Border 4">
            <a:extLst>
              <a:ext uri="{FF2B5EF4-FFF2-40B4-BE49-F238E27FC236}">
                <a16:creationId xmlns:a16="http://schemas.microsoft.com/office/drawing/2014/main" id="{924404A3-ED4C-4699-9CA9-EFEB23F51AA9}"/>
              </a:ext>
            </a:extLst>
          </p:cNvPr>
          <p:cNvSpPr/>
          <p:nvPr/>
        </p:nvSpPr>
        <p:spPr>
          <a:xfrm>
            <a:off x="9380220" y="5324575"/>
            <a:ext cx="2379980" cy="487680"/>
          </a:xfrm>
          <a:prstGeom prst="callout2">
            <a:avLst>
              <a:gd name="adj1" fmla="val 52750"/>
              <a:gd name="adj2" fmla="val -2245"/>
              <a:gd name="adj3" fmla="val 52413"/>
              <a:gd name="adj4" fmla="val -18836"/>
              <a:gd name="adj5" fmla="val 51542"/>
              <a:gd name="adj6" fmla="val -37734"/>
            </a:avLst>
          </a:prstGeom>
          <a:noFill/>
          <a:ln w="38100">
            <a:solidFill>
              <a:srgbClr val="FF0000"/>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chemeClr val="tx1"/>
                </a:solidFill>
              </a:rPr>
              <a:t>A record</a:t>
            </a:r>
          </a:p>
        </p:txBody>
      </p:sp>
    </p:spTree>
    <p:extLst>
      <p:ext uri="{BB962C8B-B14F-4D97-AF65-F5344CB8AC3E}">
        <p14:creationId xmlns:p14="http://schemas.microsoft.com/office/powerpoint/2010/main" val="319508312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1000"/>
                                        <p:tgtEl>
                                          <p:spTgt spid="3"/>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7"/>
                                        </p:tgtEl>
                                        <p:attrNameLst>
                                          <p:attrName>style.visibility</p:attrName>
                                        </p:attrNameLst>
                                      </p:cBhvr>
                                      <p:to>
                                        <p:strVal val="visible"/>
                                      </p:to>
                                    </p:set>
                                    <p:animEffect transition="in" filter="fade">
                                      <p:cBhvr>
                                        <p:cTn id="12" dur="1000"/>
                                        <p:tgtEl>
                                          <p:spTgt spid="7"/>
                                        </p:tgtEl>
                                      </p:cBhvr>
                                    </p:animEffect>
                                  </p:childTnLst>
                                </p:cTn>
                              </p:par>
                            </p:childTnLst>
                          </p:cTn>
                        </p:par>
                        <p:par>
                          <p:cTn id="13" fill="hold">
                            <p:stCondLst>
                              <p:cond delay="1000"/>
                            </p:stCondLst>
                            <p:childTnLst>
                              <p:par>
                                <p:cTn id="14" presetID="10" presetClass="entr" presetSubtype="0" fill="hold" grpId="0" nodeType="afterEffect">
                                  <p:stCondLst>
                                    <p:cond delay="0"/>
                                  </p:stCondLst>
                                  <p:childTnLst>
                                    <p:set>
                                      <p:cBhvr>
                                        <p:cTn id="15" dur="1" fill="hold">
                                          <p:stCondLst>
                                            <p:cond delay="0"/>
                                          </p:stCondLst>
                                        </p:cTn>
                                        <p:tgtEl>
                                          <p:spTgt spid="6"/>
                                        </p:tgtEl>
                                        <p:attrNameLst>
                                          <p:attrName>style.visibility</p:attrName>
                                        </p:attrNameLst>
                                      </p:cBhvr>
                                      <p:to>
                                        <p:strVal val="visible"/>
                                      </p:to>
                                    </p:set>
                                    <p:animEffect transition="in" filter="fade">
                                      <p:cBhvr>
                                        <p:cTn id="16" dur="1000"/>
                                        <p:tgtEl>
                                          <p:spTgt spid="6"/>
                                        </p:tgtEl>
                                      </p:cBhvr>
                                    </p:animEffect>
                                  </p:childTnLst>
                                </p:cTn>
                              </p:par>
                            </p:childTnLst>
                          </p:cTn>
                        </p:par>
                        <p:par>
                          <p:cTn id="17" fill="hold">
                            <p:stCondLst>
                              <p:cond delay="2000"/>
                            </p:stCondLst>
                            <p:childTnLst>
                              <p:par>
                                <p:cTn id="18" presetID="10" presetClass="entr" presetSubtype="0" fill="hold" grpId="0" nodeType="afterEffect">
                                  <p:stCondLst>
                                    <p:cond delay="0"/>
                                  </p:stCondLst>
                                  <p:childTnLst>
                                    <p:set>
                                      <p:cBhvr>
                                        <p:cTn id="19" dur="1" fill="hold">
                                          <p:stCondLst>
                                            <p:cond delay="0"/>
                                          </p:stCondLst>
                                        </p:cTn>
                                        <p:tgtEl>
                                          <p:spTgt spid="5"/>
                                        </p:tgtEl>
                                        <p:attrNameLst>
                                          <p:attrName>style.visibility</p:attrName>
                                        </p:attrNameLst>
                                      </p:cBhvr>
                                      <p:to>
                                        <p:strVal val="visible"/>
                                      </p:to>
                                    </p:set>
                                    <p:animEffect transition="in" filter="fade">
                                      <p:cBhvr>
                                        <p:cTn id="20" dur="1000"/>
                                        <p:tgtEl>
                                          <p:spTgt spid="5"/>
                                        </p:tgtEl>
                                      </p:cBhvr>
                                    </p:animEffect>
                                  </p:childTnLst>
                                </p:cTn>
                              </p:par>
                            </p:childTnLst>
                          </p:cTn>
                        </p:par>
                        <p:par>
                          <p:cTn id="21" fill="hold">
                            <p:stCondLst>
                              <p:cond delay="3000"/>
                            </p:stCondLst>
                            <p:childTnLst>
                              <p:par>
                                <p:cTn id="22" presetID="10" presetClass="entr" presetSubtype="0" fill="hold" grpId="0" nodeType="afterEffect">
                                  <p:stCondLst>
                                    <p:cond delay="0"/>
                                  </p:stCondLst>
                                  <p:childTnLst>
                                    <p:set>
                                      <p:cBhvr>
                                        <p:cTn id="23" dur="1" fill="hold">
                                          <p:stCondLst>
                                            <p:cond delay="0"/>
                                          </p:stCondLst>
                                        </p:cTn>
                                        <p:tgtEl>
                                          <p:spTgt spid="8"/>
                                        </p:tgtEl>
                                        <p:attrNameLst>
                                          <p:attrName>style.visibility</p:attrName>
                                        </p:attrNameLst>
                                      </p:cBhvr>
                                      <p:to>
                                        <p:strVal val="visible"/>
                                      </p:to>
                                    </p:set>
                                    <p:animEffect transition="in" filter="fade">
                                      <p:cBhvr>
                                        <p:cTn id="24" dur="1000"/>
                                        <p:tgtEl>
                                          <p:spTgt spid="8"/>
                                        </p:tgtEl>
                                      </p:cBhvr>
                                    </p:animEffect>
                                  </p:childTnLst>
                                </p:cTn>
                              </p:par>
                            </p:childTnLst>
                          </p:cTn>
                        </p:par>
                      </p:childTnLst>
                    </p:cTn>
                  </p:par>
                  <p:par>
                    <p:cTn id="25" fill="hold">
                      <p:stCondLst>
                        <p:cond delay="indefinite"/>
                      </p:stCondLst>
                      <p:childTnLst>
                        <p:par>
                          <p:cTn id="26" fill="hold">
                            <p:stCondLst>
                              <p:cond delay="0"/>
                            </p:stCondLst>
                            <p:childTnLst>
                              <p:par>
                                <p:cTn id="27" presetID="10" presetClass="entr" presetSubtype="0" fill="hold" grpId="0" nodeType="clickEffect">
                                  <p:stCondLst>
                                    <p:cond delay="0"/>
                                  </p:stCondLst>
                                  <p:childTnLst>
                                    <p:set>
                                      <p:cBhvr>
                                        <p:cTn id="28" dur="1" fill="hold">
                                          <p:stCondLst>
                                            <p:cond delay="0"/>
                                          </p:stCondLst>
                                        </p:cTn>
                                        <p:tgtEl>
                                          <p:spTgt spid="10"/>
                                        </p:tgtEl>
                                        <p:attrNameLst>
                                          <p:attrName>style.visibility</p:attrName>
                                        </p:attrNameLst>
                                      </p:cBhvr>
                                      <p:to>
                                        <p:strVal val="visible"/>
                                      </p:to>
                                    </p:set>
                                    <p:animEffect transition="in" filter="fade">
                                      <p:cBhvr>
                                        <p:cTn id="29" dur="10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6" grpId="0" animBg="1"/>
      <p:bldP spid="5" grpId="0" animBg="1"/>
      <p:bldP spid="8" grpId="0" animBg="1"/>
      <p:bldP spid="7" grpId="0" animBg="1"/>
      <p:bldP spid="10" grpId="0" animBg="1"/>
    </p:bldLst>
  </p:timing>
</p:sld>
</file>

<file path=ppt/slides/slide6.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Records – Paper based</a:t>
            </a:r>
          </a:p>
        </p:txBody>
      </p:sp>
      <p:sp>
        <p:nvSpPr>
          <p:cNvPr id="3" name="TextBox 2">
            <a:extLst>
              <a:ext uri="{FF2B5EF4-FFF2-40B4-BE49-F238E27FC236}">
                <a16:creationId xmlns:a16="http://schemas.microsoft.com/office/drawing/2014/main" id="{9E8D577D-F9B0-4C26-95CB-954FFDF61DBD}"/>
              </a:ext>
            </a:extLst>
          </p:cNvPr>
          <p:cNvSpPr txBox="1"/>
          <p:nvPr/>
        </p:nvSpPr>
        <p:spPr>
          <a:xfrm>
            <a:off x="690544" y="1644016"/>
            <a:ext cx="3396892" cy="2308324"/>
          </a:xfrm>
          <a:prstGeom prst="rect">
            <a:avLst/>
          </a:prstGeom>
          <a:solidFill>
            <a:schemeClr val="accent4">
              <a:lumMod val="20000"/>
              <a:lumOff val="80000"/>
            </a:schemeClr>
          </a:solidFill>
          <a:ln>
            <a:solidFill>
              <a:schemeClr val="tx1"/>
            </a:solidFill>
          </a:ln>
        </p:spPr>
        <p:txBody>
          <a:bodyPr wrap="none" rtlCol="0">
            <a:spAutoFit/>
          </a:bodyPr>
          <a:lstStyle/>
          <a:p>
            <a:r>
              <a:rPr lang="en-GB" sz="3600" b="1" dirty="0">
                <a:highlight>
                  <a:srgbClr val="C0C0C0"/>
                </a:highlight>
              </a:rPr>
              <a:t>Pupil Record</a:t>
            </a:r>
            <a:r>
              <a:rPr lang="en-GB" sz="3600" dirty="0"/>
              <a:t> </a:t>
            </a:r>
            <a:endParaRPr lang="en-GB" sz="3600" u="sng" dirty="0"/>
          </a:p>
          <a:p>
            <a:r>
              <a:rPr lang="en-GB" sz="3600" dirty="0"/>
              <a:t>Forename: Sam</a:t>
            </a:r>
          </a:p>
          <a:p>
            <a:r>
              <a:rPr lang="en-GB" sz="3600" dirty="0"/>
              <a:t>Surname:	Wilson</a:t>
            </a:r>
          </a:p>
          <a:p>
            <a:r>
              <a:rPr lang="en-GB" sz="3600" dirty="0"/>
              <a:t>Age: 11</a:t>
            </a:r>
          </a:p>
        </p:txBody>
      </p:sp>
      <p:sp>
        <p:nvSpPr>
          <p:cNvPr id="6" name="TextBox 5">
            <a:extLst>
              <a:ext uri="{FF2B5EF4-FFF2-40B4-BE49-F238E27FC236}">
                <a16:creationId xmlns:a16="http://schemas.microsoft.com/office/drawing/2014/main" id="{9E8D577D-F9B0-4C26-95CB-954FFDF61DBD}"/>
              </a:ext>
            </a:extLst>
          </p:cNvPr>
          <p:cNvSpPr txBox="1"/>
          <p:nvPr/>
        </p:nvSpPr>
        <p:spPr>
          <a:xfrm>
            <a:off x="4681107" y="1644016"/>
            <a:ext cx="3327321" cy="2308324"/>
          </a:xfrm>
          <a:prstGeom prst="rect">
            <a:avLst/>
          </a:prstGeom>
          <a:solidFill>
            <a:schemeClr val="accent4">
              <a:lumMod val="20000"/>
              <a:lumOff val="80000"/>
            </a:schemeClr>
          </a:solidFill>
          <a:ln>
            <a:solidFill>
              <a:schemeClr val="tx1"/>
            </a:solidFill>
          </a:ln>
        </p:spPr>
        <p:txBody>
          <a:bodyPr wrap="none" rtlCol="0">
            <a:spAutoFit/>
          </a:bodyPr>
          <a:lstStyle/>
          <a:p>
            <a:r>
              <a:rPr lang="en-GB" sz="3600" b="1" dirty="0">
                <a:highlight>
                  <a:srgbClr val="C0C0C0"/>
                </a:highlight>
              </a:rPr>
              <a:t>Pupil Record</a:t>
            </a:r>
            <a:r>
              <a:rPr lang="en-GB" sz="3600" dirty="0"/>
              <a:t> </a:t>
            </a:r>
            <a:endParaRPr lang="en-GB" sz="3600" u="sng" dirty="0"/>
          </a:p>
          <a:p>
            <a:r>
              <a:rPr lang="en-GB" sz="3600" dirty="0"/>
              <a:t>Forename: Kim</a:t>
            </a:r>
          </a:p>
          <a:p>
            <a:r>
              <a:rPr lang="en-GB" sz="3600" dirty="0"/>
              <a:t>Surname: Young</a:t>
            </a:r>
          </a:p>
          <a:p>
            <a:r>
              <a:rPr lang="en-GB" sz="3600" dirty="0"/>
              <a:t>Age: 18</a:t>
            </a:r>
          </a:p>
        </p:txBody>
      </p:sp>
      <p:sp>
        <p:nvSpPr>
          <p:cNvPr id="5" name="TextBox 4">
            <a:extLst>
              <a:ext uri="{FF2B5EF4-FFF2-40B4-BE49-F238E27FC236}">
                <a16:creationId xmlns:a16="http://schemas.microsoft.com/office/drawing/2014/main" id="{9E8D577D-F9B0-4C26-95CB-954FFDF61DBD}"/>
              </a:ext>
            </a:extLst>
          </p:cNvPr>
          <p:cNvSpPr txBox="1"/>
          <p:nvPr/>
        </p:nvSpPr>
        <p:spPr>
          <a:xfrm>
            <a:off x="5357044" y="4324500"/>
            <a:ext cx="3158685" cy="2308324"/>
          </a:xfrm>
          <a:prstGeom prst="rect">
            <a:avLst/>
          </a:prstGeom>
          <a:solidFill>
            <a:schemeClr val="accent4">
              <a:lumMod val="20000"/>
              <a:lumOff val="80000"/>
            </a:schemeClr>
          </a:solidFill>
          <a:ln>
            <a:solidFill>
              <a:schemeClr val="tx1"/>
            </a:solidFill>
          </a:ln>
        </p:spPr>
        <p:txBody>
          <a:bodyPr wrap="none" rtlCol="0">
            <a:spAutoFit/>
          </a:bodyPr>
          <a:lstStyle/>
          <a:p>
            <a:r>
              <a:rPr lang="en-GB" sz="3600" b="1" dirty="0">
                <a:highlight>
                  <a:srgbClr val="C0C0C0"/>
                </a:highlight>
              </a:rPr>
              <a:t>Pupil Record</a:t>
            </a:r>
            <a:r>
              <a:rPr lang="en-GB" sz="3600" dirty="0"/>
              <a:t> </a:t>
            </a:r>
            <a:endParaRPr lang="en-GB" sz="3600" u="sng" dirty="0"/>
          </a:p>
          <a:p>
            <a:r>
              <a:rPr lang="en-GB" sz="3600" dirty="0"/>
              <a:t>Forename: Sally</a:t>
            </a:r>
          </a:p>
          <a:p>
            <a:r>
              <a:rPr lang="en-GB" sz="3600" dirty="0"/>
              <a:t>Surname: Clark</a:t>
            </a:r>
          </a:p>
          <a:p>
            <a:r>
              <a:rPr lang="en-GB" sz="3600" dirty="0"/>
              <a:t>Age: 14</a:t>
            </a:r>
          </a:p>
        </p:txBody>
      </p:sp>
      <p:sp>
        <p:nvSpPr>
          <p:cNvPr id="8" name="TextBox 7">
            <a:extLst>
              <a:ext uri="{FF2B5EF4-FFF2-40B4-BE49-F238E27FC236}">
                <a16:creationId xmlns:a16="http://schemas.microsoft.com/office/drawing/2014/main" id="{9E8D577D-F9B0-4C26-95CB-954FFDF61DBD}"/>
              </a:ext>
            </a:extLst>
          </p:cNvPr>
          <p:cNvSpPr txBox="1"/>
          <p:nvPr/>
        </p:nvSpPr>
        <p:spPr>
          <a:xfrm>
            <a:off x="8441799" y="1644016"/>
            <a:ext cx="3404906" cy="2308324"/>
          </a:xfrm>
          <a:prstGeom prst="rect">
            <a:avLst/>
          </a:prstGeom>
          <a:solidFill>
            <a:schemeClr val="accent4">
              <a:lumMod val="20000"/>
              <a:lumOff val="80000"/>
            </a:schemeClr>
          </a:solidFill>
          <a:ln>
            <a:solidFill>
              <a:schemeClr val="tx1"/>
            </a:solidFill>
          </a:ln>
        </p:spPr>
        <p:txBody>
          <a:bodyPr wrap="none" rtlCol="0">
            <a:spAutoFit/>
          </a:bodyPr>
          <a:lstStyle/>
          <a:p>
            <a:r>
              <a:rPr lang="en-GB" sz="3600" b="1" dirty="0">
                <a:highlight>
                  <a:srgbClr val="C0C0C0"/>
                </a:highlight>
              </a:rPr>
              <a:t>Pupil Record</a:t>
            </a:r>
            <a:r>
              <a:rPr lang="en-GB" sz="3600" dirty="0"/>
              <a:t> </a:t>
            </a:r>
            <a:endParaRPr lang="en-GB" sz="3600" u="sng" dirty="0"/>
          </a:p>
          <a:p>
            <a:r>
              <a:rPr lang="en-GB" sz="3600" dirty="0"/>
              <a:t>Forename: Peter</a:t>
            </a:r>
          </a:p>
          <a:p>
            <a:r>
              <a:rPr lang="en-GB" sz="3600" dirty="0"/>
              <a:t>Surname: Jones</a:t>
            </a:r>
          </a:p>
          <a:p>
            <a:r>
              <a:rPr lang="en-GB" sz="3600" dirty="0"/>
              <a:t>Age: 9</a:t>
            </a:r>
          </a:p>
        </p:txBody>
      </p:sp>
      <p:sp>
        <p:nvSpPr>
          <p:cNvPr id="7" name="TextBox 6">
            <a:extLst>
              <a:ext uri="{FF2B5EF4-FFF2-40B4-BE49-F238E27FC236}">
                <a16:creationId xmlns:a16="http://schemas.microsoft.com/office/drawing/2014/main" id="{9E8D577D-F9B0-4C26-95CB-954FFDF61DBD}"/>
              </a:ext>
            </a:extLst>
          </p:cNvPr>
          <p:cNvSpPr txBox="1"/>
          <p:nvPr/>
        </p:nvSpPr>
        <p:spPr>
          <a:xfrm>
            <a:off x="1518253" y="4324500"/>
            <a:ext cx="3113353" cy="2308324"/>
          </a:xfrm>
          <a:prstGeom prst="rect">
            <a:avLst/>
          </a:prstGeom>
          <a:solidFill>
            <a:schemeClr val="accent4">
              <a:lumMod val="20000"/>
              <a:lumOff val="80000"/>
            </a:schemeClr>
          </a:solidFill>
          <a:ln>
            <a:solidFill>
              <a:schemeClr val="tx1"/>
            </a:solidFill>
          </a:ln>
        </p:spPr>
        <p:txBody>
          <a:bodyPr wrap="none" rtlCol="0">
            <a:spAutoFit/>
          </a:bodyPr>
          <a:lstStyle/>
          <a:p>
            <a:r>
              <a:rPr lang="en-GB" sz="3600" b="1" dirty="0">
                <a:highlight>
                  <a:srgbClr val="C0C0C0"/>
                </a:highlight>
              </a:rPr>
              <a:t>Pupil Record</a:t>
            </a:r>
            <a:r>
              <a:rPr lang="en-GB" sz="3600" dirty="0"/>
              <a:t> </a:t>
            </a:r>
            <a:endParaRPr lang="en-GB" sz="3600" u="sng" dirty="0"/>
          </a:p>
          <a:p>
            <a:r>
              <a:rPr lang="en-GB" sz="3600" dirty="0"/>
              <a:t>Forename: Tom</a:t>
            </a:r>
          </a:p>
          <a:p>
            <a:r>
              <a:rPr lang="en-GB" sz="3600" dirty="0"/>
              <a:t>Surname:	Smith</a:t>
            </a:r>
          </a:p>
          <a:p>
            <a:r>
              <a:rPr lang="en-GB" sz="3600" dirty="0"/>
              <a:t>Age: 6</a:t>
            </a:r>
          </a:p>
        </p:txBody>
      </p:sp>
    </p:spTree>
    <p:extLst>
      <p:ext uri="{BB962C8B-B14F-4D97-AF65-F5344CB8AC3E}">
        <p14:creationId xmlns:p14="http://schemas.microsoft.com/office/powerpoint/2010/main" val="504513756"/>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Records – Electronic</a:t>
            </a:r>
          </a:p>
        </p:txBody>
      </p:sp>
      <p:graphicFrame>
        <p:nvGraphicFramePr>
          <p:cNvPr id="5" name="Table 5">
            <a:extLst>
              <a:ext uri="{FF2B5EF4-FFF2-40B4-BE49-F238E27FC236}">
                <a16:creationId xmlns:a16="http://schemas.microsoft.com/office/drawing/2014/main" id="{38A8414E-6490-4AD8-90BD-DF0216F61C69}"/>
              </a:ext>
            </a:extLst>
          </p:cNvPr>
          <p:cNvGraphicFramePr>
            <a:graphicFrameLocks noGrp="1"/>
          </p:cNvGraphicFramePr>
          <p:nvPr>
            <p:ph idx="1"/>
            <p:extLst>
              <p:ext uri="{D42A27DB-BD31-4B8C-83A1-F6EECF244321}">
                <p14:modId xmlns:p14="http://schemas.microsoft.com/office/powerpoint/2010/main" val="3076279344"/>
              </p:ext>
            </p:extLst>
          </p:nvPr>
        </p:nvGraphicFramePr>
        <p:xfrm>
          <a:off x="838200" y="2757168"/>
          <a:ext cx="6451600" cy="3474720"/>
        </p:xfrm>
        <a:graphic>
          <a:graphicData uri="http://schemas.openxmlformats.org/drawingml/2006/table">
            <a:tbl>
              <a:tblPr firstRow="1" bandRow="1">
                <a:tableStyleId>{5C22544A-7EE6-4342-B048-85BDC9FD1C3A}</a:tableStyleId>
              </a:tblPr>
              <a:tblGrid>
                <a:gridCol w="2397760">
                  <a:extLst>
                    <a:ext uri="{9D8B030D-6E8A-4147-A177-3AD203B41FA5}">
                      <a16:colId xmlns:a16="http://schemas.microsoft.com/office/drawing/2014/main" val="3505833113"/>
                    </a:ext>
                  </a:extLst>
                </a:gridCol>
                <a:gridCol w="2148840">
                  <a:extLst>
                    <a:ext uri="{9D8B030D-6E8A-4147-A177-3AD203B41FA5}">
                      <a16:colId xmlns:a16="http://schemas.microsoft.com/office/drawing/2014/main" val="315362434"/>
                    </a:ext>
                  </a:extLst>
                </a:gridCol>
                <a:gridCol w="1905000">
                  <a:extLst>
                    <a:ext uri="{9D8B030D-6E8A-4147-A177-3AD203B41FA5}">
                      <a16:colId xmlns:a16="http://schemas.microsoft.com/office/drawing/2014/main" val="415971381"/>
                    </a:ext>
                  </a:extLst>
                </a:gridCol>
              </a:tblGrid>
              <a:tr h="370840">
                <a:tc>
                  <a:txBody>
                    <a:bodyPr/>
                    <a:lstStyle/>
                    <a:p>
                      <a:pPr algn="ctr"/>
                      <a:r>
                        <a:rPr lang="en-GB" sz="3200" dirty="0"/>
                        <a:t>Forename</a:t>
                      </a:r>
                    </a:p>
                  </a:txBody>
                  <a:tcPr/>
                </a:tc>
                <a:tc>
                  <a:txBody>
                    <a:bodyPr/>
                    <a:lstStyle/>
                    <a:p>
                      <a:pPr algn="ctr"/>
                      <a:r>
                        <a:rPr lang="en-GB" sz="3200" dirty="0"/>
                        <a:t>Surname</a:t>
                      </a:r>
                    </a:p>
                  </a:txBody>
                  <a:tcPr/>
                </a:tc>
                <a:tc>
                  <a:txBody>
                    <a:bodyPr/>
                    <a:lstStyle/>
                    <a:p>
                      <a:pPr algn="ctr"/>
                      <a:r>
                        <a:rPr lang="en-GB" sz="3200" dirty="0"/>
                        <a:t>Age</a:t>
                      </a:r>
                    </a:p>
                  </a:txBody>
                  <a:tcPr/>
                </a:tc>
                <a:extLst>
                  <a:ext uri="{0D108BD9-81ED-4DB2-BD59-A6C34878D82A}">
                    <a16:rowId xmlns:a16="http://schemas.microsoft.com/office/drawing/2014/main" val="3459615676"/>
                  </a:ext>
                </a:extLst>
              </a:tr>
              <a:tr h="370840">
                <a:tc>
                  <a:txBody>
                    <a:bodyPr/>
                    <a:lstStyle/>
                    <a:p>
                      <a:pPr lvl="1" algn="l"/>
                      <a:r>
                        <a:rPr lang="en-GB" sz="3200" dirty="0"/>
                        <a:t>Tom</a:t>
                      </a:r>
                    </a:p>
                  </a:txBody>
                  <a:tcPr/>
                </a:tc>
                <a:tc>
                  <a:txBody>
                    <a:bodyPr/>
                    <a:lstStyle/>
                    <a:p>
                      <a:pPr lvl="1" algn="l"/>
                      <a:r>
                        <a:rPr lang="en-GB" sz="3200" dirty="0"/>
                        <a:t>Smith</a:t>
                      </a:r>
                    </a:p>
                  </a:txBody>
                  <a:tcPr/>
                </a:tc>
                <a:tc>
                  <a:txBody>
                    <a:bodyPr/>
                    <a:lstStyle/>
                    <a:p>
                      <a:pPr lvl="1"/>
                      <a:r>
                        <a:rPr lang="en-GB" sz="3200" dirty="0"/>
                        <a:t>6</a:t>
                      </a:r>
                    </a:p>
                  </a:txBody>
                  <a:tcPr/>
                </a:tc>
                <a:extLst>
                  <a:ext uri="{0D108BD9-81ED-4DB2-BD59-A6C34878D82A}">
                    <a16:rowId xmlns:a16="http://schemas.microsoft.com/office/drawing/2014/main" val="1127765656"/>
                  </a:ext>
                </a:extLst>
              </a:tr>
              <a:tr h="370840">
                <a:tc>
                  <a:txBody>
                    <a:bodyPr/>
                    <a:lstStyle/>
                    <a:p>
                      <a:pPr lvl="1" algn="l"/>
                      <a:r>
                        <a:rPr lang="en-GB" sz="3200" dirty="0"/>
                        <a:t>Peter</a:t>
                      </a:r>
                    </a:p>
                  </a:txBody>
                  <a:tcPr/>
                </a:tc>
                <a:tc>
                  <a:txBody>
                    <a:bodyPr/>
                    <a:lstStyle/>
                    <a:p>
                      <a:pPr lvl="1" algn="l"/>
                      <a:r>
                        <a:rPr lang="en-GB" sz="3200" dirty="0"/>
                        <a:t>Jones</a:t>
                      </a:r>
                    </a:p>
                  </a:txBody>
                  <a:tcPr/>
                </a:tc>
                <a:tc>
                  <a:txBody>
                    <a:bodyPr/>
                    <a:lstStyle/>
                    <a:p>
                      <a:pPr lvl="1"/>
                      <a:r>
                        <a:rPr lang="en-GB" sz="3200" dirty="0"/>
                        <a:t>9</a:t>
                      </a:r>
                    </a:p>
                  </a:txBody>
                  <a:tcPr/>
                </a:tc>
                <a:extLst>
                  <a:ext uri="{0D108BD9-81ED-4DB2-BD59-A6C34878D82A}">
                    <a16:rowId xmlns:a16="http://schemas.microsoft.com/office/drawing/2014/main" val="2924661129"/>
                  </a:ext>
                </a:extLst>
              </a:tr>
              <a:tr h="370840">
                <a:tc>
                  <a:txBody>
                    <a:bodyPr/>
                    <a:lstStyle/>
                    <a:p>
                      <a:pPr lvl="1" algn="l"/>
                      <a:r>
                        <a:rPr lang="en-GB" sz="3200" dirty="0"/>
                        <a:t>Sally</a:t>
                      </a:r>
                    </a:p>
                  </a:txBody>
                  <a:tcPr/>
                </a:tc>
                <a:tc>
                  <a:txBody>
                    <a:bodyPr/>
                    <a:lstStyle/>
                    <a:p>
                      <a:pPr lvl="1" algn="l"/>
                      <a:r>
                        <a:rPr lang="en-GB" sz="3200" dirty="0"/>
                        <a:t>Clark</a:t>
                      </a:r>
                    </a:p>
                  </a:txBody>
                  <a:tcPr/>
                </a:tc>
                <a:tc>
                  <a:txBody>
                    <a:bodyPr/>
                    <a:lstStyle/>
                    <a:p>
                      <a:pPr lvl="1"/>
                      <a:r>
                        <a:rPr lang="en-GB" sz="3200" dirty="0"/>
                        <a:t>14</a:t>
                      </a:r>
                    </a:p>
                  </a:txBody>
                  <a:tcPr/>
                </a:tc>
                <a:extLst>
                  <a:ext uri="{0D108BD9-81ED-4DB2-BD59-A6C34878D82A}">
                    <a16:rowId xmlns:a16="http://schemas.microsoft.com/office/drawing/2014/main" val="3885493841"/>
                  </a:ext>
                </a:extLst>
              </a:tr>
              <a:tr h="370840">
                <a:tc>
                  <a:txBody>
                    <a:bodyPr/>
                    <a:lstStyle/>
                    <a:p>
                      <a:pPr lvl="1" algn="l"/>
                      <a:r>
                        <a:rPr lang="en-GB" sz="3200" dirty="0"/>
                        <a:t>Sam</a:t>
                      </a:r>
                    </a:p>
                  </a:txBody>
                  <a:tcPr/>
                </a:tc>
                <a:tc>
                  <a:txBody>
                    <a:bodyPr/>
                    <a:lstStyle/>
                    <a:p>
                      <a:pPr lvl="1" algn="l"/>
                      <a:r>
                        <a:rPr lang="en-GB" sz="3200" dirty="0"/>
                        <a:t>Wilson</a:t>
                      </a:r>
                    </a:p>
                  </a:txBody>
                  <a:tcPr/>
                </a:tc>
                <a:tc>
                  <a:txBody>
                    <a:bodyPr/>
                    <a:lstStyle/>
                    <a:p>
                      <a:pPr lvl="1"/>
                      <a:r>
                        <a:rPr lang="en-GB" sz="3200" dirty="0"/>
                        <a:t>11</a:t>
                      </a:r>
                    </a:p>
                  </a:txBody>
                  <a:tcPr/>
                </a:tc>
                <a:extLst>
                  <a:ext uri="{0D108BD9-81ED-4DB2-BD59-A6C34878D82A}">
                    <a16:rowId xmlns:a16="http://schemas.microsoft.com/office/drawing/2014/main" val="1487565366"/>
                  </a:ext>
                </a:extLst>
              </a:tr>
              <a:tr h="370840">
                <a:tc>
                  <a:txBody>
                    <a:bodyPr/>
                    <a:lstStyle/>
                    <a:p>
                      <a:pPr lvl="1" algn="l"/>
                      <a:r>
                        <a:rPr lang="en-GB" sz="3200" dirty="0"/>
                        <a:t>Kim</a:t>
                      </a:r>
                    </a:p>
                  </a:txBody>
                  <a:tcPr/>
                </a:tc>
                <a:tc>
                  <a:txBody>
                    <a:bodyPr/>
                    <a:lstStyle/>
                    <a:p>
                      <a:pPr lvl="1" algn="l"/>
                      <a:r>
                        <a:rPr lang="en-GB" sz="3200" dirty="0"/>
                        <a:t>Young</a:t>
                      </a:r>
                    </a:p>
                  </a:txBody>
                  <a:tcPr/>
                </a:tc>
                <a:tc>
                  <a:txBody>
                    <a:bodyPr/>
                    <a:lstStyle/>
                    <a:p>
                      <a:pPr lvl="1"/>
                      <a:r>
                        <a:rPr lang="en-GB" sz="3200" dirty="0"/>
                        <a:t>18</a:t>
                      </a:r>
                    </a:p>
                  </a:txBody>
                  <a:tcPr/>
                </a:tc>
                <a:extLst>
                  <a:ext uri="{0D108BD9-81ED-4DB2-BD59-A6C34878D82A}">
                    <a16:rowId xmlns:a16="http://schemas.microsoft.com/office/drawing/2014/main" val="3382330726"/>
                  </a:ext>
                </a:extLst>
              </a:tr>
            </a:tbl>
          </a:graphicData>
        </a:graphic>
      </p:graphicFrame>
      <p:sp>
        <p:nvSpPr>
          <p:cNvPr id="4" name="Rectangle: Rounded Corners 9">
            <a:extLst>
              <a:ext uri="{FF2B5EF4-FFF2-40B4-BE49-F238E27FC236}">
                <a16:creationId xmlns:a16="http://schemas.microsoft.com/office/drawing/2014/main" id="{5D773087-09BD-45AD-89A6-29025E9351DE}"/>
              </a:ext>
            </a:extLst>
          </p:cNvPr>
          <p:cNvSpPr/>
          <p:nvPr/>
        </p:nvSpPr>
        <p:spPr>
          <a:xfrm>
            <a:off x="838200" y="4486590"/>
            <a:ext cx="6451600" cy="565785"/>
          </a:xfrm>
          <a:prstGeom prst="roundRect">
            <a:avLst/>
          </a:prstGeom>
          <a:noFill/>
          <a:ln w="3810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6" name="Callout: Bent Line with No Border 4">
            <a:extLst>
              <a:ext uri="{FF2B5EF4-FFF2-40B4-BE49-F238E27FC236}">
                <a16:creationId xmlns:a16="http://schemas.microsoft.com/office/drawing/2014/main" id="{924404A3-ED4C-4699-9CA9-EFEB23F51AA9}"/>
              </a:ext>
            </a:extLst>
          </p:cNvPr>
          <p:cNvSpPr/>
          <p:nvPr/>
        </p:nvSpPr>
        <p:spPr>
          <a:xfrm>
            <a:off x="8382635" y="4324728"/>
            <a:ext cx="2839547" cy="889507"/>
          </a:xfrm>
          <a:prstGeom prst="callout2">
            <a:avLst>
              <a:gd name="adj1" fmla="val 52750"/>
              <a:gd name="adj2" fmla="val -2245"/>
              <a:gd name="adj3" fmla="val 53715"/>
              <a:gd name="adj4" fmla="val -18969"/>
              <a:gd name="adj5" fmla="val 53496"/>
              <a:gd name="adj6" fmla="val -32662"/>
            </a:avLst>
          </a:prstGeom>
          <a:noFill/>
          <a:ln w="38100">
            <a:solidFill>
              <a:srgbClr val="FF0000"/>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A record</a:t>
            </a:r>
          </a:p>
          <a:p>
            <a:r>
              <a:rPr lang="en-GB" sz="2800" b="1" dirty="0">
                <a:solidFill>
                  <a:srgbClr val="7030A0"/>
                </a:solidFill>
              </a:rPr>
              <a:t>(multiple fields)</a:t>
            </a:r>
          </a:p>
        </p:txBody>
      </p:sp>
      <p:sp>
        <p:nvSpPr>
          <p:cNvPr id="3" name="TextBox 2">
            <a:extLst>
              <a:ext uri="{FF2B5EF4-FFF2-40B4-BE49-F238E27FC236}">
                <a16:creationId xmlns:a16="http://schemas.microsoft.com/office/drawing/2014/main" id="{52A295CC-8959-7191-3AFD-BD54D14A7EC9}"/>
              </a:ext>
            </a:extLst>
          </p:cNvPr>
          <p:cNvSpPr txBox="1"/>
          <p:nvPr/>
        </p:nvSpPr>
        <p:spPr>
          <a:xfrm>
            <a:off x="838200" y="1559731"/>
            <a:ext cx="3955442" cy="584775"/>
          </a:xfrm>
          <a:prstGeom prst="rect">
            <a:avLst/>
          </a:prstGeom>
          <a:noFill/>
        </p:spPr>
        <p:txBody>
          <a:bodyPr wrap="none" rtlCol="0">
            <a:spAutoFit/>
          </a:bodyPr>
          <a:lstStyle/>
          <a:p>
            <a:r>
              <a:rPr lang="en-GB" sz="3200" b="1" dirty="0">
                <a:solidFill>
                  <a:srgbClr val="7030A0"/>
                </a:solidFill>
              </a:rPr>
              <a:t>Data stored in table(s)</a:t>
            </a:r>
          </a:p>
        </p:txBody>
      </p:sp>
      <p:sp>
        <p:nvSpPr>
          <p:cNvPr id="7" name="Rectangle: Rounded Corners 9">
            <a:extLst>
              <a:ext uri="{FF2B5EF4-FFF2-40B4-BE49-F238E27FC236}">
                <a16:creationId xmlns:a16="http://schemas.microsoft.com/office/drawing/2014/main" id="{EBD85118-3121-322A-A785-D7E5BC3C6DDB}"/>
              </a:ext>
            </a:extLst>
          </p:cNvPr>
          <p:cNvSpPr/>
          <p:nvPr/>
        </p:nvSpPr>
        <p:spPr>
          <a:xfrm>
            <a:off x="5428891" y="2757168"/>
            <a:ext cx="1805796" cy="565785"/>
          </a:xfrm>
          <a:prstGeom prst="roundRect">
            <a:avLst/>
          </a:prstGeom>
          <a:noFill/>
          <a:ln w="3810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8" name="Callout: Bent Line with No Border 4">
            <a:extLst>
              <a:ext uri="{FF2B5EF4-FFF2-40B4-BE49-F238E27FC236}">
                <a16:creationId xmlns:a16="http://schemas.microsoft.com/office/drawing/2014/main" id="{B9255652-7499-91E1-0752-F0DD357DD42C}"/>
              </a:ext>
            </a:extLst>
          </p:cNvPr>
          <p:cNvSpPr/>
          <p:nvPr/>
        </p:nvSpPr>
        <p:spPr>
          <a:xfrm>
            <a:off x="8382635" y="2811781"/>
            <a:ext cx="2379980" cy="487680"/>
          </a:xfrm>
          <a:prstGeom prst="callout2">
            <a:avLst>
              <a:gd name="adj1" fmla="val 52750"/>
              <a:gd name="adj2" fmla="val -2245"/>
              <a:gd name="adj3" fmla="val 53715"/>
              <a:gd name="adj4" fmla="val -18969"/>
              <a:gd name="adj5" fmla="val 53496"/>
              <a:gd name="adj6" fmla="val -38935"/>
            </a:avLst>
          </a:prstGeom>
          <a:noFill/>
          <a:ln w="38100">
            <a:solidFill>
              <a:srgbClr val="FF0000"/>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A field</a:t>
            </a:r>
          </a:p>
        </p:txBody>
      </p:sp>
    </p:spTree>
    <p:extLst>
      <p:ext uri="{BB962C8B-B14F-4D97-AF65-F5344CB8AC3E}">
        <p14:creationId xmlns:p14="http://schemas.microsoft.com/office/powerpoint/2010/main" val="387762873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wipe(left)">
                                      <p:cBhvr>
                                        <p:cTn id="7" dur="1500"/>
                                        <p:tgtEl>
                                          <p:spTgt spid="3"/>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1" fill="hold" nodeType="clickEffect">
                                  <p:stCondLst>
                                    <p:cond delay="0"/>
                                  </p:stCondLst>
                                  <p:childTnLst>
                                    <p:set>
                                      <p:cBhvr>
                                        <p:cTn id="11" dur="1" fill="hold">
                                          <p:stCondLst>
                                            <p:cond delay="0"/>
                                          </p:stCondLst>
                                        </p:cTn>
                                        <p:tgtEl>
                                          <p:spTgt spid="5"/>
                                        </p:tgtEl>
                                        <p:attrNameLst>
                                          <p:attrName>style.visibility</p:attrName>
                                        </p:attrNameLst>
                                      </p:cBhvr>
                                      <p:to>
                                        <p:strVal val="visible"/>
                                      </p:to>
                                    </p:set>
                                    <p:animEffect transition="in" filter="wipe(up)">
                                      <p:cBhvr>
                                        <p:cTn id="12" dur="2000"/>
                                        <p:tgtEl>
                                          <p:spTgt spid="5"/>
                                        </p:tgtEl>
                                      </p:cBhvr>
                                    </p:animEffect>
                                  </p:childTnLst>
                                </p:cTn>
                              </p:par>
                            </p:childTnLst>
                          </p:cTn>
                        </p:par>
                      </p:childTnLst>
                    </p:cTn>
                  </p:par>
                  <p:par>
                    <p:cTn id="13" fill="hold">
                      <p:stCondLst>
                        <p:cond delay="indefinite"/>
                      </p:stCondLst>
                      <p:childTnLst>
                        <p:par>
                          <p:cTn id="14" fill="hold">
                            <p:stCondLst>
                              <p:cond delay="0"/>
                            </p:stCondLst>
                            <p:childTnLst>
                              <p:par>
                                <p:cTn id="15" presetID="16" presetClass="entr" presetSubtype="37" fill="hold" grpId="0" nodeType="clickEffect">
                                  <p:stCondLst>
                                    <p:cond delay="0"/>
                                  </p:stCondLst>
                                  <p:childTnLst>
                                    <p:set>
                                      <p:cBhvr>
                                        <p:cTn id="16" dur="1" fill="hold">
                                          <p:stCondLst>
                                            <p:cond delay="0"/>
                                          </p:stCondLst>
                                        </p:cTn>
                                        <p:tgtEl>
                                          <p:spTgt spid="7"/>
                                        </p:tgtEl>
                                        <p:attrNameLst>
                                          <p:attrName>style.visibility</p:attrName>
                                        </p:attrNameLst>
                                      </p:cBhvr>
                                      <p:to>
                                        <p:strVal val="visible"/>
                                      </p:to>
                                    </p:set>
                                    <p:animEffect transition="in" filter="barn(outVertical)">
                                      <p:cBhvr>
                                        <p:cTn id="17" dur="500"/>
                                        <p:tgtEl>
                                          <p:spTgt spid="7"/>
                                        </p:tgtEl>
                                      </p:cBhvr>
                                    </p:animEffect>
                                  </p:childTnLst>
                                </p:cTn>
                              </p:par>
                            </p:childTnLst>
                          </p:cTn>
                        </p:par>
                        <p:par>
                          <p:cTn id="18" fill="hold">
                            <p:stCondLst>
                              <p:cond delay="1500"/>
                            </p:stCondLst>
                            <p:childTnLst>
                              <p:par>
                                <p:cTn id="19" presetID="10" presetClass="entr" presetSubtype="0" fill="hold" grpId="0" nodeType="afterEffect">
                                  <p:stCondLst>
                                    <p:cond delay="0"/>
                                  </p:stCondLst>
                                  <p:childTnLst>
                                    <p:set>
                                      <p:cBhvr>
                                        <p:cTn id="20" dur="1" fill="hold">
                                          <p:stCondLst>
                                            <p:cond delay="0"/>
                                          </p:stCondLst>
                                        </p:cTn>
                                        <p:tgtEl>
                                          <p:spTgt spid="8"/>
                                        </p:tgtEl>
                                        <p:attrNameLst>
                                          <p:attrName>style.visibility</p:attrName>
                                        </p:attrNameLst>
                                      </p:cBhvr>
                                      <p:to>
                                        <p:strVal val="visible"/>
                                      </p:to>
                                    </p:set>
                                    <p:animEffect transition="in" filter="fade">
                                      <p:cBhvr>
                                        <p:cTn id="21" dur="1000"/>
                                        <p:tgtEl>
                                          <p:spTgt spid="8"/>
                                        </p:tgtEl>
                                      </p:cBhvr>
                                    </p:animEffect>
                                  </p:childTnLst>
                                </p:cTn>
                              </p:par>
                            </p:childTnLst>
                          </p:cTn>
                        </p:par>
                      </p:childTnLst>
                    </p:cTn>
                  </p:par>
                  <p:par>
                    <p:cTn id="22" fill="hold">
                      <p:stCondLst>
                        <p:cond delay="indefinite"/>
                      </p:stCondLst>
                      <p:childTnLst>
                        <p:par>
                          <p:cTn id="23" fill="hold">
                            <p:stCondLst>
                              <p:cond delay="0"/>
                            </p:stCondLst>
                            <p:childTnLst>
                              <p:par>
                                <p:cTn id="24" presetID="16" presetClass="entr" presetSubtype="37" fill="hold" grpId="0" nodeType="clickEffect">
                                  <p:stCondLst>
                                    <p:cond delay="0"/>
                                  </p:stCondLst>
                                  <p:childTnLst>
                                    <p:set>
                                      <p:cBhvr>
                                        <p:cTn id="25" dur="1" fill="hold">
                                          <p:stCondLst>
                                            <p:cond delay="0"/>
                                          </p:stCondLst>
                                        </p:cTn>
                                        <p:tgtEl>
                                          <p:spTgt spid="4"/>
                                        </p:tgtEl>
                                        <p:attrNameLst>
                                          <p:attrName>style.visibility</p:attrName>
                                        </p:attrNameLst>
                                      </p:cBhvr>
                                      <p:to>
                                        <p:strVal val="visible"/>
                                      </p:to>
                                    </p:set>
                                    <p:animEffect transition="in" filter="barn(outVertical)">
                                      <p:cBhvr>
                                        <p:cTn id="26" dur="1500"/>
                                        <p:tgtEl>
                                          <p:spTgt spid="4"/>
                                        </p:tgtEl>
                                      </p:cBhvr>
                                    </p:animEffect>
                                  </p:childTnLst>
                                </p:cTn>
                              </p:par>
                            </p:childTnLst>
                          </p:cTn>
                        </p:par>
                        <p:par>
                          <p:cTn id="27" fill="hold">
                            <p:stCondLst>
                              <p:cond delay="1500"/>
                            </p:stCondLst>
                            <p:childTnLst>
                              <p:par>
                                <p:cTn id="28" presetID="10" presetClass="entr" presetSubtype="0" fill="hold" grpId="0" nodeType="afterEffect">
                                  <p:stCondLst>
                                    <p:cond delay="0"/>
                                  </p:stCondLst>
                                  <p:childTnLst>
                                    <p:set>
                                      <p:cBhvr>
                                        <p:cTn id="29" dur="1" fill="hold">
                                          <p:stCondLst>
                                            <p:cond delay="0"/>
                                          </p:stCondLst>
                                        </p:cTn>
                                        <p:tgtEl>
                                          <p:spTgt spid="6"/>
                                        </p:tgtEl>
                                        <p:attrNameLst>
                                          <p:attrName>style.visibility</p:attrName>
                                        </p:attrNameLst>
                                      </p:cBhvr>
                                      <p:to>
                                        <p:strVal val="visible"/>
                                      </p:to>
                                    </p:set>
                                    <p:animEffect transition="in" filter="fade">
                                      <p:cBhvr>
                                        <p:cTn id="30" dur="10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6" grpId="0" animBg="1"/>
      <p:bldP spid="3" grpId="0"/>
      <p:bldP spid="7" grpId="0" animBg="1"/>
      <p:bldP spid="8" grpId="0" animBg="1"/>
    </p:bldLst>
  </p:timing>
</p:sld>
</file>

<file path=ppt/slides/slide8.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Records – Electronic</a:t>
            </a:r>
          </a:p>
        </p:txBody>
      </p:sp>
      <p:graphicFrame>
        <p:nvGraphicFramePr>
          <p:cNvPr id="5" name="Table 5">
            <a:extLst>
              <a:ext uri="{FF2B5EF4-FFF2-40B4-BE49-F238E27FC236}">
                <a16:creationId xmlns:a16="http://schemas.microsoft.com/office/drawing/2014/main" id="{38A8414E-6490-4AD8-90BD-DF0216F61C69}"/>
              </a:ext>
            </a:extLst>
          </p:cNvPr>
          <p:cNvGraphicFramePr>
            <a:graphicFrameLocks noGrp="1"/>
          </p:cNvGraphicFramePr>
          <p:nvPr>
            <p:ph idx="1"/>
            <p:extLst/>
          </p:nvPr>
        </p:nvGraphicFramePr>
        <p:xfrm>
          <a:off x="838200" y="2757168"/>
          <a:ext cx="6451600" cy="3474720"/>
        </p:xfrm>
        <a:graphic>
          <a:graphicData uri="http://schemas.openxmlformats.org/drawingml/2006/table">
            <a:tbl>
              <a:tblPr firstRow="1" bandRow="1">
                <a:tableStyleId>{5C22544A-7EE6-4342-B048-85BDC9FD1C3A}</a:tableStyleId>
              </a:tblPr>
              <a:tblGrid>
                <a:gridCol w="2397760">
                  <a:extLst>
                    <a:ext uri="{9D8B030D-6E8A-4147-A177-3AD203B41FA5}">
                      <a16:colId xmlns:a16="http://schemas.microsoft.com/office/drawing/2014/main" val="3505833113"/>
                    </a:ext>
                  </a:extLst>
                </a:gridCol>
                <a:gridCol w="2148840">
                  <a:extLst>
                    <a:ext uri="{9D8B030D-6E8A-4147-A177-3AD203B41FA5}">
                      <a16:colId xmlns:a16="http://schemas.microsoft.com/office/drawing/2014/main" val="315362434"/>
                    </a:ext>
                  </a:extLst>
                </a:gridCol>
                <a:gridCol w="1905000">
                  <a:extLst>
                    <a:ext uri="{9D8B030D-6E8A-4147-A177-3AD203B41FA5}">
                      <a16:colId xmlns:a16="http://schemas.microsoft.com/office/drawing/2014/main" val="415971381"/>
                    </a:ext>
                  </a:extLst>
                </a:gridCol>
              </a:tblGrid>
              <a:tr h="370840">
                <a:tc>
                  <a:txBody>
                    <a:bodyPr/>
                    <a:lstStyle/>
                    <a:p>
                      <a:pPr algn="ctr"/>
                      <a:r>
                        <a:rPr lang="en-GB" sz="3200" dirty="0"/>
                        <a:t>Forename</a:t>
                      </a:r>
                    </a:p>
                  </a:txBody>
                  <a:tcPr/>
                </a:tc>
                <a:tc>
                  <a:txBody>
                    <a:bodyPr/>
                    <a:lstStyle/>
                    <a:p>
                      <a:pPr algn="ctr"/>
                      <a:r>
                        <a:rPr lang="en-GB" sz="3200" dirty="0"/>
                        <a:t>Surname</a:t>
                      </a:r>
                    </a:p>
                  </a:txBody>
                  <a:tcPr/>
                </a:tc>
                <a:tc>
                  <a:txBody>
                    <a:bodyPr/>
                    <a:lstStyle/>
                    <a:p>
                      <a:pPr algn="ctr"/>
                      <a:r>
                        <a:rPr lang="en-GB" sz="3200" dirty="0"/>
                        <a:t>Age</a:t>
                      </a:r>
                    </a:p>
                  </a:txBody>
                  <a:tcPr/>
                </a:tc>
                <a:extLst>
                  <a:ext uri="{0D108BD9-81ED-4DB2-BD59-A6C34878D82A}">
                    <a16:rowId xmlns:a16="http://schemas.microsoft.com/office/drawing/2014/main" val="3459615676"/>
                  </a:ext>
                </a:extLst>
              </a:tr>
              <a:tr h="370840">
                <a:tc>
                  <a:txBody>
                    <a:bodyPr/>
                    <a:lstStyle/>
                    <a:p>
                      <a:pPr lvl="1" algn="l"/>
                      <a:r>
                        <a:rPr lang="en-GB" sz="3200" dirty="0"/>
                        <a:t>Tom</a:t>
                      </a:r>
                    </a:p>
                  </a:txBody>
                  <a:tcPr/>
                </a:tc>
                <a:tc>
                  <a:txBody>
                    <a:bodyPr/>
                    <a:lstStyle/>
                    <a:p>
                      <a:pPr lvl="1" algn="l"/>
                      <a:r>
                        <a:rPr lang="en-GB" sz="3200" dirty="0"/>
                        <a:t>Smith</a:t>
                      </a:r>
                    </a:p>
                  </a:txBody>
                  <a:tcPr/>
                </a:tc>
                <a:tc>
                  <a:txBody>
                    <a:bodyPr/>
                    <a:lstStyle/>
                    <a:p>
                      <a:pPr lvl="1"/>
                      <a:r>
                        <a:rPr lang="en-GB" sz="3200" dirty="0"/>
                        <a:t>6</a:t>
                      </a:r>
                    </a:p>
                  </a:txBody>
                  <a:tcPr/>
                </a:tc>
                <a:extLst>
                  <a:ext uri="{0D108BD9-81ED-4DB2-BD59-A6C34878D82A}">
                    <a16:rowId xmlns:a16="http://schemas.microsoft.com/office/drawing/2014/main" val="1127765656"/>
                  </a:ext>
                </a:extLst>
              </a:tr>
              <a:tr h="370840">
                <a:tc>
                  <a:txBody>
                    <a:bodyPr/>
                    <a:lstStyle/>
                    <a:p>
                      <a:pPr lvl="1" algn="l"/>
                      <a:r>
                        <a:rPr lang="en-GB" sz="3200" dirty="0"/>
                        <a:t>Peter</a:t>
                      </a:r>
                    </a:p>
                  </a:txBody>
                  <a:tcPr/>
                </a:tc>
                <a:tc>
                  <a:txBody>
                    <a:bodyPr/>
                    <a:lstStyle/>
                    <a:p>
                      <a:pPr lvl="1" algn="l"/>
                      <a:r>
                        <a:rPr lang="en-GB" sz="3200" dirty="0"/>
                        <a:t>Jones</a:t>
                      </a:r>
                    </a:p>
                  </a:txBody>
                  <a:tcPr/>
                </a:tc>
                <a:tc>
                  <a:txBody>
                    <a:bodyPr/>
                    <a:lstStyle/>
                    <a:p>
                      <a:pPr lvl="1"/>
                      <a:r>
                        <a:rPr lang="en-GB" sz="3200" dirty="0"/>
                        <a:t>9</a:t>
                      </a:r>
                    </a:p>
                  </a:txBody>
                  <a:tcPr/>
                </a:tc>
                <a:extLst>
                  <a:ext uri="{0D108BD9-81ED-4DB2-BD59-A6C34878D82A}">
                    <a16:rowId xmlns:a16="http://schemas.microsoft.com/office/drawing/2014/main" val="2924661129"/>
                  </a:ext>
                </a:extLst>
              </a:tr>
              <a:tr h="370840">
                <a:tc>
                  <a:txBody>
                    <a:bodyPr/>
                    <a:lstStyle/>
                    <a:p>
                      <a:pPr lvl="1" algn="l"/>
                      <a:r>
                        <a:rPr lang="en-GB" sz="3200" dirty="0"/>
                        <a:t>Sally</a:t>
                      </a:r>
                    </a:p>
                  </a:txBody>
                  <a:tcPr/>
                </a:tc>
                <a:tc>
                  <a:txBody>
                    <a:bodyPr/>
                    <a:lstStyle/>
                    <a:p>
                      <a:pPr lvl="1" algn="l"/>
                      <a:r>
                        <a:rPr lang="en-GB" sz="3200" dirty="0"/>
                        <a:t>Clark</a:t>
                      </a:r>
                    </a:p>
                  </a:txBody>
                  <a:tcPr/>
                </a:tc>
                <a:tc>
                  <a:txBody>
                    <a:bodyPr/>
                    <a:lstStyle/>
                    <a:p>
                      <a:pPr lvl="1"/>
                      <a:r>
                        <a:rPr lang="en-GB" sz="3200" dirty="0"/>
                        <a:t>14</a:t>
                      </a:r>
                    </a:p>
                  </a:txBody>
                  <a:tcPr/>
                </a:tc>
                <a:extLst>
                  <a:ext uri="{0D108BD9-81ED-4DB2-BD59-A6C34878D82A}">
                    <a16:rowId xmlns:a16="http://schemas.microsoft.com/office/drawing/2014/main" val="3885493841"/>
                  </a:ext>
                </a:extLst>
              </a:tr>
              <a:tr h="370840">
                <a:tc>
                  <a:txBody>
                    <a:bodyPr/>
                    <a:lstStyle/>
                    <a:p>
                      <a:pPr lvl="1" algn="l"/>
                      <a:r>
                        <a:rPr lang="en-GB" sz="3200" dirty="0"/>
                        <a:t>Sam</a:t>
                      </a:r>
                    </a:p>
                  </a:txBody>
                  <a:tcPr/>
                </a:tc>
                <a:tc>
                  <a:txBody>
                    <a:bodyPr/>
                    <a:lstStyle/>
                    <a:p>
                      <a:pPr lvl="1" algn="l"/>
                      <a:r>
                        <a:rPr lang="en-GB" sz="3200" dirty="0"/>
                        <a:t>Wilson</a:t>
                      </a:r>
                    </a:p>
                  </a:txBody>
                  <a:tcPr/>
                </a:tc>
                <a:tc>
                  <a:txBody>
                    <a:bodyPr/>
                    <a:lstStyle/>
                    <a:p>
                      <a:pPr lvl="1"/>
                      <a:r>
                        <a:rPr lang="en-GB" sz="3200" dirty="0"/>
                        <a:t>11</a:t>
                      </a:r>
                    </a:p>
                  </a:txBody>
                  <a:tcPr/>
                </a:tc>
                <a:extLst>
                  <a:ext uri="{0D108BD9-81ED-4DB2-BD59-A6C34878D82A}">
                    <a16:rowId xmlns:a16="http://schemas.microsoft.com/office/drawing/2014/main" val="1487565366"/>
                  </a:ext>
                </a:extLst>
              </a:tr>
              <a:tr h="370840">
                <a:tc>
                  <a:txBody>
                    <a:bodyPr/>
                    <a:lstStyle/>
                    <a:p>
                      <a:pPr lvl="1" algn="l"/>
                      <a:r>
                        <a:rPr lang="en-GB" sz="3200" dirty="0"/>
                        <a:t>Kim</a:t>
                      </a:r>
                    </a:p>
                  </a:txBody>
                  <a:tcPr/>
                </a:tc>
                <a:tc>
                  <a:txBody>
                    <a:bodyPr/>
                    <a:lstStyle/>
                    <a:p>
                      <a:pPr lvl="1" algn="l"/>
                      <a:r>
                        <a:rPr lang="en-GB" sz="3200" dirty="0"/>
                        <a:t>Young</a:t>
                      </a:r>
                    </a:p>
                  </a:txBody>
                  <a:tcPr/>
                </a:tc>
                <a:tc>
                  <a:txBody>
                    <a:bodyPr/>
                    <a:lstStyle/>
                    <a:p>
                      <a:pPr lvl="1"/>
                      <a:r>
                        <a:rPr lang="en-GB" sz="3200" dirty="0"/>
                        <a:t>18</a:t>
                      </a:r>
                    </a:p>
                  </a:txBody>
                  <a:tcPr/>
                </a:tc>
                <a:extLst>
                  <a:ext uri="{0D108BD9-81ED-4DB2-BD59-A6C34878D82A}">
                    <a16:rowId xmlns:a16="http://schemas.microsoft.com/office/drawing/2014/main" val="3382330726"/>
                  </a:ext>
                </a:extLst>
              </a:tr>
            </a:tbl>
          </a:graphicData>
        </a:graphic>
      </p:graphicFrame>
    </p:spTree>
    <p:extLst>
      <p:ext uri="{BB962C8B-B14F-4D97-AF65-F5344CB8AC3E}">
        <p14:creationId xmlns:p14="http://schemas.microsoft.com/office/powerpoint/2010/main" val="274477786"/>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Relational Database</a:t>
            </a:r>
          </a:p>
        </p:txBody>
      </p:sp>
      <p:sp>
        <p:nvSpPr>
          <p:cNvPr id="15" name="TextBox 14">
            <a:extLst>
              <a:ext uri="{FF2B5EF4-FFF2-40B4-BE49-F238E27FC236}">
                <a16:creationId xmlns:a16="http://schemas.microsoft.com/office/drawing/2014/main" id="{B935E981-B7C6-4BDF-ADC2-EFF2B075D3D8}"/>
              </a:ext>
            </a:extLst>
          </p:cNvPr>
          <p:cNvSpPr txBox="1"/>
          <p:nvPr/>
        </p:nvSpPr>
        <p:spPr>
          <a:xfrm>
            <a:off x="838200" y="1559731"/>
            <a:ext cx="8039509" cy="584775"/>
          </a:xfrm>
          <a:prstGeom prst="rect">
            <a:avLst/>
          </a:prstGeom>
          <a:noFill/>
        </p:spPr>
        <p:txBody>
          <a:bodyPr wrap="none" rtlCol="0">
            <a:spAutoFit/>
          </a:bodyPr>
          <a:lstStyle/>
          <a:p>
            <a:r>
              <a:rPr lang="en-GB" sz="3200" b="1" dirty="0">
                <a:solidFill>
                  <a:srgbClr val="7030A0"/>
                </a:solidFill>
              </a:rPr>
              <a:t>Multiple tables – each holds data on one topic</a:t>
            </a:r>
          </a:p>
        </p:txBody>
      </p:sp>
      <p:graphicFrame>
        <p:nvGraphicFramePr>
          <p:cNvPr id="14" name="Dept table">
            <a:extLst>
              <a:ext uri="{FF2B5EF4-FFF2-40B4-BE49-F238E27FC236}">
                <a16:creationId xmlns:a16="http://schemas.microsoft.com/office/drawing/2014/main" id="{844D8AF2-45F4-4D3A-A16B-FDE72F88C3EB}"/>
              </a:ext>
            </a:extLst>
          </p:cNvPr>
          <p:cNvGraphicFramePr>
            <a:graphicFrameLocks/>
          </p:cNvGraphicFramePr>
          <p:nvPr>
            <p:extLst>
              <p:ext uri="{D42A27DB-BD31-4B8C-83A1-F6EECF244321}">
                <p14:modId xmlns:p14="http://schemas.microsoft.com/office/powerpoint/2010/main" val="1912165251"/>
              </p:ext>
            </p:extLst>
          </p:nvPr>
        </p:nvGraphicFramePr>
        <p:xfrm>
          <a:off x="7669848" y="2742570"/>
          <a:ext cx="3683952" cy="1777656"/>
        </p:xfrm>
        <a:graphic>
          <a:graphicData uri="http://schemas.openxmlformats.org/drawingml/2006/table">
            <a:tbl>
              <a:tblPr firstRow="1" bandRow="1">
                <a:tableStyleId>{5C22544A-7EE6-4342-B048-85BDC9FD1C3A}</a:tableStyleId>
              </a:tblPr>
              <a:tblGrid>
                <a:gridCol w="894080">
                  <a:extLst>
                    <a:ext uri="{9D8B030D-6E8A-4147-A177-3AD203B41FA5}">
                      <a16:colId xmlns:a16="http://schemas.microsoft.com/office/drawing/2014/main" val="415971381"/>
                    </a:ext>
                  </a:extLst>
                </a:gridCol>
                <a:gridCol w="1440180">
                  <a:extLst>
                    <a:ext uri="{9D8B030D-6E8A-4147-A177-3AD203B41FA5}">
                      <a16:colId xmlns:a16="http://schemas.microsoft.com/office/drawing/2014/main" val="4013636719"/>
                    </a:ext>
                  </a:extLst>
                </a:gridCol>
                <a:gridCol w="1349692">
                  <a:extLst>
                    <a:ext uri="{9D8B030D-6E8A-4147-A177-3AD203B41FA5}">
                      <a16:colId xmlns:a16="http://schemas.microsoft.com/office/drawing/2014/main" val="3467447067"/>
                    </a:ext>
                  </a:extLst>
                </a:gridCol>
              </a:tblGrid>
              <a:tr h="592552">
                <a:tc>
                  <a:txBody>
                    <a:bodyPr/>
                    <a:lstStyle/>
                    <a:p>
                      <a:pPr algn="ctr"/>
                      <a:r>
                        <a:rPr lang="en-GB" sz="3200" dirty="0"/>
                        <a:t>ID</a:t>
                      </a:r>
                    </a:p>
                  </a:txBody>
                  <a:tcPr/>
                </a:tc>
                <a:tc>
                  <a:txBody>
                    <a:bodyPr/>
                    <a:lstStyle/>
                    <a:p>
                      <a:pPr algn="ctr"/>
                      <a:r>
                        <a:rPr lang="en-GB" sz="3200" dirty="0"/>
                        <a:t>Dept</a:t>
                      </a:r>
                    </a:p>
                  </a:txBody>
                  <a:tcPr/>
                </a:tc>
                <a:tc>
                  <a:txBody>
                    <a:bodyPr/>
                    <a:lstStyle/>
                    <a:p>
                      <a:pPr algn="ctr"/>
                      <a:r>
                        <a:rPr lang="en-GB" sz="3200" dirty="0"/>
                        <a:t>Phone</a:t>
                      </a:r>
                    </a:p>
                  </a:txBody>
                  <a:tcPr/>
                </a:tc>
                <a:extLst>
                  <a:ext uri="{0D108BD9-81ED-4DB2-BD59-A6C34878D82A}">
                    <a16:rowId xmlns:a16="http://schemas.microsoft.com/office/drawing/2014/main" val="3459615676"/>
                  </a:ext>
                </a:extLst>
              </a:tr>
              <a:tr h="592552">
                <a:tc>
                  <a:txBody>
                    <a:bodyPr/>
                    <a:lstStyle/>
                    <a:p>
                      <a:pPr lvl="0"/>
                      <a:r>
                        <a:rPr lang="en-GB" sz="3200" dirty="0"/>
                        <a:t>001</a:t>
                      </a:r>
                    </a:p>
                  </a:txBody>
                  <a:tcPr/>
                </a:tc>
                <a:tc>
                  <a:txBody>
                    <a:bodyPr/>
                    <a:lstStyle/>
                    <a:p>
                      <a:pPr lvl="0"/>
                      <a:r>
                        <a:rPr lang="en-GB" sz="3200" dirty="0"/>
                        <a:t>ICT</a:t>
                      </a:r>
                    </a:p>
                  </a:txBody>
                  <a:tcPr/>
                </a:tc>
                <a:tc>
                  <a:txBody>
                    <a:bodyPr/>
                    <a:lstStyle/>
                    <a:p>
                      <a:pPr lvl="0"/>
                      <a:r>
                        <a:rPr lang="en-GB" sz="3200" dirty="0"/>
                        <a:t>300</a:t>
                      </a:r>
                    </a:p>
                  </a:txBody>
                  <a:tcPr/>
                </a:tc>
                <a:extLst>
                  <a:ext uri="{0D108BD9-81ED-4DB2-BD59-A6C34878D82A}">
                    <a16:rowId xmlns:a16="http://schemas.microsoft.com/office/drawing/2014/main" val="1127765656"/>
                  </a:ext>
                </a:extLst>
              </a:tr>
              <a:tr h="592552">
                <a:tc>
                  <a:txBody>
                    <a:bodyPr/>
                    <a:lstStyle/>
                    <a:p>
                      <a:pPr lvl="0"/>
                      <a:r>
                        <a:rPr lang="en-GB" sz="3200" dirty="0"/>
                        <a:t>002</a:t>
                      </a:r>
                    </a:p>
                  </a:txBody>
                  <a:tcPr/>
                </a:tc>
                <a:tc>
                  <a:txBody>
                    <a:bodyPr/>
                    <a:lstStyle/>
                    <a:p>
                      <a:pPr lvl="0"/>
                      <a:r>
                        <a:rPr lang="en-GB" sz="3200" dirty="0"/>
                        <a:t>English</a:t>
                      </a:r>
                    </a:p>
                  </a:txBody>
                  <a:tcPr/>
                </a:tc>
                <a:tc>
                  <a:txBody>
                    <a:bodyPr/>
                    <a:lstStyle/>
                    <a:p>
                      <a:pPr lvl="0"/>
                      <a:r>
                        <a:rPr lang="en-GB" sz="3200" dirty="0"/>
                        <a:t>301</a:t>
                      </a:r>
                    </a:p>
                  </a:txBody>
                  <a:tcPr/>
                </a:tc>
                <a:extLst>
                  <a:ext uri="{0D108BD9-81ED-4DB2-BD59-A6C34878D82A}">
                    <a16:rowId xmlns:a16="http://schemas.microsoft.com/office/drawing/2014/main" val="81894544"/>
                  </a:ext>
                </a:extLst>
              </a:tr>
            </a:tbl>
          </a:graphicData>
        </a:graphic>
      </p:graphicFrame>
      <p:sp>
        <p:nvSpPr>
          <p:cNvPr id="9" name="TextBox 8">
            <a:extLst>
              <a:ext uri="{FF2B5EF4-FFF2-40B4-BE49-F238E27FC236}">
                <a16:creationId xmlns:a16="http://schemas.microsoft.com/office/drawing/2014/main" id="{B935E981-B7C6-4BDF-ADC2-EFF2B075D3D8}"/>
              </a:ext>
            </a:extLst>
          </p:cNvPr>
          <p:cNvSpPr txBox="1"/>
          <p:nvPr/>
        </p:nvSpPr>
        <p:spPr>
          <a:xfrm>
            <a:off x="7911428" y="5405820"/>
            <a:ext cx="2977866" cy="584775"/>
          </a:xfrm>
          <a:prstGeom prst="rect">
            <a:avLst/>
          </a:prstGeom>
          <a:noFill/>
        </p:spPr>
        <p:txBody>
          <a:bodyPr wrap="none" rtlCol="0">
            <a:spAutoFit/>
          </a:bodyPr>
          <a:lstStyle/>
          <a:p>
            <a:r>
              <a:rPr lang="en-GB" sz="3200" b="1" dirty="0">
                <a:solidFill>
                  <a:srgbClr val="7030A0"/>
                </a:solidFill>
              </a:rPr>
              <a:t>Data links tables</a:t>
            </a:r>
          </a:p>
        </p:txBody>
      </p:sp>
      <p:graphicFrame>
        <p:nvGraphicFramePr>
          <p:cNvPr id="5" name="Staff table">
            <a:extLst>
              <a:ext uri="{FF2B5EF4-FFF2-40B4-BE49-F238E27FC236}">
                <a16:creationId xmlns:a16="http://schemas.microsoft.com/office/drawing/2014/main" id="{38A8414E-6490-4AD8-90BD-DF0216F61C69}"/>
              </a:ext>
            </a:extLst>
          </p:cNvPr>
          <p:cNvGraphicFramePr>
            <a:graphicFrameLocks noGrp="1"/>
          </p:cNvGraphicFramePr>
          <p:nvPr>
            <p:ph idx="1"/>
            <p:extLst>
              <p:ext uri="{D42A27DB-BD31-4B8C-83A1-F6EECF244321}">
                <p14:modId xmlns:p14="http://schemas.microsoft.com/office/powerpoint/2010/main" val="724133580"/>
              </p:ext>
            </p:extLst>
          </p:nvPr>
        </p:nvGraphicFramePr>
        <p:xfrm>
          <a:off x="838200" y="2742570"/>
          <a:ext cx="5951220" cy="3555312"/>
        </p:xfrm>
        <a:graphic>
          <a:graphicData uri="http://schemas.openxmlformats.org/drawingml/2006/table">
            <a:tbl>
              <a:tblPr firstRow="1" bandRow="1">
                <a:tableStyleId>{5C22544A-7EE6-4342-B048-85BDC9FD1C3A}</a:tableStyleId>
              </a:tblPr>
              <a:tblGrid>
                <a:gridCol w="638492">
                  <a:extLst>
                    <a:ext uri="{9D8B030D-6E8A-4147-A177-3AD203B41FA5}">
                      <a16:colId xmlns:a16="http://schemas.microsoft.com/office/drawing/2014/main" val="1632358923"/>
                    </a:ext>
                  </a:extLst>
                </a:gridCol>
                <a:gridCol w="1973580">
                  <a:extLst>
                    <a:ext uri="{9D8B030D-6E8A-4147-A177-3AD203B41FA5}">
                      <a16:colId xmlns:a16="http://schemas.microsoft.com/office/drawing/2014/main" val="3505833113"/>
                    </a:ext>
                  </a:extLst>
                </a:gridCol>
                <a:gridCol w="1791018">
                  <a:extLst>
                    <a:ext uri="{9D8B030D-6E8A-4147-A177-3AD203B41FA5}">
                      <a16:colId xmlns:a16="http://schemas.microsoft.com/office/drawing/2014/main" val="3401749839"/>
                    </a:ext>
                  </a:extLst>
                </a:gridCol>
                <a:gridCol w="1548130">
                  <a:extLst>
                    <a:ext uri="{9D8B030D-6E8A-4147-A177-3AD203B41FA5}">
                      <a16:colId xmlns:a16="http://schemas.microsoft.com/office/drawing/2014/main" val="415971381"/>
                    </a:ext>
                  </a:extLst>
                </a:gridCol>
              </a:tblGrid>
              <a:tr h="592552">
                <a:tc>
                  <a:txBody>
                    <a:bodyPr/>
                    <a:lstStyle/>
                    <a:p>
                      <a:pPr algn="ctr"/>
                      <a:r>
                        <a:rPr lang="en-GB" sz="3200" dirty="0"/>
                        <a:t>ID</a:t>
                      </a:r>
                    </a:p>
                  </a:txBody>
                  <a:tcPr/>
                </a:tc>
                <a:tc>
                  <a:txBody>
                    <a:bodyPr/>
                    <a:lstStyle/>
                    <a:p>
                      <a:pPr algn="ctr"/>
                      <a:r>
                        <a:rPr lang="en-GB" sz="3200" dirty="0"/>
                        <a:t>Forename</a:t>
                      </a:r>
                    </a:p>
                  </a:txBody>
                  <a:tcPr/>
                </a:tc>
                <a:tc>
                  <a:txBody>
                    <a:bodyPr/>
                    <a:lstStyle/>
                    <a:p>
                      <a:pPr algn="ctr"/>
                      <a:r>
                        <a:rPr lang="en-GB" sz="3200" dirty="0"/>
                        <a:t>Surname</a:t>
                      </a:r>
                    </a:p>
                  </a:txBody>
                  <a:tcPr/>
                </a:tc>
                <a:tc>
                  <a:txBody>
                    <a:bodyPr/>
                    <a:lstStyle/>
                    <a:p>
                      <a:pPr algn="ctr"/>
                      <a:r>
                        <a:rPr lang="en-GB" sz="3200" dirty="0"/>
                        <a:t>Dept ID</a:t>
                      </a:r>
                    </a:p>
                  </a:txBody>
                  <a:tcPr/>
                </a:tc>
                <a:extLst>
                  <a:ext uri="{0D108BD9-81ED-4DB2-BD59-A6C34878D82A}">
                    <a16:rowId xmlns:a16="http://schemas.microsoft.com/office/drawing/2014/main" val="3459615676"/>
                  </a:ext>
                </a:extLst>
              </a:tr>
              <a:tr h="592552">
                <a:tc>
                  <a:txBody>
                    <a:bodyPr/>
                    <a:lstStyle/>
                    <a:p>
                      <a:pPr lvl="0"/>
                      <a:r>
                        <a:rPr lang="en-GB" sz="3200" dirty="0"/>
                        <a:t>1</a:t>
                      </a:r>
                    </a:p>
                  </a:txBody>
                  <a:tcPr/>
                </a:tc>
                <a:tc>
                  <a:txBody>
                    <a:bodyPr/>
                    <a:lstStyle/>
                    <a:p>
                      <a:pPr lvl="0" algn="l"/>
                      <a:r>
                        <a:rPr lang="en-GB" sz="3200" dirty="0"/>
                        <a:t>Colin</a:t>
                      </a:r>
                    </a:p>
                  </a:txBody>
                  <a:tcPr/>
                </a:tc>
                <a:tc>
                  <a:txBody>
                    <a:bodyPr/>
                    <a:lstStyle/>
                    <a:p>
                      <a:pPr lvl="0" algn="l"/>
                      <a:r>
                        <a:rPr lang="en-GB" sz="3200" dirty="0"/>
                        <a:t>Arthur</a:t>
                      </a:r>
                    </a:p>
                  </a:txBody>
                  <a:tcPr/>
                </a:tc>
                <a:tc>
                  <a:txBody>
                    <a:bodyPr/>
                    <a:lstStyle/>
                    <a:p>
                      <a:pPr lvl="0"/>
                      <a:r>
                        <a:rPr lang="en-GB" sz="3200" dirty="0"/>
                        <a:t>001</a:t>
                      </a:r>
                    </a:p>
                  </a:txBody>
                  <a:tcPr/>
                </a:tc>
                <a:extLst>
                  <a:ext uri="{0D108BD9-81ED-4DB2-BD59-A6C34878D82A}">
                    <a16:rowId xmlns:a16="http://schemas.microsoft.com/office/drawing/2014/main" val="1127765656"/>
                  </a:ext>
                </a:extLst>
              </a:tr>
              <a:tr h="592552">
                <a:tc>
                  <a:txBody>
                    <a:bodyPr/>
                    <a:lstStyle/>
                    <a:p>
                      <a:pPr lvl="0"/>
                      <a:r>
                        <a:rPr lang="en-GB" sz="3200" dirty="0"/>
                        <a:t>2</a:t>
                      </a:r>
                    </a:p>
                  </a:txBody>
                  <a:tcPr/>
                </a:tc>
                <a:tc>
                  <a:txBody>
                    <a:bodyPr/>
                    <a:lstStyle/>
                    <a:p>
                      <a:pPr lvl="0" algn="l"/>
                      <a:r>
                        <a:rPr lang="en-GB" sz="3200" dirty="0"/>
                        <a:t>Laura</a:t>
                      </a:r>
                    </a:p>
                  </a:txBody>
                  <a:tcPr/>
                </a:tc>
                <a:tc>
                  <a:txBody>
                    <a:bodyPr/>
                    <a:lstStyle/>
                    <a:p>
                      <a:pPr lvl="0" algn="l"/>
                      <a:r>
                        <a:rPr lang="en-GB" sz="3200" dirty="0"/>
                        <a:t>Brown</a:t>
                      </a:r>
                    </a:p>
                  </a:txBody>
                  <a:tcPr/>
                </a:tc>
                <a:tc>
                  <a:txBody>
                    <a:bodyPr/>
                    <a:lstStyle/>
                    <a:p>
                      <a:pPr lvl="0"/>
                      <a:r>
                        <a:rPr lang="en-GB" sz="3200" dirty="0"/>
                        <a:t>001</a:t>
                      </a:r>
                    </a:p>
                  </a:txBody>
                  <a:tcPr/>
                </a:tc>
                <a:extLst>
                  <a:ext uri="{0D108BD9-81ED-4DB2-BD59-A6C34878D82A}">
                    <a16:rowId xmlns:a16="http://schemas.microsoft.com/office/drawing/2014/main" val="2924661129"/>
                  </a:ext>
                </a:extLst>
              </a:tr>
              <a:tr h="592552">
                <a:tc>
                  <a:txBody>
                    <a:bodyPr/>
                    <a:lstStyle/>
                    <a:p>
                      <a:pPr lvl="0"/>
                      <a:r>
                        <a:rPr lang="en-GB" sz="3200" dirty="0"/>
                        <a:t>3</a:t>
                      </a:r>
                    </a:p>
                  </a:txBody>
                  <a:tcPr/>
                </a:tc>
                <a:tc>
                  <a:txBody>
                    <a:bodyPr/>
                    <a:lstStyle/>
                    <a:p>
                      <a:pPr lvl="0" algn="l"/>
                      <a:r>
                        <a:rPr lang="en-GB" sz="3200" dirty="0"/>
                        <a:t>Stephen</a:t>
                      </a:r>
                    </a:p>
                  </a:txBody>
                  <a:tcPr/>
                </a:tc>
                <a:tc>
                  <a:txBody>
                    <a:bodyPr/>
                    <a:lstStyle/>
                    <a:p>
                      <a:pPr lvl="0" algn="l"/>
                      <a:r>
                        <a:rPr lang="en-GB" sz="3200" dirty="0"/>
                        <a:t>MacLeod</a:t>
                      </a:r>
                    </a:p>
                  </a:txBody>
                  <a:tcPr/>
                </a:tc>
                <a:tc>
                  <a:txBody>
                    <a:bodyPr/>
                    <a:lstStyle/>
                    <a:p>
                      <a:pPr lvl="0"/>
                      <a:r>
                        <a:rPr lang="en-GB" sz="3200" dirty="0"/>
                        <a:t>001</a:t>
                      </a:r>
                    </a:p>
                  </a:txBody>
                  <a:tcPr/>
                </a:tc>
                <a:extLst>
                  <a:ext uri="{0D108BD9-81ED-4DB2-BD59-A6C34878D82A}">
                    <a16:rowId xmlns:a16="http://schemas.microsoft.com/office/drawing/2014/main" val="3885493841"/>
                  </a:ext>
                </a:extLst>
              </a:tr>
              <a:tr h="592552">
                <a:tc>
                  <a:txBody>
                    <a:bodyPr/>
                    <a:lstStyle/>
                    <a:p>
                      <a:pPr lvl="0"/>
                      <a:r>
                        <a:rPr lang="en-GB" sz="3200" dirty="0"/>
                        <a:t>4</a:t>
                      </a:r>
                    </a:p>
                  </a:txBody>
                  <a:tcPr/>
                </a:tc>
                <a:tc>
                  <a:txBody>
                    <a:bodyPr/>
                    <a:lstStyle/>
                    <a:p>
                      <a:pPr lvl="0" algn="l"/>
                      <a:r>
                        <a:rPr lang="en-GB" sz="3200" dirty="0"/>
                        <a:t>Scott</a:t>
                      </a:r>
                    </a:p>
                  </a:txBody>
                  <a:tcPr/>
                </a:tc>
                <a:tc>
                  <a:txBody>
                    <a:bodyPr/>
                    <a:lstStyle/>
                    <a:p>
                      <a:pPr lvl="0" algn="l"/>
                      <a:r>
                        <a:rPr lang="en-GB" sz="3200" dirty="0"/>
                        <a:t>Sinclair</a:t>
                      </a:r>
                    </a:p>
                  </a:txBody>
                  <a:tcPr/>
                </a:tc>
                <a:tc>
                  <a:txBody>
                    <a:bodyPr/>
                    <a:lstStyle/>
                    <a:p>
                      <a:pPr lvl="0"/>
                      <a:r>
                        <a:rPr lang="en-GB" sz="3200" dirty="0"/>
                        <a:t>002</a:t>
                      </a:r>
                    </a:p>
                  </a:txBody>
                  <a:tcPr/>
                </a:tc>
                <a:extLst>
                  <a:ext uri="{0D108BD9-81ED-4DB2-BD59-A6C34878D82A}">
                    <a16:rowId xmlns:a16="http://schemas.microsoft.com/office/drawing/2014/main" val="1487565366"/>
                  </a:ext>
                </a:extLst>
              </a:tr>
              <a:tr h="592552">
                <a:tc>
                  <a:txBody>
                    <a:bodyPr/>
                    <a:lstStyle/>
                    <a:p>
                      <a:pPr lvl="0"/>
                      <a:r>
                        <a:rPr lang="en-GB" sz="3200" dirty="0"/>
                        <a:t>5</a:t>
                      </a:r>
                    </a:p>
                  </a:txBody>
                  <a:tcPr/>
                </a:tc>
                <a:tc>
                  <a:txBody>
                    <a:bodyPr/>
                    <a:lstStyle/>
                    <a:p>
                      <a:pPr lvl="0" algn="l"/>
                      <a:r>
                        <a:rPr lang="en-GB" sz="3200" dirty="0"/>
                        <a:t>Michelle</a:t>
                      </a:r>
                    </a:p>
                  </a:txBody>
                  <a:tcPr/>
                </a:tc>
                <a:tc>
                  <a:txBody>
                    <a:bodyPr/>
                    <a:lstStyle/>
                    <a:p>
                      <a:pPr lvl="0" algn="l"/>
                      <a:r>
                        <a:rPr lang="en-GB" sz="3200" dirty="0"/>
                        <a:t>Wie</a:t>
                      </a:r>
                    </a:p>
                  </a:txBody>
                  <a:tcPr/>
                </a:tc>
                <a:tc>
                  <a:txBody>
                    <a:bodyPr/>
                    <a:lstStyle/>
                    <a:p>
                      <a:pPr lvl="0"/>
                      <a:r>
                        <a:rPr lang="en-GB" sz="3200" dirty="0"/>
                        <a:t>002</a:t>
                      </a:r>
                    </a:p>
                  </a:txBody>
                  <a:tcPr/>
                </a:tc>
                <a:extLst>
                  <a:ext uri="{0D108BD9-81ED-4DB2-BD59-A6C34878D82A}">
                    <a16:rowId xmlns:a16="http://schemas.microsoft.com/office/drawing/2014/main" val="81894544"/>
                  </a:ext>
                </a:extLst>
              </a:tr>
            </a:tbl>
          </a:graphicData>
        </a:graphic>
      </p:graphicFrame>
      <p:cxnSp>
        <p:nvCxnSpPr>
          <p:cNvPr id="4" name="Straight Arrow Connector 3">
            <a:extLst>
              <a:ext uri="{FF2B5EF4-FFF2-40B4-BE49-F238E27FC236}">
                <a16:creationId xmlns:a16="http://schemas.microsoft.com/office/drawing/2014/main" id="{231371B6-0511-44D2-AF15-46D0C5B87BB2}"/>
              </a:ext>
            </a:extLst>
          </p:cNvPr>
          <p:cNvCxnSpPr>
            <a:cxnSpLocks/>
          </p:cNvCxnSpPr>
          <p:nvPr/>
        </p:nvCxnSpPr>
        <p:spPr>
          <a:xfrm>
            <a:off x="6096000" y="3630645"/>
            <a:ext cx="1573848" cy="0"/>
          </a:xfrm>
          <a:prstGeom prst="straightConnector1">
            <a:avLst/>
          </a:prstGeom>
          <a:ln w="38100">
            <a:solidFill>
              <a:srgbClr val="FF0000"/>
            </a:solidFill>
            <a:headEnd type="triangle" w="lg" len="lg"/>
            <a:tailEnd type="triangle" w="lg" len="lg"/>
          </a:ln>
        </p:spPr>
        <p:style>
          <a:lnRef idx="1">
            <a:schemeClr val="accent1"/>
          </a:lnRef>
          <a:fillRef idx="0">
            <a:schemeClr val="accent1"/>
          </a:fillRef>
          <a:effectRef idx="0">
            <a:schemeClr val="accent1"/>
          </a:effectRef>
          <a:fontRef idx="minor">
            <a:schemeClr val="tx1"/>
          </a:fontRef>
        </p:style>
      </p:cxnSp>
      <p:cxnSp>
        <p:nvCxnSpPr>
          <p:cNvPr id="16" name="Straight Arrow Connector 15">
            <a:extLst>
              <a:ext uri="{FF2B5EF4-FFF2-40B4-BE49-F238E27FC236}">
                <a16:creationId xmlns:a16="http://schemas.microsoft.com/office/drawing/2014/main" id="{06402D11-5365-4584-AF20-FCE4B78FE7A0}"/>
              </a:ext>
            </a:extLst>
          </p:cNvPr>
          <p:cNvCxnSpPr>
            <a:cxnSpLocks/>
          </p:cNvCxnSpPr>
          <p:nvPr/>
        </p:nvCxnSpPr>
        <p:spPr>
          <a:xfrm flipV="1">
            <a:off x="6096000" y="4375230"/>
            <a:ext cx="1670613" cy="1615365"/>
          </a:xfrm>
          <a:prstGeom prst="straightConnector1">
            <a:avLst/>
          </a:prstGeom>
          <a:ln w="38100">
            <a:solidFill>
              <a:srgbClr val="FF0000"/>
            </a:solidFill>
            <a:headEnd type="triangle" w="lg" len="lg"/>
            <a:tailEnd type="triangle" w="lg" len="lg"/>
          </a:ln>
        </p:spPr>
        <p:style>
          <a:lnRef idx="1">
            <a:schemeClr val="accent1"/>
          </a:lnRef>
          <a:fillRef idx="0">
            <a:schemeClr val="accent1"/>
          </a:fillRef>
          <a:effectRef idx="0">
            <a:schemeClr val="accent1"/>
          </a:effectRef>
          <a:fontRef idx="minor">
            <a:schemeClr val="tx1"/>
          </a:fontRef>
        </p:style>
      </p:cxnSp>
      <p:sp>
        <p:nvSpPr>
          <p:cNvPr id="3" name="TextBox 2">
            <a:extLst>
              <a:ext uri="{FF2B5EF4-FFF2-40B4-BE49-F238E27FC236}">
                <a16:creationId xmlns:a16="http://schemas.microsoft.com/office/drawing/2014/main" id="{8342689E-7D46-5169-15D1-5564029DB143}"/>
              </a:ext>
            </a:extLst>
          </p:cNvPr>
          <p:cNvSpPr txBox="1"/>
          <p:nvPr/>
        </p:nvSpPr>
        <p:spPr>
          <a:xfrm>
            <a:off x="838200" y="2226057"/>
            <a:ext cx="2031069" cy="584775"/>
          </a:xfrm>
          <a:prstGeom prst="rect">
            <a:avLst/>
          </a:prstGeom>
          <a:noFill/>
        </p:spPr>
        <p:txBody>
          <a:bodyPr wrap="none" rtlCol="0">
            <a:spAutoFit/>
          </a:bodyPr>
          <a:lstStyle/>
          <a:p>
            <a:r>
              <a:rPr lang="en-GB" sz="3200" dirty="0"/>
              <a:t>Table: Staff</a:t>
            </a:r>
          </a:p>
        </p:txBody>
      </p:sp>
      <p:sp>
        <p:nvSpPr>
          <p:cNvPr id="6" name="TextBox 5">
            <a:extLst>
              <a:ext uri="{FF2B5EF4-FFF2-40B4-BE49-F238E27FC236}">
                <a16:creationId xmlns:a16="http://schemas.microsoft.com/office/drawing/2014/main" id="{21723E06-6635-F538-E4D2-AD7CF097A705}"/>
              </a:ext>
            </a:extLst>
          </p:cNvPr>
          <p:cNvSpPr txBox="1"/>
          <p:nvPr/>
        </p:nvSpPr>
        <p:spPr>
          <a:xfrm>
            <a:off x="7632700" y="2250692"/>
            <a:ext cx="3301930" cy="584775"/>
          </a:xfrm>
          <a:prstGeom prst="rect">
            <a:avLst/>
          </a:prstGeom>
          <a:noFill/>
        </p:spPr>
        <p:txBody>
          <a:bodyPr wrap="none" rtlCol="0">
            <a:spAutoFit/>
          </a:bodyPr>
          <a:lstStyle/>
          <a:p>
            <a:r>
              <a:rPr lang="en-GB" sz="3200" dirty="0"/>
              <a:t>Table: Department</a:t>
            </a:r>
          </a:p>
        </p:txBody>
      </p:sp>
    </p:spTree>
    <p:extLst>
      <p:ext uri="{BB962C8B-B14F-4D97-AF65-F5344CB8AC3E}">
        <p14:creationId xmlns:p14="http://schemas.microsoft.com/office/powerpoint/2010/main" val="152929810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15"/>
                                        </p:tgtEl>
                                        <p:attrNameLst>
                                          <p:attrName>style.visibility</p:attrName>
                                        </p:attrNameLst>
                                      </p:cBhvr>
                                      <p:to>
                                        <p:strVal val="visible"/>
                                      </p:to>
                                    </p:set>
                                    <p:animEffect transition="in" filter="wipe(left)">
                                      <p:cBhvr>
                                        <p:cTn id="7" dur="1500"/>
                                        <p:tgtEl>
                                          <p:spTgt spid="15"/>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gtEl>
                                        <p:attrNameLst>
                                          <p:attrName>style.visibility</p:attrName>
                                        </p:attrNameLst>
                                      </p:cBhvr>
                                      <p:to>
                                        <p:strVal val="visible"/>
                                      </p:to>
                                    </p:set>
                                    <p:animEffect transition="in" filter="wipe(left)">
                                      <p:cBhvr>
                                        <p:cTn id="12" dur="1000"/>
                                        <p:tgtEl>
                                          <p:spTgt spid="3"/>
                                        </p:tgtEl>
                                      </p:cBhvr>
                                    </p:animEffect>
                                  </p:childTnLst>
                                </p:cTn>
                              </p:par>
                            </p:childTnLst>
                          </p:cTn>
                        </p:par>
                        <p:par>
                          <p:cTn id="13" fill="hold">
                            <p:stCondLst>
                              <p:cond delay="1000"/>
                            </p:stCondLst>
                            <p:childTnLst>
                              <p:par>
                                <p:cTn id="14" presetID="22" presetClass="entr" presetSubtype="8" fill="hold" nodeType="afterEffect">
                                  <p:stCondLst>
                                    <p:cond delay="0"/>
                                  </p:stCondLst>
                                  <p:childTnLst>
                                    <p:set>
                                      <p:cBhvr>
                                        <p:cTn id="15" dur="1" fill="hold">
                                          <p:stCondLst>
                                            <p:cond delay="0"/>
                                          </p:stCondLst>
                                        </p:cTn>
                                        <p:tgtEl>
                                          <p:spTgt spid="5"/>
                                        </p:tgtEl>
                                        <p:attrNameLst>
                                          <p:attrName>style.visibility</p:attrName>
                                        </p:attrNameLst>
                                      </p:cBhvr>
                                      <p:to>
                                        <p:strVal val="visible"/>
                                      </p:to>
                                    </p:set>
                                    <p:animEffect transition="in" filter="wipe(left)">
                                      <p:cBhvr>
                                        <p:cTn id="16" dur="2000"/>
                                        <p:tgtEl>
                                          <p:spTgt spid="5"/>
                                        </p:tgtEl>
                                      </p:cBhvr>
                                    </p:animEffect>
                                  </p:childTnLst>
                                </p:cTn>
                              </p:par>
                            </p:childTnLst>
                          </p:cTn>
                        </p:par>
                      </p:childTnLst>
                    </p:cTn>
                  </p:par>
                  <p:par>
                    <p:cTn id="17" fill="hold">
                      <p:stCondLst>
                        <p:cond delay="indefinite"/>
                      </p:stCondLst>
                      <p:childTnLst>
                        <p:par>
                          <p:cTn id="18" fill="hold">
                            <p:stCondLst>
                              <p:cond delay="0"/>
                            </p:stCondLst>
                            <p:childTnLst>
                              <p:par>
                                <p:cTn id="19" presetID="22" presetClass="entr" presetSubtype="8" fill="hold" grpId="0" nodeType="clickEffect">
                                  <p:stCondLst>
                                    <p:cond delay="0"/>
                                  </p:stCondLst>
                                  <p:childTnLst>
                                    <p:set>
                                      <p:cBhvr>
                                        <p:cTn id="20" dur="1" fill="hold">
                                          <p:stCondLst>
                                            <p:cond delay="0"/>
                                          </p:stCondLst>
                                        </p:cTn>
                                        <p:tgtEl>
                                          <p:spTgt spid="6"/>
                                        </p:tgtEl>
                                        <p:attrNameLst>
                                          <p:attrName>style.visibility</p:attrName>
                                        </p:attrNameLst>
                                      </p:cBhvr>
                                      <p:to>
                                        <p:strVal val="visible"/>
                                      </p:to>
                                    </p:set>
                                    <p:animEffect transition="in" filter="wipe(left)">
                                      <p:cBhvr>
                                        <p:cTn id="21" dur="1500"/>
                                        <p:tgtEl>
                                          <p:spTgt spid="6"/>
                                        </p:tgtEl>
                                      </p:cBhvr>
                                    </p:animEffect>
                                  </p:childTnLst>
                                </p:cTn>
                              </p:par>
                            </p:childTnLst>
                          </p:cTn>
                        </p:par>
                        <p:par>
                          <p:cTn id="22" fill="hold">
                            <p:stCondLst>
                              <p:cond delay="1500"/>
                            </p:stCondLst>
                            <p:childTnLst>
                              <p:par>
                                <p:cTn id="23" presetID="22" presetClass="entr" presetSubtype="8" fill="hold" nodeType="afterEffect">
                                  <p:stCondLst>
                                    <p:cond delay="0"/>
                                  </p:stCondLst>
                                  <p:childTnLst>
                                    <p:set>
                                      <p:cBhvr>
                                        <p:cTn id="24" dur="1" fill="hold">
                                          <p:stCondLst>
                                            <p:cond delay="0"/>
                                          </p:stCondLst>
                                        </p:cTn>
                                        <p:tgtEl>
                                          <p:spTgt spid="14"/>
                                        </p:tgtEl>
                                        <p:attrNameLst>
                                          <p:attrName>style.visibility</p:attrName>
                                        </p:attrNameLst>
                                      </p:cBhvr>
                                      <p:to>
                                        <p:strVal val="visible"/>
                                      </p:to>
                                    </p:set>
                                    <p:animEffect transition="in" filter="wipe(left)">
                                      <p:cBhvr>
                                        <p:cTn id="25" dur="1500"/>
                                        <p:tgtEl>
                                          <p:spTgt spid="14"/>
                                        </p:tgtEl>
                                      </p:cBhvr>
                                    </p:animEffect>
                                  </p:childTnLst>
                                </p:cTn>
                              </p:par>
                            </p:childTnLst>
                          </p:cTn>
                        </p:par>
                      </p:childTnLst>
                    </p:cTn>
                  </p:par>
                  <p:par>
                    <p:cTn id="26" fill="hold">
                      <p:stCondLst>
                        <p:cond delay="indefinite"/>
                      </p:stCondLst>
                      <p:childTnLst>
                        <p:par>
                          <p:cTn id="27" fill="hold">
                            <p:stCondLst>
                              <p:cond delay="0"/>
                            </p:stCondLst>
                            <p:childTnLst>
                              <p:par>
                                <p:cTn id="28" presetID="22" presetClass="entr" presetSubtype="8" fill="hold" nodeType="clickEffect">
                                  <p:stCondLst>
                                    <p:cond delay="0"/>
                                  </p:stCondLst>
                                  <p:childTnLst>
                                    <p:set>
                                      <p:cBhvr>
                                        <p:cTn id="29" dur="1" fill="hold">
                                          <p:stCondLst>
                                            <p:cond delay="0"/>
                                          </p:stCondLst>
                                        </p:cTn>
                                        <p:tgtEl>
                                          <p:spTgt spid="4"/>
                                        </p:tgtEl>
                                        <p:attrNameLst>
                                          <p:attrName>style.visibility</p:attrName>
                                        </p:attrNameLst>
                                      </p:cBhvr>
                                      <p:to>
                                        <p:strVal val="visible"/>
                                      </p:to>
                                    </p:set>
                                    <p:animEffect transition="in" filter="wipe(left)">
                                      <p:cBhvr>
                                        <p:cTn id="30" dur="1000"/>
                                        <p:tgtEl>
                                          <p:spTgt spid="4"/>
                                        </p:tgtEl>
                                      </p:cBhvr>
                                    </p:animEffect>
                                  </p:childTnLst>
                                </p:cTn>
                              </p:par>
                            </p:childTnLst>
                          </p:cTn>
                        </p:par>
                        <p:par>
                          <p:cTn id="31" fill="hold">
                            <p:stCondLst>
                              <p:cond delay="1000"/>
                            </p:stCondLst>
                            <p:childTnLst>
                              <p:par>
                                <p:cTn id="32" presetID="22" presetClass="entr" presetSubtype="8" fill="hold" nodeType="afterEffect">
                                  <p:stCondLst>
                                    <p:cond delay="0"/>
                                  </p:stCondLst>
                                  <p:childTnLst>
                                    <p:set>
                                      <p:cBhvr>
                                        <p:cTn id="33" dur="1" fill="hold">
                                          <p:stCondLst>
                                            <p:cond delay="0"/>
                                          </p:stCondLst>
                                        </p:cTn>
                                        <p:tgtEl>
                                          <p:spTgt spid="16"/>
                                        </p:tgtEl>
                                        <p:attrNameLst>
                                          <p:attrName>style.visibility</p:attrName>
                                        </p:attrNameLst>
                                      </p:cBhvr>
                                      <p:to>
                                        <p:strVal val="visible"/>
                                      </p:to>
                                    </p:set>
                                    <p:animEffect transition="in" filter="wipe(left)">
                                      <p:cBhvr>
                                        <p:cTn id="34" dur="1000"/>
                                        <p:tgtEl>
                                          <p:spTgt spid="16"/>
                                        </p:tgtEl>
                                      </p:cBhvr>
                                    </p:animEffect>
                                  </p:childTnLst>
                                </p:cTn>
                              </p:par>
                            </p:childTnLst>
                          </p:cTn>
                        </p:par>
                        <p:par>
                          <p:cTn id="35" fill="hold">
                            <p:stCondLst>
                              <p:cond delay="2000"/>
                            </p:stCondLst>
                            <p:childTnLst>
                              <p:par>
                                <p:cTn id="36" presetID="22" presetClass="entr" presetSubtype="8" fill="hold" grpId="0" nodeType="afterEffect">
                                  <p:stCondLst>
                                    <p:cond delay="0"/>
                                  </p:stCondLst>
                                  <p:childTnLst>
                                    <p:set>
                                      <p:cBhvr>
                                        <p:cTn id="37" dur="1" fill="hold">
                                          <p:stCondLst>
                                            <p:cond delay="0"/>
                                          </p:stCondLst>
                                        </p:cTn>
                                        <p:tgtEl>
                                          <p:spTgt spid="9"/>
                                        </p:tgtEl>
                                        <p:attrNameLst>
                                          <p:attrName>style.visibility</p:attrName>
                                        </p:attrNameLst>
                                      </p:cBhvr>
                                      <p:to>
                                        <p:strVal val="visible"/>
                                      </p:to>
                                    </p:set>
                                    <p:animEffect transition="in" filter="wipe(left)">
                                      <p:cBhvr>
                                        <p:cTn id="38" dur="1500"/>
                                        <p:tgtEl>
                                          <p:spTgt spid="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5" grpId="0"/>
      <p:bldP spid="9" grpId="0"/>
      <p:bldP spid="3" grpId="0"/>
      <p:bldP spid="6" grpId="0"/>
    </p:bldLst>
  </p:timing>
</p:sld>
</file>

<file path=ppt/slides/slide10.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Relational Database</a:t>
            </a:r>
          </a:p>
        </p:txBody>
      </p:sp>
      <p:graphicFrame>
        <p:nvGraphicFramePr>
          <p:cNvPr id="14" name="Dept table">
            <a:extLst>
              <a:ext uri="{FF2B5EF4-FFF2-40B4-BE49-F238E27FC236}">
                <a16:creationId xmlns:a16="http://schemas.microsoft.com/office/drawing/2014/main" id="{844D8AF2-45F4-4D3A-A16B-FDE72F88C3EB}"/>
              </a:ext>
            </a:extLst>
          </p:cNvPr>
          <p:cNvGraphicFramePr>
            <a:graphicFrameLocks/>
          </p:cNvGraphicFramePr>
          <p:nvPr>
            <p:extLst>
              <p:ext uri="{D42A27DB-BD31-4B8C-83A1-F6EECF244321}">
                <p14:modId xmlns:p14="http://schemas.microsoft.com/office/powerpoint/2010/main" val="2483771298"/>
              </p:ext>
            </p:extLst>
          </p:nvPr>
        </p:nvGraphicFramePr>
        <p:xfrm>
          <a:off x="7669848" y="2742570"/>
          <a:ext cx="3683952" cy="1777656"/>
        </p:xfrm>
        <a:graphic>
          <a:graphicData uri="http://schemas.openxmlformats.org/drawingml/2006/table">
            <a:tbl>
              <a:tblPr firstRow="1" bandRow="1">
                <a:tableStyleId>{5C22544A-7EE6-4342-B048-85BDC9FD1C3A}</a:tableStyleId>
              </a:tblPr>
              <a:tblGrid>
                <a:gridCol w="894080">
                  <a:extLst>
                    <a:ext uri="{9D8B030D-6E8A-4147-A177-3AD203B41FA5}">
                      <a16:colId xmlns:a16="http://schemas.microsoft.com/office/drawing/2014/main" val="415971381"/>
                    </a:ext>
                  </a:extLst>
                </a:gridCol>
                <a:gridCol w="1440180">
                  <a:extLst>
                    <a:ext uri="{9D8B030D-6E8A-4147-A177-3AD203B41FA5}">
                      <a16:colId xmlns:a16="http://schemas.microsoft.com/office/drawing/2014/main" val="4013636719"/>
                    </a:ext>
                  </a:extLst>
                </a:gridCol>
                <a:gridCol w="1349692">
                  <a:extLst>
                    <a:ext uri="{9D8B030D-6E8A-4147-A177-3AD203B41FA5}">
                      <a16:colId xmlns:a16="http://schemas.microsoft.com/office/drawing/2014/main" val="3467447067"/>
                    </a:ext>
                  </a:extLst>
                </a:gridCol>
              </a:tblGrid>
              <a:tr h="592552">
                <a:tc>
                  <a:txBody>
                    <a:bodyPr/>
                    <a:lstStyle/>
                    <a:p>
                      <a:pPr algn="ctr"/>
                      <a:r>
                        <a:rPr lang="en-GB" sz="3200" dirty="0"/>
                        <a:t>ID</a:t>
                      </a:r>
                    </a:p>
                  </a:txBody>
                  <a:tcPr/>
                </a:tc>
                <a:tc>
                  <a:txBody>
                    <a:bodyPr/>
                    <a:lstStyle/>
                    <a:p>
                      <a:pPr algn="ctr"/>
                      <a:r>
                        <a:rPr lang="en-GB" sz="3200" dirty="0"/>
                        <a:t>Dept</a:t>
                      </a:r>
                    </a:p>
                  </a:txBody>
                  <a:tcPr/>
                </a:tc>
                <a:tc>
                  <a:txBody>
                    <a:bodyPr/>
                    <a:lstStyle/>
                    <a:p>
                      <a:pPr algn="ctr"/>
                      <a:r>
                        <a:rPr lang="en-GB" sz="3200" dirty="0"/>
                        <a:t>Phone</a:t>
                      </a:r>
                    </a:p>
                  </a:txBody>
                  <a:tcPr/>
                </a:tc>
                <a:extLst>
                  <a:ext uri="{0D108BD9-81ED-4DB2-BD59-A6C34878D82A}">
                    <a16:rowId xmlns:a16="http://schemas.microsoft.com/office/drawing/2014/main" val="3459615676"/>
                  </a:ext>
                </a:extLst>
              </a:tr>
              <a:tr h="592552">
                <a:tc>
                  <a:txBody>
                    <a:bodyPr/>
                    <a:lstStyle/>
                    <a:p>
                      <a:pPr lvl="0"/>
                      <a:r>
                        <a:rPr lang="en-GB" sz="3200" dirty="0"/>
                        <a:t>001</a:t>
                      </a:r>
                    </a:p>
                  </a:txBody>
                  <a:tcPr/>
                </a:tc>
                <a:tc>
                  <a:txBody>
                    <a:bodyPr/>
                    <a:lstStyle/>
                    <a:p>
                      <a:pPr lvl="0"/>
                      <a:r>
                        <a:rPr lang="en-GB" sz="3200" dirty="0"/>
                        <a:t>Maths</a:t>
                      </a:r>
                    </a:p>
                  </a:txBody>
                  <a:tcPr/>
                </a:tc>
                <a:tc>
                  <a:txBody>
                    <a:bodyPr/>
                    <a:lstStyle/>
                    <a:p>
                      <a:pPr lvl="0"/>
                      <a:r>
                        <a:rPr lang="en-GB" sz="3200" dirty="0"/>
                        <a:t>300</a:t>
                      </a:r>
                    </a:p>
                  </a:txBody>
                  <a:tcPr/>
                </a:tc>
                <a:extLst>
                  <a:ext uri="{0D108BD9-81ED-4DB2-BD59-A6C34878D82A}">
                    <a16:rowId xmlns:a16="http://schemas.microsoft.com/office/drawing/2014/main" val="1127765656"/>
                  </a:ext>
                </a:extLst>
              </a:tr>
              <a:tr h="592552">
                <a:tc>
                  <a:txBody>
                    <a:bodyPr/>
                    <a:lstStyle/>
                    <a:p>
                      <a:pPr lvl="0"/>
                      <a:r>
                        <a:rPr lang="en-GB" sz="3200" dirty="0"/>
                        <a:t>002</a:t>
                      </a:r>
                    </a:p>
                  </a:txBody>
                  <a:tcPr/>
                </a:tc>
                <a:tc>
                  <a:txBody>
                    <a:bodyPr/>
                    <a:lstStyle/>
                    <a:p>
                      <a:pPr lvl="0"/>
                      <a:r>
                        <a:rPr lang="en-GB" sz="3200" dirty="0"/>
                        <a:t>English</a:t>
                      </a:r>
                    </a:p>
                  </a:txBody>
                  <a:tcPr/>
                </a:tc>
                <a:tc>
                  <a:txBody>
                    <a:bodyPr/>
                    <a:lstStyle/>
                    <a:p>
                      <a:pPr lvl="0"/>
                      <a:r>
                        <a:rPr lang="en-GB" sz="3200" dirty="0"/>
                        <a:t>301</a:t>
                      </a:r>
                    </a:p>
                  </a:txBody>
                  <a:tcPr/>
                </a:tc>
                <a:extLst>
                  <a:ext uri="{0D108BD9-81ED-4DB2-BD59-A6C34878D82A}">
                    <a16:rowId xmlns:a16="http://schemas.microsoft.com/office/drawing/2014/main" val="81894544"/>
                  </a:ext>
                </a:extLst>
              </a:tr>
            </a:tbl>
          </a:graphicData>
        </a:graphic>
      </p:graphicFrame>
      <p:graphicFrame>
        <p:nvGraphicFramePr>
          <p:cNvPr id="5" name="Staff table">
            <a:extLst>
              <a:ext uri="{FF2B5EF4-FFF2-40B4-BE49-F238E27FC236}">
                <a16:creationId xmlns:a16="http://schemas.microsoft.com/office/drawing/2014/main" id="{38A8414E-6490-4AD8-90BD-DF0216F61C69}"/>
              </a:ext>
            </a:extLst>
          </p:cNvPr>
          <p:cNvGraphicFramePr>
            <a:graphicFrameLocks noGrp="1"/>
          </p:cNvGraphicFramePr>
          <p:nvPr>
            <p:ph idx="1"/>
          </p:nvPr>
        </p:nvGraphicFramePr>
        <p:xfrm>
          <a:off x="838200" y="2742570"/>
          <a:ext cx="5951220" cy="3555312"/>
        </p:xfrm>
        <a:graphic>
          <a:graphicData uri="http://schemas.openxmlformats.org/drawingml/2006/table">
            <a:tbl>
              <a:tblPr firstRow="1" bandRow="1">
                <a:tableStyleId>{5C22544A-7EE6-4342-B048-85BDC9FD1C3A}</a:tableStyleId>
              </a:tblPr>
              <a:tblGrid>
                <a:gridCol w="638492">
                  <a:extLst>
                    <a:ext uri="{9D8B030D-6E8A-4147-A177-3AD203B41FA5}">
                      <a16:colId xmlns:a16="http://schemas.microsoft.com/office/drawing/2014/main" val="1632358923"/>
                    </a:ext>
                  </a:extLst>
                </a:gridCol>
                <a:gridCol w="1973580">
                  <a:extLst>
                    <a:ext uri="{9D8B030D-6E8A-4147-A177-3AD203B41FA5}">
                      <a16:colId xmlns:a16="http://schemas.microsoft.com/office/drawing/2014/main" val="3505833113"/>
                    </a:ext>
                  </a:extLst>
                </a:gridCol>
                <a:gridCol w="1791018">
                  <a:extLst>
                    <a:ext uri="{9D8B030D-6E8A-4147-A177-3AD203B41FA5}">
                      <a16:colId xmlns:a16="http://schemas.microsoft.com/office/drawing/2014/main" val="3401749839"/>
                    </a:ext>
                  </a:extLst>
                </a:gridCol>
                <a:gridCol w="1548130">
                  <a:extLst>
                    <a:ext uri="{9D8B030D-6E8A-4147-A177-3AD203B41FA5}">
                      <a16:colId xmlns:a16="http://schemas.microsoft.com/office/drawing/2014/main" val="415971381"/>
                    </a:ext>
                  </a:extLst>
                </a:gridCol>
              </a:tblGrid>
              <a:tr h="592552">
                <a:tc>
                  <a:txBody>
                    <a:bodyPr/>
                    <a:lstStyle/>
                    <a:p>
                      <a:pPr algn="ctr"/>
                      <a:r>
                        <a:rPr lang="en-GB" sz="3200" dirty="0"/>
                        <a:t>ID</a:t>
                      </a:r>
                    </a:p>
                  </a:txBody>
                  <a:tcPr/>
                </a:tc>
                <a:tc>
                  <a:txBody>
                    <a:bodyPr/>
                    <a:lstStyle/>
                    <a:p>
                      <a:pPr algn="ctr"/>
                      <a:r>
                        <a:rPr lang="en-GB" sz="3200" dirty="0"/>
                        <a:t>Forename</a:t>
                      </a:r>
                    </a:p>
                  </a:txBody>
                  <a:tcPr/>
                </a:tc>
                <a:tc>
                  <a:txBody>
                    <a:bodyPr/>
                    <a:lstStyle/>
                    <a:p>
                      <a:pPr algn="ctr"/>
                      <a:r>
                        <a:rPr lang="en-GB" sz="3200" dirty="0"/>
                        <a:t>Surname</a:t>
                      </a:r>
                    </a:p>
                  </a:txBody>
                  <a:tcPr/>
                </a:tc>
                <a:tc>
                  <a:txBody>
                    <a:bodyPr/>
                    <a:lstStyle/>
                    <a:p>
                      <a:pPr algn="ctr"/>
                      <a:r>
                        <a:rPr lang="en-GB" sz="3200" dirty="0"/>
                        <a:t>Dept ID</a:t>
                      </a:r>
                    </a:p>
                  </a:txBody>
                  <a:tcPr/>
                </a:tc>
                <a:extLst>
                  <a:ext uri="{0D108BD9-81ED-4DB2-BD59-A6C34878D82A}">
                    <a16:rowId xmlns:a16="http://schemas.microsoft.com/office/drawing/2014/main" val="3459615676"/>
                  </a:ext>
                </a:extLst>
              </a:tr>
              <a:tr h="592552">
                <a:tc>
                  <a:txBody>
                    <a:bodyPr/>
                    <a:lstStyle/>
                    <a:p>
                      <a:pPr lvl="0"/>
                      <a:r>
                        <a:rPr lang="en-GB" sz="3200" dirty="0"/>
                        <a:t>1</a:t>
                      </a:r>
                    </a:p>
                  </a:txBody>
                  <a:tcPr/>
                </a:tc>
                <a:tc>
                  <a:txBody>
                    <a:bodyPr/>
                    <a:lstStyle/>
                    <a:p>
                      <a:pPr lvl="0" algn="l"/>
                      <a:r>
                        <a:rPr lang="en-GB" sz="3200" dirty="0"/>
                        <a:t>Colin</a:t>
                      </a:r>
                    </a:p>
                  </a:txBody>
                  <a:tcPr/>
                </a:tc>
                <a:tc>
                  <a:txBody>
                    <a:bodyPr/>
                    <a:lstStyle/>
                    <a:p>
                      <a:pPr lvl="0" algn="l"/>
                      <a:r>
                        <a:rPr lang="en-GB" sz="3200" dirty="0"/>
                        <a:t>Arthur</a:t>
                      </a:r>
                    </a:p>
                  </a:txBody>
                  <a:tcPr/>
                </a:tc>
                <a:tc>
                  <a:txBody>
                    <a:bodyPr/>
                    <a:lstStyle/>
                    <a:p>
                      <a:pPr lvl="0"/>
                      <a:r>
                        <a:rPr lang="en-GB" sz="3200" dirty="0"/>
                        <a:t>001</a:t>
                      </a:r>
                    </a:p>
                  </a:txBody>
                  <a:tcPr/>
                </a:tc>
                <a:extLst>
                  <a:ext uri="{0D108BD9-81ED-4DB2-BD59-A6C34878D82A}">
                    <a16:rowId xmlns:a16="http://schemas.microsoft.com/office/drawing/2014/main" val="1127765656"/>
                  </a:ext>
                </a:extLst>
              </a:tr>
              <a:tr h="592552">
                <a:tc>
                  <a:txBody>
                    <a:bodyPr/>
                    <a:lstStyle/>
                    <a:p>
                      <a:pPr lvl="0"/>
                      <a:r>
                        <a:rPr lang="en-GB" sz="3200" dirty="0"/>
                        <a:t>2</a:t>
                      </a:r>
                    </a:p>
                  </a:txBody>
                  <a:tcPr/>
                </a:tc>
                <a:tc>
                  <a:txBody>
                    <a:bodyPr/>
                    <a:lstStyle/>
                    <a:p>
                      <a:pPr lvl="0" algn="l"/>
                      <a:r>
                        <a:rPr lang="en-GB" sz="3200" dirty="0"/>
                        <a:t>Laura</a:t>
                      </a:r>
                    </a:p>
                  </a:txBody>
                  <a:tcPr/>
                </a:tc>
                <a:tc>
                  <a:txBody>
                    <a:bodyPr/>
                    <a:lstStyle/>
                    <a:p>
                      <a:pPr lvl="0" algn="l"/>
                      <a:r>
                        <a:rPr lang="en-GB" sz="3200" dirty="0"/>
                        <a:t>Brown</a:t>
                      </a:r>
                    </a:p>
                  </a:txBody>
                  <a:tcPr/>
                </a:tc>
                <a:tc>
                  <a:txBody>
                    <a:bodyPr/>
                    <a:lstStyle/>
                    <a:p>
                      <a:pPr lvl="0"/>
                      <a:r>
                        <a:rPr lang="en-GB" sz="3200" dirty="0"/>
                        <a:t>001</a:t>
                      </a:r>
                    </a:p>
                  </a:txBody>
                  <a:tcPr/>
                </a:tc>
                <a:extLst>
                  <a:ext uri="{0D108BD9-81ED-4DB2-BD59-A6C34878D82A}">
                    <a16:rowId xmlns:a16="http://schemas.microsoft.com/office/drawing/2014/main" val="2924661129"/>
                  </a:ext>
                </a:extLst>
              </a:tr>
              <a:tr h="592552">
                <a:tc>
                  <a:txBody>
                    <a:bodyPr/>
                    <a:lstStyle/>
                    <a:p>
                      <a:pPr lvl="0"/>
                      <a:r>
                        <a:rPr lang="en-GB" sz="3200" dirty="0"/>
                        <a:t>3</a:t>
                      </a:r>
                    </a:p>
                  </a:txBody>
                  <a:tcPr/>
                </a:tc>
                <a:tc>
                  <a:txBody>
                    <a:bodyPr/>
                    <a:lstStyle/>
                    <a:p>
                      <a:pPr lvl="0" algn="l"/>
                      <a:r>
                        <a:rPr lang="en-GB" sz="3200" dirty="0"/>
                        <a:t>Stephen</a:t>
                      </a:r>
                    </a:p>
                  </a:txBody>
                  <a:tcPr/>
                </a:tc>
                <a:tc>
                  <a:txBody>
                    <a:bodyPr/>
                    <a:lstStyle/>
                    <a:p>
                      <a:pPr lvl="0" algn="l"/>
                      <a:r>
                        <a:rPr lang="en-GB" sz="3200" dirty="0"/>
                        <a:t>MacLeod</a:t>
                      </a:r>
                    </a:p>
                  </a:txBody>
                  <a:tcPr/>
                </a:tc>
                <a:tc>
                  <a:txBody>
                    <a:bodyPr/>
                    <a:lstStyle/>
                    <a:p>
                      <a:pPr lvl="0"/>
                      <a:r>
                        <a:rPr lang="en-GB" sz="3200" dirty="0"/>
                        <a:t>001</a:t>
                      </a:r>
                    </a:p>
                  </a:txBody>
                  <a:tcPr/>
                </a:tc>
                <a:extLst>
                  <a:ext uri="{0D108BD9-81ED-4DB2-BD59-A6C34878D82A}">
                    <a16:rowId xmlns:a16="http://schemas.microsoft.com/office/drawing/2014/main" val="3885493841"/>
                  </a:ext>
                </a:extLst>
              </a:tr>
              <a:tr h="592552">
                <a:tc>
                  <a:txBody>
                    <a:bodyPr/>
                    <a:lstStyle/>
                    <a:p>
                      <a:pPr lvl="0"/>
                      <a:r>
                        <a:rPr lang="en-GB" sz="3200" dirty="0"/>
                        <a:t>4</a:t>
                      </a:r>
                    </a:p>
                  </a:txBody>
                  <a:tcPr/>
                </a:tc>
                <a:tc>
                  <a:txBody>
                    <a:bodyPr/>
                    <a:lstStyle/>
                    <a:p>
                      <a:pPr lvl="0" algn="l"/>
                      <a:r>
                        <a:rPr lang="en-GB" sz="3200" dirty="0"/>
                        <a:t>Scott</a:t>
                      </a:r>
                    </a:p>
                  </a:txBody>
                  <a:tcPr/>
                </a:tc>
                <a:tc>
                  <a:txBody>
                    <a:bodyPr/>
                    <a:lstStyle/>
                    <a:p>
                      <a:pPr lvl="0" algn="l"/>
                      <a:r>
                        <a:rPr lang="en-GB" sz="3200" dirty="0"/>
                        <a:t>Sinclair</a:t>
                      </a:r>
                    </a:p>
                  </a:txBody>
                  <a:tcPr/>
                </a:tc>
                <a:tc>
                  <a:txBody>
                    <a:bodyPr/>
                    <a:lstStyle/>
                    <a:p>
                      <a:pPr lvl="0"/>
                      <a:r>
                        <a:rPr lang="en-GB" sz="3200" dirty="0"/>
                        <a:t>002</a:t>
                      </a:r>
                    </a:p>
                  </a:txBody>
                  <a:tcPr/>
                </a:tc>
                <a:extLst>
                  <a:ext uri="{0D108BD9-81ED-4DB2-BD59-A6C34878D82A}">
                    <a16:rowId xmlns:a16="http://schemas.microsoft.com/office/drawing/2014/main" val="1487565366"/>
                  </a:ext>
                </a:extLst>
              </a:tr>
              <a:tr h="592552">
                <a:tc>
                  <a:txBody>
                    <a:bodyPr/>
                    <a:lstStyle/>
                    <a:p>
                      <a:pPr lvl="0"/>
                      <a:r>
                        <a:rPr lang="en-GB" sz="3200" dirty="0"/>
                        <a:t>5</a:t>
                      </a:r>
                    </a:p>
                  </a:txBody>
                  <a:tcPr/>
                </a:tc>
                <a:tc>
                  <a:txBody>
                    <a:bodyPr/>
                    <a:lstStyle/>
                    <a:p>
                      <a:pPr lvl="0" algn="l"/>
                      <a:r>
                        <a:rPr lang="en-GB" sz="3200" dirty="0"/>
                        <a:t>Michelle</a:t>
                      </a:r>
                    </a:p>
                  </a:txBody>
                  <a:tcPr/>
                </a:tc>
                <a:tc>
                  <a:txBody>
                    <a:bodyPr/>
                    <a:lstStyle/>
                    <a:p>
                      <a:pPr lvl="0" algn="l"/>
                      <a:r>
                        <a:rPr lang="en-GB" sz="3200" dirty="0"/>
                        <a:t>Wie</a:t>
                      </a:r>
                    </a:p>
                  </a:txBody>
                  <a:tcPr/>
                </a:tc>
                <a:tc>
                  <a:txBody>
                    <a:bodyPr/>
                    <a:lstStyle/>
                    <a:p>
                      <a:pPr lvl="0"/>
                      <a:r>
                        <a:rPr lang="en-GB" sz="3200" dirty="0"/>
                        <a:t>002</a:t>
                      </a:r>
                    </a:p>
                  </a:txBody>
                  <a:tcPr/>
                </a:tc>
                <a:extLst>
                  <a:ext uri="{0D108BD9-81ED-4DB2-BD59-A6C34878D82A}">
                    <a16:rowId xmlns:a16="http://schemas.microsoft.com/office/drawing/2014/main" val="81894544"/>
                  </a:ext>
                </a:extLst>
              </a:tr>
            </a:tbl>
          </a:graphicData>
        </a:graphic>
      </p:graphicFrame>
      <p:sp>
        <p:nvSpPr>
          <p:cNvPr id="3" name="TextBox 2">
            <a:extLst>
              <a:ext uri="{FF2B5EF4-FFF2-40B4-BE49-F238E27FC236}">
                <a16:creationId xmlns:a16="http://schemas.microsoft.com/office/drawing/2014/main" id="{8342689E-7D46-5169-15D1-5564029DB143}"/>
              </a:ext>
            </a:extLst>
          </p:cNvPr>
          <p:cNvSpPr txBox="1"/>
          <p:nvPr/>
        </p:nvSpPr>
        <p:spPr>
          <a:xfrm>
            <a:off x="838200" y="2226057"/>
            <a:ext cx="2031069" cy="584775"/>
          </a:xfrm>
          <a:prstGeom prst="rect">
            <a:avLst/>
          </a:prstGeom>
          <a:noFill/>
        </p:spPr>
        <p:txBody>
          <a:bodyPr wrap="none" rtlCol="0">
            <a:spAutoFit/>
          </a:bodyPr>
          <a:lstStyle/>
          <a:p>
            <a:r>
              <a:rPr lang="en-GB" sz="3200" dirty="0"/>
              <a:t>Table: Staff</a:t>
            </a:r>
          </a:p>
        </p:txBody>
      </p:sp>
      <p:sp>
        <p:nvSpPr>
          <p:cNvPr id="6" name="TextBox 5">
            <a:extLst>
              <a:ext uri="{FF2B5EF4-FFF2-40B4-BE49-F238E27FC236}">
                <a16:creationId xmlns:a16="http://schemas.microsoft.com/office/drawing/2014/main" id="{21723E06-6635-F538-E4D2-AD7CF097A705}"/>
              </a:ext>
            </a:extLst>
          </p:cNvPr>
          <p:cNvSpPr txBox="1"/>
          <p:nvPr/>
        </p:nvSpPr>
        <p:spPr>
          <a:xfrm>
            <a:off x="7632700" y="2250692"/>
            <a:ext cx="3301930" cy="584775"/>
          </a:xfrm>
          <a:prstGeom prst="rect">
            <a:avLst/>
          </a:prstGeom>
          <a:noFill/>
        </p:spPr>
        <p:txBody>
          <a:bodyPr wrap="none" rtlCol="0">
            <a:spAutoFit/>
          </a:bodyPr>
          <a:lstStyle/>
          <a:p>
            <a:r>
              <a:rPr lang="en-GB" sz="3200" dirty="0"/>
              <a:t>Table: Department</a:t>
            </a:r>
          </a:p>
        </p:txBody>
      </p:sp>
    </p:spTree>
    <p:extLst>
      <p:ext uri="{BB962C8B-B14F-4D97-AF65-F5344CB8AC3E}">
        <p14:creationId xmlns:p14="http://schemas.microsoft.com/office/powerpoint/2010/main" val="2340281155"/>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EA9A573-B600-4ED7-90E6-0A084DDB7B5E}"/>
              </a:ext>
            </a:extLst>
          </p:cNvPr>
          <p:cNvSpPr>
            <a:spLocks noGrp="1"/>
          </p:cNvSpPr>
          <p:nvPr>
            <p:ph type="title"/>
          </p:nvPr>
        </p:nvSpPr>
        <p:spPr/>
        <p:txBody>
          <a:bodyPr/>
          <a:lstStyle/>
          <a:p>
            <a:r>
              <a:rPr lang="en-GB" dirty="0"/>
              <a:t>SQL</a:t>
            </a:r>
          </a:p>
        </p:txBody>
      </p:sp>
      <p:sp>
        <p:nvSpPr>
          <p:cNvPr id="3" name="Content Placeholder 2">
            <a:extLst>
              <a:ext uri="{FF2B5EF4-FFF2-40B4-BE49-F238E27FC236}">
                <a16:creationId xmlns:a16="http://schemas.microsoft.com/office/drawing/2014/main" id="{3006BFFB-0638-4D0F-887F-1B4CD48CA2DD}"/>
              </a:ext>
            </a:extLst>
          </p:cNvPr>
          <p:cNvSpPr>
            <a:spLocks noGrp="1"/>
          </p:cNvSpPr>
          <p:nvPr>
            <p:ph idx="1"/>
          </p:nvPr>
        </p:nvSpPr>
        <p:spPr/>
        <p:txBody>
          <a:bodyPr>
            <a:normAutofit fontScale="92500" lnSpcReduction="20000"/>
          </a:bodyPr>
          <a:lstStyle/>
          <a:p>
            <a:r>
              <a:rPr lang="en-GB" sz="9600" b="1" dirty="0">
                <a:solidFill>
                  <a:srgbClr val="7030A0"/>
                </a:solidFill>
              </a:rPr>
              <a:t>S</a:t>
            </a:r>
            <a:r>
              <a:rPr lang="en-GB" sz="9600" dirty="0"/>
              <a:t>tructured</a:t>
            </a:r>
          </a:p>
          <a:p>
            <a:r>
              <a:rPr lang="en-GB" sz="9600" b="1" dirty="0">
                <a:solidFill>
                  <a:srgbClr val="7030A0"/>
                </a:solidFill>
              </a:rPr>
              <a:t>Q</a:t>
            </a:r>
            <a:r>
              <a:rPr lang="en-GB" sz="9600" dirty="0"/>
              <a:t>uery</a:t>
            </a:r>
          </a:p>
          <a:p>
            <a:r>
              <a:rPr lang="en-GB" sz="9600" b="1" dirty="0">
                <a:solidFill>
                  <a:srgbClr val="7030A0"/>
                </a:solidFill>
              </a:rPr>
              <a:t>L</a:t>
            </a:r>
            <a:r>
              <a:rPr lang="en-GB" sz="9600" dirty="0"/>
              <a:t>anguage</a:t>
            </a:r>
          </a:p>
        </p:txBody>
      </p:sp>
      <p:sp>
        <p:nvSpPr>
          <p:cNvPr id="4" name="TextBox 3"/>
          <p:cNvSpPr txBox="1"/>
          <p:nvPr/>
        </p:nvSpPr>
        <p:spPr>
          <a:xfrm>
            <a:off x="8651838" y="2828835"/>
            <a:ext cx="2701962" cy="1200329"/>
          </a:xfrm>
          <a:prstGeom prst="rect">
            <a:avLst/>
          </a:prstGeom>
          <a:noFill/>
        </p:spPr>
        <p:txBody>
          <a:bodyPr wrap="square" rtlCol="0">
            <a:spAutoFit/>
          </a:bodyPr>
          <a:lstStyle/>
          <a:p>
            <a:pPr algn="ctr"/>
            <a:r>
              <a:rPr lang="en-GB" sz="3600" dirty="0"/>
              <a:t>The language of databases</a:t>
            </a:r>
          </a:p>
        </p:txBody>
      </p:sp>
      <p:sp>
        <p:nvSpPr>
          <p:cNvPr id="5" name="TextBox 4">
            <a:extLst>
              <a:ext uri="{FF2B5EF4-FFF2-40B4-BE49-F238E27FC236}">
                <a16:creationId xmlns:a16="http://schemas.microsoft.com/office/drawing/2014/main" id="{964D77D7-D52A-864E-2F76-F013C7C8D4FE}"/>
              </a:ext>
            </a:extLst>
          </p:cNvPr>
          <p:cNvSpPr txBox="1"/>
          <p:nvPr/>
        </p:nvSpPr>
        <p:spPr>
          <a:xfrm>
            <a:off x="8972966" y="4581192"/>
            <a:ext cx="2059705" cy="646331"/>
          </a:xfrm>
          <a:prstGeom prst="rect">
            <a:avLst/>
          </a:prstGeom>
          <a:noFill/>
        </p:spPr>
        <p:txBody>
          <a:bodyPr wrap="square" rtlCol="0">
            <a:spAutoFit/>
          </a:bodyPr>
          <a:lstStyle/>
          <a:p>
            <a:r>
              <a:rPr lang="en-GB" sz="3600" b="1" dirty="0">
                <a:solidFill>
                  <a:srgbClr val="FF0000"/>
                </a:solidFill>
              </a:rPr>
              <a:t>"SEQUEL"</a:t>
            </a:r>
          </a:p>
        </p:txBody>
      </p:sp>
    </p:spTree>
    <p:extLst>
      <p:ext uri="{BB962C8B-B14F-4D97-AF65-F5344CB8AC3E}">
        <p14:creationId xmlns:p14="http://schemas.microsoft.com/office/powerpoint/2010/main" val="2886008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5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5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4"/>
                                        </p:tgtEl>
                                        <p:attrNameLst>
                                          <p:attrName>style.visibility</p:attrName>
                                        </p:attrNameLst>
                                      </p:cBhvr>
                                      <p:to>
                                        <p:strVal val="visible"/>
                                      </p:to>
                                    </p:set>
                                    <p:animEffect transition="in" filter="fade">
                                      <p:cBhvr>
                                        <p:cTn id="22" dur="1000"/>
                                        <p:tgtEl>
                                          <p:spTgt spid="4"/>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5"/>
                                        </p:tgtEl>
                                        <p:attrNameLst>
                                          <p:attrName>style.visibility</p:attrName>
                                        </p:attrNameLst>
                                      </p:cBhvr>
                                      <p:to>
                                        <p:strVal val="visible"/>
                                      </p:to>
                                    </p:set>
                                    <p:animEffect transition="in" filter="fade">
                                      <p:cBhvr>
                                        <p:cTn id="27" dur="10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P spid="4" grpId="0"/>
      <p:bldP spid="5" grpId="0"/>
    </p:bldLst>
  </p:timing>
</p:sld>
</file>

<file path=ppt/slides/slide12.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EA9A573-B600-4ED7-90E6-0A084DDB7B5E}"/>
              </a:ext>
            </a:extLst>
          </p:cNvPr>
          <p:cNvSpPr>
            <a:spLocks noGrp="1"/>
          </p:cNvSpPr>
          <p:nvPr>
            <p:ph type="title"/>
          </p:nvPr>
        </p:nvSpPr>
        <p:spPr/>
        <p:txBody>
          <a:bodyPr/>
          <a:lstStyle/>
          <a:p>
            <a:r>
              <a:rPr lang="en-GB" dirty="0"/>
              <a:t>SQL</a:t>
            </a:r>
          </a:p>
        </p:txBody>
      </p:sp>
      <p:sp>
        <p:nvSpPr>
          <p:cNvPr id="3" name="Content Placeholder 2">
            <a:extLst>
              <a:ext uri="{FF2B5EF4-FFF2-40B4-BE49-F238E27FC236}">
                <a16:creationId xmlns:a16="http://schemas.microsoft.com/office/drawing/2014/main" id="{3006BFFB-0638-4D0F-887F-1B4CD48CA2DD}"/>
              </a:ext>
            </a:extLst>
          </p:cNvPr>
          <p:cNvSpPr>
            <a:spLocks noGrp="1"/>
          </p:cNvSpPr>
          <p:nvPr>
            <p:ph idx="1"/>
          </p:nvPr>
        </p:nvSpPr>
        <p:spPr/>
        <p:txBody>
          <a:bodyPr>
            <a:normAutofit fontScale="92500" lnSpcReduction="20000"/>
          </a:bodyPr>
          <a:lstStyle/>
          <a:p>
            <a:r>
              <a:rPr lang="en-GB" sz="9600" b="1" dirty="0">
                <a:solidFill>
                  <a:srgbClr val="7030A0"/>
                </a:solidFill>
              </a:rPr>
              <a:t>S</a:t>
            </a:r>
          </a:p>
          <a:p>
            <a:r>
              <a:rPr lang="en-GB" sz="9600" b="1" dirty="0">
                <a:solidFill>
                  <a:srgbClr val="7030A0"/>
                </a:solidFill>
              </a:rPr>
              <a:t>Q</a:t>
            </a:r>
          </a:p>
          <a:p>
            <a:r>
              <a:rPr lang="en-GB" sz="9600" b="1" dirty="0">
                <a:solidFill>
                  <a:srgbClr val="7030A0"/>
                </a:solidFill>
              </a:rPr>
              <a:t>L</a:t>
            </a:r>
            <a:endParaRPr lang="en-GB" sz="9600" dirty="0"/>
          </a:p>
        </p:txBody>
      </p:sp>
      <p:sp>
        <p:nvSpPr>
          <p:cNvPr id="4" name="TextBox 3"/>
          <p:cNvSpPr txBox="1"/>
          <p:nvPr/>
        </p:nvSpPr>
        <p:spPr>
          <a:xfrm>
            <a:off x="8651838" y="2828835"/>
            <a:ext cx="2701962" cy="1200329"/>
          </a:xfrm>
          <a:prstGeom prst="rect">
            <a:avLst/>
          </a:prstGeom>
          <a:noFill/>
        </p:spPr>
        <p:txBody>
          <a:bodyPr wrap="square" rtlCol="0">
            <a:spAutoFit/>
          </a:bodyPr>
          <a:lstStyle/>
          <a:p>
            <a:pPr algn="ctr"/>
            <a:r>
              <a:rPr lang="en-GB" sz="3600" dirty="0"/>
              <a:t>The language of databases</a:t>
            </a:r>
          </a:p>
        </p:txBody>
      </p:sp>
    </p:spTree>
    <p:extLst>
      <p:ext uri="{BB962C8B-B14F-4D97-AF65-F5344CB8AC3E}">
        <p14:creationId xmlns:p14="http://schemas.microsoft.com/office/powerpoint/2010/main" val="1610565375"/>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FDD032C-747B-43CF-884D-7ACD26C31B4A}"/>
              </a:ext>
            </a:extLst>
          </p:cNvPr>
          <p:cNvSpPr>
            <a:spLocks noGrp="1"/>
          </p:cNvSpPr>
          <p:nvPr>
            <p:ph type="title"/>
          </p:nvPr>
        </p:nvSpPr>
        <p:spPr/>
        <p:txBody>
          <a:bodyPr/>
          <a:lstStyle/>
          <a:p>
            <a:r>
              <a:rPr lang="en-GB" dirty="0"/>
              <a:t>DB Browser for SQLite</a:t>
            </a:r>
          </a:p>
        </p:txBody>
      </p:sp>
      <p:sp>
        <p:nvSpPr>
          <p:cNvPr id="3" name="Text Placeholder 2">
            <a:extLst>
              <a:ext uri="{FF2B5EF4-FFF2-40B4-BE49-F238E27FC236}">
                <a16:creationId xmlns:a16="http://schemas.microsoft.com/office/drawing/2014/main" id="{F6399757-F604-4277-99DE-AE75EE3A83E3}"/>
              </a:ext>
            </a:extLst>
          </p:cNvPr>
          <p:cNvSpPr>
            <a:spLocks noGrp="1"/>
          </p:cNvSpPr>
          <p:nvPr>
            <p:ph type="body" idx="1"/>
          </p:nvPr>
        </p:nvSpPr>
        <p:spPr/>
        <p:txBody>
          <a:bodyPr/>
          <a:lstStyle/>
          <a:p>
            <a:r>
              <a:rPr lang="en-GB" sz="3200" dirty="0"/>
              <a:t>Setup</a:t>
            </a:r>
            <a:endParaRPr lang="en-GB" dirty="0"/>
          </a:p>
        </p:txBody>
      </p:sp>
    </p:spTree>
    <p:extLst>
      <p:ext uri="{BB962C8B-B14F-4D97-AF65-F5344CB8AC3E}">
        <p14:creationId xmlns:p14="http://schemas.microsoft.com/office/powerpoint/2010/main" val="2120745638"/>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 name="Picture 6">
            <a:extLst>
              <a:ext uri="{FF2B5EF4-FFF2-40B4-BE49-F238E27FC236}">
                <a16:creationId xmlns:a16="http://schemas.microsoft.com/office/drawing/2014/main" id="{69EEEA1B-CA96-47AA-938A-E625989FE2B8}"/>
              </a:ext>
            </a:extLst>
          </p:cNvPr>
          <p:cNvPicPr>
            <a:picLocks noChangeAspect="1"/>
          </p:cNvPicPr>
          <p:nvPr/>
        </p:nvPicPr>
        <p:blipFill rotWithShape="1">
          <a:blip r:embed="rId2"/>
          <a:srcRect t="6736"/>
          <a:stretch/>
        </p:blipFill>
        <p:spPr>
          <a:xfrm>
            <a:off x="1177323" y="2877736"/>
            <a:ext cx="10176477" cy="2578688"/>
          </a:xfrm>
          <a:prstGeom prst="rect">
            <a:avLst/>
          </a:prstGeom>
        </p:spPr>
      </p:pic>
      <p:pic>
        <p:nvPicPr>
          <p:cNvPr id="6" name="Picture 5">
            <a:extLst>
              <a:ext uri="{FF2B5EF4-FFF2-40B4-BE49-F238E27FC236}">
                <a16:creationId xmlns:a16="http://schemas.microsoft.com/office/drawing/2014/main" id="{D1E8208F-9679-4FB9-BD07-D2EBB831BEFC}"/>
              </a:ext>
            </a:extLst>
          </p:cNvPr>
          <p:cNvPicPr>
            <a:picLocks noChangeAspect="1"/>
          </p:cNvPicPr>
          <p:nvPr/>
        </p:nvPicPr>
        <p:blipFill rotWithShape="1">
          <a:blip r:embed="rId3"/>
          <a:srcRect l="1111" t="10111" r="2993"/>
          <a:stretch/>
        </p:blipFill>
        <p:spPr>
          <a:xfrm>
            <a:off x="1037057" y="1666805"/>
            <a:ext cx="10626305" cy="4733995"/>
          </a:xfrm>
          <a:prstGeom prst="rect">
            <a:avLst/>
          </a:prstGeom>
        </p:spPr>
      </p:pic>
      <p:pic>
        <p:nvPicPr>
          <p:cNvPr id="5" name="Picture 4">
            <a:extLst>
              <a:ext uri="{FF2B5EF4-FFF2-40B4-BE49-F238E27FC236}">
                <a16:creationId xmlns:a16="http://schemas.microsoft.com/office/drawing/2014/main" id="{FD0C6429-8DF0-4AEF-A5E4-B8A8869104C9}"/>
              </a:ext>
            </a:extLst>
          </p:cNvPr>
          <p:cNvPicPr>
            <a:picLocks noChangeAspect="1"/>
          </p:cNvPicPr>
          <p:nvPr/>
        </p:nvPicPr>
        <p:blipFill rotWithShape="1">
          <a:blip r:embed="rId4"/>
          <a:srcRect l="1428" t="24539" r="1251"/>
          <a:stretch/>
        </p:blipFill>
        <p:spPr>
          <a:xfrm>
            <a:off x="1037057" y="1666805"/>
            <a:ext cx="10682469" cy="1620110"/>
          </a:xfrm>
          <a:prstGeom prst="rect">
            <a:avLst/>
          </a:prstGeom>
        </p:spPr>
      </p:pic>
      <p:pic>
        <p:nvPicPr>
          <p:cNvPr id="4" name="Picture 3">
            <a:extLst>
              <a:ext uri="{FF2B5EF4-FFF2-40B4-BE49-F238E27FC236}">
                <a16:creationId xmlns:a16="http://schemas.microsoft.com/office/drawing/2014/main" id="{431D348A-1E20-4DD1-9964-01135A5AF008}"/>
              </a:ext>
            </a:extLst>
          </p:cNvPr>
          <p:cNvPicPr>
            <a:picLocks noChangeAspect="1"/>
          </p:cNvPicPr>
          <p:nvPr/>
        </p:nvPicPr>
        <p:blipFill rotWithShape="1">
          <a:blip r:embed="rId5"/>
          <a:srcRect l="1596" t="15197"/>
          <a:stretch/>
        </p:blipFill>
        <p:spPr>
          <a:xfrm>
            <a:off x="1037057" y="1666805"/>
            <a:ext cx="10515600" cy="4553946"/>
          </a:xfrm>
          <a:prstGeom prst="rect">
            <a:avLst/>
          </a:prstGeom>
        </p:spPr>
      </p:pic>
      <p:pic>
        <p:nvPicPr>
          <p:cNvPr id="3" name="Picture 2">
            <a:extLst>
              <a:ext uri="{FF2B5EF4-FFF2-40B4-BE49-F238E27FC236}">
                <a16:creationId xmlns:a16="http://schemas.microsoft.com/office/drawing/2014/main" id="{6372C94C-F39C-4633-9690-936896E7997C}"/>
              </a:ext>
            </a:extLst>
          </p:cNvPr>
          <p:cNvPicPr>
            <a:picLocks noChangeAspect="1"/>
          </p:cNvPicPr>
          <p:nvPr/>
        </p:nvPicPr>
        <p:blipFill>
          <a:blip r:embed="rId6"/>
          <a:stretch>
            <a:fillRect/>
          </a:stretch>
        </p:blipFill>
        <p:spPr>
          <a:xfrm>
            <a:off x="1037057" y="1666805"/>
            <a:ext cx="6995773" cy="4820999"/>
          </a:xfrm>
          <a:prstGeom prst="rect">
            <a:avLst/>
          </a:prstGeom>
        </p:spPr>
      </p:pic>
      <p:sp>
        <p:nvSpPr>
          <p:cNvPr id="2" name="Title 1">
            <a:extLst>
              <a:ext uri="{FF2B5EF4-FFF2-40B4-BE49-F238E27FC236}">
                <a16:creationId xmlns:a16="http://schemas.microsoft.com/office/drawing/2014/main" id="{D049432C-9C31-40D9-8C26-6E288E61F0CD}"/>
              </a:ext>
            </a:extLst>
          </p:cNvPr>
          <p:cNvSpPr>
            <a:spLocks noGrp="1"/>
          </p:cNvSpPr>
          <p:nvPr>
            <p:ph type="title"/>
          </p:nvPr>
        </p:nvSpPr>
        <p:spPr/>
        <p:txBody>
          <a:bodyPr/>
          <a:lstStyle/>
          <a:p>
            <a:r>
              <a:rPr lang="en-GB" dirty="0"/>
              <a:t>Edit – Preferences</a:t>
            </a:r>
          </a:p>
        </p:txBody>
      </p:sp>
    </p:spTree>
    <p:extLst>
      <p:ext uri="{BB962C8B-B14F-4D97-AF65-F5344CB8AC3E}">
        <p14:creationId xmlns:p14="http://schemas.microsoft.com/office/powerpoint/2010/main" val="410089191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500"/>
                                        <p:tgtEl>
                                          <p:spTgt spid="3"/>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xit" presetSubtype="0" fill="hold" nodeType="clickEffect">
                                  <p:stCondLst>
                                    <p:cond delay="0"/>
                                  </p:stCondLst>
                                  <p:childTnLst>
                                    <p:animEffect transition="out" filter="fade">
                                      <p:cBhvr>
                                        <p:cTn id="11" dur="500"/>
                                        <p:tgtEl>
                                          <p:spTgt spid="3"/>
                                        </p:tgtEl>
                                      </p:cBhvr>
                                    </p:animEffect>
                                    <p:set>
                                      <p:cBhvr>
                                        <p:cTn id="12" dur="1" fill="hold">
                                          <p:stCondLst>
                                            <p:cond delay="499"/>
                                          </p:stCondLst>
                                        </p:cTn>
                                        <p:tgtEl>
                                          <p:spTgt spid="3"/>
                                        </p:tgtEl>
                                        <p:attrNameLst>
                                          <p:attrName>style.visibility</p:attrName>
                                        </p:attrNameLst>
                                      </p:cBhvr>
                                      <p:to>
                                        <p:strVal val="hidden"/>
                                      </p:to>
                                    </p:set>
                                  </p:childTnLst>
                                </p:cTn>
                              </p:par>
                            </p:childTnLst>
                          </p:cTn>
                        </p:par>
                        <p:par>
                          <p:cTn id="13" fill="hold">
                            <p:stCondLst>
                              <p:cond delay="500"/>
                            </p:stCondLst>
                            <p:childTnLst>
                              <p:par>
                                <p:cTn id="14" presetID="10" presetClass="entr" presetSubtype="0" fill="hold" nodeType="afterEffect">
                                  <p:stCondLst>
                                    <p:cond delay="0"/>
                                  </p:stCondLst>
                                  <p:childTnLst>
                                    <p:set>
                                      <p:cBhvr>
                                        <p:cTn id="15" dur="1" fill="hold">
                                          <p:stCondLst>
                                            <p:cond delay="0"/>
                                          </p:stCondLst>
                                        </p:cTn>
                                        <p:tgtEl>
                                          <p:spTgt spid="4"/>
                                        </p:tgtEl>
                                        <p:attrNameLst>
                                          <p:attrName>style.visibility</p:attrName>
                                        </p:attrNameLst>
                                      </p:cBhvr>
                                      <p:to>
                                        <p:strVal val="visible"/>
                                      </p:to>
                                    </p:set>
                                    <p:animEffect transition="in" filter="fade">
                                      <p:cBhvr>
                                        <p:cTn id="16" dur="500"/>
                                        <p:tgtEl>
                                          <p:spTgt spid="4"/>
                                        </p:tgtEl>
                                      </p:cBhvr>
                                    </p:animEffect>
                                  </p:childTnLst>
                                </p:cTn>
                              </p:par>
                            </p:childTnLst>
                          </p:cTn>
                        </p:par>
                      </p:childTnLst>
                    </p:cTn>
                  </p:par>
                  <p:par>
                    <p:cTn id="17" fill="hold">
                      <p:stCondLst>
                        <p:cond delay="indefinite"/>
                      </p:stCondLst>
                      <p:childTnLst>
                        <p:par>
                          <p:cTn id="18" fill="hold">
                            <p:stCondLst>
                              <p:cond delay="0"/>
                            </p:stCondLst>
                            <p:childTnLst>
                              <p:par>
                                <p:cTn id="19" presetID="10" presetClass="exit" presetSubtype="0" fill="hold" nodeType="clickEffect">
                                  <p:stCondLst>
                                    <p:cond delay="0"/>
                                  </p:stCondLst>
                                  <p:childTnLst>
                                    <p:animEffect transition="out" filter="fade">
                                      <p:cBhvr>
                                        <p:cTn id="20" dur="500"/>
                                        <p:tgtEl>
                                          <p:spTgt spid="4"/>
                                        </p:tgtEl>
                                      </p:cBhvr>
                                    </p:animEffect>
                                    <p:set>
                                      <p:cBhvr>
                                        <p:cTn id="21" dur="1" fill="hold">
                                          <p:stCondLst>
                                            <p:cond delay="499"/>
                                          </p:stCondLst>
                                        </p:cTn>
                                        <p:tgtEl>
                                          <p:spTgt spid="4"/>
                                        </p:tgtEl>
                                        <p:attrNameLst>
                                          <p:attrName>style.visibility</p:attrName>
                                        </p:attrNameLst>
                                      </p:cBhvr>
                                      <p:to>
                                        <p:strVal val="hidden"/>
                                      </p:to>
                                    </p:set>
                                  </p:childTnLst>
                                </p:cTn>
                              </p:par>
                            </p:childTnLst>
                          </p:cTn>
                        </p:par>
                        <p:par>
                          <p:cTn id="22" fill="hold">
                            <p:stCondLst>
                              <p:cond delay="500"/>
                            </p:stCondLst>
                            <p:childTnLst>
                              <p:par>
                                <p:cTn id="23" presetID="10" presetClass="entr" presetSubtype="0" fill="hold" nodeType="afterEffect">
                                  <p:stCondLst>
                                    <p:cond delay="0"/>
                                  </p:stCondLst>
                                  <p:childTnLst>
                                    <p:set>
                                      <p:cBhvr>
                                        <p:cTn id="24" dur="1" fill="hold">
                                          <p:stCondLst>
                                            <p:cond delay="0"/>
                                          </p:stCondLst>
                                        </p:cTn>
                                        <p:tgtEl>
                                          <p:spTgt spid="5"/>
                                        </p:tgtEl>
                                        <p:attrNameLst>
                                          <p:attrName>style.visibility</p:attrName>
                                        </p:attrNameLst>
                                      </p:cBhvr>
                                      <p:to>
                                        <p:strVal val="visible"/>
                                      </p:to>
                                    </p:set>
                                    <p:animEffect transition="in" filter="fade">
                                      <p:cBhvr>
                                        <p:cTn id="25" dur="500"/>
                                        <p:tgtEl>
                                          <p:spTgt spid="5"/>
                                        </p:tgtEl>
                                      </p:cBhvr>
                                    </p:animEffect>
                                  </p:childTnLst>
                                </p:cTn>
                              </p:par>
                            </p:childTnLst>
                          </p:cTn>
                        </p:par>
                      </p:childTnLst>
                    </p:cTn>
                  </p:par>
                  <p:par>
                    <p:cTn id="26" fill="hold">
                      <p:stCondLst>
                        <p:cond delay="indefinite"/>
                      </p:stCondLst>
                      <p:childTnLst>
                        <p:par>
                          <p:cTn id="27" fill="hold">
                            <p:stCondLst>
                              <p:cond delay="0"/>
                            </p:stCondLst>
                            <p:childTnLst>
                              <p:par>
                                <p:cTn id="28" presetID="10" presetClass="exit" presetSubtype="0" fill="hold" nodeType="clickEffect">
                                  <p:stCondLst>
                                    <p:cond delay="0"/>
                                  </p:stCondLst>
                                  <p:childTnLst>
                                    <p:animEffect transition="out" filter="fade">
                                      <p:cBhvr>
                                        <p:cTn id="29" dur="500"/>
                                        <p:tgtEl>
                                          <p:spTgt spid="5"/>
                                        </p:tgtEl>
                                      </p:cBhvr>
                                    </p:animEffect>
                                    <p:set>
                                      <p:cBhvr>
                                        <p:cTn id="30" dur="1" fill="hold">
                                          <p:stCondLst>
                                            <p:cond delay="499"/>
                                          </p:stCondLst>
                                        </p:cTn>
                                        <p:tgtEl>
                                          <p:spTgt spid="5"/>
                                        </p:tgtEl>
                                        <p:attrNameLst>
                                          <p:attrName>style.visibility</p:attrName>
                                        </p:attrNameLst>
                                      </p:cBhvr>
                                      <p:to>
                                        <p:strVal val="hidden"/>
                                      </p:to>
                                    </p:set>
                                  </p:childTnLst>
                                </p:cTn>
                              </p:par>
                            </p:childTnLst>
                          </p:cTn>
                        </p:par>
                        <p:par>
                          <p:cTn id="31" fill="hold">
                            <p:stCondLst>
                              <p:cond delay="500"/>
                            </p:stCondLst>
                            <p:childTnLst>
                              <p:par>
                                <p:cTn id="32" presetID="10" presetClass="entr" presetSubtype="0" fill="hold" nodeType="afterEffect">
                                  <p:stCondLst>
                                    <p:cond delay="0"/>
                                  </p:stCondLst>
                                  <p:childTnLst>
                                    <p:set>
                                      <p:cBhvr>
                                        <p:cTn id="33" dur="1" fill="hold">
                                          <p:stCondLst>
                                            <p:cond delay="0"/>
                                          </p:stCondLst>
                                        </p:cTn>
                                        <p:tgtEl>
                                          <p:spTgt spid="6"/>
                                        </p:tgtEl>
                                        <p:attrNameLst>
                                          <p:attrName>style.visibility</p:attrName>
                                        </p:attrNameLst>
                                      </p:cBhvr>
                                      <p:to>
                                        <p:strVal val="visible"/>
                                      </p:to>
                                    </p:set>
                                    <p:animEffect transition="in" filter="fade">
                                      <p:cBhvr>
                                        <p:cTn id="34" dur="500"/>
                                        <p:tgtEl>
                                          <p:spTgt spid="6"/>
                                        </p:tgtEl>
                                      </p:cBhvr>
                                    </p:animEffect>
                                  </p:childTnLst>
                                </p:cTn>
                              </p:par>
                            </p:childTnLst>
                          </p:cTn>
                        </p:par>
                      </p:childTnLst>
                    </p:cTn>
                  </p:par>
                  <p:par>
                    <p:cTn id="35" fill="hold">
                      <p:stCondLst>
                        <p:cond delay="indefinite"/>
                      </p:stCondLst>
                      <p:childTnLst>
                        <p:par>
                          <p:cTn id="36" fill="hold">
                            <p:stCondLst>
                              <p:cond delay="0"/>
                            </p:stCondLst>
                            <p:childTnLst>
                              <p:par>
                                <p:cTn id="37" presetID="10" presetClass="exit" presetSubtype="0" fill="hold" nodeType="clickEffect">
                                  <p:stCondLst>
                                    <p:cond delay="0"/>
                                  </p:stCondLst>
                                  <p:childTnLst>
                                    <p:animEffect transition="out" filter="fade">
                                      <p:cBhvr>
                                        <p:cTn id="38" dur="500"/>
                                        <p:tgtEl>
                                          <p:spTgt spid="6"/>
                                        </p:tgtEl>
                                      </p:cBhvr>
                                    </p:animEffect>
                                    <p:set>
                                      <p:cBhvr>
                                        <p:cTn id="39" dur="1" fill="hold">
                                          <p:stCondLst>
                                            <p:cond delay="499"/>
                                          </p:stCondLst>
                                        </p:cTn>
                                        <p:tgtEl>
                                          <p:spTgt spid="6"/>
                                        </p:tgtEl>
                                        <p:attrNameLst>
                                          <p:attrName>style.visibility</p:attrName>
                                        </p:attrNameLst>
                                      </p:cBhvr>
                                      <p:to>
                                        <p:strVal val="hidden"/>
                                      </p:to>
                                    </p:set>
                                  </p:childTnLst>
                                </p:cTn>
                              </p:par>
                            </p:childTnLst>
                          </p:cTn>
                        </p:par>
                        <p:par>
                          <p:cTn id="40" fill="hold">
                            <p:stCondLst>
                              <p:cond delay="500"/>
                            </p:stCondLst>
                            <p:childTnLst>
                              <p:par>
                                <p:cTn id="41" presetID="10" presetClass="entr" presetSubtype="0" fill="hold" nodeType="afterEffect">
                                  <p:stCondLst>
                                    <p:cond delay="0"/>
                                  </p:stCondLst>
                                  <p:childTnLst>
                                    <p:set>
                                      <p:cBhvr>
                                        <p:cTn id="42" dur="1" fill="hold">
                                          <p:stCondLst>
                                            <p:cond delay="0"/>
                                          </p:stCondLst>
                                        </p:cTn>
                                        <p:tgtEl>
                                          <p:spTgt spid="7"/>
                                        </p:tgtEl>
                                        <p:attrNameLst>
                                          <p:attrName>style.visibility</p:attrName>
                                        </p:attrNameLst>
                                      </p:cBhvr>
                                      <p:to>
                                        <p:strVal val="visible"/>
                                      </p:to>
                                    </p:set>
                                    <p:animEffect transition="in" filter="fade">
                                      <p:cBhvr>
                                        <p:cTn id="43" dur="5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8277E8C-E4DA-48E1-A57F-56A67EA6539B}"/>
              </a:ext>
            </a:extLst>
          </p:cNvPr>
          <p:cNvSpPr>
            <a:spLocks noGrp="1"/>
          </p:cNvSpPr>
          <p:nvPr>
            <p:ph type="title"/>
          </p:nvPr>
        </p:nvSpPr>
        <p:spPr/>
        <p:txBody>
          <a:bodyPr/>
          <a:lstStyle/>
          <a:p>
            <a:r>
              <a:rPr lang="en-GB" dirty="0"/>
              <a:t>View – Edit Pragmas</a:t>
            </a:r>
          </a:p>
        </p:txBody>
      </p:sp>
      <p:pic>
        <p:nvPicPr>
          <p:cNvPr id="3" name="Picture 2">
            <a:extLst>
              <a:ext uri="{FF2B5EF4-FFF2-40B4-BE49-F238E27FC236}">
                <a16:creationId xmlns:a16="http://schemas.microsoft.com/office/drawing/2014/main" id="{4999E231-EF80-4729-892E-1ED241F4B497}"/>
              </a:ext>
            </a:extLst>
          </p:cNvPr>
          <p:cNvPicPr>
            <a:picLocks noChangeAspect="1"/>
          </p:cNvPicPr>
          <p:nvPr/>
        </p:nvPicPr>
        <p:blipFill>
          <a:blip r:embed="rId2"/>
          <a:stretch>
            <a:fillRect/>
          </a:stretch>
        </p:blipFill>
        <p:spPr>
          <a:xfrm>
            <a:off x="838200" y="1690687"/>
            <a:ext cx="6152909" cy="4718041"/>
          </a:xfrm>
          <a:prstGeom prst="rect">
            <a:avLst/>
          </a:prstGeom>
        </p:spPr>
      </p:pic>
      <p:sp>
        <p:nvSpPr>
          <p:cNvPr id="4" name="TextBox 3">
            <a:extLst>
              <a:ext uri="{FF2B5EF4-FFF2-40B4-BE49-F238E27FC236}">
                <a16:creationId xmlns:a16="http://schemas.microsoft.com/office/drawing/2014/main" id="{9540C108-C9FE-42D7-BD6F-E1997C341839}"/>
              </a:ext>
            </a:extLst>
          </p:cNvPr>
          <p:cNvSpPr txBox="1"/>
          <p:nvPr/>
        </p:nvSpPr>
        <p:spPr>
          <a:xfrm>
            <a:off x="7450857" y="1904581"/>
            <a:ext cx="2609817" cy="1754326"/>
          </a:xfrm>
          <a:prstGeom prst="rect">
            <a:avLst/>
          </a:prstGeom>
          <a:noFill/>
        </p:spPr>
        <p:txBody>
          <a:bodyPr wrap="none" rtlCol="0">
            <a:spAutoFit/>
          </a:bodyPr>
          <a:lstStyle/>
          <a:p>
            <a:pPr algn="ctr"/>
            <a:r>
              <a:rPr lang="en-GB" sz="3600" dirty="0">
                <a:solidFill>
                  <a:srgbClr val="7030A0"/>
                </a:solidFill>
              </a:rPr>
              <a:t>Removes</a:t>
            </a:r>
          </a:p>
          <a:p>
            <a:pPr algn="ctr"/>
            <a:r>
              <a:rPr lang="en-GB" sz="3600" dirty="0">
                <a:solidFill>
                  <a:srgbClr val="7030A0"/>
                </a:solidFill>
              </a:rPr>
              <a:t>Edit Pragmas</a:t>
            </a:r>
          </a:p>
          <a:p>
            <a:pPr algn="ctr"/>
            <a:r>
              <a:rPr lang="en-GB" sz="3600" dirty="0">
                <a:solidFill>
                  <a:srgbClr val="7030A0"/>
                </a:solidFill>
              </a:rPr>
              <a:t>tab </a:t>
            </a:r>
            <a:endParaRPr lang="en-GB" sz="3600" dirty="0">
              <a:solidFill>
                <a:srgbClr val="7030A0"/>
              </a:solidFill>
              <a:latin typeface="Consolas" panose="020B0609020204030204" pitchFamily="49" charset="0"/>
            </a:endParaRPr>
          </a:p>
        </p:txBody>
      </p:sp>
    </p:spTree>
    <p:extLst>
      <p:ext uri="{BB962C8B-B14F-4D97-AF65-F5344CB8AC3E}">
        <p14:creationId xmlns:p14="http://schemas.microsoft.com/office/powerpoint/2010/main" val="100285282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500"/>
                                        <p:tgtEl>
                                          <p:spTgt spid="3"/>
                                        </p:tgtEl>
                                      </p:cBhvr>
                                    </p:animEffect>
                                  </p:childTnLst>
                                </p:cTn>
                              </p:par>
                            </p:childTnLst>
                          </p:cTn>
                        </p:par>
                        <p:par>
                          <p:cTn id="8" fill="hold">
                            <p:stCondLst>
                              <p:cond delay="500"/>
                            </p:stCondLst>
                            <p:childTnLst>
                              <p:par>
                                <p:cTn id="9" presetID="22" presetClass="entr" presetSubtype="8" fill="hold" grpId="0" nodeType="afterEffect">
                                  <p:stCondLst>
                                    <p:cond delay="0"/>
                                  </p:stCondLst>
                                  <p:childTnLst>
                                    <p:set>
                                      <p:cBhvr>
                                        <p:cTn id="10" dur="1" fill="hold">
                                          <p:stCondLst>
                                            <p:cond delay="0"/>
                                          </p:stCondLst>
                                        </p:cTn>
                                        <p:tgtEl>
                                          <p:spTgt spid="4">
                                            <p:txEl>
                                              <p:pRg st="0" end="0"/>
                                            </p:txEl>
                                          </p:spTgt>
                                        </p:tgtEl>
                                        <p:attrNameLst>
                                          <p:attrName>style.visibility</p:attrName>
                                        </p:attrNameLst>
                                      </p:cBhvr>
                                      <p:to>
                                        <p:strVal val="visible"/>
                                      </p:to>
                                    </p:set>
                                    <p:animEffect transition="in" filter="wipe(left)">
                                      <p:cBhvr>
                                        <p:cTn id="11" dur="1000"/>
                                        <p:tgtEl>
                                          <p:spTgt spid="4">
                                            <p:txEl>
                                              <p:pRg st="0" end="0"/>
                                            </p:txEl>
                                          </p:spTgt>
                                        </p:tgtEl>
                                      </p:cBhvr>
                                    </p:animEffect>
                                  </p:childTnLst>
                                </p:cTn>
                              </p:par>
                              <p:par>
                                <p:cTn id="12" presetID="22" presetClass="entr" presetSubtype="8" fill="hold" grpId="0" nodeType="withEffect">
                                  <p:stCondLst>
                                    <p:cond delay="0"/>
                                  </p:stCondLst>
                                  <p:childTnLst>
                                    <p:set>
                                      <p:cBhvr>
                                        <p:cTn id="13" dur="1" fill="hold">
                                          <p:stCondLst>
                                            <p:cond delay="0"/>
                                          </p:stCondLst>
                                        </p:cTn>
                                        <p:tgtEl>
                                          <p:spTgt spid="4">
                                            <p:txEl>
                                              <p:pRg st="1" end="1"/>
                                            </p:txEl>
                                          </p:spTgt>
                                        </p:tgtEl>
                                        <p:attrNameLst>
                                          <p:attrName>style.visibility</p:attrName>
                                        </p:attrNameLst>
                                      </p:cBhvr>
                                      <p:to>
                                        <p:strVal val="visible"/>
                                      </p:to>
                                    </p:set>
                                    <p:animEffect transition="in" filter="wipe(left)">
                                      <p:cBhvr>
                                        <p:cTn id="14" dur="1000"/>
                                        <p:tgtEl>
                                          <p:spTgt spid="4">
                                            <p:txEl>
                                              <p:pRg st="1" end="1"/>
                                            </p:txEl>
                                          </p:spTgt>
                                        </p:tgtEl>
                                      </p:cBhvr>
                                    </p:animEffect>
                                  </p:childTnLst>
                                </p:cTn>
                              </p:par>
                              <p:par>
                                <p:cTn id="15" presetID="22" presetClass="entr" presetSubtype="8" fill="hold" grpId="0" nodeType="withEffect">
                                  <p:stCondLst>
                                    <p:cond delay="0"/>
                                  </p:stCondLst>
                                  <p:childTnLst>
                                    <p:set>
                                      <p:cBhvr>
                                        <p:cTn id="16" dur="1" fill="hold">
                                          <p:stCondLst>
                                            <p:cond delay="0"/>
                                          </p:stCondLst>
                                        </p:cTn>
                                        <p:tgtEl>
                                          <p:spTgt spid="4">
                                            <p:txEl>
                                              <p:pRg st="2" end="2"/>
                                            </p:txEl>
                                          </p:spTgt>
                                        </p:tgtEl>
                                        <p:attrNameLst>
                                          <p:attrName>style.visibility</p:attrName>
                                        </p:attrNameLst>
                                      </p:cBhvr>
                                      <p:to>
                                        <p:strVal val="visible"/>
                                      </p:to>
                                    </p:set>
                                    <p:animEffect transition="in" filter="wipe(left)">
                                      <p:cBhvr>
                                        <p:cTn id="17" dur="1000"/>
                                        <p:tgtEl>
                                          <p:spTgt spid="4">
                                            <p:txEl>
                                              <p:pRg st="2" end="2"/>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uiExpand="1" build="allAtOnce"/>
    </p:bld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Learning Intentions</a:t>
            </a:r>
          </a:p>
        </p:txBody>
      </p:sp>
      <p:sp>
        <p:nvSpPr>
          <p:cNvPr id="3" name="Content Placeholder 2"/>
          <p:cNvSpPr>
            <a:spLocks noGrp="1"/>
          </p:cNvSpPr>
          <p:nvPr>
            <p:ph idx="1"/>
          </p:nvPr>
        </p:nvSpPr>
        <p:spPr/>
        <p:txBody>
          <a:bodyPr/>
          <a:lstStyle/>
          <a:p>
            <a:r>
              <a:rPr lang="en-GB" dirty="0"/>
              <a:t>Describe and use internal commentary</a:t>
            </a:r>
          </a:p>
        </p:txBody>
      </p:sp>
    </p:spTree>
    <p:extLst>
      <p:ext uri="{BB962C8B-B14F-4D97-AF65-F5344CB8AC3E}">
        <p14:creationId xmlns:p14="http://schemas.microsoft.com/office/powerpoint/2010/main" val="1666217387"/>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5665268-FDA0-7592-FF9C-72AB55A7A72E}"/>
              </a:ext>
            </a:extLst>
          </p:cNvPr>
          <p:cNvSpPr>
            <a:spLocks noGrp="1"/>
          </p:cNvSpPr>
          <p:nvPr>
            <p:ph type="title"/>
          </p:nvPr>
        </p:nvSpPr>
        <p:spPr/>
        <p:txBody>
          <a:bodyPr/>
          <a:lstStyle/>
          <a:p>
            <a:r>
              <a:rPr lang="en-GB" dirty="0"/>
              <a:t>Internal Commentary -  Single Line</a:t>
            </a:r>
          </a:p>
        </p:txBody>
      </p:sp>
      <p:sp>
        <p:nvSpPr>
          <p:cNvPr id="3" name="Content Placeholder 2">
            <a:extLst>
              <a:ext uri="{FF2B5EF4-FFF2-40B4-BE49-F238E27FC236}">
                <a16:creationId xmlns:a16="http://schemas.microsoft.com/office/drawing/2014/main" id="{141DFD40-5B60-02A6-A1F0-71163A85F354}"/>
              </a:ext>
            </a:extLst>
          </p:cNvPr>
          <p:cNvSpPr>
            <a:spLocks noGrp="1"/>
          </p:cNvSpPr>
          <p:nvPr>
            <p:ph idx="1"/>
          </p:nvPr>
        </p:nvSpPr>
        <p:spPr/>
        <p:txBody>
          <a:bodyPr/>
          <a:lstStyle/>
          <a:p>
            <a:r>
              <a:rPr lang="en-GB" dirty="0"/>
              <a:t>Use internal commentary to help your future self</a:t>
            </a:r>
          </a:p>
          <a:p>
            <a:pPr marL="0" indent="0">
              <a:buNone/>
            </a:pPr>
            <a:endParaRPr lang="en-GB" b="1" i="1" dirty="0"/>
          </a:p>
          <a:p>
            <a:pPr marL="0" lvl="0" indent="0" eaLnBrk="0" fontAlgn="base" hangingPunct="0">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969896"/>
                </a:solidFill>
                <a:latin typeface="Consolas" panose="020B0609020204030204" pitchFamily="49" charset="0"/>
              </a:rPr>
              <a:t>-- This is a comment</a:t>
            </a:r>
            <a:endParaRPr lang="en-US" altLang="en-US" sz="4000" dirty="0">
              <a:solidFill>
                <a:srgbClr val="000000"/>
              </a:solidFill>
              <a:latin typeface="Consolas" panose="020B0609020204030204" pitchFamily="49" charset="0"/>
            </a:endParaRPr>
          </a:p>
          <a:p>
            <a:pPr marL="0" lvl="0" indent="0" eaLnBrk="0" fontAlgn="base" hangingPunct="0">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969896"/>
                </a:solidFill>
                <a:latin typeface="Consolas" panose="020B0609020204030204" pitchFamily="49" charset="0"/>
              </a:rPr>
              <a:t>-- Another comment</a:t>
            </a:r>
            <a:br>
              <a:rPr lang="en-US" altLang="en-US" sz="1200" dirty="0">
                <a:solidFill>
                  <a:srgbClr val="000000"/>
                </a:solidFill>
                <a:latin typeface="Consolas" panose="020B0609020204030204" pitchFamily="49" charset="0"/>
              </a:rPr>
            </a:br>
            <a:endParaRPr lang="en-US" altLang="en-US" sz="1800" dirty="0">
              <a:latin typeface="Arial" panose="020B0604020202020204" pitchFamily="34" charset="0"/>
            </a:endParaRPr>
          </a:p>
        </p:txBody>
      </p:sp>
      <p:sp>
        <p:nvSpPr>
          <p:cNvPr id="4" name="Callout: Bent Line with No Border 7">
            <a:extLst>
              <a:ext uri="{FF2B5EF4-FFF2-40B4-BE49-F238E27FC236}">
                <a16:creationId xmlns:a16="http://schemas.microsoft.com/office/drawing/2014/main" id="{4C0E60D4-1062-CF5D-18A7-CBAEF1C011B8}"/>
              </a:ext>
            </a:extLst>
          </p:cNvPr>
          <p:cNvSpPr/>
          <p:nvPr/>
        </p:nvSpPr>
        <p:spPr>
          <a:xfrm>
            <a:off x="1743665" y="5529028"/>
            <a:ext cx="4268794" cy="502210"/>
          </a:xfrm>
          <a:prstGeom prst="callout2">
            <a:avLst>
              <a:gd name="adj1" fmla="val 50412"/>
              <a:gd name="adj2" fmla="val -670"/>
              <a:gd name="adj3" fmla="val 51190"/>
              <a:gd name="adj4" fmla="val -16010"/>
              <a:gd name="adj5" fmla="val -187008"/>
              <a:gd name="adj6" fmla="val -16012"/>
            </a:avLst>
          </a:prstGeom>
          <a:noFill/>
          <a:ln w="38100">
            <a:solidFill>
              <a:schemeClr val="accent6">
                <a:lumMod val="75000"/>
              </a:schemeClr>
            </a:solidFill>
            <a:headEnd type="none" w="med" len="med"/>
            <a:tailEnd type="triangl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Line numbers</a:t>
            </a:r>
          </a:p>
        </p:txBody>
      </p:sp>
      <p:sp>
        <p:nvSpPr>
          <p:cNvPr id="5" name="Callout: Bent Line with No Border 7">
            <a:extLst>
              <a:ext uri="{FF2B5EF4-FFF2-40B4-BE49-F238E27FC236}">
                <a16:creationId xmlns:a16="http://schemas.microsoft.com/office/drawing/2014/main" id="{E2BACD9B-5A07-8F41-709C-9234578D0B3A}"/>
              </a:ext>
            </a:extLst>
          </p:cNvPr>
          <p:cNvSpPr/>
          <p:nvPr/>
        </p:nvSpPr>
        <p:spPr>
          <a:xfrm>
            <a:off x="2465121" y="4940370"/>
            <a:ext cx="4268794" cy="502210"/>
          </a:xfrm>
          <a:prstGeom prst="callout2">
            <a:avLst>
              <a:gd name="adj1" fmla="val 50412"/>
              <a:gd name="adj2" fmla="val -670"/>
              <a:gd name="adj3" fmla="val 51190"/>
              <a:gd name="adj4" fmla="val -16010"/>
              <a:gd name="adj5" fmla="val -67856"/>
              <a:gd name="adj6" fmla="val -16169"/>
            </a:avLst>
          </a:prstGeom>
          <a:noFill/>
          <a:ln w="38100">
            <a:solidFill>
              <a:schemeClr val="accent6">
                <a:lumMod val="75000"/>
              </a:schemeClr>
            </a:solidFill>
            <a:headEnd type="none" w="med" len="med"/>
            <a:tailEnd type="triangl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Double dash (comment)</a:t>
            </a:r>
          </a:p>
        </p:txBody>
      </p:sp>
      <p:grpSp>
        <p:nvGrpSpPr>
          <p:cNvPr id="6" name="Group 5">
            <a:extLst>
              <a:ext uri="{FF2B5EF4-FFF2-40B4-BE49-F238E27FC236}">
                <a16:creationId xmlns:a16="http://schemas.microsoft.com/office/drawing/2014/main" id="{CDA2DFA6-83BE-D060-BDA8-CF34E45D5A03}"/>
              </a:ext>
            </a:extLst>
          </p:cNvPr>
          <p:cNvGrpSpPr/>
          <p:nvPr/>
        </p:nvGrpSpPr>
        <p:grpSpPr>
          <a:xfrm>
            <a:off x="7332313" y="3169159"/>
            <a:ext cx="3861812" cy="1150130"/>
            <a:chOff x="7619999" y="3594340"/>
            <a:chExt cx="3861812" cy="1150130"/>
          </a:xfrm>
        </p:grpSpPr>
        <p:sp>
          <p:nvSpPr>
            <p:cNvPr id="7" name="Right Brace 6">
              <a:extLst>
                <a:ext uri="{FF2B5EF4-FFF2-40B4-BE49-F238E27FC236}">
                  <a16:creationId xmlns:a16="http://schemas.microsoft.com/office/drawing/2014/main" id="{9F364CEF-EF46-8D6E-A26D-C00C36BEFC0A}"/>
                </a:ext>
              </a:extLst>
            </p:cNvPr>
            <p:cNvSpPr/>
            <p:nvPr/>
          </p:nvSpPr>
          <p:spPr>
            <a:xfrm>
              <a:off x="7619999" y="3594340"/>
              <a:ext cx="485955" cy="1150130"/>
            </a:xfrm>
            <a:prstGeom prst="rightBrace">
              <a:avLst>
                <a:gd name="adj1" fmla="val 0"/>
                <a:gd name="adj2" fmla="val 50000"/>
              </a:avLst>
            </a:prstGeom>
            <a:noFill/>
            <a:ln w="38100">
              <a:solidFill>
                <a:schemeClr val="accent6">
                  <a:lumMod val="75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GB"/>
            </a:p>
          </p:txBody>
        </p:sp>
        <p:sp>
          <p:nvSpPr>
            <p:cNvPr id="8" name="TextBox 7">
              <a:extLst>
                <a:ext uri="{FF2B5EF4-FFF2-40B4-BE49-F238E27FC236}">
                  <a16:creationId xmlns:a16="http://schemas.microsoft.com/office/drawing/2014/main" id="{939C1467-17BF-2567-FC3A-6C13F40DD77F}"/>
                </a:ext>
              </a:extLst>
            </p:cNvPr>
            <p:cNvSpPr txBox="1"/>
            <p:nvPr/>
          </p:nvSpPr>
          <p:spPr>
            <a:xfrm>
              <a:off x="8167256" y="3907795"/>
              <a:ext cx="3314555" cy="523220"/>
            </a:xfrm>
            <a:prstGeom prst="rect">
              <a:avLst/>
            </a:prstGeom>
            <a:noFill/>
          </p:spPr>
          <p:txBody>
            <a:bodyPr wrap="square" rtlCol="0">
              <a:spAutoFit/>
            </a:bodyPr>
            <a:lstStyle/>
            <a:p>
              <a:r>
                <a:rPr lang="en-GB" sz="2800" b="1" dirty="0">
                  <a:solidFill>
                    <a:srgbClr val="7030A0"/>
                  </a:solidFill>
                </a:rPr>
                <a:t>Ignored by computer</a:t>
              </a:r>
            </a:p>
          </p:txBody>
        </p:sp>
      </p:grpSp>
      <p:sp>
        <p:nvSpPr>
          <p:cNvPr id="9" name="Rectangle 1">
            <a:extLst>
              <a:ext uri="{FF2B5EF4-FFF2-40B4-BE49-F238E27FC236}">
                <a16:creationId xmlns:a16="http://schemas.microsoft.com/office/drawing/2014/main" id="{B91BCD11-793F-D522-35E5-01BC42A81B4B}"/>
              </a:ext>
            </a:extLst>
          </p:cNvPr>
          <p:cNvSpPr>
            <a:spLocks noChangeArrowheads="1"/>
          </p:cNvSpPr>
          <p:nvPr/>
        </p:nvSpPr>
        <p:spPr bwMode="auto">
          <a:xfrm>
            <a:off x="0" y="43934"/>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en-US" sz="1800" b="0" i="0" u="none" strike="noStrike" cap="none" normalizeH="0" baseline="0" dirty="0">
              <a:ln>
                <a:noFill/>
              </a:ln>
              <a:solidFill>
                <a:schemeClr val="tx1"/>
              </a:solidFill>
              <a:effectLst/>
              <a:latin typeface="Arial" panose="020B0604020202020204" pitchFamily="34" charset="0"/>
            </a:endParaRPr>
          </a:p>
        </p:txBody>
      </p:sp>
    </p:spTree>
    <p:extLst>
      <p:ext uri="{BB962C8B-B14F-4D97-AF65-F5344CB8AC3E}">
        <p14:creationId xmlns:p14="http://schemas.microsoft.com/office/powerpoint/2010/main" val="328845941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nodeType="clickEffect">
                                  <p:stCondLst>
                                    <p:cond delay="0"/>
                                  </p:stCondLst>
                                  <p:childTnLst>
                                    <p:set>
                                      <p:cBhvr>
                                        <p:cTn id="11" dur="1" fill="hold">
                                          <p:stCondLst>
                                            <p:cond delay="0"/>
                                          </p:stCondLst>
                                        </p:cTn>
                                        <p:tgtEl>
                                          <p:spTgt spid="3">
                                            <p:txEl>
                                              <p:pRg st="2" end="2"/>
                                            </p:txEl>
                                          </p:spTgt>
                                        </p:tgtEl>
                                        <p:attrNameLst>
                                          <p:attrName>style.visibility</p:attrName>
                                        </p:attrNameLst>
                                      </p:cBhvr>
                                      <p:to>
                                        <p:strVal val="visible"/>
                                      </p:to>
                                    </p:set>
                                    <p:animEffect transition="in" filter="wipe(left)">
                                      <p:cBhvr>
                                        <p:cTn id="12" dur="1500"/>
                                        <p:tgtEl>
                                          <p:spTgt spid="3">
                                            <p:txEl>
                                              <p:pRg st="2" end="2"/>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nodeType="clickEffect">
                                  <p:stCondLst>
                                    <p:cond delay="0"/>
                                  </p:stCondLst>
                                  <p:childTnLst>
                                    <p:set>
                                      <p:cBhvr>
                                        <p:cTn id="16" dur="1" fill="hold">
                                          <p:stCondLst>
                                            <p:cond delay="0"/>
                                          </p:stCondLst>
                                        </p:cTn>
                                        <p:tgtEl>
                                          <p:spTgt spid="3">
                                            <p:txEl>
                                              <p:pRg st="3" end="3"/>
                                            </p:txEl>
                                          </p:spTgt>
                                        </p:tgtEl>
                                        <p:attrNameLst>
                                          <p:attrName>style.visibility</p:attrName>
                                        </p:attrNameLst>
                                      </p:cBhvr>
                                      <p:to>
                                        <p:strVal val="visible"/>
                                      </p:to>
                                    </p:set>
                                    <p:animEffect transition="in" filter="wipe(left)">
                                      <p:cBhvr>
                                        <p:cTn id="17" dur="1500"/>
                                        <p:tgtEl>
                                          <p:spTgt spid="3">
                                            <p:txEl>
                                              <p:pRg st="3" end="3"/>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4"/>
                                        </p:tgtEl>
                                        <p:attrNameLst>
                                          <p:attrName>style.visibility</p:attrName>
                                        </p:attrNameLst>
                                      </p:cBhvr>
                                      <p:to>
                                        <p:strVal val="visible"/>
                                      </p:to>
                                    </p:set>
                                    <p:animEffect transition="in" filter="fade">
                                      <p:cBhvr>
                                        <p:cTn id="22" dur="500"/>
                                        <p:tgtEl>
                                          <p:spTgt spid="4"/>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5"/>
                                        </p:tgtEl>
                                        <p:attrNameLst>
                                          <p:attrName>style.visibility</p:attrName>
                                        </p:attrNameLst>
                                      </p:cBhvr>
                                      <p:to>
                                        <p:strVal val="visible"/>
                                      </p:to>
                                    </p:set>
                                    <p:animEffect transition="in" filter="fade">
                                      <p:cBhvr>
                                        <p:cTn id="27" dur="500"/>
                                        <p:tgtEl>
                                          <p:spTgt spid="5"/>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6"/>
                                        </p:tgtEl>
                                        <p:attrNameLst>
                                          <p:attrName>style.visibility</p:attrName>
                                        </p:attrNameLst>
                                      </p:cBhvr>
                                      <p:to>
                                        <p:strVal val="visible"/>
                                      </p:to>
                                    </p:set>
                                    <p:animEffect transition="in" filter="fade">
                                      <p:cBhvr>
                                        <p:cTn id="32" dur="5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4" grpId="0" animBg="1"/>
      <p:bldP spid="5" grpId="0" animBg="1"/>
    </p:bldLst>
  </p:timing>
</p:sld>
</file>

<file path=ppt/slides/slide18.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5665268-FDA0-7592-FF9C-72AB55A7A72E}"/>
              </a:ext>
            </a:extLst>
          </p:cNvPr>
          <p:cNvSpPr>
            <a:spLocks noGrp="1"/>
          </p:cNvSpPr>
          <p:nvPr>
            <p:ph type="title"/>
          </p:nvPr>
        </p:nvSpPr>
        <p:spPr/>
        <p:txBody>
          <a:bodyPr/>
          <a:lstStyle/>
          <a:p>
            <a:r>
              <a:rPr lang="en-GB" dirty="0"/>
              <a:t>Internal Commentary – Single Line</a:t>
            </a:r>
          </a:p>
        </p:txBody>
      </p:sp>
      <p:sp>
        <p:nvSpPr>
          <p:cNvPr id="3" name="Content Placeholder 2">
            <a:extLst>
              <a:ext uri="{FF2B5EF4-FFF2-40B4-BE49-F238E27FC236}">
                <a16:creationId xmlns:a16="http://schemas.microsoft.com/office/drawing/2014/main" id="{141DFD40-5B60-02A6-A1F0-71163A85F354}"/>
              </a:ext>
            </a:extLst>
          </p:cNvPr>
          <p:cNvSpPr>
            <a:spLocks noGrp="1"/>
          </p:cNvSpPr>
          <p:nvPr>
            <p:ph idx="1"/>
          </p:nvPr>
        </p:nvSpPr>
        <p:spPr/>
        <p:txBody>
          <a:bodyPr/>
          <a:lstStyle/>
          <a:p>
            <a:r>
              <a:rPr lang="en-GB" dirty="0"/>
              <a:t>Use internal commentary to help your future self</a:t>
            </a:r>
          </a:p>
          <a:p>
            <a:pPr marL="0" indent="0">
              <a:buNone/>
            </a:pPr>
            <a:endParaRPr lang="en-GB" b="1" i="1" dirty="0"/>
          </a:p>
          <a:p>
            <a:pPr marL="0" lvl="0" indent="0" eaLnBrk="0" fontAlgn="base" hangingPunct="0">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969896"/>
                </a:solidFill>
                <a:latin typeface="Consolas" panose="020B0609020204030204" pitchFamily="49" charset="0"/>
              </a:rPr>
              <a:t>-- This is a comment</a:t>
            </a:r>
            <a:endParaRPr lang="en-US" altLang="en-US" sz="4000" dirty="0">
              <a:solidFill>
                <a:srgbClr val="000000"/>
              </a:solidFill>
              <a:latin typeface="Consolas" panose="020B0609020204030204" pitchFamily="49" charset="0"/>
            </a:endParaRPr>
          </a:p>
          <a:p>
            <a:pPr marL="0" lvl="0" indent="0" eaLnBrk="0" fontAlgn="base" hangingPunct="0">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969896"/>
                </a:solidFill>
                <a:latin typeface="Consolas" panose="020B0609020204030204" pitchFamily="49" charset="0"/>
              </a:rPr>
              <a:t>-- Another comment</a:t>
            </a:r>
            <a:br>
              <a:rPr lang="en-US" altLang="en-US" sz="1200" dirty="0">
                <a:solidFill>
                  <a:srgbClr val="000000"/>
                </a:solidFill>
                <a:latin typeface="Consolas" panose="020B0609020204030204" pitchFamily="49" charset="0"/>
              </a:rPr>
            </a:br>
            <a:endParaRPr lang="en-US" altLang="en-US" sz="1800" dirty="0">
              <a:latin typeface="Arial" panose="020B0604020202020204" pitchFamily="34" charset="0"/>
            </a:endParaRPr>
          </a:p>
        </p:txBody>
      </p:sp>
      <p:sp>
        <p:nvSpPr>
          <p:cNvPr id="9" name="Rectangle 1">
            <a:extLst>
              <a:ext uri="{FF2B5EF4-FFF2-40B4-BE49-F238E27FC236}">
                <a16:creationId xmlns:a16="http://schemas.microsoft.com/office/drawing/2014/main" id="{B91BCD11-793F-D522-35E5-01BC42A81B4B}"/>
              </a:ext>
            </a:extLst>
          </p:cNvPr>
          <p:cNvSpPr>
            <a:spLocks noChangeArrowheads="1"/>
          </p:cNvSpPr>
          <p:nvPr/>
        </p:nvSpPr>
        <p:spPr bwMode="auto">
          <a:xfrm>
            <a:off x="0" y="43934"/>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en-US" sz="1800" b="0" i="0" u="none" strike="noStrike" cap="none" normalizeH="0" baseline="0" dirty="0">
              <a:ln>
                <a:noFill/>
              </a:ln>
              <a:solidFill>
                <a:schemeClr val="tx1"/>
              </a:solidFill>
              <a:effectLst/>
              <a:latin typeface="Arial" panose="020B0604020202020204" pitchFamily="34" charset="0"/>
            </a:endParaRPr>
          </a:p>
        </p:txBody>
      </p:sp>
    </p:spTree>
    <p:extLst>
      <p:ext uri="{BB962C8B-B14F-4D97-AF65-F5344CB8AC3E}">
        <p14:creationId xmlns:p14="http://schemas.microsoft.com/office/powerpoint/2010/main" val="2156027550"/>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5665268-FDA0-7592-FF9C-72AB55A7A72E}"/>
              </a:ext>
            </a:extLst>
          </p:cNvPr>
          <p:cNvSpPr>
            <a:spLocks noGrp="1"/>
          </p:cNvSpPr>
          <p:nvPr>
            <p:ph type="title"/>
          </p:nvPr>
        </p:nvSpPr>
        <p:spPr/>
        <p:txBody>
          <a:bodyPr/>
          <a:lstStyle/>
          <a:p>
            <a:r>
              <a:rPr lang="en-GB" dirty="0"/>
              <a:t>Internal Commentary – Multiple Lines</a:t>
            </a:r>
          </a:p>
        </p:txBody>
      </p:sp>
      <p:sp>
        <p:nvSpPr>
          <p:cNvPr id="3" name="Content Placeholder 2">
            <a:extLst>
              <a:ext uri="{FF2B5EF4-FFF2-40B4-BE49-F238E27FC236}">
                <a16:creationId xmlns:a16="http://schemas.microsoft.com/office/drawing/2014/main" id="{141DFD40-5B60-02A6-A1F0-71163A85F354}"/>
              </a:ext>
            </a:extLst>
          </p:cNvPr>
          <p:cNvSpPr>
            <a:spLocks noGrp="1"/>
          </p:cNvSpPr>
          <p:nvPr>
            <p:ph idx="1"/>
          </p:nvPr>
        </p:nvSpPr>
        <p:spPr/>
        <p:txBody>
          <a:bodyPr>
            <a:normAutofit lnSpcReduction="10000"/>
          </a:bodyPr>
          <a:lstStyle/>
          <a:p>
            <a:r>
              <a:rPr lang="en-GB" dirty="0"/>
              <a:t>Use internal commentary to help your future self</a:t>
            </a:r>
          </a:p>
          <a:p>
            <a:pPr marL="0" indent="0">
              <a:buNone/>
            </a:pPr>
            <a:endParaRPr lang="en-GB" b="1" i="1" dirty="0"/>
          </a:p>
          <a:p>
            <a:pPr marL="0" lvl="0" indent="0" eaLnBrk="0" fontAlgn="base" hangingPunct="0">
              <a:spcBef>
                <a:spcPct val="0"/>
              </a:spcBef>
              <a:spcAft>
                <a:spcPct val="0"/>
              </a:spcAft>
              <a:buNone/>
            </a:pPr>
            <a:r>
              <a:rPr lang="en-GB" altLang="en-US" sz="4000" dirty="0">
                <a:solidFill>
                  <a:srgbClr val="B2B2B2"/>
                </a:solidFill>
                <a:latin typeface="Consolas" panose="020B0609020204030204" pitchFamily="49" charset="0"/>
              </a:rPr>
              <a:t>1 /*</a:t>
            </a:r>
          </a:p>
          <a:p>
            <a:pPr marL="0" lvl="0" indent="0" eaLnBrk="0" fontAlgn="base" hangingPunct="0">
              <a:spcBef>
                <a:spcPct val="0"/>
              </a:spcBef>
              <a:spcAft>
                <a:spcPct val="0"/>
              </a:spcAft>
              <a:buNone/>
            </a:pPr>
            <a:r>
              <a:rPr lang="en-GB" altLang="en-US" sz="4000" dirty="0">
                <a:solidFill>
                  <a:srgbClr val="B2B2B2"/>
                </a:solidFill>
                <a:latin typeface="Consolas" panose="020B0609020204030204" pitchFamily="49" charset="0"/>
              </a:rPr>
              <a:t>2 A comment</a:t>
            </a:r>
          </a:p>
          <a:p>
            <a:pPr marL="0" lvl="0" indent="0" eaLnBrk="0" fontAlgn="base" hangingPunct="0">
              <a:spcBef>
                <a:spcPct val="0"/>
              </a:spcBef>
              <a:spcAft>
                <a:spcPct val="0"/>
              </a:spcAft>
              <a:buNone/>
            </a:pPr>
            <a:r>
              <a:rPr lang="en-GB" altLang="en-US" sz="4000" dirty="0">
                <a:solidFill>
                  <a:srgbClr val="B2B2B2"/>
                </a:solidFill>
                <a:latin typeface="Consolas" panose="020B0609020204030204" pitchFamily="49" charset="0"/>
              </a:rPr>
              <a:t>3 Another comment</a:t>
            </a:r>
          </a:p>
          <a:p>
            <a:pPr marL="0" lvl="0" indent="0" eaLnBrk="0" fontAlgn="base" hangingPunct="0">
              <a:spcBef>
                <a:spcPct val="0"/>
              </a:spcBef>
              <a:spcAft>
                <a:spcPct val="0"/>
              </a:spcAft>
              <a:buNone/>
            </a:pPr>
            <a:r>
              <a:rPr lang="en-GB" altLang="en-US" sz="4000" dirty="0">
                <a:solidFill>
                  <a:srgbClr val="B2B2B2"/>
                </a:solidFill>
                <a:latin typeface="Consolas" panose="020B0609020204030204" pitchFamily="49" charset="0"/>
              </a:rPr>
              <a:t>4 */</a:t>
            </a:r>
            <a:br>
              <a:rPr lang="en-US" altLang="en-US" sz="1200" dirty="0">
                <a:solidFill>
                  <a:srgbClr val="000000"/>
                </a:solidFill>
                <a:latin typeface="Consolas" panose="020B0609020204030204" pitchFamily="49" charset="0"/>
              </a:rPr>
            </a:br>
            <a:endParaRPr lang="en-US" altLang="en-US" sz="1800" dirty="0">
              <a:latin typeface="Arial" panose="020B0604020202020204" pitchFamily="34" charset="0"/>
            </a:endParaRPr>
          </a:p>
        </p:txBody>
      </p:sp>
      <p:sp>
        <p:nvSpPr>
          <p:cNvPr id="4" name="Callout: Bent Line with No Border 7">
            <a:extLst>
              <a:ext uri="{FF2B5EF4-FFF2-40B4-BE49-F238E27FC236}">
                <a16:creationId xmlns:a16="http://schemas.microsoft.com/office/drawing/2014/main" id="{4C0E60D4-1062-CF5D-18A7-CBAEF1C011B8}"/>
              </a:ext>
            </a:extLst>
          </p:cNvPr>
          <p:cNvSpPr/>
          <p:nvPr/>
        </p:nvSpPr>
        <p:spPr>
          <a:xfrm>
            <a:off x="2928053" y="2435066"/>
            <a:ext cx="2377374" cy="502210"/>
          </a:xfrm>
          <a:prstGeom prst="callout2">
            <a:avLst>
              <a:gd name="adj1" fmla="val 50412"/>
              <a:gd name="adj2" fmla="val -670"/>
              <a:gd name="adj3" fmla="val 51190"/>
              <a:gd name="adj4" fmla="val -16010"/>
              <a:gd name="adj5" fmla="val 125733"/>
              <a:gd name="adj6" fmla="val -36828"/>
            </a:avLst>
          </a:prstGeom>
          <a:noFill/>
          <a:ln w="38100">
            <a:solidFill>
              <a:schemeClr val="accent6">
                <a:lumMod val="75000"/>
              </a:schemeClr>
            </a:solidFill>
            <a:headEnd type="none" w="med" len="med"/>
            <a:tailEnd type="triangl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Start</a:t>
            </a:r>
          </a:p>
        </p:txBody>
      </p:sp>
      <p:sp>
        <p:nvSpPr>
          <p:cNvPr id="9" name="Rectangle 1">
            <a:extLst>
              <a:ext uri="{FF2B5EF4-FFF2-40B4-BE49-F238E27FC236}">
                <a16:creationId xmlns:a16="http://schemas.microsoft.com/office/drawing/2014/main" id="{B91BCD11-793F-D522-35E5-01BC42A81B4B}"/>
              </a:ext>
            </a:extLst>
          </p:cNvPr>
          <p:cNvSpPr>
            <a:spLocks noChangeArrowheads="1"/>
          </p:cNvSpPr>
          <p:nvPr/>
        </p:nvSpPr>
        <p:spPr bwMode="auto">
          <a:xfrm>
            <a:off x="0" y="43934"/>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en-US" sz="1800" b="0" i="0" u="none" strike="noStrike" cap="none" normalizeH="0" baseline="0" dirty="0">
              <a:ln>
                <a:noFill/>
              </a:ln>
              <a:solidFill>
                <a:schemeClr val="tx1"/>
              </a:solidFill>
              <a:effectLst/>
              <a:latin typeface="Arial" panose="020B0604020202020204" pitchFamily="34" charset="0"/>
            </a:endParaRPr>
          </a:p>
        </p:txBody>
      </p:sp>
      <p:sp>
        <p:nvSpPr>
          <p:cNvPr id="10" name="Callout: Bent Line with No Border 7">
            <a:extLst>
              <a:ext uri="{FF2B5EF4-FFF2-40B4-BE49-F238E27FC236}">
                <a16:creationId xmlns:a16="http://schemas.microsoft.com/office/drawing/2014/main" id="{DEDB152E-3303-6EB8-841D-8925F528E04C}"/>
              </a:ext>
            </a:extLst>
          </p:cNvPr>
          <p:cNvSpPr/>
          <p:nvPr/>
        </p:nvSpPr>
        <p:spPr>
          <a:xfrm>
            <a:off x="2811512" y="5627248"/>
            <a:ext cx="2377374" cy="502210"/>
          </a:xfrm>
          <a:prstGeom prst="callout2">
            <a:avLst>
              <a:gd name="adj1" fmla="val 50412"/>
              <a:gd name="adj2" fmla="val -670"/>
              <a:gd name="adj3" fmla="val 51190"/>
              <a:gd name="adj4" fmla="val -16010"/>
              <a:gd name="adj5" fmla="val -19927"/>
              <a:gd name="adj6" fmla="val -31398"/>
            </a:avLst>
          </a:prstGeom>
          <a:noFill/>
          <a:ln w="38100">
            <a:solidFill>
              <a:schemeClr val="accent6">
                <a:lumMod val="75000"/>
              </a:schemeClr>
            </a:solidFill>
            <a:headEnd type="none" w="med" len="med"/>
            <a:tailEnd type="triangl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End</a:t>
            </a:r>
          </a:p>
        </p:txBody>
      </p:sp>
      <p:grpSp>
        <p:nvGrpSpPr>
          <p:cNvPr id="11" name="Group 10">
            <a:extLst>
              <a:ext uri="{FF2B5EF4-FFF2-40B4-BE49-F238E27FC236}">
                <a16:creationId xmlns:a16="http://schemas.microsoft.com/office/drawing/2014/main" id="{75E3776F-3D63-835C-07A1-1B0567DB4195}"/>
              </a:ext>
            </a:extLst>
          </p:cNvPr>
          <p:cNvGrpSpPr/>
          <p:nvPr/>
        </p:nvGrpSpPr>
        <p:grpSpPr>
          <a:xfrm>
            <a:off x="6428670" y="3038534"/>
            <a:ext cx="3861131" cy="2588714"/>
            <a:chOff x="7619999" y="3594340"/>
            <a:chExt cx="3861131" cy="2588714"/>
          </a:xfrm>
        </p:grpSpPr>
        <p:sp>
          <p:nvSpPr>
            <p:cNvPr id="12" name="Right Brace 11">
              <a:extLst>
                <a:ext uri="{FF2B5EF4-FFF2-40B4-BE49-F238E27FC236}">
                  <a16:creationId xmlns:a16="http://schemas.microsoft.com/office/drawing/2014/main" id="{5F120CEE-CFD9-CB8B-DFB8-56986AA997B1}"/>
                </a:ext>
              </a:extLst>
            </p:cNvPr>
            <p:cNvSpPr/>
            <p:nvPr/>
          </p:nvSpPr>
          <p:spPr>
            <a:xfrm>
              <a:off x="7619999" y="3594340"/>
              <a:ext cx="485955" cy="2588714"/>
            </a:xfrm>
            <a:prstGeom prst="rightBrace">
              <a:avLst>
                <a:gd name="adj1" fmla="val 0"/>
                <a:gd name="adj2" fmla="val 50000"/>
              </a:avLst>
            </a:prstGeom>
            <a:noFill/>
            <a:ln w="38100">
              <a:solidFill>
                <a:schemeClr val="accent6">
                  <a:lumMod val="75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GB"/>
            </a:p>
          </p:txBody>
        </p:sp>
        <p:sp>
          <p:nvSpPr>
            <p:cNvPr id="13" name="TextBox 12">
              <a:extLst>
                <a:ext uri="{FF2B5EF4-FFF2-40B4-BE49-F238E27FC236}">
                  <a16:creationId xmlns:a16="http://schemas.microsoft.com/office/drawing/2014/main" id="{3625EFF3-D3CE-0318-B326-B3D83E97A7B1}"/>
                </a:ext>
              </a:extLst>
            </p:cNvPr>
            <p:cNvSpPr txBox="1"/>
            <p:nvPr/>
          </p:nvSpPr>
          <p:spPr>
            <a:xfrm>
              <a:off x="8166575" y="4627087"/>
              <a:ext cx="3314555" cy="523220"/>
            </a:xfrm>
            <a:prstGeom prst="rect">
              <a:avLst/>
            </a:prstGeom>
            <a:noFill/>
          </p:spPr>
          <p:txBody>
            <a:bodyPr wrap="square" rtlCol="0">
              <a:spAutoFit/>
            </a:bodyPr>
            <a:lstStyle/>
            <a:p>
              <a:r>
                <a:rPr lang="en-GB" sz="2800" b="1" dirty="0">
                  <a:solidFill>
                    <a:srgbClr val="7030A0"/>
                  </a:solidFill>
                </a:rPr>
                <a:t>Ignored by computer</a:t>
              </a:r>
            </a:p>
          </p:txBody>
        </p:sp>
      </p:grpSp>
    </p:spTree>
    <p:extLst>
      <p:ext uri="{BB962C8B-B14F-4D97-AF65-F5344CB8AC3E}">
        <p14:creationId xmlns:p14="http://schemas.microsoft.com/office/powerpoint/2010/main" val="408941331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nodeType="clickEffect">
                                  <p:stCondLst>
                                    <p:cond delay="0"/>
                                  </p:stCondLst>
                                  <p:childTnLst>
                                    <p:set>
                                      <p:cBhvr>
                                        <p:cTn id="11" dur="1" fill="hold">
                                          <p:stCondLst>
                                            <p:cond delay="0"/>
                                          </p:stCondLst>
                                        </p:cTn>
                                        <p:tgtEl>
                                          <p:spTgt spid="3">
                                            <p:txEl>
                                              <p:pRg st="2" end="2"/>
                                            </p:txEl>
                                          </p:spTgt>
                                        </p:tgtEl>
                                        <p:attrNameLst>
                                          <p:attrName>style.visibility</p:attrName>
                                        </p:attrNameLst>
                                      </p:cBhvr>
                                      <p:to>
                                        <p:strVal val="visible"/>
                                      </p:to>
                                    </p:set>
                                    <p:animEffect transition="in" filter="wipe(left)">
                                      <p:cBhvr>
                                        <p:cTn id="12" dur="750"/>
                                        <p:tgtEl>
                                          <p:spTgt spid="3">
                                            <p:txEl>
                                              <p:pRg st="2" end="2"/>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nodeType="clickEffect">
                                  <p:stCondLst>
                                    <p:cond delay="0"/>
                                  </p:stCondLst>
                                  <p:childTnLst>
                                    <p:set>
                                      <p:cBhvr>
                                        <p:cTn id="16" dur="1" fill="hold">
                                          <p:stCondLst>
                                            <p:cond delay="0"/>
                                          </p:stCondLst>
                                        </p:cTn>
                                        <p:tgtEl>
                                          <p:spTgt spid="3">
                                            <p:txEl>
                                              <p:pRg st="3" end="3"/>
                                            </p:txEl>
                                          </p:spTgt>
                                        </p:tgtEl>
                                        <p:attrNameLst>
                                          <p:attrName>style.visibility</p:attrName>
                                        </p:attrNameLst>
                                      </p:cBhvr>
                                      <p:to>
                                        <p:strVal val="visible"/>
                                      </p:to>
                                    </p:set>
                                    <p:animEffect transition="in" filter="wipe(left)">
                                      <p:cBhvr>
                                        <p:cTn id="17" dur="1500"/>
                                        <p:tgtEl>
                                          <p:spTgt spid="3">
                                            <p:txEl>
                                              <p:pRg st="3" end="3"/>
                                            </p:txEl>
                                          </p:spTgt>
                                        </p:tgtEl>
                                      </p:cBhvr>
                                    </p:animEffect>
                                  </p:childTnLst>
                                </p:cTn>
                              </p:par>
                            </p:childTnLst>
                          </p:cTn>
                        </p:par>
                        <p:par>
                          <p:cTn id="18" fill="hold">
                            <p:stCondLst>
                              <p:cond delay="1500"/>
                            </p:stCondLst>
                            <p:childTnLst>
                              <p:par>
                                <p:cTn id="19" presetID="22" presetClass="entr" presetSubtype="8" fill="hold" nodeType="afterEffect">
                                  <p:stCondLst>
                                    <p:cond delay="0"/>
                                  </p:stCondLst>
                                  <p:childTnLst>
                                    <p:set>
                                      <p:cBhvr>
                                        <p:cTn id="20" dur="1" fill="hold">
                                          <p:stCondLst>
                                            <p:cond delay="0"/>
                                          </p:stCondLst>
                                        </p:cTn>
                                        <p:tgtEl>
                                          <p:spTgt spid="3">
                                            <p:txEl>
                                              <p:pRg st="4" end="4"/>
                                            </p:txEl>
                                          </p:spTgt>
                                        </p:tgtEl>
                                        <p:attrNameLst>
                                          <p:attrName>style.visibility</p:attrName>
                                        </p:attrNameLst>
                                      </p:cBhvr>
                                      <p:to>
                                        <p:strVal val="visible"/>
                                      </p:to>
                                    </p:set>
                                    <p:animEffect transition="in" filter="wipe(left)">
                                      <p:cBhvr>
                                        <p:cTn id="21" dur="1500"/>
                                        <p:tgtEl>
                                          <p:spTgt spid="3">
                                            <p:txEl>
                                              <p:pRg st="4" end="4"/>
                                            </p:txEl>
                                          </p:spTgt>
                                        </p:tgtEl>
                                      </p:cBhvr>
                                    </p:animEffect>
                                  </p:childTnLst>
                                </p:cTn>
                              </p:par>
                            </p:childTnLst>
                          </p:cTn>
                        </p:par>
                      </p:childTnLst>
                    </p:cTn>
                  </p:par>
                  <p:par>
                    <p:cTn id="22" fill="hold">
                      <p:stCondLst>
                        <p:cond delay="indefinite"/>
                      </p:stCondLst>
                      <p:childTnLst>
                        <p:par>
                          <p:cTn id="23" fill="hold">
                            <p:stCondLst>
                              <p:cond delay="0"/>
                            </p:stCondLst>
                            <p:childTnLst>
                              <p:par>
                                <p:cTn id="24" presetID="22" presetClass="entr" presetSubtype="8" fill="hold" nodeType="clickEffect">
                                  <p:stCondLst>
                                    <p:cond delay="0"/>
                                  </p:stCondLst>
                                  <p:childTnLst>
                                    <p:set>
                                      <p:cBhvr>
                                        <p:cTn id="25" dur="1" fill="hold">
                                          <p:stCondLst>
                                            <p:cond delay="0"/>
                                          </p:stCondLst>
                                        </p:cTn>
                                        <p:tgtEl>
                                          <p:spTgt spid="3">
                                            <p:txEl>
                                              <p:pRg st="5" end="5"/>
                                            </p:txEl>
                                          </p:spTgt>
                                        </p:tgtEl>
                                        <p:attrNameLst>
                                          <p:attrName>style.visibility</p:attrName>
                                        </p:attrNameLst>
                                      </p:cBhvr>
                                      <p:to>
                                        <p:strVal val="visible"/>
                                      </p:to>
                                    </p:set>
                                    <p:animEffect transition="in" filter="wipe(left)">
                                      <p:cBhvr>
                                        <p:cTn id="26" dur="750"/>
                                        <p:tgtEl>
                                          <p:spTgt spid="3">
                                            <p:txEl>
                                              <p:pRg st="5" end="5"/>
                                            </p:txEl>
                                          </p:spTgt>
                                        </p:tgtEl>
                                      </p:cBhvr>
                                    </p:animEffect>
                                  </p:childTnLst>
                                </p:cTn>
                              </p:par>
                            </p:childTnLst>
                          </p:cTn>
                        </p:par>
                      </p:childTnLst>
                    </p:cTn>
                  </p:par>
                  <p:par>
                    <p:cTn id="27" fill="hold">
                      <p:stCondLst>
                        <p:cond delay="indefinite"/>
                      </p:stCondLst>
                      <p:childTnLst>
                        <p:par>
                          <p:cTn id="28" fill="hold">
                            <p:stCondLst>
                              <p:cond delay="0"/>
                            </p:stCondLst>
                            <p:childTnLst>
                              <p:par>
                                <p:cTn id="29" presetID="10" presetClass="entr" presetSubtype="0" fill="hold" grpId="0" nodeType="clickEffect">
                                  <p:stCondLst>
                                    <p:cond delay="0"/>
                                  </p:stCondLst>
                                  <p:childTnLst>
                                    <p:set>
                                      <p:cBhvr>
                                        <p:cTn id="30" dur="1" fill="hold">
                                          <p:stCondLst>
                                            <p:cond delay="0"/>
                                          </p:stCondLst>
                                        </p:cTn>
                                        <p:tgtEl>
                                          <p:spTgt spid="4"/>
                                        </p:tgtEl>
                                        <p:attrNameLst>
                                          <p:attrName>style.visibility</p:attrName>
                                        </p:attrNameLst>
                                      </p:cBhvr>
                                      <p:to>
                                        <p:strVal val="visible"/>
                                      </p:to>
                                    </p:set>
                                    <p:animEffect transition="in" filter="fade">
                                      <p:cBhvr>
                                        <p:cTn id="31" dur="500"/>
                                        <p:tgtEl>
                                          <p:spTgt spid="4"/>
                                        </p:tgtEl>
                                      </p:cBhvr>
                                    </p:animEffect>
                                  </p:childTnLst>
                                </p:cTn>
                              </p:par>
                            </p:childTnLst>
                          </p:cTn>
                        </p:par>
                      </p:childTnLst>
                    </p:cTn>
                  </p:par>
                  <p:par>
                    <p:cTn id="32" fill="hold">
                      <p:stCondLst>
                        <p:cond delay="indefinite"/>
                      </p:stCondLst>
                      <p:childTnLst>
                        <p:par>
                          <p:cTn id="33" fill="hold">
                            <p:stCondLst>
                              <p:cond delay="0"/>
                            </p:stCondLst>
                            <p:childTnLst>
                              <p:par>
                                <p:cTn id="34" presetID="10" presetClass="entr" presetSubtype="0" fill="hold" grpId="0" nodeType="clickEffect">
                                  <p:stCondLst>
                                    <p:cond delay="0"/>
                                  </p:stCondLst>
                                  <p:childTnLst>
                                    <p:set>
                                      <p:cBhvr>
                                        <p:cTn id="35" dur="1" fill="hold">
                                          <p:stCondLst>
                                            <p:cond delay="0"/>
                                          </p:stCondLst>
                                        </p:cTn>
                                        <p:tgtEl>
                                          <p:spTgt spid="10"/>
                                        </p:tgtEl>
                                        <p:attrNameLst>
                                          <p:attrName>style.visibility</p:attrName>
                                        </p:attrNameLst>
                                      </p:cBhvr>
                                      <p:to>
                                        <p:strVal val="visible"/>
                                      </p:to>
                                    </p:set>
                                    <p:animEffect transition="in" filter="fade">
                                      <p:cBhvr>
                                        <p:cTn id="36" dur="500"/>
                                        <p:tgtEl>
                                          <p:spTgt spid="10"/>
                                        </p:tgtEl>
                                      </p:cBhvr>
                                    </p:animEffect>
                                  </p:childTnLst>
                                </p:cTn>
                              </p:par>
                            </p:childTnLst>
                          </p:cTn>
                        </p:par>
                      </p:childTnLst>
                    </p:cTn>
                  </p:par>
                  <p:par>
                    <p:cTn id="37" fill="hold">
                      <p:stCondLst>
                        <p:cond delay="indefinite"/>
                      </p:stCondLst>
                      <p:childTnLst>
                        <p:par>
                          <p:cTn id="38" fill="hold">
                            <p:stCondLst>
                              <p:cond delay="0"/>
                            </p:stCondLst>
                            <p:childTnLst>
                              <p:par>
                                <p:cTn id="39" presetID="10" presetClass="entr" presetSubtype="0" fill="hold" nodeType="clickEffect">
                                  <p:stCondLst>
                                    <p:cond delay="0"/>
                                  </p:stCondLst>
                                  <p:childTnLst>
                                    <p:set>
                                      <p:cBhvr>
                                        <p:cTn id="40" dur="1" fill="hold">
                                          <p:stCondLst>
                                            <p:cond delay="0"/>
                                          </p:stCondLst>
                                        </p:cTn>
                                        <p:tgtEl>
                                          <p:spTgt spid="11"/>
                                        </p:tgtEl>
                                        <p:attrNameLst>
                                          <p:attrName>style.visibility</p:attrName>
                                        </p:attrNameLst>
                                      </p:cBhvr>
                                      <p:to>
                                        <p:strVal val="visible"/>
                                      </p:to>
                                    </p:set>
                                    <p:animEffect transition="in" filter="fade">
                                      <p:cBhvr>
                                        <p:cTn id="41" dur="500"/>
                                        <p:tgtEl>
                                          <p:spTgt spid="1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4" grpId="0" animBg="1"/>
      <p:bldP spid="10" grpId="0" animBg="1"/>
    </p:bldLst>
  </p:timing>
</p:sld>
</file>

<file path=ppt/slides/slide20.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5665268-FDA0-7592-FF9C-72AB55A7A72E}"/>
              </a:ext>
            </a:extLst>
          </p:cNvPr>
          <p:cNvSpPr>
            <a:spLocks noGrp="1"/>
          </p:cNvSpPr>
          <p:nvPr>
            <p:ph type="title"/>
          </p:nvPr>
        </p:nvSpPr>
        <p:spPr/>
        <p:txBody>
          <a:bodyPr/>
          <a:lstStyle/>
          <a:p>
            <a:r>
              <a:rPr lang="en-GB" dirty="0"/>
              <a:t>Internal Commentary – Multiple Lines</a:t>
            </a:r>
          </a:p>
        </p:txBody>
      </p:sp>
      <p:sp>
        <p:nvSpPr>
          <p:cNvPr id="3" name="Content Placeholder 2">
            <a:extLst>
              <a:ext uri="{FF2B5EF4-FFF2-40B4-BE49-F238E27FC236}">
                <a16:creationId xmlns:a16="http://schemas.microsoft.com/office/drawing/2014/main" id="{141DFD40-5B60-02A6-A1F0-71163A85F354}"/>
              </a:ext>
            </a:extLst>
          </p:cNvPr>
          <p:cNvSpPr>
            <a:spLocks noGrp="1"/>
          </p:cNvSpPr>
          <p:nvPr>
            <p:ph idx="1"/>
          </p:nvPr>
        </p:nvSpPr>
        <p:spPr/>
        <p:txBody>
          <a:bodyPr>
            <a:normAutofit lnSpcReduction="10000"/>
          </a:bodyPr>
          <a:lstStyle/>
          <a:p>
            <a:r>
              <a:rPr lang="en-GB" dirty="0"/>
              <a:t>Use internal commentary to help your future self</a:t>
            </a:r>
          </a:p>
          <a:p>
            <a:pPr marL="0" indent="0">
              <a:buNone/>
            </a:pPr>
            <a:endParaRPr lang="en-GB" b="1" i="1" dirty="0"/>
          </a:p>
          <a:p>
            <a:pPr marL="0" lvl="0" indent="0" eaLnBrk="0" fontAlgn="base" hangingPunct="0">
              <a:spcBef>
                <a:spcPct val="0"/>
              </a:spcBef>
              <a:spcAft>
                <a:spcPct val="0"/>
              </a:spcAft>
              <a:buNone/>
            </a:pPr>
            <a:r>
              <a:rPr lang="en-GB" altLang="en-US" sz="4000" dirty="0">
                <a:solidFill>
                  <a:srgbClr val="B2B2B2"/>
                </a:solidFill>
                <a:latin typeface="Consolas" panose="020B0609020204030204" pitchFamily="49" charset="0"/>
              </a:rPr>
              <a:t>1 /*</a:t>
            </a:r>
          </a:p>
          <a:p>
            <a:pPr marL="0" lvl="0" indent="0" eaLnBrk="0" fontAlgn="base" hangingPunct="0">
              <a:spcBef>
                <a:spcPct val="0"/>
              </a:spcBef>
              <a:spcAft>
                <a:spcPct val="0"/>
              </a:spcAft>
              <a:buNone/>
            </a:pPr>
            <a:r>
              <a:rPr lang="en-GB" altLang="en-US" sz="4000" dirty="0">
                <a:solidFill>
                  <a:srgbClr val="B2B2B2"/>
                </a:solidFill>
                <a:latin typeface="Consolas" panose="020B0609020204030204" pitchFamily="49" charset="0"/>
              </a:rPr>
              <a:t>2 A comment</a:t>
            </a:r>
          </a:p>
          <a:p>
            <a:pPr marL="0" lvl="0" indent="0" eaLnBrk="0" fontAlgn="base" hangingPunct="0">
              <a:spcBef>
                <a:spcPct val="0"/>
              </a:spcBef>
              <a:spcAft>
                <a:spcPct val="0"/>
              </a:spcAft>
              <a:buNone/>
            </a:pPr>
            <a:r>
              <a:rPr lang="en-GB" altLang="en-US" sz="4000" dirty="0">
                <a:solidFill>
                  <a:srgbClr val="B2B2B2"/>
                </a:solidFill>
                <a:latin typeface="Consolas" panose="020B0609020204030204" pitchFamily="49" charset="0"/>
              </a:rPr>
              <a:t>3 Another comment</a:t>
            </a:r>
          </a:p>
          <a:p>
            <a:pPr marL="0" lvl="0" indent="0" eaLnBrk="0" fontAlgn="base" hangingPunct="0">
              <a:spcBef>
                <a:spcPct val="0"/>
              </a:spcBef>
              <a:spcAft>
                <a:spcPct val="0"/>
              </a:spcAft>
              <a:buNone/>
            </a:pPr>
            <a:r>
              <a:rPr lang="en-GB" altLang="en-US" sz="4000" dirty="0">
                <a:solidFill>
                  <a:srgbClr val="B2B2B2"/>
                </a:solidFill>
                <a:latin typeface="Consolas" panose="020B0609020204030204" pitchFamily="49" charset="0"/>
              </a:rPr>
              <a:t>4 */</a:t>
            </a:r>
            <a:br>
              <a:rPr lang="en-US" altLang="en-US" sz="1200" dirty="0">
                <a:solidFill>
                  <a:srgbClr val="000000"/>
                </a:solidFill>
                <a:latin typeface="Consolas" panose="020B0609020204030204" pitchFamily="49" charset="0"/>
              </a:rPr>
            </a:br>
            <a:endParaRPr lang="en-US" altLang="en-US" sz="1800" dirty="0">
              <a:latin typeface="Arial" panose="020B0604020202020204" pitchFamily="34" charset="0"/>
            </a:endParaRPr>
          </a:p>
        </p:txBody>
      </p:sp>
      <p:sp>
        <p:nvSpPr>
          <p:cNvPr id="9" name="Rectangle 1">
            <a:extLst>
              <a:ext uri="{FF2B5EF4-FFF2-40B4-BE49-F238E27FC236}">
                <a16:creationId xmlns:a16="http://schemas.microsoft.com/office/drawing/2014/main" id="{B91BCD11-793F-D522-35E5-01BC42A81B4B}"/>
              </a:ext>
            </a:extLst>
          </p:cNvPr>
          <p:cNvSpPr>
            <a:spLocks noChangeArrowheads="1"/>
          </p:cNvSpPr>
          <p:nvPr/>
        </p:nvSpPr>
        <p:spPr bwMode="auto">
          <a:xfrm>
            <a:off x="0" y="43934"/>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en-US" sz="1800" b="0" i="0" u="none" strike="noStrike" cap="none" normalizeH="0" baseline="0" dirty="0">
              <a:ln>
                <a:noFill/>
              </a:ln>
              <a:solidFill>
                <a:schemeClr val="tx1"/>
              </a:solidFill>
              <a:effectLst/>
              <a:latin typeface="Arial" panose="020B0604020202020204" pitchFamily="34" charset="0"/>
            </a:endParaRPr>
          </a:p>
        </p:txBody>
      </p:sp>
    </p:spTree>
    <p:extLst>
      <p:ext uri="{BB962C8B-B14F-4D97-AF65-F5344CB8AC3E}">
        <p14:creationId xmlns:p14="http://schemas.microsoft.com/office/powerpoint/2010/main" val="1265154754"/>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a:t>Learning Intentions</a:t>
            </a:r>
          </a:p>
        </p:txBody>
      </p:sp>
      <p:sp>
        <p:nvSpPr>
          <p:cNvPr id="3" name="Content Placeholder 2"/>
          <p:cNvSpPr>
            <a:spLocks noGrp="1"/>
          </p:cNvSpPr>
          <p:nvPr>
            <p:ph idx="1"/>
          </p:nvPr>
        </p:nvSpPr>
        <p:spPr/>
        <p:txBody>
          <a:bodyPr/>
          <a:lstStyle/>
          <a:p>
            <a:r>
              <a:rPr lang="en-GB" dirty="0"/>
              <a:t>Describe and use output to screen</a:t>
            </a:r>
          </a:p>
        </p:txBody>
      </p:sp>
    </p:spTree>
    <p:extLst>
      <p:ext uri="{BB962C8B-B14F-4D97-AF65-F5344CB8AC3E}">
        <p14:creationId xmlns:p14="http://schemas.microsoft.com/office/powerpoint/2010/main" val="3817082245"/>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C96D15D4-1AB6-41A6-BFA0-B5265FD77462}"/>
              </a:ext>
            </a:extLst>
          </p:cNvPr>
          <p:cNvSpPr txBox="1"/>
          <p:nvPr/>
        </p:nvSpPr>
        <p:spPr>
          <a:xfrm>
            <a:off x="838200" y="1957036"/>
            <a:ext cx="8873359" cy="1600438"/>
          </a:xfrm>
          <a:prstGeom prst="rect">
            <a:avLst/>
          </a:prstGeom>
          <a:noFill/>
        </p:spPr>
        <p:txBody>
          <a:bodyPr wrap="square">
            <a:spAutoFit/>
          </a:bodyPr>
          <a:lstStyle/>
          <a:p>
            <a:pPr eaLnBrk="0" fontAlgn="base" hangingPunct="0">
              <a:spcBef>
                <a:spcPct val="0"/>
              </a:spcBef>
              <a:spcAft>
                <a:spcPts val="1200"/>
              </a:spcAft>
            </a:pPr>
            <a:r>
              <a:rPr lang="en-US" altLang="en-US" sz="4400" dirty="0">
                <a:solidFill>
                  <a:srgbClr val="B2B2B2"/>
                </a:solidFill>
                <a:latin typeface="Consolas" panose="020B0609020204030204" pitchFamily="49" charset="0"/>
              </a:rPr>
              <a:t>1 </a:t>
            </a:r>
            <a:r>
              <a:rPr lang="en-US" altLang="en-US" sz="4400" dirty="0">
                <a:solidFill>
                  <a:srgbClr val="000000"/>
                </a:solidFill>
                <a:latin typeface="Consolas" panose="020B0609020204030204" pitchFamily="49" charset="0"/>
              </a:rPr>
              <a:t>.print</a:t>
            </a:r>
          </a:p>
          <a:p>
            <a:pPr eaLnBrk="0" fontAlgn="base" hangingPunct="0">
              <a:spcBef>
                <a:spcPct val="0"/>
              </a:spcBef>
              <a:spcAft>
                <a:spcPts val="1200"/>
              </a:spcAft>
            </a:pPr>
            <a:r>
              <a:rPr lang="en-US" altLang="en-US" sz="4400" dirty="0">
                <a:solidFill>
                  <a:srgbClr val="B2B2B2"/>
                </a:solidFill>
                <a:latin typeface="Consolas" panose="020B0609020204030204" pitchFamily="49" charset="0"/>
              </a:rPr>
              <a:t>2 </a:t>
            </a:r>
            <a:r>
              <a:rPr lang="en-US" altLang="en-US" sz="4400" dirty="0">
                <a:solidFill>
                  <a:srgbClr val="000000"/>
                </a:solidFill>
                <a:latin typeface="Consolas" panose="020B0609020204030204" pitchFamily="49" charset="0"/>
              </a:rPr>
              <a:t>.print "Hello world"</a:t>
            </a:r>
          </a:p>
        </p:txBody>
      </p:sp>
      <p:sp>
        <p:nvSpPr>
          <p:cNvPr id="9" name="Callout: Bent Line with No Border 8">
            <a:extLst>
              <a:ext uri="{FF2B5EF4-FFF2-40B4-BE49-F238E27FC236}">
                <a16:creationId xmlns:a16="http://schemas.microsoft.com/office/drawing/2014/main" id="{FE76DF5F-81B3-45AC-A628-BBE9287E827D}"/>
              </a:ext>
            </a:extLst>
          </p:cNvPr>
          <p:cNvSpPr/>
          <p:nvPr/>
        </p:nvSpPr>
        <p:spPr>
          <a:xfrm>
            <a:off x="5644898" y="1742044"/>
            <a:ext cx="2573935" cy="429983"/>
          </a:xfrm>
          <a:prstGeom prst="callout2">
            <a:avLst>
              <a:gd name="adj1" fmla="val 50675"/>
              <a:gd name="adj2" fmla="val -405"/>
              <a:gd name="adj3" fmla="val 50388"/>
              <a:gd name="adj4" fmla="val -30119"/>
              <a:gd name="adj5" fmla="val 131369"/>
              <a:gd name="adj6" fmla="val -78636"/>
            </a:avLst>
          </a:prstGeom>
          <a:noFill/>
          <a:ln w="38100">
            <a:solidFill>
              <a:schemeClr val="accent6">
                <a:lumMod val="75000"/>
              </a:schemeClr>
            </a:solidFill>
            <a:headEnd type="none" w="med" len="med"/>
            <a:tailEnd type="triangl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Blank line</a:t>
            </a:r>
          </a:p>
        </p:txBody>
      </p:sp>
      <p:sp>
        <p:nvSpPr>
          <p:cNvPr id="3" name="Title 2"/>
          <p:cNvSpPr>
            <a:spLocks noGrp="1"/>
          </p:cNvSpPr>
          <p:nvPr>
            <p:ph type="title"/>
          </p:nvPr>
        </p:nvSpPr>
        <p:spPr/>
        <p:txBody>
          <a:bodyPr/>
          <a:lstStyle/>
          <a:p>
            <a:r>
              <a:rPr lang="en-GB" dirty="0"/>
              <a:t>Display information</a:t>
            </a:r>
          </a:p>
        </p:txBody>
      </p:sp>
      <p:sp>
        <p:nvSpPr>
          <p:cNvPr id="4" name="Rectangle 1">
            <a:extLst>
              <a:ext uri="{FF2B5EF4-FFF2-40B4-BE49-F238E27FC236}">
                <a16:creationId xmlns:a16="http://schemas.microsoft.com/office/drawing/2014/main" id="{8893844C-52D8-18EF-7948-09D1558A481E}"/>
              </a:ext>
            </a:extLst>
          </p:cNvPr>
          <p:cNvSpPr>
            <a:spLocks noChangeArrowheads="1"/>
          </p:cNvSpPr>
          <p:nvPr/>
        </p:nvSpPr>
        <p:spPr bwMode="auto">
          <a:xfrm>
            <a:off x="0" y="-48399"/>
            <a:ext cx="269626" cy="55399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1200" b="0" i="0" u="none" strike="noStrike" cap="none" normalizeH="0" baseline="0" dirty="0">
                <a:ln>
                  <a:noFill/>
                </a:ln>
                <a:solidFill>
                  <a:srgbClr val="B2B2B2"/>
                </a:solidFill>
                <a:effectLst/>
                <a:latin typeface="Consolas" panose="020B0609020204030204" pitchFamily="49" charset="0"/>
              </a:rPr>
              <a:t> </a:t>
            </a:r>
            <a:br>
              <a:rPr kumimoji="0" lang="en-US" altLang="en-US" sz="1200" b="0" i="0" u="none" strike="noStrike" cap="none" normalizeH="0" baseline="0" dirty="0">
                <a:ln>
                  <a:noFill/>
                </a:ln>
                <a:solidFill>
                  <a:srgbClr val="000000"/>
                </a:solidFill>
                <a:effectLst/>
                <a:latin typeface="Consolas" panose="020B0609020204030204" pitchFamily="49" charset="0"/>
              </a:rPr>
            </a:br>
            <a:endParaRPr kumimoji="0" lang="en-US" altLang="en-US" sz="1800" b="0" i="0" u="none" strike="noStrike" cap="none" normalizeH="0" baseline="0" dirty="0">
              <a:ln>
                <a:noFill/>
              </a:ln>
              <a:solidFill>
                <a:schemeClr val="tx1"/>
              </a:solidFill>
              <a:effectLst/>
              <a:latin typeface="Arial" panose="020B0604020202020204" pitchFamily="34" charset="0"/>
            </a:endParaRPr>
          </a:p>
        </p:txBody>
      </p:sp>
      <p:grpSp>
        <p:nvGrpSpPr>
          <p:cNvPr id="10" name="Group 9">
            <a:extLst>
              <a:ext uri="{FF2B5EF4-FFF2-40B4-BE49-F238E27FC236}">
                <a16:creationId xmlns:a16="http://schemas.microsoft.com/office/drawing/2014/main" id="{D664FC82-66AD-1E04-D772-53DD341AA1E1}"/>
              </a:ext>
            </a:extLst>
          </p:cNvPr>
          <p:cNvGrpSpPr/>
          <p:nvPr/>
        </p:nvGrpSpPr>
        <p:grpSpPr>
          <a:xfrm>
            <a:off x="3996779" y="3511550"/>
            <a:ext cx="3346450" cy="687815"/>
            <a:chOff x="3695700" y="3511550"/>
            <a:chExt cx="3346450" cy="687815"/>
          </a:xfrm>
        </p:grpSpPr>
        <p:cxnSp>
          <p:nvCxnSpPr>
            <p:cNvPr id="7" name="Straight Connector 6">
              <a:extLst>
                <a:ext uri="{FF2B5EF4-FFF2-40B4-BE49-F238E27FC236}">
                  <a16:creationId xmlns:a16="http://schemas.microsoft.com/office/drawing/2014/main" id="{792E91F1-5AE1-3DC8-D816-E61CE15CAE08}"/>
                </a:ext>
              </a:extLst>
            </p:cNvPr>
            <p:cNvCxnSpPr/>
            <p:nvPr/>
          </p:nvCxnSpPr>
          <p:spPr>
            <a:xfrm flipV="1">
              <a:off x="3695700" y="3511550"/>
              <a:ext cx="3346450" cy="0"/>
            </a:xfrm>
            <a:prstGeom prst="line">
              <a:avLst/>
            </a:prstGeom>
            <a:ln w="57150">
              <a:solidFill>
                <a:schemeClr val="accent6">
                  <a:lumMod val="75000"/>
                </a:schemeClr>
              </a:solidFill>
            </a:ln>
          </p:spPr>
          <p:style>
            <a:lnRef idx="1">
              <a:schemeClr val="accent1"/>
            </a:lnRef>
            <a:fillRef idx="0">
              <a:schemeClr val="accent1"/>
            </a:fillRef>
            <a:effectRef idx="0">
              <a:schemeClr val="accent1"/>
            </a:effectRef>
            <a:fontRef idx="minor">
              <a:schemeClr val="tx1"/>
            </a:fontRef>
          </p:style>
        </p:cxnSp>
        <p:sp>
          <p:nvSpPr>
            <p:cNvPr id="8" name="TextBox 7">
              <a:extLst>
                <a:ext uri="{FF2B5EF4-FFF2-40B4-BE49-F238E27FC236}">
                  <a16:creationId xmlns:a16="http://schemas.microsoft.com/office/drawing/2014/main" id="{7FF36769-6492-5CED-7C20-E07DDC5A3578}"/>
                </a:ext>
              </a:extLst>
            </p:cNvPr>
            <p:cNvSpPr txBox="1"/>
            <p:nvPr/>
          </p:nvSpPr>
          <p:spPr>
            <a:xfrm>
              <a:off x="3695700" y="3676145"/>
              <a:ext cx="3346450" cy="523220"/>
            </a:xfrm>
            <a:prstGeom prst="rect">
              <a:avLst/>
            </a:prstGeom>
            <a:noFill/>
          </p:spPr>
          <p:txBody>
            <a:bodyPr wrap="square" rtlCol="0">
              <a:spAutoFit/>
            </a:bodyPr>
            <a:lstStyle/>
            <a:p>
              <a:pPr algn="ctr"/>
              <a:r>
                <a:rPr lang="en-GB" sz="2800" b="1" dirty="0">
                  <a:solidFill>
                    <a:srgbClr val="7030A0"/>
                  </a:solidFill>
                </a:rPr>
                <a:t>Displayed in console</a:t>
              </a:r>
            </a:p>
          </p:txBody>
        </p:sp>
      </p:grpSp>
    </p:spTree>
    <p:extLst>
      <p:ext uri="{BB962C8B-B14F-4D97-AF65-F5344CB8AC3E}">
        <p14:creationId xmlns:p14="http://schemas.microsoft.com/office/powerpoint/2010/main" val="343646318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animEffect transition="in" filter="wipe(left)">
                                      <p:cBhvr>
                                        <p:cTn id="7" dur="1000"/>
                                        <p:tgtEl>
                                          <p:spTgt spid="2">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2">
                                            <p:txEl>
                                              <p:pRg st="1" end="1"/>
                                            </p:txEl>
                                          </p:spTgt>
                                        </p:tgtEl>
                                        <p:attrNameLst>
                                          <p:attrName>style.visibility</p:attrName>
                                        </p:attrNameLst>
                                      </p:cBhvr>
                                      <p:to>
                                        <p:strVal val="visible"/>
                                      </p:to>
                                    </p:set>
                                    <p:animEffect transition="in" filter="wipe(left)">
                                      <p:cBhvr>
                                        <p:cTn id="12" dur="2000"/>
                                        <p:tgtEl>
                                          <p:spTgt spid="2">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9"/>
                                        </p:tgtEl>
                                        <p:attrNameLst>
                                          <p:attrName>style.visibility</p:attrName>
                                        </p:attrNameLst>
                                      </p:cBhvr>
                                      <p:to>
                                        <p:strVal val="visible"/>
                                      </p:to>
                                    </p:set>
                                    <p:animEffect transition="in" filter="wipe(left)">
                                      <p:cBhvr>
                                        <p:cTn id="17" dur="1500"/>
                                        <p:tgtEl>
                                          <p:spTgt spid="9"/>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1" fill="hold" nodeType="clickEffect">
                                  <p:stCondLst>
                                    <p:cond delay="0"/>
                                  </p:stCondLst>
                                  <p:childTnLst>
                                    <p:set>
                                      <p:cBhvr>
                                        <p:cTn id="21" dur="1" fill="hold">
                                          <p:stCondLst>
                                            <p:cond delay="0"/>
                                          </p:stCondLst>
                                        </p:cTn>
                                        <p:tgtEl>
                                          <p:spTgt spid="10"/>
                                        </p:tgtEl>
                                        <p:attrNameLst>
                                          <p:attrName>style.visibility</p:attrName>
                                        </p:attrNameLst>
                                      </p:cBhvr>
                                      <p:to>
                                        <p:strVal val="visible"/>
                                      </p:to>
                                    </p:set>
                                    <p:animEffect transition="in" filter="wipe(up)">
                                      <p:cBhvr>
                                        <p:cTn id="22" dur="15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uiExpand="1" build="p"/>
      <p:bldP spid="9" grpId="0" animBg="1"/>
    </p:bldLst>
  </p:timing>
</p:sld>
</file>

<file path=ppt/slides/slide2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C96D15D4-1AB6-41A6-BFA0-B5265FD77462}"/>
              </a:ext>
            </a:extLst>
          </p:cNvPr>
          <p:cNvSpPr txBox="1"/>
          <p:nvPr/>
        </p:nvSpPr>
        <p:spPr>
          <a:xfrm>
            <a:off x="838200" y="1957036"/>
            <a:ext cx="8873359" cy="1600438"/>
          </a:xfrm>
          <a:prstGeom prst="rect">
            <a:avLst/>
          </a:prstGeom>
          <a:noFill/>
        </p:spPr>
        <p:txBody>
          <a:bodyPr wrap="square">
            <a:spAutoFit/>
          </a:bodyPr>
          <a:lstStyle/>
          <a:p>
            <a:pPr eaLnBrk="0" fontAlgn="base" hangingPunct="0">
              <a:spcBef>
                <a:spcPct val="0"/>
              </a:spcBef>
              <a:spcAft>
                <a:spcPts val="1200"/>
              </a:spcAft>
            </a:pPr>
            <a:r>
              <a:rPr lang="en-US" altLang="en-US" sz="4400" dirty="0">
                <a:solidFill>
                  <a:srgbClr val="B2B2B2"/>
                </a:solidFill>
                <a:latin typeface="Consolas" panose="020B0609020204030204" pitchFamily="49" charset="0"/>
              </a:rPr>
              <a:t>1 </a:t>
            </a:r>
            <a:r>
              <a:rPr lang="en-US" altLang="en-US" sz="4400" dirty="0">
                <a:solidFill>
                  <a:srgbClr val="000000"/>
                </a:solidFill>
                <a:latin typeface="Consolas" panose="020B0609020204030204" pitchFamily="49" charset="0"/>
              </a:rPr>
              <a:t>.print</a:t>
            </a:r>
          </a:p>
          <a:p>
            <a:pPr eaLnBrk="0" fontAlgn="base" hangingPunct="0">
              <a:spcBef>
                <a:spcPct val="0"/>
              </a:spcBef>
              <a:spcAft>
                <a:spcPts val="1200"/>
              </a:spcAft>
            </a:pPr>
            <a:r>
              <a:rPr lang="en-US" altLang="en-US" sz="4400" dirty="0">
                <a:solidFill>
                  <a:srgbClr val="B2B2B2"/>
                </a:solidFill>
                <a:latin typeface="Consolas" panose="020B0609020204030204" pitchFamily="49" charset="0"/>
              </a:rPr>
              <a:t>2 </a:t>
            </a:r>
            <a:r>
              <a:rPr lang="en-US" altLang="en-US" sz="4400" dirty="0">
                <a:solidFill>
                  <a:srgbClr val="000000"/>
                </a:solidFill>
                <a:latin typeface="Consolas" panose="020B0609020204030204" pitchFamily="49" charset="0"/>
              </a:rPr>
              <a:t>.print "Hello world"</a:t>
            </a:r>
          </a:p>
        </p:txBody>
      </p:sp>
      <p:sp>
        <p:nvSpPr>
          <p:cNvPr id="3" name="Title 2"/>
          <p:cNvSpPr>
            <a:spLocks noGrp="1"/>
          </p:cNvSpPr>
          <p:nvPr>
            <p:ph type="title"/>
          </p:nvPr>
        </p:nvSpPr>
        <p:spPr/>
        <p:txBody>
          <a:bodyPr/>
          <a:lstStyle/>
          <a:p>
            <a:r>
              <a:rPr lang="en-GB" dirty="0"/>
              <a:t>Display information</a:t>
            </a:r>
          </a:p>
        </p:txBody>
      </p:sp>
      <p:sp>
        <p:nvSpPr>
          <p:cNvPr id="4" name="Rectangle 1">
            <a:extLst>
              <a:ext uri="{FF2B5EF4-FFF2-40B4-BE49-F238E27FC236}">
                <a16:creationId xmlns:a16="http://schemas.microsoft.com/office/drawing/2014/main" id="{8893844C-52D8-18EF-7948-09D1558A481E}"/>
              </a:ext>
            </a:extLst>
          </p:cNvPr>
          <p:cNvSpPr>
            <a:spLocks noChangeArrowheads="1"/>
          </p:cNvSpPr>
          <p:nvPr/>
        </p:nvSpPr>
        <p:spPr bwMode="auto">
          <a:xfrm>
            <a:off x="0" y="-48399"/>
            <a:ext cx="269626" cy="55399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1200" b="0" i="0" u="none" strike="noStrike" cap="none" normalizeH="0" baseline="0" dirty="0">
                <a:ln>
                  <a:noFill/>
                </a:ln>
                <a:solidFill>
                  <a:srgbClr val="B2B2B2"/>
                </a:solidFill>
                <a:effectLst/>
                <a:latin typeface="Consolas" panose="020B0609020204030204" pitchFamily="49" charset="0"/>
              </a:rPr>
              <a:t> </a:t>
            </a:r>
            <a:br>
              <a:rPr kumimoji="0" lang="en-US" altLang="en-US" sz="1200" b="0" i="0" u="none" strike="noStrike" cap="none" normalizeH="0" baseline="0" dirty="0">
                <a:ln>
                  <a:noFill/>
                </a:ln>
                <a:solidFill>
                  <a:srgbClr val="000000"/>
                </a:solidFill>
                <a:effectLst/>
                <a:latin typeface="Consolas" panose="020B0609020204030204" pitchFamily="49" charset="0"/>
              </a:rPr>
            </a:br>
            <a:endParaRPr kumimoji="0" lang="en-US" altLang="en-US" sz="1800" b="0" i="0" u="none" strike="noStrike" cap="none" normalizeH="0" baseline="0" dirty="0">
              <a:ln>
                <a:noFill/>
              </a:ln>
              <a:solidFill>
                <a:schemeClr val="tx1"/>
              </a:solidFill>
              <a:effectLst/>
              <a:latin typeface="Arial" panose="020B0604020202020204" pitchFamily="34" charset="0"/>
            </a:endParaRPr>
          </a:p>
        </p:txBody>
      </p:sp>
    </p:spTree>
    <p:extLst>
      <p:ext uri="{BB962C8B-B14F-4D97-AF65-F5344CB8AC3E}">
        <p14:creationId xmlns:p14="http://schemas.microsoft.com/office/powerpoint/2010/main" val="861823585"/>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Learning Intentions</a:t>
            </a:r>
          </a:p>
        </p:txBody>
      </p:sp>
      <p:sp>
        <p:nvSpPr>
          <p:cNvPr id="3" name="Content Placeholder 2"/>
          <p:cNvSpPr>
            <a:spLocks noGrp="1"/>
          </p:cNvSpPr>
          <p:nvPr>
            <p:ph idx="1"/>
          </p:nvPr>
        </p:nvSpPr>
        <p:spPr/>
        <p:txBody>
          <a:bodyPr>
            <a:normAutofit/>
          </a:bodyPr>
          <a:lstStyle/>
          <a:p>
            <a:r>
              <a:rPr lang="en-GB" sz="3200" dirty="0"/>
              <a:t>Describe and use SQL select operations</a:t>
            </a:r>
          </a:p>
        </p:txBody>
      </p:sp>
    </p:spTree>
    <p:extLst>
      <p:ext uri="{BB962C8B-B14F-4D97-AF65-F5344CB8AC3E}">
        <p14:creationId xmlns:p14="http://schemas.microsoft.com/office/powerpoint/2010/main" val="1233900212"/>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Table: pupil</a:t>
            </a:r>
          </a:p>
        </p:txBody>
      </p:sp>
      <p:graphicFrame>
        <p:nvGraphicFramePr>
          <p:cNvPr id="5" name="Table 5">
            <a:extLst>
              <a:ext uri="{FF2B5EF4-FFF2-40B4-BE49-F238E27FC236}">
                <a16:creationId xmlns:a16="http://schemas.microsoft.com/office/drawing/2014/main" id="{38A8414E-6490-4AD8-90BD-DF0216F61C69}"/>
              </a:ext>
            </a:extLst>
          </p:cNvPr>
          <p:cNvGraphicFramePr>
            <a:graphicFrameLocks noGrp="1"/>
          </p:cNvGraphicFramePr>
          <p:nvPr>
            <p:ph idx="1"/>
            <p:extLst>
              <p:ext uri="{D42A27DB-BD31-4B8C-83A1-F6EECF244321}">
                <p14:modId xmlns:p14="http://schemas.microsoft.com/office/powerpoint/2010/main" val="2200621502"/>
              </p:ext>
            </p:extLst>
          </p:nvPr>
        </p:nvGraphicFramePr>
        <p:xfrm>
          <a:off x="838200" y="1825625"/>
          <a:ext cx="9916423" cy="2895600"/>
        </p:xfrm>
        <a:graphic>
          <a:graphicData uri="http://schemas.openxmlformats.org/drawingml/2006/table">
            <a:tbl>
              <a:tblPr firstRow="1" bandRow="1">
                <a:tableStyleId>{5C22544A-7EE6-4342-B048-85BDC9FD1C3A}</a:tableStyleId>
              </a:tblPr>
              <a:tblGrid>
                <a:gridCol w="2056986">
                  <a:extLst>
                    <a:ext uri="{9D8B030D-6E8A-4147-A177-3AD203B41FA5}">
                      <a16:colId xmlns:a16="http://schemas.microsoft.com/office/drawing/2014/main" val="1632358923"/>
                    </a:ext>
                  </a:extLst>
                </a:gridCol>
                <a:gridCol w="829807">
                  <a:extLst>
                    <a:ext uri="{9D8B030D-6E8A-4147-A177-3AD203B41FA5}">
                      <a16:colId xmlns:a16="http://schemas.microsoft.com/office/drawing/2014/main" val="3505833113"/>
                    </a:ext>
                  </a:extLst>
                </a:gridCol>
                <a:gridCol w="1586230">
                  <a:extLst>
                    <a:ext uri="{9D8B030D-6E8A-4147-A177-3AD203B41FA5}">
                      <a16:colId xmlns:a16="http://schemas.microsoft.com/office/drawing/2014/main" val="2732100902"/>
                    </a:ext>
                  </a:extLst>
                </a:gridCol>
                <a:gridCol w="926211">
                  <a:extLst>
                    <a:ext uri="{9D8B030D-6E8A-4147-A177-3AD203B41FA5}">
                      <a16:colId xmlns:a16="http://schemas.microsoft.com/office/drawing/2014/main" val="315362434"/>
                    </a:ext>
                  </a:extLst>
                </a:gridCol>
                <a:gridCol w="1297304">
                  <a:extLst>
                    <a:ext uri="{9D8B030D-6E8A-4147-A177-3AD203B41FA5}">
                      <a16:colId xmlns:a16="http://schemas.microsoft.com/office/drawing/2014/main" val="2971574360"/>
                    </a:ext>
                  </a:extLst>
                </a:gridCol>
                <a:gridCol w="3219885">
                  <a:extLst>
                    <a:ext uri="{9D8B030D-6E8A-4147-A177-3AD203B41FA5}">
                      <a16:colId xmlns:a16="http://schemas.microsoft.com/office/drawing/2014/main" val="2515431282"/>
                    </a:ext>
                  </a:extLst>
                </a:gridCol>
              </a:tblGrid>
              <a:tr h="370840">
                <a:tc>
                  <a:txBody>
                    <a:bodyPr/>
                    <a:lstStyle/>
                    <a:p>
                      <a:pPr algn="ctr"/>
                      <a:r>
                        <a:rPr lang="en-GB" sz="3200" dirty="0"/>
                        <a:t>Attribute</a:t>
                      </a:r>
                    </a:p>
                  </a:txBody>
                  <a:tcPr/>
                </a:tc>
                <a:tc>
                  <a:txBody>
                    <a:bodyPr/>
                    <a:lstStyle/>
                    <a:p>
                      <a:pPr algn="ctr"/>
                      <a:r>
                        <a:rPr lang="en-GB" sz="3200" dirty="0"/>
                        <a:t>Key</a:t>
                      </a:r>
                    </a:p>
                  </a:txBody>
                  <a:tcPr/>
                </a:tc>
                <a:tc>
                  <a:txBody>
                    <a:bodyPr/>
                    <a:lstStyle/>
                    <a:p>
                      <a:pPr algn="ctr"/>
                      <a:r>
                        <a:rPr lang="en-GB" sz="3200" dirty="0"/>
                        <a:t>Type</a:t>
                      </a:r>
                    </a:p>
                  </a:txBody>
                  <a:tcPr/>
                </a:tc>
                <a:tc>
                  <a:txBody>
                    <a:bodyPr/>
                    <a:lstStyle/>
                    <a:p>
                      <a:pPr algn="ctr"/>
                      <a:r>
                        <a:rPr lang="en-GB" sz="3200" dirty="0"/>
                        <a:t>Size</a:t>
                      </a:r>
                    </a:p>
                  </a:txBody>
                  <a:tcPr/>
                </a:tc>
                <a:tc>
                  <a:txBody>
                    <a:bodyPr/>
                    <a:lstStyle/>
                    <a:p>
                      <a:pPr algn="ctr"/>
                      <a:r>
                        <a:rPr lang="en-GB" sz="3200" dirty="0" err="1"/>
                        <a:t>Req'd</a:t>
                      </a:r>
                      <a:endParaRPr lang="en-GB" sz="3200" dirty="0"/>
                    </a:p>
                  </a:txBody>
                  <a:tcPr/>
                </a:tc>
                <a:tc>
                  <a:txBody>
                    <a:bodyPr/>
                    <a:lstStyle/>
                    <a:p>
                      <a:pPr algn="ctr"/>
                      <a:r>
                        <a:rPr lang="en-GB" sz="3200" dirty="0"/>
                        <a:t>Validation</a:t>
                      </a:r>
                    </a:p>
                  </a:txBody>
                  <a:tcPr/>
                </a:tc>
                <a:extLst>
                  <a:ext uri="{0D108BD9-81ED-4DB2-BD59-A6C34878D82A}">
                    <a16:rowId xmlns:a16="http://schemas.microsoft.com/office/drawing/2014/main" val="3459615676"/>
                  </a:ext>
                </a:extLst>
              </a:tr>
              <a:tr h="370840">
                <a:tc>
                  <a:txBody>
                    <a:bodyPr/>
                    <a:lstStyle/>
                    <a:p>
                      <a:r>
                        <a:rPr lang="en-GB" sz="3200" dirty="0" err="1"/>
                        <a:t>pupilID</a:t>
                      </a:r>
                      <a:endParaRPr lang="en-GB" sz="3200" dirty="0"/>
                    </a:p>
                  </a:txBody>
                  <a:tcPr/>
                </a:tc>
                <a:tc>
                  <a:txBody>
                    <a:bodyPr/>
                    <a:lstStyle/>
                    <a:p>
                      <a:pPr algn="ctr"/>
                      <a:r>
                        <a:rPr lang="en-GB" sz="3200" dirty="0"/>
                        <a:t>PK</a:t>
                      </a:r>
                    </a:p>
                  </a:txBody>
                  <a:tcPr/>
                </a:tc>
                <a:tc>
                  <a:txBody>
                    <a:bodyPr/>
                    <a:lstStyle/>
                    <a:p>
                      <a:r>
                        <a:rPr lang="en-GB" sz="3200" dirty="0"/>
                        <a:t>number</a:t>
                      </a:r>
                    </a:p>
                  </a:txBody>
                  <a:tcPr/>
                </a:tc>
                <a:tc>
                  <a:txBody>
                    <a:bodyPr/>
                    <a:lstStyle/>
                    <a:p>
                      <a:pPr algn="ctr"/>
                      <a:endParaRPr lang="en-GB" sz="3200" dirty="0"/>
                    </a:p>
                  </a:txBody>
                  <a:tcPr/>
                </a:tc>
                <a:tc>
                  <a:txBody>
                    <a:bodyPr/>
                    <a:lstStyle/>
                    <a:p>
                      <a:pPr algn="ctr"/>
                      <a:r>
                        <a:rPr lang="en-GB" sz="3200" dirty="0"/>
                        <a:t>Y</a:t>
                      </a:r>
                    </a:p>
                  </a:txBody>
                  <a:tcPr/>
                </a:tc>
                <a:tc>
                  <a:txBody>
                    <a:bodyPr/>
                    <a:lstStyle/>
                    <a:p>
                      <a:endParaRPr lang="en-GB" sz="3200" dirty="0"/>
                    </a:p>
                  </a:txBody>
                  <a:tcPr/>
                </a:tc>
                <a:extLst>
                  <a:ext uri="{0D108BD9-81ED-4DB2-BD59-A6C34878D82A}">
                    <a16:rowId xmlns:a16="http://schemas.microsoft.com/office/drawing/2014/main" val="1127765656"/>
                  </a:ext>
                </a:extLst>
              </a:tr>
              <a:tr h="370840">
                <a:tc>
                  <a:txBody>
                    <a:bodyPr/>
                    <a:lstStyle/>
                    <a:p>
                      <a:r>
                        <a:rPr lang="en-GB" sz="3200" dirty="0" err="1"/>
                        <a:t>firstName</a:t>
                      </a:r>
                      <a:endParaRPr lang="en-GB" sz="3200" dirty="0"/>
                    </a:p>
                  </a:txBody>
                  <a:tcPr/>
                </a:tc>
                <a:tc>
                  <a:txBody>
                    <a:bodyPr/>
                    <a:lstStyle/>
                    <a:p>
                      <a:pPr algn="ctr"/>
                      <a:endParaRPr lang="en-GB" sz="3200" dirty="0"/>
                    </a:p>
                  </a:txBody>
                  <a:tcPr/>
                </a:tc>
                <a:tc>
                  <a:txBody>
                    <a:bodyPr/>
                    <a:lstStyle/>
                    <a:p>
                      <a:r>
                        <a:rPr lang="en-GB" sz="3200" dirty="0"/>
                        <a:t>text</a:t>
                      </a:r>
                    </a:p>
                  </a:txBody>
                  <a:tcPr/>
                </a:tc>
                <a:tc>
                  <a:txBody>
                    <a:bodyPr/>
                    <a:lstStyle/>
                    <a:p>
                      <a:pPr algn="ctr"/>
                      <a:r>
                        <a:rPr lang="en-GB" sz="3200" dirty="0"/>
                        <a:t>20</a:t>
                      </a:r>
                    </a:p>
                  </a:txBody>
                  <a:tcPr/>
                </a:tc>
                <a:tc>
                  <a:txBody>
                    <a:bodyPr/>
                    <a:lstStyle/>
                    <a:p>
                      <a:pPr algn="ctr"/>
                      <a:r>
                        <a:rPr lang="en-GB" sz="3200" dirty="0"/>
                        <a:t>Y</a:t>
                      </a:r>
                    </a:p>
                  </a:txBody>
                  <a:tcPr/>
                </a:tc>
                <a:tc>
                  <a:txBody>
                    <a:bodyPr/>
                    <a:lstStyle/>
                    <a:p>
                      <a:endParaRPr lang="en-GB" sz="3200" dirty="0"/>
                    </a:p>
                  </a:txBody>
                  <a:tcPr/>
                </a:tc>
                <a:extLst>
                  <a:ext uri="{0D108BD9-81ED-4DB2-BD59-A6C34878D82A}">
                    <a16:rowId xmlns:a16="http://schemas.microsoft.com/office/drawing/2014/main" val="2924661129"/>
                  </a:ext>
                </a:extLst>
              </a:tr>
              <a:tr h="370840">
                <a:tc>
                  <a:txBody>
                    <a:bodyPr/>
                    <a:lstStyle/>
                    <a:p>
                      <a:r>
                        <a:rPr lang="en-GB" sz="3200" dirty="0" err="1"/>
                        <a:t>lastName</a:t>
                      </a:r>
                      <a:endParaRPr lang="en-GB" sz="3200" dirty="0"/>
                    </a:p>
                  </a:txBody>
                  <a:tcPr/>
                </a:tc>
                <a:tc>
                  <a:txBody>
                    <a:bodyPr/>
                    <a:lstStyle/>
                    <a:p>
                      <a:pPr algn="ctr"/>
                      <a:endParaRPr lang="en-GB" sz="3200" dirty="0"/>
                    </a:p>
                  </a:txBody>
                  <a:tcPr/>
                </a:tc>
                <a:tc>
                  <a:txBody>
                    <a:bodyPr/>
                    <a:lstStyle/>
                    <a:p>
                      <a:r>
                        <a:rPr lang="en-GB" sz="3200" dirty="0"/>
                        <a:t>text</a:t>
                      </a:r>
                    </a:p>
                  </a:txBody>
                  <a:tcPr/>
                </a:tc>
                <a:tc>
                  <a:txBody>
                    <a:bodyPr/>
                    <a:lstStyle/>
                    <a:p>
                      <a:pPr algn="ctr"/>
                      <a:r>
                        <a:rPr lang="en-GB" sz="3200" dirty="0"/>
                        <a:t>20</a:t>
                      </a:r>
                    </a:p>
                  </a:txBody>
                  <a:tcPr/>
                </a:tc>
                <a:tc>
                  <a:txBody>
                    <a:bodyPr/>
                    <a:lstStyle/>
                    <a:p>
                      <a:pPr algn="ctr"/>
                      <a:r>
                        <a:rPr lang="en-GB" sz="3200" dirty="0"/>
                        <a:t>Y</a:t>
                      </a:r>
                    </a:p>
                  </a:txBody>
                  <a:tcPr/>
                </a:tc>
                <a:tc>
                  <a:txBody>
                    <a:bodyPr/>
                    <a:lstStyle/>
                    <a:p>
                      <a:endParaRPr lang="en-GB" sz="3200" dirty="0"/>
                    </a:p>
                  </a:txBody>
                  <a:tcPr/>
                </a:tc>
                <a:extLst>
                  <a:ext uri="{0D108BD9-81ED-4DB2-BD59-A6C34878D82A}">
                    <a16:rowId xmlns:a16="http://schemas.microsoft.com/office/drawing/2014/main" val="3885493841"/>
                  </a:ext>
                </a:extLst>
              </a:tr>
              <a:tr h="370840">
                <a:tc>
                  <a:txBody>
                    <a:bodyPr/>
                    <a:lstStyle/>
                    <a:p>
                      <a:r>
                        <a:rPr lang="en-GB" sz="3200" dirty="0"/>
                        <a:t>age</a:t>
                      </a:r>
                    </a:p>
                  </a:txBody>
                  <a:tcPr/>
                </a:tc>
                <a:tc>
                  <a:txBody>
                    <a:bodyPr/>
                    <a:lstStyle/>
                    <a:p>
                      <a:pPr algn="ctr"/>
                      <a:endParaRPr lang="en-GB" sz="3200" dirty="0"/>
                    </a:p>
                  </a:txBody>
                  <a:tcPr/>
                </a:tc>
                <a:tc>
                  <a:txBody>
                    <a:bodyPr/>
                    <a:lstStyle/>
                    <a:p>
                      <a:r>
                        <a:rPr lang="en-GB" sz="3200" dirty="0"/>
                        <a:t>number</a:t>
                      </a:r>
                    </a:p>
                  </a:txBody>
                  <a:tcPr/>
                </a:tc>
                <a:tc>
                  <a:txBody>
                    <a:bodyPr/>
                    <a:lstStyle/>
                    <a:p>
                      <a:pPr algn="ctr"/>
                      <a:endParaRPr lang="en-GB" sz="3200" dirty="0"/>
                    </a:p>
                  </a:txBody>
                  <a:tcPr/>
                </a:tc>
                <a:tc>
                  <a:txBody>
                    <a:bodyPr/>
                    <a:lstStyle/>
                    <a:p>
                      <a:pPr algn="ctr"/>
                      <a:r>
                        <a:rPr lang="en-GB" sz="3200" dirty="0"/>
                        <a:t>Y</a:t>
                      </a:r>
                    </a:p>
                  </a:txBody>
                  <a:tcPr/>
                </a:tc>
                <a:tc>
                  <a:txBody>
                    <a:bodyPr/>
                    <a:lstStyle/>
                    <a:p>
                      <a:r>
                        <a:rPr lang="en-GB" sz="3200" dirty="0"/>
                        <a:t>Range: &gt;=0</a:t>
                      </a:r>
                    </a:p>
                  </a:txBody>
                  <a:tcPr/>
                </a:tc>
                <a:extLst>
                  <a:ext uri="{0D108BD9-81ED-4DB2-BD59-A6C34878D82A}">
                    <a16:rowId xmlns:a16="http://schemas.microsoft.com/office/drawing/2014/main" val="1487565366"/>
                  </a:ext>
                </a:extLst>
              </a:tr>
            </a:tbl>
          </a:graphicData>
        </a:graphic>
      </p:graphicFrame>
    </p:spTree>
    <p:extLst>
      <p:ext uri="{BB962C8B-B14F-4D97-AF65-F5344CB8AC3E}">
        <p14:creationId xmlns:p14="http://schemas.microsoft.com/office/powerpoint/2010/main" val="246832096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10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Display Data – Everything</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SELECT</a:t>
            </a:r>
            <a:r>
              <a:rPr lang="en-US" altLang="en-US" sz="4400" dirty="0">
                <a:solidFill>
                  <a:srgbClr val="000000"/>
                </a:solidFill>
                <a:latin typeface="Consolas" panose="020B0609020204030204" pitchFamily="49" charset="0"/>
              </a:rPr>
              <a:t> *</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FROM</a:t>
            </a:r>
            <a:r>
              <a:rPr lang="en-US" altLang="en-US" sz="4400" dirty="0">
                <a:solidFill>
                  <a:srgbClr val="000000"/>
                </a:solidFill>
                <a:latin typeface="Consolas" panose="020B0609020204030204" pitchFamily="49" charset="0"/>
              </a:rPr>
              <a:t> Datatypes;</a:t>
            </a:r>
            <a:endParaRPr lang="en-US" altLang="en-US" sz="5400" dirty="0">
              <a:latin typeface="Arial" panose="020B0604020202020204" pitchFamily="34" charset="0"/>
            </a:endParaRPr>
          </a:p>
        </p:txBody>
      </p:sp>
      <p:sp>
        <p:nvSpPr>
          <p:cNvPr id="4" name="Callout: Bent Line with No Border 3">
            <a:extLst>
              <a:ext uri="{FF2B5EF4-FFF2-40B4-BE49-F238E27FC236}">
                <a16:creationId xmlns:a16="http://schemas.microsoft.com/office/drawing/2014/main" id="{77E8332C-AADD-4F2B-B0E2-AC0B43D6AE90}"/>
              </a:ext>
            </a:extLst>
          </p:cNvPr>
          <p:cNvSpPr/>
          <p:nvPr/>
        </p:nvSpPr>
        <p:spPr>
          <a:xfrm>
            <a:off x="6096000" y="1394304"/>
            <a:ext cx="2133600" cy="862642"/>
          </a:xfrm>
          <a:prstGeom prst="callout2">
            <a:avLst>
              <a:gd name="adj1" fmla="val 52750"/>
              <a:gd name="adj2" fmla="val -2245"/>
              <a:gd name="adj3" fmla="val 52979"/>
              <a:gd name="adj4" fmla="val -49644"/>
              <a:gd name="adj5" fmla="val 70194"/>
              <a:gd name="adj6" fmla="val -92398"/>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All fields</a:t>
            </a:r>
          </a:p>
        </p:txBody>
      </p:sp>
      <p:sp>
        <p:nvSpPr>
          <p:cNvPr id="5" name="Callout: Bent Line with No Border 4">
            <a:extLst>
              <a:ext uri="{FF2B5EF4-FFF2-40B4-BE49-F238E27FC236}">
                <a16:creationId xmlns:a16="http://schemas.microsoft.com/office/drawing/2014/main" id="{924404A3-ED4C-4699-9CA9-EFEB23F51AA9}"/>
              </a:ext>
            </a:extLst>
          </p:cNvPr>
          <p:cNvSpPr/>
          <p:nvPr/>
        </p:nvSpPr>
        <p:spPr>
          <a:xfrm>
            <a:off x="7474530" y="3541226"/>
            <a:ext cx="2819396" cy="862642"/>
          </a:xfrm>
          <a:prstGeom prst="callout2">
            <a:avLst>
              <a:gd name="adj1" fmla="val 52750"/>
              <a:gd name="adj2" fmla="val -2245"/>
              <a:gd name="adj3" fmla="val 53715"/>
              <a:gd name="adj4" fmla="val -18685"/>
              <a:gd name="adj5" fmla="val -24094"/>
              <a:gd name="adj6" fmla="val -27559"/>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End of statement</a:t>
            </a:r>
          </a:p>
        </p:txBody>
      </p:sp>
      <p:sp>
        <p:nvSpPr>
          <p:cNvPr id="6" name="Callout: Bent Line with No Border 5">
            <a:extLst>
              <a:ext uri="{FF2B5EF4-FFF2-40B4-BE49-F238E27FC236}">
                <a16:creationId xmlns:a16="http://schemas.microsoft.com/office/drawing/2014/main" id="{58A7E803-997A-41BB-B0A2-D305F06E3754}"/>
              </a:ext>
            </a:extLst>
          </p:cNvPr>
          <p:cNvSpPr/>
          <p:nvPr/>
        </p:nvSpPr>
        <p:spPr>
          <a:xfrm>
            <a:off x="2124365" y="3619965"/>
            <a:ext cx="1886610" cy="862642"/>
          </a:xfrm>
          <a:prstGeom prst="callout2">
            <a:avLst>
              <a:gd name="adj1" fmla="val 48750"/>
              <a:gd name="adj2" fmla="val 104056"/>
              <a:gd name="adj3" fmla="val 49417"/>
              <a:gd name="adj4" fmla="val 134218"/>
              <a:gd name="adj5" fmla="val -40415"/>
              <a:gd name="adj6" fmla="val 148618"/>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Table name</a:t>
            </a:r>
          </a:p>
        </p:txBody>
      </p:sp>
      <p:sp>
        <p:nvSpPr>
          <p:cNvPr id="7" name="TextBox 6">
            <a:extLst>
              <a:ext uri="{FF2B5EF4-FFF2-40B4-BE49-F238E27FC236}">
                <a16:creationId xmlns:a16="http://schemas.microsoft.com/office/drawing/2014/main" id="{5FE7746D-D127-4927-B238-DF71612EDD32}"/>
              </a:ext>
            </a:extLst>
          </p:cNvPr>
          <p:cNvSpPr txBox="1"/>
          <p:nvPr/>
        </p:nvSpPr>
        <p:spPr>
          <a:xfrm>
            <a:off x="2374950" y="5111571"/>
            <a:ext cx="7442101" cy="1200329"/>
          </a:xfrm>
          <a:prstGeom prst="rect">
            <a:avLst/>
          </a:prstGeom>
          <a:noFill/>
        </p:spPr>
        <p:txBody>
          <a:bodyPr wrap="none" rtlCol="0">
            <a:spAutoFit/>
          </a:bodyPr>
          <a:lstStyle/>
          <a:p>
            <a:pPr algn="ctr"/>
            <a:r>
              <a:rPr lang="en-GB" sz="3600" dirty="0"/>
              <a:t>SQL statements can be on a single line:</a:t>
            </a:r>
          </a:p>
          <a:p>
            <a:pPr algn="ctr"/>
            <a:r>
              <a:rPr lang="en-GB" sz="3600" dirty="0">
                <a:solidFill>
                  <a:srgbClr val="7030A0"/>
                </a:solidFill>
                <a:latin typeface="Consolas" panose="020B0609020204030204" pitchFamily="49" charset="0"/>
              </a:rPr>
              <a:t>SELECT * FROM Datatypes;</a:t>
            </a:r>
          </a:p>
        </p:txBody>
      </p:sp>
    </p:spTree>
    <p:extLst>
      <p:ext uri="{BB962C8B-B14F-4D97-AF65-F5344CB8AC3E}">
        <p14:creationId xmlns:p14="http://schemas.microsoft.com/office/powerpoint/2010/main" val="170176129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0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15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4"/>
                                        </p:tgtEl>
                                        <p:attrNameLst>
                                          <p:attrName>style.visibility</p:attrName>
                                        </p:attrNameLst>
                                      </p:cBhvr>
                                      <p:to>
                                        <p:strVal val="visible"/>
                                      </p:to>
                                    </p:set>
                                    <p:animEffect transition="in" filter="fade">
                                      <p:cBhvr>
                                        <p:cTn id="17" dur="1000"/>
                                        <p:tgtEl>
                                          <p:spTgt spid="4"/>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6"/>
                                        </p:tgtEl>
                                        <p:attrNameLst>
                                          <p:attrName>style.visibility</p:attrName>
                                        </p:attrNameLst>
                                      </p:cBhvr>
                                      <p:to>
                                        <p:strVal val="visible"/>
                                      </p:to>
                                    </p:set>
                                    <p:animEffect transition="in" filter="fade">
                                      <p:cBhvr>
                                        <p:cTn id="22" dur="1000"/>
                                        <p:tgtEl>
                                          <p:spTgt spid="6"/>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5"/>
                                        </p:tgtEl>
                                        <p:attrNameLst>
                                          <p:attrName>style.visibility</p:attrName>
                                        </p:attrNameLst>
                                      </p:cBhvr>
                                      <p:to>
                                        <p:strVal val="visible"/>
                                      </p:to>
                                    </p:set>
                                    <p:animEffect transition="in" filter="fade">
                                      <p:cBhvr>
                                        <p:cTn id="27" dur="1000"/>
                                        <p:tgtEl>
                                          <p:spTgt spid="5"/>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7">
                                            <p:txEl>
                                              <p:pRg st="0" end="0"/>
                                            </p:txEl>
                                          </p:spTgt>
                                        </p:tgtEl>
                                        <p:attrNameLst>
                                          <p:attrName>style.visibility</p:attrName>
                                        </p:attrNameLst>
                                      </p:cBhvr>
                                      <p:to>
                                        <p:strVal val="visible"/>
                                      </p:to>
                                    </p:set>
                                    <p:animEffect transition="in" filter="wipe(left)">
                                      <p:cBhvr>
                                        <p:cTn id="32" dur="2000"/>
                                        <p:tgtEl>
                                          <p:spTgt spid="7">
                                            <p:txEl>
                                              <p:pRg st="0" end="0"/>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7">
                                            <p:txEl>
                                              <p:pRg st="1" end="1"/>
                                            </p:txEl>
                                          </p:spTgt>
                                        </p:tgtEl>
                                        <p:attrNameLst>
                                          <p:attrName>style.visibility</p:attrName>
                                        </p:attrNameLst>
                                      </p:cBhvr>
                                      <p:to>
                                        <p:strVal val="visible"/>
                                      </p:to>
                                    </p:set>
                                    <p:animEffect transition="in" filter="wipe(left)">
                                      <p:cBhvr>
                                        <p:cTn id="37" dur="2000"/>
                                        <p:tgtEl>
                                          <p:spTgt spid="7">
                                            <p:txEl>
                                              <p:pRg st="1" end="1"/>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4" grpId="0" animBg="1"/>
      <p:bldP spid="5" grpId="0" animBg="1"/>
      <p:bldP spid="6" grpId="0" animBg="1"/>
      <p:bldP spid="7" grpId="0" build="p"/>
    </p:bldLst>
  </p:timing>
</p:sld>
</file>

<file path=ppt/slides/slide27.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Display Data – Everything</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SELECT</a:t>
            </a:r>
            <a:r>
              <a:rPr lang="en-US" altLang="en-US" sz="4400" dirty="0">
                <a:solidFill>
                  <a:srgbClr val="000000"/>
                </a:solidFill>
                <a:latin typeface="Consolas" panose="020B0609020204030204" pitchFamily="49" charset="0"/>
              </a:rPr>
              <a:t> *</a:t>
            </a:r>
            <a:br>
              <a:rPr lang="en-US" altLang="en-US" sz="4400" dirty="0">
                <a:solidFill>
                  <a:srgbClr val="000000"/>
                </a:solidFill>
                <a:latin typeface="Consolas" panose="020B0609020204030204" pitchFamily="49" charset="0"/>
              </a:rPr>
            </a:b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FROM</a:t>
            </a:r>
            <a:r>
              <a:rPr lang="en-US" altLang="en-US" sz="4400" dirty="0">
                <a:solidFill>
                  <a:srgbClr val="000000"/>
                </a:solidFill>
                <a:latin typeface="Consolas" panose="020B0609020204030204" pitchFamily="49" charset="0"/>
              </a:rPr>
              <a:t> Datatypes;</a:t>
            </a:r>
            <a:br>
              <a:rPr lang="en-US" altLang="en-US" sz="4400" dirty="0">
                <a:solidFill>
                  <a:srgbClr val="000000"/>
                </a:solidFill>
                <a:latin typeface="Consolas" panose="020B0609020204030204" pitchFamily="49" charset="0"/>
              </a:rPr>
            </a:br>
            <a:endParaRPr lang="en-US" altLang="en-US" sz="5400" dirty="0">
              <a:latin typeface="Arial" panose="020B0604020202020204" pitchFamily="34" charset="0"/>
            </a:endParaRPr>
          </a:p>
        </p:txBody>
      </p:sp>
      <p:sp>
        <p:nvSpPr>
          <p:cNvPr id="7" name="TextBox 6">
            <a:extLst>
              <a:ext uri="{FF2B5EF4-FFF2-40B4-BE49-F238E27FC236}">
                <a16:creationId xmlns:a16="http://schemas.microsoft.com/office/drawing/2014/main" id="{5FE7746D-D127-4927-B238-DF71612EDD32}"/>
              </a:ext>
            </a:extLst>
          </p:cNvPr>
          <p:cNvSpPr txBox="1"/>
          <p:nvPr/>
        </p:nvSpPr>
        <p:spPr>
          <a:xfrm>
            <a:off x="2374950" y="5111571"/>
            <a:ext cx="7442101" cy="646331"/>
          </a:xfrm>
          <a:prstGeom prst="rect">
            <a:avLst/>
          </a:prstGeom>
          <a:noFill/>
        </p:spPr>
        <p:txBody>
          <a:bodyPr wrap="none" rtlCol="0">
            <a:spAutoFit/>
          </a:bodyPr>
          <a:lstStyle/>
          <a:p>
            <a:pPr algn="ctr"/>
            <a:r>
              <a:rPr lang="en-GB" sz="3600" dirty="0"/>
              <a:t>SQL statements can be on a single line:</a:t>
            </a:r>
          </a:p>
        </p:txBody>
      </p:sp>
    </p:spTree>
    <p:extLst>
      <p:ext uri="{BB962C8B-B14F-4D97-AF65-F5344CB8AC3E}">
        <p14:creationId xmlns:p14="http://schemas.microsoft.com/office/powerpoint/2010/main" val="1739365771"/>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Display Data – Something</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SELECT</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colour</a:t>
            </a:r>
            <a:r>
              <a:rPr lang="en-US" altLang="en-US" sz="4000" dirty="0">
                <a:solidFill>
                  <a:srgbClr val="000000"/>
                </a:solidFill>
                <a:latin typeface="Consolas" panose="020B0609020204030204" pitchFamily="49" charset="0"/>
              </a:rPr>
              <a:t>, score, height</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FROM</a:t>
            </a:r>
            <a:r>
              <a:rPr lang="en-US" altLang="en-US" sz="4000" dirty="0">
                <a:solidFill>
                  <a:srgbClr val="000000"/>
                </a:solidFill>
                <a:latin typeface="Consolas" panose="020B0609020204030204" pitchFamily="49" charset="0"/>
              </a:rPr>
              <a:t> Datatypes;</a:t>
            </a:r>
            <a:br>
              <a:rPr lang="en-US" altLang="en-US" sz="4000" dirty="0">
                <a:solidFill>
                  <a:srgbClr val="000000"/>
                </a:solidFill>
                <a:latin typeface="Consolas" panose="020B0609020204030204" pitchFamily="49" charset="0"/>
              </a:rPr>
            </a:br>
            <a:endParaRPr lang="en-US" altLang="en-US" sz="4800" dirty="0">
              <a:latin typeface="Arial" panose="020B0604020202020204" pitchFamily="34" charset="0"/>
            </a:endParaRPr>
          </a:p>
        </p:txBody>
      </p:sp>
      <p:sp>
        <p:nvSpPr>
          <p:cNvPr id="4" name="Callout: Bent Line with No Border 3">
            <a:extLst>
              <a:ext uri="{FF2B5EF4-FFF2-40B4-BE49-F238E27FC236}">
                <a16:creationId xmlns:a16="http://schemas.microsoft.com/office/drawing/2014/main" id="{77E8332C-AADD-4F2B-B0E2-AC0B43D6AE90}"/>
              </a:ext>
            </a:extLst>
          </p:cNvPr>
          <p:cNvSpPr/>
          <p:nvPr/>
        </p:nvSpPr>
        <p:spPr>
          <a:xfrm>
            <a:off x="9267227" y="3036455"/>
            <a:ext cx="2086573" cy="862642"/>
          </a:xfrm>
          <a:prstGeom prst="callout2">
            <a:avLst>
              <a:gd name="adj1" fmla="val 52750"/>
              <a:gd name="adj2" fmla="val -2245"/>
              <a:gd name="adj3" fmla="val 51507"/>
              <a:gd name="adj4" fmla="val -19968"/>
              <a:gd name="adj5" fmla="val -59371"/>
              <a:gd name="adj6" fmla="val -38679"/>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Field names</a:t>
            </a:r>
          </a:p>
        </p:txBody>
      </p:sp>
      <p:sp>
        <p:nvSpPr>
          <p:cNvPr id="9" name="Callout: Bent Line with No Border 8">
            <a:extLst>
              <a:ext uri="{FF2B5EF4-FFF2-40B4-BE49-F238E27FC236}">
                <a16:creationId xmlns:a16="http://schemas.microsoft.com/office/drawing/2014/main" id="{1FE0942E-FE36-4F80-B6D4-F49FC0EB3848}"/>
              </a:ext>
            </a:extLst>
          </p:cNvPr>
          <p:cNvSpPr/>
          <p:nvPr/>
        </p:nvSpPr>
        <p:spPr>
          <a:xfrm>
            <a:off x="1988127" y="3899097"/>
            <a:ext cx="3448796" cy="862642"/>
          </a:xfrm>
          <a:prstGeom prst="callout2">
            <a:avLst>
              <a:gd name="adj1" fmla="val 48750"/>
              <a:gd name="adj2" fmla="val 104056"/>
              <a:gd name="adj3" fmla="val 49417"/>
              <a:gd name="adj4" fmla="val 119555"/>
              <a:gd name="adj5" fmla="val -161775"/>
              <a:gd name="adj6" fmla="val 147657"/>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Separated by commas</a:t>
            </a:r>
          </a:p>
        </p:txBody>
      </p:sp>
    </p:spTree>
    <p:extLst>
      <p:ext uri="{BB962C8B-B14F-4D97-AF65-F5344CB8AC3E}">
        <p14:creationId xmlns:p14="http://schemas.microsoft.com/office/powerpoint/2010/main" val="277415921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0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10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4"/>
                                        </p:tgtEl>
                                        <p:attrNameLst>
                                          <p:attrName>style.visibility</p:attrName>
                                        </p:attrNameLst>
                                      </p:cBhvr>
                                      <p:to>
                                        <p:strVal val="visible"/>
                                      </p:to>
                                    </p:set>
                                    <p:animEffect transition="in" filter="fade">
                                      <p:cBhvr>
                                        <p:cTn id="17" dur="1000"/>
                                        <p:tgtEl>
                                          <p:spTgt spid="4"/>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9"/>
                                        </p:tgtEl>
                                        <p:attrNameLst>
                                          <p:attrName>style.visibility</p:attrName>
                                        </p:attrNameLst>
                                      </p:cBhvr>
                                      <p:to>
                                        <p:strVal val="visible"/>
                                      </p:to>
                                    </p:set>
                                    <p:animEffect transition="in" filter="fade">
                                      <p:cBhvr>
                                        <p:cTn id="22" dur="1000"/>
                                        <p:tgtEl>
                                          <p:spTgt spid="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4" grpId="0" animBg="1"/>
      <p:bldP spid="9" grpId="0" animBg="1"/>
    </p:bldLst>
  </p:timing>
</p:sld>
</file>

<file path=ppt/slides/slide29.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Display Data – Something</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SELECT</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colour</a:t>
            </a:r>
            <a:r>
              <a:rPr lang="en-US" altLang="en-US" sz="4000" dirty="0">
                <a:solidFill>
                  <a:srgbClr val="000000"/>
                </a:solidFill>
                <a:latin typeface="Consolas" panose="020B0609020204030204" pitchFamily="49" charset="0"/>
              </a:rPr>
              <a:t>, score, height</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FROM</a:t>
            </a:r>
            <a:r>
              <a:rPr lang="en-US" altLang="en-US" sz="4000" dirty="0">
                <a:solidFill>
                  <a:srgbClr val="000000"/>
                </a:solidFill>
                <a:latin typeface="Consolas" panose="020B0609020204030204" pitchFamily="49" charset="0"/>
              </a:rPr>
              <a:t> Datatypes;</a:t>
            </a:r>
            <a:br>
              <a:rPr lang="en-US" altLang="en-US" sz="4000" dirty="0">
                <a:solidFill>
                  <a:srgbClr val="000000"/>
                </a:solidFill>
                <a:latin typeface="Consolas" panose="020B0609020204030204" pitchFamily="49" charset="0"/>
              </a:rPr>
            </a:br>
            <a:endParaRPr lang="en-US" altLang="en-US" sz="4800" dirty="0">
              <a:latin typeface="Arial" panose="020B0604020202020204" pitchFamily="34" charset="0"/>
            </a:endParaRPr>
          </a:p>
        </p:txBody>
      </p:sp>
    </p:spTree>
    <p:extLst>
      <p:ext uri="{BB962C8B-B14F-4D97-AF65-F5344CB8AC3E}">
        <p14:creationId xmlns:p14="http://schemas.microsoft.com/office/powerpoint/2010/main" val="1599820182"/>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08C76DEA-F650-51AB-7EE7-9B3064808EC0}"/>
              </a:ext>
            </a:extLst>
          </p:cNvPr>
          <p:cNvSpPr>
            <a:spLocks noGrp="1"/>
          </p:cNvSpPr>
          <p:nvPr>
            <p:ph type="title"/>
          </p:nvPr>
        </p:nvSpPr>
        <p:spPr/>
        <p:txBody>
          <a:bodyPr/>
          <a:lstStyle/>
          <a:p>
            <a:r>
              <a:rPr lang="en-GB" dirty="0"/>
              <a:t>Order of Operations (1)</a:t>
            </a:r>
          </a:p>
        </p:txBody>
      </p:sp>
      <p:sp>
        <p:nvSpPr>
          <p:cNvPr id="6" name="SQL">
            <a:extLst>
              <a:ext uri="{FF2B5EF4-FFF2-40B4-BE49-F238E27FC236}">
                <a16:creationId xmlns:a16="http://schemas.microsoft.com/office/drawing/2014/main" id="{C460184D-D803-F499-E82E-972FB39F9288}"/>
              </a:ext>
            </a:extLst>
          </p:cNvPr>
          <p:cNvSpPr>
            <a:spLocks noChangeArrowheads="1"/>
          </p:cNvSpPr>
          <p:nvPr/>
        </p:nvSpPr>
        <p:spPr bwMode="auto">
          <a:xfrm>
            <a:off x="619125" y="1678614"/>
            <a:ext cx="2864887" cy="70788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name, type</a:t>
            </a:r>
          </a:p>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2 </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kumimoji="0" lang="en-US" altLang="en-US" sz="2000" b="0" i="0" u="none" strike="noStrike" cap="none" normalizeH="0" baseline="0" dirty="0">
                <a:ln>
                  <a:noFill/>
                </a:ln>
                <a:solidFill>
                  <a:srgbClr val="A71D5D"/>
                </a:solidFill>
                <a:effectLst/>
                <a:latin typeface="Consolas" panose="020B0609020204030204" pitchFamily="49" charset="0"/>
              </a:rPr>
              <a:t>FROM</a:t>
            </a:r>
            <a:r>
              <a:rPr kumimoji="0" lang="en-US" altLang="en-US" sz="2000" b="0" i="0" u="none" strike="noStrike" cap="none" normalizeH="0" baseline="0" dirty="0">
                <a:ln>
                  <a:noFill/>
                </a:ln>
                <a:solidFill>
                  <a:srgbClr val="000000"/>
                </a:solidFill>
                <a:effectLst/>
                <a:latin typeface="Consolas" panose="020B0609020204030204" pitchFamily="49" charset="0"/>
              </a:rPr>
              <a:t> Pet;</a:t>
            </a:r>
            <a:endParaRPr kumimoji="0" lang="en-US" altLang="en-US" sz="3200" b="0" i="0" u="none" strike="noStrike" cap="none" normalizeH="0" baseline="0" dirty="0">
              <a:ln>
                <a:noFill/>
              </a:ln>
              <a:solidFill>
                <a:schemeClr val="tx1"/>
              </a:solidFill>
              <a:effectLst/>
              <a:latin typeface="Arial" panose="020B0604020202020204" pitchFamily="34" charset="0"/>
            </a:endParaRPr>
          </a:p>
        </p:txBody>
      </p:sp>
      <p:sp>
        <p:nvSpPr>
          <p:cNvPr id="17" name="Pet">
            <a:extLst>
              <a:ext uri="{FF2B5EF4-FFF2-40B4-BE49-F238E27FC236}">
                <a16:creationId xmlns:a16="http://schemas.microsoft.com/office/drawing/2014/main" id="{37697A85-FE4A-5F49-87D3-DF60452AD532}"/>
              </a:ext>
            </a:extLst>
          </p:cNvPr>
          <p:cNvSpPr txBox="1"/>
          <p:nvPr/>
        </p:nvSpPr>
        <p:spPr>
          <a:xfrm>
            <a:off x="2663489" y="3091527"/>
            <a:ext cx="1771650" cy="369332"/>
          </a:xfrm>
          <a:prstGeom prst="rect">
            <a:avLst/>
          </a:prstGeom>
          <a:noFill/>
        </p:spPr>
        <p:txBody>
          <a:bodyPr wrap="square" rtlCol="0">
            <a:spAutoFit/>
          </a:bodyPr>
          <a:lstStyle/>
          <a:p>
            <a:r>
              <a:rPr lang="en-GB" b="1" dirty="0"/>
              <a:t>Table: Pet</a:t>
            </a:r>
          </a:p>
        </p:txBody>
      </p:sp>
      <p:sp>
        <p:nvSpPr>
          <p:cNvPr id="19" name="Order">
            <a:extLst>
              <a:ext uri="{FF2B5EF4-FFF2-40B4-BE49-F238E27FC236}">
                <a16:creationId xmlns:a16="http://schemas.microsoft.com/office/drawing/2014/main" id="{39027E70-266E-C921-B96A-180149336170}"/>
              </a:ext>
            </a:extLst>
          </p:cNvPr>
          <p:cNvSpPr txBox="1"/>
          <p:nvPr/>
        </p:nvSpPr>
        <p:spPr>
          <a:xfrm>
            <a:off x="7417818" y="1001505"/>
            <a:ext cx="2590417" cy="1384995"/>
          </a:xfrm>
          <a:prstGeom prst="rect">
            <a:avLst/>
          </a:prstGeom>
          <a:noFill/>
        </p:spPr>
        <p:txBody>
          <a:bodyPr wrap="square" rtlCol="0">
            <a:spAutoFit/>
          </a:bodyPr>
          <a:lstStyle/>
          <a:p>
            <a:r>
              <a:rPr lang="en-GB" sz="2800" b="1" dirty="0">
                <a:solidFill>
                  <a:srgbClr val="7030A0"/>
                </a:solidFill>
              </a:rPr>
              <a:t>Order</a:t>
            </a:r>
            <a:r>
              <a:rPr lang="en-GB" sz="2800" dirty="0">
                <a:solidFill>
                  <a:srgbClr val="7030A0"/>
                </a:solidFill>
              </a:rPr>
              <a:t>:</a:t>
            </a:r>
          </a:p>
          <a:p>
            <a:pPr lvl="1"/>
            <a:r>
              <a:rPr lang="en-GB" sz="2800" dirty="0">
                <a:solidFill>
                  <a:srgbClr val="7030A0"/>
                </a:solidFill>
              </a:rPr>
              <a:t>1.  FROM</a:t>
            </a:r>
          </a:p>
          <a:p>
            <a:pPr lvl="1"/>
            <a:r>
              <a:rPr lang="en-GB" sz="2800" dirty="0">
                <a:solidFill>
                  <a:srgbClr val="7030A0"/>
                </a:solidFill>
              </a:rPr>
              <a:t>2.  SELECT</a:t>
            </a:r>
          </a:p>
        </p:txBody>
      </p:sp>
      <p:sp>
        <p:nvSpPr>
          <p:cNvPr id="27" name="From - Arrow">
            <a:extLst>
              <a:ext uri="{FF2B5EF4-FFF2-40B4-BE49-F238E27FC236}">
                <a16:creationId xmlns:a16="http://schemas.microsoft.com/office/drawing/2014/main" id="{269837FC-7069-F1D9-E16A-87AF1D4A80CD}"/>
              </a:ext>
            </a:extLst>
          </p:cNvPr>
          <p:cNvSpPr/>
          <p:nvPr/>
        </p:nvSpPr>
        <p:spPr>
          <a:xfrm>
            <a:off x="154550" y="2054516"/>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0" name="From">
            <a:extLst>
              <a:ext uri="{FF2B5EF4-FFF2-40B4-BE49-F238E27FC236}">
                <a16:creationId xmlns:a16="http://schemas.microsoft.com/office/drawing/2014/main" id="{BC0A24A5-7704-6A36-CD80-4ED2C2F64BD2}"/>
              </a:ext>
            </a:extLst>
          </p:cNvPr>
          <p:cNvSpPr txBox="1"/>
          <p:nvPr/>
        </p:nvSpPr>
        <p:spPr>
          <a:xfrm>
            <a:off x="4667406" y="2911786"/>
            <a:ext cx="850960" cy="369332"/>
          </a:xfrm>
          <a:prstGeom prst="rect">
            <a:avLst/>
          </a:prstGeom>
          <a:noFill/>
        </p:spPr>
        <p:txBody>
          <a:bodyPr wrap="square" rtlCol="0">
            <a:spAutoFit/>
          </a:bodyPr>
          <a:lstStyle/>
          <a:p>
            <a:r>
              <a:rPr lang="en-GB" b="1" dirty="0"/>
              <a:t>FROM</a:t>
            </a:r>
          </a:p>
        </p:txBody>
      </p:sp>
      <p:graphicFrame>
        <p:nvGraphicFramePr>
          <p:cNvPr id="22" name="Pet - Table">
            <a:extLst>
              <a:ext uri="{FF2B5EF4-FFF2-40B4-BE49-F238E27FC236}">
                <a16:creationId xmlns:a16="http://schemas.microsoft.com/office/drawing/2014/main" id="{E1C47C29-B1FD-7991-E626-2F12DC1AFFDE}"/>
              </a:ext>
            </a:extLst>
          </p:cNvPr>
          <p:cNvGraphicFramePr>
            <a:graphicFrameLocks noGrp="1"/>
          </p:cNvGraphicFramePr>
          <p:nvPr>
            <p:extLst>
              <p:ext uri="{D42A27DB-BD31-4B8C-83A1-F6EECF244321}">
                <p14:modId xmlns:p14="http://schemas.microsoft.com/office/powerpoint/2010/main" val="202819405"/>
              </p:ext>
            </p:extLst>
          </p:nvPr>
        </p:nvGraphicFramePr>
        <p:xfrm>
          <a:off x="2749212" y="3412595"/>
          <a:ext cx="2042287"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a:solidFill>
                            <a:schemeClr val="tx1"/>
                          </a:solidFill>
                          <a:effectLst/>
                        </a:rPr>
                        <a:t>Pepper</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16</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7</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a:solidFill>
                            <a:schemeClr val="tx1"/>
                          </a:solidFill>
                          <a:effectLst/>
                        </a:rPr>
                        <a:t>Micky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a:solidFill>
                            <a:schemeClr val="tx1"/>
                          </a:solidFill>
                          <a:effectLst/>
                        </a:rPr>
                        <a:t>Minnie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Cat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9</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a:solidFill>
                            <a:schemeClr val="tx1"/>
                          </a:solidFill>
                          <a:effectLst/>
                        </a:rPr>
                        <a:t>Bonzo</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Dog</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6</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Rabbit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3</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graphicFrame>
        <p:nvGraphicFramePr>
          <p:cNvPr id="23" name="Temp - Table">
            <a:extLst>
              <a:ext uri="{FF2B5EF4-FFF2-40B4-BE49-F238E27FC236}">
                <a16:creationId xmlns:a16="http://schemas.microsoft.com/office/drawing/2014/main" id="{57FE39BF-DC05-E516-87E6-26364C7BBE24}"/>
              </a:ext>
            </a:extLst>
          </p:cNvPr>
          <p:cNvGraphicFramePr>
            <a:graphicFrameLocks noGrp="1"/>
          </p:cNvGraphicFramePr>
          <p:nvPr>
            <p:extLst>
              <p:ext uri="{D42A27DB-BD31-4B8C-83A1-F6EECF244321}">
                <p14:modId xmlns:p14="http://schemas.microsoft.com/office/powerpoint/2010/main" val="1980545247"/>
              </p:ext>
            </p:extLst>
          </p:nvPr>
        </p:nvGraphicFramePr>
        <p:xfrm>
          <a:off x="5340290" y="3412595"/>
          <a:ext cx="2042287"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a:solidFill>
                            <a:schemeClr val="tx1"/>
                          </a:solidFill>
                          <a:effectLst/>
                        </a:rPr>
                        <a:t>Pepper</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16</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7</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a:solidFill>
                            <a:schemeClr val="tx1"/>
                          </a:solidFill>
                          <a:effectLst/>
                        </a:rPr>
                        <a:t>Micky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a:solidFill>
                            <a:schemeClr val="tx1"/>
                          </a:solidFill>
                          <a:effectLst/>
                        </a:rPr>
                        <a:t>Minnie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Cat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9</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a:solidFill>
                            <a:schemeClr val="tx1"/>
                          </a:solidFill>
                          <a:effectLst/>
                        </a:rPr>
                        <a:t>Bonzo</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Dog</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6</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Rabbit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3</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sp>
        <p:nvSpPr>
          <p:cNvPr id="25" name="Select">
            <a:extLst>
              <a:ext uri="{FF2B5EF4-FFF2-40B4-BE49-F238E27FC236}">
                <a16:creationId xmlns:a16="http://schemas.microsoft.com/office/drawing/2014/main" id="{35683CAD-1E2A-EA31-E6BB-C707B14B8F0A}"/>
              </a:ext>
            </a:extLst>
          </p:cNvPr>
          <p:cNvSpPr txBox="1"/>
          <p:nvPr/>
        </p:nvSpPr>
        <p:spPr>
          <a:xfrm>
            <a:off x="5700866" y="2386500"/>
            <a:ext cx="850960" cy="369332"/>
          </a:xfrm>
          <a:prstGeom prst="rect">
            <a:avLst/>
          </a:prstGeom>
          <a:noFill/>
        </p:spPr>
        <p:txBody>
          <a:bodyPr wrap="square" rtlCol="0">
            <a:spAutoFit/>
          </a:bodyPr>
          <a:lstStyle/>
          <a:p>
            <a:pPr algn="ctr"/>
            <a:r>
              <a:rPr lang="en-GB" b="1" dirty="0"/>
              <a:t>SELECT</a:t>
            </a:r>
          </a:p>
        </p:txBody>
      </p:sp>
      <p:sp>
        <p:nvSpPr>
          <p:cNvPr id="26" name="Temp - Arrow">
            <a:extLst>
              <a:ext uri="{FF2B5EF4-FFF2-40B4-BE49-F238E27FC236}">
                <a16:creationId xmlns:a16="http://schemas.microsoft.com/office/drawing/2014/main" id="{0812AA0D-71D1-9B9D-4AED-E09E855A4185}"/>
              </a:ext>
            </a:extLst>
          </p:cNvPr>
          <p:cNvSpPr/>
          <p:nvPr/>
        </p:nvSpPr>
        <p:spPr>
          <a:xfrm>
            <a:off x="4827403" y="4748123"/>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8" name="Output - Arrow">
            <a:extLst>
              <a:ext uri="{FF2B5EF4-FFF2-40B4-BE49-F238E27FC236}">
                <a16:creationId xmlns:a16="http://schemas.microsoft.com/office/drawing/2014/main" id="{27833E17-04CE-E6AD-804B-EB51B8F41239}"/>
              </a:ext>
            </a:extLst>
          </p:cNvPr>
          <p:cNvSpPr/>
          <p:nvPr/>
        </p:nvSpPr>
        <p:spPr>
          <a:xfrm>
            <a:off x="7417818" y="4748123"/>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9" name="Name - Column">
            <a:extLst>
              <a:ext uri="{FF2B5EF4-FFF2-40B4-BE49-F238E27FC236}">
                <a16:creationId xmlns:a16="http://schemas.microsoft.com/office/drawing/2014/main" id="{9CFD6623-90F9-8CA0-585A-959ADF79ADE1}"/>
              </a:ext>
            </a:extLst>
          </p:cNvPr>
          <p:cNvSpPr/>
          <p:nvPr/>
        </p:nvSpPr>
        <p:spPr>
          <a:xfrm>
            <a:off x="5333994" y="3349977"/>
            <a:ext cx="792000" cy="3060332"/>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0" name="Age - Column">
            <a:extLst>
              <a:ext uri="{FF2B5EF4-FFF2-40B4-BE49-F238E27FC236}">
                <a16:creationId xmlns:a16="http://schemas.microsoft.com/office/drawing/2014/main" id="{F8908677-B9D0-5945-93E8-1112E85882A9}"/>
              </a:ext>
            </a:extLst>
          </p:cNvPr>
          <p:cNvSpPr/>
          <p:nvPr/>
        </p:nvSpPr>
        <p:spPr>
          <a:xfrm>
            <a:off x="6124330" y="3349977"/>
            <a:ext cx="792000" cy="3060332"/>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1" name="Select - Arrow">
            <a:extLst>
              <a:ext uri="{FF2B5EF4-FFF2-40B4-BE49-F238E27FC236}">
                <a16:creationId xmlns:a16="http://schemas.microsoft.com/office/drawing/2014/main" id="{44EEC309-5164-E750-8A98-948F7250CF9F}"/>
              </a:ext>
            </a:extLst>
          </p:cNvPr>
          <p:cNvSpPr/>
          <p:nvPr/>
        </p:nvSpPr>
        <p:spPr>
          <a:xfrm>
            <a:off x="154550" y="1734546"/>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2" name="Output">
            <a:extLst>
              <a:ext uri="{FF2B5EF4-FFF2-40B4-BE49-F238E27FC236}">
                <a16:creationId xmlns:a16="http://schemas.microsoft.com/office/drawing/2014/main" id="{56038AF1-3FFC-CE48-15B4-04B9F7CE57D9}"/>
              </a:ext>
            </a:extLst>
          </p:cNvPr>
          <p:cNvSpPr txBox="1"/>
          <p:nvPr/>
        </p:nvSpPr>
        <p:spPr>
          <a:xfrm>
            <a:off x="7216257" y="2911786"/>
            <a:ext cx="960176" cy="369332"/>
          </a:xfrm>
          <a:prstGeom prst="rect">
            <a:avLst/>
          </a:prstGeom>
          <a:noFill/>
        </p:spPr>
        <p:txBody>
          <a:bodyPr wrap="square" rtlCol="0">
            <a:spAutoFit/>
          </a:bodyPr>
          <a:lstStyle/>
          <a:p>
            <a:pPr algn="ctr"/>
            <a:r>
              <a:rPr lang="en-GB" b="1" dirty="0"/>
              <a:t>Output</a:t>
            </a:r>
          </a:p>
        </p:txBody>
      </p:sp>
      <p:cxnSp>
        <p:nvCxnSpPr>
          <p:cNvPr id="5" name="Name - Arrow">
            <a:extLst>
              <a:ext uri="{FF2B5EF4-FFF2-40B4-BE49-F238E27FC236}">
                <a16:creationId xmlns:a16="http://schemas.microsoft.com/office/drawing/2014/main" id="{74743580-1BBD-44D1-9B4B-3FCD69A573CA}"/>
              </a:ext>
            </a:extLst>
          </p:cNvPr>
          <p:cNvCxnSpPr>
            <a:cxnSpLocks/>
            <a:stCxn id="25" idx="2"/>
            <a:endCxn id="29" idx="0"/>
          </p:cNvCxnSpPr>
          <p:nvPr/>
        </p:nvCxnSpPr>
        <p:spPr>
          <a:xfrm flipH="1">
            <a:off x="5729994" y="2755832"/>
            <a:ext cx="396352" cy="594145"/>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9" name="Age - Arrow">
            <a:extLst>
              <a:ext uri="{FF2B5EF4-FFF2-40B4-BE49-F238E27FC236}">
                <a16:creationId xmlns:a16="http://schemas.microsoft.com/office/drawing/2014/main" id="{4A59694F-BFA9-47E0-AA51-53E4E5936D1D}"/>
              </a:ext>
            </a:extLst>
          </p:cNvPr>
          <p:cNvCxnSpPr>
            <a:cxnSpLocks/>
            <a:stCxn id="25" idx="2"/>
            <a:endCxn id="30" idx="0"/>
          </p:cNvCxnSpPr>
          <p:nvPr/>
        </p:nvCxnSpPr>
        <p:spPr>
          <a:xfrm>
            <a:off x="6126346" y="2755832"/>
            <a:ext cx="393984" cy="594145"/>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graphicFrame>
        <p:nvGraphicFramePr>
          <p:cNvPr id="39" name="Output - Table">
            <a:extLst>
              <a:ext uri="{FF2B5EF4-FFF2-40B4-BE49-F238E27FC236}">
                <a16:creationId xmlns:a16="http://schemas.microsoft.com/office/drawing/2014/main" id="{FE9A9C9B-4CA8-4DC8-AA69-A07BDFBF0F34}"/>
              </a:ext>
            </a:extLst>
          </p:cNvPr>
          <p:cNvGraphicFramePr>
            <a:graphicFrameLocks noGrp="1"/>
          </p:cNvGraphicFramePr>
          <p:nvPr>
            <p:extLst>
              <p:ext uri="{D42A27DB-BD31-4B8C-83A1-F6EECF244321}">
                <p14:modId xmlns:p14="http://schemas.microsoft.com/office/powerpoint/2010/main" val="2316997827"/>
              </p:ext>
            </p:extLst>
          </p:nvPr>
        </p:nvGraphicFramePr>
        <p:xfrm>
          <a:off x="7928628" y="3412808"/>
          <a:ext cx="1599883"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dirty="0">
                          <a:solidFill>
                            <a:schemeClr val="tx1"/>
                          </a:solidFill>
                          <a:effectLst/>
                        </a:rPr>
                        <a:t>Pepper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a:solidFill>
                            <a:schemeClr val="tx1"/>
                          </a:solidFill>
                          <a:effectLst/>
                        </a:rPr>
                        <a:t>Micky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a:solidFill>
                            <a:schemeClr val="tx1"/>
                          </a:solidFill>
                          <a:effectLst/>
                        </a:rPr>
                        <a:t>Minnie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Cat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a:solidFill>
                            <a:schemeClr val="tx1"/>
                          </a:solidFill>
                          <a:effectLst/>
                        </a:rPr>
                        <a:t>Bonzo</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Dog</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Rabbit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spTree>
    <p:extLst>
      <p:ext uri="{BB962C8B-B14F-4D97-AF65-F5344CB8AC3E}">
        <p14:creationId xmlns:p14="http://schemas.microsoft.com/office/powerpoint/2010/main" val="148167881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17"/>
                                        </p:tgtEl>
                                        <p:attrNameLst>
                                          <p:attrName>style.visibility</p:attrName>
                                        </p:attrNameLst>
                                      </p:cBhvr>
                                      <p:to>
                                        <p:strVal val="visible"/>
                                      </p:to>
                                    </p:set>
                                    <p:animEffect transition="in" filter="wipe(left)">
                                      <p:cBhvr>
                                        <p:cTn id="7" dur="1000"/>
                                        <p:tgtEl>
                                          <p:spTgt spid="17"/>
                                        </p:tgtEl>
                                      </p:cBhvr>
                                    </p:animEffect>
                                  </p:childTnLst>
                                </p:cTn>
                              </p:par>
                            </p:childTnLst>
                          </p:cTn>
                        </p:par>
                        <p:par>
                          <p:cTn id="8" fill="hold">
                            <p:stCondLst>
                              <p:cond delay="1000"/>
                            </p:stCondLst>
                            <p:childTnLst>
                              <p:par>
                                <p:cTn id="9" presetID="22" presetClass="entr" presetSubtype="1" fill="hold" nodeType="afterEffect">
                                  <p:stCondLst>
                                    <p:cond delay="0"/>
                                  </p:stCondLst>
                                  <p:childTnLst>
                                    <p:set>
                                      <p:cBhvr>
                                        <p:cTn id="10" dur="1" fill="hold">
                                          <p:stCondLst>
                                            <p:cond delay="0"/>
                                          </p:stCondLst>
                                        </p:cTn>
                                        <p:tgtEl>
                                          <p:spTgt spid="22"/>
                                        </p:tgtEl>
                                        <p:attrNameLst>
                                          <p:attrName>style.visibility</p:attrName>
                                        </p:attrNameLst>
                                      </p:cBhvr>
                                      <p:to>
                                        <p:strVal val="visible"/>
                                      </p:to>
                                    </p:set>
                                    <p:animEffect transition="in" filter="wipe(up)">
                                      <p:cBhvr>
                                        <p:cTn id="11" dur="2000"/>
                                        <p:tgtEl>
                                          <p:spTgt spid="22"/>
                                        </p:tgtEl>
                                      </p:cBhvr>
                                    </p:animEffect>
                                  </p:childTnLst>
                                </p:cTn>
                              </p:par>
                            </p:childTnLst>
                          </p:cTn>
                        </p:par>
                      </p:childTnLst>
                    </p:cTn>
                  </p:par>
                  <p:par>
                    <p:cTn id="12" fill="hold">
                      <p:stCondLst>
                        <p:cond delay="indefinite"/>
                      </p:stCondLst>
                      <p:childTnLst>
                        <p:par>
                          <p:cTn id="13" fill="hold">
                            <p:stCondLst>
                              <p:cond delay="0"/>
                            </p:stCondLst>
                            <p:childTnLst>
                              <p:par>
                                <p:cTn id="14" presetID="22" presetClass="entr" presetSubtype="8" fill="hold" grpId="0" nodeType="clickEffect">
                                  <p:stCondLst>
                                    <p:cond delay="0"/>
                                  </p:stCondLst>
                                  <p:childTnLst>
                                    <p:set>
                                      <p:cBhvr>
                                        <p:cTn id="15" dur="1" fill="hold">
                                          <p:stCondLst>
                                            <p:cond delay="0"/>
                                          </p:stCondLst>
                                        </p:cTn>
                                        <p:tgtEl>
                                          <p:spTgt spid="6">
                                            <p:txEl>
                                              <p:pRg st="0" end="0"/>
                                            </p:txEl>
                                          </p:spTgt>
                                        </p:tgtEl>
                                        <p:attrNameLst>
                                          <p:attrName>style.visibility</p:attrName>
                                        </p:attrNameLst>
                                      </p:cBhvr>
                                      <p:to>
                                        <p:strVal val="visible"/>
                                      </p:to>
                                    </p:set>
                                    <p:animEffect transition="in" filter="wipe(left)">
                                      <p:cBhvr>
                                        <p:cTn id="16" dur="1500"/>
                                        <p:tgtEl>
                                          <p:spTgt spid="6">
                                            <p:txEl>
                                              <p:pRg st="0" end="0"/>
                                            </p:txEl>
                                          </p:spTgt>
                                        </p:tgtEl>
                                      </p:cBhvr>
                                    </p:animEffect>
                                  </p:childTnLst>
                                </p:cTn>
                              </p:par>
                            </p:childTnLst>
                          </p:cTn>
                        </p:par>
                        <p:par>
                          <p:cTn id="17" fill="hold">
                            <p:stCondLst>
                              <p:cond delay="1500"/>
                            </p:stCondLst>
                            <p:childTnLst>
                              <p:par>
                                <p:cTn id="18" presetID="22" presetClass="entr" presetSubtype="8" fill="hold" grpId="0" nodeType="afterEffect">
                                  <p:stCondLst>
                                    <p:cond delay="0"/>
                                  </p:stCondLst>
                                  <p:childTnLst>
                                    <p:set>
                                      <p:cBhvr>
                                        <p:cTn id="19" dur="1" fill="hold">
                                          <p:stCondLst>
                                            <p:cond delay="0"/>
                                          </p:stCondLst>
                                        </p:cTn>
                                        <p:tgtEl>
                                          <p:spTgt spid="6">
                                            <p:txEl>
                                              <p:pRg st="1" end="1"/>
                                            </p:txEl>
                                          </p:spTgt>
                                        </p:tgtEl>
                                        <p:attrNameLst>
                                          <p:attrName>style.visibility</p:attrName>
                                        </p:attrNameLst>
                                      </p:cBhvr>
                                      <p:to>
                                        <p:strVal val="visible"/>
                                      </p:to>
                                    </p:set>
                                    <p:animEffect transition="in" filter="wipe(left)">
                                      <p:cBhvr>
                                        <p:cTn id="20" dur="1500"/>
                                        <p:tgtEl>
                                          <p:spTgt spid="6">
                                            <p:txEl>
                                              <p:pRg st="1" end="1"/>
                                            </p:txEl>
                                          </p:spTgt>
                                        </p:tgtEl>
                                      </p:cBhvr>
                                    </p:animEffect>
                                  </p:childTnLst>
                                </p:cTn>
                              </p:par>
                            </p:childTnLst>
                          </p:cTn>
                        </p:par>
                      </p:childTnLst>
                    </p:cTn>
                  </p:par>
                  <p:par>
                    <p:cTn id="21" fill="hold">
                      <p:stCondLst>
                        <p:cond delay="indefinite"/>
                      </p:stCondLst>
                      <p:childTnLst>
                        <p:par>
                          <p:cTn id="22" fill="hold">
                            <p:stCondLst>
                              <p:cond delay="0"/>
                            </p:stCondLst>
                            <p:childTnLst>
                              <p:par>
                                <p:cTn id="23" presetID="22" presetClass="entr" presetSubtype="8" fill="hold" grpId="0" nodeType="clickEffect">
                                  <p:stCondLst>
                                    <p:cond delay="0"/>
                                  </p:stCondLst>
                                  <p:childTnLst>
                                    <p:set>
                                      <p:cBhvr>
                                        <p:cTn id="24" dur="1" fill="hold">
                                          <p:stCondLst>
                                            <p:cond delay="0"/>
                                          </p:stCondLst>
                                        </p:cTn>
                                        <p:tgtEl>
                                          <p:spTgt spid="19">
                                            <p:txEl>
                                              <p:pRg st="0" end="0"/>
                                            </p:txEl>
                                          </p:spTgt>
                                        </p:tgtEl>
                                        <p:attrNameLst>
                                          <p:attrName>style.visibility</p:attrName>
                                        </p:attrNameLst>
                                      </p:cBhvr>
                                      <p:to>
                                        <p:strVal val="visible"/>
                                      </p:to>
                                    </p:set>
                                    <p:animEffect transition="in" filter="wipe(left)">
                                      <p:cBhvr>
                                        <p:cTn id="25" dur="1000"/>
                                        <p:tgtEl>
                                          <p:spTgt spid="19">
                                            <p:txEl>
                                              <p:pRg st="0" end="0"/>
                                            </p:txEl>
                                          </p:spTgt>
                                        </p:tgtEl>
                                      </p:cBhvr>
                                    </p:animEffect>
                                  </p:childTnLst>
                                </p:cTn>
                              </p:par>
                            </p:childTnLst>
                          </p:cTn>
                        </p:par>
                      </p:childTnLst>
                    </p:cTn>
                  </p:par>
                  <p:par>
                    <p:cTn id="26" fill="hold">
                      <p:stCondLst>
                        <p:cond delay="indefinite"/>
                      </p:stCondLst>
                      <p:childTnLst>
                        <p:par>
                          <p:cTn id="27" fill="hold">
                            <p:stCondLst>
                              <p:cond delay="0"/>
                            </p:stCondLst>
                            <p:childTnLst>
                              <p:par>
                                <p:cTn id="28" presetID="22" presetClass="entr" presetSubtype="8" fill="hold" grpId="0" nodeType="clickEffect">
                                  <p:stCondLst>
                                    <p:cond delay="0"/>
                                  </p:stCondLst>
                                  <p:childTnLst>
                                    <p:set>
                                      <p:cBhvr>
                                        <p:cTn id="29" dur="1" fill="hold">
                                          <p:stCondLst>
                                            <p:cond delay="0"/>
                                          </p:stCondLst>
                                        </p:cTn>
                                        <p:tgtEl>
                                          <p:spTgt spid="19">
                                            <p:txEl>
                                              <p:pRg st="1" end="1"/>
                                            </p:txEl>
                                          </p:spTgt>
                                        </p:tgtEl>
                                        <p:attrNameLst>
                                          <p:attrName>style.visibility</p:attrName>
                                        </p:attrNameLst>
                                      </p:cBhvr>
                                      <p:to>
                                        <p:strVal val="visible"/>
                                      </p:to>
                                    </p:set>
                                    <p:animEffect transition="in" filter="wipe(left)">
                                      <p:cBhvr>
                                        <p:cTn id="30" dur="1000"/>
                                        <p:tgtEl>
                                          <p:spTgt spid="19">
                                            <p:txEl>
                                              <p:pRg st="1" end="1"/>
                                            </p:txEl>
                                          </p:spTgt>
                                        </p:tgtEl>
                                      </p:cBhvr>
                                    </p:animEffect>
                                  </p:childTnLst>
                                </p:cTn>
                              </p:par>
                            </p:childTnLst>
                          </p:cTn>
                        </p:par>
                        <p:par>
                          <p:cTn id="31" fill="hold">
                            <p:stCondLst>
                              <p:cond delay="1000"/>
                            </p:stCondLst>
                            <p:childTnLst>
                              <p:par>
                                <p:cTn id="32" presetID="22" presetClass="entr" presetSubtype="8" fill="hold" grpId="0" nodeType="afterEffect">
                                  <p:stCondLst>
                                    <p:cond delay="0"/>
                                  </p:stCondLst>
                                  <p:childTnLst>
                                    <p:set>
                                      <p:cBhvr>
                                        <p:cTn id="33" dur="1" fill="hold">
                                          <p:stCondLst>
                                            <p:cond delay="0"/>
                                          </p:stCondLst>
                                        </p:cTn>
                                        <p:tgtEl>
                                          <p:spTgt spid="19">
                                            <p:txEl>
                                              <p:pRg st="2" end="2"/>
                                            </p:txEl>
                                          </p:spTgt>
                                        </p:tgtEl>
                                        <p:attrNameLst>
                                          <p:attrName>style.visibility</p:attrName>
                                        </p:attrNameLst>
                                      </p:cBhvr>
                                      <p:to>
                                        <p:strVal val="visible"/>
                                      </p:to>
                                    </p:set>
                                    <p:animEffect transition="in" filter="wipe(left)">
                                      <p:cBhvr>
                                        <p:cTn id="34" dur="1000"/>
                                        <p:tgtEl>
                                          <p:spTgt spid="19">
                                            <p:txEl>
                                              <p:pRg st="2" end="2"/>
                                            </p:txEl>
                                          </p:spTgt>
                                        </p:tgtEl>
                                      </p:cBhvr>
                                    </p:animEffect>
                                  </p:childTnLst>
                                </p:cTn>
                              </p:par>
                            </p:childTnLst>
                          </p:cTn>
                        </p:par>
                      </p:childTnLst>
                    </p:cTn>
                  </p:par>
                  <p:par>
                    <p:cTn id="35" fill="hold">
                      <p:stCondLst>
                        <p:cond delay="indefinite"/>
                      </p:stCondLst>
                      <p:childTnLst>
                        <p:par>
                          <p:cTn id="36" fill="hold">
                            <p:stCondLst>
                              <p:cond delay="0"/>
                            </p:stCondLst>
                            <p:childTnLst>
                              <p:par>
                                <p:cTn id="37" presetID="22" presetClass="entr" presetSubtype="8" fill="hold" grpId="0" nodeType="clickEffect">
                                  <p:stCondLst>
                                    <p:cond delay="0"/>
                                  </p:stCondLst>
                                  <p:childTnLst>
                                    <p:set>
                                      <p:cBhvr>
                                        <p:cTn id="38" dur="1" fill="hold">
                                          <p:stCondLst>
                                            <p:cond delay="0"/>
                                          </p:stCondLst>
                                        </p:cTn>
                                        <p:tgtEl>
                                          <p:spTgt spid="27"/>
                                        </p:tgtEl>
                                        <p:attrNameLst>
                                          <p:attrName>style.visibility</p:attrName>
                                        </p:attrNameLst>
                                      </p:cBhvr>
                                      <p:to>
                                        <p:strVal val="visible"/>
                                      </p:to>
                                    </p:set>
                                    <p:animEffect transition="in" filter="wipe(left)">
                                      <p:cBhvr>
                                        <p:cTn id="39" dur="1000"/>
                                        <p:tgtEl>
                                          <p:spTgt spid="27"/>
                                        </p:tgtEl>
                                      </p:cBhvr>
                                    </p:animEffect>
                                  </p:childTnLst>
                                </p:cTn>
                              </p:par>
                            </p:childTnLst>
                          </p:cTn>
                        </p:par>
                      </p:childTnLst>
                    </p:cTn>
                  </p:par>
                  <p:par>
                    <p:cTn id="40" fill="hold">
                      <p:stCondLst>
                        <p:cond delay="indefinite"/>
                      </p:stCondLst>
                      <p:childTnLst>
                        <p:par>
                          <p:cTn id="41" fill="hold">
                            <p:stCondLst>
                              <p:cond delay="0"/>
                            </p:stCondLst>
                            <p:childTnLst>
                              <p:par>
                                <p:cTn id="42" presetID="22" presetClass="entr" presetSubtype="8" fill="hold" grpId="0" nodeType="clickEffect">
                                  <p:stCondLst>
                                    <p:cond delay="0"/>
                                  </p:stCondLst>
                                  <p:childTnLst>
                                    <p:set>
                                      <p:cBhvr>
                                        <p:cTn id="43" dur="1" fill="hold">
                                          <p:stCondLst>
                                            <p:cond delay="0"/>
                                          </p:stCondLst>
                                        </p:cTn>
                                        <p:tgtEl>
                                          <p:spTgt spid="10"/>
                                        </p:tgtEl>
                                        <p:attrNameLst>
                                          <p:attrName>style.visibility</p:attrName>
                                        </p:attrNameLst>
                                      </p:cBhvr>
                                      <p:to>
                                        <p:strVal val="visible"/>
                                      </p:to>
                                    </p:set>
                                    <p:animEffect transition="in" filter="wipe(left)">
                                      <p:cBhvr>
                                        <p:cTn id="44" dur="500"/>
                                        <p:tgtEl>
                                          <p:spTgt spid="10"/>
                                        </p:tgtEl>
                                      </p:cBhvr>
                                    </p:animEffect>
                                  </p:childTnLst>
                                </p:cTn>
                              </p:par>
                            </p:childTnLst>
                          </p:cTn>
                        </p:par>
                        <p:par>
                          <p:cTn id="45" fill="hold">
                            <p:stCondLst>
                              <p:cond delay="500"/>
                            </p:stCondLst>
                            <p:childTnLst>
                              <p:par>
                                <p:cTn id="46" presetID="22" presetClass="entr" presetSubtype="8" fill="hold" grpId="0" nodeType="afterEffect">
                                  <p:stCondLst>
                                    <p:cond delay="0"/>
                                  </p:stCondLst>
                                  <p:childTnLst>
                                    <p:set>
                                      <p:cBhvr>
                                        <p:cTn id="47" dur="1" fill="hold">
                                          <p:stCondLst>
                                            <p:cond delay="0"/>
                                          </p:stCondLst>
                                        </p:cTn>
                                        <p:tgtEl>
                                          <p:spTgt spid="26"/>
                                        </p:tgtEl>
                                        <p:attrNameLst>
                                          <p:attrName>style.visibility</p:attrName>
                                        </p:attrNameLst>
                                      </p:cBhvr>
                                      <p:to>
                                        <p:strVal val="visible"/>
                                      </p:to>
                                    </p:set>
                                    <p:animEffect transition="in" filter="wipe(left)">
                                      <p:cBhvr>
                                        <p:cTn id="48" dur="1000"/>
                                        <p:tgtEl>
                                          <p:spTgt spid="26"/>
                                        </p:tgtEl>
                                      </p:cBhvr>
                                    </p:animEffect>
                                  </p:childTnLst>
                                </p:cTn>
                              </p:par>
                            </p:childTnLst>
                          </p:cTn>
                        </p:par>
                        <p:par>
                          <p:cTn id="49" fill="hold">
                            <p:stCondLst>
                              <p:cond delay="1500"/>
                            </p:stCondLst>
                            <p:childTnLst>
                              <p:par>
                                <p:cTn id="50" presetID="22" presetClass="entr" presetSubtype="8" fill="hold" nodeType="afterEffect">
                                  <p:stCondLst>
                                    <p:cond delay="0"/>
                                  </p:stCondLst>
                                  <p:childTnLst>
                                    <p:set>
                                      <p:cBhvr>
                                        <p:cTn id="51" dur="1" fill="hold">
                                          <p:stCondLst>
                                            <p:cond delay="0"/>
                                          </p:stCondLst>
                                        </p:cTn>
                                        <p:tgtEl>
                                          <p:spTgt spid="23"/>
                                        </p:tgtEl>
                                        <p:attrNameLst>
                                          <p:attrName>style.visibility</p:attrName>
                                        </p:attrNameLst>
                                      </p:cBhvr>
                                      <p:to>
                                        <p:strVal val="visible"/>
                                      </p:to>
                                    </p:set>
                                    <p:animEffect transition="in" filter="wipe(left)">
                                      <p:cBhvr>
                                        <p:cTn id="52" dur="2000"/>
                                        <p:tgtEl>
                                          <p:spTgt spid="23"/>
                                        </p:tgtEl>
                                      </p:cBhvr>
                                    </p:animEffect>
                                  </p:childTnLst>
                                </p:cTn>
                              </p:par>
                            </p:childTnLst>
                          </p:cTn>
                        </p:par>
                      </p:childTnLst>
                    </p:cTn>
                  </p:par>
                  <p:par>
                    <p:cTn id="53" fill="hold">
                      <p:stCondLst>
                        <p:cond delay="indefinite"/>
                      </p:stCondLst>
                      <p:childTnLst>
                        <p:par>
                          <p:cTn id="54" fill="hold">
                            <p:stCondLst>
                              <p:cond delay="0"/>
                            </p:stCondLst>
                            <p:childTnLst>
                              <p:par>
                                <p:cTn id="55" presetID="22" presetClass="exit" presetSubtype="8" fill="hold" grpId="1" nodeType="clickEffect">
                                  <p:stCondLst>
                                    <p:cond delay="0"/>
                                  </p:stCondLst>
                                  <p:childTnLst>
                                    <p:animEffect transition="out" filter="wipe(left)">
                                      <p:cBhvr>
                                        <p:cTn id="56" dur="500"/>
                                        <p:tgtEl>
                                          <p:spTgt spid="27"/>
                                        </p:tgtEl>
                                      </p:cBhvr>
                                    </p:animEffect>
                                    <p:set>
                                      <p:cBhvr>
                                        <p:cTn id="57" dur="1" fill="hold">
                                          <p:stCondLst>
                                            <p:cond delay="499"/>
                                          </p:stCondLst>
                                        </p:cTn>
                                        <p:tgtEl>
                                          <p:spTgt spid="27"/>
                                        </p:tgtEl>
                                        <p:attrNameLst>
                                          <p:attrName>style.visibility</p:attrName>
                                        </p:attrNameLst>
                                      </p:cBhvr>
                                      <p:to>
                                        <p:strVal val="hidden"/>
                                      </p:to>
                                    </p:set>
                                  </p:childTnLst>
                                </p:cTn>
                              </p:par>
                            </p:childTnLst>
                          </p:cTn>
                        </p:par>
                        <p:par>
                          <p:cTn id="58" fill="hold">
                            <p:stCondLst>
                              <p:cond delay="500"/>
                            </p:stCondLst>
                            <p:childTnLst>
                              <p:par>
                                <p:cTn id="59" presetID="22" presetClass="entr" presetSubtype="8" fill="hold" grpId="0" nodeType="afterEffect">
                                  <p:stCondLst>
                                    <p:cond delay="0"/>
                                  </p:stCondLst>
                                  <p:childTnLst>
                                    <p:set>
                                      <p:cBhvr>
                                        <p:cTn id="60" dur="1" fill="hold">
                                          <p:stCondLst>
                                            <p:cond delay="0"/>
                                          </p:stCondLst>
                                        </p:cTn>
                                        <p:tgtEl>
                                          <p:spTgt spid="31"/>
                                        </p:tgtEl>
                                        <p:attrNameLst>
                                          <p:attrName>style.visibility</p:attrName>
                                        </p:attrNameLst>
                                      </p:cBhvr>
                                      <p:to>
                                        <p:strVal val="visible"/>
                                      </p:to>
                                    </p:set>
                                    <p:animEffect transition="in" filter="wipe(left)">
                                      <p:cBhvr>
                                        <p:cTn id="61" dur="1000"/>
                                        <p:tgtEl>
                                          <p:spTgt spid="31"/>
                                        </p:tgtEl>
                                      </p:cBhvr>
                                    </p:animEffect>
                                  </p:childTnLst>
                                </p:cTn>
                              </p:par>
                            </p:childTnLst>
                          </p:cTn>
                        </p:par>
                      </p:childTnLst>
                    </p:cTn>
                  </p:par>
                  <p:par>
                    <p:cTn id="62" fill="hold">
                      <p:stCondLst>
                        <p:cond delay="indefinite"/>
                      </p:stCondLst>
                      <p:childTnLst>
                        <p:par>
                          <p:cTn id="63" fill="hold">
                            <p:stCondLst>
                              <p:cond delay="0"/>
                            </p:stCondLst>
                            <p:childTnLst>
                              <p:par>
                                <p:cTn id="64" presetID="22" presetClass="entr" presetSubtype="8" fill="hold" grpId="0" nodeType="clickEffect">
                                  <p:stCondLst>
                                    <p:cond delay="0"/>
                                  </p:stCondLst>
                                  <p:childTnLst>
                                    <p:set>
                                      <p:cBhvr>
                                        <p:cTn id="65" dur="1" fill="hold">
                                          <p:stCondLst>
                                            <p:cond delay="0"/>
                                          </p:stCondLst>
                                        </p:cTn>
                                        <p:tgtEl>
                                          <p:spTgt spid="25"/>
                                        </p:tgtEl>
                                        <p:attrNameLst>
                                          <p:attrName>style.visibility</p:attrName>
                                        </p:attrNameLst>
                                      </p:cBhvr>
                                      <p:to>
                                        <p:strVal val="visible"/>
                                      </p:to>
                                    </p:set>
                                    <p:animEffect transition="in" filter="wipe(left)">
                                      <p:cBhvr>
                                        <p:cTn id="66" dur="500"/>
                                        <p:tgtEl>
                                          <p:spTgt spid="25"/>
                                        </p:tgtEl>
                                      </p:cBhvr>
                                    </p:animEffect>
                                  </p:childTnLst>
                                </p:cTn>
                              </p:par>
                            </p:childTnLst>
                          </p:cTn>
                        </p:par>
                        <p:par>
                          <p:cTn id="67" fill="hold">
                            <p:stCondLst>
                              <p:cond delay="500"/>
                            </p:stCondLst>
                            <p:childTnLst>
                              <p:par>
                                <p:cTn id="68" presetID="22" presetClass="entr" presetSubtype="1" fill="hold" nodeType="afterEffect">
                                  <p:stCondLst>
                                    <p:cond delay="0"/>
                                  </p:stCondLst>
                                  <p:childTnLst>
                                    <p:set>
                                      <p:cBhvr>
                                        <p:cTn id="69" dur="1" fill="hold">
                                          <p:stCondLst>
                                            <p:cond delay="0"/>
                                          </p:stCondLst>
                                        </p:cTn>
                                        <p:tgtEl>
                                          <p:spTgt spid="5"/>
                                        </p:tgtEl>
                                        <p:attrNameLst>
                                          <p:attrName>style.visibility</p:attrName>
                                        </p:attrNameLst>
                                      </p:cBhvr>
                                      <p:to>
                                        <p:strVal val="visible"/>
                                      </p:to>
                                    </p:set>
                                    <p:animEffect transition="in" filter="wipe(up)">
                                      <p:cBhvr>
                                        <p:cTn id="70" dur="500"/>
                                        <p:tgtEl>
                                          <p:spTgt spid="5"/>
                                        </p:tgtEl>
                                      </p:cBhvr>
                                    </p:animEffect>
                                  </p:childTnLst>
                                </p:cTn>
                              </p:par>
                            </p:childTnLst>
                          </p:cTn>
                        </p:par>
                        <p:par>
                          <p:cTn id="71" fill="hold">
                            <p:stCondLst>
                              <p:cond delay="1000"/>
                            </p:stCondLst>
                            <p:childTnLst>
                              <p:par>
                                <p:cTn id="72" presetID="22" presetClass="entr" presetSubtype="1" fill="hold" grpId="0" nodeType="afterEffect">
                                  <p:stCondLst>
                                    <p:cond delay="0"/>
                                  </p:stCondLst>
                                  <p:childTnLst>
                                    <p:set>
                                      <p:cBhvr>
                                        <p:cTn id="73" dur="1" fill="hold">
                                          <p:stCondLst>
                                            <p:cond delay="0"/>
                                          </p:stCondLst>
                                        </p:cTn>
                                        <p:tgtEl>
                                          <p:spTgt spid="29"/>
                                        </p:tgtEl>
                                        <p:attrNameLst>
                                          <p:attrName>style.visibility</p:attrName>
                                        </p:attrNameLst>
                                      </p:cBhvr>
                                      <p:to>
                                        <p:strVal val="visible"/>
                                      </p:to>
                                    </p:set>
                                    <p:animEffect transition="in" filter="wipe(up)">
                                      <p:cBhvr>
                                        <p:cTn id="74" dur="1500"/>
                                        <p:tgtEl>
                                          <p:spTgt spid="29"/>
                                        </p:tgtEl>
                                      </p:cBhvr>
                                    </p:animEffect>
                                  </p:childTnLst>
                                </p:cTn>
                              </p:par>
                            </p:childTnLst>
                          </p:cTn>
                        </p:par>
                        <p:par>
                          <p:cTn id="75" fill="hold">
                            <p:stCondLst>
                              <p:cond delay="2500"/>
                            </p:stCondLst>
                            <p:childTnLst>
                              <p:par>
                                <p:cTn id="76" presetID="22" presetClass="entr" presetSubtype="1" fill="hold" nodeType="afterEffect">
                                  <p:stCondLst>
                                    <p:cond delay="0"/>
                                  </p:stCondLst>
                                  <p:childTnLst>
                                    <p:set>
                                      <p:cBhvr>
                                        <p:cTn id="77" dur="1" fill="hold">
                                          <p:stCondLst>
                                            <p:cond delay="0"/>
                                          </p:stCondLst>
                                        </p:cTn>
                                        <p:tgtEl>
                                          <p:spTgt spid="9"/>
                                        </p:tgtEl>
                                        <p:attrNameLst>
                                          <p:attrName>style.visibility</p:attrName>
                                        </p:attrNameLst>
                                      </p:cBhvr>
                                      <p:to>
                                        <p:strVal val="visible"/>
                                      </p:to>
                                    </p:set>
                                    <p:animEffect transition="in" filter="wipe(up)">
                                      <p:cBhvr>
                                        <p:cTn id="78" dur="500"/>
                                        <p:tgtEl>
                                          <p:spTgt spid="9"/>
                                        </p:tgtEl>
                                      </p:cBhvr>
                                    </p:animEffect>
                                  </p:childTnLst>
                                </p:cTn>
                              </p:par>
                            </p:childTnLst>
                          </p:cTn>
                        </p:par>
                        <p:par>
                          <p:cTn id="79" fill="hold">
                            <p:stCondLst>
                              <p:cond delay="3000"/>
                            </p:stCondLst>
                            <p:childTnLst>
                              <p:par>
                                <p:cTn id="80" presetID="22" presetClass="entr" presetSubtype="1" fill="hold" grpId="0" nodeType="afterEffect">
                                  <p:stCondLst>
                                    <p:cond delay="0"/>
                                  </p:stCondLst>
                                  <p:childTnLst>
                                    <p:set>
                                      <p:cBhvr>
                                        <p:cTn id="81" dur="1" fill="hold">
                                          <p:stCondLst>
                                            <p:cond delay="0"/>
                                          </p:stCondLst>
                                        </p:cTn>
                                        <p:tgtEl>
                                          <p:spTgt spid="30"/>
                                        </p:tgtEl>
                                        <p:attrNameLst>
                                          <p:attrName>style.visibility</p:attrName>
                                        </p:attrNameLst>
                                      </p:cBhvr>
                                      <p:to>
                                        <p:strVal val="visible"/>
                                      </p:to>
                                    </p:set>
                                    <p:animEffect transition="in" filter="wipe(up)">
                                      <p:cBhvr>
                                        <p:cTn id="82" dur="1500"/>
                                        <p:tgtEl>
                                          <p:spTgt spid="30"/>
                                        </p:tgtEl>
                                      </p:cBhvr>
                                    </p:animEffect>
                                  </p:childTnLst>
                                </p:cTn>
                              </p:par>
                            </p:childTnLst>
                          </p:cTn>
                        </p:par>
                      </p:childTnLst>
                    </p:cTn>
                  </p:par>
                  <p:par>
                    <p:cTn id="83" fill="hold">
                      <p:stCondLst>
                        <p:cond delay="indefinite"/>
                      </p:stCondLst>
                      <p:childTnLst>
                        <p:par>
                          <p:cTn id="84" fill="hold">
                            <p:stCondLst>
                              <p:cond delay="0"/>
                            </p:stCondLst>
                            <p:childTnLst>
                              <p:par>
                                <p:cTn id="85" presetID="22" presetClass="exit" presetSubtype="8" fill="hold" grpId="1" nodeType="clickEffect">
                                  <p:stCondLst>
                                    <p:cond delay="0"/>
                                  </p:stCondLst>
                                  <p:childTnLst>
                                    <p:animEffect transition="out" filter="wipe(left)">
                                      <p:cBhvr>
                                        <p:cTn id="86" dur="500"/>
                                        <p:tgtEl>
                                          <p:spTgt spid="31"/>
                                        </p:tgtEl>
                                      </p:cBhvr>
                                    </p:animEffect>
                                    <p:set>
                                      <p:cBhvr>
                                        <p:cTn id="87" dur="1" fill="hold">
                                          <p:stCondLst>
                                            <p:cond delay="499"/>
                                          </p:stCondLst>
                                        </p:cTn>
                                        <p:tgtEl>
                                          <p:spTgt spid="31"/>
                                        </p:tgtEl>
                                        <p:attrNameLst>
                                          <p:attrName>style.visibility</p:attrName>
                                        </p:attrNameLst>
                                      </p:cBhvr>
                                      <p:to>
                                        <p:strVal val="hidden"/>
                                      </p:to>
                                    </p:set>
                                  </p:childTnLst>
                                </p:cTn>
                              </p:par>
                            </p:childTnLst>
                          </p:cTn>
                        </p:par>
                        <p:par>
                          <p:cTn id="88" fill="hold">
                            <p:stCondLst>
                              <p:cond delay="500"/>
                            </p:stCondLst>
                            <p:childTnLst>
                              <p:par>
                                <p:cTn id="89" presetID="22" presetClass="entr" presetSubtype="8" fill="hold" grpId="0" nodeType="afterEffect">
                                  <p:stCondLst>
                                    <p:cond delay="0"/>
                                  </p:stCondLst>
                                  <p:childTnLst>
                                    <p:set>
                                      <p:cBhvr>
                                        <p:cTn id="90" dur="1" fill="hold">
                                          <p:stCondLst>
                                            <p:cond delay="0"/>
                                          </p:stCondLst>
                                        </p:cTn>
                                        <p:tgtEl>
                                          <p:spTgt spid="32"/>
                                        </p:tgtEl>
                                        <p:attrNameLst>
                                          <p:attrName>style.visibility</p:attrName>
                                        </p:attrNameLst>
                                      </p:cBhvr>
                                      <p:to>
                                        <p:strVal val="visible"/>
                                      </p:to>
                                    </p:set>
                                    <p:animEffect transition="in" filter="wipe(left)">
                                      <p:cBhvr>
                                        <p:cTn id="91" dur="500"/>
                                        <p:tgtEl>
                                          <p:spTgt spid="32"/>
                                        </p:tgtEl>
                                      </p:cBhvr>
                                    </p:animEffect>
                                  </p:childTnLst>
                                </p:cTn>
                              </p:par>
                            </p:childTnLst>
                          </p:cTn>
                        </p:par>
                        <p:par>
                          <p:cTn id="92" fill="hold">
                            <p:stCondLst>
                              <p:cond delay="1000"/>
                            </p:stCondLst>
                            <p:childTnLst>
                              <p:par>
                                <p:cTn id="93" presetID="22" presetClass="entr" presetSubtype="8" fill="hold" grpId="0" nodeType="afterEffect">
                                  <p:stCondLst>
                                    <p:cond delay="0"/>
                                  </p:stCondLst>
                                  <p:childTnLst>
                                    <p:set>
                                      <p:cBhvr>
                                        <p:cTn id="94" dur="1" fill="hold">
                                          <p:stCondLst>
                                            <p:cond delay="0"/>
                                          </p:stCondLst>
                                        </p:cTn>
                                        <p:tgtEl>
                                          <p:spTgt spid="28"/>
                                        </p:tgtEl>
                                        <p:attrNameLst>
                                          <p:attrName>style.visibility</p:attrName>
                                        </p:attrNameLst>
                                      </p:cBhvr>
                                      <p:to>
                                        <p:strVal val="visible"/>
                                      </p:to>
                                    </p:set>
                                    <p:animEffect transition="in" filter="wipe(left)">
                                      <p:cBhvr>
                                        <p:cTn id="95" dur="1000"/>
                                        <p:tgtEl>
                                          <p:spTgt spid="28"/>
                                        </p:tgtEl>
                                      </p:cBhvr>
                                    </p:animEffect>
                                  </p:childTnLst>
                                </p:cTn>
                              </p:par>
                            </p:childTnLst>
                          </p:cTn>
                        </p:par>
                        <p:par>
                          <p:cTn id="96" fill="hold">
                            <p:stCondLst>
                              <p:cond delay="2000"/>
                            </p:stCondLst>
                            <p:childTnLst>
                              <p:par>
                                <p:cTn id="97" presetID="22" presetClass="entr" presetSubtype="8" fill="hold" nodeType="afterEffect">
                                  <p:stCondLst>
                                    <p:cond delay="0"/>
                                  </p:stCondLst>
                                  <p:childTnLst>
                                    <p:set>
                                      <p:cBhvr>
                                        <p:cTn id="98" dur="1" fill="hold">
                                          <p:stCondLst>
                                            <p:cond delay="0"/>
                                          </p:stCondLst>
                                        </p:cTn>
                                        <p:tgtEl>
                                          <p:spTgt spid="39"/>
                                        </p:tgtEl>
                                        <p:attrNameLst>
                                          <p:attrName>style.visibility</p:attrName>
                                        </p:attrNameLst>
                                      </p:cBhvr>
                                      <p:to>
                                        <p:strVal val="visible"/>
                                      </p:to>
                                    </p:set>
                                    <p:animEffect transition="in" filter="wipe(left)">
                                      <p:cBhvr>
                                        <p:cTn id="99" dur="2000"/>
                                        <p:tgtEl>
                                          <p:spTgt spid="3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uiExpand="1" build="p"/>
      <p:bldP spid="17" grpId="0"/>
      <p:bldP spid="19" grpId="0" uiExpand="1" build="p"/>
      <p:bldP spid="27" grpId="0" animBg="1"/>
      <p:bldP spid="27" grpId="1" animBg="1"/>
      <p:bldP spid="10" grpId="0"/>
      <p:bldP spid="25" grpId="0"/>
      <p:bldP spid="26" grpId="0" animBg="1"/>
      <p:bldP spid="28" grpId="0" animBg="1"/>
      <p:bldP spid="29" grpId="0" animBg="1"/>
      <p:bldP spid="30" grpId="0" animBg="1"/>
      <p:bldP spid="31" grpId="0" animBg="1"/>
      <p:bldP spid="31" grpId="1" animBg="1"/>
      <p:bldP spid="32" grpId="0"/>
    </p:bldLst>
  </p:timing>
</p:sld>
</file>

<file path=ppt/slides/slide3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08C76DEA-F650-51AB-7EE7-9B3064808EC0}"/>
              </a:ext>
            </a:extLst>
          </p:cNvPr>
          <p:cNvSpPr>
            <a:spLocks noGrp="1"/>
          </p:cNvSpPr>
          <p:nvPr>
            <p:ph type="title"/>
          </p:nvPr>
        </p:nvSpPr>
        <p:spPr/>
        <p:txBody>
          <a:bodyPr/>
          <a:lstStyle/>
          <a:p>
            <a:r>
              <a:rPr lang="en-GB" dirty="0"/>
              <a:t>Order of Operations (1)</a:t>
            </a:r>
          </a:p>
        </p:txBody>
      </p:sp>
      <p:sp>
        <p:nvSpPr>
          <p:cNvPr id="6" name="SQL">
            <a:extLst>
              <a:ext uri="{FF2B5EF4-FFF2-40B4-BE49-F238E27FC236}">
                <a16:creationId xmlns:a16="http://schemas.microsoft.com/office/drawing/2014/main" id="{C460184D-D803-F499-E82E-972FB39F9288}"/>
              </a:ext>
            </a:extLst>
          </p:cNvPr>
          <p:cNvSpPr>
            <a:spLocks noChangeArrowheads="1"/>
          </p:cNvSpPr>
          <p:nvPr/>
        </p:nvSpPr>
        <p:spPr bwMode="auto">
          <a:xfrm>
            <a:off x="619125" y="1678614"/>
            <a:ext cx="2864887" cy="70788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name, type</a:t>
            </a:r>
          </a:p>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2 </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kumimoji="0" lang="en-US" altLang="en-US" sz="2000" b="0" i="0" u="none" strike="noStrike" cap="none" normalizeH="0" baseline="0" dirty="0">
                <a:ln>
                  <a:noFill/>
                </a:ln>
                <a:solidFill>
                  <a:srgbClr val="A71D5D"/>
                </a:solidFill>
                <a:effectLst/>
                <a:latin typeface="Consolas" panose="020B0609020204030204" pitchFamily="49" charset="0"/>
              </a:rPr>
              <a:t>FROM</a:t>
            </a:r>
            <a:r>
              <a:rPr kumimoji="0" lang="en-US" altLang="en-US" sz="2000" b="0" i="0" u="none" strike="noStrike" cap="none" normalizeH="0" baseline="0" dirty="0">
                <a:ln>
                  <a:noFill/>
                </a:ln>
                <a:solidFill>
                  <a:srgbClr val="000000"/>
                </a:solidFill>
                <a:effectLst/>
                <a:latin typeface="Consolas" panose="020B0609020204030204" pitchFamily="49" charset="0"/>
              </a:rPr>
              <a:t> Pet;</a:t>
            </a:r>
            <a:endParaRPr kumimoji="0" lang="en-US" altLang="en-US" sz="3200" b="0" i="0" u="none" strike="noStrike" cap="none" normalizeH="0" baseline="0" dirty="0">
              <a:ln>
                <a:noFill/>
              </a:ln>
              <a:solidFill>
                <a:schemeClr val="tx1"/>
              </a:solidFill>
              <a:effectLst/>
              <a:latin typeface="Arial" panose="020B0604020202020204" pitchFamily="34" charset="0"/>
            </a:endParaRPr>
          </a:p>
        </p:txBody>
      </p:sp>
      <p:sp>
        <p:nvSpPr>
          <p:cNvPr id="17" name="Pet">
            <a:extLst>
              <a:ext uri="{FF2B5EF4-FFF2-40B4-BE49-F238E27FC236}">
                <a16:creationId xmlns:a16="http://schemas.microsoft.com/office/drawing/2014/main" id="{37697A85-FE4A-5F49-87D3-DF60452AD532}"/>
              </a:ext>
            </a:extLst>
          </p:cNvPr>
          <p:cNvSpPr txBox="1"/>
          <p:nvPr/>
        </p:nvSpPr>
        <p:spPr>
          <a:xfrm>
            <a:off x="2663489" y="3091527"/>
            <a:ext cx="1771650" cy="369332"/>
          </a:xfrm>
          <a:prstGeom prst="rect">
            <a:avLst/>
          </a:prstGeom>
          <a:noFill/>
        </p:spPr>
        <p:txBody>
          <a:bodyPr wrap="square" rtlCol="0">
            <a:spAutoFit/>
          </a:bodyPr>
          <a:lstStyle/>
          <a:p>
            <a:r>
              <a:rPr lang="en-GB" b="1" dirty="0"/>
              <a:t>Table: Pet</a:t>
            </a:r>
          </a:p>
        </p:txBody>
      </p:sp>
      <p:sp>
        <p:nvSpPr>
          <p:cNvPr id="19" name="Order">
            <a:extLst>
              <a:ext uri="{FF2B5EF4-FFF2-40B4-BE49-F238E27FC236}">
                <a16:creationId xmlns:a16="http://schemas.microsoft.com/office/drawing/2014/main" id="{39027E70-266E-C921-B96A-180149336170}"/>
              </a:ext>
            </a:extLst>
          </p:cNvPr>
          <p:cNvSpPr txBox="1"/>
          <p:nvPr/>
        </p:nvSpPr>
        <p:spPr>
          <a:xfrm>
            <a:off x="7417818" y="1001505"/>
            <a:ext cx="2590417" cy="1384995"/>
          </a:xfrm>
          <a:prstGeom prst="rect">
            <a:avLst/>
          </a:prstGeom>
          <a:noFill/>
        </p:spPr>
        <p:txBody>
          <a:bodyPr wrap="square" rtlCol="0">
            <a:spAutoFit/>
          </a:bodyPr>
          <a:lstStyle/>
          <a:p>
            <a:r>
              <a:rPr lang="en-GB" sz="2800" b="1" dirty="0">
                <a:solidFill>
                  <a:srgbClr val="7030A0"/>
                </a:solidFill>
              </a:rPr>
              <a:t>Order</a:t>
            </a:r>
            <a:r>
              <a:rPr lang="en-GB" sz="2800" dirty="0">
                <a:solidFill>
                  <a:srgbClr val="7030A0"/>
                </a:solidFill>
              </a:rPr>
              <a:t>:</a:t>
            </a:r>
          </a:p>
          <a:p>
            <a:pPr lvl="1"/>
            <a:r>
              <a:rPr lang="en-GB" sz="2800" dirty="0">
                <a:solidFill>
                  <a:srgbClr val="7030A0"/>
                </a:solidFill>
              </a:rPr>
              <a:t>1.  </a:t>
            </a:r>
          </a:p>
          <a:p>
            <a:pPr lvl="1"/>
            <a:r>
              <a:rPr lang="en-GB" sz="2800" dirty="0">
                <a:solidFill>
                  <a:srgbClr val="7030A0"/>
                </a:solidFill>
              </a:rPr>
              <a:t>2.  </a:t>
            </a:r>
          </a:p>
        </p:txBody>
      </p:sp>
      <p:graphicFrame>
        <p:nvGraphicFramePr>
          <p:cNvPr id="22" name="Pet - Table">
            <a:extLst>
              <a:ext uri="{FF2B5EF4-FFF2-40B4-BE49-F238E27FC236}">
                <a16:creationId xmlns:a16="http://schemas.microsoft.com/office/drawing/2014/main" id="{E1C47C29-B1FD-7991-E626-2F12DC1AFFDE}"/>
              </a:ext>
            </a:extLst>
          </p:cNvPr>
          <p:cNvGraphicFramePr>
            <a:graphicFrameLocks noGrp="1"/>
          </p:cNvGraphicFramePr>
          <p:nvPr/>
        </p:nvGraphicFramePr>
        <p:xfrm>
          <a:off x="2749212" y="3412595"/>
          <a:ext cx="2042287"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a:solidFill>
                            <a:schemeClr val="tx1"/>
                          </a:solidFill>
                          <a:effectLst/>
                        </a:rPr>
                        <a:t>Pepper</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16</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7</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a:solidFill>
                            <a:schemeClr val="tx1"/>
                          </a:solidFill>
                          <a:effectLst/>
                        </a:rPr>
                        <a:t>Micky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a:solidFill>
                            <a:schemeClr val="tx1"/>
                          </a:solidFill>
                          <a:effectLst/>
                        </a:rPr>
                        <a:t>Minnie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Cat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9</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a:solidFill>
                            <a:schemeClr val="tx1"/>
                          </a:solidFill>
                          <a:effectLst/>
                        </a:rPr>
                        <a:t>Bonzo</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Dog</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6</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Rabbit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3</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graphicFrame>
        <p:nvGraphicFramePr>
          <p:cNvPr id="23" name="Temp - Table">
            <a:extLst>
              <a:ext uri="{FF2B5EF4-FFF2-40B4-BE49-F238E27FC236}">
                <a16:creationId xmlns:a16="http://schemas.microsoft.com/office/drawing/2014/main" id="{57FE39BF-DC05-E516-87E6-26364C7BBE24}"/>
              </a:ext>
            </a:extLst>
          </p:cNvPr>
          <p:cNvGraphicFramePr>
            <a:graphicFrameLocks noGrp="1"/>
          </p:cNvGraphicFramePr>
          <p:nvPr/>
        </p:nvGraphicFramePr>
        <p:xfrm>
          <a:off x="5340290" y="3412595"/>
          <a:ext cx="2042287"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a:solidFill>
                            <a:schemeClr val="tx1"/>
                          </a:solidFill>
                          <a:effectLst/>
                        </a:rPr>
                        <a:t>Pepper</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16</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7</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a:solidFill>
                            <a:schemeClr val="tx1"/>
                          </a:solidFill>
                          <a:effectLst/>
                        </a:rPr>
                        <a:t>Micky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a:solidFill>
                            <a:schemeClr val="tx1"/>
                          </a:solidFill>
                          <a:effectLst/>
                        </a:rPr>
                        <a:t>Minnie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Cat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9</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a:solidFill>
                            <a:schemeClr val="tx1"/>
                          </a:solidFill>
                          <a:effectLst/>
                        </a:rPr>
                        <a:t>Bonzo</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Dog</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6</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Rabbit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3</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sp>
        <p:nvSpPr>
          <p:cNvPr id="29" name="Name - Column">
            <a:extLst>
              <a:ext uri="{FF2B5EF4-FFF2-40B4-BE49-F238E27FC236}">
                <a16:creationId xmlns:a16="http://schemas.microsoft.com/office/drawing/2014/main" id="{9CFD6623-90F9-8CA0-585A-959ADF79ADE1}"/>
              </a:ext>
            </a:extLst>
          </p:cNvPr>
          <p:cNvSpPr/>
          <p:nvPr/>
        </p:nvSpPr>
        <p:spPr>
          <a:xfrm>
            <a:off x="5333994" y="3349977"/>
            <a:ext cx="792000" cy="3060332"/>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0" name="Age - Column">
            <a:extLst>
              <a:ext uri="{FF2B5EF4-FFF2-40B4-BE49-F238E27FC236}">
                <a16:creationId xmlns:a16="http://schemas.microsoft.com/office/drawing/2014/main" id="{F8908677-B9D0-5945-93E8-1112E85882A9}"/>
              </a:ext>
            </a:extLst>
          </p:cNvPr>
          <p:cNvSpPr/>
          <p:nvPr/>
        </p:nvSpPr>
        <p:spPr>
          <a:xfrm>
            <a:off x="6124330" y="3349977"/>
            <a:ext cx="792000" cy="3060332"/>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graphicFrame>
        <p:nvGraphicFramePr>
          <p:cNvPr id="39" name="Output - Table">
            <a:extLst>
              <a:ext uri="{FF2B5EF4-FFF2-40B4-BE49-F238E27FC236}">
                <a16:creationId xmlns:a16="http://schemas.microsoft.com/office/drawing/2014/main" id="{FE9A9C9B-4CA8-4DC8-AA69-A07BDFBF0F34}"/>
              </a:ext>
            </a:extLst>
          </p:cNvPr>
          <p:cNvGraphicFramePr>
            <a:graphicFrameLocks noGrp="1"/>
          </p:cNvGraphicFramePr>
          <p:nvPr/>
        </p:nvGraphicFramePr>
        <p:xfrm>
          <a:off x="7928628" y="3412808"/>
          <a:ext cx="1599883"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dirty="0">
                          <a:solidFill>
                            <a:schemeClr val="tx1"/>
                          </a:solidFill>
                          <a:effectLst/>
                        </a:rPr>
                        <a:t>Pepper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a:solidFill>
                            <a:schemeClr val="tx1"/>
                          </a:solidFill>
                          <a:effectLst/>
                        </a:rPr>
                        <a:t>Micky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Mouse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a:solidFill>
                            <a:schemeClr val="tx1"/>
                          </a:solidFill>
                          <a:effectLst/>
                        </a:rPr>
                        <a:t>Minnie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Cat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a:solidFill>
                            <a:schemeClr val="tx1"/>
                          </a:solidFill>
                          <a:effectLst/>
                        </a:rPr>
                        <a:t>Bonzo</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Dog</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Rabbit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spTree>
    <p:extLst>
      <p:ext uri="{BB962C8B-B14F-4D97-AF65-F5344CB8AC3E}">
        <p14:creationId xmlns:p14="http://schemas.microsoft.com/office/powerpoint/2010/main" val="693302603"/>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Learning Intentions</a:t>
            </a:r>
          </a:p>
        </p:txBody>
      </p:sp>
      <p:sp>
        <p:nvSpPr>
          <p:cNvPr id="3" name="Content Placeholder 2"/>
          <p:cNvSpPr>
            <a:spLocks noGrp="1"/>
          </p:cNvSpPr>
          <p:nvPr>
            <p:ph idx="1"/>
          </p:nvPr>
        </p:nvSpPr>
        <p:spPr/>
        <p:txBody>
          <a:bodyPr>
            <a:normAutofit/>
          </a:bodyPr>
          <a:lstStyle/>
          <a:p>
            <a:r>
              <a:rPr lang="en-GB" sz="3200" dirty="0"/>
              <a:t>Describe and use &lt;, &gt;, = in SQL operations</a:t>
            </a:r>
          </a:p>
        </p:txBody>
      </p:sp>
    </p:spTree>
    <p:extLst>
      <p:ext uri="{BB962C8B-B14F-4D97-AF65-F5344CB8AC3E}">
        <p14:creationId xmlns:p14="http://schemas.microsoft.com/office/powerpoint/2010/main" val="2698216955"/>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Comparison Operators</a:t>
            </a:r>
          </a:p>
        </p:txBody>
      </p:sp>
      <p:sp>
        <p:nvSpPr>
          <p:cNvPr id="3" name="Content Placeholder 2"/>
          <p:cNvSpPr>
            <a:spLocks noGrp="1"/>
          </p:cNvSpPr>
          <p:nvPr>
            <p:ph idx="1"/>
          </p:nvPr>
        </p:nvSpPr>
        <p:spPr/>
        <p:txBody>
          <a:bodyPr>
            <a:normAutofit lnSpcReduction="10000"/>
          </a:bodyPr>
          <a:lstStyle/>
          <a:p>
            <a:pPr marL="0" indent="0">
              <a:buNone/>
            </a:pPr>
            <a:r>
              <a:rPr lang="en-GB" sz="4000" dirty="0"/>
              <a:t>=	Equal to (same as)</a:t>
            </a:r>
          </a:p>
          <a:p>
            <a:pPr marL="0" indent="0">
              <a:buNone/>
            </a:pPr>
            <a:r>
              <a:rPr lang="en-GB" sz="4000" dirty="0"/>
              <a:t>&gt;	Greater than	</a:t>
            </a:r>
          </a:p>
          <a:p>
            <a:pPr marL="0" indent="0">
              <a:buNone/>
            </a:pPr>
            <a:r>
              <a:rPr lang="en-GB" sz="4000" dirty="0"/>
              <a:t>&gt;=	Greater than or equal to	</a:t>
            </a:r>
          </a:p>
          <a:p>
            <a:pPr marL="0" indent="0">
              <a:buNone/>
            </a:pPr>
            <a:r>
              <a:rPr lang="en-GB" sz="4000" dirty="0"/>
              <a:t>&lt;=	Less than or equal to	</a:t>
            </a:r>
          </a:p>
          <a:p>
            <a:pPr marL="0" indent="0">
              <a:buNone/>
            </a:pPr>
            <a:r>
              <a:rPr lang="en-GB" sz="4000" dirty="0"/>
              <a:t>&lt;	Less than</a:t>
            </a:r>
          </a:p>
          <a:p>
            <a:pPr marL="0" indent="0">
              <a:buNone/>
            </a:pPr>
            <a:r>
              <a:rPr lang="en-GB" sz="4000" dirty="0"/>
              <a:t>&lt;&gt;	Not equal to (not the same as)</a:t>
            </a:r>
          </a:p>
        </p:txBody>
      </p:sp>
    </p:spTree>
    <p:extLst>
      <p:ext uri="{BB962C8B-B14F-4D97-AF65-F5344CB8AC3E}">
        <p14:creationId xmlns:p14="http://schemas.microsoft.com/office/powerpoint/2010/main" val="1378454003"/>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Comparison Operators</a:t>
            </a:r>
          </a:p>
        </p:txBody>
      </p:sp>
      <p:sp>
        <p:nvSpPr>
          <p:cNvPr id="3" name="Content Placeholder 2"/>
          <p:cNvSpPr>
            <a:spLocks noGrp="1"/>
          </p:cNvSpPr>
          <p:nvPr>
            <p:ph idx="1"/>
          </p:nvPr>
        </p:nvSpPr>
        <p:spPr/>
        <p:txBody>
          <a:bodyPr>
            <a:normAutofit lnSpcReduction="10000"/>
          </a:bodyPr>
          <a:lstStyle/>
          <a:p>
            <a:pPr marL="0" indent="0">
              <a:buNone/>
            </a:pPr>
            <a:r>
              <a:rPr lang="en-GB" sz="4000" dirty="0"/>
              <a:t>	Equal to (same as)</a:t>
            </a:r>
          </a:p>
          <a:p>
            <a:pPr marL="0" indent="0">
              <a:buNone/>
            </a:pPr>
            <a:r>
              <a:rPr lang="en-GB" sz="4000" dirty="0"/>
              <a:t>	Greater than	</a:t>
            </a:r>
          </a:p>
          <a:p>
            <a:pPr marL="0" indent="0">
              <a:buNone/>
            </a:pPr>
            <a:r>
              <a:rPr lang="en-GB" sz="4000" dirty="0"/>
              <a:t>	Greater than or equal to	</a:t>
            </a:r>
          </a:p>
          <a:p>
            <a:pPr marL="0" indent="0">
              <a:buNone/>
            </a:pPr>
            <a:r>
              <a:rPr lang="en-GB" sz="4000" dirty="0"/>
              <a:t>	Less than or equal to	</a:t>
            </a:r>
          </a:p>
          <a:p>
            <a:pPr marL="0" indent="0">
              <a:buNone/>
            </a:pPr>
            <a:r>
              <a:rPr lang="en-GB" sz="4000" dirty="0"/>
              <a:t>	Less than</a:t>
            </a:r>
          </a:p>
          <a:p>
            <a:pPr marL="0" indent="0">
              <a:buNone/>
            </a:pPr>
            <a:r>
              <a:rPr lang="en-GB" sz="4000" dirty="0"/>
              <a:t>	Not equal to (not the same as)</a:t>
            </a:r>
          </a:p>
        </p:txBody>
      </p:sp>
    </p:spTree>
    <p:extLst>
      <p:ext uri="{BB962C8B-B14F-4D97-AF65-F5344CB8AC3E}">
        <p14:creationId xmlns:p14="http://schemas.microsoft.com/office/powerpoint/2010/main" val="2397342803"/>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p:cNvSpPr>
            <a:spLocks noGrp="1"/>
          </p:cNvSpPr>
          <p:nvPr>
            <p:ph type="title"/>
          </p:nvPr>
        </p:nvSpPr>
        <p:spPr/>
        <p:txBody>
          <a:bodyPr/>
          <a:lstStyle/>
          <a:p>
            <a:r>
              <a:rPr lang="en-GB" dirty="0"/>
              <a:t>Attributes Types</a:t>
            </a:r>
          </a:p>
        </p:txBody>
      </p:sp>
      <p:graphicFrame>
        <p:nvGraphicFramePr>
          <p:cNvPr id="5" name="Table 4"/>
          <p:cNvGraphicFramePr>
            <a:graphicFrameLocks noGrp="1"/>
          </p:cNvGraphicFramePr>
          <p:nvPr>
            <p:extLst>
              <p:ext uri="{D42A27DB-BD31-4B8C-83A1-F6EECF244321}">
                <p14:modId xmlns:p14="http://schemas.microsoft.com/office/powerpoint/2010/main" val="3969298644"/>
              </p:ext>
            </p:extLst>
          </p:nvPr>
        </p:nvGraphicFramePr>
        <p:xfrm>
          <a:off x="838199" y="1690688"/>
          <a:ext cx="10700657" cy="4732535"/>
        </p:xfrm>
        <a:graphic>
          <a:graphicData uri="http://schemas.openxmlformats.org/drawingml/2006/table">
            <a:tbl>
              <a:tblPr firstRow="1" bandRow="1">
                <a:tableStyleId>{5C22544A-7EE6-4342-B048-85BDC9FD1C3A}</a:tableStyleId>
              </a:tblPr>
              <a:tblGrid>
                <a:gridCol w="2304620">
                  <a:extLst>
                    <a:ext uri="{9D8B030D-6E8A-4147-A177-3AD203B41FA5}">
                      <a16:colId xmlns:a16="http://schemas.microsoft.com/office/drawing/2014/main" val="3886860534"/>
                    </a:ext>
                  </a:extLst>
                </a:gridCol>
                <a:gridCol w="4829151">
                  <a:extLst>
                    <a:ext uri="{9D8B030D-6E8A-4147-A177-3AD203B41FA5}">
                      <a16:colId xmlns:a16="http://schemas.microsoft.com/office/drawing/2014/main" val="2462689531"/>
                    </a:ext>
                  </a:extLst>
                </a:gridCol>
                <a:gridCol w="3566886">
                  <a:extLst>
                    <a:ext uri="{9D8B030D-6E8A-4147-A177-3AD203B41FA5}">
                      <a16:colId xmlns:a16="http://schemas.microsoft.com/office/drawing/2014/main" val="2428889176"/>
                    </a:ext>
                  </a:extLst>
                </a:gridCol>
              </a:tblGrid>
              <a:tr h="720000">
                <a:tc>
                  <a:txBody>
                    <a:bodyPr/>
                    <a:lstStyle/>
                    <a:p>
                      <a:r>
                        <a:rPr lang="en-GB" sz="4000"/>
                        <a:t>Type</a:t>
                      </a:r>
                    </a:p>
                  </a:txBody>
                  <a:tcPr anchor="ctr"/>
                </a:tc>
                <a:tc>
                  <a:txBody>
                    <a:bodyPr/>
                    <a:lstStyle/>
                    <a:p>
                      <a:r>
                        <a:rPr lang="en-GB" sz="4000"/>
                        <a:t>Description</a:t>
                      </a:r>
                      <a:endParaRPr lang="en-GB"/>
                    </a:p>
                  </a:txBody>
                  <a:tcPr anchor="ctr"/>
                </a:tc>
                <a:tc>
                  <a:txBody>
                    <a:bodyPr/>
                    <a:lstStyle/>
                    <a:p>
                      <a:r>
                        <a:rPr lang="en-GB" sz="4000"/>
                        <a:t>Examples</a:t>
                      </a:r>
                    </a:p>
                  </a:txBody>
                  <a:tcPr anchor="ctr"/>
                </a:tc>
                <a:extLst>
                  <a:ext uri="{0D108BD9-81ED-4DB2-BD59-A6C34878D82A}">
                    <a16:rowId xmlns:a16="http://schemas.microsoft.com/office/drawing/2014/main" val="2306187331"/>
                  </a:ext>
                </a:extLst>
              </a:tr>
              <a:tr h="802507">
                <a:tc>
                  <a:txBody>
                    <a:bodyPr/>
                    <a:lstStyle/>
                    <a:p>
                      <a:r>
                        <a:rPr lang="en-GB" sz="3600" dirty="0"/>
                        <a:t>text</a:t>
                      </a:r>
                    </a:p>
                  </a:txBody>
                  <a:tcPr anchor="ctr"/>
                </a:tc>
                <a:tc>
                  <a:txBody>
                    <a:bodyPr/>
                    <a:lstStyle/>
                    <a:p>
                      <a:r>
                        <a:rPr lang="en-GB" sz="3600" dirty="0"/>
                        <a:t>One or more characters</a:t>
                      </a: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3600" dirty="0"/>
                        <a:t>"Hello", "01871"</a:t>
                      </a:r>
                    </a:p>
                  </a:txBody>
                  <a:tcPr anchor="ctr"/>
                </a:tc>
                <a:extLst>
                  <a:ext uri="{0D108BD9-81ED-4DB2-BD59-A6C34878D82A}">
                    <a16:rowId xmlns:a16="http://schemas.microsoft.com/office/drawing/2014/main" val="3461540582"/>
                  </a:ext>
                </a:extLst>
              </a:tr>
              <a:tr h="802507">
                <a:tc>
                  <a:txBody>
                    <a:bodyPr/>
                    <a:lstStyle/>
                    <a:p>
                      <a:r>
                        <a:rPr lang="en-GB" sz="3600" dirty="0"/>
                        <a:t>number</a:t>
                      </a:r>
                    </a:p>
                  </a:txBody>
                  <a:tcPr anchor="ctr"/>
                </a:tc>
                <a:tc>
                  <a:txBody>
                    <a:bodyPr/>
                    <a:lstStyle/>
                    <a:p>
                      <a:r>
                        <a:rPr lang="en-GB" sz="3600" dirty="0"/>
                        <a:t>Integer or real</a:t>
                      </a:r>
                    </a:p>
                  </a:txBody>
                  <a:tcPr anchor="ctr"/>
                </a:tc>
                <a:tc>
                  <a:txBody>
                    <a:bodyPr/>
                    <a:lstStyle/>
                    <a:p>
                      <a:r>
                        <a:rPr lang="en-GB" sz="3600" dirty="0"/>
                        <a:t>0, 0.0, 87, - 3.14</a:t>
                      </a:r>
                    </a:p>
                  </a:txBody>
                  <a:tcPr anchor="ctr"/>
                </a:tc>
                <a:extLst>
                  <a:ext uri="{0D108BD9-81ED-4DB2-BD59-A6C34878D82A}">
                    <a16:rowId xmlns:a16="http://schemas.microsoft.com/office/drawing/2014/main" val="3725072174"/>
                  </a:ext>
                </a:extLst>
              </a:tr>
              <a:tr h="802507">
                <a:tc>
                  <a:txBody>
                    <a:bodyPr/>
                    <a:lstStyle/>
                    <a:p>
                      <a:r>
                        <a:rPr lang="en-GB" sz="3600" dirty="0"/>
                        <a:t>date</a:t>
                      </a:r>
                    </a:p>
                  </a:txBody>
                  <a:tcPr anchor="ctr"/>
                </a:tc>
                <a:tc>
                  <a:txBody>
                    <a:bodyPr/>
                    <a:lstStyle/>
                    <a:p>
                      <a:r>
                        <a:rPr lang="en-GB" sz="3600" dirty="0"/>
                        <a:t>Year, Month, Day</a:t>
                      </a:r>
                    </a:p>
                  </a:txBody>
                  <a:tcPr anchor="ctr"/>
                </a:tc>
                <a:tc>
                  <a:txBody>
                    <a:bodyPr/>
                    <a:lstStyle/>
                    <a:p>
                      <a:r>
                        <a:rPr lang="en-GB" sz="3600" dirty="0"/>
                        <a:t>"2023-11-21"</a:t>
                      </a:r>
                    </a:p>
                  </a:txBody>
                  <a:tcPr anchor="ctr"/>
                </a:tc>
                <a:extLst>
                  <a:ext uri="{0D108BD9-81ED-4DB2-BD59-A6C34878D82A}">
                    <a16:rowId xmlns:a16="http://schemas.microsoft.com/office/drawing/2014/main" val="2280682125"/>
                  </a:ext>
                </a:extLst>
              </a:tr>
              <a:tr h="802507">
                <a:tc>
                  <a:txBody>
                    <a:bodyPr/>
                    <a:lstStyle/>
                    <a:p>
                      <a:r>
                        <a:rPr lang="en-GB" sz="3600" dirty="0"/>
                        <a:t>time</a:t>
                      </a:r>
                    </a:p>
                  </a:txBody>
                  <a:tcPr anchor="ctr"/>
                </a:tc>
                <a:tc>
                  <a:txBody>
                    <a:bodyPr/>
                    <a:lstStyle/>
                    <a:p>
                      <a:r>
                        <a:rPr lang="en-GB" sz="3600" dirty="0"/>
                        <a:t>Hours, Minutes, Seconds</a:t>
                      </a:r>
                    </a:p>
                  </a:txBody>
                  <a:tcPr anchor="ctr"/>
                </a:tc>
                <a:tc>
                  <a:txBody>
                    <a:bodyPr/>
                    <a:lstStyle/>
                    <a:p>
                      <a:r>
                        <a:rPr lang="en-GB" sz="3600" dirty="0"/>
                        <a:t>"14:00</a:t>
                      </a:r>
                      <a:r>
                        <a:rPr lang="en-GB" sz="3600" dirty="0">
                          <a:sym typeface="Wingdings" panose="05000000000000000000" pitchFamily="2" charset="2"/>
                        </a:rPr>
                        <a:t>:00</a:t>
                      </a:r>
                      <a:r>
                        <a:rPr lang="en-GB" sz="3600" dirty="0"/>
                        <a:t>"</a:t>
                      </a:r>
                    </a:p>
                  </a:txBody>
                  <a:tcPr anchor="ctr"/>
                </a:tc>
                <a:extLst>
                  <a:ext uri="{0D108BD9-81ED-4DB2-BD59-A6C34878D82A}">
                    <a16:rowId xmlns:a16="http://schemas.microsoft.com/office/drawing/2014/main" val="40948160"/>
                  </a:ext>
                </a:extLst>
              </a:tr>
              <a:tr h="802507">
                <a:tc>
                  <a:txBody>
                    <a:bodyPr/>
                    <a:lstStyle/>
                    <a:p>
                      <a:r>
                        <a:rPr lang="en-GB" sz="3600"/>
                        <a:t>Boolean</a:t>
                      </a:r>
                    </a:p>
                  </a:txBody>
                  <a:tcPr anchor="ctr"/>
                </a:tc>
                <a:tc>
                  <a:txBody>
                    <a:bodyPr/>
                    <a:lstStyle/>
                    <a:p>
                      <a:r>
                        <a:rPr lang="en-GB" sz="3600"/>
                        <a:t>Binary – two states</a:t>
                      </a:r>
                    </a:p>
                  </a:txBody>
                  <a:tcPr anchor="ctr"/>
                </a:tc>
                <a:tc>
                  <a:txBody>
                    <a:bodyPr/>
                    <a:lstStyle/>
                    <a:p>
                      <a:r>
                        <a:rPr lang="en-GB" sz="3600" dirty="0"/>
                        <a:t>TRUE / FALSE</a:t>
                      </a:r>
                    </a:p>
                  </a:txBody>
                  <a:tcPr anchor="ctr"/>
                </a:tc>
                <a:extLst>
                  <a:ext uri="{0D108BD9-81ED-4DB2-BD59-A6C34878D82A}">
                    <a16:rowId xmlns:a16="http://schemas.microsoft.com/office/drawing/2014/main" val="788213604"/>
                  </a:ext>
                </a:extLst>
              </a:tr>
            </a:tbl>
          </a:graphicData>
        </a:graphic>
      </p:graphicFrame>
    </p:spTree>
    <p:extLst>
      <p:ext uri="{BB962C8B-B14F-4D97-AF65-F5344CB8AC3E}">
        <p14:creationId xmlns:p14="http://schemas.microsoft.com/office/powerpoint/2010/main" val="140495012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1" fill="hold"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wipe(up)">
                                      <p:cBhvr>
                                        <p:cTn id="7" dur="20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6.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p:cNvSpPr>
            <a:spLocks noGrp="1"/>
          </p:cNvSpPr>
          <p:nvPr>
            <p:ph type="title"/>
          </p:nvPr>
        </p:nvSpPr>
        <p:spPr/>
        <p:txBody>
          <a:bodyPr/>
          <a:lstStyle/>
          <a:p>
            <a:r>
              <a:rPr lang="en-GB" dirty="0"/>
              <a:t>Attributes Types</a:t>
            </a:r>
          </a:p>
        </p:txBody>
      </p:sp>
      <p:graphicFrame>
        <p:nvGraphicFramePr>
          <p:cNvPr id="5" name="Table 4"/>
          <p:cNvGraphicFramePr>
            <a:graphicFrameLocks noGrp="1"/>
          </p:cNvGraphicFramePr>
          <p:nvPr>
            <p:extLst>
              <p:ext uri="{D42A27DB-BD31-4B8C-83A1-F6EECF244321}">
                <p14:modId xmlns:p14="http://schemas.microsoft.com/office/powerpoint/2010/main" val="870573768"/>
              </p:ext>
            </p:extLst>
          </p:nvPr>
        </p:nvGraphicFramePr>
        <p:xfrm>
          <a:off x="838199" y="1690688"/>
          <a:ext cx="10700657" cy="4732535"/>
        </p:xfrm>
        <a:graphic>
          <a:graphicData uri="http://schemas.openxmlformats.org/drawingml/2006/table">
            <a:tbl>
              <a:tblPr firstRow="1" bandRow="1">
                <a:tableStyleId>{5C22544A-7EE6-4342-B048-85BDC9FD1C3A}</a:tableStyleId>
              </a:tblPr>
              <a:tblGrid>
                <a:gridCol w="2304620">
                  <a:extLst>
                    <a:ext uri="{9D8B030D-6E8A-4147-A177-3AD203B41FA5}">
                      <a16:colId xmlns:a16="http://schemas.microsoft.com/office/drawing/2014/main" val="3886860534"/>
                    </a:ext>
                  </a:extLst>
                </a:gridCol>
                <a:gridCol w="4829151">
                  <a:extLst>
                    <a:ext uri="{9D8B030D-6E8A-4147-A177-3AD203B41FA5}">
                      <a16:colId xmlns:a16="http://schemas.microsoft.com/office/drawing/2014/main" val="2462689531"/>
                    </a:ext>
                  </a:extLst>
                </a:gridCol>
                <a:gridCol w="3566886">
                  <a:extLst>
                    <a:ext uri="{9D8B030D-6E8A-4147-A177-3AD203B41FA5}">
                      <a16:colId xmlns:a16="http://schemas.microsoft.com/office/drawing/2014/main" val="2428889176"/>
                    </a:ext>
                  </a:extLst>
                </a:gridCol>
              </a:tblGrid>
              <a:tr h="720000">
                <a:tc>
                  <a:txBody>
                    <a:bodyPr/>
                    <a:lstStyle/>
                    <a:p>
                      <a:r>
                        <a:rPr lang="en-GB" sz="4000"/>
                        <a:t>Type</a:t>
                      </a:r>
                    </a:p>
                  </a:txBody>
                  <a:tcPr anchor="ctr"/>
                </a:tc>
                <a:tc>
                  <a:txBody>
                    <a:bodyPr/>
                    <a:lstStyle/>
                    <a:p>
                      <a:r>
                        <a:rPr lang="en-GB" sz="4000"/>
                        <a:t>Description</a:t>
                      </a:r>
                      <a:endParaRPr lang="en-GB"/>
                    </a:p>
                  </a:txBody>
                  <a:tcPr anchor="ctr"/>
                </a:tc>
                <a:tc>
                  <a:txBody>
                    <a:bodyPr/>
                    <a:lstStyle/>
                    <a:p>
                      <a:r>
                        <a:rPr lang="en-GB" sz="4000"/>
                        <a:t>Examples</a:t>
                      </a:r>
                    </a:p>
                  </a:txBody>
                  <a:tcPr anchor="ctr"/>
                </a:tc>
                <a:extLst>
                  <a:ext uri="{0D108BD9-81ED-4DB2-BD59-A6C34878D82A}">
                    <a16:rowId xmlns:a16="http://schemas.microsoft.com/office/drawing/2014/main" val="2306187331"/>
                  </a:ext>
                </a:extLst>
              </a:tr>
              <a:tr h="802507">
                <a:tc>
                  <a:txBody>
                    <a:bodyPr/>
                    <a:lstStyle/>
                    <a:p>
                      <a:endParaRPr lang="en-GB" sz="3600" dirty="0"/>
                    </a:p>
                  </a:txBody>
                  <a:tcPr anchor="ctr"/>
                </a:tc>
                <a:tc>
                  <a:txBody>
                    <a:bodyPr/>
                    <a:lstStyle/>
                    <a:p>
                      <a:r>
                        <a:rPr lang="en-GB" sz="3600" dirty="0"/>
                        <a:t>One or more characters</a:t>
                      </a: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3600" dirty="0"/>
                        <a:t>"Hello", "01871"</a:t>
                      </a:r>
                    </a:p>
                  </a:txBody>
                  <a:tcPr anchor="ctr"/>
                </a:tc>
                <a:extLst>
                  <a:ext uri="{0D108BD9-81ED-4DB2-BD59-A6C34878D82A}">
                    <a16:rowId xmlns:a16="http://schemas.microsoft.com/office/drawing/2014/main" val="3461540582"/>
                  </a:ext>
                </a:extLst>
              </a:tr>
              <a:tr h="802507">
                <a:tc>
                  <a:txBody>
                    <a:bodyPr/>
                    <a:lstStyle/>
                    <a:p>
                      <a:endParaRPr lang="en-GB" sz="3600" dirty="0"/>
                    </a:p>
                  </a:txBody>
                  <a:tcPr anchor="ctr"/>
                </a:tc>
                <a:tc>
                  <a:txBody>
                    <a:bodyPr/>
                    <a:lstStyle/>
                    <a:p>
                      <a:r>
                        <a:rPr lang="en-GB" sz="3600" dirty="0"/>
                        <a:t>Integer or real</a:t>
                      </a:r>
                    </a:p>
                  </a:txBody>
                  <a:tcPr anchor="ctr"/>
                </a:tc>
                <a:tc>
                  <a:txBody>
                    <a:bodyPr/>
                    <a:lstStyle/>
                    <a:p>
                      <a:r>
                        <a:rPr lang="en-GB" sz="3600" dirty="0"/>
                        <a:t>0, 0.0, 87, - 3.14</a:t>
                      </a:r>
                    </a:p>
                  </a:txBody>
                  <a:tcPr anchor="ctr"/>
                </a:tc>
                <a:extLst>
                  <a:ext uri="{0D108BD9-81ED-4DB2-BD59-A6C34878D82A}">
                    <a16:rowId xmlns:a16="http://schemas.microsoft.com/office/drawing/2014/main" val="3725072174"/>
                  </a:ext>
                </a:extLst>
              </a:tr>
              <a:tr h="802507">
                <a:tc>
                  <a:txBody>
                    <a:bodyPr/>
                    <a:lstStyle/>
                    <a:p>
                      <a:endParaRPr lang="en-GB" sz="3600" dirty="0"/>
                    </a:p>
                  </a:txBody>
                  <a:tcPr anchor="ctr"/>
                </a:tc>
                <a:tc>
                  <a:txBody>
                    <a:bodyPr/>
                    <a:lstStyle/>
                    <a:p>
                      <a:r>
                        <a:rPr lang="en-GB" sz="3600" dirty="0"/>
                        <a:t>Year, Month, Day</a:t>
                      </a:r>
                    </a:p>
                  </a:txBody>
                  <a:tcPr anchor="ctr"/>
                </a:tc>
                <a:tc>
                  <a:txBody>
                    <a:bodyPr/>
                    <a:lstStyle/>
                    <a:p>
                      <a:r>
                        <a:rPr lang="en-GB" sz="3600" dirty="0"/>
                        <a:t>"2023-11-21"</a:t>
                      </a:r>
                    </a:p>
                  </a:txBody>
                  <a:tcPr anchor="ctr"/>
                </a:tc>
                <a:extLst>
                  <a:ext uri="{0D108BD9-81ED-4DB2-BD59-A6C34878D82A}">
                    <a16:rowId xmlns:a16="http://schemas.microsoft.com/office/drawing/2014/main" val="2280682125"/>
                  </a:ext>
                </a:extLst>
              </a:tr>
              <a:tr h="802507">
                <a:tc>
                  <a:txBody>
                    <a:bodyPr/>
                    <a:lstStyle/>
                    <a:p>
                      <a:endParaRPr lang="en-GB" sz="3600" dirty="0"/>
                    </a:p>
                  </a:txBody>
                  <a:tcPr anchor="ctr"/>
                </a:tc>
                <a:tc>
                  <a:txBody>
                    <a:bodyPr/>
                    <a:lstStyle/>
                    <a:p>
                      <a:r>
                        <a:rPr lang="en-GB" sz="3600" dirty="0"/>
                        <a:t>Hours, Minutes, Seconds</a:t>
                      </a:r>
                    </a:p>
                  </a:txBody>
                  <a:tcPr anchor="ctr"/>
                </a:tc>
                <a:tc>
                  <a:txBody>
                    <a:bodyPr/>
                    <a:lstStyle/>
                    <a:p>
                      <a:r>
                        <a:rPr lang="en-GB" sz="3600" dirty="0"/>
                        <a:t>"14:00:00"</a:t>
                      </a:r>
                    </a:p>
                  </a:txBody>
                  <a:tcPr anchor="ctr"/>
                </a:tc>
                <a:extLst>
                  <a:ext uri="{0D108BD9-81ED-4DB2-BD59-A6C34878D82A}">
                    <a16:rowId xmlns:a16="http://schemas.microsoft.com/office/drawing/2014/main" val="40948160"/>
                  </a:ext>
                </a:extLst>
              </a:tr>
              <a:tr h="802507">
                <a:tc>
                  <a:txBody>
                    <a:bodyPr/>
                    <a:lstStyle/>
                    <a:p>
                      <a:endParaRPr lang="en-GB" sz="3600" dirty="0"/>
                    </a:p>
                  </a:txBody>
                  <a:tcPr anchor="ctr"/>
                </a:tc>
                <a:tc>
                  <a:txBody>
                    <a:bodyPr/>
                    <a:lstStyle/>
                    <a:p>
                      <a:r>
                        <a:rPr lang="en-GB" sz="3600"/>
                        <a:t>Binary – two states</a:t>
                      </a:r>
                    </a:p>
                  </a:txBody>
                  <a:tcPr anchor="ctr"/>
                </a:tc>
                <a:tc>
                  <a:txBody>
                    <a:bodyPr/>
                    <a:lstStyle/>
                    <a:p>
                      <a:r>
                        <a:rPr lang="en-GB" sz="3600" dirty="0"/>
                        <a:t>TRUE / FALSE</a:t>
                      </a:r>
                    </a:p>
                  </a:txBody>
                  <a:tcPr anchor="ctr"/>
                </a:tc>
                <a:extLst>
                  <a:ext uri="{0D108BD9-81ED-4DB2-BD59-A6C34878D82A}">
                    <a16:rowId xmlns:a16="http://schemas.microsoft.com/office/drawing/2014/main" val="788213604"/>
                  </a:ext>
                </a:extLst>
              </a:tr>
            </a:tbl>
          </a:graphicData>
        </a:graphic>
      </p:graphicFrame>
    </p:spTree>
    <p:extLst>
      <p:ext uri="{BB962C8B-B14F-4D97-AF65-F5344CB8AC3E}">
        <p14:creationId xmlns:p14="http://schemas.microsoft.com/office/powerpoint/2010/main" val="152940196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1" fill="hold"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wipe(up)">
                                      <p:cBhvr>
                                        <p:cTn id="7" dur="20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Attributes Example</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SELECT</a:t>
            </a:r>
            <a:r>
              <a:rPr lang="en-US" altLang="en-US" sz="4400" dirty="0">
                <a:solidFill>
                  <a:srgbClr val="000000"/>
                </a:solidFill>
                <a:latin typeface="Consolas" panose="020B0609020204030204" pitchFamily="49" charset="0"/>
              </a:rPr>
              <a:t> *</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FROM</a:t>
            </a:r>
            <a:r>
              <a:rPr lang="en-US" altLang="en-US" sz="4400" dirty="0">
                <a:solidFill>
                  <a:srgbClr val="000000"/>
                </a:solidFill>
                <a:latin typeface="Consolas" panose="020B0609020204030204" pitchFamily="49" charset="0"/>
              </a:rPr>
              <a:t> Datatypes;</a:t>
            </a:r>
            <a:br>
              <a:rPr lang="en-US" altLang="en-US" sz="4400" dirty="0">
                <a:solidFill>
                  <a:srgbClr val="000000"/>
                </a:solidFill>
                <a:latin typeface="Consolas" panose="020B0609020204030204" pitchFamily="49" charset="0"/>
              </a:rPr>
            </a:br>
            <a:endParaRPr lang="en-US" altLang="en-US" sz="5400" dirty="0">
              <a:latin typeface="Arial" panose="020B0604020202020204" pitchFamily="34" charset="0"/>
            </a:endParaRPr>
          </a:p>
        </p:txBody>
      </p:sp>
      <p:grpSp>
        <p:nvGrpSpPr>
          <p:cNvPr id="18" name="Group 17">
            <a:extLst>
              <a:ext uri="{FF2B5EF4-FFF2-40B4-BE49-F238E27FC236}">
                <a16:creationId xmlns:a16="http://schemas.microsoft.com/office/drawing/2014/main" id="{3BB9987A-6107-490D-B52C-8CAAA98CF371}"/>
              </a:ext>
            </a:extLst>
          </p:cNvPr>
          <p:cNvGrpSpPr/>
          <p:nvPr/>
        </p:nvGrpSpPr>
        <p:grpSpPr>
          <a:xfrm>
            <a:off x="2450463" y="5699466"/>
            <a:ext cx="1012982" cy="703220"/>
            <a:chOff x="8269088" y="2149231"/>
            <a:chExt cx="3751393" cy="703220"/>
          </a:xfrm>
        </p:grpSpPr>
        <p:cxnSp>
          <p:nvCxnSpPr>
            <p:cNvPr id="19" name="Straight Connector 18">
              <a:extLst>
                <a:ext uri="{FF2B5EF4-FFF2-40B4-BE49-F238E27FC236}">
                  <a16:creationId xmlns:a16="http://schemas.microsoft.com/office/drawing/2014/main" id="{9F5B8D5F-B809-4A3F-A063-6015E23E4D23}"/>
                </a:ext>
              </a:extLst>
            </p:cNvPr>
            <p:cNvCxnSpPr>
              <a:cxnSpLocks/>
            </p:cNvCxnSpPr>
            <p:nvPr/>
          </p:nvCxnSpPr>
          <p:spPr>
            <a:xfrm>
              <a:off x="8269096" y="2149231"/>
              <a:ext cx="3751385" cy="0"/>
            </a:xfrm>
            <a:prstGeom prst="line">
              <a:avLst/>
            </a:prstGeom>
            <a:ln w="57150">
              <a:solidFill>
                <a:schemeClr val="accent6">
                  <a:lumMod val="75000"/>
                </a:schemeClr>
              </a:solidFill>
            </a:ln>
          </p:spPr>
          <p:style>
            <a:lnRef idx="1">
              <a:schemeClr val="accent1"/>
            </a:lnRef>
            <a:fillRef idx="0">
              <a:schemeClr val="accent1"/>
            </a:fillRef>
            <a:effectRef idx="0">
              <a:schemeClr val="accent1"/>
            </a:effectRef>
            <a:fontRef idx="minor">
              <a:schemeClr val="tx1"/>
            </a:fontRef>
          </p:style>
        </p:cxnSp>
        <p:cxnSp>
          <p:nvCxnSpPr>
            <p:cNvPr id="20" name="Straight Connector 19">
              <a:extLst>
                <a:ext uri="{FF2B5EF4-FFF2-40B4-BE49-F238E27FC236}">
                  <a16:creationId xmlns:a16="http://schemas.microsoft.com/office/drawing/2014/main" id="{19E1B545-6597-47A7-9D08-ED8BCC6F27DC}"/>
                </a:ext>
              </a:extLst>
            </p:cNvPr>
            <p:cNvCxnSpPr>
              <a:cxnSpLocks/>
            </p:cNvCxnSpPr>
            <p:nvPr/>
          </p:nvCxnSpPr>
          <p:spPr>
            <a:xfrm flipV="1">
              <a:off x="10144788" y="2149231"/>
              <a:ext cx="0" cy="180000"/>
            </a:xfrm>
            <a:prstGeom prst="line">
              <a:avLst/>
            </a:prstGeom>
            <a:ln w="38100">
              <a:solidFill>
                <a:schemeClr val="accent6">
                  <a:lumMod val="75000"/>
                </a:schemeClr>
              </a:solidFill>
            </a:ln>
          </p:spPr>
          <p:style>
            <a:lnRef idx="1">
              <a:schemeClr val="accent1"/>
            </a:lnRef>
            <a:fillRef idx="0">
              <a:schemeClr val="accent1"/>
            </a:fillRef>
            <a:effectRef idx="0">
              <a:schemeClr val="accent1"/>
            </a:effectRef>
            <a:fontRef idx="minor">
              <a:schemeClr val="tx1"/>
            </a:fontRef>
          </p:style>
        </p:cxnSp>
        <p:sp>
          <p:nvSpPr>
            <p:cNvPr id="21" name="TextBox 20">
              <a:extLst>
                <a:ext uri="{FF2B5EF4-FFF2-40B4-BE49-F238E27FC236}">
                  <a16:creationId xmlns:a16="http://schemas.microsoft.com/office/drawing/2014/main" id="{E0A16EF2-6826-471D-B2CF-BB71EDA6BFB1}"/>
                </a:ext>
              </a:extLst>
            </p:cNvPr>
            <p:cNvSpPr txBox="1"/>
            <p:nvPr/>
          </p:nvSpPr>
          <p:spPr>
            <a:xfrm>
              <a:off x="8269088" y="2329231"/>
              <a:ext cx="3751389" cy="523220"/>
            </a:xfrm>
            <a:prstGeom prst="rect">
              <a:avLst/>
            </a:prstGeom>
            <a:noFill/>
          </p:spPr>
          <p:txBody>
            <a:bodyPr wrap="square" rtlCol="0">
              <a:spAutoFit/>
            </a:bodyPr>
            <a:lstStyle/>
            <a:p>
              <a:pPr algn="ctr"/>
              <a:r>
                <a:rPr lang="en-GB" sz="2800" b="1" dirty="0">
                  <a:solidFill>
                    <a:srgbClr val="7030A0"/>
                  </a:solidFill>
                </a:rPr>
                <a:t>Text</a:t>
              </a:r>
            </a:p>
          </p:txBody>
        </p:sp>
      </p:grpSp>
      <p:grpSp>
        <p:nvGrpSpPr>
          <p:cNvPr id="22" name="Group 21">
            <a:extLst>
              <a:ext uri="{FF2B5EF4-FFF2-40B4-BE49-F238E27FC236}">
                <a16:creationId xmlns:a16="http://schemas.microsoft.com/office/drawing/2014/main" id="{C7316428-005D-402D-8EEB-3402A215C071}"/>
              </a:ext>
            </a:extLst>
          </p:cNvPr>
          <p:cNvGrpSpPr/>
          <p:nvPr/>
        </p:nvGrpSpPr>
        <p:grpSpPr>
          <a:xfrm>
            <a:off x="4225835" y="5699466"/>
            <a:ext cx="1650670" cy="703220"/>
            <a:chOff x="7129853" y="2149231"/>
            <a:chExt cx="6112952" cy="703220"/>
          </a:xfrm>
        </p:grpSpPr>
        <p:cxnSp>
          <p:nvCxnSpPr>
            <p:cNvPr id="23" name="Straight Connector 22">
              <a:extLst>
                <a:ext uri="{FF2B5EF4-FFF2-40B4-BE49-F238E27FC236}">
                  <a16:creationId xmlns:a16="http://schemas.microsoft.com/office/drawing/2014/main" id="{3C5E83A0-6FED-47EE-9101-1780FD393035}"/>
                </a:ext>
              </a:extLst>
            </p:cNvPr>
            <p:cNvCxnSpPr>
              <a:cxnSpLocks/>
            </p:cNvCxnSpPr>
            <p:nvPr/>
          </p:nvCxnSpPr>
          <p:spPr>
            <a:xfrm>
              <a:off x="7129853" y="2149231"/>
              <a:ext cx="6112952" cy="0"/>
            </a:xfrm>
            <a:prstGeom prst="line">
              <a:avLst/>
            </a:prstGeom>
            <a:ln w="57150">
              <a:solidFill>
                <a:schemeClr val="accent6">
                  <a:lumMod val="75000"/>
                </a:schemeClr>
              </a:solidFill>
            </a:ln>
          </p:spPr>
          <p:style>
            <a:lnRef idx="1">
              <a:schemeClr val="accent1"/>
            </a:lnRef>
            <a:fillRef idx="0">
              <a:schemeClr val="accent1"/>
            </a:fillRef>
            <a:effectRef idx="0">
              <a:schemeClr val="accent1"/>
            </a:effectRef>
            <a:fontRef idx="minor">
              <a:schemeClr val="tx1"/>
            </a:fontRef>
          </p:style>
        </p:cxnSp>
        <p:cxnSp>
          <p:nvCxnSpPr>
            <p:cNvPr id="24" name="Straight Connector 23">
              <a:extLst>
                <a:ext uri="{FF2B5EF4-FFF2-40B4-BE49-F238E27FC236}">
                  <a16:creationId xmlns:a16="http://schemas.microsoft.com/office/drawing/2014/main" id="{7EC6D469-0506-45A0-827C-A9B1181B6DD4}"/>
                </a:ext>
              </a:extLst>
            </p:cNvPr>
            <p:cNvCxnSpPr>
              <a:cxnSpLocks/>
            </p:cNvCxnSpPr>
            <p:nvPr/>
          </p:nvCxnSpPr>
          <p:spPr>
            <a:xfrm flipV="1">
              <a:off x="10182415" y="2149231"/>
              <a:ext cx="0" cy="180000"/>
            </a:xfrm>
            <a:prstGeom prst="line">
              <a:avLst/>
            </a:prstGeom>
            <a:ln w="38100">
              <a:solidFill>
                <a:schemeClr val="accent6">
                  <a:lumMod val="75000"/>
                </a:schemeClr>
              </a:solidFill>
            </a:ln>
          </p:spPr>
          <p:style>
            <a:lnRef idx="1">
              <a:schemeClr val="accent1"/>
            </a:lnRef>
            <a:fillRef idx="0">
              <a:schemeClr val="accent1"/>
            </a:fillRef>
            <a:effectRef idx="0">
              <a:schemeClr val="accent1"/>
            </a:effectRef>
            <a:fontRef idx="minor">
              <a:schemeClr val="tx1"/>
            </a:fontRef>
          </p:style>
        </p:cxnSp>
        <p:sp>
          <p:nvSpPr>
            <p:cNvPr id="25" name="TextBox 24">
              <a:extLst>
                <a:ext uri="{FF2B5EF4-FFF2-40B4-BE49-F238E27FC236}">
                  <a16:creationId xmlns:a16="http://schemas.microsoft.com/office/drawing/2014/main" id="{6B8F1B0E-5AD5-4146-85BD-47A29F3B0A53}"/>
                </a:ext>
              </a:extLst>
            </p:cNvPr>
            <p:cNvSpPr txBox="1"/>
            <p:nvPr/>
          </p:nvSpPr>
          <p:spPr>
            <a:xfrm>
              <a:off x="7129853" y="2329231"/>
              <a:ext cx="6112952" cy="523220"/>
            </a:xfrm>
            <a:prstGeom prst="rect">
              <a:avLst/>
            </a:prstGeom>
            <a:noFill/>
          </p:spPr>
          <p:txBody>
            <a:bodyPr wrap="square" rtlCol="0">
              <a:spAutoFit/>
            </a:bodyPr>
            <a:lstStyle/>
            <a:p>
              <a:pPr algn="ctr"/>
              <a:r>
                <a:rPr lang="en-GB" sz="2800" b="1" dirty="0">
                  <a:solidFill>
                    <a:srgbClr val="7030A0"/>
                  </a:solidFill>
                </a:rPr>
                <a:t>Number</a:t>
              </a:r>
            </a:p>
          </p:txBody>
        </p:sp>
      </p:grpSp>
      <p:grpSp>
        <p:nvGrpSpPr>
          <p:cNvPr id="26" name="Group 25">
            <a:extLst>
              <a:ext uri="{FF2B5EF4-FFF2-40B4-BE49-F238E27FC236}">
                <a16:creationId xmlns:a16="http://schemas.microsoft.com/office/drawing/2014/main" id="{19D75174-A5CA-4929-9FBC-0CB13DA416CB}"/>
              </a:ext>
            </a:extLst>
          </p:cNvPr>
          <p:cNvGrpSpPr/>
          <p:nvPr/>
        </p:nvGrpSpPr>
        <p:grpSpPr>
          <a:xfrm>
            <a:off x="6124400" y="5699466"/>
            <a:ext cx="1397827" cy="703220"/>
            <a:chOff x="7919317" y="2149231"/>
            <a:chExt cx="5176595" cy="703220"/>
          </a:xfrm>
        </p:grpSpPr>
        <p:cxnSp>
          <p:nvCxnSpPr>
            <p:cNvPr id="27" name="Straight Connector 26">
              <a:extLst>
                <a:ext uri="{FF2B5EF4-FFF2-40B4-BE49-F238E27FC236}">
                  <a16:creationId xmlns:a16="http://schemas.microsoft.com/office/drawing/2014/main" id="{F7CB9BEC-190A-4581-BCED-C1C666114E61}"/>
                </a:ext>
              </a:extLst>
            </p:cNvPr>
            <p:cNvCxnSpPr>
              <a:cxnSpLocks/>
            </p:cNvCxnSpPr>
            <p:nvPr/>
          </p:nvCxnSpPr>
          <p:spPr>
            <a:xfrm>
              <a:off x="7919317" y="2149231"/>
              <a:ext cx="5176595" cy="0"/>
            </a:xfrm>
            <a:prstGeom prst="line">
              <a:avLst/>
            </a:prstGeom>
            <a:ln w="57150">
              <a:solidFill>
                <a:schemeClr val="accent6">
                  <a:lumMod val="75000"/>
                </a:schemeClr>
              </a:solidFill>
            </a:ln>
          </p:spPr>
          <p:style>
            <a:lnRef idx="1">
              <a:schemeClr val="accent1"/>
            </a:lnRef>
            <a:fillRef idx="0">
              <a:schemeClr val="accent1"/>
            </a:fillRef>
            <a:effectRef idx="0">
              <a:schemeClr val="accent1"/>
            </a:effectRef>
            <a:fontRef idx="minor">
              <a:schemeClr val="tx1"/>
            </a:fontRef>
          </p:style>
        </p:cxnSp>
        <p:cxnSp>
          <p:nvCxnSpPr>
            <p:cNvPr id="28" name="Straight Connector 27">
              <a:extLst>
                <a:ext uri="{FF2B5EF4-FFF2-40B4-BE49-F238E27FC236}">
                  <a16:creationId xmlns:a16="http://schemas.microsoft.com/office/drawing/2014/main" id="{5AC3FF36-1D2A-41E1-B14C-C0507DF33682}"/>
                </a:ext>
              </a:extLst>
            </p:cNvPr>
            <p:cNvCxnSpPr>
              <a:cxnSpLocks/>
            </p:cNvCxnSpPr>
            <p:nvPr/>
          </p:nvCxnSpPr>
          <p:spPr>
            <a:xfrm flipV="1">
              <a:off x="10492825" y="2149231"/>
              <a:ext cx="0" cy="180000"/>
            </a:xfrm>
            <a:prstGeom prst="line">
              <a:avLst/>
            </a:prstGeom>
            <a:ln w="38100">
              <a:solidFill>
                <a:schemeClr val="accent6">
                  <a:lumMod val="75000"/>
                </a:schemeClr>
              </a:solidFill>
            </a:ln>
          </p:spPr>
          <p:style>
            <a:lnRef idx="1">
              <a:schemeClr val="accent1"/>
            </a:lnRef>
            <a:fillRef idx="0">
              <a:schemeClr val="accent1"/>
            </a:fillRef>
            <a:effectRef idx="0">
              <a:schemeClr val="accent1"/>
            </a:effectRef>
            <a:fontRef idx="minor">
              <a:schemeClr val="tx1"/>
            </a:fontRef>
          </p:style>
        </p:cxnSp>
        <p:sp>
          <p:nvSpPr>
            <p:cNvPr id="29" name="TextBox 28">
              <a:extLst>
                <a:ext uri="{FF2B5EF4-FFF2-40B4-BE49-F238E27FC236}">
                  <a16:creationId xmlns:a16="http://schemas.microsoft.com/office/drawing/2014/main" id="{F8FB1546-1B52-4F92-944F-FB89E2921207}"/>
                </a:ext>
              </a:extLst>
            </p:cNvPr>
            <p:cNvSpPr txBox="1"/>
            <p:nvPr/>
          </p:nvSpPr>
          <p:spPr>
            <a:xfrm>
              <a:off x="7919317" y="2329231"/>
              <a:ext cx="5176573" cy="523220"/>
            </a:xfrm>
            <a:prstGeom prst="rect">
              <a:avLst/>
            </a:prstGeom>
            <a:noFill/>
          </p:spPr>
          <p:txBody>
            <a:bodyPr wrap="square" rtlCol="0">
              <a:spAutoFit/>
            </a:bodyPr>
            <a:lstStyle/>
            <a:p>
              <a:pPr algn="ctr"/>
              <a:r>
                <a:rPr lang="en-GB" sz="2800" b="1" dirty="0">
                  <a:solidFill>
                    <a:srgbClr val="7030A0"/>
                  </a:solidFill>
                </a:rPr>
                <a:t>Date</a:t>
              </a:r>
            </a:p>
          </p:txBody>
        </p:sp>
      </p:grpSp>
      <p:grpSp>
        <p:nvGrpSpPr>
          <p:cNvPr id="32" name="Group 31">
            <a:extLst>
              <a:ext uri="{FF2B5EF4-FFF2-40B4-BE49-F238E27FC236}">
                <a16:creationId xmlns:a16="http://schemas.microsoft.com/office/drawing/2014/main" id="{E90030F4-B936-4A76-A772-450565C086DC}"/>
              </a:ext>
            </a:extLst>
          </p:cNvPr>
          <p:cNvGrpSpPr/>
          <p:nvPr/>
        </p:nvGrpSpPr>
        <p:grpSpPr>
          <a:xfrm>
            <a:off x="7831651" y="5699466"/>
            <a:ext cx="1086714" cy="703220"/>
            <a:chOff x="7919317" y="2149231"/>
            <a:chExt cx="4024445" cy="703220"/>
          </a:xfrm>
        </p:grpSpPr>
        <p:cxnSp>
          <p:nvCxnSpPr>
            <p:cNvPr id="33" name="Straight Connector 32">
              <a:extLst>
                <a:ext uri="{FF2B5EF4-FFF2-40B4-BE49-F238E27FC236}">
                  <a16:creationId xmlns:a16="http://schemas.microsoft.com/office/drawing/2014/main" id="{882D16C4-CB66-4DD9-8E2A-DB745713908F}"/>
                </a:ext>
              </a:extLst>
            </p:cNvPr>
            <p:cNvCxnSpPr>
              <a:cxnSpLocks/>
            </p:cNvCxnSpPr>
            <p:nvPr/>
          </p:nvCxnSpPr>
          <p:spPr>
            <a:xfrm>
              <a:off x="7919317" y="2149231"/>
              <a:ext cx="4024445" cy="0"/>
            </a:xfrm>
            <a:prstGeom prst="line">
              <a:avLst/>
            </a:prstGeom>
            <a:ln w="57150">
              <a:solidFill>
                <a:schemeClr val="accent6">
                  <a:lumMod val="75000"/>
                </a:schemeClr>
              </a:solidFill>
            </a:ln>
          </p:spPr>
          <p:style>
            <a:lnRef idx="1">
              <a:schemeClr val="accent1"/>
            </a:lnRef>
            <a:fillRef idx="0">
              <a:schemeClr val="accent1"/>
            </a:fillRef>
            <a:effectRef idx="0">
              <a:schemeClr val="accent1"/>
            </a:effectRef>
            <a:fontRef idx="minor">
              <a:schemeClr val="tx1"/>
            </a:fontRef>
          </p:style>
        </p:cxnSp>
        <p:cxnSp>
          <p:nvCxnSpPr>
            <p:cNvPr id="34" name="Straight Connector 33">
              <a:extLst>
                <a:ext uri="{FF2B5EF4-FFF2-40B4-BE49-F238E27FC236}">
                  <a16:creationId xmlns:a16="http://schemas.microsoft.com/office/drawing/2014/main" id="{B5631C90-EBAE-475E-93F4-AE9C811DBF4B}"/>
                </a:ext>
              </a:extLst>
            </p:cNvPr>
            <p:cNvCxnSpPr>
              <a:cxnSpLocks/>
              <a:stCxn id="35" idx="0"/>
            </p:cNvCxnSpPr>
            <p:nvPr/>
          </p:nvCxnSpPr>
          <p:spPr>
            <a:xfrm flipH="1" flipV="1">
              <a:off x="9931536" y="2149231"/>
              <a:ext cx="4" cy="180000"/>
            </a:xfrm>
            <a:prstGeom prst="line">
              <a:avLst/>
            </a:prstGeom>
            <a:ln w="38100">
              <a:solidFill>
                <a:schemeClr val="accent6">
                  <a:lumMod val="75000"/>
                </a:schemeClr>
              </a:solidFill>
            </a:ln>
          </p:spPr>
          <p:style>
            <a:lnRef idx="1">
              <a:schemeClr val="accent1"/>
            </a:lnRef>
            <a:fillRef idx="0">
              <a:schemeClr val="accent1"/>
            </a:fillRef>
            <a:effectRef idx="0">
              <a:schemeClr val="accent1"/>
            </a:effectRef>
            <a:fontRef idx="minor">
              <a:schemeClr val="tx1"/>
            </a:fontRef>
          </p:style>
        </p:cxnSp>
        <p:sp>
          <p:nvSpPr>
            <p:cNvPr id="35" name="TextBox 34">
              <a:extLst>
                <a:ext uri="{FF2B5EF4-FFF2-40B4-BE49-F238E27FC236}">
                  <a16:creationId xmlns:a16="http://schemas.microsoft.com/office/drawing/2014/main" id="{00087746-F36A-4347-9616-5F4CCF533EDD}"/>
                </a:ext>
              </a:extLst>
            </p:cNvPr>
            <p:cNvSpPr txBox="1"/>
            <p:nvPr/>
          </p:nvSpPr>
          <p:spPr>
            <a:xfrm>
              <a:off x="7919317" y="2329231"/>
              <a:ext cx="4024445" cy="523220"/>
            </a:xfrm>
            <a:prstGeom prst="rect">
              <a:avLst/>
            </a:prstGeom>
            <a:noFill/>
          </p:spPr>
          <p:txBody>
            <a:bodyPr wrap="square" rtlCol="0">
              <a:spAutoFit/>
            </a:bodyPr>
            <a:lstStyle/>
            <a:p>
              <a:pPr algn="ctr"/>
              <a:r>
                <a:rPr lang="en-GB" sz="2800" b="1" dirty="0">
                  <a:solidFill>
                    <a:srgbClr val="7030A0"/>
                  </a:solidFill>
                </a:rPr>
                <a:t>Time</a:t>
              </a:r>
            </a:p>
          </p:txBody>
        </p:sp>
      </p:grpSp>
      <p:grpSp>
        <p:nvGrpSpPr>
          <p:cNvPr id="39" name="Group 38">
            <a:extLst>
              <a:ext uri="{FF2B5EF4-FFF2-40B4-BE49-F238E27FC236}">
                <a16:creationId xmlns:a16="http://schemas.microsoft.com/office/drawing/2014/main" id="{E653B77E-1210-43EE-9222-E347BDC74DBE}"/>
              </a:ext>
            </a:extLst>
          </p:cNvPr>
          <p:cNvGrpSpPr/>
          <p:nvPr/>
        </p:nvGrpSpPr>
        <p:grpSpPr>
          <a:xfrm>
            <a:off x="9161134" y="5699466"/>
            <a:ext cx="1418016" cy="703220"/>
            <a:chOff x="8269096" y="2149231"/>
            <a:chExt cx="5251361" cy="703220"/>
          </a:xfrm>
        </p:grpSpPr>
        <p:cxnSp>
          <p:nvCxnSpPr>
            <p:cNvPr id="40" name="Straight Connector 39">
              <a:extLst>
                <a:ext uri="{FF2B5EF4-FFF2-40B4-BE49-F238E27FC236}">
                  <a16:creationId xmlns:a16="http://schemas.microsoft.com/office/drawing/2014/main" id="{56EF5190-3D39-4234-A022-68EE2427B1A5}"/>
                </a:ext>
              </a:extLst>
            </p:cNvPr>
            <p:cNvCxnSpPr>
              <a:cxnSpLocks/>
            </p:cNvCxnSpPr>
            <p:nvPr/>
          </p:nvCxnSpPr>
          <p:spPr>
            <a:xfrm>
              <a:off x="8269096" y="2149231"/>
              <a:ext cx="1875692" cy="0"/>
            </a:xfrm>
            <a:prstGeom prst="line">
              <a:avLst/>
            </a:prstGeom>
            <a:ln w="57150">
              <a:solidFill>
                <a:schemeClr val="accent6">
                  <a:lumMod val="75000"/>
                </a:schemeClr>
              </a:solidFill>
            </a:ln>
          </p:spPr>
          <p:style>
            <a:lnRef idx="1">
              <a:schemeClr val="accent1"/>
            </a:lnRef>
            <a:fillRef idx="0">
              <a:schemeClr val="accent1"/>
            </a:fillRef>
            <a:effectRef idx="0">
              <a:schemeClr val="accent1"/>
            </a:effectRef>
            <a:fontRef idx="minor">
              <a:schemeClr val="tx1"/>
            </a:fontRef>
          </p:style>
        </p:cxnSp>
        <p:cxnSp>
          <p:nvCxnSpPr>
            <p:cNvPr id="41" name="Straight Connector 40">
              <a:extLst>
                <a:ext uri="{FF2B5EF4-FFF2-40B4-BE49-F238E27FC236}">
                  <a16:creationId xmlns:a16="http://schemas.microsoft.com/office/drawing/2014/main" id="{E623CE62-5819-48A4-B9A0-481F616A91E5}"/>
                </a:ext>
              </a:extLst>
            </p:cNvPr>
            <p:cNvCxnSpPr>
              <a:cxnSpLocks/>
            </p:cNvCxnSpPr>
            <p:nvPr/>
          </p:nvCxnSpPr>
          <p:spPr>
            <a:xfrm flipV="1">
              <a:off x="9251178" y="2149231"/>
              <a:ext cx="0" cy="180000"/>
            </a:xfrm>
            <a:prstGeom prst="line">
              <a:avLst/>
            </a:prstGeom>
            <a:ln w="38100">
              <a:solidFill>
                <a:schemeClr val="accent6">
                  <a:lumMod val="75000"/>
                </a:schemeClr>
              </a:solidFill>
            </a:ln>
          </p:spPr>
          <p:style>
            <a:lnRef idx="1">
              <a:schemeClr val="accent1"/>
            </a:lnRef>
            <a:fillRef idx="0">
              <a:schemeClr val="accent1"/>
            </a:fillRef>
            <a:effectRef idx="0">
              <a:schemeClr val="accent1"/>
            </a:effectRef>
            <a:fontRef idx="minor">
              <a:schemeClr val="tx1"/>
            </a:fontRef>
          </p:style>
        </p:cxnSp>
        <p:sp>
          <p:nvSpPr>
            <p:cNvPr id="42" name="TextBox 41">
              <a:extLst>
                <a:ext uri="{FF2B5EF4-FFF2-40B4-BE49-F238E27FC236}">
                  <a16:creationId xmlns:a16="http://schemas.microsoft.com/office/drawing/2014/main" id="{96E29D66-D360-436C-AF89-BB680EDD5EDF}"/>
                </a:ext>
              </a:extLst>
            </p:cNvPr>
            <p:cNvSpPr txBox="1"/>
            <p:nvPr/>
          </p:nvSpPr>
          <p:spPr>
            <a:xfrm>
              <a:off x="8315106" y="2329231"/>
              <a:ext cx="5205351" cy="523220"/>
            </a:xfrm>
            <a:prstGeom prst="rect">
              <a:avLst/>
            </a:prstGeom>
            <a:noFill/>
          </p:spPr>
          <p:txBody>
            <a:bodyPr wrap="square" rtlCol="0">
              <a:spAutoFit/>
            </a:bodyPr>
            <a:lstStyle/>
            <a:p>
              <a:r>
                <a:rPr lang="en-GB" sz="2800" b="1" dirty="0">
                  <a:solidFill>
                    <a:srgbClr val="7030A0"/>
                  </a:solidFill>
                </a:rPr>
                <a:t>Boolean</a:t>
              </a:r>
            </a:p>
          </p:txBody>
        </p:sp>
      </p:grpSp>
      <p:pic>
        <p:nvPicPr>
          <p:cNvPr id="4" name="Picture 3">
            <a:extLst>
              <a:ext uri="{FF2B5EF4-FFF2-40B4-BE49-F238E27FC236}">
                <a16:creationId xmlns:a16="http://schemas.microsoft.com/office/drawing/2014/main" id="{8C1D1F9B-AFC7-498D-B082-EB8D8DDB68BD}"/>
              </a:ext>
            </a:extLst>
          </p:cNvPr>
          <p:cNvPicPr>
            <a:picLocks noChangeAspect="1"/>
          </p:cNvPicPr>
          <p:nvPr/>
        </p:nvPicPr>
        <p:blipFill>
          <a:blip r:embed="rId3"/>
          <a:stretch>
            <a:fillRect/>
          </a:stretch>
        </p:blipFill>
        <p:spPr>
          <a:xfrm>
            <a:off x="838200" y="1690687"/>
            <a:ext cx="9054644" cy="3873833"/>
          </a:xfrm>
          <a:prstGeom prst="rect">
            <a:avLst/>
          </a:prstGeom>
        </p:spPr>
      </p:pic>
    </p:spTree>
    <p:extLst>
      <p:ext uri="{BB962C8B-B14F-4D97-AF65-F5344CB8AC3E}">
        <p14:creationId xmlns:p14="http://schemas.microsoft.com/office/powerpoint/2010/main" val="373904065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000"/>
                                        <p:tgtEl>
                                          <p:spTgt spid="3">
                                            <p:txEl>
                                              <p:pRg st="0" end="0"/>
                                            </p:txEl>
                                          </p:spTgt>
                                        </p:tgtEl>
                                      </p:cBhvr>
                                    </p:animEffect>
                                  </p:childTnLst>
                                </p:cTn>
                              </p:par>
                            </p:childTnLst>
                          </p:cTn>
                        </p:par>
                        <p:par>
                          <p:cTn id="8" fill="hold">
                            <p:stCondLst>
                              <p:cond delay="1000"/>
                            </p:stCondLst>
                            <p:childTnLst>
                              <p:par>
                                <p:cTn id="9" presetID="22" presetClass="entr" presetSubtype="8" fill="hold" grpId="0" nodeType="after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animEffect transition="in" filter="wipe(left)">
                                      <p:cBhvr>
                                        <p:cTn id="11" dur="2000"/>
                                        <p:tgtEl>
                                          <p:spTgt spid="3">
                                            <p:txEl>
                                              <p:pRg st="1" end="1"/>
                                            </p:txEl>
                                          </p:spTgt>
                                        </p:tgtEl>
                                      </p:cBhvr>
                                    </p:animEffect>
                                  </p:childTnLst>
                                </p:cTn>
                              </p:par>
                            </p:childTnLst>
                          </p:cTn>
                        </p:par>
                      </p:childTnLst>
                    </p:cTn>
                  </p:par>
                  <p:par>
                    <p:cTn id="12" fill="hold">
                      <p:stCondLst>
                        <p:cond delay="indefinite"/>
                      </p:stCondLst>
                      <p:childTnLst>
                        <p:par>
                          <p:cTn id="13" fill="hold">
                            <p:stCondLst>
                              <p:cond delay="0"/>
                            </p:stCondLst>
                            <p:childTnLst>
                              <p:par>
                                <p:cTn id="14" presetID="22" presetClass="entr" presetSubtype="8" fill="hold" nodeType="clickEffect">
                                  <p:stCondLst>
                                    <p:cond delay="0"/>
                                  </p:stCondLst>
                                  <p:childTnLst>
                                    <p:set>
                                      <p:cBhvr>
                                        <p:cTn id="15" dur="1" fill="hold">
                                          <p:stCondLst>
                                            <p:cond delay="0"/>
                                          </p:stCondLst>
                                        </p:cTn>
                                        <p:tgtEl>
                                          <p:spTgt spid="4"/>
                                        </p:tgtEl>
                                        <p:attrNameLst>
                                          <p:attrName>style.visibility</p:attrName>
                                        </p:attrNameLst>
                                      </p:cBhvr>
                                      <p:to>
                                        <p:strVal val="visible"/>
                                      </p:to>
                                    </p:set>
                                    <p:animEffect transition="in" filter="wipe(left)">
                                      <p:cBhvr>
                                        <p:cTn id="16" dur="1500"/>
                                        <p:tgtEl>
                                          <p:spTgt spid="4"/>
                                        </p:tgtEl>
                                      </p:cBhvr>
                                    </p:animEffect>
                                  </p:childTnLst>
                                </p:cTn>
                              </p:par>
                            </p:childTnLst>
                          </p:cTn>
                        </p:par>
                      </p:childTnLst>
                    </p:cTn>
                  </p:par>
                  <p:par>
                    <p:cTn id="17" fill="hold">
                      <p:stCondLst>
                        <p:cond delay="indefinite"/>
                      </p:stCondLst>
                      <p:childTnLst>
                        <p:par>
                          <p:cTn id="18" fill="hold">
                            <p:stCondLst>
                              <p:cond delay="0"/>
                            </p:stCondLst>
                            <p:childTnLst>
                              <p:par>
                                <p:cTn id="19" presetID="16" presetClass="entr" presetSubtype="37" fill="hold" nodeType="clickEffect">
                                  <p:stCondLst>
                                    <p:cond delay="0"/>
                                  </p:stCondLst>
                                  <p:childTnLst>
                                    <p:set>
                                      <p:cBhvr>
                                        <p:cTn id="20" dur="1" fill="hold">
                                          <p:stCondLst>
                                            <p:cond delay="0"/>
                                          </p:stCondLst>
                                        </p:cTn>
                                        <p:tgtEl>
                                          <p:spTgt spid="18"/>
                                        </p:tgtEl>
                                        <p:attrNameLst>
                                          <p:attrName>style.visibility</p:attrName>
                                        </p:attrNameLst>
                                      </p:cBhvr>
                                      <p:to>
                                        <p:strVal val="visible"/>
                                      </p:to>
                                    </p:set>
                                    <p:animEffect transition="in" filter="barn(outVertical)">
                                      <p:cBhvr>
                                        <p:cTn id="21" dur="1000"/>
                                        <p:tgtEl>
                                          <p:spTgt spid="18"/>
                                        </p:tgtEl>
                                      </p:cBhvr>
                                    </p:animEffect>
                                  </p:childTnLst>
                                </p:cTn>
                              </p:par>
                            </p:childTnLst>
                          </p:cTn>
                        </p:par>
                      </p:childTnLst>
                    </p:cTn>
                  </p:par>
                  <p:par>
                    <p:cTn id="22" fill="hold">
                      <p:stCondLst>
                        <p:cond delay="indefinite"/>
                      </p:stCondLst>
                      <p:childTnLst>
                        <p:par>
                          <p:cTn id="23" fill="hold">
                            <p:stCondLst>
                              <p:cond delay="0"/>
                            </p:stCondLst>
                            <p:childTnLst>
                              <p:par>
                                <p:cTn id="24" presetID="16" presetClass="entr" presetSubtype="37" fill="hold" nodeType="clickEffect">
                                  <p:stCondLst>
                                    <p:cond delay="0"/>
                                  </p:stCondLst>
                                  <p:childTnLst>
                                    <p:set>
                                      <p:cBhvr>
                                        <p:cTn id="25" dur="1" fill="hold">
                                          <p:stCondLst>
                                            <p:cond delay="0"/>
                                          </p:stCondLst>
                                        </p:cTn>
                                        <p:tgtEl>
                                          <p:spTgt spid="22"/>
                                        </p:tgtEl>
                                        <p:attrNameLst>
                                          <p:attrName>style.visibility</p:attrName>
                                        </p:attrNameLst>
                                      </p:cBhvr>
                                      <p:to>
                                        <p:strVal val="visible"/>
                                      </p:to>
                                    </p:set>
                                    <p:animEffect transition="in" filter="barn(outVertical)">
                                      <p:cBhvr>
                                        <p:cTn id="26" dur="1000"/>
                                        <p:tgtEl>
                                          <p:spTgt spid="22"/>
                                        </p:tgtEl>
                                      </p:cBhvr>
                                    </p:animEffect>
                                  </p:childTnLst>
                                </p:cTn>
                              </p:par>
                            </p:childTnLst>
                          </p:cTn>
                        </p:par>
                      </p:childTnLst>
                    </p:cTn>
                  </p:par>
                  <p:par>
                    <p:cTn id="27" fill="hold">
                      <p:stCondLst>
                        <p:cond delay="indefinite"/>
                      </p:stCondLst>
                      <p:childTnLst>
                        <p:par>
                          <p:cTn id="28" fill="hold">
                            <p:stCondLst>
                              <p:cond delay="0"/>
                            </p:stCondLst>
                            <p:childTnLst>
                              <p:par>
                                <p:cTn id="29" presetID="16" presetClass="entr" presetSubtype="37" fill="hold" nodeType="clickEffect">
                                  <p:stCondLst>
                                    <p:cond delay="0"/>
                                  </p:stCondLst>
                                  <p:childTnLst>
                                    <p:set>
                                      <p:cBhvr>
                                        <p:cTn id="30" dur="1" fill="hold">
                                          <p:stCondLst>
                                            <p:cond delay="0"/>
                                          </p:stCondLst>
                                        </p:cTn>
                                        <p:tgtEl>
                                          <p:spTgt spid="26"/>
                                        </p:tgtEl>
                                        <p:attrNameLst>
                                          <p:attrName>style.visibility</p:attrName>
                                        </p:attrNameLst>
                                      </p:cBhvr>
                                      <p:to>
                                        <p:strVal val="visible"/>
                                      </p:to>
                                    </p:set>
                                    <p:animEffect transition="in" filter="barn(outVertical)">
                                      <p:cBhvr>
                                        <p:cTn id="31" dur="1000"/>
                                        <p:tgtEl>
                                          <p:spTgt spid="26"/>
                                        </p:tgtEl>
                                      </p:cBhvr>
                                    </p:animEffect>
                                  </p:childTnLst>
                                </p:cTn>
                              </p:par>
                            </p:childTnLst>
                          </p:cTn>
                        </p:par>
                      </p:childTnLst>
                    </p:cTn>
                  </p:par>
                  <p:par>
                    <p:cTn id="32" fill="hold">
                      <p:stCondLst>
                        <p:cond delay="indefinite"/>
                      </p:stCondLst>
                      <p:childTnLst>
                        <p:par>
                          <p:cTn id="33" fill="hold">
                            <p:stCondLst>
                              <p:cond delay="0"/>
                            </p:stCondLst>
                            <p:childTnLst>
                              <p:par>
                                <p:cTn id="34" presetID="16" presetClass="entr" presetSubtype="37" fill="hold" nodeType="clickEffect">
                                  <p:stCondLst>
                                    <p:cond delay="0"/>
                                  </p:stCondLst>
                                  <p:childTnLst>
                                    <p:set>
                                      <p:cBhvr>
                                        <p:cTn id="35" dur="1" fill="hold">
                                          <p:stCondLst>
                                            <p:cond delay="0"/>
                                          </p:stCondLst>
                                        </p:cTn>
                                        <p:tgtEl>
                                          <p:spTgt spid="32"/>
                                        </p:tgtEl>
                                        <p:attrNameLst>
                                          <p:attrName>style.visibility</p:attrName>
                                        </p:attrNameLst>
                                      </p:cBhvr>
                                      <p:to>
                                        <p:strVal val="visible"/>
                                      </p:to>
                                    </p:set>
                                    <p:animEffect transition="in" filter="barn(outVertical)">
                                      <p:cBhvr>
                                        <p:cTn id="36" dur="1000"/>
                                        <p:tgtEl>
                                          <p:spTgt spid="32"/>
                                        </p:tgtEl>
                                      </p:cBhvr>
                                    </p:animEffect>
                                  </p:childTnLst>
                                </p:cTn>
                              </p:par>
                            </p:childTnLst>
                          </p:cTn>
                        </p:par>
                      </p:childTnLst>
                    </p:cTn>
                  </p:par>
                  <p:par>
                    <p:cTn id="37" fill="hold">
                      <p:stCondLst>
                        <p:cond delay="indefinite"/>
                      </p:stCondLst>
                      <p:childTnLst>
                        <p:par>
                          <p:cTn id="38" fill="hold">
                            <p:stCondLst>
                              <p:cond delay="0"/>
                            </p:stCondLst>
                            <p:childTnLst>
                              <p:par>
                                <p:cTn id="39" presetID="16" presetClass="entr" presetSubtype="37" fill="hold" nodeType="clickEffect">
                                  <p:stCondLst>
                                    <p:cond delay="0"/>
                                  </p:stCondLst>
                                  <p:childTnLst>
                                    <p:set>
                                      <p:cBhvr>
                                        <p:cTn id="40" dur="1" fill="hold">
                                          <p:stCondLst>
                                            <p:cond delay="0"/>
                                          </p:stCondLst>
                                        </p:cTn>
                                        <p:tgtEl>
                                          <p:spTgt spid="39"/>
                                        </p:tgtEl>
                                        <p:attrNameLst>
                                          <p:attrName>style.visibility</p:attrName>
                                        </p:attrNameLst>
                                      </p:cBhvr>
                                      <p:to>
                                        <p:strVal val="visible"/>
                                      </p:to>
                                    </p:set>
                                    <p:animEffect transition="in" filter="barn(outVertical)">
                                      <p:cBhvr>
                                        <p:cTn id="41" dur="1000"/>
                                        <p:tgtEl>
                                          <p:spTgt spid="3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38.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Attributes Example</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br>
              <a:rPr lang="en-US" altLang="en-US" sz="4400" dirty="0">
                <a:solidFill>
                  <a:srgbClr val="000000"/>
                </a:solidFill>
                <a:latin typeface="Consolas" panose="020B0609020204030204" pitchFamily="49" charset="0"/>
              </a:rPr>
            </a:br>
            <a:endParaRPr lang="en-US" altLang="en-US" sz="5400" dirty="0">
              <a:latin typeface="Arial" panose="020B0604020202020204" pitchFamily="34" charset="0"/>
            </a:endParaRPr>
          </a:p>
        </p:txBody>
      </p:sp>
      <p:pic>
        <p:nvPicPr>
          <p:cNvPr id="5" name="Picture 4">
            <a:extLst>
              <a:ext uri="{FF2B5EF4-FFF2-40B4-BE49-F238E27FC236}">
                <a16:creationId xmlns:a16="http://schemas.microsoft.com/office/drawing/2014/main" id="{8640A34F-AFC9-46B7-83C9-B3616F182BE6}"/>
              </a:ext>
            </a:extLst>
          </p:cNvPr>
          <p:cNvPicPr>
            <a:picLocks noChangeAspect="1"/>
          </p:cNvPicPr>
          <p:nvPr/>
        </p:nvPicPr>
        <p:blipFill>
          <a:blip r:embed="rId3"/>
          <a:stretch>
            <a:fillRect/>
          </a:stretch>
        </p:blipFill>
        <p:spPr>
          <a:xfrm>
            <a:off x="838200" y="1690687"/>
            <a:ext cx="9054644" cy="3873833"/>
          </a:xfrm>
          <a:prstGeom prst="rect">
            <a:avLst/>
          </a:prstGeom>
        </p:spPr>
      </p:pic>
    </p:spTree>
    <p:extLst>
      <p:ext uri="{BB962C8B-B14F-4D97-AF65-F5344CB8AC3E}">
        <p14:creationId xmlns:p14="http://schemas.microsoft.com/office/powerpoint/2010/main" val="4214137901"/>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Filter Results: Text</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SELECT</a:t>
            </a:r>
            <a:r>
              <a:rPr lang="en-US" altLang="en-US" sz="4400" dirty="0">
                <a:solidFill>
                  <a:srgbClr val="000000"/>
                </a:solidFill>
                <a:latin typeface="Consolas" panose="020B0609020204030204" pitchFamily="49" charset="0"/>
              </a:rPr>
              <a:t> *</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FROM</a:t>
            </a:r>
            <a:r>
              <a:rPr lang="en-US" altLang="en-US" sz="4400" dirty="0">
                <a:solidFill>
                  <a:srgbClr val="000000"/>
                </a:solidFill>
                <a:latin typeface="Consolas" panose="020B0609020204030204" pitchFamily="49" charset="0"/>
              </a:rPr>
              <a:t> Datatypes</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3   </a:t>
            </a:r>
            <a:r>
              <a:rPr lang="en-US" altLang="en-US" sz="4400" dirty="0">
                <a:solidFill>
                  <a:srgbClr val="A71D5D"/>
                </a:solidFill>
                <a:latin typeface="Consolas" panose="020B0609020204030204" pitchFamily="49" charset="0"/>
              </a:rPr>
              <a:t>WHERE</a:t>
            </a:r>
            <a:r>
              <a:rPr lang="en-US" altLang="en-US" sz="4400" dirty="0">
                <a:solidFill>
                  <a:srgbClr val="000000"/>
                </a:solidFill>
                <a:latin typeface="Consolas" panose="020B0609020204030204" pitchFamily="49" charset="0"/>
              </a:rPr>
              <a:t> </a:t>
            </a:r>
            <a:r>
              <a:rPr lang="en-US" altLang="en-US" sz="4400" dirty="0" err="1">
                <a:solidFill>
                  <a:srgbClr val="000000"/>
                </a:solidFill>
                <a:latin typeface="Consolas" panose="020B0609020204030204" pitchFamily="49" charset="0"/>
              </a:rPr>
              <a:t>colour</a:t>
            </a:r>
            <a:r>
              <a:rPr lang="en-US" altLang="en-US" sz="4400" dirty="0">
                <a:solidFill>
                  <a:srgbClr val="000000"/>
                </a:solidFill>
                <a:latin typeface="Consolas" panose="020B0609020204030204" pitchFamily="49" charset="0"/>
              </a:rPr>
              <a:t> = </a:t>
            </a:r>
            <a:r>
              <a:rPr lang="en-US" altLang="en-US" sz="4400" dirty="0">
                <a:solidFill>
                  <a:srgbClr val="183691"/>
                </a:solidFill>
                <a:latin typeface="Consolas" panose="020B0609020204030204" pitchFamily="49" charset="0"/>
              </a:rPr>
              <a:t>"Red"</a:t>
            </a:r>
            <a:r>
              <a:rPr lang="en-US" altLang="en-US" sz="4400" dirty="0">
                <a:solidFill>
                  <a:srgbClr val="000000"/>
                </a:solidFill>
                <a:latin typeface="Consolas" panose="020B0609020204030204" pitchFamily="49" charset="0"/>
              </a:rPr>
              <a:t>;</a:t>
            </a:r>
            <a:br>
              <a:rPr lang="en-US" altLang="en-US" sz="4400" dirty="0">
                <a:solidFill>
                  <a:srgbClr val="000000"/>
                </a:solidFill>
                <a:latin typeface="Consolas" panose="020B0609020204030204" pitchFamily="49" charset="0"/>
              </a:rPr>
            </a:br>
            <a:endParaRPr lang="en-US" altLang="en-US" sz="5400" dirty="0">
              <a:latin typeface="Arial" panose="020B0604020202020204" pitchFamily="34" charset="0"/>
            </a:endParaRPr>
          </a:p>
        </p:txBody>
      </p:sp>
      <p:sp>
        <p:nvSpPr>
          <p:cNvPr id="10" name="TextBox 9">
            <a:extLst>
              <a:ext uri="{FF2B5EF4-FFF2-40B4-BE49-F238E27FC236}">
                <a16:creationId xmlns:a16="http://schemas.microsoft.com/office/drawing/2014/main" id="{DF4BA8FF-524A-4C13-87BF-68801971FA28}"/>
              </a:ext>
            </a:extLst>
          </p:cNvPr>
          <p:cNvSpPr txBox="1"/>
          <p:nvPr/>
        </p:nvSpPr>
        <p:spPr>
          <a:xfrm>
            <a:off x="1664658" y="5665569"/>
            <a:ext cx="8862683" cy="646331"/>
          </a:xfrm>
          <a:prstGeom prst="rect">
            <a:avLst/>
          </a:prstGeom>
          <a:noFill/>
        </p:spPr>
        <p:txBody>
          <a:bodyPr wrap="none" rtlCol="0">
            <a:spAutoFit/>
          </a:bodyPr>
          <a:lstStyle/>
          <a:p>
            <a:pPr algn="ctr"/>
            <a:r>
              <a:rPr lang="en-GB" sz="3600" dirty="0">
                <a:solidFill>
                  <a:srgbClr val="7030A0"/>
                </a:solidFill>
              </a:rPr>
              <a:t>If the condition is </a:t>
            </a:r>
            <a:r>
              <a:rPr lang="en-GB" sz="3600" dirty="0">
                <a:solidFill>
                  <a:srgbClr val="7030A0"/>
                </a:solidFill>
                <a:latin typeface="Consolas" panose="020B0609020204030204" pitchFamily="49" charset="0"/>
              </a:rPr>
              <a:t>True</a:t>
            </a:r>
            <a:r>
              <a:rPr lang="en-GB" sz="3600" dirty="0">
                <a:solidFill>
                  <a:srgbClr val="7030A0"/>
                </a:solidFill>
              </a:rPr>
              <a:t> the record is displayed</a:t>
            </a:r>
            <a:endParaRPr lang="en-GB" sz="3600" dirty="0">
              <a:solidFill>
                <a:srgbClr val="7030A0"/>
              </a:solidFill>
              <a:latin typeface="Consolas" panose="020B0609020204030204" pitchFamily="49" charset="0"/>
            </a:endParaRPr>
          </a:p>
        </p:txBody>
      </p:sp>
      <p:sp>
        <p:nvSpPr>
          <p:cNvPr id="4" name="Callout: Bent Line with No Border 3">
            <a:extLst>
              <a:ext uri="{FF2B5EF4-FFF2-40B4-BE49-F238E27FC236}">
                <a16:creationId xmlns:a16="http://schemas.microsoft.com/office/drawing/2014/main" id="{973BE903-2B4C-5BCA-8CFF-AD26E80D1A76}"/>
              </a:ext>
            </a:extLst>
          </p:cNvPr>
          <p:cNvSpPr/>
          <p:nvPr/>
        </p:nvSpPr>
        <p:spPr>
          <a:xfrm>
            <a:off x="8995677" y="2451634"/>
            <a:ext cx="2137144" cy="862642"/>
          </a:xfrm>
          <a:prstGeom prst="callout2">
            <a:avLst>
              <a:gd name="adj1" fmla="val 51425"/>
              <a:gd name="adj2" fmla="val -1745"/>
              <a:gd name="adj3" fmla="val 51948"/>
              <a:gd name="adj4" fmla="val -25940"/>
              <a:gd name="adj5" fmla="val 98451"/>
              <a:gd name="adj6" fmla="val -44544"/>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Value </a:t>
            </a:r>
          </a:p>
        </p:txBody>
      </p:sp>
      <p:sp>
        <p:nvSpPr>
          <p:cNvPr id="6" name="Callout: Bent Line with No Border 5">
            <a:extLst>
              <a:ext uri="{FF2B5EF4-FFF2-40B4-BE49-F238E27FC236}">
                <a16:creationId xmlns:a16="http://schemas.microsoft.com/office/drawing/2014/main" id="{00EF8586-C5C9-BBB7-2263-DED3452C407B}"/>
              </a:ext>
            </a:extLst>
          </p:cNvPr>
          <p:cNvSpPr/>
          <p:nvPr/>
        </p:nvSpPr>
        <p:spPr>
          <a:xfrm>
            <a:off x="1991377" y="4304138"/>
            <a:ext cx="962796" cy="862642"/>
          </a:xfrm>
          <a:prstGeom prst="callout2">
            <a:avLst>
              <a:gd name="adj1" fmla="val 48750"/>
              <a:gd name="adj2" fmla="val 104056"/>
              <a:gd name="adj3" fmla="val 48589"/>
              <a:gd name="adj4" fmla="val 142331"/>
              <a:gd name="adj5" fmla="val -44946"/>
              <a:gd name="adj6" fmla="val 202199"/>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Field</a:t>
            </a:r>
          </a:p>
        </p:txBody>
      </p:sp>
      <p:grpSp>
        <p:nvGrpSpPr>
          <p:cNvPr id="16" name="Group 15">
            <a:extLst>
              <a:ext uri="{FF2B5EF4-FFF2-40B4-BE49-F238E27FC236}">
                <a16:creationId xmlns:a16="http://schemas.microsoft.com/office/drawing/2014/main" id="{BF181095-D978-47A3-6622-982A1296D1CD}"/>
              </a:ext>
            </a:extLst>
          </p:cNvPr>
          <p:cNvGrpSpPr/>
          <p:nvPr/>
        </p:nvGrpSpPr>
        <p:grpSpPr>
          <a:xfrm>
            <a:off x="4235937" y="4029846"/>
            <a:ext cx="3946770" cy="703220"/>
            <a:chOff x="8269095" y="2156158"/>
            <a:chExt cx="3751385" cy="703220"/>
          </a:xfrm>
        </p:grpSpPr>
        <p:cxnSp>
          <p:nvCxnSpPr>
            <p:cNvPr id="11" name="Straight Connector 10">
              <a:extLst>
                <a:ext uri="{FF2B5EF4-FFF2-40B4-BE49-F238E27FC236}">
                  <a16:creationId xmlns:a16="http://schemas.microsoft.com/office/drawing/2014/main" id="{870E1721-1E88-DB64-39CC-562ABFE4D4A9}"/>
                </a:ext>
              </a:extLst>
            </p:cNvPr>
            <p:cNvCxnSpPr>
              <a:cxnSpLocks/>
            </p:cNvCxnSpPr>
            <p:nvPr/>
          </p:nvCxnSpPr>
          <p:spPr>
            <a:xfrm>
              <a:off x="8269095" y="2156158"/>
              <a:ext cx="3751385" cy="0"/>
            </a:xfrm>
            <a:prstGeom prst="line">
              <a:avLst/>
            </a:prstGeom>
            <a:ln w="57150">
              <a:solidFill>
                <a:schemeClr val="accent6">
                  <a:lumMod val="75000"/>
                </a:schemeClr>
              </a:solidFill>
            </a:ln>
          </p:spPr>
          <p:style>
            <a:lnRef idx="1">
              <a:schemeClr val="accent1"/>
            </a:lnRef>
            <a:fillRef idx="0">
              <a:schemeClr val="accent1"/>
            </a:fillRef>
            <a:effectRef idx="0">
              <a:schemeClr val="accent1"/>
            </a:effectRef>
            <a:fontRef idx="minor">
              <a:schemeClr val="tx1"/>
            </a:fontRef>
          </p:style>
        </p:cxnSp>
        <p:cxnSp>
          <p:nvCxnSpPr>
            <p:cNvPr id="12" name="Straight Connector 11">
              <a:extLst>
                <a:ext uri="{FF2B5EF4-FFF2-40B4-BE49-F238E27FC236}">
                  <a16:creationId xmlns:a16="http://schemas.microsoft.com/office/drawing/2014/main" id="{7651EB76-E65E-753B-6139-1AF409330CF7}"/>
                </a:ext>
              </a:extLst>
            </p:cNvPr>
            <p:cNvCxnSpPr>
              <a:cxnSpLocks/>
            </p:cNvCxnSpPr>
            <p:nvPr/>
          </p:nvCxnSpPr>
          <p:spPr>
            <a:xfrm flipV="1">
              <a:off x="10144788" y="2156158"/>
              <a:ext cx="0" cy="180000"/>
            </a:xfrm>
            <a:prstGeom prst="line">
              <a:avLst/>
            </a:prstGeom>
            <a:ln w="38100">
              <a:solidFill>
                <a:schemeClr val="accent6">
                  <a:lumMod val="75000"/>
                </a:schemeClr>
              </a:solidFill>
            </a:ln>
          </p:spPr>
          <p:style>
            <a:lnRef idx="1">
              <a:schemeClr val="accent1"/>
            </a:lnRef>
            <a:fillRef idx="0">
              <a:schemeClr val="accent1"/>
            </a:fillRef>
            <a:effectRef idx="0">
              <a:schemeClr val="accent1"/>
            </a:effectRef>
            <a:fontRef idx="minor">
              <a:schemeClr val="tx1"/>
            </a:fontRef>
          </p:style>
        </p:cxnSp>
        <p:sp>
          <p:nvSpPr>
            <p:cNvPr id="15" name="TextBox 14">
              <a:extLst>
                <a:ext uri="{FF2B5EF4-FFF2-40B4-BE49-F238E27FC236}">
                  <a16:creationId xmlns:a16="http://schemas.microsoft.com/office/drawing/2014/main" id="{6DE07E5D-06E8-3DE4-D84D-5B99B0240450}"/>
                </a:ext>
              </a:extLst>
            </p:cNvPr>
            <p:cNvSpPr txBox="1"/>
            <p:nvPr/>
          </p:nvSpPr>
          <p:spPr>
            <a:xfrm>
              <a:off x="9366051" y="2336158"/>
              <a:ext cx="1557472" cy="523220"/>
            </a:xfrm>
            <a:prstGeom prst="rect">
              <a:avLst/>
            </a:prstGeom>
            <a:noFill/>
          </p:spPr>
          <p:txBody>
            <a:bodyPr wrap="none" rtlCol="0">
              <a:spAutoFit/>
            </a:bodyPr>
            <a:lstStyle/>
            <a:p>
              <a:pPr algn="ctr"/>
              <a:r>
                <a:rPr lang="en-GB" sz="2800" b="1" dirty="0">
                  <a:solidFill>
                    <a:srgbClr val="7030A0"/>
                  </a:solidFill>
                </a:rPr>
                <a:t>Condition</a:t>
              </a:r>
            </a:p>
          </p:txBody>
        </p:sp>
      </p:grpSp>
      <p:sp>
        <p:nvSpPr>
          <p:cNvPr id="5" name="Callout: Bent Line with No Border 4">
            <a:extLst>
              <a:ext uri="{FF2B5EF4-FFF2-40B4-BE49-F238E27FC236}">
                <a16:creationId xmlns:a16="http://schemas.microsoft.com/office/drawing/2014/main" id="{87B61908-2A1E-ED5C-FE12-C6DCD5EF3C3F}"/>
              </a:ext>
            </a:extLst>
          </p:cNvPr>
          <p:cNvSpPr/>
          <p:nvPr/>
        </p:nvSpPr>
        <p:spPr>
          <a:xfrm>
            <a:off x="7817992" y="1770919"/>
            <a:ext cx="2137144" cy="862642"/>
          </a:xfrm>
          <a:prstGeom prst="callout2">
            <a:avLst>
              <a:gd name="adj1" fmla="val 51425"/>
              <a:gd name="adj2" fmla="val -1745"/>
              <a:gd name="adj3" fmla="val 51948"/>
              <a:gd name="adj4" fmla="val -25940"/>
              <a:gd name="adj5" fmla="val 193655"/>
              <a:gd name="adj6" fmla="val -63793"/>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Comparison</a:t>
            </a:r>
          </a:p>
        </p:txBody>
      </p:sp>
      <p:sp>
        <p:nvSpPr>
          <p:cNvPr id="13" name="TextBox 12">
            <a:extLst>
              <a:ext uri="{FF2B5EF4-FFF2-40B4-BE49-F238E27FC236}">
                <a16:creationId xmlns:a16="http://schemas.microsoft.com/office/drawing/2014/main" id="{55A11A63-969F-4B38-8776-DA4F6EC83E0A}"/>
              </a:ext>
            </a:extLst>
          </p:cNvPr>
          <p:cNvSpPr txBox="1"/>
          <p:nvPr/>
        </p:nvSpPr>
        <p:spPr>
          <a:xfrm>
            <a:off x="7708235" y="-5485"/>
            <a:ext cx="4483765" cy="1200329"/>
          </a:xfrm>
          <a:prstGeom prst="rect">
            <a:avLst/>
          </a:prstGeom>
          <a:noFill/>
          <a:ln w="19050">
            <a:solidFill>
              <a:srgbClr val="FF0000"/>
            </a:solidFill>
          </a:ln>
        </p:spPr>
        <p:txBody>
          <a:bodyPr wrap="square" rtlCol="0">
            <a:spAutoFit/>
          </a:bodyPr>
          <a:lstStyle/>
          <a:p>
            <a:r>
              <a:rPr lang="en-GB" sz="3600" dirty="0">
                <a:solidFill>
                  <a:srgbClr val="FF0000"/>
                </a:solidFill>
                <a:latin typeface="Consolas" panose="020B0609020204030204" pitchFamily="49" charset="0"/>
              </a:rPr>
              <a:t>NB</a:t>
            </a:r>
            <a:r>
              <a:rPr lang="en-GB" sz="3600" dirty="0">
                <a:solidFill>
                  <a:srgbClr val="7030A0"/>
                </a:solidFill>
                <a:latin typeface="Consolas" panose="020B0609020204030204" pitchFamily="49" charset="0"/>
              </a:rPr>
              <a:t>: Values are case sensitive!</a:t>
            </a:r>
          </a:p>
        </p:txBody>
      </p:sp>
    </p:spTree>
    <p:extLst>
      <p:ext uri="{BB962C8B-B14F-4D97-AF65-F5344CB8AC3E}">
        <p14:creationId xmlns:p14="http://schemas.microsoft.com/office/powerpoint/2010/main" val="366289288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000"/>
                                        <p:tgtEl>
                                          <p:spTgt spid="3">
                                            <p:txEl>
                                              <p:pRg st="0" end="0"/>
                                            </p:txEl>
                                          </p:spTgt>
                                        </p:tgtEl>
                                      </p:cBhvr>
                                    </p:animEffect>
                                  </p:childTnLst>
                                </p:cTn>
                              </p:par>
                            </p:childTnLst>
                          </p:cTn>
                        </p:par>
                        <p:par>
                          <p:cTn id="8" fill="hold">
                            <p:stCondLst>
                              <p:cond delay="1000"/>
                            </p:stCondLst>
                            <p:childTnLst>
                              <p:par>
                                <p:cTn id="9" presetID="22" presetClass="entr" presetSubtype="8" fill="hold" grpId="0" nodeType="after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animEffect transition="in" filter="wipe(left)">
                                      <p:cBhvr>
                                        <p:cTn id="11" dur="2000"/>
                                        <p:tgtEl>
                                          <p:spTgt spid="3">
                                            <p:txEl>
                                              <p:pRg st="1" end="1"/>
                                            </p:txEl>
                                          </p:spTgt>
                                        </p:tgtEl>
                                      </p:cBhvr>
                                    </p:animEffect>
                                  </p:childTnLst>
                                </p:cTn>
                              </p:par>
                            </p:childTnLst>
                          </p:cTn>
                        </p:par>
                      </p:childTnLst>
                    </p:cTn>
                  </p:par>
                  <p:par>
                    <p:cTn id="12" fill="hold">
                      <p:stCondLst>
                        <p:cond delay="indefinite"/>
                      </p:stCondLst>
                      <p:childTnLst>
                        <p:par>
                          <p:cTn id="13" fill="hold">
                            <p:stCondLst>
                              <p:cond delay="0"/>
                            </p:stCondLst>
                            <p:childTnLst>
                              <p:par>
                                <p:cTn id="14" presetID="22" presetClass="entr" presetSubtype="8" fill="hold" grpId="0" nodeType="clickEffect">
                                  <p:stCondLst>
                                    <p:cond delay="0"/>
                                  </p:stCondLst>
                                  <p:childTnLst>
                                    <p:set>
                                      <p:cBhvr>
                                        <p:cTn id="15" dur="1" fill="hold">
                                          <p:stCondLst>
                                            <p:cond delay="0"/>
                                          </p:stCondLst>
                                        </p:cTn>
                                        <p:tgtEl>
                                          <p:spTgt spid="3">
                                            <p:txEl>
                                              <p:pRg st="2" end="2"/>
                                            </p:txEl>
                                          </p:spTgt>
                                        </p:tgtEl>
                                        <p:attrNameLst>
                                          <p:attrName>style.visibility</p:attrName>
                                        </p:attrNameLst>
                                      </p:cBhvr>
                                      <p:to>
                                        <p:strVal val="visible"/>
                                      </p:to>
                                    </p:set>
                                    <p:animEffect transition="in" filter="wipe(left)">
                                      <p:cBhvr>
                                        <p:cTn id="16" dur="2500"/>
                                        <p:tgtEl>
                                          <p:spTgt spid="3">
                                            <p:txEl>
                                              <p:pRg st="2" end="2"/>
                                            </p:txEl>
                                          </p:spTgt>
                                        </p:tgtEl>
                                      </p:cBhvr>
                                    </p:animEffect>
                                  </p:childTnLst>
                                </p:cTn>
                              </p:par>
                            </p:childTnLst>
                          </p:cTn>
                        </p:par>
                      </p:childTnLst>
                    </p:cTn>
                  </p:par>
                  <p:par>
                    <p:cTn id="17" fill="hold">
                      <p:stCondLst>
                        <p:cond delay="indefinite"/>
                      </p:stCondLst>
                      <p:childTnLst>
                        <p:par>
                          <p:cTn id="18" fill="hold">
                            <p:stCondLst>
                              <p:cond delay="0"/>
                            </p:stCondLst>
                            <p:childTnLst>
                              <p:par>
                                <p:cTn id="19" presetID="16" presetClass="entr" presetSubtype="37" fill="hold" nodeType="clickEffect">
                                  <p:stCondLst>
                                    <p:cond delay="0"/>
                                  </p:stCondLst>
                                  <p:childTnLst>
                                    <p:set>
                                      <p:cBhvr>
                                        <p:cTn id="20" dur="1" fill="hold">
                                          <p:stCondLst>
                                            <p:cond delay="0"/>
                                          </p:stCondLst>
                                        </p:cTn>
                                        <p:tgtEl>
                                          <p:spTgt spid="16"/>
                                        </p:tgtEl>
                                        <p:attrNameLst>
                                          <p:attrName>style.visibility</p:attrName>
                                        </p:attrNameLst>
                                      </p:cBhvr>
                                      <p:to>
                                        <p:strVal val="visible"/>
                                      </p:to>
                                    </p:set>
                                    <p:animEffect transition="in" filter="barn(outVertical)">
                                      <p:cBhvr>
                                        <p:cTn id="21" dur="1000"/>
                                        <p:tgtEl>
                                          <p:spTgt spid="16"/>
                                        </p:tgtEl>
                                      </p:cBhvr>
                                    </p:animEffect>
                                  </p:childTnLst>
                                </p:cTn>
                              </p:par>
                            </p:childTnLst>
                          </p:cTn>
                        </p:par>
                      </p:childTnLst>
                    </p:cTn>
                  </p:par>
                  <p:par>
                    <p:cTn id="22" fill="hold">
                      <p:stCondLst>
                        <p:cond delay="indefinite"/>
                      </p:stCondLst>
                      <p:childTnLst>
                        <p:par>
                          <p:cTn id="23" fill="hold">
                            <p:stCondLst>
                              <p:cond delay="0"/>
                            </p:stCondLst>
                            <p:childTnLst>
                              <p:par>
                                <p:cTn id="24" presetID="10" presetClass="entr" presetSubtype="0" fill="hold" grpId="0" nodeType="clickEffect">
                                  <p:stCondLst>
                                    <p:cond delay="0"/>
                                  </p:stCondLst>
                                  <p:childTnLst>
                                    <p:set>
                                      <p:cBhvr>
                                        <p:cTn id="25" dur="1" fill="hold">
                                          <p:stCondLst>
                                            <p:cond delay="0"/>
                                          </p:stCondLst>
                                        </p:cTn>
                                        <p:tgtEl>
                                          <p:spTgt spid="6"/>
                                        </p:tgtEl>
                                        <p:attrNameLst>
                                          <p:attrName>style.visibility</p:attrName>
                                        </p:attrNameLst>
                                      </p:cBhvr>
                                      <p:to>
                                        <p:strVal val="visible"/>
                                      </p:to>
                                    </p:set>
                                    <p:animEffect transition="in" filter="fade">
                                      <p:cBhvr>
                                        <p:cTn id="26" dur="1000"/>
                                        <p:tgtEl>
                                          <p:spTgt spid="6"/>
                                        </p:tgtEl>
                                      </p:cBhvr>
                                    </p:animEffect>
                                  </p:childTnLst>
                                </p:cTn>
                              </p:par>
                            </p:childTnLst>
                          </p:cTn>
                        </p:par>
                      </p:childTnLst>
                    </p:cTn>
                  </p:par>
                  <p:par>
                    <p:cTn id="27" fill="hold">
                      <p:stCondLst>
                        <p:cond delay="indefinite"/>
                      </p:stCondLst>
                      <p:childTnLst>
                        <p:par>
                          <p:cTn id="28" fill="hold">
                            <p:stCondLst>
                              <p:cond delay="0"/>
                            </p:stCondLst>
                            <p:childTnLst>
                              <p:par>
                                <p:cTn id="29" presetID="10" presetClass="entr" presetSubtype="0" fill="hold" grpId="0" nodeType="clickEffect">
                                  <p:stCondLst>
                                    <p:cond delay="0"/>
                                  </p:stCondLst>
                                  <p:childTnLst>
                                    <p:set>
                                      <p:cBhvr>
                                        <p:cTn id="30" dur="1" fill="hold">
                                          <p:stCondLst>
                                            <p:cond delay="0"/>
                                          </p:stCondLst>
                                        </p:cTn>
                                        <p:tgtEl>
                                          <p:spTgt spid="5"/>
                                        </p:tgtEl>
                                        <p:attrNameLst>
                                          <p:attrName>style.visibility</p:attrName>
                                        </p:attrNameLst>
                                      </p:cBhvr>
                                      <p:to>
                                        <p:strVal val="visible"/>
                                      </p:to>
                                    </p:set>
                                    <p:animEffect transition="in" filter="fade">
                                      <p:cBhvr>
                                        <p:cTn id="31" dur="1000"/>
                                        <p:tgtEl>
                                          <p:spTgt spid="5"/>
                                        </p:tgtEl>
                                      </p:cBhvr>
                                    </p:animEffect>
                                  </p:childTnLst>
                                </p:cTn>
                              </p:par>
                            </p:childTnLst>
                          </p:cTn>
                        </p:par>
                      </p:childTnLst>
                    </p:cTn>
                  </p:par>
                  <p:par>
                    <p:cTn id="32" fill="hold">
                      <p:stCondLst>
                        <p:cond delay="indefinite"/>
                      </p:stCondLst>
                      <p:childTnLst>
                        <p:par>
                          <p:cTn id="33" fill="hold">
                            <p:stCondLst>
                              <p:cond delay="0"/>
                            </p:stCondLst>
                            <p:childTnLst>
                              <p:par>
                                <p:cTn id="34" presetID="10" presetClass="entr" presetSubtype="0" fill="hold" grpId="0" nodeType="clickEffect">
                                  <p:stCondLst>
                                    <p:cond delay="0"/>
                                  </p:stCondLst>
                                  <p:childTnLst>
                                    <p:set>
                                      <p:cBhvr>
                                        <p:cTn id="35" dur="1" fill="hold">
                                          <p:stCondLst>
                                            <p:cond delay="0"/>
                                          </p:stCondLst>
                                        </p:cTn>
                                        <p:tgtEl>
                                          <p:spTgt spid="4"/>
                                        </p:tgtEl>
                                        <p:attrNameLst>
                                          <p:attrName>style.visibility</p:attrName>
                                        </p:attrNameLst>
                                      </p:cBhvr>
                                      <p:to>
                                        <p:strVal val="visible"/>
                                      </p:to>
                                    </p:set>
                                    <p:animEffect transition="in" filter="fade">
                                      <p:cBhvr>
                                        <p:cTn id="36" dur="1000"/>
                                        <p:tgtEl>
                                          <p:spTgt spid="4"/>
                                        </p:tgtEl>
                                      </p:cBhvr>
                                    </p:animEffect>
                                  </p:childTnLst>
                                </p:cTn>
                              </p:par>
                            </p:childTnLst>
                          </p:cTn>
                        </p:par>
                      </p:childTnLst>
                    </p:cTn>
                  </p:par>
                  <p:par>
                    <p:cTn id="37" fill="hold">
                      <p:stCondLst>
                        <p:cond delay="indefinite"/>
                      </p:stCondLst>
                      <p:childTnLst>
                        <p:par>
                          <p:cTn id="38" fill="hold">
                            <p:stCondLst>
                              <p:cond delay="0"/>
                            </p:stCondLst>
                            <p:childTnLst>
                              <p:par>
                                <p:cTn id="39" presetID="22" presetClass="entr" presetSubtype="8" fill="hold" grpId="0" nodeType="clickEffect">
                                  <p:stCondLst>
                                    <p:cond delay="0"/>
                                  </p:stCondLst>
                                  <p:childTnLst>
                                    <p:set>
                                      <p:cBhvr>
                                        <p:cTn id="40" dur="1" fill="hold">
                                          <p:stCondLst>
                                            <p:cond delay="0"/>
                                          </p:stCondLst>
                                        </p:cTn>
                                        <p:tgtEl>
                                          <p:spTgt spid="10">
                                            <p:txEl>
                                              <p:pRg st="0" end="0"/>
                                            </p:txEl>
                                          </p:spTgt>
                                        </p:tgtEl>
                                        <p:attrNameLst>
                                          <p:attrName>style.visibility</p:attrName>
                                        </p:attrNameLst>
                                      </p:cBhvr>
                                      <p:to>
                                        <p:strVal val="visible"/>
                                      </p:to>
                                    </p:set>
                                    <p:animEffect transition="in" filter="wipe(left)">
                                      <p:cBhvr>
                                        <p:cTn id="41" dur="2000"/>
                                        <p:tgtEl>
                                          <p:spTgt spid="10">
                                            <p:txEl>
                                              <p:pRg st="0" end="0"/>
                                            </p:txEl>
                                          </p:spTgt>
                                        </p:tgtEl>
                                      </p:cBhvr>
                                    </p:animEffect>
                                  </p:childTnLst>
                                </p:cTn>
                              </p:par>
                            </p:childTnLst>
                          </p:cTn>
                        </p:par>
                      </p:childTnLst>
                    </p:cTn>
                  </p:par>
                  <p:par>
                    <p:cTn id="42" fill="hold">
                      <p:stCondLst>
                        <p:cond delay="indefinite"/>
                      </p:stCondLst>
                      <p:childTnLst>
                        <p:par>
                          <p:cTn id="43" fill="hold">
                            <p:stCondLst>
                              <p:cond delay="0"/>
                            </p:stCondLst>
                            <p:childTnLst>
                              <p:par>
                                <p:cTn id="44" presetID="22" presetClass="entr" presetSubtype="8" fill="hold" grpId="0" nodeType="clickEffect">
                                  <p:stCondLst>
                                    <p:cond delay="0"/>
                                  </p:stCondLst>
                                  <p:childTnLst>
                                    <p:set>
                                      <p:cBhvr>
                                        <p:cTn id="45" dur="1" fill="hold">
                                          <p:stCondLst>
                                            <p:cond delay="0"/>
                                          </p:stCondLst>
                                        </p:cTn>
                                        <p:tgtEl>
                                          <p:spTgt spid="13"/>
                                        </p:tgtEl>
                                        <p:attrNameLst>
                                          <p:attrName>style.visibility</p:attrName>
                                        </p:attrNameLst>
                                      </p:cBhvr>
                                      <p:to>
                                        <p:strVal val="visible"/>
                                      </p:to>
                                    </p:set>
                                    <p:animEffect transition="in" filter="wipe(left)">
                                      <p:cBhvr>
                                        <p:cTn id="46" dur="2000"/>
                                        <p:tgtEl>
                                          <p:spTgt spid="1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10" grpId="0" build="p"/>
      <p:bldP spid="4" grpId="0" animBg="1"/>
      <p:bldP spid="6" grpId="0" animBg="1"/>
      <p:bldP spid="5" grpId="0" animBg="1"/>
      <p:bldP spid="13" grpId="0" animBg="1"/>
    </p:bldLst>
  </p:timing>
</p:sld>
</file>

<file path=ppt/slides/slide40.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Filter Results: Text</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SELECT</a:t>
            </a:r>
            <a:r>
              <a:rPr lang="en-US" altLang="en-US" sz="4400" dirty="0">
                <a:solidFill>
                  <a:srgbClr val="000000"/>
                </a:solidFill>
                <a:latin typeface="Consolas" panose="020B0609020204030204" pitchFamily="49" charset="0"/>
              </a:rPr>
              <a:t> *</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FROM</a:t>
            </a:r>
            <a:r>
              <a:rPr lang="en-US" altLang="en-US" sz="4400" dirty="0">
                <a:solidFill>
                  <a:srgbClr val="000000"/>
                </a:solidFill>
                <a:latin typeface="Consolas" panose="020B0609020204030204" pitchFamily="49" charset="0"/>
              </a:rPr>
              <a:t> Datatypes</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3   </a:t>
            </a:r>
            <a:r>
              <a:rPr lang="en-US" altLang="en-US" sz="4400" dirty="0">
                <a:solidFill>
                  <a:srgbClr val="A71D5D"/>
                </a:solidFill>
                <a:latin typeface="Consolas" panose="020B0609020204030204" pitchFamily="49" charset="0"/>
              </a:rPr>
              <a:t>WHERE</a:t>
            </a:r>
            <a:r>
              <a:rPr lang="en-US" altLang="en-US" sz="4400" dirty="0">
                <a:solidFill>
                  <a:srgbClr val="000000"/>
                </a:solidFill>
                <a:latin typeface="Consolas" panose="020B0609020204030204" pitchFamily="49" charset="0"/>
              </a:rPr>
              <a:t> </a:t>
            </a:r>
            <a:r>
              <a:rPr lang="en-US" altLang="en-US" sz="4400" dirty="0" err="1">
                <a:solidFill>
                  <a:srgbClr val="000000"/>
                </a:solidFill>
                <a:latin typeface="Consolas" panose="020B0609020204030204" pitchFamily="49" charset="0"/>
              </a:rPr>
              <a:t>colour</a:t>
            </a:r>
            <a:r>
              <a:rPr lang="en-US" altLang="en-US" sz="4400" dirty="0">
                <a:solidFill>
                  <a:srgbClr val="000000"/>
                </a:solidFill>
                <a:latin typeface="Consolas" panose="020B0609020204030204" pitchFamily="49" charset="0"/>
              </a:rPr>
              <a:t> = </a:t>
            </a:r>
            <a:r>
              <a:rPr lang="en-US" altLang="en-US" sz="4400" dirty="0">
                <a:solidFill>
                  <a:srgbClr val="183691"/>
                </a:solidFill>
                <a:latin typeface="Consolas" panose="020B0609020204030204" pitchFamily="49" charset="0"/>
              </a:rPr>
              <a:t>"Red"</a:t>
            </a:r>
            <a:r>
              <a:rPr lang="en-US" altLang="en-US" sz="4400" dirty="0">
                <a:solidFill>
                  <a:srgbClr val="000000"/>
                </a:solidFill>
                <a:latin typeface="Consolas" panose="020B0609020204030204" pitchFamily="49" charset="0"/>
              </a:rPr>
              <a:t>;</a:t>
            </a:r>
            <a:br>
              <a:rPr lang="en-US" altLang="en-US" sz="4400" dirty="0">
                <a:solidFill>
                  <a:srgbClr val="000000"/>
                </a:solidFill>
                <a:latin typeface="Consolas" panose="020B0609020204030204" pitchFamily="49" charset="0"/>
              </a:rPr>
            </a:br>
            <a:endParaRPr lang="en-US" altLang="en-US" sz="5400" dirty="0">
              <a:latin typeface="Arial" panose="020B0604020202020204" pitchFamily="34" charset="0"/>
            </a:endParaRPr>
          </a:p>
        </p:txBody>
      </p:sp>
      <p:sp>
        <p:nvSpPr>
          <p:cNvPr id="4" name="TextBox 3">
            <a:extLst>
              <a:ext uri="{FF2B5EF4-FFF2-40B4-BE49-F238E27FC236}">
                <a16:creationId xmlns:a16="http://schemas.microsoft.com/office/drawing/2014/main" id="{6F588E78-1F97-1E63-F2E2-0B7BF0B99B62}"/>
              </a:ext>
            </a:extLst>
          </p:cNvPr>
          <p:cNvSpPr txBox="1"/>
          <p:nvPr/>
        </p:nvSpPr>
        <p:spPr>
          <a:xfrm>
            <a:off x="1485609" y="5665569"/>
            <a:ext cx="9220794" cy="646331"/>
          </a:xfrm>
          <a:prstGeom prst="rect">
            <a:avLst/>
          </a:prstGeom>
          <a:noFill/>
        </p:spPr>
        <p:txBody>
          <a:bodyPr wrap="none" rtlCol="0">
            <a:spAutoFit/>
          </a:bodyPr>
          <a:lstStyle/>
          <a:p>
            <a:pPr algn="ctr"/>
            <a:r>
              <a:rPr lang="en-GB" sz="3600" dirty="0">
                <a:solidFill>
                  <a:srgbClr val="7030A0"/>
                </a:solidFill>
              </a:rPr>
              <a:t>If the                    is </a:t>
            </a:r>
            <a:r>
              <a:rPr lang="en-GB" sz="3600" dirty="0">
                <a:solidFill>
                  <a:srgbClr val="7030A0"/>
                </a:solidFill>
                <a:latin typeface="Consolas" panose="020B0609020204030204" pitchFamily="49" charset="0"/>
              </a:rPr>
              <a:t>     </a:t>
            </a:r>
            <a:r>
              <a:rPr lang="en-GB" sz="3600" dirty="0">
                <a:solidFill>
                  <a:srgbClr val="7030A0"/>
                </a:solidFill>
              </a:rPr>
              <a:t> the record is displayed</a:t>
            </a:r>
            <a:endParaRPr lang="en-GB" sz="3600" dirty="0">
              <a:solidFill>
                <a:srgbClr val="7030A0"/>
              </a:solidFill>
              <a:latin typeface="Consolas" panose="020B0609020204030204" pitchFamily="49" charset="0"/>
            </a:endParaRPr>
          </a:p>
        </p:txBody>
      </p:sp>
    </p:spTree>
    <p:extLst>
      <p:ext uri="{BB962C8B-B14F-4D97-AF65-F5344CB8AC3E}">
        <p14:creationId xmlns:p14="http://schemas.microsoft.com/office/powerpoint/2010/main" val="2929584588"/>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08C76DEA-F650-51AB-7EE7-9B3064808EC0}"/>
              </a:ext>
            </a:extLst>
          </p:cNvPr>
          <p:cNvSpPr>
            <a:spLocks noGrp="1"/>
          </p:cNvSpPr>
          <p:nvPr>
            <p:ph type="title"/>
          </p:nvPr>
        </p:nvSpPr>
        <p:spPr/>
        <p:txBody>
          <a:bodyPr/>
          <a:lstStyle/>
          <a:p>
            <a:r>
              <a:rPr lang="en-GB" dirty="0"/>
              <a:t>Order of Operations (2)</a:t>
            </a:r>
          </a:p>
        </p:txBody>
      </p:sp>
      <p:sp>
        <p:nvSpPr>
          <p:cNvPr id="6" name="SQL">
            <a:extLst>
              <a:ext uri="{FF2B5EF4-FFF2-40B4-BE49-F238E27FC236}">
                <a16:creationId xmlns:a16="http://schemas.microsoft.com/office/drawing/2014/main" id="{C460184D-D803-F499-E82E-972FB39F9288}"/>
              </a:ext>
            </a:extLst>
          </p:cNvPr>
          <p:cNvSpPr>
            <a:spLocks noChangeArrowheads="1"/>
          </p:cNvSpPr>
          <p:nvPr/>
        </p:nvSpPr>
        <p:spPr bwMode="auto">
          <a:xfrm>
            <a:off x="619125" y="1524726"/>
            <a:ext cx="3429144" cy="101566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name, age</a:t>
            </a:r>
          </a:p>
          <a:p>
            <a:pPr lvl="0" eaLnBrk="0" fontAlgn="base" hangingPunct="0">
              <a:spcBef>
                <a:spcPct val="0"/>
              </a:spcBef>
              <a:spcAft>
                <a:spcPct val="0"/>
              </a:spcAft>
            </a:pPr>
            <a:r>
              <a:rPr lang="en-US" altLang="en-US" sz="2000" dirty="0">
                <a:solidFill>
                  <a:srgbClr val="B2B2B2"/>
                </a:solidFill>
                <a:latin typeface="Consolas" panose="020B0609020204030204" pitchFamily="49" charset="0"/>
              </a:rPr>
              <a:t>2 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FROM</a:t>
            </a:r>
            <a:r>
              <a:rPr lang="en-US" altLang="en-US" sz="2000" dirty="0">
                <a:solidFill>
                  <a:srgbClr val="000000"/>
                </a:solidFill>
                <a:latin typeface="Consolas" panose="020B0609020204030204" pitchFamily="49" charset="0"/>
              </a:rPr>
              <a:t> Pet</a:t>
            </a:r>
          </a:p>
          <a:p>
            <a:pPr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3 </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A71D5D"/>
                </a:solidFill>
                <a:latin typeface="Consolas" panose="020B0609020204030204" pitchFamily="49" charset="0"/>
              </a:rPr>
              <a:t>WHERE</a:t>
            </a:r>
            <a:r>
              <a:rPr lang="en-US" altLang="en-US" sz="2000" dirty="0">
                <a:solidFill>
                  <a:srgbClr val="000000"/>
                </a:solidFill>
                <a:latin typeface="Consolas" panose="020B0609020204030204" pitchFamily="49" charset="0"/>
              </a:rPr>
              <a:t> type = "</a:t>
            </a:r>
            <a:r>
              <a:rPr lang="en-US" altLang="en-US" sz="2000" dirty="0">
                <a:solidFill>
                  <a:srgbClr val="183691"/>
                </a:solidFill>
                <a:latin typeface="Consolas" panose="020B0609020204030204" pitchFamily="49" charset="0"/>
              </a:rPr>
              <a:t>Cat</a:t>
            </a:r>
            <a:r>
              <a:rPr lang="en-US" altLang="en-US" sz="2000" dirty="0">
                <a:solidFill>
                  <a:srgbClr val="000000"/>
                </a:solidFill>
                <a:latin typeface="Consolas" panose="020B0609020204030204" pitchFamily="49" charset="0"/>
              </a:rPr>
              <a:t>"</a:t>
            </a:r>
            <a:r>
              <a:rPr kumimoji="0" lang="en-US" altLang="en-US" sz="2000" b="0" i="0" u="none" strike="noStrike" cap="none" normalizeH="0" baseline="0" dirty="0">
                <a:ln>
                  <a:noFill/>
                </a:ln>
                <a:solidFill>
                  <a:srgbClr val="000000"/>
                </a:solidFill>
                <a:effectLst/>
                <a:latin typeface="Consolas" panose="020B0609020204030204" pitchFamily="49" charset="0"/>
              </a:rPr>
              <a:t>;</a:t>
            </a:r>
            <a:endParaRPr kumimoji="0" lang="en-US" altLang="en-US" sz="3200" b="0" i="0" u="none" strike="noStrike" cap="none" normalizeH="0" baseline="0" dirty="0">
              <a:ln>
                <a:noFill/>
              </a:ln>
              <a:solidFill>
                <a:schemeClr val="tx1"/>
              </a:solidFill>
              <a:effectLst/>
              <a:latin typeface="Arial" panose="020B0604020202020204" pitchFamily="34" charset="0"/>
            </a:endParaRPr>
          </a:p>
        </p:txBody>
      </p:sp>
      <p:sp>
        <p:nvSpPr>
          <p:cNvPr id="17" name="Pet">
            <a:extLst>
              <a:ext uri="{FF2B5EF4-FFF2-40B4-BE49-F238E27FC236}">
                <a16:creationId xmlns:a16="http://schemas.microsoft.com/office/drawing/2014/main" id="{37697A85-FE4A-5F49-87D3-DF60452AD532}"/>
              </a:ext>
            </a:extLst>
          </p:cNvPr>
          <p:cNvSpPr txBox="1"/>
          <p:nvPr/>
        </p:nvSpPr>
        <p:spPr>
          <a:xfrm>
            <a:off x="2660585" y="3091527"/>
            <a:ext cx="1771650" cy="369332"/>
          </a:xfrm>
          <a:prstGeom prst="rect">
            <a:avLst/>
          </a:prstGeom>
          <a:noFill/>
        </p:spPr>
        <p:txBody>
          <a:bodyPr wrap="square" rtlCol="0">
            <a:spAutoFit/>
          </a:bodyPr>
          <a:lstStyle/>
          <a:p>
            <a:r>
              <a:rPr lang="en-GB" b="1" dirty="0"/>
              <a:t>Table: Pet</a:t>
            </a:r>
          </a:p>
        </p:txBody>
      </p:sp>
      <p:sp>
        <p:nvSpPr>
          <p:cNvPr id="19" name="Order">
            <a:extLst>
              <a:ext uri="{FF2B5EF4-FFF2-40B4-BE49-F238E27FC236}">
                <a16:creationId xmlns:a16="http://schemas.microsoft.com/office/drawing/2014/main" id="{39027E70-266E-C921-B96A-180149336170}"/>
              </a:ext>
            </a:extLst>
          </p:cNvPr>
          <p:cNvSpPr txBox="1"/>
          <p:nvPr/>
        </p:nvSpPr>
        <p:spPr>
          <a:xfrm>
            <a:off x="7417818" y="500914"/>
            <a:ext cx="2590417" cy="1815882"/>
          </a:xfrm>
          <a:prstGeom prst="rect">
            <a:avLst/>
          </a:prstGeom>
          <a:noFill/>
        </p:spPr>
        <p:txBody>
          <a:bodyPr wrap="square" rtlCol="0">
            <a:spAutoFit/>
          </a:bodyPr>
          <a:lstStyle/>
          <a:p>
            <a:r>
              <a:rPr lang="en-GB" sz="2800" b="1" dirty="0">
                <a:solidFill>
                  <a:srgbClr val="7030A0"/>
                </a:solidFill>
              </a:rPr>
              <a:t>Order</a:t>
            </a:r>
            <a:r>
              <a:rPr lang="en-GB" sz="2800" dirty="0">
                <a:solidFill>
                  <a:srgbClr val="7030A0"/>
                </a:solidFill>
              </a:rPr>
              <a:t>:</a:t>
            </a:r>
          </a:p>
          <a:p>
            <a:pPr lvl="1"/>
            <a:r>
              <a:rPr lang="en-GB" sz="2800" dirty="0">
                <a:solidFill>
                  <a:srgbClr val="7030A0"/>
                </a:solidFill>
              </a:rPr>
              <a:t>1.  FROM</a:t>
            </a:r>
          </a:p>
          <a:p>
            <a:pPr lvl="1"/>
            <a:r>
              <a:rPr lang="en-GB" sz="2800" dirty="0">
                <a:solidFill>
                  <a:srgbClr val="7030A0"/>
                </a:solidFill>
              </a:rPr>
              <a:t>2.  WHERE</a:t>
            </a:r>
          </a:p>
          <a:p>
            <a:pPr lvl="1"/>
            <a:r>
              <a:rPr lang="en-GB" sz="2800" dirty="0">
                <a:solidFill>
                  <a:srgbClr val="7030A0"/>
                </a:solidFill>
              </a:rPr>
              <a:t>3.  SELECT</a:t>
            </a:r>
          </a:p>
        </p:txBody>
      </p:sp>
      <p:sp>
        <p:nvSpPr>
          <p:cNvPr id="27" name="From - Arrow">
            <a:extLst>
              <a:ext uri="{FF2B5EF4-FFF2-40B4-BE49-F238E27FC236}">
                <a16:creationId xmlns:a16="http://schemas.microsoft.com/office/drawing/2014/main" id="{269837FC-7069-F1D9-E16A-87AF1D4A80CD}"/>
              </a:ext>
            </a:extLst>
          </p:cNvPr>
          <p:cNvSpPr/>
          <p:nvPr/>
        </p:nvSpPr>
        <p:spPr>
          <a:xfrm>
            <a:off x="161263" y="1909446"/>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0" name="From">
            <a:extLst>
              <a:ext uri="{FF2B5EF4-FFF2-40B4-BE49-F238E27FC236}">
                <a16:creationId xmlns:a16="http://schemas.microsoft.com/office/drawing/2014/main" id="{BC0A24A5-7704-6A36-CD80-4ED2C2F64BD2}"/>
              </a:ext>
            </a:extLst>
          </p:cNvPr>
          <p:cNvSpPr txBox="1"/>
          <p:nvPr/>
        </p:nvSpPr>
        <p:spPr>
          <a:xfrm>
            <a:off x="4667406" y="2911786"/>
            <a:ext cx="850960" cy="369332"/>
          </a:xfrm>
          <a:prstGeom prst="rect">
            <a:avLst/>
          </a:prstGeom>
          <a:noFill/>
        </p:spPr>
        <p:txBody>
          <a:bodyPr wrap="square" rtlCol="0">
            <a:spAutoFit/>
          </a:bodyPr>
          <a:lstStyle/>
          <a:p>
            <a:r>
              <a:rPr lang="en-GB" b="1" dirty="0"/>
              <a:t>FROM</a:t>
            </a:r>
          </a:p>
        </p:txBody>
      </p:sp>
      <p:graphicFrame>
        <p:nvGraphicFramePr>
          <p:cNvPr id="22" name="Pet - Table">
            <a:extLst>
              <a:ext uri="{FF2B5EF4-FFF2-40B4-BE49-F238E27FC236}">
                <a16:creationId xmlns:a16="http://schemas.microsoft.com/office/drawing/2014/main" id="{E1C47C29-B1FD-7991-E626-2F12DC1AFFDE}"/>
              </a:ext>
            </a:extLst>
          </p:cNvPr>
          <p:cNvGraphicFramePr>
            <a:graphicFrameLocks noGrp="1"/>
          </p:cNvGraphicFramePr>
          <p:nvPr>
            <p:extLst>
              <p:ext uri="{D42A27DB-BD31-4B8C-83A1-F6EECF244321}">
                <p14:modId xmlns:p14="http://schemas.microsoft.com/office/powerpoint/2010/main" val="2580159429"/>
              </p:ext>
            </p:extLst>
          </p:nvPr>
        </p:nvGraphicFramePr>
        <p:xfrm>
          <a:off x="2746308" y="3412595"/>
          <a:ext cx="2042287"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a:solidFill>
                            <a:schemeClr val="tx1"/>
                          </a:solidFill>
                          <a:effectLst/>
                        </a:rPr>
                        <a:t>Pepper</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16</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7</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a:solidFill>
                            <a:schemeClr val="tx1"/>
                          </a:solidFill>
                          <a:effectLst/>
                        </a:rPr>
                        <a:t>Micky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a:solidFill>
                            <a:schemeClr val="tx1"/>
                          </a:solidFill>
                          <a:effectLst/>
                        </a:rPr>
                        <a:t>Minnie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Cat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9</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a:solidFill>
                            <a:schemeClr val="tx1"/>
                          </a:solidFill>
                          <a:effectLst/>
                        </a:rPr>
                        <a:t>Bonzo</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Dog</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6</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Rabbit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3</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graphicFrame>
        <p:nvGraphicFramePr>
          <p:cNvPr id="23" name="Temp - Table">
            <a:extLst>
              <a:ext uri="{FF2B5EF4-FFF2-40B4-BE49-F238E27FC236}">
                <a16:creationId xmlns:a16="http://schemas.microsoft.com/office/drawing/2014/main" id="{57FE39BF-DC05-E516-87E6-26364C7BBE24}"/>
              </a:ext>
            </a:extLst>
          </p:cNvPr>
          <p:cNvGraphicFramePr>
            <a:graphicFrameLocks noGrp="1"/>
          </p:cNvGraphicFramePr>
          <p:nvPr>
            <p:extLst>
              <p:ext uri="{D42A27DB-BD31-4B8C-83A1-F6EECF244321}">
                <p14:modId xmlns:p14="http://schemas.microsoft.com/office/powerpoint/2010/main" val="2244949562"/>
              </p:ext>
            </p:extLst>
          </p:nvPr>
        </p:nvGraphicFramePr>
        <p:xfrm>
          <a:off x="5340290" y="3412595"/>
          <a:ext cx="2042287"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a:solidFill>
                            <a:schemeClr val="tx1"/>
                          </a:solidFill>
                          <a:effectLst/>
                        </a:rPr>
                        <a:t>Pepper</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16</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7</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a:solidFill>
                            <a:schemeClr val="tx1"/>
                          </a:solidFill>
                          <a:effectLst/>
                        </a:rPr>
                        <a:t>Micky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a:solidFill>
                            <a:schemeClr val="tx1"/>
                          </a:solidFill>
                          <a:effectLst/>
                        </a:rPr>
                        <a:t>Minnie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Cat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9</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a:solidFill>
                            <a:schemeClr val="tx1"/>
                          </a:solidFill>
                          <a:effectLst/>
                        </a:rPr>
                        <a:t>Bonzo</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Dog</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6</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Rabbit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3</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graphicFrame>
        <p:nvGraphicFramePr>
          <p:cNvPr id="24" name="Output - Table">
            <a:extLst>
              <a:ext uri="{FF2B5EF4-FFF2-40B4-BE49-F238E27FC236}">
                <a16:creationId xmlns:a16="http://schemas.microsoft.com/office/drawing/2014/main" id="{31F6E6FA-42D3-E5C9-36B8-B7C6109BDE21}"/>
              </a:ext>
            </a:extLst>
          </p:cNvPr>
          <p:cNvGraphicFramePr>
            <a:graphicFrameLocks noGrp="1"/>
          </p:cNvGraphicFramePr>
          <p:nvPr>
            <p:extLst>
              <p:ext uri="{D42A27DB-BD31-4B8C-83A1-F6EECF244321}">
                <p14:modId xmlns:p14="http://schemas.microsoft.com/office/powerpoint/2010/main" val="1986849049"/>
              </p:ext>
            </p:extLst>
          </p:nvPr>
        </p:nvGraphicFramePr>
        <p:xfrm>
          <a:off x="7941154" y="3412595"/>
          <a:ext cx="1254888" cy="129540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442405">
                  <a:extLst>
                    <a:ext uri="{9D8B030D-6E8A-4147-A177-3AD203B41FA5}">
                      <a16:colId xmlns:a16="http://schemas.microsoft.com/office/drawing/2014/main" val="3258369125"/>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dirty="0">
                          <a:solidFill>
                            <a:schemeClr val="tx1"/>
                          </a:solidFill>
                          <a:effectLst/>
                        </a:rPr>
                        <a:t>Pepper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Calibri" panose="020F0502020204030204" pitchFamily="34" charset="0"/>
                          <a:cs typeface="Calibri" panose="020F0502020204030204" pitchFamily="34" charset="0"/>
                        </a:rPr>
                        <a:t>16</a:t>
                      </a: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Calibri" panose="020F0502020204030204" pitchFamily="34" charset="0"/>
                          <a:cs typeface="Calibri" panose="020F0502020204030204" pitchFamily="34" charset="0"/>
                        </a:rPr>
                        <a:t>7</a:t>
                      </a: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Calibri" panose="020F0502020204030204" pitchFamily="34" charset="0"/>
                          <a:cs typeface="Calibri" panose="020F0502020204030204" pitchFamily="34" charset="0"/>
                        </a:rPr>
                        <a:t>9</a:t>
                      </a:r>
                    </a:p>
                  </a:txBody>
                  <a:tcPr marL="9525" marR="9525" marT="9525" marB="9525" anchor="ctr"/>
                </a:tc>
                <a:extLst>
                  <a:ext uri="{0D108BD9-81ED-4DB2-BD59-A6C34878D82A}">
                    <a16:rowId xmlns:a16="http://schemas.microsoft.com/office/drawing/2014/main" val="812093042"/>
                  </a:ext>
                </a:extLst>
              </a:tr>
            </a:tbl>
          </a:graphicData>
        </a:graphic>
      </p:graphicFrame>
      <p:sp>
        <p:nvSpPr>
          <p:cNvPr id="25" name="Select">
            <a:extLst>
              <a:ext uri="{FF2B5EF4-FFF2-40B4-BE49-F238E27FC236}">
                <a16:creationId xmlns:a16="http://schemas.microsoft.com/office/drawing/2014/main" id="{35683CAD-1E2A-EA31-E6BB-C707B14B8F0A}"/>
              </a:ext>
            </a:extLst>
          </p:cNvPr>
          <p:cNvSpPr txBox="1"/>
          <p:nvPr/>
        </p:nvSpPr>
        <p:spPr>
          <a:xfrm>
            <a:off x="6072253" y="2051901"/>
            <a:ext cx="850960" cy="369332"/>
          </a:xfrm>
          <a:prstGeom prst="rect">
            <a:avLst/>
          </a:prstGeom>
          <a:noFill/>
        </p:spPr>
        <p:txBody>
          <a:bodyPr wrap="square" rtlCol="0">
            <a:spAutoFit/>
          </a:bodyPr>
          <a:lstStyle/>
          <a:p>
            <a:pPr algn="ctr"/>
            <a:r>
              <a:rPr lang="en-GB" b="1" dirty="0"/>
              <a:t>SELECT</a:t>
            </a:r>
          </a:p>
        </p:txBody>
      </p:sp>
      <p:sp>
        <p:nvSpPr>
          <p:cNvPr id="26" name="Temp - Arrow">
            <a:extLst>
              <a:ext uri="{FF2B5EF4-FFF2-40B4-BE49-F238E27FC236}">
                <a16:creationId xmlns:a16="http://schemas.microsoft.com/office/drawing/2014/main" id="{0812AA0D-71D1-9B9D-4AED-E09E855A4185}"/>
              </a:ext>
            </a:extLst>
          </p:cNvPr>
          <p:cNvSpPr/>
          <p:nvPr/>
        </p:nvSpPr>
        <p:spPr>
          <a:xfrm>
            <a:off x="4827403" y="4748123"/>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8" name="Output - Arrow">
            <a:extLst>
              <a:ext uri="{FF2B5EF4-FFF2-40B4-BE49-F238E27FC236}">
                <a16:creationId xmlns:a16="http://schemas.microsoft.com/office/drawing/2014/main" id="{27833E17-04CE-E6AD-804B-EB51B8F41239}"/>
              </a:ext>
            </a:extLst>
          </p:cNvPr>
          <p:cNvSpPr/>
          <p:nvPr/>
        </p:nvSpPr>
        <p:spPr>
          <a:xfrm>
            <a:off x="7438073" y="3928275"/>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9" name="Name - Column">
            <a:extLst>
              <a:ext uri="{FF2B5EF4-FFF2-40B4-BE49-F238E27FC236}">
                <a16:creationId xmlns:a16="http://schemas.microsoft.com/office/drawing/2014/main" id="{9CFD6623-90F9-8CA0-585A-959ADF79ADE1}"/>
              </a:ext>
            </a:extLst>
          </p:cNvPr>
          <p:cNvSpPr/>
          <p:nvPr/>
        </p:nvSpPr>
        <p:spPr>
          <a:xfrm>
            <a:off x="5333994" y="3349977"/>
            <a:ext cx="792000" cy="3060332"/>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0" name="Age - Column">
            <a:extLst>
              <a:ext uri="{FF2B5EF4-FFF2-40B4-BE49-F238E27FC236}">
                <a16:creationId xmlns:a16="http://schemas.microsoft.com/office/drawing/2014/main" id="{F8908677-B9D0-5945-93E8-1112E85882A9}"/>
              </a:ext>
            </a:extLst>
          </p:cNvPr>
          <p:cNvSpPr/>
          <p:nvPr/>
        </p:nvSpPr>
        <p:spPr>
          <a:xfrm>
            <a:off x="6928707" y="3349977"/>
            <a:ext cx="468000" cy="3060332"/>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1" name="Select - Arrow">
            <a:extLst>
              <a:ext uri="{FF2B5EF4-FFF2-40B4-BE49-F238E27FC236}">
                <a16:creationId xmlns:a16="http://schemas.microsoft.com/office/drawing/2014/main" id="{44EEC309-5164-E750-8A98-948F7250CF9F}"/>
              </a:ext>
            </a:extLst>
          </p:cNvPr>
          <p:cNvSpPr/>
          <p:nvPr/>
        </p:nvSpPr>
        <p:spPr>
          <a:xfrm>
            <a:off x="161263" y="1585067"/>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2" name="Output">
            <a:extLst>
              <a:ext uri="{FF2B5EF4-FFF2-40B4-BE49-F238E27FC236}">
                <a16:creationId xmlns:a16="http://schemas.microsoft.com/office/drawing/2014/main" id="{56038AF1-3FFC-CE48-15B4-04B9F7CE57D9}"/>
              </a:ext>
            </a:extLst>
          </p:cNvPr>
          <p:cNvSpPr txBox="1"/>
          <p:nvPr/>
        </p:nvSpPr>
        <p:spPr>
          <a:xfrm>
            <a:off x="7178301" y="2911786"/>
            <a:ext cx="960176" cy="369332"/>
          </a:xfrm>
          <a:prstGeom prst="rect">
            <a:avLst/>
          </a:prstGeom>
          <a:noFill/>
        </p:spPr>
        <p:txBody>
          <a:bodyPr wrap="square" rtlCol="0">
            <a:spAutoFit/>
          </a:bodyPr>
          <a:lstStyle/>
          <a:p>
            <a:pPr algn="ctr"/>
            <a:r>
              <a:rPr lang="en-GB" b="1" dirty="0"/>
              <a:t>Output</a:t>
            </a:r>
          </a:p>
        </p:txBody>
      </p:sp>
      <p:sp>
        <p:nvSpPr>
          <p:cNvPr id="18" name="Pepper - Row">
            <a:extLst>
              <a:ext uri="{FF2B5EF4-FFF2-40B4-BE49-F238E27FC236}">
                <a16:creationId xmlns:a16="http://schemas.microsoft.com/office/drawing/2014/main" id="{D91C0E01-A6BE-4A60-8F93-0BBA5801C23F}"/>
              </a:ext>
            </a:extLst>
          </p:cNvPr>
          <p:cNvSpPr/>
          <p:nvPr/>
        </p:nvSpPr>
        <p:spPr>
          <a:xfrm>
            <a:off x="5311221" y="3725694"/>
            <a:ext cx="2124000" cy="312791"/>
          </a:xfrm>
          <a:prstGeom prst="rect">
            <a:avLst/>
          </a:prstGeom>
          <a:noFill/>
          <a:ln w="28575">
            <a:solidFill>
              <a:srgbClr val="FF00FF"/>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0" name="Snowy - Row">
            <a:extLst>
              <a:ext uri="{FF2B5EF4-FFF2-40B4-BE49-F238E27FC236}">
                <a16:creationId xmlns:a16="http://schemas.microsoft.com/office/drawing/2014/main" id="{CE0478C3-5F85-4F8D-AAFC-F12F58437907}"/>
              </a:ext>
            </a:extLst>
          </p:cNvPr>
          <p:cNvSpPr/>
          <p:nvPr/>
        </p:nvSpPr>
        <p:spPr>
          <a:xfrm>
            <a:off x="5308481" y="4382898"/>
            <a:ext cx="2124000" cy="312791"/>
          </a:xfrm>
          <a:prstGeom prst="rect">
            <a:avLst/>
          </a:prstGeom>
          <a:noFill/>
          <a:ln w="28575">
            <a:solidFill>
              <a:srgbClr val="FF00FF"/>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1" name="Kitty - Row">
            <a:extLst>
              <a:ext uri="{FF2B5EF4-FFF2-40B4-BE49-F238E27FC236}">
                <a16:creationId xmlns:a16="http://schemas.microsoft.com/office/drawing/2014/main" id="{BE13FF1D-AE89-48DE-9545-FC614FA1848F}"/>
              </a:ext>
            </a:extLst>
          </p:cNvPr>
          <p:cNvSpPr/>
          <p:nvPr/>
        </p:nvSpPr>
        <p:spPr>
          <a:xfrm>
            <a:off x="5308480" y="5346528"/>
            <a:ext cx="2124000" cy="312791"/>
          </a:xfrm>
          <a:prstGeom prst="rect">
            <a:avLst/>
          </a:prstGeom>
          <a:noFill/>
          <a:ln w="28575">
            <a:solidFill>
              <a:srgbClr val="FF00FF"/>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 name="Pepper - Yellow">
            <a:extLst>
              <a:ext uri="{FF2B5EF4-FFF2-40B4-BE49-F238E27FC236}">
                <a16:creationId xmlns:a16="http://schemas.microsoft.com/office/drawing/2014/main" id="{E3E80C3B-A12B-4BB4-8CEF-16AB911AA2D2}"/>
              </a:ext>
            </a:extLst>
          </p:cNvPr>
          <p:cNvSpPr/>
          <p:nvPr/>
        </p:nvSpPr>
        <p:spPr>
          <a:xfrm>
            <a:off x="6135722" y="3725897"/>
            <a:ext cx="792000"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3" name="Snowy - Yellow">
            <a:extLst>
              <a:ext uri="{FF2B5EF4-FFF2-40B4-BE49-F238E27FC236}">
                <a16:creationId xmlns:a16="http://schemas.microsoft.com/office/drawing/2014/main" id="{F2A2FD4D-D5A1-4882-9270-445588B3BF14}"/>
              </a:ext>
            </a:extLst>
          </p:cNvPr>
          <p:cNvSpPr/>
          <p:nvPr/>
        </p:nvSpPr>
        <p:spPr>
          <a:xfrm>
            <a:off x="6135722" y="4387830"/>
            <a:ext cx="792000"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4" name="Kitty - Yellow">
            <a:extLst>
              <a:ext uri="{FF2B5EF4-FFF2-40B4-BE49-F238E27FC236}">
                <a16:creationId xmlns:a16="http://schemas.microsoft.com/office/drawing/2014/main" id="{02546B7F-2DFC-4F0E-BC48-161A956E6261}"/>
              </a:ext>
            </a:extLst>
          </p:cNvPr>
          <p:cNvSpPr/>
          <p:nvPr/>
        </p:nvSpPr>
        <p:spPr>
          <a:xfrm>
            <a:off x="6141738" y="5353678"/>
            <a:ext cx="792000"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5" name="Where - Arrow">
            <a:extLst>
              <a:ext uri="{FF2B5EF4-FFF2-40B4-BE49-F238E27FC236}">
                <a16:creationId xmlns:a16="http://schemas.microsoft.com/office/drawing/2014/main" id="{570E26B8-2533-45CC-B630-78104B4BF6E3}"/>
              </a:ext>
            </a:extLst>
          </p:cNvPr>
          <p:cNvSpPr/>
          <p:nvPr/>
        </p:nvSpPr>
        <p:spPr>
          <a:xfrm>
            <a:off x="161263" y="2224917"/>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6" name="Where 2 - Arrow">
            <a:extLst>
              <a:ext uri="{FF2B5EF4-FFF2-40B4-BE49-F238E27FC236}">
                <a16:creationId xmlns:a16="http://schemas.microsoft.com/office/drawing/2014/main" id="{9FC6139A-DFAA-47AE-9247-10271BCD7ACF}"/>
              </a:ext>
            </a:extLst>
          </p:cNvPr>
          <p:cNvSpPr/>
          <p:nvPr/>
        </p:nvSpPr>
        <p:spPr>
          <a:xfrm rot="5400000">
            <a:off x="6269019" y="2982044"/>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7" name="Where">
            <a:extLst>
              <a:ext uri="{FF2B5EF4-FFF2-40B4-BE49-F238E27FC236}">
                <a16:creationId xmlns:a16="http://schemas.microsoft.com/office/drawing/2014/main" id="{D1DD8C35-F278-4C99-90DE-19CCA4DEF251}"/>
              </a:ext>
            </a:extLst>
          </p:cNvPr>
          <p:cNvSpPr txBox="1"/>
          <p:nvPr/>
        </p:nvSpPr>
        <p:spPr>
          <a:xfrm>
            <a:off x="6020827" y="2554178"/>
            <a:ext cx="960176" cy="369332"/>
          </a:xfrm>
          <a:prstGeom prst="rect">
            <a:avLst/>
          </a:prstGeom>
          <a:noFill/>
        </p:spPr>
        <p:txBody>
          <a:bodyPr wrap="square" rtlCol="0">
            <a:spAutoFit/>
          </a:bodyPr>
          <a:lstStyle/>
          <a:p>
            <a:pPr algn="ctr"/>
            <a:r>
              <a:rPr lang="en-GB" b="1" dirty="0"/>
              <a:t>WHERE</a:t>
            </a:r>
          </a:p>
        </p:txBody>
      </p:sp>
      <p:cxnSp>
        <p:nvCxnSpPr>
          <p:cNvPr id="5" name="Name - Arrow">
            <a:extLst>
              <a:ext uri="{FF2B5EF4-FFF2-40B4-BE49-F238E27FC236}">
                <a16:creationId xmlns:a16="http://schemas.microsoft.com/office/drawing/2014/main" id="{74743580-1BBD-44D1-9B4B-3FCD69A573CA}"/>
              </a:ext>
            </a:extLst>
          </p:cNvPr>
          <p:cNvCxnSpPr>
            <a:cxnSpLocks/>
            <a:stCxn id="25" idx="1"/>
            <a:endCxn id="29" idx="0"/>
          </p:cNvCxnSpPr>
          <p:nvPr/>
        </p:nvCxnSpPr>
        <p:spPr>
          <a:xfrm flipH="1">
            <a:off x="5729994" y="2236567"/>
            <a:ext cx="342259" cy="1113410"/>
          </a:xfrm>
          <a:prstGeom prst="straightConnector1">
            <a:avLst/>
          </a:prstGeom>
          <a:ln w="28575">
            <a:solidFill>
              <a:srgbClr val="FF0000"/>
            </a:solidFill>
            <a:headEnd w="lg" len="lg"/>
            <a:tailEnd type="triangle" w="lg" len="lg"/>
          </a:ln>
        </p:spPr>
        <p:style>
          <a:lnRef idx="1">
            <a:schemeClr val="accent1"/>
          </a:lnRef>
          <a:fillRef idx="0">
            <a:schemeClr val="accent1"/>
          </a:fillRef>
          <a:effectRef idx="0">
            <a:schemeClr val="accent1"/>
          </a:effectRef>
          <a:fontRef idx="minor">
            <a:schemeClr val="tx1"/>
          </a:fontRef>
        </p:style>
      </p:cxnSp>
      <p:cxnSp>
        <p:nvCxnSpPr>
          <p:cNvPr id="9" name="Age - Arrow">
            <a:extLst>
              <a:ext uri="{FF2B5EF4-FFF2-40B4-BE49-F238E27FC236}">
                <a16:creationId xmlns:a16="http://schemas.microsoft.com/office/drawing/2014/main" id="{4A59694F-BFA9-47E0-AA51-53E4E5936D1D}"/>
              </a:ext>
            </a:extLst>
          </p:cNvPr>
          <p:cNvCxnSpPr>
            <a:cxnSpLocks/>
            <a:stCxn id="25" idx="3"/>
            <a:endCxn id="30" idx="0"/>
          </p:cNvCxnSpPr>
          <p:nvPr/>
        </p:nvCxnSpPr>
        <p:spPr>
          <a:xfrm>
            <a:off x="6923213" y="2236567"/>
            <a:ext cx="239494" cy="1113410"/>
          </a:xfrm>
          <a:prstGeom prst="straightConnector1">
            <a:avLst/>
          </a:prstGeom>
          <a:ln w="28575">
            <a:solidFill>
              <a:srgbClr val="FF0000"/>
            </a:solidFill>
            <a:headEnd w="lg" len="lg"/>
            <a:tailEnd type="triangle" w="lg" len="lg"/>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81671567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17"/>
                                        </p:tgtEl>
                                        <p:attrNameLst>
                                          <p:attrName>style.visibility</p:attrName>
                                        </p:attrNameLst>
                                      </p:cBhvr>
                                      <p:to>
                                        <p:strVal val="visible"/>
                                      </p:to>
                                    </p:set>
                                    <p:animEffect transition="in" filter="wipe(left)">
                                      <p:cBhvr>
                                        <p:cTn id="7" dur="1000"/>
                                        <p:tgtEl>
                                          <p:spTgt spid="17"/>
                                        </p:tgtEl>
                                      </p:cBhvr>
                                    </p:animEffect>
                                  </p:childTnLst>
                                </p:cTn>
                              </p:par>
                            </p:childTnLst>
                          </p:cTn>
                        </p:par>
                        <p:par>
                          <p:cTn id="8" fill="hold">
                            <p:stCondLst>
                              <p:cond delay="1000"/>
                            </p:stCondLst>
                            <p:childTnLst>
                              <p:par>
                                <p:cTn id="9" presetID="22" presetClass="entr" presetSubtype="1" fill="hold" nodeType="afterEffect">
                                  <p:stCondLst>
                                    <p:cond delay="0"/>
                                  </p:stCondLst>
                                  <p:childTnLst>
                                    <p:set>
                                      <p:cBhvr>
                                        <p:cTn id="10" dur="1" fill="hold">
                                          <p:stCondLst>
                                            <p:cond delay="0"/>
                                          </p:stCondLst>
                                        </p:cTn>
                                        <p:tgtEl>
                                          <p:spTgt spid="22"/>
                                        </p:tgtEl>
                                        <p:attrNameLst>
                                          <p:attrName>style.visibility</p:attrName>
                                        </p:attrNameLst>
                                      </p:cBhvr>
                                      <p:to>
                                        <p:strVal val="visible"/>
                                      </p:to>
                                    </p:set>
                                    <p:animEffect transition="in" filter="wipe(up)">
                                      <p:cBhvr>
                                        <p:cTn id="11" dur="2000"/>
                                        <p:tgtEl>
                                          <p:spTgt spid="22"/>
                                        </p:tgtEl>
                                      </p:cBhvr>
                                    </p:animEffect>
                                  </p:childTnLst>
                                </p:cTn>
                              </p:par>
                            </p:childTnLst>
                          </p:cTn>
                        </p:par>
                      </p:childTnLst>
                    </p:cTn>
                  </p:par>
                  <p:par>
                    <p:cTn id="12" fill="hold">
                      <p:stCondLst>
                        <p:cond delay="indefinite"/>
                      </p:stCondLst>
                      <p:childTnLst>
                        <p:par>
                          <p:cTn id="13" fill="hold">
                            <p:stCondLst>
                              <p:cond delay="0"/>
                            </p:stCondLst>
                            <p:childTnLst>
                              <p:par>
                                <p:cTn id="14" presetID="22" presetClass="entr" presetSubtype="8" fill="hold" grpId="0" nodeType="clickEffect">
                                  <p:stCondLst>
                                    <p:cond delay="0"/>
                                  </p:stCondLst>
                                  <p:childTnLst>
                                    <p:set>
                                      <p:cBhvr>
                                        <p:cTn id="15" dur="1" fill="hold">
                                          <p:stCondLst>
                                            <p:cond delay="0"/>
                                          </p:stCondLst>
                                        </p:cTn>
                                        <p:tgtEl>
                                          <p:spTgt spid="6">
                                            <p:txEl>
                                              <p:pRg st="0" end="0"/>
                                            </p:txEl>
                                          </p:spTgt>
                                        </p:tgtEl>
                                        <p:attrNameLst>
                                          <p:attrName>style.visibility</p:attrName>
                                        </p:attrNameLst>
                                      </p:cBhvr>
                                      <p:to>
                                        <p:strVal val="visible"/>
                                      </p:to>
                                    </p:set>
                                    <p:animEffect transition="in" filter="wipe(left)">
                                      <p:cBhvr>
                                        <p:cTn id="16" dur="1500"/>
                                        <p:tgtEl>
                                          <p:spTgt spid="6">
                                            <p:txEl>
                                              <p:pRg st="0" end="0"/>
                                            </p:txEl>
                                          </p:spTgt>
                                        </p:tgtEl>
                                      </p:cBhvr>
                                    </p:animEffect>
                                  </p:childTnLst>
                                </p:cTn>
                              </p:par>
                            </p:childTnLst>
                          </p:cTn>
                        </p:par>
                        <p:par>
                          <p:cTn id="17" fill="hold">
                            <p:stCondLst>
                              <p:cond delay="1500"/>
                            </p:stCondLst>
                            <p:childTnLst>
                              <p:par>
                                <p:cTn id="18" presetID="22" presetClass="entr" presetSubtype="8" fill="hold" grpId="0" nodeType="afterEffect">
                                  <p:stCondLst>
                                    <p:cond delay="0"/>
                                  </p:stCondLst>
                                  <p:childTnLst>
                                    <p:set>
                                      <p:cBhvr>
                                        <p:cTn id="19" dur="1" fill="hold">
                                          <p:stCondLst>
                                            <p:cond delay="0"/>
                                          </p:stCondLst>
                                        </p:cTn>
                                        <p:tgtEl>
                                          <p:spTgt spid="6">
                                            <p:txEl>
                                              <p:pRg st="1" end="1"/>
                                            </p:txEl>
                                          </p:spTgt>
                                        </p:tgtEl>
                                        <p:attrNameLst>
                                          <p:attrName>style.visibility</p:attrName>
                                        </p:attrNameLst>
                                      </p:cBhvr>
                                      <p:to>
                                        <p:strVal val="visible"/>
                                      </p:to>
                                    </p:set>
                                    <p:animEffect transition="in" filter="wipe(left)">
                                      <p:cBhvr>
                                        <p:cTn id="20" dur="1500"/>
                                        <p:tgtEl>
                                          <p:spTgt spid="6">
                                            <p:txEl>
                                              <p:pRg st="1" end="1"/>
                                            </p:txEl>
                                          </p:spTgt>
                                        </p:tgtEl>
                                      </p:cBhvr>
                                    </p:animEffect>
                                  </p:childTnLst>
                                </p:cTn>
                              </p:par>
                            </p:childTnLst>
                          </p:cTn>
                        </p:par>
                        <p:par>
                          <p:cTn id="21" fill="hold">
                            <p:stCondLst>
                              <p:cond delay="3000"/>
                            </p:stCondLst>
                            <p:childTnLst>
                              <p:par>
                                <p:cTn id="22" presetID="22" presetClass="entr" presetSubtype="8" fill="hold" grpId="0" nodeType="afterEffect">
                                  <p:stCondLst>
                                    <p:cond delay="0"/>
                                  </p:stCondLst>
                                  <p:childTnLst>
                                    <p:set>
                                      <p:cBhvr>
                                        <p:cTn id="23" dur="1" fill="hold">
                                          <p:stCondLst>
                                            <p:cond delay="0"/>
                                          </p:stCondLst>
                                        </p:cTn>
                                        <p:tgtEl>
                                          <p:spTgt spid="6">
                                            <p:txEl>
                                              <p:pRg st="2" end="2"/>
                                            </p:txEl>
                                          </p:spTgt>
                                        </p:tgtEl>
                                        <p:attrNameLst>
                                          <p:attrName>style.visibility</p:attrName>
                                        </p:attrNameLst>
                                      </p:cBhvr>
                                      <p:to>
                                        <p:strVal val="visible"/>
                                      </p:to>
                                    </p:set>
                                    <p:animEffect transition="in" filter="wipe(left)">
                                      <p:cBhvr>
                                        <p:cTn id="24" dur="1500"/>
                                        <p:tgtEl>
                                          <p:spTgt spid="6">
                                            <p:txEl>
                                              <p:pRg st="2" end="2"/>
                                            </p:txEl>
                                          </p:spTgt>
                                        </p:tgtEl>
                                      </p:cBhvr>
                                    </p:animEffect>
                                  </p:childTnLst>
                                </p:cTn>
                              </p:par>
                            </p:childTnLst>
                          </p:cTn>
                        </p:par>
                      </p:childTnLst>
                    </p:cTn>
                  </p:par>
                  <p:par>
                    <p:cTn id="25" fill="hold">
                      <p:stCondLst>
                        <p:cond delay="indefinite"/>
                      </p:stCondLst>
                      <p:childTnLst>
                        <p:par>
                          <p:cTn id="26" fill="hold">
                            <p:stCondLst>
                              <p:cond delay="0"/>
                            </p:stCondLst>
                            <p:childTnLst>
                              <p:par>
                                <p:cTn id="27" presetID="22" presetClass="entr" presetSubtype="8" fill="hold" grpId="0" nodeType="clickEffect">
                                  <p:stCondLst>
                                    <p:cond delay="0"/>
                                  </p:stCondLst>
                                  <p:childTnLst>
                                    <p:set>
                                      <p:cBhvr>
                                        <p:cTn id="28" dur="1" fill="hold">
                                          <p:stCondLst>
                                            <p:cond delay="0"/>
                                          </p:stCondLst>
                                        </p:cTn>
                                        <p:tgtEl>
                                          <p:spTgt spid="19">
                                            <p:txEl>
                                              <p:pRg st="0" end="0"/>
                                            </p:txEl>
                                          </p:spTgt>
                                        </p:tgtEl>
                                        <p:attrNameLst>
                                          <p:attrName>style.visibility</p:attrName>
                                        </p:attrNameLst>
                                      </p:cBhvr>
                                      <p:to>
                                        <p:strVal val="visible"/>
                                      </p:to>
                                    </p:set>
                                    <p:animEffect transition="in" filter="wipe(left)">
                                      <p:cBhvr>
                                        <p:cTn id="29" dur="1000"/>
                                        <p:tgtEl>
                                          <p:spTgt spid="19">
                                            <p:txEl>
                                              <p:pRg st="0" end="0"/>
                                            </p:txEl>
                                          </p:spTgt>
                                        </p:tgtEl>
                                      </p:cBhvr>
                                    </p:animEffect>
                                  </p:childTnLst>
                                </p:cTn>
                              </p:par>
                            </p:childTnLst>
                          </p:cTn>
                        </p:par>
                      </p:childTnLst>
                    </p:cTn>
                  </p:par>
                  <p:par>
                    <p:cTn id="30" fill="hold">
                      <p:stCondLst>
                        <p:cond delay="indefinite"/>
                      </p:stCondLst>
                      <p:childTnLst>
                        <p:par>
                          <p:cTn id="31" fill="hold">
                            <p:stCondLst>
                              <p:cond delay="0"/>
                            </p:stCondLst>
                            <p:childTnLst>
                              <p:par>
                                <p:cTn id="32" presetID="22" presetClass="entr" presetSubtype="8" fill="hold" grpId="0" nodeType="clickEffect">
                                  <p:stCondLst>
                                    <p:cond delay="0"/>
                                  </p:stCondLst>
                                  <p:childTnLst>
                                    <p:set>
                                      <p:cBhvr>
                                        <p:cTn id="33" dur="1" fill="hold">
                                          <p:stCondLst>
                                            <p:cond delay="0"/>
                                          </p:stCondLst>
                                        </p:cTn>
                                        <p:tgtEl>
                                          <p:spTgt spid="19">
                                            <p:txEl>
                                              <p:pRg st="1" end="1"/>
                                            </p:txEl>
                                          </p:spTgt>
                                        </p:tgtEl>
                                        <p:attrNameLst>
                                          <p:attrName>style.visibility</p:attrName>
                                        </p:attrNameLst>
                                      </p:cBhvr>
                                      <p:to>
                                        <p:strVal val="visible"/>
                                      </p:to>
                                    </p:set>
                                    <p:animEffect transition="in" filter="wipe(left)">
                                      <p:cBhvr>
                                        <p:cTn id="34" dur="1000"/>
                                        <p:tgtEl>
                                          <p:spTgt spid="19">
                                            <p:txEl>
                                              <p:pRg st="1" end="1"/>
                                            </p:txEl>
                                          </p:spTgt>
                                        </p:tgtEl>
                                      </p:cBhvr>
                                    </p:animEffect>
                                  </p:childTnLst>
                                </p:cTn>
                              </p:par>
                            </p:childTnLst>
                          </p:cTn>
                        </p:par>
                        <p:par>
                          <p:cTn id="35" fill="hold">
                            <p:stCondLst>
                              <p:cond delay="1000"/>
                            </p:stCondLst>
                            <p:childTnLst>
                              <p:par>
                                <p:cTn id="36" presetID="22" presetClass="entr" presetSubtype="8" fill="hold" grpId="0" nodeType="afterEffect">
                                  <p:stCondLst>
                                    <p:cond delay="0"/>
                                  </p:stCondLst>
                                  <p:childTnLst>
                                    <p:set>
                                      <p:cBhvr>
                                        <p:cTn id="37" dur="1" fill="hold">
                                          <p:stCondLst>
                                            <p:cond delay="0"/>
                                          </p:stCondLst>
                                        </p:cTn>
                                        <p:tgtEl>
                                          <p:spTgt spid="19">
                                            <p:txEl>
                                              <p:pRg st="2" end="2"/>
                                            </p:txEl>
                                          </p:spTgt>
                                        </p:tgtEl>
                                        <p:attrNameLst>
                                          <p:attrName>style.visibility</p:attrName>
                                        </p:attrNameLst>
                                      </p:cBhvr>
                                      <p:to>
                                        <p:strVal val="visible"/>
                                      </p:to>
                                    </p:set>
                                    <p:animEffect transition="in" filter="wipe(left)">
                                      <p:cBhvr>
                                        <p:cTn id="38" dur="1000"/>
                                        <p:tgtEl>
                                          <p:spTgt spid="19">
                                            <p:txEl>
                                              <p:pRg st="2" end="2"/>
                                            </p:txEl>
                                          </p:spTgt>
                                        </p:tgtEl>
                                      </p:cBhvr>
                                    </p:animEffect>
                                  </p:childTnLst>
                                </p:cTn>
                              </p:par>
                            </p:childTnLst>
                          </p:cTn>
                        </p:par>
                        <p:par>
                          <p:cTn id="39" fill="hold">
                            <p:stCondLst>
                              <p:cond delay="2000"/>
                            </p:stCondLst>
                            <p:childTnLst>
                              <p:par>
                                <p:cTn id="40" presetID="22" presetClass="entr" presetSubtype="8" fill="hold" grpId="0" nodeType="afterEffect">
                                  <p:stCondLst>
                                    <p:cond delay="0"/>
                                  </p:stCondLst>
                                  <p:childTnLst>
                                    <p:set>
                                      <p:cBhvr>
                                        <p:cTn id="41" dur="1" fill="hold">
                                          <p:stCondLst>
                                            <p:cond delay="0"/>
                                          </p:stCondLst>
                                        </p:cTn>
                                        <p:tgtEl>
                                          <p:spTgt spid="19">
                                            <p:txEl>
                                              <p:pRg st="3" end="3"/>
                                            </p:txEl>
                                          </p:spTgt>
                                        </p:tgtEl>
                                        <p:attrNameLst>
                                          <p:attrName>style.visibility</p:attrName>
                                        </p:attrNameLst>
                                      </p:cBhvr>
                                      <p:to>
                                        <p:strVal val="visible"/>
                                      </p:to>
                                    </p:set>
                                    <p:animEffect transition="in" filter="wipe(left)">
                                      <p:cBhvr>
                                        <p:cTn id="42" dur="1000"/>
                                        <p:tgtEl>
                                          <p:spTgt spid="19">
                                            <p:txEl>
                                              <p:pRg st="3" end="3"/>
                                            </p:txEl>
                                          </p:spTgt>
                                        </p:tgtEl>
                                      </p:cBhvr>
                                    </p:animEffect>
                                  </p:childTnLst>
                                </p:cTn>
                              </p:par>
                            </p:childTnLst>
                          </p:cTn>
                        </p:par>
                      </p:childTnLst>
                    </p:cTn>
                  </p:par>
                  <p:par>
                    <p:cTn id="43" fill="hold">
                      <p:stCondLst>
                        <p:cond delay="indefinite"/>
                      </p:stCondLst>
                      <p:childTnLst>
                        <p:par>
                          <p:cTn id="44" fill="hold">
                            <p:stCondLst>
                              <p:cond delay="0"/>
                            </p:stCondLst>
                            <p:childTnLst>
                              <p:par>
                                <p:cTn id="45" presetID="22" presetClass="entr" presetSubtype="8" fill="hold" grpId="0" nodeType="clickEffect">
                                  <p:stCondLst>
                                    <p:cond delay="0"/>
                                  </p:stCondLst>
                                  <p:childTnLst>
                                    <p:set>
                                      <p:cBhvr>
                                        <p:cTn id="46" dur="1" fill="hold">
                                          <p:stCondLst>
                                            <p:cond delay="0"/>
                                          </p:stCondLst>
                                        </p:cTn>
                                        <p:tgtEl>
                                          <p:spTgt spid="27"/>
                                        </p:tgtEl>
                                        <p:attrNameLst>
                                          <p:attrName>style.visibility</p:attrName>
                                        </p:attrNameLst>
                                      </p:cBhvr>
                                      <p:to>
                                        <p:strVal val="visible"/>
                                      </p:to>
                                    </p:set>
                                    <p:animEffect transition="in" filter="wipe(left)">
                                      <p:cBhvr>
                                        <p:cTn id="47" dur="1000"/>
                                        <p:tgtEl>
                                          <p:spTgt spid="27"/>
                                        </p:tgtEl>
                                      </p:cBhvr>
                                    </p:animEffect>
                                  </p:childTnLst>
                                </p:cTn>
                              </p:par>
                            </p:childTnLst>
                          </p:cTn>
                        </p:par>
                      </p:childTnLst>
                    </p:cTn>
                  </p:par>
                  <p:par>
                    <p:cTn id="48" fill="hold">
                      <p:stCondLst>
                        <p:cond delay="indefinite"/>
                      </p:stCondLst>
                      <p:childTnLst>
                        <p:par>
                          <p:cTn id="49" fill="hold">
                            <p:stCondLst>
                              <p:cond delay="0"/>
                            </p:stCondLst>
                            <p:childTnLst>
                              <p:par>
                                <p:cTn id="50" presetID="22" presetClass="entr" presetSubtype="8" fill="hold" grpId="0" nodeType="clickEffect">
                                  <p:stCondLst>
                                    <p:cond delay="0"/>
                                  </p:stCondLst>
                                  <p:childTnLst>
                                    <p:set>
                                      <p:cBhvr>
                                        <p:cTn id="51" dur="1" fill="hold">
                                          <p:stCondLst>
                                            <p:cond delay="0"/>
                                          </p:stCondLst>
                                        </p:cTn>
                                        <p:tgtEl>
                                          <p:spTgt spid="10"/>
                                        </p:tgtEl>
                                        <p:attrNameLst>
                                          <p:attrName>style.visibility</p:attrName>
                                        </p:attrNameLst>
                                      </p:cBhvr>
                                      <p:to>
                                        <p:strVal val="visible"/>
                                      </p:to>
                                    </p:set>
                                    <p:animEffect transition="in" filter="wipe(left)">
                                      <p:cBhvr>
                                        <p:cTn id="52" dur="500"/>
                                        <p:tgtEl>
                                          <p:spTgt spid="10"/>
                                        </p:tgtEl>
                                      </p:cBhvr>
                                    </p:animEffect>
                                  </p:childTnLst>
                                </p:cTn>
                              </p:par>
                            </p:childTnLst>
                          </p:cTn>
                        </p:par>
                        <p:par>
                          <p:cTn id="53" fill="hold">
                            <p:stCondLst>
                              <p:cond delay="500"/>
                            </p:stCondLst>
                            <p:childTnLst>
                              <p:par>
                                <p:cTn id="54" presetID="22" presetClass="entr" presetSubtype="8" fill="hold" grpId="0" nodeType="afterEffect">
                                  <p:stCondLst>
                                    <p:cond delay="0"/>
                                  </p:stCondLst>
                                  <p:childTnLst>
                                    <p:set>
                                      <p:cBhvr>
                                        <p:cTn id="55" dur="1" fill="hold">
                                          <p:stCondLst>
                                            <p:cond delay="0"/>
                                          </p:stCondLst>
                                        </p:cTn>
                                        <p:tgtEl>
                                          <p:spTgt spid="26"/>
                                        </p:tgtEl>
                                        <p:attrNameLst>
                                          <p:attrName>style.visibility</p:attrName>
                                        </p:attrNameLst>
                                      </p:cBhvr>
                                      <p:to>
                                        <p:strVal val="visible"/>
                                      </p:to>
                                    </p:set>
                                    <p:animEffect transition="in" filter="wipe(left)">
                                      <p:cBhvr>
                                        <p:cTn id="56" dur="1000"/>
                                        <p:tgtEl>
                                          <p:spTgt spid="26"/>
                                        </p:tgtEl>
                                      </p:cBhvr>
                                    </p:animEffect>
                                  </p:childTnLst>
                                </p:cTn>
                              </p:par>
                            </p:childTnLst>
                          </p:cTn>
                        </p:par>
                        <p:par>
                          <p:cTn id="57" fill="hold">
                            <p:stCondLst>
                              <p:cond delay="1500"/>
                            </p:stCondLst>
                            <p:childTnLst>
                              <p:par>
                                <p:cTn id="58" presetID="22" presetClass="entr" presetSubtype="8" fill="hold" nodeType="afterEffect">
                                  <p:stCondLst>
                                    <p:cond delay="0"/>
                                  </p:stCondLst>
                                  <p:childTnLst>
                                    <p:set>
                                      <p:cBhvr>
                                        <p:cTn id="59" dur="1" fill="hold">
                                          <p:stCondLst>
                                            <p:cond delay="0"/>
                                          </p:stCondLst>
                                        </p:cTn>
                                        <p:tgtEl>
                                          <p:spTgt spid="23"/>
                                        </p:tgtEl>
                                        <p:attrNameLst>
                                          <p:attrName>style.visibility</p:attrName>
                                        </p:attrNameLst>
                                      </p:cBhvr>
                                      <p:to>
                                        <p:strVal val="visible"/>
                                      </p:to>
                                    </p:set>
                                    <p:animEffect transition="in" filter="wipe(left)">
                                      <p:cBhvr>
                                        <p:cTn id="60" dur="2000"/>
                                        <p:tgtEl>
                                          <p:spTgt spid="23"/>
                                        </p:tgtEl>
                                      </p:cBhvr>
                                    </p:animEffect>
                                  </p:childTnLst>
                                </p:cTn>
                              </p:par>
                            </p:childTnLst>
                          </p:cTn>
                        </p:par>
                      </p:childTnLst>
                    </p:cTn>
                  </p:par>
                  <p:par>
                    <p:cTn id="61" fill="hold">
                      <p:stCondLst>
                        <p:cond delay="indefinite"/>
                      </p:stCondLst>
                      <p:childTnLst>
                        <p:par>
                          <p:cTn id="62" fill="hold">
                            <p:stCondLst>
                              <p:cond delay="0"/>
                            </p:stCondLst>
                            <p:childTnLst>
                              <p:par>
                                <p:cTn id="63" presetID="22" presetClass="exit" presetSubtype="8" fill="hold" grpId="1" nodeType="clickEffect">
                                  <p:stCondLst>
                                    <p:cond delay="0"/>
                                  </p:stCondLst>
                                  <p:childTnLst>
                                    <p:animEffect transition="out" filter="wipe(left)">
                                      <p:cBhvr>
                                        <p:cTn id="64" dur="500"/>
                                        <p:tgtEl>
                                          <p:spTgt spid="27"/>
                                        </p:tgtEl>
                                      </p:cBhvr>
                                    </p:animEffect>
                                    <p:set>
                                      <p:cBhvr>
                                        <p:cTn id="65" dur="1" fill="hold">
                                          <p:stCondLst>
                                            <p:cond delay="499"/>
                                          </p:stCondLst>
                                        </p:cTn>
                                        <p:tgtEl>
                                          <p:spTgt spid="27"/>
                                        </p:tgtEl>
                                        <p:attrNameLst>
                                          <p:attrName>style.visibility</p:attrName>
                                        </p:attrNameLst>
                                      </p:cBhvr>
                                      <p:to>
                                        <p:strVal val="hidden"/>
                                      </p:to>
                                    </p:set>
                                  </p:childTnLst>
                                </p:cTn>
                              </p:par>
                            </p:childTnLst>
                          </p:cTn>
                        </p:par>
                        <p:par>
                          <p:cTn id="66" fill="hold">
                            <p:stCondLst>
                              <p:cond delay="500"/>
                            </p:stCondLst>
                            <p:childTnLst>
                              <p:par>
                                <p:cTn id="67" presetID="22" presetClass="entr" presetSubtype="8" fill="hold" grpId="0" nodeType="afterEffect">
                                  <p:stCondLst>
                                    <p:cond delay="0"/>
                                  </p:stCondLst>
                                  <p:childTnLst>
                                    <p:set>
                                      <p:cBhvr>
                                        <p:cTn id="68" dur="1" fill="hold">
                                          <p:stCondLst>
                                            <p:cond delay="0"/>
                                          </p:stCondLst>
                                        </p:cTn>
                                        <p:tgtEl>
                                          <p:spTgt spid="35"/>
                                        </p:tgtEl>
                                        <p:attrNameLst>
                                          <p:attrName>style.visibility</p:attrName>
                                        </p:attrNameLst>
                                      </p:cBhvr>
                                      <p:to>
                                        <p:strVal val="visible"/>
                                      </p:to>
                                    </p:set>
                                    <p:animEffect transition="in" filter="wipe(left)">
                                      <p:cBhvr>
                                        <p:cTn id="69" dur="1000"/>
                                        <p:tgtEl>
                                          <p:spTgt spid="35"/>
                                        </p:tgtEl>
                                      </p:cBhvr>
                                    </p:animEffect>
                                  </p:childTnLst>
                                </p:cTn>
                              </p:par>
                            </p:childTnLst>
                          </p:cTn>
                        </p:par>
                      </p:childTnLst>
                    </p:cTn>
                  </p:par>
                  <p:par>
                    <p:cTn id="70" fill="hold">
                      <p:stCondLst>
                        <p:cond delay="indefinite"/>
                      </p:stCondLst>
                      <p:childTnLst>
                        <p:par>
                          <p:cTn id="71" fill="hold">
                            <p:stCondLst>
                              <p:cond delay="0"/>
                            </p:stCondLst>
                            <p:childTnLst>
                              <p:par>
                                <p:cTn id="72" presetID="22" presetClass="entr" presetSubtype="8" fill="hold" grpId="0" nodeType="clickEffect">
                                  <p:stCondLst>
                                    <p:cond delay="0"/>
                                  </p:stCondLst>
                                  <p:childTnLst>
                                    <p:set>
                                      <p:cBhvr>
                                        <p:cTn id="73" dur="1" fill="hold">
                                          <p:stCondLst>
                                            <p:cond delay="0"/>
                                          </p:stCondLst>
                                        </p:cTn>
                                        <p:tgtEl>
                                          <p:spTgt spid="37"/>
                                        </p:tgtEl>
                                        <p:attrNameLst>
                                          <p:attrName>style.visibility</p:attrName>
                                        </p:attrNameLst>
                                      </p:cBhvr>
                                      <p:to>
                                        <p:strVal val="visible"/>
                                      </p:to>
                                    </p:set>
                                    <p:animEffect transition="in" filter="wipe(left)">
                                      <p:cBhvr>
                                        <p:cTn id="74" dur="500"/>
                                        <p:tgtEl>
                                          <p:spTgt spid="37"/>
                                        </p:tgtEl>
                                      </p:cBhvr>
                                    </p:animEffect>
                                  </p:childTnLst>
                                </p:cTn>
                              </p:par>
                            </p:childTnLst>
                          </p:cTn>
                        </p:par>
                        <p:par>
                          <p:cTn id="75" fill="hold">
                            <p:stCondLst>
                              <p:cond delay="500"/>
                            </p:stCondLst>
                            <p:childTnLst>
                              <p:par>
                                <p:cTn id="76" presetID="22" presetClass="entr" presetSubtype="1" fill="hold" grpId="0" nodeType="afterEffect">
                                  <p:stCondLst>
                                    <p:cond delay="0"/>
                                  </p:stCondLst>
                                  <p:childTnLst>
                                    <p:set>
                                      <p:cBhvr>
                                        <p:cTn id="77" dur="1" fill="hold">
                                          <p:stCondLst>
                                            <p:cond delay="0"/>
                                          </p:stCondLst>
                                        </p:cTn>
                                        <p:tgtEl>
                                          <p:spTgt spid="36"/>
                                        </p:tgtEl>
                                        <p:attrNameLst>
                                          <p:attrName>style.visibility</p:attrName>
                                        </p:attrNameLst>
                                      </p:cBhvr>
                                      <p:to>
                                        <p:strVal val="visible"/>
                                      </p:to>
                                    </p:set>
                                    <p:animEffect transition="in" filter="wipe(up)">
                                      <p:cBhvr>
                                        <p:cTn id="78" dur="1000"/>
                                        <p:tgtEl>
                                          <p:spTgt spid="36"/>
                                        </p:tgtEl>
                                      </p:cBhvr>
                                    </p:animEffect>
                                  </p:childTnLst>
                                </p:cTn>
                              </p:par>
                            </p:childTnLst>
                          </p:cTn>
                        </p:par>
                      </p:childTnLst>
                    </p:cTn>
                  </p:par>
                  <p:par>
                    <p:cTn id="79" fill="hold">
                      <p:stCondLst>
                        <p:cond delay="indefinite"/>
                      </p:stCondLst>
                      <p:childTnLst>
                        <p:par>
                          <p:cTn id="80" fill="hold">
                            <p:stCondLst>
                              <p:cond delay="0"/>
                            </p:stCondLst>
                            <p:childTnLst>
                              <p:par>
                                <p:cTn id="81" presetID="22" presetClass="entr" presetSubtype="8" fill="hold" grpId="0" nodeType="clickEffect">
                                  <p:stCondLst>
                                    <p:cond delay="0"/>
                                  </p:stCondLst>
                                  <p:childTnLst>
                                    <p:set>
                                      <p:cBhvr>
                                        <p:cTn id="82" dur="1" fill="hold">
                                          <p:stCondLst>
                                            <p:cond delay="0"/>
                                          </p:stCondLst>
                                        </p:cTn>
                                        <p:tgtEl>
                                          <p:spTgt spid="2"/>
                                        </p:tgtEl>
                                        <p:attrNameLst>
                                          <p:attrName>style.visibility</p:attrName>
                                        </p:attrNameLst>
                                      </p:cBhvr>
                                      <p:to>
                                        <p:strVal val="visible"/>
                                      </p:to>
                                    </p:set>
                                    <p:animEffect transition="in" filter="wipe(left)">
                                      <p:cBhvr>
                                        <p:cTn id="83" dur="500"/>
                                        <p:tgtEl>
                                          <p:spTgt spid="2"/>
                                        </p:tgtEl>
                                      </p:cBhvr>
                                    </p:animEffect>
                                  </p:childTnLst>
                                </p:cTn>
                              </p:par>
                            </p:childTnLst>
                          </p:cTn>
                        </p:par>
                        <p:par>
                          <p:cTn id="84" fill="hold">
                            <p:stCondLst>
                              <p:cond delay="500"/>
                            </p:stCondLst>
                            <p:childTnLst>
                              <p:par>
                                <p:cTn id="85" presetID="22" presetClass="entr" presetSubtype="8" fill="hold" grpId="0" nodeType="afterEffect">
                                  <p:stCondLst>
                                    <p:cond delay="0"/>
                                  </p:stCondLst>
                                  <p:childTnLst>
                                    <p:set>
                                      <p:cBhvr>
                                        <p:cTn id="86" dur="1" fill="hold">
                                          <p:stCondLst>
                                            <p:cond delay="0"/>
                                          </p:stCondLst>
                                        </p:cTn>
                                        <p:tgtEl>
                                          <p:spTgt spid="18"/>
                                        </p:tgtEl>
                                        <p:attrNameLst>
                                          <p:attrName>style.visibility</p:attrName>
                                        </p:attrNameLst>
                                      </p:cBhvr>
                                      <p:to>
                                        <p:strVal val="visible"/>
                                      </p:to>
                                    </p:set>
                                    <p:animEffect transition="in" filter="wipe(left)">
                                      <p:cBhvr>
                                        <p:cTn id="87" dur="1500"/>
                                        <p:tgtEl>
                                          <p:spTgt spid="18"/>
                                        </p:tgtEl>
                                      </p:cBhvr>
                                    </p:animEffect>
                                  </p:childTnLst>
                                </p:cTn>
                              </p:par>
                            </p:childTnLst>
                          </p:cTn>
                        </p:par>
                      </p:childTnLst>
                    </p:cTn>
                  </p:par>
                  <p:par>
                    <p:cTn id="88" fill="hold">
                      <p:stCondLst>
                        <p:cond delay="indefinite"/>
                      </p:stCondLst>
                      <p:childTnLst>
                        <p:par>
                          <p:cTn id="89" fill="hold">
                            <p:stCondLst>
                              <p:cond delay="0"/>
                            </p:stCondLst>
                            <p:childTnLst>
                              <p:par>
                                <p:cTn id="90" presetID="22" presetClass="entr" presetSubtype="8" fill="hold" grpId="0" nodeType="clickEffect">
                                  <p:stCondLst>
                                    <p:cond delay="0"/>
                                  </p:stCondLst>
                                  <p:childTnLst>
                                    <p:set>
                                      <p:cBhvr>
                                        <p:cTn id="91" dur="1" fill="hold">
                                          <p:stCondLst>
                                            <p:cond delay="0"/>
                                          </p:stCondLst>
                                        </p:cTn>
                                        <p:tgtEl>
                                          <p:spTgt spid="33"/>
                                        </p:tgtEl>
                                        <p:attrNameLst>
                                          <p:attrName>style.visibility</p:attrName>
                                        </p:attrNameLst>
                                      </p:cBhvr>
                                      <p:to>
                                        <p:strVal val="visible"/>
                                      </p:to>
                                    </p:set>
                                    <p:animEffect transition="in" filter="wipe(left)">
                                      <p:cBhvr>
                                        <p:cTn id="92" dur="500"/>
                                        <p:tgtEl>
                                          <p:spTgt spid="33"/>
                                        </p:tgtEl>
                                      </p:cBhvr>
                                    </p:animEffect>
                                  </p:childTnLst>
                                </p:cTn>
                              </p:par>
                            </p:childTnLst>
                          </p:cTn>
                        </p:par>
                        <p:par>
                          <p:cTn id="93" fill="hold">
                            <p:stCondLst>
                              <p:cond delay="500"/>
                            </p:stCondLst>
                            <p:childTnLst>
                              <p:par>
                                <p:cTn id="94" presetID="22" presetClass="entr" presetSubtype="8" fill="hold" grpId="0" nodeType="afterEffect">
                                  <p:stCondLst>
                                    <p:cond delay="0"/>
                                  </p:stCondLst>
                                  <p:childTnLst>
                                    <p:set>
                                      <p:cBhvr>
                                        <p:cTn id="95" dur="1" fill="hold">
                                          <p:stCondLst>
                                            <p:cond delay="0"/>
                                          </p:stCondLst>
                                        </p:cTn>
                                        <p:tgtEl>
                                          <p:spTgt spid="20"/>
                                        </p:tgtEl>
                                        <p:attrNameLst>
                                          <p:attrName>style.visibility</p:attrName>
                                        </p:attrNameLst>
                                      </p:cBhvr>
                                      <p:to>
                                        <p:strVal val="visible"/>
                                      </p:to>
                                    </p:set>
                                    <p:animEffect transition="in" filter="wipe(left)">
                                      <p:cBhvr>
                                        <p:cTn id="96" dur="1500"/>
                                        <p:tgtEl>
                                          <p:spTgt spid="20"/>
                                        </p:tgtEl>
                                      </p:cBhvr>
                                    </p:animEffect>
                                  </p:childTnLst>
                                </p:cTn>
                              </p:par>
                            </p:childTnLst>
                          </p:cTn>
                        </p:par>
                        <p:par>
                          <p:cTn id="97" fill="hold">
                            <p:stCondLst>
                              <p:cond delay="2000"/>
                            </p:stCondLst>
                            <p:childTnLst>
                              <p:par>
                                <p:cTn id="98" presetID="22" presetClass="entr" presetSubtype="8" fill="hold" grpId="0" nodeType="afterEffect">
                                  <p:stCondLst>
                                    <p:cond delay="0"/>
                                  </p:stCondLst>
                                  <p:childTnLst>
                                    <p:set>
                                      <p:cBhvr>
                                        <p:cTn id="99" dur="1" fill="hold">
                                          <p:stCondLst>
                                            <p:cond delay="0"/>
                                          </p:stCondLst>
                                        </p:cTn>
                                        <p:tgtEl>
                                          <p:spTgt spid="34"/>
                                        </p:tgtEl>
                                        <p:attrNameLst>
                                          <p:attrName>style.visibility</p:attrName>
                                        </p:attrNameLst>
                                      </p:cBhvr>
                                      <p:to>
                                        <p:strVal val="visible"/>
                                      </p:to>
                                    </p:set>
                                    <p:animEffect transition="in" filter="wipe(left)">
                                      <p:cBhvr>
                                        <p:cTn id="100" dur="500"/>
                                        <p:tgtEl>
                                          <p:spTgt spid="34"/>
                                        </p:tgtEl>
                                      </p:cBhvr>
                                    </p:animEffect>
                                  </p:childTnLst>
                                </p:cTn>
                              </p:par>
                            </p:childTnLst>
                          </p:cTn>
                        </p:par>
                        <p:par>
                          <p:cTn id="101" fill="hold">
                            <p:stCondLst>
                              <p:cond delay="2500"/>
                            </p:stCondLst>
                            <p:childTnLst>
                              <p:par>
                                <p:cTn id="102" presetID="22" presetClass="entr" presetSubtype="8" fill="hold" grpId="0" nodeType="afterEffect">
                                  <p:stCondLst>
                                    <p:cond delay="0"/>
                                  </p:stCondLst>
                                  <p:childTnLst>
                                    <p:set>
                                      <p:cBhvr>
                                        <p:cTn id="103" dur="1" fill="hold">
                                          <p:stCondLst>
                                            <p:cond delay="0"/>
                                          </p:stCondLst>
                                        </p:cTn>
                                        <p:tgtEl>
                                          <p:spTgt spid="21"/>
                                        </p:tgtEl>
                                        <p:attrNameLst>
                                          <p:attrName>style.visibility</p:attrName>
                                        </p:attrNameLst>
                                      </p:cBhvr>
                                      <p:to>
                                        <p:strVal val="visible"/>
                                      </p:to>
                                    </p:set>
                                    <p:animEffect transition="in" filter="wipe(left)">
                                      <p:cBhvr>
                                        <p:cTn id="104" dur="1500"/>
                                        <p:tgtEl>
                                          <p:spTgt spid="21"/>
                                        </p:tgtEl>
                                      </p:cBhvr>
                                    </p:animEffect>
                                  </p:childTnLst>
                                </p:cTn>
                              </p:par>
                            </p:childTnLst>
                          </p:cTn>
                        </p:par>
                      </p:childTnLst>
                    </p:cTn>
                  </p:par>
                  <p:par>
                    <p:cTn id="105" fill="hold">
                      <p:stCondLst>
                        <p:cond delay="indefinite"/>
                      </p:stCondLst>
                      <p:childTnLst>
                        <p:par>
                          <p:cTn id="106" fill="hold">
                            <p:stCondLst>
                              <p:cond delay="0"/>
                            </p:stCondLst>
                            <p:childTnLst>
                              <p:par>
                                <p:cTn id="107" presetID="22" presetClass="exit" presetSubtype="8" fill="hold" grpId="1" nodeType="clickEffect">
                                  <p:stCondLst>
                                    <p:cond delay="0"/>
                                  </p:stCondLst>
                                  <p:childTnLst>
                                    <p:animEffect transition="out" filter="wipe(left)">
                                      <p:cBhvr>
                                        <p:cTn id="108" dur="500"/>
                                        <p:tgtEl>
                                          <p:spTgt spid="35"/>
                                        </p:tgtEl>
                                      </p:cBhvr>
                                    </p:animEffect>
                                    <p:set>
                                      <p:cBhvr>
                                        <p:cTn id="109" dur="1" fill="hold">
                                          <p:stCondLst>
                                            <p:cond delay="499"/>
                                          </p:stCondLst>
                                        </p:cTn>
                                        <p:tgtEl>
                                          <p:spTgt spid="35"/>
                                        </p:tgtEl>
                                        <p:attrNameLst>
                                          <p:attrName>style.visibility</p:attrName>
                                        </p:attrNameLst>
                                      </p:cBhvr>
                                      <p:to>
                                        <p:strVal val="hidden"/>
                                      </p:to>
                                    </p:set>
                                  </p:childTnLst>
                                </p:cTn>
                              </p:par>
                            </p:childTnLst>
                          </p:cTn>
                        </p:par>
                        <p:par>
                          <p:cTn id="110" fill="hold">
                            <p:stCondLst>
                              <p:cond delay="500"/>
                            </p:stCondLst>
                            <p:childTnLst>
                              <p:par>
                                <p:cTn id="111" presetID="22" presetClass="entr" presetSubtype="8" fill="hold" grpId="0" nodeType="afterEffect">
                                  <p:stCondLst>
                                    <p:cond delay="0"/>
                                  </p:stCondLst>
                                  <p:childTnLst>
                                    <p:set>
                                      <p:cBhvr>
                                        <p:cTn id="112" dur="1" fill="hold">
                                          <p:stCondLst>
                                            <p:cond delay="0"/>
                                          </p:stCondLst>
                                        </p:cTn>
                                        <p:tgtEl>
                                          <p:spTgt spid="31"/>
                                        </p:tgtEl>
                                        <p:attrNameLst>
                                          <p:attrName>style.visibility</p:attrName>
                                        </p:attrNameLst>
                                      </p:cBhvr>
                                      <p:to>
                                        <p:strVal val="visible"/>
                                      </p:to>
                                    </p:set>
                                    <p:animEffect transition="in" filter="wipe(left)">
                                      <p:cBhvr>
                                        <p:cTn id="113" dur="1000"/>
                                        <p:tgtEl>
                                          <p:spTgt spid="31"/>
                                        </p:tgtEl>
                                      </p:cBhvr>
                                    </p:animEffect>
                                  </p:childTnLst>
                                </p:cTn>
                              </p:par>
                            </p:childTnLst>
                          </p:cTn>
                        </p:par>
                      </p:childTnLst>
                    </p:cTn>
                  </p:par>
                  <p:par>
                    <p:cTn id="114" fill="hold">
                      <p:stCondLst>
                        <p:cond delay="indefinite"/>
                      </p:stCondLst>
                      <p:childTnLst>
                        <p:par>
                          <p:cTn id="115" fill="hold">
                            <p:stCondLst>
                              <p:cond delay="0"/>
                            </p:stCondLst>
                            <p:childTnLst>
                              <p:par>
                                <p:cTn id="116" presetID="22" presetClass="entr" presetSubtype="8" fill="hold" grpId="0" nodeType="clickEffect">
                                  <p:stCondLst>
                                    <p:cond delay="0"/>
                                  </p:stCondLst>
                                  <p:childTnLst>
                                    <p:set>
                                      <p:cBhvr>
                                        <p:cTn id="117" dur="1" fill="hold">
                                          <p:stCondLst>
                                            <p:cond delay="0"/>
                                          </p:stCondLst>
                                        </p:cTn>
                                        <p:tgtEl>
                                          <p:spTgt spid="25"/>
                                        </p:tgtEl>
                                        <p:attrNameLst>
                                          <p:attrName>style.visibility</p:attrName>
                                        </p:attrNameLst>
                                      </p:cBhvr>
                                      <p:to>
                                        <p:strVal val="visible"/>
                                      </p:to>
                                    </p:set>
                                    <p:animEffect transition="in" filter="wipe(left)">
                                      <p:cBhvr>
                                        <p:cTn id="118" dur="500"/>
                                        <p:tgtEl>
                                          <p:spTgt spid="25"/>
                                        </p:tgtEl>
                                      </p:cBhvr>
                                    </p:animEffect>
                                  </p:childTnLst>
                                </p:cTn>
                              </p:par>
                            </p:childTnLst>
                          </p:cTn>
                        </p:par>
                        <p:par>
                          <p:cTn id="119" fill="hold">
                            <p:stCondLst>
                              <p:cond delay="500"/>
                            </p:stCondLst>
                            <p:childTnLst>
                              <p:par>
                                <p:cTn id="120" presetID="22" presetClass="entr" presetSubtype="1" fill="hold" nodeType="afterEffect">
                                  <p:stCondLst>
                                    <p:cond delay="0"/>
                                  </p:stCondLst>
                                  <p:childTnLst>
                                    <p:set>
                                      <p:cBhvr>
                                        <p:cTn id="121" dur="1" fill="hold">
                                          <p:stCondLst>
                                            <p:cond delay="0"/>
                                          </p:stCondLst>
                                        </p:cTn>
                                        <p:tgtEl>
                                          <p:spTgt spid="5"/>
                                        </p:tgtEl>
                                        <p:attrNameLst>
                                          <p:attrName>style.visibility</p:attrName>
                                        </p:attrNameLst>
                                      </p:cBhvr>
                                      <p:to>
                                        <p:strVal val="visible"/>
                                      </p:to>
                                    </p:set>
                                    <p:animEffect transition="in" filter="wipe(up)">
                                      <p:cBhvr>
                                        <p:cTn id="122" dur="500"/>
                                        <p:tgtEl>
                                          <p:spTgt spid="5"/>
                                        </p:tgtEl>
                                      </p:cBhvr>
                                    </p:animEffect>
                                  </p:childTnLst>
                                </p:cTn>
                              </p:par>
                            </p:childTnLst>
                          </p:cTn>
                        </p:par>
                        <p:par>
                          <p:cTn id="123" fill="hold">
                            <p:stCondLst>
                              <p:cond delay="1000"/>
                            </p:stCondLst>
                            <p:childTnLst>
                              <p:par>
                                <p:cTn id="124" presetID="22" presetClass="entr" presetSubtype="1" fill="hold" grpId="0" nodeType="afterEffect">
                                  <p:stCondLst>
                                    <p:cond delay="0"/>
                                  </p:stCondLst>
                                  <p:childTnLst>
                                    <p:set>
                                      <p:cBhvr>
                                        <p:cTn id="125" dur="1" fill="hold">
                                          <p:stCondLst>
                                            <p:cond delay="0"/>
                                          </p:stCondLst>
                                        </p:cTn>
                                        <p:tgtEl>
                                          <p:spTgt spid="29"/>
                                        </p:tgtEl>
                                        <p:attrNameLst>
                                          <p:attrName>style.visibility</p:attrName>
                                        </p:attrNameLst>
                                      </p:cBhvr>
                                      <p:to>
                                        <p:strVal val="visible"/>
                                      </p:to>
                                    </p:set>
                                    <p:animEffect transition="in" filter="wipe(up)">
                                      <p:cBhvr>
                                        <p:cTn id="126" dur="1500"/>
                                        <p:tgtEl>
                                          <p:spTgt spid="29"/>
                                        </p:tgtEl>
                                      </p:cBhvr>
                                    </p:animEffect>
                                  </p:childTnLst>
                                </p:cTn>
                              </p:par>
                            </p:childTnLst>
                          </p:cTn>
                        </p:par>
                        <p:par>
                          <p:cTn id="127" fill="hold">
                            <p:stCondLst>
                              <p:cond delay="2500"/>
                            </p:stCondLst>
                            <p:childTnLst>
                              <p:par>
                                <p:cTn id="128" presetID="22" presetClass="entr" presetSubtype="1" fill="hold" nodeType="afterEffect">
                                  <p:stCondLst>
                                    <p:cond delay="0"/>
                                  </p:stCondLst>
                                  <p:childTnLst>
                                    <p:set>
                                      <p:cBhvr>
                                        <p:cTn id="129" dur="1" fill="hold">
                                          <p:stCondLst>
                                            <p:cond delay="0"/>
                                          </p:stCondLst>
                                        </p:cTn>
                                        <p:tgtEl>
                                          <p:spTgt spid="9"/>
                                        </p:tgtEl>
                                        <p:attrNameLst>
                                          <p:attrName>style.visibility</p:attrName>
                                        </p:attrNameLst>
                                      </p:cBhvr>
                                      <p:to>
                                        <p:strVal val="visible"/>
                                      </p:to>
                                    </p:set>
                                    <p:animEffect transition="in" filter="wipe(up)">
                                      <p:cBhvr>
                                        <p:cTn id="130" dur="500"/>
                                        <p:tgtEl>
                                          <p:spTgt spid="9"/>
                                        </p:tgtEl>
                                      </p:cBhvr>
                                    </p:animEffect>
                                  </p:childTnLst>
                                </p:cTn>
                              </p:par>
                            </p:childTnLst>
                          </p:cTn>
                        </p:par>
                        <p:par>
                          <p:cTn id="131" fill="hold">
                            <p:stCondLst>
                              <p:cond delay="3000"/>
                            </p:stCondLst>
                            <p:childTnLst>
                              <p:par>
                                <p:cTn id="132" presetID="22" presetClass="entr" presetSubtype="1" fill="hold" grpId="0" nodeType="afterEffect">
                                  <p:stCondLst>
                                    <p:cond delay="0"/>
                                  </p:stCondLst>
                                  <p:childTnLst>
                                    <p:set>
                                      <p:cBhvr>
                                        <p:cTn id="133" dur="1" fill="hold">
                                          <p:stCondLst>
                                            <p:cond delay="0"/>
                                          </p:stCondLst>
                                        </p:cTn>
                                        <p:tgtEl>
                                          <p:spTgt spid="30"/>
                                        </p:tgtEl>
                                        <p:attrNameLst>
                                          <p:attrName>style.visibility</p:attrName>
                                        </p:attrNameLst>
                                      </p:cBhvr>
                                      <p:to>
                                        <p:strVal val="visible"/>
                                      </p:to>
                                    </p:set>
                                    <p:animEffect transition="in" filter="wipe(up)">
                                      <p:cBhvr>
                                        <p:cTn id="134" dur="1500"/>
                                        <p:tgtEl>
                                          <p:spTgt spid="30"/>
                                        </p:tgtEl>
                                      </p:cBhvr>
                                    </p:animEffect>
                                  </p:childTnLst>
                                </p:cTn>
                              </p:par>
                            </p:childTnLst>
                          </p:cTn>
                        </p:par>
                      </p:childTnLst>
                    </p:cTn>
                  </p:par>
                  <p:par>
                    <p:cTn id="135" fill="hold">
                      <p:stCondLst>
                        <p:cond delay="indefinite"/>
                      </p:stCondLst>
                      <p:childTnLst>
                        <p:par>
                          <p:cTn id="136" fill="hold">
                            <p:stCondLst>
                              <p:cond delay="0"/>
                            </p:stCondLst>
                            <p:childTnLst>
                              <p:par>
                                <p:cTn id="137" presetID="22" presetClass="exit" presetSubtype="8" fill="hold" grpId="1" nodeType="clickEffect">
                                  <p:stCondLst>
                                    <p:cond delay="0"/>
                                  </p:stCondLst>
                                  <p:childTnLst>
                                    <p:animEffect transition="out" filter="wipe(left)">
                                      <p:cBhvr>
                                        <p:cTn id="138" dur="500"/>
                                        <p:tgtEl>
                                          <p:spTgt spid="31"/>
                                        </p:tgtEl>
                                      </p:cBhvr>
                                    </p:animEffect>
                                    <p:set>
                                      <p:cBhvr>
                                        <p:cTn id="139" dur="1" fill="hold">
                                          <p:stCondLst>
                                            <p:cond delay="499"/>
                                          </p:stCondLst>
                                        </p:cTn>
                                        <p:tgtEl>
                                          <p:spTgt spid="31"/>
                                        </p:tgtEl>
                                        <p:attrNameLst>
                                          <p:attrName>style.visibility</p:attrName>
                                        </p:attrNameLst>
                                      </p:cBhvr>
                                      <p:to>
                                        <p:strVal val="hidden"/>
                                      </p:to>
                                    </p:set>
                                  </p:childTnLst>
                                </p:cTn>
                              </p:par>
                              <p:par>
                                <p:cTn id="140" presetID="22" presetClass="entr" presetSubtype="8" fill="hold" grpId="0" nodeType="withEffect">
                                  <p:stCondLst>
                                    <p:cond delay="0"/>
                                  </p:stCondLst>
                                  <p:childTnLst>
                                    <p:set>
                                      <p:cBhvr>
                                        <p:cTn id="141" dur="1" fill="hold">
                                          <p:stCondLst>
                                            <p:cond delay="0"/>
                                          </p:stCondLst>
                                        </p:cTn>
                                        <p:tgtEl>
                                          <p:spTgt spid="32"/>
                                        </p:tgtEl>
                                        <p:attrNameLst>
                                          <p:attrName>style.visibility</p:attrName>
                                        </p:attrNameLst>
                                      </p:cBhvr>
                                      <p:to>
                                        <p:strVal val="visible"/>
                                      </p:to>
                                    </p:set>
                                    <p:animEffect transition="in" filter="wipe(left)">
                                      <p:cBhvr>
                                        <p:cTn id="142" dur="500"/>
                                        <p:tgtEl>
                                          <p:spTgt spid="32"/>
                                        </p:tgtEl>
                                      </p:cBhvr>
                                    </p:animEffect>
                                  </p:childTnLst>
                                </p:cTn>
                              </p:par>
                            </p:childTnLst>
                          </p:cTn>
                        </p:par>
                        <p:par>
                          <p:cTn id="143" fill="hold">
                            <p:stCondLst>
                              <p:cond delay="500"/>
                            </p:stCondLst>
                            <p:childTnLst>
                              <p:par>
                                <p:cTn id="144" presetID="22" presetClass="entr" presetSubtype="8" fill="hold" grpId="0" nodeType="afterEffect">
                                  <p:stCondLst>
                                    <p:cond delay="0"/>
                                  </p:stCondLst>
                                  <p:childTnLst>
                                    <p:set>
                                      <p:cBhvr>
                                        <p:cTn id="145" dur="1" fill="hold">
                                          <p:stCondLst>
                                            <p:cond delay="0"/>
                                          </p:stCondLst>
                                        </p:cTn>
                                        <p:tgtEl>
                                          <p:spTgt spid="28"/>
                                        </p:tgtEl>
                                        <p:attrNameLst>
                                          <p:attrName>style.visibility</p:attrName>
                                        </p:attrNameLst>
                                      </p:cBhvr>
                                      <p:to>
                                        <p:strVal val="visible"/>
                                      </p:to>
                                    </p:set>
                                    <p:animEffect transition="in" filter="wipe(left)">
                                      <p:cBhvr>
                                        <p:cTn id="146" dur="1000"/>
                                        <p:tgtEl>
                                          <p:spTgt spid="28"/>
                                        </p:tgtEl>
                                      </p:cBhvr>
                                    </p:animEffect>
                                  </p:childTnLst>
                                </p:cTn>
                              </p:par>
                            </p:childTnLst>
                          </p:cTn>
                        </p:par>
                        <p:par>
                          <p:cTn id="147" fill="hold">
                            <p:stCondLst>
                              <p:cond delay="1500"/>
                            </p:stCondLst>
                            <p:childTnLst>
                              <p:par>
                                <p:cTn id="148" presetID="22" presetClass="entr" presetSubtype="8" fill="hold" nodeType="afterEffect">
                                  <p:stCondLst>
                                    <p:cond delay="0"/>
                                  </p:stCondLst>
                                  <p:childTnLst>
                                    <p:set>
                                      <p:cBhvr>
                                        <p:cTn id="149" dur="1" fill="hold">
                                          <p:stCondLst>
                                            <p:cond delay="0"/>
                                          </p:stCondLst>
                                        </p:cTn>
                                        <p:tgtEl>
                                          <p:spTgt spid="24"/>
                                        </p:tgtEl>
                                        <p:attrNameLst>
                                          <p:attrName>style.visibility</p:attrName>
                                        </p:attrNameLst>
                                      </p:cBhvr>
                                      <p:to>
                                        <p:strVal val="visible"/>
                                      </p:to>
                                    </p:set>
                                    <p:animEffect transition="in" filter="wipe(left)">
                                      <p:cBhvr>
                                        <p:cTn id="150" dur="1000"/>
                                        <p:tgtEl>
                                          <p:spTgt spid="2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uiExpand="1" build="p"/>
      <p:bldP spid="17" grpId="0"/>
      <p:bldP spid="19" grpId="0" uiExpand="1" build="p"/>
      <p:bldP spid="27" grpId="0" animBg="1"/>
      <p:bldP spid="27" grpId="1" animBg="1"/>
      <p:bldP spid="10" grpId="0"/>
      <p:bldP spid="25" grpId="0"/>
      <p:bldP spid="26" grpId="0" animBg="1"/>
      <p:bldP spid="28" grpId="0" animBg="1"/>
      <p:bldP spid="29" grpId="0" animBg="1"/>
      <p:bldP spid="30" grpId="0" animBg="1"/>
      <p:bldP spid="31" grpId="0" animBg="1"/>
      <p:bldP spid="31" grpId="1" animBg="1"/>
      <p:bldP spid="32" grpId="0"/>
      <p:bldP spid="18" grpId="0" animBg="1"/>
      <p:bldP spid="20" grpId="0" animBg="1"/>
      <p:bldP spid="21" grpId="0" animBg="1"/>
      <p:bldP spid="2" grpId="0" animBg="1"/>
      <p:bldP spid="33" grpId="0" animBg="1"/>
      <p:bldP spid="34" grpId="0" animBg="1"/>
      <p:bldP spid="35" grpId="0" animBg="1"/>
      <p:bldP spid="35" grpId="1" animBg="1"/>
      <p:bldP spid="36" grpId="0" animBg="1"/>
      <p:bldP spid="37" grpId="0"/>
    </p:bldLst>
  </p:timing>
</p:sld>
</file>

<file path=ppt/slides/slide42.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08C76DEA-F650-51AB-7EE7-9B3064808EC0}"/>
              </a:ext>
            </a:extLst>
          </p:cNvPr>
          <p:cNvSpPr>
            <a:spLocks noGrp="1"/>
          </p:cNvSpPr>
          <p:nvPr>
            <p:ph type="title"/>
          </p:nvPr>
        </p:nvSpPr>
        <p:spPr/>
        <p:txBody>
          <a:bodyPr/>
          <a:lstStyle/>
          <a:p>
            <a:r>
              <a:rPr lang="en-GB" dirty="0"/>
              <a:t>Order of Operations (2)</a:t>
            </a:r>
          </a:p>
        </p:txBody>
      </p:sp>
      <p:sp>
        <p:nvSpPr>
          <p:cNvPr id="6" name="SQL">
            <a:extLst>
              <a:ext uri="{FF2B5EF4-FFF2-40B4-BE49-F238E27FC236}">
                <a16:creationId xmlns:a16="http://schemas.microsoft.com/office/drawing/2014/main" id="{C460184D-D803-F499-E82E-972FB39F9288}"/>
              </a:ext>
            </a:extLst>
          </p:cNvPr>
          <p:cNvSpPr>
            <a:spLocks noChangeArrowheads="1"/>
          </p:cNvSpPr>
          <p:nvPr/>
        </p:nvSpPr>
        <p:spPr bwMode="auto">
          <a:xfrm>
            <a:off x="619125" y="1524726"/>
            <a:ext cx="3429144" cy="101566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name, age</a:t>
            </a:r>
          </a:p>
          <a:p>
            <a:pPr lvl="0" eaLnBrk="0" fontAlgn="base" hangingPunct="0">
              <a:spcBef>
                <a:spcPct val="0"/>
              </a:spcBef>
              <a:spcAft>
                <a:spcPct val="0"/>
              </a:spcAft>
            </a:pPr>
            <a:r>
              <a:rPr lang="en-US" altLang="en-US" sz="2000" dirty="0">
                <a:solidFill>
                  <a:srgbClr val="B2B2B2"/>
                </a:solidFill>
                <a:latin typeface="Consolas" panose="020B0609020204030204" pitchFamily="49" charset="0"/>
              </a:rPr>
              <a:t>2 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FROM</a:t>
            </a:r>
            <a:r>
              <a:rPr lang="en-US" altLang="en-US" sz="2000" dirty="0">
                <a:solidFill>
                  <a:srgbClr val="000000"/>
                </a:solidFill>
                <a:latin typeface="Consolas" panose="020B0609020204030204" pitchFamily="49" charset="0"/>
              </a:rPr>
              <a:t> Pet</a:t>
            </a:r>
          </a:p>
          <a:p>
            <a:pPr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3 </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A71D5D"/>
                </a:solidFill>
                <a:latin typeface="Consolas" panose="020B0609020204030204" pitchFamily="49" charset="0"/>
              </a:rPr>
              <a:t>WHERE</a:t>
            </a:r>
            <a:r>
              <a:rPr lang="en-US" altLang="en-US" sz="2000" dirty="0">
                <a:solidFill>
                  <a:srgbClr val="000000"/>
                </a:solidFill>
                <a:latin typeface="Consolas" panose="020B0609020204030204" pitchFamily="49" charset="0"/>
              </a:rPr>
              <a:t> type = "</a:t>
            </a:r>
            <a:r>
              <a:rPr lang="en-US" altLang="en-US" sz="2000" dirty="0">
                <a:solidFill>
                  <a:srgbClr val="183691"/>
                </a:solidFill>
                <a:latin typeface="Consolas" panose="020B0609020204030204" pitchFamily="49" charset="0"/>
              </a:rPr>
              <a:t>Cat</a:t>
            </a:r>
            <a:r>
              <a:rPr lang="en-US" altLang="en-US" sz="2000" dirty="0">
                <a:solidFill>
                  <a:srgbClr val="000000"/>
                </a:solidFill>
                <a:latin typeface="Consolas" panose="020B0609020204030204" pitchFamily="49" charset="0"/>
              </a:rPr>
              <a:t>"</a:t>
            </a:r>
            <a:r>
              <a:rPr kumimoji="0" lang="en-US" altLang="en-US" sz="2000" b="0" i="0" u="none" strike="noStrike" cap="none" normalizeH="0" baseline="0" dirty="0">
                <a:ln>
                  <a:noFill/>
                </a:ln>
                <a:solidFill>
                  <a:srgbClr val="000000"/>
                </a:solidFill>
                <a:effectLst/>
                <a:latin typeface="Consolas" panose="020B0609020204030204" pitchFamily="49" charset="0"/>
              </a:rPr>
              <a:t>;</a:t>
            </a:r>
            <a:endParaRPr kumimoji="0" lang="en-US" altLang="en-US" sz="3200" b="0" i="0" u="none" strike="noStrike" cap="none" normalizeH="0" baseline="0" dirty="0">
              <a:ln>
                <a:noFill/>
              </a:ln>
              <a:solidFill>
                <a:schemeClr val="tx1"/>
              </a:solidFill>
              <a:effectLst/>
              <a:latin typeface="Arial" panose="020B0604020202020204" pitchFamily="34" charset="0"/>
            </a:endParaRPr>
          </a:p>
        </p:txBody>
      </p:sp>
      <p:sp>
        <p:nvSpPr>
          <p:cNvPr id="17" name="Pet">
            <a:extLst>
              <a:ext uri="{FF2B5EF4-FFF2-40B4-BE49-F238E27FC236}">
                <a16:creationId xmlns:a16="http://schemas.microsoft.com/office/drawing/2014/main" id="{37697A85-FE4A-5F49-87D3-DF60452AD532}"/>
              </a:ext>
            </a:extLst>
          </p:cNvPr>
          <p:cNvSpPr txBox="1"/>
          <p:nvPr/>
        </p:nvSpPr>
        <p:spPr>
          <a:xfrm>
            <a:off x="2660585" y="3091527"/>
            <a:ext cx="1771650" cy="369332"/>
          </a:xfrm>
          <a:prstGeom prst="rect">
            <a:avLst/>
          </a:prstGeom>
          <a:noFill/>
        </p:spPr>
        <p:txBody>
          <a:bodyPr wrap="square" rtlCol="0">
            <a:spAutoFit/>
          </a:bodyPr>
          <a:lstStyle/>
          <a:p>
            <a:r>
              <a:rPr lang="en-GB" b="1" dirty="0"/>
              <a:t>Table: Pet</a:t>
            </a:r>
          </a:p>
        </p:txBody>
      </p:sp>
      <p:sp>
        <p:nvSpPr>
          <p:cNvPr id="19" name="Order">
            <a:extLst>
              <a:ext uri="{FF2B5EF4-FFF2-40B4-BE49-F238E27FC236}">
                <a16:creationId xmlns:a16="http://schemas.microsoft.com/office/drawing/2014/main" id="{39027E70-266E-C921-B96A-180149336170}"/>
              </a:ext>
            </a:extLst>
          </p:cNvPr>
          <p:cNvSpPr txBox="1"/>
          <p:nvPr/>
        </p:nvSpPr>
        <p:spPr>
          <a:xfrm>
            <a:off x="7417818" y="500914"/>
            <a:ext cx="2590417" cy="1815882"/>
          </a:xfrm>
          <a:prstGeom prst="rect">
            <a:avLst/>
          </a:prstGeom>
          <a:noFill/>
        </p:spPr>
        <p:txBody>
          <a:bodyPr wrap="square" rtlCol="0">
            <a:spAutoFit/>
          </a:bodyPr>
          <a:lstStyle/>
          <a:p>
            <a:r>
              <a:rPr lang="en-GB" sz="2800" b="1" dirty="0">
                <a:solidFill>
                  <a:srgbClr val="7030A0"/>
                </a:solidFill>
              </a:rPr>
              <a:t>Order</a:t>
            </a:r>
            <a:r>
              <a:rPr lang="en-GB" sz="2800" dirty="0">
                <a:solidFill>
                  <a:srgbClr val="7030A0"/>
                </a:solidFill>
              </a:rPr>
              <a:t>:</a:t>
            </a:r>
          </a:p>
          <a:p>
            <a:pPr lvl="1"/>
            <a:r>
              <a:rPr lang="en-GB" sz="2800" dirty="0">
                <a:solidFill>
                  <a:srgbClr val="7030A0"/>
                </a:solidFill>
              </a:rPr>
              <a:t>1.   </a:t>
            </a:r>
          </a:p>
          <a:p>
            <a:pPr lvl="1"/>
            <a:r>
              <a:rPr lang="en-GB" sz="2800" dirty="0">
                <a:solidFill>
                  <a:srgbClr val="7030A0"/>
                </a:solidFill>
              </a:rPr>
              <a:t>2.   </a:t>
            </a:r>
          </a:p>
          <a:p>
            <a:pPr lvl="1"/>
            <a:r>
              <a:rPr lang="en-GB" sz="2800" dirty="0">
                <a:solidFill>
                  <a:srgbClr val="7030A0"/>
                </a:solidFill>
              </a:rPr>
              <a:t>3.   </a:t>
            </a:r>
          </a:p>
        </p:txBody>
      </p:sp>
      <p:graphicFrame>
        <p:nvGraphicFramePr>
          <p:cNvPr id="22" name="Pet - Table">
            <a:extLst>
              <a:ext uri="{FF2B5EF4-FFF2-40B4-BE49-F238E27FC236}">
                <a16:creationId xmlns:a16="http://schemas.microsoft.com/office/drawing/2014/main" id="{E1C47C29-B1FD-7991-E626-2F12DC1AFFDE}"/>
              </a:ext>
            </a:extLst>
          </p:cNvPr>
          <p:cNvGraphicFramePr>
            <a:graphicFrameLocks noGrp="1"/>
          </p:cNvGraphicFramePr>
          <p:nvPr/>
        </p:nvGraphicFramePr>
        <p:xfrm>
          <a:off x="2746308" y="3412595"/>
          <a:ext cx="2042287"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a:solidFill>
                            <a:schemeClr val="tx1"/>
                          </a:solidFill>
                          <a:effectLst/>
                        </a:rPr>
                        <a:t>Pepper</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16</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7</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a:solidFill>
                            <a:schemeClr val="tx1"/>
                          </a:solidFill>
                          <a:effectLst/>
                        </a:rPr>
                        <a:t>Micky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a:solidFill>
                            <a:schemeClr val="tx1"/>
                          </a:solidFill>
                          <a:effectLst/>
                        </a:rPr>
                        <a:t>Minnie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Cat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9</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a:solidFill>
                            <a:schemeClr val="tx1"/>
                          </a:solidFill>
                          <a:effectLst/>
                        </a:rPr>
                        <a:t>Bonzo</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Dog</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6</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Rabbit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3</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graphicFrame>
        <p:nvGraphicFramePr>
          <p:cNvPr id="23" name="Temp - Table">
            <a:extLst>
              <a:ext uri="{FF2B5EF4-FFF2-40B4-BE49-F238E27FC236}">
                <a16:creationId xmlns:a16="http://schemas.microsoft.com/office/drawing/2014/main" id="{57FE39BF-DC05-E516-87E6-26364C7BBE24}"/>
              </a:ext>
            </a:extLst>
          </p:cNvPr>
          <p:cNvGraphicFramePr>
            <a:graphicFrameLocks noGrp="1"/>
          </p:cNvGraphicFramePr>
          <p:nvPr/>
        </p:nvGraphicFramePr>
        <p:xfrm>
          <a:off x="5340290" y="3412595"/>
          <a:ext cx="2042287"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a:solidFill>
                            <a:schemeClr val="tx1"/>
                          </a:solidFill>
                          <a:effectLst/>
                        </a:rPr>
                        <a:t>Pepper</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16</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7</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a:solidFill>
                            <a:schemeClr val="tx1"/>
                          </a:solidFill>
                          <a:effectLst/>
                        </a:rPr>
                        <a:t>Micky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a:solidFill>
                            <a:schemeClr val="tx1"/>
                          </a:solidFill>
                          <a:effectLst/>
                        </a:rPr>
                        <a:t>Minnie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Cat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9</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a:solidFill>
                            <a:schemeClr val="tx1"/>
                          </a:solidFill>
                          <a:effectLst/>
                        </a:rPr>
                        <a:t>Bonzo</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Dog</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6</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Rabbit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3</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graphicFrame>
        <p:nvGraphicFramePr>
          <p:cNvPr id="24" name="Output - Table">
            <a:extLst>
              <a:ext uri="{FF2B5EF4-FFF2-40B4-BE49-F238E27FC236}">
                <a16:creationId xmlns:a16="http://schemas.microsoft.com/office/drawing/2014/main" id="{31F6E6FA-42D3-E5C9-36B8-B7C6109BDE21}"/>
              </a:ext>
            </a:extLst>
          </p:cNvPr>
          <p:cNvGraphicFramePr>
            <a:graphicFrameLocks noGrp="1"/>
          </p:cNvGraphicFramePr>
          <p:nvPr/>
        </p:nvGraphicFramePr>
        <p:xfrm>
          <a:off x="7941154" y="3412595"/>
          <a:ext cx="1254888" cy="129540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442405">
                  <a:extLst>
                    <a:ext uri="{9D8B030D-6E8A-4147-A177-3AD203B41FA5}">
                      <a16:colId xmlns:a16="http://schemas.microsoft.com/office/drawing/2014/main" val="3258369125"/>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dirty="0">
                          <a:solidFill>
                            <a:schemeClr val="tx1"/>
                          </a:solidFill>
                          <a:effectLst/>
                        </a:rPr>
                        <a:t>Pepper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Calibri" panose="020F0502020204030204" pitchFamily="34" charset="0"/>
                          <a:cs typeface="Calibri" panose="020F0502020204030204" pitchFamily="34" charset="0"/>
                        </a:rPr>
                        <a:t>16</a:t>
                      </a: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Calibri" panose="020F0502020204030204" pitchFamily="34" charset="0"/>
                          <a:cs typeface="Calibri" panose="020F0502020204030204" pitchFamily="34" charset="0"/>
                        </a:rPr>
                        <a:t>7</a:t>
                      </a: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Calibri" panose="020F0502020204030204" pitchFamily="34" charset="0"/>
                          <a:cs typeface="Calibri" panose="020F0502020204030204" pitchFamily="34" charset="0"/>
                        </a:rPr>
                        <a:t>9</a:t>
                      </a:r>
                    </a:p>
                  </a:txBody>
                  <a:tcPr marL="9525" marR="9525" marT="9525" marB="9525" anchor="ctr"/>
                </a:tc>
                <a:extLst>
                  <a:ext uri="{0D108BD9-81ED-4DB2-BD59-A6C34878D82A}">
                    <a16:rowId xmlns:a16="http://schemas.microsoft.com/office/drawing/2014/main" val="812093042"/>
                  </a:ext>
                </a:extLst>
              </a:tr>
            </a:tbl>
          </a:graphicData>
        </a:graphic>
      </p:graphicFrame>
      <p:sp>
        <p:nvSpPr>
          <p:cNvPr id="26" name="Temp - Arrow">
            <a:extLst>
              <a:ext uri="{FF2B5EF4-FFF2-40B4-BE49-F238E27FC236}">
                <a16:creationId xmlns:a16="http://schemas.microsoft.com/office/drawing/2014/main" id="{0812AA0D-71D1-9B9D-4AED-E09E855A4185}"/>
              </a:ext>
            </a:extLst>
          </p:cNvPr>
          <p:cNvSpPr/>
          <p:nvPr/>
        </p:nvSpPr>
        <p:spPr>
          <a:xfrm>
            <a:off x="4827403" y="4748123"/>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8" name="Output - Arrow">
            <a:extLst>
              <a:ext uri="{FF2B5EF4-FFF2-40B4-BE49-F238E27FC236}">
                <a16:creationId xmlns:a16="http://schemas.microsoft.com/office/drawing/2014/main" id="{27833E17-04CE-E6AD-804B-EB51B8F41239}"/>
              </a:ext>
            </a:extLst>
          </p:cNvPr>
          <p:cNvSpPr/>
          <p:nvPr/>
        </p:nvSpPr>
        <p:spPr>
          <a:xfrm>
            <a:off x="7438073" y="3928275"/>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9" name="Name - Column">
            <a:extLst>
              <a:ext uri="{FF2B5EF4-FFF2-40B4-BE49-F238E27FC236}">
                <a16:creationId xmlns:a16="http://schemas.microsoft.com/office/drawing/2014/main" id="{9CFD6623-90F9-8CA0-585A-959ADF79ADE1}"/>
              </a:ext>
            </a:extLst>
          </p:cNvPr>
          <p:cNvSpPr/>
          <p:nvPr/>
        </p:nvSpPr>
        <p:spPr>
          <a:xfrm>
            <a:off x="5333994" y="3349977"/>
            <a:ext cx="792000" cy="3060332"/>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0" name="Age - Column">
            <a:extLst>
              <a:ext uri="{FF2B5EF4-FFF2-40B4-BE49-F238E27FC236}">
                <a16:creationId xmlns:a16="http://schemas.microsoft.com/office/drawing/2014/main" id="{F8908677-B9D0-5945-93E8-1112E85882A9}"/>
              </a:ext>
            </a:extLst>
          </p:cNvPr>
          <p:cNvSpPr/>
          <p:nvPr/>
        </p:nvSpPr>
        <p:spPr>
          <a:xfrm>
            <a:off x="6928707" y="3349977"/>
            <a:ext cx="468000" cy="3060332"/>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8" name="Pepper - Row">
            <a:extLst>
              <a:ext uri="{FF2B5EF4-FFF2-40B4-BE49-F238E27FC236}">
                <a16:creationId xmlns:a16="http://schemas.microsoft.com/office/drawing/2014/main" id="{D91C0E01-A6BE-4A60-8F93-0BBA5801C23F}"/>
              </a:ext>
            </a:extLst>
          </p:cNvPr>
          <p:cNvSpPr/>
          <p:nvPr/>
        </p:nvSpPr>
        <p:spPr>
          <a:xfrm>
            <a:off x="5311221" y="3725694"/>
            <a:ext cx="2124000" cy="312791"/>
          </a:xfrm>
          <a:prstGeom prst="rect">
            <a:avLst/>
          </a:prstGeom>
          <a:noFill/>
          <a:ln w="28575">
            <a:solidFill>
              <a:srgbClr val="FF00FF"/>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0" name="Snowy - Row">
            <a:extLst>
              <a:ext uri="{FF2B5EF4-FFF2-40B4-BE49-F238E27FC236}">
                <a16:creationId xmlns:a16="http://schemas.microsoft.com/office/drawing/2014/main" id="{CE0478C3-5F85-4F8D-AAFC-F12F58437907}"/>
              </a:ext>
            </a:extLst>
          </p:cNvPr>
          <p:cNvSpPr/>
          <p:nvPr/>
        </p:nvSpPr>
        <p:spPr>
          <a:xfrm>
            <a:off x="5308481" y="4382898"/>
            <a:ext cx="2124000" cy="312791"/>
          </a:xfrm>
          <a:prstGeom prst="rect">
            <a:avLst/>
          </a:prstGeom>
          <a:noFill/>
          <a:ln w="28575">
            <a:solidFill>
              <a:srgbClr val="FF00FF"/>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1" name="Kitty - Row">
            <a:extLst>
              <a:ext uri="{FF2B5EF4-FFF2-40B4-BE49-F238E27FC236}">
                <a16:creationId xmlns:a16="http://schemas.microsoft.com/office/drawing/2014/main" id="{BE13FF1D-AE89-48DE-9545-FC614FA1848F}"/>
              </a:ext>
            </a:extLst>
          </p:cNvPr>
          <p:cNvSpPr/>
          <p:nvPr/>
        </p:nvSpPr>
        <p:spPr>
          <a:xfrm>
            <a:off x="5308480" y="5346528"/>
            <a:ext cx="2124000" cy="312791"/>
          </a:xfrm>
          <a:prstGeom prst="rect">
            <a:avLst/>
          </a:prstGeom>
          <a:noFill/>
          <a:ln w="28575">
            <a:solidFill>
              <a:srgbClr val="FF00FF"/>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 name="Pepper - Yellow">
            <a:extLst>
              <a:ext uri="{FF2B5EF4-FFF2-40B4-BE49-F238E27FC236}">
                <a16:creationId xmlns:a16="http://schemas.microsoft.com/office/drawing/2014/main" id="{E3E80C3B-A12B-4BB4-8CEF-16AB911AA2D2}"/>
              </a:ext>
            </a:extLst>
          </p:cNvPr>
          <p:cNvSpPr/>
          <p:nvPr/>
        </p:nvSpPr>
        <p:spPr>
          <a:xfrm>
            <a:off x="6135722" y="3725897"/>
            <a:ext cx="792000"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3" name="Snowy - Yellow">
            <a:extLst>
              <a:ext uri="{FF2B5EF4-FFF2-40B4-BE49-F238E27FC236}">
                <a16:creationId xmlns:a16="http://schemas.microsoft.com/office/drawing/2014/main" id="{F2A2FD4D-D5A1-4882-9270-445588B3BF14}"/>
              </a:ext>
            </a:extLst>
          </p:cNvPr>
          <p:cNvSpPr/>
          <p:nvPr/>
        </p:nvSpPr>
        <p:spPr>
          <a:xfrm>
            <a:off x="6135722" y="4387830"/>
            <a:ext cx="792000"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4" name="Kitty - Yellow">
            <a:extLst>
              <a:ext uri="{FF2B5EF4-FFF2-40B4-BE49-F238E27FC236}">
                <a16:creationId xmlns:a16="http://schemas.microsoft.com/office/drawing/2014/main" id="{02546B7F-2DFC-4F0E-BC48-161A956E6261}"/>
              </a:ext>
            </a:extLst>
          </p:cNvPr>
          <p:cNvSpPr/>
          <p:nvPr/>
        </p:nvSpPr>
        <p:spPr>
          <a:xfrm>
            <a:off x="6141738" y="5353678"/>
            <a:ext cx="792000"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6" name="Where 2 - Arrow">
            <a:extLst>
              <a:ext uri="{FF2B5EF4-FFF2-40B4-BE49-F238E27FC236}">
                <a16:creationId xmlns:a16="http://schemas.microsoft.com/office/drawing/2014/main" id="{9FC6139A-DFAA-47AE-9247-10271BCD7ACF}"/>
              </a:ext>
            </a:extLst>
          </p:cNvPr>
          <p:cNvSpPr/>
          <p:nvPr/>
        </p:nvSpPr>
        <p:spPr>
          <a:xfrm rot="5400000">
            <a:off x="6269019" y="2982044"/>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cxnSp>
        <p:nvCxnSpPr>
          <p:cNvPr id="5" name="Name - Arrow">
            <a:extLst>
              <a:ext uri="{FF2B5EF4-FFF2-40B4-BE49-F238E27FC236}">
                <a16:creationId xmlns:a16="http://schemas.microsoft.com/office/drawing/2014/main" id="{74743580-1BBD-44D1-9B4B-3FCD69A573CA}"/>
              </a:ext>
            </a:extLst>
          </p:cNvPr>
          <p:cNvCxnSpPr>
            <a:cxnSpLocks/>
            <a:endCxn id="29" idx="0"/>
          </p:cNvCxnSpPr>
          <p:nvPr/>
        </p:nvCxnSpPr>
        <p:spPr>
          <a:xfrm flipH="1">
            <a:off x="5729994" y="2236567"/>
            <a:ext cx="342259" cy="1113410"/>
          </a:xfrm>
          <a:prstGeom prst="straightConnector1">
            <a:avLst/>
          </a:prstGeom>
          <a:ln w="28575">
            <a:solidFill>
              <a:srgbClr val="FF0000"/>
            </a:solidFill>
            <a:headEnd w="lg" len="lg"/>
            <a:tailEnd type="triangle" w="lg" len="lg"/>
          </a:ln>
        </p:spPr>
        <p:style>
          <a:lnRef idx="1">
            <a:schemeClr val="accent1"/>
          </a:lnRef>
          <a:fillRef idx="0">
            <a:schemeClr val="accent1"/>
          </a:fillRef>
          <a:effectRef idx="0">
            <a:schemeClr val="accent1"/>
          </a:effectRef>
          <a:fontRef idx="minor">
            <a:schemeClr val="tx1"/>
          </a:fontRef>
        </p:style>
      </p:cxnSp>
      <p:cxnSp>
        <p:nvCxnSpPr>
          <p:cNvPr id="9" name="Age - Arrow">
            <a:extLst>
              <a:ext uri="{FF2B5EF4-FFF2-40B4-BE49-F238E27FC236}">
                <a16:creationId xmlns:a16="http://schemas.microsoft.com/office/drawing/2014/main" id="{4A59694F-BFA9-47E0-AA51-53E4E5936D1D}"/>
              </a:ext>
            </a:extLst>
          </p:cNvPr>
          <p:cNvCxnSpPr>
            <a:cxnSpLocks/>
            <a:endCxn id="30" idx="0"/>
          </p:cNvCxnSpPr>
          <p:nvPr/>
        </p:nvCxnSpPr>
        <p:spPr>
          <a:xfrm>
            <a:off x="6923213" y="2236567"/>
            <a:ext cx="239494" cy="1113410"/>
          </a:xfrm>
          <a:prstGeom prst="straightConnector1">
            <a:avLst/>
          </a:prstGeom>
          <a:ln w="28575">
            <a:solidFill>
              <a:srgbClr val="FF0000"/>
            </a:solidFill>
            <a:headEnd w="lg" len="lg"/>
            <a:tailEnd type="triangle" w="lg" len="lg"/>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411660748"/>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Filter Results: Number</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SELECT</a:t>
            </a:r>
            <a:r>
              <a:rPr lang="en-US" altLang="en-US" sz="4400" dirty="0">
                <a:solidFill>
                  <a:srgbClr val="000000"/>
                </a:solidFill>
                <a:latin typeface="Consolas" panose="020B0609020204030204" pitchFamily="49" charset="0"/>
              </a:rPr>
              <a:t> </a:t>
            </a:r>
            <a:r>
              <a:rPr lang="en-US" altLang="en-US" sz="4400" dirty="0" err="1">
                <a:solidFill>
                  <a:srgbClr val="000000"/>
                </a:solidFill>
                <a:latin typeface="Consolas" panose="020B0609020204030204" pitchFamily="49" charset="0"/>
              </a:rPr>
              <a:t>colour</a:t>
            </a:r>
            <a:r>
              <a:rPr lang="en-US" altLang="en-US" sz="4400" dirty="0">
                <a:solidFill>
                  <a:srgbClr val="000000"/>
                </a:solidFill>
                <a:latin typeface="Consolas" panose="020B0609020204030204" pitchFamily="49" charset="0"/>
              </a:rPr>
              <a:t>, score, height</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FROM</a:t>
            </a:r>
            <a:r>
              <a:rPr lang="en-US" altLang="en-US" sz="4400" dirty="0">
                <a:solidFill>
                  <a:srgbClr val="000000"/>
                </a:solidFill>
                <a:latin typeface="Consolas" panose="020B0609020204030204" pitchFamily="49" charset="0"/>
              </a:rPr>
              <a:t> Datatypes</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3   </a:t>
            </a:r>
            <a:r>
              <a:rPr lang="en-US" altLang="en-US" sz="4400" dirty="0">
                <a:solidFill>
                  <a:srgbClr val="A71D5D"/>
                </a:solidFill>
                <a:latin typeface="Consolas" panose="020B0609020204030204" pitchFamily="49" charset="0"/>
              </a:rPr>
              <a:t>WHERE</a:t>
            </a:r>
            <a:r>
              <a:rPr lang="en-US" altLang="en-US" sz="4400" dirty="0">
                <a:solidFill>
                  <a:srgbClr val="000000"/>
                </a:solidFill>
                <a:latin typeface="Consolas" panose="020B0609020204030204" pitchFamily="49" charset="0"/>
              </a:rPr>
              <a:t> height &lt; </a:t>
            </a:r>
            <a:r>
              <a:rPr lang="en-US" altLang="en-US" sz="4400" dirty="0">
                <a:solidFill>
                  <a:srgbClr val="0086B3"/>
                </a:solidFill>
                <a:latin typeface="Consolas" panose="020B0609020204030204" pitchFamily="49" charset="0"/>
              </a:rPr>
              <a:t>1.1</a:t>
            </a:r>
            <a:r>
              <a:rPr lang="en-US" altLang="en-US" sz="4400" dirty="0">
                <a:solidFill>
                  <a:srgbClr val="000000"/>
                </a:solidFill>
                <a:latin typeface="Consolas" panose="020B0609020204030204" pitchFamily="49" charset="0"/>
              </a:rPr>
              <a:t>;</a:t>
            </a:r>
            <a:br>
              <a:rPr lang="en-US" altLang="en-US" sz="4400" dirty="0">
                <a:solidFill>
                  <a:srgbClr val="000000"/>
                </a:solidFill>
                <a:latin typeface="Consolas" panose="020B0609020204030204" pitchFamily="49" charset="0"/>
              </a:rPr>
            </a:br>
            <a:endParaRPr lang="en-US" altLang="en-US" sz="5400" dirty="0">
              <a:latin typeface="Arial" panose="020B0604020202020204" pitchFamily="34" charset="0"/>
            </a:endParaRPr>
          </a:p>
        </p:txBody>
      </p:sp>
      <p:sp>
        <p:nvSpPr>
          <p:cNvPr id="10" name="TextBox 9">
            <a:extLst>
              <a:ext uri="{FF2B5EF4-FFF2-40B4-BE49-F238E27FC236}">
                <a16:creationId xmlns:a16="http://schemas.microsoft.com/office/drawing/2014/main" id="{DF4BA8FF-524A-4C13-87BF-68801971FA28}"/>
              </a:ext>
            </a:extLst>
          </p:cNvPr>
          <p:cNvSpPr txBox="1"/>
          <p:nvPr/>
        </p:nvSpPr>
        <p:spPr>
          <a:xfrm>
            <a:off x="1610704" y="5665569"/>
            <a:ext cx="8970597" cy="646331"/>
          </a:xfrm>
          <a:prstGeom prst="rect">
            <a:avLst/>
          </a:prstGeom>
          <a:noFill/>
        </p:spPr>
        <p:txBody>
          <a:bodyPr wrap="none" rtlCol="0">
            <a:spAutoFit/>
          </a:bodyPr>
          <a:lstStyle/>
          <a:p>
            <a:pPr algn="ctr"/>
            <a:r>
              <a:rPr lang="en-GB" sz="3600" dirty="0">
                <a:solidFill>
                  <a:srgbClr val="7030A0"/>
                </a:solidFill>
              </a:rPr>
              <a:t>If the condition is </a:t>
            </a:r>
            <a:r>
              <a:rPr lang="en-GB" sz="3600" dirty="0">
                <a:solidFill>
                  <a:srgbClr val="7030A0"/>
                </a:solidFill>
                <a:latin typeface="Consolas" panose="020B0609020204030204" pitchFamily="49" charset="0"/>
              </a:rPr>
              <a:t>TRUE</a:t>
            </a:r>
            <a:r>
              <a:rPr lang="en-GB" sz="3600" dirty="0">
                <a:solidFill>
                  <a:srgbClr val="7030A0"/>
                </a:solidFill>
              </a:rPr>
              <a:t> the fields are displayed</a:t>
            </a:r>
            <a:endParaRPr lang="en-GB" sz="3600" dirty="0">
              <a:solidFill>
                <a:srgbClr val="7030A0"/>
              </a:solidFill>
              <a:latin typeface="Consolas" panose="020B0609020204030204" pitchFamily="49" charset="0"/>
            </a:endParaRPr>
          </a:p>
        </p:txBody>
      </p:sp>
      <p:grpSp>
        <p:nvGrpSpPr>
          <p:cNvPr id="4" name="Group 3">
            <a:extLst>
              <a:ext uri="{FF2B5EF4-FFF2-40B4-BE49-F238E27FC236}">
                <a16:creationId xmlns:a16="http://schemas.microsoft.com/office/drawing/2014/main" id="{432720F6-91B9-89B6-4B76-AEE68AF5098D}"/>
              </a:ext>
            </a:extLst>
          </p:cNvPr>
          <p:cNvGrpSpPr/>
          <p:nvPr/>
        </p:nvGrpSpPr>
        <p:grpSpPr>
          <a:xfrm>
            <a:off x="6134100" y="4001294"/>
            <a:ext cx="2195944" cy="1134107"/>
            <a:chOff x="6078651" y="2149231"/>
            <a:chExt cx="8132274" cy="1134107"/>
          </a:xfrm>
        </p:grpSpPr>
        <p:cxnSp>
          <p:nvCxnSpPr>
            <p:cNvPr id="8" name="Straight Connector 7">
              <a:extLst>
                <a:ext uri="{FF2B5EF4-FFF2-40B4-BE49-F238E27FC236}">
                  <a16:creationId xmlns:a16="http://schemas.microsoft.com/office/drawing/2014/main" id="{B6EC09FC-B0B0-944B-BFBC-36CF9AC74828}"/>
                </a:ext>
              </a:extLst>
            </p:cNvPr>
            <p:cNvCxnSpPr>
              <a:cxnSpLocks/>
            </p:cNvCxnSpPr>
            <p:nvPr/>
          </p:nvCxnSpPr>
          <p:spPr>
            <a:xfrm>
              <a:off x="8269096" y="2149231"/>
              <a:ext cx="3751385" cy="0"/>
            </a:xfrm>
            <a:prstGeom prst="line">
              <a:avLst/>
            </a:prstGeom>
            <a:ln w="57150">
              <a:solidFill>
                <a:schemeClr val="accent6">
                  <a:lumMod val="75000"/>
                </a:schemeClr>
              </a:solidFill>
            </a:ln>
          </p:spPr>
          <p:style>
            <a:lnRef idx="1">
              <a:schemeClr val="accent1"/>
            </a:lnRef>
            <a:fillRef idx="0">
              <a:schemeClr val="accent1"/>
            </a:fillRef>
            <a:effectRef idx="0">
              <a:schemeClr val="accent1"/>
            </a:effectRef>
            <a:fontRef idx="minor">
              <a:schemeClr val="tx1"/>
            </a:fontRef>
          </p:style>
        </p:cxnSp>
        <p:cxnSp>
          <p:nvCxnSpPr>
            <p:cNvPr id="9" name="Straight Connector 8">
              <a:extLst>
                <a:ext uri="{FF2B5EF4-FFF2-40B4-BE49-F238E27FC236}">
                  <a16:creationId xmlns:a16="http://schemas.microsoft.com/office/drawing/2014/main" id="{DD87003C-85F5-2875-9F9C-98F107A43EBA}"/>
                </a:ext>
              </a:extLst>
            </p:cNvPr>
            <p:cNvCxnSpPr>
              <a:cxnSpLocks/>
            </p:cNvCxnSpPr>
            <p:nvPr/>
          </p:nvCxnSpPr>
          <p:spPr>
            <a:xfrm flipV="1">
              <a:off x="10144788" y="2149231"/>
              <a:ext cx="0" cy="180000"/>
            </a:xfrm>
            <a:prstGeom prst="line">
              <a:avLst/>
            </a:prstGeom>
            <a:ln w="38100">
              <a:solidFill>
                <a:schemeClr val="accent6">
                  <a:lumMod val="75000"/>
                </a:schemeClr>
              </a:solidFill>
            </a:ln>
          </p:spPr>
          <p:style>
            <a:lnRef idx="1">
              <a:schemeClr val="accent1"/>
            </a:lnRef>
            <a:fillRef idx="0">
              <a:schemeClr val="accent1"/>
            </a:fillRef>
            <a:effectRef idx="0">
              <a:schemeClr val="accent1"/>
            </a:effectRef>
            <a:fontRef idx="minor">
              <a:schemeClr val="tx1"/>
            </a:fontRef>
          </p:style>
        </p:cxnSp>
        <p:sp>
          <p:nvSpPr>
            <p:cNvPr id="11" name="TextBox 10">
              <a:extLst>
                <a:ext uri="{FF2B5EF4-FFF2-40B4-BE49-F238E27FC236}">
                  <a16:creationId xmlns:a16="http://schemas.microsoft.com/office/drawing/2014/main" id="{0E44B587-6529-CB28-4761-5569B8233C52}"/>
                </a:ext>
              </a:extLst>
            </p:cNvPr>
            <p:cNvSpPr txBox="1"/>
            <p:nvPr/>
          </p:nvSpPr>
          <p:spPr>
            <a:xfrm>
              <a:off x="6078651" y="2329231"/>
              <a:ext cx="8132274" cy="954107"/>
            </a:xfrm>
            <a:prstGeom prst="rect">
              <a:avLst/>
            </a:prstGeom>
            <a:noFill/>
          </p:spPr>
          <p:txBody>
            <a:bodyPr wrap="square" rtlCol="0">
              <a:spAutoFit/>
            </a:bodyPr>
            <a:lstStyle/>
            <a:p>
              <a:pPr algn="ctr"/>
              <a:r>
                <a:rPr lang="en-GB" sz="2800" b="1" dirty="0">
                  <a:solidFill>
                    <a:srgbClr val="7030A0"/>
                  </a:solidFill>
                </a:rPr>
                <a:t>Integer or Real</a:t>
              </a:r>
            </a:p>
          </p:txBody>
        </p:sp>
      </p:grpSp>
    </p:spTree>
    <p:extLst>
      <p:ext uri="{BB962C8B-B14F-4D97-AF65-F5344CB8AC3E}">
        <p14:creationId xmlns:p14="http://schemas.microsoft.com/office/powerpoint/2010/main" val="279694955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3000"/>
                                        <p:tgtEl>
                                          <p:spTgt spid="3">
                                            <p:txEl>
                                              <p:pRg st="0" end="0"/>
                                            </p:txEl>
                                          </p:spTgt>
                                        </p:tgtEl>
                                      </p:cBhvr>
                                    </p:animEffect>
                                  </p:childTnLst>
                                </p:cTn>
                              </p:par>
                            </p:childTnLst>
                          </p:cTn>
                        </p:par>
                        <p:par>
                          <p:cTn id="8" fill="hold">
                            <p:stCondLst>
                              <p:cond delay="3000"/>
                            </p:stCondLst>
                            <p:childTnLst>
                              <p:par>
                                <p:cTn id="9" presetID="22" presetClass="entr" presetSubtype="8" fill="hold" grpId="0" nodeType="after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animEffect transition="in" filter="wipe(left)">
                                      <p:cBhvr>
                                        <p:cTn id="11" dur="1500"/>
                                        <p:tgtEl>
                                          <p:spTgt spid="3">
                                            <p:txEl>
                                              <p:pRg st="1" end="1"/>
                                            </p:txEl>
                                          </p:spTgt>
                                        </p:tgtEl>
                                      </p:cBhvr>
                                    </p:animEffect>
                                  </p:childTnLst>
                                </p:cTn>
                              </p:par>
                            </p:childTnLst>
                          </p:cTn>
                        </p:par>
                      </p:childTnLst>
                    </p:cTn>
                  </p:par>
                  <p:par>
                    <p:cTn id="12" fill="hold">
                      <p:stCondLst>
                        <p:cond delay="indefinite"/>
                      </p:stCondLst>
                      <p:childTnLst>
                        <p:par>
                          <p:cTn id="13" fill="hold">
                            <p:stCondLst>
                              <p:cond delay="0"/>
                            </p:stCondLst>
                            <p:childTnLst>
                              <p:par>
                                <p:cTn id="14" presetID="22" presetClass="entr" presetSubtype="8" fill="hold" grpId="0" nodeType="clickEffect">
                                  <p:stCondLst>
                                    <p:cond delay="0"/>
                                  </p:stCondLst>
                                  <p:childTnLst>
                                    <p:set>
                                      <p:cBhvr>
                                        <p:cTn id="15" dur="1" fill="hold">
                                          <p:stCondLst>
                                            <p:cond delay="0"/>
                                          </p:stCondLst>
                                        </p:cTn>
                                        <p:tgtEl>
                                          <p:spTgt spid="3">
                                            <p:txEl>
                                              <p:pRg st="2" end="2"/>
                                            </p:txEl>
                                          </p:spTgt>
                                        </p:tgtEl>
                                        <p:attrNameLst>
                                          <p:attrName>style.visibility</p:attrName>
                                        </p:attrNameLst>
                                      </p:cBhvr>
                                      <p:to>
                                        <p:strVal val="visible"/>
                                      </p:to>
                                    </p:set>
                                    <p:animEffect transition="in" filter="wipe(left)">
                                      <p:cBhvr>
                                        <p:cTn id="16" dur="2000"/>
                                        <p:tgtEl>
                                          <p:spTgt spid="3">
                                            <p:txEl>
                                              <p:pRg st="2" end="2"/>
                                            </p:txEl>
                                          </p:spTgt>
                                        </p:tgtEl>
                                      </p:cBhvr>
                                    </p:animEffect>
                                  </p:childTnLst>
                                </p:cTn>
                              </p:par>
                            </p:childTnLst>
                          </p:cTn>
                        </p:par>
                      </p:childTnLst>
                    </p:cTn>
                  </p:par>
                  <p:par>
                    <p:cTn id="17" fill="hold">
                      <p:stCondLst>
                        <p:cond delay="indefinite"/>
                      </p:stCondLst>
                      <p:childTnLst>
                        <p:par>
                          <p:cTn id="18" fill="hold">
                            <p:stCondLst>
                              <p:cond delay="0"/>
                            </p:stCondLst>
                            <p:childTnLst>
                              <p:par>
                                <p:cTn id="19" presetID="16" presetClass="entr" presetSubtype="37" fill="hold" nodeType="clickEffect">
                                  <p:stCondLst>
                                    <p:cond delay="0"/>
                                  </p:stCondLst>
                                  <p:childTnLst>
                                    <p:set>
                                      <p:cBhvr>
                                        <p:cTn id="20" dur="1" fill="hold">
                                          <p:stCondLst>
                                            <p:cond delay="0"/>
                                          </p:stCondLst>
                                        </p:cTn>
                                        <p:tgtEl>
                                          <p:spTgt spid="4"/>
                                        </p:tgtEl>
                                        <p:attrNameLst>
                                          <p:attrName>style.visibility</p:attrName>
                                        </p:attrNameLst>
                                      </p:cBhvr>
                                      <p:to>
                                        <p:strVal val="visible"/>
                                      </p:to>
                                    </p:set>
                                    <p:animEffect transition="in" filter="barn(outVertical)">
                                      <p:cBhvr>
                                        <p:cTn id="21" dur="1000"/>
                                        <p:tgtEl>
                                          <p:spTgt spid="4"/>
                                        </p:tgtEl>
                                      </p:cBhvr>
                                    </p:animEffect>
                                  </p:childTnLst>
                                </p:cTn>
                              </p:par>
                            </p:childTnLst>
                          </p:cTn>
                        </p:par>
                      </p:childTnLst>
                    </p:cTn>
                  </p:par>
                  <p:par>
                    <p:cTn id="22" fill="hold">
                      <p:stCondLst>
                        <p:cond delay="indefinite"/>
                      </p:stCondLst>
                      <p:childTnLst>
                        <p:par>
                          <p:cTn id="23" fill="hold">
                            <p:stCondLst>
                              <p:cond delay="0"/>
                            </p:stCondLst>
                            <p:childTnLst>
                              <p:par>
                                <p:cTn id="24" presetID="22" presetClass="entr" presetSubtype="8" fill="hold" grpId="0" nodeType="clickEffect">
                                  <p:stCondLst>
                                    <p:cond delay="0"/>
                                  </p:stCondLst>
                                  <p:childTnLst>
                                    <p:set>
                                      <p:cBhvr>
                                        <p:cTn id="25" dur="1" fill="hold">
                                          <p:stCondLst>
                                            <p:cond delay="0"/>
                                          </p:stCondLst>
                                        </p:cTn>
                                        <p:tgtEl>
                                          <p:spTgt spid="10">
                                            <p:txEl>
                                              <p:pRg st="0" end="0"/>
                                            </p:txEl>
                                          </p:spTgt>
                                        </p:tgtEl>
                                        <p:attrNameLst>
                                          <p:attrName>style.visibility</p:attrName>
                                        </p:attrNameLst>
                                      </p:cBhvr>
                                      <p:to>
                                        <p:strVal val="visible"/>
                                      </p:to>
                                    </p:set>
                                    <p:animEffect transition="in" filter="wipe(left)">
                                      <p:cBhvr>
                                        <p:cTn id="26" dur="2000"/>
                                        <p:tgtEl>
                                          <p:spTgt spid="10">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10" grpId="0" build="p"/>
    </p:bldLst>
  </p:timing>
</p:sld>
</file>

<file path=ppt/slides/slide44.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Filter Results: Number</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SELECT</a:t>
            </a:r>
            <a:r>
              <a:rPr lang="en-US" altLang="en-US" sz="4400" dirty="0">
                <a:solidFill>
                  <a:srgbClr val="000000"/>
                </a:solidFill>
                <a:latin typeface="Consolas" panose="020B0609020204030204" pitchFamily="49" charset="0"/>
              </a:rPr>
              <a:t> </a:t>
            </a:r>
            <a:r>
              <a:rPr lang="en-US" altLang="en-US" sz="4400" dirty="0" err="1">
                <a:solidFill>
                  <a:srgbClr val="000000"/>
                </a:solidFill>
                <a:latin typeface="Consolas" panose="020B0609020204030204" pitchFamily="49" charset="0"/>
              </a:rPr>
              <a:t>colour</a:t>
            </a:r>
            <a:r>
              <a:rPr lang="en-US" altLang="en-US" sz="4400" dirty="0">
                <a:solidFill>
                  <a:srgbClr val="000000"/>
                </a:solidFill>
                <a:latin typeface="Consolas" panose="020B0609020204030204" pitchFamily="49" charset="0"/>
              </a:rPr>
              <a:t>, score, height</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FROM</a:t>
            </a:r>
            <a:r>
              <a:rPr lang="en-US" altLang="en-US" sz="4400" dirty="0">
                <a:solidFill>
                  <a:srgbClr val="000000"/>
                </a:solidFill>
                <a:latin typeface="Consolas" panose="020B0609020204030204" pitchFamily="49" charset="0"/>
              </a:rPr>
              <a:t> Datatypes</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3   </a:t>
            </a:r>
            <a:r>
              <a:rPr lang="en-US" altLang="en-US" sz="4400" dirty="0">
                <a:solidFill>
                  <a:srgbClr val="A71D5D"/>
                </a:solidFill>
                <a:latin typeface="Consolas" panose="020B0609020204030204" pitchFamily="49" charset="0"/>
              </a:rPr>
              <a:t>WHERE</a:t>
            </a:r>
            <a:r>
              <a:rPr lang="en-US" altLang="en-US" sz="4400" dirty="0">
                <a:solidFill>
                  <a:srgbClr val="000000"/>
                </a:solidFill>
                <a:latin typeface="Consolas" panose="020B0609020204030204" pitchFamily="49" charset="0"/>
              </a:rPr>
              <a:t> height &lt; </a:t>
            </a:r>
            <a:r>
              <a:rPr lang="en-US" altLang="en-US" sz="4400" dirty="0">
                <a:solidFill>
                  <a:srgbClr val="0086B3"/>
                </a:solidFill>
                <a:latin typeface="Consolas" panose="020B0609020204030204" pitchFamily="49" charset="0"/>
              </a:rPr>
              <a:t>1.1</a:t>
            </a:r>
            <a:r>
              <a:rPr lang="en-US" altLang="en-US" sz="4400" dirty="0">
                <a:solidFill>
                  <a:srgbClr val="000000"/>
                </a:solidFill>
                <a:latin typeface="Consolas" panose="020B0609020204030204" pitchFamily="49" charset="0"/>
              </a:rPr>
              <a:t>;</a:t>
            </a:r>
            <a:br>
              <a:rPr lang="en-US" altLang="en-US" sz="4400" dirty="0">
                <a:solidFill>
                  <a:srgbClr val="000000"/>
                </a:solidFill>
                <a:latin typeface="Consolas" panose="020B0609020204030204" pitchFamily="49" charset="0"/>
              </a:rPr>
            </a:br>
            <a:endParaRPr lang="en-US" altLang="en-US" sz="5400" dirty="0">
              <a:latin typeface="Arial" panose="020B0604020202020204" pitchFamily="34" charset="0"/>
            </a:endParaRPr>
          </a:p>
        </p:txBody>
      </p:sp>
      <p:sp>
        <p:nvSpPr>
          <p:cNvPr id="5" name="TextBox 4">
            <a:extLst>
              <a:ext uri="{FF2B5EF4-FFF2-40B4-BE49-F238E27FC236}">
                <a16:creationId xmlns:a16="http://schemas.microsoft.com/office/drawing/2014/main" id="{5822FB63-4B4A-604A-FAE8-2ECE9D3336F1}"/>
              </a:ext>
            </a:extLst>
          </p:cNvPr>
          <p:cNvSpPr txBox="1"/>
          <p:nvPr/>
        </p:nvSpPr>
        <p:spPr>
          <a:xfrm>
            <a:off x="1484065" y="5665569"/>
            <a:ext cx="9223872" cy="646331"/>
          </a:xfrm>
          <a:prstGeom prst="rect">
            <a:avLst/>
          </a:prstGeom>
          <a:noFill/>
        </p:spPr>
        <p:txBody>
          <a:bodyPr wrap="none" rtlCol="0">
            <a:spAutoFit/>
          </a:bodyPr>
          <a:lstStyle/>
          <a:p>
            <a:pPr algn="ctr"/>
            <a:r>
              <a:rPr lang="en-GB" sz="3600" dirty="0">
                <a:solidFill>
                  <a:srgbClr val="7030A0"/>
                </a:solidFill>
              </a:rPr>
              <a:t>If the condition is </a:t>
            </a:r>
            <a:r>
              <a:rPr lang="en-GB" sz="3600" dirty="0">
                <a:solidFill>
                  <a:srgbClr val="7030A0"/>
                </a:solidFill>
                <a:latin typeface="Consolas" panose="020B0609020204030204" pitchFamily="49" charset="0"/>
              </a:rPr>
              <a:t>     </a:t>
            </a:r>
            <a:r>
              <a:rPr lang="en-GB" sz="3600" dirty="0">
                <a:solidFill>
                  <a:srgbClr val="7030A0"/>
                </a:solidFill>
              </a:rPr>
              <a:t> the fields are displayed</a:t>
            </a:r>
            <a:endParaRPr lang="en-GB" sz="3600" dirty="0">
              <a:solidFill>
                <a:srgbClr val="7030A0"/>
              </a:solidFill>
              <a:latin typeface="Consolas" panose="020B0609020204030204" pitchFamily="49" charset="0"/>
            </a:endParaRPr>
          </a:p>
        </p:txBody>
      </p:sp>
    </p:spTree>
    <p:extLst>
      <p:ext uri="{BB962C8B-B14F-4D97-AF65-F5344CB8AC3E}">
        <p14:creationId xmlns:p14="http://schemas.microsoft.com/office/powerpoint/2010/main" val="3483862181"/>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Filter Results: Date</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SELECT</a:t>
            </a:r>
            <a:r>
              <a:rPr lang="en-US" altLang="en-US" sz="4400" dirty="0">
                <a:solidFill>
                  <a:srgbClr val="000000"/>
                </a:solidFill>
                <a:latin typeface="Consolas" panose="020B0609020204030204" pitchFamily="49" charset="0"/>
              </a:rPr>
              <a:t> dob, </a:t>
            </a:r>
            <a:r>
              <a:rPr lang="en-US" altLang="en-US" sz="4400" dirty="0">
                <a:latin typeface="Consolas" panose="020B0609020204030204" pitchFamily="49" charset="0"/>
              </a:rPr>
              <a:t>start</a:t>
            </a:r>
            <a:r>
              <a:rPr lang="en-US" altLang="en-US" sz="4400" dirty="0">
                <a:solidFill>
                  <a:srgbClr val="000000"/>
                </a:solidFill>
                <a:latin typeface="Consolas" panose="020B0609020204030204" pitchFamily="49" charset="0"/>
              </a:rPr>
              <a:t>, nice</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FROM</a:t>
            </a:r>
            <a:r>
              <a:rPr lang="en-US" altLang="en-US" sz="4400" dirty="0">
                <a:solidFill>
                  <a:srgbClr val="000000"/>
                </a:solidFill>
                <a:latin typeface="Consolas" panose="020B0609020204030204" pitchFamily="49" charset="0"/>
              </a:rPr>
              <a:t> Datatypes</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3   </a:t>
            </a:r>
            <a:r>
              <a:rPr lang="en-US" altLang="en-US" sz="4400" dirty="0">
                <a:solidFill>
                  <a:srgbClr val="A71D5D"/>
                </a:solidFill>
                <a:latin typeface="Consolas" panose="020B0609020204030204" pitchFamily="49" charset="0"/>
              </a:rPr>
              <a:t>WHERE</a:t>
            </a:r>
            <a:r>
              <a:rPr lang="en-US" altLang="en-US" sz="4400" dirty="0">
                <a:solidFill>
                  <a:srgbClr val="000000"/>
                </a:solidFill>
                <a:latin typeface="Consolas" panose="020B0609020204030204" pitchFamily="49" charset="0"/>
              </a:rPr>
              <a:t> dob &gt; </a:t>
            </a:r>
            <a:r>
              <a:rPr lang="en-US" altLang="en-US" sz="4400" dirty="0">
                <a:solidFill>
                  <a:srgbClr val="183691"/>
                </a:solidFill>
                <a:latin typeface="Consolas" panose="020B0609020204030204" pitchFamily="49" charset="0"/>
              </a:rPr>
              <a:t>"1999-12-31"</a:t>
            </a:r>
            <a:r>
              <a:rPr lang="en-US" altLang="en-US" sz="4400" dirty="0">
                <a:solidFill>
                  <a:srgbClr val="000000"/>
                </a:solidFill>
                <a:latin typeface="Consolas" panose="020B0609020204030204" pitchFamily="49" charset="0"/>
              </a:rPr>
              <a:t>;</a:t>
            </a:r>
            <a:endParaRPr lang="en-US" altLang="en-US" sz="5400" dirty="0">
              <a:latin typeface="Arial" panose="020B0604020202020204" pitchFamily="34" charset="0"/>
            </a:endParaRPr>
          </a:p>
        </p:txBody>
      </p:sp>
      <p:sp>
        <p:nvSpPr>
          <p:cNvPr id="10" name="TextBox 9">
            <a:extLst>
              <a:ext uri="{FF2B5EF4-FFF2-40B4-BE49-F238E27FC236}">
                <a16:creationId xmlns:a16="http://schemas.microsoft.com/office/drawing/2014/main" id="{DF4BA8FF-524A-4C13-87BF-68801971FA28}"/>
              </a:ext>
            </a:extLst>
          </p:cNvPr>
          <p:cNvSpPr txBox="1"/>
          <p:nvPr/>
        </p:nvSpPr>
        <p:spPr>
          <a:xfrm>
            <a:off x="1610704" y="5665569"/>
            <a:ext cx="8970597" cy="646331"/>
          </a:xfrm>
          <a:prstGeom prst="rect">
            <a:avLst/>
          </a:prstGeom>
          <a:noFill/>
        </p:spPr>
        <p:txBody>
          <a:bodyPr wrap="none" rtlCol="0">
            <a:spAutoFit/>
          </a:bodyPr>
          <a:lstStyle/>
          <a:p>
            <a:pPr algn="ctr"/>
            <a:r>
              <a:rPr lang="en-GB" sz="3600" dirty="0">
                <a:solidFill>
                  <a:srgbClr val="7030A0"/>
                </a:solidFill>
              </a:rPr>
              <a:t>If the condition is </a:t>
            </a:r>
            <a:r>
              <a:rPr lang="en-GB" sz="3600" dirty="0">
                <a:solidFill>
                  <a:srgbClr val="7030A0"/>
                </a:solidFill>
                <a:latin typeface="Consolas" panose="020B0609020204030204" pitchFamily="49" charset="0"/>
              </a:rPr>
              <a:t>TRUE</a:t>
            </a:r>
            <a:r>
              <a:rPr lang="en-GB" sz="3600" dirty="0">
                <a:solidFill>
                  <a:srgbClr val="7030A0"/>
                </a:solidFill>
              </a:rPr>
              <a:t> the fields are displayed</a:t>
            </a:r>
            <a:endParaRPr lang="en-GB" sz="3600" dirty="0">
              <a:solidFill>
                <a:srgbClr val="7030A0"/>
              </a:solidFill>
              <a:latin typeface="Consolas" panose="020B0609020204030204" pitchFamily="49" charset="0"/>
            </a:endParaRPr>
          </a:p>
        </p:txBody>
      </p:sp>
      <p:grpSp>
        <p:nvGrpSpPr>
          <p:cNvPr id="4" name="Group 3">
            <a:extLst>
              <a:ext uri="{FF2B5EF4-FFF2-40B4-BE49-F238E27FC236}">
                <a16:creationId xmlns:a16="http://schemas.microsoft.com/office/drawing/2014/main" id="{860451F6-55B1-DDC3-8240-875A85DA400D}"/>
              </a:ext>
            </a:extLst>
          </p:cNvPr>
          <p:cNvGrpSpPr/>
          <p:nvPr/>
        </p:nvGrpSpPr>
        <p:grpSpPr>
          <a:xfrm>
            <a:off x="6193802" y="4001294"/>
            <a:ext cx="2906209" cy="707500"/>
            <a:chOff x="8269096" y="2149231"/>
            <a:chExt cx="3751385" cy="707500"/>
          </a:xfrm>
        </p:grpSpPr>
        <p:cxnSp>
          <p:nvCxnSpPr>
            <p:cNvPr id="8" name="Straight Connector 7">
              <a:extLst>
                <a:ext uri="{FF2B5EF4-FFF2-40B4-BE49-F238E27FC236}">
                  <a16:creationId xmlns:a16="http://schemas.microsoft.com/office/drawing/2014/main" id="{92AB2604-1114-296B-DF65-A3795D21E052}"/>
                </a:ext>
              </a:extLst>
            </p:cNvPr>
            <p:cNvCxnSpPr>
              <a:cxnSpLocks/>
            </p:cNvCxnSpPr>
            <p:nvPr/>
          </p:nvCxnSpPr>
          <p:spPr>
            <a:xfrm>
              <a:off x="8269096" y="2149231"/>
              <a:ext cx="3751385" cy="0"/>
            </a:xfrm>
            <a:prstGeom prst="line">
              <a:avLst/>
            </a:prstGeom>
            <a:ln w="57150">
              <a:solidFill>
                <a:schemeClr val="accent6">
                  <a:lumMod val="75000"/>
                </a:schemeClr>
              </a:solidFill>
            </a:ln>
          </p:spPr>
          <p:style>
            <a:lnRef idx="1">
              <a:schemeClr val="accent1"/>
            </a:lnRef>
            <a:fillRef idx="0">
              <a:schemeClr val="accent1"/>
            </a:fillRef>
            <a:effectRef idx="0">
              <a:schemeClr val="accent1"/>
            </a:effectRef>
            <a:fontRef idx="minor">
              <a:schemeClr val="tx1"/>
            </a:fontRef>
          </p:style>
        </p:cxnSp>
        <p:cxnSp>
          <p:nvCxnSpPr>
            <p:cNvPr id="9" name="Straight Connector 8">
              <a:extLst>
                <a:ext uri="{FF2B5EF4-FFF2-40B4-BE49-F238E27FC236}">
                  <a16:creationId xmlns:a16="http://schemas.microsoft.com/office/drawing/2014/main" id="{39B3FC9F-46AB-8266-0753-9469CEC6A5E8}"/>
                </a:ext>
              </a:extLst>
            </p:cNvPr>
            <p:cNvCxnSpPr>
              <a:cxnSpLocks/>
            </p:cNvCxnSpPr>
            <p:nvPr/>
          </p:nvCxnSpPr>
          <p:spPr>
            <a:xfrm flipV="1">
              <a:off x="10144788" y="2149231"/>
              <a:ext cx="0" cy="180000"/>
            </a:xfrm>
            <a:prstGeom prst="line">
              <a:avLst/>
            </a:prstGeom>
            <a:ln w="38100">
              <a:solidFill>
                <a:schemeClr val="accent6">
                  <a:lumMod val="75000"/>
                </a:schemeClr>
              </a:solidFill>
            </a:ln>
          </p:spPr>
          <p:style>
            <a:lnRef idx="1">
              <a:schemeClr val="accent1"/>
            </a:lnRef>
            <a:fillRef idx="0">
              <a:schemeClr val="accent1"/>
            </a:fillRef>
            <a:effectRef idx="0">
              <a:schemeClr val="accent1"/>
            </a:effectRef>
            <a:fontRef idx="minor">
              <a:schemeClr val="tx1"/>
            </a:fontRef>
          </p:style>
        </p:cxnSp>
        <p:sp>
          <p:nvSpPr>
            <p:cNvPr id="11" name="TextBox 10">
              <a:extLst>
                <a:ext uri="{FF2B5EF4-FFF2-40B4-BE49-F238E27FC236}">
                  <a16:creationId xmlns:a16="http://schemas.microsoft.com/office/drawing/2014/main" id="{CCB964CF-78EC-A6B3-5C0F-DEB42908FC81}"/>
                </a:ext>
              </a:extLst>
            </p:cNvPr>
            <p:cNvSpPr txBox="1"/>
            <p:nvPr/>
          </p:nvSpPr>
          <p:spPr>
            <a:xfrm>
              <a:off x="8534911" y="2333511"/>
              <a:ext cx="3219752" cy="523220"/>
            </a:xfrm>
            <a:prstGeom prst="rect">
              <a:avLst/>
            </a:prstGeom>
            <a:noFill/>
          </p:spPr>
          <p:txBody>
            <a:bodyPr wrap="square" rtlCol="0">
              <a:spAutoFit/>
            </a:bodyPr>
            <a:lstStyle/>
            <a:p>
              <a:pPr algn="ctr"/>
              <a:r>
                <a:rPr lang="en-GB" sz="2800" b="1" dirty="0" err="1">
                  <a:solidFill>
                    <a:srgbClr val="7030A0"/>
                  </a:solidFill>
                </a:rPr>
                <a:t>YYYY</a:t>
              </a:r>
              <a:r>
                <a:rPr lang="en-GB" sz="2800" b="1" dirty="0">
                  <a:solidFill>
                    <a:srgbClr val="7030A0"/>
                  </a:solidFill>
                </a:rPr>
                <a:t>-MM-DD</a:t>
              </a:r>
            </a:p>
          </p:txBody>
        </p:sp>
      </p:grpSp>
    </p:spTree>
    <p:extLst>
      <p:ext uri="{BB962C8B-B14F-4D97-AF65-F5344CB8AC3E}">
        <p14:creationId xmlns:p14="http://schemas.microsoft.com/office/powerpoint/2010/main" val="365682731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2250"/>
                                        <p:tgtEl>
                                          <p:spTgt spid="3">
                                            <p:txEl>
                                              <p:pRg st="0" end="0"/>
                                            </p:txEl>
                                          </p:spTgt>
                                        </p:tgtEl>
                                      </p:cBhvr>
                                    </p:animEffect>
                                  </p:childTnLst>
                                </p:cTn>
                              </p:par>
                            </p:childTnLst>
                          </p:cTn>
                        </p:par>
                        <p:par>
                          <p:cTn id="8" fill="hold">
                            <p:stCondLst>
                              <p:cond delay="2250"/>
                            </p:stCondLst>
                            <p:childTnLst>
                              <p:par>
                                <p:cTn id="9" presetID="22" presetClass="entr" presetSubtype="8" fill="hold" grpId="0" nodeType="after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animEffect transition="in" filter="wipe(left)">
                                      <p:cBhvr>
                                        <p:cTn id="11" dur="2000"/>
                                        <p:tgtEl>
                                          <p:spTgt spid="3">
                                            <p:txEl>
                                              <p:pRg st="1" end="1"/>
                                            </p:txEl>
                                          </p:spTgt>
                                        </p:tgtEl>
                                      </p:cBhvr>
                                    </p:animEffect>
                                  </p:childTnLst>
                                </p:cTn>
                              </p:par>
                            </p:childTnLst>
                          </p:cTn>
                        </p:par>
                      </p:childTnLst>
                    </p:cTn>
                  </p:par>
                  <p:par>
                    <p:cTn id="12" fill="hold">
                      <p:stCondLst>
                        <p:cond delay="indefinite"/>
                      </p:stCondLst>
                      <p:childTnLst>
                        <p:par>
                          <p:cTn id="13" fill="hold">
                            <p:stCondLst>
                              <p:cond delay="0"/>
                            </p:stCondLst>
                            <p:childTnLst>
                              <p:par>
                                <p:cTn id="14" presetID="22" presetClass="entr" presetSubtype="8" fill="hold" grpId="0" nodeType="clickEffect">
                                  <p:stCondLst>
                                    <p:cond delay="0"/>
                                  </p:stCondLst>
                                  <p:childTnLst>
                                    <p:set>
                                      <p:cBhvr>
                                        <p:cTn id="15" dur="1" fill="hold">
                                          <p:stCondLst>
                                            <p:cond delay="0"/>
                                          </p:stCondLst>
                                        </p:cTn>
                                        <p:tgtEl>
                                          <p:spTgt spid="3">
                                            <p:txEl>
                                              <p:pRg st="2" end="2"/>
                                            </p:txEl>
                                          </p:spTgt>
                                        </p:tgtEl>
                                        <p:attrNameLst>
                                          <p:attrName>style.visibility</p:attrName>
                                        </p:attrNameLst>
                                      </p:cBhvr>
                                      <p:to>
                                        <p:strVal val="visible"/>
                                      </p:to>
                                    </p:set>
                                    <p:animEffect transition="in" filter="wipe(left)">
                                      <p:cBhvr>
                                        <p:cTn id="16" dur="2500"/>
                                        <p:tgtEl>
                                          <p:spTgt spid="3">
                                            <p:txEl>
                                              <p:pRg st="2" end="2"/>
                                            </p:txEl>
                                          </p:spTgt>
                                        </p:tgtEl>
                                      </p:cBhvr>
                                    </p:animEffect>
                                  </p:childTnLst>
                                </p:cTn>
                              </p:par>
                            </p:childTnLst>
                          </p:cTn>
                        </p:par>
                      </p:childTnLst>
                    </p:cTn>
                  </p:par>
                  <p:par>
                    <p:cTn id="17" fill="hold">
                      <p:stCondLst>
                        <p:cond delay="indefinite"/>
                      </p:stCondLst>
                      <p:childTnLst>
                        <p:par>
                          <p:cTn id="18" fill="hold">
                            <p:stCondLst>
                              <p:cond delay="0"/>
                            </p:stCondLst>
                            <p:childTnLst>
                              <p:par>
                                <p:cTn id="19" presetID="16" presetClass="entr" presetSubtype="37" fill="hold" nodeType="clickEffect">
                                  <p:stCondLst>
                                    <p:cond delay="0"/>
                                  </p:stCondLst>
                                  <p:childTnLst>
                                    <p:set>
                                      <p:cBhvr>
                                        <p:cTn id="20" dur="1" fill="hold">
                                          <p:stCondLst>
                                            <p:cond delay="0"/>
                                          </p:stCondLst>
                                        </p:cTn>
                                        <p:tgtEl>
                                          <p:spTgt spid="4"/>
                                        </p:tgtEl>
                                        <p:attrNameLst>
                                          <p:attrName>style.visibility</p:attrName>
                                        </p:attrNameLst>
                                      </p:cBhvr>
                                      <p:to>
                                        <p:strVal val="visible"/>
                                      </p:to>
                                    </p:set>
                                    <p:animEffect transition="in" filter="barn(outVertical)">
                                      <p:cBhvr>
                                        <p:cTn id="21" dur="1000"/>
                                        <p:tgtEl>
                                          <p:spTgt spid="4"/>
                                        </p:tgtEl>
                                      </p:cBhvr>
                                    </p:animEffect>
                                  </p:childTnLst>
                                </p:cTn>
                              </p:par>
                            </p:childTnLst>
                          </p:cTn>
                        </p:par>
                      </p:childTnLst>
                    </p:cTn>
                  </p:par>
                  <p:par>
                    <p:cTn id="22" fill="hold">
                      <p:stCondLst>
                        <p:cond delay="indefinite"/>
                      </p:stCondLst>
                      <p:childTnLst>
                        <p:par>
                          <p:cTn id="23" fill="hold">
                            <p:stCondLst>
                              <p:cond delay="0"/>
                            </p:stCondLst>
                            <p:childTnLst>
                              <p:par>
                                <p:cTn id="24" presetID="22" presetClass="entr" presetSubtype="8" fill="hold" grpId="0" nodeType="clickEffect">
                                  <p:stCondLst>
                                    <p:cond delay="0"/>
                                  </p:stCondLst>
                                  <p:childTnLst>
                                    <p:set>
                                      <p:cBhvr>
                                        <p:cTn id="25" dur="1" fill="hold">
                                          <p:stCondLst>
                                            <p:cond delay="0"/>
                                          </p:stCondLst>
                                        </p:cTn>
                                        <p:tgtEl>
                                          <p:spTgt spid="10">
                                            <p:txEl>
                                              <p:pRg st="0" end="0"/>
                                            </p:txEl>
                                          </p:spTgt>
                                        </p:tgtEl>
                                        <p:attrNameLst>
                                          <p:attrName>style.visibility</p:attrName>
                                        </p:attrNameLst>
                                      </p:cBhvr>
                                      <p:to>
                                        <p:strVal val="visible"/>
                                      </p:to>
                                    </p:set>
                                    <p:animEffect transition="in" filter="wipe(left)">
                                      <p:cBhvr>
                                        <p:cTn id="26" dur="2000"/>
                                        <p:tgtEl>
                                          <p:spTgt spid="10">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10" grpId="0" build="p"/>
    </p:bldLst>
  </p:timing>
</p:sld>
</file>

<file path=ppt/slides/slide46.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Filter Results: Date</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SELECT</a:t>
            </a:r>
            <a:r>
              <a:rPr lang="en-US" altLang="en-US" sz="4400" dirty="0">
                <a:solidFill>
                  <a:srgbClr val="000000"/>
                </a:solidFill>
                <a:latin typeface="Consolas" panose="020B0609020204030204" pitchFamily="49" charset="0"/>
              </a:rPr>
              <a:t> dob, </a:t>
            </a:r>
            <a:r>
              <a:rPr lang="en-US" altLang="en-US" sz="4400" dirty="0">
                <a:latin typeface="Consolas" panose="020B0609020204030204" pitchFamily="49" charset="0"/>
              </a:rPr>
              <a:t>start</a:t>
            </a:r>
            <a:r>
              <a:rPr lang="en-US" altLang="en-US" sz="4400" dirty="0">
                <a:solidFill>
                  <a:srgbClr val="000000"/>
                </a:solidFill>
                <a:latin typeface="Consolas" panose="020B0609020204030204" pitchFamily="49" charset="0"/>
              </a:rPr>
              <a:t>, nice</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FROM</a:t>
            </a:r>
            <a:r>
              <a:rPr lang="en-US" altLang="en-US" sz="4400" dirty="0">
                <a:solidFill>
                  <a:srgbClr val="000000"/>
                </a:solidFill>
                <a:latin typeface="Consolas" panose="020B0609020204030204" pitchFamily="49" charset="0"/>
              </a:rPr>
              <a:t> Datatypes</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3   </a:t>
            </a:r>
            <a:r>
              <a:rPr lang="en-US" altLang="en-US" sz="4400" dirty="0">
                <a:solidFill>
                  <a:srgbClr val="A71D5D"/>
                </a:solidFill>
                <a:latin typeface="Consolas" panose="020B0609020204030204" pitchFamily="49" charset="0"/>
              </a:rPr>
              <a:t>WHERE</a:t>
            </a:r>
            <a:r>
              <a:rPr lang="en-US" altLang="en-US" sz="4400" dirty="0">
                <a:solidFill>
                  <a:srgbClr val="000000"/>
                </a:solidFill>
                <a:latin typeface="Consolas" panose="020B0609020204030204" pitchFamily="49" charset="0"/>
              </a:rPr>
              <a:t> dob &gt; </a:t>
            </a:r>
            <a:r>
              <a:rPr lang="en-US" altLang="en-US" sz="4400" dirty="0">
                <a:solidFill>
                  <a:srgbClr val="183691"/>
                </a:solidFill>
                <a:latin typeface="Consolas" panose="020B0609020204030204" pitchFamily="49" charset="0"/>
              </a:rPr>
              <a:t>"1999-12-31"</a:t>
            </a:r>
            <a:r>
              <a:rPr lang="en-US" altLang="en-US" sz="4400" dirty="0">
                <a:solidFill>
                  <a:srgbClr val="000000"/>
                </a:solidFill>
                <a:latin typeface="Consolas" panose="020B0609020204030204" pitchFamily="49" charset="0"/>
              </a:rPr>
              <a:t>;</a:t>
            </a:r>
            <a:endParaRPr lang="en-US" altLang="en-US" sz="5400" dirty="0">
              <a:latin typeface="Arial" panose="020B0604020202020204" pitchFamily="34" charset="0"/>
            </a:endParaRPr>
          </a:p>
        </p:txBody>
      </p:sp>
      <p:sp>
        <p:nvSpPr>
          <p:cNvPr id="4" name="TextBox 3">
            <a:extLst>
              <a:ext uri="{FF2B5EF4-FFF2-40B4-BE49-F238E27FC236}">
                <a16:creationId xmlns:a16="http://schemas.microsoft.com/office/drawing/2014/main" id="{14CEF0DA-2F39-457F-8C37-914C2EA08B19}"/>
              </a:ext>
            </a:extLst>
          </p:cNvPr>
          <p:cNvSpPr txBox="1"/>
          <p:nvPr/>
        </p:nvSpPr>
        <p:spPr>
          <a:xfrm>
            <a:off x="1484064" y="5665569"/>
            <a:ext cx="9223872" cy="646331"/>
          </a:xfrm>
          <a:prstGeom prst="rect">
            <a:avLst/>
          </a:prstGeom>
          <a:noFill/>
        </p:spPr>
        <p:txBody>
          <a:bodyPr wrap="none" rtlCol="0">
            <a:spAutoFit/>
          </a:bodyPr>
          <a:lstStyle/>
          <a:p>
            <a:pPr algn="ctr"/>
            <a:r>
              <a:rPr lang="en-GB" sz="3600" dirty="0">
                <a:solidFill>
                  <a:srgbClr val="7030A0"/>
                </a:solidFill>
              </a:rPr>
              <a:t>If the condition is </a:t>
            </a:r>
            <a:r>
              <a:rPr lang="en-GB" sz="3600" dirty="0">
                <a:solidFill>
                  <a:srgbClr val="7030A0"/>
                </a:solidFill>
                <a:latin typeface="Consolas" panose="020B0609020204030204" pitchFamily="49" charset="0"/>
              </a:rPr>
              <a:t>     </a:t>
            </a:r>
            <a:r>
              <a:rPr lang="en-GB" sz="3600" dirty="0">
                <a:solidFill>
                  <a:srgbClr val="7030A0"/>
                </a:solidFill>
              </a:rPr>
              <a:t> the fields are displayed</a:t>
            </a:r>
            <a:endParaRPr lang="en-GB" sz="3600" dirty="0">
              <a:solidFill>
                <a:srgbClr val="7030A0"/>
              </a:solidFill>
              <a:latin typeface="Consolas" panose="020B0609020204030204" pitchFamily="49" charset="0"/>
            </a:endParaRPr>
          </a:p>
        </p:txBody>
      </p:sp>
    </p:spTree>
    <p:extLst>
      <p:ext uri="{BB962C8B-B14F-4D97-AF65-F5344CB8AC3E}">
        <p14:creationId xmlns:p14="http://schemas.microsoft.com/office/powerpoint/2010/main" val="818404692"/>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Filter Results: Time</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SELECT</a:t>
            </a:r>
            <a:r>
              <a:rPr lang="en-US" altLang="en-US" sz="4400" dirty="0">
                <a:solidFill>
                  <a:srgbClr val="000000"/>
                </a:solidFill>
                <a:latin typeface="Consolas" panose="020B0609020204030204" pitchFamily="49" charset="0"/>
              </a:rPr>
              <a:t> dob, </a:t>
            </a:r>
            <a:r>
              <a:rPr lang="en-US" altLang="en-US" sz="4400" dirty="0">
                <a:latin typeface="Consolas" panose="020B0609020204030204" pitchFamily="49" charset="0"/>
              </a:rPr>
              <a:t>start</a:t>
            </a:r>
            <a:r>
              <a:rPr lang="en-US" altLang="en-US" sz="4400" dirty="0">
                <a:solidFill>
                  <a:srgbClr val="000000"/>
                </a:solidFill>
                <a:latin typeface="Consolas" panose="020B0609020204030204" pitchFamily="49" charset="0"/>
              </a:rPr>
              <a:t>, nice</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FROM</a:t>
            </a:r>
            <a:r>
              <a:rPr lang="en-US" altLang="en-US" sz="4400" dirty="0">
                <a:solidFill>
                  <a:srgbClr val="000000"/>
                </a:solidFill>
                <a:latin typeface="Consolas" panose="020B0609020204030204" pitchFamily="49" charset="0"/>
              </a:rPr>
              <a:t> Datatypes</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3   </a:t>
            </a:r>
            <a:r>
              <a:rPr lang="en-US" altLang="en-US" sz="4400" dirty="0">
                <a:solidFill>
                  <a:srgbClr val="A71D5D"/>
                </a:solidFill>
                <a:latin typeface="Consolas" panose="020B0609020204030204" pitchFamily="49" charset="0"/>
              </a:rPr>
              <a:t>WHERE </a:t>
            </a:r>
            <a:r>
              <a:rPr lang="en-US" altLang="en-US" sz="4400" dirty="0">
                <a:latin typeface="Consolas" panose="020B0609020204030204" pitchFamily="49" charset="0"/>
              </a:rPr>
              <a:t>start</a:t>
            </a:r>
            <a:r>
              <a:rPr lang="en-US" altLang="en-US" sz="4400" dirty="0">
                <a:solidFill>
                  <a:srgbClr val="000000"/>
                </a:solidFill>
                <a:latin typeface="Consolas" panose="020B0609020204030204" pitchFamily="49" charset="0"/>
              </a:rPr>
              <a:t> &gt;= </a:t>
            </a:r>
            <a:r>
              <a:rPr lang="en-US" altLang="en-US" sz="4400" dirty="0">
                <a:solidFill>
                  <a:srgbClr val="183691"/>
                </a:solidFill>
                <a:latin typeface="Consolas" panose="020B0609020204030204" pitchFamily="49" charset="0"/>
              </a:rPr>
              <a:t>"13:10:00"</a:t>
            </a:r>
            <a:r>
              <a:rPr lang="en-US" altLang="en-US" sz="4400" dirty="0">
                <a:solidFill>
                  <a:srgbClr val="000000"/>
                </a:solidFill>
                <a:latin typeface="Consolas" panose="020B0609020204030204" pitchFamily="49" charset="0"/>
              </a:rPr>
              <a:t>;</a:t>
            </a:r>
            <a:r>
              <a:rPr lang="en-US" altLang="en-US" sz="4400" dirty="0">
                <a:solidFill>
                  <a:srgbClr val="B2B2B2"/>
                </a:solidFill>
                <a:latin typeface="Consolas" panose="020B0609020204030204" pitchFamily="49" charset="0"/>
              </a:rPr>
              <a:t> </a:t>
            </a:r>
            <a:br>
              <a:rPr lang="en-US" altLang="en-US" sz="4400" dirty="0">
                <a:solidFill>
                  <a:srgbClr val="000000"/>
                </a:solidFill>
                <a:latin typeface="Consolas" panose="020B0609020204030204" pitchFamily="49" charset="0"/>
              </a:rPr>
            </a:br>
            <a:endParaRPr lang="en-US" altLang="en-US" sz="5400" dirty="0">
              <a:latin typeface="Arial" panose="020B0604020202020204" pitchFamily="34" charset="0"/>
            </a:endParaRPr>
          </a:p>
        </p:txBody>
      </p:sp>
      <p:sp>
        <p:nvSpPr>
          <p:cNvPr id="10" name="TextBox 9">
            <a:extLst>
              <a:ext uri="{FF2B5EF4-FFF2-40B4-BE49-F238E27FC236}">
                <a16:creationId xmlns:a16="http://schemas.microsoft.com/office/drawing/2014/main" id="{DF4BA8FF-524A-4C13-87BF-68801971FA28}"/>
              </a:ext>
            </a:extLst>
          </p:cNvPr>
          <p:cNvSpPr txBox="1"/>
          <p:nvPr/>
        </p:nvSpPr>
        <p:spPr>
          <a:xfrm>
            <a:off x="1610702" y="5665569"/>
            <a:ext cx="8970597" cy="646331"/>
          </a:xfrm>
          <a:prstGeom prst="rect">
            <a:avLst/>
          </a:prstGeom>
          <a:noFill/>
        </p:spPr>
        <p:txBody>
          <a:bodyPr wrap="none" rtlCol="0">
            <a:spAutoFit/>
          </a:bodyPr>
          <a:lstStyle/>
          <a:p>
            <a:pPr algn="ctr"/>
            <a:r>
              <a:rPr lang="en-GB" sz="3600" dirty="0">
                <a:solidFill>
                  <a:srgbClr val="7030A0"/>
                </a:solidFill>
              </a:rPr>
              <a:t>If the condition is </a:t>
            </a:r>
            <a:r>
              <a:rPr lang="en-GB" sz="3600" dirty="0">
                <a:solidFill>
                  <a:srgbClr val="7030A0"/>
                </a:solidFill>
                <a:latin typeface="Consolas" panose="020B0609020204030204" pitchFamily="49" charset="0"/>
              </a:rPr>
              <a:t>TRUE</a:t>
            </a:r>
            <a:r>
              <a:rPr lang="en-GB" sz="3600" dirty="0">
                <a:solidFill>
                  <a:srgbClr val="7030A0"/>
                </a:solidFill>
              </a:rPr>
              <a:t> the fields are displayed</a:t>
            </a:r>
            <a:endParaRPr lang="en-GB" sz="3600" dirty="0">
              <a:solidFill>
                <a:srgbClr val="7030A0"/>
              </a:solidFill>
              <a:latin typeface="Consolas" panose="020B0609020204030204" pitchFamily="49" charset="0"/>
            </a:endParaRPr>
          </a:p>
        </p:txBody>
      </p:sp>
      <p:grpSp>
        <p:nvGrpSpPr>
          <p:cNvPr id="7" name="Group 6">
            <a:extLst>
              <a:ext uri="{FF2B5EF4-FFF2-40B4-BE49-F238E27FC236}">
                <a16:creationId xmlns:a16="http://schemas.microsoft.com/office/drawing/2014/main" id="{2B4E7A30-D1F0-3CDA-1468-D9BF41B96117}"/>
              </a:ext>
            </a:extLst>
          </p:cNvPr>
          <p:cNvGrpSpPr/>
          <p:nvPr/>
        </p:nvGrpSpPr>
        <p:grpSpPr>
          <a:xfrm>
            <a:off x="7157231" y="3991545"/>
            <a:ext cx="2353115" cy="707500"/>
            <a:chOff x="8269096" y="2149231"/>
            <a:chExt cx="3751385" cy="707500"/>
          </a:xfrm>
        </p:grpSpPr>
        <p:cxnSp>
          <p:nvCxnSpPr>
            <p:cNvPr id="8" name="Straight Connector 7">
              <a:extLst>
                <a:ext uri="{FF2B5EF4-FFF2-40B4-BE49-F238E27FC236}">
                  <a16:creationId xmlns:a16="http://schemas.microsoft.com/office/drawing/2014/main" id="{C6E16DF4-0F9F-CD08-4EA3-42E8C86AFD2D}"/>
                </a:ext>
              </a:extLst>
            </p:cNvPr>
            <p:cNvCxnSpPr>
              <a:cxnSpLocks/>
            </p:cNvCxnSpPr>
            <p:nvPr/>
          </p:nvCxnSpPr>
          <p:spPr>
            <a:xfrm>
              <a:off x="8269096" y="2149231"/>
              <a:ext cx="3751385" cy="0"/>
            </a:xfrm>
            <a:prstGeom prst="line">
              <a:avLst/>
            </a:prstGeom>
            <a:ln w="57150">
              <a:solidFill>
                <a:schemeClr val="accent6">
                  <a:lumMod val="75000"/>
                </a:schemeClr>
              </a:solidFill>
            </a:ln>
          </p:spPr>
          <p:style>
            <a:lnRef idx="1">
              <a:schemeClr val="accent1"/>
            </a:lnRef>
            <a:fillRef idx="0">
              <a:schemeClr val="accent1"/>
            </a:fillRef>
            <a:effectRef idx="0">
              <a:schemeClr val="accent1"/>
            </a:effectRef>
            <a:fontRef idx="minor">
              <a:schemeClr val="tx1"/>
            </a:fontRef>
          </p:style>
        </p:cxnSp>
        <p:cxnSp>
          <p:nvCxnSpPr>
            <p:cNvPr id="9" name="Straight Connector 8">
              <a:extLst>
                <a:ext uri="{FF2B5EF4-FFF2-40B4-BE49-F238E27FC236}">
                  <a16:creationId xmlns:a16="http://schemas.microsoft.com/office/drawing/2014/main" id="{3B3EB81C-DBA9-D000-F007-8E2CCD88B8BF}"/>
                </a:ext>
              </a:extLst>
            </p:cNvPr>
            <p:cNvCxnSpPr>
              <a:cxnSpLocks/>
            </p:cNvCxnSpPr>
            <p:nvPr/>
          </p:nvCxnSpPr>
          <p:spPr>
            <a:xfrm flipV="1">
              <a:off x="10144788" y="2149231"/>
              <a:ext cx="0" cy="180000"/>
            </a:xfrm>
            <a:prstGeom prst="line">
              <a:avLst/>
            </a:prstGeom>
            <a:ln w="38100">
              <a:solidFill>
                <a:schemeClr val="accent6">
                  <a:lumMod val="75000"/>
                </a:schemeClr>
              </a:solidFill>
            </a:ln>
          </p:spPr>
          <p:style>
            <a:lnRef idx="1">
              <a:schemeClr val="accent1"/>
            </a:lnRef>
            <a:fillRef idx="0">
              <a:schemeClr val="accent1"/>
            </a:fillRef>
            <a:effectRef idx="0">
              <a:schemeClr val="accent1"/>
            </a:effectRef>
            <a:fontRef idx="minor">
              <a:schemeClr val="tx1"/>
            </a:fontRef>
          </p:style>
        </p:cxnSp>
        <p:sp>
          <p:nvSpPr>
            <p:cNvPr id="11" name="TextBox 10">
              <a:extLst>
                <a:ext uri="{FF2B5EF4-FFF2-40B4-BE49-F238E27FC236}">
                  <a16:creationId xmlns:a16="http://schemas.microsoft.com/office/drawing/2014/main" id="{E3696ED5-948B-5EE0-11B6-C6D9C2D7321E}"/>
                </a:ext>
              </a:extLst>
            </p:cNvPr>
            <p:cNvSpPr txBox="1"/>
            <p:nvPr/>
          </p:nvSpPr>
          <p:spPr>
            <a:xfrm>
              <a:off x="8534911" y="2333511"/>
              <a:ext cx="3219752" cy="523220"/>
            </a:xfrm>
            <a:prstGeom prst="rect">
              <a:avLst/>
            </a:prstGeom>
            <a:noFill/>
          </p:spPr>
          <p:txBody>
            <a:bodyPr wrap="square" rtlCol="0">
              <a:spAutoFit/>
            </a:bodyPr>
            <a:lstStyle/>
            <a:p>
              <a:pPr algn="ctr"/>
              <a:r>
                <a:rPr lang="en-GB" sz="2800" b="1" dirty="0" err="1">
                  <a:solidFill>
                    <a:srgbClr val="7030A0"/>
                  </a:solidFill>
                </a:rPr>
                <a:t>HH:MM:SS</a:t>
              </a:r>
              <a:endParaRPr lang="en-GB" sz="2800" b="1" dirty="0">
                <a:solidFill>
                  <a:srgbClr val="7030A0"/>
                </a:solidFill>
              </a:endParaRPr>
            </a:p>
          </p:txBody>
        </p:sp>
      </p:grpSp>
    </p:spTree>
    <p:extLst>
      <p:ext uri="{BB962C8B-B14F-4D97-AF65-F5344CB8AC3E}">
        <p14:creationId xmlns:p14="http://schemas.microsoft.com/office/powerpoint/2010/main" val="97087404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2500"/>
                                        <p:tgtEl>
                                          <p:spTgt spid="3">
                                            <p:txEl>
                                              <p:pRg st="0" end="0"/>
                                            </p:txEl>
                                          </p:spTgt>
                                        </p:tgtEl>
                                      </p:cBhvr>
                                    </p:animEffect>
                                  </p:childTnLst>
                                </p:cTn>
                              </p:par>
                            </p:childTnLst>
                          </p:cTn>
                        </p:par>
                        <p:par>
                          <p:cTn id="8" fill="hold">
                            <p:stCondLst>
                              <p:cond delay="2500"/>
                            </p:stCondLst>
                            <p:childTnLst>
                              <p:par>
                                <p:cTn id="9" presetID="22" presetClass="entr" presetSubtype="8" fill="hold" grpId="0" nodeType="after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animEffect transition="in" filter="wipe(left)">
                                      <p:cBhvr>
                                        <p:cTn id="11" dur="2000"/>
                                        <p:tgtEl>
                                          <p:spTgt spid="3">
                                            <p:txEl>
                                              <p:pRg st="1" end="1"/>
                                            </p:txEl>
                                          </p:spTgt>
                                        </p:tgtEl>
                                      </p:cBhvr>
                                    </p:animEffect>
                                  </p:childTnLst>
                                </p:cTn>
                              </p:par>
                            </p:childTnLst>
                          </p:cTn>
                        </p:par>
                      </p:childTnLst>
                    </p:cTn>
                  </p:par>
                  <p:par>
                    <p:cTn id="12" fill="hold">
                      <p:stCondLst>
                        <p:cond delay="indefinite"/>
                      </p:stCondLst>
                      <p:childTnLst>
                        <p:par>
                          <p:cTn id="13" fill="hold">
                            <p:stCondLst>
                              <p:cond delay="0"/>
                            </p:stCondLst>
                            <p:childTnLst>
                              <p:par>
                                <p:cTn id="14" presetID="22" presetClass="entr" presetSubtype="8" fill="hold" grpId="0" nodeType="clickEffect">
                                  <p:stCondLst>
                                    <p:cond delay="0"/>
                                  </p:stCondLst>
                                  <p:childTnLst>
                                    <p:set>
                                      <p:cBhvr>
                                        <p:cTn id="15" dur="1" fill="hold">
                                          <p:stCondLst>
                                            <p:cond delay="0"/>
                                          </p:stCondLst>
                                        </p:cTn>
                                        <p:tgtEl>
                                          <p:spTgt spid="3">
                                            <p:txEl>
                                              <p:pRg st="2" end="2"/>
                                            </p:txEl>
                                          </p:spTgt>
                                        </p:tgtEl>
                                        <p:attrNameLst>
                                          <p:attrName>style.visibility</p:attrName>
                                        </p:attrNameLst>
                                      </p:cBhvr>
                                      <p:to>
                                        <p:strVal val="visible"/>
                                      </p:to>
                                    </p:set>
                                    <p:animEffect transition="in" filter="wipe(left)">
                                      <p:cBhvr>
                                        <p:cTn id="16" dur="2500"/>
                                        <p:tgtEl>
                                          <p:spTgt spid="3">
                                            <p:txEl>
                                              <p:pRg st="2" end="2"/>
                                            </p:txEl>
                                          </p:spTgt>
                                        </p:tgtEl>
                                      </p:cBhvr>
                                    </p:animEffect>
                                  </p:childTnLst>
                                </p:cTn>
                              </p:par>
                            </p:childTnLst>
                          </p:cTn>
                        </p:par>
                      </p:childTnLst>
                    </p:cTn>
                  </p:par>
                  <p:par>
                    <p:cTn id="17" fill="hold">
                      <p:stCondLst>
                        <p:cond delay="indefinite"/>
                      </p:stCondLst>
                      <p:childTnLst>
                        <p:par>
                          <p:cTn id="18" fill="hold">
                            <p:stCondLst>
                              <p:cond delay="0"/>
                            </p:stCondLst>
                            <p:childTnLst>
                              <p:par>
                                <p:cTn id="19" presetID="16" presetClass="entr" presetSubtype="37" fill="hold" nodeType="clickEffect">
                                  <p:stCondLst>
                                    <p:cond delay="0"/>
                                  </p:stCondLst>
                                  <p:childTnLst>
                                    <p:set>
                                      <p:cBhvr>
                                        <p:cTn id="20" dur="1" fill="hold">
                                          <p:stCondLst>
                                            <p:cond delay="0"/>
                                          </p:stCondLst>
                                        </p:cTn>
                                        <p:tgtEl>
                                          <p:spTgt spid="7"/>
                                        </p:tgtEl>
                                        <p:attrNameLst>
                                          <p:attrName>style.visibility</p:attrName>
                                        </p:attrNameLst>
                                      </p:cBhvr>
                                      <p:to>
                                        <p:strVal val="visible"/>
                                      </p:to>
                                    </p:set>
                                    <p:animEffect transition="in" filter="barn(outVertical)">
                                      <p:cBhvr>
                                        <p:cTn id="21" dur="1000"/>
                                        <p:tgtEl>
                                          <p:spTgt spid="7"/>
                                        </p:tgtEl>
                                      </p:cBhvr>
                                    </p:animEffect>
                                  </p:childTnLst>
                                </p:cTn>
                              </p:par>
                            </p:childTnLst>
                          </p:cTn>
                        </p:par>
                      </p:childTnLst>
                    </p:cTn>
                  </p:par>
                  <p:par>
                    <p:cTn id="22" fill="hold">
                      <p:stCondLst>
                        <p:cond delay="indefinite"/>
                      </p:stCondLst>
                      <p:childTnLst>
                        <p:par>
                          <p:cTn id="23" fill="hold">
                            <p:stCondLst>
                              <p:cond delay="0"/>
                            </p:stCondLst>
                            <p:childTnLst>
                              <p:par>
                                <p:cTn id="24" presetID="22" presetClass="entr" presetSubtype="8" fill="hold" grpId="0" nodeType="clickEffect">
                                  <p:stCondLst>
                                    <p:cond delay="0"/>
                                  </p:stCondLst>
                                  <p:childTnLst>
                                    <p:set>
                                      <p:cBhvr>
                                        <p:cTn id="25" dur="1" fill="hold">
                                          <p:stCondLst>
                                            <p:cond delay="0"/>
                                          </p:stCondLst>
                                        </p:cTn>
                                        <p:tgtEl>
                                          <p:spTgt spid="10">
                                            <p:txEl>
                                              <p:pRg st="0" end="0"/>
                                            </p:txEl>
                                          </p:spTgt>
                                        </p:tgtEl>
                                        <p:attrNameLst>
                                          <p:attrName>style.visibility</p:attrName>
                                        </p:attrNameLst>
                                      </p:cBhvr>
                                      <p:to>
                                        <p:strVal val="visible"/>
                                      </p:to>
                                    </p:set>
                                    <p:animEffect transition="in" filter="wipe(left)">
                                      <p:cBhvr>
                                        <p:cTn id="26" dur="2000"/>
                                        <p:tgtEl>
                                          <p:spTgt spid="10">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10" grpId="0" build="p"/>
    </p:bldLst>
  </p:timing>
</p:sld>
</file>

<file path=ppt/slides/slide48.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Filter Results: Time</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SELECT</a:t>
            </a:r>
            <a:r>
              <a:rPr lang="en-US" altLang="en-US" sz="4400" dirty="0">
                <a:solidFill>
                  <a:srgbClr val="000000"/>
                </a:solidFill>
                <a:latin typeface="Consolas" panose="020B0609020204030204" pitchFamily="49" charset="0"/>
              </a:rPr>
              <a:t> made, </a:t>
            </a:r>
            <a:r>
              <a:rPr lang="en-US" altLang="en-US" sz="4400" dirty="0">
                <a:latin typeface="Consolas" panose="020B0609020204030204" pitchFamily="49" charset="0"/>
              </a:rPr>
              <a:t>start</a:t>
            </a:r>
            <a:r>
              <a:rPr lang="en-US" altLang="en-US" sz="4400" dirty="0">
                <a:solidFill>
                  <a:srgbClr val="000000"/>
                </a:solidFill>
                <a:latin typeface="Consolas" panose="020B0609020204030204" pitchFamily="49" charset="0"/>
              </a:rPr>
              <a:t>, nice</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FROM</a:t>
            </a:r>
            <a:r>
              <a:rPr lang="en-US" altLang="en-US" sz="4400" dirty="0">
                <a:solidFill>
                  <a:srgbClr val="000000"/>
                </a:solidFill>
                <a:latin typeface="Consolas" panose="020B0609020204030204" pitchFamily="49" charset="0"/>
              </a:rPr>
              <a:t> Datatypes</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3   </a:t>
            </a:r>
            <a:r>
              <a:rPr lang="en-US" altLang="en-US" sz="4400" dirty="0">
                <a:solidFill>
                  <a:srgbClr val="A71D5D"/>
                </a:solidFill>
                <a:latin typeface="Consolas" panose="020B0609020204030204" pitchFamily="49" charset="0"/>
              </a:rPr>
              <a:t>WHERE </a:t>
            </a:r>
            <a:r>
              <a:rPr lang="en-US" altLang="en-US" sz="4400" dirty="0">
                <a:latin typeface="Consolas" panose="020B0609020204030204" pitchFamily="49" charset="0"/>
              </a:rPr>
              <a:t>start</a:t>
            </a:r>
            <a:r>
              <a:rPr lang="en-US" altLang="en-US" sz="4400" dirty="0">
                <a:solidFill>
                  <a:srgbClr val="000000"/>
                </a:solidFill>
                <a:latin typeface="Consolas" panose="020B0609020204030204" pitchFamily="49" charset="0"/>
              </a:rPr>
              <a:t> &gt;= </a:t>
            </a:r>
            <a:r>
              <a:rPr lang="en-US" altLang="en-US" sz="4400" dirty="0">
                <a:solidFill>
                  <a:srgbClr val="183691"/>
                </a:solidFill>
                <a:latin typeface="Consolas" panose="020B0609020204030204" pitchFamily="49" charset="0"/>
              </a:rPr>
              <a:t>"13:10:00"</a:t>
            </a:r>
            <a:r>
              <a:rPr lang="en-US" altLang="en-US" sz="4400" dirty="0">
                <a:solidFill>
                  <a:srgbClr val="000000"/>
                </a:solidFill>
                <a:latin typeface="Consolas" panose="020B0609020204030204" pitchFamily="49" charset="0"/>
              </a:rPr>
              <a:t>;</a:t>
            </a:r>
            <a:r>
              <a:rPr lang="en-US" altLang="en-US" sz="4400" dirty="0">
                <a:solidFill>
                  <a:srgbClr val="B2B2B2"/>
                </a:solidFill>
                <a:latin typeface="Consolas" panose="020B0609020204030204" pitchFamily="49" charset="0"/>
              </a:rPr>
              <a:t> </a:t>
            </a:r>
            <a:br>
              <a:rPr lang="en-US" altLang="en-US" sz="4400" dirty="0">
                <a:solidFill>
                  <a:srgbClr val="000000"/>
                </a:solidFill>
                <a:latin typeface="Consolas" panose="020B0609020204030204" pitchFamily="49" charset="0"/>
              </a:rPr>
            </a:br>
            <a:endParaRPr lang="en-US" altLang="en-US" sz="5400" dirty="0">
              <a:latin typeface="Arial" panose="020B0604020202020204" pitchFamily="34" charset="0"/>
            </a:endParaRPr>
          </a:p>
        </p:txBody>
      </p:sp>
      <p:sp>
        <p:nvSpPr>
          <p:cNvPr id="4" name="TextBox 3">
            <a:extLst>
              <a:ext uri="{FF2B5EF4-FFF2-40B4-BE49-F238E27FC236}">
                <a16:creationId xmlns:a16="http://schemas.microsoft.com/office/drawing/2014/main" id="{603AE2F4-C86D-42FE-AD98-E287192AF3B2}"/>
              </a:ext>
            </a:extLst>
          </p:cNvPr>
          <p:cNvSpPr txBox="1"/>
          <p:nvPr/>
        </p:nvSpPr>
        <p:spPr>
          <a:xfrm>
            <a:off x="1484064" y="5665569"/>
            <a:ext cx="9223872" cy="646331"/>
          </a:xfrm>
          <a:prstGeom prst="rect">
            <a:avLst/>
          </a:prstGeom>
          <a:noFill/>
        </p:spPr>
        <p:txBody>
          <a:bodyPr wrap="none" rtlCol="0">
            <a:spAutoFit/>
          </a:bodyPr>
          <a:lstStyle/>
          <a:p>
            <a:pPr algn="ctr"/>
            <a:r>
              <a:rPr lang="en-GB" sz="3600" dirty="0">
                <a:solidFill>
                  <a:srgbClr val="7030A0"/>
                </a:solidFill>
              </a:rPr>
              <a:t>If the condition is </a:t>
            </a:r>
            <a:r>
              <a:rPr lang="en-GB" sz="3600" dirty="0">
                <a:solidFill>
                  <a:srgbClr val="7030A0"/>
                </a:solidFill>
                <a:latin typeface="Consolas" panose="020B0609020204030204" pitchFamily="49" charset="0"/>
              </a:rPr>
              <a:t>     </a:t>
            </a:r>
            <a:r>
              <a:rPr lang="en-GB" sz="3600" dirty="0">
                <a:solidFill>
                  <a:srgbClr val="7030A0"/>
                </a:solidFill>
              </a:rPr>
              <a:t> the fields are displayed</a:t>
            </a:r>
            <a:endParaRPr lang="en-GB" sz="3600" dirty="0">
              <a:solidFill>
                <a:srgbClr val="7030A0"/>
              </a:solidFill>
              <a:latin typeface="Consolas" panose="020B0609020204030204" pitchFamily="49" charset="0"/>
            </a:endParaRPr>
          </a:p>
        </p:txBody>
      </p:sp>
    </p:spTree>
    <p:extLst>
      <p:ext uri="{BB962C8B-B14F-4D97-AF65-F5344CB8AC3E}">
        <p14:creationId xmlns:p14="http://schemas.microsoft.com/office/powerpoint/2010/main" val="1368737392"/>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Filter Results: Boolean</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SELECT</a:t>
            </a:r>
            <a:r>
              <a:rPr lang="en-US" altLang="en-US" sz="4400" dirty="0">
                <a:solidFill>
                  <a:srgbClr val="000000"/>
                </a:solidFill>
                <a:latin typeface="Consolas" panose="020B0609020204030204" pitchFamily="49" charset="0"/>
              </a:rPr>
              <a:t> *</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FROM</a:t>
            </a:r>
            <a:r>
              <a:rPr lang="en-US" altLang="en-US" sz="4400" dirty="0">
                <a:solidFill>
                  <a:srgbClr val="000000"/>
                </a:solidFill>
                <a:latin typeface="Consolas" panose="020B0609020204030204" pitchFamily="49" charset="0"/>
              </a:rPr>
              <a:t> Datatypes</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3   </a:t>
            </a:r>
            <a:r>
              <a:rPr lang="en-US" altLang="en-US" sz="4400" dirty="0">
                <a:solidFill>
                  <a:srgbClr val="A71D5D"/>
                </a:solidFill>
                <a:latin typeface="Consolas" panose="020B0609020204030204" pitchFamily="49" charset="0"/>
              </a:rPr>
              <a:t>WHERE</a:t>
            </a:r>
            <a:r>
              <a:rPr lang="en-US" altLang="en-US" sz="4400" dirty="0">
                <a:solidFill>
                  <a:srgbClr val="000000"/>
                </a:solidFill>
                <a:latin typeface="Consolas" panose="020B0609020204030204" pitchFamily="49" charset="0"/>
              </a:rPr>
              <a:t> nice = </a:t>
            </a:r>
            <a:r>
              <a:rPr lang="en-US" altLang="en-US" sz="4400" dirty="0">
                <a:solidFill>
                  <a:srgbClr val="A71D5D"/>
                </a:solidFill>
                <a:latin typeface="Consolas" panose="020B0609020204030204" pitchFamily="49" charset="0"/>
              </a:rPr>
              <a:t>TRUE</a:t>
            </a:r>
            <a:r>
              <a:rPr lang="en-US" altLang="en-US" sz="4400" dirty="0">
                <a:solidFill>
                  <a:srgbClr val="000000"/>
                </a:solidFill>
                <a:latin typeface="Consolas" panose="020B0609020204030204" pitchFamily="49" charset="0"/>
              </a:rPr>
              <a:t>;</a:t>
            </a:r>
            <a:endParaRPr lang="en-US" altLang="en-US" sz="5400" dirty="0">
              <a:latin typeface="Arial" panose="020B0604020202020204" pitchFamily="34" charset="0"/>
            </a:endParaRPr>
          </a:p>
        </p:txBody>
      </p:sp>
      <p:sp>
        <p:nvSpPr>
          <p:cNvPr id="10" name="TextBox 9">
            <a:extLst>
              <a:ext uri="{FF2B5EF4-FFF2-40B4-BE49-F238E27FC236}">
                <a16:creationId xmlns:a16="http://schemas.microsoft.com/office/drawing/2014/main" id="{DF4BA8FF-524A-4C13-87BF-68801971FA28}"/>
              </a:ext>
            </a:extLst>
          </p:cNvPr>
          <p:cNvSpPr txBox="1"/>
          <p:nvPr/>
        </p:nvSpPr>
        <p:spPr>
          <a:xfrm>
            <a:off x="1909629" y="5665569"/>
            <a:ext cx="8372741" cy="646331"/>
          </a:xfrm>
          <a:prstGeom prst="rect">
            <a:avLst/>
          </a:prstGeom>
          <a:noFill/>
        </p:spPr>
        <p:txBody>
          <a:bodyPr wrap="none" rtlCol="0">
            <a:spAutoFit/>
          </a:bodyPr>
          <a:lstStyle/>
          <a:p>
            <a:pPr algn="ctr"/>
            <a:r>
              <a:rPr lang="en-GB" sz="3600" dirty="0">
                <a:solidFill>
                  <a:srgbClr val="7030A0"/>
                </a:solidFill>
              </a:rPr>
              <a:t>If the condition is </a:t>
            </a:r>
            <a:r>
              <a:rPr lang="en-GB" sz="3600" dirty="0">
                <a:solidFill>
                  <a:srgbClr val="7030A0"/>
                </a:solidFill>
                <a:latin typeface="Consolas" panose="020B0609020204030204" pitchFamily="49" charset="0"/>
              </a:rPr>
              <a:t>TRUE</a:t>
            </a:r>
            <a:r>
              <a:rPr lang="en-GB" sz="3600" dirty="0">
                <a:solidFill>
                  <a:srgbClr val="7030A0"/>
                </a:solidFill>
              </a:rPr>
              <a:t> the row is displayed</a:t>
            </a:r>
            <a:endParaRPr lang="en-GB" sz="3600" dirty="0">
              <a:solidFill>
                <a:srgbClr val="7030A0"/>
              </a:solidFill>
              <a:latin typeface="Consolas" panose="020B0609020204030204" pitchFamily="49" charset="0"/>
            </a:endParaRPr>
          </a:p>
        </p:txBody>
      </p:sp>
      <p:grpSp>
        <p:nvGrpSpPr>
          <p:cNvPr id="4" name="Group 3">
            <a:extLst>
              <a:ext uri="{FF2B5EF4-FFF2-40B4-BE49-F238E27FC236}">
                <a16:creationId xmlns:a16="http://schemas.microsoft.com/office/drawing/2014/main" id="{59CF0C5A-2A1C-0624-F18F-CDF39083B546}"/>
              </a:ext>
            </a:extLst>
          </p:cNvPr>
          <p:cNvGrpSpPr/>
          <p:nvPr/>
        </p:nvGrpSpPr>
        <p:grpSpPr>
          <a:xfrm>
            <a:off x="5719696" y="3897525"/>
            <a:ext cx="2195944" cy="703220"/>
            <a:chOff x="6078651" y="2149231"/>
            <a:chExt cx="8132274" cy="703220"/>
          </a:xfrm>
        </p:grpSpPr>
        <p:cxnSp>
          <p:nvCxnSpPr>
            <p:cNvPr id="8" name="Straight Connector 7">
              <a:extLst>
                <a:ext uri="{FF2B5EF4-FFF2-40B4-BE49-F238E27FC236}">
                  <a16:creationId xmlns:a16="http://schemas.microsoft.com/office/drawing/2014/main" id="{3B366A2D-DC00-4658-19CC-6A81A9EDFD2B}"/>
                </a:ext>
              </a:extLst>
            </p:cNvPr>
            <p:cNvCxnSpPr>
              <a:cxnSpLocks/>
            </p:cNvCxnSpPr>
            <p:nvPr/>
          </p:nvCxnSpPr>
          <p:spPr>
            <a:xfrm>
              <a:off x="8123452" y="2149231"/>
              <a:ext cx="3999581" cy="0"/>
            </a:xfrm>
            <a:prstGeom prst="line">
              <a:avLst/>
            </a:prstGeom>
            <a:ln w="57150">
              <a:solidFill>
                <a:schemeClr val="accent6">
                  <a:lumMod val="75000"/>
                </a:schemeClr>
              </a:solidFill>
            </a:ln>
          </p:spPr>
          <p:style>
            <a:lnRef idx="1">
              <a:schemeClr val="accent1"/>
            </a:lnRef>
            <a:fillRef idx="0">
              <a:schemeClr val="accent1"/>
            </a:fillRef>
            <a:effectRef idx="0">
              <a:schemeClr val="accent1"/>
            </a:effectRef>
            <a:fontRef idx="minor">
              <a:schemeClr val="tx1"/>
            </a:fontRef>
          </p:style>
        </p:cxnSp>
        <p:cxnSp>
          <p:nvCxnSpPr>
            <p:cNvPr id="9" name="Straight Connector 8">
              <a:extLst>
                <a:ext uri="{FF2B5EF4-FFF2-40B4-BE49-F238E27FC236}">
                  <a16:creationId xmlns:a16="http://schemas.microsoft.com/office/drawing/2014/main" id="{F2D3AABC-3D18-191B-9E7F-61C5E2646D32}"/>
                </a:ext>
              </a:extLst>
            </p:cNvPr>
            <p:cNvCxnSpPr>
              <a:cxnSpLocks/>
            </p:cNvCxnSpPr>
            <p:nvPr/>
          </p:nvCxnSpPr>
          <p:spPr>
            <a:xfrm flipV="1">
              <a:off x="10144788" y="2149231"/>
              <a:ext cx="0" cy="180000"/>
            </a:xfrm>
            <a:prstGeom prst="line">
              <a:avLst/>
            </a:prstGeom>
            <a:ln w="38100">
              <a:solidFill>
                <a:schemeClr val="accent6">
                  <a:lumMod val="75000"/>
                </a:schemeClr>
              </a:solidFill>
            </a:ln>
          </p:spPr>
          <p:style>
            <a:lnRef idx="1">
              <a:schemeClr val="accent1"/>
            </a:lnRef>
            <a:fillRef idx="0">
              <a:schemeClr val="accent1"/>
            </a:fillRef>
            <a:effectRef idx="0">
              <a:schemeClr val="accent1"/>
            </a:effectRef>
            <a:fontRef idx="minor">
              <a:schemeClr val="tx1"/>
            </a:fontRef>
          </p:style>
        </p:cxnSp>
        <p:sp>
          <p:nvSpPr>
            <p:cNvPr id="11" name="TextBox 10">
              <a:extLst>
                <a:ext uri="{FF2B5EF4-FFF2-40B4-BE49-F238E27FC236}">
                  <a16:creationId xmlns:a16="http://schemas.microsoft.com/office/drawing/2014/main" id="{918886A4-8AD0-5580-5EF7-80668B73DE08}"/>
                </a:ext>
              </a:extLst>
            </p:cNvPr>
            <p:cNvSpPr txBox="1"/>
            <p:nvPr/>
          </p:nvSpPr>
          <p:spPr>
            <a:xfrm>
              <a:off x="6078651" y="2329231"/>
              <a:ext cx="8132274" cy="523220"/>
            </a:xfrm>
            <a:prstGeom prst="rect">
              <a:avLst/>
            </a:prstGeom>
            <a:noFill/>
          </p:spPr>
          <p:txBody>
            <a:bodyPr wrap="square" rtlCol="0">
              <a:spAutoFit/>
            </a:bodyPr>
            <a:lstStyle/>
            <a:p>
              <a:pPr algn="ctr"/>
              <a:r>
                <a:rPr lang="en-GB" sz="2800" b="1" dirty="0">
                  <a:solidFill>
                    <a:srgbClr val="7030A0"/>
                  </a:solidFill>
                </a:rPr>
                <a:t>TRUE / FALSE</a:t>
              </a:r>
            </a:p>
          </p:txBody>
        </p:sp>
      </p:grpSp>
    </p:spTree>
    <p:extLst>
      <p:ext uri="{BB962C8B-B14F-4D97-AF65-F5344CB8AC3E}">
        <p14:creationId xmlns:p14="http://schemas.microsoft.com/office/powerpoint/2010/main" val="173627472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000"/>
                                        <p:tgtEl>
                                          <p:spTgt spid="3">
                                            <p:txEl>
                                              <p:pRg st="0" end="0"/>
                                            </p:txEl>
                                          </p:spTgt>
                                        </p:tgtEl>
                                      </p:cBhvr>
                                    </p:animEffect>
                                  </p:childTnLst>
                                </p:cTn>
                              </p:par>
                            </p:childTnLst>
                          </p:cTn>
                        </p:par>
                        <p:par>
                          <p:cTn id="8" fill="hold">
                            <p:stCondLst>
                              <p:cond delay="1000"/>
                            </p:stCondLst>
                            <p:childTnLst>
                              <p:par>
                                <p:cTn id="9" presetID="22" presetClass="entr" presetSubtype="8" fill="hold" grpId="0" nodeType="after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animEffect transition="in" filter="wipe(left)">
                                      <p:cBhvr>
                                        <p:cTn id="11" dur="2000"/>
                                        <p:tgtEl>
                                          <p:spTgt spid="3">
                                            <p:txEl>
                                              <p:pRg st="1" end="1"/>
                                            </p:txEl>
                                          </p:spTgt>
                                        </p:tgtEl>
                                      </p:cBhvr>
                                    </p:animEffect>
                                  </p:childTnLst>
                                </p:cTn>
                              </p:par>
                            </p:childTnLst>
                          </p:cTn>
                        </p:par>
                      </p:childTnLst>
                    </p:cTn>
                  </p:par>
                  <p:par>
                    <p:cTn id="12" fill="hold">
                      <p:stCondLst>
                        <p:cond delay="indefinite"/>
                      </p:stCondLst>
                      <p:childTnLst>
                        <p:par>
                          <p:cTn id="13" fill="hold">
                            <p:stCondLst>
                              <p:cond delay="0"/>
                            </p:stCondLst>
                            <p:childTnLst>
                              <p:par>
                                <p:cTn id="14" presetID="22" presetClass="entr" presetSubtype="8" fill="hold" grpId="0" nodeType="clickEffect">
                                  <p:stCondLst>
                                    <p:cond delay="0"/>
                                  </p:stCondLst>
                                  <p:childTnLst>
                                    <p:set>
                                      <p:cBhvr>
                                        <p:cTn id="15" dur="1" fill="hold">
                                          <p:stCondLst>
                                            <p:cond delay="0"/>
                                          </p:stCondLst>
                                        </p:cTn>
                                        <p:tgtEl>
                                          <p:spTgt spid="3">
                                            <p:txEl>
                                              <p:pRg st="2" end="2"/>
                                            </p:txEl>
                                          </p:spTgt>
                                        </p:tgtEl>
                                        <p:attrNameLst>
                                          <p:attrName>style.visibility</p:attrName>
                                        </p:attrNameLst>
                                      </p:cBhvr>
                                      <p:to>
                                        <p:strVal val="visible"/>
                                      </p:to>
                                    </p:set>
                                    <p:animEffect transition="in" filter="wipe(left)">
                                      <p:cBhvr>
                                        <p:cTn id="16" dur="2250"/>
                                        <p:tgtEl>
                                          <p:spTgt spid="3">
                                            <p:txEl>
                                              <p:pRg st="2" end="2"/>
                                            </p:txEl>
                                          </p:spTgt>
                                        </p:tgtEl>
                                      </p:cBhvr>
                                    </p:animEffect>
                                  </p:childTnLst>
                                </p:cTn>
                              </p:par>
                            </p:childTnLst>
                          </p:cTn>
                        </p:par>
                      </p:childTnLst>
                    </p:cTn>
                  </p:par>
                  <p:par>
                    <p:cTn id="17" fill="hold">
                      <p:stCondLst>
                        <p:cond delay="indefinite"/>
                      </p:stCondLst>
                      <p:childTnLst>
                        <p:par>
                          <p:cTn id="18" fill="hold">
                            <p:stCondLst>
                              <p:cond delay="0"/>
                            </p:stCondLst>
                            <p:childTnLst>
                              <p:par>
                                <p:cTn id="19" presetID="16" presetClass="entr" presetSubtype="37" fill="hold" nodeType="clickEffect">
                                  <p:stCondLst>
                                    <p:cond delay="0"/>
                                  </p:stCondLst>
                                  <p:childTnLst>
                                    <p:set>
                                      <p:cBhvr>
                                        <p:cTn id="20" dur="1" fill="hold">
                                          <p:stCondLst>
                                            <p:cond delay="0"/>
                                          </p:stCondLst>
                                        </p:cTn>
                                        <p:tgtEl>
                                          <p:spTgt spid="4"/>
                                        </p:tgtEl>
                                        <p:attrNameLst>
                                          <p:attrName>style.visibility</p:attrName>
                                        </p:attrNameLst>
                                      </p:cBhvr>
                                      <p:to>
                                        <p:strVal val="visible"/>
                                      </p:to>
                                    </p:set>
                                    <p:animEffect transition="in" filter="barn(outVertical)">
                                      <p:cBhvr>
                                        <p:cTn id="21" dur="1000"/>
                                        <p:tgtEl>
                                          <p:spTgt spid="4"/>
                                        </p:tgtEl>
                                      </p:cBhvr>
                                    </p:animEffect>
                                  </p:childTnLst>
                                </p:cTn>
                              </p:par>
                            </p:childTnLst>
                          </p:cTn>
                        </p:par>
                      </p:childTnLst>
                    </p:cTn>
                  </p:par>
                  <p:par>
                    <p:cTn id="22" fill="hold">
                      <p:stCondLst>
                        <p:cond delay="indefinite"/>
                      </p:stCondLst>
                      <p:childTnLst>
                        <p:par>
                          <p:cTn id="23" fill="hold">
                            <p:stCondLst>
                              <p:cond delay="0"/>
                            </p:stCondLst>
                            <p:childTnLst>
                              <p:par>
                                <p:cTn id="24" presetID="22" presetClass="entr" presetSubtype="8" fill="hold" grpId="0" nodeType="clickEffect">
                                  <p:stCondLst>
                                    <p:cond delay="0"/>
                                  </p:stCondLst>
                                  <p:childTnLst>
                                    <p:set>
                                      <p:cBhvr>
                                        <p:cTn id="25" dur="1" fill="hold">
                                          <p:stCondLst>
                                            <p:cond delay="0"/>
                                          </p:stCondLst>
                                        </p:cTn>
                                        <p:tgtEl>
                                          <p:spTgt spid="10">
                                            <p:txEl>
                                              <p:pRg st="0" end="0"/>
                                            </p:txEl>
                                          </p:spTgt>
                                        </p:tgtEl>
                                        <p:attrNameLst>
                                          <p:attrName>style.visibility</p:attrName>
                                        </p:attrNameLst>
                                      </p:cBhvr>
                                      <p:to>
                                        <p:strVal val="visible"/>
                                      </p:to>
                                    </p:set>
                                    <p:animEffect transition="in" filter="wipe(left)">
                                      <p:cBhvr>
                                        <p:cTn id="26" dur="2000"/>
                                        <p:tgtEl>
                                          <p:spTgt spid="10">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10" grpId="0" build="p"/>
    </p:bldLst>
  </p:timing>
</p:sld>
</file>

<file path=ppt/slides/slide50.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Filter Results: Boolean</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SELECT</a:t>
            </a:r>
            <a:r>
              <a:rPr lang="en-US" altLang="en-US" sz="4400" dirty="0">
                <a:solidFill>
                  <a:srgbClr val="000000"/>
                </a:solidFill>
                <a:latin typeface="Consolas" panose="020B0609020204030204" pitchFamily="49" charset="0"/>
              </a:rPr>
              <a:t> *</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FROM</a:t>
            </a:r>
            <a:r>
              <a:rPr lang="en-US" altLang="en-US" sz="4400" dirty="0">
                <a:solidFill>
                  <a:srgbClr val="000000"/>
                </a:solidFill>
                <a:latin typeface="Consolas" panose="020B0609020204030204" pitchFamily="49" charset="0"/>
              </a:rPr>
              <a:t> Datatypes</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3   </a:t>
            </a:r>
            <a:r>
              <a:rPr lang="en-US" altLang="en-US" sz="4400" dirty="0">
                <a:solidFill>
                  <a:srgbClr val="A71D5D"/>
                </a:solidFill>
                <a:latin typeface="Consolas" panose="020B0609020204030204" pitchFamily="49" charset="0"/>
              </a:rPr>
              <a:t>WHERE</a:t>
            </a:r>
            <a:r>
              <a:rPr lang="en-US" altLang="en-US" sz="4400" dirty="0">
                <a:solidFill>
                  <a:srgbClr val="000000"/>
                </a:solidFill>
                <a:latin typeface="Consolas" panose="020B0609020204030204" pitchFamily="49" charset="0"/>
              </a:rPr>
              <a:t> nice = </a:t>
            </a:r>
            <a:r>
              <a:rPr lang="en-US" altLang="en-US" sz="4400" dirty="0">
                <a:solidFill>
                  <a:srgbClr val="A71D5D"/>
                </a:solidFill>
                <a:latin typeface="Consolas" panose="020B0609020204030204" pitchFamily="49" charset="0"/>
              </a:rPr>
              <a:t>TRUE</a:t>
            </a:r>
            <a:r>
              <a:rPr lang="en-US" altLang="en-US" sz="4400" dirty="0">
                <a:solidFill>
                  <a:srgbClr val="000000"/>
                </a:solidFill>
                <a:latin typeface="Consolas" panose="020B0609020204030204" pitchFamily="49" charset="0"/>
              </a:rPr>
              <a:t>;</a:t>
            </a:r>
            <a:endParaRPr lang="en-US" altLang="en-US" sz="5400" dirty="0">
              <a:latin typeface="Arial" panose="020B0604020202020204" pitchFamily="34" charset="0"/>
            </a:endParaRPr>
          </a:p>
        </p:txBody>
      </p:sp>
      <p:sp>
        <p:nvSpPr>
          <p:cNvPr id="4" name="TextBox 3">
            <a:extLst>
              <a:ext uri="{FF2B5EF4-FFF2-40B4-BE49-F238E27FC236}">
                <a16:creationId xmlns:a16="http://schemas.microsoft.com/office/drawing/2014/main" id="{6338AAB7-A615-4C50-A03B-E1AB41A922B5}"/>
              </a:ext>
            </a:extLst>
          </p:cNvPr>
          <p:cNvSpPr txBox="1"/>
          <p:nvPr/>
        </p:nvSpPr>
        <p:spPr>
          <a:xfrm>
            <a:off x="1484064" y="5665569"/>
            <a:ext cx="9223872" cy="646331"/>
          </a:xfrm>
          <a:prstGeom prst="rect">
            <a:avLst/>
          </a:prstGeom>
          <a:noFill/>
        </p:spPr>
        <p:txBody>
          <a:bodyPr wrap="none" rtlCol="0">
            <a:spAutoFit/>
          </a:bodyPr>
          <a:lstStyle/>
          <a:p>
            <a:pPr algn="ctr"/>
            <a:r>
              <a:rPr lang="en-GB" sz="3600" dirty="0">
                <a:solidFill>
                  <a:srgbClr val="7030A0"/>
                </a:solidFill>
              </a:rPr>
              <a:t>If the condition is </a:t>
            </a:r>
            <a:r>
              <a:rPr lang="en-GB" sz="3600" dirty="0">
                <a:solidFill>
                  <a:srgbClr val="7030A0"/>
                </a:solidFill>
                <a:latin typeface="Consolas" panose="020B0609020204030204" pitchFamily="49" charset="0"/>
              </a:rPr>
              <a:t>     </a:t>
            </a:r>
            <a:r>
              <a:rPr lang="en-GB" sz="3600" dirty="0">
                <a:solidFill>
                  <a:srgbClr val="7030A0"/>
                </a:solidFill>
              </a:rPr>
              <a:t> the fields are displayed</a:t>
            </a:r>
            <a:endParaRPr lang="en-GB" sz="3600" dirty="0">
              <a:solidFill>
                <a:srgbClr val="7030A0"/>
              </a:solidFill>
              <a:latin typeface="Consolas" panose="020B0609020204030204" pitchFamily="49" charset="0"/>
            </a:endParaRPr>
          </a:p>
        </p:txBody>
      </p:sp>
    </p:spTree>
    <p:extLst>
      <p:ext uri="{BB962C8B-B14F-4D97-AF65-F5344CB8AC3E}">
        <p14:creationId xmlns:p14="http://schemas.microsoft.com/office/powerpoint/2010/main" val="3908499378"/>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Learning Intentions</a:t>
            </a:r>
          </a:p>
        </p:txBody>
      </p:sp>
      <p:sp>
        <p:nvSpPr>
          <p:cNvPr id="3" name="Content Placeholder 2"/>
          <p:cNvSpPr>
            <a:spLocks noGrp="1"/>
          </p:cNvSpPr>
          <p:nvPr>
            <p:ph idx="1"/>
          </p:nvPr>
        </p:nvSpPr>
        <p:spPr/>
        <p:txBody>
          <a:bodyPr>
            <a:normAutofit/>
          </a:bodyPr>
          <a:lstStyle/>
          <a:p>
            <a:r>
              <a:rPr lang="en-GB" sz="3200" dirty="0"/>
              <a:t>Describe and use SQL order by operations</a:t>
            </a:r>
          </a:p>
        </p:txBody>
      </p:sp>
    </p:spTree>
    <p:extLst>
      <p:ext uri="{BB962C8B-B14F-4D97-AF65-F5344CB8AC3E}">
        <p14:creationId xmlns:p14="http://schemas.microsoft.com/office/powerpoint/2010/main" val="3590783804"/>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Sort Results – Small to Big</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1 </a:t>
            </a:r>
            <a:r>
              <a:rPr lang="en-US" altLang="en-US" sz="4200" dirty="0">
                <a:solidFill>
                  <a:srgbClr val="A71D5D"/>
                </a:solidFill>
                <a:latin typeface="Consolas" panose="020B0609020204030204" pitchFamily="49" charset="0"/>
              </a:rPr>
              <a:t>SELECT</a:t>
            </a:r>
            <a:r>
              <a:rPr lang="en-US" altLang="en-US" sz="4200" dirty="0">
                <a:solidFill>
                  <a:srgbClr val="000000"/>
                </a:solidFill>
                <a:latin typeface="Consolas" panose="020B0609020204030204" pitchFamily="49" charset="0"/>
              </a:rPr>
              <a:t> </a:t>
            </a:r>
            <a:r>
              <a:rPr lang="en-US" altLang="en-US" sz="4200" dirty="0" err="1">
                <a:solidFill>
                  <a:srgbClr val="000000"/>
                </a:solidFill>
                <a:latin typeface="Consolas" panose="020B0609020204030204" pitchFamily="49" charset="0"/>
              </a:rPr>
              <a:t>firstName</a:t>
            </a:r>
            <a:r>
              <a:rPr lang="en-US" altLang="en-US" sz="4200" dirty="0">
                <a:solidFill>
                  <a:srgbClr val="000000"/>
                </a:solidFill>
                <a:latin typeface="Consolas" panose="020B0609020204030204" pitchFamily="49" charset="0"/>
              </a:rPr>
              <a:t>, </a:t>
            </a:r>
            <a:r>
              <a:rPr lang="en-US" altLang="en-US" sz="4200" dirty="0" err="1">
                <a:solidFill>
                  <a:srgbClr val="000000"/>
                </a:solidFill>
                <a:latin typeface="Consolas" panose="020B0609020204030204" pitchFamily="49" charset="0"/>
              </a:rPr>
              <a:t>lastName</a:t>
            </a:r>
            <a:r>
              <a:rPr lang="en-US" altLang="en-US" sz="4200" dirty="0">
                <a:solidFill>
                  <a:srgbClr val="000000"/>
                </a:solidFill>
                <a:latin typeface="Consolas" panose="020B0609020204030204" pitchFamily="49" charset="0"/>
              </a:rPr>
              <a:t>, age</a:t>
            </a:r>
          </a:p>
          <a:p>
            <a:pPr marL="0" lv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2   </a:t>
            </a:r>
            <a:r>
              <a:rPr lang="en-US" altLang="en-US" sz="4200" dirty="0">
                <a:solidFill>
                  <a:srgbClr val="A71D5D"/>
                </a:solidFill>
                <a:latin typeface="Consolas" panose="020B0609020204030204" pitchFamily="49" charset="0"/>
              </a:rPr>
              <a:t>FROM</a:t>
            </a:r>
            <a:r>
              <a:rPr lang="en-US" altLang="en-US" sz="4200" dirty="0">
                <a:solidFill>
                  <a:srgbClr val="000000"/>
                </a:solidFill>
                <a:latin typeface="Consolas" panose="020B0609020204030204" pitchFamily="49" charset="0"/>
              </a:rPr>
              <a:t> Pupil</a:t>
            </a:r>
          </a:p>
          <a:p>
            <a:pPr mar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3   </a:t>
            </a:r>
            <a:r>
              <a:rPr lang="en-US" altLang="en-US" sz="4200" dirty="0">
                <a:solidFill>
                  <a:srgbClr val="A71D5D"/>
                </a:solidFill>
                <a:latin typeface="Consolas" panose="020B0609020204030204" pitchFamily="49" charset="0"/>
              </a:rPr>
              <a:t>WHERE</a:t>
            </a:r>
            <a:r>
              <a:rPr lang="en-US" altLang="en-US" sz="4200" dirty="0">
                <a:solidFill>
                  <a:srgbClr val="000000"/>
                </a:solidFill>
                <a:latin typeface="Consolas" panose="020B0609020204030204" pitchFamily="49" charset="0"/>
              </a:rPr>
              <a:t> </a:t>
            </a:r>
            <a:r>
              <a:rPr lang="en-US" altLang="en-US" sz="4200" dirty="0" err="1">
                <a:solidFill>
                  <a:srgbClr val="000000"/>
                </a:solidFill>
                <a:latin typeface="Consolas" panose="020B0609020204030204" pitchFamily="49" charset="0"/>
              </a:rPr>
              <a:t>lastName</a:t>
            </a:r>
            <a:r>
              <a:rPr lang="en-US" altLang="en-US" sz="4200" dirty="0">
                <a:solidFill>
                  <a:srgbClr val="000000"/>
                </a:solidFill>
                <a:latin typeface="Consolas" panose="020B0609020204030204" pitchFamily="49" charset="0"/>
              </a:rPr>
              <a:t> = </a:t>
            </a:r>
            <a:r>
              <a:rPr lang="en-US" altLang="en-US" sz="4200" dirty="0">
                <a:solidFill>
                  <a:srgbClr val="183691"/>
                </a:solidFill>
                <a:latin typeface="Consolas" panose="020B0609020204030204" pitchFamily="49" charset="0"/>
              </a:rPr>
              <a:t>"MacNeil"</a:t>
            </a:r>
            <a:endParaRPr lang="en-US" altLang="en-US" sz="42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4   </a:t>
            </a:r>
            <a:r>
              <a:rPr lang="en-US" altLang="en-US" sz="4200" dirty="0">
                <a:solidFill>
                  <a:srgbClr val="A71D5D"/>
                </a:solidFill>
                <a:latin typeface="Consolas" panose="020B0609020204030204" pitchFamily="49" charset="0"/>
              </a:rPr>
              <a:t>ORDER BY</a:t>
            </a:r>
            <a:r>
              <a:rPr lang="en-US" altLang="en-US" sz="4200" dirty="0">
                <a:solidFill>
                  <a:srgbClr val="000000"/>
                </a:solidFill>
                <a:latin typeface="Consolas" panose="020B0609020204030204" pitchFamily="49" charset="0"/>
              </a:rPr>
              <a:t> age </a:t>
            </a:r>
            <a:r>
              <a:rPr lang="en-US" altLang="en-US" sz="4200" dirty="0">
                <a:solidFill>
                  <a:srgbClr val="A71D5D"/>
                </a:solidFill>
                <a:latin typeface="Consolas" panose="020B0609020204030204" pitchFamily="49" charset="0"/>
              </a:rPr>
              <a:t>ASC</a:t>
            </a:r>
            <a:r>
              <a:rPr lang="en-US" altLang="en-US" sz="4200" dirty="0">
                <a:solidFill>
                  <a:srgbClr val="000000"/>
                </a:solidFill>
                <a:latin typeface="Consolas" panose="020B0609020204030204" pitchFamily="49" charset="0"/>
              </a:rPr>
              <a:t>;</a:t>
            </a:r>
            <a:endParaRPr lang="en-US" altLang="en-US" sz="4200" dirty="0">
              <a:latin typeface="Arial" panose="020B0604020202020204" pitchFamily="34" charset="0"/>
            </a:endParaRPr>
          </a:p>
        </p:txBody>
      </p:sp>
      <p:sp>
        <p:nvSpPr>
          <p:cNvPr id="9" name="Callout: Bent Line with No Border 8">
            <a:extLst>
              <a:ext uri="{FF2B5EF4-FFF2-40B4-BE49-F238E27FC236}">
                <a16:creationId xmlns:a16="http://schemas.microsoft.com/office/drawing/2014/main" id="{412E8916-E1C6-455C-96C6-1411BB246ADC}"/>
              </a:ext>
            </a:extLst>
          </p:cNvPr>
          <p:cNvSpPr/>
          <p:nvPr/>
        </p:nvSpPr>
        <p:spPr>
          <a:xfrm>
            <a:off x="2843495" y="4487045"/>
            <a:ext cx="1088727" cy="862642"/>
          </a:xfrm>
          <a:prstGeom prst="callout2">
            <a:avLst>
              <a:gd name="adj1" fmla="val 48750"/>
              <a:gd name="adj2" fmla="val 104056"/>
              <a:gd name="adj3" fmla="val 49417"/>
              <a:gd name="adj4" fmla="val 149796"/>
              <a:gd name="adj5" fmla="val -13080"/>
              <a:gd name="adj6" fmla="val 177443"/>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Field</a:t>
            </a:r>
          </a:p>
        </p:txBody>
      </p:sp>
      <p:sp>
        <p:nvSpPr>
          <p:cNvPr id="12" name="Callout: Bent Line with No Border 11">
            <a:extLst>
              <a:ext uri="{FF2B5EF4-FFF2-40B4-BE49-F238E27FC236}">
                <a16:creationId xmlns:a16="http://schemas.microsoft.com/office/drawing/2014/main" id="{47DDF0B2-A520-4AA2-A4DF-C894D27E74F3}"/>
              </a:ext>
            </a:extLst>
          </p:cNvPr>
          <p:cNvSpPr/>
          <p:nvPr/>
        </p:nvSpPr>
        <p:spPr>
          <a:xfrm>
            <a:off x="7738539" y="4476159"/>
            <a:ext cx="2133600" cy="862642"/>
          </a:xfrm>
          <a:prstGeom prst="callout2">
            <a:avLst>
              <a:gd name="adj1" fmla="val 52750"/>
              <a:gd name="adj2" fmla="val -2245"/>
              <a:gd name="adj3" fmla="val 52979"/>
              <a:gd name="adj4" fmla="val -32776"/>
              <a:gd name="adj5" fmla="val -9811"/>
              <a:gd name="adj6" fmla="val -48046"/>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Order</a:t>
            </a:r>
          </a:p>
        </p:txBody>
      </p:sp>
      <p:sp>
        <p:nvSpPr>
          <p:cNvPr id="6" name="TextBox 5">
            <a:extLst>
              <a:ext uri="{FF2B5EF4-FFF2-40B4-BE49-F238E27FC236}">
                <a16:creationId xmlns:a16="http://schemas.microsoft.com/office/drawing/2014/main" id="{DF4BA8FF-524A-4C13-87BF-68801971FA28}"/>
              </a:ext>
            </a:extLst>
          </p:cNvPr>
          <p:cNvSpPr txBox="1"/>
          <p:nvPr/>
        </p:nvSpPr>
        <p:spPr>
          <a:xfrm>
            <a:off x="2699880" y="5221937"/>
            <a:ext cx="6792244" cy="1200329"/>
          </a:xfrm>
          <a:prstGeom prst="rect">
            <a:avLst/>
          </a:prstGeom>
          <a:noFill/>
        </p:spPr>
        <p:txBody>
          <a:bodyPr wrap="none" rtlCol="0">
            <a:spAutoFit/>
          </a:bodyPr>
          <a:lstStyle/>
          <a:p>
            <a:pPr algn="ctr"/>
            <a:r>
              <a:rPr lang="en-GB" sz="3600" dirty="0">
                <a:solidFill>
                  <a:srgbClr val="A71D5D"/>
                </a:solidFill>
                <a:latin typeface="Consolas" panose="020B0609020204030204" pitchFamily="49" charset="0"/>
              </a:rPr>
              <a:t>ASC</a:t>
            </a:r>
            <a:r>
              <a:rPr lang="en-GB" sz="3600" dirty="0"/>
              <a:t> = ascending</a:t>
            </a:r>
          </a:p>
          <a:p>
            <a:pPr algn="ctr"/>
            <a:r>
              <a:rPr lang="en-GB" sz="3600" dirty="0">
                <a:solidFill>
                  <a:srgbClr val="7030A0"/>
                </a:solidFill>
                <a:latin typeface="Consolas" panose="020B0609020204030204" pitchFamily="49" charset="0"/>
              </a:rPr>
              <a:t>(</a:t>
            </a:r>
            <a:r>
              <a:rPr lang="en-GB" sz="3600" dirty="0" err="1">
                <a:solidFill>
                  <a:srgbClr val="7030A0"/>
                </a:solidFill>
                <a:latin typeface="Consolas" panose="020B0609020204030204" pitchFamily="49" charset="0"/>
              </a:rPr>
              <a:t>a,b,c</a:t>
            </a:r>
            <a:r>
              <a:rPr lang="en-GB" sz="3600" dirty="0">
                <a:solidFill>
                  <a:srgbClr val="7030A0"/>
                </a:solidFill>
                <a:latin typeface="Consolas" panose="020B0609020204030204" pitchFamily="49" charset="0"/>
              </a:rPr>
              <a:t>, …			0,1,2, …)</a:t>
            </a:r>
          </a:p>
        </p:txBody>
      </p:sp>
    </p:spTree>
    <p:extLst>
      <p:ext uri="{BB962C8B-B14F-4D97-AF65-F5344CB8AC3E}">
        <p14:creationId xmlns:p14="http://schemas.microsoft.com/office/powerpoint/2010/main" val="254501802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2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10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15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3">
                                            <p:txEl>
                                              <p:pRg st="3" end="3"/>
                                            </p:txEl>
                                          </p:spTgt>
                                        </p:tgtEl>
                                        <p:attrNameLst>
                                          <p:attrName>style.visibility</p:attrName>
                                        </p:attrNameLst>
                                      </p:cBhvr>
                                      <p:to>
                                        <p:strVal val="visible"/>
                                      </p:to>
                                    </p:set>
                                    <p:animEffect transition="in" filter="wipe(left)">
                                      <p:cBhvr>
                                        <p:cTn id="22" dur="1500"/>
                                        <p:tgtEl>
                                          <p:spTgt spid="3">
                                            <p:txEl>
                                              <p:pRg st="3" end="3"/>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9"/>
                                        </p:tgtEl>
                                        <p:attrNameLst>
                                          <p:attrName>style.visibility</p:attrName>
                                        </p:attrNameLst>
                                      </p:cBhvr>
                                      <p:to>
                                        <p:strVal val="visible"/>
                                      </p:to>
                                    </p:set>
                                    <p:animEffect transition="in" filter="fade">
                                      <p:cBhvr>
                                        <p:cTn id="27" dur="1000"/>
                                        <p:tgtEl>
                                          <p:spTgt spid="9"/>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grpId="0" nodeType="clickEffect">
                                  <p:stCondLst>
                                    <p:cond delay="0"/>
                                  </p:stCondLst>
                                  <p:childTnLst>
                                    <p:set>
                                      <p:cBhvr>
                                        <p:cTn id="31" dur="1" fill="hold">
                                          <p:stCondLst>
                                            <p:cond delay="0"/>
                                          </p:stCondLst>
                                        </p:cTn>
                                        <p:tgtEl>
                                          <p:spTgt spid="12"/>
                                        </p:tgtEl>
                                        <p:attrNameLst>
                                          <p:attrName>style.visibility</p:attrName>
                                        </p:attrNameLst>
                                      </p:cBhvr>
                                      <p:to>
                                        <p:strVal val="visible"/>
                                      </p:to>
                                    </p:set>
                                    <p:animEffect transition="in" filter="fade">
                                      <p:cBhvr>
                                        <p:cTn id="32" dur="1000"/>
                                        <p:tgtEl>
                                          <p:spTgt spid="12"/>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6">
                                            <p:txEl>
                                              <p:pRg st="0" end="0"/>
                                            </p:txEl>
                                          </p:spTgt>
                                        </p:tgtEl>
                                        <p:attrNameLst>
                                          <p:attrName>style.visibility</p:attrName>
                                        </p:attrNameLst>
                                      </p:cBhvr>
                                      <p:to>
                                        <p:strVal val="visible"/>
                                      </p:to>
                                    </p:set>
                                    <p:animEffect transition="in" filter="wipe(left)">
                                      <p:cBhvr>
                                        <p:cTn id="37" dur="2000"/>
                                        <p:tgtEl>
                                          <p:spTgt spid="6">
                                            <p:txEl>
                                              <p:pRg st="0" end="0"/>
                                            </p:txEl>
                                          </p:spTgt>
                                        </p:tgtEl>
                                      </p:cBhvr>
                                    </p:animEffect>
                                  </p:childTnLst>
                                </p:cTn>
                              </p:par>
                            </p:childTnLst>
                          </p:cTn>
                        </p:par>
                      </p:childTnLst>
                    </p:cTn>
                  </p:par>
                  <p:par>
                    <p:cTn id="38" fill="hold">
                      <p:stCondLst>
                        <p:cond delay="indefinite"/>
                      </p:stCondLst>
                      <p:childTnLst>
                        <p:par>
                          <p:cTn id="39" fill="hold">
                            <p:stCondLst>
                              <p:cond delay="0"/>
                            </p:stCondLst>
                            <p:childTnLst>
                              <p:par>
                                <p:cTn id="40" presetID="22" presetClass="entr" presetSubtype="8" fill="hold" grpId="0" nodeType="clickEffect">
                                  <p:stCondLst>
                                    <p:cond delay="0"/>
                                  </p:stCondLst>
                                  <p:childTnLst>
                                    <p:set>
                                      <p:cBhvr>
                                        <p:cTn id="41" dur="1" fill="hold">
                                          <p:stCondLst>
                                            <p:cond delay="0"/>
                                          </p:stCondLst>
                                        </p:cTn>
                                        <p:tgtEl>
                                          <p:spTgt spid="6">
                                            <p:txEl>
                                              <p:pRg st="1" end="1"/>
                                            </p:txEl>
                                          </p:spTgt>
                                        </p:tgtEl>
                                        <p:attrNameLst>
                                          <p:attrName>style.visibility</p:attrName>
                                        </p:attrNameLst>
                                      </p:cBhvr>
                                      <p:to>
                                        <p:strVal val="visible"/>
                                      </p:to>
                                    </p:set>
                                    <p:animEffect transition="in" filter="wipe(left)">
                                      <p:cBhvr>
                                        <p:cTn id="42" dur="2000"/>
                                        <p:tgtEl>
                                          <p:spTgt spid="6">
                                            <p:txEl>
                                              <p:pRg st="1" end="1"/>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9" grpId="0" animBg="1"/>
      <p:bldP spid="12" grpId="0" animBg="1"/>
      <p:bldP spid="6" grpId="0" build="p"/>
    </p:bldLst>
  </p:timing>
</p:sld>
</file>

<file path=ppt/slides/slide5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Sort Results – Small to Big</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1 </a:t>
            </a:r>
            <a:r>
              <a:rPr lang="en-US" altLang="en-US" sz="4200" dirty="0">
                <a:solidFill>
                  <a:srgbClr val="A71D5D"/>
                </a:solidFill>
                <a:latin typeface="Consolas" panose="020B0609020204030204" pitchFamily="49" charset="0"/>
              </a:rPr>
              <a:t>SELECT</a:t>
            </a:r>
            <a:r>
              <a:rPr lang="en-US" altLang="en-US" sz="4200" dirty="0">
                <a:solidFill>
                  <a:srgbClr val="000000"/>
                </a:solidFill>
                <a:latin typeface="Consolas" panose="020B0609020204030204" pitchFamily="49" charset="0"/>
              </a:rPr>
              <a:t> </a:t>
            </a:r>
            <a:r>
              <a:rPr lang="en-US" altLang="en-US" sz="4200" dirty="0" err="1">
                <a:solidFill>
                  <a:srgbClr val="000000"/>
                </a:solidFill>
                <a:latin typeface="Consolas" panose="020B0609020204030204" pitchFamily="49" charset="0"/>
              </a:rPr>
              <a:t>firstName</a:t>
            </a:r>
            <a:r>
              <a:rPr lang="en-US" altLang="en-US" sz="4200" dirty="0">
                <a:solidFill>
                  <a:srgbClr val="000000"/>
                </a:solidFill>
                <a:latin typeface="Consolas" panose="020B0609020204030204" pitchFamily="49" charset="0"/>
              </a:rPr>
              <a:t>, </a:t>
            </a:r>
            <a:r>
              <a:rPr lang="en-US" altLang="en-US" sz="4200" dirty="0" err="1">
                <a:solidFill>
                  <a:srgbClr val="000000"/>
                </a:solidFill>
                <a:latin typeface="Consolas" panose="020B0609020204030204" pitchFamily="49" charset="0"/>
              </a:rPr>
              <a:t>lastName</a:t>
            </a:r>
            <a:r>
              <a:rPr lang="en-US" altLang="en-US" sz="4200" dirty="0">
                <a:solidFill>
                  <a:srgbClr val="000000"/>
                </a:solidFill>
                <a:latin typeface="Consolas" panose="020B0609020204030204" pitchFamily="49" charset="0"/>
              </a:rPr>
              <a:t>, age</a:t>
            </a:r>
          </a:p>
          <a:p>
            <a:pPr marL="0" lv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2   </a:t>
            </a:r>
            <a:r>
              <a:rPr lang="en-US" altLang="en-US" sz="4200" dirty="0">
                <a:solidFill>
                  <a:srgbClr val="A71D5D"/>
                </a:solidFill>
                <a:latin typeface="Consolas" panose="020B0609020204030204" pitchFamily="49" charset="0"/>
              </a:rPr>
              <a:t>FROM</a:t>
            </a:r>
            <a:r>
              <a:rPr lang="en-US" altLang="en-US" sz="4200" dirty="0">
                <a:solidFill>
                  <a:srgbClr val="000000"/>
                </a:solidFill>
                <a:latin typeface="Consolas" panose="020B0609020204030204" pitchFamily="49" charset="0"/>
              </a:rPr>
              <a:t> Pupil</a:t>
            </a:r>
          </a:p>
          <a:p>
            <a:pPr mar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3   </a:t>
            </a:r>
            <a:r>
              <a:rPr lang="en-US" altLang="en-US" sz="4200" dirty="0">
                <a:solidFill>
                  <a:srgbClr val="A71D5D"/>
                </a:solidFill>
                <a:latin typeface="Consolas" panose="020B0609020204030204" pitchFamily="49" charset="0"/>
              </a:rPr>
              <a:t>WHERE</a:t>
            </a:r>
            <a:r>
              <a:rPr lang="en-US" altLang="en-US" sz="4200" dirty="0">
                <a:solidFill>
                  <a:srgbClr val="000000"/>
                </a:solidFill>
                <a:latin typeface="Consolas" panose="020B0609020204030204" pitchFamily="49" charset="0"/>
              </a:rPr>
              <a:t> </a:t>
            </a:r>
            <a:r>
              <a:rPr lang="en-US" altLang="en-US" sz="4200" dirty="0" err="1">
                <a:solidFill>
                  <a:srgbClr val="000000"/>
                </a:solidFill>
                <a:latin typeface="Consolas" panose="020B0609020204030204" pitchFamily="49" charset="0"/>
              </a:rPr>
              <a:t>lastName</a:t>
            </a:r>
            <a:r>
              <a:rPr lang="en-US" altLang="en-US" sz="4200" dirty="0">
                <a:solidFill>
                  <a:srgbClr val="000000"/>
                </a:solidFill>
                <a:latin typeface="Consolas" panose="020B0609020204030204" pitchFamily="49" charset="0"/>
              </a:rPr>
              <a:t> = </a:t>
            </a:r>
            <a:r>
              <a:rPr lang="en-US" altLang="en-US" sz="4200" dirty="0">
                <a:solidFill>
                  <a:srgbClr val="183691"/>
                </a:solidFill>
                <a:latin typeface="Consolas" panose="020B0609020204030204" pitchFamily="49" charset="0"/>
              </a:rPr>
              <a:t>"MacNeil"</a:t>
            </a:r>
            <a:endParaRPr lang="en-US" altLang="en-US" sz="42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4   </a:t>
            </a:r>
            <a:r>
              <a:rPr lang="en-US" altLang="en-US" sz="4200" dirty="0">
                <a:solidFill>
                  <a:srgbClr val="A71D5D"/>
                </a:solidFill>
                <a:latin typeface="Consolas" panose="020B0609020204030204" pitchFamily="49" charset="0"/>
              </a:rPr>
              <a:t>ORDER BY</a:t>
            </a:r>
            <a:r>
              <a:rPr lang="en-US" altLang="en-US" sz="4200" dirty="0">
                <a:solidFill>
                  <a:srgbClr val="000000"/>
                </a:solidFill>
                <a:latin typeface="Consolas" panose="020B0609020204030204" pitchFamily="49" charset="0"/>
              </a:rPr>
              <a:t> age </a:t>
            </a:r>
            <a:r>
              <a:rPr lang="en-US" altLang="en-US" sz="4200" dirty="0">
                <a:solidFill>
                  <a:srgbClr val="A71D5D"/>
                </a:solidFill>
                <a:latin typeface="Consolas" panose="020B0609020204030204" pitchFamily="49" charset="0"/>
              </a:rPr>
              <a:t>ASC</a:t>
            </a:r>
            <a:r>
              <a:rPr lang="en-US" altLang="en-US" sz="4200" dirty="0">
                <a:solidFill>
                  <a:srgbClr val="000000"/>
                </a:solidFill>
                <a:latin typeface="Consolas" panose="020B0609020204030204" pitchFamily="49" charset="0"/>
              </a:rPr>
              <a:t>;</a:t>
            </a:r>
            <a:endParaRPr lang="en-US" altLang="en-US" sz="5400" dirty="0">
              <a:latin typeface="Arial" panose="020B0604020202020204" pitchFamily="34" charset="0"/>
            </a:endParaRPr>
          </a:p>
        </p:txBody>
      </p:sp>
      <p:sp>
        <p:nvSpPr>
          <p:cNvPr id="6" name="TextBox 5">
            <a:extLst>
              <a:ext uri="{FF2B5EF4-FFF2-40B4-BE49-F238E27FC236}">
                <a16:creationId xmlns:a16="http://schemas.microsoft.com/office/drawing/2014/main" id="{DF4BA8FF-524A-4C13-87BF-68801971FA28}"/>
              </a:ext>
            </a:extLst>
          </p:cNvPr>
          <p:cNvSpPr txBox="1"/>
          <p:nvPr/>
        </p:nvSpPr>
        <p:spPr>
          <a:xfrm>
            <a:off x="4483218" y="5221937"/>
            <a:ext cx="1277914" cy="646331"/>
          </a:xfrm>
          <a:prstGeom prst="rect">
            <a:avLst/>
          </a:prstGeom>
          <a:noFill/>
        </p:spPr>
        <p:txBody>
          <a:bodyPr wrap="none" rtlCol="0">
            <a:spAutoFit/>
          </a:bodyPr>
          <a:lstStyle/>
          <a:p>
            <a:r>
              <a:rPr lang="en-GB" sz="3600" dirty="0">
                <a:solidFill>
                  <a:srgbClr val="A71D5D"/>
                </a:solidFill>
                <a:latin typeface="Consolas" panose="020B0609020204030204" pitchFamily="49" charset="0"/>
              </a:rPr>
              <a:t>ASC</a:t>
            </a:r>
            <a:r>
              <a:rPr lang="en-GB" sz="3600" dirty="0"/>
              <a:t> =</a:t>
            </a:r>
          </a:p>
        </p:txBody>
      </p:sp>
    </p:spTree>
    <p:extLst>
      <p:ext uri="{BB962C8B-B14F-4D97-AF65-F5344CB8AC3E}">
        <p14:creationId xmlns:p14="http://schemas.microsoft.com/office/powerpoint/2010/main" val="630824385"/>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Sort Results – Big to Small</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indent="0">
              <a:buNone/>
            </a:pPr>
            <a:r>
              <a:rPr lang="en-US" altLang="en-US" sz="4200" dirty="0">
                <a:solidFill>
                  <a:srgbClr val="B2B2B2"/>
                </a:solidFill>
                <a:latin typeface="Consolas" panose="020B0609020204030204" pitchFamily="49" charset="0"/>
              </a:rPr>
              <a:t>1 </a:t>
            </a:r>
            <a:r>
              <a:rPr lang="en-US" altLang="en-US" sz="4200" dirty="0">
                <a:solidFill>
                  <a:srgbClr val="A71D5D"/>
                </a:solidFill>
                <a:latin typeface="Consolas" panose="020B0609020204030204" pitchFamily="49" charset="0"/>
              </a:rPr>
              <a:t>SELECT</a:t>
            </a:r>
            <a:r>
              <a:rPr lang="en-US" altLang="en-US" sz="4200" dirty="0">
                <a:solidFill>
                  <a:srgbClr val="000000"/>
                </a:solidFill>
                <a:latin typeface="Consolas" panose="020B0609020204030204" pitchFamily="49" charset="0"/>
              </a:rPr>
              <a:t> </a:t>
            </a:r>
            <a:r>
              <a:rPr lang="en-US" altLang="en-US" sz="4200" dirty="0" err="1">
                <a:solidFill>
                  <a:srgbClr val="000000"/>
                </a:solidFill>
                <a:latin typeface="Consolas" panose="020B0609020204030204" pitchFamily="49" charset="0"/>
              </a:rPr>
              <a:t>firstName</a:t>
            </a:r>
            <a:r>
              <a:rPr lang="en-US" altLang="en-US" sz="4200" dirty="0">
                <a:solidFill>
                  <a:srgbClr val="000000"/>
                </a:solidFill>
                <a:latin typeface="Consolas" panose="020B0609020204030204" pitchFamily="49" charset="0"/>
              </a:rPr>
              <a:t>, </a:t>
            </a:r>
            <a:r>
              <a:rPr lang="en-US" altLang="en-US" sz="4200" dirty="0" err="1">
                <a:solidFill>
                  <a:srgbClr val="000000"/>
                </a:solidFill>
                <a:latin typeface="Consolas" panose="020B0609020204030204" pitchFamily="49" charset="0"/>
              </a:rPr>
              <a:t>lastName</a:t>
            </a:r>
            <a:r>
              <a:rPr lang="en-US" altLang="en-US" sz="4200" dirty="0">
                <a:solidFill>
                  <a:srgbClr val="000000"/>
                </a:solidFill>
                <a:latin typeface="Consolas" panose="020B0609020204030204" pitchFamily="49" charset="0"/>
              </a:rPr>
              <a:t>, age</a:t>
            </a:r>
          </a:p>
          <a:p>
            <a:pPr marL="0" lv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2   </a:t>
            </a:r>
            <a:r>
              <a:rPr lang="en-US" altLang="en-US" sz="4200" dirty="0">
                <a:solidFill>
                  <a:srgbClr val="A71D5D"/>
                </a:solidFill>
                <a:latin typeface="Consolas" panose="020B0609020204030204" pitchFamily="49" charset="0"/>
              </a:rPr>
              <a:t>FROM</a:t>
            </a:r>
            <a:r>
              <a:rPr lang="en-US" altLang="en-US" sz="4200" dirty="0">
                <a:solidFill>
                  <a:srgbClr val="000000"/>
                </a:solidFill>
                <a:latin typeface="Consolas" panose="020B0609020204030204" pitchFamily="49" charset="0"/>
              </a:rPr>
              <a:t> Pupil</a:t>
            </a:r>
          </a:p>
          <a:p>
            <a:pPr marL="0" lv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3   </a:t>
            </a:r>
            <a:r>
              <a:rPr lang="en-US" altLang="en-US" sz="4200" dirty="0">
                <a:solidFill>
                  <a:srgbClr val="A71D5D"/>
                </a:solidFill>
                <a:latin typeface="Consolas" panose="020B0609020204030204" pitchFamily="49" charset="0"/>
              </a:rPr>
              <a:t>WHERE</a:t>
            </a:r>
            <a:r>
              <a:rPr lang="en-US" altLang="en-US" sz="4200" dirty="0">
                <a:solidFill>
                  <a:srgbClr val="000000"/>
                </a:solidFill>
                <a:latin typeface="Consolas" panose="020B0609020204030204" pitchFamily="49" charset="0"/>
              </a:rPr>
              <a:t> age = </a:t>
            </a:r>
            <a:r>
              <a:rPr lang="en-US" altLang="en-US" sz="4200" dirty="0">
                <a:solidFill>
                  <a:srgbClr val="0086B3"/>
                </a:solidFill>
                <a:latin typeface="Consolas" panose="020B0609020204030204" pitchFamily="49" charset="0"/>
              </a:rPr>
              <a:t>12</a:t>
            </a:r>
            <a:endParaRPr lang="en-US" altLang="en-US" sz="4200" dirty="0">
              <a:solidFill>
                <a:srgbClr val="000000"/>
              </a:solidFill>
              <a:latin typeface="Consolas" panose="020B0609020204030204" pitchFamily="49" charset="0"/>
            </a:endParaRPr>
          </a:p>
          <a:p>
            <a:pPr marL="0" indent="0">
              <a:buNone/>
            </a:pPr>
            <a:r>
              <a:rPr lang="en-US" altLang="en-US" sz="4200" dirty="0">
                <a:solidFill>
                  <a:srgbClr val="B2B2B2"/>
                </a:solidFill>
                <a:latin typeface="Consolas" panose="020B0609020204030204" pitchFamily="49" charset="0"/>
              </a:rPr>
              <a:t>4   </a:t>
            </a:r>
            <a:r>
              <a:rPr lang="en-US" altLang="en-US" sz="4200" dirty="0">
                <a:solidFill>
                  <a:srgbClr val="A71D5D"/>
                </a:solidFill>
                <a:latin typeface="Consolas" panose="020B0609020204030204" pitchFamily="49" charset="0"/>
              </a:rPr>
              <a:t>ORDER BY</a:t>
            </a:r>
            <a:r>
              <a:rPr lang="en-US" altLang="en-US" sz="4200" dirty="0">
                <a:solidFill>
                  <a:srgbClr val="000000"/>
                </a:solidFill>
                <a:latin typeface="Consolas" panose="020B0609020204030204" pitchFamily="49" charset="0"/>
              </a:rPr>
              <a:t> </a:t>
            </a:r>
            <a:r>
              <a:rPr lang="en-US" altLang="en-US" sz="4200" dirty="0" err="1">
                <a:solidFill>
                  <a:srgbClr val="000000"/>
                </a:solidFill>
                <a:latin typeface="Consolas" panose="020B0609020204030204" pitchFamily="49" charset="0"/>
              </a:rPr>
              <a:t>firstName</a:t>
            </a:r>
            <a:r>
              <a:rPr lang="en-US" altLang="en-US" sz="4200" dirty="0">
                <a:solidFill>
                  <a:srgbClr val="000000"/>
                </a:solidFill>
                <a:latin typeface="Consolas" panose="020B0609020204030204" pitchFamily="49" charset="0"/>
              </a:rPr>
              <a:t> </a:t>
            </a:r>
            <a:r>
              <a:rPr lang="en-US" altLang="en-US" sz="4200" dirty="0">
                <a:solidFill>
                  <a:srgbClr val="A71D5D"/>
                </a:solidFill>
                <a:latin typeface="Consolas" panose="020B0609020204030204" pitchFamily="49" charset="0"/>
              </a:rPr>
              <a:t>DESC</a:t>
            </a:r>
            <a:r>
              <a:rPr lang="en-US" altLang="en-US" sz="4200" dirty="0">
                <a:solidFill>
                  <a:srgbClr val="000000"/>
                </a:solidFill>
                <a:latin typeface="Consolas" panose="020B0609020204030204" pitchFamily="49" charset="0"/>
              </a:rPr>
              <a:t>;</a:t>
            </a:r>
            <a:endParaRPr lang="en-GB" sz="4200" dirty="0"/>
          </a:p>
        </p:txBody>
      </p:sp>
      <p:sp>
        <p:nvSpPr>
          <p:cNvPr id="6" name="TextBox 5">
            <a:extLst>
              <a:ext uri="{FF2B5EF4-FFF2-40B4-BE49-F238E27FC236}">
                <a16:creationId xmlns:a16="http://schemas.microsoft.com/office/drawing/2014/main" id="{DF4BA8FF-524A-4C13-87BF-68801971FA28}"/>
              </a:ext>
            </a:extLst>
          </p:cNvPr>
          <p:cNvSpPr txBox="1"/>
          <p:nvPr/>
        </p:nvSpPr>
        <p:spPr>
          <a:xfrm>
            <a:off x="2699880" y="5221937"/>
            <a:ext cx="6792244" cy="1200329"/>
          </a:xfrm>
          <a:prstGeom prst="rect">
            <a:avLst/>
          </a:prstGeom>
          <a:noFill/>
        </p:spPr>
        <p:txBody>
          <a:bodyPr wrap="none" rtlCol="0">
            <a:spAutoFit/>
          </a:bodyPr>
          <a:lstStyle/>
          <a:p>
            <a:pPr algn="ctr"/>
            <a:r>
              <a:rPr lang="en-GB" sz="3600" dirty="0">
                <a:solidFill>
                  <a:srgbClr val="A71D5D"/>
                </a:solidFill>
                <a:latin typeface="Consolas" panose="020B0609020204030204" pitchFamily="49" charset="0"/>
              </a:rPr>
              <a:t>DESC</a:t>
            </a:r>
            <a:r>
              <a:rPr lang="en-GB" sz="3600" dirty="0"/>
              <a:t> = descending</a:t>
            </a:r>
          </a:p>
          <a:p>
            <a:pPr algn="ctr"/>
            <a:r>
              <a:rPr lang="en-GB" sz="3600" dirty="0">
                <a:solidFill>
                  <a:srgbClr val="7030A0"/>
                </a:solidFill>
                <a:latin typeface="Consolas" panose="020B0609020204030204" pitchFamily="49" charset="0"/>
              </a:rPr>
              <a:t>(</a:t>
            </a:r>
            <a:r>
              <a:rPr lang="en-GB" sz="3600" dirty="0" err="1">
                <a:solidFill>
                  <a:srgbClr val="7030A0"/>
                </a:solidFill>
                <a:latin typeface="Consolas" panose="020B0609020204030204" pitchFamily="49" charset="0"/>
              </a:rPr>
              <a:t>z,y,x</a:t>
            </a:r>
            <a:r>
              <a:rPr lang="en-GB" sz="3600" dirty="0">
                <a:solidFill>
                  <a:srgbClr val="7030A0"/>
                </a:solidFill>
                <a:latin typeface="Consolas" panose="020B0609020204030204" pitchFamily="49" charset="0"/>
              </a:rPr>
              <a:t>, …			9,8,7, …)</a:t>
            </a:r>
          </a:p>
        </p:txBody>
      </p:sp>
    </p:spTree>
    <p:extLst>
      <p:ext uri="{BB962C8B-B14F-4D97-AF65-F5344CB8AC3E}">
        <p14:creationId xmlns:p14="http://schemas.microsoft.com/office/powerpoint/2010/main" val="275243958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2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10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10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3">
                                            <p:txEl>
                                              <p:pRg st="3" end="3"/>
                                            </p:txEl>
                                          </p:spTgt>
                                        </p:tgtEl>
                                        <p:attrNameLst>
                                          <p:attrName>style.visibility</p:attrName>
                                        </p:attrNameLst>
                                      </p:cBhvr>
                                      <p:to>
                                        <p:strVal val="visible"/>
                                      </p:to>
                                    </p:set>
                                    <p:animEffect transition="in" filter="wipe(left)">
                                      <p:cBhvr>
                                        <p:cTn id="22" dur="1500"/>
                                        <p:tgtEl>
                                          <p:spTgt spid="3">
                                            <p:txEl>
                                              <p:pRg st="3" end="3"/>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6">
                                            <p:txEl>
                                              <p:pRg st="0" end="0"/>
                                            </p:txEl>
                                          </p:spTgt>
                                        </p:tgtEl>
                                        <p:attrNameLst>
                                          <p:attrName>style.visibility</p:attrName>
                                        </p:attrNameLst>
                                      </p:cBhvr>
                                      <p:to>
                                        <p:strVal val="visible"/>
                                      </p:to>
                                    </p:set>
                                    <p:animEffect transition="in" filter="wipe(left)">
                                      <p:cBhvr>
                                        <p:cTn id="27" dur="2000"/>
                                        <p:tgtEl>
                                          <p:spTgt spid="6">
                                            <p:txEl>
                                              <p:pRg st="0" end="0"/>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6">
                                            <p:txEl>
                                              <p:pRg st="1" end="1"/>
                                            </p:txEl>
                                          </p:spTgt>
                                        </p:tgtEl>
                                        <p:attrNameLst>
                                          <p:attrName>style.visibility</p:attrName>
                                        </p:attrNameLst>
                                      </p:cBhvr>
                                      <p:to>
                                        <p:strVal val="visible"/>
                                      </p:to>
                                    </p:set>
                                    <p:animEffect transition="in" filter="wipe(left)">
                                      <p:cBhvr>
                                        <p:cTn id="32" dur="2000"/>
                                        <p:tgtEl>
                                          <p:spTgt spid="6">
                                            <p:txEl>
                                              <p:pRg st="1" end="1"/>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6" grpId="0" build="p"/>
    </p:bldLst>
  </p:timing>
</p:sld>
</file>

<file path=ppt/slides/slide55.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Sort Results – Big to Small</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indent="0">
              <a:buNone/>
            </a:pPr>
            <a:r>
              <a:rPr lang="en-US" altLang="en-US" sz="4200" dirty="0">
                <a:solidFill>
                  <a:srgbClr val="B2B2B2"/>
                </a:solidFill>
                <a:latin typeface="Consolas" panose="020B0609020204030204" pitchFamily="49" charset="0"/>
              </a:rPr>
              <a:t>1 </a:t>
            </a:r>
            <a:r>
              <a:rPr lang="en-US" altLang="en-US" sz="4200" dirty="0">
                <a:solidFill>
                  <a:srgbClr val="A71D5D"/>
                </a:solidFill>
                <a:latin typeface="Consolas" panose="020B0609020204030204" pitchFamily="49" charset="0"/>
              </a:rPr>
              <a:t>SELECT</a:t>
            </a:r>
            <a:r>
              <a:rPr lang="en-US" altLang="en-US" sz="4200" dirty="0">
                <a:solidFill>
                  <a:srgbClr val="000000"/>
                </a:solidFill>
                <a:latin typeface="Consolas" panose="020B0609020204030204" pitchFamily="49" charset="0"/>
              </a:rPr>
              <a:t> </a:t>
            </a:r>
            <a:r>
              <a:rPr lang="en-US" altLang="en-US" sz="4200" dirty="0" err="1">
                <a:solidFill>
                  <a:srgbClr val="000000"/>
                </a:solidFill>
                <a:latin typeface="Consolas" panose="020B0609020204030204" pitchFamily="49" charset="0"/>
              </a:rPr>
              <a:t>firstName</a:t>
            </a:r>
            <a:r>
              <a:rPr lang="en-US" altLang="en-US" sz="4200" dirty="0">
                <a:solidFill>
                  <a:srgbClr val="000000"/>
                </a:solidFill>
                <a:latin typeface="Consolas" panose="020B0609020204030204" pitchFamily="49" charset="0"/>
              </a:rPr>
              <a:t>, </a:t>
            </a:r>
            <a:r>
              <a:rPr lang="en-US" altLang="en-US" sz="4200" dirty="0" err="1">
                <a:solidFill>
                  <a:srgbClr val="000000"/>
                </a:solidFill>
                <a:latin typeface="Consolas" panose="020B0609020204030204" pitchFamily="49" charset="0"/>
              </a:rPr>
              <a:t>lastName</a:t>
            </a:r>
            <a:r>
              <a:rPr lang="en-US" altLang="en-US" sz="4200" dirty="0">
                <a:solidFill>
                  <a:srgbClr val="000000"/>
                </a:solidFill>
                <a:latin typeface="Consolas" panose="020B0609020204030204" pitchFamily="49" charset="0"/>
              </a:rPr>
              <a:t>, age</a:t>
            </a:r>
          </a:p>
          <a:p>
            <a:pPr marL="0" lv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2   </a:t>
            </a:r>
            <a:r>
              <a:rPr lang="en-US" altLang="en-US" sz="4200" dirty="0">
                <a:solidFill>
                  <a:srgbClr val="A71D5D"/>
                </a:solidFill>
                <a:latin typeface="Consolas" panose="020B0609020204030204" pitchFamily="49" charset="0"/>
              </a:rPr>
              <a:t>FROM</a:t>
            </a:r>
            <a:r>
              <a:rPr lang="en-US" altLang="en-US" sz="4200" dirty="0">
                <a:solidFill>
                  <a:srgbClr val="000000"/>
                </a:solidFill>
                <a:latin typeface="Consolas" panose="020B0609020204030204" pitchFamily="49" charset="0"/>
              </a:rPr>
              <a:t> Pupil</a:t>
            </a:r>
          </a:p>
          <a:p>
            <a:pPr marL="0" lv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3   </a:t>
            </a:r>
            <a:r>
              <a:rPr lang="en-US" altLang="en-US" sz="4200" dirty="0">
                <a:solidFill>
                  <a:srgbClr val="A71D5D"/>
                </a:solidFill>
                <a:latin typeface="Consolas" panose="020B0609020204030204" pitchFamily="49" charset="0"/>
              </a:rPr>
              <a:t>WHERE</a:t>
            </a:r>
            <a:r>
              <a:rPr lang="en-US" altLang="en-US" sz="4200" dirty="0">
                <a:solidFill>
                  <a:srgbClr val="000000"/>
                </a:solidFill>
                <a:latin typeface="Consolas" panose="020B0609020204030204" pitchFamily="49" charset="0"/>
              </a:rPr>
              <a:t> age = </a:t>
            </a:r>
            <a:r>
              <a:rPr lang="en-US" altLang="en-US" sz="4200" dirty="0">
                <a:solidFill>
                  <a:srgbClr val="0086B3"/>
                </a:solidFill>
                <a:latin typeface="Consolas" panose="020B0609020204030204" pitchFamily="49" charset="0"/>
              </a:rPr>
              <a:t>12</a:t>
            </a:r>
            <a:endParaRPr lang="en-US" altLang="en-US" sz="4200" dirty="0">
              <a:solidFill>
                <a:srgbClr val="000000"/>
              </a:solidFill>
              <a:latin typeface="Consolas" panose="020B0609020204030204" pitchFamily="49" charset="0"/>
            </a:endParaRPr>
          </a:p>
          <a:p>
            <a:pPr marL="0" indent="0">
              <a:buNone/>
            </a:pPr>
            <a:r>
              <a:rPr lang="en-US" altLang="en-US" sz="4200" dirty="0">
                <a:solidFill>
                  <a:srgbClr val="B2B2B2"/>
                </a:solidFill>
                <a:latin typeface="Consolas" panose="020B0609020204030204" pitchFamily="49" charset="0"/>
              </a:rPr>
              <a:t>4   </a:t>
            </a:r>
            <a:r>
              <a:rPr lang="en-US" altLang="en-US" sz="4200" dirty="0">
                <a:solidFill>
                  <a:srgbClr val="A71D5D"/>
                </a:solidFill>
                <a:latin typeface="Consolas" panose="020B0609020204030204" pitchFamily="49" charset="0"/>
              </a:rPr>
              <a:t>ORDER BY</a:t>
            </a:r>
            <a:r>
              <a:rPr lang="en-US" altLang="en-US" sz="4200" dirty="0">
                <a:solidFill>
                  <a:srgbClr val="000000"/>
                </a:solidFill>
                <a:latin typeface="Consolas" panose="020B0609020204030204" pitchFamily="49" charset="0"/>
              </a:rPr>
              <a:t> </a:t>
            </a:r>
            <a:r>
              <a:rPr lang="en-US" altLang="en-US" sz="4200" dirty="0" err="1">
                <a:solidFill>
                  <a:srgbClr val="000000"/>
                </a:solidFill>
                <a:latin typeface="Consolas" panose="020B0609020204030204" pitchFamily="49" charset="0"/>
              </a:rPr>
              <a:t>firstName</a:t>
            </a:r>
            <a:r>
              <a:rPr lang="en-US" altLang="en-US" sz="4200" dirty="0">
                <a:solidFill>
                  <a:srgbClr val="000000"/>
                </a:solidFill>
                <a:latin typeface="Consolas" panose="020B0609020204030204" pitchFamily="49" charset="0"/>
              </a:rPr>
              <a:t> </a:t>
            </a:r>
            <a:r>
              <a:rPr lang="en-US" altLang="en-US" sz="4200" dirty="0">
                <a:solidFill>
                  <a:srgbClr val="A71D5D"/>
                </a:solidFill>
                <a:latin typeface="Consolas" panose="020B0609020204030204" pitchFamily="49" charset="0"/>
              </a:rPr>
              <a:t>DESC</a:t>
            </a:r>
            <a:r>
              <a:rPr lang="en-US" altLang="en-US" sz="4200" dirty="0">
                <a:solidFill>
                  <a:srgbClr val="000000"/>
                </a:solidFill>
                <a:latin typeface="Consolas" panose="020B0609020204030204" pitchFamily="49" charset="0"/>
              </a:rPr>
              <a:t>;</a:t>
            </a:r>
            <a:endParaRPr lang="en-GB" sz="4200" dirty="0"/>
          </a:p>
        </p:txBody>
      </p:sp>
      <p:sp>
        <p:nvSpPr>
          <p:cNvPr id="6" name="TextBox 5">
            <a:extLst>
              <a:ext uri="{FF2B5EF4-FFF2-40B4-BE49-F238E27FC236}">
                <a16:creationId xmlns:a16="http://schemas.microsoft.com/office/drawing/2014/main" id="{DF4BA8FF-524A-4C13-87BF-68801971FA28}"/>
              </a:ext>
            </a:extLst>
          </p:cNvPr>
          <p:cNvSpPr txBox="1"/>
          <p:nvPr/>
        </p:nvSpPr>
        <p:spPr>
          <a:xfrm>
            <a:off x="4239402" y="5221937"/>
            <a:ext cx="1531188" cy="646331"/>
          </a:xfrm>
          <a:prstGeom prst="rect">
            <a:avLst/>
          </a:prstGeom>
          <a:noFill/>
        </p:spPr>
        <p:txBody>
          <a:bodyPr wrap="none" rtlCol="0">
            <a:spAutoFit/>
          </a:bodyPr>
          <a:lstStyle/>
          <a:p>
            <a:r>
              <a:rPr lang="en-GB" sz="3600" dirty="0">
                <a:solidFill>
                  <a:srgbClr val="A71D5D"/>
                </a:solidFill>
                <a:latin typeface="Consolas" panose="020B0609020204030204" pitchFamily="49" charset="0"/>
              </a:rPr>
              <a:t>DESC</a:t>
            </a:r>
            <a:r>
              <a:rPr lang="en-GB" sz="3600" dirty="0"/>
              <a:t> =</a:t>
            </a:r>
            <a:endParaRPr lang="en-GB" sz="3600" dirty="0">
              <a:solidFill>
                <a:srgbClr val="7030A0"/>
              </a:solidFill>
              <a:latin typeface="Consolas" panose="020B0609020204030204" pitchFamily="49" charset="0"/>
            </a:endParaRPr>
          </a:p>
        </p:txBody>
      </p:sp>
    </p:spTree>
    <p:extLst>
      <p:ext uri="{BB962C8B-B14F-4D97-AF65-F5344CB8AC3E}">
        <p14:creationId xmlns:p14="http://schemas.microsoft.com/office/powerpoint/2010/main" val="2327285765"/>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FB2C154-DD93-ED6C-9F89-4C46E62AADD5}"/>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B4D7039D-DC4C-3007-1F96-6D1B58A2A3A3}"/>
              </a:ext>
            </a:extLst>
          </p:cNvPr>
          <p:cNvSpPr>
            <a:spLocks noGrp="1"/>
          </p:cNvSpPr>
          <p:nvPr>
            <p:ph type="title"/>
          </p:nvPr>
        </p:nvSpPr>
        <p:spPr/>
        <p:txBody>
          <a:bodyPr/>
          <a:lstStyle/>
          <a:p>
            <a:r>
              <a:rPr lang="en-GB" dirty="0"/>
              <a:t>Order of Operations (3)</a:t>
            </a:r>
          </a:p>
        </p:txBody>
      </p:sp>
      <p:sp>
        <p:nvSpPr>
          <p:cNvPr id="6" name="SQL">
            <a:extLst>
              <a:ext uri="{FF2B5EF4-FFF2-40B4-BE49-F238E27FC236}">
                <a16:creationId xmlns:a16="http://schemas.microsoft.com/office/drawing/2014/main" id="{BB3F14BF-DCE7-8211-AF0F-D5BAFB7215FB}"/>
              </a:ext>
            </a:extLst>
          </p:cNvPr>
          <p:cNvSpPr>
            <a:spLocks noChangeArrowheads="1"/>
          </p:cNvSpPr>
          <p:nvPr/>
        </p:nvSpPr>
        <p:spPr bwMode="auto">
          <a:xfrm>
            <a:off x="619125" y="1370838"/>
            <a:ext cx="3429144" cy="132343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name, age</a:t>
            </a:r>
          </a:p>
          <a:p>
            <a:pPr lvl="0" eaLnBrk="0" fontAlgn="base" hangingPunct="0">
              <a:spcBef>
                <a:spcPct val="0"/>
              </a:spcBef>
              <a:spcAft>
                <a:spcPct val="0"/>
              </a:spcAft>
            </a:pPr>
            <a:r>
              <a:rPr lang="en-US" altLang="en-US" sz="2000" dirty="0">
                <a:solidFill>
                  <a:srgbClr val="B2B2B2"/>
                </a:solidFill>
                <a:latin typeface="Consolas" panose="020B0609020204030204" pitchFamily="49" charset="0"/>
              </a:rPr>
              <a:t>2 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FROM</a:t>
            </a:r>
            <a:r>
              <a:rPr lang="en-US" altLang="en-US" sz="2000" dirty="0">
                <a:solidFill>
                  <a:srgbClr val="000000"/>
                </a:solidFill>
                <a:latin typeface="Consolas" panose="020B0609020204030204" pitchFamily="49" charset="0"/>
              </a:rPr>
              <a:t> Pet</a:t>
            </a:r>
            <a:endParaRPr lang="en-US" altLang="en-US" sz="2000" dirty="0">
              <a:solidFill>
                <a:srgbClr val="B2B2B2"/>
              </a:solidFill>
              <a:latin typeface="Consolas" panose="020B0609020204030204" pitchFamily="49" charset="0"/>
            </a:endParaRPr>
          </a:p>
          <a:p>
            <a:pPr eaLnBrk="0" fontAlgn="base" hangingPunct="0">
              <a:spcBef>
                <a:spcPct val="0"/>
              </a:spcBef>
              <a:spcAft>
                <a:spcPct val="0"/>
              </a:spcAft>
            </a:pPr>
            <a:r>
              <a:rPr lang="en-US" altLang="en-US" sz="2000" dirty="0">
                <a:solidFill>
                  <a:srgbClr val="B2B2B2"/>
                </a:solidFill>
                <a:latin typeface="Consolas" panose="020B0609020204030204" pitchFamily="49" charset="0"/>
              </a:rPr>
              <a:t>3 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WHERE</a:t>
            </a:r>
            <a:r>
              <a:rPr lang="en-US" altLang="en-US" sz="2000" dirty="0">
                <a:solidFill>
                  <a:srgbClr val="000000"/>
                </a:solidFill>
                <a:latin typeface="Consolas" panose="020B0609020204030204" pitchFamily="49" charset="0"/>
              </a:rPr>
              <a:t> age &lt; </a:t>
            </a:r>
            <a:r>
              <a:rPr lang="en-US" altLang="en-US" sz="2000" dirty="0">
                <a:solidFill>
                  <a:srgbClr val="0086B3"/>
                </a:solidFill>
                <a:latin typeface="Consolas" panose="020B0609020204030204" pitchFamily="49" charset="0"/>
              </a:rPr>
              <a:t>5</a:t>
            </a:r>
            <a:endParaRPr lang="en-US" altLang="en-US" sz="2000" dirty="0">
              <a:solidFill>
                <a:srgbClr val="000000"/>
              </a:solidFill>
              <a:latin typeface="Consolas" panose="020B0609020204030204" pitchFamily="49" charset="0"/>
            </a:endParaRPr>
          </a:p>
          <a:p>
            <a:pPr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4 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ORDER BY</a:t>
            </a:r>
            <a:r>
              <a:rPr lang="en-US" altLang="en-US" sz="2000" dirty="0">
                <a:solidFill>
                  <a:srgbClr val="000000"/>
                </a:solidFill>
                <a:latin typeface="Consolas" panose="020B0609020204030204" pitchFamily="49" charset="0"/>
              </a:rPr>
              <a:t> type </a:t>
            </a:r>
            <a:r>
              <a:rPr lang="en-US" altLang="en-US" sz="2000" dirty="0">
                <a:solidFill>
                  <a:srgbClr val="A71D5D"/>
                </a:solidFill>
                <a:latin typeface="Consolas" panose="020B0609020204030204" pitchFamily="49" charset="0"/>
              </a:rPr>
              <a:t>DESC</a:t>
            </a:r>
            <a:r>
              <a:rPr kumimoji="0" lang="en-US" altLang="en-US" sz="2000" b="0" i="0" u="none" strike="noStrike" cap="none" normalizeH="0" baseline="0" dirty="0">
                <a:ln>
                  <a:noFill/>
                </a:ln>
                <a:solidFill>
                  <a:srgbClr val="000000"/>
                </a:solidFill>
                <a:effectLst/>
                <a:latin typeface="Consolas" panose="020B0609020204030204" pitchFamily="49" charset="0"/>
              </a:rPr>
              <a:t>;</a:t>
            </a:r>
            <a:endParaRPr kumimoji="0" lang="en-US" altLang="en-US" sz="2000" b="0" i="0" u="none" strike="noStrike" cap="none" normalizeH="0" baseline="0" dirty="0">
              <a:ln>
                <a:noFill/>
              </a:ln>
              <a:solidFill>
                <a:schemeClr val="tx1"/>
              </a:solidFill>
              <a:effectLst/>
              <a:latin typeface="Consolas" panose="020B0609020204030204" pitchFamily="49" charset="0"/>
            </a:endParaRPr>
          </a:p>
        </p:txBody>
      </p:sp>
      <p:sp>
        <p:nvSpPr>
          <p:cNvPr id="17" name="Pet">
            <a:extLst>
              <a:ext uri="{FF2B5EF4-FFF2-40B4-BE49-F238E27FC236}">
                <a16:creationId xmlns:a16="http://schemas.microsoft.com/office/drawing/2014/main" id="{4CA12722-67FD-1D61-B738-175BB9CB27FD}"/>
              </a:ext>
            </a:extLst>
          </p:cNvPr>
          <p:cNvSpPr txBox="1"/>
          <p:nvPr/>
        </p:nvSpPr>
        <p:spPr>
          <a:xfrm>
            <a:off x="1365548" y="3091527"/>
            <a:ext cx="1771650" cy="369332"/>
          </a:xfrm>
          <a:prstGeom prst="rect">
            <a:avLst/>
          </a:prstGeom>
          <a:noFill/>
        </p:spPr>
        <p:txBody>
          <a:bodyPr wrap="square" rtlCol="0">
            <a:spAutoFit/>
          </a:bodyPr>
          <a:lstStyle/>
          <a:p>
            <a:r>
              <a:rPr lang="en-GB" b="1" dirty="0"/>
              <a:t>Table: Pet</a:t>
            </a:r>
          </a:p>
        </p:txBody>
      </p:sp>
      <p:sp>
        <p:nvSpPr>
          <p:cNvPr id="19" name="Order">
            <a:extLst>
              <a:ext uri="{FF2B5EF4-FFF2-40B4-BE49-F238E27FC236}">
                <a16:creationId xmlns:a16="http://schemas.microsoft.com/office/drawing/2014/main" id="{9AB8BED7-3D03-6733-7EEB-905B6A695BC7}"/>
              </a:ext>
            </a:extLst>
          </p:cNvPr>
          <p:cNvSpPr txBox="1"/>
          <p:nvPr/>
        </p:nvSpPr>
        <p:spPr>
          <a:xfrm>
            <a:off x="8794761" y="599622"/>
            <a:ext cx="2590417" cy="2246769"/>
          </a:xfrm>
          <a:prstGeom prst="rect">
            <a:avLst/>
          </a:prstGeom>
          <a:noFill/>
        </p:spPr>
        <p:txBody>
          <a:bodyPr wrap="square" rtlCol="0">
            <a:spAutoFit/>
          </a:bodyPr>
          <a:lstStyle/>
          <a:p>
            <a:r>
              <a:rPr lang="en-GB" sz="2800" b="1" dirty="0">
                <a:solidFill>
                  <a:srgbClr val="7030A0"/>
                </a:solidFill>
              </a:rPr>
              <a:t>Order</a:t>
            </a:r>
            <a:r>
              <a:rPr lang="en-GB" sz="2800" dirty="0">
                <a:solidFill>
                  <a:srgbClr val="7030A0"/>
                </a:solidFill>
              </a:rPr>
              <a:t>:</a:t>
            </a:r>
          </a:p>
          <a:p>
            <a:pPr lvl="1"/>
            <a:r>
              <a:rPr lang="en-GB" sz="2800" dirty="0">
                <a:solidFill>
                  <a:srgbClr val="7030A0"/>
                </a:solidFill>
              </a:rPr>
              <a:t>1.  FROM</a:t>
            </a:r>
          </a:p>
          <a:p>
            <a:pPr lvl="1"/>
            <a:r>
              <a:rPr lang="en-GB" sz="2800" dirty="0">
                <a:solidFill>
                  <a:srgbClr val="7030A0"/>
                </a:solidFill>
              </a:rPr>
              <a:t>2.  WHERE</a:t>
            </a:r>
          </a:p>
          <a:p>
            <a:pPr lvl="1"/>
            <a:r>
              <a:rPr lang="en-GB" sz="2800" dirty="0">
                <a:solidFill>
                  <a:srgbClr val="7030A0"/>
                </a:solidFill>
              </a:rPr>
              <a:t>3.  SELECT</a:t>
            </a:r>
          </a:p>
          <a:p>
            <a:pPr lvl="1"/>
            <a:r>
              <a:rPr lang="en-GB" sz="2800" dirty="0">
                <a:solidFill>
                  <a:srgbClr val="7030A0"/>
                </a:solidFill>
              </a:rPr>
              <a:t>4.  ORDER BY</a:t>
            </a:r>
          </a:p>
        </p:txBody>
      </p:sp>
      <p:sp>
        <p:nvSpPr>
          <p:cNvPr id="27" name="From - Arrow">
            <a:extLst>
              <a:ext uri="{FF2B5EF4-FFF2-40B4-BE49-F238E27FC236}">
                <a16:creationId xmlns:a16="http://schemas.microsoft.com/office/drawing/2014/main" id="{E57C248C-DECA-445B-3777-559FD76E0471}"/>
              </a:ext>
            </a:extLst>
          </p:cNvPr>
          <p:cNvSpPr/>
          <p:nvPr/>
        </p:nvSpPr>
        <p:spPr>
          <a:xfrm>
            <a:off x="154555" y="1757431"/>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0" name="From">
            <a:extLst>
              <a:ext uri="{FF2B5EF4-FFF2-40B4-BE49-F238E27FC236}">
                <a16:creationId xmlns:a16="http://schemas.microsoft.com/office/drawing/2014/main" id="{78B64078-CD33-E0CF-944C-B2B88EB38B02}"/>
              </a:ext>
            </a:extLst>
          </p:cNvPr>
          <p:cNvSpPr txBox="1"/>
          <p:nvPr/>
        </p:nvSpPr>
        <p:spPr>
          <a:xfrm>
            <a:off x="3409001" y="2911786"/>
            <a:ext cx="850960" cy="369332"/>
          </a:xfrm>
          <a:prstGeom prst="rect">
            <a:avLst/>
          </a:prstGeom>
          <a:noFill/>
        </p:spPr>
        <p:txBody>
          <a:bodyPr wrap="square" rtlCol="0">
            <a:spAutoFit/>
          </a:bodyPr>
          <a:lstStyle/>
          <a:p>
            <a:r>
              <a:rPr lang="en-GB" b="1" dirty="0"/>
              <a:t>FROM</a:t>
            </a:r>
          </a:p>
        </p:txBody>
      </p:sp>
      <p:graphicFrame>
        <p:nvGraphicFramePr>
          <p:cNvPr id="22" name="Pet - Table">
            <a:extLst>
              <a:ext uri="{FF2B5EF4-FFF2-40B4-BE49-F238E27FC236}">
                <a16:creationId xmlns:a16="http://schemas.microsoft.com/office/drawing/2014/main" id="{F1277B78-8984-8B58-5C2E-EDE193CCEAA9}"/>
              </a:ext>
            </a:extLst>
          </p:cNvPr>
          <p:cNvGraphicFramePr>
            <a:graphicFrameLocks noGrp="1"/>
          </p:cNvGraphicFramePr>
          <p:nvPr>
            <p:extLst>
              <p:ext uri="{D42A27DB-BD31-4B8C-83A1-F6EECF244321}">
                <p14:modId xmlns:p14="http://schemas.microsoft.com/office/powerpoint/2010/main" val="987902060"/>
              </p:ext>
            </p:extLst>
          </p:nvPr>
        </p:nvGraphicFramePr>
        <p:xfrm>
          <a:off x="1451271" y="3412595"/>
          <a:ext cx="2042287"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a:solidFill>
                            <a:schemeClr val="tx1"/>
                          </a:solidFill>
                          <a:effectLst/>
                        </a:rPr>
                        <a:t>Pepper</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16</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a:solidFill>
                            <a:schemeClr val="tx1"/>
                          </a:solidFill>
                          <a:effectLst/>
                        </a:rPr>
                        <a:t>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7</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dirty="0">
                          <a:solidFill>
                            <a:schemeClr val="tx1"/>
                          </a:solidFill>
                          <a:effectLst/>
                        </a:rPr>
                        <a:t>Mickey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a:solidFill>
                            <a:schemeClr val="tx1"/>
                          </a:solidFill>
                          <a:effectLst/>
                        </a:rPr>
                        <a:t>Minnie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Cat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a:solidFill>
                            <a:schemeClr val="tx1"/>
                          </a:solidFill>
                          <a:effectLst/>
                        </a:rPr>
                        <a:t>9</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a:solidFill>
                            <a:schemeClr val="tx1"/>
                          </a:solidFill>
                          <a:effectLst/>
                        </a:rPr>
                        <a:t>Bonzo</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Dog</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6</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Rabbit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3</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graphicFrame>
        <p:nvGraphicFramePr>
          <p:cNvPr id="23" name="Temp - Table">
            <a:extLst>
              <a:ext uri="{FF2B5EF4-FFF2-40B4-BE49-F238E27FC236}">
                <a16:creationId xmlns:a16="http://schemas.microsoft.com/office/drawing/2014/main" id="{DA0004D0-54C5-7FE3-495E-2E40E17F56E7}"/>
              </a:ext>
            </a:extLst>
          </p:cNvPr>
          <p:cNvGraphicFramePr>
            <a:graphicFrameLocks noGrp="1"/>
          </p:cNvGraphicFramePr>
          <p:nvPr>
            <p:extLst>
              <p:ext uri="{D42A27DB-BD31-4B8C-83A1-F6EECF244321}">
                <p14:modId xmlns:p14="http://schemas.microsoft.com/office/powerpoint/2010/main" val="3624952782"/>
              </p:ext>
            </p:extLst>
          </p:nvPr>
        </p:nvGraphicFramePr>
        <p:xfrm>
          <a:off x="4081885" y="3412595"/>
          <a:ext cx="2042287"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a:solidFill>
                            <a:schemeClr val="tx1"/>
                          </a:solidFill>
                          <a:effectLst/>
                        </a:rPr>
                        <a:t>Pepper</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16</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a:solidFill>
                            <a:schemeClr val="tx1"/>
                          </a:solidFill>
                          <a:effectLst/>
                        </a:rPr>
                        <a:t>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a:solidFill>
                            <a:schemeClr val="tx1"/>
                          </a:solidFill>
                          <a:effectLst/>
                        </a:rPr>
                        <a:t>7</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dirty="0">
                          <a:solidFill>
                            <a:schemeClr val="tx1"/>
                          </a:solidFill>
                          <a:effectLst/>
                        </a:rPr>
                        <a:t>Mickey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dirty="0">
                          <a:solidFill>
                            <a:schemeClr val="tx1"/>
                          </a:solidFill>
                          <a:effectLst/>
                        </a:rPr>
                        <a:t>Minnie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Cat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9</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a:solidFill>
                            <a:schemeClr val="tx1"/>
                          </a:solidFill>
                          <a:effectLst/>
                        </a:rPr>
                        <a:t>Bonzo</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Dog</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6</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Rabbit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3</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sp>
        <p:nvSpPr>
          <p:cNvPr id="25" name="Select">
            <a:extLst>
              <a:ext uri="{FF2B5EF4-FFF2-40B4-BE49-F238E27FC236}">
                <a16:creationId xmlns:a16="http://schemas.microsoft.com/office/drawing/2014/main" id="{2A49F281-A209-A6F3-A18C-72757AC1B916}"/>
              </a:ext>
            </a:extLst>
          </p:cNvPr>
          <p:cNvSpPr txBox="1"/>
          <p:nvPr/>
        </p:nvSpPr>
        <p:spPr>
          <a:xfrm>
            <a:off x="4754298" y="2081278"/>
            <a:ext cx="850960" cy="369332"/>
          </a:xfrm>
          <a:prstGeom prst="rect">
            <a:avLst/>
          </a:prstGeom>
          <a:noFill/>
        </p:spPr>
        <p:txBody>
          <a:bodyPr wrap="square" rtlCol="0">
            <a:spAutoFit/>
          </a:bodyPr>
          <a:lstStyle/>
          <a:p>
            <a:pPr algn="ctr"/>
            <a:r>
              <a:rPr lang="en-GB" b="1" dirty="0"/>
              <a:t>SELECT</a:t>
            </a:r>
          </a:p>
        </p:txBody>
      </p:sp>
      <p:sp>
        <p:nvSpPr>
          <p:cNvPr id="26" name="Temp - Arrow">
            <a:extLst>
              <a:ext uri="{FF2B5EF4-FFF2-40B4-BE49-F238E27FC236}">
                <a16:creationId xmlns:a16="http://schemas.microsoft.com/office/drawing/2014/main" id="{1A22687F-9CC3-77DA-888E-EB02C1FDEFA4}"/>
              </a:ext>
            </a:extLst>
          </p:cNvPr>
          <p:cNvSpPr/>
          <p:nvPr/>
        </p:nvSpPr>
        <p:spPr>
          <a:xfrm>
            <a:off x="3539502" y="4748123"/>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1" name="Select - Arrow">
            <a:extLst>
              <a:ext uri="{FF2B5EF4-FFF2-40B4-BE49-F238E27FC236}">
                <a16:creationId xmlns:a16="http://schemas.microsoft.com/office/drawing/2014/main" id="{B4BBE812-EAF4-B48F-6791-443B03AA852A}"/>
              </a:ext>
            </a:extLst>
          </p:cNvPr>
          <p:cNvSpPr/>
          <p:nvPr/>
        </p:nvSpPr>
        <p:spPr>
          <a:xfrm>
            <a:off x="154555" y="1430188"/>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2" name="Output">
            <a:extLst>
              <a:ext uri="{FF2B5EF4-FFF2-40B4-BE49-F238E27FC236}">
                <a16:creationId xmlns:a16="http://schemas.microsoft.com/office/drawing/2014/main" id="{12D80B6F-5F24-F5D0-D320-08DA8E3B3394}"/>
              </a:ext>
            </a:extLst>
          </p:cNvPr>
          <p:cNvSpPr txBox="1"/>
          <p:nvPr/>
        </p:nvSpPr>
        <p:spPr>
          <a:xfrm>
            <a:off x="8818306" y="2911786"/>
            <a:ext cx="960176" cy="369332"/>
          </a:xfrm>
          <a:prstGeom prst="rect">
            <a:avLst/>
          </a:prstGeom>
          <a:noFill/>
        </p:spPr>
        <p:txBody>
          <a:bodyPr wrap="square" rtlCol="0">
            <a:spAutoFit/>
          </a:bodyPr>
          <a:lstStyle/>
          <a:p>
            <a:pPr algn="ctr"/>
            <a:r>
              <a:rPr lang="en-GB" b="1" dirty="0"/>
              <a:t>Output</a:t>
            </a:r>
          </a:p>
        </p:txBody>
      </p:sp>
      <p:sp>
        <p:nvSpPr>
          <p:cNvPr id="20" name="Mickey - Row">
            <a:extLst>
              <a:ext uri="{FF2B5EF4-FFF2-40B4-BE49-F238E27FC236}">
                <a16:creationId xmlns:a16="http://schemas.microsoft.com/office/drawing/2014/main" id="{1853AA6B-7FD8-3E7E-8D9E-E7952D8BFB0D}"/>
              </a:ext>
            </a:extLst>
          </p:cNvPr>
          <p:cNvSpPr/>
          <p:nvPr/>
        </p:nvSpPr>
        <p:spPr>
          <a:xfrm>
            <a:off x="4035588" y="4712125"/>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1" name="Roger - Row">
            <a:extLst>
              <a:ext uri="{FF2B5EF4-FFF2-40B4-BE49-F238E27FC236}">
                <a16:creationId xmlns:a16="http://schemas.microsoft.com/office/drawing/2014/main" id="{0D3CC910-5E9E-5935-6ED7-338DCE177882}"/>
              </a:ext>
            </a:extLst>
          </p:cNvPr>
          <p:cNvSpPr/>
          <p:nvPr/>
        </p:nvSpPr>
        <p:spPr>
          <a:xfrm>
            <a:off x="4035587" y="6005292"/>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7" name="Cindy - Row">
            <a:extLst>
              <a:ext uri="{FF2B5EF4-FFF2-40B4-BE49-F238E27FC236}">
                <a16:creationId xmlns:a16="http://schemas.microsoft.com/office/drawing/2014/main" id="{F42FD7F0-C7E3-F7C3-64B5-86175BE26E84}"/>
              </a:ext>
            </a:extLst>
          </p:cNvPr>
          <p:cNvSpPr/>
          <p:nvPr/>
        </p:nvSpPr>
        <p:spPr>
          <a:xfrm>
            <a:off x="4035278" y="4064352"/>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3" name="Mickey - Yellow">
            <a:extLst>
              <a:ext uri="{FF2B5EF4-FFF2-40B4-BE49-F238E27FC236}">
                <a16:creationId xmlns:a16="http://schemas.microsoft.com/office/drawing/2014/main" id="{55B3F266-3D66-01A5-0084-02B23DD79047}"/>
              </a:ext>
            </a:extLst>
          </p:cNvPr>
          <p:cNvSpPr/>
          <p:nvPr/>
        </p:nvSpPr>
        <p:spPr>
          <a:xfrm>
            <a:off x="5659147" y="4719669"/>
            <a:ext cx="469742"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4" name="Roger - Yellow">
            <a:extLst>
              <a:ext uri="{FF2B5EF4-FFF2-40B4-BE49-F238E27FC236}">
                <a16:creationId xmlns:a16="http://schemas.microsoft.com/office/drawing/2014/main" id="{CA1DF3E2-1B1A-F633-3A4A-4F5C43855F4B}"/>
              </a:ext>
            </a:extLst>
          </p:cNvPr>
          <p:cNvSpPr/>
          <p:nvPr/>
        </p:nvSpPr>
        <p:spPr>
          <a:xfrm>
            <a:off x="5656920" y="6007680"/>
            <a:ext cx="470841"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5" name="Where - Arrow">
            <a:extLst>
              <a:ext uri="{FF2B5EF4-FFF2-40B4-BE49-F238E27FC236}">
                <a16:creationId xmlns:a16="http://schemas.microsoft.com/office/drawing/2014/main" id="{87DF93C4-BB49-2411-07A1-6DBE208A0AFD}"/>
              </a:ext>
            </a:extLst>
          </p:cNvPr>
          <p:cNvSpPr/>
          <p:nvPr/>
        </p:nvSpPr>
        <p:spPr>
          <a:xfrm>
            <a:off x="154555" y="2048611"/>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6" name="Where 2 - Arrow">
            <a:extLst>
              <a:ext uri="{FF2B5EF4-FFF2-40B4-BE49-F238E27FC236}">
                <a16:creationId xmlns:a16="http://schemas.microsoft.com/office/drawing/2014/main" id="{A6189F44-41DB-CE81-6168-B5A995CDCC5B}"/>
              </a:ext>
            </a:extLst>
          </p:cNvPr>
          <p:cNvSpPr/>
          <p:nvPr/>
        </p:nvSpPr>
        <p:spPr>
          <a:xfrm rot="3278631">
            <a:off x="5277224" y="2865790"/>
            <a:ext cx="464567" cy="467998"/>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a:p>
        </p:txBody>
      </p:sp>
      <p:sp>
        <p:nvSpPr>
          <p:cNvPr id="37" name="Where">
            <a:extLst>
              <a:ext uri="{FF2B5EF4-FFF2-40B4-BE49-F238E27FC236}">
                <a16:creationId xmlns:a16="http://schemas.microsoft.com/office/drawing/2014/main" id="{4655A23E-6F0D-4644-8D1D-8ACA1DC5679D}"/>
              </a:ext>
            </a:extLst>
          </p:cNvPr>
          <p:cNvSpPr txBox="1"/>
          <p:nvPr/>
        </p:nvSpPr>
        <p:spPr>
          <a:xfrm>
            <a:off x="4786092" y="2526778"/>
            <a:ext cx="908750" cy="369332"/>
          </a:xfrm>
          <a:prstGeom prst="rect">
            <a:avLst/>
          </a:prstGeom>
          <a:noFill/>
        </p:spPr>
        <p:txBody>
          <a:bodyPr wrap="square" rtlCol="0">
            <a:spAutoFit/>
          </a:bodyPr>
          <a:lstStyle/>
          <a:p>
            <a:pPr algn="ctr"/>
            <a:r>
              <a:rPr lang="en-GB" b="1" dirty="0"/>
              <a:t>WHERE</a:t>
            </a:r>
          </a:p>
        </p:txBody>
      </p:sp>
      <p:cxnSp>
        <p:nvCxnSpPr>
          <p:cNvPr id="5" name="Name - Arrow">
            <a:extLst>
              <a:ext uri="{FF2B5EF4-FFF2-40B4-BE49-F238E27FC236}">
                <a16:creationId xmlns:a16="http://schemas.microsoft.com/office/drawing/2014/main" id="{72F20B23-42BD-4059-0D74-45475F61A21A}"/>
              </a:ext>
            </a:extLst>
          </p:cNvPr>
          <p:cNvCxnSpPr>
            <a:cxnSpLocks/>
            <a:stCxn id="25" idx="1"/>
            <a:endCxn id="29" idx="0"/>
          </p:cNvCxnSpPr>
          <p:nvPr/>
        </p:nvCxnSpPr>
        <p:spPr>
          <a:xfrm flipH="1">
            <a:off x="4460434" y="2265944"/>
            <a:ext cx="293864" cy="1112608"/>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9" name="Age - Arrow">
            <a:extLst>
              <a:ext uri="{FF2B5EF4-FFF2-40B4-BE49-F238E27FC236}">
                <a16:creationId xmlns:a16="http://schemas.microsoft.com/office/drawing/2014/main" id="{89C05E4F-C462-0686-CC12-3E0009FCBBA6}"/>
              </a:ext>
            </a:extLst>
          </p:cNvPr>
          <p:cNvCxnSpPr>
            <a:cxnSpLocks/>
            <a:stCxn id="25" idx="3"/>
            <a:endCxn id="30" idx="0"/>
          </p:cNvCxnSpPr>
          <p:nvPr/>
        </p:nvCxnSpPr>
        <p:spPr>
          <a:xfrm>
            <a:off x="5605258" y="2265944"/>
            <a:ext cx="287889" cy="1112608"/>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40" name="Cindy - Yellow">
            <a:extLst>
              <a:ext uri="{FF2B5EF4-FFF2-40B4-BE49-F238E27FC236}">
                <a16:creationId xmlns:a16="http://schemas.microsoft.com/office/drawing/2014/main" id="{868CB6FE-6953-CD77-7A9F-225AD4548CB6}"/>
              </a:ext>
            </a:extLst>
          </p:cNvPr>
          <p:cNvSpPr/>
          <p:nvPr/>
        </p:nvSpPr>
        <p:spPr>
          <a:xfrm>
            <a:off x="5659147" y="4065060"/>
            <a:ext cx="469742"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 name="Order By - Arrow">
            <a:extLst>
              <a:ext uri="{FF2B5EF4-FFF2-40B4-BE49-F238E27FC236}">
                <a16:creationId xmlns:a16="http://schemas.microsoft.com/office/drawing/2014/main" id="{A3030223-B6FA-1C0F-1B60-00D7CD4792DA}"/>
              </a:ext>
            </a:extLst>
          </p:cNvPr>
          <p:cNvSpPr/>
          <p:nvPr/>
        </p:nvSpPr>
        <p:spPr>
          <a:xfrm>
            <a:off x="147347" y="2349629"/>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aphicFrame>
        <p:nvGraphicFramePr>
          <p:cNvPr id="2" name="Sorted - Table">
            <a:extLst>
              <a:ext uri="{FF2B5EF4-FFF2-40B4-BE49-F238E27FC236}">
                <a16:creationId xmlns:a16="http://schemas.microsoft.com/office/drawing/2014/main" id="{23E04685-FE2C-E794-0AD6-95692BED2BED}"/>
              </a:ext>
            </a:extLst>
          </p:cNvPr>
          <p:cNvGraphicFramePr>
            <a:graphicFrameLocks noGrp="1"/>
          </p:cNvGraphicFramePr>
          <p:nvPr>
            <p:extLst>
              <p:ext uri="{D42A27DB-BD31-4B8C-83A1-F6EECF244321}">
                <p14:modId xmlns:p14="http://schemas.microsoft.com/office/powerpoint/2010/main" val="2625153877"/>
              </p:ext>
            </p:extLst>
          </p:nvPr>
        </p:nvGraphicFramePr>
        <p:xfrm>
          <a:off x="9378016" y="3429000"/>
          <a:ext cx="1254887" cy="16192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i="0" dirty="0">
                          <a:solidFill>
                            <a:schemeClr val="tx1"/>
                          </a:solidFill>
                          <a:effectLst/>
                          <a:latin typeface="Calibri" panose="020F0502020204030204" pitchFamily="34" charset="0"/>
                          <a:cs typeface="Calibri" panose="020F0502020204030204" pitchFamily="34" charset="0"/>
                        </a:rPr>
                        <a:t>3</a:t>
                      </a:r>
                    </a:p>
                  </a:txBody>
                  <a:tcPr marL="9525" marR="9525" marT="9525" marB="9525" anchor="ctr"/>
                </a:tc>
                <a:extLst>
                  <a:ext uri="{0D108BD9-81ED-4DB2-BD59-A6C34878D82A}">
                    <a16:rowId xmlns:a16="http://schemas.microsoft.com/office/drawing/2014/main" val="627053109"/>
                  </a:ext>
                </a:extLst>
              </a:tr>
              <a:tr h="0">
                <a:tc>
                  <a:txBody>
                    <a:bodyPr/>
                    <a:lstStyle/>
                    <a:p>
                      <a:pPr algn="l"/>
                      <a:r>
                        <a:rPr lang="en-GB" sz="2000" b="0" dirty="0">
                          <a:solidFill>
                            <a:schemeClr val="tx1"/>
                          </a:solidFill>
                          <a:effectLst/>
                        </a:rPr>
                        <a:t>Mickey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i="0" dirty="0">
                          <a:solidFill>
                            <a:schemeClr val="tx1"/>
                          </a:solidFill>
                          <a:effectLst/>
                          <a:latin typeface="Calibri" panose="020F0502020204030204" pitchFamily="34" charset="0"/>
                          <a:cs typeface="Calibri" panose="020F0502020204030204" pitchFamily="34" charset="0"/>
                        </a:rPr>
                        <a:t>1</a:t>
                      </a:r>
                    </a:p>
                  </a:txBody>
                  <a:tcPr marL="9525" marR="9525" marT="9525" marB="9525" anchor="ctr"/>
                </a:tc>
                <a:extLst>
                  <a:ext uri="{0D108BD9-81ED-4DB2-BD59-A6C34878D82A}">
                    <a16:rowId xmlns:a16="http://schemas.microsoft.com/office/drawing/2014/main" val="3151915704"/>
                  </a:ext>
                </a:extLst>
              </a:tr>
              <a:tr h="0">
                <a:tc>
                  <a:txBody>
                    <a:bodyPr/>
                    <a:lstStyle/>
                    <a:p>
                      <a:pPr algn="l"/>
                      <a:r>
                        <a:rPr lang="en-GB" sz="2000" b="0" dirty="0">
                          <a:solidFill>
                            <a:schemeClr val="tx1"/>
                          </a:solidFill>
                          <a:effectLst/>
                        </a:rPr>
                        <a:t>Minnie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i="0" dirty="0">
                          <a:solidFill>
                            <a:schemeClr val="tx1"/>
                          </a:solidFill>
                          <a:effectLst/>
                          <a:latin typeface="Calibri" panose="020F0502020204030204" pitchFamily="34" charset="0"/>
                          <a:cs typeface="Calibri" panose="020F0502020204030204" pitchFamily="34" charset="0"/>
                        </a:rPr>
                        <a:t>1</a:t>
                      </a:r>
                    </a:p>
                  </a:txBody>
                  <a:tcPr marL="9525" marR="9525" marT="9525" marB="9525" anchor="ctr"/>
                </a:tc>
                <a:extLst>
                  <a:ext uri="{0D108BD9-81ED-4DB2-BD59-A6C34878D82A}">
                    <a16:rowId xmlns:a16="http://schemas.microsoft.com/office/drawing/2014/main" val="1193887924"/>
                  </a:ext>
                </a:extLst>
              </a:tr>
              <a:tr h="0">
                <a:tc>
                  <a:txBody>
                    <a:bodyPr/>
                    <a:lstStyle/>
                    <a:p>
                      <a:pPr algn="l"/>
                      <a:r>
                        <a:rPr lang="en-GB" sz="2000" b="0" i="0" dirty="0">
                          <a:solidFill>
                            <a:schemeClr val="tx1"/>
                          </a:solidFill>
                          <a:effectLst/>
                          <a:latin typeface="Calibri" panose="020F0502020204030204" pitchFamily="34" charset="0"/>
                          <a:cs typeface="Calibri" panose="020F0502020204030204" pitchFamily="34" charset="0"/>
                        </a:rPr>
                        <a:t>Cindy</a:t>
                      </a:r>
                    </a:p>
                  </a:txBody>
                  <a:tcPr marL="9525" marR="9525" marT="9525" marB="9525" anchor="ctr"/>
                </a:tc>
                <a:tc>
                  <a:txBody>
                    <a:bodyPr/>
                    <a:lstStyle/>
                    <a:p>
                      <a:pPr algn="ctr"/>
                      <a:r>
                        <a:rPr lang="en-GB" sz="2000" b="0" i="0" dirty="0">
                          <a:solidFill>
                            <a:schemeClr val="tx1"/>
                          </a:solidFill>
                          <a:effectLst/>
                          <a:latin typeface="Calibri" panose="020F0502020204030204" pitchFamily="34" charset="0"/>
                          <a:cs typeface="Calibri" panose="020F0502020204030204" pitchFamily="34" charset="0"/>
                        </a:rPr>
                        <a:t>4</a:t>
                      </a:r>
                    </a:p>
                  </a:txBody>
                  <a:tcPr marL="9525" marR="9525" marT="9525" marB="9525" anchor="ctr"/>
                </a:tc>
                <a:extLst>
                  <a:ext uri="{0D108BD9-81ED-4DB2-BD59-A6C34878D82A}">
                    <a16:rowId xmlns:a16="http://schemas.microsoft.com/office/drawing/2014/main" val="171917894"/>
                  </a:ext>
                </a:extLst>
              </a:tr>
            </a:tbl>
          </a:graphicData>
        </a:graphic>
      </p:graphicFrame>
      <p:sp>
        <p:nvSpPr>
          <p:cNvPr id="8" name="Minnie - Row">
            <a:extLst>
              <a:ext uri="{FF2B5EF4-FFF2-40B4-BE49-F238E27FC236}">
                <a16:creationId xmlns:a16="http://schemas.microsoft.com/office/drawing/2014/main" id="{DE26CC7C-F218-9CA9-C097-A8F3A953F8BD}"/>
              </a:ext>
            </a:extLst>
          </p:cNvPr>
          <p:cNvSpPr/>
          <p:nvPr/>
        </p:nvSpPr>
        <p:spPr>
          <a:xfrm>
            <a:off x="4035743" y="5047810"/>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0" name="Age - Column">
            <a:extLst>
              <a:ext uri="{FF2B5EF4-FFF2-40B4-BE49-F238E27FC236}">
                <a16:creationId xmlns:a16="http://schemas.microsoft.com/office/drawing/2014/main" id="{478C350C-C7E5-7A4A-CBD3-3128DC1AB01A}"/>
              </a:ext>
            </a:extLst>
          </p:cNvPr>
          <p:cNvSpPr/>
          <p:nvPr/>
        </p:nvSpPr>
        <p:spPr>
          <a:xfrm>
            <a:off x="5659147" y="3378552"/>
            <a:ext cx="468000" cy="2977268"/>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9" name="Name - Column">
            <a:extLst>
              <a:ext uri="{FF2B5EF4-FFF2-40B4-BE49-F238E27FC236}">
                <a16:creationId xmlns:a16="http://schemas.microsoft.com/office/drawing/2014/main" id="{E54C19DE-454B-F9EC-8F7B-CE1C4831318F}"/>
              </a:ext>
            </a:extLst>
          </p:cNvPr>
          <p:cNvSpPr/>
          <p:nvPr/>
        </p:nvSpPr>
        <p:spPr>
          <a:xfrm>
            <a:off x="4064434" y="3378552"/>
            <a:ext cx="792000" cy="2976944"/>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8" name="Output - Arrow">
            <a:extLst>
              <a:ext uri="{FF2B5EF4-FFF2-40B4-BE49-F238E27FC236}">
                <a16:creationId xmlns:a16="http://schemas.microsoft.com/office/drawing/2014/main" id="{41B03BC3-B622-38BA-3963-2997C3543829}"/>
              </a:ext>
            </a:extLst>
          </p:cNvPr>
          <p:cNvSpPr/>
          <p:nvPr/>
        </p:nvSpPr>
        <p:spPr>
          <a:xfrm>
            <a:off x="8853491" y="3944680"/>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1" name="Minnie - Yellow">
            <a:extLst>
              <a:ext uri="{FF2B5EF4-FFF2-40B4-BE49-F238E27FC236}">
                <a16:creationId xmlns:a16="http://schemas.microsoft.com/office/drawing/2014/main" id="{25E94918-C645-BFD4-5304-B5A80FA2722B}"/>
              </a:ext>
            </a:extLst>
          </p:cNvPr>
          <p:cNvSpPr/>
          <p:nvPr/>
        </p:nvSpPr>
        <p:spPr>
          <a:xfrm>
            <a:off x="5656921" y="5041067"/>
            <a:ext cx="469742"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aphicFrame>
        <p:nvGraphicFramePr>
          <p:cNvPr id="12" name="Temp - Table">
            <a:extLst>
              <a:ext uri="{FF2B5EF4-FFF2-40B4-BE49-F238E27FC236}">
                <a16:creationId xmlns:a16="http://schemas.microsoft.com/office/drawing/2014/main" id="{EF3A2748-AA90-BCC8-2993-A9CADABE91F9}"/>
              </a:ext>
            </a:extLst>
          </p:cNvPr>
          <p:cNvGraphicFramePr>
            <a:graphicFrameLocks noGrp="1"/>
          </p:cNvGraphicFramePr>
          <p:nvPr>
            <p:extLst>
              <p:ext uri="{D42A27DB-BD31-4B8C-83A1-F6EECF244321}">
                <p14:modId xmlns:p14="http://schemas.microsoft.com/office/powerpoint/2010/main" val="848868675"/>
              </p:ext>
            </p:extLst>
          </p:nvPr>
        </p:nvGraphicFramePr>
        <p:xfrm>
          <a:off x="6721144" y="3412595"/>
          <a:ext cx="2042287"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Rabbit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3</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Mickey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Mouse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dirty="0">
                          <a:solidFill>
                            <a:schemeClr val="tx1"/>
                          </a:solidFill>
                          <a:effectLst/>
                        </a:rPr>
                        <a:t>Minnie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Mouse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4</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dirty="0">
                          <a:solidFill>
                            <a:schemeClr val="tx1"/>
                          </a:solidFill>
                          <a:effectLst/>
                        </a:rPr>
                        <a:t>Bonzo</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6</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i="0" dirty="0">
                          <a:solidFill>
                            <a:schemeClr val="tx1"/>
                          </a:solidFill>
                          <a:effectLst/>
                          <a:latin typeface="Calibri" panose="020F0502020204030204" pitchFamily="34" charset="0"/>
                          <a:cs typeface="Calibri" panose="020F0502020204030204" pitchFamily="34" charset="0"/>
                        </a:rPr>
                        <a:t>Pepper</a:t>
                      </a: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16</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dirty="0">
                          <a:solidFill>
                            <a:schemeClr val="tx1"/>
                          </a:solidFill>
                          <a:effectLst/>
                        </a:rPr>
                        <a:t>Snowy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7</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Kitty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9</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sp>
        <p:nvSpPr>
          <p:cNvPr id="43" name="Temp - Arrow">
            <a:extLst>
              <a:ext uri="{FF2B5EF4-FFF2-40B4-BE49-F238E27FC236}">
                <a16:creationId xmlns:a16="http://schemas.microsoft.com/office/drawing/2014/main" id="{12735B52-F70C-8511-82FF-DD98CDFED39E}"/>
              </a:ext>
            </a:extLst>
          </p:cNvPr>
          <p:cNvSpPr/>
          <p:nvPr/>
        </p:nvSpPr>
        <p:spPr>
          <a:xfrm>
            <a:off x="6189455" y="4748755"/>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pSp>
        <p:nvGrpSpPr>
          <p:cNvPr id="57" name="Group 56">
            <a:extLst>
              <a:ext uri="{FF2B5EF4-FFF2-40B4-BE49-F238E27FC236}">
                <a16:creationId xmlns:a16="http://schemas.microsoft.com/office/drawing/2014/main" id="{B1521731-A15D-3FBE-F181-C47FACE64AD9}"/>
              </a:ext>
            </a:extLst>
          </p:cNvPr>
          <p:cNvGrpSpPr/>
          <p:nvPr/>
        </p:nvGrpSpPr>
        <p:grpSpPr>
          <a:xfrm>
            <a:off x="6670761" y="3378552"/>
            <a:ext cx="2127050" cy="2977268"/>
            <a:chOff x="6346291" y="3378552"/>
            <a:chExt cx="2127050" cy="2977268"/>
          </a:xfrm>
        </p:grpSpPr>
        <p:sp>
          <p:nvSpPr>
            <p:cNvPr id="13" name="Mickey - Row">
              <a:extLst>
                <a:ext uri="{FF2B5EF4-FFF2-40B4-BE49-F238E27FC236}">
                  <a16:creationId xmlns:a16="http://schemas.microsoft.com/office/drawing/2014/main" id="{AB372B6C-3B4A-0882-48BF-C3ED76FEB0E1}"/>
                </a:ext>
              </a:extLst>
            </p:cNvPr>
            <p:cNvSpPr/>
            <p:nvPr/>
          </p:nvSpPr>
          <p:spPr>
            <a:xfrm>
              <a:off x="6348442" y="4399065"/>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6" name="Mickey - Yellow">
              <a:extLst>
                <a:ext uri="{FF2B5EF4-FFF2-40B4-BE49-F238E27FC236}">
                  <a16:creationId xmlns:a16="http://schemas.microsoft.com/office/drawing/2014/main" id="{D0420BFE-8246-C2E5-2285-39EB349C44AC}"/>
                </a:ext>
              </a:extLst>
            </p:cNvPr>
            <p:cNvSpPr/>
            <p:nvPr/>
          </p:nvSpPr>
          <p:spPr>
            <a:xfrm>
              <a:off x="7972001" y="4406609"/>
              <a:ext cx="469742"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4" name="Roger - Row">
              <a:extLst>
                <a:ext uri="{FF2B5EF4-FFF2-40B4-BE49-F238E27FC236}">
                  <a16:creationId xmlns:a16="http://schemas.microsoft.com/office/drawing/2014/main" id="{5CF9AEE8-7F06-6911-9BD5-2B20058A0ADF}"/>
                </a:ext>
              </a:extLst>
            </p:cNvPr>
            <p:cNvSpPr/>
            <p:nvPr/>
          </p:nvSpPr>
          <p:spPr>
            <a:xfrm>
              <a:off x="6346291" y="3750604"/>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8" name="Roger - Yellow">
              <a:extLst>
                <a:ext uri="{FF2B5EF4-FFF2-40B4-BE49-F238E27FC236}">
                  <a16:creationId xmlns:a16="http://schemas.microsoft.com/office/drawing/2014/main" id="{C10201D1-6D69-AD5F-8101-06261FAA21C4}"/>
                </a:ext>
              </a:extLst>
            </p:cNvPr>
            <p:cNvSpPr/>
            <p:nvPr/>
          </p:nvSpPr>
          <p:spPr>
            <a:xfrm>
              <a:off x="7967624" y="3752992"/>
              <a:ext cx="470841"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5" name="Cindy - Row">
              <a:extLst>
                <a:ext uri="{FF2B5EF4-FFF2-40B4-BE49-F238E27FC236}">
                  <a16:creationId xmlns:a16="http://schemas.microsoft.com/office/drawing/2014/main" id="{30F0A1F3-8EE7-6C33-2345-466F0727ADCF}"/>
                </a:ext>
              </a:extLst>
            </p:cNvPr>
            <p:cNvSpPr/>
            <p:nvPr/>
          </p:nvSpPr>
          <p:spPr>
            <a:xfrm>
              <a:off x="6346291" y="4714735"/>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4" name="Cindy - Yellow">
              <a:extLst>
                <a:ext uri="{FF2B5EF4-FFF2-40B4-BE49-F238E27FC236}">
                  <a16:creationId xmlns:a16="http://schemas.microsoft.com/office/drawing/2014/main" id="{516288FD-4D61-14FF-351E-EB783B2321D0}"/>
                </a:ext>
              </a:extLst>
            </p:cNvPr>
            <p:cNvSpPr/>
            <p:nvPr/>
          </p:nvSpPr>
          <p:spPr>
            <a:xfrm>
              <a:off x="7970160" y="4715443"/>
              <a:ext cx="469742"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8" name="Minnie - Row">
              <a:extLst>
                <a:ext uri="{FF2B5EF4-FFF2-40B4-BE49-F238E27FC236}">
                  <a16:creationId xmlns:a16="http://schemas.microsoft.com/office/drawing/2014/main" id="{64B2A77A-4EC4-537C-43DD-335601F3B2D6}"/>
                </a:ext>
              </a:extLst>
            </p:cNvPr>
            <p:cNvSpPr/>
            <p:nvPr/>
          </p:nvSpPr>
          <p:spPr>
            <a:xfrm>
              <a:off x="6349341" y="4068247"/>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2" name="Minnie - Yellow">
              <a:extLst>
                <a:ext uri="{FF2B5EF4-FFF2-40B4-BE49-F238E27FC236}">
                  <a16:creationId xmlns:a16="http://schemas.microsoft.com/office/drawing/2014/main" id="{4ECB4FCC-8F88-19AB-074B-ED37FDF7BF25}"/>
                </a:ext>
              </a:extLst>
            </p:cNvPr>
            <p:cNvSpPr/>
            <p:nvPr/>
          </p:nvSpPr>
          <p:spPr>
            <a:xfrm>
              <a:off x="7970519" y="4061504"/>
              <a:ext cx="469742"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9" name="Age - Column">
              <a:extLst>
                <a:ext uri="{FF2B5EF4-FFF2-40B4-BE49-F238E27FC236}">
                  <a16:creationId xmlns:a16="http://schemas.microsoft.com/office/drawing/2014/main" id="{AA596A34-9643-938B-43CE-DB3B46EE8BF1}"/>
                </a:ext>
              </a:extLst>
            </p:cNvPr>
            <p:cNvSpPr/>
            <p:nvPr/>
          </p:nvSpPr>
          <p:spPr>
            <a:xfrm>
              <a:off x="7973936" y="3378552"/>
              <a:ext cx="468000" cy="2977268"/>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1" name="Name - Column">
              <a:extLst>
                <a:ext uri="{FF2B5EF4-FFF2-40B4-BE49-F238E27FC236}">
                  <a16:creationId xmlns:a16="http://schemas.microsoft.com/office/drawing/2014/main" id="{3D274248-AF25-F7EF-A10D-420DC757C823}"/>
                </a:ext>
              </a:extLst>
            </p:cNvPr>
            <p:cNvSpPr/>
            <p:nvPr/>
          </p:nvSpPr>
          <p:spPr>
            <a:xfrm>
              <a:off x="6379223" y="3378552"/>
              <a:ext cx="792000" cy="2976944"/>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grpSp>
      <p:sp>
        <p:nvSpPr>
          <p:cNvPr id="58" name="Where 2 - Arrow">
            <a:extLst>
              <a:ext uri="{FF2B5EF4-FFF2-40B4-BE49-F238E27FC236}">
                <a16:creationId xmlns:a16="http://schemas.microsoft.com/office/drawing/2014/main" id="{2966E2E3-1095-3AA5-54F4-22EC69E21F63}"/>
              </a:ext>
            </a:extLst>
          </p:cNvPr>
          <p:cNvSpPr/>
          <p:nvPr/>
        </p:nvSpPr>
        <p:spPr>
          <a:xfrm rot="5400000">
            <a:off x="7602525" y="2816094"/>
            <a:ext cx="464567" cy="467998"/>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a:p>
        </p:txBody>
      </p:sp>
      <p:sp>
        <p:nvSpPr>
          <p:cNvPr id="59" name="Where">
            <a:extLst>
              <a:ext uri="{FF2B5EF4-FFF2-40B4-BE49-F238E27FC236}">
                <a16:creationId xmlns:a16="http://schemas.microsoft.com/office/drawing/2014/main" id="{1C4BE62B-40C5-DE8F-B8B5-D85D5F2A6A7A}"/>
              </a:ext>
            </a:extLst>
          </p:cNvPr>
          <p:cNvSpPr txBox="1"/>
          <p:nvPr/>
        </p:nvSpPr>
        <p:spPr>
          <a:xfrm>
            <a:off x="7278142" y="2474834"/>
            <a:ext cx="1147392" cy="369332"/>
          </a:xfrm>
          <a:prstGeom prst="rect">
            <a:avLst/>
          </a:prstGeom>
          <a:noFill/>
        </p:spPr>
        <p:txBody>
          <a:bodyPr wrap="square" rtlCol="0">
            <a:spAutoFit/>
          </a:bodyPr>
          <a:lstStyle/>
          <a:p>
            <a:pPr algn="ctr"/>
            <a:r>
              <a:rPr lang="en-GB" b="1" dirty="0"/>
              <a:t>ORDER BY</a:t>
            </a:r>
          </a:p>
        </p:txBody>
      </p:sp>
    </p:spTree>
    <p:extLst>
      <p:ext uri="{BB962C8B-B14F-4D97-AF65-F5344CB8AC3E}">
        <p14:creationId xmlns:p14="http://schemas.microsoft.com/office/powerpoint/2010/main" val="407801116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17"/>
                                        </p:tgtEl>
                                        <p:attrNameLst>
                                          <p:attrName>style.visibility</p:attrName>
                                        </p:attrNameLst>
                                      </p:cBhvr>
                                      <p:to>
                                        <p:strVal val="visible"/>
                                      </p:to>
                                    </p:set>
                                    <p:animEffect transition="in" filter="wipe(left)">
                                      <p:cBhvr>
                                        <p:cTn id="7" dur="1000"/>
                                        <p:tgtEl>
                                          <p:spTgt spid="17"/>
                                        </p:tgtEl>
                                      </p:cBhvr>
                                    </p:animEffect>
                                  </p:childTnLst>
                                </p:cTn>
                              </p:par>
                            </p:childTnLst>
                          </p:cTn>
                        </p:par>
                        <p:par>
                          <p:cTn id="8" fill="hold">
                            <p:stCondLst>
                              <p:cond delay="1000"/>
                            </p:stCondLst>
                            <p:childTnLst>
                              <p:par>
                                <p:cTn id="9" presetID="22" presetClass="entr" presetSubtype="1" fill="hold" nodeType="afterEffect">
                                  <p:stCondLst>
                                    <p:cond delay="0"/>
                                  </p:stCondLst>
                                  <p:childTnLst>
                                    <p:set>
                                      <p:cBhvr>
                                        <p:cTn id="10" dur="1" fill="hold">
                                          <p:stCondLst>
                                            <p:cond delay="0"/>
                                          </p:stCondLst>
                                        </p:cTn>
                                        <p:tgtEl>
                                          <p:spTgt spid="22"/>
                                        </p:tgtEl>
                                        <p:attrNameLst>
                                          <p:attrName>style.visibility</p:attrName>
                                        </p:attrNameLst>
                                      </p:cBhvr>
                                      <p:to>
                                        <p:strVal val="visible"/>
                                      </p:to>
                                    </p:set>
                                    <p:animEffect transition="in" filter="wipe(up)">
                                      <p:cBhvr>
                                        <p:cTn id="11" dur="2000"/>
                                        <p:tgtEl>
                                          <p:spTgt spid="22"/>
                                        </p:tgtEl>
                                      </p:cBhvr>
                                    </p:animEffect>
                                  </p:childTnLst>
                                </p:cTn>
                              </p:par>
                            </p:childTnLst>
                          </p:cTn>
                        </p:par>
                      </p:childTnLst>
                    </p:cTn>
                  </p:par>
                  <p:par>
                    <p:cTn id="12" fill="hold">
                      <p:stCondLst>
                        <p:cond delay="indefinite"/>
                      </p:stCondLst>
                      <p:childTnLst>
                        <p:par>
                          <p:cTn id="13" fill="hold">
                            <p:stCondLst>
                              <p:cond delay="0"/>
                            </p:stCondLst>
                            <p:childTnLst>
                              <p:par>
                                <p:cTn id="14" presetID="22" presetClass="entr" presetSubtype="8" fill="hold" grpId="0" nodeType="clickEffect">
                                  <p:stCondLst>
                                    <p:cond delay="0"/>
                                  </p:stCondLst>
                                  <p:childTnLst>
                                    <p:set>
                                      <p:cBhvr>
                                        <p:cTn id="15" dur="1" fill="hold">
                                          <p:stCondLst>
                                            <p:cond delay="0"/>
                                          </p:stCondLst>
                                        </p:cTn>
                                        <p:tgtEl>
                                          <p:spTgt spid="6">
                                            <p:txEl>
                                              <p:pRg st="0" end="0"/>
                                            </p:txEl>
                                          </p:spTgt>
                                        </p:tgtEl>
                                        <p:attrNameLst>
                                          <p:attrName>style.visibility</p:attrName>
                                        </p:attrNameLst>
                                      </p:cBhvr>
                                      <p:to>
                                        <p:strVal val="visible"/>
                                      </p:to>
                                    </p:set>
                                    <p:animEffect transition="in" filter="wipe(left)">
                                      <p:cBhvr>
                                        <p:cTn id="16" dur="1500"/>
                                        <p:tgtEl>
                                          <p:spTgt spid="6">
                                            <p:txEl>
                                              <p:pRg st="0" end="0"/>
                                            </p:txEl>
                                          </p:spTgt>
                                        </p:tgtEl>
                                      </p:cBhvr>
                                    </p:animEffect>
                                  </p:childTnLst>
                                </p:cTn>
                              </p:par>
                            </p:childTnLst>
                          </p:cTn>
                        </p:par>
                        <p:par>
                          <p:cTn id="17" fill="hold">
                            <p:stCondLst>
                              <p:cond delay="1500"/>
                            </p:stCondLst>
                            <p:childTnLst>
                              <p:par>
                                <p:cTn id="18" presetID="22" presetClass="entr" presetSubtype="8" fill="hold" grpId="0" nodeType="afterEffect">
                                  <p:stCondLst>
                                    <p:cond delay="0"/>
                                  </p:stCondLst>
                                  <p:childTnLst>
                                    <p:set>
                                      <p:cBhvr>
                                        <p:cTn id="19" dur="1" fill="hold">
                                          <p:stCondLst>
                                            <p:cond delay="0"/>
                                          </p:stCondLst>
                                        </p:cTn>
                                        <p:tgtEl>
                                          <p:spTgt spid="6">
                                            <p:txEl>
                                              <p:pRg st="1" end="1"/>
                                            </p:txEl>
                                          </p:spTgt>
                                        </p:tgtEl>
                                        <p:attrNameLst>
                                          <p:attrName>style.visibility</p:attrName>
                                        </p:attrNameLst>
                                      </p:cBhvr>
                                      <p:to>
                                        <p:strVal val="visible"/>
                                      </p:to>
                                    </p:set>
                                    <p:animEffect transition="in" filter="wipe(left)">
                                      <p:cBhvr>
                                        <p:cTn id="20" dur="1500"/>
                                        <p:tgtEl>
                                          <p:spTgt spid="6">
                                            <p:txEl>
                                              <p:pRg st="1" end="1"/>
                                            </p:txEl>
                                          </p:spTgt>
                                        </p:tgtEl>
                                      </p:cBhvr>
                                    </p:animEffect>
                                  </p:childTnLst>
                                </p:cTn>
                              </p:par>
                            </p:childTnLst>
                          </p:cTn>
                        </p:par>
                        <p:par>
                          <p:cTn id="21" fill="hold">
                            <p:stCondLst>
                              <p:cond delay="3000"/>
                            </p:stCondLst>
                            <p:childTnLst>
                              <p:par>
                                <p:cTn id="22" presetID="22" presetClass="entr" presetSubtype="8" fill="hold" grpId="0" nodeType="afterEffect">
                                  <p:stCondLst>
                                    <p:cond delay="0"/>
                                  </p:stCondLst>
                                  <p:childTnLst>
                                    <p:set>
                                      <p:cBhvr>
                                        <p:cTn id="23" dur="1" fill="hold">
                                          <p:stCondLst>
                                            <p:cond delay="0"/>
                                          </p:stCondLst>
                                        </p:cTn>
                                        <p:tgtEl>
                                          <p:spTgt spid="6">
                                            <p:txEl>
                                              <p:pRg st="2" end="2"/>
                                            </p:txEl>
                                          </p:spTgt>
                                        </p:tgtEl>
                                        <p:attrNameLst>
                                          <p:attrName>style.visibility</p:attrName>
                                        </p:attrNameLst>
                                      </p:cBhvr>
                                      <p:to>
                                        <p:strVal val="visible"/>
                                      </p:to>
                                    </p:set>
                                    <p:animEffect transition="in" filter="wipe(left)">
                                      <p:cBhvr>
                                        <p:cTn id="24" dur="1500"/>
                                        <p:tgtEl>
                                          <p:spTgt spid="6">
                                            <p:txEl>
                                              <p:pRg st="2" end="2"/>
                                            </p:txEl>
                                          </p:spTgt>
                                        </p:tgtEl>
                                      </p:cBhvr>
                                    </p:animEffect>
                                  </p:childTnLst>
                                </p:cTn>
                              </p:par>
                            </p:childTnLst>
                          </p:cTn>
                        </p:par>
                        <p:par>
                          <p:cTn id="25" fill="hold">
                            <p:stCondLst>
                              <p:cond delay="4500"/>
                            </p:stCondLst>
                            <p:childTnLst>
                              <p:par>
                                <p:cTn id="26" presetID="22" presetClass="entr" presetSubtype="8" fill="hold" grpId="0" nodeType="afterEffect">
                                  <p:stCondLst>
                                    <p:cond delay="0"/>
                                  </p:stCondLst>
                                  <p:childTnLst>
                                    <p:set>
                                      <p:cBhvr>
                                        <p:cTn id="27" dur="1" fill="hold">
                                          <p:stCondLst>
                                            <p:cond delay="0"/>
                                          </p:stCondLst>
                                        </p:cTn>
                                        <p:tgtEl>
                                          <p:spTgt spid="6">
                                            <p:txEl>
                                              <p:pRg st="3" end="3"/>
                                            </p:txEl>
                                          </p:spTgt>
                                        </p:tgtEl>
                                        <p:attrNameLst>
                                          <p:attrName>style.visibility</p:attrName>
                                        </p:attrNameLst>
                                      </p:cBhvr>
                                      <p:to>
                                        <p:strVal val="visible"/>
                                      </p:to>
                                    </p:set>
                                    <p:animEffect transition="in" filter="wipe(left)">
                                      <p:cBhvr>
                                        <p:cTn id="28" dur="1500"/>
                                        <p:tgtEl>
                                          <p:spTgt spid="6">
                                            <p:txEl>
                                              <p:pRg st="3" end="3"/>
                                            </p:txEl>
                                          </p:spTgt>
                                        </p:tgtEl>
                                      </p:cBhvr>
                                    </p:animEffect>
                                  </p:childTnLst>
                                </p:cTn>
                              </p:par>
                            </p:childTnLst>
                          </p:cTn>
                        </p:par>
                      </p:childTnLst>
                    </p:cTn>
                  </p:par>
                  <p:par>
                    <p:cTn id="29" fill="hold">
                      <p:stCondLst>
                        <p:cond delay="indefinite"/>
                      </p:stCondLst>
                      <p:childTnLst>
                        <p:par>
                          <p:cTn id="30" fill="hold">
                            <p:stCondLst>
                              <p:cond delay="0"/>
                            </p:stCondLst>
                            <p:childTnLst>
                              <p:par>
                                <p:cTn id="31" presetID="22" presetClass="entr" presetSubtype="8" fill="hold" grpId="0" nodeType="clickEffect">
                                  <p:stCondLst>
                                    <p:cond delay="0"/>
                                  </p:stCondLst>
                                  <p:childTnLst>
                                    <p:set>
                                      <p:cBhvr>
                                        <p:cTn id="32" dur="1" fill="hold">
                                          <p:stCondLst>
                                            <p:cond delay="0"/>
                                          </p:stCondLst>
                                        </p:cTn>
                                        <p:tgtEl>
                                          <p:spTgt spid="19">
                                            <p:txEl>
                                              <p:pRg st="0" end="0"/>
                                            </p:txEl>
                                          </p:spTgt>
                                        </p:tgtEl>
                                        <p:attrNameLst>
                                          <p:attrName>style.visibility</p:attrName>
                                        </p:attrNameLst>
                                      </p:cBhvr>
                                      <p:to>
                                        <p:strVal val="visible"/>
                                      </p:to>
                                    </p:set>
                                    <p:animEffect transition="in" filter="wipe(left)">
                                      <p:cBhvr>
                                        <p:cTn id="33" dur="1000"/>
                                        <p:tgtEl>
                                          <p:spTgt spid="19">
                                            <p:txEl>
                                              <p:pRg st="0" end="0"/>
                                            </p:txEl>
                                          </p:spTgt>
                                        </p:tgtEl>
                                      </p:cBhvr>
                                    </p:animEffect>
                                  </p:childTnLst>
                                </p:cTn>
                              </p:par>
                            </p:childTnLst>
                          </p:cTn>
                        </p:par>
                        <p:par>
                          <p:cTn id="34" fill="hold">
                            <p:stCondLst>
                              <p:cond delay="1000"/>
                            </p:stCondLst>
                            <p:childTnLst>
                              <p:par>
                                <p:cTn id="35" presetID="22" presetClass="entr" presetSubtype="8" fill="hold" grpId="0" nodeType="afterEffect">
                                  <p:stCondLst>
                                    <p:cond delay="0"/>
                                  </p:stCondLst>
                                  <p:childTnLst>
                                    <p:set>
                                      <p:cBhvr>
                                        <p:cTn id="36" dur="1" fill="hold">
                                          <p:stCondLst>
                                            <p:cond delay="0"/>
                                          </p:stCondLst>
                                        </p:cTn>
                                        <p:tgtEl>
                                          <p:spTgt spid="19">
                                            <p:txEl>
                                              <p:pRg st="1" end="1"/>
                                            </p:txEl>
                                          </p:spTgt>
                                        </p:tgtEl>
                                        <p:attrNameLst>
                                          <p:attrName>style.visibility</p:attrName>
                                        </p:attrNameLst>
                                      </p:cBhvr>
                                      <p:to>
                                        <p:strVal val="visible"/>
                                      </p:to>
                                    </p:set>
                                    <p:animEffect transition="in" filter="wipe(left)">
                                      <p:cBhvr>
                                        <p:cTn id="37" dur="1000"/>
                                        <p:tgtEl>
                                          <p:spTgt spid="19">
                                            <p:txEl>
                                              <p:pRg st="1" end="1"/>
                                            </p:txEl>
                                          </p:spTgt>
                                        </p:tgtEl>
                                      </p:cBhvr>
                                    </p:animEffect>
                                  </p:childTnLst>
                                </p:cTn>
                              </p:par>
                            </p:childTnLst>
                          </p:cTn>
                        </p:par>
                        <p:par>
                          <p:cTn id="38" fill="hold">
                            <p:stCondLst>
                              <p:cond delay="2000"/>
                            </p:stCondLst>
                            <p:childTnLst>
                              <p:par>
                                <p:cTn id="39" presetID="22" presetClass="entr" presetSubtype="8" fill="hold" grpId="0" nodeType="afterEffect">
                                  <p:stCondLst>
                                    <p:cond delay="0"/>
                                  </p:stCondLst>
                                  <p:childTnLst>
                                    <p:set>
                                      <p:cBhvr>
                                        <p:cTn id="40" dur="1" fill="hold">
                                          <p:stCondLst>
                                            <p:cond delay="0"/>
                                          </p:stCondLst>
                                        </p:cTn>
                                        <p:tgtEl>
                                          <p:spTgt spid="19">
                                            <p:txEl>
                                              <p:pRg st="2" end="2"/>
                                            </p:txEl>
                                          </p:spTgt>
                                        </p:tgtEl>
                                        <p:attrNameLst>
                                          <p:attrName>style.visibility</p:attrName>
                                        </p:attrNameLst>
                                      </p:cBhvr>
                                      <p:to>
                                        <p:strVal val="visible"/>
                                      </p:to>
                                    </p:set>
                                    <p:animEffect transition="in" filter="wipe(left)">
                                      <p:cBhvr>
                                        <p:cTn id="41" dur="1000"/>
                                        <p:tgtEl>
                                          <p:spTgt spid="19">
                                            <p:txEl>
                                              <p:pRg st="2" end="2"/>
                                            </p:txEl>
                                          </p:spTgt>
                                        </p:tgtEl>
                                      </p:cBhvr>
                                    </p:animEffect>
                                  </p:childTnLst>
                                </p:cTn>
                              </p:par>
                            </p:childTnLst>
                          </p:cTn>
                        </p:par>
                        <p:par>
                          <p:cTn id="42" fill="hold">
                            <p:stCondLst>
                              <p:cond delay="3000"/>
                            </p:stCondLst>
                            <p:childTnLst>
                              <p:par>
                                <p:cTn id="43" presetID="22" presetClass="entr" presetSubtype="8" fill="hold" grpId="0" nodeType="afterEffect">
                                  <p:stCondLst>
                                    <p:cond delay="0"/>
                                  </p:stCondLst>
                                  <p:childTnLst>
                                    <p:set>
                                      <p:cBhvr>
                                        <p:cTn id="44" dur="1" fill="hold">
                                          <p:stCondLst>
                                            <p:cond delay="0"/>
                                          </p:stCondLst>
                                        </p:cTn>
                                        <p:tgtEl>
                                          <p:spTgt spid="19">
                                            <p:txEl>
                                              <p:pRg st="3" end="3"/>
                                            </p:txEl>
                                          </p:spTgt>
                                        </p:tgtEl>
                                        <p:attrNameLst>
                                          <p:attrName>style.visibility</p:attrName>
                                        </p:attrNameLst>
                                      </p:cBhvr>
                                      <p:to>
                                        <p:strVal val="visible"/>
                                      </p:to>
                                    </p:set>
                                    <p:animEffect transition="in" filter="wipe(left)">
                                      <p:cBhvr>
                                        <p:cTn id="45" dur="1000"/>
                                        <p:tgtEl>
                                          <p:spTgt spid="19">
                                            <p:txEl>
                                              <p:pRg st="3" end="3"/>
                                            </p:txEl>
                                          </p:spTgt>
                                        </p:tgtEl>
                                      </p:cBhvr>
                                    </p:animEffect>
                                  </p:childTnLst>
                                </p:cTn>
                              </p:par>
                            </p:childTnLst>
                          </p:cTn>
                        </p:par>
                        <p:par>
                          <p:cTn id="46" fill="hold">
                            <p:stCondLst>
                              <p:cond delay="4000"/>
                            </p:stCondLst>
                            <p:childTnLst>
                              <p:par>
                                <p:cTn id="47" presetID="22" presetClass="entr" presetSubtype="8" fill="hold" grpId="0" nodeType="afterEffect">
                                  <p:stCondLst>
                                    <p:cond delay="0"/>
                                  </p:stCondLst>
                                  <p:childTnLst>
                                    <p:set>
                                      <p:cBhvr>
                                        <p:cTn id="48" dur="1" fill="hold">
                                          <p:stCondLst>
                                            <p:cond delay="0"/>
                                          </p:stCondLst>
                                        </p:cTn>
                                        <p:tgtEl>
                                          <p:spTgt spid="19">
                                            <p:txEl>
                                              <p:pRg st="4" end="4"/>
                                            </p:txEl>
                                          </p:spTgt>
                                        </p:tgtEl>
                                        <p:attrNameLst>
                                          <p:attrName>style.visibility</p:attrName>
                                        </p:attrNameLst>
                                      </p:cBhvr>
                                      <p:to>
                                        <p:strVal val="visible"/>
                                      </p:to>
                                    </p:set>
                                    <p:animEffect transition="in" filter="wipe(left)">
                                      <p:cBhvr>
                                        <p:cTn id="49" dur="1000"/>
                                        <p:tgtEl>
                                          <p:spTgt spid="19">
                                            <p:txEl>
                                              <p:pRg st="4" end="4"/>
                                            </p:txEl>
                                          </p:spTgt>
                                        </p:tgtEl>
                                      </p:cBhvr>
                                    </p:animEffect>
                                  </p:childTnLst>
                                </p:cTn>
                              </p:par>
                            </p:childTnLst>
                          </p:cTn>
                        </p:par>
                      </p:childTnLst>
                    </p:cTn>
                  </p:par>
                  <p:par>
                    <p:cTn id="50" fill="hold">
                      <p:stCondLst>
                        <p:cond delay="indefinite"/>
                      </p:stCondLst>
                      <p:childTnLst>
                        <p:par>
                          <p:cTn id="51" fill="hold">
                            <p:stCondLst>
                              <p:cond delay="0"/>
                            </p:stCondLst>
                            <p:childTnLst>
                              <p:par>
                                <p:cTn id="52" presetID="22" presetClass="entr" presetSubtype="8" fill="hold" grpId="0" nodeType="clickEffect">
                                  <p:stCondLst>
                                    <p:cond delay="0"/>
                                  </p:stCondLst>
                                  <p:childTnLst>
                                    <p:set>
                                      <p:cBhvr>
                                        <p:cTn id="53" dur="1" fill="hold">
                                          <p:stCondLst>
                                            <p:cond delay="0"/>
                                          </p:stCondLst>
                                        </p:cTn>
                                        <p:tgtEl>
                                          <p:spTgt spid="27"/>
                                        </p:tgtEl>
                                        <p:attrNameLst>
                                          <p:attrName>style.visibility</p:attrName>
                                        </p:attrNameLst>
                                      </p:cBhvr>
                                      <p:to>
                                        <p:strVal val="visible"/>
                                      </p:to>
                                    </p:set>
                                    <p:animEffect transition="in" filter="wipe(left)">
                                      <p:cBhvr>
                                        <p:cTn id="54" dur="1000"/>
                                        <p:tgtEl>
                                          <p:spTgt spid="27"/>
                                        </p:tgtEl>
                                      </p:cBhvr>
                                    </p:animEffect>
                                  </p:childTnLst>
                                </p:cTn>
                              </p:par>
                            </p:childTnLst>
                          </p:cTn>
                        </p:par>
                        <p:par>
                          <p:cTn id="55" fill="hold">
                            <p:stCondLst>
                              <p:cond delay="1000"/>
                            </p:stCondLst>
                            <p:childTnLst>
                              <p:par>
                                <p:cTn id="56" presetID="22" presetClass="entr" presetSubtype="8" fill="hold" grpId="0" nodeType="afterEffect">
                                  <p:stCondLst>
                                    <p:cond delay="0"/>
                                  </p:stCondLst>
                                  <p:childTnLst>
                                    <p:set>
                                      <p:cBhvr>
                                        <p:cTn id="57" dur="1" fill="hold">
                                          <p:stCondLst>
                                            <p:cond delay="0"/>
                                          </p:stCondLst>
                                        </p:cTn>
                                        <p:tgtEl>
                                          <p:spTgt spid="10"/>
                                        </p:tgtEl>
                                        <p:attrNameLst>
                                          <p:attrName>style.visibility</p:attrName>
                                        </p:attrNameLst>
                                      </p:cBhvr>
                                      <p:to>
                                        <p:strVal val="visible"/>
                                      </p:to>
                                    </p:set>
                                    <p:animEffect transition="in" filter="wipe(left)">
                                      <p:cBhvr>
                                        <p:cTn id="58" dur="500"/>
                                        <p:tgtEl>
                                          <p:spTgt spid="10"/>
                                        </p:tgtEl>
                                      </p:cBhvr>
                                    </p:animEffect>
                                  </p:childTnLst>
                                </p:cTn>
                              </p:par>
                            </p:childTnLst>
                          </p:cTn>
                        </p:par>
                        <p:par>
                          <p:cTn id="59" fill="hold">
                            <p:stCondLst>
                              <p:cond delay="1500"/>
                            </p:stCondLst>
                            <p:childTnLst>
                              <p:par>
                                <p:cTn id="60" presetID="22" presetClass="entr" presetSubtype="8" fill="hold" grpId="0" nodeType="afterEffect">
                                  <p:stCondLst>
                                    <p:cond delay="0"/>
                                  </p:stCondLst>
                                  <p:childTnLst>
                                    <p:set>
                                      <p:cBhvr>
                                        <p:cTn id="61" dur="1" fill="hold">
                                          <p:stCondLst>
                                            <p:cond delay="0"/>
                                          </p:stCondLst>
                                        </p:cTn>
                                        <p:tgtEl>
                                          <p:spTgt spid="26"/>
                                        </p:tgtEl>
                                        <p:attrNameLst>
                                          <p:attrName>style.visibility</p:attrName>
                                        </p:attrNameLst>
                                      </p:cBhvr>
                                      <p:to>
                                        <p:strVal val="visible"/>
                                      </p:to>
                                    </p:set>
                                    <p:animEffect transition="in" filter="wipe(left)">
                                      <p:cBhvr>
                                        <p:cTn id="62" dur="1000"/>
                                        <p:tgtEl>
                                          <p:spTgt spid="26"/>
                                        </p:tgtEl>
                                      </p:cBhvr>
                                    </p:animEffect>
                                  </p:childTnLst>
                                </p:cTn>
                              </p:par>
                            </p:childTnLst>
                          </p:cTn>
                        </p:par>
                        <p:par>
                          <p:cTn id="63" fill="hold">
                            <p:stCondLst>
                              <p:cond delay="2500"/>
                            </p:stCondLst>
                            <p:childTnLst>
                              <p:par>
                                <p:cTn id="64" presetID="22" presetClass="entr" presetSubtype="8" fill="hold" nodeType="afterEffect">
                                  <p:stCondLst>
                                    <p:cond delay="0"/>
                                  </p:stCondLst>
                                  <p:childTnLst>
                                    <p:set>
                                      <p:cBhvr>
                                        <p:cTn id="65" dur="1" fill="hold">
                                          <p:stCondLst>
                                            <p:cond delay="0"/>
                                          </p:stCondLst>
                                        </p:cTn>
                                        <p:tgtEl>
                                          <p:spTgt spid="23"/>
                                        </p:tgtEl>
                                        <p:attrNameLst>
                                          <p:attrName>style.visibility</p:attrName>
                                        </p:attrNameLst>
                                      </p:cBhvr>
                                      <p:to>
                                        <p:strVal val="visible"/>
                                      </p:to>
                                    </p:set>
                                    <p:animEffect transition="in" filter="wipe(left)">
                                      <p:cBhvr>
                                        <p:cTn id="66" dur="2000"/>
                                        <p:tgtEl>
                                          <p:spTgt spid="23"/>
                                        </p:tgtEl>
                                      </p:cBhvr>
                                    </p:animEffect>
                                  </p:childTnLst>
                                </p:cTn>
                              </p:par>
                            </p:childTnLst>
                          </p:cTn>
                        </p:par>
                      </p:childTnLst>
                    </p:cTn>
                  </p:par>
                  <p:par>
                    <p:cTn id="67" fill="hold">
                      <p:stCondLst>
                        <p:cond delay="indefinite"/>
                      </p:stCondLst>
                      <p:childTnLst>
                        <p:par>
                          <p:cTn id="68" fill="hold">
                            <p:stCondLst>
                              <p:cond delay="0"/>
                            </p:stCondLst>
                            <p:childTnLst>
                              <p:par>
                                <p:cTn id="69" presetID="22" presetClass="exit" presetSubtype="8" fill="hold" grpId="1" nodeType="clickEffect">
                                  <p:stCondLst>
                                    <p:cond delay="0"/>
                                  </p:stCondLst>
                                  <p:childTnLst>
                                    <p:animEffect transition="out" filter="wipe(left)">
                                      <p:cBhvr>
                                        <p:cTn id="70" dur="500"/>
                                        <p:tgtEl>
                                          <p:spTgt spid="27"/>
                                        </p:tgtEl>
                                      </p:cBhvr>
                                    </p:animEffect>
                                    <p:set>
                                      <p:cBhvr>
                                        <p:cTn id="71" dur="1" fill="hold">
                                          <p:stCondLst>
                                            <p:cond delay="499"/>
                                          </p:stCondLst>
                                        </p:cTn>
                                        <p:tgtEl>
                                          <p:spTgt spid="27"/>
                                        </p:tgtEl>
                                        <p:attrNameLst>
                                          <p:attrName>style.visibility</p:attrName>
                                        </p:attrNameLst>
                                      </p:cBhvr>
                                      <p:to>
                                        <p:strVal val="hidden"/>
                                      </p:to>
                                    </p:set>
                                  </p:childTnLst>
                                </p:cTn>
                              </p:par>
                            </p:childTnLst>
                          </p:cTn>
                        </p:par>
                        <p:par>
                          <p:cTn id="72" fill="hold">
                            <p:stCondLst>
                              <p:cond delay="500"/>
                            </p:stCondLst>
                            <p:childTnLst>
                              <p:par>
                                <p:cTn id="73" presetID="22" presetClass="entr" presetSubtype="8" fill="hold" grpId="0" nodeType="afterEffect">
                                  <p:stCondLst>
                                    <p:cond delay="0"/>
                                  </p:stCondLst>
                                  <p:childTnLst>
                                    <p:set>
                                      <p:cBhvr>
                                        <p:cTn id="74" dur="1" fill="hold">
                                          <p:stCondLst>
                                            <p:cond delay="0"/>
                                          </p:stCondLst>
                                        </p:cTn>
                                        <p:tgtEl>
                                          <p:spTgt spid="35"/>
                                        </p:tgtEl>
                                        <p:attrNameLst>
                                          <p:attrName>style.visibility</p:attrName>
                                        </p:attrNameLst>
                                      </p:cBhvr>
                                      <p:to>
                                        <p:strVal val="visible"/>
                                      </p:to>
                                    </p:set>
                                    <p:animEffect transition="in" filter="wipe(left)">
                                      <p:cBhvr>
                                        <p:cTn id="75" dur="1000"/>
                                        <p:tgtEl>
                                          <p:spTgt spid="35"/>
                                        </p:tgtEl>
                                      </p:cBhvr>
                                    </p:animEffect>
                                  </p:childTnLst>
                                </p:cTn>
                              </p:par>
                            </p:childTnLst>
                          </p:cTn>
                        </p:par>
                        <p:par>
                          <p:cTn id="76" fill="hold">
                            <p:stCondLst>
                              <p:cond delay="1500"/>
                            </p:stCondLst>
                            <p:childTnLst>
                              <p:par>
                                <p:cTn id="77" presetID="22" presetClass="entr" presetSubtype="8" fill="hold" grpId="0" nodeType="afterEffect">
                                  <p:stCondLst>
                                    <p:cond delay="0"/>
                                  </p:stCondLst>
                                  <p:childTnLst>
                                    <p:set>
                                      <p:cBhvr>
                                        <p:cTn id="78" dur="1" fill="hold">
                                          <p:stCondLst>
                                            <p:cond delay="0"/>
                                          </p:stCondLst>
                                        </p:cTn>
                                        <p:tgtEl>
                                          <p:spTgt spid="37"/>
                                        </p:tgtEl>
                                        <p:attrNameLst>
                                          <p:attrName>style.visibility</p:attrName>
                                        </p:attrNameLst>
                                      </p:cBhvr>
                                      <p:to>
                                        <p:strVal val="visible"/>
                                      </p:to>
                                    </p:set>
                                    <p:animEffect transition="in" filter="wipe(left)">
                                      <p:cBhvr>
                                        <p:cTn id="79" dur="500"/>
                                        <p:tgtEl>
                                          <p:spTgt spid="37"/>
                                        </p:tgtEl>
                                      </p:cBhvr>
                                    </p:animEffect>
                                  </p:childTnLst>
                                </p:cTn>
                              </p:par>
                            </p:childTnLst>
                          </p:cTn>
                        </p:par>
                        <p:par>
                          <p:cTn id="80" fill="hold">
                            <p:stCondLst>
                              <p:cond delay="2000"/>
                            </p:stCondLst>
                            <p:childTnLst>
                              <p:par>
                                <p:cTn id="81" presetID="22" presetClass="entr" presetSubtype="1" fill="hold" grpId="0" nodeType="afterEffect">
                                  <p:stCondLst>
                                    <p:cond delay="0"/>
                                  </p:stCondLst>
                                  <p:childTnLst>
                                    <p:set>
                                      <p:cBhvr>
                                        <p:cTn id="82" dur="1" fill="hold">
                                          <p:stCondLst>
                                            <p:cond delay="0"/>
                                          </p:stCondLst>
                                        </p:cTn>
                                        <p:tgtEl>
                                          <p:spTgt spid="36"/>
                                        </p:tgtEl>
                                        <p:attrNameLst>
                                          <p:attrName>style.visibility</p:attrName>
                                        </p:attrNameLst>
                                      </p:cBhvr>
                                      <p:to>
                                        <p:strVal val="visible"/>
                                      </p:to>
                                    </p:set>
                                    <p:animEffect transition="in" filter="wipe(up)">
                                      <p:cBhvr>
                                        <p:cTn id="83" dur="1000"/>
                                        <p:tgtEl>
                                          <p:spTgt spid="36"/>
                                        </p:tgtEl>
                                      </p:cBhvr>
                                    </p:animEffect>
                                  </p:childTnLst>
                                </p:cTn>
                              </p:par>
                            </p:childTnLst>
                          </p:cTn>
                        </p:par>
                        <p:par>
                          <p:cTn id="84" fill="hold">
                            <p:stCondLst>
                              <p:cond delay="3000"/>
                            </p:stCondLst>
                            <p:childTnLst>
                              <p:par>
                                <p:cTn id="85" presetID="22" presetClass="entr" presetSubtype="8" fill="hold" grpId="0" nodeType="afterEffect">
                                  <p:stCondLst>
                                    <p:cond delay="0"/>
                                  </p:stCondLst>
                                  <p:childTnLst>
                                    <p:set>
                                      <p:cBhvr>
                                        <p:cTn id="86" dur="1" fill="hold">
                                          <p:stCondLst>
                                            <p:cond delay="0"/>
                                          </p:stCondLst>
                                        </p:cTn>
                                        <p:tgtEl>
                                          <p:spTgt spid="40"/>
                                        </p:tgtEl>
                                        <p:attrNameLst>
                                          <p:attrName>style.visibility</p:attrName>
                                        </p:attrNameLst>
                                      </p:cBhvr>
                                      <p:to>
                                        <p:strVal val="visible"/>
                                      </p:to>
                                    </p:set>
                                    <p:animEffect transition="in" filter="wipe(left)">
                                      <p:cBhvr>
                                        <p:cTn id="87" dur="500"/>
                                        <p:tgtEl>
                                          <p:spTgt spid="40"/>
                                        </p:tgtEl>
                                      </p:cBhvr>
                                    </p:animEffect>
                                  </p:childTnLst>
                                </p:cTn>
                              </p:par>
                            </p:childTnLst>
                          </p:cTn>
                        </p:par>
                        <p:par>
                          <p:cTn id="88" fill="hold">
                            <p:stCondLst>
                              <p:cond delay="3500"/>
                            </p:stCondLst>
                            <p:childTnLst>
                              <p:par>
                                <p:cTn id="89" presetID="22" presetClass="entr" presetSubtype="8" fill="hold" grpId="0" nodeType="afterEffect">
                                  <p:stCondLst>
                                    <p:cond delay="0"/>
                                  </p:stCondLst>
                                  <p:childTnLst>
                                    <p:set>
                                      <p:cBhvr>
                                        <p:cTn id="90" dur="1" fill="hold">
                                          <p:stCondLst>
                                            <p:cond delay="0"/>
                                          </p:stCondLst>
                                        </p:cTn>
                                        <p:tgtEl>
                                          <p:spTgt spid="7"/>
                                        </p:tgtEl>
                                        <p:attrNameLst>
                                          <p:attrName>style.visibility</p:attrName>
                                        </p:attrNameLst>
                                      </p:cBhvr>
                                      <p:to>
                                        <p:strVal val="visible"/>
                                      </p:to>
                                    </p:set>
                                    <p:animEffect transition="in" filter="wipe(left)">
                                      <p:cBhvr>
                                        <p:cTn id="91" dur="1500"/>
                                        <p:tgtEl>
                                          <p:spTgt spid="7"/>
                                        </p:tgtEl>
                                      </p:cBhvr>
                                    </p:animEffect>
                                  </p:childTnLst>
                                </p:cTn>
                              </p:par>
                            </p:childTnLst>
                          </p:cTn>
                        </p:par>
                        <p:par>
                          <p:cTn id="92" fill="hold">
                            <p:stCondLst>
                              <p:cond delay="5000"/>
                            </p:stCondLst>
                            <p:childTnLst>
                              <p:par>
                                <p:cTn id="93" presetID="22" presetClass="entr" presetSubtype="8" fill="hold" grpId="0" nodeType="afterEffect">
                                  <p:stCondLst>
                                    <p:cond delay="0"/>
                                  </p:stCondLst>
                                  <p:childTnLst>
                                    <p:set>
                                      <p:cBhvr>
                                        <p:cTn id="94" dur="1" fill="hold">
                                          <p:stCondLst>
                                            <p:cond delay="0"/>
                                          </p:stCondLst>
                                        </p:cTn>
                                        <p:tgtEl>
                                          <p:spTgt spid="33"/>
                                        </p:tgtEl>
                                        <p:attrNameLst>
                                          <p:attrName>style.visibility</p:attrName>
                                        </p:attrNameLst>
                                      </p:cBhvr>
                                      <p:to>
                                        <p:strVal val="visible"/>
                                      </p:to>
                                    </p:set>
                                    <p:animEffect transition="in" filter="wipe(left)">
                                      <p:cBhvr>
                                        <p:cTn id="95" dur="500"/>
                                        <p:tgtEl>
                                          <p:spTgt spid="33"/>
                                        </p:tgtEl>
                                      </p:cBhvr>
                                    </p:animEffect>
                                  </p:childTnLst>
                                </p:cTn>
                              </p:par>
                            </p:childTnLst>
                          </p:cTn>
                        </p:par>
                        <p:par>
                          <p:cTn id="96" fill="hold">
                            <p:stCondLst>
                              <p:cond delay="5500"/>
                            </p:stCondLst>
                            <p:childTnLst>
                              <p:par>
                                <p:cTn id="97" presetID="22" presetClass="entr" presetSubtype="8" fill="hold" grpId="0" nodeType="afterEffect">
                                  <p:stCondLst>
                                    <p:cond delay="0"/>
                                  </p:stCondLst>
                                  <p:childTnLst>
                                    <p:set>
                                      <p:cBhvr>
                                        <p:cTn id="98" dur="1" fill="hold">
                                          <p:stCondLst>
                                            <p:cond delay="0"/>
                                          </p:stCondLst>
                                        </p:cTn>
                                        <p:tgtEl>
                                          <p:spTgt spid="20"/>
                                        </p:tgtEl>
                                        <p:attrNameLst>
                                          <p:attrName>style.visibility</p:attrName>
                                        </p:attrNameLst>
                                      </p:cBhvr>
                                      <p:to>
                                        <p:strVal val="visible"/>
                                      </p:to>
                                    </p:set>
                                    <p:animEffect transition="in" filter="wipe(left)">
                                      <p:cBhvr>
                                        <p:cTn id="99" dur="1500"/>
                                        <p:tgtEl>
                                          <p:spTgt spid="20"/>
                                        </p:tgtEl>
                                      </p:cBhvr>
                                    </p:animEffect>
                                  </p:childTnLst>
                                </p:cTn>
                              </p:par>
                            </p:childTnLst>
                          </p:cTn>
                        </p:par>
                        <p:par>
                          <p:cTn id="100" fill="hold">
                            <p:stCondLst>
                              <p:cond delay="7000"/>
                            </p:stCondLst>
                            <p:childTnLst>
                              <p:par>
                                <p:cTn id="101" presetID="22" presetClass="entr" presetSubtype="8" fill="hold" grpId="0" nodeType="afterEffect">
                                  <p:stCondLst>
                                    <p:cond delay="0"/>
                                  </p:stCondLst>
                                  <p:childTnLst>
                                    <p:set>
                                      <p:cBhvr>
                                        <p:cTn id="102" dur="1" fill="hold">
                                          <p:stCondLst>
                                            <p:cond delay="0"/>
                                          </p:stCondLst>
                                        </p:cTn>
                                        <p:tgtEl>
                                          <p:spTgt spid="11"/>
                                        </p:tgtEl>
                                        <p:attrNameLst>
                                          <p:attrName>style.visibility</p:attrName>
                                        </p:attrNameLst>
                                      </p:cBhvr>
                                      <p:to>
                                        <p:strVal val="visible"/>
                                      </p:to>
                                    </p:set>
                                    <p:animEffect transition="in" filter="wipe(left)">
                                      <p:cBhvr>
                                        <p:cTn id="103" dur="500"/>
                                        <p:tgtEl>
                                          <p:spTgt spid="11"/>
                                        </p:tgtEl>
                                      </p:cBhvr>
                                    </p:animEffect>
                                  </p:childTnLst>
                                </p:cTn>
                              </p:par>
                            </p:childTnLst>
                          </p:cTn>
                        </p:par>
                        <p:par>
                          <p:cTn id="104" fill="hold">
                            <p:stCondLst>
                              <p:cond delay="7500"/>
                            </p:stCondLst>
                            <p:childTnLst>
                              <p:par>
                                <p:cTn id="105" presetID="22" presetClass="entr" presetSubtype="8" fill="hold" grpId="0" nodeType="afterEffect">
                                  <p:stCondLst>
                                    <p:cond delay="0"/>
                                  </p:stCondLst>
                                  <p:childTnLst>
                                    <p:set>
                                      <p:cBhvr>
                                        <p:cTn id="106" dur="1" fill="hold">
                                          <p:stCondLst>
                                            <p:cond delay="0"/>
                                          </p:stCondLst>
                                        </p:cTn>
                                        <p:tgtEl>
                                          <p:spTgt spid="8"/>
                                        </p:tgtEl>
                                        <p:attrNameLst>
                                          <p:attrName>style.visibility</p:attrName>
                                        </p:attrNameLst>
                                      </p:cBhvr>
                                      <p:to>
                                        <p:strVal val="visible"/>
                                      </p:to>
                                    </p:set>
                                    <p:animEffect transition="in" filter="wipe(left)">
                                      <p:cBhvr>
                                        <p:cTn id="107" dur="1500"/>
                                        <p:tgtEl>
                                          <p:spTgt spid="8"/>
                                        </p:tgtEl>
                                      </p:cBhvr>
                                    </p:animEffect>
                                  </p:childTnLst>
                                </p:cTn>
                              </p:par>
                            </p:childTnLst>
                          </p:cTn>
                        </p:par>
                        <p:par>
                          <p:cTn id="108" fill="hold">
                            <p:stCondLst>
                              <p:cond delay="9000"/>
                            </p:stCondLst>
                            <p:childTnLst>
                              <p:par>
                                <p:cTn id="109" presetID="22" presetClass="entr" presetSubtype="8" fill="hold" grpId="0" nodeType="afterEffect">
                                  <p:stCondLst>
                                    <p:cond delay="0"/>
                                  </p:stCondLst>
                                  <p:childTnLst>
                                    <p:set>
                                      <p:cBhvr>
                                        <p:cTn id="110" dur="1" fill="hold">
                                          <p:stCondLst>
                                            <p:cond delay="0"/>
                                          </p:stCondLst>
                                        </p:cTn>
                                        <p:tgtEl>
                                          <p:spTgt spid="34"/>
                                        </p:tgtEl>
                                        <p:attrNameLst>
                                          <p:attrName>style.visibility</p:attrName>
                                        </p:attrNameLst>
                                      </p:cBhvr>
                                      <p:to>
                                        <p:strVal val="visible"/>
                                      </p:to>
                                    </p:set>
                                    <p:animEffect transition="in" filter="wipe(left)">
                                      <p:cBhvr>
                                        <p:cTn id="111" dur="500"/>
                                        <p:tgtEl>
                                          <p:spTgt spid="34"/>
                                        </p:tgtEl>
                                      </p:cBhvr>
                                    </p:animEffect>
                                  </p:childTnLst>
                                </p:cTn>
                              </p:par>
                            </p:childTnLst>
                          </p:cTn>
                        </p:par>
                        <p:par>
                          <p:cTn id="112" fill="hold">
                            <p:stCondLst>
                              <p:cond delay="9500"/>
                            </p:stCondLst>
                            <p:childTnLst>
                              <p:par>
                                <p:cTn id="113" presetID="22" presetClass="entr" presetSubtype="8" fill="hold" grpId="0" nodeType="afterEffect">
                                  <p:stCondLst>
                                    <p:cond delay="0"/>
                                  </p:stCondLst>
                                  <p:childTnLst>
                                    <p:set>
                                      <p:cBhvr>
                                        <p:cTn id="114" dur="1" fill="hold">
                                          <p:stCondLst>
                                            <p:cond delay="0"/>
                                          </p:stCondLst>
                                        </p:cTn>
                                        <p:tgtEl>
                                          <p:spTgt spid="21"/>
                                        </p:tgtEl>
                                        <p:attrNameLst>
                                          <p:attrName>style.visibility</p:attrName>
                                        </p:attrNameLst>
                                      </p:cBhvr>
                                      <p:to>
                                        <p:strVal val="visible"/>
                                      </p:to>
                                    </p:set>
                                    <p:animEffect transition="in" filter="wipe(left)">
                                      <p:cBhvr>
                                        <p:cTn id="115" dur="1500"/>
                                        <p:tgtEl>
                                          <p:spTgt spid="21"/>
                                        </p:tgtEl>
                                      </p:cBhvr>
                                    </p:animEffect>
                                  </p:childTnLst>
                                </p:cTn>
                              </p:par>
                            </p:childTnLst>
                          </p:cTn>
                        </p:par>
                      </p:childTnLst>
                    </p:cTn>
                  </p:par>
                  <p:par>
                    <p:cTn id="116" fill="hold">
                      <p:stCondLst>
                        <p:cond delay="indefinite"/>
                      </p:stCondLst>
                      <p:childTnLst>
                        <p:par>
                          <p:cTn id="117" fill="hold">
                            <p:stCondLst>
                              <p:cond delay="0"/>
                            </p:stCondLst>
                            <p:childTnLst>
                              <p:par>
                                <p:cTn id="118" presetID="22" presetClass="exit" presetSubtype="8" fill="hold" grpId="1" nodeType="clickEffect">
                                  <p:stCondLst>
                                    <p:cond delay="0"/>
                                  </p:stCondLst>
                                  <p:childTnLst>
                                    <p:animEffect transition="out" filter="wipe(left)">
                                      <p:cBhvr>
                                        <p:cTn id="119" dur="500"/>
                                        <p:tgtEl>
                                          <p:spTgt spid="35"/>
                                        </p:tgtEl>
                                      </p:cBhvr>
                                    </p:animEffect>
                                    <p:set>
                                      <p:cBhvr>
                                        <p:cTn id="120" dur="1" fill="hold">
                                          <p:stCondLst>
                                            <p:cond delay="499"/>
                                          </p:stCondLst>
                                        </p:cTn>
                                        <p:tgtEl>
                                          <p:spTgt spid="35"/>
                                        </p:tgtEl>
                                        <p:attrNameLst>
                                          <p:attrName>style.visibility</p:attrName>
                                        </p:attrNameLst>
                                      </p:cBhvr>
                                      <p:to>
                                        <p:strVal val="hidden"/>
                                      </p:to>
                                    </p:set>
                                  </p:childTnLst>
                                </p:cTn>
                              </p:par>
                            </p:childTnLst>
                          </p:cTn>
                        </p:par>
                        <p:par>
                          <p:cTn id="121" fill="hold">
                            <p:stCondLst>
                              <p:cond delay="500"/>
                            </p:stCondLst>
                            <p:childTnLst>
                              <p:par>
                                <p:cTn id="122" presetID="22" presetClass="entr" presetSubtype="8" fill="hold" grpId="0" nodeType="afterEffect">
                                  <p:stCondLst>
                                    <p:cond delay="0"/>
                                  </p:stCondLst>
                                  <p:childTnLst>
                                    <p:set>
                                      <p:cBhvr>
                                        <p:cTn id="123" dur="1" fill="hold">
                                          <p:stCondLst>
                                            <p:cond delay="0"/>
                                          </p:stCondLst>
                                        </p:cTn>
                                        <p:tgtEl>
                                          <p:spTgt spid="31"/>
                                        </p:tgtEl>
                                        <p:attrNameLst>
                                          <p:attrName>style.visibility</p:attrName>
                                        </p:attrNameLst>
                                      </p:cBhvr>
                                      <p:to>
                                        <p:strVal val="visible"/>
                                      </p:to>
                                    </p:set>
                                    <p:animEffect transition="in" filter="wipe(left)">
                                      <p:cBhvr>
                                        <p:cTn id="124" dur="1000"/>
                                        <p:tgtEl>
                                          <p:spTgt spid="31"/>
                                        </p:tgtEl>
                                      </p:cBhvr>
                                    </p:animEffect>
                                  </p:childTnLst>
                                </p:cTn>
                              </p:par>
                            </p:childTnLst>
                          </p:cTn>
                        </p:par>
                        <p:par>
                          <p:cTn id="125" fill="hold">
                            <p:stCondLst>
                              <p:cond delay="1500"/>
                            </p:stCondLst>
                            <p:childTnLst>
                              <p:par>
                                <p:cTn id="126" presetID="22" presetClass="entr" presetSubtype="8" fill="hold" grpId="0" nodeType="afterEffect">
                                  <p:stCondLst>
                                    <p:cond delay="0"/>
                                  </p:stCondLst>
                                  <p:childTnLst>
                                    <p:set>
                                      <p:cBhvr>
                                        <p:cTn id="127" dur="1" fill="hold">
                                          <p:stCondLst>
                                            <p:cond delay="0"/>
                                          </p:stCondLst>
                                        </p:cTn>
                                        <p:tgtEl>
                                          <p:spTgt spid="25"/>
                                        </p:tgtEl>
                                        <p:attrNameLst>
                                          <p:attrName>style.visibility</p:attrName>
                                        </p:attrNameLst>
                                      </p:cBhvr>
                                      <p:to>
                                        <p:strVal val="visible"/>
                                      </p:to>
                                    </p:set>
                                    <p:animEffect transition="in" filter="wipe(left)">
                                      <p:cBhvr>
                                        <p:cTn id="128" dur="500"/>
                                        <p:tgtEl>
                                          <p:spTgt spid="25"/>
                                        </p:tgtEl>
                                      </p:cBhvr>
                                    </p:animEffect>
                                  </p:childTnLst>
                                </p:cTn>
                              </p:par>
                            </p:childTnLst>
                          </p:cTn>
                        </p:par>
                        <p:par>
                          <p:cTn id="129" fill="hold">
                            <p:stCondLst>
                              <p:cond delay="2000"/>
                            </p:stCondLst>
                            <p:childTnLst>
                              <p:par>
                                <p:cTn id="130" presetID="22" presetClass="entr" presetSubtype="1" fill="hold" nodeType="afterEffect">
                                  <p:stCondLst>
                                    <p:cond delay="0"/>
                                  </p:stCondLst>
                                  <p:childTnLst>
                                    <p:set>
                                      <p:cBhvr>
                                        <p:cTn id="131" dur="1" fill="hold">
                                          <p:stCondLst>
                                            <p:cond delay="0"/>
                                          </p:stCondLst>
                                        </p:cTn>
                                        <p:tgtEl>
                                          <p:spTgt spid="5"/>
                                        </p:tgtEl>
                                        <p:attrNameLst>
                                          <p:attrName>style.visibility</p:attrName>
                                        </p:attrNameLst>
                                      </p:cBhvr>
                                      <p:to>
                                        <p:strVal val="visible"/>
                                      </p:to>
                                    </p:set>
                                    <p:animEffect transition="in" filter="wipe(up)">
                                      <p:cBhvr>
                                        <p:cTn id="132" dur="500"/>
                                        <p:tgtEl>
                                          <p:spTgt spid="5"/>
                                        </p:tgtEl>
                                      </p:cBhvr>
                                    </p:animEffect>
                                  </p:childTnLst>
                                </p:cTn>
                              </p:par>
                            </p:childTnLst>
                          </p:cTn>
                        </p:par>
                        <p:par>
                          <p:cTn id="133" fill="hold">
                            <p:stCondLst>
                              <p:cond delay="2500"/>
                            </p:stCondLst>
                            <p:childTnLst>
                              <p:par>
                                <p:cTn id="134" presetID="22" presetClass="entr" presetSubtype="1" fill="hold" grpId="0" nodeType="afterEffect">
                                  <p:stCondLst>
                                    <p:cond delay="0"/>
                                  </p:stCondLst>
                                  <p:childTnLst>
                                    <p:set>
                                      <p:cBhvr>
                                        <p:cTn id="135" dur="1" fill="hold">
                                          <p:stCondLst>
                                            <p:cond delay="0"/>
                                          </p:stCondLst>
                                        </p:cTn>
                                        <p:tgtEl>
                                          <p:spTgt spid="29"/>
                                        </p:tgtEl>
                                        <p:attrNameLst>
                                          <p:attrName>style.visibility</p:attrName>
                                        </p:attrNameLst>
                                      </p:cBhvr>
                                      <p:to>
                                        <p:strVal val="visible"/>
                                      </p:to>
                                    </p:set>
                                    <p:animEffect transition="in" filter="wipe(up)">
                                      <p:cBhvr>
                                        <p:cTn id="136" dur="1500"/>
                                        <p:tgtEl>
                                          <p:spTgt spid="29"/>
                                        </p:tgtEl>
                                      </p:cBhvr>
                                    </p:animEffect>
                                  </p:childTnLst>
                                </p:cTn>
                              </p:par>
                            </p:childTnLst>
                          </p:cTn>
                        </p:par>
                        <p:par>
                          <p:cTn id="137" fill="hold">
                            <p:stCondLst>
                              <p:cond delay="4000"/>
                            </p:stCondLst>
                            <p:childTnLst>
                              <p:par>
                                <p:cTn id="138" presetID="22" presetClass="entr" presetSubtype="1" fill="hold" nodeType="afterEffect">
                                  <p:stCondLst>
                                    <p:cond delay="0"/>
                                  </p:stCondLst>
                                  <p:childTnLst>
                                    <p:set>
                                      <p:cBhvr>
                                        <p:cTn id="139" dur="1" fill="hold">
                                          <p:stCondLst>
                                            <p:cond delay="0"/>
                                          </p:stCondLst>
                                        </p:cTn>
                                        <p:tgtEl>
                                          <p:spTgt spid="9"/>
                                        </p:tgtEl>
                                        <p:attrNameLst>
                                          <p:attrName>style.visibility</p:attrName>
                                        </p:attrNameLst>
                                      </p:cBhvr>
                                      <p:to>
                                        <p:strVal val="visible"/>
                                      </p:to>
                                    </p:set>
                                    <p:animEffect transition="in" filter="wipe(up)">
                                      <p:cBhvr>
                                        <p:cTn id="140" dur="500"/>
                                        <p:tgtEl>
                                          <p:spTgt spid="9"/>
                                        </p:tgtEl>
                                      </p:cBhvr>
                                    </p:animEffect>
                                  </p:childTnLst>
                                </p:cTn>
                              </p:par>
                            </p:childTnLst>
                          </p:cTn>
                        </p:par>
                        <p:par>
                          <p:cTn id="141" fill="hold">
                            <p:stCondLst>
                              <p:cond delay="4500"/>
                            </p:stCondLst>
                            <p:childTnLst>
                              <p:par>
                                <p:cTn id="142" presetID="22" presetClass="entr" presetSubtype="1" fill="hold" grpId="0" nodeType="afterEffect">
                                  <p:stCondLst>
                                    <p:cond delay="0"/>
                                  </p:stCondLst>
                                  <p:childTnLst>
                                    <p:set>
                                      <p:cBhvr>
                                        <p:cTn id="143" dur="1" fill="hold">
                                          <p:stCondLst>
                                            <p:cond delay="0"/>
                                          </p:stCondLst>
                                        </p:cTn>
                                        <p:tgtEl>
                                          <p:spTgt spid="30"/>
                                        </p:tgtEl>
                                        <p:attrNameLst>
                                          <p:attrName>style.visibility</p:attrName>
                                        </p:attrNameLst>
                                      </p:cBhvr>
                                      <p:to>
                                        <p:strVal val="visible"/>
                                      </p:to>
                                    </p:set>
                                    <p:animEffect transition="in" filter="wipe(up)">
                                      <p:cBhvr>
                                        <p:cTn id="144" dur="1500"/>
                                        <p:tgtEl>
                                          <p:spTgt spid="30"/>
                                        </p:tgtEl>
                                      </p:cBhvr>
                                    </p:animEffect>
                                  </p:childTnLst>
                                </p:cTn>
                              </p:par>
                            </p:childTnLst>
                          </p:cTn>
                        </p:par>
                        <p:par>
                          <p:cTn id="145" fill="hold">
                            <p:stCondLst>
                              <p:cond delay="6000"/>
                            </p:stCondLst>
                            <p:childTnLst>
                              <p:par>
                                <p:cTn id="146" presetID="22" presetClass="exit" presetSubtype="8" fill="hold" grpId="1" nodeType="afterEffect">
                                  <p:stCondLst>
                                    <p:cond delay="0"/>
                                  </p:stCondLst>
                                  <p:childTnLst>
                                    <p:animEffect transition="out" filter="wipe(left)">
                                      <p:cBhvr>
                                        <p:cTn id="147" dur="500"/>
                                        <p:tgtEl>
                                          <p:spTgt spid="31"/>
                                        </p:tgtEl>
                                      </p:cBhvr>
                                    </p:animEffect>
                                    <p:set>
                                      <p:cBhvr>
                                        <p:cTn id="148" dur="1" fill="hold">
                                          <p:stCondLst>
                                            <p:cond delay="499"/>
                                          </p:stCondLst>
                                        </p:cTn>
                                        <p:tgtEl>
                                          <p:spTgt spid="31"/>
                                        </p:tgtEl>
                                        <p:attrNameLst>
                                          <p:attrName>style.visibility</p:attrName>
                                        </p:attrNameLst>
                                      </p:cBhvr>
                                      <p:to>
                                        <p:strVal val="hidden"/>
                                      </p:to>
                                    </p:set>
                                  </p:childTnLst>
                                </p:cTn>
                              </p:par>
                            </p:childTnLst>
                          </p:cTn>
                        </p:par>
                      </p:childTnLst>
                    </p:cTn>
                  </p:par>
                  <p:par>
                    <p:cTn id="149" fill="hold">
                      <p:stCondLst>
                        <p:cond delay="indefinite"/>
                      </p:stCondLst>
                      <p:childTnLst>
                        <p:par>
                          <p:cTn id="150" fill="hold">
                            <p:stCondLst>
                              <p:cond delay="0"/>
                            </p:stCondLst>
                            <p:childTnLst>
                              <p:par>
                                <p:cTn id="151" presetID="22" presetClass="entr" presetSubtype="8" fill="hold" grpId="0" nodeType="clickEffect">
                                  <p:stCondLst>
                                    <p:cond delay="0"/>
                                  </p:stCondLst>
                                  <p:childTnLst>
                                    <p:set>
                                      <p:cBhvr>
                                        <p:cTn id="152" dur="1" fill="hold">
                                          <p:stCondLst>
                                            <p:cond delay="0"/>
                                          </p:stCondLst>
                                        </p:cTn>
                                        <p:tgtEl>
                                          <p:spTgt spid="3"/>
                                        </p:tgtEl>
                                        <p:attrNameLst>
                                          <p:attrName>style.visibility</p:attrName>
                                        </p:attrNameLst>
                                      </p:cBhvr>
                                      <p:to>
                                        <p:strVal val="visible"/>
                                      </p:to>
                                    </p:set>
                                    <p:animEffect transition="in" filter="wipe(left)">
                                      <p:cBhvr>
                                        <p:cTn id="153" dur="1000"/>
                                        <p:tgtEl>
                                          <p:spTgt spid="3"/>
                                        </p:tgtEl>
                                      </p:cBhvr>
                                    </p:animEffect>
                                  </p:childTnLst>
                                </p:cTn>
                              </p:par>
                            </p:childTnLst>
                          </p:cTn>
                        </p:par>
                      </p:childTnLst>
                    </p:cTn>
                  </p:par>
                  <p:par>
                    <p:cTn id="154" fill="hold">
                      <p:stCondLst>
                        <p:cond delay="indefinite"/>
                      </p:stCondLst>
                      <p:childTnLst>
                        <p:par>
                          <p:cTn id="155" fill="hold">
                            <p:stCondLst>
                              <p:cond delay="0"/>
                            </p:stCondLst>
                            <p:childTnLst>
                              <p:par>
                                <p:cTn id="156" presetID="22" presetClass="entr" presetSubtype="8" fill="hold" grpId="0" nodeType="clickEffect">
                                  <p:stCondLst>
                                    <p:cond delay="0"/>
                                  </p:stCondLst>
                                  <p:childTnLst>
                                    <p:set>
                                      <p:cBhvr>
                                        <p:cTn id="157" dur="1" fill="hold">
                                          <p:stCondLst>
                                            <p:cond delay="0"/>
                                          </p:stCondLst>
                                        </p:cTn>
                                        <p:tgtEl>
                                          <p:spTgt spid="43"/>
                                        </p:tgtEl>
                                        <p:attrNameLst>
                                          <p:attrName>style.visibility</p:attrName>
                                        </p:attrNameLst>
                                      </p:cBhvr>
                                      <p:to>
                                        <p:strVal val="visible"/>
                                      </p:to>
                                    </p:set>
                                    <p:animEffect transition="in" filter="wipe(left)">
                                      <p:cBhvr>
                                        <p:cTn id="158" dur="1000"/>
                                        <p:tgtEl>
                                          <p:spTgt spid="43"/>
                                        </p:tgtEl>
                                      </p:cBhvr>
                                    </p:animEffect>
                                  </p:childTnLst>
                                </p:cTn>
                              </p:par>
                            </p:childTnLst>
                          </p:cTn>
                        </p:par>
                        <p:par>
                          <p:cTn id="159" fill="hold">
                            <p:stCondLst>
                              <p:cond delay="1000"/>
                            </p:stCondLst>
                            <p:childTnLst>
                              <p:par>
                                <p:cTn id="160" presetID="22" presetClass="entr" presetSubtype="8" fill="hold" grpId="0" nodeType="afterEffect">
                                  <p:stCondLst>
                                    <p:cond delay="0"/>
                                  </p:stCondLst>
                                  <p:childTnLst>
                                    <p:set>
                                      <p:cBhvr>
                                        <p:cTn id="161" dur="1" fill="hold">
                                          <p:stCondLst>
                                            <p:cond delay="0"/>
                                          </p:stCondLst>
                                        </p:cTn>
                                        <p:tgtEl>
                                          <p:spTgt spid="59"/>
                                        </p:tgtEl>
                                        <p:attrNameLst>
                                          <p:attrName>style.visibility</p:attrName>
                                        </p:attrNameLst>
                                      </p:cBhvr>
                                      <p:to>
                                        <p:strVal val="visible"/>
                                      </p:to>
                                    </p:set>
                                    <p:animEffect transition="in" filter="wipe(left)">
                                      <p:cBhvr>
                                        <p:cTn id="162" dur="500"/>
                                        <p:tgtEl>
                                          <p:spTgt spid="59"/>
                                        </p:tgtEl>
                                      </p:cBhvr>
                                    </p:animEffect>
                                  </p:childTnLst>
                                </p:cTn>
                              </p:par>
                            </p:childTnLst>
                          </p:cTn>
                        </p:par>
                        <p:par>
                          <p:cTn id="163" fill="hold">
                            <p:stCondLst>
                              <p:cond delay="1500"/>
                            </p:stCondLst>
                            <p:childTnLst>
                              <p:par>
                                <p:cTn id="164" presetID="22" presetClass="entr" presetSubtype="1" fill="hold" grpId="0" nodeType="afterEffect">
                                  <p:stCondLst>
                                    <p:cond delay="0"/>
                                  </p:stCondLst>
                                  <p:childTnLst>
                                    <p:set>
                                      <p:cBhvr>
                                        <p:cTn id="165" dur="1" fill="hold">
                                          <p:stCondLst>
                                            <p:cond delay="0"/>
                                          </p:stCondLst>
                                        </p:cTn>
                                        <p:tgtEl>
                                          <p:spTgt spid="58"/>
                                        </p:tgtEl>
                                        <p:attrNameLst>
                                          <p:attrName>style.visibility</p:attrName>
                                        </p:attrNameLst>
                                      </p:cBhvr>
                                      <p:to>
                                        <p:strVal val="visible"/>
                                      </p:to>
                                    </p:set>
                                    <p:animEffect transition="in" filter="wipe(up)">
                                      <p:cBhvr>
                                        <p:cTn id="166" dur="1000"/>
                                        <p:tgtEl>
                                          <p:spTgt spid="58"/>
                                        </p:tgtEl>
                                      </p:cBhvr>
                                    </p:animEffect>
                                  </p:childTnLst>
                                </p:cTn>
                              </p:par>
                            </p:childTnLst>
                          </p:cTn>
                        </p:par>
                      </p:childTnLst>
                    </p:cTn>
                  </p:par>
                  <p:par>
                    <p:cTn id="167" fill="hold">
                      <p:stCondLst>
                        <p:cond delay="indefinite"/>
                      </p:stCondLst>
                      <p:childTnLst>
                        <p:par>
                          <p:cTn id="168" fill="hold">
                            <p:stCondLst>
                              <p:cond delay="0"/>
                            </p:stCondLst>
                            <p:childTnLst>
                              <p:par>
                                <p:cTn id="169" presetID="22" presetClass="entr" presetSubtype="1" fill="hold" nodeType="clickEffect">
                                  <p:stCondLst>
                                    <p:cond delay="0"/>
                                  </p:stCondLst>
                                  <p:childTnLst>
                                    <p:set>
                                      <p:cBhvr>
                                        <p:cTn id="170" dur="1" fill="hold">
                                          <p:stCondLst>
                                            <p:cond delay="0"/>
                                          </p:stCondLst>
                                        </p:cTn>
                                        <p:tgtEl>
                                          <p:spTgt spid="12"/>
                                        </p:tgtEl>
                                        <p:attrNameLst>
                                          <p:attrName>style.visibility</p:attrName>
                                        </p:attrNameLst>
                                      </p:cBhvr>
                                      <p:to>
                                        <p:strVal val="visible"/>
                                      </p:to>
                                    </p:set>
                                    <p:animEffect transition="in" filter="wipe(up)">
                                      <p:cBhvr>
                                        <p:cTn id="171" dur="3000"/>
                                        <p:tgtEl>
                                          <p:spTgt spid="12"/>
                                        </p:tgtEl>
                                      </p:cBhvr>
                                    </p:animEffect>
                                  </p:childTnLst>
                                </p:cTn>
                              </p:par>
                              <p:par>
                                <p:cTn id="172" presetID="22" presetClass="entr" presetSubtype="1" fill="hold" nodeType="withEffect">
                                  <p:stCondLst>
                                    <p:cond delay="0"/>
                                  </p:stCondLst>
                                  <p:childTnLst>
                                    <p:set>
                                      <p:cBhvr>
                                        <p:cTn id="173" dur="1" fill="hold">
                                          <p:stCondLst>
                                            <p:cond delay="0"/>
                                          </p:stCondLst>
                                        </p:cTn>
                                        <p:tgtEl>
                                          <p:spTgt spid="57"/>
                                        </p:tgtEl>
                                        <p:attrNameLst>
                                          <p:attrName>style.visibility</p:attrName>
                                        </p:attrNameLst>
                                      </p:cBhvr>
                                      <p:to>
                                        <p:strVal val="visible"/>
                                      </p:to>
                                    </p:set>
                                    <p:animEffect transition="in" filter="wipe(up)">
                                      <p:cBhvr>
                                        <p:cTn id="174" dur="3000"/>
                                        <p:tgtEl>
                                          <p:spTgt spid="57"/>
                                        </p:tgtEl>
                                      </p:cBhvr>
                                    </p:animEffect>
                                  </p:childTnLst>
                                </p:cTn>
                              </p:par>
                            </p:childTnLst>
                          </p:cTn>
                        </p:par>
                        <p:par>
                          <p:cTn id="175" fill="hold">
                            <p:stCondLst>
                              <p:cond delay="3000"/>
                            </p:stCondLst>
                            <p:childTnLst>
                              <p:par>
                                <p:cTn id="176" presetID="22" presetClass="exit" presetSubtype="8" fill="hold" grpId="1" nodeType="afterEffect">
                                  <p:stCondLst>
                                    <p:cond delay="0"/>
                                  </p:stCondLst>
                                  <p:childTnLst>
                                    <p:animEffect transition="out" filter="wipe(left)">
                                      <p:cBhvr>
                                        <p:cTn id="177" dur="500"/>
                                        <p:tgtEl>
                                          <p:spTgt spid="3"/>
                                        </p:tgtEl>
                                      </p:cBhvr>
                                    </p:animEffect>
                                    <p:set>
                                      <p:cBhvr>
                                        <p:cTn id="178" dur="1" fill="hold">
                                          <p:stCondLst>
                                            <p:cond delay="499"/>
                                          </p:stCondLst>
                                        </p:cTn>
                                        <p:tgtEl>
                                          <p:spTgt spid="3"/>
                                        </p:tgtEl>
                                        <p:attrNameLst>
                                          <p:attrName>style.visibility</p:attrName>
                                        </p:attrNameLst>
                                      </p:cBhvr>
                                      <p:to>
                                        <p:strVal val="hidden"/>
                                      </p:to>
                                    </p:set>
                                  </p:childTnLst>
                                </p:cTn>
                              </p:par>
                            </p:childTnLst>
                          </p:cTn>
                        </p:par>
                      </p:childTnLst>
                    </p:cTn>
                  </p:par>
                  <p:par>
                    <p:cTn id="179" fill="hold">
                      <p:stCondLst>
                        <p:cond delay="indefinite"/>
                      </p:stCondLst>
                      <p:childTnLst>
                        <p:par>
                          <p:cTn id="180" fill="hold">
                            <p:stCondLst>
                              <p:cond delay="0"/>
                            </p:stCondLst>
                            <p:childTnLst>
                              <p:par>
                                <p:cTn id="181" presetID="22" presetClass="entr" presetSubtype="8" fill="hold" grpId="0" nodeType="clickEffect">
                                  <p:stCondLst>
                                    <p:cond delay="0"/>
                                  </p:stCondLst>
                                  <p:childTnLst>
                                    <p:set>
                                      <p:cBhvr>
                                        <p:cTn id="182" dur="1" fill="hold">
                                          <p:stCondLst>
                                            <p:cond delay="0"/>
                                          </p:stCondLst>
                                        </p:cTn>
                                        <p:tgtEl>
                                          <p:spTgt spid="32"/>
                                        </p:tgtEl>
                                        <p:attrNameLst>
                                          <p:attrName>style.visibility</p:attrName>
                                        </p:attrNameLst>
                                      </p:cBhvr>
                                      <p:to>
                                        <p:strVal val="visible"/>
                                      </p:to>
                                    </p:set>
                                    <p:animEffect transition="in" filter="wipe(left)">
                                      <p:cBhvr>
                                        <p:cTn id="183" dur="500"/>
                                        <p:tgtEl>
                                          <p:spTgt spid="32"/>
                                        </p:tgtEl>
                                      </p:cBhvr>
                                    </p:animEffect>
                                  </p:childTnLst>
                                </p:cTn>
                              </p:par>
                            </p:childTnLst>
                          </p:cTn>
                        </p:par>
                        <p:par>
                          <p:cTn id="184" fill="hold">
                            <p:stCondLst>
                              <p:cond delay="500"/>
                            </p:stCondLst>
                            <p:childTnLst>
                              <p:par>
                                <p:cTn id="185" presetID="22" presetClass="entr" presetSubtype="8" fill="hold" grpId="0" nodeType="afterEffect">
                                  <p:stCondLst>
                                    <p:cond delay="0"/>
                                  </p:stCondLst>
                                  <p:childTnLst>
                                    <p:set>
                                      <p:cBhvr>
                                        <p:cTn id="186" dur="1" fill="hold">
                                          <p:stCondLst>
                                            <p:cond delay="0"/>
                                          </p:stCondLst>
                                        </p:cTn>
                                        <p:tgtEl>
                                          <p:spTgt spid="38"/>
                                        </p:tgtEl>
                                        <p:attrNameLst>
                                          <p:attrName>style.visibility</p:attrName>
                                        </p:attrNameLst>
                                      </p:cBhvr>
                                      <p:to>
                                        <p:strVal val="visible"/>
                                      </p:to>
                                    </p:set>
                                    <p:animEffect transition="in" filter="wipe(left)">
                                      <p:cBhvr>
                                        <p:cTn id="187" dur="1000"/>
                                        <p:tgtEl>
                                          <p:spTgt spid="38"/>
                                        </p:tgtEl>
                                      </p:cBhvr>
                                    </p:animEffect>
                                  </p:childTnLst>
                                </p:cTn>
                              </p:par>
                            </p:childTnLst>
                          </p:cTn>
                        </p:par>
                        <p:par>
                          <p:cTn id="188" fill="hold">
                            <p:stCondLst>
                              <p:cond delay="1500"/>
                            </p:stCondLst>
                            <p:childTnLst>
                              <p:par>
                                <p:cTn id="189" presetID="22" presetClass="entr" presetSubtype="1" fill="hold" nodeType="afterEffect">
                                  <p:stCondLst>
                                    <p:cond delay="0"/>
                                  </p:stCondLst>
                                  <p:childTnLst>
                                    <p:set>
                                      <p:cBhvr>
                                        <p:cTn id="190" dur="1" fill="hold">
                                          <p:stCondLst>
                                            <p:cond delay="0"/>
                                          </p:stCondLst>
                                        </p:cTn>
                                        <p:tgtEl>
                                          <p:spTgt spid="2"/>
                                        </p:tgtEl>
                                        <p:attrNameLst>
                                          <p:attrName>style.visibility</p:attrName>
                                        </p:attrNameLst>
                                      </p:cBhvr>
                                      <p:to>
                                        <p:strVal val="visible"/>
                                      </p:to>
                                    </p:set>
                                    <p:animEffect transition="in" filter="wipe(up)">
                                      <p:cBhvr>
                                        <p:cTn id="191" dur="20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uiExpand="1" build="p"/>
      <p:bldP spid="17" grpId="0"/>
      <p:bldP spid="19" grpId="0" uiExpand="1" build="p"/>
      <p:bldP spid="27" grpId="0" animBg="1"/>
      <p:bldP spid="27" grpId="1" animBg="1"/>
      <p:bldP spid="10" grpId="0"/>
      <p:bldP spid="25" grpId="0"/>
      <p:bldP spid="26" grpId="0" animBg="1"/>
      <p:bldP spid="31" grpId="0" animBg="1"/>
      <p:bldP spid="31" grpId="1" animBg="1"/>
      <p:bldP spid="32" grpId="0"/>
      <p:bldP spid="20" grpId="0" animBg="1"/>
      <p:bldP spid="21" grpId="0" animBg="1"/>
      <p:bldP spid="7" grpId="0" animBg="1"/>
      <p:bldP spid="33" grpId="0" animBg="1"/>
      <p:bldP spid="34" grpId="0" animBg="1"/>
      <p:bldP spid="35" grpId="0" animBg="1"/>
      <p:bldP spid="35" grpId="1" animBg="1"/>
      <p:bldP spid="36" grpId="0" animBg="1"/>
      <p:bldP spid="37" grpId="0"/>
      <p:bldP spid="40" grpId="0" animBg="1"/>
      <p:bldP spid="3" grpId="0" animBg="1"/>
      <p:bldP spid="3" grpId="1" animBg="1"/>
      <p:bldP spid="8" grpId="0" animBg="1"/>
      <p:bldP spid="30" grpId="0" animBg="1"/>
      <p:bldP spid="29" grpId="0" animBg="1"/>
      <p:bldP spid="38" grpId="0" animBg="1"/>
      <p:bldP spid="11" grpId="0" animBg="1"/>
      <p:bldP spid="43" grpId="0" animBg="1"/>
      <p:bldP spid="58" grpId="0" animBg="1"/>
      <p:bldP spid="59" grpId="0"/>
    </p:bldLst>
  </p:timing>
</p:sld>
</file>

<file path=ppt/slides/slide57.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1FFCA4F8-E5AA-ACCE-932A-63637F777EF3}"/>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A1CF8388-E071-F307-5668-99A634416365}"/>
              </a:ext>
            </a:extLst>
          </p:cNvPr>
          <p:cNvSpPr>
            <a:spLocks noGrp="1"/>
          </p:cNvSpPr>
          <p:nvPr>
            <p:ph type="title"/>
          </p:nvPr>
        </p:nvSpPr>
        <p:spPr/>
        <p:txBody>
          <a:bodyPr/>
          <a:lstStyle/>
          <a:p>
            <a:r>
              <a:rPr lang="en-GB" dirty="0"/>
              <a:t>Order of Operations (3)</a:t>
            </a:r>
          </a:p>
        </p:txBody>
      </p:sp>
      <p:sp>
        <p:nvSpPr>
          <p:cNvPr id="6" name="SQL">
            <a:extLst>
              <a:ext uri="{FF2B5EF4-FFF2-40B4-BE49-F238E27FC236}">
                <a16:creationId xmlns:a16="http://schemas.microsoft.com/office/drawing/2014/main" id="{7A9967D0-25F8-6027-2672-A5C274C5A43B}"/>
              </a:ext>
            </a:extLst>
          </p:cNvPr>
          <p:cNvSpPr>
            <a:spLocks noChangeArrowheads="1"/>
          </p:cNvSpPr>
          <p:nvPr/>
        </p:nvSpPr>
        <p:spPr bwMode="auto">
          <a:xfrm>
            <a:off x="619125" y="1370838"/>
            <a:ext cx="3429144" cy="132343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name, age</a:t>
            </a:r>
          </a:p>
          <a:p>
            <a:pPr lvl="0" eaLnBrk="0" fontAlgn="base" hangingPunct="0">
              <a:spcBef>
                <a:spcPct val="0"/>
              </a:spcBef>
              <a:spcAft>
                <a:spcPct val="0"/>
              </a:spcAft>
            </a:pPr>
            <a:r>
              <a:rPr lang="en-US" altLang="en-US" sz="2000" dirty="0">
                <a:solidFill>
                  <a:srgbClr val="B2B2B2"/>
                </a:solidFill>
                <a:latin typeface="Consolas" panose="020B0609020204030204" pitchFamily="49" charset="0"/>
              </a:rPr>
              <a:t>2 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FROM</a:t>
            </a:r>
            <a:r>
              <a:rPr lang="en-US" altLang="en-US" sz="2000" dirty="0">
                <a:solidFill>
                  <a:srgbClr val="000000"/>
                </a:solidFill>
                <a:latin typeface="Consolas" panose="020B0609020204030204" pitchFamily="49" charset="0"/>
              </a:rPr>
              <a:t> Pet</a:t>
            </a:r>
            <a:endParaRPr lang="en-US" altLang="en-US" sz="2000" dirty="0">
              <a:solidFill>
                <a:srgbClr val="B2B2B2"/>
              </a:solidFill>
              <a:latin typeface="Consolas" panose="020B0609020204030204" pitchFamily="49" charset="0"/>
            </a:endParaRPr>
          </a:p>
          <a:p>
            <a:pPr eaLnBrk="0" fontAlgn="base" hangingPunct="0">
              <a:spcBef>
                <a:spcPct val="0"/>
              </a:spcBef>
              <a:spcAft>
                <a:spcPct val="0"/>
              </a:spcAft>
            </a:pPr>
            <a:r>
              <a:rPr lang="en-US" altLang="en-US" sz="2000" dirty="0">
                <a:solidFill>
                  <a:srgbClr val="B2B2B2"/>
                </a:solidFill>
                <a:latin typeface="Consolas" panose="020B0609020204030204" pitchFamily="49" charset="0"/>
              </a:rPr>
              <a:t>3 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WHERE</a:t>
            </a:r>
            <a:r>
              <a:rPr lang="en-US" altLang="en-US" sz="2000" dirty="0">
                <a:solidFill>
                  <a:srgbClr val="000000"/>
                </a:solidFill>
                <a:latin typeface="Consolas" panose="020B0609020204030204" pitchFamily="49" charset="0"/>
              </a:rPr>
              <a:t> age &lt; </a:t>
            </a:r>
            <a:r>
              <a:rPr lang="en-US" altLang="en-US" sz="2000" dirty="0">
                <a:solidFill>
                  <a:srgbClr val="0086B3"/>
                </a:solidFill>
                <a:latin typeface="Consolas" panose="020B0609020204030204" pitchFamily="49" charset="0"/>
              </a:rPr>
              <a:t>5</a:t>
            </a:r>
            <a:endParaRPr lang="en-US" altLang="en-US" sz="2000" dirty="0">
              <a:solidFill>
                <a:srgbClr val="000000"/>
              </a:solidFill>
              <a:latin typeface="Consolas" panose="020B0609020204030204" pitchFamily="49" charset="0"/>
            </a:endParaRPr>
          </a:p>
          <a:p>
            <a:pPr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4 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ORDER BY</a:t>
            </a:r>
            <a:r>
              <a:rPr lang="en-US" altLang="en-US" sz="2000" dirty="0">
                <a:solidFill>
                  <a:srgbClr val="000000"/>
                </a:solidFill>
                <a:latin typeface="Consolas" panose="020B0609020204030204" pitchFamily="49" charset="0"/>
              </a:rPr>
              <a:t> type </a:t>
            </a:r>
            <a:r>
              <a:rPr lang="en-US" altLang="en-US" sz="2000" dirty="0">
                <a:solidFill>
                  <a:srgbClr val="A71D5D"/>
                </a:solidFill>
                <a:latin typeface="Consolas" panose="020B0609020204030204" pitchFamily="49" charset="0"/>
              </a:rPr>
              <a:t>DESC</a:t>
            </a:r>
            <a:r>
              <a:rPr kumimoji="0" lang="en-US" altLang="en-US" sz="2000" b="0" i="0" u="none" strike="noStrike" cap="none" normalizeH="0" baseline="0" dirty="0">
                <a:ln>
                  <a:noFill/>
                </a:ln>
                <a:solidFill>
                  <a:srgbClr val="000000"/>
                </a:solidFill>
                <a:effectLst/>
                <a:latin typeface="Consolas" panose="020B0609020204030204" pitchFamily="49" charset="0"/>
              </a:rPr>
              <a:t>;</a:t>
            </a:r>
            <a:endParaRPr kumimoji="0" lang="en-US" altLang="en-US" sz="2000" b="0" i="0" u="none" strike="noStrike" cap="none" normalizeH="0" baseline="0" dirty="0">
              <a:ln>
                <a:noFill/>
              </a:ln>
              <a:solidFill>
                <a:schemeClr val="tx1"/>
              </a:solidFill>
              <a:effectLst/>
              <a:latin typeface="Consolas" panose="020B0609020204030204" pitchFamily="49" charset="0"/>
            </a:endParaRPr>
          </a:p>
        </p:txBody>
      </p:sp>
      <p:sp>
        <p:nvSpPr>
          <p:cNvPr id="17" name="Pet">
            <a:extLst>
              <a:ext uri="{FF2B5EF4-FFF2-40B4-BE49-F238E27FC236}">
                <a16:creationId xmlns:a16="http://schemas.microsoft.com/office/drawing/2014/main" id="{048D73FF-1701-3412-0A8F-292B7E9F2A7B}"/>
              </a:ext>
            </a:extLst>
          </p:cNvPr>
          <p:cNvSpPr txBox="1"/>
          <p:nvPr/>
        </p:nvSpPr>
        <p:spPr>
          <a:xfrm>
            <a:off x="1365548" y="3091527"/>
            <a:ext cx="1771650" cy="369332"/>
          </a:xfrm>
          <a:prstGeom prst="rect">
            <a:avLst/>
          </a:prstGeom>
          <a:noFill/>
        </p:spPr>
        <p:txBody>
          <a:bodyPr wrap="square" rtlCol="0">
            <a:spAutoFit/>
          </a:bodyPr>
          <a:lstStyle/>
          <a:p>
            <a:r>
              <a:rPr lang="en-GB" b="1" dirty="0"/>
              <a:t>Table: Pet</a:t>
            </a:r>
          </a:p>
        </p:txBody>
      </p:sp>
      <p:sp>
        <p:nvSpPr>
          <p:cNvPr id="19" name="Order">
            <a:extLst>
              <a:ext uri="{FF2B5EF4-FFF2-40B4-BE49-F238E27FC236}">
                <a16:creationId xmlns:a16="http://schemas.microsoft.com/office/drawing/2014/main" id="{728727D3-3E5E-0AC8-453A-AFE7E81505FF}"/>
              </a:ext>
            </a:extLst>
          </p:cNvPr>
          <p:cNvSpPr txBox="1"/>
          <p:nvPr/>
        </p:nvSpPr>
        <p:spPr>
          <a:xfrm>
            <a:off x="8794761" y="599622"/>
            <a:ext cx="2590417" cy="2246769"/>
          </a:xfrm>
          <a:prstGeom prst="rect">
            <a:avLst/>
          </a:prstGeom>
          <a:noFill/>
        </p:spPr>
        <p:txBody>
          <a:bodyPr wrap="square" rtlCol="0">
            <a:spAutoFit/>
          </a:bodyPr>
          <a:lstStyle/>
          <a:p>
            <a:r>
              <a:rPr lang="en-GB" sz="2800" b="1" dirty="0">
                <a:solidFill>
                  <a:srgbClr val="7030A0"/>
                </a:solidFill>
              </a:rPr>
              <a:t>Order</a:t>
            </a:r>
            <a:r>
              <a:rPr lang="en-GB" sz="2800" dirty="0">
                <a:solidFill>
                  <a:srgbClr val="7030A0"/>
                </a:solidFill>
              </a:rPr>
              <a:t>:</a:t>
            </a:r>
          </a:p>
          <a:p>
            <a:pPr lvl="1"/>
            <a:r>
              <a:rPr lang="en-GB" sz="2800" dirty="0">
                <a:solidFill>
                  <a:srgbClr val="7030A0"/>
                </a:solidFill>
              </a:rPr>
              <a:t>1.   </a:t>
            </a:r>
          </a:p>
          <a:p>
            <a:pPr lvl="1"/>
            <a:r>
              <a:rPr lang="en-GB" sz="2800" dirty="0">
                <a:solidFill>
                  <a:srgbClr val="7030A0"/>
                </a:solidFill>
              </a:rPr>
              <a:t>2.   </a:t>
            </a:r>
          </a:p>
          <a:p>
            <a:pPr lvl="1"/>
            <a:r>
              <a:rPr lang="en-GB" sz="2800" dirty="0">
                <a:solidFill>
                  <a:srgbClr val="7030A0"/>
                </a:solidFill>
              </a:rPr>
              <a:t>3.   </a:t>
            </a:r>
          </a:p>
          <a:p>
            <a:pPr lvl="1"/>
            <a:r>
              <a:rPr lang="en-GB" sz="2800" dirty="0">
                <a:solidFill>
                  <a:srgbClr val="7030A0"/>
                </a:solidFill>
              </a:rPr>
              <a:t>4.   </a:t>
            </a:r>
          </a:p>
        </p:txBody>
      </p:sp>
      <p:graphicFrame>
        <p:nvGraphicFramePr>
          <p:cNvPr id="22" name="Pet - Table">
            <a:extLst>
              <a:ext uri="{FF2B5EF4-FFF2-40B4-BE49-F238E27FC236}">
                <a16:creationId xmlns:a16="http://schemas.microsoft.com/office/drawing/2014/main" id="{8D645F94-F2AF-0D85-D633-375EFFD9B217}"/>
              </a:ext>
            </a:extLst>
          </p:cNvPr>
          <p:cNvGraphicFramePr>
            <a:graphicFrameLocks noGrp="1"/>
          </p:cNvGraphicFramePr>
          <p:nvPr/>
        </p:nvGraphicFramePr>
        <p:xfrm>
          <a:off x="1451271" y="3412595"/>
          <a:ext cx="2042287"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a:solidFill>
                            <a:schemeClr val="tx1"/>
                          </a:solidFill>
                          <a:effectLst/>
                        </a:rPr>
                        <a:t>Pepper</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16</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a:solidFill>
                            <a:schemeClr val="tx1"/>
                          </a:solidFill>
                          <a:effectLst/>
                        </a:rPr>
                        <a:t>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7</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dirty="0">
                          <a:solidFill>
                            <a:schemeClr val="tx1"/>
                          </a:solidFill>
                          <a:effectLst/>
                        </a:rPr>
                        <a:t>Mickey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a:solidFill>
                            <a:schemeClr val="tx1"/>
                          </a:solidFill>
                          <a:effectLst/>
                        </a:rPr>
                        <a:t>Minnie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Cat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a:solidFill>
                            <a:schemeClr val="tx1"/>
                          </a:solidFill>
                          <a:effectLst/>
                        </a:rPr>
                        <a:t>9</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a:solidFill>
                            <a:schemeClr val="tx1"/>
                          </a:solidFill>
                          <a:effectLst/>
                        </a:rPr>
                        <a:t>Bonzo</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Dog</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6</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Rabbit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3</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graphicFrame>
        <p:nvGraphicFramePr>
          <p:cNvPr id="23" name="Temp - Table">
            <a:extLst>
              <a:ext uri="{FF2B5EF4-FFF2-40B4-BE49-F238E27FC236}">
                <a16:creationId xmlns:a16="http://schemas.microsoft.com/office/drawing/2014/main" id="{918FCA73-BB46-9AA3-F622-DDF10A58189D}"/>
              </a:ext>
            </a:extLst>
          </p:cNvPr>
          <p:cNvGraphicFramePr>
            <a:graphicFrameLocks noGrp="1"/>
          </p:cNvGraphicFramePr>
          <p:nvPr/>
        </p:nvGraphicFramePr>
        <p:xfrm>
          <a:off x="4081885" y="3412595"/>
          <a:ext cx="2042287"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a:solidFill>
                            <a:schemeClr val="tx1"/>
                          </a:solidFill>
                          <a:effectLst/>
                        </a:rPr>
                        <a:t>Pepper</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16</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a:solidFill>
                            <a:schemeClr val="tx1"/>
                          </a:solidFill>
                          <a:effectLst/>
                        </a:rPr>
                        <a:t>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a:solidFill>
                            <a:schemeClr val="tx1"/>
                          </a:solidFill>
                          <a:effectLst/>
                        </a:rPr>
                        <a:t>7</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dirty="0">
                          <a:solidFill>
                            <a:schemeClr val="tx1"/>
                          </a:solidFill>
                          <a:effectLst/>
                        </a:rPr>
                        <a:t>Mickey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dirty="0">
                          <a:solidFill>
                            <a:schemeClr val="tx1"/>
                          </a:solidFill>
                          <a:effectLst/>
                        </a:rPr>
                        <a:t>Minnie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Cat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9</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a:solidFill>
                            <a:schemeClr val="tx1"/>
                          </a:solidFill>
                          <a:effectLst/>
                        </a:rPr>
                        <a:t>Bonzo</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Dog</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6</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Rabbit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3</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sp>
        <p:nvSpPr>
          <p:cNvPr id="26" name="Temp - Arrow">
            <a:extLst>
              <a:ext uri="{FF2B5EF4-FFF2-40B4-BE49-F238E27FC236}">
                <a16:creationId xmlns:a16="http://schemas.microsoft.com/office/drawing/2014/main" id="{71C78B85-BA8D-E660-E244-1C2F490EA32E}"/>
              </a:ext>
            </a:extLst>
          </p:cNvPr>
          <p:cNvSpPr/>
          <p:nvPr/>
        </p:nvSpPr>
        <p:spPr>
          <a:xfrm>
            <a:off x="3539502" y="4748123"/>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0" name="Mickey - Row">
            <a:extLst>
              <a:ext uri="{FF2B5EF4-FFF2-40B4-BE49-F238E27FC236}">
                <a16:creationId xmlns:a16="http://schemas.microsoft.com/office/drawing/2014/main" id="{72A6857F-B629-89D6-3CDC-7CD9CFF68388}"/>
              </a:ext>
            </a:extLst>
          </p:cNvPr>
          <p:cNvSpPr/>
          <p:nvPr/>
        </p:nvSpPr>
        <p:spPr>
          <a:xfrm>
            <a:off x="4035588" y="4712125"/>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1" name="Roger - Row">
            <a:extLst>
              <a:ext uri="{FF2B5EF4-FFF2-40B4-BE49-F238E27FC236}">
                <a16:creationId xmlns:a16="http://schemas.microsoft.com/office/drawing/2014/main" id="{84DC86E9-6A7A-9291-E2BD-324640A17CEF}"/>
              </a:ext>
            </a:extLst>
          </p:cNvPr>
          <p:cNvSpPr/>
          <p:nvPr/>
        </p:nvSpPr>
        <p:spPr>
          <a:xfrm>
            <a:off x="4035587" y="6005292"/>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7" name="Cindy - Row">
            <a:extLst>
              <a:ext uri="{FF2B5EF4-FFF2-40B4-BE49-F238E27FC236}">
                <a16:creationId xmlns:a16="http://schemas.microsoft.com/office/drawing/2014/main" id="{AA4BAEFC-2A72-0490-A38D-E21129B8A0BE}"/>
              </a:ext>
            </a:extLst>
          </p:cNvPr>
          <p:cNvSpPr/>
          <p:nvPr/>
        </p:nvSpPr>
        <p:spPr>
          <a:xfrm>
            <a:off x="4035278" y="4064352"/>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3" name="Mickey - Yellow">
            <a:extLst>
              <a:ext uri="{FF2B5EF4-FFF2-40B4-BE49-F238E27FC236}">
                <a16:creationId xmlns:a16="http://schemas.microsoft.com/office/drawing/2014/main" id="{D72AA58F-04FA-8ED0-8120-0AF3163557CC}"/>
              </a:ext>
            </a:extLst>
          </p:cNvPr>
          <p:cNvSpPr/>
          <p:nvPr/>
        </p:nvSpPr>
        <p:spPr>
          <a:xfrm>
            <a:off x="5659147" y="4719669"/>
            <a:ext cx="469742"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4" name="Roger - Yellow">
            <a:extLst>
              <a:ext uri="{FF2B5EF4-FFF2-40B4-BE49-F238E27FC236}">
                <a16:creationId xmlns:a16="http://schemas.microsoft.com/office/drawing/2014/main" id="{4FE39ADB-6BD7-50F4-FA01-E2349798048D}"/>
              </a:ext>
            </a:extLst>
          </p:cNvPr>
          <p:cNvSpPr/>
          <p:nvPr/>
        </p:nvSpPr>
        <p:spPr>
          <a:xfrm>
            <a:off x="5656920" y="6007680"/>
            <a:ext cx="470841"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6" name="Where 2 - Arrow">
            <a:extLst>
              <a:ext uri="{FF2B5EF4-FFF2-40B4-BE49-F238E27FC236}">
                <a16:creationId xmlns:a16="http://schemas.microsoft.com/office/drawing/2014/main" id="{52753950-89E6-A591-8765-52B0EAF7B569}"/>
              </a:ext>
            </a:extLst>
          </p:cNvPr>
          <p:cNvSpPr/>
          <p:nvPr/>
        </p:nvSpPr>
        <p:spPr>
          <a:xfrm rot="3278631">
            <a:off x="5277224" y="2865790"/>
            <a:ext cx="464567" cy="467998"/>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a:p>
        </p:txBody>
      </p:sp>
      <p:cxnSp>
        <p:nvCxnSpPr>
          <p:cNvPr id="5" name="Name - Arrow">
            <a:extLst>
              <a:ext uri="{FF2B5EF4-FFF2-40B4-BE49-F238E27FC236}">
                <a16:creationId xmlns:a16="http://schemas.microsoft.com/office/drawing/2014/main" id="{C42D44E5-49D8-63FC-BB9A-FD7BE653FFD9}"/>
              </a:ext>
            </a:extLst>
          </p:cNvPr>
          <p:cNvCxnSpPr>
            <a:cxnSpLocks/>
            <a:endCxn id="29" idx="0"/>
          </p:cNvCxnSpPr>
          <p:nvPr/>
        </p:nvCxnSpPr>
        <p:spPr>
          <a:xfrm flipH="1">
            <a:off x="4460434" y="2265944"/>
            <a:ext cx="293864" cy="1112608"/>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9" name="Age - Arrow">
            <a:extLst>
              <a:ext uri="{FF2B5EF4-FFF2-40B4-BE49-F238E27FC236}">
                <a16:creationId xmlns:a16="http://schemas.microsoft.com/office/drawing/2014/main" id="{3D0EABB3-14AE-16A5-747D-A6DFE680D467}"/>
              </a:ext>
            </a:extLst>
          </p:cNvPr>
          <p:cNvCxnSpPr>
            <a:cxnSpLocks/>
            <a:endCxn id="30" idx="0"/>
          </p:cNvCxnSpPr>
          <p:nvPr/>
        </p:nvCxnSpPr>
        <p:spPr>
          <a:xfrm>
            <a:off x="5605258" y="2265944"/>
            <a:ext cx="287889" cy="1112608"/>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40" name="Cindy - Yellow">
            <a:extLst>
              <a:ext uri="{FF2B5EF4-FFF2-40B4-BE49-F238E27FC236}">
                <a16:creationId xmlns:a16="http://schemas.microsoft.com/office/drawing/2014/main" id="{E380348A-9866-4B22-0708-C019333CDF81}"/>
              </a:ext>
            </a:extLst>
          </p:cNvPr>
          <p:cNvSpPr/>
          <p:nvPr/>
        </p:nvSpPr>
        <p:spPr>
          <a:xfrm>
            <a:off x="5659147" y="4065060"/>
            <a:ext cx="469742"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aphicFrame>
        <p:nvGraphicFramePr>
          <p:cNvPr id="2" name="Sorted - Table">
            <a:extLst>
              <a:ext uri="{FF2B5EF4-FFF2-40B4-BE49-F238E27FC236}">
                <a16:creationId xmlns:a16="http://schemas.microsoft.com/office/drawing/2014/main" id="{F4B4ED92-6A03-C64E-1E8C-46D2DFC167A1}"/>
              </a:ext>
            </a:extLst>
          </p:cNvPr>
          <p:cNvGraphicFramePr>
            <a:graphicFrameLocks noGrp="1"/>
          </p:cNvGraphicFramePr>
          <p:nvPr/>
        </p:nvGraphicFramePr>
        <p:xfrm>
          <a:off x="9378016" y="3429000"/>
          <a:ext cx="1254887" cy="16192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i="0" dirty="0">
                          <a:solidFill>
                            <a:schemeClr val="tx1"/>
                          </a:solidFill>
                          <a:effectLst/>
                          <a:latin typeface="Calibri" panose="020F0502020204030204" pitchFamily="34" charset="0"/>
                          <a:cs typeface="Calibri" panose="020F0502020204030204" pitchFamily="34" charset="0"/>
                        </a:rPr>
                        <a:t>3</a:t>
                      </a:r>
                    </a:p>
                  </a:txBody>
                  <a:tcPr marL="9525" marR="9525" marT="9525" marB="9525" anchor="ctr"/>
                </a:tc>
                <a:extLst>
                  <a:ext uri="{0D108BD9-81ED-4DB2-BD59-A6C34878D82A}">
                    <a16:rowId xmlns:a16="http://schemas.microsoft.com/office/drawing/2014/main" val="627053109"/>
                  </a:ext>
                </a:extLst>
              </a:tr>
              <a:tr h="0">
                <a:tc>
                  <a:txBody>
                    <a:bodyPr/>
                    <a:lstStyle/>
                    <a:p>
                      <a:pPr algn="l"/>
                      <a:r>
                        <a:rPr lang="en-GB" sz="2000" b="0" dirty="0">
                          <a:solidFill>
                            <a:schemeClr val="tx1"/>
                          </a:solidFill>
                          <a:effectLst/>
                        </a:rPr>
                        <a:t>Mickey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i="0" dirty="0">
                          <a:solidFill>
                            <a:schemeClr val="tx1"/>
                          </a:solidFill>
                          <a:effectLst/>
                          <a:latin typeface="Calibri" panose="020F0502020204030204" pitchFamily="34" charset="0"/>
                          <a:cs typeface="Calibri" panose="020F0502020204030204" pitchFamily="34" charset="0"/>
                        </a:rPr>
                        <a:t>1</a:t>
                      </a:r>
                    </a:p>
                  </a:txBody>
                  <a:tcPr marL="9525" marR="9525" marT="9525" marB="9525" anchor="ctr"/>
                </a:tc>
                <a:extLst>
                  <a:ext uri="{0D108BD9-81ED-4DB2-BD59-A6C34878D82A}">
                    <a16:rowId xmlns:a16="http://schemas.microsoft.com/office/drawing/2014/main" val="3151915704"/>
                  </a:ext>
                </a:extLst>
              </a:tr>
              <a:tr h="0">
                <a:tc>
                  <a:txBody>
                    <a:bodyPr/>
                    <a:lstStyle/>
                    <a:p>
                      <a:pPr algn="l"/>
                      <a:r>
                        <a:rPr lang="en-GB" sz="2000" b="0" dirty="0">
                          <a:solidFill>
                            <a:schemeClr val="tx1"/>
                          </a:solidFill>
                          <a:effectLst/>
                        </a:rPr>
                        <a:t>Minnie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i="0" dirty="0">
                          <a:solidFill>
                            <a:schemeClr val="tx1"/>
                          </a:solidFill>
                          <a:effectLst/>
                          <a:latin typeface="Calibri" panose="020F0502020204030204" pitchFamily="34" charset="0"/>
                          <a:cs typeface="Calibri" panose="020F0502020204030204" pitchFamily="34" charset="0"/>
                        </a:rPr>
                        <a:t>1</a:t>
                      </a:r>
                    </a:p>
                  </a:txBody>
                  <a:tcPr marL="9525" marR="9525" marT="9525" marB="9525" anchor="ctr"/>
                </a:tc>
                <a:extLst>
                  <a:ext uri="{0D108BD9-81ED-4DB2-BD59-A6C34878D82A}">
                    <a16:rowId xmlns:a16="http://schemas.microsoft.com/office/drawing/2014/main" val="1193887924"/>
                  </a:ext>
                </a:extLst>
              </a:tr>
              <a:tr h="0">
                <a:tc>
                  <a:txBody>
                    <a:bodyPr/>
                    <a:lstStyle/>
                    <a:p>
                      <a:pPr algn="l"/>
                      <a:r>
                        <a:rPr lang="en-GB" sz="2000" b="0" i="0" dirty="0">
                          <a:solidFill>
                            <a:schemeClr val="tx1"/>
                          </a:solidFill>
                          <a:effectLst/>
                          <a:latin typeface="Calibri" panose="020F0502020204030204" pitchFamily="34" charset="0"/>
                          <a:cs typeface="Calibri" panose="020F0502020204030204" pitchFamily="34" charset="0"/>
                        </a:rPr>
                        <a:t>Cindy</a:t>
                      </a:r>
                    </a:p>
                  </a:txBody>
                  <a:tcPr marL="9525" marR="9525" marT="9525" marB="9525" anchor="ctr"/>
                </a:tc>
                <a:tc>
                  <a:txBody>
                    <a:bodyPr/>
                    <a:lstStyle/>
                    <a:p>
                      <a:pPr algn="ctr"/>
                      <a:r>
                        <a:rPr lang="en-GB" sz="2000" b="0" i="0" dirty="0">
                          <a:solidFill>
                            <a:schemeClr val="tx1"/>
                          </a:solidFill>
                          <a:effectLst/>
                          <a:latin typeface="Calibri" panose="020F0502020204030204" pitchFamily="34" charset="0"/>
                          <a:cs typeface="Calibri" panose="020F0502020204030204" pitchFamily="34" charset="0"/>
                        </a:rPr>
                        <a:t>4</a:t>
                      </a:r>
                    </a:p>
                  </a:txBody>
                  <a:tcPr marL="9525" marR="9525" marT="9525" marB="9525" anchor="ctr"/>
                </a:tc>
                <a:extLst>
                  <a:ext uri="{0D108BD9-81ED-4DB2-BD59-A6C34878D82A}">
                    <a16:rowId xmlns:a16="http://schemas.microsoft.com/office/drawing/2014/main" val="171917894"/>
                  </a:ext>
                </a:extLst>
              </a:tr>
            </a:tbl>
          </a:graphicData>
        </a:graphic>
      </p:graphicFrame>
      <p:sp>
        <p:nvSpPr>
          <p:cNvPr id="8" name="Minnie - Row">
            <a:extLst>
              <a:ext uri="{FF2B5EF4-FFF2-40B4-BE49-F238E27FC236}">
                <a16:creationId xmlns:a16="http://schemas.microsoft.com/office/drawing/2014/main" id="{D12FFF68-5201-49F9-5D41-2F558C7DE6F6}"/>
              </a:ext>
            </a:extLst>
          </p:cNvPr>
          <p:cNvSpPr/>
          <p:nvPr/>
        </p:nvSpPr>
        <p:spPr>
          <a:xfrm>
            <a:off x="4035743" y="5047810"/>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0" name="Age - Column">
            <a:extLst>
              <a:ext uri="{FF2B5EF4-FFF2-40B4-BE49-F238E27FC236}">
                <a16:creationId xmlns:a16="http://schemas.microsoft.com/office/drawing/2014/main" id="{DD73F33F-E6B6-7BC6-2268-B34C4ABEC5F0}"/>
              </a:ext>
            </a:extLst>
          </p:cNvPr>
          <p:cNvSpPr/>
          <p:nvPr/>
        </p:nvSpPr>
        <p:spPr>
          <a:xfrm>
            <a:off x="5659147" y="3378552"/>
            <a:ext cx="468000" cy="2977268"/>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9" name="Name - Column">
            <a:extLst>
              <a:ext uri="{FF2B5EF4-FFF2-40B4-BE49-F238E27FC236}">
                <a16:creationId xmlns:a16="http://schemas.microsoft.com/office/drawing/2014/main" id="{5C1EE198-3541-77C9-4B9A-38BEF74E729C}"/>
              </a:ext>
            </a:extLst>
          </p:cNvPr>
          <p:cNvSpPr/>
          <p:nvPr/>
        </p:nvSpPr>
        <p:spPr>
          <a:xfrm>
            <a:off x="4064434" y="3378552"/>
            <a:ext cx="792000" cy="2976944"/>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8" name="Output - Arrow">
            <a:extLst>
              <a:ext uri="{FF2B5EF4-FFF2-40B4-BE49-F238E27FC236}">
                <a16:creationId xmlns:a16="http://schemas.microsoft.com/office/drawing/2014/main" id="{8463ADAD-AA6E-DE63-B873-355C12E34FEC}"/>
              </a:ext>
            </a:extLst>
          </p:cNvPr>
          <p:cNvSpPr/>
          <p:nvPr/>
        </p:nvSpPr>
        <p:spPr>
          <a:xfrm>
            <a:off x="8853491" y="3944680"/>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1" name="Minnie - Yellow">
            <a:extLst>
              <a:ext uri="{FF2B5EF4-FFF2-40B4-BE49-F238E27FC236}">
                <a16:creationId xmlns:a16="http://schemas.microsoft.com/office/drawing/2014/main" id="{61BFD07F-E345-2C66-B228-88772E586662}"/>
              </a:ext>
            </a:extLst>
          </p:cNvPr>
          <p:cNvSpPr/>
          <p:nvPr/>
        </p:nvSpPr>
        <p:spPr>
          <a:xfrm>
            <a:off x="5656921" y="5041067"/>
            <a:ext cx="469742"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aphicFrame>
        <p:nvGraphicFramePr>
          <p:cNvPr id="12" name="Temp - Table">
            <a:extLst>
              <a:ext uri="{FF2B5EF4-FFF2-40B4-BE49-F238E27FC236}">
                <a16:creationId xmlns:a16="http://schemas.microsoft.com/office/drawing/2014/main" id="{C180E248-4438-0FDA-4308-78FE143C9414}"/>
              </a:ext>
            </a:extLst>
          </p:cNvPr>
          <p:cNvGraphicFramePr>
            <a:graphicFrameLocks noGrp="1"/>
          </p:cNvGraphicFramePr>
          <p:nvPr/>
        </p:nvGraphicFramePr>
        <p:xfrm>
          <a:off x="6721144" y="3412595"/>
          <a:ext cx="2042287"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Rabbit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3</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Mickey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Mouse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dirty="0">
                          <a:solidFill>
                            <a:schemeClr val="tx1"/>
                          </a:solidFill>
                          <a:effectLst/>
                        </a:rPr>
                        <a:t>Minnie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Mouse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4</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dirty="0">
                          <a:solidFill>
                            <a:schemeClr val="tx1"/>
                          </a:solidFill>
                          <a:effectLst/>
                        </a:rPr>
                        <a:t>Bonzo</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6</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i="0" dirty="0">
                          <a:solidFill>
                            <a:schemeClr val="tx1"/>
                          </a:solidFill>
                          <a:effectLst/>
                          <a:latin typeface="Calibri" panose="020F0502020204030204" pitchFamily="34" charset="0"/>
                          <a:cs typeface="Calibri" panose="020F0502020204030204" pitchFamily="34" charset="0"/>
                        </a:rPr>
                        <a:t>Pepper</a:t>
                      </a: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16</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dirty="0">
                          <a:solidFill>
                            <a:schemeClr val="tx1"/>
                          </a:solidFill>
                          <a:effectLst/>
                        </a:rPr>
                        <a:t>Snowy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7</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Kitty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9</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sp>
        <p:nvSpPr>
          <p:cNvPr id="43" name="Temp - Arrow">
            <a:extLst>
              <a:ext uri="{FF2B5EF4-FFF2-40B4-BE49-F238E27FC236}">
                <a16:creationId xmlns:a16="http://schemas.microsoft.com/office/drawing/2014/main" id="{06E620A0-6A84-6860-AE9B-6B154429152F}"/>
              </a:ext>
            </a:extLst>
          </p:cNvPr>
          <p:cNvSpPr/>
          <p:nvPr/>
        </p:nvSpPr>
        <p:spPr>
          <a:xfrm>
            <a:off x="6189455" y="4748755"/>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pSp>
        <p:nvGrpSpPr>
          <p:cNvPr id="57" name="Group 56">
            <a:extLst>
              <a:ext uri="{FF2B5EF4-FFF2-40B4-BE49-F238E27FC236}">
                <a16:creationId xmlns:a16="http://schemas.microsoft.com/office/drawing/2014/main" id="{8B605A5F-FDFE-CCAE-5835-5B6812E7D67B}"/>
              </a:ext>
            </a:extLst>
          </p:cNvPr>
          <p:cNvGrpSpPr/>
          <p:nvPr/>
        </p:nvGrpSpPr>
        <p:grpSpPr>
          <a:xfrm>
            <a:off x="6670761" y="3378552"/>
            <a:ext cx="2127050" cy="2977268"/>
            <a:chOff x="6346291" y="3378552"/>
            <a:chExt cx="2127050" cy="2977268"/>
          </a:xfrm>
        </p:grpSpPr>
        <p:sp>
          <p:nvSpPr>
            <p:cNvPr id="13" name="Mickey - Row">
              <a:extLst>
                <a:ext uri="{FF2B5EF4-FFF2-40B4-BE49-F238E27FC236}">
                  <a16:creationId xmlns:a16="http://schemas.microsoft.com/office/drawing/2014/main" id="{4EB3D397-7C5A-45F0-E268-10439DAACE42}"/>
                </a:ext>
              </a:extLst>
            </p:cNvPr>
            <p:cNvSpPr/>
            <p:nvPr/>
          </p:nvSpPr>
          <p:spPr>
            <a:xfrm>
              <a:off x="6348442" y="4399065"/>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6" name="Mickey - Yellow">
              <a:extLst>
                <a:ext uri="{FF2B5EF4-FFF2-40B4-BE49-F238E27FC236}">
                  <a16:creationId xmlns:a16="http://schemas.microsoft.com/office/drawing/2014/main" id="{46A32B88-3A14-42D1-E951-698ECC96F955}"/>
                </a:ext>
              </a:extLst>
            </p:cNvPr>
            <p:cNvSpPr/>
            <p:nvPr/>
          </p:nvSpPr>
          <p:spPr>
            <a:xfrm>
              <a:off x="7972001" y="4406609"/>
              <a:ext cx="469742"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4" name="Roger - Row">
              <a:extLst>
                <a:ext uri="{FF2B5EF4-FFF2-40B4-BE49-F238E27FC236}">
                  <a16:creationId xmlns:a16="http://schemas.microsoft.com/office/drawing/2014/main" id="{6A2F9A8F-EE32-6CBE-EE7B-BBEB69216615}"/>
                </a:ext>
              </a:extLst>
            </p:cNvPr>
            <p:cNvSpPr/>
            <p:nvPr/>
          </p:nvSpPr>
          <p:spPr>
            <a:xfrm>
              <a:off x="6346291" y="3750604"/>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8" name="Roger - Yellow">
              <a:extLst>
                <a:ext uri="{FF2B5EF4-FFF2-40B4-BE49-F238E27FC236}">
                  <a16:creationId xmlns:a16="http://schemas.microsoft.com/office/drawing/2014/main" id="{47B302FA-675D-52F0-2CC7-37C41D2C57DD}"/>
                </a:ext>
              </a:extLst>
            </p:cNvPr>
            <p:cNvSpPr/>
            <p:nvPr/>
          </p:nvSpPr>
          <p:spPr>
            <a:xfrm>
              <a:off x="7967624" y="3752992"/>
              <a:ext cx="470841"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5" name="Cindy - Row">
              <a:extLst>
                <a:ext uri="{FF2B5EF4-FFF2-40B4-BE49-F238E27FC236}">
                  <a16:creationId xmlns:a16="http://schemas.microsoft.com/office/drawing/2014/main" id="{512FB59B-EA2E-D074-61CB-0433AD08D4A3}"/>
                </a:ext>
              </a:extLst>
            </p:cNvPr>
            <p:cNvSpPr/>
            <p:nvPr/>
          </p:nvSpPr>
          <p:spPr>
            <a:xfrm>
              <a:off x="6346291" y="4714735"/>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4" name="Cindy - Yellow">
              <a:extLst>
                <a:ext uri="{FF2B5EF4-FFF2-40B4-BE49-F238E27FC236}">
                  <a16:creationId xmlns:a16="http://schemas.microsoft.com/office/drawing/2014/main" id="{311A32EC-A37B-58A2-2926-49B9DB48E2E6}"/>
                </a:ext>
              </a:extLst>
            </p:cNvPr>
            <p:cNvSpPr/>
            <p:nvPr/>
          </p:nvSpPr>
          <p:spPr>
            <a:xfrm>
              <a:off x="7970160" y="4715443"/>
              <a:ext cx="469742"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8" name="Minnie - Row">
              <a:extLst>
                <a:ext uri="{FF2B5EF4-FFF2-40B4-BE49-F238E27FC236}">
                  <a16:creationId xmlns:a16="http://schemas.microsoft.com/office/drawing/2014/main" id="{C869C432-3E93-AD70-9298-986D85369A87}"/>
                </a:ext>
              </a:extLst>
            </p:cNvPr>
            <p:cNvSpPr/>
            <p:nvPr/>
          </p:nvSpPr>
          <p:spPr>
            <a:xfrm>
              <a:off x="6349341" y="4068247"/>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2" name="Minnie - Yellow">
              <a:extLst>
                <a:ext uri="{FF2B5EF4-FFF2-40B4-BE49-F238E27FC236}">
                  <a16:creationId xmlns:a16="http://schemas.microsoft.com/office/drawing/2014/main" id="{B12021C9-6F05-DB60-1DAE-4E9DD81553ED}"/>
                </a:ext>
              </a:extLst>
            </p:cNvPr>
            <p:cNvSpPr/>
            <p:nvPr/>
          </p:nvSpPr>
          <p:spPr>
            <a:xfrm>
              <a:off x="7970519" y="4061504"/>
              <a:ext cx="469742"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9" name="Age - Column">
              <a:extLst>
                <a:ext uri="{FF2B5EF4-FFF2-40B4-BE49-F238E27FC236}">
                  <a16:creationId xmlns:a16="http://schemas.microsoft.com/office/drawing/2014/main" id="{8B3133B4-915A-B14E-F8BA-0F18C2BDAAA4}"/>
                </a:ext>
              </a:extLst>
            </p:cNvPr>
            <p:cNvSpPr/>
            <p:nvPr/>
          </p:nvSpPr>
          <p:spPr>
            <a:xfrm>
              <a:off x="7973936" y="3378552"/>
              <a:ext cx="468000" cy="2977268"/>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1" name="Name - Column">
              <a:extLst>
                <a:ext uri="{FF2B5EF4-FFF2-40B4-BE49-F238E27FC236}">
                  <a16:creationId xmlns:a16="http://schemas.microsoft.com/office/drawing/2014/main" id="{EDAC069A-3839-3222-7807-9DAFF06CB68C}"/>
                </a:ext>
              </a:extLst>
            </p:cNvPr>
            <p:cNvSpPr/>
            <p:nvPr/>
          </p:nvSpPr>
          <p:spPr>
            <a:xfrm>
              <a:off x="6379223" y="3378552"/>
              <a:ext cx="792000" cy="2976944"/>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grpSp>
      <p:sp>
        <p:nvSpPr>
          <p:cNvPr id="58" name="Where 2 - Arrow">
            <a:extLst>
              <a:ext uri="{FF2B5EF4-FFF2-40B4-BE49-F238E27FC236}">
                <a16:creationId xmlns:a16="http://schemas.microsoft.com/office/drawing/2014/main" id="{7BF6D11B-30C9-37AA-340F-B0069CEBD316}"/>
              </a:ext>
            </a:extLst>
          </p:cNvPr>
          <p:cNvSpPr/>
          <p:nvPr/>
        </p:nvSpPr>
        <p:spPr>
          <a:xfrm rot="5400000">
            <a:off x="7602525" y="2816094"/>
            <a:ext cx="464567" cy="467998"/>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a:p>
        </p:txBody>
      </p:sp>
    </p:spTree>
    <p:extLst>
      <p:ext uri="{BB962C8B-B14F-4D97-AF65-F5344CB8AC3E}">
        <p14:creationId xmlns:p14="http://schemas.microsoft.com/office/powerpoint/2010/main" val="1092475532"/>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Sort Results – Multiple fields</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a:xfrm>
            <a:off x="838200" y="1825625"/>
            <a:ext cx="10515600" cy="4351338"/>
          </a:xfrm>
        </p:spPr>
        <p:txBody>
          <a:bodyPr>
            <a:normAutofit/>
          </a:bodyPr>
          <a:lstStyle/>
          <a:p>
            <a:pPr marL="0" lv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1 </a:t>
            </a:r>
            <a:r>
              <a:rPr lang="en-US" altLang="en-US" sz="4200" dirty="0">
                <a:solidFill>
                  <a:srgbClr val="A71D5D"/>
                </a:solidFill>
                <a:latin typeface="Consolas" panose="020B0609020204030204" pitchFamily="49" charset="0"/>
              </a:rPr>
              <a:t>SELECT</a:t>
            </a:r>
            <a:r>
              <a:rPr lang="en-US" altLang="en-US" sz="4200" dirty="0">
                <a:solidFill>
                  <a:srgbClr val="000000"/>
                </a:solidFill>
                <a:latin typeface="Consolas" panose="020B0609020204030204" pitchFamily="49" charset="0"/>
              </a:rPr>
              <a:t> </a:t>
            </a:r>
            <a:r>
              <a:rPr lang="en-US" altLang="en-US" sz="4200" dirty="0" err="1">
                <a:solidFill>
                  <a:srgbClr val="000000"/>
                </a:solidFill>
                <a:latin typeface="Consolas" panose="020B0609020204030204" pitchFamily="49" charset="0"/>
              </a:rPr>
              <a:t>firstName</a:t>
            </a:r>
            <a:r>
              <a:rPr lang="en-US" altLang="en-US" sz="4200" dirty="0">
                <a:solidFill>
                  <a:srgbClr val="000000"/>
                </a:solidFill>
                <a:latin typeface="Consolas" panose="020B0609020204030204" pitchFamily="49" charset="0"/>
              </a:rPr>
              <a:t>, </a:t>
            </a:r>
            <a:r>
              <a:rPr lang="en-US" altLang="en-US" sz="4200" dirty="0" err="1">
                <a:solidFill>
                  <a:srgbClr val="000000"/>
                </a:solidFill>
                <a:latin typeface="Consolas" panose="020B0609020204030204" pitchFamily="49" charset="0"/>
              </a:rPr>
              <a:t>lastName</a:t>
            </a:r>
            <a:r>
              <a:rPr lang="en-US" altLang="en-US" sz="4200" dirty="0">
                <a:solidFill>
                  <a:srgbClr val="000000"/>
                </a:solidFill>
                <a:latin typeface="Consolas" panose="020B0609020204030204" pitchFamily="49" charset="0"/>
              </a:rPr>
              <a:t>, age</a:t>
            </a:r>
          </a:p>
          <a:p>
            <a:pPr marL="0" lv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2   </a:t>
            </a:r>
            <a:r>
              <a:rPr lang="en-US" altLang="en-US" sz="4200" dirty="0">
                <a:solidFill>
                  <a:srgbClr val="A71D5D"/>
                </a:solidFill>
                <a:latin typeface="Consolas" panose="020B0609020204030204" pitchFamily="49" charset="0"/>
              </a:rPr>
              <a:t>FROM</a:t>
            </a:r>
            <a:r>
              <a:rPr lang="en-US" altLang="en-US" sz="4200" dirty="0">
                <a:solidFill>
                  <a:srgbClr val="000000"/>
                </a:solidFill>
                <a:latin typeface="Consolas" panose="020B0609020204030204" pitchFamily="49" charset="0"/>
              </a:rPr>
              <a:t> Pupil</a:t>
            </a:r>
          </a:p>
          <a:p>
            <a:pPr marL="0" lv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3   </a:t>
            </a:r>
            <a:r>
              <a:rPr lang="en-US" altLang="en-US" sz="4200" dirty="0">
                <a:solidFill>
                  <a:srgbClr val="A71D5D"/>
                </a:solidFill>
                <a:latin typeface="Consolas" panose="020B0609020204030204" pitchFamily="49" charset="0"/>
              </a:rPr>
              <a:t>WHERE</a:t>
            </a:r>
            <a:r>
              <a:rPr lang="en-US" altLang="en-US" sz="4200" dirty="0">
                <a:solidFill>
                  <a:srgbClr val="000000"/>
                </a:solidFill>
                <a:latin typeface="Consolas" panose="020B0609020204030204" pitchFamily="49" charset="0"/>
              </a:rPr>
              <a:t> age &gt;= </a:t>
            </a:r>
            <a:r>
              <a:rPr lang="en-US" altLang="en-US" sz="4200" dirty="0">
                <a:solidFill>
                  <a:srgbClr val="0086B3"/>
                </a:solidFill>
                <a:latin typeface="Consolas" panose="020B0609020204030204" pitchFamily="49" charset="0"/>
              </a:rPr>
              <a:t>11</a:t>
            </a:r>
            <a:endParaRPr lang="en-US" altLang="en-US" sz="42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4   </a:t>
            </a:r>
            <a:r>
              <a:rPr lang="en-US" altLang="en-US" sz="4200" dirty="0">
                <a:solidFill>
                  <a:srgbClr val="A71D5D"/>
                </a:solidFill>
                <a:latin typeface="Consolas" panose="020B0609020204030204" pitchFamily="49" charset="0"/>
              </a:rPr>
              <a:t>ORDER BY</a:t>
            </a:r>
            <a:r>
              <a:rPr lang="en-US" altLang="en-US" sz="4200" dirty="0">
                <a:solidFill>
                  <a:srgbClr val="000000"/>
                </a:solidFill>
                <a:latin typeface="Consolas" panose="020B0609020204030204" pitchFamily="49" charset="0"/>
              </a:rPr>
              <a:t> age </a:t>
            </a:r>
            <a:r>
              <a:rPr lang="en-US" altLang="en-US" sz="4200" dirty="0">
                <a:solidFill>
                  <a:srgbClr val="A71D5D"/>
                </a:solidFill>
                <a:latin typeface="Consolas" panose="020B0609020204030204" pitchFamily="49" charset="0"/>
              </a:rPr>
              <a:t>DESC</a:t>
            </a:r>
            <a:r>
              <a:rPr lang="en-US" altLang="en-US" sz="42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5            </a:t>
            </a:r>
            <a:r>
              <a:rPr lang="en-US" altLang="en-US" sz="4200" dirty="0" err="1">
                <a:solidFill>
                  <a:srgbClr val="000000"/>
                </a:solidFill>
                <a:latin typeface="Consolas" panose="020B0609020204030204" pitchFamily="49" charset="0"/>
              </a:rPr>
              <a:t>lastName</a:t>
            </a:r>
            <a:r>
              <a:rPr lang="en-US" altLang="en-US" sz="4200" dirty="0">
                <a:solidFill>
                  <a:srgbClr val="000000"/>
                </a:solidFill>
                <a:latin typeface="Consolas" panose="020B0609020204030204" pitchFamily="49" charset="0"/>
              </a:rPr>
              <a:t> </a:t>
            </a:r>
            <a:r>
              <a:rPr lang="en-US" altLang="en-US" sz="4200" dirty="0">
                <a:solidFill>
                  <a:srgbClr val="A71D5D"/>
                </a:solidFill>
                <a:latin typeface="Consolas" panose="020B0609020204030204" pitchFamily="49" charset="0"/>
              </a:rPr>
              <a:t>ASC</a:t>
            </a:r>
            <a:r>
              <a:rPr lang="en-US" altLang="en-US" sz="4200" dirty="0">
                <a:solidFill>
                  <a:srgbClr val="000000"/>
                </a:solidFill>
                <a:latin typeface="Consolas" panose="020B0609020204030204" pitchFamily="49" charset="0"/>
              </a:rPr>
              <a:t>;</a:t>
            </a:r>
            <a:br>
              <a:rPr lang="en-US" altLang="en-US" sz="4200" dirty="0">
                <a:solidFill>
                  <a:srgbClr val="000000"/>
                </a:solidFill>
                <a:latin typeface="Consolas" panose="020B0609020204030204" pitchFamily="49" charset="0"/>
              </a:rPr>
            </a:br>
            <a:endParaRPr lang="en-US" altLang="en-US" sz="4200" dirty="0">
              <a:latin typeface="Arial" panose="020B0604020202020204" pitchFamily="34" charset="0"/>
            </a:endParaRPr>
          </a:p>
          <a:p>
            <a:pPr>
              <a:lnSpc>
                <a:spcPct val="120000"/>
              </a:lnSpc>
            </a:pPr>
            <a:endParaRPr lang="en-GB" sz="4200" dirty="0"/>
          </a:p>
        </p:txBody>
      </p:sp>
      <p:sp>
        <p:nvSpPr>
          <p:cNvPr id="12" name="Callout: Bent Line with No Border 11">
            <a:extLst>
              <a:ext uri="{FF2B5EF4-FFF2-40B4-BE49-F238E27FC236}">
                <a16:creationId xmlns:a16="http://schemas.microsoft.com/office/drawing/2014/main" id="{47DDF0B2-A520-4AA2-A4DF-C894D27E74F3}"/>
              </a:ext>
            </a:extLst>
          </p:cNvPr>
          <p:cNvSpPr/>
          <p:nvPr/>
        </p:nvSpPr>
        <p:spPr>
          <a:xfrm>
            <a:off x="8767196" y="3138652"/>
            <a:ext cx="2133600" cy="862642"/>
          </a:xfrm>
          <a:prstGeom prst="callout2">
            <a:avLst>
              <a:gd name="adj1" fmla="val 49806"/>
              <a:gd name="adj2" fmla="val -311"/>
              <a:gd name="adj3" fmla="val 49666"/>
              <a:gd name="adj4" fmla="val -30127"/>
              <a:gd name="adj5" fmla="val 122742"/>
              <a:gd name="adj6" fmla="val -67432"/>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Comma</a:t>
            </a:r>
          </a:p>
        </p:txBody>
      </p:sp>
      <p:sp>
        <p:nvSpPr>
          <p:cNvPr id="5" name="Callout: Bent Line with No Border 4">
            <a:extLst>
              <a:ext uri="{FF2B5EF4-FFF2-40B4-BE49-F238E27FC236}">
                <a16:creationId xmlns:a16="http://schemas.microsoft.com/office/drawing/2014/main" id="{C4785491-7496-4582-835E-442310508A91}"/>
              </a:ext>
            </a:extLst>
          </p:cNvPr>
          <p:cNvSpPr/>
          <p:nvPr/>
        </p:nvSpPr>
        <p:spPr>
          <a:xfrm flipH="1">
            <a:off x="1392523" y="4562292"/>
            <a:ext cx="2133600" cy="862642"/>
          </a:xfrm>
          <a:prstGeom prst="callout2">
            <a:avLst>
              <a:gd name="adj1" fmla="val 49806"/>
              <a:gd name="adj2" fmla="val -311"/>
              <a:gd name="adj3" fmla="val 49666"/>
              <a:gd name="adj4" fmla="val -30127"/>
              <a:gd name="adj5" fmla="val -31087"/>
              <a:gd name="adj6" fmla="val -54888"/>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1st sort</a:t>
            </a:r>
          </a:p>
        </p:txBody>
      </p:sp>
      <p:sp>
        <p:nvSpPr>
          <p:cNvPr id="6" name="Callout: Bent Line with No Border 5">
            <a:extLst>
              <a:ext uri="{FF2B5EF4-FFF2-40B4-BE49-F238E27FC236}">
                <a16:creationId xmlns:a16="http://schemas.microsoft.com/office/drawing/2014/main" id="{59C09FE8-141C-499C-8AF0-744EF09E0A1B}"/>
              </a:ext>
            </a:extLst>
          </p:cNvPr>
          <p:cNvSpPr/>
          <p:nvPr/>
        </p:nvSpPr>
        <p:spPr>
          <a:xfrm flipH="1">
            <a:off x="1392523" y="5292468"/>
            <a:ext cx="2133600" cy="862642"/>
          </a:xfrm>
          <a:prstGeom prst="callout2">
            <a:avLst>
              <a:gd name="adj1" fmla="val 49806"/>
              <a:gd name="adj2" fmla="val -311"/>
              <a:gd name="adj3" fmla="val 49666"/>
              <a:gd name="adj4" fmla="val -30127"/>
              <a:gd name="adj5" fmla="val -31087"/>
              <a:gd name="adj6" fmla="val -54888"/>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2nd sort</a:t>
            </a:r>
          </a:p>
        </p:txBody>
      </p:sp>
      <p:sp>
        <p:nvSpPr>
          <p:cNvPr id="7" name="TextBox 6">
            <a:extLst>
              <a:ext uri="{FF2B5EF4-FFF2-40B4-BE49-F238E27FC236}">
                <a16:creationId xmlns:a16="http://schemas.microsoft.com/office/drawing/2014/main" id="{DFBCD4FE-B2C2-4A7E-BA42-AFCA68B5BE18}"/>
              </a:ext>
            </a:extLst>
          </p:cNvPr>
          <p:cNvSpPr txBox="1"/>
          <p:nvPr/>
        </p:nvSpPr>
        <p:spPr>
          <a:xfrm>
            <a:off x="4236967" y="6019512"/>
            <a:ext cx="7432869" cy="584775"/>
          </a:xfrm>
          <a:prstGeom prst="rect">
            <a:avLst/>
          </a:prstGeom>
          <a:noFill/>
        </p:spPr>
        <p:txBody>
          <a:bodyPr wrap="none" rtlCol="0">
            <a:spAutoFit/>
          </a:bodyPr>
          <a:lstStyle/>
          <a:p>
            <a:pPr algn="ctr"/>
            <a:r>
              <a:rPr lang="en-GB" sz="3200" b="1" dirty="0">
                <a:solidFill>
                  <a:srgbClr val="7030A0"/>
                </a:solidFill>
              </a:rPr>
              <a:t>When </a:t>
            </a:r>
            <a:r>
              <a:rPr lang="en-GB" sz="3200" b="1" dirty="0">
                <a:latin typeface="Consolas" panose="020B0609020204030204" pitchFamily="49" charset="0"/>
              </a:rPr>
              <a:t>age</a:t>
            </a:r>
            <a:r>
              <a:rPr lang="en-GB" sz="3200" b="1" dirty="0">
                <a:solidFill>
                  <a:srgbClr val="7030A0"/>
                </a:solidFill>
              </a:rPr>
              <a:t> is the same, sorts by </a:t>
            </a:r>
            <a:r>
              <a:rPr lang="en-GB" sz="3200" b="1" dirty="0" err="1">
                <a:latin typeface="Consolas" panose="020B0609020204030204" pitchFamily="49" charset="0"/>
              </a:rPr>
              <a:t>lastName</a:t>
            </a:r>
            <a:endParaRPr lang="en-GB" sz="4000" dirty="0">
              <a:latin typeface="Consolas" panose="020B0609020204030204" pitchFamily="49" charset="0"/>
            </a:endParaRPr>
          </a:p>
        </p:txBody>
      </p:sp>
    </p:spTree>
    <p:extLst>
      <p:ext uri="{BB962C8B-B14F-4D97-AF65-F5344CB8AC3E}">
        <p14:creationId xmlns:p14="http://schemas.microsoft.com/office/powerpoint/2010/main" val="81898353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225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10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10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3">
                                            <p:txEl>
                                              <p:pRg st="3" end="3"/>
                                            </p:txEl>
                                          </p:spTgt>
                                        </p:tgtEl>
                                        <p:attrNameLst>
                                          <p:attrName>style.visibility</p:attrName>
                                        </p:attrNameLst>
                                      </p:cBhvr>
                                      <p:to>
                                        <p:strVal val="visible"/>
                                      </p:to>
                                    </p:set>
                                    <p:animEffect transition="in" filter="wipe(left)">
                                      <p:cBhvr>
                                        <p:cTn id="22" dur="1500"/>
                                        <p:tgtEl>
                                          <p:spTgt spid="3">
                                            <p:txEl>
                                              <p:pRg st="3" end="3"/>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3">
                                            <p:txEl>
                                              <p:pRg st="4" end="4"/>
                                            </p:txEl>
                                          </p:spTgt>
                                        </p:tgtEl>
                                        <p:attrNameLst>
                                          <p:attrName>style.visibility</p:attrName>
                                        </p:attrNameLst>
                                      </p:cBhvr>
                                      <p:to>
                                        <p:strVal val="visible"/>
                                      </p:to>
                                    </p:set>
                                    <p:animEffect transition="in" filter="wipe(left)">
                                      <p:cBhvr>
                                        <p:cTn id="27" dur="2000"/>
                                        <p:tgtEl>
                                          <p:spTgt spid="3">
                                            <p:txEl>
                                              <p:pRg st="4" end="4"/>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grpId="0" nodeType="clickEffect">
                                  <p:stCondLst>
                                    <p:cond delay="0"/>
                                  </p:stCondLst>
                                  <p:childTnLst>
                                    <p:set>
                                      <p:cBhvr>
                                        <p:cTn id="31" dur="1" fill="hold">
                                          <p:stCondLst>
                                            <p:cond delay="0"/>
                                          </p:stCondLst>
                                        </p:cTn>
                                        <p:tgtEl>
                                          <p:spTgt spid="12"/>
                                        </p:tgtEl>
                                        <p:attrNameLst>
                                          <p:attrName>style.visibility</p:attrName>
                                        </p:attrNameLst>
                                      </p:cBhvr>
                                      <p:to>
                                        <p:strVal val="visible"/>
                                      </p:to>
                                    </p:set>
                                    <p:animEffect transition="in" filter="fade">
                                      <p:cBhvr>
                                        <p:cTn id="32" dur="1000"/>
                                        <p:tgtEl>
                                          <p:spTgt spid="12"/>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grpId="0" nodeType="clickEffect">
                                  <p:stCondLst>
                                    <p:cond delay="0"/>
                                  </p:stCondLst>
                                  <p:childTnLst>
                                    <p:set>
                                      <p:cBhvr>
                                        <p:cTn id="36" dur="1" fill="hold">
                                          <p:stCondLst>
                                            <p:cond delay="0"/>
                                          </p:stCondLst>
                                        </p:cTn>
                                        <p:tgtEl>
                                          <p:spTgt spid="5"/>
                                        </p:tgtEl>
                                        <p:attrNameLst>
                                          <p:attrName>style.visibility</p:attrName>
                                        </p:attrNameLst>
                                      </p:cBhvr>
                                      <p:to>
                                        <p:strVal val="visible"/>
                                      </p:to>
                                    </p:set>
                                    <p:animEffect transition="in" filter="fade">
                                      <p:cBhvr>
                                        <p:cTn id="37" dur="1000"/>
                                        <p:tgtEl>
                                          <p:spTgt spid="5"/>
                                        </p:tgtEl>
                                      </p:cBhvr>
                                    </p:animEffect>
                                  </p:childTnLst>
                                </p:cTn>
                              </p:par>
                            </p:childTnLst>
                          </p:cTn>
                        </p:par>
                      </p:childTnLst>
                    </p:cTn>
                  </p:par>
                  <p:par>
                    <p:cTn id="38" fill="hold">
                      <p:stCondLst>
                        <p:cond delay="indefinite"/>
                      </p:stCondLst>
                      <p:childTnLst>
                        <p:par>
                          <p:cTn id="39" fill="hold">
                            <p:stCondLst>
                              <p:cond delay="0"/>
                            </p:stCondLst>
                            <p:childTnLst>
                              <p:par>
                                <p:cTn id="40" presetID="10" presetClass="entr" presetSubtype="0" fill="hold" grpId="0" nodeType="clickEffect">
                                  <p:stCondLst>
                                    <p:cond delay="0"/>
                                  </p:stCondLst>
                                  <p:childTnLst>
                                    <p:set>
                                      <p:cBhvr>
                                        <p:cTn id="41" dur="1" fill="hold">
                                          <p:stCondLst>
                                            <p:cond delay="0"/>
                                          </p:stCondLst>
                                        </p:cTn>
                                        <p:tgtEl>
                                          <p:spTgt spid="6"/>
                                        </p:tgtEl>
                                        <p:attrNameLst>
                                          <p:attrName>style.visibility</p:attrName>
                                        </p:attrNameLst>
                                      </p:cBhvr>
                                      <p:to>
                                        <p:strVal val="visible"/>
                                      </p:to>
                                    </p:set>
                                    <p:animEffect transition="in" filter="fade">
                                      <p:cBhvr>
                                        <p:cTn id="42" dur="1000"/>
                                        <p:tgtEl>
                                          <p:spTgt spid="6"/>
                                        </p:tgtEl>
                                      </p:cBhvr>
                                    </p:animEffect>
                                  </p:childTnLst>
                                </p:cTn>
                              </p:par>
                            </p:childTnLst>
                          </p:cTn>
                        </p:par>
                      </p:childTnLst>
                    </p:cTn>
                  </p:par>
                  <p:par>
                    <p:cTn id="43" fill="hold">
                      <p:stCondLst>
                        <p:cond delay="indefinite"/>
                      </p:stCondLst>
                      <p:childTnLst>
                        <p:par>
                          <p:cTn id="44" fill="hold">
                            <p:stCondLst>
                              <p:cond delay="0"/>
                            </p:stCondLst>
                            <p:childTnLst>
                              <p:par>
                                <p:cTn id="45" presetID="22" presetClass="entr" presetSubtype="8" fill="hold" grpId="0" nodeType="clickEffect">
                                  <p:stCondLst>
                                    <p:cond delay="0"/>
                                  </p:stCondLst>
                                  <p:childTnLst>
                                    <p:set>
                                      <p:cBhvr>
                                        <p:cTn id="46" dur="1" fill="hold">
                                          <p:stCondLst>
                                            <p:cond delay="0"/>
                                          </p:stCondLst>
                                        </p:cTn>
                                        <p:tgtEl>
                                          <p:spTgt spid="7">
                                            <p:txEl>
                                              <p:pRg st="0" end="0"/>
                                            </p:txEl>
                                          </p:spTgt>
                                        </p:tgtEl>
                                        <p:attrNameLst>
                                          <p:attrName>style.visibility</p:attrName>
                                        </p:attrNameLst>
                                      </p:cBhvr>
                                      <p:to>
                                        <p:strVal val="visible"/>
                                      </p:to>
                                    </p:set>
                                    <p:animEffect transition="in" filter="wipe(left)">
                                      <p:cBhvr>
                                        <p:cTn id="47" dur="2000"/>
                                        <p:tgtEl>
                                          <p:spTgt spid="7">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12" grpId="0" animBg="1"/>
      <p:bldP spid="5" grpId="0" animBg="1"/>
      <p:bldP spid="6" grpId="0" animBg="1"/>
      <p:bldP spid="7" grpId="0" build="p"/>
    </p:bldLst>
  </p:timing>
</p:sld>
</file>

<file path=ppt/slides/slide59.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Sort Results – Multiple fields</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1 </a:t>
            </a:r>
            <a:r>
              <a:rPr lang="en-US" altLang="en-US" sz="4200" dirty="0">
                <a:solidFill>
                  <a:srgbClr val="A71D5D"/>
                </a:solidFill>
                <a:latin typeface="Consolas" panose="020B0609020204030204" pitchFamily="49" charset="0"/>
              </a:rPr>
              <a:t>SELECT</a:t>
            </a:r>
            <a:r>
              <a:rPr lang="en-US" altLang="en-US" sz="4200" dirty="0">
                <a:solidFill>
                  <a:srgbClr val="000000"/>
                </a:solidFill>
                <a:latin typeface="Consolas" panose="020B0609020204030204" pitchFamily="49" charset="0"/>
              </a:rPr>
              <a:t> </a:t>
            </a:r>
            <a:r>
              <a:rPr lang="en-US" altLang="en-US" sz="4200" dirty="0" err="1">
                <a:solidFill>
                  <a:srgbClr val="000000"/>
                </a:solidFill>
                <a:latin typeface="Consolas" panose="020B0609020204030204" pitchFamily="49" charset="0"/>
              </a:rPr>
              <a:t>firstName</a:t>
            </a:r>
            <a:r>
              <a:rPr lang="en-US" altLang="en-US" sz="4200" dirty="0">
                <a:solidFill>
                  <a:srgbClr val="000000"/>
                </a:solidFill>
                <a:latin typeface="Consolas" panose="020B0609020204030204" pitchFamily="49" charset="0"/>
              </a:rPr>
              <a:t>, </a:t>
            </a:r>
            <a:r>
              <a:rPr lang="en-US" altLang="en-US" sz="4200" dirty="0" err="1">
                <a:solidFill>
                  <a:srgbClr val="000000"/>
                </a:solidFill>
                <a:latin typeface="Consolas" panose="020B0609020204030204" pitchFamily="49" charset="0"/>
              </a:rPr>
              <a:t>lastName</a:t>
            </a:r>
            <a:r>
              <a:rPr lang="en-US" altLang="en-US" sz="4200" dirty="0">
                <a:solidFill>
                  <a:srgbClr val="000000"/>
                </a:solidFill>
                <a:latin typeface="Consolas" panose="020B0609020204030204" pitchFamily="49" charset="0"/>
              </a:rPr>
              <a:t>, age</a:t>
            </a:r>
          </a:p>
          <a:p>
            <a:pPr marL="0" lv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2   </a:t>
            </a:r>
            <a:r>
              <a:rPr lang="en-US" altLang="en-US" sz="4200" dirty="0">
                <a:solidFill>
                  <a:srgbClr val="A71D5D"/>
                </a:solidFill>
                <a:latin typeface="Consolas" panose="020B0609020204030204" pitchFamily="49" charset="0"/>
              </a:rPr>
              <a:t>FROM</a:t>
            </a:r>
            <a:r>
              <a:rPr lang="en-US" altLang="en-US" sz="4200" dirty="0">
                <a:solidFill>
                  <a:srgbClr val="000000"/>
                </a:solidFill>
                <a:latin typeface="Consolas" panose="020B0609020204030204" pitchFamily="49" charset="0"/>
              </a:rPr>
              <a:t> Pupil</a:t>
            </a:r>
          </a:p>
          <a:p>
            <a:pPr marL="0" lv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3   </a:t>
            </a:r>
            <a:r>
              <a:rPr lang="en-US" altLang="en-US" sz="4200" dirty="0">
                <a:solidFill>
                  <a:srgbClr val="A71D5D"/>
                </a:solidFill>
                <a:latin typeface="Consolas" panose="020B0609020204030204" pitchFamily="49" charset="0"/>
              </a:rPr>
              <a:t>WHERE</a:t>
            </a:r>
            <a:r>
              <a:rPr lang="en-US" altLang="en-US" sz="4200" dirty="0">
                <a:solidFill>
                  <a:srgbClr val="000000"/>
                </a:solidFill>
                <a:latin typeface="Consolas" panose="020B0609020204030204" pitchFamily="49" charset="0"/>
              </a:rPr>
              <a:t> age &gt;= </a:t>
            </a:r>
            <a:r>
              <a:rPr lang="en-US" altLang="en-US" sz="4200" dirty="0">
                <a:solidFill>
                  <a:srgbClr val="0086B3"/>
                </a:solidFill>
                <a:latin typeface="Consolas" panose="020B0609020204030204" pitchFamily="49" charset="0"/>
              </a:rPr>
              <a:t>11</a:t>
            </a:r>
            <a:endParaRPr lang="en-US" altLang="en-US" sz="42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4   </a:t>
            </a:r>
            <a:r>
              <a:rPr lang="en-US" altLang="en-US" sz="4200" dirty="0">
                <a:solidFill>
                  <a:srgbClr val="A71D5D"/>
                </a:solidFill>
                <a:latin typeface="Consolas" panose="020B0609020204030204" pitchFamily="49" charset="0"/>
              </a:rPr>
              <a:t>ORDER BY</a:t>
            </a:r>
            <a:r>
              <a:rPr lang="en-US" altLang="en-US" sz="4200" dirty="0">
                <a:solidFill>
                  <a:srgbClr val="000000"/>
                </a:solidFill>
                <a:latin typeface="Consolas" panose="020B0609020204030204" pitchFamily="49" charset="0"/>
              </a:rPr>
              <a:t> age </a:t>
            </a:r>
            <a:r>
              <a:rPr lang="en-US" altLang="en-US" sz="4200" dirty="0">
                <a:solidFill>
                  <a:srgbClr val="A71D5D"/>
                </a:solidFill>
                <a:latin typeface="Consolas" panose="020B0609020204030204" pitchFamily="49" charset="0"/>
              </a:rPr>
              <a:t>DESC</a:t>
            </a:r>
            <a:r>
              <a:rPr lang="en-US" altLang="en-US" sz="42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5            </a:t>
            </a:r>
            <a:r>
              <a:rPr lang="en-US" altLang="en-US" sz="4200" dirty="0" err="1">
                <a:solidFill>
                  <a:srgbClr val="000000"/>
                </a:solidFill>
                <a:latin typeface="Consolas" panose="020B0609020204030204" pitchFamily="49" charset="0"/>
              </a:rPr>
              <a:t>lastName</a:t>
            </a:r>
            <a:r>
              <a:rPr lang="en-US" altLang="en-US" sz="4200" dirty="0">
                <a:solidFill>
                  <a:srgbClr val="000000"/>
                </a:solidFill>
                <a:latin typeface="Consolas" panose="020B0609020204030204" pitchFamily="49" charset="0"/>
              </a:rPr>
              <a:t> </a:t>
            </a:r>
            <a:r>
              <a:rPr lang="en-US" altLang="en-US" sz="4200" dirty="0">
                <a:solidFill>
                  <a:srgbClr val="A71D5D"/>
                </a:solidFill>
                <a:latin typeface="Consolas" panose="020B0609020204030204" pitchFamily="49" charset="0"/>
              </a:rPr>
              <a:t>ASC</a:t>
            </a:r>
            <a:r>
              <a:rPr lang="en-US" altLang="en-US" sz="4200" dirty="0">
                <a:solidFill>
                  <a:srgbClr val="000000"/>
                </a:solidFill>
                <a:latin typeface="Consolas" panose="020B0609020204030204" pitchFamily="49" charset="0"/>
              </a:rPr>
              <a:t>;</a:t>
            </a:r>
            <a:br>
              <a:rPr lang="en-US" altLang="en-US" sz="4200" dirty="0">
                <a:solidFill>
                  <a:srgbClr val="000000"/>
                </a:solidFill>
                <a:latin typeface="Consolas" panose="020B0609020204030204" pitchFamily="49" charset="0"/>
              </a:rPr>
            </a:br>
            <a:endParaRPr lang="en-US" altLang="en-US" sz="4200" dirty="0">
              <a:latin typeface="Arial" panose="020B0604020202020204" pitchFamily="34" charset="0"/>
            </a:endParaRPr>
          </a:p>
          <a:p>
            <a:pPr>
              <a:lnSpc>
                <a:spcPct val="120000"/>
              </a:lnSpc>
            </a:pPr>
            <a:endParaRPr lang="en-GB" sz="4200" dirty="0"/>
          </a:p>
        </p:txBody>
      </p:sp>
    </p:spTree>
    <p:extLst>
      <p:ext uri="{BB962C8B-B14F-4D97-AF65-F5344CB8AC3E}">
        <p14:creationId xmlns:p14="http://schemas.microsoft.com/office/powerpoint/2010/main" val="3019406255"/>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Learning Intentions</a:t>
            </a:r>
          </a:p>
        </p:txBody>
      </p:sp>
      <p:sp>
        <p:nvSpPr>
          <p:cNvPr id="3" name="Content Placeholder 2"/>
          <p:cNvSpPr>
            <a:spLocks noGrp="1"/>
          </p:cNvSpPr>
          <p:nvPr>
            <p:ph idx="1"/>
          </p:nvPr>
        </p:nvSpPr>
        <p:spPr/>
        <p:txBody>
          <a:bodyPr>
            <a:normAutofit/>
          </a:bodyPr>
          <a:lstStyle/>
          <a:p>
            <a:r>
              <a:rPr lang="en-GB" sz="3200" dirty="0"/>
              <a:t>Describe and use AND / OR in SQL operations</a:t>
            </a:r>
          </a:p>
        </p:txBody>
      </p:sp>
    </p:spTree>
    <p:extLst>
      <p:ext uri="{BB962C8B-B14F-4D97-AF65-F5344CB8AC3E}">
        <p14:creationId xmlns:p14="http://schemas.microsoft.com/office/powerpoint/2010/main" val="3589467266"/>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bg>
      <p:bgPr>
        <a:solidFill>
          <a:schemeClr val="accent5">
            <a:lumMod val="40000"/>
            <a:lumOff val="60000"/>
          </a:schemeClr>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Filter Results: Complex - AND</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SELECT</a:t>
            </a:r>
            <a:r>
              <a:rPr lang="en-US" altLang="en-US" sz="4400" dirty="0">
                <a:solidFill>
                  <a:srgbClr val="000000"/>
                </a:solidFill>
                <a:latin typeface="Consolas" panose="020B0609020204030204" pitchFamily="49" charset="0"/>
              </a:rPr>
              <a:t> *</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FROM</a:t>
            </a:r>
            <a:r>
              <a:rPr lang="en-US" altLang="en-US" sz="4400" dirty="0">
                <a:solidFill>
                  <a:srgbClr val="000000"/>
                </a:solidFill>
                <a:latin typeface="Consolas" panose="020B0609020204030204" pitchFamily="49" charset="0"/>
              </a:rPr>
              <a:t> Datatypes</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3   </a:t>
            </a:r>
            <a:r>
              <a:rPr lang="en-US" altLang="en-US" sz="4400" dirty="0">
                <a:solidFill>
                  <a:srgbClr val="A71D5D"/>
                </a:solidFill>
                <a:latin typeface="Consolas" panose="020B0609020204030204" pitchFamily="49" charset="0"/>
              </a:rPr>
              <a:t>WHERE</a:t>
            </a:r>
            <a:r>
              <a:rPr lang="en-US" altLang="en-US" sz="4400" dirty="0">
                <a:solidFill>
                  <a:srgbClr val="000000"/>
                </a:solidFill>
                <a:latin typeface="Consolas" panose="020B0609020204030204" pitchFamily="49" charset="0"/>
              </a:rPr>
              <a:t> </a:t>
            </a:r>
            <a:r>
              <a:rPr lang="en-US" altLang="en-US" sz="4400" dirty="0" err="1">
                <a:solidFill>
                  <a:srgbClr val="000000"/>
                </a:solidFill>
                <a:latin typeface="Consolas" panose="020B0609020204030204" pitchFamily="49" charset="0"/>
              </a:rPr>
              <a:t>colour</a:t>
            </a:r>
            <a:r>
              <a:rPr lang="en-US" altLang="en-US" sz="4400" dirty="0">
                <a:solidFill>
                  <a:srgbClr val="000000"/>
                </a:solidFill>
                <a:latin typeface="Consolas" panose="020B0609020204030204" pitchFamily="49" charset="0"/>
              </a:rPr>
              <a:t> = </a:t>
            </a:r>
            <a:r>
              <a:rPr lang="en-US" altLang="en-US" sz="4400" dirty="0">
                <a:solidFill>
                  <a:srgbClr val="183691"/>
                </a:solidFill>
                <a:latin typeface="Consolas" panose="020B0609020204030204" pitchFamily="49" charset="0"/>
              </a:rPr>
              <a:t>"Green"</a:t>
            </a:r>
            <a:endParaRPr lang="en-US" altLang="en-US" sz="44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4     </a:t>
            </a:r>
            <a:r>
              <a:rPr lang="en-US" altLang="en-US" sz="4400" dirty="0">
                <a:solidFill>
                  <a:srgbClr val="A71D5D"/>
                </a:solidFill>
                <a:latin typeface="Consolas" panose="020B0609020204030204" pitchFamily="49" charset="0"/>
              </a:rPr>
              <a:t>AND</a:t>
            </a:r>
            <a:r>
              <a:rPr lang="en-US" altLang="en-US" sz="4400" dirty="0">
                <a:solidFill>
                  <a:srgbClr val="000000"/>
                </a:solidFill>
                <a:latin typeface="Consolas" panose="020B0609020204030204" pitchFamily="49" charset="0"/>
              </a:rPr>
              <a:t> nice = </a:t>
            </a:r>
            <a:r>
              <a:rPr lang="en-US" altLang="en-US" sz="4400" dirty="0">
                <a:solidFill>
                  <a:srgbClr val="A71D5D"/>
                </a:solidFill>
                <a:latin typeface="Consolas" panose="020B0609020204030204" pitchFamily="49" charset="0"/>
              </a:rPr>
              <a:t>FALSE</a:t>
            </a:r>
            <a:r>
              <a:rPr lang="en-US" altLang="en-US" sz="4400" dirty="0">
                <a:solidFill>
                  <a:srgbClr val="000000"/>
                </a:solidFill>
                <a:latin typeface="Consolas" panose="020B0609020204030204" pitchFamily="49" charset="0"/>
              </a:rPr>
              <a:t>;</a:t>
            </a:r>
            <a:endParaRPr lang="en-US" altLang="en-US" sz="5400" dirty="0">
              <a:latin typeface="Arial" panose="020B0604020202020204" pitchFamily="34" charset="0"/>
            </a:endParaRPr>
          </a:p>
        </p:txBody>
      </p:sp>
      <p:sp>
        <p:nvSpPr>
          <p:cNvPr id="12" name="TextBox 11">
            <a:extLst>
              <a:ext uri="{FF2B5EF4-FFF2-40B4-BE49-F238E27FC236}">
                <a16:creationId xmlns:a16="http://schemas.microsoft.com/office/drawing/2014/main" id="{AF313AC3-2051-D946-A4BD-CB8D61AE849C}"/>
              </a:ext>
            </a:extLst>
          </p:cNvPr>
          <p:cNvSpPr txBox="1"/>
          <p:nvPr/>
        </p:nvSpPr>
        <p:spPr>
          <a:xfrm>
            <a:off x="1228353" y="5975354"/>
            <a:ext cx="9735294" cy="646331"/>
          </a:xfrm>
          <a:prstGeom prst="rect">
            <a:avLst/>
          </a:prstGeom>
          <a:noFill/>
        </p:spPr>
        <p:txBody>
          <a:bodyPr wrap="none" rtlCol="0">
            <a:spAutoFit/>
          </a:bodyPr>
          <a:lstStyle/>
          <a:p>
            <a:pPr algn="ctr"/>
            <a:r>
              <a:rPr lang="en-GB" sz="3600" dirty="0">
                <a:solidFill>
                  <a:srgbClr val="7030A0"/>
                </a:solidFill>
              </a:rPr>
              <a:t>If the overall condition is </a:t>
            </a:r>
            <a:r>
              <a:rPr lang="en-GB" sz="3600" dirty="0">
                <a:solidFill>
                  <a:srgbClr val="7030A0"/>
                </a:solidFill>
                <a:latin typeface="Consolas" panose="020B0609020204030204" pitchFamily="49" charset="0"/>
              </a:rPr>
              <a:t>TRUE</a:t>
            </a:r>
            <a:r>
              <a:rPr lang="en-GB" sz="3600" dirty="0">
                <a:solidFill>
                  <a:srgbClr val="7030A0"/>
                </a:solidFill>
              </a:rPr>
              <a:t> the row is displayed</a:t>
            </a:r>
            <a:endParaRPr lang="en-GB" sz="3600" dirty="0">
              <a:solidFill>
                <a:srgbClr val="7030A0"/>
              </a:solidFill>
              <a:latin typeface="Consolas" panose="020B0609020204030204" pitchFamily="49" charset="0"/>
            </a:endParaRPr>
          </a:p>
        </p:txBody>
      </p:sp>
    </p:spTree>
    <p:extLst>
      <p:ext uri="{BB962C8B-B14F-4D97-AF65-F5344CB8AC3E}">
        <p14:creationId xmlns:p14="http://schemas.microsoft.com/office/powerpoint/2010/main" val="2830124929"/>
      </p:ext>
    </p:extLst>
  </p:cSld>
  <p:clrMapOvr>
    <a:overrideClrMapping bg1="lt1" tx1="dk1" bg2="lt2" tx2="dk2" accent1="accent1" accent2="accent2" accent3="accent3" accent4="accent4" accent5="accent5" accent6="accent6" hlink="hlink" folHlink="folHlink"/>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000"/>
                                        <p:tgtEl>
                                          <p:spTgt spid="3">
                                            <p:txEl>
                                              <p:pRg st="0" end="0"/>
                                            </p:txEl>
                                          </p:spTgt>
                                        </p:tgtEl>
                                      </p:cBhvr>
                                    </p:animEffect>
                                  </p:childTnLst>
                                </p:cTn>
                              </p:par>
                            </p:childTnLst>
                          </p:cTn>
                        </p:par>
                        <p:par>
                          <p:cTn id="8" fill="hold">
                            <p:stCondLst>
                              <p:cond delay="1000"/>
                            </p:stCondLst>
                            <p:childTnLst>
                              <p:par>
                                <p:cTn id="9" presetID="22" presetClass="entr" presetSubtype="8" fill="hold" grpId="0" nodeType="after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animEffect transition="in" filter="wipe(left)">
                                      <p:cBhvr>
                                        <p:cTn id="11" dur="2000"/>
                                        <p:tgtEl>
                                          <p:spTgt spid="3">
                                            <p:txEl>
                                              <p:pRg st="1" end="1"/>
                                            </p:txEl>
                                          </p:spTgt>
                                        </p:tgtEl>
                                      </p:cBhvr>
                                    </p:animEffect>
                                  </p:childTnLst>
                                </p:cTn>
                              </p:par>
                            </p:childTnLst>
                          </p:cTn>
                        </p:par>
                        <p:par>
                          <p:cTn id="12" fill="hold">
                            <p:stCondLst>
                              <p:cond delay="3000"/>
                            </p:stCondLst>
                            <p:childTnLst>
                              <p:par>
                                <p:cTn id="13" presetID="22" presetClass="entr" presetSubtype="8" fill="hold" grpId="0" nodeType="after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animEffect transition="in" filter="wipe(left)">
                                      <p:cBhvr>
                                        <p:cTn id="15" dur="2500"/>
                                        <p:tgtEl>
                                          <p:spTgt spid="3">
                                            <p:txEl>
                                              <p:pRg st="2" end="2"/>
                                            </p:txEl>
                                          </p:spTgt>
                                        </p:tgtEl>
                                      </p:cBhvr>
                                    </p:animEffect>
                                  </p:childTnLst>
                                </p:cTn>
                              </p:par>
                            </p:childTnLst>
                          </p:cTn>
                        </p:par>
                      </p:childTnLst>
                    </p:cTn>
                  </p:par>
                  <p:par>
                    <p:cTn id="16" fill="hold">
                      <p:stCondLst>
                        <p:cond delay="indefinite"/>
                      </p:stCondLst>
                      <p:childTnLst>
                        <p:par>
                          <p:cTn id="17" fill="hold">
                            <p:stCondLst>
                              <p:cond delay="0"/>
                            </p:stCondLst>
                            <p:childTnLst>
                              <p:par>
                                <p:cTn id="18" presetID="22" presetClass="entr" presetSubtype="8" fill="hold" grpId="0" nodeType="clickEffect">
                                  <p:stCondLst>
                                    <p:cond delay="0"/>
                                  </p:stCondLst>
                                  <p:childTnLst>
                                    <p:set>
                                      <p:cBhvr>
                                        <p:cTn id="19" dur="1" fill="hold">
                                          <p:stCondLst>
                                            <p:cond delay="0"/>
                                          </p:stCondLst>
                                        </p:cTn>
                                        <p:tgtEl>
                                          <p:spTgt spid="3">
                                            <p:txEl>
                                              <p:pRg st="3" end="3"/>
                                            </p:txEl>
                                          </p:spTgt>
                                        </p:tgtEl>
                                        <p:attrNameLst>
                                          <p:attrName>style.visibility</p:attrName>
                                        </p:attrNameLst>
                                      </p:cBhvr>
                                      <p:to>
                                        <p:strVal val="visible"/>
                                      </p:to>
                                    </p:set>
                                    <p:animEffect transition="in" filter="wipe(left)">
                                      <p:cBhvr>
                                        <p:cTn id="20" dur="2250"/>
                                        <p:tgtEl>
                                          <p:spTgt spid="3">
                                            <p:txEl>
                                              <p:pRg st="3" end="3"/>
                                            </p:txEl>
                                          </p:spTgt>
                                        </p:tgtEl>
                                      </p:cBhvr>
                                    </p:animEffect>
                                  </p:childTnLst>
                                </p:cTn>
                              </p:par>
                            </p:childTnLst>
                          </p:cTn>
                        </p:par>
                      </p:childTnLst>
                    </p:cTn>
                  </p:par>
                  <p:par>
                    <p:cTn id="21" fill="hold">
                      <p:stCondLst>
                        <p:cond delay="indefinite"/>
                      </p:stCondLst>
                      <p:childTnLst>
                        <p:par>
                          <p:cTn id="22" fill="hold">
                            <p:stCondLst>
                              <p:cond delay="0"/>
                            </p:stCondLst>
                            <p:childTnLst>
                              <p:par>
                                <p:cTn id="23" presetID="22" presetClass="entr" presetSubtype="8" fill="hold" grpId="0" nodeType="clickEffect">
                                  <p:stCondLst>
                                    <p:cond delay="0"/>
                                  </p:stCondLst>
                                  <p:childTnLst>
                                    <p:set>
                                      <p:cBhvr>
                                        <p:cTn id="24" dur="1" fill="hold">
                                          <p:stCondLst>
                                            <p:cond delay="0"/>
                                          </p:stCondLst>
                                        </p:cTn>
                                        <p:tgtEl>
                                          <p:spTgt spid="12">
                                            <p:txEl>
                                              <p:pRg st="0" end="0"/>
                                            </p:txEl>
                                          </p:spTgt>
                                        </p:tgtEl>
                                        <p:attrNameLst>
                                          <p:attrName>style.visibility</p:attrName>
                                        </p:attrNameLst>
                                      </p:cBhvr>
                                      <p:to>
                                        <p:strVal val="visible"/>
                                      </p:to>
                                    </p:set>
                                    <p:animEffect transition="in" filter="wipe(left)">
                                      <p:cBhvr>
                                        <p:cTn id="25" dur="2000"/>
                                        <p:tgtEl>
                                          <p:spTgt spid="12">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12" grpId="0" build="p"/>
    </p:bldLst>
  </p:timing>
</p:sld>
</file>

<file path=ppt/slides/slide62.xml><?xml version="1.0" encoding="utf-8"?>
<p:sld xmlns:a="http://schemas.openxmlformats.org/drawingml/2006/main" xmlns:r="http://schemas.openxmlformats.org/officeDocument/2006/relationships" xmlns:p="http://schemas.openxmlformats.org/presentationml/2006/main" show="0">
  <p:cSld>
    <p:bg>
      <p:bgPr>
        <a:solidFill>
          <a:schemeClr val="accent5">
            <a:lumMod val="40000"/>
            <a:lumOff val="60000"/>
          </a:schemeClr>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Filter Results: Complex - AND</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SELECT</a:t>
            </a:r>
            <a:r>
              <a:rPr lang="en-US" altLang="en-US" sz="4400" dirty="0">
                <a:solidFill>
                  <a:srgbClr val="000000"/>
                </a:solidFill>
                <a:latin typeface="Consolas" panose="020B0609020204030204" pitchFamily="49" charset="0"/>
              </a:rPr>
              <a:t> *</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FROM</a:t>
            </a:r>
            <a:r>
              <a:rPr lang="en-US" altLang="en-US" sz="4400" dirty="0">
                <a:solidFill>
                  <a:srgbClr val="000000"/>
                </a:solidFill>
                <a:latin typeface="Consolas" panose="020B0609020204030204" pitchFamily="49" charset="0"/>
              </a:rPr>
              <a:t> Datatypes</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3   </a:t>
            </a:r>
            <a:r>
              <a:rPr lang="en-US" altLang="en-US" sz="4400" dirty="0">
                <a:solidFill>
                  <a:srgbClr val="A71D5D"/>
                </a:solidFill>
                <a:latin typeface="Consolas" panose="020B0609020204030204" pitchFamily="49" charset="0"/>
              </a:rPr>
              <a:t>WHERE</a:t>
            </a:r>
            <a:r>
              <a:rPr lang="en-US" altLang="en-US" sz="4400" dirty="0">
                <a:solidFill>
                  <a:srgbClr val="000000"/>
                </a:solidFill>
                <a:latin typeface="Consolas" panose="020B0609020204030204" pitchFamily="49" charset="0"/>
              </a:rPr>
              <a:t> </a:t>
            </a:r>
            <a:r>
              <a:rPr lang="en-US" altLang="en-US" sz="4400" dirty="0" err="1">
                <a:solidFill>
                  <a:srgbClr val="000000"/>
                </a:solidFill>
                <a:latin typeface="Consolas" panose="020B0609020204030204" pitchFamily="49" charset="0"/>
              </a:rPr>
              <a:t>colour</a:t>
            </a:r>
            <a:r>
              <a:rPr lang="en-US" altLang="en-US" sz="4400" dirty="0">
                <a:solidFill>
                  <a:srgbClr val="000000"/>
                </a:solidFill>
                <a:latin typeface="Consolas" panose="020B0609020204030204" pitchFamily="49" charset="0"/>
              </a:rPr>
              <a:t> = </a:t>
            </a:r>
            <a:r>
              <a:rPr lang="en-US" altLang="en-US" sz="4400" dirty="0">
                <a:solidFill>
                  <a:srgbClr val="183691"/>
                </a:solidFill>
                <a:latin typeface="Consolas" panose="020B0609020204030204" pitchFamily="49" charset="0"/>
              </a:rPr>
              <a:t>"Green"</a:t>
            </a:r>
            <a:endParaRPr lang="en-US" altLang="en-US" sz="44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4     </a:t>
            </a:r>
            <a:r>
              <a:rPr lang="en-US" altLang="en-US" sz="4400" dirty="0">
                <a:solidFill>
                  <a:srgbClr val="A71D5D"/>
                </a:solidFill>
                <a:latin typeface="Consolas" panose="020B0609020204030204" pitchFamily="49" charset="0"/>
              </a:rPr>
              <a:t>AND</a:t>
            </a:r>
            <a:r>
              <a:rPr lang="en-US" altLang="en-US" sz="4400" dirty="0">
                <a:solidFill>
                  <a:srgbClr val="000000"/>
                </a:solidFill>
                <a:latin typeface="Consolas" panose="020B0609020204030204" pitchFamily="49" charset="0"/>
              </a:rPr>
              <a:t> nice = </a:t>
            </a:r>
            <a:r>
              <a:rPr lang="en-US" altLang="en-US" sz="4400" dirty="0">
                <a:solidFill>
                  <a:srgbClr val="A71D5D"/>
                </a:solidFill>
                <a:latin typeface="Consolas" panose="020B0609020204030204" pitchFamily="49" charset="0"/>
              </a:rPr>
              <a:t>FALSE</a:t>
            </a:r>
            <a:r>
              <a:rPr lang="en-US" altLang="en-US" sz="4400" dirty="0">
                <a:solidFill>
                  <a:srgbClr val="000000"/>
                </a:solidFill>
                <a:latin typeface="Consolas" panose="020B0609020204030204" pitchFamily="49" charset="0"/>
              </a:rPr>
              <a:t>;</a:t>
            </a:r>
            <a:endParaRPr lang="en-US" altLang="en-US" sz="5400" dirty="0">
              <a:latin typeface="Arial" panose="020B0604020202020204" pitchFamily="34" charset="0"/>
            </a:endParaRPr>
          </a:p>
        </p:txBody>
      </p:sp>
      <p:sp>
        <p:nvSpPr>
          <p:cNvPr id="12" name="TextBox 11">
            <a:extLst>
              <a:ext uri="{FF2B5EF4-FFF2-40B4-BE49-F238E27FC236}">
                <a16:creationId xmlns:a16="http://schemas.microsoft.com/office/drawing/2014/main" id="{AF313AC3-2051-D946-A4BD-CB8D61AE849C}"/>
              </a:ext>
            </a:extLst>
          </p:cNvPr>
          <p:cNvSpPr txBox="1"/>
          <p:nvPr/>
        </p:nvSpPr>
        <p:spPr>
          <a:xfrm>
            <a:off x="1061648" y="5975354"/>
            <a:ext cx="10068718" cy="646331"/>
          </a:xfrm>
          <a:prstGeom prst="rect">
            <a:avLst/>
          </a:prstGeom>
          <a:noFill/>
        </p:spPr>
        <p:txBody>
          <a:bodyPr wrap="none" rtlCol="0">
            <a:spAutoFit/>
          </a:bodyPr>
          <a:lstStyle/>
          <a:p>
            <a:pPr algn="ctr"/>
            <a:r>
              <a:rPr lang="en-GB" sz="3600" dirty="0">
                <a:solidFill>
                  <a:srgbClr val="7030A0"/>
                </a:solidFill>
              </a:rPr>
              <a:t>If the               condition is              the row is displayed</a:t>
            </a:r>
            <a:endParaRPr lang="en-GB" sz="3600" dirty="0">
              <a:solidFill>
                <a:srgbClr val="7030A0"/>
              </a:solidFill>
              <a:latin typeface="Consolas" panose="020B0609020204030204" pitchFamily="49" charset="0"/>
            </a:endParaRPr>
          </a:p>
        </p:txBody>
      </p:sp>
    </p:spTree>
    <p:extLst>
      <p:ext uri="{BB962C8B-B14F-4D97-AF65-F5344CB8AC3E}">
        <p14:creationId xmlns:p14="http://schemas.microsoft.com/office/powerpoint/2010/main" val="3697990193"/>
      </p:ext>
    </p:extLst>
  </p:cSld>
  <p:clrMapOvr>
    <a:overrideClrMapping bg1="lt1" tx1="dk1" bg2="lt2" tx2="dk2" accent1="accent1" accent2="accent2" accent3="accent3" accent4="accent4" accent5="accent5" accent6="accent6" hlink="hlink" folHlink="folHlink"/>
  </p:clrMapOvr>
</p:sld>
</file>

<file path=ppt/slides/slide63.xml><?xml version="1.0" encoding="utf-8"?>
<p:sld xmlns:a="http://schemas.openxmlformats.org/drawingml/2006/main" xmlns:r="http://schemas.openxmlformats.org/officeDocument/2006/relationships" xmlns:p="http://schemas.openxmlformats.org/presentationml/2006/main">
  <p:cSld>
    <p:bg>
      <p:bgPr>
        <a:solidFill>
          <a:schemeClr val="accent5">
            <a:lumMod val="40000"/>
            <a:lumOff val="60000"/>
          </a:schemeClr>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Filter Results: Complex - OR</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SELECT</a:t>
            </a:r>
            <a:r>
              <a:rPr lang="en-US" altLang="en-US" sz="4400" dirty="0">
                <a:solidFill>
                  <a:srgbClr val="000000"/>
                </a:solidFill>
                <a:latin typeface="Consolas" panose="020B0609020204030204" pitchFamily="49" charset="0"/>
              </a:rPr>
              <a:t> *</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FROM</a:t>
            </a:r>
            <a:r>
              <a:rPr lang="en-US" altLang="en-US" sz="4400" dirty="0">
                <a:solidFill>
                  <a:srgbClr val="000000"/>
                </a:solidFill>
                <a:latin typeface="Consolas" panose="020B0609020204030204" pitchFamily="49" charset="0"/>
              </a:rPr>
              <a:t> Datatypes</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3   </a:t>
            </a:r>
            <a:r>
              <a:rPr lang="en-US" altLang="en-US" sz="4400" dirty="0">
                <a:solidFill>
                  <a:srgbClr val="A71D5D"/>
                </a:solidFill>
                <a:latin typeface="Consolas" panose="020B0609020204030204" pitchFamily="49" charset="0"/>
              </a:rPr>
              <a:t>WHERE</a:t>
            </a:r>
            <a:r>
              <a:rPr lang="en-US" altLang="en-US" sz="4400" dirty="0">
                <a:solidFill>
                  <a:srgbClr val="000000"/>
                </a:solidFill>
                <a:latin typeface="Consolas" panose="020B0609020204030204" pitchFamily="49" charset="0"/>
              </a:rPr>
              <a:t> </a:t>
            </a:r>
            <a:r>
              <a:rPr lang="en-US" altLang="en-US" sz="4400" dirty="0" err="1">
                <a:solidFill>
                  <a:srgbClr val="000000"/>
                </a:solidFill>
                <a:latin typeface="Consolas" panose="020B0609020204030204" pitchFamily="49" charset="0"/>
              </a:rPr>
              <a:t>colour</a:t>
            </a:r>
            <a:r>
              <a:rPr lang="en-US" altLang="en-US" sz="4400" dirty="0">
                <a:solidFill>
                  <a:srgbClr val="000000"/>
                </a:solidFill>
                <a:latin typeface="Consolas" panose="020B0609020204030204" pitchFamily="49" charset="0"/>
              </a:rPr>
              <a:t> = </a:t>
            </a:r>
            <a:r>
              <a:rPr lang="en-US" altLang="en-US" sz="4400" dirty="0">
                <a:solidFill>
                  <a:srgbClr val="183691"/>
                </a:solidFill>
                <a:latin typeface="Consolas" panose="020B0609020204030204" pitchFamily="49" charset="0"/>
              </a:rPr>
              <a:t>"Green"</a:t>
            </a:r>
            <a:endParaRPr lang="en-US" altLang="en-US" sz="44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4      </a:t>
            </a:r>
            <a:r>
              <a:rPr lang="en-US" altLang="en-US" sz="4400" dirty="0">
                <a:solidFill>
                  <a:srgbClr val="A71D5D"/>
                </a:solidFill>
                <a:latin typeface="Consolas" panose="020B0609020204030204" pitchFamily="49" charset="0"/>
              </a:rPr>
              <a:t>OR</a:t>
            </a:r>
            <a:r>
              <a:rPr lang="en-US" altLang="en-US" sz="4400" dirty="0">
                <a:solidFill>
                  <a:srgbClr val="000000"/>
                </a:solidFill>
                <a:latin typeface="Consolas" panose="020B0609020204030204" pitchFamily="49" charset="0"/>
              </a:rPr>
              <a:t> nice = </a:t>
            </a:r>
            <a:r>
              <a:rPr lang="en-US" altLang="en-US" sz="4400" dirty="0">
                <a:solidFill>
                  <a:srgbClr val="A71D5D"/>
                </a:solidFill>
                <a:latin typeface="Consolas" panose="020B0609020204030204" pitchFamily="49" charset="0"/>
              </a:rPr>
              <a:t>FALSE</a:t>
            </a:r>
            <a:r>
              <a:rPr lang="en-US" altLang="en-US" sz="4400" dirty="0">
                <a:solidFill>
                  <a:srgbClr val="000000"/>
                </a:solidFill>
                <a:latin typeface="Consolas" panose="020B0609020204030204" pitchFamily="49" charset="0"/>
              </a:rPr>
              <a:t>;</a:t>
            </a:r>
            <a:endParaRPr lang="en-US" altLang="en-US" sz="5400" dirty="0">
              <a:latin typeface="Arial" panose="020B0604020202020204" pitchFamily="34" charset="0"/>
            </a:endParaRPr>
          </a:p>
        </p:txBody>
      </p:sp>
      <p:sp>
        <p:nvSpPr>
          <p:cNvPr id="12" name="TextBox 11">
            <a:extLst>
              <a:ext uri="{FF2B5EF4-FFF2-40B4-BE49-F238E27FC236}">
                <a16:creationId xmlns:a16="http://schemas.microsoft.com/office/drawing/2014/main" id="{AF313AC3-2051-D946-A4BD-CB8D61AE849C}"/>
              </a:ext>
            </a:extLst>
          </p:cNvPr>
          <p:cNvSpPr txBox="1"/>
          <p:nvPr/>
        </p:nvSpPr>
        <p:spPr>
          <a:xfrm>
            <a:off x="1228353" y="5975354"/>
            <a:ext cx="9735294" cy="646331"/>
          </a:xfrm>
          <a:prstGeom prst="rect">
            <a:avLst/>
          </a:prstGeom>
          <a:noFill/>
        </p:spPr>
        <p:txBody>
          <a:bodyPr wrap="none" rtlCol="0">
            <a:spAutoFit/>
          </a:bodyPr>
          <a:lstStyle/>
          <a:p>
            <a:pPr algn="ctr"/>
            <a:r>
              <a:rPr lang="en-GB" sz="3600" dirty="0">
                <a:solidFill>
                  <a:srgbClr val="7030A0"/>
                </a:solidFill>
              </a:rPr>
              <a:t>If the overall condition is </a:t>
            </a:r>
            <a:r>
              <a:rPr lang="en-GB" sz="3600" dirty="0">
                <a:solidFill>
                  <a:srgbClr val="7030A0"/>
                </a:solidFill>
                <a:latin typeface="Consolas" panose="020B0609020204030204" pitchFamily="49" charset="0"/>
              </a:rPr>
              <a:t>TRUE</a:t>
            </a:r>
            <a:r>
              <a:rPr lang="en-GB" sz="3600" dirty="0">
                <a:solidFill>
                  <a:srgbClr val="7030A0"/>
                </a:solidFill>
              </a:rPr>
              <a:t> the row is displayed</a:t>
            </a:r>
            <a:endParaRPr lang="en-GB" sz="3600" dirty="0">
              <a:solidFill>
                <a:srgbClr val="7030A0"/>
              </a:solidFill>
              <a:latin typeface="Consolas" panose="020B0609020204030204" pitchFamily="49" charset="0"/>
            </a:endParaRPr>
          </a:p>
        </p:txBody>
      </p:sp>
    </p:spTree>
    <p:extLst>
      <p:ext uri="{BB962C8B-B14F-4D97-AF65-F5344CB8AC3E}">
        <p14:creationId xmlns:p14="http://schemas.microsoft.com/office/powerpoint/2010/main" val="2976992114"/>
      </p:ext>
    </p:extLst>
  </p:cSld>
  <p:clrMapOvr>
    <a:overrideClrMapping bg1="lt1" tx1="dk1" bg2="lt2" tx2="dk2" accent1="accent1" accent2="accent2" accent3="accent3" accent4="accent4" accent5="accent5" accent6="accent6" hlink="hlink" folHlink="folHlink"/>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000"/>
                                        <p:tgtEl>
                                          <p:spTgt spid="3">
                                            <p:txEl>
                                              <p:pRg st="0" end="0"/>
                                            </p:txEl>
                                          </p:spTgt>
                                        </p:tgtEl>
                                      </p:cBhvr>
                                    </p:animEffect>
                                  </p:childTnLst>
                                </p:cTn>
                              </p:par>
                            </p:childTnLst>
                          </p:cTn>
                        </p:par>
                        <p:par>
                          <p:cTn id="8" fill="hold">
                            <p:stCondLst>
                              <p:cond delay="1000"/>
                            </p:stCondLst>
                            <p:childTnLst>
                              <p:par>
                                <p:cTn id="9" presetID="22" presetClass="entr" presetSubtype="8" fill="hold" grpId="0" nodeType="after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animEffect transition="in" filter="wipe(left)">
                                      <p:cBhvr>
                                        <p:cTn id="11" dur="2000"/>
                                        <p:tgtEl>
                                          <p:spTgt spid="3">
                                            <p:txEl>
                                              <p:pRg st="1" end="1"/>
                                            </p:txEl>
                                          </p:spTgt>
                                        </p:tgtEl>
                                      </p:cBhvr>
                                    </p:animEffect>
                                  </p:childTnLst>
                                </p:cTn>
                              </p:par>
                            </p:childTnLst>
                          </p:cTn>
                        </p:par>
                        <p:par>
                          <p:cTn id="12" fill="hold">
                            <p:stCondLst>
                              <p:cond delay="3000"/>
                            </p:stCondLst>
                            <p:childTnLst>
                              <p:par>
                                <p:cTn id="13" presetID="22" presetClass="entr" presetSubtype="8" fill="hold" grpId="0" nodeType="after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animEffect transition="in" filter="wipe(left)">
                                      <p:cBhvr>
                                        <p:cTn id="15" dur="2500"/>
                                        <p:tgtEl>
                                          <p:spTgt spid="3">
                                            <p:txEl>
                                              <p:pRg st="2" end="2"/>
                                            </p:txEl>
                                          </p:spTgt>
                                        </p:tgtEl>
                                      </p:cBhvr>
                                    </p:animEffect>
                                  </p:childTnLst>
                                </p:cTn>
                              </p:par>
                            </p:childTnLst>
                          </p:cTn>
                        </p:par>
                      </p:childTnLst>
                    </p:cTn>
                  </p:par>
                  <p:par>
                    <p:cTn id="16" fill="hold">
                      <p:stCondLst>
                        <p:cond delay="indefinite"/>
                      </p:stCondLst>
                      <p:childTnLst>
                        <p:par>
                          <p:cTn id="17" fill="hold">
                            <p:stCondLst>
                              <p:cond delay="0"/>
                            </p:stCondLst>
                            <p:childTnLst>
                              <p:par>
                                <p:cTn id="18" presetID="22" presetClass="entr" presetSubtype="8" fill="hold" grpId="0" nodeType="clickEffect">
                                  <p:stCondLst>
                                    <p:cond delay="0"/>
                                  </p:stCondLst>
                                  <p:childTnLst>
                                    <p:set>
                                      <p:cBhvr>
                                        <p:cTn id="19" dur="1" fill="hold">
                                          <p:stCondLst>
                                            <p:cond delay="0"/>
                                          </p:stCondLst>
                                        </p:cTn>
                                        <p:tgtEl>
                                          <p:spTgt spid="3">
                                            <p:txEl>
                                              <p:pRg st="3" end="3"/>
                                            </p:txEl>
                                          </p:spTgt>
                                        </p:tgtEl>
                                        <p:attrNameLst>
                                          <p:attrName>style.visibility</p:attrName>
                                        </p:attrNameLst>
                                      </p:cBhvr>
                                      <p:to>
                                        <p:strVal val="visible"/>
                                      </p:to>
                                    </p:set>
                                    <p:animEffect transition="in" filter="wipe(left)">
                                      <p:cBhvr>
                                        <p:cTn id="20" dur="2250"/>
                                        <p:tgtEl>
                                          <p:spTgt spid="3">
                                            <p:txEl>
                                              <p:pRg st="3" end="3"/>
                                            </p:txEl>
                                          </p:spTgt>
                                        </p:tgtEl>
                                      </p:cBhvr>
                                    </p:animEffect>
                                  </p:childTnLst>
                                </p:cTn>
                              </p:par>
                            </p:childTnLst>
                          </p:cTn>
                        </p:par>
                      </p:childTnLst>
                    </p:cTn>
                  </p:par>
                  <p:par>
                    <p:cTn id="21" fill="hold">
                      <p:stCondLst>
                        <p:cond delay="indefinite"/>
                      </p:stCondLst>
                      <p:childTnLst>
                        <p:par>
                          <p:cTn id="22" fill="hold">
                            <p:stCondLst>
                              <p:cond delay="0"/>
                            </p:stCondLst>
                            <p:childTnLst>
                              <p:par>
                                <p:cTn id="23" presetID="22" presetClass="entr" presetSubtype="8" fill="hold" grpId="0" nodeType="clickEffect">
                                  <p:stCondLst>
                                    <p:cond delay="0"/>
                                  </p:stCondLst>
                                  <p:childTnLst>
                                    <p:set>
                                      <p:cBhvr>
                                        <p:cTn id="24" dur="1" fill="hold">
                                          <p:stCondLst>
                                            <p:cond delay="0"/>
                                          </p:stCondLst>
                                        </p:cTn>
                                        <p:tgtEl>
                                          <p:spTgt spid="12">
                                            <p:txEl>
                                              <p:pRg st="0" end="0"/>
                                            </p:txEl>
                                          </p:spTgt>
                                        </p:tgtEl>
                                        <p:attrNameLst>
                                          <p:attrName>style.visibility</p:attrName>
                                        </p:attrNameLst>
                                      </p:cBhvr>
                                      <p:to>
                                        <p:strVal val="visible"/>
                                      </p:to>
                                    </p:set>
                                    <p:animEffect transition="in" filter="wipe(left)">
                                      <p:cBhvr>
                                        <p:cTn id="25" dur="2000"/>
                                        <p:tgtEl>
                                          <p:spTgt spid="12">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12" grpId="0" build="p"/>
    </p:bldLst>
  </p:timing>
</p:sld>
</file>

<file path=ppt/slides/slide64.xml><?xml version="1.0" encoding="utf-8"?>
<p:sld xmlns:a="http://schemas.openxmlformats.org/drawingml/2006/main" xmlns:r="http://schemas.openxmlformats.org/officeDocument/2006/relationships" xmlns:p="http://schemas.openxmlformats.org/presentationml/2006/main" show="0">
  <p:cSld>
    <p:bg>
      <p:bgPr>
        <a:solidFill>
          <a:schemeClr val="accent5">
            <a:lumMod val="40000"/>
            <a:lumOff val="60000"/>
          </a:schemeClr>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Filter Results: Complex - OR</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SELECT</a:t>
            </a:r>
            <a:r>
              <a:rPr lang="en-US" altLang="en-US" sz="4400" dirty="0">
                <a:solidFill>
                  <a:srgbClr val="000000"/>
                </a:solidFill>
                <a:latin typeface="Consolas" panose="020B0609020204030204" pitchFamily="49" charset="0"/>
              </a:rPr>
              <a:t> *</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FROM</a:t>
            </a:r>
            <a:r>
              <a:rPr lang="en-US" altLang="en-US" sz="4400" dirty="0">
                <a:solidFill>
                  <a:srgbClr val="000000"/>
                </a:solidFill>
                <a:latin typeface="Consolas" panose="020B0609020204030204" pitchFamily="49" charset="0"/>
              </a:rPr>
              <a:t> Datatypes</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3   </a:t>
            </a:r>
            <a:r>
              <a:rPr lang="en-US" altLang="en-US" sz="4400" dirty="0">
                <a:solidFill>
                  <a:srgbClr val="A71D5D"/>
                </a:solidFill>
                <a:latin typeface="Consolas" panose="020B0609020204030204" pitchFamily="49" charset="0"/>
              </a:rPr>
              <a:t>WHERE</a:t>
            </a:r>
            <a:r>
              <a:rPr lang="en-US" altLang="en-US" sz="4400" dirty="0">
                <a:solidFill>
                  <a:srgbClr val="000000"/>
                </a:solidFill>
                <a:latin typeface="Consolas" panose="020B0609020204030204" pitchFamily="49" charset="0"/>
              </a:rPr>
              <a:t> </a:t>
            </a:r>
            <a:r>
              <a:rPr lang="en-US" altLang="en-US" sz="4400" dirty="0" err="1">
                <a:solidFill>
                  <a:srgbClr val="000000"/>
                </a:solidFill>
                <a:latin typeface="Consolas" panose="020B0609020204030204" pitchFamily="49" charset="0"/>
              </a:rPr>
              <a:t>colour</a:t>
            </a:r>
            <a:r>
              <a:rPr lang="en-US" altLang="en-US" sz="4400" dirty="0">
                <a:solidFill>
                  <a:srgbClr val="000000"/>
                </a:solidFill>
                <a:latin typeface="Consolas" panose="020B0609020204030204" pitchFamily="49" charset="0"/>
              </a:rPr>
              <a:t> = </a:t>
            </a:r>
            <a:r>
              <a:rPr lang="en-US" altLang="en-US" sz="4400" dirty="0">
                <a:solidFill>
                  <a:srgbClr val="183691"/>
                </a:solidFill>
                <a:latin typeface="Consolas" panose="020B0609020204030204" pitchFamily="49" charset="0"/>
              </a:rPr>
              <a:t>"Green"</a:t>
            </a:r>
            <a:endParaRPr lang="en-US" altLang="en-US" sz="44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4      </a:t>
            </a:r>
            <a:r>
              <a:rPr lang="en-US" altLang="en-US" sz="4400" dirty="0">
                <a:solidFill>
                  <a:srgbClr val="A71D5D"/>
                </a:solidFill>
                <a:latin typeface="Consolas" panose="020B0609020204030204" pitchFamily="49" charset="0"/>
              </a:rPr>
              <a:t>OR</a:t>
            </a:r>
            <a:r>
              <a:rPr lang="en-US" altLang="en-US" sz="4400" dirty="0">
                <a:solidFill>
                  <a:srgbClr val="000000"/>
                </a:solidFill>
                <a:latin typeface="Consolas" panose="020B0609020204030204" pitchFamily="49" charset="0"/>
              </a:rPr>
              <a:t> nice = </a:t>
            </a:r>
            <a:r>
              <a:rPr lang="en-US" altLang="en-US" sz="4400" dirty="0">
                <a:solidFill>
                  <a:srgbClr val="A71D5D"/>
                </a:solidFill>
                <a:latin typeface="Consolas" panose="020B0609020204030204" pitchFamily="49" charset="0"/>
              </a:rPr>
              <a:t>FALSE</a:t>
            </a:r>
            <a:r>
              <a:rPr lang="en-US" altLang="en-US" sz="4400" dirty="0">
                <a:solidFill>
                  <a:srgbClr val="000000"/>
                </a:solidFill>
                <a:latin typeface="Consolas" panose="020B0609020204030204" pitchFamily="49" charset="0"/>
              </a:rPr>
              <a:t>;</a:t>
            </a:r>
            <a:endParaRPr lang="en-US" altLang="en-US" sz="5400" dirty="0">
              <a:latin typeface="Arial" panose="020B0604020202020204" pitchFamily="34" charset="0"/>
            </a:endParaRPr>
          </a:p>
        </p:txBody>
      </p:sp>
      <p:sp>
        <p:nvSpPr>
          <p:cNvPr id="12" name="TextBox 11">
            <a:extLst>
              <a:ext uri="{FF2B5EF4-FFF2-40B4-BE49-F238E27FC236}">
                <a16:creationId xmlns:a16="http://schemas.microsoft.com/office/drawing/2014/main" id="{AF313AC3-2051-D946-A4BD-CB8D61AE849C}"/>
              </a:ext>
            </a:extLst>
          </p:cNvPr>
          <p:cNvSpPr txBox="1"/>
          <p:nvPr/>
        </p:nvSpPr>
        <p:spPr>
          <a:xfrm>
            <a:off x="1061648" y="5975354"/>
            <a:ext cx="10068718" cy="646331"/>
          </a:xfrm>
          <a:prstGeom prst="rect">
            <a:avLst/>
          </a:prstGeom>
          <a:noFill/>
        </p:spPr>
        <p:txBody>
          <a:bodyPr wrap="none" rtlCol="0">
            <a:spAutoFit/>
          </a:bodyPr>
          <a:lstStyle/>
          <a:p>
            <a:pPr algn="ctr"/>
            <a:r>
              <a:rPr lang="en-GB" sz="3600" dirty="0">
                <a:solidFill>
                  <a:srgbClr val="7030A0"/>
                </a:solidFill>
              </a:rPr>
              <a:t>If the               condition is              the row is displayed</a:t>
            </a:r>
            <a:endParaRPr lang="en-GB" sz="3600" dirty="0">
              <a:solidFill>
                <a:srgbClr val="7030A0"/>
              </a:solidFill>
              <a:latin typeface="Consolas" panose="020B0609020204030204" pitchFamily="49" charset="0"/>
            </a:endParaRPr>
          </a:p>
        </p:txBody>
      </p:sp>
    </p:spTree>
    <p:extLst>
      <p:ext uri="{BB962C8B-B14F-4D97-AF65-F5344CB8AC3E}">
        <p14:creationId xmlns:p14="http://schemas.microsoft.com/office/powerpoint/2010/main" val="3497065734"/>
      </p:ext>
    </p:extLst>
  </p:cSld>
  <p:clrMapOvr>
    <a:overrideClrMapping bg1="lt1" tx1="dk1" bg2="lt2" tx2="dk2" accent1="accent1" accent2="accent2" accent3="accent3" accent4="accent4" accent5="accent5" accent6="accent6" hlink="hlink" folHlink="folHlink"/>
  </p:clrMapOvr>
</p:sld>
</file>

<file path=ppt/slides/slide65.xml><?xml version="1.0" encoding="utf-8"?>
<p:sld xmlns:a="http://schemas.openxmlformats.org/drawingml/2006/main" xmlns:r="http://schemas.openxmlformats.org/officeDocument/2006/relationships" xmlns:p="http://schemas.openxmlformats.org/presentationml/2006/main">
  <p:cSld>
    <p:bg>
      <p:bgPr>
        <a:solidFill>
          <a:schemeClr val="accent5">
            <a:lumMod val="40000"/>
            <a:lumOff val="60000"/>
          </a:schemeClr>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Filter Results: Complex!</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SELECT</a:t>
            </a:r>
            <a:r>
              <a:rPr lang="en-US" altLang="en-US" sz="4400" dirty="0">
                <a:solidFill>
                  <a:srgbClr val="000000"/>
                </a:solidFill>
                <a:latin typeface="Consolas" panose="020B0609020204030204" pitchFamily="49" charset="0"/>
              </a:rPr>
              <a:t> *</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FROM</a:t>
            </a:r>
            <a:r>
              <a:rPr lang="en-US" altLang="en-US" sz="4400" dirty="0">
                <a:solidFill>
                  <a:srgbClr val="000000"/>
                </a:solidFill>
                <a:latin typeface="Consolas" panose="020B0609020204030204" pitchFamily="49" charset="0"/>
              </a:rPr>
              <a:t> Datatypes</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3   </a:t>
            </a:r>
            <a:r>
              <a:rPr lang="en-US" altLang="en-US" sz="4400" dirty="0">
                <a:solidFill>
                  <a:srgbClr val="A71D5D"/>
                </a:solidFill>
                <a:latin typeface="Consolas" panose="020B0609020204030204" pitchFamily="49" charset="0"/>
              </a:rPr>
              <a:t>WHERE</a:t>
            </a:r>
            <a:r>
              <a:rPr lang="en-US" altLang="en-US" sz="4400" dirty="0">
                <a:solidFill>
                  <a:srgbClr val="000000"/>
                </a:solidFill>
                <a:latin typeface="Consolas" panose="020B0609020204030204" pitchFamily="49" charset="0"/>
              </a:rPr>
              <a:t> (</a:t>
            </a:r>
            <a:r>
              <a:rPr lang="en-US" altLang="en-US" sz="4400" dirty="0" err="1">
                <a:solidFill>
                  <a:srgbClr val="000000"/>
                </a:solidFill>
                <a:latin typeface="Consolas" panose="020B0609020204030204" pitchFamily="49" charset="0"/>
              </a:rPr>
              <a:t>colour</a:t>
            </a:r>
            <a:r>
              <a:rPr lang="en-US" altLang="en-US" sz="4400" dirty="0">
                <a:solidFill>
                  <a:srgbClr val="000000"/>
                </a:solidFill>
                <a:latin typeface="Consolas" panose="020B0609020204030204" pitchFamily="49" charset="0"/>
              </a:rPr>
              <a:t> = </a:t>
            </a:r>
            <a:r>
              <a:rPr lang="en-US" altLang="en-US" sz="4400" dirty="0">
                <a:solidFill>
                  <a:srgbClr val="183691"/>
                </a:solidFill>
                <a:latin typeface="Consolas" panose="020B0609020204030204" pitchFamily="49" charset="0"/>
              </a:rPr>
              <a:t>"Green"</a:t>
            </a:r>
            <a:endParaRPr lang="en-US" altLang="en-US" sz="44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4      </a:t>
            </a:r>
            <a:r>
              <a:rPr lang="en-US" altLang="en-US" sz="4400" dirty="0">
                <a:solidFill>
                  <a:srgbClr val="A71D5D"/>
                </a:solidFill>
                <a:latin typeface="Consolas" panose="020B0609020204030204" pitchFamily="49" charset="0"/>
              </a:rPr>
              <a:t>OR</a:t>
            </a:r>
            <a:r>
              <a:rPr lang="en-US" altLang="en-US" sz="4400" dirty="0">
                <a:solidFill>
                  <a:srgbClr val="000000"/>
                </a:solidFill>
                <a:latin typeface="Consolas" panose="020B0609020204030204" pitchFamily="49" charset="0"/>
              </a:rPr>
              <a:t> </a:t>
            </a:r>
            <a:r>
              <a:rPr lang="en-US" altLang="en-US" sz="4400" dirty="0" err="1">
                <a:solidFill>
                  <a:srgbClr val="000000"/>
                </a:solidFill>
                <a:latin typeface="Consolas" panose="020B0609020204030204" pitchFamily="49" charset="0"/>
              </a:rPr>
              <a:t>colour</a:t>
            </a:r>
            <a:r>
              <a:rPr lang="en-US" altLang="en-US" sz="4400" dirty="0">
                <a:solidFill>
                  <a:srgbClr val="000000"/>
                </a:solidFill>
                <a:latin typeface="Consolas" panose="020B0609020204030204" pitchFamily="49" charset="0"/>
              </a:rPr>
              <a:t> = </a:t>
            </a:r>
            <a:r>
              <a:rPr lang="en-US" altLang="en-US" sz="4400" dirty="0">
                <a:solidFill>
                  <a:srgbClr val="183691"/>
                </a:solidFill>
                <a:latin typeface="Consolas" panose="020B0609020204030204" pitchFamily="49" charset="0"/>
              </a:rPr>
              <a:t>"Violet"</a:t>
            </a:r>
            <a:r>
              <a:rPr lang="en-US" altLang="en-US" sz="44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5     </a:t>
            </a:r>
            <a:r>
              <a:rPr lang="en-US" altLang="en-US" sz="4400" dirty="0">
                <a:solidFill>
                  <a:srgbClr val="A71D5D"/>
                </a:solidFill>
                <a:latin typeface="Consolas" panose="020B0609020204030204" pitchFamily="49" charset="0"/>
              </a:rPr>
              <a:t>AND</a:t>
            </a:r>
            <a:r>
              <a:rPr lang="en-US" altLang="en-US" sz="4400" dirty="0">
                <a:solidFill>
                  <a:srgbClr val="000000"/>
                </a:solidFill>
                <a:latin typeface="Consolas" panose="020B0609020204030204" pitchFamily="49" charset="0"/>
              </a:rPr>
              <a:t> nice = </a:t>
            </a:r>
            <a:r>
              <a:rPr lang="en-US" altLang="en-US" sz="4400" dirty="0">
                <a:solidFill>
                  <a:srgbClr val="A71D5D"/>
                </a:solidFill>
                <a:latin typeface="Consolas" panose="020B0609020204030204" pitchFamily="49" charset="0"/>
              </a:rPr>
              <a:t>FALSE</a:t>
            </a:r>
            <a:r>
              <a:rPr lang="en-US" altLang="en-US" sz="4400" dirty="0">
                <a:solidFill>
                  <a:srgbClr val="000000"/>
                </a:solidFill>
                <a:latin typeface="Consolas" panose="020B0609020204030204" pitchFamily="49" charset="0"/>
              </a:rPr>
              <a:t>;</a:t>
            </a:r>
            <a:endParaRPr lang="en-US" altLang="en-US" sz="5400" dirty="0">
              <a:latin typeface="Arial" panose="020B0604020202020204" pitchFamily="34" charset="0"/>
            </a:endParaRPr>
          </a:p>
        </p:txBody>
      </p:sp>
      <p:sp>
        <p:nvSpPr>
          <p:cNvPr id="12" name="TextBox 11">
            <a:extLst>
              <a:ext uri="{FF2B5EF4-FFF2-40B4-BE49-F238E27FC236}">
                <a16:creationId xmlns:a16="http://schemas.microsoft.com/office/drawing/2014/main" id="{AF313AC3-2051-D946-A4BD-CB8D61AE849C}"/>
              </a:ext>
            </a:extLst>
          </p:cNvPr>
          <p:cNvSpPr txBox="1"/>
          <p:nvPr/>
        </p:nvSpPr>
        <p:spPr>
          <a:xfrm>
            <a:off x="1228353" y="5975354"/>
            <a:ext cx="9735294" cy="646331"/>
          </a:xfrm>
          <a:prstGeom prst="rect">
            <a:avLst/>
          </a:prstGeom>
          <a:noFill/>
        </p:spPr>
        <p:txBody>
          <a:bodyPr wrap="none" rtlCol="0">
            <a:spAutoFit/>
          </a:bodyPr>
          <a:lstStyle/>
          <a:p>
            <a:pPr algn="ctr"/>
            <a:r>
              <a:rPr lang="en-GB" sz="3600" dirty="0">
                <a:solidFill>
                  <a:srgbClr val="7030A0"/>
                </a:solidFill>
              </a:rPr>
              <a:t>If the overall condition is </a:t>
            </a:r>
            <a:r>
              <a:rPr lang="en-GB" sz="3600" dirty="0">
                <a:solidFill>
                  <a:srgbClr val="7030A0"/>
                </a:solidFill>
                <a:latin typeface="Consolas" panose="020B0609020204030204" pitchFamily="49" charset="0"/>
              </a:rPr>
              <a:t>TRUE</a:t>
            </a:r>
            <a:r>
              <a:rPr lang="en-GB" sz="3600" dirty="0">
                <a:solidFill>
                  <a:srgbClr val="7030A0"/>
                </a:solidFill>
              </a:rPr>
              <a:t> the row is displayed</a:t>
            </a:r>
            <a:endParaRPr lang="en-GB" sz="3600" dirty="0">
              <a:solidFill>
                <a:srgbClr val="7030A0"/>
              </a:solidFill>
              <a:latin typeface="Consolas" panose="020B0609020204030204" pitchFamily="49" charset="0"/>
            </a:endParaRPr>
          </a:p>
        </p:txBody>
      </p:sp>
      <p:grpSp>
        <p:nvGrpSpPr>
          <p:cNvPr id="6" name="Group 5">
            <a:extLst>
              <a:ext uri="{FF2B5EF4-FFF2-40B4-BE49-F238E27FC236}">
                <a16:creationId xmlns:a16="http://schemas.microsoft.com/office/drawing/2014/main" id="{B8534C20-C1CB-4A7A-B7AC-6BB11132EE15}"/>
              </a:ext>
            </a:extLst>
          </p:cNvPr>
          <p:cNvGrpSpPr/>
          <p:nvPr/>
        </p:nvGrpSpPr>
        <p:grpSpPr>
          <a:xfrm>
            <a:off x="8339556" y="1380903"/>
            <a:ext cx="3464514" cy="2668586"/>
            <a:chOff x="8256431" y="1380903"/>
            <a:chExt cx="3464514" cy="2668586"/>
          </a:xfrm>
        </p:grpSpPr>
        <p:sp>
          <p:nvSpPr>
            <p:cNvPr id="5" name="Rectangle 4">
              <a:extLst>
                <a:ext uri="{FF2B5EF4-FFF2-40B4-BE49-F238E27FC236}">
                  <a16:creationId xmlns:a16="http://schemas.microsoft.com/office/drawing/2014/main" id="{3A2C89A4-6DE3-4DAB-AF80-8A8E82E7F79A}"/>
                </a:ext>
              </a:extLst>
            </p:cNvPr>
            <p:cNvSpPr/>
            <p:nvPr/>
          </p:nvSpPr>
          <p:spPr>
            <a:xfrm>
              <a:off x="8256431" y="1380903"/>
              <a:ext cx="3464514" cy="1200329"/>
            </a:xfrm>
            <a:prstGeom prst="rect">
              <a:avLst/>
            </a:prstGeom>
          </p:spPr>
          <p:txBody>
            <a:bodyPr wrap="square">
              <a:spAutoFit/>
            </a:bodyPr>
            <a:lstStyle/>
            <a:p>
              <a:r>
                <a:rPr lang="en-GB" sz="3600" b="1" dirty="0">
                  <a:solidFill>
                    <a:srgbClr val="7030A0"/>
                  </a:solidFill>
                  <a:latin typeface="Consolas" panose="020B0609020204030204" pitchFamily="49" charset="0"/>
                </a:rPr>
                <a:t>Use brackets for clarity</a:t>
              </a:r>
              <a:endParaRPr lang="en-GB" sz="3600" b="1" dirty="0"/>
            </a:p>
          </p:txBody>
        </p:sp>
        <p:sp>
          <p:nvSpPr>
            <p:cNvPr id="4" name="Arrow: Bent-Up 3">
              <a:extLst>
                <a:ext uri="{FF2B5EF4-FFF2-40B4-BE49-F238E27FC236}">
                  <a16:creationId xmlns:a16="http://schemas.microsoft.com/office/drawing/2014/main" id="{30E87908-1EAB-4528-8776-4B1B0F4F6DF3}"/>
                </a:ext>
              </a:extLst>
            </p:cNvPr>
            <p:cNvSpPr/>
            <p:nvPr/>
          </p:nvSpPr>
          <p:spPr>
            <a:xfrm rot="16200000" flipH="1">
              <a:off x="9072575" y="2949601"/>
              <a:ext cx="1468256" cy="731520"/>
            </a:xfrm>
            <a:prstGeom prst="bentUpArrow">
              <a:avLst>
                <a:gd name="adj1" fmla="val 21753"/>
                <a:gd name="adj2" fmla="val 34740"/>
                <a:gd name="adj3" fmla="val 25000"/>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pSp>
    </p:spTree>
    <p:extLst>
      <p:ext uri="{BB962C8B-B14F-4D97-AF65-F5344CB8AC3E}">
        <p14:creationId xmlns:p14="http://schemas.microsoft.com/office/powerpoint/2010/main" val="3988729821"/>
      </p:ext>
    </p:extLst>
  </p:cSld>
  <p:clrMapOvr>
    <a:overrideClrMapping bg1="lt1" tx1="dk1" bg2="lt2" tx2="dk2" accent1="accent1" accent2="accent2" accent3="accent3" accent4="accent4" accent5="accent5" accent6="accent6" hlink="hlink" folHlink="folHlink"/>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000"/>
                                        <p:tgtEl>
                                          <p:spTgt spid="3">
                                            <p:txEl>
                                              <p:pRg st="0" end="0"/>
                                            </p:txEl>
                                          </p:spTgt>
                                        </p:tgtEl>
                                      </p:cBhvr>
                                    </p:animEffect>
                                  </p:childTnLst>
                                </p:cTn>
                              </p:par>
                            </p:childTnLst>
                          </p:cTn>
                        </p:par>
                        <p:par>
                          <p:cTn id="8" fill="hold">
                            <p:stCondLst>
                              <p:cond delay="1000"/>
                            </p:stCondLst>
                            <p:childTnLst>
                              <p:par>
                                <p:cTn id="9" presetID="22" presetClass="entr" presetSubtype="8" fill="hold" grpId="0" nodeType="after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animEffect transition="in" filter="wipe(left)">
                                      <p:cBhvr>
                                        <p:cTn id="11" dur="2000"/>
                                        <p:tgtEl>
                                          <p:spTgt spid="3">
                                            <p:txEl>
                                              <p:pRg st="1" end="1"/>
                                            </p:txEl>
                                          </p:spTgt>
                                        </p:tgtEl>
                                      </p:cBhvr>
                                    </p:animEffect>
                                  </p:childTnLst>
                                </p:cTn>
                              </p:par>
                            </p:childTnLst>
                          </p:cTn>
                        </p:par>
                        <p:par>
                          <p:cTn id="12" fill="hold">
                            <p:stCondLst>
                              <p:cond delay="3000"/>
                            </p:stCondLst>
                            <p:childTnLst>
                              <p:par>
                                <p:cTn id="13" presetID="22" presetClass="entr" presetSubtype="8" fill="hold" grpId="0" nodeType="after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animEffect transition="in" filter="wipe(left)">
                                      <p:cBhvr>
                                        <p:cTn id="15" dur="2500"/>
                                        <p:tgtEl>
                                          <p:spTgt spid="3">
                                            <p:txEl>
                                              <p:pRg st="2" end="2"/>
                                            </p:txEl>
                                          </p:spTgt>
                                        </p:tgtEl>
                                      </p:cBhvr>
                                    </p:animEffect>
                                  </p:childTnLst>
                                </p:cTn>
                              </p:par>
                            </p:childTnLst>
                          </p:cTn>
                        </p:par>
                        <p:par>
                          <p:cTn id="16" fill="hold">
                            <p:stCondLst>
                              <p:cond delay="5500"/>
                            </p:stCondLst>
                            <p:childTnLst>
                              <p:par>
                                <p:cTn id="17" presetID="22" presetClass="entr" presetSubtype="8" fill="hold" grpId="0" nodeType="after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animEffect transition="in" filter="wipe(left)">
                                      <p:cBhvr>
                                        <p:cTn id="19" dur="2500"/>
                                        <p:tgtEl>
                                          <p:spTgt spid="3">
                                            <p:txEl>
                                              <p:pRg st="3" end="3"/>
                                            </p:txEl>
                                          </p:spTgt>
                                        </p:tgtEl>
                                      </p:cBhvr>
                                    </p:animEffect>
                                  </p:childTnLst>
                                </p:cTn>
                              </p:par>
                            </p:childTnLst>
                          </p:cTn>
                        </p:par>
                        <p:par>
                          <p:cTn id="20" fill="hold">
                            <p:stCondLst>
                              <p:cond delay="8000"/>
                            </p:stCondLst>
                            <p:childTnLst>
                              <p:par>
                                <p:cTn id="21" presetID="22" presetClass="entr" presetSubtype="8" fill="hold" grpId="0" nodeType="afterEffect">
                                  <p:stCondLst>
                                    <p:cond delay="0"/>
                                  </p:stCondLst>
                                  <p:childTnLst>
                                    <p:set>
                                      <p:cBhvr>
                                        <p:cTn id="22" dur="1" fill="hold">
                                          <p:stCondLst>
                                            <p:cond delay="0"/>
                                          </p:stCondLst>
                                        </p:cTn>
                                        <p:tgtEl>
                                          <p:spTgt spid="3">
                                            <p:txEl>
                                              <p:pRg st="4" end="4"/>
                                            </p:txEl>
                                          </p:spTgt>
                                        </p:tgtEl>
                                        <p:attrNameLst>
                                          <p:attrName>style.visibility</p:attrName>
                                        </p:attrNameLst>
                                      </p:cBhvr>
                                      <p:to>
                                        <p:strVal val="visible"/>
                                      </p:to>
                                    </p:set>
                                    <p:animEffect transition="in" filter="wipe(left)">
                                      <p:cBhvr>
                                        <p:cTn id="23" dur="2500"/>
                                        <p:tgtEl>
                                          <p:spTgt spid="3">
                                            <p:txEl>
                                              <p:pRg st="4" end="4"/>
                                            </p:txEl>
                                          </p:spTgt>
                                        </p:tgtEl>
                                      </p:cBhvr>
                                    </p:animEffect>
                                  </p:childTnLst>
                                </p:cTn>
                              </p:par>
                            </p:childTnLst>
                          </p:cTn>
                        </p:par>
                      </p:childTnLst>
                    </p:cTn>
                  </p:par>
                  <p:par>
                    <p:cTn id="24" fill="hold">
                      <p:stCondLst>
                        <p:cond delay="indefinite"/>
                      </p:stCondLst>
                      <p:childTnLst>
                        <p:par>
                          <p:cTn id="25" fill="hold">
                            <p:stCondLst>
                              <p:cond delay="0"/>
                            </p:stCondLst>
                            <p:childTnLst>
                              <p:par>
                                <p:cTn id="26" presetID="22" presetClass="entr" presetSubtype="8" fill="hold" grpId="0" nodeType="clickEffect">
                                  <p:stCondLst>
                                    <p:cond delay="0"/>
                                  </p:stCondLst>
                                  <p:childTnLst>
                                    <p:set>
                                      <p:cBhvr>
                                        <p:cTn id="27" dur="1" fill="hold">
                                          <p:stCondLst>
                                            <p:cond delay="0"/>
                                          </p:stCondLst>
                                        </p:cTn>
                                        <p:tgtEl>
                                          <p:spTgt spid="12">
                                            <p:txEl>
                                              <p:pRg st="0" end="0"/>
                                            </p:txEl>
                                          </p:spTgt>
                                        </p:tgtEl>
                                        <p:attrNameLst>
                                          <p:attrName>style.visibility</p:attrName>
                                        </p:attrNameLst>
                                      </p:cBhvr>
                                      <p:to>
                                        <p:strVal val="visible"/>
                                      </p:to>
                                    </p:set>
                                    <p:animEffect transition="in" filter="wipe(left)">
                                      <p:cBhvr>
                                        <p:cTn id="28" dur="2000"/>
                                        <p:tgtEl>
                                          <p:spTgt spid="12">
                                            <p:txEl>
                                              <p:pRg st="0" end="0"/>
                                            </p:txEl>
                                          </p:spTgt>
                                        </p:tgtEl>
                                      </p:cBhvr>
                                    </p:animEffect>
                                  </p:childTnLst>
                                </p:cTn>
                              </p:par>
                            </p:childTnLst>
                          </p:cTn>
                        </p:par>
                      </p:childTnLst>
                    </p:cTn>
                  </p:par>
                  <p:par>
                    <p:cTn id="29" fill="hold">
                      <p:stCondLst>
                        <p:cond delay="indefinite"/>
                      </p:stCondLst>
                      <p:childTnLst>
                        <p:par>
                          <p:cTn id="30" fill="hold">
                            <p:stCondLst>
                              <p:cond delay="0"/>
                            </p:stCondLst>
                            <p:childTnLst>
                              <p:par>
                                <p:cTn id="31" presetID="22" presetClass="entr" presetSubtype="1" fill="hold" nodeType="clickEffect">
                                  <p:stCondLst>
                                    <p:cond delay="0"/>
                                  </p:stCondLst>
                                  <p:childTnLst>
                                    <p:set>
                                      <p:cBhvr>
                                        <p:cTn id="32" dur="1" fill="hold">
                                          <p:stCondLst>
                                            <p:cond delay="0"/>
                                          </p:stCondLst>
                                        </p:cTn>
                                        <p:tgtEl>
                                          <p:spTgt spid="6"/>
                                        </p:tgtEl>
                                        <p:attrNameLst>
                                          <p:attrName>style.visibility</p:attrName>
                                        </p:attrNameLst>
                                      </p:cBhvr>
                                      <p:to>
                                        <p:strVal val="visible"/>
                                      </p:to>
                                    </p:set>
                                    <p:animEffect transition="in" filter="wipe(up)">
                                      <p:cBhvr>
                                        <p:cTn id="33" dur="15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12" grpId="0" build="p"/>
    </p:bldLst>
  </p:timing>
</p:sld>
</file>

<file path=ppt/slides/slide66.xml><?xml version="1.0" encoding="utf-8"?>
<p:sld xmlns:a="http://schemas.openxmlformats.org/drawingml/2006/main" xmlns:r="http://schemas.openxmlformats.org/officeDocument/2006/relationships" xmlns:p="http://schemas.openxmlformats.org/presentationml/2006/main" show="0">
  <p:cSld>
    <p:bg>
      <p:bgPr>
        <a:solidFill>
          <a:schemeClr val="accent5">
            <a:lumMod val="40000"/>
            <a:lumOff val="60000"/>
          </a:schemeClr>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Filter Results: Complex!</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SELECT</a:t>
            </a:r>
            <a:r>
              <a:rPr lang="en-US" altLang="en-US" sz="4400" dirty="0">
                <a:solidFill>
                  <a:srgbClr val="000000"/>
                </a:solidFill>
                <a:latin typeface="Consolas" panose="020B0609020204030204" pitchFamily="49" charset="0"/>
              </a:rPr>
              <a:t> *</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FROM</a:t>
            </a:r>
            <a:r>
              <a:rPr lang="en-US" altLang="en-US" sz="4400" dirty="0">
                <a:solidFill>
                  <a:srgbClr val="000000"/>
                </a:solidFill>
                <a:latin typeface="Consolas" panose="020B0609020204030204" pitchFamily="49" charset="0"/>
              </a:rPr>
              <a:t> Datatypes</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3   </a:t>
            </a:r>
            <a:r>
              <a:rPr lang="en-US" altLang="en-US" sz="4400" dirty="0">
                <a:solidFill>
                  <a:srgbClr val="A71D5D"/>
                </a:solidFill>
                <a:latin typeface="Consolas" panose="020B0609020204030204" pitchFamily="49" charset="0"/>
              </a:rPr>
              <a:t>WHERE</a:t>
            </a:r>
            <a:r>
              <a:rPr lang="en-US" altLang="en-US" sz="4400" dirty="0">
                <a:solidFill>
                  <a:srgbClr val="000000"/>
                </a:solidFill>
                <a:latin typeface="Consolas" panose="020B0609020204030204" pitchFamily="49" charset="0"/>
              </a:rPr>
              <a:t> (</a:t>
            </a:r>
            <a:r>
              <a:rPr lang="en-US" altLang="en-US" sz="4400" dirty="0" err="1">
                <a:solidFill>
                  <a:srgbClr val="000000"/>
                </a:solidFill>
                <a:latin typeface="Consolas" panose="020B0609020204030204" pitchFamily="49" charset="0"/>
              </a:rPr>
              <a:t>colour</a:t>
            </a:r>
            <a:r>
              <a:rPr lang="en-US" altLang="en-US" sz="4400" dirty="0">
                <a:solidFill>
                  <a:srgbClr val="000000"/>
                </a:solidFill>
                <a:latin typeface="Consolas" panose="020B0609020204030204" pitchFamily="49" charset="0"/>
              </a:rPr>
              <a:t> = </a:t>
            </a:r>
            <a:r>
              <a:rPr lang="en-US" altLang="en-US" sz="4400" dirty="0">
                <a:solidFill>
                  <a:srgbClr val="183691"/>
                </a:solidFill>
                <a:latin typeface="Consolas" panose="020B0609020204030204" pitchFamily="49" charset="0"/>
              </a:rPr>
              <a:t>"Green"</a:t>
            </a:r>
            <a:endParaRPr lang="en-US" altLang="en-US" sz="44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4      </a:t>
            </a:r>
            <a:r>
              <a:rPr lang="en-US" altLang="en-US" sz="4400" dirty="0">
                <a:solidFill>
                  <a:srgbClr val="A71D5D"/>
                </a:solidFill>
                <a:latin typeface="Consolas" panose="020B0609020204030204" pitchFamily="49" charset="0"/>
              </a:rPr>
              <a:t>OR</a:t>
            </a:r>
            <a:r>
              <a:rPr lang="en-US" altLang="en-US" sz="4400" dirty="0">
                <a:solidFill>
                  <a:srgbClr val="000000"/>
                </a:solidFill>
                <a:latin typeface="Consolas" panose="020B0609020204030204" pitchFamily="49" charset="0"/>
              </a:rPr>
              <a:t> </a:t>
            </a:r>
            <a:r>
              <a:rPr lang="en-US" altLang="en-US" sz="4400" dirty="0" err="1">
                <a:solidFill>
                  <a:srgbClr val="000000"/>
                </a:solidFill>
                <a:latin typeface="Consolas" panose="020B0609020204030204" pitchFamily="49" charset="0"/>
              </a:rPr>
              <a:t>colour</a:t>
            </a:r>
            <a:r>
              <a:rPr lang="en-US" altLang="en-US" sz="4400" dirty="0">
                <a:solidFill>
                  <a:srgbClr val="000000"/>
                </a:solidFill>
                <a:latin typeface="Consolas" panose="020B0609020204030204" pitchFamily="49" charset="0"/>
              </a:rPr>
              <a:t> = </a:t>
            </a:r>
            <a:r>
              <a:rPr lang="en-US" altLang="en-US" sz="4400" dirty="0">
                <a:solidFill>
                  <a:srgbClr val="183691"/>
                </a:solidFill>
                <a:latin typeface="Consolas" panose="020B0609020204030204" pitchFamily="49" charset="0"/>
              </a:rPr>
              <a:t>"Violet"</a:t>
            </a:r>
            <a:r>
              <a:rPr lang="en-US" altLang="en-US" sz="44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5     </a:t>
            </a:r>
            <a:r>
              <a:rPr lang="en-US" altLang="en-US" sz="4400" dirty="0">
                <a:solidFill>
                  <a:srgbClr val="A71D5D"/>
                </a:solidFill>
                <a:latin typeface="Consolas" panose="020B0609020204030204" pitchFamily="49" charset="0"/>
              </a:rPr>
              <a:t>AND</a:t>
            </a:r>
            <a:r>
              <a:rPr lang="en-US" altLang="en-US" sz="4400" dirty="0">
                <a:solidFill>
                  <a:srgbClr val="000000"/>
                </a:solidFill>
                <a:latin typeface="Consolas" panose="020B0609020204030204" pitchFamily="49" charset="0"/>
              </a:rPr>
              <a:t> nice = </a:t>
            </a:r>
            <a:r>
              <a:rPr lang="en-US" altLang="en-US" sz="4400" dirty="0">
                <a:solidFill>
                  <a:srgbClr val="A71D5D"/>
                </a:solidFill>
                <a:latin typeface="Consolas" panose="020B0609020204030204" pitchFamily="49" charset="0"/>
              </a:rPr>
              <a:t>FALSE</a:t>
            </a:r>
            <a:r>
              <a:rPr lang="en-US" altLang="en-US" sz="4400" dirty="0">
                <a:solidFill>
                  <a:srgbClr val="000000"/>
                </a:solidFill>
                <a:latin typeface="Consolas" panose="020B0609020204030204" pitchFamily="49" charset="0"/>
              </a:rPr>
              <a:t>;</a:t>
            </a:r>
            <a:endParaRPr lang="en-US" altLang="en-US" sz="5400" dirty="0">
              <a:latin typeface="Arial" panose="020B0604020202020204" pitchFamily="34" charset="0"/>
            </a:endParaRPr>
          </a:p>
        </p:txBody>
      </p:sp>
      <p:sp>
        <p:nvSpPr>
          <p:cNvPr id="6" name="TextBox 5">
            <a:extLst>
              <a:ext uri="{FF2B5EF4-FFF2-40B4-BE49-F238E27FC236}">
                <a16:creationId xmlns:a16="http://schemas.microsoft.com/office/drawing/2014/main" id="{1350B37A-7342-47C8-B677-C965C745D8E8}"/>
              </a:ext>
            </a:extLst>
          </p:cNvPr>
          <p:cNvSpPr txBox="1"/>
          <p:nvPr/>
        </p:nvSpPr>
        <p:spPr>
          <a:xfrm>
            <a:off x="1061648" y="5975354"/>
            <a:ext cx="10068718" cy="646331"/>
          </a:xfrm>
          <a:prstGeom prst="rect">
            <a:avLst/>
          </a:prstGeom>
          <a:noFill/>
        </p:spPr>
        <p:txBody>
          <a:bodyPr wrap="none" rtlCol="0">
            <a:spAutoFit/>
          </a:bodyPr>
          <a:lstStyle/>
          <a:p>
            <a:pPr algn="ctr"/>
            <a:r>
              <a:rPr lang="en-GB" sz="3600" dirty="0">
                <a:solidFill>
                  <a:srgbClr val="7030A0"/>
                </a:solidFill>
              </a:rPr>
              <a:t>If the               condition is              the row is displayed</a:t>
            </a:r>
            <a:endParaRPr lang="en-GB" sz="3600" dirty="0">
              <a:solidFill>
                <a:srgbClr val="7030A0"/>
              </a:solidFill>
              <a:latin typeface="Consolas" panose="020B0609020204030204" pitchFamily="49" charset="0"/>
            </a:endParaRPr>
          </a:p>
        </p:txBody>
      </p:sp>
    </p:spTree>
    <p:extLst>
      <p:ext uri="{BB962C8B-B14F-4D97-AF65-F5344CB8AC3E}">
        <p14:creationId xmlns:p14="http://schemas.microsoft.com/office/powerpoint/2010/main" val="762284221"/>
      </p:ext>
    </p:extLst>
  </p:cSld>
  <p:clrMapOvr>
    <a:overrideClrMapping bg1="lt1" tx1="dk1" bg2="lt2" tx2="dk2" accent1="accent1" accent2="accent2" accent3="accent3" accent4="accent4" accent5="accent5" accent6="accent6" hlink="hlink" folHlink="folHlink"/>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08C76DEA-F650-51AB-7EE7-9B3064808EC0}"/>
              </a:ext>
            </a:extLst>
          </p:cNvPr>
          <p:cNvSpPr>
            <a:spLocks noGrp="1"/>
          </p:cNvSpPr>
          <p:nvPr>
            <p:ph type="title"/>
          </p:nvPr>
        </p:nvSpPr>
        <p:spPr/>
        <p:txBody>
          <a:bodyPr/>
          <a:lstStyle/>
          <a:p>
            <a:r>
              <a:rPr lang="en-GB" dirty="0"/>
              <a:t>Order of Operations (4)</a:t>
            </a:r>
          </a:p>
        </p:txBody>
      </p:sp>
      <p:sp>
        <p:nvSpPr>
          <p:cNvPr id="6" name="SQL">
            <a:extLst>
              <a:ext uri="{FF2B5EF4-FFF2-40B4-BE49-F238E27FC236}">
                <a16:creationId xmlns:a16="http://schemas.microsoft.com/office/drawing/2014/main" id="{C460184D-D803-F499-E82E-972FB39F9288}"/>
              </a:ext>
            </a:extLst>
          </p:cNvPr>
          <p:cNvSpPr>
            <a:spLocks noChangeArrowheads="1"/>
          </p:cNvSpPr>
          <p:nvPr/>
        </p:nvSpPr>
        <p:spPr bwMode="auto">
          <a:xfrm>
            <a:off x="619125" y="1370838"/>
            <a:ext cx="3288080" cy="132343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name, age</a:t>
            </a:r>
          </a:p>
          <a:p>
            <a:pPr lvl="0" eaLnBrk="0" fontAlgn="base" hangingPunct="0">
              <a:spcBef>
                <a:spcPct val="0"/>
              </a:spcBef>
              <a:spcAft>
                <a:spcPct val="0"/>
              </a:spcAft>
            </a:pPr>
            <a:r>
              <a:rPr lang="en-US" altLang="en-US" sz="2000" dirty="0">
                <a:solidFill>
                  <a:srgbClr val="B2B2B2"/>
                </a:solidFill>
                <a:latin typeface="Consolas" panose="020B0609020204030204" pitchFamily="49" charset="0"/>
              </a:rPr>
              <a:t>2 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FROM</a:t>
            </a:r>
            <a:r>
              <a:rPr lang="en-US" altLang="en-US" sz="2000" dirty="0">
                <a:solidFill>
                  <a:srgbClr val="000000"/>
                </a:solidFill>
                <a:latin typeface="Consolas" panose="020B0609020204030204" pitchFamily="49" charset="0"/>
              </a:rPr>
              <a:t> Pet</a:t>
            </a:r>
          </a:p>
          <a:p>
            <a:pPr eaLnBrk="0" fontAlgn="base" hangingPunct="0">
              <a:spcBef>
                <a:spcPct val="0"/>
              </a:spcBef>
              <a:spcAft>
                <a:spcPct val="0"/>
              </a:spcAft>
            </a:pPr>
            <a:r>
              <a:rPr lang="en-US" altLang="en-US" sz="2000" dirty="0">
                <a:solidFill>
                  <a:srgbClr val="B2B2B2"/>
                </a:solidFill>
                <a:latin typeface="Consolas" panose="020B0609020204030204" pitchFamily="49" charset="0"/>
              </a:rPr>
              <a:t>3 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WHERE</a:t>
            </a:r>
            <a:r>
              <a:rPr lang="en-US" altLang="en-US" sz="2000" dirty="0">
                <a:solidFill>
                  <a:srgbClr val="000000"/>
                </a:solidFill>
                <a:latin typeface="Consolas" panose="020B0609020204030204" pitchFamily="49" charset="0"/>
              </a:rPr>
              <a:t> type = "</a:t>
            </a:r>
            <a:r>
              <a:rPr lang="en-US" altLang="en-US" sz="2000" dirty="0">
                <a:solidFill>
                  <a:srgbClr val="183691"/>
                </a:solidFill>
                <a:latin typeface="Consolas" panose="020B0609020204030204" pitchFamily="49" charset="0"/>
              </a:rPr>
              <a:t>Cat</a:t>
            </a:r>
            <a:r>
              <a:rPr lang="en-US" altLang="en-US" sz="2000" dirty="0">
                <a:solidFill>
                  <a:srgbClr val="000000"/>
                </a:solidFill>
                <a:latin typeface="Consolas" panose="020B0609020204030204" pitchFamily="49" charset="0"/>
              </a:rPr>
              <a:t>"</a:t>
            </a:r>
          </a:p>
          <a:p>
            <a:pPr eaLnBrk="0" fontAlgn="base" hangingPunct="0">
              <a:spcBef>
                <a:spcPct val="0"/>
              </a:spcBef>
              <a:spcAft>
                <a:spcPct val="0"/>
              </a:spcAft>
            </a:pPr>
            <a:r>
              <a:rPr lang="en-US" altLang="en-US" sz="2000" dirty="0">
                <a:solidFill>
                  <a:srgbClr val="B2B2B2"/>
                </a:solidFill>
                <a:latin typeface="Consolas" panose="020B0609020204030204" pitchFamily="49" charset="0"/>
              </a:rPr>
              <a:t>4</a:t>
            </a:r>
            <a:r>
              <a:rPr kumimoji="0" lang="en-US" altLang="en-US" sz="2000" b="0" i="0" u="none" strike="noStrike" cap="none" normalizeH="0" baseline="0" dirty="0">
                <a:ln>
                  <a:noFill/>
                </a:ln>
                <a:solidFill>
                  <a:srgbClr val="B2B2B2"/>
                </a:solidFill>
                <a:effectLst/>
                <a:latin typeface="Consolas" panose="020B0609020204030204" pitchFamily="49" charset="0"/>
              </a:rPr>
              <a:t> </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A71D5D"/>
                </a:solidFill>
                <a:latin typeface="Consolas" panose="020B0609020204030204" pitchFamily="49" charset="0"/>
              </a:rPr>
              <a:t>AND</a:t>
            </a:r>
            <a:r>
              <a:rPr lang="en-US" altLang="en-US" sz="2000" dirty="0">
                <a:solidFill>
                  <a:srgbClr val="000000"/>
                </a:solidFill>
                <a:latin typeface="Consolas" panose="020B0609020204030204" pitchFamily="49" charset="0"/>
              </a:rPr>
              <a:t> age &lt; </a:t>
            </a:r>
            <a:r>
              <a:rPr lang="en-US" altLang="en-US" sz="2000" dirty="0">
                <a:solidFill>
                  <a:srgbClr val="0086B3"/>
                </a:solidFill>
                <a:latin typeface="Consolas" panose="020B0609020204030204" pitchFamily="49" charset="0"/>
              </a:rPr>
              <a:t>10</a:t>
            </a:r>
            <a:r>
              <a:rPr kumimoji="0" lang="en-US" altLang="en-US" sz="2000" b="0" i="0" u="none" strike="noStrike" cap="none" normalizeH="0" baseline="0" dirty="0">
                <a:ln>
                  <a:noFill/>
                </a:ln>
                <a:solidFill>
                  <a:srgbClr val="000000"/>
                </a:solidFill>
                <a:effectLst/>
                <a:latin typeface="Consolas" panose="020B0609020204030204" pitchFamily="49" charset="0"/>
              </a:rPr>
              <a:t>;</a:t>
            </a:r>
            <a:endParaRPr kumimoji="0" lang="en-US" altLang="en-US" sz="2000" b="0" i="0" u="none" strike="noStrike" cap="none" normalizeH="0" baseline="0" dirty="0">
              <a:ln>
                <a:noFill/>
              </a:ln>
              <a:solidFill>
                <a:schemeClr val="tx1"/>
              </a:solidFill>
              <a:effectLst/>
              <a:latin typeface="Consolas" panose="020B0609020204030204" pitchFamily="49" charset="0"/>
            </a:endParaRPr>
          </a:p>
        </p:txBody>
      </p:sp>
      <p:sp>
        <p:nvSpPr>
          <p:cNvPr id="17" name="Pet">
            <a:extLst>
              <a:ext uri="{FF2B5EF4-FFF2-40B4-BE49-F238E27FC236}">
                <a16:creationId xmlns:a16="http://schemas.microsoft.com/office/drawing/2014/main" id="{37697A85-FE4A-5F49-87D3-DF60452AD532}"/>
              </a:ext>
            </a:extLst>
          </p:cNvPr>
          <p:cNvSpPr txBox="1"/>
          <p:nvPr/>
        </p:nvSpPr>
        <p:spPr>
          <a:xfrm>
            <a:off x="2650073" y="3091527"/>
            <a:ext cx="1771650" cy="369332"/>
          </a:xfrm>
          <a:prstGeom prst="rect">
            <a:avLst/>
          </a:prstGeom>
          <a:noFill/>
        </p:spPr>
        <p:txBody>
          <a:bodyPr wrap="square" rtlCol="0">
            <a:spAutoFit/>
          </a:bodyPr>
          <a:lstStyle/>
          <a:p>
            <a:r>
              <a:rPr lang="en-GB" b="1" dirty="0"/>
              <a:t>Table: Pet</a:t>
            </a:r>
          </a:p>
        </p:txBody>
      </p:sp>
      <p:sp>
        <p:nvSpPr>
          <p:cNvPr id="19" name="Order">
            <a:extLst>
              <a:ext uri="{FF2B5EF4-FFF2-40B4-BE49-F238E27FC236}">
                <a16:creationId xmlns:a16="http://schemas.microsoft.com/office/drawing/2014/main" id="{39027E70-266E-C921-B96A-180149336170}"/>
              </a:ext>
            </a:extLst>
          </p:cNvPr>
          <p:cNvSpPr txBox="1"/>
          <p:nvPr/>
        </p:nvSpPr>
        <p:spPr>
          <a:xfrm>
            <a:off x="7417818" y="494976"/>
            <a:ext cx="2590417" cy="1815882"/>
          </a:xfrm>
          <a:prstGeom prst="rect">
            <a:avLst/>
          </a:prstGeom>
          <a:noFill/>
        </p:spPr>
        <p:txBody>
          <a:bodyPr wrap="square" rtlCol="0">
            <a:spAutoFit/>
          </a:bodyPr>
          <a:lstStyle/>
          <a:p>
            <a:r>
              <a:rPr lang="en-GB" sz="2800" b="1" dirty="0">
                <a:solidFill>
                  <a:srgbClr val="7030A0"/>
                </a:solidFill>
              </a:rPr>
              <a:t>Order</a:t>
            </a:r>
            <a:r>
              <a:rPr lang="en-GB" sz="2800" dirty="0">
                <a:solidFill>
                  <a:srgbClr val="7030A0"/>
                </a:solidFill>
              </a:rPr>
              <a:t>:</a:t>
            </a:r>
          </a:p>
          <a:p>
            <a:pPr lvl="1"/>
            <a:r>
              <a:rPr lang="en-GB" sz="2800" dirty="0">
                <a:solidFill>
                  <a:srgbClr val="7030A0"/>
                </a:solidFill>
              </a:rPr>
              <a:t>1.  FROM</a:t>
            </a:r>
          </a:p>
          <a:p>
            <a:pPr lvl="1"/>
            <a:r>
              <a:rPr lang="en-GB" sz="2800" dirty="0">
                <a:solidFill>
                  <a:srgbClr val="7030A0"/>
                </a:solidFill>
              </a:rPr>
              <a:t>2.  WHERE</a:t>
            </a:r>
          </a:p>
          <a:p>
            <a:pPr lvl="1"/>
            <a:r>
              <a:rPr lang="en-GB" sz="2800" dirty="0">
                <a:solidFill>
                  <a:srgbClr val="7030A0"/>
                </a:solidFill>
              </a:rPr>
              <a:t>3.  SELECT</a:t>
            </a:r>
          </a:p>
        </p:txBody>
      </p:sp>
      <p:sp>
        <p:nvSpPr>
          <p:cNvPr id="27" name="From - Arrow">
            <a:extLst>
              <a:ext uri="{FF2B5EF4-FFF2-40B4-BE49-F238E27FC236}">
                <a16:creationId xmlns:a16="http://schemas.microsoft.com/office/drawing/2014/main" id="{269837FC-7069-F1D9-E16A-87AF1D4A80CD}"/>
              </a:ext>
            </a:extLst>
          </p:cNvPr>
          <p:cNvSpPr/>
          <p:nvPr/>
        </p:nvSpPr>
        <p:spPr>
          <a:xfrm>
            <a:off x="154554" y="1751256"/>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0" name="From">
            <a:extLst>
              <a:ext uri="{FF2B5EF4-FFF2-40B4-BE49-F238E27FC236}">
                <a16:creationId xmlns:a16="http://schemas.microsoft.com/office/drawing/2014/main" id="{BC0A24A5-7704-6A36-CD80-4ED2C2F64BD2}"/>
              </a:ext>
            </a:extLst>
          </p:cNvPr>
          <p:cNvSpPr txBox="1"/>
          <p:nvPr/>
        </p:nvSpPr>
        <p:spPr>
          <a:xfrm>
            <a:off x="4667406" y="2911786"/>
            <a:ext cx="850960" cy="369332"/>
          </a:xfrm>
          <a:prstGeom prst="rect">
            <a:avLst/>
          </a:prstGeom>
          <a:noFill/>
        </p:spPr>
        <p:txBody>
          <a:bodyPr wrap="square" rtlCol="0">
            <a:spAutoFit/>
          </a:bodyPr>
          <a:lstStyle/>
          <a:p>
            <a:r>
              <a:rPr lang="en-GB" b="1" dirty="0"/>
              <a:t>FROM</a:t>
            </a:r>
          </a:p>
        </p:txBody>
      </p:sp>
      <p:graphicFrame>
        <p:nvGraphicFramePr>
          <p:cNvPr id="22" name="Pet - Table">
            <a:extLst>
              <a:ext uri="{FF2B5EF4-FFF2-40B4-BE49-F238E27FC236}">
                <a16:creationId xmlns:a16="http://schemas.microsoft.com/office/drawing/2014/main" id="{E1C47C29-B1FD-7991-E626-2F12DC1AFFDE}"/>
              </a:ext>
            </a:extLst>
          </p:cNvPr>
          <p:cNvGraphicFramePr>
            <a:graphicFrameLocks noGrp="1"/>
          </p:cNvGraphicFramePr>
          <p:nvPr>
            <p:extLst>
              <p:ext uri="{D42A27DB-BD31-4B8C-83A1-F6EECF244321}">
                <p14:modId xmlns:p14="http://schemas.microsoft.com/office/powerpoint/2010/main" val="3891865962"/>
              </p:ext>
            </p:extLst>
          </p:nvPr>
        </p:nvGraphicFramePr>
        <p:xfrm>
          <a:off x="2735796" y="3412595"/>
          <a:ext cx="2042287"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a:solidFill>
                            <a:schemeClr val="tx1"/>
                          </a:solidFill>
                          <a:effectLst/>
                        </a:rPr>
                        <a:t>Pepper</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16</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7</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a:solidFill>
                            <a:schemeClr val="tx1"/>
                          </a:solidFill>
                          <a:effectLst/>
                        </a:rPr>
                        <a:t>Micky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a:solidFill>
                            <a:schemeClr val="tx1"/>
                          </a:solidFill>
                          <a:effectLst/>
                        </a:rPr>
                        <a:t>Minnie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Cat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9</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a:solidFill>
                            <a:schemeClr val="tx1"/>
                          </a:solidFill>
                          <a:effectLst/>
                        </a:rPr>
                        <a:t>Bonzo</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Dog</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6</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Rabbit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3</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graphicFrame>
        <p:nvGraphicFramePr>
          <p:cNvPr id="23" name="Temp - Table">
            <a:extLst>
              <a:ext uri="{FF2B5EF4-FFF2-40B4-BE49-F238E27FC236}">
                <a16:creationId xmlns:a16="http://schemas.microsoft.com/office/drawing/2014/main" id="{57FE39BF-DC05-E516-87E6-26364C7BBE24}"/>
              </a:ext>
            </a:extLst>
          </p:cNvPr>
          <p:cNvGraphicFramePr>
            <a:graphicFrameLocks noGrp="1"/>
          </p:cNvGraphicFramePr>
          <p:nvPr>
            <p:extLst>
              <p:ext uri="{D42A27DB-BD31-4B8C-83A1-F6EECF244321}">
                <p14:modId xmlns:p14="http://schemas.microsoft.com/office/powerpoint/2010/main" val="1053373086"/>
              </p:ext>
            </p:extLst>
          </p:nvPr>
        </p:nvGraphicFramePr>
        <p:xfrm>
          <a:off x="5340290" y="3412595"/>
          <a:ext cx="2042287"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a:solidFill>
                            <a:schemeClr val="tx1"/>
                          </a:solidFill>
                          <a:effectLst/>
                        </a:rPr>
                        <a:t>Pepper</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16</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7</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a:solidFill>
                            <a:schemeClr val="tx1"/>
                          </a:solidFill>
                          <a:effectLst/>
                        </a:rPr>
                        <a:t>Micky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a:solidFill>
                            <a:schemeClr val="tx1"/>
                          </a:solidFill>
                          <a:effectLst/>
                        </a:rPr>
                        <a:t>Minnie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Cat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9</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a:solidFill>
                            <a:schemeClr val="tx1"/>
                          </a:solidFill>
                          <a:effectLst/>
                        </a:rPr>
                        <a:t>Bonzo</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Dog</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6</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Rabbit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3</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graphicFrame>
        <p:nvGraphicFramePr>
          <p:cNvPr id="24" name="Output - Table">
            <a:extLst>
              <a:ext uri="{FF2B5EF4-FFF2-40B4-BE49-F238E27FC236}">
                <a16:creationId xmlns:a16="http://schemas.microsoft.com/office/drawing/2014/main" id="{31F6E6FA-42D3-E5C9-36B8-B7C6109BDE21}"/>
              </a:ext>
            </a:extLst>
          </p:cNvPr>
          <p:cNvGraphicFramePr>
            <a:graphicFrameLocks noGrp="1"/>
          </p:cNvGraphicFramePr>
          <p:nvPr>
            <p:extLst>
              <p:ext uri="{D42A27DB-BD31-4B8C-83A1-F6EECF244321}">
                <p14:modId xmlns:p14="http://schemas.microsoft.com/office/powerpoint/2010/main" val="2815896556"/>
              </p:ext>
            </p:extLst>
          </p:nvPr>
        </p:nvGraphicFramePr>
        <p:xfrm>
          <a:off x="7925112" y="3412595"/>
          <a:ext cx="1254888" cy="9715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442405">
                  <a:extLst>
                    <a:ext uri="{9D8B030D-6E8A-4147-A177-3AD203B41FA5}">
                      <a16:colId xmlns:a16="http://schemas.microsoft.com/office/drawing/2014/main" val="3258369125"/>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Calibri" panose="020F0502020204030204" pitchFamily="34" charset="0"/>
                          <a:cs typeface="Calibri" panose="020F0502020204030204" pitchFamily="34" charset="0"/>
                        </a:rPr>
                        <a:t>7</a:t>
                      </a: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Calibri" panose="020F0502020204030204" pitchFamily="34" charset="0"/>
                          <a:cs typeface="Calibri" panose="020F0502020204030204" pitchFamily="34" charset="0"/>
                        </a:rPr>
                        <a:t>9</a:t>
                      </a:r>
                    </a:p>
                  </a:txBody>
                  <a:tcPr marL="9525" marR="9525" marT="9525" marB="9525" anchor="ctr"/>
                </a:tc>
                <a:extLst>
                  <a:ext uri="{0D108BD9-81ED-4DB2-BD59-A6C34878D82A}">
                    <a16:rowId xmlns:a16="http://schemas.microsoft.com/office/drawing/2014/main" val="812093042"/>
                  </a:ext>
                </a:extLst>
              </a:tr>
            </a:tbl>
          </a:graphicData>
        </a:graphic>
      </p:graphicFrame>
      <p:sp>
        <p:nvSpPr>
          <p:cNvPr id="25" name="Select">
            <a:extLst>
              <a:ext uri="{FF2B5EF4-FFF2-40B4-BE49-F238E27FC236}">
                <a16:creationId xmlns:a16="http://schemas.microsoft.com/office/drawing/2014/main" id="{35683CAD-1E2A-EA31-E6BB-C707B14B8F0A}"/>
              </a:ext>
            </a:extLst>
          </p:cNvPr>
          <p:cNvSpPr txBox="1"/>
          <p:nvPr/>
        </p:nvSpPr>
        <p:spPr>
          <a:xfrm>
            <a:off x="6925016" y="2338402"/>
            <a:ext cx="850960" cy="369332"/>
          </a:xfrm>
          <a:prstGeom prst="rect">
            <a:avLst/>
          </a:prstGeom>
          <a:noFill/>
        </p:spPr>
        <p:txBody>
          <a:bodyPr wrap="square" rtlCol="0">
            <a:spAutoFit/>
          </a:bodyPr>
          <a:lstStyle/>
          <a:p>
            <a:pPr algn="ctr"/>
            <a:r>
              <a:rPr lang="en-GB" b="1" dirty="0"/>
              <a:t>SELECT</a:t>
            </a:r>
          </a:p>
        </p:txBody>
      </p:sp>
      <p:sp>
        <p:nvSpPr>
          <p:cNvPr id="26" name="Temp - Arrow">
            <a:extLst>
              <a:ext uri="{FF2B5EF4-FFF2-40B4-BE49-F238E27FC236}">
                <a16:creationId xmlns:a16="http://schemas.microsoft.com/office/drawing/2014/main" id="{0812AA0D-71D1-9B9D-4AED-E09E855A4185}"/>
              </a:ext>
            </a:extLst>
          </p:cNvPr>
          <p:cNvSpPr/>
          <p:nvPr/>
        </p:nvSpPr>
        <p:spPr>
          <a:xfrm>
            <a:off x="4821052" y="4748123"/>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8" name="Output - Arrow">
            <a:extLst>
              <a:ext uri="{FF2B5EF4-FFF2-40B4-BE49-F238E27FC236}">
                <a16:creationId xmlns:a16="http://schemas.microsoft.com/office/drawing/2014/main" id="{27833E17-04CE-E6AD-804B-EB51B8F41239}"/>
              </a:ext>
            </a:extLst>
          </p:cNvPr>
          <p:cNvSpPr/>
          <p:nvPr/>
        </p:nvSpPr>
        <p:spPr>
          <a:xfrm>
            <a:off x="7418531" y="3928275"/>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9" name="Name - Column">
            <a:extLst>
              <a:ext uri="{FF2B5EF4-FFF2-40B4-BE49-F238E27FC236}">
                <a16:creationId xmlns:a16="http://schemas.microsoft.com/office/drawing/2014/main" id="{9CFD6623-90F9-8CA0-585A-959ADF79ADE1}"/>
              </a:ext>
            </a:extLst>
          </p:cNvPr>
          <p:cNvSpPr/>
          <p:nvPr/>
        </p:nvSpPr>
        <p:spPr>
          <a:xfrm>
            <a:off x="5333994" y="3349977"/>
            <a:ext cx="792000" cy="3060332"/>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0" name="Age - Column">
            <a:extLst>
              <a:ext uri="{FF2B5EF4-FFF2-40B4-BE49-F238E27FC236}">
                <a16:creationId xmlns:a16="http://schemas.microsoft.com/office/drawing/2014/main" id="{F8908677-B9D0-5945-93E8-1112E85882A9}"/>
              </a:ext>
            </a:extLst>
          </p:cNvPr>
          <p:cNvSpPr/>
          <p:nvPr/>
        </p:nvSpPr>
        <p:spPr>
          <a:xfrm>
            <a:off x="6936326" y="3349977"/>
            <a:ext cx="432000" cy="3060332"/>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1" name="Select - Arrow">
            <a:extLst>
              <a:ext uri="{FF2B5EF4-FFF2-40B4-BE49-F238E27FC236}">
                <a16:creationId xmlns:a16="http://schemas.microsoft.com/office/drawing/2014/main" id="{44EEC309-5164-E750-8A98-948F7250CF9F}"/>
              </a:ext>
            </a:extLst>
          </p:cNvPr>
          <p:cNvSpPr/>
          <p:nvPr/>
        </p:nvSpPr>
        <p:spPr>
          <a:xfrm>
            <a:off x="154555" y="1430188"/>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2" name="Output">
            <a:extLst>
              <a:ext uri="{FF2B5EF4-FFF2-40B4-BE49-F238E27FC236}">
                <a16:creationId xmlns:a16="http://schemas.microsoft.com/office/drawing/2014/main" id="{56038AF1-3FFC-CE48-15B4-04B9F7CE57D9}"/>
              </a:ext>
            </a:extLst>
          </p:cNvPr>
          <p:cNvSpPr txBox="1"/>
          <p:nvPr/>
        </p:nvSpPr>
        <p:spPr>
          <a:xfrm>
            <a:off x="7162259" y="2911786"/>
            <a:ext cx="960176" cy="369332"/>
          </a:xfrm>
          <a:prstGeom prst="rect">
            <a:avLst/>
          </a:prstGeom>
          <a:noFill/>
        </p:spPr>
        <p:txBody>
          <a:bodyPr wrap="square" rtlCol="0">
            <a:spAutoFit/>
          </a:bodyPr>
          <a:lstStyle/>
          <a:p>
            <a:pPr algn="ctr"/>
            <a:r>
              <a:rPr lang="en-GB" b="1" dirty="0"/>
              <a:t>Output</a:t>
            </a:r>
          </a:p>
        </p:txBody>
      </p:sp>
      <p:sp>
        <p:nvSpPr>
          <p:cNvPr id="20" name="Snowy - Row">
            <a:extLst>
              <a:ext uri="{FF2B5EF4-FFF2-40B4-BE49-F238E27FC236}">
                <a16:creationId xmlns:a16="http://schemas.microsoft.com/office/drawing/2014/main" id="{CE0478C3-5F85-4F8D-AAFC-F12F58437907}"/>
              </a:ext>
            </a:extLst>
          </p:cNvPr>
          <p:cNvSpPr/>
          <p:nvPr/>
        </p:nvSpPr>
        <p:spPr>
          <a:xfrm>
            <a:off x="5289231" y="4382898"/>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1" name="Kitty - Row">
            <a:extLst>
              <a:ext uri="{FF2B5EF4-FFF2-40B4-BE49-F238E27FC236}">
                <a16:creationId xmlns:a16="http://schemas.microsoft.com/office/drawing/2014/main" id="{BE13FF1D-AE89-48DE-9545-FC614FA1848F}"/>
              </a:ext>
            </a:extLst>
          </p:cNvPr>
          <p:cNvSpPr/>
          <p:nvPr/>
        </p:nvSpPr>
        <p:spPr>
          <a:xfrm>
            <a:off x="5289230" y="5346528"/>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3" name="Snowy - Yellow">
            <a:extLst>
              <a:ext uri="{FF2B5EF4-FFF2-40B4-BE49-F238E27FC236}">
                <a16:creationId xmlns:a16="http://schemas.microsoft.com/office/drawing/2014/main" id="{F2A2FD4D-D5A1-4882-9270-445588B3BF14}"/>
              </a:ext>
            </a:extLst>
          </p:cNvPr>
          <p:cNvSpPr/>
          <p:nvPr/>
        </p:nvSpPr>
        <p:spPr>
          <a:xfrm>
            <a:off x="6135722" y="4379964"/>
            <a:ext cx="792000"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4" name="Kitty - Yellow">
            <a:extLst>
              <a:ext uri="{FF2B5EF4-FFF2-40B4-BE49-F238E27FC236}">
                <a16:creationId xmlns:a16="http://schemas.microsoft.com/office/drawing/2014/main" id="{02546B7F-2DFC-4F0E-BC48-161A956E6261}"/>
              </a:ext>
            </a:extLst>
          </p:cNvPr>
          <p:cNvSpPr/>
          <p:nvPr/>
        </p:nvSpPr>
        <p:spPr>
          <a:xfrm>
            <a:off x="6141738" y="5346058"/>
            <a:ext cx="792000"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5" name="Where - Arrow">
            <a:extLst>
              <a:ext uri="{FF2B5EF4-FFF2-40B4-BE49-F238E27FC236}">
                <a16:creationId xmlns:a16="http://schemas.microsoft.com/office/drawing/2014/main" id="{570E26B8-2533-45CC-B630-78104B4BF6E3}"/>
              </a:ext>
            </a:extLst>
          </p:cNvPr>
          <p:cNvSpPr/>
          <p:nvPr/>
        </p:nvSpPr>
        <p:spPr>
          <a:xfrm>
            <a:off x="154554" y="2072324"/>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7" name="Where">
            <a:extLst>
              <a:ext uri="{FF2B5EF4-FFF2-40B4-BE49-F238E27FC236}">
                <a16:creationId xmlns:a16="http://schemas.microsoft.com/office/drawing/2014/main" id="{D1DD8C35-F278-4C99-90DE-19CCA4DEF251}"/>
              </a:ext>
            </a:extLst>
          </p:cNvPr>
          <p:cNvSpPr txBox="1"/>
          <p:nvPr/>
        </p:nvSpPr>
        <p:spPr>
          <a:xfrm>
            <a:off x="5729994" y="2338402"/>
            <a:ext cx="908750" cy="369332"/>
          </a:xfrm>
          <a:prstGeom prst="rect">
            <a:avLst/>
          </a:prstGeom>
          <a:noFill/>
        </p:spPr>
        <p:txBody>
          <a:bodyPr wrap="square" rtlCol="0">
            <a:spAutoFit/>
          </a:bodyPr>
          <a:lstStyle/>
          <a:p>
            <a:pPr algn="r"/>
            <a:r>
              <a:rPr lang="en-GB" b="1" dirty="0"/>
              <a:t>WHERE</a:t>
            </a:r>
          </a:p>
        </p:txBody>
      </p:sp>
      <p:cxnSp>
        <p:nvCxnSpPr>
          <p:cNvPr id="5" name="Name - Arrow">
            <a:extLst>
              <a:ext uri="{FF2B5EF4-FFF2-40B4-BE49-F238E27FC236}">
                <a16:creationId xmlns:a16="http://schemas.microsoft.com/office/drawing/2014/main" id="{74743580-1BBD-44D1-9B4B-3FCD69A573CA}"/>
              </a:ext>
            </a:extLst>
          </p:cNvPr>
          <p:cNvCxnSpPr>
            <a:cxnSpLocks/>
            <a:stCxn id="25" idx="2"/>
            <a:endCxn id="29" idx="0"/>
          </p:cNvCxnSpPr>
          <p:nvPr/>
        </p:nvCxnSpPr>
        <p:spPr>
          <a:xfrm flipH="1">
            <a:off x="5729994" y="2707734"/>
            <a:ext cx="1620502" cy="642243"/>
          </a:xfrm>
          <a:prstGeom prst="straightConnector1">
            <a:avLst/>
          </a:prstGeom>
          <a:ln w="28575">
            <a:solidFill>
              <a:srgbClr val="FF0000"/>
            </a:solidFill>
            <a:headEnd w="lg" len="lg"/>
            <a:tailEnd type="triangle" w="lg" len="lg"/>
          </a:ln>
        </p:spPr>
        <p:style>
          <a:lnRef idx="1">
            <a:schemeClr val="accent1"/>
          </a:lnRef>
          <a:fillRef idx="0">
            <a:schemeClr val="accent1"/>
          </a:fillRef>
          <a:effectRef idx="0">
            <a:schemeClr val="accent1"/>
          </a:effectRef>
          <a:fontRef idx="minor">
            <a:schemeClr val="tx1"/>
          </a:fontRef>
        </p:style>
      </p:cxnSp>
      <p:cxnSp>
        <p:nvCxnSpPr>
          <p:cNvPr id="9" name="Age - Arrow">
            <a:extLst>
              <a:ext uri="{FF2B5EF4-FFF2-40B4-BE49-F238E27FC236}">
                <a16:creationId xmlns:a16="http://schemas.microsoft.com/office/drawing/2014/main" id="{4A59694F-BFA9-47E0-AA51-53E4E5936D1D}"/>
              </a:ext>
            </a:extLst>
          </p:cNvPr>
          <p:cNvCxnSpPr>
            <a:cxnSpLocks/>
            <a:stCxn id="25" idx="2"/>
            <a:endCxn id="30" idx="0"/>
          </p:cNvCxnSpPr>
          <p:nvPr/>
        </p:nvCxnSpPr>
        <p:spPr>
          <a:xfrm flipH="1">
            <a:off x="7152326" y="2707734"/>
            <a:ext cx="198170" cy="642243"/>
          </a:xfrm>
          <a:prstGeom prst="straightConnector1">
            <a:avLst/>
          </a:prstGeom>
          <a:ln w="28575">
            <a:solidFill>
              <a:srgbClr val="FF0000"/>
            </a:solidFill>
            <a:headEnd w="lg" len="lg"/>
            <a:tailEnd type="triangle" w="lg" len="lg"/>
          </a:ln>
        </p:spPr>
        <p:style>
          <a:lnRef idx="1">
            <a:schemeClr val="accent1"/>
          </a:lnRef>
          <a:fillRef idx="0">
            <a:schemeClr val="accent1"/>
          </a:fillRef>
          <a:effectRef idx="0">
            <a:schemeClr val="accent1"/>
          </a:effectRef>
          <a:fontRef idx="minor">
            <a:schemeClr val="tx1"/>
          </a:fontRef>
        </p:style>
      </p:cxnSp>
      <p:sp>
        <p:nvSpPr>
          <p:cNvPr id="38" name="Snowy - Purple">
            <a:extLst>
              <a:ext uri="{FF2B5EF4-FFF2-40B4-BE49-F238E27FC236}">
                <a16:creationId xmlns:a16="http://schemas.microsoft.com/office/drawing/2014/main" id="{3E43DA8B-85F2-4ED1-8CB9-4C679A6B601F}"/>
              </a:ext>
            </a:extLst>
          </p:cNvPr>
          <p:cNvSpPr/>
          <p:nvPr/>
        </p:nvSpPr>
        <p:spPr>
          <a:xfrm>
            <a:off x="6935425" y="4378805"/>
            <a:ext cx="432901" cy="312791"/>
          </a:xfrm>
          <a:prstGeom prst="rect">
            <a:avLst/>
          </a:prstGeom>
          <a:solidFill>
            <a:srgbClr val="FF00FF">
              <a:alpha val="24706"/>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9" name="Kitty - Purple">
            <a:extLst>
              <a:ext uri="{FF2B5EF4-FFF2-40B4-BE49-F238E27FC236}">
                <a16:creationId xmlns:a16="http://schemas.microsoft.com/office/drawing/2014/main" id="{AB6F678D-D2D5-49A1-8AF3-02EE2A30680D}"/>
              </a:ext>
            </a:extLst>
          </p:cNvPr>
          <p:cNvSpPr/>
          <p:nvPr/>
        </p:nvSpPr>
        <p:spPr>
          <a:xfrm>
            <a:off x="6936366" y="5353678"/>
            <a:ext cx="432000" cy="312791"/>
          </a:xfrm>
          <a:prstGeom prst="rect">
            <a:avLst/>
          </a:prstGeom>
          <a:solidFill>
            <a:srgbClr val="FF00FF">
              <a:alpha val="24706"/>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0" name="Pepper - Yellow">
            <a:extLst>
              <a:ext uri="{FF2B5EF4-FFF2-40B4-BE49-F238E27FC236}">
                <a16:creationId xmlns:a16="http://schemas.microsoft.com/office/drawing/2014/main" id="{BDD628B9-0732-4AB7-93AF-03B17DA2D4A9}"/>
              </a:ext>
            </a:extLst>
          </p:cNvPr>
          <p:cNvSpPr/>
          <p:nvPr/>
        </p:nvSpPr>
        <p:spPr>
          <a:xfrm>
            <a:off x="6138387" y="3748527"/>
            <a:ext cx="792000"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cxnSp>
        <p:nvCxnSpPr>
          <p:cNvPr id="18" name="Type - Arrow">
            <a:extLst>
              <a:ext uri="{FF2B5EF4-FFF2-40B4-BE49-F238E27FC236}">
                <a16:creationId xmlns:a16="http://schemas.microsoft.com/office/drawing/2014/main" id="{B2F61D89-25E6-4B6D-C1B6-6EC2F5A92982}"/>
              </a:ext>
            </a:extLst>
          </p:cNvPr>
          <p:cNvCxnSpPr>
            <a:cxnSpLocks/>
            <a:stCxn id="37" idx="2"/>
          </p:cNvCxnSpPr>
          <p:nvPr/>
        </p:nvCxnSpPr>
        <p:spPr>
          <a:xfrm>
            <a:off x="6184369" y="2707734"/>
            <a:ext cx="301954" cy="701604"/>
          </a:xfrm>
          <a:prstGeom prst="straightConnector1">
            <a:avLst/>
          </a:prstGeom>
          <a:ln w="28575">
            <a:solidFill>
              <a:srgbClr val="FFFF00"/>
            </a:solidFill>
            <a:headEnd w="lg" len="lg"/>
            <a:tailEnd type="triangle" w="lg" len="lg"/>
          </a:ln>
        </p:spPr>
        <p:style>
          <a:lnRef idx="1">
            <a:schemeClr val="accent1"/>
          </a:lnRef>
          <a:fillRef idx="0">
            <a:schemeClr val="accent1"/>
          </a:fillRef>
          <a:effectRef idx="0">
            <a:schemeClr val="accent1"/>
          </a:effectRef>
          <a:fontRef idx="minor">
            <a:schemeClr val="tx1"/>
          </a:fontRef>
        </p:style>
      </p:cxnSp>
      <p:cxnSp>
        <p:nvCxnSpPr>
          <p:cNvPr id="42" name="Insured - Arrow">
            <a:extLst>
              <a:ext uri="{FF2B5EF4-FFF2-40B4-BE49-F238E27FC236}">
                <a16:creationId xmlns:a16="http://schemas.microsoft.com/office/drawing/2014/main" id="{A690C114-1660-9D11-3BF9-99F60F168DE6}"/>
              </a:ext>
            </a:extLst>
          </p:cNvPr>
          <p:cNvCxnSpPr>
            <a:cxnSpLocks/>
            <a:stCxn id="37" idx="2"/>
          </p:cNvCxnSpPr>
          <p:nvPr/>
        </p:nvCxnSpPr>
        <p:spPr>
          <a:xfrm>
            <a:off x="6184369" y="2707734"/>
            <a:ext cx="908750" cy="701604"/>
          </a:xfrm>
          <a:prstGeom prst="straightConnector1">
            <a:avLst/>
          </a:prstGeom>
          <a:ln w="28575">
            <a:solidFill>
              <a:srgbClr val="7030A0"/>
            </a:solidFill>
            <a:headEnd w="lg" len="lg"/>
            <a:tailEnd type="triangle" w="lg" len="lg"/>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13586284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17"/>
                                        </p:tgtEl>
                                        <p:attrNameLst>
                                          <p:attrName>style.visibility</p:attrName>
                                        </p:attrNameLst>
                                      </p:cBhvr>
                                      <p:to>
                                        <p:strVal val="visible"/>
                                      </p:to>
                                    </p:set>
                                    <p:animEffect transition="in" filter="wipe(left)">
                                      <p:cBhvr>
                                        <p:cTn id="7" dur="1000"/>
                                        <p:tgtEl>
                                          <p:spTgt spid="17"/>
                                        </p:tgtEl>
                                      </p:cBhvr>
                                    </p:animEffect>
                                  </p:childTnLst>
                                </p:cTn>
                              </p:par>
                            </p:childTnLst>
                          </p:cTn>
                        </p:par>
                        <p:par>
                          <p:cTn id="8" fill="hold">
                            <p:stCondLst>
                              <p:cond delay="1000"/>
                            </p:stCondLst>
                            <p:childTnLst>
                              <p:par>
                                <p:cTn id="9" presetID="22" presetClass="entr" presetSubtype="1" fill="hold" nodeType="afterEffect">
                                  <p:stCondLst>
                                    <p:cond delay="0"/>
                                  </p:stCondLst>
                                  <p:childTnLst>
                                    <p:set>
                                      <p:cBhvr>
                                        <p:cTn id="10" dur="1" fill="hold">
                                          <p:stCondLst>
                                            <p:cond delay="0"/>
                                          </p:stCondLst>
                                        </p:cTn>
                                        <p:tgtEl>
                                          <p:spTgt spid="22"/>
                                        </p:tgtEl>
                                        <p:attrNameLst>
                                          <p:attrName>style.visibility</p:attrName>
                                        </p:attrNameLst>
                                      </p:cBhvr>
                                      <p:to>
                                        <p:strVal val="visible"/>
                                      </p:to>
                                    </p:set>
                                    <p:animEffect transition="in" filter="wipe(up)">
                                      <p:cBhvr>
                                        <p:cTn id="11" dur="2000"/>
                                        <p:tgtEl>
                                          <p:spTgt spid="22"/>
                                        </p:tgtEl>
                                      </p:cBhvr>
                                    </p:animEffect>
                                  </p:childTnLst>
                                </p:cTn>
                              </p:par>
                            </p:childTnLst>
                          </p:cTn>
                        </p:par>
                      </p:childTnLst>
                    </p:cTn>
                  </p:par>
                  <p:par>
                    <p:cTn id="12" fill="hold">
                      <p:stCondLst>
                        <p:cond delay="indefinite"/>
                      </p:stCondLst>
                      <p:childTnLst>
                        <p:par>
                          <p:cTn id="13" fill="hold">
                            <p:stCondLst>
                              <p:cond delay="0"/>
                            </p:stCondLst>
                            <p:childTnLst>
                              <p:par>
                                <p:cTn id="14" presetID="22" presetClass="entr" presetSubtype="8" fill="hold" grpId="0" nodeType="clickEffect">
                                  <p:stCondLst>
                                    <p:cond delay="0"/>
                                  </p:stCondLst>
                                  <p:childTnLst>
                                    <p:set>
                                      <p:cBhvr>
                                        <p:cTn id="15" dur="1" fill="hold">
                                          <p:stCondLst>
                                            <p:cond delay="0"/>
                                          </p:stCondLst>
                                        </p:cTn>
                                        <p:tgtEl>
                                          <p:spTgt spid="6">
                                            <p:txEl>
                                              <p:pRg st="0" end="0"/>
                                            </p:txEl>
                                          </p:spTgt>
                                        </p:tgtEl>
                                        <p:attrNameLst>
                                          <p:attrName>style.visibility</p:attrName>
                                        </p:attrNameLst>
                                      </p:cBhvr>
                                      <p:to>
                                        <p:strVal val="visible"/>
                                      </p:to>
                                    </p:set>
                                    <p:animEffect transition="in" filter="wipe(left)">
                                      <p:cBhvr>
                                        <p:cTn id="16" dur="1500"/>
                                        <p:tgtEl>
                                          <p:spTgt spid="6">
                                            <p:txEl>
                                              <p:pRg st="0" end="0"/>
                                            </p:txEl>
                                          </p:spTgt>
                                        </p:tgtEl>
                                      </p:cBhvr>
                                    </p:animEffect>
                                  </p:childTnLst>
                                </p:cTn>
                              </p:par>
                            </p:childTnLst>
                          </p:cTn>
                        </p:par>
                        <p:par>
                          <p:cTn id="17" fill="hold">
                            <p:stCondLst>
                              <p:cond delay="1500"/>
                            </p:stCondLst>
                            <p:childTnLst>
                              <p:par>
                                <p:cTn id="18" presetID="22" presetClass="entr" presetSubtype="8" fill="hold" grpId="0" nodeType="afterEffect">
                                  <p:stCondLst>
                                    <p:cond delay="0"/>
                                  </p:stCondLst>
                                  <p:childTnLst>
                                    <p:set>
                                      <p:cBhvr>
                                        <p:cTn id="19" dur="1" fill="hold">
                                          <p:stCondLst>
                                            <p:cond delay="0"/>
                                          </p:stCondLst>
                                        </p:cTn>
                                        <p:tgtEl>
                                          <p:spTgt spid="6">
                                            <p:txEl>
                                              <p:pRg st="1" end="1"/>
                                            </p:txEl>
                                          </p:spTgt>
                                        </p:tgtEl>
                                        <p:attrNameLst>
                                          <p:attrName>style.visibility</p:attrName>
                                        </p:attrNameLst>
                                      </p:cBhvr>
                                      <p:to>
                                        <p:strVal val="visible"/>
                                      </p:to>
                                    </p:set>
                                    <p:animEffect transition="in" filter="wipe(left)">
                                      <p:cBhvr>
                                        <p:cTn id="20" dur="1500"/>
                                        <p:tgtEl>
                                          <p:spTgt spid="6">
                                            <p:txEl>
                                              <p:pRg st="1" end="1"/>
                                            </p:txEl>
                                          </p:spTgt>
                                        </p:tgtEl>
                                      </p:cBhvr>
                                    </p:animEffect>
                                  </p:childTnLst>
                                </p:cTn>
                              </p:par>
                            </p:childTnLst>
                          </p:cTn>
                        </p:par>
                        <p:par>
                          <p:cTn id="21" fill="hold">
                            <p:stCondLst>
                              <p:cond delay="3000"/>
                            </p:stCondLst>
                            <p:childTnLst>
                              <p:par>
                                <p:cTn id="22" presetID="22" presetClass="entr" presetSubtype="8" fill="hold" grpId="0" nodeType="afterEffect">
                                  <p:stCondLst>
                                    <p:cond delay="0"/>
                                  </p:stCondLst>
                                  <p:childTnLst>
                                    <p:set>
                                      <p:cBhvr>
                                        <p:cTn id="23" dur="1" fill="hold">
                                          <p:stCondLst>
                                            <p:cond delay="0"/>
                                          </p:stCondLst>
                                        </p:cTn>
                                        <p:tgtEl>
                                          <p:spTgt spid="6">
                                            <p:txEl>
                                              <p:pRg st="2" end="2"/>
                                            </p:txEl>
                                          </p:spTgt>
                                        </p:tgtEl>
                                        <p:attrNameLst>
                                          <p:attrName>style.visibility</p:attrName>
                                        </p:attrNameLst>
                                      </p:cBhvr>
                                      <p:to>
                                        <p:strVal val="visible"/>
                                      </p:to>
                                    </p:set>
                                    <p:animEffect transition="in" filter="wipe(left)">
                                      <p:cBhvr>
                                        <p:cTn id="24" dur="1500"/>
                                        <p:tgtEl>
                                          <p:spTgt spid="6">
                                            <p:txEl>
                                              <p:pRg st="2" end="2"/>
                                            </p:txEl>
                                          </p:spTgt>
                                        </p:tgtEl>
                                      </p:cBhvr>
                                    </p:animEffect>
                                  </p:childTnLst>
                                </p:cTn>
                              </p:par>
                            </p:childTnLst>
                          </p:cTn>
                        </p:par>
                        <p:par>
                          <p:cTn id="25" fill="hold">
                            <p:stCondLst>
                              <p:cond delay="4500"/>
                            </p:stCondLst>
                            <p:childTnLst>
                              <p:par>
                                <p:cTn id="26" presetID="22" presetClass="entr" presetSubtype="8" fill="hold" grpId="0" nodeType="afterEffect">
                                  <p:stCondLst>
                                    <p:cond delay="0"/>
                                  </p:stCondLst>
                                  <p:childTnLst>
                                    <p:set>
                                      <p:cBhvr>
                                        <p:cTn id="27" dur="1" fill="hold">
                                          <p:stCondLst>
                                            <p:cond delay="0"/>
                                          </p:stCondLst>
                                        </p:cTn>
                                        <p:tgtEl>
                                          <p:spTgt spid="6">
                                            <p:txEl>
                                              <p:pRg st="3" end="3"/>
                                            </p:txEl>
                                          </p:spTgt>
                                        </p:tgtEl>
                                        <p:attrNameLst>
                                          <p:attrName>style.visibility</p:attrName>
                                        </p:attrNameLst>
                                      </p:cBhvr>
                                      <p:to>
                                        <p:strVal val="visible"/>
                                      </p:to>
                                    </p:set>
                                    <p:animEffect transition="in" filter="wipe(left)">
                                      <p:cBhvr>
                                        <p:cTn id="28" dur="1500"/>
                                        <p:tgtEl>
                                          <p:spTgt spid="6">
                                            <p:txEl>
                                              <p:pRg st="3" end="3"/>
                                            </p:txEl>
                                          </p:spTgt>
                                        </p:tgtEl>
                                      </p:cBhvr>
                                    </p:animEffect>
                                  </p:childTnLst>
                                </p:cTn>
                              </p:par>
                            </p:childTnLst>
                          </p:cTn>
                        </p:par>
                      </p:childTnLst>
                    </p:cTn>
                  </p:par>
                  <p:par>
                    <p:cTn id="29" fill="hold">
                      <p:stCondLst>
                        <p:cond delay="indefinite"/>
                      </p:stCondLst>
                      <p:childTnLst>
                        <p:par>
                          <p:cTn id="30" fill="hold">
                            <p:stCondLst>
                              <p:cond delay="0"/>
                            </p:stCondLst>
                            <p:childTnLst>
                              <p:par>
                                <p:cTn id="31" presetID="22" presetClass="entr" presetSubtype="8" fill="hold" grpId="0" nodeType="clickEffect">
                                  <p:stCondLst>
                                    <p:cond delay="0"/>
                                  </p:stCondLst>
                                  <p:childTnLst>
                                    <p:set>
                                      <p:cBhvr>
                                        <p:cTn id="32" dur="1" fill="hold">
                                          <p:stCondLst>
                                            <p:cond delay="0"/>
                                          </p:stCondLst>
                                        </p:cTn>
                                        <p:tgtEl>
                                          <p:spTgt spid="19">
                                            <p:txEl>
                                              <p:pRg st="0" end="0"/>
                                            </p:txEl>
                                          </p:spTgt>
                                        </p:tgtEl>
                                        <p:attrNameLst>
                                          <p:attrName>style.visibility</p:attrName>
                                        </p:attrNameLst>
                                      </p:cBhvr>
                                      <p:to>
                                        <p:strVal val="visible"/>
                                      </p:to>
                                    </p:set>
                                    <p:animEffect transition="in" filter="wipe(left)">
                                      <p:cBhvr>
                                        <p:cTn id="33" dur="1000"/>
                                        <p:tgtEl>
                                          <p:spTgt spid="19">
                                            <p:txEl>
                                              <p:pRg st="0" end="0"/>
                                            </p:txEl>
                                          </p:spTgt>
                                        </p:tgtEl>
                                      </p:cBhvr>
                                    </p:animEffect>
                                  </p:childTnLst>
                                </p:cTn>
                              </p:par>
                            </p:childTnLst>
                          </p:cTn>
                        </p:par>
                        <p:par>
                          <p:cTn id="34" fill="hold">
                            <p:stCondLst>
                              <p:cond delay="1000"/>
                            </p:stCondLst>
                            <p:childTnLst>
                              <p:par>
                                <p:cTn id="35" presetID="22" presetClass="entr" presetSubtype="8" fill="hold" grpId="0" nodeType="afterEffect">
                                  <p:stCondLst>
                                    <p:cond delay="0"/>
                                  </p:stCondLst>
                                  <p:childTnLst>
                                    <p:set>
                                      <p:cBhvr>
                                        <p:cTn id="36" dur="1" fill="hold">
                                          <p:stCondLst>
                                            <p:cond delay="0"/>
                                          </p:stCondLst>
                                        </p:cTn>
                                        <p:tgtEl>
                                          <p:spTgt spid="19">
                                            <p:txEl>
                                              <p:pRg st="1" end="1"/>
                                            </p:txEl>
                                          </p:spTgt>
                                        </p:tgtEl>
                                        <p:attrNameLst>
                                          <p:attrName>style.visibility</p:attrName>
                                        </p:attrNameLst>
                                      </p:cBhvr>
                                      <p:to>
                                        <p:strVal val="visible"/>
                                      </p:to>
                                    </p:set>
                                    <p:animEffect transition="in" filter="wipe(left)">
                                      <p:cBhvr>
                                        <p:cTn id="37" dur="1000"/>
                                        <p:tgtEl>
                                          <p:spTgt spid="19">
                                            <p:txEl>
                                              <p:pRg st="1" end="1"/>
                                            </p:txEl>
                                          </p:spTgt>
                                        </p:tgtEl>
                                      </p:cBhvr>
                                    </p:animEffect>
                                  </p:childTnLst>
                                </p:cTn>
                              </p:par>
                            </p:childTnLst>
                          </p:cTn>
                        </p:par>
                        <p:par>
                          <p:cTn id="38" fill="hold">
                            <p:stCondLst>
                              <p:cond delay="2000"/>
                            </p:stCondLst>
                            <p:childTnLst>
                              <p:par>
                                <p:cTn id="39" presetID="22" presetClass="entr" presetSubtype="8" fill="hold" grpId="0" nodeType="afterEffect">
                                  <p:stCondLst>
                                    <p:cond delay="0"/>
                                  </p:stCondLst>
                                  <p:childTnLst>
                                    <p:set>
                                      <p:cBhvr>
                                        <p:cTn id="40" dur="1" fill="hold">
                                          <p:stCondLst>
                                            <p:cond delay="0"/>
                                          </p:stCondLst>
                                        </p:cTn>
                                        <p:tgtEl>
                                          <p:spTgt spid="19">
                                            <p:txEl>
                                              <p:pRg st="2" end="2"/>
                                            </p:txEl>
                                          </p:spTgt>
                                        </p:tgtEl>
                                        <p:attrNameLst>
                                          <p:attrName>style.visibility</p:attrName>
                                        </p:attrNameLst>
                                      </p:cBhvr>
                                      <p:to>
                                        <p:strVal val="visible"/>
                                      </p:to>
                                    </p:set>
                                    <p:animEffect transition="in" filter="wipe(left)">
                                      <p:cBhvr>
                                        <p:cTn id="41" dur="1000"/>
                                        <p:tgtEl>
                                          <p:spTgt spid="19">
                                            <p:txEl>
                                              <p:pRg st="2" end="2"/>
                                            </p:txEl>
                                          </p:spTgt>
                                        </p:tgtEl>
                                      </p:cBhvr>
                                    </p:animEffect>
                                  </p:childTnLst>
                                </p:cTn>
                              </p:par>
                            </p:childTnLst>
                          </p:cTn>
                        </p:par>
                        <p:par>
                          <p:cTn id="42" fill="hold">
                            <p:stCondLst>
                              <p:cond delay="3000"/>
                            </p:stCondLst>
                            <p:childTnLst>
                              <p:par>
                                <p:cTn id="43" presetID="22" presetClass="entr" presetSubtype="8" fill="hold" grpId="0" nodeType="afterEffect">
                                  <p:stCondLst>
                                    <p:cond delay="0"/>
                                  </p:stCondLst>
                                  <p:childTnLst>
                                    <p:set>
                                      <p:cBhvr>
                                        <p:cTn id="44" dur="1" fill="hold">
                                          <p:stCondLst>
                                            <p:cond delay="0"/>
                                          </p:stCondLst>
                                        </p:cTn>
                                        <p:tgtEl>
                                          <p:spTgt spid="19">
                                            <p:txEl>
                                              <p:pRg st="3" end="3"/>
                                            </p:txEl>
                                          </p:spTgt>
                                        </p:tgtEl>
                                        <p:attrNameLst>
                                          <p:attrName>style.visibility</p:attrName>
                                        </p:attrNameLst>
                                      </p:cBhvr>
                                      <p:to>
                                        <p:strVal val="visible"/>
                                      </p:to>
                                    </p:set>
                                    <p:animEffect transition="in" filter="wipe(left)">
                                      <p:cBhvr>
                                        <p:cTn id="45" dur="1000"/>
                                        <p:tgtEl>
                                          <p:spTgt spid="19">
                                            <p:txEl>
                                              <p:pRg st="3" end="3"/>
                                            </p:txEl>
                                          </p:spTgt>
                                        </p:tgtEl>
                                      </p:cBhvr>
                                    </p:animEffect>
                                  </p:childTnLst>
                                </p:cTn>
                              </p:par>
                            </p:childTnLst>
                          </p:cTn>
                        </p:par>
                      </p:childTnLst>
                    </p:cTn>
                  </p:par>
                  <p:par>
                    <p:cTn id="46" fill="hold">
                      <p:stCondLst>
                        <p:cond delay="indefinite"/>
                      </p:stCondLst>
                      <p:childTnLst>
                        <p:par>
                          <p:cTn id="47" fill="hold">
                            <p:stCondLst>
                              <p:cond delay="0"/>
                            </p:stCondLst>
                            <p:childTnLst>
                              <p:par>
                                <p:cTn id="48" presetID="22" presetClass="entr" presetSubtype="8" fill="hold" grpId="0" nodeType="clickEffect">
                                  <p:stCondLst>
                                    <p:cond delay="0"/>
                                  </p:stCondLst>
                                  <p:childTnLst>
                                    <p:set>
                                      <p:cBhvr>
                                        <p:cTn id="49" dur="1" fill="hold">
                                          <p:stCondLst>
                                            <p:cond delay="0"/>
                                          </p:stCondLst>
                                        </p:cTn>
                                        <p:tgtEl>
                                          <p:spTgt spid="27"/>
                                        </p:tgtEl>
                                        <p:attrNameLst>
                                          <p:attrName>style.visibility</p:attrName>
                                        </p:attrNameLst>
                                      </p:cBhvr>
                                      <p:to>
                                        <p:strVal val="visible"/>
                                      </p:to>
                                    </p:set>
                                    <p:animEffect transition="in" filter="wipe(left)">
                                      <p:cBhvr>
                                        <p:cTn id="50" dur="1000"/>
                                        <p:tgtEl>
                                          <p:spTgt spid="27"/>
                                        </p:tgtEl>
                                      </p:cBhvr>
                                    </p:animEffect>
                                  </p:childTnLst>
                                </p:cTn>
                              </p:par>
                            </p:childTnLst>
                          </p:cTn>
                        </p:par>
                        <p:par>
                          <p:cTn id="51" fill="hold">
                            <p:stCondLst>
                              <p:cond delay="1000"/>
                            </p:stCondLst>
                            <p:childTnLst>
                              <p:par>
                                <p:cTn id="52" presetID="22" presetClass="entr" presetSubtype="8" fill="hold" grpId="0" nodeType="afterEffect">
                                  <p:stCondLst>
                                    <p:cond delay="0"/>
                                  </p:stCondLst>
                                  <p:childTnLst>
                                    <p:set>
                                      <p:cBhvr>
                                        <p:cTn id="53" dur="1" fill="hold">
                                          <p:stCondLst>
                                            <p:cond delay="0"/>
                                          </p:stCondLst>
                                        </p:cTn>
                                        <p:tgtEl>
                                          <p:spTgt spid="10"/>
                                        </p:tgtEl>
                                        <p:attrNameLst>
                                          <p:attrName>style.visibility</p:attrName>
                                        </p:attrNameLst>
                                      </p:cBhvr>
                                      <p:to>
                                        <p:strVal val="visible"/>
                                      </p:to>
                                    </p:set>
                                    <p:animEffect transition="in" filter="wipe(left)">
                                      <p:cBhvr>
                                        <p:cTn id="54" dur="500"/>
                                        <p:tgtEl>
                                          <p:spTgt spid="10"/>
                                        </p:tgtEl>
                                      </p:cBhvr>
                                    </p:animEffect>
                                  </p:childTnLst>
                                </p:cTn>
                              </p:par>
                            </p:childTnLst>
                          </p:cTn>
                        </p:par>
                        <p:par>
                          <p:cTn id="55" fill="hold">
                            <p:stCondLst>
                              <p:cond delay="1500"/>
                            </p:stCondLst>
                            <p:childTnLst>
                              <p:par>
                                <p:cTn id="56" presetID="22" presetClass="entr" presetSubtype="8" fill="hold" grpId="0" nodeType="afterEffect">
                                  <p:stCondLst>
                                    <p:cond delay="0"/>
                                  </p:stCondLst>
                                  <p:childTnLst>
                                    <p:set>
                                      <p:cBhvr>
                                        <p:cTn id="57" dur="1" fill="hold">
                                          <p:stCondLst>
                                            <p:cond delay="0"/>
                                          </p:stCondLst>
                                        </p:cTn>
                                        <p:tgtEl>
                                          <p:spTgt spid="26"/>
                                        </p:tgtEl>
                                        <p:attrNameLst>
                                          <p:attrName>style.visibility</p:attrName>
                                        </p:attrNameLst>
                                      </p:cBhvr>
                                      <p:to>
                                        <p:strVal val="visible"/>
                                      </p:to>
                                    </p:set>
                                    <p:animEffect transition="in" filter="wipe(left)">
                                      <p:cBhvr>
                                        <p:cTn id="58" dur="1000"/>
                                        <p:tgtEl>
                                          <p:spTgt spid="26"/>
                                        </p:tgtEl>
                                      </p:cBhvr>
                                    </p:animEffect>
                                  </p:childTnLst>
                                </p:cTn>
                              </p:par>
                            </p:childTnLst>
                          </p:cTn>
                        </p:par>
                        <p:par>
                          <p:cTn id="59" fill="hold">
                            <p:stCondLst>
                              <p:cond delay="2500"/>
                            </p:stCondLst>
                            <p:childTnLst>
                              <p:par>
                                <p:cTn id="60" presetID="22" presetClass="entr" presetSubtype="8" fill="hold" nodeType="afterEffect">
                                  <p:stCondLst>
                                    <p:cond delay="0"/>
                                  </p:stCondLst>
                                  <p:childTnLst>
                                    <p:set>
                                      <p:cBhvr>
                                        <p:cTn id="61" dur="1" fill="hold">
                                          <p:stCondLst>
                                            <p:cond delay="0"/>
                                          </p:stCondLst>
                                        </p:cTn>
                                        <p:tgtEl>
                                          <p:spTgt spid="23"/>
                                        </p:tgtEl>
                                        <p:attrNameLst>
                                          <p:attrName>style.visibility</p:attrName>
                                        </p:attrNameLst>
                                      </p:cBhvr>
                                      <p:to>
                                        <p:strVal val="visible"/>
                                      </p:to>
                                    </p:set>
                                    <p:animEffect transition="in" filter="wipe(left)">
                                      <p:cBhvr>
                                        <p:cTn id="62" dur="2000"/>
                                        <p:tgtEl>
                                          <p:spTgt spid="23"/>
                                        </p:tgtEl>
                                      </p:cBhvr>
                                    </p:animEffect>
                                  </p:childTnLst>
                                </p:cTn>
                              </p:par>
                            </p:childTnLst>
                          </p:cTn>
                        </p:par>
                      </p:childTnLst>
                    </p:cTn>
                  </p:par>
                  <p:par>
                    <p:cTn id="63" fill="hold">
                      <p:stCondLst>
                        <p:cond delay="indefinite"/>
                      </p:stCondLst>
                      <p:childTnLst>
                        <p:par>
                          <p:cTn id="64" fill="hold">
                            <p:stCondLst>
                              <p:cond delay="0"/>
                            </p:stCondLst>
                            <p:childTnLst>
                              <p:par>
                                <p:cTn id="65" presetID="22" presetClass="exit" presetSubtype="8" fill="hold" grpId="1" nodeType="clickEffect">
                                  <p:stCondLst>
                                    <p:cond delay="0"/>
                                  </p:stCondLst>
                                  <p:childTnLst>
                                    <p:animEffect transition="out" filter="wipe(left)">
                                      <p:cBhvr>
                                        <p:cTn id="66" dur="500"/>
                                        <p:tgtEl>
                                          <p:spTgt spid="27"/>
                                        </p:tgtEl>
                                      </p:cBhvr>
                                    </p:animEffect>
                                    <p:set>
                                      <p:cBhvr>
                                        <p:cTn id="67" dur="1" fill="hold">
                                          <p:stCondLst>
                                            <p:cond delay="499"/>
                                          </p:stCondLst>
                                        </p:cTn>
                                        <p:tgtEl>
                                          <p:spTgt spid="27"/>
                                        </p:tgtEl>
                                        <p:attrNameLst>
                                          <p:attrName>style.visibility</p:attrName>
                                        </p:attrNameLst>
                                      </p:cBhvr>
                                      <p:to>
                                        <p:strVal val="hidden"/>
                                      </p:to>
                                    </p:set>
                                  </p:childTnLst>
                                </p:cTn>
                              </p:par>
                            </p:childTnLst>
                          </p:cTn>
                        </p:par>
                        <p:par>
                          <p:cTn id="68" fill="hold">
                            <p:stCondLst>
                              <p:cond delay="500"/>
                            </p:stCondLst>
                            <p:childTnLst>
                              <p:par>
                                <p:cTn id="69" presetID="22" presetClass="entr" presetSubtype="8" fill="hold" grpId="0" nodeType="afterEffect">
                                  <p:stCondLst>
                                    <p:cond delay="0"/>
                                  </p:stCondLst>
                                  <p:childTnLst>
                                    <p:set>
                                      <p:cBhvr>
                                        <p:cTn id="70" dur="1" fill="hold">
                                          <p:stCondLst>
                                            <p:cond delay="0"/>
                                          </p:stCondLst>
                                        </p:cTn>
                                        <p:tgtEl>
                                          <p:spTgt spid="35"/>
                                        </p:tgtEl>
                                        <p:attrNameLst>
                                          <p:attrName>style.visibility</p:attrName>
                                        </p:attrNameLst>
                                      </p:cBhvr>
                                      <p:to>
                                        <p:strVal val="visible"/>
                                      </p:to>
                                    </p:set>
                                    <p:animEffect transition="in" filter="wipe(left)">
                                      <p:cBhvr>
                                        <p:cTn id="71" dur="1000"/>
                                        <p:tgtEl>
                                          <p:spTgt spid="35"/>
                                        </p:tgtEl>
                                      </p:cBhvr>
                                    </p:animEffect>
                                  </p:childTnLst>
                                </p:cTn>
                              </p:par>
                            </p:childTnLst>
                          </p:cTn>
                        </p:par>
                        <p:par>
                          <p:cTn id="72" fill="hold">
                            <p:stCondLst>
                              <p:cond delay="1500"/>
                            </p:stCondLst>
                            <p:childTnLst>
                              <p:par>
                                <p:cTn id="73" presetID="22" presetClass="entr" presetSubtype="8" fill="hold" grpId="0" nodeType="afterEffect">
                                  <p:stCondLst>
                                    <p:cond delay="0"/>
                                  </p:stCondLst>
                                  <p:childTnLst>
                                    <p:set>
                                      <p:cBhvr>
                                        <p:cTn id="74" dur="1" fill="hold">
                                          <p:stCondLst>
                                            <p:cond delay="0"/>
                                          </p:stCondLst>
                                        </p:cTn>
                                        <p:tgtEl>
                                          <p:spTgt spid="37"/>
                                        </p:tgtEl>
                                        <p:attrNameLst>
                                          <p:attrName>style.visibility</p:attrName>
                                        </p:attrNameLst>
                                      </p:cBhvr>
                                      <p:to>
                                        <p:strVal val="visible"/>
                                      </p:to>
                                    </p:set>
                                    <p:animEffect transition="in" filter="wipe(left)">
                                      <p:cBhvr>
                                        <p:cTn id="75" dur="500"/>
                                        <p:tgtEl>
                                          <p:spTgt spid="37"/>
                                        </p:tgtEl>
                                      </p:cBhvr>
                                    </p:animEffect>
                                  </p:childTnLst>
                                </p:cTn>
                              </p:par>
                            </p:childTnLst>
                          </p:cTn>
                        </p:par>
                        <p:par>
                          <p:cTn id="76" fill="hold">
                            <p:stCondLst>
                              <p:cond delay="2000"/>
                            </p:stCondLst>
                            <p:childTnLst>
                              <p:par>
                                <p:cTn id="77" presetID="22" presetClass="entr" presetSubtype="1" fill="hold" nodeType="afterEffect">
                                  <p:stCondLst>
                                    <p:cond delay="0"/>
                                  </p:stCondLst>
                                  <p:childTnLst>
                                    <p:set>
                                      <p:cBhvr>
                                        <p:cTn id="78" dur="1" fill="hold">
                                          <p:stCondLst>
                                            <p:cond delay="0"/>
                                          </p:stCondLst>
                                        </p:cTn>
                                        <p:tgtEl>
                                          <p:spTgt spid="18"/>
                                        </p:tgtEl>
                                        <p:attrNameLst>
                                          <p:attrName>style.visibility</p:attrName>
                                        </p:attrNameLst>
                                      </p:cBhvr>
                                      <p:to>
                                        <p:strVal val="visible"/>
                                      </p:to>
                                    </p:set>
                                    <p:animEffect transition="in" filter="wipe(up)">
                                      <p:cBhvr>
                                        <p:cTn id="79" dur="500"/>
                                        <p:tgtEl>
                                          <p:spTgt spid="18"/>
                                        </p:tgtEl>
                                      </p:cBhvr>
                                    </p:animEffect>
                                  </p:childTnLst>
                                </p:cTn>
                              </p:par>
                            </p:childTnLst>
                          </p:cTn>
                        </p:par>
                        <p:par>
                          <p:cTn id="80" fill="hold">
                            <p:stCondLst>
                              <p:cond delay="2500"/>
                            </p:stCondLst>
                            <p:childTnLst>
                              <p:par>
                                <p:cTn id="81" presetID="22" presetClass="entr" presetSubtype="1" fill="hold" nodeType="afterEffect">
                                  <p:stCondLst>
                                    <p:cond delay="0"/>
                                  </p:stCondLst>
                                  <p:childTnLst>
                                    <p:set>
                                      <p:cBhvr>
                                        <p:cTn id="82" dur="1" fill="hold">
                                          <p:stCondLst>
                                            <p:cond delay="0"/>
                                          </p:stCondLst>
                                        </p:cTn>
                                        <p:tgtEl>
                                          <p:spTgt spid="42"/>
                                        </p:tgtEl>
                                        <p:attrNameLst>
                                          <p:attrName>style.visibility</p:attrName>
                                        </p:attrNameLst>
                                      </p:cBhvr>
                                      <p:to>
                                        <p:strVal val="visible"/>
                                      </p:to>
                                    </p:set>
                                    <p:animEffect transition="in" filter="wipe(up)">
                                      <p:cBhvr>
                                        <p:cTn id="83" dur="500"/>
                                        <p:tgtEl>
                                          <p:spTgt spid="42"/>
                                        </p:tgtEl>
                                      </p:cBhvr>
                                    </p:animEffect>
                                  </p:childTnLst>
                                </p:cTn>
                              </p:par>
                            </p:childTnLst>
                          </p:cTn>
                        </p:par>
                      </p:childTnLst>
                    </p:cTn>
                  </p:par>
                  <p:par>
                    <p:cTn id="84" fill="hold">
                      <p:stCondLst>
                        <p:cond delay="indefinite"/>
                      </p:stCondLst>
                      <p:childTnLst>
                        <p:par>
                          <p:cTn id="85" fill="hold">
                            <p:stCondLst>
                              <p:cond delay="0"/>
                            </p:stCondLst>
                            <p:childTnLst>
                              <p:par>
                                <p:cTn id="86" presetID="22" presetClass="entr" presetSubtype="8" fill="hold" grpId="0" nodeType="clickEffect">
                                  <p:stCondLst>
                                    <p:cond delay="0"/>
                                  </p:stCondLst>
                                  <p:childTnLst>
                                    <p:set>
                                      <p:cBhvr>
                                        <p:cTn id="87" dur="1" fill="hold">
                                          <p:stCondLst>
                                            <p:cond delay="0"/>
                                          </p:stCondLst>
                                        </p:cTn>
                                        <p:tgtEl>
                                          <p:spTgt spid="40"/>
                                        </p:tgtEl>
                                        <p:attrNameLst>
                                          <p:attrName>style.visibility</p:attrName>
                                        </p:attrNameLst>
                                      </p:cBhvr>
                                      <p:to>
                                        <p:strVal val="visible"/>
                                      </p:to>
                                    </p:set>
                                    <p:animEffect transition="in" filter="wipe(left)">
                                      <p:cBhvr>
                                        <p:cTn id="88" dur="500"/>
                                        <p:tgtEl>
                                          <p:spTgt spid="40"/>
                                        </p:tgtEl>
                                      </p:cBhvr>
                                    </p:animEffect>
                                  </p:childTnLst>
                                </p:cTn>
                              </p:par>
                            </p:childTnLst>
                          </p:cTn>
                        </p:par>
                      </p:childTnLst>
                    </p:cTn>
                  </p:par>
                  <p:par>
                    <p:cTn id="89" fill="hold">
                      <p:stCondLst>
                        <p:cond delay="indefinite"/>
                      </p:stCondLst>
                      <p:childTnLst>
                        <p:par>
                          <p:cTn id="90" fill="hold">
                            <p:stCondLst>
                              <p:cond delay="0"/>
                            </p:stCondLst>
                            <p:childTnLst>
                              <p:par>
                                <p:cTn id="91" presetID="22" presetClass="entr" presetSubtype="8" fill="hold" grpId="0" nodeType="clickEffect">
                                  <p:stCondLst>
                                    <p:cond delay="0"/>
                                  </p:stCondLst>
                                  <p:childTnLst>
                                    <p:set>
                                      <p:cBhvr>
                                        <p:cTn id="92" dur="1" fill="hold">
                                          <p:stCondLst>
                                            <p:cond delay="0"/>
                                          </p:stCondLst>
                                        </p:cTn>
                                        <p:tgtEl>
                                          <p:spTgt spid="33"/>
                                        </p:tgtEl>
                                        <p:attrNameLst>
                                          <p:attrName>style.visibility</p:attrName>
                                        </p:attrNameLst>
                                      </p:cBhvr>
                                      <p:to>
                                        <p:strVal val="visible"/>
                                      </p:to>
                                    </p:set>
                                    <p:animEffect transition="in" filter="wipe(left)">
                                      <p:cBhvr>
                                        <p:cTn id="93" dur="500"/>
                                        <p:tgtEl>
                                          <p:spTgt spid="33"/>
                                        </p:tgtEl>
                                      </p:cBhvr>
                                    </p:animEffect>
                                  </p:childTnLst>
                                </p:cTn>
                              </p:par>
                            </p:childTnLst>
                          </p:cTn>
                        </p:par>
                      </p:childTnLst>
                    </p:cTn>
                  </p:par>
                  <p:par>
                    <p:cTn id="94" fill="hold">
                      <p:stCondLst>
                        <p:cond delay="indefinite"/>
                      </p:stCondLst>
                      <p:childTnLst>
                        <p:par>
                          <p:cTn id="95" fill="hold">
                            <p:stCondLst>
                              <p:cond delay="0"/>
                            </p:stCondLst>
                            <p:childTnLst>
                              <p:par>
                                <p:cTn id="96" presetID="22" presetClass="entr" presetSubtype="8" fill="hold" grpId="0" nodeType="clickEffect">
                                  <p:stCondLst>
                                    <p:cond delay="0"/>
                                  </p:stCondLst>
                                  <p:childTnLst>
                                    <p:set>
                                      <p:cBhvr>
                                        <p:cTn id="97" dur="1" fill="hold">
                                          <p:stCondLst>
                                            <p:cond delay="0"/>
                                          </p:stCondLst>
                                        </p:cTn>
                                        <p:tgtEl>
                                          <p:spTgt spid="38"/>
                                        </p:tgtEl>
                                        <p:attrNameLst>
                                          <p:attrName>style.visibility</p:attrName>
                                        </p:attrNameLst>
                                      </p:cBhvr>
                                      <p:to>
                                        <p:strVal val="visible"/>
                                      </p:to>
                                    </p:set>
                                    <p:animEffect transition="in" filter="wipe(left)">
                                      <p:cBhvr>
                                        <p:cTn id="98" dur="500"/>
                                        <p:tgtEl>
                                          <p:spTgt spid="38"/>
                                        </p:tgtEl>
                                      </p:cBhvr>
                                    </p:animEffect>
                                  </p:childTnLst>
                                </p:cTn>
                              </p:par>
                            </p:childTnLst>
                          </p:cTn>
                        </p:par>
                      </p:childTnLst>
                    </p:cTn>
                  </p:par>
                  <p:par>
                    <p:cTn id="99" fill="hold">
                      <p:stCondLst>
                        <p:cond delay="indefinite"/>
                      </p:stCondLst>
                      <p:childTnLst>
                        <p:par>
                          <p:cTn id="100" fill="hold">
                            <p:stCondLst>
                              <p:cond delay="0"/>
                            </p:stCondLst>
                            <p:childTnLst>
                              <p:par>
                                <p:cTn id="101" presetID="22" presetClass="entr" presetSubtype="8" fill="hold" grpId="0" nodeType="clickEffect">
                                  <p:stCondLst>
                                    <p:cond delay="0"/>
                                  </p:stCondLst>
                                  <p:childTnLst>
                                    <p:set>
                                      <p:cBhvr>
                                        <p:cTn id="102" dur="1" fill="hold">
                                          <p:stCondLst>
                                            <p:cond delay="0"/>
                                          </p:stCondLst>
                                        </p:cTn>
                                        <p:tgtEl>
                                          <p:spTgt spid="20"/>
                                        </p:tgtEl>
                                        <p:attrNameLst>
                                          <p:attrName>style.visibility</p:attrName>
                                        </p:attrNameLst>
                                      </p:cBhvr>
                                      <p:to>
                                        <p:strVal val="visible"/>
                                      </p:to>
                                    </p:set>
                                    <p:animEffect transition="in" filter="wipe(left)">
                                      <p:cBhvr>
                                        <p:cTn id="103" dur="1500"/>
                                        <p:tgtEl>
                                          <p:spTgt spid="20"/>
                                        </p:tgtEl>
                                      </p:cBhvr>
                                    </p:animEffect>
                                  </p:childTnLst>
                                </p:cTn>
                              </p:par>
                            </p:childTnLst>
                          </p:cTn>
                        </p:par>
                      </p:childTnLst>
                    </p:cTn>
                  </p:par>
                  <p:par>
                    <p:cTn id="104" fill="hold">
                      <p:stCondLst>
                        <p:cond delay="indefinite"/>
                      </p:stCondLst>
                      <p:childTnLst>
                        <p:par>
                          <p:cTn id="105" fill="hold">
                            <p:stCondLst>
                              <p:cond delay="0"/>
                            </p:stCondLst>
                            <p:childTnLst>
                              <p:par>
                                <p:cTn id="106" presetID="22" presetClass="entr" presetSubtype="8" fill="hold" grpId="0" nodeType="clickEffect">
                                  <p:stCondLst>
                                    <p:cond delay="0"/>
                                  </p:stCondLst>
                                  <p:childTnLst>
                                    <p:set>
                                      <p:cBhvr>
                                        <p:cTn id="107" dur="1" fill="hold">
                                          <p:stCondLst>
                                            <p:cond delay="0"/>
                                          </p:stCondLst>
                                        </p:cTn>
                                        <p:tgtEl>
                                          <p:spTgt spid="34"/>
                                        </p:tgtEl>
                                        <p:attrNameLst>
                                          <p:attrName>style.visibility</p:attrName>
                                        </p:attrNameLst>
                                      </p:cBhvr>
                                      <p:to>
                                        <p:strVal val="visible"/>
                                      </p:to>
                                    </p:set>
                                    <p:animEffect transition="in" filter="wipe(left)">
                                      <p:cBhvr>
                                        <p:cTn id="108" dur="500"/>
                                        <p:tgtEl>
                                          <p:spTgt spid="34"/>
                                        </p:tgtEl>
                                      </p:cBhvr>
                                    </p:animEffect>
                                  </p:childTnLst>
                                </p:cTn>
                              </p:par>
                            </p:childTnLst>
                          </p:cTn>
                        </p:par>
                        <p:par>
                          <p:cTn id="109" fill="hold">
                            <p:stCondLst>
                              <p:cond delay="500"/>
                            </p:stCondLst>
                            <p:childTnLst>
                              <p:par>
                                <p:cTn id="110" presetID="22" presetClass="entr" presetSubtype="8" fill="hold" grpId="0" nodeType="afterEffect">
                                  <p:stCondLst>
                                    <p:cond delay="0"/>
                                  </p:stCondLst>
                                  <p:childTnLst>
                                    <p:set>
                                      <p:cBhvr>
                                        <p:cTn id="111" dur="1" fill="hold">
                                          <p:stCondLst>
                                            <p:cond delay="0"/>
                                          </p:stCondLst>
                                        </p:cTn>
                                        <p:tgtEl>
                                          <p:spTgt spid="39"/>
                                        </p:tgtEl>
                                        <p:attrNameLst>
                                          <p:attrName>style.visibility</p:attrName>
                                        </p:attrNameLst>
                                      </p:cBhvr>
                                      <p:to>
                                        <p:strVal val="visible"/>
                                      </p:to>
                                    </p:set>
                                    <p:animEffect transition="in" filter="wipe(left)">
                                      <p:cBhvr>
                                        <p:cTn id="112" dur="500"/>
                                        <p:tgtEl>
                                          <p:spTgt spid="39"/>
                                        </p:tgtEl>
                                      </p:cBhvr>
                                    </p:animEffect>
                                  </p:childTnLst>
                                </p:cTn>
                              </p:par>
                            </p:childTnLst>
                          </p:cTn>
                        </p:par>
                        <p:par>
                          <p:cTn id="113" fill="hold">
                            <p:stCondLst>
                              <p:cond delay="1000"/>
                            </p:stCondLst>
                            <p:childTnLst>
                              <p:par>
                                <p:cTn id="114" presetID="22" presetClass="entr" presetSubtype="8" fill="hold" grpId="0" nodeType="afterEffect">
                                  <p:stCondLst>
                                    <p:cond delay="0"/>
                                  </p:stCondLst>
                                  <p:childTnLst>
                                    <p:set>
                                      <p:cBhvr>
                                        <p:cTn id="115" dur="1" fill="hold">
                                          <p:stCondLst>
                                            <p:cond delay="0"/>
                                          </p:stCondLst>
                                        </p:cTn>
                                        <p:tgtEl>
                                          <p:spTgt spid="21"/>
                                        </p:tgtEl>
                                        <p:attrNameLst>
                                          <p:attrName>style.visibility</p:attrName>
                                        </p:attrNameLst>
                                      </p:cBhvr>
                                      <p:to>
                                        <p:strVal val="visible"/>
                                      </p:to>
                                    </p:set>
                                    <p:animEffect transition="in" filter="wipe(left)">
                                      <p:cBhvr>
                                        <p:cTn id="116" dur="1500"/>
                                        <p:tgtEl>
                                          <p:spTgt spid="21"/>
                                        </p:tgtEl>
                                      </p:cBhvr>
                                    </p:animEffect>
                                  </p:childTnLst>
                                </p:cTn>
                              </p:par>
                            </p:childTnLst>
                          </p:cTn>
                        </p:par>
                      </p:childTnLst>
                    </p:cTn>
                  </p:par>
                  <p:par>
                    <p:cTn id="117" fill="hold">
                      <p:stCondLst>
                        <p:cond delay="indefinite"/>
                      </p:stCondLst>
                      <p:childTnLst>
                        <p:par>
                          <p:cTn id="118" fill="hold">
                            <p:stCondLst>
                              <p:cond delay="0"/>
                            </p:stCondLst>
                            <p:childTnLst>
                              <p:par>
                                <p:cTn id="119" presetID="22" presetClass="exit" presetSubtype="8" fill="hold" grpId="1" nodeType="clickEffect">
                                  <p:stCondLst>
                                    <p:cond delay="0"/>
                                  </p:stCondLst>
                                  <p:childTnLst>
                                    <p:animEffect transition="out" filter="wipe(left)">
                                      <p:cBhvr>
                                        <p:cTn id="120" dur="500"/>
                                        <p:tgtEl>
                                          <p:spTgt spid="35"/>
                                        </p:tgtEl>
                                      </p:cBhvr>
                                    </p:animEffect>
                                    <p:set>
                                      <p:cBhvr>
                                        <p:cTn id="121" dur="1" fill="hold">
                                          <p:stCondLst>
                                            <p:cond delay="499"/>
                                          </p:stCondLst>
                                        </p:cTn>
                                        <p:tgtEl>
                                          <p:spTgt spid="35"/>
                                        </p:tgtEl>
                                        <p:attrNameLst>
                                          <p:attrName>style.visibility</p:attrName>
                                        </p:attrNameLst>
                                      </p:cBhvr>
                                      <p:to>
                                        <p:strVal val="hidden"/>
                                      </p:to>
                                    </p:set>
                                  </p:childTnLst>
                                </p:cTn>
                              </p:par>
                            </p:childTnLst>
                          </p:cTn>
                        </p:par>
                        <p:par>
                          <p:cTn id="122" fill="hold">
                            <p:stCondLst>
                              <p:cond delay="500"/>
                            </p:stCondLst>
                            <p:childTnLst>
                              <p:par>
                                <p:cTn id="123" presetID="22" presetClass="entr" presetSubtype="8" fill="hold" grpId="0" nodeType="afterEffect">
                                  <p:stCondLst>
                                    <p:cond delay="0"/>
                                  </p:stCondLst>
                                  <p:childTnLst>
                                    <p:set>
                                      <p:cBhvr>
                                        <p:cTn id="124" dur="1" fill="hold">
                                          <p:stCondLst>
                                            <p:cond delay="0"/>
                                          </p:stCondLst>
                                        </p:cTn>
                                        <p:tgtEl>
                                          <p:spTgt spid="31"/>
                                        </p:tgtEl>
                                        <p:attrNameLst>
                                          <p:attrName>style.visibility</p:attrName>
                                        </p:attrNameLst>
                                      </p:cBhvr>
                                      <p:to>
                                        <p:strVal val="visible"/>
                                      </p:to>
                                    </p:set>
                                    <p:animEffect transition="in" filter="wipe(left)">
                                      <p:cBhvr>
                                        <p:cTn id="125" dur="1000"/>
                                        <p:tgtEl>
                                          <p:spTgt spid="31"/>
                                        </p:tgtEl>
                                      </p:cBhvr>
                                    </p:animEffect>
                                  </p:childTnLst>
                                </p:cTn>
                              </p:par>
                            </p:childTnLst>
                          </p:cTn>
                        </p:par>
                      </p:childTnLst>
                    </p:cTn>
                  </p:par>
                  <p:par>
                    <p:cTn id="126" fill="hold">
                      <p:stCondLst>
                        <p:cond delay="indefinite"/>
                      </p:stCondLst>
                      <p:childTnLst>
                        <p:par>
                          <p:cTn id="127" fill="hold">
                            <p:stCondLst>
                              <p:cond delay="0"/>
                            </p:stCondLst>
                            <p:childTnLst>
                              <p:par>
                                <p:cTn id="128" presetID="22" presetClass="entr" presetSubtype="8" fill="hold" grpId="0" nodeType="clickEffect">
                                  <p:stCondLst>
                                    <p:cond delay="0"/>
                                  </p:stCondLst>
                                  <p:childTnLst>
                                    <p:set>
                                      <p:cBhvr>
                                        <p:cTn id="129" dur="1" fill="hold">
                                          <p:stCondLst>
                                            <p:cond delay="0"/>
                                          </p:stCondLst>
                                        </p:cTn>
                                        <p:tgtEl>
                                          <p:spTgt spid="25"/>
                                        </p:tgtEl>
                                        <p:attrNameLst>
                                          <p:attrName>style.visibility</p:attrName>
                                        </p:attrNameLst>
                                      </p:cBhvr>
                                      <p:to>
                                        <p:strVal val="visible"/>
                                      </p:to>
                                    </p:set>
                                    <p:animEffect transition="in" filter="wipe(left)">
                                      <p:cBhvr>
                                        <p:cTn id="130" dur="500"/>
                                        <p:tgtEl>
                                          <p:spTgt spid="25"/>
                                        </p:tgtEl>
                                      </p:cBhvr>
                                    </p:animEffect>
                                  </p:childTnLst>
                                </p:cTn>
                              </p:par>
                            </p:childTnLst>
                          </p:cTn>
                        </p:par>
                        <p:par>
                          <p:cTn id="131" fill="hold">
                            <p:stCondLst>
                              <p:cond delay="500"/>
                            </p:stCondLst>
                            <p:childTnLst>
                              <p:par>
                                <p:cTn id="132" presetID="22" presetClass="entr" presetSubtype="1" fill="hold" nodeType="afterEffect">
                                  <p:stCondLst>
                                    <p:cond delay="0"/>
                                  </p:stCondLst>
                                  <p:childTnLst>
                                    <p:set>
                                      <p:cBhvr>
                                        <p:cTn id="133" dur="1" fill="hold">
                                          <p:stCondLst>
                                            <p:cond delay="0"/>
                                          </p:stCondLst>
                                        </p:cTn>
                                        <p:tgtEl>
                                          <p:spTgt spid="5"/>
                                        </p:tgtEl>
                                        <p:attrNameLst>
                                          <p:attrName>style.visibility</p:attrName>
                                        </p:attrNameLst>
                                      </p:cBhvr>
                                      <p:to>
                                        <p:strVal val="visible"/>
                                      </p:to>
                                    </p:set>
                                    <p:animEffect transition="in" filter="wipe(up)">
                                      <p:cBhvr>
                                        <p:cTn id="134" dur="500"/>
                                        <p:tgtEl>
                                          <p:spTgt spid="5"/>
                                        </p:tgtEl>
                                      </p:cBhvr>
                                    </p:animEffect>
                                  </p:childTnLst>
                                </p:cTn>
                              </p:par>
                            </p:childTnLst>
                          </p:cTn>
                        </p:par>
                        <p:par>
                          <p:cTn id="135" fill="hold">
                            <p:stCondLst>
                              <p:cond delay="1000"/>
                            </p:stCondLst>
                            <p:childTnLst>
                              <p:par>
                                <p:cTn id="136" presetID="22" presetClass="entr" presetSubtype="1" fill="hold" grpId="0" nodeType="afterEffect">
                                  <p:stCondLst>
                                    <p:cond delay="0"/>
                                  </p:stCondLst>
                                  <p:childTnLst>
                                    <p:set>
                                      <p:cBhvr>
                                        <p:cTn id="137" dur="1" fill="hold">
                                          <p:stCondLst>
                                            <p:cond delay="0"/>
                                          </p:stCondLst>
                                        </p:cTn>
                                        <p:tgtEl>
                                          <p:spTgt spid="29"/>
                                        </p:tgtEl>
                                        <p:attrNameLst>
                                          <p:attrName>style.visibility</p:attrName>
                                        </p:attrNameLst>
                                      </p:cBhvr>
                                      <p:to>
                                        <p:strVal val="visible"/>
                                      </p:to>
                                    </p:set>
                                    <p:animEffect transition="in" filter="wipe(up)">
                                      <p:cBhvr>
                                        <p:cTn id="138" dur="1500"/>
                                        <p:tgtEl>
                                          <p:spTgt spid="29"/>
                                        </p:tgtEl>
                                      </p:cBhvr>
                                    </p:animEffect>
                                  </p:childTnLst>
                                </p:cTn>
                              </p:par>
                            </p:childTnLst>
                          </p:cTn>
                        </p:par>
                        <p:par>
                          <p:cTn id="139" fill="hold">
                            <p:stCondLst>
                              <p:cond delay="2500"/>
                            </p:stCondLst>
                            <p:childTnLst>
                              <p:par>
                                <p:cTn id="140" presetID="22" presetClass="entr" presetSubtype="1" fill="hold" nodeType="afterEffect">
                                  <p:stCondLst>
                                    <p:cond delay="0"/>
                                  </p:stCondLst>
                                  <p:childTnLst>
                                    <p:set>
                                      <p:cBhvr>
                                        <p:cTn id="141" dur="1" fill="hold">
                                          <p:stCondLst>
                                            <p:cond delay="0"/>
                                          </p:stCondLst>
                                        </p:cTn>
                                        <p:tgtEl>
                                          <p:spTgt spid="9"/>
                                        </p:tgtEl>
                                        <p:attrNameLst>
                                          <p:attrName>style.visibility</p:attrName>
                                        </p:attrNameLst>
                                      </p:cBhvr>
                                      <p:to>
                                        <p:strVal val="visible"/>
                                      </p:to>
                                    </p:set>
                                    <p:animEffect transition="in" filter="wipe(up)">
                                      <p:cBhvr>
                                        <p:cTn id="142" dur="500"/>
                                        <p:tgtEl>
                                          <p:spTgt spid="9"/>
                                        </p:tgtEl>
                                      </p:cBhvr>
                                    </p:animEffect>
                                  </p:childTnLst>
                                </p:cTn>
                              </p:par>
                            </p:childTnLst>
                          </p:cTn>
                        </p:par>
                        <p:par>
                          <p:cTn id="143" fill="hold">
                            <p:stCondLst>
                              <p:cond delay="3000"/>
                            </p:stCondLst>
                            <p:childTnLst>
                              <p:par>
                                <p:cTn id="144" presetID="22" presetClass="entr" presetSubtype="1" fill="hold" grpId="0" nodeType="afterEffect">
                                  <p:stCondLst>
                                    <p:cond delay="0"/>
                                  </p:stCondLst>
                                  <p:childTnLst>
                                    <p:set>
                                      <p:cBhvr>
                                        <p:cTn id="145" dur="1" fill="hold">
                                          <p:stCondLst>
                                            <p:cond delay="0"/>
                                          </p:stCondLst>
                                        </p:cTn>
                                        <p:tgtEl>
                                          <p:spTgt spid="30"/>
                                        </p:tgtEl>
                                        <p:attrNameLst>
                                          <p:attrName>style.visibility</p:attrName>
                                        </p:attrNameLst>
                                      </p:cBhvr>
                                      <p:to>
                                        <p:strVal val="visible"/>
                                      </p:to>
                                    </p:set>
                                    <p:animEffect transition="in" filter="wipe(up)">
                                      <p:cBhvr>
                                        <p:cTn id="146" dur="1500"/>
                                        <p:tgtEl>
                                          <p:spTgt spid="30"/>
                                        </p:tgtEl>
                                      </p:cBhvr>
                                    </p:animEffect>
                                  </p:childTnLst>
                                </p:cTn>
                              </p:par>
                            </p:childTnLst>
                          </p:cTn>
                        </p:par>
                      </p:childTnLst>
                    </p:cTn>
                  </p:par>
                  <p:par>
                    <p:cTn id="147" fill="hold">
                      <p:stCondLst>
                        <p:cond delay="indefinite"/>
                      </p:stCondLst>
                      <p:childTnLst>
                        <p:par>
                          <p:cTn id="148" fill="hold">
                            <p:stCondLst>
                              <p:cond delay="0"/>
                            </p:stCondLst>
                            <p:childTnLst>
                              <p:par>
                                <p:cTn id="149" presetID="22" presetClass="exit" presetSubtype="8" fill="hold" grpId="1" nodeType="clickEffect">
                                  <p:stCondLst>
                                    <p:cond delay="0"/>
                                  </p:stCondLst>
                                  <p:childTnLst>
                                    <p:animEffect transition="out" filter="wipe(left)">
                                      <p:cBhvr>
                                        <p:cTn id="150" dur="500"/>
                                        <p:tgtEl>
                                          <p:spTgt spid="31"/>
                                        </p:tgtEl>
                                      </p:cBhvr>
                                    </p:animEffect>
                                    <p:set>
                                      <p:cBhvr>
                                        <p:cTn id="151" dur="1" fill="hold">
                                          <p:stCondLst>
                                            <p:cond delay="499"/>
                                          </p:stCondLst>
                                        </p:cTn>
                                        <p:tgtEl>
                                          <p:spTgt spid="31"/>
                                        </p:tgtEl>
                                        <p:attrNameLst>
                                          <p:attrName>style.visibility</p:attrName>
                                        </p:attrNameLst>
                                      </p:cBhvr>
                                      <p:to>
                                        <p:strVal val="hidden"/>
                                      </p:to>
                                    </p:set>
                                  </p:childTnLst>
                                </p:cTn>
                              </p:par>
                            </p:childTnLst>
                          </p:cTn>
                        </p:par>
                        <p:par>
                          <p:cTn id="152" fill="hold">
                            <p:stCondLst>
                              <p:cond delay="500"/>
                            </p:stCondLst>
                            <p:childTnLst>
                              <p:par>
                                <p:cTn id="153" presetID="22" presetClass="entr" presetSubtype="8" fill="hold" grpId="0" nodeType="afterEffect">
                                  <p:stCondLst>
                                    <p:cond delay="0"/>
                                  </p:stCondLst>
                                  <p:childTnLst>
                                    <p:set>
                                      <p:cBhvr>
                                        <p:cTn id="154" dur="1" fill="hold">
                                          <p:stCondLst>
                                            <p:cond delay="0"/>
                                          </p:stCondLst>
                                        </p:cTn>
                                        <p:tgtEl>
                                          <p:spTgt spid="32"/>
                                        </p:tgtEl>
                                        <p:attrNameLst>
                                          <p:attrName>style.visibility</p:attrName>
                                        </p:attrNameLst>
                                      </p:cBhvr>
                                      <p:to>
                                        <p:strVal val="visible"/>
                                      </p:to>
                                    </p:set>
                                    <p:animEffect transition="in" filter="wipe(left)">
                                      <p:cBhvr>
                                        <p:cTn id="155" dur="500"/>
                                        <p:tgtEl>
                                          <p:spTgt spid="32"/>
                                        </p:tgtEl>
                                      </p:cBhvr>
                                    </p:animEffect>
                                  </p:childTnLst>
                                </p:cTn>
                              </p:par>
                            </p:childTnLst>
                          </p:cTn>
                        </p:par>
                        <p:par>
                          <p:cTn id="156" fill="hold">
                            <p:stCondLst>
                              <p:cond delay="1000"/>
                            </p:stCondLst>
                            <p:childTnLst>
                              <p:par>
                                <p:cTn id="157" presetID="22" presetClass="entr" presetSubtype="8" fill="hold" grpId="0" nodeType="afterEffect">
                                  <p:stCondLst>
                                    <p:cond delay="0"/>
                                  </p:stCondLst>
                                  <p:childTnLst>
                                    <p:set>
                                      <p:cBhvr>
                                        <p:cTn id="158" dur="1" fill="hold">
                                          <p:stCondLst>
                                            <p:cond delay="0"/>
                                          </p:stCondLst>
                                        </p:cTn>
                                        <p:tgtEl>
                                          <p:spTgt spid="28"/>
                                        </p:tgtEl>
                                        <p:attrNameLst>
                                          <p:attrName>style.visibility</p:attrName>
                                        </p:attrNameLst>
                                      </p:cBhvr>
                                      <p:to>
                                        <p:strVal val="visible"/>
                                      </p:to>
                                    </p:set>
                                    <p:animEffect transition="in" filter="wipe(left)">
                                      <p:cBhvr>
                                        <p:cTn id="159" dur="1000"/>
                                        <p:tgtEl>
                                          <p:spTgt spid="28"/>
                                        </p:tgtEl>
                                      </p:cBhvr>
                                    </p:animEffect>
                                  </p:childTnLst>
                                </p:cTn>
                              </p:par>
                            </p:childTnLst>
                          </p:cTn>
                        </p:par>
                        <p:par>
                          <p:cTn id="160" fill="hold">
                            <p:stCondLst>
                              <p:cond delay="2000"/>
                            </p:stCondLst>
                            <p:childTnLst>
                              <p:par>
                                <p:cTn id="161" presetID="22" presetClass="entr" presetSubtype="8" fill="hold" nodeType="afterEffect">
                                  <p:stCondLst>
                                    <p:cond delay="0"/>
                                  </p:stCondLst>
                                  <p:childTnLst>
                                    <p:set>
                                      <p:cBhvr>
                                        <p:cTn id="162" dur="1" fill="hold">
                                          <p:stCondLst>
                                            <p:cond delay="0"/>
                                          </p:stCondLst>
                                        </p:cTn>
                                        <p:tgtEl>
                                          <p:spTgt spid="24"/>
                                        </p:tgtEl>
                                        <p:attrNameLst>
                                          <p:attrName>style.visibility</p:attrName>
                                        </p:attrNameLst>
                                      </p:cBhvr>
                                      <p:to>
                                        <p:strVal val="visible"/>
                                      </p:to>
                                    </p:set>
                                    <p:animEffect transition="in" filter="wipe(left)">
                                      <p:cBhvr>
                                        <p:cTn id="163" dur="1000"/>
                                        <p:tgtEl>
                                          <p:spTgt spid="2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uiExpand="1" build="p"/>
      <p:bldP spid="17" grpId="0"/>
      <p:bldP spid="19" grpId="0" uiExpand="1" build="p"/>
      <p:bldP spid="27" grpId="0" animBg="1"/>
      <p:bldP spid="27" grpId="1" animBg="1"/>
      <p:bldP spid="10" grpId="0"/>
      <p:bldP spid="25" grpId="0"/>
      <p:bldP spid="26" grpId="0" animBg="1"/>
      <p:bldP spid="28" grpId="0" animBg="1"/>
      <p:bldP spid="29" grpId="0" animBg="1"/>
      <p:bldP spid="30" grpId="0" animBg="1"/>
      <p:bldP spid="31" grpId="0" animBg="1"/>
      <p:bldP spid="31" grpId="1" animBg="1"/>
      <p:bldP spid="32" grpId="0"/>
      <p:bldP spid="20" grpId="0" animBg="1"/>
      <p:bldP spid="21" grpId="0" animBg="1"/>
      <p:bldP spid="33" grpId="0" animBg="1"/>
      <p:bldP spid="34" grpId="0" animBg="1"/>
      <p:bldP spid="35" grpId="0" animBg="1"/>
      <p:bldP spid="35" grpId="1" animBg="1"/>
      <p:bldP spid="37" grpId="0"/>
      <p:bldP spid="38" grpId="0" animBg="1"/>
      <p:bldP spid="39" grpId="0" animBg="1"/>
      <p:bldP spid="40" grpId="0" animBg="1"/>
    </p:bldLst>
  </p:timing>
</p:sld>
</file>

<file path=ppt/slides/slide68.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08C76DEA-F650-51AB-7EE7-9B3064808EC0}"/>
              </a:ext>
            </a:extLst>
          </p:cNvPr>
          <p:cNvSpPr>
            <a:spLocks noGrp="1"/>
          </p:cNvSpPr>
          <p:nvPr>
            <p:ph type="title"/>
          </p:nvPr>
        </p:nvSpPr>
        <p:spPr/>
        <p:txBody>
          <a:bodyPr/>
          <a:lstStyle/>
          <a:p>
            <a:r>
              <a:rPr lang="en-GB" dirty="0"/>
              <a:t>Order of Operations (4)</a:t>
            </a:r>
          </a:p>
        </p:txBody>
      </p:sp>
      <p:sp>
        <p:nvSpPr>
          <p:cNvPr id="6" name="SQL">
            <a:extLst>
              <a:ext uri="{FF2B5EF4-FFF2-40B4-BE49-F238E27FC236}">
                <a16:creationId xmlns:a16="http://schemas.microsoft.com/office/drawing/2014/main" id="{C460184D-D803-F499-E82E-972FB39F9288}"/>
              </a:ext>
            </a:extLst>
          </p:cNvPr>
          <p:cNvSpPr>
            <a:spLocks noChangeArrowheads="1"/>
          </p:cNvSpPr>
          <p:nvPr/>
        </p:nvSpPr>
        <p:spPr bwMode="auto">
          <a:xfrm>
            <a:off x="619125" y="1370838"/>
            <a:ext cx="3288080" cy="132343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name, age</a:t>
            </a:r>
          </a:p>
          <a:p>
            <a:pPr lvl="0" eaLnBrk="0" fontAlgn="base" hangingPunct="0">
              <a:spcBef>
                <a:spcPct val="0"/>
              </a:spcBef>
              <a:spcAft>
                <a:spcPct val="0"/>
              </a:spcAft>
            </a:pPr>
            <a:r>
              <a:rPr lang="en-US" altLang="en-US" sz="2000" dirty="0">
                <a:solidFill>
                  <a:srgbClr val="B2B2B2"/>
                </a:solidFill>
                <a:latin typeface="Consolas" panose="020B0609020204030204" pitchFamily="49" charset="0"/>
              </a:rPr>
              <a:t>2 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FROM</a:t>
            </a:r>
            <a:r>
              <a:rPr lang="en-US" altLang="en-US" sz="2000" dirty="0">
                <a:solidFill>
                  <a:srgbClr val="000000"/>
                </a:solidFill>
                <a:latin typeface="Consolas" panose="020B0609020204030204" pitchFamily="49" charset="0"/>
              </a:rPr>
              <a:t> Pet</a:t>
            </a:r>
          </a:p>
          <a:p>
            <a:pPr eaLnBrk="0" fontAlgn="base" hangingPunct="0">
              <a:spcBef>
                <a:spcPct val="0"/>
              </a:spcBef>
              <a:spcAft>
                <a:spcPct val="0"/>
              </a:spcAft>
            </a:pPr>
            <a:r>
              <a:rPr lang="en-US" altLang="en-US" sz="2000" dirty="0">
                <a:solidFill>
                  <a:srgbClr val="B2B2B2"/>
                </a:solidFill>
                <a:latin typeface="Consolas" panose="020B0609020204030204" pitchFamily="49" charset="0"/>
              </a:rPr>
              <a:t>3 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WHERE</a:t>
            </a:r>
            <a:r>
              <a:rPr lang="en-US" altLang="en-US" sz="2000" dirty="0">
                <a:solidFill>
                  <a:srgbClr val="000000"/>
                </a:solidFill>
                <a:latin typeface="Consolas" panose="020B0609020204030204" pitchFamily="49" charset="0"/>
              </a:rPr>
              <a:t> type = "</a:t>
            </a:r>
            <a:r>
              <a:rPr lang="en-US" altLang="en-US" sz="2000" dirty="0">
                <a:solidFill>
                  <a:srgbClr val="183691"/>
                </a:solidFill>
                <a:latin typeface="Consolas" panose="020B0609020204030204" pitchFamily="49" charset="0"/>
              </a:rPr>
              <a:t>Cat</a:t>
            </a:r>
            <a:r>
              <a:rPr lang="en-US" altLang="en-US" sz="2000" dirty="0">
                <a:solidFill>
                  <a:srgbClr val="000000"/>
                </a:solidFill>
                <a:latin typeface="Consolas" panose="020B0609020204030204" pitchFamily="49" charset="0"/>
              </a:rPr>
              <a:t>"</a:t>
            </a:r>
          </a:p>
          <a:p>
            <a:pPr eaLnBrk="0" fontAlgn="base" hangingPunct="0">
              <a:spcBef>
                <a:spcPct val="0"/>
              </a:spcBef>
              <a:spcAft>
                <a:spcPct val="0"/>
              </a:spcAft>
            </a:pPr>
            <a:r>
              <a:rPr lang="en-US" altLang="en-US" sz="2000" dirty="0">
                <a:solidFill>
                  <a:srgbClr val="B2B2B2"/>
                </a:solidFill>
                <a:latin typeface="Consolas" panose="020B0609020204030204" pitchFamily="49" charset="0"/>
              </a:rPr>
              <a:t>4</a:t>
            </a:r>
            <a:r>
              <a:rPr kumimoji="0" lang="en-US" altLang="en-US" sz="2000" b="0" i="0" u="none" strike="noStrike" cap="none" normalizeH="0" baseline="0" dirty="0">
                <a:ln>
                  <a:noFill/>
                </a:ln>
                <a:solidFill>
                  <a:srgbClr val="B2B2B2"/>
                </a:solidFill>
                <a:effectLst/>
                <a:latin typeface="Consolas" panose="020B0609020204030204" pitchFamily="49" charset="0"/>
              </a:rPr>
              <a:t> </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A71D5D"/>
                </a:solidFill>
                <a:latin typeface="Consolas" panose="020B0609020204030204" pitchFamily="49" charset="0"/>
              </a:rPr>
              <a:t>AND</a:t>
            </a:r>
            <a:r>
              <a:rPr lang="en-US" altLang="en-US" sz="2000" dirty="0">
                <a:solidFill>
                  <a:srgbClr val="000000"/>
                </a:solidFill>
                <a:latin typeface="Consolas" panose="020B0609020204030204" pitchFamily="49" charset="0"/>
              </a:rPr>
              <a:t> age &lt; </a:t>
            </a:r>
            <a:r>
              <a:rPr lang="en-US" altLang="en-US" sz="2000" dirty="0">
                <a:solidFill>
                  <a:srgbClr val="0086B3"/>
                </a:solidFill>
                <a:latin typeface="Consolas" panose="020B0609020204030204" pitchFamily="49" charset="0"/>
              </a:rPr>
              <a:t>10</a:t>
            </a:r>
            <a:r>
              <a:rPr kumimoji="0" lang="en-US" altLang="en-US" sz="2000" b="0" i="0" u="none" strike="noStrike" cap="none" normalizeH="0" baseline="0" dirty="0">
                <a:ln>
                  <a:noFill/>
                </a:ln>
                <a:solidFill>
                  <a:srgbClr val="000000"/>
                </a:solidFill>
                <a:effectLst/>
                <a:latin typeface="Consolas" panose="020B0609020204030204" pitchFamily="49" charset="0"/>
              </a:rPr>
              <a:t>;</a:t>
            </a:r>
            <a:endParaRPr kumimoji="0" lang="en-US" altLang="en-US" sz="2000" b="0" i="0" u="none" strike="noStrike" cap="none" normalizeH="0" baseline="0" dirty="0">
              <a:ln>
                <a:noFill/>
              </a:ln>
              <a:solidFill>
                <a:schemeClr val="tx1"/>
              </a:solidFill>
              <a:effectLst/>
              <a:latin typeface="Consolas" panose="020B0609020204030204" pitchFamily="49" charset="0"/>
            </a:endParaRPr>
          </a:p>
        </p:txBody>
      </p:sp>
      <p:sp>
        <p:nvSpPr>
          <p:cNvPr id="17" name="Pet">
            <a:extLst>
              <a:ext uri="{FF2B5EF4-FFF2-40B4-BE49-F238E27FC236}">
                <a16:creationId xmlns:a16="http://schemas.microsoft.com/office/drawing/2014/main" id="{37697A85-FE4A-5F49-87D3-DF60452AD532}"/>
              </a:ext>
            </a:extLst>
          </p:cNvPr>
          <p:cNvSpPr txBox="1"/>
          <p:nvPr/>
        </p:nvSpPr>
        <p:spPr>
          <a:xfrm>
            <a:off x="2650073" y="3091527"/>
            <a:ext cx="1771650" cy="369332"/>
          </a:xfrm>
          <a:prstGeom prst="rect">
            <a:avLst/>
          </a:prstGeom>
          <a:noFill/>
        </p:spPr>
        <p:txBody>
          <a:bodyPr wrap="square" rtlCol="0">
            <a:spAutoFit/>
          </a:bodyPr>
          <a:lstStyle/>
          <a:p>
            <a:r>
              <a:rPr lang="en-GB" b="1" dirty="0"/>
              <a:t>Table: Pet</a:t>
            </a:r>
          </a:p>
        </p:txBody>
      </p:sp>
      <p:sp>
        <p:nvSpPr>
          <p:cNvPr id="19" name="Order">
            <a:extLst>
              <a:ext uri="{FF2B5EF4-FFF2-40B4-BE49-F238E27FC236}">
                <a16:creationId xmlns:a16="http://schemas.microsoft.com/office/drawing/2014/main" id="{39027E70-266E-C921-B96A-180149336170}"/>
              </a:ext>
            </a:extLst>
          </p:cNvPr>
          <p:cNvSpPr txBox="1"/>
          <p:nvPr/>
        </p:nvSpPr>
        <p:spPr>
          <a:xfrm>
            <a:off x="7417818" y="494976"/>
            <a:ext cx="2590417" cy="1815882"/>
          </a:xfrm>
          <a:prstGeom prst="rect">
            <a:avLst/>
          </a:prstGeom>
          <a:noFill/>
        </p:spPr>
        <p:txBody>
          <a:bodyPr wrap="square" rtlCol="0">
            <a:spAutoFit/>
          </a:bodyPr>
          <a:lstStyle/>
          <a:p>
            <a:r>
              <a:rPr lang="en-GB" sz="2800" b="1" dirty="0">
                <a:solidFill>
                  <a:srgbClr val="7030A0"/>
                </a:solidFill>
              </a:rPr>
              <a:t>Order</a:t>
            </a:r>
            <a:r>
              <a:rPr lang="en-GB" sz="2800" dirty="0">
                <a:solidFill>
                  <a:srgbClr val="7030A0"/>
                </a:solidFill>
              </a:rPr>
              <a:t>:</a:t>
            </a:r>
          </a:p>
          <a:p>
            <a:pPr lvl="1"/>
            <a:r>
              <a:rPr lang="en-GB" sz="2800" dirty="0">
                <a:solidFill>
                  <a:srgbClr val="7030A0"/>
                </a:solidFill>
              </a:rPr>
              <a:t>1.   </a:t>
            </a:r>
          </a:p>
          <a:p>
            <a:pPr lvl="1"/>
            <a:r>
              <a:rPr lang="en-GB" sz="2800" dirty="0">
                <a:solidFill>
                  <a:srgbClr val="7030A0"/>
                </a:solidFill>
              </a:rPr>
              <a:t>2.   </a:t>
            </a:r>
          </a:p>
          <a:p>
            <a:pPr lvl="1"/>
            <a:r>
              <a:rPr lang="en-GB" sz="2800" dirty="0">
                <a:solidFill>
                  <a:srgbClr val="7030A0"/>
                </a:solidFill>
              </a:rPr>
              <a:t>3.   </a:t>
            </a:r>
          </a:p>
        </p:txBody>
      </p:sp>
      <p:graphicFrame>
        <p:nvGraphicFramePr>
          <p:cNvPr id="22" name="Pet - Table">
            <a:extLst>
              <a:ext uri="{FF2B5EF4-FFF2-40B4-BE49-F238E27FC236}">
                <a16:creationId xmlns:a16="http://schemas.microsoft.com/office/drawing/2014/main" id="{E1C47C29-B1FD-7991-E626-2F12DC1AFFDE}"/>
              </a:ext>
            </a:extLst>
          </p:cNvPr>
          <p:cNvGraphicFramePr>
            <a:graphicFrameLocks noGrp="1"/>
          </p:cNvGraphicFramePr>
          <p:nvPr/>
        </p:nvGraphicFramePr>
        <p:xfrm>
          <a:off x="2735796" y="3412595"/>
          <a:ext cx="2042287"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a:solidFill>
                            <a:schemeClr val="tx1"/>
                          </a:solidFill>
                          <a:effectLst/>
                        </a:rPr>
                        <a:t>Pepper</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16</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7</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a:solidFill>
                            <a:schemeClr val="tx1"/>
                          </a:solidFill>
                          <a:effectLst/>
                        </a:rPr>
                        <a:t>Micky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a:solidFill>
                            <a:schemeClr val="tx1"/>
                          </a:solidFill>
                          <a:effectLst/>
                        </a:rPr>
                        <a:t>Minnie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Cat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9</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a:solidFill>
                            <a:schemeClr val="tx1"/>
                          </a:solidFill>
                          <a:effectLst/>
                        </a:rPr>
                        <a:t>Bonzo</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Dog</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6</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Rabbit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3</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graphicFrame>
        <p:nvGraphicFramePr>
          <p:cNvPr id="23" name="Temp - Table">
            <a:extLst>
              <a:ext uri="{FF2B5EF4-FFF2-40B4-BE49-F238E27FC236}">
                <a16:creationId xmlns:a16="http://schemas.microsoft.com/office/drawing/2014/main" id="{57FE39BF-DC05-E516-87E6-26364C7BBE24}"/>
              </a:ext>
            </a:extLst>
          </p:cNvPr>
          <p:cNvGraphicFramePr>
            <a:graphicFrameLocks noGrp="1"/>
          </p:cNvGraphicFramePr>
          <p:nvPr/>
        </p:nvGraphicFramePr>
        <p:xfrm>
          <a:off x="5340290" y="3412595"/>
          <a:ext cx="2042287"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a:solidFill>
                            <a:schemeClr val="tx1"/>
                          </a:solidFill>
                          <a:effectLst/>
                        </a:rPr>
                        <a:t>Pepper</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16</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7</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a:solidFill>
                            <a:schemeClr val="tx1"/>
                          </a:solidFill>
                          <a:effectLst/>
                        </a:rPr>
                        <a:t>Micky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a:solidFill>
                            <a:schemeClr val="tx1"/>
                          </a:solidFill>
                          <a:effectLst/>
                        </a:rPr>
                        <a:t>Minnie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Cat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9</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a:solidFill>
                            <a:schemeClr val="tx1"/>
                          </a:solidFill>
                          <a:effectLst/>
                        </a:rPr>
                        <a:t>Bonzo</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Dog</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6</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Rabbit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3</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graphicFrame>
        <p:nvGraphicFramePr>
          <p:cNvPr id="24" name="Output - Table">
            <a:extLst>
              <a:ext uri="{FF2B5EF4-FFF2-40B4-BE49-F238E27FC236}">
                <a16:creationId xmlns:a16="http://schemas.microsoft.com/office/drawing/2014/main" id="{31F6E6FA-42D3-E5C9-36B8-B7C6109BDE21}"/>
              </a:ext>
            </a:extLst>
          </p:cNvPr>
          <p:cNvGraphicFramePr>
            <a:graphicFrameLocks noGrp="1"/>
          </p:cNvGraphicFramePr>
          <p:nvPr/>
        </p:nvGraphicFramePr>
        <p:xfrm>
          <a:off x="7925112" y="3412595"/>
          <a:ext cx="1254888" cy="9715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442405">
                  <a:extLst>
                    <a:ext uri="{9D8B030D-6E8A-4147-A177-3AD203B41FA5}">
                      <a16:colId xmlns:a16="http://schemas.microsoft.com/office/drawing/2014/main" val="3258369125"/>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Calibri" panose="020F0502020204030204" pitchFamily="34" charset="0"/>
                          <a:cs typeface="Calibri" panose="020F0502020204030204" pitchFamily="34" charset="0"/>
                        </a:rPr>
                        <a:t>7</a:t>
                      </a: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Calibri" panose="020F0502020204030204" pitchFamily="34" charset="0"/>
                          <a:cs typeface="Calibri" panose="020F0502020204030204" pitchFamily="34" charset="0"/>
                        </a:rPr>
                        <a:t>9</a:t>
                      </a:r>
                    </a:p>
                  </a:txBody>
                  <a:tcPr marL="9525" marR="9525" marT="9525" marB="9525" anchor="ctr"/>
                </a:tc>
                <a:extLst>
                  <a:ext uri="{0D108BD9-81ED-4DB2-BD59-A6C34878D82A}">
                    <a16:rowId xmlns:a16="http://schemas.microsoft.com/office/drawing/2014/main" val="812093042"/>
                  </a:ext>
                </a:extLst>
              </a:tr>
            </a:tbl>
          </a:graphicData>
        </a:graphic>
      </p:graphicFrame>
      <p:sp>
        <p:nvSpPr>
          <p:cNvPr id="26" name="Temp - Arrow">
            <a:extLst>
              <a:ext uri="{FF2B5EF4-FFF2-40B4-BE49-F238E27FC236}">
                <a16:creationId xmlns:a16="http://schemas.microsoft.com/office/drawing/2014/main" id="{0812AA0D-71D1-9B9D-4AED-E09E855A4185}"/>
              </a:ext>
            </a:extLst>
          </p:cNvPr>
          <p:cNvSpPr/>
          <p:nvPr/>
        </p:nvSpPr>
        <p:spPr>
          <a:xfrm>
            <a:off x="4821052" y="4748123"/>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8" name="Output - Arrow">
            <a:extLst>
              <a:ext uri="{FF2B5EF4-FFF2-40B4-BE49-F238E27FC236}">
                <a16:creationId xmlns:a16="http://schemas.microsoft.com/office/drawing/2014/main" id="{27833E17-04CE-E6AD-804B-EB51B8F41239}"/>
              </a:ext>
            </a:extLst>
          </p:cNvPr>
          <p:cNvSpPr/>
          <p:nvPr/>
        </p:nvSpPr>
        <p:spPr>
          <a:xfrm>
            <a:off x="7418531" y="3928275"/>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9" name="Name - Column">
            <a:extLst>
              <a:ext uri="{FF2B5EF4-FFF2-40B4-BE49-F238E27FC236}">
                <a16:creationId xmlns:a16="http://schemas.microsoft.com/office/drawing/2014/main" id="{9CFD6623-90F9-8CA0-585A-959ADF79ADE1}"/>
              </a:ext>
            </a:extLst>
          </p:cNvPr>
          <p:cNvSpPr/>
          <p:nvPr/>
        </p:nvSpPr>
        <p:spPr>
          <a:xfrm>
            <a:off x="5333994" y="3349977"/>
            <a:ext cx="792000" cy="3060332"/>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0" name="Age - Column">
            <a:extLst>
              <a:ext uri="{FF2B5EF4-FFF2-40B4-BE49-F238E27FC236}">
                <a16:creationId xmlns:a16="http://schemas.microsoft.com/office/drawing/2014/main" id="{F8908677-B9D0-5945-93E8-1112E85882A9}"/>
              </a:ext>
            </a:extLst>
          </p:cNvPr>
          <p:cNvSpPr/>
          <p:nvPr/>
        </p:nvSpPr>
        <p:spPr>
          <a:xfrm>
            <a:off x="6936326" y="3349977"/>
            <a:ext cx="432000" cy="3060332"/>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0" name="Snowy - Row">
            <a:extLst>
              <a:ext uri="{FF2B5EF4-FFF2-40B4-BE49-F238E27FC236}">
                <a16:creationId xmlns:a16="http://schemas.microsoft.com/office/drawing/2014/main" id="{CE0478C3-5F85-4F8D-AAFC-F12F58437907}"/>
              </a:ext>
            </a:extLst>
          </p:cNvPr>
          <p:cNvSpPr/>
          <p:nvPr/>
        </p:nvSpPr>
        <p:spPr>
          <a:xfrm>
            <a:off x="5289231" y="4382898"/>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1" name="Kitty - Row">
            <a:extLst>
              <a:ext uri="{FF2B5EF4-FFF2-40B4-BE49-F238E27FC236}">
                <a16:creationId xmlns:a16="http://schemas.microsoft.com/office/drawing/2014/main" id="{BE13FF1D-AE89-48DE-9545-FC614FA1848F}"/>
              </a:ext>
            </a:extLst>
          </p:cNvPr>
          <p:cNvSpPr/>
          <p:nvPr/>
        </p:nvSpPr>
        <p:spPr>
          <a:xfrm>
            <a:off x="5289230" y="5346528"/>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3" name="Snowy - Yellow">
            <a:extLst>
              <a:ext uri="{FF2B5EF4-FFF2-40B4-BE49-F238E27FC236}">
                <a16:creationId xmlns:a16="http://schemas.microsoft.com/office/drawing/2014/main" id="{F2A2FD4D-D5A1-4882-9270-445588B3BF14}"/>
              </a:ext>
            </a:extLst>
          </p:cNvPr>
          <p:cNvSpPr/>
          <p:nvPr/>
        </p:nvSpPr>
        <p:spPr>
          <a:xfrm>
            <a:off x="6135722" y="4379964"/>
            <a:ext cx="792000"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4" name="Kitty - Yellow">
            <a:extLst>
              <a:ext uri="{FF2B5EF4-FFF2-40B4-BE49-F238E27FC236}">
                <a16:creationId xmlns:a16="http://schemas.microsoft.com/office/drawing/2014/main" id="{02546B7F-2DFC-4F0E-BC48-161A956E6261}"/>
              </a:ext>
            </a:extLst>
          </p:cNvPr>
          <p:cNvSpPr/>
          <p:nvPr/>
        </p:nvSpPr>
        <p:spPr>
          <a:xfrm>
            <a:off x="6141738" y="5346058"/>
            <a:ext cx="792000"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cxnSp>
        <p:nvCxnSpPr>
          <p:cNvPr id="5" name="Name - Arrow">
            <a:extLst>
              <a:ext uri="{FF2B5EF4-FFF2-40B4-BE49-F238E27FC236}">
                <a16:creationId xmlns:a16="http://schemas.microsoft.com/office/drawing/2014/main" id="{74743580-1BBD-44D1-9B4B-3FCD69A573CA}"/>
              </a:ext>
            </a:extLst>
          </p:cNvPr>
          <p:cNvCxnSpPr>
            <a:cxnSpLocks/>
            <a:endCxn id="29" idx="0"/>
          </p:cNvCxnSpPr>
          <p:nvPr/>
        </p:nvCxnSpPr>
        <p:spPr>
          <a:xfrm flipH="1">
            <a:off x="5729994" y="2707734"/>
            <a:ext cx="1620502" cy="642243"/>
          </a:xfrm>
          <a:prstGeom prst="straightConnector1">
            <a:avLst/>
          </a:prstGeom>
          <a:ln w="28575">
            <a:solidFill>
              <a:srgbClr val="FF0000"/>
            </a:solidFill>
            <a:headEnd w="lg" len="lg"/>
            <a:tailEnd type="triangle" w="lg" len="lg"/>
          </a:ln>
        </p:spPr>
        <p:style>
          <a:lnRef idx="1">
            <a:schemeClr val="accent1"/>
          </a:lnRef>
          <a:fillRef idx="0">
            <a:schemeClr val="accent1"/>
          </a:fillRef>
          <a:effectRef idx="0">
            <a:schemeClr val="accent1"/>
          </a:effectRef>
          <a:fontRef idx="minor">
            <a:schemeClr val="tx1"/>
          </a:fontRef>
        </p:style>
      </p:cxnSp>
      <p:cxnSp>
        <p:nvCxnSpPr>
          <p:cNvPr id="9" name="Age - Arrow">
            <a:extLst>
              <a:ext uri="{FF2B5EF4-FFF2-40B4-BE49-F238E27FC236}">
                <a16:creationId xmlns:a16="http://schemas.microsoft.com/office/drawing/2014/main" id="{4A59694F-BFA9-47E0-AA51-53E4E5936D1D}"/>
              </a:ext>
            </a:extLst>
          </p:cNvPr>
          <p:cNvCxnSpPr>
            <a:cxnSpLocks/>
            <a:endCxn id="30" idx="0"/>
          </p:cNvCxnSpPr>
          <p:nvPr/>
        </p:nvCxnSpPr>
        <p:spPr>
          <a:xfrm flipH="1">
            <a:off x="7152326" y="2707734"/>
            <a:ext cx="198170" cy="642243"/>
          </a:xfrm>
          <a:prstGeom prst="straightConnector1">
            <a:avLst/>
          </a:prstGeom>
          <a:ln w="28575">
            <a:solidFill>
              <a:srgbClr val="FF0000"/>
            </a:solidFill>
            <a:headEnd w="lg" len="lg"/>
            <a:tailEnd type="triangle" w="lg" len="lg"/>
          </a:ln>
        </p:spPr>
        <p:style>
          <a:lnRef idx="1">
            <a:schemeClr val="accent1"/>
          </a:lnRef>
          <a:fillRef idx="0">
            <a:schemeClr val="accent1"/>
          </a:fillRef>
          <a:effectRef idx="0">
            <a:schemeClr val="accent1"/>
          </a:effectRef>
          <a:fontRef idx="minor">
            <a:schemeClr val="tx1"/>
          </a:fontRef>
        </p:style>
      </p:cxnSp>
      <p:sp>
        <p:nvSpPr>
          <p:cNvPr id="38" name="Snowy - Purple">
            <a:extLst>
              <a:ext uri="{FF2B5EF4-FFF2-40B4-BE49-F238E27FC236}">
                <a16:creationId xmlns:a16="http://schemas.microsoft.com/office/drawing/2014/main" id="{3E43DA8B-85F2-4ED1-8CB9-4C679A6B601F}"/>
              </a:ext>
            </a:extLst>
          </p:cNvPr>
          <p:cNvSpPr/>
          <p:nvPr/>
        </p:nvSpPr>
        <p:spPr>
          <a:xfrm>
            <a:off x="6935425" y="4378805"/>
            <a:ext cx="432901" cy="312791"/>
          </a:xfrm>
          <a:prstGeom prst="rect">
            <a:avLst/>
          </a:prstGeom>
          <a:solidFill>
            <a:srgbClr val="FF00FF">
              <a:alpha val="24706"/>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9" name="Kitty - Purple">
            <a:extLst>
              <a:ext uri="{FF2B5EF4-FFF2-40B4-BE49-F238E27FC236}">
                <a16:creationId xmlns:a16="http://schemas.microsoft.com/office/drawing/2014/main" id="{AB6F678D-D2D5-49A1-8AF3-02EE2A30680D}"/>
              </a:ext>
            </a:extLst>
          </p:cNvPr>
          <p:cNvSpPr/>
          <p:nvPr/>
        </p:nvSpPr>
        <p:spPr>
          <a:xfrm>
            <a:off x="6936366" y="5353678"/>
            <a:ext cx="432000" cy="312791"/>
          </a:xfrm>
          <a:prstGeom prst="rect">
            <a:avLst/>
          </a:prstGeom>
          <a:solidFill>
            <a:srgbClr val="FF00FF">
              <a:alpha val="24706"/>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0" name="Pepper - Yellow">
            <a:extLst>
              <a:ext uri="{FF2B5EF4-FFF2-40B4-BE49-F238E27FC236}">
                <a16:creationId xmlns:a16="http://schemas.microsoft.com/office/drawing/2014/main" id="{BDD628B9-0732-4AB7-93AF-03B17DA2D4A9}"/>
              </a:ext>
            </a:extLst>
          </p:cNvPr>
          <p:cNvSpPr/>
          <p:nvPr/>
        </p:nvSpPr>
        <p:spPr>
          <a:xfrm>
            <a:off x="6138387" y="3748527"/>
            <a:ext cx="792000"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cxnSp>
        <p:nvCxnSpPr>
          <p:cNvPr id="18" name="Type - Arrow">
            <a:extLst>
              <a:ext uri="{FF2B5EF4-FFF2-40B4-BE49-F238E27FC236}">
                <a16:creationId xmlns:a16="http://schemas.microsoft.com/office/drawing/2014/main" id="{B2F61D89-25E6-4B6D-C1B6-6EC2F5A92982}"/>
              </a:ext>
            </a:extLst>
          </p:cNvPr>
          <p:cNvCxnSpPr>
            <a:cxnSpLocks/>
          </p:cNvCxnSpPr>
          <p:nvPr/>
        </p:nvCxnSpPr>
        <p:spPr>
          <a:xfrm>
            <a:off x="6184369" y="2707734"/>
            <a:ext cx="301954" cy="701604"/>
          </a:xfrm>
          <a:prstGeom prst="straightConnector1">
            <a:avLst/>
          </a:prstGeom>
          <a:ln w="28575">
            <a:solidFill>
              <a:srgbClr val="FFFF00"/>
            </a:solidFill>
            <a:headEnd w="lg" len="lg"/>
            <a:tailEnd type="triangle" w="lg" len="lg"/>
          </a:ln>
        </p:spPr>
        <p:style>
          <a:lnRef idx="1">
            <a:schemeClr val="accent1"/>
          </a:lnRef>
          <a:fillRef idx="0">
            <a:schemeClr val="accent1"/>
          </a:fillRef>
          <a:effectRef idx="0">
            <a:schemeClr val="accent1"/>
          </a:effectRef>
          <a:fontRef idx="minor">
            <a:schemeClr val="tx1"/>
          </a:fontRef>
        </p:style>
      </p:cxnSp>
      <p:cxnSp>
        <p:nvCxnSpPr>
          <p:cNvPr id="42" name="Insured - Arrow">
            <a:extLst>
              <a:ext uri="{FF2B5EF4-FFF2-40B4-BE49-F238E27FC236}">
                <a16:creationId xmlns:a16="http://schemas.microsoft.com/office/drawing/2014/main" id="{A690C114-1660-9D11-3BF9-99F60F168DE6}"/>
              </a:ext>
            </a:extLst>
          </p:cNvPr>
          <p:cNvCxnSpPr>
            <a:cxnSpLocks/>
          </p:cNvCxnSpPr>
          <p:nvPr/>
        </p:nvCxnSpPr>
        <p:spPr>
          <a:xfrm>
            <a:off x="6184369" y="2707734"/>
            <a:ext cx="908750" cy="701604"/>
          </a:xfrm>
          <a:prstGeom prst="straightConnector1">
            <a:avLst/>
          </a:prstGeom>
          <a:ln w="28575">
            <a:solidFill>
              <a:srgbClr val="7030A0"/>
            </a:solidFill>
            <a:headEnd w="lg" len="lg"/>
            <a:tailEnd type="triangle" w="lg" len="lg"/>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176521065"/>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Prison Task</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a:lnSpc>
                <a:spcPct val="120000"/>
              </a:lnSpc>
            </a:pPr>
            <a:r>
              <a:rPr lang="en-GB" sz="4200" dirty="0"/>
              <a:t>Complete the Prison tasks</a:t>
            </a:r>
          </a:p>
        </p:txBody>
      </p:sp>
    </p:spTree>
    <p:extLst>
      <p:ext uri="{BB962C8B-B14F-4D97-AF65-F5344CB8AC3E}">
        <p14:creationId xmlns:p14="http://schemas.microsoft.com/office/powerpoint/2010/main" val="2797075726"/>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Doing It All!</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lnSpcReduction="10000"/>
          </a:bodyPr>
          <a:lstStyle/>
          <a:p>
            <a:pPr marL="0" lvl="0" indent="0" eaLnBrk="0" fontAlgn="base" hangingPunct="0">
              <a:lnSpc>
                <a:spcPct val="11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SELECT</a:t>
            </a:r>
            <a:r>
              <a:rPr lang="en-US" altLang="en-US" sz="4400" dirty="0">
                <a:solidFill>
                  <a:srgbClr val="000000"/>
                </a:solidFill>
                <a:latin typeface="Consolas" panose="020B0609020204030204" pitchFamily="49" charset="0"/>
              </a:rPr>
              <a:t> </a:t>
            </a:r>
            <a:r>
              <a:rPr lang="en-US" altLang="en-US" sz="4400" dirty="0" err="1">
                <a:solidFill>
                  <a:srgbClr val="000000"/>
                </a:solidFill>
                <a:latin typeface="Consolas" panose="020B0609020204030204" pitchFamily="49" charset="0"/>
              </a:rPr>
              <a:t>firstName</a:t>
            </a:r>
            <a:r>
              <a:rPr lang="en-US" altLang="en-US" sz="4400" dirty="0">
                <a:solidFill>
                  <a:srgbClr val="000000"/>
                </a:solidFill>
                <a:latin typeface="Consolas" panose="020B0609020204030204" pitchFamily="49" charset="0"/>
              </a:rPr>
              <a:t>, </a:t>
            </a:r>
            <a:r>
              <a:rPr lang="en-US" altLang="en-US" sz="4400" dirty="0" err="1">
                <a:solidFill>
                  <a:srgbClr val="000000"/>
                </a:solidFill>
                <a:latin typeface="Consolas" panose="020B0609020204030204" pitchFamily="49" charset="0"/>
              </a:rPr>
              <a:t>lastName</a:t>
            </a:r>
            <a:r>
              <a:rPr lang="en-US" altLang="en-US" sz="4400" dirty="0">
                <a:solidFill>
                  <a:srgbClr val="000000"/>
                </a:solidFill>
                <a:latin typeface="Consolas" panose="020B0609020204030204" pitchFamily="49" charset="0"/>
              </a:rPr>
              <a:t>, age</a:t>
            </a:r>
          </a:p>
          <a:p>
            <a:pPr marL="0" lvl="0" indent="0" eaLnBrk="0" fontAlgn="base" hangingPunct="0">
              <a:lnSpc>
                <a:spcPct val="110000"/>
              </a:lnSpc>
              <a:spcBef>
                <a:spcPct val="0"/>
              </a:spcBef>
              <a:spcAft>
                <a:spcPct val="0"/>
              </a:spcAft>
              <a:buNone/>
            </a:pP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FROM</a:t>
            </a:r>
            <a:r>
              <a:rPr lang="en-US" altLang="en-US" sz="4400" dirty="0">
                <a:solidFill>
                  <a:srgbClr val="000000"/>
                </a:solidFill>
                <a:latin typeface="Consolas" panose="020B0609020204030204" pitchFamily="49" charset="0"/>
              </a:rPr>
              <a:t> pupil</a:t>
            </a:r>
          </a:p>
          <a:p>
            <a:pPr marL="0" lvl="0" indent="0" eaLnBrk="0" fontAlgn="base" hangingPunct="0">
              <a:lnSpc>
                <a:spcPct val="110000"/>
              </a:lnSpc>
              <a:spcBef>
                <a:spcPct val="0"/>
              </a:spcBef>
              <a:spcAft>
                <a:spcPct val="0"/>
              </a:spcAft>
              <a:buNone/>
            </a:pPr>
            <a:r>
              <a:rPr lang="en-US" altLang="en-US" sz="4400" dirty="0">
                <a:solidFill>
                  <a:srgbClr val="B2B2B2"/>
                </a:solidFill>
                <a:latin typeface="Consolas" panose="020B0609020204030204" pitchFamily="49" charset="0"/>
              </a:rPr>
              <a:t>3   </a:t>
            </a:r>
            <a:r>
              <a:rPr lang="en-US" altLang="en-US" sz="4400" dirty="0">
                <a:solidFill>
                  <a:srgbClr val="A71D5D"/>
                </a:solidFill>
                <a:latin typeface="Consolas" panose="020B0609020204030204" pitchFamily="49" charset="0"/>
              </a:rPr>
              <a:t>WHERE</a:t>
            </a:r>
            <a:r>
              <a:rPr lang="en-US" altLang="en-US" sz="4400" dirty="0">
                <a:solidFill>
                  <a:srgbClr val="000000"/>
                </a:solidFill>
                <a:latin typeface="Consolas" panose="020B0609020204030204" pitchFamily="49" charset="0"/>
              </a:rPr>
              <a:t> </a:t>
            </a:r>
            <a:r>
              <a:rPr lang="en-US" altLang="en-US" sz="4400" dirty="0" err="1">
                <a:solidFill>
                  <a:srgbClr val="000000"/>
                </a:solidFill>
                <a:latin typeface="Consolas" panose="020B0609020204030204" pitchFamily="49" charset="0"/>
              </a:rPr>
              <a:t>lastName</a:t>
            </a:r>
            <a:r>
              <a:rPr lang="en-US" altLang="en-US" sz="4400" dirty="0">
                <a:solidFill>
                  <a:srgbClr val="000000"/>
                </a:solidFill>
                <a:latin typeface="Consolas" panose="020B0609020204030204" pitchFamily="49" charset="0"/>
              </a:rPr>
              <a:t> = </a:t>
            </a:r>
            <a:r>
              <a:rPr lang="en-US" altLang="en-US" sz="4400" dirty="0">
                <a:solidFill>
                  <a:srgbClr val="183691"/>
                </a:solidFill>
                <a:latin typeface="Consolas" panose="020B0609020204030204" pitchFamily="49" charset="0"/>
              </a:rPr>
              <a:t>"Smith"</a:t>
            </a:r>
            <a:endParaRPr lang="en-US" altLang="en-US" sz="4400" dirty="0">
              <a:solidFill>
                <a:srgbClr val="000000"/>
              </a:solidFill>
              <a:latin typeface="Consolas" panose="020B0609020204030204" pitchFamily="49" charset="0"/>
            </a:endParaRPr>
          </a:p>
          <a:p>
            <a:pPr marL="0" lvl="0" indent="0" eaLnBrk="0" fontAlgn="base" hangingPunct="0">
              <a:lnSpc>
                <a:spcPct val="110000"/>
              </a:lnSpc>
              <a:spcBef>
                <a:spcPct val="0"/>
              </a:spcBef>
              <a:spcAft>
                <a:spcPct val="0"/>
              </a:spcAft>
              <a:buNone/>
            </a:pPr>
            <a:r>
              <a:rPr lang="en-US" altLang="en-US" sz="4400" dirty="0">
                <a:solidFill>
                  <a:srgbClr val="B2B2B2"/>
                </a:solidFill>
                <a:latin typeface="Consolas" panose="020B0609020204030204" pitchFamily="49" charset="0"/>
              </a:rPr>
              <a:t>4     </a:t>
            </a:r>
            <a:r>
              <a:rPr lang="en-US" altLang="en-US" sz="4400" dirty="0">
                <a:solidFill>
                  <a:srgbClr val="A71D5D"/>
                </a:solidFill>
                <a:latin typeface="Consolas" panose="020B0609020204030204" pitchFamily="49" charset="0"/>
              </a:rPr>
              <a:t>AND</a:t>
            </a:r>
            <a:r>
              <a:rPr lang="en-US" altLang="en-US" sz="4400" dirty="0">
                <a:solidFill>
                  <a:srgbClr val="000000"/>
                </a:solidFill>
                <a:latin typeface="Consolas" panose="020B0609020204030204" pitchFamily="49" charset="0"/>
              </a:rPr>
              <a:t> age &gt;= </a:t>
            </a:r>
            <a:r>
              <a:rPr lang="en-US" altLang="en-US" sz="4400" dirty="0">
                <a:solidFill>
                  <a:srgbClr val="0086B3"/>
                </a:solidFill>
                <a:latin typeface="Consolas" panose="020B0609020204030204" pitchFamily="49" charset="0"/>
              </a:rPr>
              <a:t>12</a:t>
            </a:r>
            <a:endParaRPr lang="en-US" altLang="en-US" sz="4400" dirty="0">
              <a:solidFill>
                <a:srgbClr val="000000"/>
              </a:solidFill>
              <a:latin typeface="Consolas" panose="020B0609020204030204" pitchFamily="49" charset="0"/>
            </a:endParaRPr>
          </a:p>
          <a:p>
            <a:pPr marL="0" lvl="0" indent="0" eaLnBrk="0" fontAlgn="base" hangingPunct="0">
              <a:lnSpc>
                <a:spcPct val="110000"/>
              </a:lnSpc>
              <a:spcBef>
                <a:spcPct val="0"/>
              </a:spcBef>
              <a:spcAft>
                <a:spcPct val="0"/>
              </a:spcAft>
              <a:buNone/>
            </a:pPr>
            <a:r>
              <a:rPr lang="en-US" altLang="en-US" sz="4400" dirty="0">
                <a:solidFill>
                  <a:srgbClr val="B2B2B2"/>
                </a:solidFill>
                <a:latin typeface="Consolas" panose="020B0609020204030204" pitchFamily="49" charset="0"/>
              </a:rPr>
              <a:t>5   </a:t>
            </a:r>
            <a:r>
              <a:rPr lang="en-US" altLang="en-US" sz="4400" dirty="0">
                <a:solidFill>
                  <a:srgbClr val="A71D5D"/>
                </a:solidFill>
                <a:latin typeface="Consolas" panose="020B0609020204030204" pitchFamily="49" charset="0"/>
              </a:rPr>
              <a:t>ORDER BY</a:t>
            </a:r>
            <a:r>
              <a:rPr lang="en-US" altLang="en-US" sz="4400" dirty="0">
                <a:solidFill>
                  <a:srgbClr val="000000"/>
                </a:solidFill>
                <a:latin typeface="Consolas" panose="020B0609020204030204" pitchFamily="49" charset="0"/>
              </a:rPr>
              <a:t> </a:t>
            </a:r>
            <a:r>
              <a:rPr lang="en-US" altLang="en-US" sz="4400" dirty="0" err="1">
                <a:solidFill>
                  <a:srgbClr val="000000"/>
                </a:solidFill>
                <a:latin typeface="Consolas" panose="020B0609020204030204" pitchFamily="49" charset="0"/>
              </a:rPr>
              <a:t>firstName</a:t>
            </a:r>
            <a:r>
              <a:rPr lang="en-US" altLang="en-US" sz="4400" dirty="0">
                <a:solidFill>
                  <a:srgbClr val="000000"/>
                </a:solidFill>
                <a:latin typeface="Consolas" panose="020B0609020204030204" pitchFamily="49" charset="0"/>
              </a:rPr>
              <a:t> </a:t>
            </a:r>
            <a:r>
              <a:rPr lang="en-US" altLang="en-US" sz="4400" dirty="0">
                <a:solidFill>
                  <a:srgbClr val="A71D5D"/>
                </a:solidFill>
                <a:latin typeface="Consolas" panose="020B0609020204030204" pitchFamily="49" charset="0"/>
              </a:rPr>
              <a:t>ASC</a:t>
            </a:r>
            <a:r>
              <a:rPr lang="en-US" altLang="en-US" sz="4400" dirty="0">
                <a:solidFill>
                  <a:srgbClr val="000000"/>
                </a:solidFill>
                <a:latin typeface="Consolas" panose="020B0609020204030204" pitchFamily="49" charset="0"/>
              </a:rPr>
              <a:t>,</a:t>
            </a:r>
          </a:p>
          <a:p>
            <a:pPr marL="0" lvl="0" indent="0" eaLnBrk="0" fontAlgn="base" hangingPunct="0">
              <a:lnSpc>
                <a:spcPct val="110000"/>
              </a:lnSpc>
              <a:spcBef>
                <a:spcPct val="0"/>
              </a:spcBef>
              <a:spcAft>
                <a:spcPct val="0"/>
              </a:spcAft>
              <a:buNone/>
            </a:pPr>
            <a:r>
              <a:rPr lang="en-US" altLang="en-US" sz="4400" dirty="0">
                <a:solidFill>
                  <a:srgbClr val="B2B2B2"/>
                </a:solidFill>
                <a:latin typeface="Consolas" panose="020B0609020204030204" pitchFamily="49" charset="0"/>
              </a:rPr>
              <a:t>6            </a:t>
            </a:r>
            <a:r>
              <a:rPr lang="en-US" altLang="en-US" sz="4400" dirty="0">
                <a:solidFill>
                  <a:srgbClr val="000000"/>
                </a:solidFill>
                <a:latin typeface="Consolas" panose="020B0609020204030204" pitchFamily="49" charset="0"/>
              </a:rPr>
              <a:t>age </a:t>
            </a:r>
            <a:r>
              <a:rPr lang="en-US" altLang="en-US" sz="4400" dirty="0">
                <a:solidFill>
                  <a:srgbClr val="A71D5D"/>
                </a:solidFill>
                <a:latin typeface="Consolas" panose="020B0609020204030204" pitchFamily="49" charset="0"/>
              </a:rPr>
              <a:t>DESC</a:t>
            </a:r>
            <a:r>
              <a:rPr lang="en-US" altLang="en-US" sz="4400" dirty="0">
                <a:solidFill>
                  <a:srgbClr val="000000"/>
                </a:solidFill>
                <a:latin typeface="Consolas" panose="020B0609020204030204" pitchFamily="49" charset="0"/>
              </a:rPr>
              <a:t>;</a:t>
            </a:r>
            <a:endParaRPr lang="en-US" altLang="en-US" sz="5400" dirty="0">
              <a:latin typeface="Arial" panose="020B0604020202020204" pitchFamily="34" charset="0"/>
            </a:endParaRPr>
          </a:p>
        </p:txBody>
      </p:sp>
    </p:spTree>
    <p:extLst>
      <p:ext uri="{BB962C8B-B14F-4D97-AF65-F5344CB8AC3E}">
        <p14:creationId xmlns:p14="http://schemas.microsoft.com/office/powerpoint/2010/main" val="272377112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2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10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20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3">
                                            <p:txEl>
                                              <p:pRg st="3" end="3"/>
                                            </p:txEl>
                                          </p:spTgt>
                                        </p:tgtEl>
                                        <p:attrNameLst>
                                          <p:attrName>style.visibility</p:attrName>
                                        </p:attrNameLst>
                                      </p:cBhvr>
                                      <p:to>
                                        <p:strVal val="visible"/>
                                      </p:to>
                                    </p:set>
                                    <p:animEffect transition="in" filter="wipe(left)">
                                      <p:cBhvr>
                                        <p:cTn id="22" dur="1500"/>
                                        <p:tgtEl>
                                          <p:spTgt spid="3">
                                            <p:txEl>
                                              <p:pRg st="3" end="3"/>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3">
                                            <p:txEl>
                                              <p:pRg st="4" end="4"/>
                                            </p:txEl>
                                          </p:spTgt>
                                        </p:tgtEl>
                                        <p:attrNameLst>
                                          <p:attrName>style.visibility</p:attrName>
                                        </p:attrNameLst>
                                      </p:cBhvr>
                                      <p:to>
                                        <p:strVal val="visible"/>
                                      </p:to>
                                    </p:set>
                                    <p:animEffect transition="in" filter="wipe(left)">
                                      <p:cBhvr>
                                        <p:cTn id="27" dur="2000"/>
                                        <p:tgtEl>
                                          <p:spTgt spid="3">
                                            <p:txEl>
                                              <p:pRg st="4" end="4"/>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3">
                                            <p:txEl>
                                              <p:pRg st="5" end="5"/>
                                            </p:txEl>
                                          </p:spTgt>
                                        </p:tgtEl>
                                        <p:attrNameLst>
                                          <p:attrName>style.visibility</p:attrName>
                                        </p:attrNameLst>
                                      </p:cBhvr>
                                      <p:to>
                                        <p:strVal val="visible"/>
                                      </p:to>
                                    </p:set>
                                    <p:animEffect transition="in" filter="wipe(left)">
                                      <p:cBhvr>
                                        <p:cTn id="32" dur="1000"/>
                                        <p:tgtEl>
                                          <p:spTgt spid="3">
                                            <p:txEl>
                                              <p:pRg st="5" end="5"/>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7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Doing It All!</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100" dirty="0">
                <a:solidFill>
                  <a:srgbClr val="B2B2B2"/>
                </a:solidFill>
                <a:latin typeface="Consolas" panose="020B0609020204030204" pitchFamily="49" charset="0"/>
              </a:rPr>
              <a:t>1 </a:t>
            </a:r>
            <a:r>
              <a:rPr lang="en-US" altLang="en-US" sz="4100" dirty="0">
                <a:solidFill>
                  <a:srgbClr val="A71D5D"/>
                </a:solidFill>
                <a:latin typeface="Consolas" panose="020B0609020204030204" pitchFamily="49" charset="0"/>
              </a:rPr>
              <a:t>SELECT</a:t>
            </a:r>
            <a:r>
              <a:rPr lang="en-US" altLang="en-US" sz="4100" dirty="0">
                <a:solidFill>
                  <a:srgbClr val="000000"/>
                </a:solidFill>
                <a:latin typeface="Consolas" panose="020B0609020204030204" pitchFamily="49" charset="0"/>
              </a:rPr>
              <a:t> </a:t>
            </a:r>
            <a:r>
              <a:rPr lang="en-US" altLang="en-US" sz="4100" dirty="0" err="1">
                <a:solidFill>
                  <a:srgbClr val="000000"/>
                </a:solidFill>
                <a:latin typeface="Consolas" panose="020B0609020204030204" pitchFamily="49" charset="0"/>
              </a:rPr>
              <a:t>firstName</a:t>
            </a:r>
            <a:r>
              <a:rPr lang="en-US" altLang="en-US" sz="4100" dirty="0">
                <a:solidFill>
                  <a:srgbClr val="000000"/>
                </a:solidFill>
                <a:latin typeface="Consolas" panose="020B0609020204030204" pitchFamily="49" charset="0"/>
              </a:rPr>
              <a:t>, </a:t>
            </a:r>
            <a:r>
              <a:rPr lang="en-US" altLang="en-US" sz="4100" dirty="0" err="1">
                <a:solidFill>
                  <a:srgbClr val="000000"/>
                </a:solidFill>
                <a:latin typeface="Consolas" panose="020B0609020204030204" pitchFamily="49" charset="0"/>
              </a:rPr>
              <a:t>lastName</a:t>
            </a:r>
            <a:r>
              <a:rPr lang="en-US" altLang="en-US" sz="4100" dirty="0">
                <a:solidFill>
                  <a:srgbClr val="000000"/>
                </a:solidFill>
                <a:latin typeface="Consolas" panose="020B0609020204030204" pitchFamily="49" charset="0"/>
              </a:rPr>
              <a:t>, age</a:t>
            </a:r>
          </a:p>
          <a:p>
            <a:pPr marL="0" lvl="0" indent="0" eaLnBrk="0" fontAlgn="base" hangingPunct="0">
              <a:lnSpc>
                <a:spcPct val="100000"/>
              </a:lnSpc>
              <a:spcBef>
                <a:spcPct val="0"/>
              </a:spcBef>
              <a:spcAft>
                <a:spcPct val="0"/>
              </a:spcAft>
              <a:buNone/>
            </a:pPr>
            <a:r>
              <a:rPr lang="en-US" altLang="en-US" sz="4100" dirty="0">
                <a:solidFill>
                  <a:srgbClr val="B2B2B2"/>
                </a:solidFill>
                <a:latin typeface="Consolas" panose="020B0609020204030204" pitchFamily="49" charset="0"/>
              </a:rPr>
              <a:t>2   </a:t>
            </a:r>
            <a:r>
              <a:rPr lang="en-US" altLang="en-US" sz="4100" dirty="0">
                <a:solidFill>
                  <a:srgbClr val="A71D5D"/>
                </a:solidFill>
                <a:latin typeface="Consolas" panose="020B0609020204030204" pitchFamily="49" charset="0"/>
              </a:rPr>
              <a:t>FROM</a:t>
            </a:r>
            <a:r>
              <a:rPr lang="en-US" altLang="en-US" sz="4100" dirty="0">
                <a:solidFill>
                  <a:srgbClr val="000000"/>
                </a:solidFill>
                <a:latin typeface="Consolas" panose="020B0609020204030204" pitchFamily="49" charset="0"/>
              </a:rPr>
              <a:t> pupil</a:t>
            </a:r>
          </a:p>
          <a:p>
            <a:pPr marL="0" lvl="0" indent="0" eaLnBrk="0" fontAlgn="base" hangingPunct="0">
              <a:lnSpc>
                <a:spcPct val="100000"/>
              </a:lnSpc>
              <a:spcBef>
                <a:spcPct val="0"/>
              </a:spcBef>
              <a:spcAft>
                <a:spcPct val="0"/>
              </a:spcAft>
              <a:buNone/>
            </a:pPr>
            <a:r>
              <a:rPr lang="en-US" altLang="en-US" sz="4100" dirty="0">
                <a:solidFill>
                  <a:srgbClr val="B2B2B2"/>
                </a:solidFill>
                <a:latin typeface="Consolas" panose="020B0609020204030204" pitchFamily="49" charset="0"/>
              </a:rPr>
              <a:t>3   </a:t>
            </a:r>
            <a:r>
              <a:rPr lang="en-US" altLang="en-US" sz="4100" dirty="0">
                <a:solidFill>
                  <a:srgbClr val="A71D5D"/>
                </a:solidFill>
                <a:latin typeface="Consolas" panose="020B0609020204030204" pitchFamily="49" charset="0"/>
              </a:rPr>
              <a:t>WHERE</a:t>
            </a:r>
            <a:r>
              <a:rPr lang="en-US" altLang="en-US" sz="4100" dirty="0">
                <a:solidFill>
                  <a:srgbClr val="000000"/>
                </a:solidFill>
                <a:latin typeface="Consolas" panose="020B0609020204030204" pitchFamily="49" charset="0"/>
              </a:rPr>
              <a:t> </a:t>
            </a:r>
            <a:r>
              <a:rPr lang="en-US" altLang="en-US" sz="4100" dirty="0" err="1">
                <a:solidFill>
                  <a:srgbClr val="000000"/>
                </a:solidFill>
                <a:latin typeface="Consolas" panose="020B0609020204030204" pitchFamily="49" charset="0"/>
              </a:rPr>
              <a:t>lastName</a:t>
            </a:r>
            <a:r>
              <a:rPr lang="en-US" altLang="en-US" sz="4100" dirty="0">
                <a:solidFill>
                  <a:srgbClr val="000000"/>
                </a:solidFill>
                <a:latin typeface="Consolas" panose="020B0609020204030204" pitchFamily="49" charset="0"/>
              </a:rPr>
              <a:t> = </a:t>
            </a:r>
            <a:r>
              <a:rPr lang="en-US" altLang="en-US" sz="4100" dirty="0">
                <a:solidFill>
                  <a:srgbClr val="183691"/>
                </a:solidFill>
                <a:latin typeface="Consolas" panose="020B0609020204030204" pitchFamily="49" charset="0"/>
              </a:rPr>
              <a:t>"Smith"</a:t>
            </a:r>
            <a:endParaRPr lang="en-US" altLang="en-US" sz="41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100" dirty="0">
                <a:solidFill>
                  <a:srgbClr val="B2B2B2"/>
                </a:solidFill>
                <a:latin typeface="Consolas" panose="020B0609020204030204" pitchFamily="49" charset="0"/>
              </a:rPr>
              <a:t>4     </a:t>
            </a:r>
            <a:r>
              <a:rPr lang="en-US" altLang="en-US" sz="4100" dirty="0">
                <a:solidFill>
                  <a:srgbClr val="A71D5D"/>
                </a:solidFill>
                <a:latin typeface="Consolas" panose="020B0609020204030204" pitchFamily="49" charset="0"/>
              </a:rPr>
              <a:t>AND</a:t>
            </a:r>
            <a:r>
              <a:rPr lang="en-US" altLang="en-US" sz="4100" dirty="0">
                <a:solidFill>
                  <a:srgbClr val="000000"/>
                </a:solidFill>
                <a:latin typeface="Consolas" panose="020B0609020204030204" pitchFamily="49" charset="0"/>
              </a:rPr>
              <a:t> age &gt;= </a:t>
            </a:r>
            <a:r>
              <a:rPr lang="en-US" altLang="en-US" sz="4100" dirty="0">
                <a:solidFill>
                  <a:srgbClr val="0086B3"/>
                </a:solidFill>
                <a:latin typeface="Consolas" panose="020B0609020204030204" pitchFamily="49" charset="0"/>
              </a:rPr>
              <a:t>12</a:t>
            </a:r>
            <a:endParaRPr lang="en-US" altLang="en-US" sz="41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100" dirty="0">
                <a:solidFill>
                  <a:srgbClr val="B2B2B2"/>
                </a:solidFill>
                <a:latin typeface="Consolas" panose="020B0609020204030204" pitchFamily="49" charset="0"/>
              </a:rPr>
              <a:t>5   </a:t>
            </a:r>
            <a:r>
              <a:rPr lang="en-US" altLang="en-US" sz="4100" dirty="0">
                <a:solidFill>
                  <a:srgbClr val="A71D5D"/>
                </a:solidFill>
                <a:latin typeface="Consolas" panose="020B0609020204030204" pitchFamily="49" charset="0"/>
              </a:rPr>
              <a:t>ORDER BY</a:t>
            </a:r>
            <a:r>
              <a:rPr lang="en-US" altLang="en-US" sz="4100" dirty="0">
                <a:solidFill>
                  <a:srgbClr val="000000"/>
                </a:solidFill>
                <a:latin typeface="Consolas" panose="020B0609020204030204" pitchFamily="49" charset="0"/>
              </a:rPr>
              <a:t> </a:t>
            </a:r>
            <a:r>
              <a:rPr lang="en-US" altLang="en-US" sz="4100" dirty="0" err="1">
                <a:solidFill>
                  <a:srgbClr val="000000"/>
                </a:solidFill>
                <a:latin typeface="Consolas" panose="020B0609020204030204" pitchFamily="49" charset="0"/>
              </a:rPr>
              <a:t>firstName</a:t>
            </a:r>
            <a:r>
              <a:rPr lang="en-US" altLang="en-US" sz="4100" dirty="0">
                <a:solidFill>
                  <a:srgbClr val="000000"/>
                </a:solidFill>
                <a:latin typeface="Consolas" panose="020B0609020204030204" pitchFamily="49" charset="0"/>
              </a:rPr>
              <a:t> </a:t>
            </a:r>
            <a:r>
              <a:rPr lang="en-US" altLang="en-US" sz="4100" dirty="0">
                <a:solidFill>
                  <a:srgbClr val="A71D5D"/>
                </a:solidFill>
                <a:latin typeface="Consolas" panose="020B0609020204030204" pitchFamily="49" charset="0"/>
              </a:rPr>
              <a:t>ASC</a:t>
            </a:r>
            <a:r>
              <a:rPr lang="en-US" altLang="en-US" sz="4100" dirty="0">
                <a:solidFill>
                  <a:srgbClr val="000000"/>
                </a:solidFill>
                <a:latin typeface="Consolas" panose="020B0609020204030204" pitchFamily="49" charset="0"/>
              </a:rPr>
              <a:t>, </a:t>
            </a:r>
            <a:r>
              <a:rPr lang="en-US" altLang="en-US" sz="4100" dirty="0">
                <a:solidFill>
                  <a:srgbClr val="B2B2B2"/>
                </a:solidFill>
                <a:latin typeface="Consolas" panose="020B0609020204030204" pitchFamily="49" charset="0"/>
              </a:rPr>
              <a:t>6            </a:t>
            </a:r>
            <a:r>
              <a:rPr lang="en-US" altLang="en-US" sz="4100" dirty="0">
                <a:solidFill>
                  <a:srgbClr val="000000"/>
                </a:solidFill>
                <a:latin typeface="Consolas" panose="020B0609020204030204" pitchFamily="49" charset="0"/>
              </a:rPr>
              <a:t>age </a:t>
            </a:r>
            <a:r>
              <a:rPr lang="en-US" altLang="en-US" sz="4100" dirty="0">
                <a:solidFill>
                  <a:srgbClr val="A71D5D"/>
                </a:solidFill>
                <a:latin typeface="Consolas" panose="020B0609020204030204" pitchFamily="49" charset="0"/>
              </a:rPr>
              <a:t>DESC</a:t>
            </a:r>
            <a:r>
              <a:rPr lang="en-US" altLang="en-US" sz="4100" dirty="0">
                <a:solidFill>
                  <a:srgbClr val="000000"/>
                </a:solidFill>
                <a:latin typeface="Consolas" panose="020B0609020204030204" pitchFamily="49" charset="0"/>
              </a:rPr>
              <a:t>;</a:t>
            </a:r>
            <a:endParaRPr lang="en-US" altLang="en-US" sz="4100" dirty="0">
              <a:latin typeface="Arial" panose="020B0604020202020204" pitchFamily="34" charset="0"/>
            </a:endParaRPr>
          </a:p>
        </p:txBody>
      </p:sp>
    </p:spTree>
    <p:extLst>
      <p:ext uri="{BB962C8B-B14F-4D97-AF65-F5344CB8AC3E}">
        <p14:creationId xmlns:p14="http://schemas.microsoft.com/office/powerpoint/2010/main" val="1343084538"/>
      </p:ext>
    </p:extLst>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92D0BEE-2342-41E9-ADC7-8B1CDA3D11FA}"/>
              </a:ext>
            </a:extLst>
          </p:cNvPr>
          <p:cNvSpPr>
            <a:spLocks noGrp="1"/>
          </p:cNvSpPr>
          <p:nvPr>
            <p:ph type="title"/>
          </p:nvPr>
        </p:nvSpPr>
        <p:spPr/>
        <p:txBody>
          <a:bodyPr/>
          <a:lstStyle/>
          <a:p>
            <a:r>
              <a:rPr lang="en-GB" dirty="0"/>
              <a:t>Santa's List</a:t>
            </a:r>
          </a:p>
        </p:txBody>
      </p:sp>
      <p:sp>
        <p:nvSpPr>
          <p:cNvPr id="8" name="TextBox 7">
            <a:extLst>
              <a:ext uri="{FF2B5EF4-FFF2-40B4-BE49-F238E27FC236}">
                <a16:creationId xmlns:a16="http://schemas.microsoft.com/office/drawing/2014/main" id="{7D00045F-E068-4D3F-A6EB-9B8562941AC4}"/>
              </a:ext>
            </a:extLst>
          </p:cNvPr>
          <p:cNvSpPr txBox="1"/>
          <p:nvPr/>
        </p:nvSpPr>
        <p:spPr>
          <a:xfrm>
            <a:off x="838200" y="1690688"/>
            <a:ext cx="11103429" cy="4524315"/>
          </a:xfrm>
          <a:prstGeom prst="rect">
            <a:avLst/>
          </a:prstGeom>
          <a:noFill/>
        </p:spPr>
        <p:txBody>
          <a:bodyPr wrap="square" rtlCol="0">
            <a:spAutoFit/>
          </a:bodyPr>
          <a:lstStyle/>
          <a:p>
            <a:r>
              <a:rPr lang="en-GB" sz="3200" dirty="0"/>
              <a:t>Write a SQL statement to help Santa</a:t>
            </a:r>
          </a:p>
          <a:p>
            <a:r>
              <a:rPr lang="en-GB" sz="3200" dirty="0"/>
              <a:t>with delivering presents.</a:t>
            </a:r>
          </a:p>
          <a:p>
            <a:endParaRPr lang="en-GB" sz="3200" dirty="0"/>
          </a:p>
          <a:p>
            <a:r>
              <a:rPr lang="en-GB" sz="3200" dirty="0"/>
              <a:t>He wants to know the forename, </a:t>
            </a:r>
          </a:p>
          <a:p>
            <a:r>
              <a:rPr lang="en-GB" sz="3200" dirty="0"/>
              <a:t>surname, and gift ID for everyone </a:t>
            </a:r>
          </a:p>
          <a:p>
            <a:r>
              <a:rPr lang="en-GB" sz="3200" dirty="0"/>
              <a:t>who has been nice this year.</a:t>
            </a:r>
          </a:p>
          <a:p>
            <a:endParaRPr lang="en-GB" sz="3200" dirty="0"/>
          </a:p>
          <a:p>
            <a:r>
              <a:rPr lang="en-GB" sz="3200" dirty="0"/>
              <a:t>He wants to deliver the presents in </a:t>
            </a:r>
          </a:p>
          <a:p>
            <a:r>
              <a:rPr lang="en-GB" sz="3200" dirty="0"/>
              <a:t>reverse order for surnames but alphabetical for forenames.</a:t>
            </a:r>
          </a:p>
        </p:txBody>
      </p:sp>
      <p:grpSp>
        <p:nvGrpSpPr>
          <p:cNvPr id="7" name="Group 6">
            <a:extLst>
              <a:ext uri="{FF2B5EF4-FFF2-40B4-BE49-F238E27FC236}">
                <a16:creationId xmlns:a16="http://schemas.microsoft.com/office/drawing/2014/main" id="{806E4F47-4AC7-4FE1-8831-8C61AC4BA39E}"/>
              </a:ext>
            </a:extLst>
          </p:cNvPr>
          <p:cNvGrpSpPr/>
          <p:nvPr/>
        </p:nvGrpSpPr>
        <p:grpSpPr>
          <a:xfrm>
            <a:off x="8005767" y="1690688"/>
            <a:ext cx="3348033" cy="2862322"/>
            <a:chOff x="2997509" y="1690688"/>
            <a:chExt cx="3348033" cy="2862322"/>
          </a:xfrm>
        </p:grpSpPr>
        <p:sp>
          <p:nvSpPr>
            <p:cNvPr id="4" name="TextBox 3">
              <a:extLst>
                <a:ext uri="{FF2B5EF4-FFF2-40B4-BE49-F238E27FC236}">
                  <a16:creationId xmlns:a16="http://schemas.microsoft.com/office/drawing/2014/main" id="{F9578B56-32C7-4DB0-B023-458E8479DA80}"/>
                </a:ext>
              </a:extLst>
            </p:cNvPr>
            <p:cNvSpPr txBox="1"/>
            <p:nvPr/>
          </p:nvSpPr>
          <p:spPr>
            <a:xfrm>
              <a:off x="2997510" y="1690688"/>
              <a:ext cx="1635704" cy="2862322"/>
            </a:xfrm>
            <a:prstGeom prst="rect">
              <a:avLst/>
            </a:prstGeom>
            <a:solidFill>
              <a:schemeClr val="accent3">
                <a:lumMod val="20000"/>
                <a:lumOff val="80000"/>
              </a:schemeClr>
            </a:solidFill>
            <a:ln>
              <a:solidFill>
                <a:schemeClr val="tx1"/>
              </a:solidFill>
            </a:ln>
          </p:spPr>
          <p:txBody>
            <a:bodyPr wrap="square" rtlCol="0">
              <a:spAutoFit/>
            </a:bodyPr>
            <a:lstStyle/>
            <a:p>
              <a:r>
                <a:rPr lang="en-GB" sz="3600" b="1" dirty="0">
                  <a:highlight>
                    <a:srgbClr val="C0C0C0"/>
                  </a:highlight>
                </a:rPr>
                <a:t>   </a:t>
              </a:r>
              <a:endParaRPr lang="en-GB" sz="3600" dirty="0"/>
            </a:p>
            <a:p>
              <a:r>
                <a:rPr lang="en-GB" sz="3600" dirty="0" err="1"/>
                <a:t>giftID</a:t>
              </a:r>
              <a:endParaRPr lang="en-GB" sz="3600" dirty="0"/>
            </a:p>
            <a:p>
              <a:r>
                <a:rPr lang="en-GB" sz="3600" dirty="0"/>
                <a:t>first</a:t>
              </a:r>
            </a:p>
            <a:p>
              <a:r>
                <a:rPr lang="en-GB" sz="3600" dirty="0"/>
                <a:t>last</a:t>
              </a:r>
            </a:p>
            <a:p>
              <a:r>
                <a:rPr lang="en-GB" sz="3600" dirty="0"/>
                <a:t>nice</a:t>
              </a:r>
            </a:p>
          </p:txBody>
        </p:sp>
        <p:sp>
          <p:nvSpPr>
            <p:cNvPr id="6" name="TextBox 5">
              <a:extLst>
                <a:ext uri="{FF2B5EF4-FFF2-40B4-BE49-F238E27FC236}">
                  <a16:creationId xmlns:a16="http://schemas.microsoft.com/office/drawing/2014/main" id="{0C82AEF5-B5EF-4BF9-BB0D-2B5245D13EC2}"/>
                </a:ext>
              </a:extLst>
            </p:cNvPr>
            <p:cNvSpPr txBox="1"/>
            <p:nvPr/>
          </p:nvSpPr>
          <p:spPr>
            <a:xfrm>
              <a:off x="4633214" y="1690688"/>
              <a:ext cx="1712328" cy="2862322"/>
            </a:xfrm>
            <a:prstGeom prst="rect">
              <a:avLst/>
            </a:prstGeom>
            <a:solidFill>
              <a:schemeClr val="accent3">
                <a:lumMod val="20000"/>
                <a:lumOff val="80000"/>
              </a:schemeClr>
            </a:solidFill>
            <a:ln>
              <a:solidFill>
                <a:schemeClr val="tx1"/>
              </a:solidFill>
            </a:ln>
          </p:spPr>
          <p:txBody>
            <a:bodyPr wrap="none" rtlCol="0">
              <a:spAutoFit/>
            </a:bodyPr>
            <a:lstStyle/>
            <a:p>
              <a:r>
                <a:rPr lang="en-GB" sz="3600" b="1" dirty="0">
                  <a:highlight>
                    <a:srgbClr val="C0C0C0"/>
                  </a:highlight>
                </a:rPr>
                <a:t>   </a:t>
              </a:r>
              <a:endParaRPr lang="en-GB" sz="3600" dirty="0"/>
            </a:p>
            <a:p>
              <a:r>
                <a:rPr lang="en-GB" sz="3600" dirty="0"/>
                <a:t>number</a:t>
              </a:r>
            </a:p>
            <a:p>
              <a:r>
                <a:rPr lang="en-GB" sz="3600" dirty="0"/>
                <a:t>text</a:t>
              </a:r>
            </a:p>
            <a:p>
              <a:r>
                <a:rPr lang="en-GB" sz="3600" dirty="0"/>
                <a:t>text</a:t>
              </a:r>
            </a:p>
            <a:p>
              <a:r>
                <a:rPr lang="en-GB" sz="3600" dirty="0" err="1"/>
                <a:t>boolean</a:t>
              </a:r>
              <a:endParaRPr lang="en-GB" sz="3600" dirty="0"/>
            </a:p>
          </p:txBody>
        </p:sp>
        <p:sp>
          <p:nvSpPr>
            <p:cNvPr id="5" name="TextBox 4">
              <a:extLst>
                <a:ext uri="{FF2B5EF4-FFF2-40B4-BE49-F238E27FC236}">
                  <a16:creationId xmlns:a16="http://schemas.microsoft.com/office/drawing/2014/main" id="{5BD2BA1D-A577-43E9-837C-FB8E6AD7A108}"/>
                </a:ext>
              </a:extLst>
            </p:cNvPr>
            <p:cNvSpPr txBox="1"/>
            <p:nvPr/>
          </p:nvSpPr>
          <p:spPr>
            <a:xfrm>
              <a:off x="2997509" y="1690688"/>
              <a:ext cx="3348033" cy="646331"/>
            </a:xfrm>
            <a:prstGeom prst="rect">
              <a:avLst/>
            </a:prstGeom>
            <a:solidFill>
              <a:schemeClr val="bg2">
                <a:lumMod val="90000"/>
              </a:schemeClr>
            </a:solidFill>
            <a:ln>
              <a:solidFill>
                <a:schemeClr val="tx1"/>
              </a:solidFill>
            </a:ln>
          </p:spPr>
          <p:txBody>
            <a:bodyPr wrap="square" rtlCol="0">
              <a:spAutoFit/>
            </a:bodyPr>
            <a:lstStyle/>
            <a:p>
              <a:r>
                <a:rPr lang="en-GB" sz="3600" b="1" dirty="0"/>
                <a:t>gift</a:t>
              </a:r>
            </a:p>
          </p:txBody>
        </p:sp>
      </p:grpSp>
    </p:spTree>
    <p:extLst>
      <p:ext uri="{BB962C8B-B14F-4D97-AF65-F5344CB8AC3E}">
        <p14:creationId xmlns:p14="http://schemas.microsoft.com/office/powerpoint/2010/main" val="211138297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8">
                                            <p:txEl>
                                              <p:pRg st="0" end="0"/>
                                            </p:txEl>
                                          </p:spTgt>
                                        </p:tgtEl>
                                        <p:attrNameLst>
                                          <p:attrName>style.visibility</p:attrName>
                                        </p:attrNameLst>
                                      </p:cBhvr>
                                      <p:to>
                                        <p:strVal val="visible"/>
                                      </p:to>
                                    </p:set>
                                    <p:animEffect transition="in" filter="wipe(left)">
                                      <p:cBhvr>
                                        <p:cTn id="7" dur="1000"/>
                                        <p:tgtEl>
                                          <p:spTgt spid="8">
                                            <p:txEl>
                                              <p:pRg st="0" end="0"/>
                                            </p:txEl>
                                          </p:spTgt>
                                        </p:tgtEl>
                                      </p:cBhvr>
                                    </p:animEffect>
                                  </p:childTnLst>
                                </p:cTn>
                              </p:par>
                            </p:childTnLst>
                          </p:cTn>
                        </p:par>
                        <p:par>
                          <p:cTn id="8" fill="hold">
                            <p:stCondLst>
                              <p:cond delay="1000"/>
                            </p:stCondLst>
                            <p:childTnLst>
                              <p:par>
                                <p:cTn id="9" presetID="22" presetClass="entr" presetSubtype="8" fill="hold" grpId="0" nodeType="afterEffect">
                                  <p:stCondLst>
                                    <p:cond delay="0"/>
                                  </p:stCondLst>
                                  <p:childTnLst>
                                    <p:set>
                                      <p:cBhvr>
                                        <p:cTn id="10" dur="1" fill="hold">
                                          <p:stCondLst>
                                            <p:cond delay="0"/>
                                          </p:stCondLst>
                                        </p:cTn>
                                        <p:tgtEl>
                                          <p:spTgt spid="8">
                                            <p:txEl>
                                              <p:pRg st="1" end="1"/>
                                            </p:txEl>
                                          </p:spTgt>
                                        </p:tgtEl>
                                        <p:attrNameLst>
                                          <p:attrName>style.visibility</p:attrName>
                                        </p:attrNameLst>
                                      </p:cBhvr>
                                      <p:to>
                                        <p:strVal val="visible"/>
                                      </p:to>
                                    </p:set>
                                    <p:animEffect transition="in" filter="wipe(left)">
                                      <p:cBhvr>
                                        <p:cTn id="11" dur="750"/>
                                        <p:tgtEl>
                                          <p:spTgt spid="8">
                                            <p:txEl>
                                              <p:pRg st="1" end="1"/>
                                            </p:txEl>
                                          </p:spTgt>
                                        </p:tgtEl>
                                      </p:cBhvr>
                                    </p:animEffect>
                                  </p:childTnLst>
                                </p:cTn>
                              </p:par>
                            </p:childTnLst>
                          </p:cTn>
                        </p:par>
                      </p:childTnLst>
                    </p:cTn>
                  </p:par>
                  <p:par>
                    <p:cTn id="12" fill="hold">
                      <p:stCondLst>
                        <p:cond delay="indefinite"/>
                      </p:stCondLst>
                      <p:childTnLst>
                        <p:par>
                          <p:cTn id="13" fill="hold">
                            <p:stCondLst>
                              <p:cond delay="0"/>
                            </p:stCondLst>
                            <p:childTnLst>
                              <p:par>
                                <p:cTn id="14" presetID="22" presetClass="entr" presetSubtype="1" fill="hold" nodeType="clickEffect">
                                  <p:stCondLst>
                                    <p:cond delay="0"/>
                                  </p:stCondLst>
                                  <p:childTnLst>
                                    <p:set>
                                      <p:cBhvr>
                                        <p:cTn id="15" dur="1" fill="hold">
                                          <p:stCondLst>
                                            <p:cond delay="0"/>
                                          </p:stCondLst>
                                        </p:cTn>
                                        <p:tgtEl>
                                          <p:spTgt spid="7"/>
                                        </p:tgtEl>
                                        <p:attrNameLst>
                                          <p:attrName>style.visibility</p:attrName>
                                        </p:attrNameLst>
                                      </p:cBhvr>
                                      <p:to>
                                        <p:strVal val="visible"/>
                                      </p:to>
                                    </p:set>
                                    <p:animEffect transition="in" filter="wipe(up)">
                                      <p:cBhvr>
                                        <p:cTn id="16" dur="2000"/>
                                        <p:tgtEl>
                                          <p:spTgt spid="7"/>
                                        </p:tgtEl>
                                      </p:cBhvr>
                                    </p:animEffect>
                                  </p:childTnLst>
                                </p:cTn>
                              </p:par>
                            </p:childTnLst>
                          </p:cTn>
                        </p:par>
                      </p:childTnLst>
                    </p:cTn>
                  </p:par>
                  <p:par>
                    <p:cTn id="17" fill="hold">
                      <p:stCondLst>
                        <p:cond delay="indefinite"/>
                      </p:stCondLst>
                      <p:childTnLst>
                        <p:par>
                          <p:cTn id="18" fill="hold">
                            <p:stCondLst>
                              <p:cond delay="0"/>
                            </p:stCondLst>
                            <p:childTnLst>
                              <p:par>
                                <p:cTn id="19" presetID="22" presetClass="entr" presetSubtype="8" fill="hold" grpId="0" nodeType="clickEffect">
                                  <p:stCondLst>
                                    <p:cond delay="0"/>
                                  </p:stCondLst>
                                  <p:childTnLst>
                                    <p:set>
                                      <p:cBhvr>
                                        <p:cTn id="20" dur="1" fill="hold">
                                          <p:stCondLst>
                                            <p:cond delay="0"/>
                                          </p:stCondLst>
                                        </p:cTn>
                                        <p:tgtEl>
                                          <p:spTgt spid="8">
                                            <p:txEl>
                                              <p:pRg st="3" end="3"/>
                                            </p:txEl>
                                          </p:spTgt>
                                        </p:tgtEl>
                                        <p:attrNameLst>
                                          <p:attrName>style.visibility</p:attrName>
                                        </p:attrNameLst>
                                      </p:cBhvr>
                                      <p:to>
                                        <p:strVal val="visible"/>
                                      </p:to>
                                    </p:set>
                                    <p:animEffect transition="in" filter="wipe(left)">
                                      <p:cBhvr>
                                        <p:cTn id="21" dur="1000"/>
                                        <p:tgtEl>
                                          <p:spTgt spid="8">
                                            <p:txEl>
                                              <p:pRg st="3" end="3"/>
                                            </p:txEl>
                                          </p:spTgt>
                                        </p:tgtEl>
                                      </p:cBhvr>
                                    </p:animEffect>
                                  </p:childTnLst>
                                </p:cTn>
                              </p:par>
                            </p:childTnLst>
                          </p:cTn>
                        </p:par>
                        <p:par>
                          <p:cTn id="22" fill="hold">
                            <p:stCondLst>
                              <p:cond delay="1000"/>
                            </p:stCondLst>
                            <p:childTnLst>
                              <p:par>
                                <p:cTn id="23" presetID="22" presetClass="entr" presetSubtype="8" fill="hold" grpId="0" nodeType="afterEffect">
                                  <p:stCondLst>
                                    <p:cond delay="0"/>
                                  </p:stCondLst>
                                  <p:childTnLst>
                                    <p:set>
                                      <p:cBhvr>
                                        <p:cTn id="24" dur="1" fill="hold">
                                          <p:stCondLst>
                                            <p:cond delay="0"/>
                                          </p:stCondLst>
                                        </p:cTn>
                                        <p:tgtEl>
                                          <p:spTgt spid="8">
                                            <p:txEl>
                                              <p:pRg st="4" end="4"/>
                                            </p:txEl>
                                          </p:spTgt>
                                        </p:tgtEl>
                                        <p:attrNameLst>
                                          <p:attrName>style.visibility</p:attrName>
                                        </p:attrNameLst>
                                      </p:cBhvr>
                                      <p:to>
                                        <p:strVal val="visible"/>
                                      </p:to>
                                    </p:set>
                                    <p:animEffect transition="in" filter="wipe(left)">
                                      <p:cBhvr>
                                        <p:cTn id="25" dur="1000"/>
                                        <p:tgtEl>
                                          <p:spTgt spid="8">
                                            <p:txEl>
                                              <p:pRg st="4" end="4"/>
                                            </p:txEl>
                                          </p:spTgt>
                                        </p:tgtEl>
                                      </p:cBhvr>
                                    </p:animEffect>
                                  </p:childTnLst>
                                </p:cTn>
                              </p:par>
                            </p:childTnLst>
                          </p:cTn>
                        </p:par>
                        <p:par>
                          <p:cTn id="26" fill="hold">
                            <p:stCondLst>
                              <p:cond delay="2000"/>
                            </p:stCondLst>
                            <p:childTnLst>
                              <p:par>
                                <p:cTn id="27" presetID="22" presetClass="entr" presetSubtype="8" fill="hold" grpId="0" nodeType="afterEffect">
                                  <p:stCondLst>
                                    <p:cond delay="0"/>
                                  </p:stCondLst>
                                  <p:childTnLst>
                                    <p:set>
                                      <p:cBhvr>
                                        <p:cTn id="28" dur="1" fill="hold">
                                          <p:stCondLst>
                                            <p:cond delay="0"/>
                                          </p:stCondLst>
                                        </p:cTn>
                                        <p:tgtEl>
                                          <p:spTgt spid="8">
                                            <p:txEl>
                                              <p:pRg st="5" end="5"/>
                                            </p:txEl>
                                          </p:spTgt>
                                        </p:tgtEl>
                                        <p:attrNameLst>
                                          <p:attrName>style.visibility</p:attrName>
                                        </p:attrNameLst>
                                      </p:cBhvr>
                                      <p:to>
                                        <p:strVal val="visible"/>
                                      </p:to>
                                    </p:set>
                                    <p:animEffect transition="in" filter="wipe(left)">
                                      <p:cBhvr>
                                        <p:cTn id="29" dur="1000"/>
                                        <p:tgtEl>
                                          <p:spTgt spid="8">
                                            <p:txEl>
                                              <p:pRg st="5" end="5"/>
                                            </p:txEl>
                                          </p:spTgt>
                                        </p:tgtEl>
                                      </p:cBhvr>
                                    </p:animEffect>
                                  </p:childTnLst>
                                </p:cTn>
                              </p:par>
                            </p:childTnLst>
                          </p:cTn>
                        </p:par>
                      </p:childTnLst>
                    </p:cTn>
                  </p:par>
                  <p:par>
                    <p:cTn id="30" fill="hold">
                      <p:stCondLst>
                        <p:cond delay="indefinite"/>
                      </p:stCondLst>
                      <p:childTnLst>
                        <p:par>
                          <p:cTn id="31" fill="hold">
                            <p:stCondLst>
                              <p:cond delay="0"/>
                            </p:stCondLst>
                            <p:childTnLst>
                              <p:par>
                                <p:cTn id="32" presetID="22" presetClass="entr" presetSubtype="8" fill="hold" grpId="0" nodeType="clickEffect">
                                  <p:stCondLst>
                                    <p:cond delay="0"/>
                                  </p:stCondLst>
                                  <p:childTnLst>
                                    <p:set>
                                      <p:cBhvr>
                                        <p:cTn id="33" dur="1" fill="hold">
                                          <p:stCondLst>
                                            <p:cond delay="0"/>
                                          </p:stCondLst>
                                        </p:cTn>
                                        <p:tgtEl>
                                          <p:spTgt spid="8">
                                            <p:txEl>
                                              <p:pRg st="7" end="7"/>
                                            </p:txEl>
                                          </p:spTgt>
                                        </p:tgtEl>
                                        <p:attrNameLst>
                                          <p:attrName>style.visibility</p:attrName>
                                        </p:attrNameLst>
                                      </p:cBhvr>
                                      <p:to>
                                        <p:strVal val="visible"/>
                                      </p:to>
                                    </p:set>
                                    <p:animEffect transition="in" filter="wipe(left)">
                                      <p:cBhvr>
                                        <p:cTn id="34" dur="1000"/>
                                        <p:tgtEl>
                                          <p:spTgt spid="8">
                                            <p:txEl>
                                              <p:pRg st="7" end="7"/>
                                            </p:txEl>
                                          </p:spTgt>
                                        </p:tgtEl>
                                      </p:cBhvr>
                                    </p:animEffect>
                                  </p:childTnLst>
                                </p:cTn>
                              </p:par>
                            </p:childTnLst>
                          </p:cTn>
                        </p:par>
                        <p:par>
                          <p:cTn id="35" fill="hold">
                            <p:stCondLst>
                              <p:cond delay="1000"/>
                            </p:stCondLst>
                            <p:childTnLst>
                              <p:par>
                                <p:cTn id="36" presetID="22" presetClass="entr" presetSubtype="8" fill="hold" grpId="0" nodeType="afterEffect">
                                  <p:stCondLst>
                                    <p:cond delay="0"/>
                                  </p:stCondLst>
                                  <p:childTnLst>
                                    <p:set>
                                      <p:cBhvr>
                                        <p:cTn id="37" dur="1" fill="hold">
                                          <p:stCondLst>
                                            <p:cond delay="0"/>
                                          </p:stCondLst>
                                        </p:cTn>
                                        <p:tgtEl>
                                          <p:spTgt spid="8">
                                            <p:txEl>
                                              <p:pRg st="8" end="8"/>
                                            </p:txEl>
                                          </p:spTgt>
                                        </p:tgtEl>
                                        <p:attrNameLst>
                                          <p:attrName>style.visibility</p:attrName>
                                        </p:attrNameLst>
                                      </p:cBhvr>
                                      <p:to>
                                        <p:strVal val="visible"/>
                                      </p:to>
                                    </p:set>
                                    <p:animEffect transition="in" filter="wipe(left)">
                                      <p:cBhvr>
                                        <p:cTn id="38" dur="2000"/>
                                        <p:tgtEl>
                                          <p:spTgt spid="8">
                                            <p:txEl>
                                              <p:pRg st="8" end="8"/>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uiExpand="1" build="p"/>
    </p:bldLst>
  </p:timing>
</p:sld>
</file>

<file path=ppt/slides/slide7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Santa's List - SQL</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1 </a:t>
            </a:r>
            <a:r>
              <a:rPr lang="en-US" altLang="en-US" sz="4200" dirty="0">
                <a:solidFill>
                  <a:srgbClr val="A71D5D"/>
                </a:solidFill>
                <a:latin typeface="Consolas" panose="020B0609020204030204" pitchFamily="49" charset="0"/>
              </a:rPr>
              <a:t>SELECT</a:t>
            </a:r>
            <a:r>
              <a:rPr lang="en-US" altLang="en-US" sz="4200" dirty="0">
                <a:solidFill>
                  <a:srgbClr val="000000"/>
                </a:solidFill>
                <a:latin typeface="Consolas" panose="020B0609020204030204" pitchFamily="49" charset="0"/>
              </a:rPr>
              <a:t> first, last, </a:t>
            </a:r>
            <a:r>
              <a:rPr lang="en-US" altLang="en-US" sz="4200" dirty="0" err="1">
                <a:solidFill>
                  <a:srgbClr val="000000"/>
                </a:solidFill>
                <a:latin typeface="Consolas" panose="020B0609020204030204" pitchFamily="49" charset="0"/>
              </a:rPr>
              <a:t>giftID</a:t>
            </a:r>
            <a:endParaRPr lang="en-US" altLang="en-US" sz="42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2   </a:t>
            </a:r>
            <a:r>
              <a:rPr lang="en-US" altLang="en-US" sz="4200" dirty="0">
                <a:solidFill>
                  <a:srgbClr val="A71D5D"/>
                </a:solidFill>
                <a:latin typeface="Consolas" panose="020B0609020204030204" pitchFamily="49" charset="0"/>
              </a:rPr>
              <a:t>FROM</a:t>
            </a:r>
            <a:r>
              <a:rPr lang="en-US" altLang="en-US" sz="4200" dirty="0">
                <a:solidFill>
                  <a:srgbClr val="000000"/>
                </a:solidFill>
                <a:latin typeface="Consolas" panose="020B0609020204030204" pitchFamily="49" charset="0"/>
              </a:rPr>
              <a:t> gift</a:t>
            </a:r>
          </a:p>
          <a:p>
            <a:pPr marL="0" lv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3   </a:t>
            </a:r>
            <a:r>
              <a:rPr lang="en-US" altLang="en-US" sz="4200" dirty="0">
                <a:solidFill>
                  <a:srgbClr val="A71D5D"/>
                </a:solidFill>
                <a:latin typeface="Consolas" panose="020B0609020204030204" pitchFamily="49" charset="0"/>
              </a:rPr>
              <a:t>WHERE</a:t>
            </a:r>
            <a:r>
              <a:rPr lang="en-US" altLang="en-US" sz="4200" dirty="0">
                <a:solidFill>
                  <a:srgbClr val="000000"/>
                </a:solidFill>
                <a:latin typeface="Consolas" panose="020B0609020204030204" pitchFamily="49" charset="0"/>
              </a:rPr>
              <a:t> nice = </a:t>
            </a:r>
            <a:r>
              <a:rPr lang="en-US" altLang="en-US" sz="4000" dirty="0">
                <a:solidFill>
                  <a:srgbClr val="A71D5D"/>
                </a:solidFill>
                <a:latin typeface="Consolas" panose="020B0609020204030204" pitchFamily="49" charset="0"/>
              </a:rPr>
              <a:t>TRUE</a:t>
            </a:r>
            <a:endParaRPr lang="en-US" altLang="en-US" sz="42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4   </a:t>
            </a:r>
            <a:r>
              <a:rPr lang="en-US" altLang="en-US" sz="4200" dirty="0">
                <a:solidFill>
                  <a:srgbClr val="A71D5D"/>
                </a:solidFill>
                <a:latin typeface="Consolas" panose="020B0609020204030204" pitchFamily="49" charset="0"/>
              </a:rPr>
              <a:t>ORDER BY</a:t>
            </a:r>
            <a:r>
              <a:rPr lang="en-US" altLang="en-US" sz="4200" dirty="0">
                <a:solidFill>
                  <a:srgbClr val="000000"/>
                </a:solidFill>
                <a:latin typeface="Consolas" panose="020B0609020204030204" pitchFamily="49" charset="0"/>
              </a:rPr>
              <a:t> last </a:t>
            </a:r>
            <a:r>
              <a:rPr lang="en-US" altLang="en-US" sz="4200" dirty="0">
                <a:solidFill>
                  <a:srgbClr val="A71D5D"/>
                </a:solidFill>
                <a:latin typeface="Consolas" panose="020B0609020204030204" pitchFamily="49" charset="0"/>
              </a:rPr>
              <a:t>DESC</a:t>
            </a:r>
            <a:r>
              <a:rPr lang="en-US" altLang="en-US" sz="42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5     </a:t>
            </a:r>
            <a:r>
              <a:rPr lang="en-US" altLang="en-US" sz="4200" dirty="0">
                <a:solidFill>
                  <a:srgbClr val="000000"/>
                </a:solidFill>
                <a:latin typeface="Consolas" panose="020B0609020204030204" pitchFamily="49" charset="0"/>
              </a:rPr>
              <a:t>first </a:t>
            </a:r>
            <a:r>
              <a:rPr lang="en-US" altLang="en-US" sz="4200" dirty="0">
                <a:solidFill>
                  <a:srgbClr val="A71D5D"/>
                </a:solidFill>
                <a:latin typeface="Consolas" panose="020B0609020204030204" pitchFamily="49" charset="0"/>
              </a:rPr>
              <a:t>ASC</a:t>
            </a:r>
            <a:r>
              <a:rPr lang="en-US" altLang="en-US" sz="4200" dirty="0">
                <a:solidFill>
                  <a:srgbClr val="000000"/>
                </a:solidFill>
                <a:latin typeface="Consolas" panose="020B0609020204030204" pitchFamily="49" charset="0"/>
              </a:rPr>
              <a:t>;</a:t>
            </a:r>
            <a:br>
              <a:rPr lang="en-US" altLang="en-US" sz="4200" dirty="0">
                <a:solidFill>
                  <a:srgbClr val="000000"/>
                </a:solidFill>
                <a:latin typeface="Consolas" panose="020B0609020204030204" pitchFamily="49" charset="0"/>
              </a:rPr>
            </a:br>
            <a:endParaRPr lang="en-US" altLang="en-US" sz="4200" dirty="0">
              <a:latin typeface="Arial" panose="020B0604020202020204" pitchFamily="34" charset="0"/>
            </a:endParaRPr>
          </a:p>
          <a:p>
            <a:pPr>
              <a:lnSpc>
                <a:spcPct val="120000"/>
              </a:lnSpc>
            </a:pPr>
            <a:endParaRPr lang="en-GB" sz="4200" dirty="0"/>
          </a:p>
        </p:txBody>
      </p:sp>
      <p:grpSp>
        <p:nvGrpSpPr>
          <p:cNvPr id="5" name="Group 4">
            <a:extLst>
              <a:ext uri="{FF2B5EF4-FFF2-40B4-BE49-F238E27FC236}">
                <a16:creationId xmlns:a16="http://schemas.microsoft.com/office/drawing/2014/main" id="{5158795E-4509-49D9-9430-5E3771C3DA3B}"/>
              </a:ext>
            </a:extLst>
          </p:cNvPr>
          <p:cNvGrpSpPr/>
          <p:nvPr/>
        </p:nvGrpSpPr>
        <p:grpSpPr>
          <a:xfrm>
            <a:off x="8005767" y="3449578"/>
            <a:ext cx="3348033" cy="2862322"/>
            <a:chOff x="2997509" y="1690688"/>
            <a:chExt cx="3348033" cy="2862322"/>
          </a:xfrm>
        </p:grpSpPr>
        <p:sp>
          <p:nvSpPr>
            <p:cNvPr id="6" name="TextBox 5">
              <a:extLst>
                <a:ext uri="{FF2B5EF4-FFF2-40B4-BE49-F238E27FC236}">
                  <a16:creationId xmlns:a16="http://schemas.microsoft.com/office/drawing/2014/main" id="{01874BD1-A196-48C3-BD84-7782EF92C462}"/>
                </a:ext>
              </a:extLst>
            </p:cNvPr>
            <p:cNvSpPr txBox="1"/>
            <p:nvPr/>
          </p:nvSpPr>
          <p:spPr>
            <a:xfrm>
              <a:off x="2997510" y="1690688"/>
              <a:ext cx="1635704" cy="2862322"/>
            </a:xfrm>
            <a:prstGeom prst="rect">
              <a:avLst/>
            </a:prstGeom>
            <a:solidFill>
              <a:schemeClr val="accent3">
                <a:lumMod val="20000"/>
                <a:lumOff val="80000"/>
              </a:schemeClr>
            </a:solidFill>
            <a:ln>
              <a:solidFill>
                <a:schemeClr val="tx1"/>
              </a:solidFill>
            </a:ln>
          </p:spPr>
          <p:txBody>
            <a:bodyPr wrap="square" rtlCol="0">
              <a:spAutoFit/>
            </a:bodyPr>
            <a:lstStyle/>
            <a:p>
              <a:r>
                <a:rPr lang="en-GB" sz="3600" b="1" dirty="0">
                  <a:highlight>
                    <a:srgbClr val="C0C0C0"/>
                  </a:highlight>
                </a:rPr>
                <a:t>   </a:t>
              </a:r>
            </a:p>
            <a:p>
              <a:r>
                <a:rPr lang="en-GB" sz="3600" dirty="0" err="1"/>
                <a:t>giftID</a:t>
              </a:r>
              <a:endParaRPr lang="en-GB" sz="3600" dirty="0"/>
            </a:p>
            <a:p>
              <a:r>
                <a:rPr lang="en-GB" sz="3600" dirty="0"/>
                <a:t>first</a:t>
              </a:r>
            </a:p>
            <a:p>
              <a:r>
                <a:rPr lang="en-GB" sz="3600" dirty="0"/>
                <a:t>last</a:t>
              </a:r>
            </a:p>
            <a:p>
              <a:r>
                <a:rPr lang="en-GB" sz="3600" dirty="0"/>
                <a:t>nice</a:t>
              </a:r>
            </a:p>
          </p:txBody>
        </p:sp>
        <p:sp>
          <p:nvSpPr>
            <p:cNvPr id="7" name="TextBox 6">
              <a:extLst>
                <a:ext uri="{FF2B5EF4-FFF2-40B4-BE49-F238E27FC236}">
                  <a16:creationId xmlns:a16="http://schemas.microsoft.com/office/drawing/2014/main" id="{75E5E1DB-3BA0-4A48-B0F0-F57150E41230}"/>
                </a:ext>
              </a:extLst>
            </p:cNvPr>
            <p:cNvSpPr txBox="1"/>
            <p:nvPr/>
          </p:nvSpPr>
          <p:spPr>
            <a:xfrm>
              <a:off x="4633214" y="1690688"/>
              <a:ext cx="1712328" cy="2862322"/>
            </a:xfrm>
            <a:prstGeom prst="rect">
              <a:avLst/>
            </a:prstGeom>
            <a:solidFill>
              <a:schemeClr val="accent3">
                <a:lumMod val="20000"/>
                <a:lumOff val="80000"/>
              </a:schemeClr>
            </a:solidFill>
            <a:ln>
              <a:solidFill>
                <a:schemeClr val="tx1"/>
              </a:solidFill>
            </a:ln>
          </p:spPr>
          <p:txBody>
            <a:bodyPr wrap="none" rtlCol="0">
              <a:spAutoFit/>
            </a:bodyPr>
            <a:lstStyle/>
            <a:p>
              <a:r>
                <a:rPr lang="en-GB" sz="3600" b="1" dirty="0">
                  <a:highlight>
                    <a:srgbClr val="C0C0C0"/>
                  </a:highlight>
                </a:rPr>
                <a:t>   </a:t>
              </a:r>
            </a:p>
            <a:p>
              <a:r>
                <a:rPr lang="en-GB" sz="3600" dirty="0"/>
                <a:t>number</a:t>
              </a:r>
            </a:p>
            <a:p>
              <a:r>
                <a:rPr lang="en-GB" sz="3600" dirty="0"/>
                <a:t>text</a:t>
              </a:r>
            </a:p>
            <a:p>
              <a:r>
                <a:rPr lang="en-GB" sz="3600" dirty="0"/>
                <a:t>text</a:t>
              </a:r>
            </a:p>
            <a:p>
              <a:r>
                <a:rPr lang="en-GB" sz="3600" dirty="0" err="1"/>
                <a:t>boolean</a:t>
              </a:r>
              <a:endParaRPr lang="en-GB" sz="3600" dirty="0"/>
            </a:p>
          </p:txBody>
        </p:sp>
        <p:sp>
          <p:nvSpPr>
            <p:cNvPr id="8" name="TextBox 7">
              <a:extLst>
                <a:ext uri="{FF2B5EF4-FFF2-40B4-BE49-F238E27FC236}">
                  <a16:creationId xmlns:a16="http://schemas.microsoft.com/office/drawing/2014/main" id="{7E6EB94D-8327-4A33-9265-A7636A8D791F}"/>
                </a:ext>
              </a:extLst>
            </p:cNvPr>
            <p:cNvSpPr txBox="1"/>
            <p:nvPr/>
          </p:nvSpPr>
          <p:spPr>
            <a:xfrm>
              <a:off x="2997509" y="1690688"/>
              <a:ext cx="3348033" cy="646331"/>
            </a:xfrm>
            <a:prstGeom prst="rect">
              <a:avLst/>
            </a:prstGeom>
            <a:solidFill>
              <a:schemeClr val="bg2">
                <a:lumMod val="90000"/>
              </a:schemeClr>
            </a:solidFill>
            <a:ln>
              <a:solidFill>
                <a:schemeClr val="tx1"/>
              </a:solidFill>
            </a:ln>
          </p:spPr>
          <p:txBody>
            <a:bodyPr wrap="square" rtlCol="0">
              <a:spAutoFit/>
            </a:bodyPr>
            <a:lstStyle/>
            <a:p>
              <a:r>
                <a:rPr lang="en-GB" sz="3600" b="1" dirty="0"/>
                <a:t>gift</a:t>
              </a:r>
            </a:p>
          </p:txBody>
        </p:sp>
      </p:grpSp>
    </p:spTree>
    <p:extLst>
      <p:ext uri="{BB962C8B-B14F-4D97-AF65-F5344CB8AC3E}">
        <p14:creationId xmlns:p14="http://schemas.microsoft.com/office/powerpoint/2010/main" val="319989231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1" fill="hold"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wipe(up)">
                                      <p:cBhvr>
                                        <p:cTn id="7" dur="2000"/>
                                        <p:tgtEl>
                                          <p:spTgt spid="5"/>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0" end="0"/>
                                            </p:txEl>
                                          </p:spTgt>
                                        </p:tgtEl>
                                        <p:attrNameLst>
                                          <p:attrName>style.visibility</p:attrName>
                                        </p:attrNameLst>
                                      </p:cBhvr>
                                      <p:to>
                                        <p:strVal val="visible"/>
                                      </p:to>
                                    </p:set>
                                    <p:animEffect transition="in" filter="wipe(left)">
                                      <p:cBhvr>
                                        <p:cTn id="12" dur="1750"/>
                                        <p:tgtEl>
                                          <p:spTgt spid="3">
                                            <p:txEl>
                                              <p:pRg st="0" end="0"/>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1" end="1"/>
                                            </p:txEl>
                                          </p:spTgt>
                                        </p:tgtEl>
                                        <p:attrNameLst>
                                          <p:attrName>style.visibility</p:attrName>
                                        </p:attrNameLst>
                                      </p:cBhvr>
                                      <p:to>
                                        <p:strVal val="visible"/>
                                      </p:to>
                                    </p:set>
                                    <p:animEffect transition="in" filter="wipe(left)">
                                      <p:cBhvr>
                                        <p:cTn id="17" dur="1500"/>
                                        <p:tgtEl>
                                          <p:spTgt spid="3">
                                            <p:txEl>
                                              <p:pRg st="1" end="1"/>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3">
                                            <p:txEl>
                                              <p:pRg st="2" end="2"/>
                                            </p:txEl>
                                          </p:spTgt>
                                        </p:tgtEl>
                                        <p:attrNameLst>
                                          <p:attrName>style.visibility</p:attrName>
                                        </p:attrNameLst>
                                      </p:cBhvr>
                                      <p:to>
                                        <p:strVal val="visible"/>
                                      </p:to>
                                    </p:set>
                                    <p:animEffect transition="in" filter="wipe(left)">
                                      <p:cBhvr>
                                        <p:cTn id="22" dur="1500"/>
                                        <p:tgtEl>
                                          <p:spTgt spid="3">
                                            <p:txEl>
                                              <p:pRg st="2" end="2"/>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3">
                                            <p:txEl>
                                              <p:pRg st="3" end="3"/>
                                            </p:txEl>
                                          </p:spTgt>
                                        </p:tgtEl>
                                        <p:attrNameLst>
                                          <p:attrName>style.visibility</p:attrName>
                                        </p:attrNameLst>
                                      </p:cBhvr>
                                      <p:to>
                                        <p:strVal val="visible"/>
                                      </p:to>
                                    </p:set>
                                    <p:animEffect transition="in" filter="wipe(left)">
                                      <p:cBhvr>
                                        <p:cTn id="27" dur="1500"/>
                                        <p:tgtEl>
                                          <p:spTgt spid="3">
                                            <p:txEl>
                                              <p:pRg st="3" end="3"/>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3">
                                            <p:txEl>
                                              <p:pRg st="4" end="4"/>
                                            </p:txEl>
                                          </p:spTgt>
                                        </p:tgtEl>
                                        <p:attrNameLst>
                                          <p:attrName>style.visibility</p:attrName>
                                        </p:attrNameLst>
                                      </p:cBhvr>
                                      <p:to>
                                        <p:strVal val="visible"/>
                                      </p:to>
                                    </p:set>
                                    <p:animEffect transition="in" filter="wipe(left)">
                                      <p:cBhvr>
                                        <p:cTn id="32" dur="1250"/>
                                        <p:tgtEl>
                                          <p:spTgt spid="3">
                                            <p:txEl>
                                              <p:pRg st="4" end="4"/>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Video Games Task</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a:lnSpc>
                <a:spcPct val="120000"/>
              </a:lnSpc>
            </a:pPr>
            <a:r>
              <a:rPr lang="en-GB" sz="4200" dirty="0"/>
              <a:t>Complete the Video Games tasks</a:t>
            </a:r>
          </a:p>
        </p:txBody>
      </p:sp>
    </p:spTree>
    <p:extLst>
      <p:ext uri="{BB962C8B-B14F-4D97-AF65-F5344CB8AC3E}">
        <p14:creationId xmlns:p14="http://schemas.microsoft.com/office/powerpoint/2010/main" val="927004980"/>
      </p:ext>
    </p:extLst>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Learning Intentions</a:t>
            </a:r>
          </a:p>
        </p:txBody>
      </p:sp>
      <p:sp>
        <p:nvSpPr>
          <p:cNvPr id="3" name="Content Placeholder 2"/>
          <p:cNvSpPr>
            <a:spLocks noGrp="1"/>
          </p:cNvSpPr>
          <p:nvPr>
            <p:ph idx="1"/>
          </p:nvPr>
        </p:nvSpPr>
        <p:spPr/>
        <p:txBody>
          <a:bodyPr/>
          <a:lstStyle/>
          <a:p>
            <a:r>
              <a:rPr lang="en-GB" dirty="0"/>
              <a:t>Describe and use SQL </a:t>
            </a:r>
            <a:r>
              <a:rPr lang="en-GB" dirty="0" err="1"/>
              <a:t>equi</a:t>
            </a:r>
            <a:r>
              <a:rPr lang="en-GB" dirty="0"/>
              <a:t>-joins between tables</a:t>
            </a:r>
          </a:p>
        </p:txBody>
      </p:sp>
    </p:spTree>
    <p:extLst>
      <p:ext uri="{BB962C8B-B14F-4D97-AF65-F5344CB8AC3E}">
        <p14:creationId xmlns:p14="http://schemas.microsoft.com/office/powerpoint/2010/main" val="3326917857"/>
      </p:ext>
    </p:extLst>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2630251-0176-4E08-9A40-5821ACD1944C}"/>
              </a:ext>
            </a:extLst>
          </p:cNvPr>
          <p:cNvSpPr>
            <a:spLocks noGrp="1"/>
          </p:cNvSpPr>
          <p:nvPr>
            <p:ph type="title"/>
          </p:nvPr>
        </p:nvSpPr>
        <p:spPr/>
        <p:txBody>
          <a:bodyPr/>
          <a:lstStyle/>
          <a:p>
            <a:r>
              <a:rPr lang="en-GB" dirty="0"/>
              <a:t>Relationship – Two Entities</a:t>
            </a:r>
          </a:p>
        </p:txBody>
      </p:sp>
      <p:sp>
        <p:nvSpPr>
          <p:cNvPr id="7" name="Keys">
            <a:extLst>
              <a:ext uri="{FF2B5EF4-FFF2-40B4-BE49-F238E27FC236}">
                <a16:creationId xmlns:a16="http://schemas.microsoft.com/office/drawing/2014/main" id="{663E3461-DC5D-48CF-AE13-69B629EAA16E}"/>
              </a:ext>
            </a:extLst>
          </p:cNvPr>
          <p:cNvSpPr txBox="1"/>
          <p:nvPr/>
        </p:nvSpPr>
        <p:spPr>
          <a:xfrm>
            <a:off x="838200" y="5429398"/>
            <a:ext cx="5317225" cy="1200329"/>
          </a:xfrm>
          <a:prstGeom prst="rect">
            <a:avLst/>
          </a:prstGeom>
          <a:noFill/>
        </p:spPr>
        <p:txBody>
          <a:bodyPr wrap="none" rtlCol="0">
            <a:spAutoFit/>
          </a:bodyPr>
          <a:lstStyle/>
          <a:p>
            <a:r>
              <a:rPr lang="en-GB" sz="3600" dirty="0">
                <a:solidFill>
                  <a:srgbClr val="7030A0"/>
                </a:solidFill>
              </a:rPr>
              <a:t>Primary Key: </a:t>
            </a:r>
            <a:r>
              <a:rPr lang="en-GB" sz="3600" u="sng" dirty="0">
                <a:solidFill>
                  <a:srgbClr val="7030A0"/>
                </a:solidFill>
              </a:rPr>
              <a:t>underlined</a:t>
            </a:r>
          </a:p>
          <a:p>
            <a:r>
              <a:rPr lang="en-GB" sz="3600" dirty="0">
                <a:solidFill>
                  <a:srgbClr val="7030A0"/>
                </a:solidFill>
              </a:rPr>
              <a:t>Foreign Key: suffixed with *</a:t>
            </a:r>
          </a:p>
        </p:txBody>
      </p:sp>
      <p:sp>
        <p:nvSpPr>
          <p:cNvPr id="2" name="Description">
            <a:extLst>
              <a:ext uri="{FF2B5EF4-FFF2-40B4-BE49-F238E27FC236}">
                <a16:creationId xmlns:a16="http://schemas.microsoft.com/office/drawing/2014/main" id="{5F704C70-63DD-5CD2-81E0-68A28F00CDBA}"/>
              </a:ext>
            </a:extLst>
          </p:cNvPr>
          <p:cNvSpPr txBox="1"/>
          <p:nvPr/>
        </p:nvSpPr>
        <p:spPr>
          <a:xfrm>
            <a:off x="3918294" y="3003676"/>
            <a:ext cx="3105529" cy="1200329"/>
          </a:xfrm>
          <a:prstGeom prst="rect">
            <a:avLst/>
          </a:prstGeom>
          <a:noFill/>
        </p:spPr>
        <p:txBody>
          <a:bodyPr wrap="none" rtlCol="0">
            <a:spAutoFit/>
          </a:bodyPr>
          <a:lstStyle/>
          <a:p>
            <a:pPr algn="ctr"/>
            <a:r>
              <a:rPr lang="en-GB" sz="3600" dirty="0">
                <a:solidFill>
                  <a:srgbClr val="7030A0"/>
                </a:solidFill>
              </a:rPr>
              <a:t>A taxi can make</a:t>
            </a:r>
          </a:p>
          <a:p>
            <a:pPr algn="ctr"/>
            <a:r>
              <a:rPr lang="en-GB" sz="3600" dirty="0">
                <a:solidFill>
                  <a:srgbClr val="7030A0"/>
                </a:solidFill>
              </a:rPr>
              <a:t>many journeys</a:t>
            </a:r>
          </a:p>
        </p:txBody>
      </p:sp>
      <p:sp>
        <p:nvSpPr>
          <p:cNvPr id="12" name="Verb">
            <a:extLst>
              <a:ext uri="{FF2B5EF4-FFF2-40B4-BE49-F238E27FC236}">
                <a16:creationId xmlns:a16="http://schemas.microsoft.com/office/drawing/2014/main" id="{DB0883C9-01FE-4D89-B150-38DC55AEFC10}"/>
              </a:ext>
            </a:extLst>
          </p:cNvPr>
          <p:cNvSpPr txBox="1"/>
          <p:nvPr/>
        </p:nvSpPr>
        <p:spPr>
          <a:xfrm>
            <a:off x="4703157" y="1515546"/>
            <a:ext cx="1380058" cy="646331"/>
          </a:xfrm>
          <a:prstGeom prst="rect">
            <a:avLst/>
          </a:prstGeom>
          <a:noFill/>
        </p:spPr>
        <p:txBody>
          <a:bodyPr wrap="none" rtlCol="0">
            <a:spAutoFit/>
          </a:bodyPr>
          <a:lstStyle/>
          <a:p>
            <a:pPr algn="ctr"/>
            <a:r>
              <a:rPr lang="en-GB" sz="3600" dirty="0"/>
              <a:t>makes</a:t>
            </a:r>
            <a:endParaRPr lang="en-GB" sz="2800" dirty="0"/>
          </a:p>
        </p:txBody>
      </p:sp>
      <p:grpSp>
        <p:nvGrpSpPr>
          <p:cNvPr id="13" name="taxi">
            <a:extLst>
              <a:ext uri="{FF2B5EF4-FFF2-40B4-BE49-F238E27FC236}">
                <a16:creationId xmlns:a16="http://schemas.microsoft.com/office/drawing/2014/main" id="{999086BD-AB94-47EE-8DB1-32155A3F5AD8}"/>
              </a:ext>
            </a:extLst>
          </p:cNvPr>
          <p:cNvGrpSpPr/>
          <p:nvPr/>
        </p:nvGrpSpPr>
        <p:grpSpPr>
          <a:xfrm>
            <a:off x="943143" y="1688137"/>
            <a:ext cx="1957587" cy="3416320"/>
            <a:chOff x="2197100" y="1720840"/>
            <a:chExt cx="1957587" cy="3416320"/>
          </a:xfrm>
        </p:grpSpPr>
        <p:sp>
          <p:nvSpPr>
            <p:cNvPr id="14" name="TextBox 13">
              <a:extLst>
                <a:ext uri="{FF2B5EF4-FFF2-40B4-BE49-F238E27FC236}">
                  <a16:creationId xmlns:a16="http://schemas.microsoft.com/office/drawing/2014/main" id="{9C2CD2B3-59E7-4006-BA07-7A4091453049}"/>
                </a:ext>
              </a:extLst>
            </p:cNvPr>
            <p:cNvSpPr txBox="1"/>
            <p:nvPr/>
          </p:nvSpPr>
          <p:spPr>
            <a:xfrm>
              <a:off x="2197100" y="1720840"/>
              <a:ext cx="1957587" cy="3416320"/>
            </a:xfrm>
            <a:prstGeom prst="rect">
              <a:avLst/>
            </a:prstGeom>
            <a:solidFill>
              <a:schemeClr val="accent3">
                <a:lumMod val="20000"/>
                <a:lumOff val="80000"/>
              </a:schemeClr>
            </a:solidFill>
            <a:ln>
              <a:solidFill>
                <a:schemeClr val="tx1"/>
              </a:solidFill>
            </a:ln>
          </p:spPr>
          <p:txBody>
            <a:bodyPr wrap="none" rtlCol="0">
              <a:spAutoFit/>
            </a:bodyPr>
            <a:lstStyle/>
            <a:p>
              <a:r>
                <a:rPr lang="en-GB" sz="3600" b="1" dirty="0">
                  <a:highlight>
                    <a:srgbClr val="C0C0C0"/>
                  </a:highlight>
                </a:rPr>
                <a:t>   </a:t>
              </a:r>
            </a:p>
            <a:p>
              <a:r>
                <a:rPr lang="en-GB" sz="3600" u="sng" dirty="0" err="1">
                  <a:latin typeface="Consolas" panose="020B0609020204030204" pitchFamily="49" charset="0"/>
                </a:rPr>
                <a:t>taxiID</a:t>
              </a:r>
              <a:endParaRPr lang="en-GB" sz="3600" u="sng" dirty="0">
                <a:latin typeface="Consolas" panose="020B0609020204030204" pitchFamily="49" charset="0"/>
              </a:endParaRPr>
            </a:p>
            <a:p>
              <a:r>
                <a:rPr lang="en-GB" sz="3600" dirty="0" err="1">
                  <a:latin typeface="Consolas" panose="020B0609020204030204" pitchFamily="49" charset="0"/>
                </a:rPr>
                <a:t>taxiReg</a:t>
              </a:r>
              <a:endParaRPr lang="en-GB" sz="3600" dirty="0">
                <a:latin typeface="Consolas" panose="020B0609020204030204" pitchFamily="49" charset="0"/>
              </a:endParaRPr>
            </a:p>
            <a:p>
              <a:r>
                <a:rPr lang="en-GB" sz="3600" dirty="0">
                  <a:latin typeface="Consolas" panose="020B0609020204030204" pitchFamily="49" charset="0"/>
                </a:rPr>
                <a:t>make</a:t>
              </a:r>
            </a:p>
            <a:p>
              <a:r>
                <a:rPr lang="en-GB" sz="3600" dirty="0">
                  <a:latin typeface="Consolas" panose="020B0609020204030204" pitchFamily="49" charset="0"/>
                </a:rPr>
                <a:t>model</a:t>
              </a:r>
            </a:p>
            <a:p>
              <a:r>
                <a:rPr lang="en-GB" sz="3600" dirty="0">
                  <a:latin typeface="Consolas" panose="020B0609020204030204" pitchFamily="49" charset="0"/>
                </a:rPr>
                <a:t>colour</a:t>
              </a:r>
            </a:p>
          </p:txBody>
        </p:sp>
        <p:sp>
          <p:nvSpPr>
            <p:cNvPr id="15" name="TextBox 14">
              <a:extLst>
                <a:ext uri="{FF2B5EF4-FFF2-40B4-BE49-F238E27FC236}">
                  <a16:creationId xmlns:a16="http://schemas.microsoft.com/office/drawing/2014/main" id="{1FD6EF7E-F059-430F-9A1F-C89FC42961D2}"/>
                </a:ext>
              </a:extLst>
            </p:cNvPr>
            <p:cNvSpPr txBox="1"/>
            <p:nvPr/>
          </p:nvSpPr>
          <p:spPr>
            <a:xfrm>
              <a:off x="2197100" y="1720840"/>
              <a:ext cx="1957587" cy="646331"/>
            </a:xfrm>
            <a:prstGeom prst="rect">
              <a:avLst/>
            </a:prstGeom>
            <a:solidFill>
              <a:schemeClr val="bg2">
                <a:lumMod val="90000"/>
              </a:schemeClr>
            </a:solidFill>
            <a:ln>
              <a:solidFill>
                <a:schemeClr val="tx1"/>
              </a:solidFill>
            </a:ln>
          </p:spPr>
          <p:txBody>
            <a:bodyPr wrap="square" rtlCol="0">
              <a:spAutoFit/>
            </a:bodyPr>
            <a:lstStyle/>
            <a:p>
              <a:r>
                <a:rPr lang="en-GB" sz="3600" b="1" dirty="0">
                  <a:latin typeface="Consolas" panose="020B0609020204030204" pitchFamily="49" charset="0"/>
                </a:rPr>
                <a:t>taxi</a:t>
              </a:r>
              <a:endParaRPr lang="en-GB" sz="3600" b="1" dirty="0"/>
            </a:p>
          </p:txBody>
        </p:sp>
      </p:grpSp>
      <p:grpSp>
        <p:nvGrpSpPr>
          <p:cNvPr id="16" name="1:M">
            <a:extLst>
              <a:ext uri="{FF2B5EF4-FFF2-40B4-BE49-F238E27FC236}">
                <a16:creationId xmlns:a16="http://schemas.microsoft.com/office/drawing/2014/main" id="{26A1FAA3-CC81-49D6-AB17-4E0AC8A72287}"/>
              </a:ext>
            </a:extLst>
          </p:cNvPr>
          <p:cNvGrpSpPr/>
          <p:nvPr/>
        </p:nvGrpSpPr>
        <p:grpSpPr>
          <a:xfrm>
            <a:off x="2900730" y="1858766"/>
            <a:ext cx="5357883" cy="359999"/>
            <a:chOff x="4502107" y="5300546"/>
            <a:chExt cx="3207592" cy="359999"/>
          </a:xfrm>
        </p:grpSpPr>
        <p:cxnSp>
          <p:nvCxnSpPr>
            <p:cNvPr id="17" name="Straight Connector 16">
              <a:extLst>
                <a:ext uri="{FF2B5EF4-FFF2-40B4-BE49-F238E27FC236}">
                  <a16:creationId xmlns:a16="http://schemas.microsoft.com/office/drawing/2014/main" id="{94AB25B3-E0EA-4F25-AC9F-5298AC30E16D}"/>
                </a:ext>
              </a:extLst>
            </p:cNvPr>
            <p:cNvCxnSpPr>
              <a:cxnSpLocks/>
            </p:cNvCxnSpPr>
            <p:nvPr/>
          </p:nvCxnSpPr>
          <p:spPr>
            <a:xfrm flipV="1">
              <a:off x="4502107" y="5489248"/>
              <a:ext cx="3207592" cy="0"/>
            </a:xfrm>
            <a:prstGeom prst="line">
              <a:avLst/>
            </a:prstGeom>
            <a:ln w="5715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18" name="Straight Connector 17">
              <a:extLst>
                <a:ext uri="{FF2B5EF4-FFF2-40B4-BE49-F238E27FC236}">
                  <a16:creationId xmlns:a16="http://schemas.microsoft.com/office/drawing/2014/main" id="{5AD0ABB3-EDA3-4162-973D-0BAD756A6638}"/>
                </a:ext>
              </a:extLst>
            </p:cNvPr>
            <p:cNvCxnSpPr/>
            <p:nvPr/>
          </p:nvCxnSpPr>
          <p:spPr>
            <a:xfrm flipV="1">
              <a:off x="7391400" y="5300546"/>
              <a:ext cx="318299" cy="188701"/>
            </a:xfrm>
            <a:prstGeom prst="line">
              <a:avLst/>
            </a:prstGeom>
            <a:ln w="5715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19" name="Straight Connector 18">
              <a:extLst>
                <a:ext uri="{FF2B5EF4-FFF2-40B4-BE49-F238E27FC236}">
                  <a16:creationId xmlns:a16="http://schemas.microsoft.com/office/drawing/2014/main" id="{A7EE2AB4-EF10-4E5F-9FE6-E0465F160441}"/>
                </a:ext>
              </a:extLst>
            </p:cNvPr>
            <p:cNvCxnSpPr/>
            <p:nvPr/>
          </p:nvCxnSpPr>
          <p:spPr>
            <a:xfrm>
              <a:off x="7391400" y="5489247"/>
              <a:ext cx="318299" cy="171298"/>
            </a:xfrm>
            <a:prstGeom prst="line">
              <a:avLst/>
            </a:prstGeom>
            <a:ln w="57150">
              <a:solidFill>
                <a:srgbClr val="FF0000"/>
              </a:solidFill>
            </a:ln>
          </p:spPr>
          <p:style>
            <a:lnRef idx="1">
              <a:schemeClr val="accent1"/>
            </a:lnRef>
            <a:fillRef idx="0">
              <a:schemeClr val="accent1"/>
            </a:fillRef>
            <a:effectRef idx="0">
              <a:schemeClr val="accent1"/>
            </a:effectRef>
            <a:fontRef idx="minor">
              <a:schemeClr val="tx1"/>
            </a:fontRef>
          </p:style>
        </p:cxnSp>
      </p:grpSp>
      <p:grpSp>
        <p:nvGrpSpPr>
          <p:cNvPr id="20" name="journey">
            <a:extLst>
              <a:ext uri="{FF2B5EF4-FFF2-40B4-BE49-F238E27FC236}">
                <a16:creationId xmlns:a16="http://schemas.microsoft.com/office/drawing/2014/main" id="{875D6F1B-A908-4F59-B0B7-94D23EF5C00E}"/>
              </a:ext>
            </a:extLst>
          </p:cNvPr>
          <p:cNvGrpSpPr/>
          <p:nvPr/>
        </p:nvGrpSpPr>
        <p:grpSpPr>
          <a:xfrm>
            <a:off x="8239563" y="1688137"/>
            <a:ext cx="2717412" cy="4524315"/>
            <a:chOff x="7175029" y="1690688"/>
            <a:chExt cx="2717412" cy="4524315"/>
          </a:xfrm>
        </p:grpSpPr>
        <p:sp>
          <p:nvSpPr>
            <p:cNvPr id="21" name="TextBox 20">
              <a:extLst>
                <a:ext uri="{FF2B5EF4-FFF2-40B4-BE49-F238E27FC236}">
                  <a16:creationId xmlns:a16="http://schemas.microsoft.com/office/drawing/2014/main" id="{CA7597C4-25C2-42B3-87E4-2179334B1E12}"/>
                </a:ext>
              </a:extLst>
            </p:cNvPr>
            <p:cNvSpPr txBox="1"/>
            <p:nvPr/>
          </p:nvSpPr>
          <p:spPr>
            <a:xfrm>
              <a:off x="7175030" y="1690688"/>
              <a:ext cx="2717411" cy="4524315"/>
            </a:xfrm>
            <a:prstGeom prst="rect">
              <a:avLst/>
            </a:prstGeom>
            <a:solidFill>
              <a:schemeClr val="accent3">
                <a:lumMod val="20000"/>
                <a:lumOff val="80000"/>
              </a:schemeClr>
            </a:solidFill>
            <a:ln>
              <a:solidFill>
                <a:schemeClr val="tx1"/>
              </a:solidFill>
            </a:ln>
          </p:spPr>
          <p:txBody>
            <a:bodyPr wrap="none" rtlCol="0">
              <a:spAutoFit/>
            </a:bodyPr>
            <a:lstStyle/>
            <a:p>
              <a:r>
                <a:rPr lang="en-GB" sz="3600" b="1" dirty="0">
                  <a:highlight>
                    <a:srgbClr val="C0C0C0"/>
                  </a:highlight>
                  <a:latin typeface="Consolas" panose="020B0609020204030204" pitchFamily="49" charset="0"/>
                </a:rPr>
                <a:t>journey</a:t>
              </a:r>
            </a:p>
            <a:p>
              <a:r>
                <a:rPr lang="en-GB" sz="3600" u="sng" dirty="0" err="1">
                  <a:latin typeface="Consolas" panose="020B0609020204030204" pitchFamily="49" charset="0"/>
                </a:rPr>
                <a:t>journeyID</a:t>
              </a:r>
              <a:endParaRPr lang="en-GB" sz="3600" u="sng" dirty="0">
                <a:latin typeface="Consolas" panose="020B0609020204030204" pitchFamily="49" charset="0"/>
              </a:endParaRPr>
            </a:p>
            <a:p>
              <a:r>
                <a:rPr lang="en-GB" sz="3600" dirty="0" err="1">
                  <a:latin typeface="Consolas" panose="020B0609020204030204" pitchFamily="49" charset="0"/>
                </a:rPr>
                <a:t>taxiID</a:t>
              </a:r>
              <a:r>
                <a:rPr lang="en-GB" sz="3600" dirty="0">
                  <a:latin typeface="Consolas" panose="020B0609020204030204" pitchFamily="49" charset="0"/>
                </a:rPr>
                <a:t>*</a:t>
              </a:r>
            </a:p>
            <a:p>
              <a:r>
                <a:rPr lang="en-GB" sz="3600" dirty="0" err="1">
                  <a:latin typeface="Consolas" panose="020B0609020204030204" pitchFamily="49" charset="0"/>
                </a:rPr>
                <a:t>pickUpDate</a:t>
              </a:r>
              <a:endParaRPr lang="en-GB" sz="3600" dirty="0">
                <a:latin typeface="Consolas" panose="020B0609020204030204" pitchFamily="49" charset="0"/>
              </a:endParaRPr>
            </a:p>
            <a:p>
              <a:r>
                <a:rPr lang="en-GB" sz="3600" dirty="0" err="1">
                  <a:latin typeface="Consolas" panose="020B0609020204030204" pitchFamily="49" charset="0"/>
                </a:rPr>
                <a:t>pickUpTime</a:t>
              </a:r>
              <a:endParaRPr lang="en-GB" sz="3600" dirty="0">
                <a:latin typeface="Consolas" panose="020B0609020204030204" pitchFamily="49" charset="0"/>
              </a:endParaRPr>
            </a:p>
            <a:p>
              <a:r>
                <a:rPr lang="en-GB" sz="3600" dirty="0" err="1">
                  <a:latin typeface="Consolas" panose="020B0609020204030204" pitchFamily="49" charset="0"/>
                </a:rPr>
                <a:t>pax</a:t>
              </a:r>
              <a:endParaRPr lang="en-GB" sz="3600" dirty="0">
                <a:latin typeface="Consolas" panose="020B0609020204030204" pitchFamily="49" charset="0"/>
              </a:endParaRPr>
            </a:p>
            <a:p>
              <a:r>
                <a:rPr lang="en-GB" sz="3600" dirty="0" err="1">
                  <a:latin typeface="Consolas" panose="020B0609020204030204" pitchFamily="49" charset="0"/>
                </a:rPr>
                <a:t>pickUp</a:t>
              </a:r>
              <a:endParaRPr lang="en-GB" sz="3600" dirty="0">
                <a:latin typeface="Consolas" panose="020B0609020204030204" pitchFamily="49" charset="0"/>
              </a:endParaRPr>
            </a:p>
            <a:p>
              <a:r>
                <a:rPr lang="en-GB" sz="3600" dirty="0" err="1">
                  <a:latin typeface="Consolas" panose="020B0609020204030204" pitchFamily="49" charset="0"/>
                </a:rPr>
                <a:t>dropOff</a:t>
              </a:r>
              <a:endParaRPr lang="en-GB" sz="3600" dirty="0">
                <a:latin typeface="Consolas" panose="020B0609020204030204" pitchFamily="49" charset="0"/>
              </a:endParaRPr>
            </a:p>
          </p:txBody>
        </p:sp>
        <p:sp>
          <p:nvSpPr>
            <p:cNvPr id="22" name="TextBox 21">
              <a:extLst>
                <a:ext uri="{FF2B5EF4-FFF2-40B4-BE49-F238E27FC236}">
                  <a16:creationId xmlns:a16="http://schemas.microsoft.com/office/drawing/2014/main" id="{2EE40C53-3243-472A-883B-FF608A0E334A}"/>
                </a:ext>
              </a:extLst>
            </p:cNvPr>
            <p:cNvSpPr txBox="1"/>
            <p:nvPr/>
          </p:nvSpPr>
          <p:spPr>
            <a:xfrm>
              <a:off x="7175029" y="1690688"/>
              <a:ext cx="2717411" cy="646331"/>
            </a:xfrm>
            <a:prstGeom prst="rect">
              <a:avLst/>
            </a:prstGeom>
            <a:solidFill>
              <a:schemeClr val="bg2">
                <a:lumMod val="90000"/>
              </a:schemeClr>
            </a:solidFill>
            <a:ln>
              <a:solidFill>
                <a:schemeClr val="tx1"/>
              </a:solidFill>
            </a:ln>
          </p:spPr>
          <p:txBody>
            <a:bodyPr wrap="square" rtlCol="0">
              <a:spAutoFit/>
            </a:bodyPr>
            <a:lstStyle/>
            <a:p>
              <a:r>
                <a:rPr lang="en-GB" sz="3600" b="1" dirty="0">
                  <a:latin typeface="Consolas" panose="020B0609020204030204" pitchFamily="49" charset="0"/>
                </a:rPr>
                <a:t>journey</a:t>
              </a:r>
              <a:endParaRPr lang="en-GB" sz="3600" b="1" dirty="0"/>
            </a:p>
          </p:txBody>
        </p:sp>
      </p:grpSp>
    </p:spTree>
    <p:extLst>
      <p:ext uri="{BB962C8B-B14F-4D97-AF65-F5344CB8AC3E}">
        <p14:creationId xmlns:p14="http://schemas.microsoft.com/office/powerpoint/2010/main" val="47669051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3"/>
                                        </p:tgtEl>
                                        <p:attrNameLst>
                                          <p:attrName>style.visibility</p:attrName>
                                        </p:attrNameLst>
                                      </p:cBhvr>
                                      <p:to>
                                        <p:strVal val="visible"/>
                                      </p:to>
                                    </p:set>
                                    <p:animEffect transition="in" filter="fade">
                                      <p:cBhvr>
                                        <p:cTn id="7" dur="1000"/>
                                        <p:tgtEl>
                                          <p:spTgt spid="13"/>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0"/>
                                        </p:tgtEl>
                                        <p:attrNameLst>
                                          <p:attrName>style.visibility</p:attrName>
                                        </p:attrNameLst>
                                      </p:cBhvr>
                                      <p:to>
                                        <p:strVal val="visible"/>
                                      </p:to>
                                    </p:set>
                                    <p:animEffect transition="in" filter="fade">
                                      <p:cBhvr>
                                        <p:cTn id="12" dur="1000"/>
                                        <p:tgtEl>
                                          <p:spTgt spid="20"/>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nodeType="clickEffect">
                                  <p:stCondLst>
                                    <p:cond delay="0"/>
                                  </p:stCondLst>
                                  <p:childTnLst>
                                    <p:set>
                                      <p:cBhvr>
                                        <p:cTn id="16" dur="1" fill="hold">
                                          <p:stCondLst>
                                            <p:cond delay="0"/>
                                          </p:stCondLst>
                                        </p:cTn>
                                        <p:tgtEl>
                                          <p:spTgt spid="16"/>
                                        </p:tgtEl>
                                        <p:attrNameLst>
                                          <p:attrName>style.visibility</p:attrName>
                                        </p:attrNameLst>
                                      </p:cBhvr>
                                      <p:to>
                                        <p:strVal val="visible"/>
                                      </p:to>
                                    </p:set>
                                    <p:animEffect transition="in" filter="wipe(left)">
                                      <p:cBhvr>
                                        <p:cTn id="17" dur="1500"/>
                                        <p:tgtEl>
                                          <p:spTgt spid="16"/>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12"/>
                                        </p:tgtEl>
                                        <p:attrNameLst>
                                          <p:attrName>style.visibility</p:attrName>
                                        </p:attrNameLst>
                                      </p:cBhvr>
                                      <p:to>
                                        <p:strVal val="visible"/>
                                      </p:to>
                                    </p:set>
                                    <p:animEffect transition="in" filter="wipe(left)">
                                      <p:cBhvr>
                                        <p:cTn id="22" dur="1000"/>
                                        <p:tgtEl>
                                          <p:spTgt spid="12"/>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2">
                                            <p:txEl>
                                              <p:pRg st="0" end="0"/>
                                            </p:txEl>
                                          </p:spTgt>
                                        </p:tgtEl>
                                        <p:attrNameLst>
                                          <p:attrName>style.visibility</p:attrName>
                                        </p:attrNameLst>
                                      </p:cBhvr>
                                      <p:to>
                                        <p:strVal val="visible"/>
                                      </p:to>
                                    </p:set>
                                    <p:animEffect transition="in" filter="wipe(left)">
                                      <p:cBhvr>
                                        <p:cTn id="27" dur="1500"/>
                                        <p:tgtEl>
                                          <p:spTgt spid="2">
                                            <p:txEl>
                                              <p:pRg st="0" end="0"/>
                                            </p:txEl>
                                          </p:spTgt>
                                        </p:tgtEl>
                                      </p:cBhvr>
                                    </p:animEffect>
                                  </p:childTnLst>
                                </p:cTn>
                              </p:par>
                            </p:childTnLst>
                          </p:cTn>
                        </p:par>
                        <p:par>
                          <p:cTn id="28" fill="hold">
                            <p:stCondLst>
                              <p:cond delay="1500"/>
                            </p:stCondLst>
                            <p:childTnLst>
                              <p:par>
                                <p:cTn id="29" presetID="22" presetClass="entr" presetSubtype="8" fill="hold" grpId="0" nodeType="afterEffect">
                                  <p:stCondLst>
                                    <p:cond delay="0"/>
                                  </p:stCondLst>
                                  <p:childTnLst>
                                    <p:set>
                                      <p:cBhvr>
                                        <p:cTn id="30" dur="1" fill="hold">
                                          <p:stCondLst>
                                            <p:cond delay="0"/>
                                          </p:stCondLst>
                                        </p:cTn>
                                        <p:tgtEl>
                                          <p:spTgt spid="2">
                                            <p:txEl>
                                              <p:pRg st="1" end="1"/>
                                            </p:txEl>
                                          </p:spTgt>
                                        </p:tgtEl>
                                        <p:attrNameLst>
                                          <p:attrName>style.visibility</p:attrName>
                                        </p:attrNameLst>
                                      </p:cBhvr>
                                      <p:to>
                                        <p:strVal val="visible"/>
                                      </p:to>
                                    </p:set>
                                    <p:animEffect transition="in" filter="wipe(left)">
                                      <p:cBhvr>
                                        <p:cTn id="31" dur="1500"/>
                                        <p:tgtEl>
                                          <p:spTgt spid="2">
                                            <p:txEl>
                                              <p:pRg st="1" end="1"/>
                                            </p:txEl>
                                          </p:spTgt>
                                        </p:tgtEl>
                                      </p:cBhvr>
                                    </p:animEffect>
                                  </p:childTnLst>
                                </p:cTn>
                              </p:par>
                            </p:childTnLst>
                          </p:cTn>
                        </p:par>
                      </p:childTnLst>
                    </p:cTn>
                  </p:par>
                  <p:par>
                    <p:cTn id="32" fill="hold">
                      <p:stCondLst>
                        <p:cond delay="indefinite"/>
                      </p:stCondLst>
                      <p:childTnLst>
                        <p:par>
                          <p:cTn id="33" fill="hold">
                            <p:stCondLst>
                              <p:cond delay="0"/>
                            </p:stCondLst>
                            <p:childTnLst>
                              <p:par>
                                <p:cTn id="34" presetID="22" presetClass="entr" presetSubtype="8" fill="hold" grpId="0" nodeType="clickEffect">
                                  <p:stCondLst>
                                    <p:cond delay="0"/>
                                  </p:stCondLst>
                                  <p:childTnLst>
                                    <p:set>
                                      <p:cBhvr>
                                        <p:cTn id="35" dur="1" fill="hold">
                                          <p:stCondLst>
                                            <p:cond delay="0"/>
                                          </p:stCondLst>
                                        </p:cTn>
                                        <p:tgtEl>
                                          <p:spTgt spid="7">
                                            <p:txEl>
                                              <p:pRg st="0" end="0"/>
                                            </p:txEl>
                                          </p:spTgt>
                                        </p:tgtEl>
                                        <p:attrNameLst>
                                          <p:attrName>style.visibility</p:attrName>
                                        </p:attrNameLst>
                                      </p:cBhvr>
                                      <p:to>
                                        <p:strVal val="visible"/>
                                      </p:to>
                                    </p:set>
                                    <p:animEffect transition="in" filter="wipe(left)">
                                      <p:cBhvr>
                                        <p:cTn id="36" dur="2000"/>
                                        <p:tgtEl>
                                          <p:spTgt spid="7">
                                            <p:txEl>
                                              <p:pRg st="0" end="0"/>
                                            </p:txEl>
                                          </p:spTgt>
                                        </p:tgtEl>
                                      </p:cBhvr>
                                    </p:animEffect>
                                  </p:childTnLst>
                                </p:cTn>
                              </p:par>
                            </p:childTnLst>
                          </p:cTn>
                        </p:par>
                      </p:childTnLst>
                    </p:cTn>
                  </p:par>
                  <p:par>
                    <p:cTn id="37" fill="hold">
                      <p:stCondLst>
                        <p:cond delay="indefinite"/>
                      </p:stCondLst>
                      <p:childTnLst>
                        <p:par>
                          <p:cTn id="38" fill="hold">
                            <p:stCondLst>
                              <p:cond delay="0"/>
                            </p:stCondLst>
                            <p:childTnLst>
                              <p:par>
                                <p:cTn id="39" presetID="22" presetClass="entr" presetSubtype="8" fill="hold" grpId="0" nodeType="clickEffect">
                                  <p:stCondLst>
                                    <p:cond delay="0"/>
                                  </p:stCondLst>
                                  <p:childTnLst>
                                    <p:set>
                                      <p:cBhvr>
                                        <p:cTn id="40" dur="1" fill="hold">
                                          <p:stCondLst>
                                            <p:cond delay="0"/>
                                          </p:stCondLst>
                                        </p:cTn>
                                        <p:tgtEl>
                                          <p:spTgt spid="7">
                                            <p:txEl>
                                              <p:pRg st="1" end="1"/>
                                            </p:txEl>
                                          </p:spTgt>
                                        </p:tgtEl>
                                        <p:attrNameLst>
                                          <p:attrName>style.visibility</p:attrName>
                                        </p:attrNameLst>
                                      </p:cBhvr>
                                      <p:to>
                                        <p:strVal val="visible"/>
                                      </p:to>
                                    </p:set>
                                    <p:animEffect transition="in" filter="wipe(left)">
                                      <p:cBhvr>
                                        <p:cTn id="41" dur="2000"/>
                                        <p:tgtEl>
                                          <p:spTgt spid="7">
                                            <p:txEl>
                                              <p:pRg st="1" end="1"/>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uiExpand="1" build="p"/>
      <p:bldP spid="2" grpId="0" uiExpand="1" build="p"/>
      <p:bldP spid="12" grpId="0"/>
    </p:bldLst>
  </p:timing>
</p:sld>
</file>

<file path=ppt/slides/slide77.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2630251-0176-4E08-9A40-5821ACD1944C}"/>
              </a:ext>
            </a:extLst>
          </p:cNvPr>
          <p:cNvSpPr>
            <a:spLocks noGrp="1"/>
          </p:cNvSpPr>
          <p:nvPr>
            <p:ph type="title"/>
          </p:nvPr>
        </p:nvSpPr>
        <p:spPr/>
        <p:txBody>
          <a:bodyPr/>
          <a:lstStyle/>
          <a:p>
            <a:r>
              <a:rPr lang="en-GB" dirty="0"/>
              <a:t>Relationship – Two Entities</a:t>
            </a:r>
          </a:p>
        </p:txBody>
      </p:sp>
      <p:grpSp>
        <p:nvGrpSpPr>
          <p:cNvPr id="13" name="Group 12">
            <a:extLst>
              <a:ext uri="{FF2B5EF4-FFF2-40B4-BE49-F238E27FC236}">
                <a16:creationId xmlns:a16="http://schemas.microsoft.com/office/drawing/2014/main" id="{999086BD-AB94-47EE-8DB1-32155A3F5AD8}"/>
              </a:ext>
            </a:extLst>
          </p:cNvPr>
          <p:cNvGrpSpPr/>
          <p:nvPr/>
        </p:nvGrpSpPr>
        <p:grpSpPr>
          <a:xfrm>
            <a:off x="943143" y="1688137"/>
            <a:ext cx="1957587" cy="3416320"/>
            <a:chOff x="2197100" y="1720840"/>
            <a:chExt cx="1957587" cy="3416320"/>
          </a:xfrm>
        </p:grpSpPr>
        <p:sp>
          <p:nvSpPr>
            <p:cNvPr id="14" name="TextBox 13">
              <a:extLst>
                <a:ext uri="{FF2B5EF4-FFF2-40B4-BE49-F238E27FC236}">
                  <a16:creationId xmlns:a16="http://schemas.microsoft.com/office/drawing/2014/main" id="{9C2CD2B3-59E7-4006-BA07-7A4091453049}"/>
                </a:ext>
              </a:extLst>
            </p:cNvPr>
            <p:cNvSpPr txBox="1"/>
            <p:nvPr/>
          </p:nvSpPr>
          <p:spPr>
            <a:xfrm>
              <a:off x="2197100" y="1720840"/>
              <a:ext cx="1957587" cy="3416320"/>
            </a:xfrm>
            <a:prstGeom prst="rect">
              <a:avLst/>
            </a:prstGeom>
            <a:solidFill>
              <a:schemeClr val="accent3">
                <a:lumMod val="20000"/>
                <a:lumOff val="80000"/>
              </a:schemeClr>
            </a:solidFill>
            <a:ln>
              <a:solidFill>
                <a:schemeClr val="tx1"/>
              </a:solidFill>
            </a:ln>
          </p:spPr>
          <p:txBody>
            <a:bodyPr wrap="none" rtlCol="0">
              <a:spAutoFit/>
            </a:bodyPr>
            <a:lstStyle/>
            <a:p>
              <a:r>
                <a:rPr lang="en-GB" sz="3600" b="1" dirty="0">
                  <a:highlight>
                    <a:srgbClr val="C0C0C0"/>
                  </a:highlight>
                </a:rPr>
                <a:t>   </a:t>
              </a:r>
            </a:p>
            <a:p>
              <a:r>
                <a:rPr lang="en-GB" sz="3600" u="sng" dirty="0" err="1">
                  <a:latin typeface="Consolas" panose="020B0609020204030204" pitchFamily="49" charset="0"/>
                </a:rPr>
                <a:t>taxiID</a:t>
              </a:r>
              <a:endParaRPr lang="en-GB" sz="3600" u="sng" dirty="0">
                <a:latin typeface="Consolas" panose="020B0609020204030204" pitchFamily="49" charset="0"/>
              </a:endParaRPr>
            </a:p>
            <a:p>
              <a:r>
                <a:rPr lang="en-GB" sz="3600" dirty="0" err="1">
                  <a:latin typeface="Consolas" panose="020B0609020204030204" pitchFamily="49" charset="0"/>
                </a:rPr>
                <a:t>taxiReg</a:t>
              </a:r>
              <a:endParaRPr lang="en-GB" sz="3600" dirty="0">
                <a:latin typeface="Consolas" panose="020B0609020204030204" pitchFamily="49" charset="0"/>
              </a:endParaRPr>
            </a:p>
            <a:p>
              <a:r>
                <a:rPr lang="en-GB" sz="3600" dirty="0">
                  <a:latin typeface="Consolas" panose="020B0609020204030204" pitchFamily="49" charset="0"/>
                </a:rPr>
                <a:t>make</a:t>
              </a:r>
            </a:p>
            <a:p>
              <a:r>
                <a:rPr lang="en-GB" sz="3600" dirty="0">
                  <a:latin typeface="Consolas" panose="020B0609020204030204" pitchFamily="49" charset="0"/>
                </a:rPr>
                <a:t>model</a:t>
              </a:r>
            </a:p>
            <a:p>
              <a:r>
                <a:rPr lang="en-GB" sz="3600" dirty="0">
                  <a:latin typeface="Consolas" panose="020B0609020204030204" pitchFamily="49" charset="0"/>
                </a:rPr>
                <a:t>colour</a:t>
              </a:r>
            </a:p>
          </p:txBody>
        </p:sp>
        <p:sp>
          <p:nvSpPr>
            <p:cNvPr id="15" name="TextBox 14">
              <a:extLst>
                <a:ext uri="{FF2B5EF4-FFF2-40B4-BE49-F238E27FC236}">
                  <a16:creationId xmlns:a16="http://schemas.microsoft.com/office/drawing/2014/main" id="{1FD6EF7E-F059-430F-9A1F-C89FC42961D2}"/>
                </a:ext>
              </a:extLst>
            </p:cNvPr>
            <p:cNvSpPr txBox="1"/>
            <p:nvPr/>
          </p:nvSpPr>
          <p:spPr>
            <a:xfrm>
              <a:off x="2197100" y="1720840"/>
              <a:ext cx="1957587" cy="646331"/>
            </a:xfrm>
            <a:prstGeom prst="rect">
              <a:avLst/>
            </a:prstGeom>
            <a:solidFill>
              <a:schemeClr val="bg2">
                <a:lumMod val="90000"/>
              </a:schemeClr>
            </a:solidFill>
            <a:ln>
              <a:solidFill>
                <a:schemeClr val="tx1"/>
              </a:solidFill>
            </a:ln>
          </p:spPr>
          <p:txBody>
            <a:bodyPr wrap="square" rtlCol="0">
              <a:spAutoFit/>
            </a:bodyPr>
            <a:lstStyle/>
            <a:p>
              <a:r>
                <a:rPr lang="en-GB" sz="3600" b="1" dirty="0">
                  <a:latin typeface="Consolas" panose="020B0609020204030204" pitchFamily="49" charset="0"/>
                </a:rPr>
                <a:t>taxi</a:t>
              </a:r>
              <a:endParaRPr lang="en-GB" sz="3600" b="1" dirty="0"/>
            </a:p>
          </p:txBody>
        </p:sp>
      </p:grpSp>
      <p:grpSp>
        <p:nvGrpSpPr>
          <p:cNvPr id="20" name="Group 19">
            <a:extLst>
              <a:ext uri="{FF2B5EF4-FFF2-40B4-BE49-F238E27FC236}">
                <a16:creationId xmlns:a16="http://schemas.microsoft.com/office/drawing/2014/main" id="{875D6F1B-A908-4F59-B0B7-94D23EF5C00E}"/>
              </a:ext>
            </a:extLst>
          </p:cNvPr>
          <p:cNvGrpSpPr/>
          <p:nvPr/>
        </p:nvGrpSpPr>
        <p:grpSpPr>
          <a:xfrm>
            <a:off x="8239563" y="1688137"/>
            <a:ext cx="2717412" cy="4524315"/>
            <a:chOff x="7175029" y="1690688"/>
            <a:chExt cx="2717412" cy="4524315"/>
          </a:xfrm>
        </p:grpSpPr>
        <p:sp>
          <p:nvSpPr>
            <p:cNvPr id="21" name="TextBox 20">
              <a:extLst>
                <a:ext uri="{FF2B5EF4-FFF2-40B4-BE49-F238E27FC236}">
                  <a16:creationId xmlns:a16="http://schemas.microsoft.com/office/drawing/2014/main" id="{CA7597C4-25C2-42B3-87E4-2179334B1E12}"/>
                </a:ext>
              </a:extLst>
            </p:cNvPr>
            <p:cNvSpPr txBox="1"/>
            <p:nvPr/>
          </p:nvSpPr>
          <p:spPr>
            <a:xfrm>
              <a:off x="7175030" y="1690688"/>
              <a:ext cx="2717411" cy="4524315"/>
            </a:xfrm>
            <a:prstGeom prst="rect">
              <a:avLst/>
            </a:prstGeom>
            <a:solidFill>
              <a:schemeClr val="accent3">
                <a:lumMod val="20000"/>
                <a:lumOff val="80000"/>
              </a:schemeClr>
            </a:solidFill>
            <a:ln>
              <a:solidFill>
                <a:schemeClr val="tx1"/>
              </a:solidFill>
            </a:ln>
          </p:spPr>
          <p:txBody>
            <a:bodyPr wrap="none" rtlCol="0">
              <a:spAutoFit/>
            </a:bodyPr>
            <a:lstStyle/>
            <a:p>
              <a:r>
                <a:rPr lang="en-GB" sz="3600" b="1" dirty="0">
                  <a:highlight>
                    <a:srgbClr val="C0C0C0"/>
                  </a:highlight>
                  <a:latin typeface="Consolas" panose="020B0609020204030204" pitchFamily="49" charset="0"/>
                </a:rPr>
                <a:t>journey</a:t>
              </a:r>
            </a:p>
            <a:p>
              <a:r>
                <a:rPr lang="en-GB" sz="3600" u="sng" dirty="0" err="1">
                  <a:latin typeface="Consolas" panose="020B0609020204030204" pitchFamily="49" charset="0"/>
                </a:rPr>
                <a:t>journeyID</a:t>
              </a:r>
              <a:endParaRPr lang="en-GB" sz="3600" u="sng" dirty="0">
                <a:latin typeface="Consolas" panose="020B0609020204030204" pitchFamily="49" charset="0"/>
              </a:endParaRPr>
            </a:p>
            <a:p>
              <a:r>
                <a:rPr lang="en-GB" sz="3600" dirty="0" err="1">
                  <a:latin typeface="Consolas" panose="020B0609020204030204" pitchFamily="49" charset="0"/>
                </a:rPr>
                <a:t>taxiID</a:t>
              </a:r>
              <a:r>
                <a:rPr lang="en-GB" sz="3600" dirty="0">
                  <a:latin typeface="Consolas" panose="020B0609020204030204" pitchFamily="49" charset="0"/>
                </a:rPr>
                <a:t>*</a:t>
              </a:r>
            </a:p>
            <a:p>
              <a:r>
                <a:rPr lang="en-GB" sz="3600" dirty="0" err="1">
                  <a:latin typeface="Consolas" panose="020B0609020204030204" pitchFamily="49" charset="0"/>
                </a:rPr>
                <a:t>pickUpDate</a:t>
              </a:r>
              <a:endParaRPr lang="en-GB" sz="3600" dirty="0">
                <a:latin typeface="Consolas" panose="020B0609020204030204" pitchFamily="49" charset="0"/>
              </a:endParaRPr>
            </a:p>
            <a:p>
              <a:r>
                <a:rPr lang="en-GB" sz="3600" dirty="0" err="1">
                  <a:latin typeface="Consolas" panose="020B0609020204030204" pitchFamily="49" charset="0"/>
                </a:rPr>
                <a:t>pickUpTime</a:t>
              </a:r>
              <a:endParaRPr lang="en-GB" sz="3600" dirty="0">
                <a:latin typeface="Consolas" panose="020B0609020204030204" pitchFamily="49" charset="0"/>
              </a:endParaRPr>
            </a:p>
            <a:p>
              <a:r>
                <a:rPr lang="en-GB" sz="3600" dirty="0" err="1">
                  <a:latin typeface="Consolas" panose="020B0609020204030204" pitchFamily="49" charset="0"/>
                </a:rPr>
                <a:t>pax</a:t>
              </a:r>
              <a:endParaRPr lang="en-GB" sz="3600" dirty="0">
                <a:latin typeface="Consolas" panose="020B0609020204030204" pitchFamily="49" charset="0"/>
              </a:endParaRPr>
            </a:p>
            <a:p>
              <a:r>
                <a:rPr lang="en-GB" sz="3600" dirty="0" err="1">
                  <a:latin typeface="Consolas" panose="020B0609020204030204" pitchFamily="49" charset="0"/>
                </a:rPr>
                <a:t>pickUp</a:t>
              </a:r>
              <a:endParaRPr lang="en-GB" sz="3600" dirty="0">
                <a:latin typeface="Consolas" panose="020B0609020204030204" pitchFamily="49" charset="0"/>
              </a:endParaRPr>
            </a:p>
            <a:p>
              <a:r>
                <a:rPr lang="en-GB" sz="3600" dirty="0" err="1">
                  <a:latin typeface="Consolas" panose="020B0609020204030204" pitchFamily="49" charset="0"/>
                </a:rPr>
                <a:t>dropOff</a:t>
              </a:r>
              <a:endParaRPr lang="en-GB" sz="3600" dirty="0">
                <a:latin typeface="Consolas" panose="020B0609020204030204" pitchFamily="49" charset="0"/>
              </a:endParaRPr>
            </a:p>
          </p:txBody>
        </p:sp>
        <p:sp>
          <p:nvSpPr>
            <p:cNvPr id="22" name="TextBox 21">
              <a:extLst>
                <a:ext uri="{FF2B5EF4-FFF2-40B4-BE49-F238E27FC236}">
                  <a16:creationId xmlns:a16="http://schemas.microsoft.com/office/drawing/2014/main" id="{2EE40C53-3243-472A-883B-FF608A0E334A}"/>
                </a:ext>
              </a:extLst>
            </p:cNvPr>
            <p:cNvSpPr txBox="1"/>
            <p:nvPr/>
          </p:nvSpPr>
          <p:spPr>
            <a:xfrm>
              <a:off x="7175029" y="1690688"/>
              <a:ext cx="2717411" cy="646331"/>
            </a:xfrm>
            <a:prstGeom prst="rect">
              <a:avLst/>
            </a:prstGeom>
            <a:solidFill>
              <a:schemeClr val="bg2">
                <a:lumMod val="90000"/>
              </a:schemeClr>
            </a:solidFill>
            <a:ln>
              <a:solidFill>
                <a:schemeClr val="tx1"/>
              </a:solidFill>
            </a:ln>
          </p:spPr>
          <p:txBody>
            <a:bodyPr wrap="square" rtlCol="0">
              <a:spAutoFit/>
            </a:bodyPr>
            <a:lstStyle/>
            <a:p>
              <a:r>
                <a:rPr lang="en-GB" sz="3600" b="1" dirty="0">
                  <a:latin typeface="Consolas" panose="020B0609020204030204" pitchFamily="49" charset="0"/>
                </a:rPr>
                <a:t>journey</a:t>
              </a:r>
              <a:endParaRPr lang="en-GB" sz="3600" b="1" dirty="0"/>
            </a:p>
          </p:txBody>
        </p:sp>
      </p:grpSp>
    </p:spTree>
    <p:extLst>
      <p:ext uri="{BB962C8B-B14F-4D97-AF65-F5344CB8AC3E}">
        <p14:creationId xmlns:p14="http://schemas.microsoft.com/office/powerpoint/2010/main" val="393134978"/>
      </p:ext>
    </p:extLst>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Entity: address</a:t>
            </a:r>
          </a:p>
        </p:txBody>
      </p:sp>
      <p:graphicFrame>
        <p:nvGraphicFramePr>
          <p:cNvPr id="5" name="Table 5">
            <a:extLst>
              <a:ext uri="{FF2B5EF4-FFF2-40B4-BE49-F238E27FC236}">
                <a16:creationId xmlns:a16="http://schemas.microsoft.com/office/drawing/2014/main" id="{38A8414E-6490-4AD8-90BD-DF0216F61C69}"/>
              </a:ext>
            </a:extLst>
          </p:cNvPr>
          <p:cNvGraphicFramePr>
            <a:graphicFrameLocks noGrp="1"/>
          </p:cNvGraphicFramePr>
          <p:nvPr>
            <p:ph idx="1"/>
            <p:extLst>
              <p:ext uri="{D42A27DB-BD31-4B8C-83A1-F6EECF244321}">
                <p14:modId xmlns:p14="http://schemas.microsoft.com/office/powerpoint/2010/main" val="2255422287"/>
              </p:ext>
            </p:extLst>
          </p:nvPr>
        </p:nvGraphicFramePr>
        <p:xfrm>
          <a:off x="838200" y="1825625"/>
          <a:ext cx="10407650" cy="4053840"/>
        </p:xfrm>
        <a:graphic>
          <a:graphicData uri="http://schemas.openxmlformats.org/drawingml/2006/table">
            <a:tbl>
              <a:tblPr firstRow="1" bandRow="1">
                <a:tableStyleId>{5C22544A-7EE6-4342-B048-85BDC9FD1C3A}</a:tableStyleId>
              </a:tblPr>
              <a:tblGrid>
                <a:gridCol w="2235200">
                  <a:extLst>
                    <a:ext uri="{9D8B030D-6E8A-4147-A177-3AD203B41FA5}">
                      <a16:colId xmlns:a16="http://schemas.microsoft.com/office/drawing/2014/main" val="1632358923"/>
                    </a:ext>
                  </a:extLst>
                </a:gridCol>
                <a:gridCol w="901700">
                  <a:extLst>
                    <a:ext uri="{9D8B030D-6E8A-4147-A177-3AD203B41FA5}">
                      <a16:colId xmlns:a16="http://schemas.microsoft.com/office/drawing/2014/main" val="3505833113"/>
                    </a:ext>
                  </a:extLst>
                </a:gridCol>
                <a:gridCol w="838200">
                  <a:extLst>
                    <a:ext uri="{9D8B030D-6E8A-4147-A177-3AD203B41FA5}">
                      <a16:colId xmlns:a16="http://schemas.microsoft.com/office/drawing/2014/main" val="315362434"/>
                    </a:ext>
                  </a:extLst>
                </a:gridCol>
                <a:gridCol w="1524000">
                  <a:extLst>
                    <a:ext uri="{9D8B030D-6E8A-4147-A177-3AD203B41FA5}">
                      <a16:colId xmlns:a16="http://schemas.microsoft.com/office/drawing/2014/main" val="415971381"/>
                    </a:ext>
                  </a:extLst>
                </a:gridCol>
                <a:gridCol w="1409700">
                  <a:extLst>
                    <a:ext uri="{9D8B030D-6E8A-4147-A177-3AD203B41FA5}">
                      <a16:colId xmlns:a16="http://schemas.microsoft.com/office/drawing/2014/main" val="2971574360"/>
                    </a:ext>
                  </a:extLst>
                </a:gridCol>
                <a:gridCol w="3498850">
                  <a:extLst>
                    <a:ext uri="{9D8B030D-6E8A-4147-A177-3AD203B41FA5}">
                      <a16:colId xmlns:a16="http://schemas.microsoft.com/office/drawing/2014/main" val="2515431282"/>
                    </a:ext>
                  </a:extLst>
                </a:gridCol>
              </a:tblGrid>
              <a:tr h="370840">
                <a:tc>
                  <a:txBody>
                    <a:bodyPr/>
                    <a:lstStyle/>
                    <a:p>
                      <a:pPr algn="ctr"/>
                      <a:r>
                        <a:rPr lang="en-GB" sz="3200" dirty="0"/>
                        <a:t>Attribute</a:t>
                      </a:r>
                    </a:p>
                  </a:txBody>
                  <a:tcPr/>
                </a:tc>
                <a:tc>
                  <a:txBody>
                    <a:bodyPr/>
                    <a:lstStyle/>
                    <a:p>
                      <a:pPr algn="ctr"/>
                      <a:r>
                        <a:rPr lang="en-GB" sz="3200" dirty="0"/>
                        <a:t>Key</a:t>
                      </a:r>
                    </a:p>
                  </a:txBody>
                  <a:tcPr/>
                </a:tc>
                <a:tc>
                  <a:txBody>
                    <a:bodyPr/>
                    <a:lstStyle/>
                    <a:p>
                      <a:pPr algn="ctr"/>
                      <a:r>
                        <a:rPr lang="en-GB" sz="3200" dirty="0"/>
                        <a:t>Size</a:t>
                      </a:r>
                    </a:p>
                  </a:txBody>
                  <a:tcPr/>
                </a:tc>
                <a:tc>
                  <a:txBody>
                    <a:bodyPr/>
                    <a:lstStyle/>
                    <a:p>
                      <a:pPr algn="ctr"/>
                      <a:r>
                        <a:rPr lang="en-GB" sz="3200" dirty="0"/>
                        <a:t>Type</a:t>
                      </a:r>
                    </a:p>
                  </a:txBody>
                  <a:tcPr/>
                </a:tc>
                <a:tc>
                  <a:txBody>
                    <a:bodyPr/>
                    <a:lstStyle/>
                    <a:p>
                      <a:pPr algn="ctr"/>
                      <a:r>
                        <a:rPr lang="en-GB" sz="3200" dirty="0" err="1"/>
                        <a:t>Req'd</a:t>
                      </a:r>
                      <a:endParaRPr lang="en-GB" sz="3200" dirty="0"/>
                    </a:p>
                  </a:txBody>
                  <a:tcPr/>
                </a:tc>
                <a:tc>
                  <a:txBody>
                    <a:bodyPr/>
                    <a:lstStyle/>
                    <a:p>
                      <a:pPr algn="ctr"/>
                      <a:r>
                        <a:rPr lang="en-GB" sz="3200" dirty="0"/>
                        <a:t>Validation</a:t>
                      </a:r>
                    </a:p>
                  </a:txBody>
                  <a:tcPr/>
                </a:tc>
                <a:extLst>
                  <a:ext uri="{0D108BD9-81ED-4DB2-BD59-A6C34878D82A}">
                    <a16:rowId xmlns:a16="http://schemas.microsoft.com/office/drawing/2014/main" val="3459615676"/>
                  </a:ext>
                </a:extLst>
              </a:tr>
              <a:tr h="370840">
                <a:tc>
                  <a:txBody>
                    <a:bodyPr/>
                    <a:lstStyle/>
                    <a:p>
                      <a:r>
                        <a:rPr lang="en-GB" sz="3200" dirty="0" err="1">
                          <a:latin typeface="Consolas" panose="020B0609020204030204" pitchFamily="49" charset="0"/>
                        </a:rPr>
                        <a:t>addressID</a:t>
                      </a:r>
                      <a:endParaRPr lang="en-GB" sz="3200" dirty="0">
                        <a:latin typeface="Consolas" panose="020B0609020204030204" pitchFamily="49" charset="0"/>
                      </a:endParaRPr>
                    </a:p>
                  </a:txBody>
                  <a:tcPr/>
                </a:tc>
                <a:tc>
                  <a:txBody>
                    <a:bodyPr/>
                    <a:lstStyle/>
                    <a:p>
                      <a:pPr algn="ctr"/>
                      <a:r>
                        <a:rPr lang="en-GB" sz="3200" dirty="0"/>
                        <a:t>PK</a:t>
                      </a:r>
                    </a:p>
                  </a:txBody>
                  <a:tcPr/>
                </a:tc>
                <a:tc>
                  <a:txBody>
                    <a:bodyPr/>
                    <a:lstStyle/>
                    <a:p>
                      <a:pPr algn="ctr"/>
                      <a:endParaRPr lang="en-GB" sz="3200" dirty="0"/>
                    </a:p>
                  </a:txBody>
                  <a:tcPr/>
                </a:tc>
                <a:tc>
                  <a:txBody>
                    <a:bodyPr/>
                    <a:lstStyle/>
                    <a:p>
                      <a:r>
                        <a:rPr lang="en-GB" sz="3200" dirty="0"/>
                        <a:t>number</a:t>
                      </a:r>
                    </a:p>
                  </a:txBody>
                  <a:tcPr/>
                </a:tc>
                <a:tc>
                  <a:txBody>
                    <a:bodyPr/>
                    <a:lstStyle/>
                    <a:p>
                      <a:pPr algn="ctr"/>
                      <a:r>
                        <a:rPr lang="en-GB" sz="3200" dirty="0"/>
                        <a:t>Y</a:t>
                      </a:r>
                    </a:p>
                  </a:txBody>
                  <a:tcPr/>
                </a:tc>
                <a:tc>
                  <a:txBody>
                    <a:bodyPr/>
                    <a:lstStyle/>
                    <a:p>
                      <a:endParaRPr lang="en-GB" sz="3200" dirty="0"/>
                    </a:p>
                  </a:txBody>
                  <a:tcPr/>
                </a:tc>
                <a:extLst>
                  <a:ext uri="{0D108BD9-81ED-4DB2-BD59-A6C34878D82A}">
                    <a16:rowId xmlns:a16="http://schemas.microsoft.com/office/drawing/2014/main" val="1127765656"/>
                  </a:ext>
                </a:extLst>
              </a:tr>
              <a:tr h="370840">
                <a:tc>
                  <a:txBody>
                    <a:bodyPr/>
                    <a:lstStyle/>
                    <a:p>
                      <a:r>
                        <a:rPr lang="en-GB" sz="3200" dirty="0" err="1">
                          <a:latin typeface="Consolas" panose="020B0609020204030204" pitchFamily="49" charset="0"/>
                        </a:rPr>
                        <a:t>pupilID</a:t>
                      </a:r>
                      <a:endParaRPr lang="en-GB" sz="3200" dirty="0">
                        <a:latin typeface="Consolas" panose="020B0609020204030204" pitchFamily="49" charset="0"/>
                      </a:endParaRPr>
                    </a:p>
                  </a:txBody>
                  <a:tcPr/>
                </a:tc>
                <a:tc>
                  <a:txBody>
                    <a:bodyPr/>
                    <a:lstStyle/>
                    <a:p>
                      <a:pPr algn="ctr"/>
                      <a:r>
                        <a:rPr lang="en-GB" sz="3200" dirty="0"/>
                        <a:t>FK</a:t>
                      </a:r>
                    </a:p>
                  </a:txBody>
                  <a:tcPr/>
                </a:tc>
                <a:tc>
                  <a:txBody>
                    <a:bodyPr/>
                    <a:lstStyle/>
                    <a:p>
                      <a:pPr algn="ctr"/>
                      <a:endParaRPr lang="en-GB" sz="3200" dirty="0"/>
                    </a:p>
                  </a:txBody>
                  <a:tcPr/>
                </a:tc>
                <a:tc>
                  <a:txBody>
                    <a:bodyPr/>
                    <a:lstStyle/>
                    <a:p>
                      <a:r>
                        <a:rPr lang="en-GB" sz="3200" dirty="0"/>
                        <a:t>number</a:t>
                      </a:r>
                    </a:p>
                  </a:txBody>
                  <a:tcPr/>
                </a:tc>
                <a:tc>
                  <a:txBody>
                    <a:bodyPr/>
                    <a:lstStyle/>
                    <a:p>
                      <a:pPr algn="ctr"/>
                      <a:r>
                        <a:rPr lang="en-GB" sz="3200" dirty="0"/>
                        <a:t>Y</a:t>
                      </a:r>
                    </a:p>
                  </a:txBody>
                  <a:tcPr/>
                </a:tc>
                <a:tc>
                  <a:txBody>
                    <a:bodyPr/>
                    <a:lstStyle/>
                    <a:p>
                      <a:r>
                        <a:rPr lang="en-GB" sz="3200" dirty="0"/>
                        <a:t>Exists in pupil table</a:t>
                      </a:r>
                    </a:p>
                  </a:txBody>
                  <a:tcPr/>
                </a:tc>
                <a:extLst>
                  <a:ext uri="{0D108BD9-81ED-4DB2-BD59-A6C34878D82A}">
                    <a16:rowId xmlns:a16="http://schemas.microsoft.com/office/drawing/2014/main" val="2924661129"/>
                  </a:ext>
                </a:extLst>
              </a:tr>
              <a:tr h="370840">
                <a:tc>
                  <a:txBody>
                    <a:bodyPr/>
                    <a:lstStyle/>
                    <a:p>
                      <a:r>
                        <a:rPr lang="en-GB" sz="3200" dirty="0" err="1">
                          <a:latin typeface="Consolas" panose="020B0609020204030204" pitchFamily="49" charset="0"/>
                        </a:rPr>
                        <a:t>firstLine</a:t>
                      </a:r>
                      <a:endParaRPr lang="en-GB" sz="3200" dirty="0">
                        <a:latin typeface="Consolas" panose="020B0609020204030204" pitchFamily="49" charset="0"/>
                      </a:endParaRPr>
                    </a:p>
                  </a:txBody>
                  <a:tcPr/>
                </a:tc>
                <a:tc>
                  <a:txBody>
                    <a:bodyPr/>
                    <a:lstStyle/>
                    <a:p>
                      <a:pPr algn="ctr"/>
                      <a:endParaRPr lang="en-GB" sz="3200" dirty="0"/>
                    </a:p>
                  </a:txBody>
                  <a:tcPr/>
                </a:tc>
                <a:tc>
                  <a:txBody>
                    <a:bodyPr/>
                    <a:lstStyle/>
                    <a:p>
                      <a:pPr algn="ctr"/>
                      <a:r>
                        <a:rPr lang="en-GB" sz="3200" dirty="0"/>
                        <a:t>20</a:t>
                      </a:r>
                    </a:p>
                  </a:txBody>
                  <a:tcPr/>
                </a:tc>
                <a:tc>
                  <a:txBody>
                    <a:bodyPr/>
                    <a:lstStyle/>
                    <a:p>
                      <a:r>
                        <a:rPr lang="en-GB" sz="3200" dirty="0"/>
                        <a:t>text</a:t>
                      </a:r>
                    </a:p>
                  </a:txBody>
                  <a:tcPr/>
                </a:tc>
                <a:tc>
                  <a:txBody>
                    <a:bodyPr/>
                    <a:lstStyle/>
                    <a:p>
                      <a:pPr algn="ctr"/>
                      <a:r>
                        <a:rPr lang="en-GB" sz="3200" dirty="0"/>
                        <a:t>Y</a:t>
                      </a:r>
                    </a:p>
                  </a:txBody>
                  <a:tcPr/>
                </a:tc>
                <a:tc>
                  <a:txBody>
                    <a:bodyPr/>
                    <a:lstStyle/>
                    <a:p>
                      <a:endParaRPr lang="en-GB" sz="3200" dirty="0"/>
                    </a:p>
                  </a:txBody>
                  <a:tcPr/>
                </a:tc>
                <a:extLst>
                  <a:ext uri="{0D108BD9-81ED-4DB2-BD59-A6C34878D82A}">
                    <a16:rowId xmlns:a16="http://schemas.microsoft.com/office/drawing/2014/main" val="3885493841"/>
                  </a:ext>
                </a:extLst>
              </a:tr>
              <a:tr h="370840">
                <a:tc>
                  <a:txBody>
                    <a:bodyPr/>
                    <a:lstStyle/>
                    <a:p>
                      <a:r>
                        <a:rPr lang="en-GB" sz="3200" dirty="0">
                          <a:latin typeface="Consolas" panose="020B0609020204030204" pitchFamily="49" charset="0"/>
                        </a:rPr>
                        <a:t>town</a:t>
                      </a:r>
                    </a:p>
                  </a:txBody>
                  <a:tcPr/>
                </a:tc>
                <a:tc>
                  <a:txBody>
                    <a:bodyPr/>
                    <a:lstStyle/>
                    <a:p>
                      <a:pPr algn="ctr"/>
                      <a:endParaRPr lang="en-GB" sz="3200" dirty="0"/>
                    </a:p>
                  </a:txBody>
                  <a:tcPr/>
                </a:tc>
                <a:tc>
                  <a:txBody>
                    <a:bodyPr/>
                    <a:lstStyle/>
                    <a:p>
                      <a:pPr algn="ctr"/>
                      <a:r>
                        <a:rPr lang="en-GB" sz="3200" dirty="0"/>
                        <a:t>15</a:t>
                      </a:r>
                    </a:p>
                  </a:txBody>
                  <a:tcPr/>
                </a:tc>
                <a:tc>
                  <a:txBody>
                    <a:bodyPr/>
                    <a:lstStyle/>
                    <a:p>
                      <a:r>
                        <a:rPr lang="en-GB" sz="3200" dirty="0"/>
                        <a:t>text</a:t>
                      </a:r>
                    </a:p>
                  </a:txBody>
                  <a:tcPr/>
                </a:tc>
                <a:tc>
                  <a:txBody>
                    <a:bodyPr/>
                    <a:lstStyle/>
                    <a:p>
                      <a:pPr algn="ctr"/>
                      <a:r>
                        <a:rPr lang="en-GB" sz="3200" dirty="0"/>
                        <a:t>Y</a:t>
                      </a:r>
                    </a:p>
                  </a:txBody>
                  <a:tcPr/>
                </a:tc>
                <a:tc>
                  <a:txBody>
                    <a:bodyPr/>
                    <a:lstStyle/>
                    <a:p>
                      <a:endParaRPr lang="en-GB" sz="3200" dirty="0"/>
                    </a:p>
                  </a:txBody>
                  <a:tcPr/>
                </a:tc>
                <a:extLst>
                  <a:ext uri="{0D108BD9-81ED-4DB2-BD59-A6C34878D82A}">
                    <a16:rowId xmlns:a16="http://schemas.microsoft.com/office/drawing/2014/main" val="2412372412"/>
                  </a:ext>
                </a:extLst>
              </a:tr>
              <a:tr h="370840">
                <a:tc>
                  <a:txBody>
                    <a:bodyPr/>
                    <a:lstStyle/>
                    <a:p>
                      <a:r>
                        <a:rPr lang="en-GB" sz="3200" dirty="0">
                          <a:latin typeface="Consolas" panose="020B0609020204030204" pitchFamily="49" charset="0"/>
                        </a:rPr>
                        <a:t>postcode</a:t>
                      </a:r>
                    </a:p>
                  </a:txBody>
                  <a:tcPr/>
                </a:tc>
                <a:tc>
                  <a:txBody>
                    <a:bodyPr/>
                    <a:lstStyle/>
                    <a:p>
                      <a:pPr algn="ctr"/>
                      <a:endParaRPr lang="en-GB" sz="3200" dirty="0"/>
                    </a:p>
                  </a:txBody>
                  <a:tcPr/>
                </a:tc>
                <a:tc>
                  <a:txBody>
                    <a:bodyPr/>
                    <a:lstStyle/>
                    <a:p>
                      <a:pPr algn="ctr"/>
                      <a:r>
                        <a:rPr lang="en-GB" sz="3200" dirty="0"/>
                        <a:t>8</a:t>
                      </a:r>
                    </a:p>
                  </a:txBody>
                  <a:tcPr/>
                </a:tc>
                <a:tc>
                  <a:txBody>
                    <a:bodyPr/>
                    <a:lstStyle/>
                    <a:p>
                      <a:r>
                        <a:rPr lang="en-GB" sz="3200" dirty="0"/>
                        <a:t>text</a:t>
                      </a:r>
                    </a:p>
                  </a:txBody>
                  <a:tcPr/>
                </a:tc>
                <a:tc>
                  <a:txBody>
                    <a:bodyPr/>
                    <a:lstStyle/>
                    <a:p>
                      <a:pPr algn="ctr"/>
                      <a:r>
                        <a:rPr lang="en-GB" sz="3200" dirty="0"/>
                        <a:t>Y</a:t>
                      </a:r>
                    </a:p>
                  </a:txBody>
                  <a:tcPr/>
                </a:tc>
                <a:tc>
                  <a:txBody>
                    <a:bodyPr/>
                    <a:lstStyle/>
                    <a:p>
                      <a:endParaRPr lang="en-GB" sz="3200" dirty="0"/>
                    </a:p>
                  </a:txBody>
                  <a:tcPr/>
                </a:tc>
                <a:extLst>
                  <a:ext uri="{0D108BD9-81ED-4DB2-BD59-A6C34878D82A}">
                    <a16:rowId xmlns:a16="http://schemas.microsoft.com/office/drawing/2014/main" val="3843481262"/>
                  </a:ext>
                </a:extLst>
              </a:tr>
              <a:tr h="370840">
                <a:tc>
                  <a:txBody>
                    <a:bodyPr/>
                    <a:lstStyle/>
                    <a:p>
                      <a:r>
                        <a:rPr lang="en-GB" sz="3200" dirty="0">
                          <a:latin typeface="Consolas" panose="020B0609020204030204" pitchFamily="49" charset="0"/>
                        </a:rPr>
                        <a:t>phone</a:t>
                      </a:r>
                    </a:p>
                  </a:txBody>
                  <a:tcPr/>
                </a:tc>
                <a:tc>
                  <a:txBody>
                    <a:bodyPr/>
                    <a:lstStyle/>
                    <a:p>
                      <a:pPr algn="ctr"/>
                      <a:endParaRPr lang="en-GB" sz="3200" dirty="0"/>
                    </a:p>
                  </a:txBody>
                  <a:tcPr/>
                </a:tc>
                <a:tc>
                  <a:txBody>
                    <a:bodyPr/>
                    <a:lstStyle/>
                    <a:p>
                      <a:pPr algn="ctr"/>
                      <a:r>
                        <a:rPr lang="en-GB" sz="3200" dirty="0"/>
                        <a:t>15</a:t>
                      </a:r>
                    </a:p>
                  </a:txBody>
                  <a:tcPr/>
                </a:tc>
                <a:tc>
                  <a:txBody>
                    <a:bodyPr/>
                    <a:lstStyle/>
                    <a:p>
                      <a:r>
                        <a:rPr lang="en-GB" sz="3200" dirty="0"/>
                        <a:t>text</a:t>
                      </a:r>
                    </a:p>
                  </a:txBody>
                  <a:tcPr/>
                </a:tc>
                <a:tc>
                  <a:txBody>
                    <a:bodyPr/>
                    <a:lstStyle/>
                    <a:p>
                      <a:pPr algn="ctr"/>
                      <a:endParaRPr lang="en-GB" sz="3200" dirty="0"/>
                    </a:p>
                  </a:txBody>
                  <a:tcPr/>
                </a:tc>
                <a:tc>
                  <a:txBody>
                    <a:bodyPr/>
                    <a:lstStyle/>
                    <a:p>
                      <a:endParaRPr lang="en-GB" sz="3200" dirty="0"/>
                    </a:p>
                  </a:txBody>
                  <a:tcPr/>
                </a:tc>
                <a:extLst>
                  <a:ext uri="{0D108BD9-81ED-4DB2-BD59-A6C34878D82A}">
                    <a16:rowId xmlns:a16="http://schemas.microsoft.com/office/drawing/2014/main" val="1487565366"/>
                  </a:ext>
                </a:extLst>
              </a:tr>
            </a:tbl>
          </a:graphicData>
        </a:graphic>
      </p:graphicFrame>
    </p:spTree>
    <p:extLst>
      <p:ext uri="{BB962C8B-B14F-4D97-AF65-F5344CB8AC3E}">
        <p14:creationId xmlns:p14="http://schemas.microsoft.com/office/powerpoint/2010/main" val="217458130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10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9.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2630251-0176-4E08-9A40-5821ACD1944C}"/>
              </a:ext>
            </a:extLst>
          </p:cNvPr>
          <p:cNvSpPr>
            <a:spLocks noGrp="1"/>
          </p:cNvSpPr>
          <p:nvPr>
            <p:ph type="title"/>
          </p:nvPr>
        </p:nvSpPr>
        <p:spPr/>
        <p:txBody>
          <a:bodyPr/>
          <a:lstStyle/>
          <a:p>
            <a:r>
              <a:rPr lang="en-GB" dirty="0"/>
              <a:t>Relationship – Two Entities</a:t>
            </a:r>
          </a:p>
        </p:txBody>
      </p:sp>
      <p:sp>
        <p:nvSpPr>
          <p:cNvPr id="5" name="TextBox 4">
            <a:extLst>
              <a:ext uri="{FF2B5EF4-FFF2-40B4-BE49-F238E27FC236}">
                <a16:creationId xmlns:a16="http://schemas.microsoft.com/office/drawing/2014/main" id="{9E8D577D-F9B0-4C26-95CB-954FFDF61DBD}"/>
              </a:ext>
            </a:extLst>
          </p:cNvPr>
          <p:cNvSpPr txBox="1"/>
          <p:nvPr/>
        </p:nvSpPr>
        <p:spPr>
          <a:xfrm>
            <a:off x="2197100" y="1720840"/>
            <a:ext cx="2464136" cy="2862322"/>
          </a:xfrm>
          <a:prstGeom prst="rect">
            <a:avLst/>
          </a:prstGeom>
          <a:solidFill>
            <a:schemeClr val="accent3">
              <a:lumMod val="20000"/>
              <a:lumOff val="80000"/>
            </a:schemeClr>
          </a:solidFill>
          <a:ln>
            <a:solidFill>
              <a:schemeClr val="tx1"/>
            </a:solidFill>
          </a:ln>
        </p:spPr>
        <p:txBody>
          <a:bodyPr wrap="none" rtlCol="0">
            <a:spAutoFit/>
          </a:bodyPr>
          <a:lstStyle/>
          <a:p>
            <a:r>
              <a:rPr lang="en-GB" sz="3600" b="1" dirty="0">
                <a:highlight>
                  <a:srgbClr val="C0C0C0"/>
                </a:highlight>
                <a:latin typeface="Consolas" panose="020B0609020204030204" pitchFamily="49" charset="0"/>
              </a:rPr>
              <a:t>pupil</a:t>
            </a:r>
          </a:p>
          <a:p>
            <a:r>
              <a:rPr lang="en-GB" sz="3600" u="sng" dirty="0" err="1">
                <a:latin typeface="Consolas" panose="020B0609020204030204" pitchFamily="49" charset="0"/>
              </a:rPr>
              <a:t>pupilID</a:t>
            </a:r>
            <a:endParaRPr lang="en-GB" sz="3600" u="sng" dirty="0">
              <a:latin typeface="Consolas" panose="020B0609020204030204" pitchFamily="49" charset="0"/>
            </a:endParaRPr>
          </a:p>
          <a:p>
            <a:r>
              <a:rPr lang="en-GB" sz="3600" dirty="0" err="1">
                <a:latin typeface="Consolas" panose="020B0609020204030204" pitchFamily="49" charset="0"/>
              </a:rPr>
              <a:t>firstName</a:t>
            </a:r>
            <a:endParaRPr lang="en-GB" sz="3600" dirty="0">
              <a:latin typeface="Consolas" panose="020B0609020204030204" pitchFamily="49" charset="0"/>
            </a:endParaRPr>
          </a:p>
          <a:p>
            <a:r>
              <a:rPr lang="en-GB" sz="3600" dirty="0" err="1">
                <a:latin typeface="Consolas" panose="020B0609020204030204" pitchFamily="49" charset="0"/>
              </a:rPr>
              <a:t>lastName</a:t>
            </a:r>
            <a:endParaRPr lang="en-GB" sz="3600" dirty="0">
              <a:latin typeface="Consolas" panose="020B0609020204030204" pitchFamily="49" charset="0"/>
            </a:endParaRPr>
          </a:p>
          <a:p>
            <a:r>
              <a:rPr lang="en-GB" sz="3600" dirty="0">
                <a:latin typeface="Consolas" panose="020B0609020204030204" pitchFamily="49" charset="0"/>
              </a:rPr>
              <a:t>age</a:t>
            </a:r>
          </a:p>
        </p:txBody>
      </p:sp>
      <p:sp>
        <p:nvSpPr>
          <p:cNvPr id="6" name="TextBox 5">
            <a:extLst>
              <a:ext uri="{FF2B5EF4-FFF2-40B4-BE49-F238E27FC236}">
                <a16:creationId xmlns:a16="http://schemas.microsoft.com/office/drawing/2014/main" id="{06B8E8D6-C037-4571-B1CB-E4BD14A48ED7}"/>
              </a:ext>
            </a:extLst>
          </p:cNvPr>
          <p:cNvSpPr txBox="1"/>
          <p:nvPr/>
        </p:nvSpPr>
        <p:spPr>
          <a:xfrm>
            <a:off x="7175030" y="1690688"/>
            <a:ext cx="2464136" cy="3970318"/>
          </a:xfrm>
          <a:prstGeom prst="rect">
            <a:avLst/>
          </a:prstGeom>
          <a:solidFill>
            <a:schemeClr val="accent3">
              <a:lumMod val="20000"/>
              <a:lumOff val="80000"/>
            </a:schemeClr>
          </a:solidFill>
          <a:ln>
            <a:solidFill>
              <a:schemeClr val="tx1"/>
            </a:solidFill>
          </a:ln>
        </p:spPr>
        <p:txBody>
          <a:bodyPr wrap="none" rtlCol="0">
            <a:spAutoFit/>
          </a:bodyPr>
          <a:lstStyle/>
          <a:p>
            <a:r>
              <a:rPr lang="en-GB" sz="3600" b="1" dirty="0">
                <a:highlight>
                  <a:srgbClr val="C0C0C0"/>
                </a:highlight>
                <a:latin typeface="Consolas" panose="020B0609020204030204" pitchFamily="49" charset="0"/>
              </a:rPr>
              <a:t>address</a:t>
            </a:r>
          </a:p>
          <a:p>
            <a:r>
              <a:rPr lang="en-GB" sz="3600" u="sng" dirty="0" err="1">
                <a:latin typeface="Consolas" panose="020B0609020204030204" pitchFamily="49" charset="0"/>
              </a:rPr>
              <a:t>addressID</a:t>
            </a:r>
            <a:endParaRPr lang="en-GB" sz="3600" u="sng" dirty="0">
              <a:latin typeface="Consolas" panose="020B0609020204030204" pitchFamily="49" charset="0"/>
            </a:endParaRPr>
          </a:p>
          <a:p>
            <a:r>
              <a:rPr lang="en-GB" sz="3600" dirty="0" err="1">
                <a:latin typeface="Consolas" panose="020B0609020204030204" pitchFamily="49" charset="0"/>
              </a:rPr>
              <a:t>pupilID</a:t>
            </a:r>
            <a:r>
              <a:rPr lang="en-GB" sz="3600" dirty="0">
                <a:latin typeface="Consolas" panose="020B0609020204030204" pitchFamily="49" charset="0"/>
              </a:rPr>
              <a:t>*</a:t>
            </a:r>
          </a:p>
          <a:p>
            <a:r>
              <a:rPr lang="en-GB" sz="3600" dirty="0" err="1">
                <a:latin typeface="Consolas" panose="020B0609020204030204" pitchFamily="49" charset="0"/>
              </a:rPr>
              <a:t>firstLine</a:t>
            </a:r>
            <a:endParaRPr lang="en-GB" sz="3600" dirty="0">
              <a:latin typeface="Consolas" panose="020B0609020204030204" pitchFamily="49" charset="0"/>
            </a:endParaRPr>
          </a:p>
          <a:p>
            <a:r>
              <a:rPr lang="en-GB" sz="3600" dirty="0">
                <a:latin typeface="Consolas" panose="020B0609020204030204" pitchFamily="49" charset="0"/>
              </a:rPr>
              <a:t>town</a:t>
            </a:r>
          </a:p>
          <a:p>
            <a:r>
              <a:rPr lang="en-GB" sz="3600" dirty="0">
                <a:latin typeface="Consolas" panose="020B0609020204030204" pitchFamily="49" charset="0"/>
              </a:rPr>
              <a:t>postcode</a:t>
            </a:r>
          </a:p>
          <a:p>
            <a:r>
              <a:rPr lang="en-GB" sz="3600" dirty="0">
                <a:latin typeface="Consolas" panose="020B0609020204030204" pitchFamily="49" charset="0"/>
              </a:rPr>
              <a:t>phone</a:t>
            </a:r>
          </a:p>
        </p:txBody>
      </p:sp>
      <p:sp>
        <p:nvSpPr>
          <p:cNvPr id="7" name="TextBox 6">
            <a:extLst>
              <a:ext uri="{FF2B5EF4-FFF2-40B4-BE49-F238E27FC236}">
                <a16:creationId xmlns:a16="http://schemas.microsoft.com/office/drawing/2014/main" id="{663E3461-DC5D-48CF-AE13-69B629EAA16E}"/>
              </a:ext>
            </a:extLst>
          </p:cNvPr>
          <p:cNvSpPr txBox="1"/>
          <p:nvPr/>
        </p:nvSpPr>
        <p:spPr>
          <a:xfrm>
            <a:off x="838200" y="5429398"/>
            <a:ext cx="3476593" cy="1200329"/>
          </a:xfrm>
          <a:prstGeom prst="rect">
            <a:avLst/>
          </a:prstGeom>
          <a:noFill/>
        </p:spPr>
        <p:txBody>
          <a:bodyPr wrap="none" rtlCol="0">
            <a:spAutoFit/>
          </a:bodyPr>
          <a:lstStyle/>
          <a:p>
            <a:r>
              <a:rPr lang="en-GB" sz="3600" dirty="0"/>
              <a:t>PK </a:t>
            </a:r>
            <a:r>
              <a:rPr lang="en-GB" sz="3600" u="sng" dirty="0"/>
              <a:t>underlined</a:t>
            </a:r>
          </a:p>
          <a:p>
            <a:r>
              <a:rPr lang="en-GB" sz="3600" dirty="0"/>
              <a:t>FK suffixed with *</a:t>
            </a:r>
          </a:p>
        </p:txBody>
      </p:sp>
      <p:grpSp>
        <p:nvGrpSpPr>
          <p:cNvPr id="11" name="Group 10">
            <a:extLst>
              <a:ext uri="{FF2B5EF4-FFF2-40B4-BE49-F238E27FC236}">
                <a16:creationId xmlns:a16="http://schemas.microsoft.com/office/drawing/2014/main" id="{EA523B19-3371-47B4-882A-6F1A2FFF861B}"/>
              </a:ext>
            </a:extLst>
          </p:cNvPr>
          <p:cNvGrpSpPr/>
          <p:nvPr/>
        </p:nvGrpSpPr>
        <p:grpSpPr>
          <a:xfrm>
            <a:off x="4706633" y="2625725"/>
            <a:ext cx="2468397" cy="726923"/>
            <a:chOff x="4706633" y="2625725"/>
            <a:chExt cx="2468397" cy="726923"/>
          </a:xfrm>
        </p:grpSpPr>
        <p:cxnSp>
          <p:nvCxnSpPr>
            <p:cNvPr id="9" name="Connector: Elbow 8">
              <a:extLst>
                <a:ext uri="{FF2B5EF4-FFF2-40B4-BE49-F238E27FC236}">
                  <a16:creationId xmlns:a16="http://schemas.microsoft.com/office/drawing/2014/main" id="{DE6C70CF-28C5-4A35-AB1C-6B47F69960AF}"/>
                </a:ext>
              </a:extLst>
            </p:cNvPr>
            <p:cNvCxnSpPr>
              <a:cxnSpLocks/>
            </p:cNvCxnSpPr>
            <p:nvPr/>
          </p:nvCxnSpPr>
          <p:spPr>
            <a:xfrm>
              <a:off x="4706633" y="2625725"/>
              <a:ext cx="2468397" cy="555625"/>
            </a:xfrm>
            <a:prstGeom prst="bentConnector3">
              <a:avLst>
                <a:gd name="adj1" fmla="val 50000"/>
              </a:avLst>
            </a:prstGeom>
            <a:ln w="5715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8" name="Straight Connector 7">
              <a:extLst>
                <a:ext uri="{FF2B5EF4-FFF2-40B4-BE49-F238E27FC236}">
                  <a16:creationId xmlns:a16="http://schemas.microsoft.com/office/drawing/2014/main" id="{2EE39CD5-A3E2-4C6B-B6C6-44406F130310}"/>
                </a:ext>
              </a:extLst>
            </p:cNvPr>
            <p:cNvCxnSpPr/>
            <p:nvPr/>
          </p:nvCxnSpPr>
          <p:spPr>
            <a:xfrm flipV="1">
              <a:off x="6856731" y="2992649"/>
              <a:ext cx="318299" cy="18870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10" name="Straight Connector 9">
              <a:extLst>
                <a:ext uri="{FF2B5EF4-FFF2-40B4-BE49-F238E27FC236}">
                  <a16:creationId xmlns:a16="http://schemas.microsoft.com/office/drawing/2014/main" id="{0C1BDB88-072E-4894-8A83-315D54A757D4}"/>
                </a:ext>
              </a:extLst>
            </p:cNvPr>
            <p:cNvCxnSpPr/>
            <p:nvPr/>
          </p:nvCxnSpPr>
          <p:spPr>
            <a:xfrm>
              <a:off x="6856731" y="3181350"/>
              <a:ext cx="318299" cy="171298"/>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179581376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1000"/>
                                        <p:tgtEl>
                                          <p:spTgt spid="5"/>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6"/>
                                        </p:tgtEl>
                                        <p:attrNameLst>
                                          <p:attrName>style.visibility</p:attrName>
                                        </p:attrNameLst>
                                      </p:cBhvr>
                                      <p:to>
                                        <p:strVal val="visible"/>
                                      </p:to>
                                    </p:set>
                                    <p:animEffect transition="in" filter="fade">
                                      <p:cBhvr>
                                        <p:cTn id="12" dur="1000"/>
                                        <p:tgtEl>
                                          <p:spTgt spid="6"/>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nodeType="clickEffect">
                                  <p:stCondLst>
                                    <p:cond delay="0"/>
                                  </p:stCondLst>
                                  <p:childTnLst>
                                    <p:set>
                                      <p:cBhvr>
                                        <p:cTn id="16" dur="1" fill="hold">
                                          <p:stCondLst>
                                            <p:cond delay="0"/>
                                          </p:stCondLst>
                                        </p:cTn>
                                        <p:tgtEl>
                                          <p:spTgt spid="11"/>
                                        </p:tgtEl>
                                        <p:attrNameLst>
                                          <p:attrName>style.visibility</p:attrName>
                                        </p:attrNameLst>
                                      </p:cBhvr>
                                      <p:to>
                                        <p:strVal val="visible"/>
                                      </p:to>
                                    </p:set>
                                    <p:animEffect transition="in" filter="wipe(left)">
                                      <p:cBhvr>
                                        <p:cTn id="17" dur="1000"/>
                                        <p:tgtEl>
                                          <p:spTgt spid="11"/>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7">
                                            <p:txEl>
                                              <p:pRg st="0" end="0"/>
                                            </p:txEl>
                                          </p:spTgt>
                                        </p:tgtEl>
                                        <p:attrNameLst>
                                          <p:attrName>style.visibility</p:attrName>
                                        </p:attrNameLst>
                                      </p:cBhvr>
                                      <p:to>
                                        <p:strVal val="visible"/>
                                      </p:to>
                                    </p:set>
                                    <p:animEffect transition="in" filter="wipe(left)">
                                      <p:cBhvr>
                                        <p:cTn id="22" dur="2000"/>
                                        <p:tgtEl>
                                          <p:spTgt spid="7">
                                            <p:txEl>
                                              <p:pRg st="0" end="0"/>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7">
                                            <p:txEl>
                                              <p:pRg st="1" end="1"/>
                                            </p:txEl>
                                          </p:spTgt>
                                        </p:tgtEl>
                                        <p:attrNameLst>
                                          <p:attrName>style.visibility</p:attrName>
                                        </p:attrNameLst>
                                      </p:cBhvr>
                                      <p:to>
                                        <p:strVal val="visible"/>
                                      </p:to>
                                    </p:set>
                                    <p:animEffect transition="in" filter="wipe(left)">
                                      <p:cBhvr>
                                        <p:cTn id="27" dur="2000"/>
                                        <p:tgtEl>
                                          <p:spTgt spid="7">
                                            <p:txEl>
                                              <p:pRg st="1" end="1"/>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uiExpand="1" build="p"/>
    </p:bldLst>
  </p:timing>
</p:sld>
</file>

<file path=ppt/slides/slide80.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2630251-0176-4E08-9A40-5821ACD1944C}"/>
              </a:ext>
            </a:extLst>
          </p:cNvPr>
          <p:cNvSpPr>
            <a:spLocks noGrp="1"/>
          </p:cNvSpPr>
          <p:nvPr>
            <p:ph type="title"/>
          </p:nvPr>
        </p:nvSpPr>
        <p:spPr/>
        <p:txBody>
          <a:bodyPr/>
          <a:lstStyle/>
          <a:p>
            <a:r>
              <a:rPr lang="en-GB" dirty="0"/>
              <a:t>Relationship – Two Entities</a:t>
            </a:r>
          </a:p>
        </p:txBody>
      </p:sp>
      <p:sp>
        <p:nvSpPr>
          <p:cNvPr id="5" name="TextBox 4">
            <a:extLst>
              <a:ext uri="{FF2B5EF4-FFF2-40B4-BE49-F238E27FC236}">
                <a16:creationId xmlns:a16="http://schemas.microsoft.com/office/drawing/2014/main" id="{9E8D577D-F9B0-4C26-95CB-954FFDF61DBD}"/>
              </a:ext>
            </a:extLst>
          </p:cNvPr>
          <p:cNvSpPr txBox="1"/>
          <p:nvPr/>
        </p:nvSpPr>
        <p:spPr>
          <a:xfrm>
            <a:off x="2197100" y="1720840"/>
            <a:ext cx="2464136" cy="2862322"/>
          </a:xfrm>
          <a:prstGeom prst="rect">
            <a:avLst/>
          </a:prstGeom>
          <a:solidFill>
            <a:schemeClr val="accent3">
              <a:lumMod val="20000"/>
              <a:lumOff val="80000"/>
            </a:schemeClr>
          </a:solidFill>
          <a:ln>
            <a:solidFill>
              <a:schemeClr val="tx1"/>
            </a:solidFill>
          </a:ln>
        </p:spPr>
        <p:txBody>
          <a:bodyPr wrap="none" rtlCol="0">
            <a:spAutoFit/>
          </a:bodyPr>
          <a:lstStyle/>
          <a:p>
            <a:r>
              <a:rPr lang="en-GB" sz="3600" b="1" dirty="0">
                <a:highlight>
                  <a:srgbClr val="C0C0C0"/>
                </a:highlight>
                <a:latin typeface="Consolas" panose="020B0609020204030204" pitchFamily="49" charset="0"/>
              </a:rPr>
              <a:t>pupil</a:t>
            </a:r>
          </a:p>
          <a:p>
            <a:r>
              <a:rPr lang="en-GB" sz="3600" u="sng" dirty="0" err="1">
                <a:latin typeface="Consolas" panose="020B0609020204030204" pitchFamily="49" charset="0"/>
              </a:rPr>
              <a:t>pupilID</a:t>
            </a:r>
            <a:endParaRPr lang="en-GB" sz="3600" u="sng" dirty="0">
              <a:latin typeface="Consolas" panose="020B0609020204030204" pitchFamily="49" charset="0"/>
            </a:endParaRPr>
          </a:p>
          <a:p>
            <a:r>
              <a:rPr lang="en-GB" sz="3600" dirty="0" err="1">
                <a:latin typeface="Consolas" panose="020B0609020204030204" pitchFamily="49" charset="0"/>
              </a:rPr>
              <a:t>firstName</a:t>
            </a:r>
            <a:endParaRPr lang="en-GB" sz="3600" dirty="0">
              <a:latin typeface="Consolas" panose="020B0609020204030204" pitchFamily="49" charset="0"/>
            </a:endParaRPr>
          </a:p>
          <a:p>
            <a:r>
              <a:rPr lang="en-GB" sz="3600" dirty="0" err="1">
                <a:latin typeface="Consolas" panose="020B0609020204030204" pitchFamily="49" charset="0"/>
              </a:rPr>
              <a:t>lastName</a:t>
            </a:r>
            <a:endParaRPr lang="en-GB" sz="3600" dirty="0">
              <a:latin typeface="Consolas" panose="020B0609020204030204" pitchFamily="49" charset="0"/>
            </a:endParaRPr>
          </a:p>
          <a:p>
            <a:r>
              <a:rPr lang="en-GB" sz="3600" dirty="0">
                <a:latin typeface="Consolas" panose="020B0609020204030204" pitchFamily="49" charset="0"/>
              </a:rPr>
              <a:t>age</a:t>
            </a:r>
          </a:p>
        </p:txBody>
      </p:sp>
      <p:sp>
        <p:nvSpPr>
          <p:cNvPr id="6" name="TextBox 5">
            <a:extLst>
              <a:ext uri="{FF2B5EF4-FFF2-40B4-BE49-F238E27FC236}">
                <a16:creationId xmlns:a16="http://schemas.microsoft.com/office/drawing/2014/main" id="{06B8E8D6-C037-4571-B1CB-E4BD14A48ED7}"/>
              </a:ext>
            </a:extLst>
          </p:cNvPr>
          <p:cNvSpPr txBox="1"/>
          <p:nvPr/>
        </p:nvSpPr>
        <p:spPr>
          <a:xfrm>
            <a:off x="7175030" y="1690688"/>
            <a:ext cx="2464136" cy="3970318"/>
          </a:xfrm>
          <a:prstGeom prst="rect">
            <a:avLst/>
          </a:prstGeom>
          <a:solidFill>
            <a:schemeClr val="accent3">
              <a:lumMod val="20000"/>
              <a:lumOff val="80000"/>
            </a:schemeClr>
          </a:solidFill>
          <a:ln>
            <a:solidFill>
              <a:schemeClr val="tx1"/>
            </a:solidFill>
          </a:ln>
        </p:spPr>
        <p:txBody>
          <a:bodyPr wrap="none" rtlCol="0">
            <a:spAutoFit/>
          </a:bodyPr>
          <a:lstStyle/>
          <a:p>
            <a:r>
              <a:rPr lang="en-GB" sz="3600" b="1" dirty="0">
                <a:highlight>
                  <a:srgbClr val="C0C0C0"/>
                </a:highlight>
                <a:latin typeface="Consolas" panose="020B0609020204030204" pitchFamily="49" charset="0"/>
              </a:rPr>
              <a:t>address</a:t>
            </a:r>
          </a:p>
          <a:p>
            <a:r>
              <a:rPr lang="en-GB" sz="3600" u="sng" dirty="0" err="1">
                <a:latin typeface="Consolas" panose="020B0609020204030204" pitchFamily="49" charset="0"/>
              </a:rPr>
              <a:t>addressID</a:t>
            </a:r>
            <a:endParaRPr lang="en-GB" sz="3600" u="sng" dirty="0">
              <a:latin typeface="Consolas" panose="020B0609020204030204" pitchFamily="49" charset="0"/>
            </a:endParaRPr>
          </a:p>
          <a:p>
            <a:r>
              <a:rPr lang="en-GB" sz="3600" dirty="0" err="1">
                <a:latin typeface="Consolas" panose="020B0609020204030204" pitchFamily="49" charset="0"/>
              </a:rPr>
              <a:t>pupilID</a:t>
            </a:r>
            <a:r>
              <a:rPr lang="en-GB" sz="3600" dirty="0">
                <a:latin typeface="Consolas" panose="020B0609020204030204" pitchFamily="49" charset="0"/>
              </a:rPr>
              <a:t>*</a:t>
            </a:r>
          </a:p>
          <a:p>
            <a:r>
              <a:rPr lang="en-GB" sz="3600" dirty="0" err="1">
                <a:latin typeface="Consolas" panose="020B0609020204030204" pitchFamily="49" charset="0"/>
              </a:rPr>
              <a:t>firstLine</a:t>
            </a:r>
            <a:endParaRPr lang="en-GB" sz="3600" dirty="0">
              <a:latin typeface="Consolas" panose="020B0609020204030204" pitchFamily="49" charset="0"/>
            </a:endParaRPr>
          </a:p>
          <a:p>
            <a:r>
              <a:rPr lang="en-GB" sz="3600" dirty="0">
                <a:latin typeface="Consolas" panose="020B0609020204030204" pitchFamily="49" charset="0"/>
              </a:rPr>
              <a:t>town</a:t>
            </a:r>
          </a:p>
          <a:p>
            <a:r>
              <a:rPr lang="en-GB" sz="3600" dirty="0">
                <a:latin typeface="Consolas" panose="020B0609020204030204" pitchFamily="49" charset="0"/>
              </a:rPr>
              <a:t>postcode</a:t>
            </a:r>
          </a:p>
          <a:p>
            <a:r>
              <a:rPr lang="en-GB" sz="3600" dirty="0">
                <a:latin typeface="Consolas" panose="020B0609020204030204" pitchFamily="49" charset="0"/>
              </a:rPr>
              <a:t>phone</a:t>
            </a:r>
          </a:p>
        </p:txBody>
      </p:sp>
      <p:sp>
        <p:nvSpPr>
          <p:cNvPr id="7" name="TextBox 6">
            <a:extLst>
              <a:ext uri="{FF2B5EF4-FFF2-40B4-BE49-F238E27FC236}">
                <a16:creationId xmlns:a16="http://schemas.microsoft.com/office/drawing/2014/main" id="{663E3461-DC5D-48CF-AE13-69B629EAA16E}"/>
              </a:ext>
            </a:extLst>
          </p:cNvPr>
          <p:cNvSpPr txBox="1"/>
          <p:nvPr/>
        </p:nvSpPr>
        <p:spPr>
          <a:xfrm>
            <a:off x="838200" y="5429398"/>
            <a:ext cx="663964" cy="1200329"/>
          </a:xfrm>
          <a:prstGeom prst="rect">
            <a:avLst/>
          </a:prstGeom>
          <a:noFill/>
        </p:spPr>
        <p:txBody>
          <a:bodyPr wrap="none" rtlCol="0">
            <a:spAutoFit/>
          </a:bodyPr>
          <a:lstStyle/>
          <a:p>
            <a:r>
              <a:rPr lang="en-GB" sz="3600" dirty="0"/>
              <a:t>PK</a:t>
            </a:r>
          </a:p>
          <a:p>
            <a:r>
              <a:rPr lang="en-GB" sz="3600" dirty="0"/>
              <a:t>FK</a:t>
            </a:r>
          </a:p>
        </p:txBody>
      </p:sp>
    </p:spTree>
    <p:extLst>
      <p:ext uri="{BB962C8B-B14F-4D97-AF65-F5344CB8AC3E}">
        <p14:creationId xmlns:p14="http://schemas.microsoft.com/office/powerpoint/2010/main" val="2428575276"/>
      </p:ext>
    </p:extLst>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err="1"/>
              <a:t>Equi</a:t>
            </a:r>
            <a:r>
              <a:rPr lang="en-GB" dirty="0"/>
              <a:t>-join - Generic</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SELECT</a:t>
            </a:r>
            <a:r>
              <a:rPr lang="en-US" altLang="en-US" sz="4000" dirty="0">
                <a:solidFill>
                  <a:srgbClr val="000000"/>
                </a:solidFill>
                <a:latin typeface="Consolas" panose="020B0609020204030204" pitchFamily="49" charset="0"/>
              </a:rPr>
              <a:t> *</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FROM</a:t>
            </a:r>
            <a:r>
              <a:rPr lang="en-US" altLang="en-US" sz="4000" dirty="0">
                <a:solidFill>
                  <a:srgbClr val="000000"/>
                </a:solidFill>
                <a:latin typeface="Consolas" panose="020B0609020204030204" pitchFamily="49" charset="0"/>
              </a:rPr>
              <a:t> table1, table2</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3   </a:t>
            </a:r>
            <a:r>
              <a:rPr lang="en-US" altLang="en-US" sz="4000" dirty="0">
                <a:solidFill>
                  <a:srgbClr val="A71D5D"/>
                </a:solidFill>
                <a:latin typeface="Consolas" panose="020B0609020204030204" pitchFamily="49" charset="0"/>
              </a:rPr>
              <a:t>WHERE</a:t>
            </a:r>
            <a:r>
              <a:rPr lang="en-US" altLang="en-US" sz="4000" dirty="0">
                <a:solidFill>
                  <a:srgbClr val="000000"/>
                </a:solidFill>
                <a:latin typeface="Consolas" panose="020B0609020204030204" pitchFamily="49" charset="0"/>
              </a:rPr>
              <a:t> table1.PK = table2.FK;</a:t>
            </a:r>
            <a:endParaRPr lang="en-US" altLang="en-US" sz="4800" dirty="0">
              <a:latin typeface="Arial" panose="020B0604020202020204" pitchFamily="34" charset="0"/>
            </a:endParaRPr>
          </a:p>
        </p:txBody>
      </p:sp>
      <p:grpSp>
        <p:nvGrpSpPr>
          <p:cNvPr id="6" name="Group 5">
            <a:extLst>
              <a:ext uri="{FF2B5EF4-FFF2-40B4-BE49-F238E27FC236}">
                <a16:creationId xmlns:a16="http://schemas.microsoft.com/office/drawing/2014/main" id="{94F41D77-4B53-4FF3-9C09-6CD60C13ACB3}"/>
              </a:ext>
            </a:extLst>
          </p:cNvPr>
          <p:cNvGrpSpPr/>
          <p:nvPr/>
        </p:nvGrpSpPr>
        <p:grpSpPr>
          <a:xfrm>
            <a:off x="3704056" y="3728567"/>
            <a:ext cx="2596297" cy="1206699"/>
            <a:chOff x="3298091" y="3860323"/>
            <a:chExt cx="2962851" cy="1206699"/>
          </a:xfrm>
        </p:grpSpPr>
        <p:sp>
          <p:nvSpPr>
            <p:cNvPr id="7" name="Right Brace 6">
              <a:extLst>
                <a:ext uri="{FF2B5EF4-FFF2-40B4-BE49-F238E27FC236}">
                  <a16:creationId xmlns:a16="http://schemas.microsoft.com/office/drawing/2014/main" id="{16CB1B13-8FA4-4529-93F3-B363F5B19B18}"/>
                </a:ext>
              </a:extLst>
            </p:cNvPr>
            <p:cNvSpPr/>
            <p:nvPr/>
          </p:nvSpPr>
          <p:spPr>
            <a:xfrm rot="5400000">
              <a:off x="4437776" y="2720639"/>
              <a:ext cx="683481" cy="2962850"/>
            </a:xfrm>
            <a:prstGeom prst="rightBrace">
              <a:avLst>
                <a:gd name="adj1" fmla="val 0"/>
                <a:gd name="adj2" fmla="val 50000"/>
              </a:avLst>
            </a:prstGeom>
            <a:noFill/>
            <a:ln w="38100">
              <a:solidFill>
                <a:schemeClr val="accent6">
                  <a:lumMod val="75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GB"/>
            </a:p>
          </p:txBody>
        </p:sp>
        <p:sp>
          <p:nvSpPr>
            <p:cNvPr id="8" name="TextBox 7">
              <a:extLst>
                <a:ext uri="{FF2B5EF4-FFF2-40B4-BE49-F238E27FC236}">
                  <a16:creationId xmlns:a16="http://schemas.microsoft.com/office/drawing/2014/main" id="{A5A4A7A0-95E7-4433-A585-4126E53B4B2E}"/>
                </a:ext>
              </a:extLst>
            </p:cNvPr>
            <p:cNvSpPr txBox="1"/>
            <p:nvPr/>
          </p:nvSpPr>
          <p:spPr>
            <a:xfrm>
              <a:off x="3298091" y="4543802"/>
              <a:ext cx="2962851" cy="523220"/>
            </a:xfrm>
            <a:prstGeom prst="rect">
              <a:avLst/>
            </a:prstGeom>
            <a:noFill/>
          </p:spPr>
          <p:txBody>
            <a:bodyPr wrap="square" rtlCol="0">
              <a:spAutoFit/>
            </a:bodyPr>
            <a:lstStyle/>
            <a:p>
              <a:pPr algn="ctr"/>
              <a:r>
                <a:rPr lang="en-GB" sz="2800" b="1" dirty="0">
                  <a:solidFill>
                    <a:srgbClr val="7030A0"/>
                  </a:solidFill>
                </a:rPr>
                <a:t>Primary Key</a:t>
              </a:r>
            </a:p>
          </p:txBody>
        </p:sp>
      </p:grpSp>
      <p:grpSp>
        <p:nvGrpSpPr>
          <p:cNvPr id="9" name="Group 8">
            <a:extLst>
              <a:ext uri="{FF2B5EF4-FFF2-40B4-BE49-F238E27FC236}">
                <a16:creationId xmlns:a16="http://schemas.microsoft.com/office/drawing/2014/main" id="{85CAE0F8-4356-48B6-B0EE-7E399F8401F6}"/>
              </a:ext>
            </a:extLst>
          </p:cNvPr>
          <p:cNvGrpSpPr/>
          <p:nvPr/>
        </p:nvGrpSpPr>
        <p:grpSpPr>
          <a:xfrm>
            <a:off x="7033044" y="3728566"/>
            <a:ext cx="2596298" cy="1206700"/>
            <a:chOff x="3298090" y="3860322"/>
            <a:chExt cx="2977820" cy="1206700"/>
          </a:xfrm>
        </p:grpSpPr>
        <p:sp>
          <p:nvSpPr>
            <p:cNvPr id="11" name="Right Brace 10">
              <a:extLst>
                <a:ext uri="{FF2B5EF4-FFF2-40B4-BE49-F238E27FC236}">
                  <a16:creationId xmlns:a16="http://schemas.microsoft.com/office/drawing/2014/main" id="{8941768D-BBE6-4409-9B4F-6C95FBFA3CDB}"/>
                </a:ext>
              </a:extLst>
            </p:cNvPr>
            <p:cNvSpPr/>
            <p:nvPr/>
          </p:nvSpPr>
          <p:spPr>
            <a:xfrm rot="5400000">
              <a:off x="4445261" y="2713153"/>
              <a:ext cx="683479" cy="2977818"/>
            </a:xfrm>
            <a:prstGeom prst="rightBrace">
              <a:avLst>
                <a:gd name="adj1" fmla="val 0"/>
                <a:gd name="adj2" fmla="val 50000"/>
              </a:avLst>
            </a:prstGeom>
            <a:noFill/>
            <a:ln w="38100">
              <a:solidFill>
                <a:schemeClr val="accent6">
                  <a:lumMod val="75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GB"/>
            </a:p>
          </p:txBody>
        </p:sp>
        <p:sp>
          <p:nvSpPr>
            <p:cNvPr id="12" name="TextBox 11">
              <a:extLst>
                <a:ext uri="{FF2B5EF4-FFF2-40B4-BE49-F238E27FC236}">
                  <a16:creationId xmlns:a16="http://schemas.microsoft.com/office/drawing/2014/main" id="{5F253C26-1DA4-45E1-8342-2A519A925C27}"/>
                </a:ext>
              </a:extLst>
            </p:cNvPr>
            <p:cNvSpPr txBox="1"/>
            <p:nvPr/>
          </p:nvSpPr>
          <p:spPr>
            <a:xfrm>
              <a:off x="3298090" y="4543802"/>
              <a:ext cx="2977820" cy="523220"/>
            </a:xfrm>
            <a:prstGeom prst="rect">
              <a:avLst/>
            </a:prstGeom>
            <a:noFill/>
          </p:spPr>
          <p:txBody>
            <a:bodyPr wrap="square" rtlCol="0">
              <a:spAutoFit/>
            </a:bodyPr>
            <a:lstStyle/>
            <a:p>
              <a:pPr algn="ctr"/>
              <a:r>
                <a:rPr lang="en-GB" sz="2800" b="1" dirty="0">
                  <a:solidFill>
                    <a:srgbClr val="7030A0"/>
                  </a:solidFill>
                </a:rPr>
                <a:t>Foreign Key</a:t>
              </a:r>
            </a:p>
          </p:txBody>
        </p:sp>
      </p:grpSp>
      <p:sp>
        <p:nvSpPr>
          <p:cNvPr id="4" name="Callout: Bent Line with No Border 3">
            <a:extLst>
              <a:ext uri="{FF2B5EF4-FFF2-40B4-BE49-F238E27FC236}">
                <a16:creationId xmlns:a16="http://schemas.microsoft.com/office/drawing/2014/main" id="{AEA6DA72-342C-5C4F-0234-290FC2ACD1BE}"/>
              </a:ext>
            </a:extLst>
          </p:cNvPr>
          <p:cNvSpPr/>
          <p:nvPr/>
        </p:nvSpPr>
        <p:spPr>
          <a:xfrm>
            <a:off x="8566849" y="1359674"/>
            <a:ext cx="2596296" cy="862642"/>
          </a:xfrm>
          <a:prstGeom prst="callout2">
            <a:avLst>
              <a:gd name="adj1" fmla="val 52750"/>
              <a:gd name="adj2" fmla="val -2245"/>
              <a:gd name="adj3" fmla="val 52979"/>
              <a:gd name="adj4" fmla="val -32545"/>
              <a:gd name="adj5" fmla="val 136243"/>
              <a:gd name="adj6" fmla="val -47535"/>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Multiple tables</a:t>
            </a:r>
          </a:p>
        </p:txBody>
      </p:sp>
      <p:sp>
        <p:nvSpPr>
          <p:cNvPr id="5" name="TextBox 4">
            <a:extLst>
              <a:ext uri="{FF2B5EF4-FFF2-40B4-BE49-F238E27FC236}">
                <a16:creationId xmlns:a16="http://schemas.microsoft.com/office/drawing/2014/main" id="{6A1CBB54-C918-447C-DDC3-F9CB8966BB63}"/>
              </a:ext>
            </a:extLst>
          </p:cNvPr>
          <p:cNvSpPr txBox="1"/>
          <p:nvPr/>
        </p:nvSpPr>
        <p:spPr>
          <a:xfrm>
            <a:off x="1584205" y="5916286"/>
            <a:ext cx="9023624" cy="646331"/>
          </a:xfrm>
          <a:prstGeom prst="rect">
            <a:avLst/>
          </a:prstGeom>
          <a:noFill/>
        </p:spPr>
        <p:txBody>
          <a:bodyPr wrap="none" rtlCol="0">
            <a:spAutoFit/>
          </a:bodyPr>
          <a:lstStyle/>
          <a:p>
            <a:pPr algn="ctr"/>
            <a:r>
              <a:rPr lang="en-GB" sz="3600" dirty="0">
                <a:solidFill>
                  <a:srgbClr val="FF0000"/>
                </a:solidFill>
              </a:rPr>
              <a:t>Field name qualified: </a:t>
            </a:r>
            <a:r>
              <a:rPr lang="en-GB" sz="3600" dirty="0" err="1">
                <a:latin typeface="Consolas" panose="020B0609020204030204" pitchFamily="49" charset="0"/>
              </a:rPr>
              <a:t>tableName.fieldName</a:t>
            </a:r>
            <a:endParaRPr lang="en-GB" sz="3600" dirty="0">
              <a:latin typeface="Consolas" panose="020B0609020204030204" pitchFamily="49" charset="0"/>
            </a:endParaRPr>
          </a:p>
        </p:txBody>
      </p:sp>
      <p:sp>
        <p:nvSpPr>
          <p:cNvPr id="10" name="Callout: Bent Line with No Border 9">
            <a:extLst>
              <a:ext uri="{FF2B5EF4-FFF2-40B4-BE49-F238E27FC236}">
                <a16:creationId xmlns:a16="http://schemas.microsoft.com/office/drawing/2014/main" id="{D1AA1584-D545-5444-4C4E-8DDF02C0FBDD}"/>
              </a:ext>
            </a:extLst>
          </p:cNvPr>
          <p:cNvSpPr/>
          <p:nvPr/>
        </p:nvSpPr>
        <p:spPr>
          <a:xfrm>
            <a:off x="8922866" y="5314321"/>
            <a:ext cx="2596296" cy="862642"/>
          </a:xfrm>
          <a:prstGeom prst="callout2">
            <a:avLst>
              <a:gd name="adj1" fmla="val 52750"/>
              <a:gd name="adj2" fmla="val -2245"/>
              <a:gd name="adj3" fmla="val 52979"/>
              <a:gd name="adj4" fmla="val -32545"/>
              <a:gd name="adj5" fmla="val 101325"/>
              <a:gd name="adj6" fmla="val -32619"/>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Dot, no spaces</a:t>
            </a:r>
          </a:p>
        </p:txBody>
      </p:sp>
    </p:spTree>
    <p:extLst>
      <p:ext uri="{BB962C8B-B14F-4D97-AF65-F5344CB8AC3E}">
        <p14:creationId xmlns:p14="http://schemas.microsoft.com/office/powerpoint/2010/main" val="95502963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0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20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4"/>
                                        </p:tgtEl>
                                        <p:attrNameLst>
                                          <p:attrName>style.visibility</p:attrName>
                                        </p:attrNameLst>
                                      </p:cBhvr>
                                      <p:to>
                                        <p:strVal val="visible"/>
                                      </p:to>
                                    </p:set>
                                    <p:animEffect transition="in" filter="fade">
                                      <p:cBhvr>
                                        <p:cTn id="17" dur="1000"/>
                                        <p:tgtEl>
                                          <p:spTgt spid="4"/>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3">
                                            <p:txEl>
                                              <p:pRg st="2" end="2"/>
                                            </p:txEl>
                                          </p:spTgt>
                                        </p:tgtEl>
                                        <p:attrNameLst>
                                          <p:attrName>style.visibility</p:attrName>
                                        </p:attrNameLst>
                                      </p:cBhvr>
                                      <p:to>
                                        <p:strVal val="visible"/>
                                      </p:to>
                                    </p:set>
                                    <p:animEffect transition="in" filter="wipe(left)">
                                      <p:cBhvr>
                                        <p:cTn id="22" dur="2500"/>
                                        <p:tgtEl>
                                          <p:spTgt spid="3">
                                            <p:txEl>
                                              <p:pRg st="2" end="2"/>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1" fill="hold" nodeType="clickEffect">
                                  <p:stCondLst>
                                    <p:cond delay="0"/>
                                  </p:stCondLst>
                                  <p:childTnLst>
                                    <p:set>
                                      <p:cBhvr>
                                        <p:cTn id="26" dur="1" fill="hold">
                                          <p:stCondLst>
                                            <p:cond delay="0"/>
                                          </p:stCondLst>
                                        </p:cTn>
                                        <p:tgtEl>
                                          <p:spTgt spid="6"/>
                                        </p:tgtEl>
                                        <p:attrNameLst>
                                          <p:attrName>style.visibility</p:attrName>
                                        </p:attrNameLst>
                                      </p:cBhvr>
                                      <p:to>
                                        <p:strVal val="visible"/>
                                      </p:to>
                                    </p:set>
                                    <p:animEffect transition="in" filter="wipe(up)">
                                      <p:cBhvr>
                                        <p:cTn id="27" dur="1000"/>
                                        <p:tgtEl>
                                          <p:spTgt spid="6"/>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1" fill="hold" nodeType="clickEffect">
                                  <p:stCondLst>
                                    <p:cond delay="0"/>
                                  </p:stCondLst>
                                  <p:childTnLst>
                                    <p:set>
                                      <p:cBhvr>
                                        <p:cTn id="31" dur="1" fill="hold">
                                          <p:stCondLst>
                                            <p:cond delay="0"/>
                                          </p:stCondLst>
                                        </p:cTn>
                                        <p:tgtEl>
                                          <p:spTgt spid="9"/>
                                        </p:tgtEl>
                                        <p:attrNameLst>
                                          <p:attrName>style.visibility</p:attrName>
                                        </p:attrNameLst>
                                      </p:cBhvr>
                                      <p:to>
                                        <p:strVal val="visible"/>
                                      </p:to>
                                    </p:set>
                                    <p:animEffect transition="in" filter="wipe(up)">
                                      <p:cBhvr>
                                        <p:cTn id="32" dur="1000"/>
                                        <p:tgtEl>
                                          <p:spTgt spid="9"/>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5">
                                            <p:txEl>
                                              <p:pRg st="0" end="0"/>
                                            </p:txEl>
                                          </p:spTgt>
                                        </p:tgtEl>
                                        <p:attrNameLst>
                                          <p:attrName>style.visibility</p:attrName>
                                        </p:attrNameLst>
                                      </p:cBhvr>
                                      <p:to>
                                        <p:strVal val="visible"/>
                                      </p:to>
                                    </p:set>
                                    <p:animEffect transition="in" filter="wipe(left)">
                                      <p:cBhvr>
                                        <p:cTn id="37" dur="3000"/>
                                        <p:tgtEl>
                                          <p:spTgt spid="5">
                                            <p:txEl>
                                              <p:pRg st="0" end="0"/>
                                            </p:txEl>
                                          </p:spTgt>
                                        </p:tgtEl>
                                      </p:cBhvr>
                                    </p:animEffect>
                                  </p:childTnLst>
                                </p:cTn>
                              </p:par>
                            </p:childTnLst>
                          </p:cTn>
                        </p:par>
                      </p:childTnLst>
                    </p:cTn>
                  </p:par>
                  <p:par>
                    <p:cTn id="38" fill="hold">
                      <p:stCondLst>
                        <p:cond delay="indefinite"/>
                      </p:stCondLst>
                      <p:childTnLst>
                        <p:par>
                          <p:cTn id="39" fill="hold">
                            <p:stCondLst>
                              <p:cond delay="0"/>
                            </p:stCondLst>
                            <p:childTnLst>
                              <p:par>
                                <p:cTn id="40" presetID="10" presetClass="entr" presetSubtype="0" fill="hold" grpId="0" nodeType="clickEffect">
                                  <p:stCondLst>
                                    <p:cond delay="0"/>
                                  </p:stCondLst>
                                  <p:childTnLst>
                                    <p:set>
                                      <p:cBhvr>
                                        <p:cTn id="41" dur="1" fill="hold">
                                          <p:stCondLst>
                                            <p:cond delay="0"/>
                                          </p:stCondLst>
                                        </p:cTn>
                                        <p:tgtEl>
                                          <p:spTgt spid="10"/>
                                        </p:tgtEl>
                                        <p:attrNameLst>
                                          <p:attrName>style.visibility</p:attrName>
                                        </p:attrNameLst>
                                      </p:cBhvr>
                                      <p:to>
                                        <p:strVal val="visible"/>
                                      </p:to>
                                    </p:set>
                                    <p:animEffect transition="in" filter="fade">
                                      <p:cBhvr>
                                        <p:cTn id="42" dur="10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4" grpId="0" animBg="1"/>
      <p:bldP spid="5" grpId="0" build="p"/>
      <p:bldP spid="10" grpId="0" animBg="1"/>
    </p:bldLst>
  </p:timing>
</p:sld>
</file>

<file path=ppt/slides/slide82.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err="1"/>
              <a:t>Equi</a:t>
            </a:r>
            <a:r>
              <a:rPr lang="en-GB" dirty="0"/>
              <a:t>-join - Generic</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SELECT</a:t>
            </a:r>
            <a:r>
              <a:rPr lang="en-US" altLang="en-US" sz="4000" dirty="0">
                <a:solidFill>
                  <a:srgbClr val="000000"/>
                </a:solidFill>
                <a:latin typeface="Consolas" panose="020B0609020204030204" pitchFamily="49" charset="0"/>
              </a:rPr>
              <a:t> *</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FROM</a:t>
            </a:r>
            <a:r>
              <a:rPr lang="en-US" altLang="en-US" sz="4000" dirty="0">
                <a:solidFill>
                  <a:srgbClr val="000000"/>
                </a:solidFill>
                <a:latin typeface="Consolas" panose="020B0609020204030204" pitchFamily="49" charset="0"/>
              </a:rPr>
              <a:t> table1, table2</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3   </a:t>
            </a:r>
            <a:r>
              <a:rPr lang="en-US" altLang="en-US" sz="4000" dirty="0">
                <a:solidFill>
                  <a:srgbClr val="A71D5D"/>
                </a:solidFill>
                <a:latin typeface="Consolas" panose="020B0609020204030204" pitchFamily="49" charset="0"/>
              </a:rPr>
              <a:t>WHERE</a:t>
            </a:r>
            <a:r>
              <a:rPr lang="en-US" altLang="en-US" sz="4000" dirty="0">
                <a:solidFill>
                  <a:srgbClr val="000000"/>
                </a:solidFill>
                <a:latin typeface="Consolas" panose="020B0609020204030204" pitchFamily="49" charset="0"/>
              </a:rPr>
              <a:t> table1.PK = table2.FK;</a:t>
            </a:r>
            <a:endParaRPr lang="en-US" altLang="en-US" sz="4800" dirty="0">
              <a:latin typeface="Arial" panose="020B0604020202020204" pitchFamily="34" charset="0"/>
            </a:endParaRPr>
          </a:p>
        </p:txBody>
      </p:sp>
      <p:sp>
        <p:nvSpPr>
          <p:cNvPr id="4" name="TextBox 3">
            <a:extLst>
              <a:ext uri="{FF2B5EF4-FFF2-40B4-BE49-F238E27FC236}">
                <a16:creationId xmlns:a16="http://schemas.microsoft.com/office/drawing/2014/main" id="{5EFB4FAF-1ED0-1A8F-7F29-6C7FB17CB6B3}"/>
              </a:ext>
            </a:extLst>
          </p:cNvPr>
          <p:cNvSpPr txBox="1"/>
          <p:nvPr/>
        </p:nvSpPr>
        <p:spPr>
          <a:xfrm>
            <a:off x="1584205" y="5916286"/>
            <a:ext cx="9023624" cy="646331"/>
          </a:xfrm>
          <a:prstGeom prst="rect">
            <a:avLst/>
          </a:prstGeom>
          <a:noFill/>
        </p:spPr>
        <p:txBody>
          <a:bodyPr wrap="none" rtlCol="0">
            <a:spAutoFit/>
          </a:bodyPr>
          <a:lstStyle/>
          <a:p>
            <a:pPr algn="ctr"/>
            <a:r>
              <a:rPr lang="en-GB" sz="3600" dirty="0">
                <a:solidFill>
                  <a:srgbClr val="FF0000"/>
                </a:solidFill>
              </a:rPr>
              <a:t>Field name qualified: </a:t>
            </a:r>
            <a:r>
              <a:rPr lang="en-GB" sz="3600" dirty="0" err="1">
                <a:latin typeface="Consolas" panose="020B0609020204030204" pitchFamily="49" charset="0"/>
              </a:rPr>
              <a:t>tableName.fieldName</a:t>
            </a:r>
            <a:endParaRPr lang="en-GB" sz="3600" dirty="0">
              <a:latin typeface="Consolas" panose="020B0609020204030204" pitchFamily="49" charset="0"/>
            </a:endParaRPr>
          </a:p>
        </p:txBody>
      </p:sp>
    </p:spTree>
    <p:extLst>
      <p:ext uri="{BB962C8B-B14F-4D97-AF65-F5344CB8AC3E}">
        <p14:creationId xmlns:p14="http://schemas.microsoft.com/office/powerpoint/2010/main" val="371072269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animEffect transition="in" filter="wipe(left)">
                                      <p:cBhvr>
                                        <p:cTn id="7" dur="2000"/>
                                        <p:tgtEl>
                                          <p:spTgt spid="4">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build="p"/>
    </p:bldLst>
  </p:timing>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err="1"/>
              <a:t>Equi</a:t>
            </a:r>
            <a:r>
              <a:rPr lang="en-GB" dirty="0"/>
              <a:t>-join - Example</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a:xfrm>
            <a:off x="553737" y="1888113"/>
            <a:ext cx="11226800" cy="4351338"/>
          </a:xfrm>
        </p:spPr>
        <p:txBody>
          <a:bodyPr>
            <a:normAutofit/>
          </a:bodyPr>
          <a:lstStyle/>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1 </a:t>
            </a:r>
            <a:r>
              <a:rPr lang="en-US" altLang="en-US" sz="3600" dirty="0">
                <a:solidFill>
                  <a:srgbClr val="A71D5D"/>
                </a:solidFill>
                <a:latin typeface="Consolas" panose="020B0609020204030204" pitchFamily="49" charset="0"/>
              </a:rPr>
              <a:t>SELECT</a:t>
            </a:r>
            <a:r>
              <a:rPr lang="en-US" altLang="en-US" sz="3600" dirty="0">
                <a:solidFill>
                  <a:srgbClr val="000000"/>
                </a:solidFill>
                <a:latin typeface="Consolas" panose="020B0609020204030204" pitchFamily="49" charset="0"/>
              </a:rPr>
              <a:t> </a:t>
            </a:r>
            <a:r>
              <a:rPr lang="en-US" altLang="en-US" sz="3600" dirty="0" err="1">
                <a:solidFill>
                  <a:srgbClr val="000000"/>
                </a:solidFill>
                <a:latin typeface="Consolas" panose="020B0609020204030204" pitchFamily="49" charset="0"/>
              </a:rPr>
              <a:t>Taxi.taxiID</a:t>
            </a:r>
            <a:r>
              <a:rPr lang="en-US" altLang="en-US" sz="3600" dirty="0">
                <a:solidFill>
                  <a:srgbClr val="000000"/>
                </a:solidFill>
                <a:latin typeface="Consolas" panose="020B0609020204030204" pitchFamily="49" charset="0"/>
              </a:rPr>
              <a:t>, </a:t>
            </a:r>
            <a:r>
              <a:rPr lang="en-US" altLang="en-US" sz="3600" dirty="0" err="1">
                <a:solidFill>
                  <a:srgbClr val="000000"/>
                </a:solidFill>
                <a:latin typeface="Consolas" panose="020B0609020204030204" pitchFamily="49" charset="0"/>
              </a:rPr>
              <a:t>pickUpDate</a:t>
            </a:r>
            <a:r>
              <a:rPr lang="en-US" altLang="en-US" sz="3600" dirty="0">
                <a:solidFill>
                  <a:srgbClr val="000000"/>
                </a:solidFill>
                <a:latin typeface="Consolas" panose="020B0609020204030204" pitchFamily="49" charset="0"/>
              </a:rPr>
              <a:t>, pax</a:t>
            </a: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2   </a:t>
            </a:r>
            <a:r>
              <a:rPr lang="en-US" altLang="en-US" sz="3600" dirty="0">
                <a:solidFill>
                  <a:srgbClr val="A71D5D"/>
                </a:solidFill>
                <a:latin typeface="Consolas" panose="020B0609020204030204" pitchFamily="49" charset="0"/>
              </a:rPr>
              <a:t>FROM</a:t>
            </a:r>
            <a:r>
              <a:rPr lang="en-US" altLang="en-US" sz="3600" dirty="0">
                <a:solidFill>
                  <a:srgbClr val="000000"/>
                </a:solidFill>
                <a:latin typeface="Consolas" panose="020B0609020204030204" pitchFamily="49" charset="0"/>
              </a:rPr>
              <a:t> Taxi, Journey</a:t>
            </a: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3   </a:t>
            </a:r>
            <a:r>
              <a:rPr lang="en-US" altLang="en-US" sz="3600" dirty="0">
                <a:solidFill>
                  <a:srgbClr val="A71D5D"/>
                </a:solidFill>
                <a:latin typeface="Consolas" panose="020B0609020204030204" pitchFamily="49" charset="0"/>
              </a:rPr>
              <a:t>WHERE</a:t>
            </a:r>
            <a:r>
              <a:rPr lang="en-US" altLang="en-US" sz="3600" dirty="0">
                <a:solidFill>
                  <a:srgbClr val="000000"/>
                </a:solidFill>
                <a:latin typeface="Consolas" panose="020B0609020204030204" pitchFamily="49" charset="0"/>
              </a:rPr>
              <a:t> </a:t>
            </a:r>
            <a:r>
              <a:rPr lang="en-US" altLang="en-US" sz="3600" dirty="0" err="1">
                <a:solidFill>
                  <a:srgbClr val="000000"/>
                </a:solidFill>
                <a:latin typeface="Consolas" panose="020B0609020204030204" pitchFamily="49" charset="0"/>
              </a:rPr>
              <a:t>Taxi.taxiID</a:t>
            </a:r>
            <a:r>
              <a:rPr lang="en-US" altLang="en-US" sz="3600" dirty="0">
                <a:solidFill>
                  <a:srgbClr val="000000"/>
                </a:solidFill>
                <a:latin typeface="Consolas" panose="020B0609020204030204" pitchFamily="49" charset="0"/>
              </a:rPr>
              <a:t> = </a:t>
            </a:r>
            <a:r>
              <a:rPr lang="en-US" altLang="en-US" sz="3600" dirty="0" err="1">
                <a:solidFill>
                  <a:srgbClr val="000000"/>
                </a:solidFill>
                <a:latin typeface="Consolas" panose="020B0609020204030204" pitchFamily="49" charset="0"/>
              </a:rPr>
              <a:t>Journey.taxiID</a:t>
            </a:r>
            <a:r>
              <a:rPr lang="en-US" altLang="en-US" sz="3600" dirty="0">
                <a:solidFill>
                  <a:srgbClr val="000000"/>
                </a:solidFill>
                <a:latin typeface="Consolas" panose="020B0609020204030204" pitchFamily="49" charset="0"/>
              </a:rPr>
              <a:t>;</a:t>
            </a:r>
            <a:endParaRPr lang="en-US" altLang="en-US" sz="4400" dirty="0">
              <a:latin typeface="Arial" panose="020B0604020202020204" pitchFamily="34" charset="0"/>
            </a:endParaRPr>
          </a:p>
        </p:txBody>
      </p:sp>
      <p:grpSp>
        <p:nvGrpSpPr>
          <p:cNvPr id="6" name="Group 5">
            <a:extLst>
              <a:ext uri="{FF2B5EF4-FFF2-40B4-BE49-F238E27FC236}">
                <a16:creationId xmlns:a16="http://schemas.microsoft.com/office/drawing/2014/main" id="{94F41D77-4B53-4FF3-9C09-6CD60C13ACB3}"/>
              </a:ext>
            </a:extLst>
          </p:cNvPr>
          <p:cNvGrpSpPr/>
          <p:nvPr/>
        </p:nvGrpSpPr>
        <p:grpSpPr>
          <a:xfrm>
            <a:off x="3113974" y="3631081"/>
            <a:ext cx="2791526" cy="1206699"/>
            <a:chOff x="3298092" y="3860323"/>
            <a:chExt cx="2962850" cy="1206699"/>
          </a:xfrm>
        </p:grpSpPr>
        <p:sp>
          <p:nvSpPr>
            <p:cNvPr id="7" name="Right Brace 6">
              <a:extLst>
                <a:ext uri="{FF2B5EF4-FFF2-40B4-BE49-F238E27FC236}">
                  <a16:creationId xmlns:a16="http://schemas.microsoft.com/office/drawing/2014/main" id="{16CB1B13-8FA4-4529-93F3-B363F5B19B18}"/>
                </a:ext>
              </a:extLst>
            </p:cNvPr>
            <p:cNvSpPr/>
            <p:nvPr/>
          </p:nvSpPr>
          <p:spPr>
            <a:xfrm rot="5400000">
              <a:off x="4437776" y="2720639"/>
              <a:ext cx="683481" cy="2962850"/>
            </a:xfrm>
            <a:prstGeom prst="rightBrace">
              <a:avLst>
                <a:gd name="adj1" fmla="val 0"/>
                <a:gd name="adj2" fmla="val 50000"/>
              </a:avLst>
            </a:prstGeom>
            <a:noFill/>
            <a:ln w="38100">
              <a:solidFill>
                <a:schemeClr val="accent6">
                  <a:lumMod val="75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GB"/>
            </a:p>
          </p:txBody>
        </p:sp>
        <p:sp>
          <p:nvSpPr>
            <p:cNvPr id="8" name="TextBox 7">
              <a:extLst>
                <a:ext uri="{FF2B5EF4-FFF2-40B4-BE49-F238E27FC236}">
                  <a16:creationId xmlns:a16="http://schemas.microsoft.com/office/drawing/2014/main" id="{A5A4A7A0-95E7-4433-A585-4126E53B4B2E}"/>
                </a:ext>
              </a:extLst>
            </p:cNvPr>
            <p:cNvSpPr txBox="1"/>
            <p:nvPr/>
          </p:nvSpPr>
          <p:spPr>
            <a:xfrm>
              <a:off x="3737084" y="4543802"/>
              <a:ext cx="2097452" cy="523220"/>
            </a:xfrm>
            <a:prstGeom prst="rect">
              <a:avLst/>
            </a:prstGeom>
            <a:noFill/>
          </p:spPr>
          <p:txBody>
            <a:bodyPr wrap="square" rtlCol="0">
              <a:spAutoFit/>
            </a:bodyPr>
            <a:lstStyle/>
            <a:p>
              <a:pPr algn="ctr"/>
              <a:r>
                <a:rPr lang="en-GB" sz="2800" b="1" dirty="0">
                  <a:solidFill>
                    <a:srgbClr val="7030A0"/>
                  </a:solidFill>
                </a:rPr>
                <a:t>Primary Key</a:t>
              </a:r>
            </a:p>
          </p:txBody>
        </p:sp>
      </p:grpSp>
      <p:grpSp>
        <p:nvGrpSpPr>
          <p:cNvPr id="9" name="Group 8">
            <a:extLst>
              <a:ext uri="{FF2B5EF4-FFF2-40B4-BE49-F238E27FC236}">
                <a16:creationId xmlns:a16="http://schemas.microsoft.com/office/drawing/2014/main" id="{85CAE0F8-4356-48B6-B0EE-7E399F8401F6}"/>
              </a:ext>
            </a:extLst>
          </p:cNvPr>
          <p:cNvGrpSpPr/>
          <p:nvPr/>
        </p:nvGrpSpPr>
        <p:grpSpPr>
          <a:xfrm>
            <a:off x="6618930" y="3631082"/>
            <a:ext cx="3553770" cy="1206700"/>
            <a:chOff x="3298092" y="3860322"/>
            <a:chExt cx="2977818" cy="1206700"/>
          </a:xfrm>
        </p:grpSpPr>
        <p:sp>
          <p:nvSpPr>
            <p:cNvPr id="11" name="Right Brace 10">
              <a:extLst>
                <a:ext uri="{FF2B5EF4-FFF2-40B4-BE49-F238E27FC236}">
                  <a16:creationId xmlns:a16="http://schemas.microsoft.com/office/drawing/2014/main" id="{8941768D-BBE6-4409-9B4F-6C95FBFA3CDB}"/>
                </a:ext>
              </a:extLst>
            </p:cNvPr>
            <p:cNvSpPr/>
            <p:nvPr/>
          </p:nvSpPr>
          <p:spPr>
            <a:xfrm rot="5400000">
              <a:off x="4445261" y="2713153"/>
              <a:ext cx="683479" cy="2977818"/>
            </a:xfrm>
            <a:prstGeom prst="rightBrace">
              <a:avLst>
                <a:gd name="adj1" fmla="val 0"/>
                <a:gd name="adj2" fmla="val 50000"/>
              </a:avLst>
            </a:prstGeom>
            <a:noFill/>
            <a:ln w="38100">
              <a:solidFill>
                <a:schemeClr val="accent6">
                  <a:lumMod val="75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GB"/>
            </a:p>
          </p:txBody>
        </p:sp>
        <p:sp>
          <p:nvSpPr>
            <p:cNvPr id="12" name="TextBox 11">
              <a:extLst>
                <a:ext uri="{FF2B5EF4-FFF2-40B4-BE49-F238E27FC236}">
                  <a16:creationId xmlns:a16="http://schemas.microsoft.com/office/drawing/2014/main" id="{5F253C26-1DA4-45E1-8342-2A519A925C27}"/>
                </a:ext>
              </a:extLst>
            </p:cNvPr>
            <p:cNvSpPr txBox="1"/>
            <p:nvPr/>
          </p:nvSpPr>
          <p:spPr>
            <a:xfrm>
              <a:off x="3792877" y="4543802"/>
              <a:ext cx="2008497" cy="523220"/>
            </a:xfrm>
            <a:prstGeom prst="rect">
              <a:avLst/>
            </a:prstGeom>
            <a:noFill/>
          </p:spPr>
          <p:txBody>
            <a:bodyPr wrap="square" rtlCol="0">
              <a:spAutoFit/>
            </a:bodyPr>
            <a:lstStyle/>
            <a:p>
              <a:pPr algn="ctr"/>
              <a:r>
                <a:rPr lang="en-GB" sz="2800" b="1" dirty="0">
                  <a:solidFill>
                    <a:srgbClr val="7030A0"/>
                  </a:solidFill>
                </a:rPr>
                <a:t>Foreign Key</a:t>
              </a:r>
            </a:p>
          </p:txBody>
        </p:sp>
      </p:grpSp>
      <p:sp>
        <p:nvSpPr>
          <p:cNvPr id="13" name="Callout: Bent Line with No Border 12">
            <a:extLst>
              <a:ext uri="{FF2B5EF4-FFF2-40B4-BE49-F238E27FC236}">
                <a16:creationId xmlns:a16="http://schemas.microsoft.com/office/drawing/2014/main" id="{0929D270-263B-40FE-B047-5F7676BBB754}"/>
              </a:ext>
            </a:extLst>
          </p:cNvPr>
          <p:cNvSpPr/>
          <p:nvPr/>
        </p:nvSpPr>
        <p:spPr>
          <a:xfrm>
            <a:off x="4754976" y="5107071"/>
            <a:ext cx="5433240" cy="862642"/>
          </a:xfrm>
          <a:prstGeom prst="callout2">
            <a:avLst>
              <a:gd name="adj1" fmla="val 50174"/>
              <a:gd name="adj2" fmla="val -24"/>
              <a:gd name="adj3" fmla="val 51139"/>
              <a:gd name="adj4" fmla="val -13508"/>
              <a:gd name="adj5" fmla="val 109858"/>
              <a:gd name="adj6" fmla="val -13471"/>
            </a:avLst>
          </a:prstGeom>
          <a:noFill/>
          <a:ln w="38100">
            <a:solidFill>
              <a:schemeClr val="accent6">
                <a:lumMod val="75000"/>
              </a:schemeClr>
            </a:solidFill>
            <a:headEnd type="none" w="lg" len="lg"/>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Field name in more than one table</a:t>
            </a:r>
          </a:p>
        </p:txBody>
      </p:sp>
      <p:sp>
        <p:nvSpPr>
          <p:cNvPr id="14" name="TextBox 13">
            <a:extLst>
              <a:ext uri="{FF2B5EF4-FFF2-40B4-BE49-F238E27FC236}">
                <a16:creationId xmlns:a16="http://schemas.microsoft.com/office/drawing/2014/main" id="{DF4BA8FF-524A-4C13-87BF-68801971FA28}"/>
              </a:ext>
            </a:extLst>
          </p:cNvPr>
          <p:cNvSpPr txBox="1"/>
          <p:nvPr/>
        </p:nvSpPr>
        <p:spPr>
          <a:xfrm>
            <a:off x="666086" y="5916286"/>
            <a:ext cx="10859832" cy="646331"/>
          </a:xfrm>
          <a:prstGeom prst="rect">
            <a:avLst/>
          </a:prstGeom>
          <a:noFill/>
        </p:spPr>
        <p:txBody>
          <a:bodyPr wrap="none" rtlCol="0">
            <a:spAutoFit/>
          </a:bodyPr>
          <a:lstStyle/>
          <a:p>
            <a:pPr algn="ctr"/>
            <a:r>
              <a:rPr lang="en-GB" sz="3600" dirty="0" err="1">
                <a:latin typeface="Consolas" panose="020B0609020204030204" pitchFamily="49" charset="0"/>
              </a:rPr>
              <a:t>taxiID</a:t>
            </a:r>
            <a:r>
              <a:rPr lang="en-GB" sz="3600" dirty="0">
                <a:latin typeface="Arial" panose="020B0604020202020204" pitchFamily="34" charset="0"/>
                <a:cs typeface="Arial" panose="020B0604020202020204" pitchFamily="34" charset="0"/>
              </a:rPr>
              <a:t> </a:t>
            </a:r>
            <a:r>
              <a:rPr lang="en-GB" sz="3600" dirty="0"/>
              <a:t>is </a:t>
            </a:r>
            <a:r>
              <a:rPr lang="en-GB" sz="3600" dirty="0">
                <a:solidFill>
                  <a:srgbClr val="FF0000"/>
                </a:solidFill>
              </a:rPr>
              <a:t>ambiguous</a:t>
            </a:r>
            <a:r>
              <a:rPr lang="en-GB" sz="3600" dirty="0"/>
              <a:t>, so qualified with the table names</a:t>
            </a:r>
            <a:endParaRPr lang="en-GB" sz="3600" dirty="0">
              <a:solidFill>
                <a:srgbClr val="7030A0"/>
              </a:solidFill>
              <a:latin typeface="Consolas" panose="020B0609020204030204" pitchFamily="49" charset="0"/>
            </a:endParaRPr>
          </a:p>
        </p:txBody>
      </p:sp>
    </p:spTree>
    <p:extLst>
      <p:ext uri="{BB962C8B-B14F-4D97-AF65-F5344CB8AC3E}">
        <p14:creationId xmlns:p14="http://schemas.microsoft.com/office/powerpoint/2010/main" val="401549659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15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25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1" fill="hold" nodeType="clickEffect">
                                  <p:stCondLst>
                                    <p:cond delay="0"/>
                                  </p:stCondLst>
                                  <p:childTnLst>
                                    <p:set>
                                      <p:cBhvr>
                                        <p:cTn id="21" dur="1" fill="hold">
                                          <p:stCondLst>
                                            <p:cond delay="0"/>
                                          </p:stCondLst>
                                        </p:cTn>
                                        <p:tgtEl>
                                          <p:spTgt spid="6"/>
                                        </p:tgtEl>
                                        <p:attrNameLst>
                                          <p:attrName>style.visibility</p:attrName>
                                        </p:attrNameLst>
                                      </p:cBhvr>
                                      <p:to>
                                        <p:strVal val="visible"/>
                                      </p:to>
                                    </p:set>
                                    <p:animEffect transition="in" filter="wipe(up)">
                                      <p:cBhvr>
                                        <p:cTn id="22" dur="1000"/>
                                        <p:tgtEl>
                                          <p:spTgt spid="6"/>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1" fill="hold" nodeType="clickEffect">
                                  <p:stCondLst>
                                    <p:cond delay="0"/>
                                  </p:stCondLst>
                                  <p:childTnLst>
                                    <p:set>
                                      <p:cBhvr>
                                        <p:cTn id="26" dur="1" fill="hold">
                                          <p:stCondLst>
                                            <p:cond delay="0"/>
                                          </p:stCondLst>
                                        </p:cTn>
                                        <p:tgtEl>
                                          <p:spTgt spid="9"/>
                                        </p:tgtEl>
                                        <p:attrNameLst>
                                          <p:attrName>style.visibility</p:attrName>
                                        </p:attrNameLst>
                                      </p:cBhvr>
                                      <p:to>
                                        <p:strVal val="visible"/>
                                      </p:to>
                                    </p:set>
                                    <p:animEffect transition="in" filter="wipe(up)">
                                      <p:cBhvr>
                                        <p:cTn id="27" dur="1000"/>
                                        <p:tgtEl>
                                          <p:spTgt spid="9"/>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14">
                                            <p:txEl>
                                              <p:pRg st="0" end="0"/>
                                            </p:txEl>
                                          </p:spTgt>
                                        </p:tgtEl>
                                        <p:attrNameLst>
                                          <p:attrName>style.visibility</p:attrName>
                                        </p:attrNameLst>
                                      </p:cBhvr>
                                      <p:to>
                                        <p:strVal val="visible"/>
                                      </p:to>
                                    </p:set>
                                    <p:animEffect transition="in" filter="wipe(left)">
                                      <p:cBhvr>
                                        <p:cTn id="32" dur="2000"/>
                                        <p:tgtEl>
                                          <p:spTgt spid="14">
                                            <p:txEl>
                                              <p:pRg st="0" end="0"/>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grpId="0" nodeType="clickEffect">
                                  <p:stCondLst>
                                    <p:cond delay="0"/>
                                  </p:stCondLst>
                                  <p:childTnLst>
                                    <p:set>
                                      <p:cBhvr>
                                        <p:cTn id="36" dur="1" fill="hold">
                                          <p:stCondLst>
                                            <p:cond delay="0"/>
                                          </p:stCondLst>
                                        </p:cTn>
                                        <p:tgtEl>
                                          <p:spTgt spid="13"/>
                                        </p:tgtEl>
                                        <p:attrNameLst>
                                          <p:attrName>style.visibility</p:attrName>
                                        </p:attrNameLst>
                                      </p:cBhvr>
                                      <p:to>
                                        <p:strVal val="visible"/>
                                      </p:to>
                                    </p:set>
                                    <p:animEffect transition="in" filter="fade">
                                      <p:cBhvr>
                                        <p:cTn id="37" dur="1000"/>
                                        <p:tgtEl>
                                          <p:spTgt spid="1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13" grpId="0" animBg="1"/>
      <p:bldP spid="14" grpId="0" build="p"/>
    </p:bldLst>
  </p:timing>
</p:sld>
</file>

<file path=ppt/slides/slide84.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err="1"/>
              <a:t>Equi</a:t>
            </a:r>
            <a:r>
              <a:rPr lang="en-GB" dirty="0"/>
              <a:t>-join - Example</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a:xfrm>
            <a:off x="553737" y="1888113"/>
            <a:ext cx="11226800" cy="4351338"/>
          </a:xfrm>
        </p:spPr>
        <p:txBody>
          <a:bodyPr>
            <a:normAutofit/>
          </a:bodyPr>
          <a:lstStyle/>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1 </a:t>
            </a:r>
            <a:r>
              <a:rPr lang="en-US" altLang="en-US" sz="3600" dirty="0">
                <a:solidFill>
                  <a:srgbClr val="A71D5D"/>
                </a:solidFill>
                <a:latin typeface="Consolas" panose="020B0609020204030204" pitchFamily="49" charset="0"/>
              </a:rPr>
              <a:t>SELECT</a:t>
            </a:r>
            <a:r>
              <a:rPr lang="en-US" altLang="en-US" sz="3600" dirty="0">
                <a:solidFill>
                  <a:srgbClr val="000000"/>
                </a:solidFill>
                <a:latin typeface="Consolas" panose="020B0609020204030204" pitchFamily="49" charset="0"/>
              </a:rPr>
              <a:t> </a:t>
            </a:r>
            <a:r>
              <a:rPr lang="en-US" altLang="en-US" sz="3600" dirty="0" err="1">
                <a:solidFill>
                  <a:srgbClr val="000000"/>
                </a:solidFill>
                <a:latin typeface="Consolas" panose="020B0609020204030204" pitchFamily="49" charset="0"/>
              </a:rPr>
              <a:t>Taxi.taxiID</a:t>
            </a:r>
            <a:r>
              <a:rPr lang="en-US" altLang="en-US" sz="3600" dirty="0">
                <a:solidFill>
                  <a:srgbClr val="000000"/>
                </a:solidFill>
                <a:latin typeface="Consolas" panose="020B0609020204030204" pitchFamily="49" charset="0"/>
              </a:rPr>
              <a:t>, </a:t>
            </a:r>
            <a:r>
              <a:rPr lang="en-US" altLang="en-US" sz="3600" dirty="0" err="1">
                <a:solidFill>
                  <a:srgbClr val="000000"/>
                </a:solidFill>
                <a:latin typeface="Consolas" panose="020B0609020204030204" pitchFamily="49" charset="0"/>
              </a:rPr>
              <a:t>pickUpDate</a:t>
            </a:r>
            <a:r>
              <a:rPr lang="en-US" altLang="en-US" sz="3600" dirty="0">
                <a:solidFill>
                  <a:srgbClr val="000000"/>
                </a:solidFill>
                <a:latin typeface="Consolas" panose="020B0609020204030204" pitchFamily="49" charset="0"/>
              </a:rPr>
              <a:t>, </a:t>
            </a:r>
            <a:r>
              <a:rPr lang="en-US" altLang="en-US" sz="3600" dirty="0" err="1">
                <a:solidFill>
                  <a:srgbClr val="000000"/>
                </a:solidFill>
                <a:latin typeface="Consolas" panose="020B0609020204030204" pitchFamily="49" charset="0"/>
              </a:rPr>
              <a:t>pax</a:t>
            </a:r>
            <a:endParaRPr lang="en-US" altLang="en-US" sz="36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2   </a:t>
            </a:r>
            <a:r>
              <a:rPr lang="en-US" altLang="en-US" sz="3600" dirty="0">
                <a:solidFill>
                  <a:srgbClr val="A71D5D"/>
                </a:solidFill>
                <a:latin typeface="Consolas" panose="020B0609020204030204" pitchFamily="49" charset="0"/>
              </a:rPr>
              <a:t>FROM</a:t>
            </a:r>
            <a:r>
              <a:rPr lang="en-US" altLang="en-US" sz="3600" dirty="0">
                <a:solidFill>
                  <a:srgbClr val="000000"/>
                </a:solidFill>
                <a:latin typeface="Consolas" panose="020B0609020204030204" pitchFamily="49" charset="0"/>
              </a:rPr>
              <a:t> Taxi, Journey</a:t>
            </a: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3   </a:t>
            </a:r>
            <a:r>
              <a:rPr lang="en-US" altLang="en-US" sz="3600" dirty="0">
                <a:solidFill>
                  <a:srgbClr val="A71D5D"/>
                </a:solidFill>
                <a:latin typeface="Consolas" panose="020B0609020204030204" pitchFamily="49" charset="0"/>
              </a:rPr>
              <a:t>WHERE</a:t>
            </a:r>
            <a:r>
              <a:rPr lang="en-US" altLang="en-US" sz="3600" dirty="0">
                <a:solidFill>
                  <a:srgbClr val="000000"/>
                </a:solidFill>
                <a:latin typeface="Consolas" panose="020B0609020204030204" pitchFamily="49" charset="0"/>
              </a:rPr>
              <a:t> </a:t>
            </a:r>
            <a:r>
              <a:rPr lang="en-US" altLang="en-US" sz="3600" dirty="0" err="1">
                <a:solidFill>
                  <a:srgbClr val="000000"/>
                </a:solidFill>
                <a:latin typeface="Consolas" panose="020B0609020204030204" pitchFamily="49" charset="0"/>
              </a:rPr>
              <a:t>Taxi.taxiID</a:t>
            </a:r>
            <a:r>
              <a:rPr lang="en-US" altLang="en-US" sz="3600" dirty="0">
                <a:solidFill>
                  <a:srgbClr val="000000"/>
                </a:solidFill>
                <a:latin typeface="Consolas" panose="020B0609020204030204" pitchFamily="49" charset="0"/>
              </a:rPr>
              <a:t> = </a:t>
            </a:r>
            <a:r>
              <a:rPr lang="en-US" altLang="en-US" sz="3600" dirty="0" err="1">
                <a:solidFill>
                  <a:srgbClr val="000000"/>
                </a:solidFill>
                <a:latin typeface="Consolas" panose="020B0609020204030204" pitchFamily="49" charset="0"/>
              </a:rPr>
              <a:t>Journey.taxiID</a:t>
            </a:r>
            <a:r>
              <a:rPr lang="en-US" altLang="en-US" sz="3600" dirty="0">
                <a:solidFill>
                  <a:srgbClr val="000000"/>
                </a:solidFill>
                <a:latin typeface="Consolas" panose="020B0609020204030204" pitchFamily="49" charset="0"/>
              </a:rPr>
              <a:t>;</a:t>
            </a:r>
            <a:endParaRPr lang="en-US" altLang="en-US" sz="4400" dirty="0">
              <a:latin typeface="Arial" panose="020B0604020202020204" pitchFamily="34" charset="0"/>
            </a:endParaRPr>
          </a:p>
        </p:txBody>
      </p:sp>
      <p:sp>
        <p:nvSpPr>
          <p:cNvPr id="14" name="TextBox 13">
            <a:extLst>
              <a:ext uri="{FF2B5EF4-FFF2-40B4-BE49-F238E27FC236}">
                <a16:creationId xmlns:a16="http://schemas.microsoft.com/office/drawing/2014/main" id="{DF4BA8FF-524A-4C13-87BF-68801971FA28}"/>
              </a:ext>
            </a:extLst>
          </p:cNvPr>
          <p:cNvSpPr txBox="1"/>
          <p:nvPr/>
        </p:nvSpPr>
        <p:spPr>
          <a:xfrm>
            <a:off x="343885" y="5916286"/>
            <a:ext cx="11504240" cy="646331"/>
          </a:xfrm>
          <a:prstGeom prst="rect">
            <a:avLst/>
          </a:prstGeom>
          <a:noFill/>
        </p:spPr>
        <p:txBody>
          <a:bodyPr wrap="none" rtlCol="0">
            <a:spAutoFit/>
          </a:bodyPr>
          <a:lstStyle/>
          <a:p>
            <a:pPr algn="ctr"/>
            <a:r>
              <a:rPr lang="en-GB" sz="3600" dirty="0" err="1">
                <a:latin typeface="Consolas" panose="020B0609020204030204" pitchFamily="49" charset="0"/>
              </a:rPr>
              <a:t>taxiID</a:t>
            </a:r>
            <a:r>
              <a:rPr lang="en-GB" sz="3600" dirty="0">
                <a:latin typeface="Arial" panose="020B0604020202020204" pitchFamily="34" charset="0"/>
                <a:cs typeface="Arial" panose="020B0604020202020204" pitchFamily="34" charset="0"/>
              </a:rPr>
              <a:t> </a:t>
            </a:r>
            <a:r>
              <a:rPr lang="en-GB" sz="3600" dirty="0"/>
              <a:t>is                           , so qualified with the table names</a:t>
            </a:r>
            <a:endParaRPr lang="en-GB" sz="3600" dirty="0">
              <a:solidFill>
                <a:srgbClr val="7030A0"/>
              </a:solidFill>
              <a:latin typeface="Consolas" panose="020B0609020204030204" pitchFamily="49" charset="0"/>
            </a:endParaRPr>
          </a:p>
        </p:txBody>
      </p:sp>
    </p:spTree>
    <p:extLst>
      <p:ext uri="{BB962C8B-B14F-4D97-AF65-F5344CB8AC3E}">
        <p14:creationId xmlns:p14="http://schemas.microsoft.com/office/powerpoint/2010/main" val="396314975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15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25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14">
                                            <p:txEl>
                                              <p:pRg st="0" end="0"/>
                                            </p:txEl>
                                          </p:spTgt>
                                        </p:tgtEl>
                                        <p:attrNameLst>
                                          <p:attrName>style.visibility</p:attrName>
                                        </p:attrNameLst>
                                      </p:cBhvr>
                                      <p:to>
                                        <p:strVal val="visible"/>
                                      </p:to>
                                    </p:set>
                                    <p:animEffect transition="in" filter="wipe(left)">
                                      <p:cBhvr>
                                        <p:cTn id="22" dur="2000"/>
                                        <p:tgtEl>
                                          <p:spTgt spid="14">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14" grpId="0" build="p"/>
    </p:bldLst>
  </p:timing>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08C76DEA-F650-51AB-7EE7-9B3064808EC0}"/>
              </a:ext>
            </a:extLst>
          </p:cNvPr>
          <p:cNvSpPr>
            <a:spLocks noGrp="1"/>
          </p:cNvSpPr>
          <p:nvPr>
            <p:ph type="title"/>
          </p:nvPr>
        </p:nvSpPr>
        <p:spPr/>
        <p:txBody>
          <a:bodyPr/>
          <a:lstStyle/>
          <a:p>
            <a:r>
              <a:rPr lang="en-GB" dirty="0"/>
              <a:t>Order of Operations (5)</a:t>
            </a:r>
          </a:p>
        </p:txBody>
      </p:sp>
      <p:sp>
        <p:nvSpPr>
          <p:cNvPr id="6" name="SQL">
            <a:extLst>
              <a:ext uri="{FF2B5EF4-FFF2-40B4-BE49-F238E27FC236}">
                <a16:creationId xmlns:a16="http://schemas.microsoft.com/office/drawing/2014/main" id="{C460184D-D803-F499-E82E-972FB39F9288}"/>
              </a:ext>
            </a:extLst>
          </p:cNvPr>
          <p:cNvSpPr>
            <a:spLocks noChangeArrowheads="1"/>
          </p:cNvSpPr>
          <p:nvPr/>
        </p:nvSpPr>
        <p:spPr bwMode="auto">
          <a:xfrm>
            <a:off x="619125" y="1678614"/>
            <a:ext cx="3288080" cy="70788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name, company</a:t>
            </a:r>
          </a:p>
          <a:p>
            <a:pPr lvl="0" eaLnBrk="0" fontAlgn="base" hangingPunct="0">
              <a:spcBef>
                <a:spcPct val="0"/>
              </a:spcBef>
              <a:spcAft>
                <a:spcPct val="0"/>
              </a:spcAft>
            </a:pPr>
            <a:r>
              <a:rPr lang="en-US" altLang="en-US" sz="2000" dirty="0">
                <a:solidFill>
                  <a:srgbClr val="B2B2B2"/>
                </a:solidFill>
                <a:latin typeface="Consolas" panose="020B0609020204030204" pitchFamily="49" charset="0"/>
              </a:rPr>
              <a:t>2 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FROM</a:t>
            </a:r>
            <a:r>
              <a:rPr lang="en-US" altLang="en-US" sz="2000" dirty="0">
                <a:solidFill>
                  <a:srgbClr val="000000"/>
                </a:solidFill>
                <a:latin typeface="Consolas" panose="020B0609020204030204" pitchFamily="49" charset="0"/>
              </a:rPr>
              <a:t> Pet, Insurer</a:t>
            </a:r>
            <a:r>
              <a:rPr kumimoji="0" lang="en-US" altLang="en-US" sz="2000" b="0" i="0" u="none" strike="noStrike" cap="none" normalizeH="0" baseline="0" dirty="0">
                <a:ln>
                  <a:noFill/>
                </a:ln>
                <a:solidFill>
                  <a:srgbClr val="000000"/>
                </a:solidFill>
                <a:effectLst/>
                <a:latin typeface="Consolas" panose="020B0609020204030204" pitchFamily="49" charset="0"/>
              </a:rPr>
              <a:t>;</a:t>
            </a:r>
            <a:endParaRPr kumimoji="0" lang="en-US" altLang="en-US" sz="2000" b="0" i="0" u="none" strike="noStrike" cap="none" normalizeH="0" baseline="0" dirty="0">
              <a:ln>
                <a:noFill/>
              </a:ln>
              <a:solidFill>
                <a:schemeClr val="tx1"/>
              </a:solidFill>
              <a:effectLst/>
              <a:latin typeface="Consolas" panose="020B0609020204030204" pitchFamily="49" charset="0"/>
            </a:endParaRPr>
          </a:p>
        </p:txBody>
      </p:sp>
      <p:sp>
        <p:nvSpPr>
          <p:cNvPr id="17" name="Pet">
            <a:extLst>
              <a:ext uri="{FF2B5EF4-FFF2-40B4-BE49-F238E27FC236}">
                <a16:creationId xmlns:a16="http://schemas.microsoft.com/office/drawing/2014/main" id="{37697A85-FE4A-5F49-87D3-DF60452AD532}"/>
              </a:ext>
            </a:extLst>
          </p:cNvPr>
          <p:cNvSpPr txBox="1"/>
          <p:nvPr/>
        </p:nvSpPr>
        <p:spPr>
          <a:xfrm>
            <a:off x="501700" y="2767538"/>
            <a:ext cx="1771650" cy="369332"/>
          </a:xfrm>
          <a:prstGeom prst="rect">
            <a:avLst/>
          </a:prstGeom>
          <a:noFill/>
        </p:spPr>
        <p:txBody>
          <a:bodyPr wrap="square" rtlCol="0">
            <a:spAutoFit/>
          </a:bodyPr>
          <a:lstStyle/>
          <a:p>
            <a:r>
              <a:rPr lang="en-GB" b="1" dirty="0"/>
              <a:t>Table: Pet</a:t>
            </a:r>
          </a:p>
        </p:txBody>
      </p:sp>
      <p:sp>
        <p:nvSpPr>
          <p:cNvPr id="19" name="Order">
            <a:extLst>
              <a:ext uri="{FF2B5EF4-FFF2-40B4-BE49-F238E27FC236}">
                <a16:creationId xmlns:a16="http://schemas.microsoft.com/office/drawing/2014/main" id="{39027E70-266E-C921-B96A-180149336170}"/>
              </a:ext>
            </a:extLst>
          </p:cNvPr>
          <p:cNvSpPr txBox="1"/>
          <p:nvPr/>
        </p:nvSpPr>
        <p:spPr>
          <a:xfrm>
            <a:off x="7417818" y="494976"/>
            <a:ext cx="2590417" cy="1384995"/>
          </a:xfrm>
          <a:prstGeom prst="rect">
            <a:avLst/>
          </a:prstGeom>
          <a:noFill/>
        </p:spPr>
        <p:txBody>
          <a:bodyPr wrap="square" rtlCol="0">
            <a:spAutoFit/>
          </a:bodyPr>
          <a:lstStyle/>
          <a:p>
            <a:r>
              <a:rPr lang="en-GB" sz="2800" b="1" dirty="0">
                <a:solidFill>
                  <a:srgbClr val="7030A0"/>
                </a:solidFill>
              </a:rPr>
              <a:t>Order</a:t>
            </a:r>
            <a:r>
              <a:rPr lang="en-GB" sz="2800" dirty="0">
                <a:solidFill>
                  <a:srgbClr val="7030A0"/>
                </a:solidFill>
              </a:rPr>
              <a:t>:</a:t>
            </a:r>
          </a:p>
          <a:p>
            <a:pPr lvl="1"/>
            <a:r>
              <a:rPr lang="en-GB" sz="2800" dirty="0">
                <a:solidFill>
                  <a:srgbClr val="7030A0"/>
                </a:solidFill>
              </a:rPr>
              <a:t>1.  FROM</a:t>
            </a:r>
          </a:p>
          <a:p>
            <a:pPr lvl="1"/>
            <a:r>
              <a:rPr lang="en-GB" sz="2800" dirty="0">
                <a:solidFill>
                  <a:srgbClr val="7030A0"/>
                </a:solidFill>
              </a:rPr>
              <a:t>2.  SELECT</a:t>
            </a:r>
          </a:p>
        </p:txBody>
      </p:sp>
      <p:sp>
        <p:nvSpPr>
          <p:cNvPr id="10" name="From">
            <a:extLst>
              <a:ext uri="{FF2B5EF4-FFF2-40B4-BE49-F238E27FC236}">
                <a16:creationId xmlns:a16="http://schemas.microsoft.com/office/drawing/2014/main" id="{BC0A24A5-7704-6A36-CD80-4ED2C2F64BD2}"/>
              </a:ext>
            </a:extLst>
          </p:cNvPr>
          <p:cNvSpPr txBox="1"/>
          <p:nvPr/>
        </p:nvSpPr>
        <p:spPr>
          <a:xfrm>
            <a:off x="3251923" y="2420529"/>
            <a:ext cx="850960" cy="369332"/>
          </a:xfrm>
          <a:prstGeom prst="rect">
            <a:avLst/>
          </a:prstGeom>
          <a:noFill/>
        </p:spPr>
        <p:txBody>
          <a:bodyPr wrap="square" rtlCol="0">
            <a:spAutoFit/>
          </a:bodyPr>
          <a:lstStyle/>
          <a:p>
            <a:r>
              <a:rPr lang="en-GB" b="1" dirty="0"/>
              <a:t>FROM</a:t>
            </a:r>
          </a:p>
        </p:txBody>
      </p:sp>
      <p:graphicFrame>
        <p:nvGraphicFramePr>
          <p:cNvPr id="22" name="Pet - Table">
            <a:extLst>
              <a:ext uri="{FF2B5EF4-FFF2-40B4-BE49-F238E27FC236}">
                <a16:creationId xmlns:a16="http://schemas.microsoft.com/office/drawing/2014/main" id="{E1C47C29-B1FD-7991-E626-2F12DC1AFFDE}"/>
              </a:ext>
            </a:extLst>
          </p:cNvPr>
          <p:cNvGraphicFramePr>
            <a:graphicFrameLocks noGrp="1"/>
          </p:cNvGraphicFramePr>
          <p:nvPr>
            <p:extLst>
              <p:ext uri="{D42A27DB-BD31-4B8C-83A1-F6EECF244321}">
                <p14:modId xmlns:p14="http://schemas.microsoft.com/office/powerpoint/2010/main" val="1944305052"/>
              </p:ext>
            </p:extLst>
          </p:nvPr>
        </p:nvGraphicFramePr>
        <p:xfrm>
          <a:off x="587423" y="3088606"/>
          <a:ext cx="2152143" cy="16192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536575">
                  <a:extLst>
                    <a:ext uri="{9D8B030D-6E8A-4147-A177-3AD203B41FA5}">
                      <a16:colId xmlns:a16="http://schemas.microsoft.com/office/drawing/2014/main" val="3258369125"/>
                    </a:ext>
                  </a:extLst>
                </a:gridCol>
                <a:gridCol w="803085">
                  <a:extLst>
                    <a:ext uri="{9D8B030D-6E8A-4147-A177-3AD203B41FA5}">
                      <a16:colId xmlns:a16="http://schemas.microsoft.com/office/drawing/2014/main" val="3431466674"/>
                    </a:ext>
                  </a:extLst>
                </a:gridCol>
              </a:tblGrid>
              <a:tr h="0">
                <a:tc>
                  <a:txBody>
                    <a:bodyPr/>
                    <a:lstStyle/>
                    <a:p>
                      <a:pPr algn="l"/>
                      <a:r>
                        <a:rPr lang="en-GB" sz="2000" b="0" i="0" dirty="0">
                          <a:solidFill>
                            <a:schemeClr val="bg1"/>
                          </a:solidFill>
                          <a:effectLst/>
                          <a:latin typeface="+mn-lt"/>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mn-lt"/>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mn-lt"/>
                          <a:cs typeface="Calibri" panose="020F0502020204030204" pitchFamily="34" charset="0"/>
                        </a:rPr>
                        <a:t>insurer</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dirty="0">
                          <a:solidFill>
                            <a:schemeClr val="tx1"/>
                          </a:solidFill>
                          <a:effectLst/>
                          <a:latin typeface="+mn-lt"/>
                        </a:rPr>
                        <a:t>Pepper</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latin typeface="+mn-lt"/>
                        </a:rPr>
                        <a:t>Cat</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latin typeface="+mn-lt"/>
                        </a:rPr>
                        <a:t>0</a:t>
                      </a:r>
                      <a:endParaRPr lang="en-GB" sz="20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latin typeface="+mn-lt"/>
                        </a:rPr>
                        <a:t>Cindy</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latin typeface="+mn-lt"/>
                        </a:rPr>
                        <a:t>Dog</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mn-lt"/>
                          <a:cs typeface="Calibri" panose="020F0502020204030204" pitchFamily="34" charset="0"/>
                        </a:rPr>
                        <a:t>2</a:t>
                      </a: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dirty="0">
                          <a:solidFill>
                            <a:schemeClr val="tx1"/>
                          </a:solidFill>
                          <a:effectLst/>
                          <a:latin typeface="+mn-lt"/>
                        </a:rPr>
                        <a:t>Snowy</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latin typeface="+mn-lt"/>
                        </a:rPr>
                        <a:t>Cat</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mn-lt"/>
                          <a:cs typeface="Calibri" panose="020F0502020204030204" pitchFamily="34" charset="0"/>
                        </a:rPr>
                        <a:t>1</a:t>
                      </a: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a:solidFill>
                            <a:schemeClr val="tx1"/>
                          </a:solidFill>
                          <a:effectLst/>
                          <a:latin typeface="+mn-lt"/>
                        </a:rPr>
                        <a:t>Kitty</a:t>
                      </a:r>
                      <a:endParaRPr lang="en-GB" sz="2000" b="0" i="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a:solidFill>
                            <a:schemeClr val="tx1"/>
                          </a:solidFill>
                          <a:effectLst/>
                          <a:latin typeface="+mn-lt"/>
                        </a:rPr>
                        <a:t>Cat</a:t>
                      </a:r>
                      <a:endParaRPr lang="en-GB" sz="2000" b="0" i="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mn-lt"/>
                          <a:cs typeface="Calibri" panose="020F0502020204030204" pitchFamily="34" charset="0"/>
                        </a:rPr>
                        <a:t>1</a:t>
                      </a:r>
                    </a:p>
                  </a:txBody>
                  <a:tcPr marL="9525" marR="9525" marT="9525" marB="9525" anchor="ctr"/>
                </a:tc>
                <a:extLst>
                  <a:ext uri="{0D108BD9-81ED-4DB2-BD59-A6C34878D82A}">
                    <a16:rowId xmlns:a16="http://schemas.microsoft.com/office/drawing/2014/main" val="812093042"/>
                  </a:ext>
                </a:extLst>
              </a:tr>
            </a:tbl>
          </a:graphicData>
        </a:graphic>
      </p:graphicFrame>
      <p:graphicFrame>
        <p:nvGraphicFramePr>
          <p:cNvPr id="23" name="Temp - Table">
            <a:extLst>
              <a:ext uri="{FF2B5EF4-FFF2-40B4-BE49-F238E27FC236}">
                <a16:creationId xmlns:a16="http://schemas.microsoft.com/office/drawing/2014/main" id="{57FE39BF-DC05-E516-87E6-26364C7BBE24}"/>
              </a:ext>
            </a:extLst>
          </p:cNvPr>
          <p:cNvGraphicFramePr>
            <a:graphicFrameLocks noGrp="1"/>
          </p:cNvGraphicFramePr>
          <p:nvPr>
            <p:extLst>
              <p:ext uri="{D42A27DB-BD31-4B8C-83A1-F6EECF244321}">
                <p14:modId xmlns:p14="http://schemas.microsoft.com/office/powerpoint/2010/main" val="421740900"/>
              </p:ext>
            </p:extLst>
          </p:nvPr>
        </p:nvGraphicFramePr>
        <p:xfrm>
          <a:off x="4820545" y="2833037"/>
          <a:ext cx="3107310" cy="3813810"/>
        </p:xfrm>
        <a:graphic>
          <a:graphicData uri="http://schemas.openxmlformats.org/drawingml/2006/table">
            <a:tbl>
              <a:tblPr firstRow="1" bandRow="1">
                <a:tableStyleId>{5C22544A-7EE6-4342-B048-85BDC9FD1C3A}</a:tableStyleId>
              </a:tblPr>
              <a:tblGrid>
                <a:gridCol w="733616">
                  <a:extLst>
                    <a:ext uri="{9D8B030D-6E8A-4147-A177-3AD203B41FA5}">
                      <a16:colId xmlns:a16="http://schemas.microsoft.com/office/drawing/2014/main" val="2854243258"/>
                    </a:ext>
                  </a:extLst>
                </a:gridCol>
                <a:gridCol w="485775">
                  <a:extLst>
                    <a:ext uri="{9D8B030D-6E8A-4147-A177-3AD203B41FA5}">
                      <a16:colId xmlns:a16="http://schemas.microsoft.com/office/drawing/2014/main" val="3258369125"/>
                    </a:ext>
                  </a:extLst>
                </a:gridCol>
                <a:gridCol w="724091">
                  <a:extLst>
                    <a:ext uri="{9D8B030D-6E8A-4147-A177-3AD203B41FA5}">
                      <a16:colId xmlns:a16="http://schemas.microsoft.com/office/drawing/2014/main" val="3431466674"/>
                    </a:ext>
                  </a:extLst>
                </a:gridCol>
                <a:gridCol w="244475">
                  <a:extLst>
                    <a:ext uri="{9D8B030D-6E8A-4147-A177-3AD203B41FA5}">
                      <a16:colId xmlns:a16="http://schemas.microsoft.com/office/drawing/2014/main" val="994748769"/>
                    </a:ext>
                  </a:extLst>
                </a:gridCol>
                <a:gridCol w="919353">
                  <a:extLst>
                    <a:ext uri="{9D8B030D-6E8A-4147-A177-3AD203B41FA5}">
                      <a16:colId xmlns:a16="http://schemas.microsoft.com/office/drawing/2014/main" val="2564927205"/>
                    </a:ext>
                  </a:extLst>
                </a:gridCol>
              </a:tblGrid>
              <a:tr h="0">
                <a:tc>
                  <a:txBody>
                    <a:bodyPr/>
                    <a:lstStyle/>
                    <a:p>
                      <a:pPr algn="l"/>
                      <a:r>
                        <a:rPr lang="en-GB" sz="1800" b="0" i="0" dirty="0">
                          <a:solidFill>
                            <a:schemeClr val="bg1"/>
                          </a:solidFill>
                          <a:effectLst/>
                          <a:latin typeface="+mn-lt"/>
                          <a:cs typeface="Calibri" panose="020F0502020204030204" pitchFamily="34" charset="0"/>
                        </a:rPr>
                        <a:t>name</a:t>
                      </a:r>
                    </a:p>
                  </a:txBody>
                  <a:tcPr marL="9525" marR="9525" marT="9525" marB="9525" anchor="ctr"/>
                </a:tc>
                <a:tc>
                  <a:txBody>
                    <a:bodyPr/>
                    <a:lstStyle/>
                    <a:p>
                      <a:pPr algn="l"/>
                      <a:r>
                        <a:rPr lang="en-GB" sz="1800" b="0" i="0" dirty="0">
                          <a:solidFill>
                            <a:schemeClr val="bg1"/>
                          </a:solidFill>
                          <a:effectLst/>
                          <a:latin typeface="+mn-lt"/>
                          <a:cs typeface="Calibri" panose="020F0502020204030204" pitchFamily="34" charset="0"/>
                        </a:rPr>
                        <a:t>type</a:t>
                      </a:r>
                    </a:p>
                  </a:txBody>
                  <a:tcPr marL="9525" marR="9525" marT="9525" marB="9525" anchor="ctr"/>
                </a:tc>
                <a:tc>
                  <a:txBody>
                    <a:bodyPr/>
                    <a:lstStyle/>
                    <a:p>
                      <a:pPr algn="l"/>
                      <a:r>
                        <a:rPr lang="en-GB" sz="1800" b="0" i="0" dirty="0">
                          <a:solidFill>
                            <a:schemeClr val="bg1"/>
                          </a:solidFill>
                          <a:effectLst/>
                          <a:latin typeface="+mn-lt"/>
                          <a:cs typeface="Calibri" panose="020F0502020204030204" pitchFamily="34" charset="0"/>
                        </a:rPr>
                        <a:t>insurer</a:t>
                      </a:r>
                    </a:p>
                  </a:txBody>
                  <a:tcPr marL="9525" marR="9525" marT="9525" marB="9525" anchor="ctr"/>
                </a:tc>
                <a:tc>
                  <a:txBody>
                    <a:bodyPr/>
                    <a:lstStyle/>
                    <a:p>
                      <a:pPr algn="l"/>
                      <a:r>
                        <a:rPr lang="en-GB" sz="1800" b="0" i="0" dirty="0">
                          <a:solidFill>
                            <a:schemeClr val="bg1"/>
                          </a:solidFill>
                          <a:effectLst/>
                          <a:latin typeface="+mn-lt"/>
                          <a:cs typeface="Calibri" panose="020F0502020204030204" pitchFamily="34" charset="0"/>
                        </a:rPr>
                        <a:t>id</a:t>
                      </a:r>
                    </a:p>
                  </a:txBody>
                  <a:tcPr marL="9525" marR="9525" marT="9525" marB="9525" anchor="ctr"/>
                </a:tc>
                <a:tc>
                  <a:txBody>
                    <a:bodyPr/>
                    <a:lstStyle/>
                    <a:p>
                      <a:pPr algn="l"/>
                      <a:r>
                        <a:rPr lang="en-GB" sz="1800" b="0" i="0" dirty="0">
                          <a:solidFill>
                            <a:schemeClr val="bg1"/>
                          </a:solidFill>
                          <a:effectLst/>
                          <a:latin typeface="+mn-lt"/>
                          <a:cs typeface="Calibri" panose="020F0502020204030204" pitchFamily="34" charset="0"/>
                        </a:rPr>
                        <a:t>company</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1800" b="0" dirty="0">
                          <a:solidFill>
                            <a:schemeClr val="tx1"/>
                          </a:solidFill>
                          <a:effectLst/>
                          <a:latin typeface="+mn-lt"/>
                        </a:rPr>
                        <a:t>Pepper</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0</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0</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1800" b="0" dirty="0">
                          <a:solidFill>
                            <a:schemeClr val="tx1"/>
                          </a:solidFill>
                          <a:effectLst/>
                          <a:latin typeface="+mn-lt"/>
                        </a:rPr>
                        <a:t>Pepper</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0</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1800" b="0" dirty="0">
                          <a:solidFill>
                            <a:schemeClr val="tx1"/>
                          </a:solidFill>
                          <a:effectLst/>
                          <a:latin typeface="+mn-lt"/>
                        </a:rPr>
                        <a:t>Pepper</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0</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2</a:t>
                      </a:r>
                    </a:p>
                  </a:txBody>
                  <a:tcPr marL="9525" marR="9525" marT="9525" marB="9525" anchor="ctr"/>
                </a:tc>
                <a:tc>
                  <a:txBody>
                    <a:bodyPr/>
                    <a:lstStyle/>
                    <a:p>
                      <a:pPr algn="l"/>
                      <a:r>
                        <a:rPr lang="en-GB" sz="1800" b="0" i="0" dirty="0" err="1">
                          <a:solidFill>
                            <a:schemeClr val="tx1"/>
                          </a:solidFill>
                          <a:effectLst/>
                          <a:latin typeface="+mn-lt"/>
                          <a:cs typeface="Calibri" panose="020F0502020204030204" pitchFamily="34" charset="0"/>
                        </a:rPr>
                        <a:t>PetSure</a:t>
                      </a:r>
                      <a:endParaRPr lang="en-GB" sz="18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1800" b="0" dirty="0">
                          <a:solidFill>
                            <a:schemeClr val="tx1"/>
                          </a:solidFill>
                          <a:effectLst/>
                          <a:latin typeface="+mn-lt"/>
                        </a:rPr>
                        <a:t>Cindy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Dog</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2</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0</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1800" b="0" dirty="0">
                          <a:solidFill>
                            <a:schemeClr val="tx1"/>
                          </a:solidFill>
                          <a:effectLst/>
                          <a:latin typeface="+mn-lt"/>
                        </a:rPr>
                        <a:t>Cindy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Dog</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2</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1659393023"/>
                  </a:ext>
                </a:extLst>
              </a:tr>
              <a:tr h="0">
                <a:tc>
                  <a:txBody>
                    <a:bodyPr/>
                    <a:lstStyle/>
                    <a:p>
                      <a:pPr algn="l"/>
                      <a:r>
                        <a:rPr lang="en-GB" sz="1800" b="0" dirty="0">
                          <a:solidFill>
                            <a:schemeClr val="tx1"/>
                          </a:solidFill>
                          <a:effectLst/>
                          <a:latin typeface="+mn-lt"/>
                        </a:rPr>
                        <a:t>Cindy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Dog</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2</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2</a:t>
                      </a:r>
                    </a:p>
                  </a:txBody>
                  <a:tcPr marL="9525" marR="9525" marT="9525" marB="9525" anchor="ctr"/>
                </a:tc>
                <a:tc>
                  <a:txBody>
                    <a:bodyPr/>
                    <a:lstStyle/>
                    <a:p>
                      <a:pPr algn="l"/>
                      <a:r>
                        <a:rPr lang="en-GB" sz="1800" b="0" i="0" dirty="0" err="1">
                          <a:solidFill>
                            <a:schemeClr val="tx1"/>
                          </a:solidFill>
                          <a:effectLst/>
                          <a:latin typeface="+mn-lt"/>
                          <a:cs typeface="Calibri" panose="020F0502020204030204" pitchFamily="34" charset="0"/>
                        </a:rPr>
                        <a:t>PetSure</a:t>
                      </a:r>
                      <a:endParaRPr lang="en-GB" sz="18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417314715"/>
                  </a:ext>
                </a:extLst>
              </a:tr>
              <a:tr h="0">
                <a:tc>
                  <a:txBody>
                    <a:bodyPr/>
                    <a:lstStyle/>
                    <a:p>
                      <a:pPr algn="l"/>
                      <a:r>
                        <a:rPr lang="en-GB" sz="1800" b="0" dirty="0">
                          <a:solidFill>
                            <a:schemeClr val="tx1"/>
                          </a:solidFill>
                          <a:effectLst/>
                          <a:latin typeface="+mn-lt"/>
                        </a:rPr>
                        <a:t>Snowy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0</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777826486"/>
                  </a:ext>
                </a:extLst>
              </a:tr>
              <a:tr h="0">
                <a:tc>
                  <a:txBody>
                    <a:bodyPr/>
                    <a:lstStyle/>
                    <a:p>
                      <a:pPr algn="l"/>
                      <a:r>
                        <a:rPr lang="en-GB" sz="1800" b="0" dirty="0">
                          <a:solidFill>
                            <a:schemeClr val="tx1"/>
                          </a:solidFill>
                          <a:effectLst/>
                          <a:latin typeface="+mn-lt"/>
                        </a:rPr>
                        <a:t>Snowy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2705716962"/>
                  </a:ext>
                </a:extLst>
              </a:tr>
              <a:tr h="0">
                <a:tc>
                  <a:txBody>
                    <a:bodyPr/>
                    <a:lstStyle/>
                    <a:p>
                      <a:pPr algn="l"/>
                      <a:r>
                        <a:rPr lang="en-GB" sz="1800" b="0" dirty="0">
                          <a:solidFill>
                            <a:schemeClr val="tx1"/>
                          </a:solidFill>
                          <a:effectLst/>
                          <a:latin typeface="+mn-lt"/>
                        </a:rPr>
                        <a:t>Snowy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2</a:t>
                      </a:r>
                    </a:p>
                  </a:txBody>
                  <a:tcPr marL="9525" marR="9525" marT="9525" marB="9525" anchor="ctr"/>
                </a:tc>
                <a:tc>
                  <a:txBody>
                    <a:bodyPr/>
                    <a:lstStyle/>
                    <a:p>
                      <a:pPr algn="l"/>
                      <a:r>
                        <a:rPr lang="en-GB" sz="1800" b="0" i="0" dirty="0" err="1">
                          <a:solidFill>
                            <a:schemeClr val="tx1"/>
                          </a:solidFill>
                          <a:effectLst/>
                          <a:latin typeface="+mn-lt"/>
                          <a:cs typeface="Calibri" panose="020F0502020204030204" pitchFamily="34" charset="0"/>
                        </a:rPr>
                        <a:t>PetSure</a:t>
                      </a:r>
                      <a:endParaRPr lang="en-GB" sz="18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3471423699"/>
                  </a:ext>
                </a:extLst>
              </a:tr>
              <a:tr h="0">
                <a:tc>
                  <a:txBody>
                    <a:bodyPr/>
                    <a:lstStyle/>
                    <a:p>
                      <a:pPr algn="l"/>
                      <a:r>
                        <a:rPr lang="en-GB" sz="1800" b="0" dirty="0">
                          <a:solidFill>
                            <a:schemeClr val="tx1"/>
                          </a:solidFill>
                          <a:effectLst/>
                          <a:latin typeface="+mn-lt"/>
                        </a:rPr>
                        <a:t>Kitty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0</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1904147145"/>
                  </a:ext>
                </a:extLst>
              </a:tr>
              <a:tr h="0">
                <a:tc>
                  <a:txBody>
                    <a:bodyPr/>
                    <a:lstStyle/>
                    <a:p>
                      <a:pPr algn="l"/>
                      <a:r>
                        <a:rPr lang="en-GB" sz="1800" b="0" dirty="0">
                          <a:solidFill>
                            <a:schemeClr val="tx1"/>
                          </a:solidFill>
                          <a:effectLst/>
                          <a:latin typeface="+mn-lt"/>
                        </a:rPr>
                        <a:t>Kitty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976741720"/>
                  </a:ext>
                </a:extLst>
              </a:tr>
              <a:tr h="0">
                <a:tc>
                  <a:txBody>
                    <a:bodyPr/>
                    <a:lstStyle/>
                    <a:p>
                      <a:pPr algn="l"/>
                      <a:r>
                        <a:rPr lang="en-GB" sz="1800" b="0" dirty="0">
                          <a:solidFill>
                            <a:schemeClr val="tx1"/>
                          </a:solidFill>
                          <a:effectLst/>
                          <a:latin typeface="+mn-lt"/>
                        </a:rPr>
                        <a:t>Kitty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2</a:t>
                      </a:r>
                    </a:p>
                  </a:txBody>
                  <a:tcPr marL="9525" marR="9525" marT="9525" marB="9525" anchor="ctr"/>
                </a:tc>
                <a:tc>
                  <a:txBody>
                    <a:bodyPr/>
                    <a:lstStyle/>
                    <a:p>
                      <a:pPr algn="l"/>
                      <a:r>
                        <a:rPr lang="en-GB" sz="1800" b="0" i="0" dirty="0" err="1">
                          <a:solidFill>
                            <a:schemeClr val="tx1"/>
                          </a:solidFill>
                          <a:effectLst/>
                          <a:latin typeface="+mn-lt"/>
                          <a:cs typeface="Calibri" panose="020F0502020204030204" pitchFamily="34" charset="0"/>
                        </a:rPr>
                        <a:t>PetSure</a:t>
                      </a:r>
                      <a:endParaRPr lang="en-GB" sz="18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2806725075"/>
                  </a:ext>
                </a:extLst>
              </a:tr>
            </a:tbl>
          </a:graphicData>
        </a:graphic>
      </p:graphicFrame>
      <p:sp>
        <p:nvSpPr>
          <p:cNvPr id="25" name="Select">
            <a:extLst>
              <a:ext uri="{FF2B5EF4-FFF2-40B4-BE49-F238E27FC236}">
                <a16:creationId xmlns:a16="http://schemas.microsoft.com/office/drawing/2014/main" id="{35683CAD-1E2A-EA31-E6BB-C707B14B8F0A}"/>
              </a:ext>
            </a:extLst>
          </p:cNvPr>
          <p:cNvSpPr txBox="1"/>
          <p:nvPr/>
        </p:nvSpPr>
        <p:spPr>
          <a:xfrm>
            <a:off x="5894290" y="1835011"/>
            <a:ext cx="850960" cy="369332"/>
          </a:xfrm>
          <a:prstGeom prst="rect">
            <a:avLst/>
          </a:prstGeom>
          <a:noFill/>
        </p:spPr>
        <p:txBody>
          <a:bodyPr wrap="square" rtlCol="0">
            <a:spAutoFit/>
          </a:bodyPr>
          <a:lstStyle/>
          <a:p>
            <a:pPr algn="ctr"/>
            <a:r>
              <a:rPr lang="en-GB" b="1" dirty="0"/>
              <a:t>SELECT</a:t>
            </a:r>
          </a:p>
        </p:txBody>
      </p:sp>
      <p:sp>
        <p:nvSpPr>
          <p:cNvPr id="28" name="Output - Arrow">
            <a:extLst>
              <a:ext uri="{FF2B5EF4-FFF2-40B4-BE49-F238E27FC236}">
                <a16:creationId xmlns:a16="http://schemas.microsoft.com/office/drawing/2014/main" id="{27833E17-04CE-E6AD-804B-EB51B8F41239}"/>
              </a:ext>
            </a:extLst>
          </p:cNvPr>
          <p:cNvSpPr/>
          <p:nvPr/>
        </p:nvSpPr>
        <p:spPr>
          <a:xfrm>
            <a:off x="8529428" y="4575835"/>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9" name="Name - Column">
            <a:extLst>
              <a:ext uri="{FF2B5EF4-FFF2-40B4-BE49-F238E27FC236}">
                <a16:creationId xmlns:a16="http://schemas.microsoft.com/office/drawing/2014/main" id="{9CFD6623-90F9-8CA0-585A-959ADF79ADE1}"/>
              </a:ext>
            </a:extLst>
          </p:cNvPr>
          <p:cNvSpPr/>
          <p:nvPr/>
        </p:nvSpPr>
        <p:spPr>
          <a:xfrm>
            <a:off x="4795199" y="2770419"/>
            <a:ext cx="720000" cy="3944706"/>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0" name="Age - Column">
            <a:extLst>
              <a:ext uri="{FF2B5EF4-FFF2-40B4-BE49-F238E27FC236}">
                <a16:creationId xmlns:a16="http://schemas.microsoft.com/office/drawing/2014/main" id="{F8908677-B9D0-5945-93E8-1112E85882A9}"/>
              </a:ext>
            </a:extLst>
          </p:cNvPr>
          <p:cNvSpPr/>
          <p:nvPr/>
        </p:nvSpPr>
        <p:spPr>
          <a:xfrm>
            <a:off x="6999769" y="2768253"/>
            <a:ext cx="928086" cy="3941211"/>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1" name="Select - Arrow">
            <a:extLst>
              <a:ext uri="{FF2B5EF4-FFF2-40B4-BE49-F238E27FC236}">
                <a16:creationId xmlns:a16="http://schemas.microsoft.com/office/drawing/2014/main" id="{44EEC309-5164-E750-8A98-948F7250CF9F}"/>
              </a:ext>
            </a:extLst>
          </p:cNvPr>
          <p:cNvSpPr/>
          <p:nvPr/>
        </p:nvSpPr>
        <p:spPr>
          <a:xfrm>
            <a:off x="149292" y="1743803"/>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2" name="Output">
            <a:extLst>
              <a:ext uri="{FF2B5EF4-FFF2-40B4-BE49-F238E27FC236}">
                <a16:creationId xmlns:a16="http://schemas.microsoft.com/office/drawing/2014/main" id="{56038AF1-3FFC-CE48-15B4-04B9F7CE57D9}"/>
              </a:ext>
            </a:extLst>
          </p:cNvPr>
          <p:cNvSpPr txBox="1"/>
          <p:nvPr/>
        </p:nvSpPr>
        <p:spPr>
          <a:xfrm>
            <a:off x="8281623" y="2420529"/>
            <a:ext cx="960176" cy="369332"/>
          </a:xfrm>
          <a:prstGeom prst="rect">
            <a:avLst/>
          </a:prstGeom>
          <a:noFill/>
        </p:spPr>
        <p:txBody>
          <a:bodyPr wrap="square" rtlCol="0">
            <a:spAutoFit/>
          </a:bodyPr>
          <a:lstStyle/>
          <a:p>
            <a:pPr algn="ctr"/>
            <a:r>
              <a:rPr lang="en-GB" b="1" dirty="0"/>
              <a:t>Output</a:t>
            </a:r>
          </a:p>
        </p:txBody>
      </p:sp>
      <p:sp>
        <p:nvSpPr>
          <p:cNvPr id="35" name="From - Arrow">
            <a:extLst>
              <a:ext uri="{FF2B5EF4-FFF2-40B4-BE49-F238E27FC236}">
                <a16:creationId xmlns:a16="http://schemas.microsoft.com/office/drawing/2014/main" id="{570E26B8-2533-45CC-B630-78104B4BF6E3}"/>
              </a:ext>
            </a:extLst>
          </p:cNvPr>
          <p:cNvSpPr/>
          <p:nvPr/>
        </p:nvSpPr>
        <p:spPr>
          <a:xfrm>
            <a:off x="154554" y="2072324"/>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cxnSp>
        <p:nvCxnSpPr>
          <p:cNvPr id="5" name="Name - Arrow">
            <a:extLst>
              <a:ext uri="{FF2B5EF4-FFF2-40B4-BE49-F238E27FC236}">
                <a16:creationId xmlns:a16="http://schemas.microsoft.com/office/drawing/2014/main" id="{74743580-1BBD-44D1-9B4B-3FCD69A573CA}"/>
              </a:ext>
            </a:extLst>
          </p:cNvPr>
          <p:cNvCxnSpPr>
            <a:cxnSpLocks/>
            <a:stCxn id="25" idx="2"/>
            <a:endCxn id="29" idx="0"/>
          </p:cNvCxnSpPr>
          <p:nvPr/>
        </p:nvCxnSpPr>
        <p:spPr>
          <a:xfrm flipH="1">
            <a:off x="5155199" y="2204343"/>
            <a:ext cx="1164571" cy="566076"/>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9" name="Age - Arrow">
            <a:extLst>
              <a:ext uri="{FF2B5EF4-FFF2-40B4-BE49-F238E27FC236}">
                <a16:creationId xmlns:a16="http://schemas.microsoft.com/office/drawing/2014/main" id="{4A59694F-BFA9-47E0-AA51-53E4E5936D1D}"/>
              </a:ext>
            </a:extLst>
          </p:cNvPr>
          <p:cNvCxnSpPr>
            <a:cxnSpLocks/>
            <a:stCxn id="25" idx="2"/>
            <a:endCxn id="30" idx="0"/>
          </p:cNvCxnSpPr>
          <p:nvPr/>
        </p:nvCxnSpPr>
        <p:spPr>
          <a:xfrm>
            <a:off x="6319770" y="2204343"/>
            <a:ext cx="1144042" cy="563910"/>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2" name="Insurer">
            <a:extLst>
              <a:ext uri="{FF2B5EF4-FFF2-40B4-BE49-F238E27FC236}">
                <a16:creationId xmlns:a16="http://schemas.microsoft.com/office/drawing/2014/main" id="{94BF93ED-DCBC-929A-3978-645514F34654}"/>
              </a:ext>
            </a:extLst>
          </p:cNvPr>
          <p:cNvSpPr txBox="1"/>
          <p:nvPr/>
        </p:nvSpPr>
        <p:spPr>
          <a:xfrm>
            <a:off x="501700" y="4793841"/>
            <a:ext cx="1771650" cy="369332"/>
          </a:xfrm>
          <a:prstGeom prst="rect">
            <a:avLst/>
          </a:prstGeom>
          <a:noFill/>
        </p:spPr>
        <p:txBody>
          <a:bodyPr wrap="square" rtlCol="0">
            <a:spAutoFit/>
          </a:bodyPr>
          <a:lstStyle/>
          <a:p>
            <a:r>
              <a:rPr lang="en-GB" b="1" dirty="0"/>
              <a:t>Table: Insurer</a:t>
            </a:r>
          </a:p>
        </p:txBody>
      </p:sp>
      <p:graphicFrame>
        <p:nvGraphicFramePr>
          <p:cNvPr id="3" name="Pet - Insurer">
            <a:extLst>
              <a:ext uri="{FF2B5EF4-FFF2-40B4-BE49-F238E27FC236}">
                <a16:creationId xmlns:a16="http://schemas.microsoft.com/office/drawing/2014/main" id="{DED03D99-A09A-68ED-29D5-FF622C9224CD}"/>
              </a:ext>
            </a:extLst>
          </p:cNvPr>
          <p:cNvGraphicFramePr>
            <a:graphicFrameLocks noGrp="1"/>
          </p:cNvGraphicFramePr>
          <p:nvPr>
            <p:extLst>
              <p:ext uri="{D42A27DB-BD31-4B8C-83A1-F6EECF244321}">
                <p14:modId xmlns:p14="http://schemas.microsoft.com/office/powerpoint/2010/main" val="1862856747"/>
              </p:ext>
            </p:extLst>
          </p:nvPr>
        </p:nvGraphicFramePr>
        <p:xfrm>
          <a:off x="587423" y="5114909"/>
          <a:ext cx="1285431" cy="1295400"/>
        </p:xfrm>
        <a:graphic>
          <a:graphicData uri="http://schemas.openxmlformats.org/drawingml/2006/table">
            <a:tbl>
              <a:tblPr firstRow="1" bandRow="1">
                <a:tableStyleId>{5C22544A-7EE6-4342-B048-85BDC9FD1C3A}</a:tableStyleId>
              </a:tblPr>
              <a:tblGrid>
                <a:gridCol w="268288">
                  <a:extLst>
                    <a:ext uri="{9D8B030D-6E8A-4147-A177-3AD203B41FA5}">
                      <a16:colId xmlns:a16="http://schemas.microsoft.com/office/drawing/2014/main" val="2854243258"/>
                    </a:ext>
                  </a:extLst>
                </a:gridCol>
                <a:gridCol w="1017143">
                  <a:extLst>
                    <a:ext uri="{9D8B030D-6E8A-4147-A177-3AD203B41FA5}">
                      <a16:colId xmlns:a16="http://schemas.microsoft.com/office/drawing/2014/main" val="3258369125"/>
                    </a:ext>
                  </a:extLst>
                </a:gridCol>
              </a:tblGrid>
              <a:tr h="0">
                <a:tc>
                  <a:txBody>
                    <a:bodyPr/>
                    <a:lstStyle/>
                    <a:p>
                      <a:pPr algn="l"/>
                      <a:r>
                        <a:rPr lang="en-GB" sz="2000" b="0" i="0" dirty="0">
                          <a:solidFill>
                            <a:schemeClr val="bg1"/>
                          </a:solidFill>
                          <a:effectLst/>
                          <a:latin typeface="+mn-lt"/>
                          <a:cs typeface="Calibri" panose="020F0502020204030204" pitchFamily="34" charset="0"/>
                        </a:rPr>
                        <a:t>id</a:t>
                      </a:r>
                    </a:p>
                  </a:txBody>
                  <a:tcPr marL="9525" marR="9525" marT="9525" marB="9525" anchor="ctr"/>
                </a:tc>
                <a:tc>
                  <a:txBody>
                    <a:bodyPr/>
                    <a:lstStyle/>
                    <a:p>
                      <a:pPr algn="l"/>
                      <a:r>
                        <a:rPr lang="en-GB" sz="2000" b="0" i="0" dirty="0">
                          <a:solidFill>
                            <a:schemeClr val="bg1"/>
                          </a:solidFill>
                          <a:effectLst/>
                          <a:latin typeface="+mn-lt"/>
                          <a:cs typeface="Calibri" panose="020F0502020204030204" pitchFamily="34" charset="0"/>
                        </a:rPr>
                        <a:t>company</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dirty="0">
                          <a:solidFill>
                            <a:schemeClr val="tx1"/>
                          </a:solidFill>
                          <a:effectLst/>
                          <a:latin typeface="+mn-lt"/>
                        </a:rPr>
                        <a:t>0</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latin typeface="+mn-lt"/>
                        </a:rPr>
                        <a:t>1</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dirty="0">
                          <a:solidFill>
                            <a:schemeClr val="tx1"/>
                          </a:solidFill>
                          <a:effectLst/>
                          <a:latin typeface="+mn-lt"/>
                        </a:rPr>
                        <a:t>2</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i="0" dirty="0" err="1">
                          <a:solidFill>
                            <a:schemeClr val="tx1"/>
                          </a:solidFill>
                          <a:effectLst/>
                          <a:latin typeface="+mn-lt"/>
                          <a:cs typeface="Calibri" panose="020F0502020204030204" pitchFamily="34" charset="0"/>
                        </a:rPr>
                        <a:t>PetSure</a:t>
                      </a:r>
                      <a:endParaRPr lang="en-GB" sz="20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bl>
          </a:graphicData>
        </a:graphic>
      </p:graphicFrame>
      <p:graphicFrame>
        <p:nvGraphicFramePr>
          <p:cNvPr id="43" name="Output - Table">
            <a:extLst>
              <a:ext uri="{FF2B5EF4-FFF2-40B4-BE49-F238E27FC236}">
                <a16:creationId xmlns:a16="http://schemas.microsoft.com/office/drawing/2014/main" id="{568C7E54-FFF5-6232-653C-F1481651CB4C}"/>
              </a:ext>
            </a:extLst>
          </p:cNvPr>
          <p:cNvGraphicFramePr>
            <a:graphicFrameLocks noGrp="1"/>
          </p:cNvGraphicFramePr>
          <p:nvPr>
            <p:extLst>
              <p:ext uri="{D42A27DB-BD31-4B8C-83A1-F6EECF244321}">
                <p14:modId xmlns:p14="http://schemas.microsoft.com/office/powerpoint/2010/main" val="1528893683"/>
              </p:ext>
            </p:extLst>
          </p:nvPr>
        </p:nvGraphicFramePr>
        <p:xfrm>
          <a:off x="9595568" y="2831953"/>
          <a:ext cx="1652969" cy="3813810"/>
        </p:xfrm>
        <a:graphic>
          <a:graphicData uri="http://schemas.openxmlformats.org/drawingml/2006/table">
            <a:tbl>
              <a:tblPr firstRow="1" bandRow="1">
                <a:tableStyleId>{5C22544A-7EE6-4342-B048-85BDC9FD1C3A}</a:tableStyleId>
              </a:tblPr>
              <a:tblGrid>
                <a:gridCol w="733616">
                  <a:extLst>
                    <a:ext uri="{9D8B030D-6E8A-4147-A177-3AD203B41FA5}">
                      <a16:colId xmlns:a16="http://schemas.microsoft.com/office/drawing/2014/main" val="2854243258"/>
                    </a:ext>
                  </a:extLst>
                </a:gridCol>
                <a:gridCol w="919353">
                  <a:extLst>
                    <a:ext uri="{9D8B030D-6E8A-4147-A177-3AD203B41FA5}">
                      <a16:colId xmlns:a16="http://schemas.microsoft.com/office/drawing/2014/main" val="2564927205"/>
                    </a:ext>
                  </a:extLst>
                </a:gridCol>
              </a:tblGrid>
              <a:tr h="0">
                <a:tc>
                  <a:txBody>
                    <a:bodyPr/>
                    <a:lstStyle/>
                    <a:p>
                      <a:pPr algn="l"/>
                      <a:r>
                        <a:rPr lang="en-GB" sz="1800" b="0" i="0" dirty="0">
                          <a:solidFill>
                            <a:schemeClr val="bg1"/>
                          </a:solidFill>
                          <a:effectLst/>
                          <a:latin typeface="+mn-lt"/>
                          <a:cs typeface="Calibri" panose="020F0502020204030204" pitchFamily="34" charset="0"/>
                        </a:rPr>
                        <a:t>name</a:t>
                      </a:r>
                    </a:p>
                  </a:txBody>
                  <a:tcPr marL="9525" marR="9525" marT="9525" marB="9525" anchor="ctr"/>
                </a:tc>
                <a:tc>
                  <a:txBody>
                    <a:bodyPr/>
                    <a:lstStyle/>
                    <a:p>
                      <a:pPr algn="l"/>
                      <a:r>
                        <a:rPr lang="en-GB" sz="1800" b="0" i="0" dirty="0">
                          <a:solidFill>
                            <a:schemeClr val="bg1"/>
                          </a:solidFill>
                          <a:effectLst/>
                          <a:latin typeface="+mn-lt"/>
                          <a:cs typeface="Calibri" panose="020F0502020204030204" pitchFamily="34" charset="0"/>
                        </a:rPr>
                        <a:t>company</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1800" b="0" dirty="0">
                          <a:solidFill>
                            <a:schemeClr val="tx1"/>
                          </a:solidFill>
                          <a:effectLst/>
                          <a:latin typeface="+mn-lt"/>
                        </a:rPr>
                        <a:t>Pepper</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1800" b="0" dirty="0">
                          <a:solidFill>
                            <a:schemeClr val="tx1"/>
                          </a:solidFill>
                          <a:effectLst/>
                          <a:latin typeface="+mn-lt"/>
                        </a:rPr>
                        <a:t>Pepper</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1800" b="0" dirty="0">
                          <a:solidFill>
                            <a:schemeClr val="tx1"/>
                          </a:solidFill>
                          <a:effectLst/>
                          <a:latin typeface="+mn-lt"/>
                        </a:rPr>
                        <a:t>Pepper</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err="1">
                          <a:solidFill>
                            <a:schemeClr val="tx1"/>
                          </a:solidFill>
                          <a:effectLst/>
                          <a:latin typeface="+mn-lt"/>
                          <a:cs typeface="Calibri" panose="020F0502020204030204" pitchFamily="34" charset="0"/>
                        </a:rPr>
                        <a:t>PetSure</a:t>
                      </a:r>
                      <a:endParaRPr lang="en-GB" sz="18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1800" b="0" dirty="0">
                          <a:solidFill>
                            <a:schemeClr val="tx1"/>
                          </a:solidFill>
                          <a:effectLst/>
                          <a:latin typeface="+mn-lt"/>
                        </a:rPr>
                        <a:t>Cindy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1800" b="0" dirty="0">
                          <a:solidFill>
                            <a:schemeClr val="tx1"/>
                          </a:solidFill>
                          <a:effectLst/>
                          <a:latin typeface="+mn-lt"/>
                        </a:rPr>
                        <a:t>Cindy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1659393023"/>
                  </a:ext>
                </a:extLst>
              </a:tr>
              <a:tr h="0">
                <a:tc>
                  <a:txBody>
                    <a:bodyPr/>
                    <a:lstStyle/>
                    <a:p>
                      <a:pPr algn="l"/>
                      <a:r>
                        <a:rPr lang="en-GB" sz="1800" b="0" dirty="0">
                          <a:solidFill>
                            <a:schemeClr val="tx1"/>
                          </a:solidFill>
                          <a:effectLst/>
                          <a:latin typeface="+mn-lt"/>
                        </a:rPr>
                        <a:t>Cindy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err="1">
                          <a:solidFill>
                            <a:schemeClr val="tx1"/>
                          </a:solidFill>
                          <a:effectLst/>
                          <a:latin typeface="+mn-lt"/>
                          <a:cs typeface="Calibri" panose="020F0502020204030204" pitchFamily="34" charset="0"/>
                        </a:rPr>
                        <a:t>PetSure</a:t>
                      </a:r>
                      <a:endParaRPr lang="en-GB" sz="18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417314715"/>
                  </a:ext>
                </a:extLst>
              </a:tr>
              <a:tr h="0">
                <a:tc>
                  <a:txBody>
                    <a:bodyPr/>
                    <a:lstStyle/>
                    <a:p>
                      <a:pPr algn="l"/>
                      <a:r>
                        <a:rPr lang="en-GB" sz="1800" b="0" dirty="0">
                          <a:solidFill>
                            <a:schemeClr val="tx1"/>
                          </a:solidFill>
                          <a:effectLst/>
                          <a:latin typeface="+mn-lt"/>
                        </a:rPr>
                        <a:t>Snowy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777826486"/>
                  </a:ext>
                </a:extLst>
              </a:tr>
              <a:tr h="0">
                <a:tc>
                  <a:txBody>
                    <a:bodyPr/>
                    <a:lstStyle/>
                    <a:p>
                      <a:pPr algn="l"/>
                      <a:r>
                        <a:rPr lang="en-GB" sz="1800" b="0" dirty="0">
                          <a:solidFill>
                            <a:schemeClr val="tx1"/>
                          </a:solidFill>
                          <a:effectLst/>
                          <a:latin typeface="+mn-lt"/>
                        </a:rPr>
                        <a:t>Snowy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2705716962"/>
                  </a:ext>
                </a:extLst>
              </a:tr>
              <a:tr h="0">
                <a:tc>
                  <a:txBody>
                    <a:bodyPr/>
                    <a:lstStyle/>
                    <a:p>
                      <a:pPr algn="l"/>
                      <a:r>
                        <a:rPr lang="en-GB" sz="1800" b="0" dirty="0">
                          <a:solidFill>
                            <a:schemeClr val="tx1"/>
                          </a:solidFill>
                          <a:effectLst/>
                          <a:latin typeface="+mn-lt"/>
                        </a:rPr>
                        <a:t>Snowy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err="1">
                          <a:solidFill>
                            <a:schemeClr val="tx1"/>
                          </a:solidFill>
                          <a:effectLst/>
                          <a:latin typeface="+mn-lt"/>
                          <a:cs typeface="Calibri" panose="020F0502020204030204" pitchFamily="34" charset="0"/>
                        </a:rPr>
                        <a:t>PetSure</a:t>
                      </a:r>
                      <a:endParaRPr lang="en-GB" sz="18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3471423699"/>
                  </a:ext>
                </a:extLst>
              </a:tr>
              <a:tr h="0">
                <a:tc>
                  <a:txBody>
                    <a:bodyPr/>
                    <a:lstStyle/>
                    <a:p>
                      <a:pPr algn="l"/>
                      <a:r>
                        <a:rPr lang="en-GB" sz="1800" b="0" dirty="0">
                          <a:solidFill>
                            <a:schemeClr val="tx1"/>
                          </a:solidFill>
                          <a:effectLst/>
                          <a:latin typeface="+mn-lt"/>
                        </a:rPr>
                        <a:t>Kitty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1904147145"/>
                  </a:ext>
                </a:extLst>
              </a:tr>
              <a:tr h="0">
                <a:tc>
                  <a:txBody>
                    <a:bodyPr/>
                    <a:lstStyle/>
                    <a:p>
                      <a:pPr algn="l"/>
                      <a:r>
                        <a:rPr lang="en-GB" sz="1800" b="0" dirty="0">
                          <a:solidFill>
                            <a:schemeClr val="tx1"/>
                          </a:solidFill>
                          <a:effectLst/>
                          <a:latin typeface="+mn-lt"/>
                        </a:rPr>
                        <a:t>Kitty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976741720"/>
                  </a:ext>
                </a:extLst>
              </a:tr>
              <a:tr h="0">
                <a:tc>
                  <a:txBody>
                    <a:bodyPr/>
                    <a:lstStyle/>
                    <a:p>
                      <a:pPr algn="l"/>
                      <a:r>
                        <a:rPr lang="en-GB" sz="1800" b="0" dirty="0">
                          <a:solidFill>
                            <a:schemeClr val="tx1"/>
                          </a:solidFill>
                          <a:effectLst/>
                          <a:latin typeface="+mn-lt"/>
                        </a:rPr>
                        <a:t>Kitty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err="1">
                          <a:solidFill>
                            <a:schemeClr val="tx1"/>
                          </a:solidFill>
                          <a:effectLst/>
                          <a:latin typeface="+mn-lt"/>
                          <a:cs typeface="Calibri" panose="020F0502020204030204" pitchFamily="34" charset="0"/>
                        </a:rPr>
                        <a:t>PetSure</a:t>
                      </a:r>
                      <a:endParaRPr lang="en-GB" sz="18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2806725075"/>
                  </a:ext>
                </a:extLst>
              </a:tr>
            </a:tbl>
          </a:graphicData>
        </a:graphic>
      </p:graphicFrame>
      <p:sp>
        <p:nvSpPr>
          <p:cNvPr id="44" name="From - Brace">
            <a:extLst>
              <a:ext uri="{FF2B5EF4-FFF2-40B4-BE49-F238E27FC236}">
                <a16:creationId xmlns:a16="http://schemas.microsoft.com/office/drawing/2014/main" id="{4AB582EA-E161-553B-E130-D03025BDF6D6}"/>
              </a:ext>
            </a:extLst>
          </p:cNvPr>
          <p:cNvSpPr/>
          <p:nvPr/>
        </p:nvSpPr>
        <p:spPr>
          <a:xfrm>
            <a:off x="3443509" y="3460080"/>
            <a:ext cx="594061" cy="2495550"/>
          </a:xfrm>
          <a:prstGeom prst="rightBrace">
            <a:avLst>
              <a:gd name="adj1" fmla="val 56609"/>
              <a:gd name="adj2" fmla="val 50000"/>
            </a:avLst>
          </a:prstGeom>
          <a:noFill/>
          <a:ln w="38100">
            <a:solidFill>
              <a:srgbClr val="FF000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GB"/>
          </a:p>
        </p:txBody>
      </p:sp>
      <p:sp>
        <p:nvSpPr>
          <p:cNvPr id="51" name="Order">
            <a:extLst>
              <a:ext uri="{FF2B5EF4-FFF2-40B4-BE49-F238E27FC236}">
                <a16:creationId xmlns:a16="http://schemas.microsoft.com/office/drawing/2014/main" id="{A84125A0-FE9B-4B5B-4183-B7CDBBEF9D4C}"/>
              </a:ext>
            </a:extLst>
          </p:cNvPr>
          <p:cNvSpPr txBox="1"/>
          <p:nvPr/>
        </p:nvSpPr>
        <p:spPr>
          <a:xfrm>
            <a:off x="3343494" y="3480475"/>
            <a:ext cx="396064" cy="523220"/>
          </a:xfrm>
          <a:prstGeom prst="rect">
            <a:avLst/>
          </a:prstGeom>
          <a:noFill/>
        </p:spPr>
        <p:txBody>
          <a:bodyPr wrap="square" rtlCol="0">
            <a:spAutoFit/>
          </a:bodyPr>
          <a:lstStyle/>
          <a:p>
            <a:pPr algn="ctr"/>
            <a:r>
              <a:rPr lang="en-GB" sz="2800" b="1" dirty="0">
                <a:solidFill>
                  <a:srgbClr val="7030A0"/>
                </a:solidFill>
              </a:rPr>
              <a:t>4</a:t>
            </a:r>
            <a:endParaRPr lang="en-GB" sz="2800" dirty="0">
              <a:solidFill>
                <a:srgbClr val="7030A0"/>
              </a:solidFill>
            </a:endParaRPr>
          </a:p>
        </p:txBody>
      </p:sp>
      <p:sp>
        <p:nvSpPr>
          <p:cNvPr id="52" name="Order">
            <a:extLst>
              <a:ext uri="{FF2B5EF4-FFF2-40B4-BE49-F238E27FC236}">
                <a16:creationId xmlns:a16="http://schemas.microsoft.com/office/drawing/2014/main" id="{BCEA5CB0-5749-1A40-A7A8-2A13550A9ECB}"/>
              </a:ext>
            </a:extLst>
          </p:cNvPr>
          <p:cNvSpPr txBox="1"/>
          <p:nvPr/>
        </p:nvSpPr>
        <p:spPr>
          <a:xfrm>
            <a:off x="3351452" y="5429809"/>
            <a:ext cx="396064" cy="523220"/>
          </a:xfrm>
          <a:prstGeom prst="rect">
            <a:avLst/>
          </a:prstGeom>
          <a:noFill/>
        </p:spPr>
        <p:txBody>
          <a:bodyPr wrap="square" rtlCol="0">
            <a:spAutoFit/>
          </a:bodyPr>
          <a:lstStyle/>
          <a:p>
            <a:pPr algn="ctr"/>
            <a:r>
              <a:rPr lang="en-GB" sz="2800" b="1" dirty="0">
                <a:solidFill>
                  <a:srgbClr val="7030A0"/>
                </a:solidFill>
              </a:rPr>
              <a:t>3</a:t>
            </a:r>
          </a:p>
        </p:txBody>
      </p:sp>
      <p:sp>
        <p:nvSpPr>
          <p:cNvPr id="53" name="Order">
            <a:extLst>
              <a:ext uri="{FF2B5EF4-FFF2-40B4-BE49-F238E27FC236}">
                <a16:creationId xmlns:a16="http://schemas.microsoft.com/office/drawing/2014/main" id="{92831D18-72D2-C4FA-FD15-A525AFB4E5C5}"/>
              </a:ext>
            </a:extLst>
          </p:cNvPr>
          <p:cNvSpPr txBox="1"/>
          <p:nvPr/>
        </p:nvSpPr>
        <p:spPr>
          <a:xfrm>
            <a:off x="4080831" y="4444136"/>
            <a:ext cx="558311" cy="523220"/>
          </a:xfrm>
          <a:prstGeom prst="rect">
            <a:avLst/>
          </a:prstGeom>
          <a:noFill/>
        </p:spPr>
        <p:txBody>
          <a:bodyPr wrap="square" rtlCol="0" anchor="ctr">
            <a:spAutoFit/>
          </a:bodyPr>
          <a:lstStyle/>
          <a:p>
            <a:pPr algn="ctr"/>
            <a:r>
              <a:rPr lang="en-GB" sz="2800" b="1" dirty="0">
                <a:solidFill>
                  <a:srgbClr val="7030A0"/>
                </a:solidFill>
              </a:rPr>
              <a:t>12</a:t>
            </a:r>
          </a:p>
        </p:txBody>
      </p:sp>
      <p:sp>
        <p:nvSpPr>
          <p:cNvPr id="54" name="Order">
            <a:extLst>
              <a:ext uri="{FF2B5EF4-FFF2-40B4-BE49-F238E27FC236}">
                <a16:creationId xmlns:a16="http://schemas.microsoft.com/office/drawing/2014/main" id="{FF73204C-FADD-6664-F4EE-878B598637DD}"/>
              </a:ext>
            </a:extLst>
          </p:cNvPr>
          <p:cNvSpPr txBox="1"/>
          <p:nvPr/>
        </p:nvSpPr>
        <p:spPr>
          <a:xfrm>
            <a:off x="3352887" y="4451518"/>
            <a:ext cx="396064" cy="523220"/>
          </a:xfrm>
          <a:prstGeom prst="rect">
            <a:avLst/>
          </a:prstGeom>
          <a:noFill/>
        </p:spPr>
        <p:txBody>
          <a:bodyPr wrap="square" rtlCol="0">
            <a:spAutoFit/>
          </a:bodyPr>
          <a:lstStyle/>
          <a:p>
            <a:pPr algn="ctr"/>
            <a:r>
              <a:rPr lang="en-GB" sz="2800" b="1" dirty="0">
                <a:solidFill>
                  <a:srgbClr val="7030A0"/>
                </a:solidFill>
              </a:rPr>
              <a:t>×</a:t>
            </a:r>
          </a:p>
        </p:txBody>
      </p:sp>
      <p:sp>
        <p:nvSpPr>
          <p:cNvPr id="26" name="Nonsense">
            <a:extLst>
              <a:ext uri="{FF2B5EF4-FFF2-40B4-BE49-F238E27FC236}">
                <a16:creationId xmlns:a16="http://schemas.microsoft.com/office/drawing/2014/main" id="{51A85133-9936-421C-ADA9-CC0C711D817F}"/>
              </a:ext>
            </a:extLst>
          </p:cNvPr>
          <p:cNvSpPr txBox="1"/>
          <p:nvPr/>
        </p:nvSpPr>
        <p:spPr>
          <a:xfrm>
            <a:off x="9175849" y="1789757"/>
            <a:ext cx="2480449" cy="1138773"/>
          </a:xfrm>
          <a:prstGeom prst="rect">
            <a:avLst/>
          </a:prstGeom>
          <a:noFill/>
        </p:spPr>
        <p:txBody>
          <a:bodyPr wrap="square" rtlCol="0">
            <a:spAutoFit/>
          </a:bodyPr>
          <a:lstStyle/>
          <a:p>
            <a:pPr algn="ctr"/>
            <a:r>
              <a:rPr lang="en-GB" sz="3200" b="1" dirty="0">
                <a:solidFill>
                  <a:srgbClr val="FF0000"/>
                </a:solidFill>
              </a:rPr>
              <a:t>No </a:t>
            </a:r>
            <a:r>
              <a:rPr lang="en-GB" sz="3200" b="1" dirty="0" err="1">
                <a:solidFill>
                  <a:srgbClr val="FF0000"/>
                </a:solidFill>
              </a:rPr>
              <a:t>equi</a:t>
            </a:r>
            <a:r>
              <a:rPr lang="en-GB" sz="3200" b="1" dirty="0">
                <a:solidFill>
                  <a:srgbClr val="FF0000"/>
                </a:solidFill>
              </a:rPr>
              <a:t>-join!</a:t>
            </a:r>
          </a:p>
          <a:p>
            <a:pPr algn="ctr"/>
            <a:r>
              <a:rPr lang="en-GB" sz="3600" b="1" dirty="0">
                <a:solidFill>
                  <a:srgbClr val="FF0000"/>
                </a:solidFill>
              </a:rPr>
              <a:t>Nonsense</a:t>
            </a:r>
          </a:p>
        </p:txBody>
      </p:sp>
      <p:sp>
        <p:nvSpPr>
          <p:cNvPr id="7" name="Wrong">
            <a:extLst>
              <a:ext uri="{FF2B5EF4-FFF2-40B4-BE49-F238E27FC236}">
                <a16:creationId xmlns:a16="http://schemas.microsoft.com/office/drawing/2014/main" id="{A35A661D-58BB-43A0-B5BA-FA8551E8C962}"/>
              </a:ext>
            </a:extLst>
          </p:cNvPr>
          <p:cNvSpPr/>
          <p:nvPr/>
        </p:nvSpPr>
        <p:spPr>
          <a:xfrm>
            <a:off x="11233100" y="4304433"/>
            <a:ext cx="914400" cy="914400"/>
          </a:xfrm>
          <a:prstGeom prst="mathMultiply">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Tree>
    <p:extLst>
      <p:ext uri="{BB962C8B-B14F-4D97-AF65-F5344CB8AC3E}">
        <p14:creationId xmlns:p14="http://schemas.microsoft.com/office/powerpoint/2010/main" val="392974999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17"/>
                                        </p:tgtEl>
                                        <p:attrNameLst>
                                          <p:attrName>style.visibility</p:attrName>
                                        </p:attrNameLst>
                                      </p:cBhvr>
                                      <p:to>
                                        <p:strVal val="visible"/>
                                      </p:to>
                                    </p:set>
                                    <p:animEffect transition="in" filter="wipe(left)">
                                      <p:cBhvr>
                                        <p:cTn id="7" dur="500"/>
                                        <p:tgtEl>
                                          <p:spTgt spid="17"/>
                                        </p:tgtEl>
                                      </p:cBhvr>
                                    </p:animEffect>
                                  </p:childTnLst>
                                </p:cTn>
                              </p:par>
                            </p:childTnLst>
                          </p:cTn>
                        </p:par>
                        <p:par>
                          <p:cTn id="8" fill="hold">
                            <p:stCondLst>
                              <p:cond delay="500"/>
                            </p:stCondLst>
                            <p:childTnLst>
                              <p:par>
                                <p:cTn id="9" presetID="22" presetClass="entr" presetSubtype="1" fill="hold" nodeType="afterEffect">
                                  <p:stCondLst>
                                    <p:cond delay="0"/>
                                  </p:stCondLst>
                                  <p:childTnLst>
                                    <p:set>
                                      <p:cBhvr>
                                        <p:cTn id="10" dur="1" fill="hold">
                                          <p:stCondLst>
                                            <p:cond delay="0"/>
                                          </p:stCondLst>
                                        </p:cTn>
                                        <p:tgtEl>
                                          <p:spTgt spid="22"/>
                                        </p:tgtEl>
                                        <p:attrNameLst>
                                          <p:attrName>style.visibility</p:attrName>
                                        </p:attrNameLst>
                                      </p:cBhvr>
                                      <p:to>
                                        <p:strVal val="visible"/>
                                      </p:to>
                                    </p:set>
                                    <p:animEffect transition="in" filter="wipe(up)">
                                      <p:cBhvr>
                                        <p:cTn id="11" dur="2000"/>
                                        <p:tgtEl>
                                          <p:spTgt spid="22"/>
                                        </p:tgtEl>
                                      </p:cBhvr>
                                    </p:animEffect>
                                  </p:childTnLst>
                                </p:cTn>
                              </p:par>
                            </p:childTnLst>
                          </p:cTn>
                        </p:par>
                      </p:childTnLst>
                    </p:cTn>
                  </p:par>
                  <p:par>
                    <p:cTn id="12" fill="hold">
                      <p:stCondLst>
                        <p:cond delay="indefinite"/>
                      </p:stCondLst>
                      <p:childTnLst>
                        <p:par>
                          <p:cTn id="13" fill="hold">
                            <p:stCondLst>
                              <p:cond delay="0"/>
                            </p:stCondLst>
                            <p:childTnLst>
                              <p:par>
                                <p:cTn id="14" presetID="22" presetClass="entr" presetSubtype="8" fill="hold" grpId="0" nodeType="clickEffect">
                                  <p:stCondLst>
                                    <p:cond delay="0"/>
                                  </p:stCondLst>
                                  <p:childTnLst>
                                    <p:set>
                                      <p:cBhvr>
                                        <p:cTn id="15" dur="1" fill="hold">
                                          <p:stCondLst>
                                            <p:cond delay="0"/>
                                          </p:stCondLst>
                                        </p:cTn>
                                        <p:tgtEl>
                                          <p:spTgt spid="2"/>
                                        </p:tgtEl>
                                        <p:attrNameLst>
                                          <p:attrName>style.visibility</p:attrName>
                                        </p:attrNameLst>
                                      </p:cBhvr>
                                      <p:to>
                                        <p:strVal val="visible"/>
                                      </p:to>
                                    </p:set>
                                    <p:animEffect transition="in" filter="wipe(left)">
                                      <p:cBhvr>
                                        <p:cTn id="16" dur="500"/>
                                        <p:tgtEl>
                                          <p:spTgt spid="2"/>
                                        </p:tgtEl>
                                      </p:cBhvr>
                                    </p:animEffect>
                                  </p:childTnLst>
                                </p:cTn>
                              </p:par>
                            </p:childTnLst>
                          </p:cTn>
                        </p:par>
                        <p:par>
                          <p:cTn id="17" fill="hold">
                            <p:stCondLst>
                              <p:cond delay="500"/>
                            </p:stCondLst>
                            <p:childTnLst>
                              <p:par>
                                <p:cTn id="18" presetID="22" presetClass="entr" presetSubtype="1" fill="hold" nodeType="afterEffect">
                                  <p:stCondLst>
                                    <p:cond delay="0"/>
                                  </p:stCondLst>
                                  <p:childTnLst>
                                    <p:set>
                                      <p:cBhvr>
                                        <p:cTn id="19" dur="1" fill="hold">
                                          <p:stCondLst>
                                            <p:cond delay="0"/>
                                          </p:stCondLst>
                                        </p:cTn>
                                        <p:tgtEl>
                                          <p:spTgt spid="3"/>
                                        </p:tgtEl>
                                        <p:attrNameLst>
                                          <p:attrName>style.visibility</p:attrName>
                                        </p:attrNameLst>
                                      </p:cBhvr>
                                      <p:to>
                                        <p:strVal val="visible"/>
                                      </p:to>
                                    </p:set>
                                    <p:animEffect transition="in" filter="wipe(up)">
                                      <p:cBhvr>
                                        <p:cTn id="20" dur="2000"/>
                                        <p:tgtEl>
                                          <p:spTgt spid="3"/>
                                        </p:tgtEl>
                                      </p:cBhvr>
                                    </p:animEffect>
                                  </p:childTnLst>
                                </p:cTn>
                              </p:par>
                            </p:childTnLst>
                          </p:cTn>
                        </p:par>
                      </p:childTnLst>
                    </p:cTn>
                  </p:par>
                  <p:par>
                    <p:cTn id="21" fill="hold">
                      <p:stCondLst>
                        <p:cond delay="indefinite"/>
                      </p:stCondLst>
                      <p:childTnLst>
                        <p:par>
                          <p:cTn id="22" fill="hold">
                            <p:stCondLst>
                              <p:cond delay="0"/>
                            </p:stCondLst>
                            <p:childTnLst>
                              <p:par>
                                <p:cTn id="23" presetID="22" presetClass="entr" presetSubtype="8" fill="hold" grpId="0" nodeType="clickEffect">
                                  <p:stCondLst>
                                    <p:cond delay="0"/>
                                  </p:stCondLst>
                                  <p:childTnLst>
                                    <p:set>
                                      <p:cBhvr>
                                        <p:cTn id="24" dur="1" fill="hold">
                                          <p:stCondLst>
                                            <p:cond delay="0"/>
                                          </p:stCondLst>
                                        </p:cTn>
                                        <p:tgtEl>
                                          <p:spTgt spid="6">
                                            <p:txEl>
                                              <p:pRg st="0" end="0"/>
                                            </p:txEl>
                                          </p:spTgt>
                                        </p:tgtEl>
                                        <p:attrNameLst>
                                          <p:attrName>style.visibility</p:attrName>
                                        </p:attrNameLst>
                                      </p:cBhvr>
                                      <p:to>
                                        <p:strVal val="visible"/>
                                      </p:to>
                                    </p:set>
                                    <p:animEffect transition="in" filter="wipe(left)">
                                      <p:cBhvr>
                                        <p:cTn id="25" dur="1500"/>
                                        <p:tgtEl>
                                          <p:spTgt spid="6">
                                            <p:txEl>
                                              <p:pRg st="0" end="0"/>
                                            </p:txEl>
                                          </p:spTgt>
                                        </p:tgtEl>
                                      </p:cBhvr>
                                    </p:animEffect>
                                  </p:childTnLst>
                                </p:cTn>
                              </p:par>
                            </p:childTnLst>
                          </p:cTn>
                        </p:par>
                        <p:par>
                          <p:cTn id="26" fill="hold">
                            <p:stCondLst>
                              <p:cond delay="1500"/>
                            </p:stCondLst>
                            <p:childTnLst>
                              <p:par>
                                <p:cTn id="27" presetID="22" presetClass="entr" presetSubtype="8" fill="hold" grpId="0" nodeType="afterEffect">
                                  <p:stCondLst>
                                    <p:cond delay="0"/>
                                  </p:stCondLst>
                                  <p:childTnLst>
                                    <p:set>
                                      <p:cBhvr>
                                        <p:cTn id="28" dur="1" fill="hold">
                                          <p:stCondLst>
                                            <p:cond delay="0"/>
                                          </p:stCondLst>
                                        </p:cTn>
                                        <p:tgtEl>
                                          <p:spTgt spid="6">
                                            <p:txEl>
                                              <p:pRg st="1" end="1"/>
                                            </p:txEl>
                                          </p:spTgt>
                                        </p:tgtEl>
                                        <p:attrNameLst>
                                          <p:attrName>style.visibility</p:attrName>
                                        </p:attrNameLst>
                                      </p:cBhvr>
                                      <p:to>
                                        <p:strVal val="visible"/>
                                      </p:to>
                                    </p:set>
                                    <p:animEffect transition="in" filter="wipe(left)">
                                      <p:cBhvr>
                                        <p:cTn id="29" dur="1500"/>
                                        <p:tgtEl>
                                          <p:spTgt spid="6">
                                            <p:txEl>
                                              <p:pRg st="1" end="1"/>
                                            </p:txEl>
                                          </p:spTgt>
                                        </p:tgtEl>
                                      </p:cBhvr>
                                    </p:animEffect>
                                  </p:childTnLst>
                                </p:cTn>
                              </p:par>
                            </p:childTnLst>
                          </p:cTn>
                        </p:par>
                      </p:childTnLst>
                    </p:cTn>
                  </p:par>
                  <p:par>
                    <p:cTn id="30" fill="hold">
                      <p:stCondLst>
                        <p:cond delay="indefinite"/>
                      </p:stCondLst>
                      <p:childTnLst>
                        <p:par>
                          <p:cTn id="31" fill="hold">
                            <p:stCondLst>
                              <p:cond delay="0"/>
                            </p:stCondLst>
                            <p:childTnLst>
                              <p:par>
                                <p:cTn id="32" presetID="22" presetClass="entr" presetSubtype="8" fill="hold" grpId="0" nodeType="clickEffect">
                                  <p:stCondLst>
                                    <p:cond delay="0"/>
                                  </p:stCondLst>
                                  <p:childTnLst>
                                    <p:set>
                                      <p:cBhvr>
                                        <p:cTn id="33" dur="1" fill="hold">
                                          <p:stCondLst>
                                            <p:cond delay="0"/>
                                          </p:stCondLst>
                                        </p:cTn>
                                        <p:tgtEl>
                                          <p:spTgt spid="19">
                                            <p:txEl>
                                              <p:pRg st="0" end="0"/>
                                            </p:txEl>
                                          </p:spTgt>
                                        </p:tgtEl>
                                        <p:attrNameLst>
                                          <p:attrName>style.visibility</p:attrName>
                                        </p:attrNameLst>
                                      </p:cBhvr>
                                      <p:to>
                                        <p:strVal val="visible"/>
                                      </p:to>
                                    </p:set>
                                    <p:animEffect transition="in" filter="wipe(left)">
                                      <p:cBhvr>
                                        <p:cTn id="34" dur="1000"/>
                                        <p:tgtEl>
                                          <p:spTgt spid="19">
                                            <p:txEl>
                                              <p:pRg st="0" end="0"/>
                                            </p:txEl>
                                          </p:spTgt>
                                        </p:tgtEl>
                                      </p:cBhvr>
                                    </p:animEffect>
                                  </p:childTnLst>
                                </p:cTn>
                              </p:par>
                            </p:childTnLst>
                          </p:cTn>
                        </p:par>
                        <p:par>
                          <p:cTn id="35" fill="hold">
                            <p:stCondLst>
                              <p:cond delay="1000"/>
                            </p:stCondLst>
                            <p:childTnLst>
                              <p:par>
                                <p:cTn id="36" presetID="22" presetClass="entr" presetSubtype="8" fill="hold" grpId="0" nodeType="afterEffect">
                                  <p:stCondLst>
                                    <p:cond delay="0"/>
                                  </p:stCondLst>
                                  <p:childTnLst>
                                    <p:set>
                                      <p:cBhvr>
                                        <p:cTn id="37" dur="1" fill="hold">
                                          <p:stCondLst>
                                            <p:cond delay="0"/>
                                          </p:stCondLst>
                                        </p:cTn>
                                        <p:tgtEl>
                                          <p:spTgt spid="19">
                                            <p:txEl>
                                              <p:pRg st="1" end="1"/>
                                            </p:txEl>
                                          </p:spTgt>
                                        </p:tgtEl>
                                        <p:attrNameLst>
                                          <p:attrName>style.visibility</p:attrName>
                                        </p:attrNameLst>
                                      </p:cBhvr>
                                      <p:to>
                                        <p:strVal val="visible"/>
                                      </p:to>
                                    </p:set>
                                    <p:animEffect transition="in" filter="wipe(left)">
                                      <p:cBhvr>
                                        <p:cTn id="38" dur="1000"/>
                                        <p:tgtEl>
                                          <p:spTgt spid="19">
                                            <p:txEl>
                                              <p:pRg st="1" end="1"/>
                                            </p:txEl>
                                          </p:spTgt>
                                        </p:tgtEl>
                                      </p:cBhvr>
                                    </p:animEffect>
                                  </p:childTnLst>
                                </p:cTn>
                              </p:par>
                            </p:childTnLst>
                          </p:cTn>
                        </p:par>
                        <p:par>
                          <p:cTn id="39" fill="hold">
                            <p:stCondLst>
                              <p:cond delay="2000"/>
                            </p:stCondLst>
                            <p:childTnLst>
                              <p:par>
                                <p:cTn id="40" presetID="22" presetClass="entr" presetSubtype="8" fill="hold" grpId="0" nodeType="afterEffect">
                                  <p:stCondLst>
                                    <p:cond delay="0"/>
                                  </p:stCondLst>
                                  <p:childTnLst>
                                    <p:set>
                                      <p:cBhvr>
                                        <p:cTn id="41" dur="1" fill="hold">
                                          <p:stCondLst>
                                            <p:cond delay="0"/>
                                          </p:stCondLst>
                                        </p:cTn>
                                        <p:tgtEl>
                                          <p:spTgt spid="19">
                                            <p:txEl>
                                              <p:pRg st="2" end="2"/>
                                            </p:txEl>
                                          </p:spTgt>
                                        </p:tgtEl>
                                        <p:attrNameLst>
                                          <p:attrName>style.visibility</p:attrName>
                                        </p:attrNameLst>
                                      </p:cBhvr>
                                      <p:to>
                                        <p:strVal val="visible"/>
                                      </p:to>
                                    </p:set>
                                    <p:animEffect transition="in" filter="wipe(left)">
                                      <p:cBhvr>
                                        <p:cTn id="42" dur="1000"/>
                                        <p:tgtEl>
                                          <p:spTgt spid="19">
                                            <p:txEl>
                                              <p:pRg st="2" end="2"/>
                                            </p:txEl>
                                          </p:spTgt>
                                        </p:tgtEl>
                                      </p:cBhvr>
                                    </p:animEffect>
                                  </p:childTnLst>
                                </p:cTn>
                              </p:par>
                            </p:childTnLst>
                          </p:cTn>
                        </p:par>
                      </p:childTnLst>
                    </p:cTn>
                  </p:par>
                  <p:par>
                    <p:cTn id="43" fill="hold">
                      <p:stCondLst>
                        <p:cond delay="indefinite"/>
                      </p:stCondLst>
                      <p:childTnLst>
                        <p:par>
                          <p:cTn id="44" fill="hold">
                            <p:stCondLst>
                              <p:cond delay="0"/>
                            </p:stCondLst>
                            <p:childTnLst>
                              <p:par>
                                <p:cTn id="45" presetID="22" presetClass="entr" presetSubtype="8" fill="hold" grpId="0" nodeType="clickEffect">
                                  <p:stCondLst>
                                    <p:cond delay="0"/>
                                  </p:stCondLst>
                                  <p:childTnLst>
                                    <p:set>
                                      <p:cBhvr>
                                        <p:cTn id="46" dur="1" fill="hold">
                                          <p:stCondLst>
                                            <p:cond delay="0"/>
                                          </p:stCondLst>
                                        </p:cTn>
                                        <p:tgtEl>
                                          <p:spTgt spid="35"/>
                                        </p:tgtEl>
                                        <p:attrNameLst>
                                          <p:attrName>style.visibility</p:attrName>
                                        </p:attrNameLst>
                                      </p:cBhvr>
                                      <p:to>
                                        <p:strVal val="visible"/>
                                      </p:to>
                                    </p:set>
                                    <p:animEffect transition="in" filter="wipe(left)">
                                      <p:cBhvr>
                                        <p:cTn id="47" dur="1000"/>
                                        <p:tgtEl>
                                          <p:spTgt spid="35"/>
                                        </p:tgtEl>
                                      </p:cBhvr>
                                    </p:animEffect>
                                  </p:childTnLst>
                                </p:cTn>
                              </p:par>
                            </p:childTnLst>
                          </p:cTn>
                        </p:par>
                      </p:childTnLst>
                    </p:cTn>
                  </p:par>
                  <p:par>
                    <p:cTn id="48" fill="hold">
                      <p:stCondLst>
                        <p:cond delay="indefinite"/>
                      </p:stCondLst>
                      <p:childTnLst>
                        <p:par>
                          <p:cTn id="49" fill="hold">
                            <p:stCondLst>
                              <p:cond delay="0"/>
                            </p:stCondLst>
                            <p:childTnLst>
                              <p:par>
                                <p:cTn id="50" presetID="22" presetClass="entr" presetSubtype="8" fill="hold" grpId="0" nodeType="clickEffect">
                                  <p:stCondLst>
                                    <p:cond delay="0"/>
                                  </p:stCondLst>
                                  <p:childTnLst>
                                    <p:set>
                                      <p:cBhvr>
                                        <p:cTn id="51" dur="1" fill="hold">
                                          <p:stCondLst>
                                            <p:cond delay="0"/>
                                          </p:stCondLst>
                                        </p:cTn>
                                        <p:tgtEl>
                                          <p:spTgt spid="10"/>
                                        </p:tgtEl>
                                        <p:attrNameLst>
                                          <p:attrName>style.visibility</p:attrName>
                                        </p:attrNameLst>
                                      </p:cBhvr>
                                      <p:to>
                                        <p:strVal val="visible"/>
                                      </p:to>
                                    </p:set>
                                    <p:animEffect transition="in" filter="wipe(left)">
                                      <p:cBhvr>
                                        <p:cTn id="52" dur="500"/>
                                        <p:tgtEl>
                                          <p:spTgt spid="10"/>
                                        </p:tgtEl>
                                      </p:cBhvr>
                                    </p:animEffect>
                                  </p:childTnLst>
                                </p:cTn>
                              </p:par>
                            </p:childTnLst>
                          </p:cTn>
                        </p:par>
                        <p:par>
                          <p:cTn id="53" fill="hold">
                            <p:stCondLst>
                              <p:cond delay="500"/>
                            </p:stCondLst>
                            <p:childTnLst>
                              <p:par>
                                <p:cTn id="54" presetID="22" presetClass="entr" presetSubtype="8" fill="hold" grpId="0" nodeType="afterEffect">
                                  <p:stCondLst>
                                    <p:cond delay="0"/>
                                  </p:stCondLst>
                                  <p:childTnLst>
                                    <p:set>
                                      <p:cBhvr>
                                        <p:cTn id="55" dur="1" fill="hold">
                                          <p:stCondLst>
                                            <p:cond delay="0"/>
                                          </p:stCondLst>
                                        </p:cTn>
                                        <p:tgtEl>
                                          <p:spTgt spid="44"/>
                                        </p:tgtEl>
                                        <p:attrNameLst>
                                          <p:attrName>style.visibility</p:attrName>
                                        </p:attrNameLst>
                                      </p:cBhvr>
                                      <p:to>
                                        <p:strVal val="visible"/>
                                      </p:to>
                                    </p:set>
                                    <p:animEffect transition="in" filter="wipe(left)">
                                      <p:cBhvr>
                                        <p:cTn id="56" dur="1000"/>
                                        <p:tgtEl>
                                          <p:spTgt spid="44"/>
                                        </p:tgtEl>
                                      </p:cBhvr>
                                    </p:animEffect>
                                  </p:childTnLst>
                                </p:cTn>
                              </p:par>
                            </p:childTnLst>
                          </p:cTn>
                        </p:par>
                        <p:par>
                          <p:cTn id="57" fill="hold">
                            <p:stCondLst>
                              <p:cond delay="1500"/>
                            </p:stCondLst>
                            <p:childTnLst>
                              <p:par>
                                <p:cTn id="58" presetID="22" presetClass="entr" presetSubtype="8" fill="hold" nodeType="afterEffect">
                                  <p:stCondLst>
                                    <p:cond delay="0"/>
                                  </p:stCondLst>
                                  <p:childTnLst>
                                    <p:set>
                                      <p:cBhvr>
                                        <p:cTn id="59" dur="1" fill="hold">
                                          <p:stCondLst>
                                            <p:cond delay="0"/>
                                          </p:stCondLst>
                                        </p:cTn>
                                        <p:tgtEl>
                                          <p:spTgt spid="23"/>
                                        </p:tgtEl>
                                        <p:attrNameLst>
                                          <p:attrName>style.visibility</p:attrName>
                                        </p:attrNameLst>
                                      </p:cBhvr>
                                      <p:to>
                                        <p:strVal val="visible"/>
                                      </p:to>
                                    </p:set>
                                    <p:animEffect transition="in" filter="wipe(left)">
                                      <p:cBhvr>
                                        <p:cTn id="60" dur="2000"/>
                                        <p:tgtEl>
                                          <p:spTgt spid="23"/>
                                        </p:tgtEl>
                                      </p:cBhvr>
                                    </p:animEffect>
                                  </p:childTnLst>
                                </p:cTn>
                              </p:par>
                            </p:childTnLst>
                          </p:cTn>
                        </p:par>
                      </p:childTnLst>
                    </p:cTn>
                  </p:par>
                  <p:par>
                    <p:cTn id="61" fill="hold">
                      <p:stCondLst>
                        <p:cond delay="indefinite"/>
                      </p:stCondLst>
                      <p:childTnLst>
                        <p:par>
                          <p:cTn id="62" fill="hold">
                            <p:stCondLst>
                              <p:cond delay="0"/>
                            </p:stCondLst>
                            <p:childTnLst>
                              <p:par>
                                <p:cTn id="63" presetID="22" presetClass="entr" presetSubtype="8" fill="hold" grpId="0" nodeType="clickEffect">
                                  <p:stCondLst>
                                    <p:cond delay="0"/>
                                  </p:stCondLst>
                                  <p:childTnLst>
                                    <p:set>
                                      <p:cBhvr>
                                        <p:cTn id="64" dur="1" fill="hold">
                                          <p:stCondLst>
                                            <p:cond delay="0"/>
                                          </p:stCondLst>
                                        </p:cTn>
                                        <p:tgtEl>
                                          <p:spTgt spid="51">
                                            <p:txEl>
                                              <p:pRg st="0" end="0"/>
                                            </p:txEl>
                                          </p:spTgt>
                                        </p:tgtEl>
                                        <p:attrNameLst>
                                          <p:attrName>style.visibility</p:attrName>
                                        </p:attrNameLst>
                                      </p:cBhvr>
                                      <p:to>
                                        <p:strVal val="visible"/>
                                      </p:to>
                                    </p:set>
                                    <p:animEffect transition="in" filter="wipe(left)">
                                      <p:cBhvr>
                                        <p:cTn id="65" dur="500"/>
                                        <p:tgtEl>
                                          <p:spTgt spid="51">
                                            <p:txEl>
                                              <p:pRg st="0" end="0"/>
                                            </p:txEl>
                                          </p:spTgt>
                                        </p:tgtEl>
                                      </p:cBhvr>
                                    </p:animEffect>
                                  </p:childTnLst>
                                </p:cTn>
                              </p:par>
                            </p:childTnLst>
                          </p:cTn>
                        </p:par>
                        <p:par>
                          <p:cTn id="66" fill="hold">
                            <p:stCondLst>
                              <p:cond delay="500"/>
                            </p:stCondLst>
                            <p:childTnLst>
                              <p:par>
                                <p:cTn id="67" presetID="22" presetClass="entr" presetSubtype="8" fill="hold" grpId="0" nodeType="afterEffect" nodePh="1">
                                  <p:stCondLst>
                                    <p:cond delay="0"/>
                                  </p:stCondLst>
                                  <p:endCondLst>
                                    <p:cond evt="begin" delay="0">
                                      <p:tn val="67"/>
                                    </p:cond>
                                  </p:endCondLst>
                                  <p:childTnLst>
                                    <p:set>
                                      <p:cBhvr>
                                        <p:cTn id="68" dur="1" fill="hold">
                                          <p:stCondLst>
                                            <p:cond delay="0"/>
                                          </p:stCondLst>
                                        </p:cTn>
                                        <p:tgtEl>
                                          <p:spTgt spid="54">
                                            <p:txEl>
                                              <p:pRg st="0" end="0"/>
                                            </p:txEl>
                                          </p:spTgt>
                                        </p:tgtEl>
                                        <p:attrNameLst>
                                          <p:attrName>style.visibility</p:attrName>
                                        </p:attrNameLst>
                                      </p:cBhvr>
                                      <p:to>
                                        <p:strVal val="visible"/>
                                      </p:to>
                                    </p:set>
                                    <p:animEffect transition="in" filter="wipe(left)">
                                      <p:cBhvr>
                                        <p:cTn id="69" dur="500"/>
                                        <p:tgtEl>
                                          <p:spTgt spid="54">
                                            <p:txEl>
                                              <p:pRg st="0" end="0"/>
                                            </p:txEl>
                                          </p:spTgt>
                                        </p:tgtEl>
                                      </p:cBhvr>
                                    </p:animEffect>
                                  </p:childTnLst>
                                </p:cTn>
                              </p:par>
                            </p:childTnLst>
                          </p:cTn>
                        </p:par>
                        <p:par>
                          <p:cTn id="70" fill="hold">
                            <p:stCondLst>
                              <p:cond delay="1000"/>
                            </p:stCondLst>
                            <p:childTnLst>
                              <p:par>
                                <p:cTn id="71" presetID="22" presetClass="entr" presetSubtype="8" fill="hold" grpId="0" nodeType="afterEffect">
                                  <p:stCondLst>
                                    <p:cond delay="0"/>
                                  </p:stCondLst>
                                  <p:childTnLst>
                                    <p:set>
                                      <p:cBhvr>
                                        <p:cTn id="72" dur="1" fill="hold">
                                          <p:stCondLst>
                                            <p:cond delay="0"/>
                                          </p:stCondLst>
                                        </p:cTn>
                                        <p:tgtEl>
                                          <p:spTgt spid="52">
                                            <p:txEl>
                                              <p:pRg st="0" end="0"/>
                                            </p:txEl>
                                          </p:spTgt>
                                        </p:tgtEl>
                                        <p:attrNameLst>
                                          <p:attrName>style.visibility</p:attrName>
                                        </p:attrNameLst>
                                      </p:cBhvr>
                                      <p:to>
                                        <p:strVal val="visible"/>
                                      </p:to>
                                    </p:set>
                                    <p:animEffect transition="in" filter="wipe(left)">
                                      <p:cBhvr>
                                        <p:cTn id="73" dur="500"/>
                                        <p:tgtEl>
                                          <p:spTgt spid="52">
                                            <p:txEl>
                                              <p:pRg st="0" end="0"/>
                                            </p:txEl>
                                          </p:spTgt>
                                        </p:tgtEl>
                                      </p:cBhvr>
                                    </p:animEffect>
                                  </p:childTnLst>
                                </p:cTn>
                              </p:par>
                            </p:childTnLst>
                          </p:cTn>
                        </p:par>
                        <p:par>
                          <p:cTn id="74" fill="hold">
                            <p:stCondLst>
                              <p:cond delay="1500"/>
                            </p:stCondLst>
                            <p:childTnLst>
                              <p:par>
                                <p:cTn id="75" presetID="22" presetClass="entr" presetSubtype="8" fill="hold" grpId="0" nodeType="afterEffect">
                                  <p:stCondLst>
                                    <p:cond delay="0"/>
                                  </p:stCondLst>
                                  <p:childTnLst>
                                    <p:set>
                                      <p:cBhvr>
                                        <p:cTn id="76" dur="1" fill="hold">
                                          <p:stCondLst>
                                            <p:cond delay="0"/>
                                          </p:stCondLst>
                                        </p:cTn>
                                        <p:tgtEl>
                                          <p:spTgt spid="53">
                                            <p:txEl>
                                              <p:pRg st="0" end="0"/>
                                            </p:txEl>
                                          </p:spTgt>
                                        </p:tgtEl>
                                        <p:attrNameLst>
                                          <p:attrName>style.visibility</p:attrName>
                                        </p:attrNameLst>
                                      </p:cBhvr>
                                      <p:to>
                                        <p:strVal val="visible"/>
                                      </p:to>
                                    </p:set>
                                    <p:animEffect transition="in" filter="wipe(left)">
                                      <p:cBhvr>
                                        <p:cTn id="77" dur="500"/>
                                        <p:tgtEl>
                                          <p:spTgt spid="53">
                                            <p:txEl>
                                              <p:pRg st="0" end="0"/>
                                            </p:txEl>
                                          </p:spTgt>
                                        </p:tgtEl>
                                      </p:cBhvr>
                                    </p:animEffect>
                                  </p:childTnLst>
                                </p:cTn>
                              </p:par>
                            </p:childTnLst>
                          </p:cTn>
                        </p:par>
                      </p:childTnLst>
                    </p:cTn>
                  </p:par>
                  <p:par>
                    <p:cTn id="78" fill="hold">
                      <p:stCondLst>
                        <p:cond delay="indefinite"/>
                      </p:stCondLst>
                      <p:childTnLst>
                        <p:par>
                          <p:cTn id="79" fill="hold">
                            <p:stCondLst>
                              <p:cond delay="0"/>
                            </p:stCondLst>
                            <p:childTnLst>
                              <p:par>
                                <p:cTn id="80" presetID="22" presetClass="exit" presetSubtype="8" fill="hold" grpId="1" nodeType="clickEffect">
                                  <p:stCondLst>
                                    <p:cond delay="0"/>
                                  </p:stCondLst>
                                  <p:childTnLst>
                                    <p:animEffect transition="out" filter="wipe(left)">
                                      <p:cBhvr>
                                        <p:cTn id="81" dur="500"/>
                                        <p:tgtEl>
                                          <p:spTgt spid="35"/>
                                        </p:tgtEl>
                                      </p:cBhvr>
                                    </p:animEffect>
                                    <p:set>
                                      <p:cBhvr>
                                        <p:cTn id="82" dur="1" fill="hold">
                                          <p:stCondLst>
                                            <p:cond delay="499"/>
                                          </p:stCondLst>
                                        </p:cTn>
                                        <p:tgtEl>
                                          <p:spTgt spid="35"/>
                                        </p:tgtEl>
                                        <p:attrNameLst>
                                          <p:attrName>style.visibility</p:attrName>
                                        </p:attrNameLst>
                                      </p:cBhvr>
                                      <p:to>
                                        <p:strVal val="hidden"/>
                                      </p:to>
                                    </p:set>
                                  </p:childTnLst>
                                </p:cTn>
                              </p:par>
                            </p:childTnLst>
                          </p:cTn>
                        </p:par>
                        <p:par>
                          <p:cTn id="83" fill="hold">
                            <p:stCondLst>
                              <p:cond delay="500"/>
                            </p:stCondLst>
                            <p:childTnLst>
                              <p:par>
                                <p:cTn id="84" presetID="22" presetClass="entr" presetSubtype="8" fill="hold" grpId="0" nodeType="afterEffect">
                                  <p:stCondLst>
                                    <p:cond delay="0"/>
                                  </p:stCondLst>
                                  <p:childTnLst>
                                    <p:set>
                                      <p:cBhvr>
                                        <p:cTn id="85" dur="1" fill="hold">
                                          <p:stCondLst>
                                            <p:cond delay="0"/>
                                          </p:stCondLst>
                                        </p:cTn>
                                        <p:tgtEl>
                                          <p:spTgt spid="31"/>
                                        </p:tgtEl>
                                        <p:attrNameLst>
                                          <p:attrName>style.visibility</p:attrName>
                                        </p:attrNameLst>
                                      </p:cBhvr>
                                      <p:to>
                                        <p:strVal val="visible"/>
                                      </p:to>
                                    </p:set>
                                    <p:animEffect transition="in" filter="wipe(left)">
                                      <p:cBhvr>
                                        <p:cTn id="86" dur="1000"/>
                                        <p:tgtEl>
                                          <p:spTgt spid="31"/>
                                        </p:tgtEl>
                                      </p:cBhvr>
                                    </p:animEffect>
                                  </p:childTnLst>
                                </p:cTn>
                              </p:par>
                            </p:childTnLst>
                          </p:cTn>
                        </p:par>
                      </p:childTnLst>
                    </p:cTn>
                  </p:par>
                  <p:par>
                    <p:cTn id="87" fill="hold">
                      <p:stCondLst>
                        <p:cond delay="indefinite"/>
                      </p:stCondLst>
                      <p:childTnLst>
                        <p:par>
                          <p:cTn id="88" fill="hold">
                            <p:stCondLst>
                              <p:cond delay="0"/>
                            </p:stCondLst>
                            <p:childTnLst>
                              <p:par>
                                <p:cTn id="89" presetID="22" presetClass="entr" presetSubtype="8" fill="hold" grpId="0" nodeType="clickEffect">
                                  <p:stCondLst>
                                    <p:cond delay="0"/>
                                  </p:stCondLst>
                                  <p:childTnLst>
                                    <p:set>
                                      <p:cBhvr>
                                        <p:cTn id="90" dur="1" fill="hold">
                                          <p:stCondLst>
                                            <p:cond delay="0"/>
                                          </p:stCondLst>
                                        </p:cTn>
                                        <p:tgtEl>
                                          <p:spTgt spid="25"/>
                                        </p:tgtEl>
                                        <p:attrNameLst>
                                          <p:attrName>style.visibility</p:attrName>
                                        </p:attrNameLst>
                                      </p:cBhvr>
                                      <p:to>
                                        <p:strVal val="visible"/>
                                      </p:to>
                                    </p:set>
                                    <p:animEffect transition="in" filter="wipe(left)">
                                      <p:cBhvr>
                                        <p:cTn id="91" dur="500"/>
                                        <p:tgtEl>
                                          <p:spTgt spid="25"/>
                                        </p:tgtEl>
                                      </p:cBhvr>
                                    </p:animEffect>
                                  </p:childTnLst>
                                </p:cTn>
                              </p:par>
                            </p:childTnLst>
                          </p:cTn>
                        </p:par>
                        <p:par>
                          <p:cTn id="92" fill="hold">
                            <p:stCondLst>
                              <p:cond delay="500"/>
                            </p:stCondLst>
                            <p:childTnLst>
                              <p:par>
                                <p:cTn id="93" presetID="22" presetClass="entr" presetSubtype="1" fill="hold" nodeType="afterEffect">
                                  <p:stCondLst>
                                    <p:cond delay="0"/>
                                  </p:stCondLst>
                                  <p:childTnLst>
                                    <p:set>
                                      <p:cBhvr>
                                        <p:cTn id="94" dur="1" fill="hold">
                                          <p:stCondLst>
                                            <p:cond delay="0"/>
                                          </p:stCondLst>
                                        </p:cTn>
                                        <p:tgtEl>
                                          <p:spTgt spid="5"/>
                                        </p:tgtEl>
                                        <p:attrNameLst>
                                          <p:attrName>style.visibility</p:attrName>
                                        </p:attrNameLst>
                                      </p:cBhvr>
                                      <p:to>
                                        <p:strVal val="visible"/>
                                      </p:to>
                                    </p:set>
                                    <p:animEffect transition="in" filter="wipe(up)">
                                      <p:cBhvr>
                                        <p:cTn id="95" dur="500"/>
                                        <p:tgtEl>
                                          <p:spTgt spid="5"/>
                                        </p:tgtEl>
                                      </p:cBhvr>
                                    </p:animEffect>
                                  </p:childTnLst>
                                </p:cTn>
                              </p:par>
                            </p:childTnLst>
                          </p:cTn>
                        </p:par>
                        <p:par>
                          <p:cTn id="96" fill="hold">
                            <p:stCondLst>
                              <p:cond delay="1000"/>
                            </p:stCondLst>
                            <p:childTnLst>
                              <p:par>
                                <p:cTn id="97" presetID="22" presetClass="entr" presetSubtype="1" fill="hold" grpId="0" nodeType="afterEffect">
                                  <p:stCondLst>
                                    <p:cond delay="0"/>
                                  </p:stCondLst>
                                  <p:childTnLst>
                                    <p:set>
                                      <p:cBhvr>
                                        <p:cTn id="98" dur="1" fill="hold">
                                          <p:stCondLst>
                                            <p:cond delay="0"/>
                                          </p:stCondLst>
                                        </p:cTn>
                                        <p:tgtEl>
                                          <p:spTgt spid="29"/>
                                        </p:tgtEl>
                                        <p:attrNameLst>
                                          <p:attrName>style.visibility</p:attrName>
                                        </p:attrNameLst>
                                      </p:cBhvr>
                                      <p:to>
                                        <p:strVal val="visible"/>
                                      </p:to>
                                    </p:set>
                                    <p:animEffect transition="in" filter="wipe(up)">
                                      <p:cBhvr>
                                        <p:cTn id="99" dur="1500"/>
                                        <p:tgtEl>
                                          <p:spTgt spid="29"/>
                                        </p:tgtEl>
                                      </p:cBhvr>
                                    </p:animEffect>
                                  </p:childTnLst>
                                </p:cTn>
                              </p:par>
                            </p:childTnLst>
                          </p:cTn>
                        </p:par>
                        <p:par>
                          <p:cTn id="100" fill="hold">
                            <p:stCondLst>
                              <p:cond delay="2500"/>
                            </p:stCondLst>
                            <p:childTnLst>
                              <p:par>
                                <p:cTn id="101" presetID="22" presetClass="entr" presetSubtype="1" fill="hold" nodeType="afterEffect">
                                  <p:stCondLst>
                                    <p:cond delay="0"/>
                                  </p:stCondLst>
                                  <p:childTnLst>
                                    <p:set>
                                      <p:cBhvr>
                                        <p:cTn id="102" dur="1" fill="hold">
                                          <p:stCondLst>
                                            <p:cond delay="0"/>
                                          </p:stCondLst>
                                        </p:cTn>
                                        <p:tgtEl>
                                          <p:spTgt spid="9"/>
                                        </p:tgtEl>
                                        <p:attrNameLst>
                                          <p:attrName>style.visibility</p:attrName>
                                        </p:attrNameLst>
                                      </p:cBhvr>
                                      <p:to>
                                        <p:strVal val="visible"/>
                                      </p:to>
                                    </p:set>
                                    <p:animEffect transition="in" filter="wipe(up)">
                                      <p:cBhvr>
                                        <p:cTn id="103" dur="500"/>
                                        <p:tgtEl>
                                          <p:spTgt spid="9"/>
                                        </p:tgtEl>
                                      </p:cBhvr>
                                    </p:animEffect>
                                  </p:childTnLst>
                                </p:cTn>
                              </p:par>
                            </p:childTnLst>
                          </p:cTn>
                        </p:par>
                        <p:par>
                          <p:cTn id="104" fill="hold">
                            <p:stCondLst>
                              <p:cond delay="3000"/>
                            </p:stCondLst>
                            <p:childTnLst>
                              <p:par>
                                <p:cTn id="105" presetID="22" presetClass="entr" presetSubtype="1" fill="hold" grpId="0" nodeType="afterEffect">
                                  <p:stCondLst>
                                    <p:cond delay="0"/>
                                  </p:stCondLst>
                                  <p:childTnLst>
                                    <p:set>
                                      <p:cBhvr>
                                        <p:cTn id="106" dur="1" fill="hold">
                                          <p:stCondLst>
                                            <p:cond delay="0"/>
                                          </p:stCondLst>
                                        </p:cTn>
                                        <p:tgtEl>
                                          <p:spTgt spid="30"/>
                                        </p:tgtEl>
                                        <p:attrNameLst>
                                          <p:attrName>style.visibility</p:attrName>
                                        </p:attrNameLst>
                                      </p:cBhvr>
                                      <p:to>
                                        <p:strVal val="visible"/>
                                      </p:to>
                                    </p:set>
                                    <p:animEffect transition="in" filter="wipe(up)">
                                      <p:cBhvr>
                                        <p:cTn id="107" dur="1500"/>
                                        <p:tgtEl>
                                          <p:spTgt spid="30"/>
                                        </p:tgtEl>
                                      </p:cBhvr>
                                    </p:animEffect>
                                  </p:childTnLst>
                                </p:cTn>
                              </p:par>
                            </p:childTnLst>
                          </p:cTn>
                        </p:par>
                      </p:childTnLst>
                    </p:cTn>
                  </p:par>
                  <p:par>
                    <p:cTn id="108" fill="hold">
                      <p:stCondLst>
                        <p:cond delay="indefinite"/>
                      </p:stCondLst>
                      <p:childTnLst>
                        <p:par>
                          <p:cTn id="109" fill="hold">
                            <p:stCondLst>
                              <p:cond delay="0"/>
                            </p:stCondLst>
                            <p:childTnLst>
                              <p:par>
                                <p:cTn id="110" presetID="22" presetClass="exit" presetSubtype="8" fill="hold" grpId="1" nodeType="clickEffect">
                                  <p:stCondLst>
                                    <p:cond delay="0"/>
                                  </p:stCondLst>
                                  <p:childTnLst>
                                    <p:animEffect transition="out" filter="wipe(left)">
                                      <p:cBhvr>
                                        <p:cTn id="111" dur="500"/>
                                        <p:tgtEl>
                                          <p:spTgt spid="31"/>
                                        </p:tgtEl>
                                      </p:cBhvr>
                                    </p:animEffect>
                                    <p:set>
                                      <p:cBhvr>
                                        <p:cTn id="112" dur="1" fill="hold">
                                          <p:stCondLst>
                                            <p:cond delay="499"/>
                                          </p:stCondLst>
                                        </p:cTn>
                                        <p:tgtEl>
                                          <p:spTgt spid="31"/>
                                        </p:tgtEl>
                                        <p:attrNameLst>
                                          <p:attrName>style.visibility</p:attrName>
                                        </p:attrNameLst>
                                      </p:cBhvr>
                                      <p:to>
                                        <p:strVal val="hidden"/>
                                      </p:to>
                                    </p:set>
                                  </p:childTnLst>
                                </p:cTn>
                              </p:par>
                            </p:childTnLst>
                          </p:cTn>
                        </p:par>
                        <p:par>
                          <p:cTn id="113" fill="hold">
                            <p:stCondLst>
                              <p:cond delay="500"/>
                            </p:stCondLst>
                            <p:childTnLst>
                              <p:par>
                                <p:cTn id="114" presetID="22" presetClass="entr" presetSubtype="8" fill="hold" grpId="0" nodeType="afterEffect">
                                  <p:stCondLst>
                                    <p:cond delay="0"/>
                                  </p:stCondLst>
                                  <p:childTnLst>
                                    <p:set>
                                      <p:cBhvr>
                                        <p:cTn id="115" dur="1" fill="hold">
                                          <p:stCondLst>
                                            <p:cond delay="0"/>
                                          </p:stCondLst>
                                        </p:cTn>
                                        <p:tgtEl>
                                          <p:spTgt spid="32"/>
                                        </p:tgtEl>
                                        <p:attrNameLst>
                                          <p:attrName>style.visibility</p:attrName>
                                        </p:attrNameLst>
                                      </p:cBhvr>
                                      <p:to>
                                        <p:strVal val="visible"/>
                                      </p:to>
                                    </p:set>
                                    <p:animEffect transition="in" filter="wipe(left)">
                                      <p:cBhvr>
                                        <p:cTn id="116" dur="500"/>
                                        <p:tgtEl>
                                          <p:spTgt spid="32"/>
                                        </p:tgtEl>
                                      </p:cBhvr>
                                    </p:animEffect>
                                  </p:childTnLst>
                                </p:cTn>
                              </p:par>
                            </p:childTnLst>
                          </p:cTn>
                        </p:par>
                        <p:par>
                          <p:cTn id="117" fill="hold">
                            <p:stCondLst>
                              <p:cond delay="1000"/>
                            </p:stCondLst>
                            <p:childTnLst>
                              <p:par>
                                <p:cTn id="118" presetID="22" presetClass="entr" presetSubtype="8" fill="hold" grpId="0" nodeType="afterEffect">
                                  <p:stCondLst>
                                    <p:cond delay="0"/>
                                  </p:stCondLst>
                                  <p:childTnLst>
                                    <p:set>
                                      <p:cBhvr>
                                        <p:cTn id="119" dur="1" fill="hold">
                                          <p:stCondLst>
                                            <p:cond delay="0"/>
                                          </p:stCondLst>
                                        </p:cTn>
                                        <p:tgtEl>
                                          <p:spTgt spid="28"/>
                                        </p:tgtEl>
                                        <p:attrNameLst>
                                          <p:attrName>style.visibility</p:attrName>
                                        </p:attrNameLst>
                                      </p:cBhvr>
                                      <p:to>
                                        <p:strVal val="visible"/>
                                      </p:to>
                                    </p:set>
                                    <p:animEffect transition="in" filter="wipe(left)">
                                      <p:cBhvr>
                                        <p:cTn id="120" dur="1000"/>
                                        <p:tgtEl>
                                          <p:spTgt spid="28"/>
                                        </p:tgtEl>
                                      </p:cBhvr>
                                    </p:animEffect>
                                  </p:childTnLst>
                                </p:cTn>
                              </p:par>
                            </p:childTnLst>
                          </p:cTn>
                        </p:par>
                        <p:par>
                          <p:cTn id="121" fill="hold">
                            <p:stCondLst>
                              <p:cond delay="2000"/>
                            </p:stCondLst>
                            <p:childTnLst>
                              <p:par>
                                <p:cTn id="122" presetID="22" presetClass="entr" presetSubtype="8" fill="hold" nodeType="afterEffect">
                                  <p:stCondLst>
                                    <p:cond delay="0"/>
                                  </p:stCondLst>
                                  <p:childTnLst>
                                    <p:set>
                                      <p:cBhvr>
                                        <p:cTn id="123" dur="1" fill="hold">
                                          <p:stCondLst>
                                            <p:cond delay="0"/>
                                          </p:stCondLst>
                                        </p:cTn>
                                        <p:tgtEl>
                                          <p:spTgt spid="43"/>
                                        </p:tgtEl>
                                        <p:attrNameLst>
                                          <p:attrName>style.visibility</p:attrName>
                                        </p:attrNameLst>
                                      </p:cBhvr>
                                      <p:to>
                                        <p:strVal val="visible"/>
                                      </p:to>
                                    </p:set>
                                    <p:animEffect transition="in" filter="wipe(left)">
                                      <p:cBhvr>
                                        <p:cTn id="124" dur="2000"/>
                                        <p:tgtEl>
                                          <p:spTgt spid="43"/>
                                        </p:tgtEl>
                                      </p:cBhvr>
                                    </p:animEffect>
                                  </p:childTnLst>
                                </p:cTn>
                              </p:par>
                            </p:childTnLst>
                          </p:cTn>
                        </p:par>
                      </p:childTnLst>
                    </p:cTn>
                  </p:par>
                  <p:par>
                    <p:cTn id="125" fill="hold">
                      <p:stCondLst>
                        <p:cond delay="indefinite"/>
                      </p:stCondLst>
                      <p:childTnLst>
                        <p:par>
                          <p:cTn id="126" fill="hold">
                            <p:stCondLst>
                              <p:cond delay="0"/>
                            </p:stCondLst>
                            <p:childTnLst>
                              <p:par>
                                <p:cTn id="127" presetID="10" presetClass="entr" presetSubtype="0" fill="hold" grpId="0" nodeType="clickEffect">
                                  <p:stCondLst>
                                    <p:cond delay="0"/>
                                  </p:stCondLst>
                                  <p:childTnLst>
                                    <p:set>
                                      <p:cBhvr>
                                        <p:cTn id="128" dur="1" fill="hold">
                                          <p:stCondLst>
                                            <p:cond delay="0"/>
                                          </p:stCondLst>
                                        </p:cTn>
                                        <p:tgtEl>
                                          <p:spTgt spid="26"/>
                                        </p:tgtEl>
                                        <p:attrNameLst>
                                          <p:attrName>style.visibility</p:attrName>
                                        </p:attrNameLst>
                                      </p:cBhvr>
                                      <p:to>
                                        <p:strVal val="visible"/>
                                      </p:to>
                                    </p:set>
                                    <p:animEffect transition="in" filter="fade">
                                      <p:cBhvr>
                                        <p:cTn id="129" dur="2000"/>
                                        <p:tgtEl>
                                          <p:spTgt spid="26"/>
                                        </p:tgtEl>
                                      </p:cBhvr>
                                    </p:animEffect>
                                  </p:childTnLst>
                                </p:cTn>
                              </p:par>
                              <p:par>
                                <p:cTn id="130" presetID="45" presetClass="entr" presetSubtype="0" fill="hold" grpId="0" nodeType="withEffect">
                                  <p:stCondLst>
                                    <p:cond delay="0"/>
                                  </p:stCondLst>
                                  <p:childTnLst>
                                    <p:set>
                                      <p:cBhvr>
                                        <p:cTn id="131" dur="1" fill="hold">
                                          <p:stCondLst>
                                            <p:cond delay="0"/>
                                          </p:stCondLst>
                                        </p:cTn>
                                        <p:tgtEl>
                                          <p:spTgt spid="7"/>
                                        </p:tgtEl>
                                        <p:attrNameLst>
                                          <p:attrName>style.visibility</p:attrName>
                                        </p:attrNameLst>
                                      </p:cBhvr>
                                      <p:to>
                                        <p:strVal val="visible"/>
                                      </p:to>
                                    </p:set>
                                    <p:animEffect transition="in" filter="fade">
                                      <p:cBhvr>
                                        <p:cTn id="132" dur="2000"/>
                                        <p:tgtEl>
                                          <p:spTgt spid="7"/>
                                        </p:tgtEl>
                                      </p:cBhvr>
                                    </p:animEffect>
                                    <p:anim calcmode="lin" valueType="num">
                                      <p:cBhvr>
                                        <p:cTn id="133" dur="2000" fill="hold"/>
                                        <p:tgtEl>
                                          <p:spTgt spid="7"/>
                                        </p:tgtEl>
                                        <p:attrNameLst>
                                          <p:attrName>ppt_w</p:attrName>
                                        </p:attrNameLst>
                                      </p:cBhvr>
                                      <p:tavLst>
                                        <p:tav tm="0" fmla="#ppt_w*sin(2.5*pi*$)">
                                          <p:val>
                                            <p:fltVal val="0"/>
                                          </p:val>
                                        </p:tav>
                                        <p:tav tm="100000">
                                          <p:val>
                                            <p:fltVal val="1"/>
                                          </p:val>
                                        </p:tav>
                                      </p:tavLst>
                                    </p:anim>
                                    <p:anim calcmode="lin" valueType="num">
                                      <p:cBhvr>
                                        <p:cTn id="134" dur="2000" fill="hold"/>
                                        <p:tgtEl>
                                          <p:spTgt spid="7"/>
                                        </p:tgtEl>
                                        <p:attrNameLst>
                                          <p:attrName>ppt_h</p:attrName>
                                        </p:attrNameLst>
                                      </p:cBhvr>
                                      <p:tavLst>
                                        <p:tav tm="0">
                                          <p:val>
                                            <p:strVal val="#ppt_h"/>
                                          </p:val>
                                        </p:tav>
                                        <p:tav tm="100000">
                                          <p:val>
                                            <p:strVal val="#ppt_h"/>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uiExpand="1" build="p"/>
      <p:bldP spid="17" grpId="0"/>
      <p:bldP spid="19" grpId="0" uiExpand="1" build="p"/>
      <p:bldP spid="10" grpId="0"/>
      <p:bldP spid="25" grpId="0"/>
      <p:bldP spid="28" grpId="0" animBg="1"/>
      <p:bldP spid="29" grpId="0" animBg="1"/>
      <p:bldP spid="30" grpId="0" animBg="1"/>
      <p:bldP spid="31" grpId="0" animBg="1"/>
      <p:bldP spid="31" grpId="1" animBg="1"/>
      <p:bldP spid="32" grpId="0"/>
      <p:bldP spid="35" grpId="0" animBg="1"/>
      <p:bldP spid="35" grpId="1" animBg="1"/>
      <p:bldP spid="2" grpId="0"/>
      <p:bldP spid="44" grpId="0" animBg="1"/>
      <p:bldP spid="51" grpId="0" uiExpand="1" build="p"/>
      <p:bldP spid="52" grpId="0" uiExpand="1" build="p"/>
      <p:bldP spid="53" grpId="0" uiExpand="1" build="p"/>
      <p:bldP spid="54" grpId="0" uiExpand="1" build="p"/>
      <p:bldP spid="26" grpId="0"/>
      <p:bldP spid="7" grpId="0" animBg="1"/>
    </p:bldLst>
  </p:timing>
</p:sld>
</file>

<file path=ppt/slides/slide86.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08C76DEA-F650-51AB-7EE7-9B3064808EC0}"/>
              </a:ext>
            </a:extLst>
          </p:cNvPr>
          <p:cNvSpPr>
            <a:spLocks noGrp="1"/>
          </p:cNvSpPr>
          <p:nvPr>
            <p:ph type="title"/>
          </p:nvPr>
        </p:nvSpPr>
        <p:spPr/>
        <p:txBody>
          <a:bodyPr/>
          <a:lstStyle/>
          <a:p>
            <a:r>
              <a:rPr lang="en-GB" dirty="0"/>
              <a:t>Order of Operations (5)</a:t>
            </a:r>
          </a:p>
        </p:txBody>
      </p:sp>
      <p:sp>
        <p:nvSpPr>
          <p:cNvPr id="6" name="SQL">
            <a:extLst>
              <a:ext uri="{FF2B5EF4-FFF2-40B4-BE49-F238E27FC236}">
                <a16:creationId xmlns:a16="http://schemas.microsoft.com/office/drawing/2014/main" id="{C460184D-D803-F499-E82E-972FB39F9288}"/>
              </a:ext>
            </a:extLst>
          </p:cNvPr>
          <p:cNvSpPr>
            <a:spLocks noChangeArrowheads="1"/>
          </p:cNvSpPr>
          <p:nvPr/>
        </p:nvSpPr>
        <p:spPr bwMode="auto">
          <a:xfrm>
            <a:off x="619125" y="1678614"/>
            <a:ext cx="3288080" cy="70788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name, company</a:t>
            </a:r>
          </a:p>
          <a:p>
            <a:pPr lvl="0" eaLnBrk="0" fontAlgn="base" hangingPunct="0">
              <a:spcBef>
                <a:spcPct val="0"/>
              </a:spcBef>
              <a:spcAft>
                <a:spcPct val="0"/>
              </a:spcAft>
            </a:pPr>
            <a:r>
              <a:rPr lang="en-US" altLang="en-US" sz="2000" dirty="0">
                <a:solidFill>
                  <a:srgbClr val="B2B2B2"/>
                </a:solidFill>
                <a:latin typeface="Consolas" panose="020B0609020204030204" pitchFamily="49" charset="0"/>
              </a:rPr>
              <a:t>2 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FROM</a:t>
            </a:r>
            <a:r>
              <a:rPr lang="en-US" altLang="en-US" sz="2000" dirty="0">
                <a:solidFill>
                  <a:srgbClr val="000000"/>
                </a:solidFill>
                <a:latin typeface="Consolas" panose="020B0609020204030204" pitchFamily="49" charset="0"/>
              </a:rPr>
              <a:t> Pet, Insurer</a:t>
            </a:r>
            <a:r>
              <a:rPr kumimoji="0" lang="en-US" altLang="en-US" sz="2000" b="0" i="0" u="none" strike="noStrike" cap="none" normalizeH="0" baseline="0" dirty="0">
                <a:ln>
                  <a:noFill/>
                </a:ln>
                <a:solidFill>
                  <a:srgbClr val="000000"/>
                </a:solidFill>
                <a:effectLst/>
                <a:latin typeface="Consolas" panose="020B0609020204030204" pitchFamily="49" charset="0"/>
              </a:rPr>
              <a:t>;</a:t>
            </a:r>
            <a:endParaRPr kumimoji="0" lang="en-US" altLang="en-US" sz="2000" b="0" i="0" u="none" strike="noStrike" cap="none" normalizeH="0" baseline="0" dirty="0">
              <a:ln>
                <a:noFill/>
              </a:ln>
              <a:solidFill>
                <a:schemeClr val="tx1"/>
              </a:solidFill>
              <a:effectLst/>
              <a:latin typeface="Consolas" panose="020B0609020204030204" pitchFamily="49" charset="0"/>
            </a:endParaRPr>
          </a:p>
        </p:txBody>
      </p:sp>
      <p:sp>
        <p:nvSpPr>
          <p:cNvPr id="17" name="Pet">
            <a:extLst>
              <a:ext uri="{FF2B5EF4-FFF2-40B4-BE49-F238E27FC236}">
                <a16:creationId xmlns:a16="http://schemas.microsoft.com/office/drawing/2014/main" id="{37697A85-FE4A-5F49-87D3-DF60452AD532}"/>
              </a:ext>
            </a:extLst>
          </p:cNvPr>
          <p:cNvSpPr txBox="1"/>
          <p:nvPr/>
        </p:nvSpPr>
        <p:spPr>
          <a:xfrm>
            <a:off x="501700" y="2767538"/>
            <a:ext cx="1771650" cy="369332"/>
          </a:xfrm>
          <a:prstGeom prst="rect">
            <a:avLst/>
          </a:prstGeom>
          <a:noFill/>
        </p:spPr>
        <p:txBody>
          <a:bodyPr wrap="square" rtlCol="0">
            <a:spAutoFit/>
          </a:bodyPr>
          <a:lstStyle/>
          <a:p>
            <a:r>
              <a:rPr lang="en-GB" b="1" dirty="0"/>
              <a:t>Table: Pet</a:t>
            </a:r>
          </a:p>
        </p:txBody>
      </p:sp>
      <p:sp>
        <p:nvSpPr>
          <p:cNvPr id="19" name="Order">
            <a:extLst>
              <a:ext uri="{FF2B5EF4-FFF2-40B4-BE49-F238E27FC236}">
                <a16:creationId xmlns:a16="http://schemas.microsoft.com/office/drawing/2014/main" id="{39027E70-266E-C921-B96A-180149336170}"/>
              </a:ext>
            </a:extLst>
          </p:cNvPr>
          <p:cNvSpPr txBox="1"/>
          <p:nvPr/>
        </p:nvSpPr>
        <p:spPr>
          <a:xfrm>
            <a:off x="7417818" y="494976"/>
            <a:ext cx="2590417" cy="1384995"/>
          </a:xfrm>
          <a:prstGeom prst="rect">
            <a:avLst/>
          </a:prstGeom>
          <a:noFill/>
        </p:spPr>
        <p:txBody>
          <a:bodyPr wrap="square" rtlCol="0">
            <a:spAutoFit/>
          </a:bodyPr>
          <a:lstStyle/>
          <a:p>
            <a:r>
              <a:rPr lang="en-GB" sz="2800" b="1" dirty="0">
                <a:solidFill>
                  <a:srgbClr val="7030A0"/>
                </a:solidFill>
              </a:rPr>
              <a:t>Order</a:t>
            </a:r>
            <a:r>
              <a:rPr lang="en-GB" sz="2800" dirty="0">
                <a:solidFill>
                  <a:srgbClr val="7030A0"/>
                </a:solidFill>
              </a:rPr>
              <a:t>:</a:t>
            </a:r>
          </a:p>
          <a:p>
            <a:pPr lvl="1"/>
            <a:r>
              <a:rPr lang="en-GB" sz="2800" dirty="0">
                <a:solidFill>
                  <a:srgbClr val="7030A0"/>
                </a:solidFill>
              </a:rPr>
              <a:t>1.  FROM</a:t>
            </a:r>
          </a:p>
          <a:p>
            <a:pPr lvl="1"/>
            <a:r>
              <a:rPr lang="en-GB" sz="2800" dirty="0">
                <a:solidFill>
                  <a:srgbClr val="7030A0"/>
                </a:solidFill>
              </a:rPr>
              <a:t>2.  SELECT</a:t>
            </a:r>
          </a:p>
        </p:txBody>
      </p:sp>
      <p:sp>
        <p:nvSpPr>
          <p:cNvPr id="10" name="From">
            <a:extLst>
              <a:ext uri="{FF2B5EF4-FFF2-40B4-BE49-F238E27FC236}">
                <a16:creationId xmlns:a16="http://schemas.microsoft.com/office/drawing/2014/main" id="{BC0A24A5-7704-6A36-CD80-4ED2C2F64BD2}"/>
              </a:ext>
            </a:extLst>
          </p:cNvPr>
          <p:cNvSpPr txBox="1"/>
          <p:nvPr/>
        </p:nvSpPr>
        <p:spPr>
          <a:xfrm>
            <a:off x="3251923" y="2420529"/>
            <a:ext cx="850960" cy="369332"/>
          </a:xfrm>
          <a:prstGeom prst="rect">
            <a:avLst/>
          </a:prstGeom>
          <a:noFill/>
        </p:spPr>
        <p:txBody>
          <a:bodyPr wrap="square" rtlCol="0">
            <a:spAutoFit/>
          </a:bodyPr>
          <a:lstStyle/>
          <a:p>
            <a:r>
              <a:rPr lang="en-GB" b="1" dirty="0"/>
              <a:t>FROM</a:t>
            </a:r>
          </a:p>
        </p:txBody>
      </p:sp>
      <p:graphicFrame>
        <p:nvGraphicFramePr>
          <p:cNvPr id="22" name="Pet - Table">
            <a:extLst>
              <a:ext uri="{FF2B5EF4-FFF2-40B4-BE49-F238E27FC236}">
                <a16:creationId xmlns:a16="http://schemas.microsoft.com/office/drawing/2014/main" id="{E1C47C29-B1FD-7991-E626-2F12DC1AFFDE}"/>
              </a:ext>
            </a:extLst>
          </p:cNvPr>
          <p:cNvGraphicFramePr>
            <a:graphicFrameLocks noGrp="1"/>
          </p:cNvGraphicFramePr>
          <p:nvPr/>
        </p:nvGraphicFramePr>
        <p:xfrm>
          <a:off x="587423" y="3088606"/>
          <a:ext cx="2152143" cy="16192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536575">
                  <a:extLst>
                    <a:ext uri="{9D8B030D-6E8A-4147-A177-3AD203B41FA5}">
                      <a16:colId xmlns:a16="http://schemas.microsoft.com/office/drawing/2014/main" val="3258369125"/>
                    </a:ext>
                  </a:extLst>
                </a:gridCol>
                <a:gridCol w="803085">
                  <a:extLst>
                    <a:ext uri="{9D8B030D-6E8A-4147-A177-3AD203B41FA5}">
                      <a16:colId xmlns:a16="http://schemas.microsoft.com/office/drawing/2014/main" val="3431466674"/>
                    </a:ext>
                  </a:extLst>
                </a:gridCol>
              </a:tblGrid>
              <a:tr h="0">
                <a:tc>
                  <a:txBody>
                    <a:bodyPr/>
                    <a:lstStyle/>
                    <a:p>
                      <a:pPr algn="l"/>
                      <a:r>
                        <a:rPr lang="en-GB" sz="2000" b="0" i="0" dirty="0">
                          <a:solidFill>
                            <a:schemeClr val="bg1"/>
                          </a:solidFill>
                          <a:effectLst/>
                          <a:latin typeface="+mn-lt"/>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mn-lt"/>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mn-lt"/>
                          <a:cs typeface="Calibri" panose="020F0502020204030204" pitchFamily="34" charset="0"/>
                        </a:rPr>
                        <a:t>insurer</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dirty="0">
                          <a:solidFill>
                            <a:schemeClr val="tx1"/>
                          </a:solidFill>
                          <a:effectLst/>
                          <a:latin typeface="+mn-lt"/>
                        </a:rPr>
                        <a:t>Pepper</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latin typeface="+mn-lt"/>
                        </a:rPr>
                        <a:t>Cat</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latin typeface="+mn-lt"/>
                        </a:rPr>
                        <a:t>0</a:t>
                      </a:r>
                      <a:endParaRPr lang="en-GB" sz="20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latin typeface="+mn-lt"/>
                        </a:rPr>
                        <a:t>Cindy</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latin typeface="+mn-lt"/>
                        </a:rPr>
                        <a:t>Dog</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mn-lt"/>
                          <a:cs typeface="Calibri" panose="020F0502020204030204" pitchFamily="34" charset="0"/>
                        </a:rPr>
                        <a:t>2</a:t>
                      </a: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dirty="0">
                          <a:solidFill>
                            <a:schemeClr val="tx1"/>
                          </a:solidFill>
                          <a:effectLst/>
                          <a:latin typeface="+mn-lt"/>
                        </a:rPr>
                        <a:t>Snowy</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latin typeface="+mn-lt"/>
                        </a:rPr>
                        <a:t>Cat</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mn-lt"/>
                          <a:cs typeface="Calibri" panose="020F0502020204030204" pitchFamily="34" charset="0"/>
                        </a:rPr>
                        <a:t>1</a:t>
                      </a: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a:solidFill>
                            <a:schemeClr val="tx1"/>
                          </a:solidFill>
                          <a:effectLst/>
                          <a:latin typeface="+mn-lt"/>
                        </a:rPr>
                        <a:t>Kitty</a:t>
                      </a:r>
                      <a:endParaRPr lang="en-GB" sz="2000" b="0" i="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a:solidFill>
                            <a:schemeClr val="tx1"/>
                          </a:solidFill>
                          <a:effectLst/>
                          <a:latin typeface="+mn-lt"/>
                        </a:rPr>
                        <a:t>Cat</a:t>
                      </a:r>
                      <a:endParaRPr lang="en-GB" sz="2000" b="0" i="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mn-lt"/>
                          <a:cs typeface="Calibri" panose="020F0502020204030204" pitchFamily="34" charset="0"/>
                        </a:rPr>
                        <a:t>1</a:t>
                      </a:r>
                    </a:p>
                  </a:txBody>
                  <a:tcPr marL="9525" marR="9525" marT="9525" marB="9525" anchor="ctr"/>
                </a:tc>
                <a:extLst>
                  <a:ext uri="{0D108BD9-81ED-4DB2-BD59-A6C34878D82A}">
                    <a16:rowId xmlns:a16="http://schemas.microsoft.com/office/drawing/2014/main" val="812093042"/>
                  </a:ext>
                </a:extLst>
              </a:tr>
            </a:tbl>
          </a:graphicData>
        </a:graphic>
      </p:graphicFrame>
      <p:graphicFrame>
        <p:nvGraphicFramePr>
          <p:cNvPr id="23" name="Temp - Table">
            <a:extLst>
              <a:ext uri="{FF2B5EF4-FFF2-40B4-BE49-F238E27FC236}">
                <a16:creationId xmlns:a16="http://schemas.microsoft.com/office/drawing/2014/main" id="{57FE39BF-DC05-E516-87E6-26364C7BBE24}"/>
              </a:ext>
            </a:extLst>
          </p:cNvPr>
          <p:cNvGraphicFramePr>
            <a:graphicFrameLocks noGrp="1"/>
          </p:cNvGraphicFramePr>
          <p:nvPr/>
        </p:nvGraphicFramePr>
        <p:xfrm>
          <a:off x="4820545" y="2833037"/>
          <a:ext cx="3107310" cy="3813810"/>
        </p:xfrm>
        <a:graphic>
          <a:graphicData uri="http://schemas.openxmlformats.org/drawingml/2006/table">
            <a:tbl>
              <a:tblPr firstRow="1" bandRow="1">
                <a:tableStyleId>{5C22544A-7EE6-4342-B048-85BDC9FD1C3A}</a:tableStyleId>
              </a:tblPr>
              <a:tblGrid>
                <a:gridCol w="733616">
                  <a:extLst>
                    <a:ext uri="{9D8B030D-6E8A-4147-A177-3AD203B41FA5}">
                      <a16:colId xmlns:a16="http://schemas.microsoft.com/office/drawing/2014/main" val="2854243258"/>
                    </a:ext>
                  </a:extLst>
                </a:gridCol>
                <a:gridCol w="485775">
                  <a:extLst>
                    <a:ext uri="{9D8B030D-6E8A-4147-A177-3AD203B41FA5}">
                      <a16:colId xmlns:a16="http://schemas.microsoft.com/office/drawing/2014/main" val="3258369125"/>
                    </a:ext>
                  </a:extLst>
                </a:gridCol>
                <a:gridCol w="724091">
                  <a:extLst>
                    <a:ext uri="{9D8B030D-6E8A-4147-A177-3AD203B41FA5}">
                      <a16:colId xmlns:a16="http://schemas.microsoft.com/office/drawing/2014/main" val="3431466674"/>
                    </a:ext>
                  </a:extLst>
                </a:gridCol>
                <a:gridCol w="244475">
                  <a:extLst>
                    <a:ext uri="{9D8B030D-6E8A-4147-A177-3AD203B41FA5}">
                      <a16:colId xmlns:a16="http://schemas.microsoft.com/office/drawing/2014/main" val="994748769"/>
                    </a:ext>
                  </a:extLst>
                </a:gridCol>
                <a:gridCol w="919353">
                  <a:extLst>
                    <a:ext uri="{9D8B030D-6E8A-4147-A177-3AD203B41FA5}">
                      <a16:colId xmlns:a16="http://schemas.microsoft.com/office/drawing/2014/main" val="2564927205"/>
                    </a:ext>
                  </a:extLst>
                </a:gridCol>
              </a:tblGrid>
              <a:tr h="0">
                <a:tc>
                  <a:txBody>
                    <a:bodyPr/>
                    <a:lstStyle/>
                    <a:p>
                      <a:pPr algn="l"/>
                      <a:r>
                        <a:rPr lang="en-GB" sz="1800" b="0" i="0" dirty="0">
                          <a:solidFill>
                            <a:schemeClr val="bg1"/>
                          </a:solidFill>
                          <a:effectLst/>
                          <a:latin typeface="+mn-lt"/>
                          <a:cs typeface="Calibri" panose="020F0502020204030204" pitchFamily="34" charset="0"/>
                        </a:rPr>
                        <a:t>name</a:t>
                      </a:r>
                    </a:p>
                  </a:txBody>
                  <a:tcPr marL="9525" marR="9525" marT="9525" marB="9525" anchor="ctr"/>
                </a:tc>
                <a:tc>
                  <a:txBody>
                    <a:bodyPr/>
                    <a:lstStyle/>
                    <a:p>
                      <a:pPr algn="l"/>
                      <a:r>
                        <a:rPr lang="en-GB" sz="1800" b="0" i="0" dirty="0">
                          <a:solidFill>
                            <a:schemeClr val="bg1"/>
                          </a:solidFill>
                          <a:effectLst/>
                          <a:latin typeface="+mn-lt"/>
                          <a:cs typeface="Calibri" panose="020F0502020204030204" pitchFamily="34" charset="0"/>
                        </a:rPr>
                        <a:t>type</a:t>
                      </a:r>
                    </a:p>
                  </a:txBody>
                  <a:tcPr marL="9525" marR="9525" marT="9525" marB="9525" anchor="ctr"/>
                </a:tc>
                <a:tc>
                  <a:txBody>
                    <a:bodyPr/>
                    <a:lstStyle/>
                    <a:p>
                      <a:pPr algn="l"/>
                      <a:r>
                        <a:rPr lang="en-GB" sz="1800" b="0" i="0" dirty="0">
                          <a:solidFill>
                            <a:schemeClr val="bg1"/>
                          </a:solidFill>
                          <a:effectLst/>
                          <a:latin typeface="+mn-lt"/>
                          <a:cs typeface="Calibri" panose="020F0502020204030204" pitchFamily="34" charset="0"/>
                        </a:rPr>
                        <a:t>insurer</a:t>
                      </a:r>
                    </a:p>
                  </a:txBody>
                  <a:tcPr marL="9525" marR="9525" marT="9525" marB="9525" anchor="ctr"/>
                </a:tc>
                <a:tc>
                  <a:txBody>
                    <a:bodyPr/>
                    <a:lstStyle/>
                    <a:p>
                      <a:pPr algn="l"/>
                      <a:r>
                        <a:rPr lang="en-GB" sz="1800" b="0" i="0" dirty="0">
                          <a:solidFill>
                            <a:schemeClr val="bg1"/>
                          </a:solidFill>
                          <a:effectLst/>
                          <a:latin typeface="+mn-lt"/>
                          <a:cs typeface="Calibri" panose="020F0502020204030204" pitchFamily="34" charset="0"/>
                        </a:rPr>
                        <a:t>id</a:t>
                      </a:r>
                    </a:p>
                  </a:txBody>
                  <a:tcPr marL="9525" marR="9525" marT="9525" marB="9525" anchor="ctr"/>
                </a:tc>
                <a:tc>
                  <a:txBody>
                    <a:bodyPr/>
                    <a:lstStyle/>
                    <a:p>
                      <a:pPr algn="l"/>
                      <a:r>
                        <a:rPr lang="en-GB" sz="1800" b="0" i="0" dirty="0">
                          <a:solidFill>
                            <a:schemeClr val="bg1"/>
                          </a:solidFill>
                          <a:effectLst/>
                          <a:latin typeface="+mn-lt"/>
                          <a:cs typeface="Calibri" panose="020F0502020204030204" pitchFamily="34" charset="0"/>
                        </a:rPr>
                        <a:t>company</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1800" b="0" dirty="0">
                          <a:solidFill>
                            <a:schemeClr val="tx1"/>
                          </a:solidFill>
                          <a:effectLst/>
                          <a:latin typeface="+mn-lt"/>
                        </a:rPr>
                        <a:t>Pepper</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0</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0</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1800" b="0" dirty="0">
                          <a:solidFill>
                            <a:schemeClr val="tx1"/>
                          </a:solidFill>
                          <a:effectLst/>
                          <a:latin typeface="+mn-lt"/>
                        </a:rPr>
                        <a:t>Pepper</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0</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1800" b="0" dirty="0">
                          <a:solidFill>
                            <a:schemeClr val="tx1"/>
                          </a:solidFill>
                          <a:effectLst/>
                          <a:latin typeface="+mn-lt"/>
                        </a:rPr>
                        <a:t>Pepper</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0</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2</a:t>
                      </a:r>
                    </a:p>
                  </a:txBody>
                  <a:tcPr marL="9525" marR="9525" marT="9525" marB="9525" anchor="ctr"/>
                </a:tc>
                <a:tc>
                  <a:txBody>
                    <a:bodyPr/>
                    <a:lstStyle/>
                    <a:p>
                      <a:pPr algn="l"/>
                      <a:r>
                        <a:rPr lang="en-GB" sz="1800" b="0" i="0" dirty="0" err="1">
                          <a:solidFill>
                            <a:schemeClr val="tx1"/>
                          </a:solidFill>
                          <a:effectLst/>
                          <a:latin typeface="+mn-lt"/>
                          <a:cs typeface="Calibri" panose="020F0502020204030204" pitchFamily="34" charset="0"/>
                        </a:rPr>
                        <a:t>PetSure</a:t>
                      </a:r>
                      <a:endParaRPr lang="en-GB" sz="18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1800" b="0" dirty="0">
                          <a:solidFill>
                            <a:schemeClr val="tx1"/>
                          </a:solidFill>
                          <a:effectLst/>
                          <a:latin typeface="+mn-lt"/>
                        </a:rPr>
                        <a:t>Cindy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Dog</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2</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0</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1800" b="0" dirty="0">
                          <a:solidFill>
                            <a:schemeClr val="tx1"/>
                          </a:solidFill>
                          <a:effectLst/>
                          <a:latin typeface="+mn-lt"/>
                        </a:rPr>
                        <a:t>Cindy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Dog</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2</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1659393023"/>
                  </a:ext>
                </a:extLst>
              </a:tr>
              <a:tr h="0">
                <a:tc>
                  <a:txBody>
                    <a:bodyPr/>
                    <a:lstStyle/>
                    <a:p>
                      <a:pPr algn="l"/>
                      <a:r>
                        <a:rPr lang="en-GB" sz="1800" b="0" dirty="0">
                          <a:solidFill>
                            <a:schemeClr val="tx1"/>
                          </a:solidFill>
                          <a:effectLst/>
                          <a:latin typeface="+mn-lt"/>
                        </a:rPr>
                        <a:t>Cindy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Dog</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2</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2</a:t>
                      </a:r>
                    </a:p>
                  </a:txBody>
                  <a:tcPr marL="9525" marR="9525" marT="9525" marB="9525" anchor="ctr"/>
                </a:tc>
                <a:tc>
                  <a:txBody>
                    <a:bodyPr/>
                    <a:lstStyle/>
                    <a:p>
                      <a:pPr algn="l"/>
                      <a:r>
                        <a:rPr lang="en-GB" sz="1800" b="0" i="0" dirty="0" err="1">
                          <a:solidFill>
                            <a:schemeClr val="tx1"/>
                          </a:solidFill>
                          <a:effectLst/>
                          <a:latin typeface="+mn-lt"/>
                          <a:cs typeface="Calibri" panose="020F0502020204030204" pitchFamily="34" charset="0"/>
                        </a:rPr>
                        <a:t>PetSure</a:t>
                      </a:r>
                      <a:endParaRPr lang="en-GB" sz="18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417314715"/>
                  </a:ext>
                </a:extLst>
              </a:tr>
              <a:tr h="0">
                <a:tc>
                  <a:txBody>
                    <a:bodyPr/>
                    <a:lstStyle/>
                    <a:p>
                      <a:pPr algn="l"/>
                      <a:r>
                        <a:rPr lang="en-GB" sz="1800" b="0" dirty="0">
                          <a:solidFill>
                            <a:schemeClr val="tx1"/>
                          </a:solidFill>
                          <a:effectLst/>
                          <a:latin typeface="+mn-lt"/>
                        </a:rPr>
                        <a:t>Snowy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0</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777826486"/>
                  </a:ext>
                </a:extLst>
              </a:tr>
              <a:tr h="0">
                <a:tc>
                  <a:txBody>
                    <a:bodyPr/>
                    <a:lstStyle/>
                    <a:p>
                      <a:pPr algn="l"/>
                      <a:r>
                        <a:rPr lang="en-GB" sz="1800" b="0" dirty="0">
                          <a:solidFill>
                            <a:schemeClr val="tx1"/>
                          </a:solidFill>
                          <a:effectLst/>
                          <a:latin typeface="+mn-lt"/>
                        </a:rPr>
                        <a:t>Snowy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2705716962"/>
                  </a:ext>
                </a:extLst>
              </a:tr>
              <a:tr h="0">
                <a:tc>
                  <a:txBody>
                    <a:bodyPr/>
                    <a:lstStyle/>
                    <a:p>
                      <a:pPr algn="l"/>
                      <a:r>
                        <a:rPr lang="en-GB" sz="1800" b="0" dirty="0">
                          <a:solidFill>
                            <a:schemeClr val="tx1"/>
                          </a:solidFill>
                          <a:effectLst/>
                          <a:latin typeface="+mn-lt"/>
                        </a:rPr>
                        <a:t>Snowy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2</a:t>
                      </a:r>
                    </a:p>
                  </a:txBody>
                  <a:tcPr marL="9525" marR="9525" marT="9525" marB="9525" anchor="ctr"/>
                </a:tc>
                <a:tc>
                  <a:txBody>
                    <a:bodyPr/>
                    <a:lstStyle/>
                    <a:p>
                      <a:pPr algn="l"/>
                      <a:r>
                        <a:rPr lang="en-GB" sz="1800" b="0" i="0" dirty="0" err="1">
                          <a:solidFill>
                            <a:schemeClr val="tx1"/>
                          </a:solidFill>
                          <a:effectLst/>
                          <a:latin typeface="+mn-lt"/>
                          <a:cs typeface="Calibri" panose="020F0502020204030204" pitchFamily="34" charset="0"/>
                        </a:rPr>
                        <a:t>PetSure</a:t>
                      </a:r>
                      <a:endParaRPr lang="en-GB" sz="18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3471423699"/>
                  </a:ext>
                </a:extLst>
              </a:tr>
              <a:tr h="0">
                <a:tc>
                  <a:txBody>
                    <a:bodyPr/>
                    <a:lstStyle/>
                    <a:p>
                      <a:pPr algn="l"/>
                      <a:r>
                        <a:rPr lang="en-GB" sz="1800" b="0" dirty="0">
                          <a:solidFill>
                            <a:schemeClr val="tx1"/>
                          </a:solidFill>
                          <a:effectLst/>
                          <a:latin typeface="+mn-lt"/>
                        </a:rPr>
                        <a:t>Kitty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0</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1904147145"/>
                  </a:ext>
                </a:extLst>
              </a:tr>
              <a:tr h="0">
                <a:tc>
                  <a:txBody>
                    <a:bodyPr/>
                    <a:lstStyle/>
                    <a:p>
                      <a:pPr algn="l"/>
                      <a:r>
                        <a:rPr lang="en-GB" sz="1800" b="0" dirty="0">
                          <a:solidFill>
                            <a:schemeClr val="tx1"/>
                          </a:solidFill>
                          <a:effectLst/>
                          <a:latin typeface="+mn-lt"/>
                        </a:rPr>
                        <a:t>Kitty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976741720"/>
                  </a:ext>
                </a:extLst>
              </a:tr>
              <a:tr h="0">
                <a:tc>
                  <a:txBody>
                    <a:bodyPr/>
                    <a:lstStyle/>
                    <a:p>
                      <a:pPr algn="l"/>
                      <a:r>
                        <a:rPr lang="en-GB" sz="1800" b="0" dirty="0">
                          <a:solidFill>
                            <a:schemeClr val="tx1"/>
                          </a:solidFill>
                          <a:effectLst/>
                          <a:latin typeface="+mn-lt"/>
                        </a:rPr>
                        <a:t>Kitty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2</a:t>
                      </a:r>
                    </a:p>
                  </a:txBody>
                  <a:tcPr marL="9525" marR="9525" marT="9525" marB="9525" anchor="ctr"/>
                </a:tc>
                <a:tc>
                  <a:txBody>
                    <a:bodyPr/>
                    <a:lstStyle/>
                    <a:p>
                      <a:pPr algn="l"/>
                      <a:r>
                        <a:rPr lang="en-GB" sz="1800" b="0" i="0" dirty="0" err="1">
                          <a:solidFill>
                            <a:schemeClr val="tx1"/>
                          </a:solidFill>
                          <a:effectLst/>
                          <a:latin typeface="+mn-lt"/>
                          <a:cs typeface="Calibri" panose="020F0502020204030204" pitchFamily="34" charset="0"/>
                        </a:rPr>
                        <a:t>PetSure</a:t>
                      </a:r>
                      <a:endParaRPr lang="en-GB" sz="18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2806725075"/>
                  </a:ext>
                </a:extLst>
              </a:tr>
            </a:tbl>
          </a:graphicData>
        </a:graphic>
      </p:graphicFrame>
      <p:sp>
        <p:nvSpPr>
          <p:cNvPr id="25" name="Select">
            <a:extLst>
              <a:ext uri="{FF2B5EF4-FFF2-40B4-BE49-F238E27FC236}">
                <a16:creationId xmlns:a16="http://schemas.microsoft.com/office/drawing/2014/main" id="{35683CAD-1E2A-EA31-E6BB-C707B14B8F0A}"/>
              </a:ext>
            </a:extLst>
          </p:cNvPr>
          <p:cNvSpPr txBox="1"/>
          <p:nvPr/>
        </p:nvSpPr>
        <p:spPr>
          <a:xfrm>
            <a:off x="5894290" y="1835011"/>
            <a:ext cx="850960" cy="369332"/>
          </a:xfrm>
          <a:prstGeom prst="rect">
            <a:avLst/>
          </a:prstGeom>
          <a:noFill/>
        </p:spPr>
        <p:txBody>
          <a:bodyPr wrap="square" rtlCol="0">
            <a:spAutoFit/>
          </a:bodyPr>
          <a:lstStyle/>
          <a:p>
            <a:pPr algn="ctr"/>
            <a:r>
              <a:rPr lang="en-GB" b="1" dirty="0"/>
              <a:t>SELECT</a:t>
            </a:r>
          </a:p>
        </p:txBody>
      </p:sp>
      <p:sp>
        <p:nvSpPr>
          <p:cNvPr id="28" name="Output - Arrow">
            <a:extLst>
              <a:ext uri="{FF2B5EF4-FFF2-40B4-BE49-F238E27FC236}">
                <a16:creationId xmlns:a16="http://schemas.microsoft.com/office/drawing/2014/main" id="{27833E17-04CE-E6AD-804B-EB51B8F41239}"/>
              </a:ext>
            </a:extLst>
          </p:cNvPr>
          <p:cNvSpPr/>
          <p:nvPr/>
        </p:nvSpPr>
        <p:spPr>
          <a:xfrm>
            <a:off x="8529428" y="4575835"/>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9" name="Name - Column">
            <a:extLst>
              <a:ext uri="{FF2B5EF4-FFF2-40B4-BE49-F238E27FC236}">
                <a16:creationId xmlns:a16="http://schemas.microsoft.com/office/drawing/2014/main" id="{9CFD6623-90F9-8CA0-585A-959ADF79ADE1}"/>
              </a:ext>
            </a:extLst>
          </p:cNvPr>
          <p:cNvSpPr/>
          <p:nvPr/>
        </p:nvSpPr>
        <p:spPr>
          <a:xfrm>
            <a:off x="4795199" y="2770419"/>
            <a:ext cx="720000" cy="3944706"/>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0" name="Age - Column">
            <a:extLst>
              <a:ext uri="{FF2B5EF4-FFF2-40B4-BE49-F238E27FC236}">
                <a16:creationId xmlns:a16="http://schemas.microsoft.com/office/drawing/2014/main" id="{F8908677-B9D0-5945-93E8-1112E85882A9}"/>
              </a:ext>
            </a:extLst>
          </p:cNvPr>
          <p:cNvSpPr/>
          <p:nvPr/>
        </p:nvSpPr>
        <p:spPr>
          <a:xfrm>
            <a:off x="6999769" y="2768253"/>
            <a:ext cx="928086" cy="3941211"/>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2" name="Output">
            <a:extLst>
              <a:ext uri="{FF2B5EF4-FFF2-40B4-BE49-F238E27FC236}">
                <a16:creationId xmlns:a16="http://schemas.microsoft.com/office/drawing/2014/main" id="{56038AF1-3FFC-CE48-15B4-04B9F7CE57D9}"/>
              </a:ext>
            </a:extLst>
          </p:cNvPr>
          <p:cNvSpPr txBox="1"/>
          <p:nvPr/>
        </p:nvSpPr>
        <p:spPr>
          <a:xfrm>
            <a:off x="8281623" y="2420529"/>
            <a:ext cx="960176" cy="369332"/>
          </a:xfrm>
          <a:prstGeom prst="rect">
            <a:avLst/>
          </a:prstGeom>
          <a:noFill/>
        </p:spPr>
        <p:txBody>
          <a:bodyPr wrap="square" rtlCol="0">
            <a:spAutoFit/>
          </a:bodyPr>
          <a:lstStyle/>
          <a:p>
            <a:pPr algn="ctr"/>
            <a:r>
              <a:rPr lang="en-GB" b="1" dirty="0"/>
              <a:t>Output</a:t>
            </a:r>
          </a:p>
        </p:txBody>
      </p:sp>
      <p:cxnSp>
        <p:nvCxnSpPr>
          <p:cNvPr id="5" name="Name - Arrow">
            <a:extLst>
              <a:ext uri="{FF2B5EF4-FFF2-40B4-BE49-F238E27FC236}">
                <a16:creationId xmlns:a16="http://schemas.microsoft.com/office/drawing/2014/main" id="{74743580-1BBD-44D1-9B4B-3FCD69A573CA}"/>
              </a:ext>
            </a:extLst>
          </p:cNvPr>
          <p:cNvCxnSpPr>
            <a:cxnSpLocks/>
            <a:stCxn id="25" idx="2"/>
            <a:endCxn id="29" idx="0"/>
          </p:cNvCxnSpPr>
          <p:nvPr/>
        </p:nvCxnSpPr>
        <p:spPr>
          <a:xfrm flipH="1">
            <a:off x="5155199" y="2204343"/>
            <a:ext cx="1164571" cy="566076"/>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9" name="Age - Arrow">
            <a:extLst>
              <a:ext uri="{FF2B5EF4-FFF2-40B4-BE49-F238E27FC236}">
                <a16:creationId xmlns:a16="http://schemas.microsoft.com/office/drawing/2014/main" id="{4A59694F-BFA9-47E0-AA51-53E4E5936D1D}"/>
              </a:ext>
            </a:extLst>
          </p:cNvPr>
          <p:cNvCxnSpPr>
            <a:cxnSpLocks/>
            <a:stCxn id="25" idx="2"/>
            <a:endCxn id="30" idx="0"/>
          </p:cNvCxnSpPr>
          <p:nvPr/>
        </p:nvCxnSpPr>
        <p:spPr>
          <a:xfrm>
            <a:off x="6319770" y="2204343"/>
            <a:ext cx="1144042" cy="563910"/>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2" name="Insurer">
            <a:extLst>
              <a:ext uri="{FF2B5EF4-FFF2-40B4-BE49-F238E27FC236}">
                <a16:creationId xmlns:a16="http://schemas.microsoft.com/office/drawing/2014/main" id="{94BF93ED-DCBC-929A-3978-645514F34654}"/>
              </a:ext>
            </a:extLst>
          </p:cNvPr>
          <p:cNvSpPr txBox="1"/>
          <p:nvPr/>
        </p:nvSpPr>
        <p:spPr>
          <a:xfrm>
            <a:off x="501700" y="4793841"/>
            <a:ext cx="1771650" cy="369332"/>
          </a:xfrm>
          <a:prstGeom prst="rect">
            <a:avLst/>
          </a:prstGeom>
          <a:noFill/>
        </p:spPr>
        <p:txBody>
          <a:bodyPr wrap="square" rtlCol="0">
            <a:spAutoFit/>
          </a:bodyPr>
          <a:lstStyle/>
          <a:p>
            <a:r>
              <a:rPr lang="en-GB" b="1" dirty="0"/>
              <a:t>Table: Insurer</a:t>
            </a:r>
          </a:p>
        </p:txBody>
      </p:sp>
      <p:graphicFrame>
        <p:nvGraphicFramePr>
          <p:cNvPr id="3" name="Pet - Insurer">
            <a:extLst>
              <a:ext uri="{FF2B5EF4-FFF2-40B4-BE49-F238E27FC236}">
                <a16:creationId xmlns:a16="http://schemas.microsoft.com/office/drawing/2014/main" id="{DED03D99-A09A-68ED-29D5-FF622C9224CD}"/>
              </a:ext>
            </a:extLst>
          </p:cNvPr>
          <p:cNvGraphicFramePr>
            <a:graphicFrameLocks noGrp="1"/>
          </p:cNvGraphicFramePr>
          <p:nvPr/>
        </p:nvGraphicFramePr>
        <p:xfrm>
          <a:off x="587423" y="5114909"/>
          <a:ext cx="1285431" cy="1295400"/>
        </p:xfrm>
        <a:graphic>
          <a:graphicData uri="http://schemas.openxmlformats.org/drawingml/2006/table">
            <a:tbl>
              <a:tblPr firstRow="1" bandRow="1">
                <a:tableStyleId>{5C22544A-7EE6-4342-B048-85BDC9FD1C3A}</a:tableStyleId>
              </a:tblPr>
              <a:tblGrid>
                <a:gridCol w="268288">
                  <a:extLst>
                    <a:ext uri="{9D8B030D-6E8A-4147-A177-3AD203B41FA5}">
                      <a16:colId xmlns:a16="http://schemas.microsoft.com/office/drawing/2014/main" val="2854243258"/>
                    </a:ext>
                  </a:extLst>
                </a:gridCol>
                <a:gridCol w="1017143">
                  <a:extLst>
                    <a:ext uri="{9D8B030D-6E8A-4147-A177-3AD203B41FA5}">
                      <a16:colId xmlns:a16="http://schemas.microsoft.com/office/drawing/2014/main" val="3258369125"/>
                    </a:ext>
                  </a:extLst>
                </a:gridCol>
              </a:tblGrid>
              <a:tr h="0">
                <a:tc>
                  <a:txBody>
                    <a:bodyPr/>
                    <a:lstStyle/>
                    <a:p>
                      <a:pPr algn="l"/>
                      <a:r>
                        <a:rPr lang="en-GB" sz="2000" b="0" i="0" dirty="0">
                          <a:solidFill>
                            <a:schemeClr val="bg1"/>
                          </a:solidFill>
                          <a:effectLst/>
                          <a:latin typeface="+mn-lt"/>
                          <a:cs typeface="Calibri" panose="020F0502020204030204" pitchFamily="34" charset="0"/>
                        </a:rPr>
                        <a:t>id</a:t>
                      </a:r>
                    </a:p>
                  </a:txBody>
                  <a:tcPr marL="9525" marR="9525" marT="9525" marB="9525" anchor="ctr"/>
                </a:tc>
                <a:tc>
                  <a:txBody>
                    <a:bodyPr/>
                    <a:lstStyle/>
                    <a:p>
                      <a:pPr algn="l"/>
                      <a:r>
                        <a:rPr lang="en-GB" sz="2000" b="0" i="0" dirty="0">
                          <a:solidFill>
                            <a:schemeClr val="bg1"/>
                          </a:solidFill>
                          <a:effectLst/>
                          <a:latin typeface="+mn-lt"/>
                          <a:cs typeface="Calibri" panose="020F0502020204030204" pitchFamily="34" charset="0"/>
                        </a:rPr>
                        <a:t>company</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dirty="0">
                          <a:solidFill>
                            <a:schemeClr val="tx1"/>
                          </a:solidFill>
                          <a:effectLst/>
                          <a:latin typeface="+mn-lt"/>
                        </a:rPr>
                        <a:t>0</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latin typeface="+mn-lt"/>
                        </a:rPr>
                        <a:t>1</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dirty="0">
                          <a:solidFill>
                            <a:schemeClr val="tx1"/>
                          </a:solidFill>
                          <a:effectLst/>
                          <a:latin typeface="+mn-lt"/>
                        </a:rPr>
                        <a:t>2</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i="0" dirty="0" err="1">
                          <a:solidFill>
                            <a:schemeClr val="tx1"/>
                          </a:solidFill>
                          <a:effectLst/>
                          <a:latin typeface="+mn-lt"/>
                          <a:cs typeface="Calibri" panose="020F0502020204030204" pitchFamily="34" charset="0"/>
                        </a:rPr>
                        <a:t>PetSure</a:t>
                      </a:r>
                      <a:endParaRPr lang="en-GB" sz="20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bl>
          </a:graphicData>
        </a:graphic>
      </p:graphicFrame>
      <p:graphicFrame>
        <p:nvGraphicFramePr>
          <p:cNvPr id="43" name="Output - Table">
            <a:extLst>
              <a:ext uri="{FF2B5EF4-FFF2-40B4-BE49-F238E27FC236}">
                <a16:creationId xmlns:a16="http://schemas.microsoft.com/office/drawing/2014/main" id="{568C7E54-FFF5-6232-653C-F1481651CB4C}"/>
              </a:ext>
            </a:extLst>
          </p:cNvPr>
          <p:cNvGraphicFramePr>
            <a:graphicFrameLocks noGrp="1"/>
          </p:cNvGraphicFramePr>
          <p:nvPr/>
        </p:nvGraphicFramePr>
        <p:xfrm>
          <a:off x="9595568" y="2831953"/>
          <a:ext cx="1652969" cy="3813810"/>
        </p:xfrm>
        <a:graphic>
          <a:graphicData uri="http://schemas.openxmlformats.org/drawingml/2006/table">
            <a:tbl>
              <a:tblPr firstRow="1" bandRow="1">
                <a:tableStyleId>{5C22544A-7EE6-4342-B048-85BDC9FD1C3A}</a:tableStyleId>
              </a:tblPr>
              <a:tblGrid>
                <a:gridCol w="733616">
                  <a:extLst>
                    <a:ext uri="{9D8B030D-6E8A-4147-A177-3AD203B41FA5}">
                      <a16:colId xmlns:a16="http://schemas.microsoft.com/office/drawing/2014/main" val="2854243258"/>
                    </a:ext>
                  </a:extLst>
                </a:gridCol>
                <a:gridCol w="919353">
                  <a:extLst>
                    <a:ext uri="{9D8B030D-6E8A-4147-A177-3AD203B41FA5}">
                      <a16:colId xmlns:a16="http://schemas.microsoft.com/office/drawing/2014/main" val="2564927205"/>
                    </a:ext>
                  </a:extLst>
                </a:gridCol>
              </a:tblGrid>
              <a:tr h="0">
                <a:tc>
                  <a:txBody>
                    <a:bodyPr/>
                    <a:lstStyle/>
                    <a:p>
                      <a:pPr algn="l"/>
                      <a:r>
                        <a:rPr lang="en-GB" sz="1800" b="0" i="0" dirty="0">
                          <a:solidFill>
                            <a:schemeClr val="bg1"/>
                          </a:solidFill>
                          <a:effectLst/>
                          <a:latin typeface="+mn-lt"/>
                          <a:cs typeface="Calibri" panose="020F0502020204030204" pitchFamily="34" charset="0"/>
                        </a:rPr>
                        <a:t>name</a:t>
                      </a:r>
                    </a:p>
                  </a:txBody>
                  <a:tcPr marL="9525" marR="9525" marT="9525" marB="9525" anchor="ctr"/>
                </a:tc>
                <a:tc>
                  <a:txBody>
                    <a:bodyPr/>
                    <a:lstStyle/>
                    <a:p>
                      <a:pPr algn="l"/>
                      <a:r>
                        <a:rPr lang="en-GB" sz="1800" b="0" i="0" dirty="0">
                          <a:solidFill>
                            <a:schemeClr val="bg1"/>
                          </a:solidFill>
                          <a:effectLst/>
                          <a:latin typeface="+mn-lt"/>
                          <a:cs typeface="Calibri" panose="020F0502020204030204" pitchFamily="34" charset="0"/>
                        </a:rPr>
                        <a:t>company</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1800" b="0" dirty="0">
                          <a:solidFill>
                            <a:schemeClr val="tx1"/>
                          </a:solidFill>
                          <a:effectLst/>
                          <a:latin typeface="+mn-lt"/>
                        </a:rPr>
                        <a:t>Pepper</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1800" b="0" dirty="0">
                          <a:solidFill>
                            <a:schemeClr val="tx1"/>
                          </a:solidFill>
                          <a:effectLst/>
                          <a:latin typeface="+mn-lt"/>
                        </a:rPr>
                        <a:t>Pepper</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1800" b="0" dirty="0">
                          <a:solidFill>
                            <a:schemeClr val="tx1"/>
                          </a:solidFill>
                          <a:effectLst/>
                          <a:latin typeface="+mn-lt"/>
                        </a:rPr>
                        <a:t>Pepper</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err="1">
                          <a:solidFill>
                            <a:schemeClr val="tx1"/>
                          </a:solidFill>
                          <a:effectLst/>
                          <a:latin typeface="+mn-lt"/>
                          <a:cs typeface="Calibri" panose="020F0502020204030204" pitchFamily="34" charset="0"/>
                        </a:rPr>
                        <a:t>PetSure</a:t>
                      </a:r>
                      <a:endParaRPr lang="en-GB" sz="18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1800" b="0" dirty="0">
                          <a:solidFill>
                            <a:schemeClr val="tx1"/>
                          </a:solidFill>
                          <a:effectLst/>
                          <a:latin typeface="+mn-lt"/>
                        </a:rPr>
                        <a:t>Cindy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1800" b="0" dirty="0">
                          <a:solidFill>
                            <a:schemeClr val="tx1"/>
                          </a:solidFill>
                          <a:effectLst/>
                          <a:latin typeface="+mn-lt"/>
                        </a:rPr>
                        <a:t>Cindy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1659393023"/>
                  </a:ext>
                </a:extLst>
              </a:tr>
              <a:tr h="0">
                <a:tc>
                  <a:txBody>
                    <a:bodyPr/>
                    <a:lstStyle/>
                    <a:p>
                      <a:pPr algn="l"/>
                      <a:r>
                        <a:rPr lang="en-GB" sz="1800" b="0" dirty="0">
                          <a:solidFill>
                            <a:schemeClr val="tx1"/>
                          </a:solidFill>
                          <a:effectLst/>
                          <a:latin typeface="+mn-lt"/>
                        </a:rPr>
                        <a:t>Cindy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err="1">
                          <a:solidFill>
                            <a:schemeClr val="tx1"/>
                          </a:solidFill>
                          <a:effectLst/>
                          <a:latin typeface="+mn-lt"/>
                          <a:cs typeface="Calibri" panose="020F0502020204030204" pitchFamily="34" charset="0"/>
                        </a:rPr>
                        <a:t>PetSure</a:t>
                      </a:r>
                      <a:endParaRPr lang="en-GB" sz="18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417314715"/>
                  </a:ext>
                </a:extLst>
              </a:tr>
              <a:tr h="0">
                <a:tc>
                  <a:txBody>
                    <a:bodyPr/>
                    <a:lstStyle/>
                    <a:p>
                      <a:pPr algn="l"/>
                      <a:r>
                        <a:rPr lang="en-GB" sz="1800" b="0" dirty="0">
                          <a:solidFill>
                            <a:schemeClr val="tx1"/>
                          </a:solidFill>
                          <a:effectLst/>
                          <a:latin typeface="+mn-lt"/>
                        </a:rPr>
                        <a:t>Snowy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777826486"/>
                  </a:ext>
                </a:extLst>
              </a:tr>
              <a:tr h="0">
                <a:tc>
                  <a:txBody>
                    <a:bodyPr/>
                    <a:lstStyle/>
                    <a:p>
                      <a:pPr algn="l"/>
                      <a:r>
                        <a:rPr lang="en-GB" sz="1800" b="0" dirty="0">
                          <a:solidFill>
                            <a:schemeClr val="tx1"/>
                          </a:solidFill>
                          <a:effectLst/>
                          <a:latin typeface="+mn-lt"/>
                        </a:rPr>
                        <a:t>Snowy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2705716962"/>
                  </a:ext>
                </a:extLst>
              </a:tr>
              <a:tr h="0">
                <a:tc>
                  <a:txBody>
                    <a:bodyPr/>
                    <a:lstStyle/>
                    <a:p>
                      <a:pPr algn="l"/>
                      <a:r>
                        <a:rPr lang="en-GB" sz="1800" b="0" dirty="0">
                          <a:solidFill>
                            <a:schemeClr val="tx1"/>
                          </a:solidFill>
                          <a:effectLst/>
                          <a:latin typeface="+mn-lt"/>
                        </a:rPr>
                        <a:t>Snowy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err="1">
                          <a:solidFill>
                            <a:schemeClr val="tx1"/>
                          </a:solidFill>
                          <a:effectLst/>
                          <a:latin typeface="+mn-lt"/>
                          <a:cs typeface="Calibri" panose="020F0502020204030204" pitchFamily="34" charset="0"/>
                        </a:rPr>
                        <a:t>PetSure</a:t>
                      </a:r>
                      <a:endParaRPr lang="en-GB" sz="18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3471423699"/>
                  </a:ext>
                </a:extLst>
              </a:tr>
              <a:tr h="0">
                <a:tc>
                  <a:txBody>
                    <a:bodyPr/>
                    <a:lstStyle/>
                    <a:p>
                      <a:pPr algn="l"/>
                      <a:r>
                        <a:rPr lang="en-GB" sz="1800" b="0" dirty="0">
                          <a:solidFill>
                            <a:schemeClr val="tx1"/>
                          </a:solidFill>
                          <a:effectLst/>
                          <a:latin typeface="+mn-lt"/>
                        </a:rPr>
                        <a:t>Kitty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1904147145"/>
                  </a:ext>
                </a:extLst>
              </a:tr>
              <a:tr h="0">
                <a:tc>
                  <a:txBody>
                    <a:bodyPr/>
                    <a:lstStyle/>
                    <a:p>
                      <a:pPr algn="l"/>
                      <a:r>
                        <a:rPr lang="en-GB" sz="1800" b="0" dirty="0">
                          <a:solidFill>
                            <a:schemeClr val="tx1"/>
                          </a:solidFill>
                          <a:effectLst/>
                          <a:latin typeface="+mn-lt"/>
                        </a:rPr>
                        <a:t>Kitty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976741720"/>
                  </a:ext>
                </a:extLst>
              </a:tr>
              <a:tr h="0">
                <a:tc>
                  <a:txBody>
                    <a:bodyPr/>
                    <a:lstStyle/>
                    <a:p>
                      <a:pPr algn="l"/>
                      <a:r>
                        <a:rPr lang="en-GB" sz="1800" b="0" dirty="0">
                          <a:solidFill>
                            <a:schemeClr val="tx1"/>
                          </a:solidFill>
                          <a:effectLst/>
                          <a:latin typeface="+mn-lt"/>
                        </a:rPr>
                        <a:t>Kitty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err="1">
                          <a:solidFill>
                            <a:schemeClr val="tx1"/>
                          </a:solidFill>
                          <a:effectLst/>
                          <a:latin typeface="+mn-lt"/>
                          <a:cs typeface="Calibri" panose="020F0502020204030204" pitchFamily="34" charset="0"/>
                        </a:rPr>
                        <a:t>PetSure</a:t>
                      </a:r>
                      <a:endParaRPr lang="en-GB" sz="18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2806725075"/>
                  </a:ext>
                </a:extLst>
              </a:tr>
            </a:tbl>
          </a:graphicData>
        </a:graphic>
      </p:graphicFrame>
      <p:sp>
        <p:nvSpPr>
          <p:cNvPr id="44" name="From - Brace">
            <a:extLst>
              <a:ext uri="{FF2B5EF4-FFF2-40B4-BE49-F238E27FC236}">
                <a16:creationId xmlns:a16="http://schemas.microsoft.com/office/drawing/2014/main" id="{4AB582EA-E161-553B-E130-D03025BDF6D6}"/>
              </a:ext>
            </a:extLst>
          </p:cNvPr>
          <p:cNvSpPr/>
          <p:nvPr/>
        </p:nvSpPr>
        <p:spPr>
          <a:xfrm>
            <a:off x="3443509" y="3460080"/>
            <a:ext cx="594061" cy="2495550"/>
          </a:xfrm>
          <a:prstGeom prst="rightBrace">
            <a:avLst>
              <a:gd name="adj1" fmla="val 56609"/>
              <a:gd name="adj2" fmla="val 50000"/>
            </a:avLst>
          </a:prstGeom>
          <a:noFill/>
          <a:ln w="38100">
            <a:solidFill>
              <a:srgbClr val="FF000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GB"/>
          </a:p>
        </p:txBody>
      </p:sp>
    </p:spTree>
    <p:extLst>
      <p:ext uri="{BB962C8B-B14F-4D97-AF65-F5344CB8AC3E}">
        <p14:creationId xmlns:p14="http://schemas.microsoft.com/office/powerpoint/2010/main" val="3634735652"/>
      </p:ext>
    </p:extLst>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08C76DEA-F650-51AB-7EE7-9B3064808EC0}"/>
              </a:ext>
            </a:extLst>
          </p:cNvPr>
          <p:cNvSpPr>
            <a:spLocks noGrp="1"/>
          </p:cNvSpPr>
          <p:nvPr>
            <p:ph type="title"/>
          </p:nvPr>
        </p:nvSpPr>
        <p:spPr/>
        <p:txBody>
          <a:bodyPr/>
          <a:lstStyle/>
          <a:p>
            <a:r>
              <a:rPr lang="en-GB" dirty="0"/>
              <a:t>Order of Operations (6)</a:t>
            </a:r>
          </a:p>
        </p:txBody>
      </p:sp>
      <p:sp>
        <p:nvSpPr>
          <p:cNvPr id="6" name="SQL">
            <a:extLst>
              <a:ext uri="{FF2B5EF4-FFF2-40B4-BE49-F238E27FC236}">
                <a16:creationId xmlns:a16="http://schemas.microsoft.com/office/drawing/2014/main" id="{C460184D-D803-F499-E82E-972FB39F9288}"/>
              </a:ext>
            </a:extLst>
          </p:cNvPr>
          <p:cNvSpPr>
            <a:spLocks noChangeArrowheads="1"/>
          </p:cNvSpPr>
          <p:nvPr/>
        </p:nvSpPr>
        <p:spPr bwMode="auto">
          <a:xfrm>
            <a:off x="619125" y="1524726"/>
            <a:ext cx="5121915" cy="101566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name, company</a:t>
            </a:r>
          </a:p>
          <a:p>
            <a:pPr lvl="0" eaLnBrk="0" fontAlgn="base" hangingPunct="0">
              <a:spcBef>
                <a:spcPct val="0"/>
              </a:spcBef>
              <a:spcAft>
                <a:spcPct val="0"/>
              </a:spcAft>
            </a:pPr>
            <a:r>
              <a:rPr lang="en-US" altLang="en-US" sz="2000" dirty="0">
                <a:solidFill>
                  <a:srgbClr val="B2B2B2"/>
                </a:solidFill>
                <a:latin typeface="Consolas" panose="020B0609020204030204" pitchFamily="49" charset="0"/>
              </a:rPr>
              <a:t>2 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FROM</a:t>
            </a:r>
            <a:r>
              <a:rPr lang="en-US" altLang="en-US" sz="2000" dirty="0">
                <a:solidFill>
                  <a:srgbClr val="000000"/>
                </a:solidFill>
                <a:latin typeface="Consolas" panose="020B0609020204030204" pitchFamily="49" charset="0"/>
              </a:rPr>
              <a:t> Pet, Insurer</a:t>
            </a:r>
          </a:p>
          <a:p>
            <a:pPr eaLnBrk="0" fontAlgn="base" hangingPunct="0">
              <a:spcBef>
                <a:spcPct val="0"/>
              </a:spcBef>
              <a:spcAft>
                <a:spcPct val="0"/>
              </a:spcAft>
            </a:pPr>
            <a:r>
              <a:rPr lang="en-US" altLang="en-US" sz="2000" dirty="0">
                <a:solidFill>
                  <a:srgbClr val="B2B2B2"/>
                </a:solidFill>
                <a:latin typeface="Consolas" panose="020B0609020204030204" pitchFamily="49" charset="0"/>
              </a:rPr>
              <a:t>3 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WHERE</a:t>
            </a:r>
            <a:r>
              <a:rPr lang="en-US" altLang="en-US" sz="2000" dirty="0">
                <a:solidFill>
                  <a:srgbClr val="000000"/>
                </a:solidFill>
                <a:latin typeface="Consolas" panose="020B0609020204030204" pitchFamily="49" charset="0"/>
              </a:rPr>
              <a:t> </a:t>
            </a:r>
            <a:r>
              <a:rPr lang="en-US" altLang="en-US" sz="2000" dirty="0" err="1">
                <a:solidFill>
                  <a:srgbClr val="000000"/>
                </a:solidFill>
                <a:latin typeface="Consolas" panose="020B0609020204030204" pitchFamily="49" charset="0"/>
              </a:rPr>
              <a:t>Pet.insurer</a:t>
            </a:r>
            <a:r>
              <a:rPr lang="en-US" altLang="en-US" sz="2000" dirty="0">
                <a:solidFill>
                  <a:srgbClr val="000000"/>
                </a:solidFill>
                <a:latin typeface="Consolas" panose="020B0609020204030204" pitchFamily="49" charset="0"/>
              </a:rPr>
              <a:t> = Insurer.id;</a:t>
            </a:r>
            <a:endParaRPr lang="en-US" altLang="en-US" sz="2000" dirty="0">
              <a:latin typeface="Consolas" panose="020B0609020204030204" pitchFamily="49" charset="0"/>
            </a:endParaRPr>
          </a:p>
        </p:txBody>
      </p:sp>
      <p:sp>
        <p:nvSpPr>
          <p:cNvPr id="17" name="Pet">
            <a:extLst>
              <a:ext uri="{FF2B5EF4-FFF2-40B4-BE49-F238E27FC236}">
                <a16:creationId xmlns:a16="http://schemas.microsoft.com/office/drawing/2014/main" id="{37697A85-FE4A-5F49-87D3-DF60452AD532}"/>
              </a:ext>
            </a:extLst>
          </p:cNvPr>
          <p:cNvSpPr txBox="1"/>
          <p:nvPr/>
        </p:nvSpPr>
        <p:spPr>
          <a:xfrm>
            <a:off x="501700" y="2767538"/>
            <a:ext cx="1771650" cy="369332"/>
          </a:xfrm>
          <a:prstGeom prst="rect">
            <a:avLst/>
          </a:prstGeom>
          <a:noFill/>
        </p:spPr>
        <p:txBody>
          <a:bodyPr wrap="square" rtlCol="0">
            <a:spAutoFit/>
          </a:bodyPr>
          <a:lstStyle/>
          <a:p>
            <a:r>
              <a:rPr lang="en-GB" b="1" dirty="0"/>
              <a:t>Table: Pet</a:t>
            </a:r>
          </a:p>
        </p:txBody>
      </p:sp>
      <p:sp>
        <p:nvSpPr>
          <p:cNvPr id="19" name="Order">
            <a:extLst>
              <a:ext uri="{FF2B5EF4-FFF2-40B4-BE49-F238E27FC236}">
                <a16:creationId xmlns:a16="http://schemas.microsoft.com/office/drawing/2014/main" id="{39027E70-266E-C921-B96A-180149336170}"/>
              </a:ext>
            </a:extLst>
          </p:cNvPr>
          <p:cNvSpPr txBox="1"/>
          <p:nvPr/>
        </p:nvSpPr>
        <p:spPr>
          <a:xfrm>
            <a:off x="7417818" y="494976"/>
            <a:ext cx="2590417" cy="1815882"/>
          </a:xfrm>
          <a:prstGeom prst="rect">
            <a:avLst/>
          </a:prstGeom>
          <a:noFill/>
        </p:spPr>
        <p:txBody>
          <a:bodyPr wrap="square" rtlCol="0">
            <a:spAutoFit/>
          </a:bodyPr>
          <a:lstStyle/>
          <a:p>
            <a:r>
              <a:rPr lang="en-GB" sz="2800" b="1" dirty="0">
                <a:solidFill>
                  <a:srgbClr val="7030A0"/>
                </a:solidFill>
              </a:rPr>
              <a:t>Order</a:t>
            </a:r>
            <a:r>
              <a:rPr lang="en-GB" sz="2800" dirty="0">
                <a:solidFill>
                  <a:srgbClr val="7030A0"/>
                </a:solidFill>
              </a:rPr>
              <a:t>:</a:t>
            </a:r>
          </a:p>
          <a:p>
            <a:pPr lvl="1"/>
            <a:r>
              <a:rPr lang="en-GB" sz="2800" dirty="0">
                <a:solidFill>
                  <a:srgbClr val="7030A0"/>
                </a:solidFill>
              </a:rPr>
              <a:t>1.  FROM</a:t>
            </a:r>
          </a:p>
          <a:p>
            <a:pPr lvl="1"/>
            <a:r>
              <a:rPr lang="en-GB" sz="2800" dirty="0">
                <a:solidFill>
                  <a:srgbClr val="7030A0"/>
                </a:solidFill>
              </a:rPr>
              <a:t>2.  WHERE</a:t>
            </a:r>
          </a:p>
          <a:p>
            <a:pPr lvl="1"/>
            <a:r>
              <a:rPr lang="en-GB" sz="2800" dirty="0">
                <a:solidFill>
                  <a:srgbClr val="7030A0"/>
                </a:solidFill>
              </a:rPr>
              <a:t>3.  SELECT</a:t>
            </a:r>
          </a:p>
        </p:txBody>
      </p:sp>
      <p:sp>
        <p:nvSpPr>
          <p:cNvPr id="10" name="From">
            <a:extLst>
              <a:ext uri="{FF2B5EF4-FFF2-40B4-BE49-F238E27FC236}">
                <a16:creationId xmlns:a16="http://schemas.microsoft.com/office/drawing/2014/main" id="{BC0A24A5-7704-6A36-CD80-4ED2C2F64BD2}"/>
              </a:ext>
            </a:extLst>
          </p:cNvPr>
          <p:cNvSpPr txBox="1"/>
          <p:nvPr/>
        </p:nvSpPr>
        <p:spPr>
          <a:xfrm>
            <a:off x="3251923" y="2513129"/>
            <a:ext cx="850960" cy="369332"/>
          </a:xfrm>
          <a:prstGeom prst="rect">
            <a:avLst/>
          </a:prstGeom>
          <a:noFill/>
        </p:spPr>
        <p:txBody>
          <a:bodyPr wrap="square" rtlCol="0">
            <a:spAutoFit/>
          </a:bodyPr>
          <a:lstStyle/>
          <a:p>
            <a:r>
              <a:rPr lang="en-GB" b="1" dirty="0"/>
              <a:t>FROM</a:t>
            </a:r>
          </a:p>
        </p:txBody>
      </p:sp>
      <p:graphicFrame>
        <p:nvGraphicFramePr>
          <p:cNvPr id="22" name="Pet - Table">
            <a:extLst>
              <a:ext uri="{FF2B5EF4-FFF2-40B4-BE49-F238E27FC236}">
                <a16:creationId xmlns:a16="http://schemas.microsoft.com/office/drawing/2014/main" id="{E1C47C29-B1FD-7991-E626-2F12DC1AFFDE}"/>
              </a:ext>
            </a:extLst>
          </p:cNvPr>
          <p:cNvGraphicFramePr>
            <a:graphicFrameLocks noGrp="1"/>
          </p:cNvGraphicFramePr>
          <p:nvPr/>
        </p:nvGraphicFramePr>
        <p:xfrm>
          <a:off x="587423" y="3088606"/>
          <a:ext cx="2152143" cy="16192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536575">
                  <a:extLst>
                    <a:ext uri="{9D8B030D-6E8A-4147-A177-3AD203B41FA5}">
                      <a16:colId xmlns:a16="http://schemas.microsoft.com/office/drawing/2014/main" val="3258369125"/>
                    </a:ext>
                  </a:extLst>
                </a:gridCol>
                <a:gridCol w="803085">
                  <a:extLst>
                    <a:ext uri="{9D8B030D-6E8A-4147-A177-3AD203B41FA5}">
                      <a16:colId xmlns:a16="http://schemas.microsoft.com/office/drawing/2014/main" val="3431466674"/>
                    </a:ext>
                  </a:extLst>
                </a:gridCol>
              </a:tblGrid>
              <a:tr h="0">
                <a:tc>
                  <a:txBody>
                    <a:bodyPr/>
                    <a:lstStyle/>
                    <a:p>
                      <a:pPr algn="l"/>
                      <a:r>
                        <a:rPr lang="en-GB" sz="2000" b="0" i="0" dirty="0">
                          <a:solidFill>
                            <a:schemeClr val="bg1"/>
                          </a:solidFill>
                          <a:effectLst/>
                          <a:latin typeface="+mn-lt"/>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mn-lt"/>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mn-lt"/>
                          <a:cs typeface="Calibri" panose="020F0502020204030204" pitchFamily="34" charset="0"/>
                        </a:rPr>
                        <a:t>insurer</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dirty="0">
                          <a:solidFill>
                            <a:schemeClr val="tx1"/>
                          </a:solidFill>
                          <a:effectLst/>
                          <a:latin typeface="+mn-lt"/>
                        </a:rPr>
                        <a:t>Pepper</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latin typeface="+mn-lt"/>
                        </a:rPr>
                        <a:t>Cat</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latin typeface="+mn-lt"/>
                        </a:rPr>
                        <a:t>0</a:t>
                      </a:r>
                      <a:endParaRPr lang="en-GB" sz="20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latin typeface="+mn-lt"/>
                        </a:rPr>
                        <a:t>Cindy</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latin typeface="+mn-lt"/>
                        </a:rPr>
                        <a:t>Dog</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mn-lt"/>
                          <a:cs typeface="Calibri" panose="020F0502020204030204" pitchFamily="34" charset="0"/>
                        </a:rPr>
                        <a:t>2</a:t>
                      </a: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dirty="0">
                          <a:solidFill>
                            <a:schemeClr val="tx1"/>
                          </a:solidFill>
                          <a:effectLst/>
                          <a:latin typeface="+mn-lt"/>
                        </a:rPr>
                        <a:t>Snowy</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latin typeface="+mn-lt"/>
                        </a:rPr>
                        <a:t>Cat</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mn-lt"/>
                          <a:cs typeface="Calibri" panose="020F0502020204030204" pitchFamily="34" charset="0"/>
                        </a:rPr>
                        <a:t>1</a:t>
                      </a: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a:solidFill>
                            <a:schemeClr val="tx1"/>
                          </a:solidFill>
                          <a:effectLst/>
                          <a:latin typeface="+mn-lt"/>
                        </a:rPr>
                        <a:t>Kitty</a:t>
                      </a:r>
                      <a:endParaRPr lang="en-GB" sz="2000" b="0" i="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a:solidFill>
                            <a:schemeClr val="tx1"/>
                          </a:solidFill>
                          <a:effectLst/>
                          <a:latin typeface="+mn-lt"/>
                        </a:rPr>
                        <a:t>Cat</a:t>
                      </a:r>
                      <a:endParaRPr lang="en-GB" sz="2000" b="0" i="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mn-lt"/>
                          <a:cs typeface="Calibri" panose="020F0502020204030204" pitchFamily="34" charset="0"/>
                        </a:rPr>
                        <a:t>1</a:t>
                      </a:r>
                    </a:p>
                  </a:txBody>
                  <a:tcPr marL="9525" marR="9525" marT="9525" marB="9525" anchor="ctr"/>
                </a:tc>
                <a:extLst>
                  <a:ext uri="{0D108BD9-81ED-4DB2-BD59-A6C34878D82A}">
                    <a16:rowId xmlns:a16="http://schemas.microsoft.com/office/drawing/2014/main" val="812093042"/>
                  </a:ext>
                </a:extLst>
              </a:tr>
            </a:tbl>
          </a:graphicData>
        </a:graphic>
      </p:graphicFrame>
      <p:graphicFrame>
        <p:nvGraphicFramePr>
          <p:cNvPr id="23" name="Temp - Table">
            <a:extLst>
              <a:ext uri="{FF2B5EF4-FFF2-40B4-BE49-F238E27FC236}">
                <a16:creationId xmlns:a16="http://schemas.microsoft.com/office/drawing/2014/main" id="{57FE39BF-DC05-E516-87E6-26364C7BBE24}"/>
              </a:ext>
            </a:extLst>
          </p:cNvPr>
          <p:cNvGraphicFramePr>
            <a:graphicFrameLocks noGrp="1"/>
          </p:cNvGraphicFramePr>
          <p:nvPr/>
        </p:nvGraphicFramePr>
        <p:xfrm>
          <a:off x="4820545" y="2833037"/>
          <a:ext cx="3107310" cy="3813810"/>
        </p:xfrm>
        <a:graphic>
          <a:graphicData uri="http://schemas.openxmlformats.org/drawingml/2006/table">
            <a:tbl>
              <a:tblPr firstRow="1" bandRow="1">
                <a:tableStyleId>{5C22544A-7EE6-4342-B048-85BDC9FD1C3A}</a:tableStyleId>
              </a:tblPr>
              <a:tblGrid>
                <a:gridCol w="733616">
                  <a:extLst>
                    <a:ext uri="{9D8B030D-6E8A-4147-A177-3AD203B41FA5}">
                      <a16:colId xmlns:a16="http://schemas.microsoft.com/office/drawing/2014/main" val="2854243258"/>
                    </a:ext>
                  </a:extLst>
                </a:gridCol>
                <a:gridCol w="485775">
                  <a:extLst>
                    <a:ext uri="{9D8B030D-6E8A-4147-A177-3AD203B41FA5}">
                      <a16:colId xmlns:a16="http://schemas.microsoft.com/office/drawing/2014/main" val="3258369125"/>
                    </a:ext>
                  </a:extLst>
                </a:gridCol>
                <a:gridCol w="724091">
                  <a:extLst>
                    <a:ext uri="{9D8B030D-6E8A-4147-A177-3AD203B41FA5}">
                      <a16:colId xmlns:a16="http://schemas.microsoft.com/office/drawing/2014/main" val="3431466674"/>
                    </a:ext>
                  </a:extLst>
                </a:gridCol>
                <a:gridCol w="244475">
                  <a:extLst>
                    <a:ext uri="{9D8B030D-6E8A-4147-A177-3AD203B41FA5}">
                      <a16:colId xmlns:a16="http://schemas.microsoft.com/office/drawing/2014/main" val="994748769"/>
                    </a:ext>
                  </a:extLst>
                </a:gridCol>
                <a:gridCol w="919353">
                  <a:extLst>
                    <a:ext uri="{9D8B030D-6E8A-4147-A177-3AD203B41FA5}">
                      <a16:colId xmlns:a16="http://schemas.microsoft.com/office/drawing/2014/main" val="2564927205"/>
                    </a:ext>
                  </a:extLst>
                </a:gridCol>
              </a:tblGrid>
              <a:tr h="0">
                <a:tc>
                  <a:txBody>
                    <a:bodyPr/>
                    <a:lstStyle/>
                    <a:p>
                      <a:pPr algn="l"/>
                      <a:r>
                        <a:rPr lang="en-GB" sz="1800" b="0" i="0" dirty="0">
                          <a:solidFill>
                            <a:schemeClr val="bg1"/>
                          </a:solidFill>
                          <a:effectLst/>
                          <a:latin typeface="+mn-lt"/>
                          <a:cs typeface="Calibri" panose="020F0502020204030204" pitchFamily="34" charset="0"/>
                        </a:rPr>
                        <a:t>name</a:t>
                      </a:r>
                    </a:p>
                  </a:txBody>
                  <a:tcPr marL="9525" marR="9525" marT="9525" marB="9525" anchor="ctr"/>
                </a:tc>
                <a:tc>
                  <a:txBody>
                    <a:bodyPr/>
                    <a:lstStyle/>
                    <a:p>
                      <a:pPr algn="l"/>
                      <a:r>
                        <a:rPr lang="en-GB" sz="1800" b="0" i="0" dirty="0">
                          <a:solidFill>
                            <a:schemeClr val="bg1"/>
                          </a:solidFill>
                          <a:effectLst/>
                          <a:latin typeface="+mn-lt"/>
                          <a:cs typeface="Calibri" panose="020F0502020204030204" pitchFamily="34" charset="0"/>
                        </a:rPr>
                        <a:t>type</a:t>
                      </a:r>
                    </a:p>
                  </a:txBody>
                  <a:tcPr marL="9525" marR="9525" marT="9525" marB="9525" anchor="ctr"/>
                </a:tc>
                <a:tc>
                  <a:txBody>
                    <a:bodyPr/>
                    <a:lstStyle/>
                    <a:p>
                      <a:pPr algn="l"/>
                      <a:r>
                        <a:rPr lang="en-GB" sz="1800" b="0" i="0" dirty="0">
                          <a:solidFill>
                            <a:schemeClr val="bg1"/>
                          </a:solidFill>
                          <a:effectLst/>
                          <a:latin typeface="+mn-lt"/>
                          <a:cs typeface="Calibri" panose="020F0502020204030204" pitchFamily="34" charset="0"/>
                        </a:rPr>
                        <a:t>insurer</a:t>
                      </a:r>
                    </a:p>
                  </a:txBody>
                  <a:tcPr marL="9525" marR="9525" marT="9525" marB="9525" anchor="ctr"/>
                </a:tc>
                <a:tc>
                  <a:txBody>
                    <a:bodyPr/>
                    <a:lstStyle/>
                    <a:p>
                      <a:pPr algn="l"/>
                      <a:r>
                        <a:rPr lang="en-GB" sz="1800" b="0" i="0" dirty="0">
                          <a:solidFill>
                            <a:schemeClr val="bg1"/>
                          </a:solidFill>
                          <a:effectLst/>
                          <a:latin typeface="+mn-lt"/>
                          <a:cs typeface="Calibri" panose="020F0502020204030204" pitchFamily="34" charset="0"/>
                        </a:rPr>
                        <a:t>id</a:t>
                      </a:r>
                    </a:p>
                  </a:txBody>
                  <a:tcPr marL="9525" marR="9525" marT="9525" marB="9525" anchor="ctr"/>
                </a:tc>
                <a:tc>
                  <a:txBody>
                    <a:bodyPr/>
                    <a:lstStyle/>
                    <a:p>
                      <a:pPr algn="l"/>
                      <a:r>
                        <a:rPr lang="en-GB" sz="1800" b="0" i="0" dirty="0">
                          <a:solidFill>
                            <a:schemeClr val="bg1"/>
                          </a:solidFill>
                          <a:effectLst/>
                          <a:latin typeface="+mn-lt"/>
                          <a:cs typeface="Calibri" panose="020F0502020204030204" pitchFamily="34" charset="0"/>
                        </a:rPr>
                        <a:t>company</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1800" b="0" dirty="0">
                          <a:solidFill>
                            <a:schemeClr val="tx1"/>
                          </a:solidFill>
                          <a:effectLst/>
                          <a:latin typeface="+mn-lt"/>
                        </a:rPr>
                        <a:t>Pepper</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0</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0</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1800" b="0" dirty="0">
                          <a:solidFill>
                            <a:schemeClr val="tx1"/>
                          </a:solidFill>
                          <a:effectLst/>
                          <a:latin typeface="+mn-lt"/>
                        </a:rPr>
                        <a:t>Pepper</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0</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1800" b="0" dirty="0">
                          <a:solidFill>
                            <a:schemeClr val="tx1"/>
                          </a:solidFill>
                          <a:effectLst/>
                          <a:latin typeface="+mn-lt"/>
                        </a:rPr>
                        <a:t>Pepper</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0</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2</a:t>
                      </a:r>
                    </a:p>
                  </a:txBody>
                  <a:tcPr marL="9525" marR="9525" marT="9525" marB="9525" anchor="ctr"/>
                </a:tc>
                <a:tc>
                  <a:txBody>
                    <a:bodyPr/>
                    <a:lstStyle/>
                    <a:p>
                      <a:pPr algn="l"/>
                      <a:r>
                        <a:rPr lang="en-GB" sz="1800" b="0" i="0" dirty="0" err="1">
                          <a:solidFill>
                            <a:schemeClr val="tx1"/>
                          </a:solidFill>
                          <a:effectLst/>
                          <a:latin typeface="+mn-lt"/>
                          <a:cs typeface="Calibri" panose="020F0502020204030204" pitchFamily="34" charset="0"/>
                        </a:rPr>
                        <a:t>PetSure</a:t>
                      </a:r>
                      <a:endParaRPr lang="en-GB" sz="18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1800" b="0" dirty="0">
                          <a:solidFill>
                            <a:schemeClr val="tx1"/>
                          </a:solidFill>
                          <a:effectLst/>
                          <a:latin typeface="+mn-lt"/>
                        </a:rPr>
                        <a:t>Cindy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Dog</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2</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0</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1800" b="0" dirty="0">
                          <a:solidFill>
                            <a:schemeClr val="tx1"/>
                          </a:solidFill>
                          <a:effectLst/>
                          <a:latin typeface="+mn-lt"/>
                        </a:rPr>
                        <a:t>Cindy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Dog</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2</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1659393023"/>
                  </a:ext>
                </a:extLst>
              </a:tr>
              <a:tr h="0">
                <a:tc>
                  <a:txBody>
                    <a:bodyPr/>
                    <a:lstStyle/>
                    <a:p>
                      <a:pPr algn="l"/>
                      <a:r>
                        <a:rPr lang="en-GB" sz="1800" b="0" dirty="0">
                          <a:solidFill>
                            <a:schemeClr val="tx1"/>
                          </a:solidFill>
                          <a:effectLst/>
                          <a:latin typeface="+mn-lt"/>
                        </a:rPr>
                        <a:t>Cindy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Dog</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2</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2</a:t>
                      </a:r>
                    </a:p>
                  </a:txBody>
                  <a:tcPr marL="9525" marR="9525" marT="9525" marB="9525" anchor="ctr"/>
                </a:tc>
                <a:tc>
                  <a:txBody>
                    <a:bodyPr/>
                    <a:lstStyle/>
                    <a:p>
                      <a:pPr algn="l"/>
                      <a:r>
                        <a:rPr lang="en-GB" sz="1800" b="0" i="0" dirty="0" err="1">
                          <a:solidFill>
                            <a:schemeClr val="tx1"/>
                          </a:solidFill>
                          <a:effectLst/>
                          <a:latin typeface="+mn-lt"/>
                          <a:cs typeface="Calibri" panose="020F0502020204030204" pitchFamily="34" charset="0"/>
                        </a:rPr>
                        <a:t>PetSure</a:t>
                      </a:r>
                      <a:endParaRPr lang="en-GB" sz="18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417314715"/>
                  </a:ext>
                </a:extLst>
              </a:tr>
              <a:tr h="0">
                <a:tc>
                  <a:txBody>
                    <a:bodyPr/>
                    <a:lstStyle/>
                    <a:p>
                      <a:pPr algn="l"/>
                      <a:r>
                        <a:rPr lang="en-GB" sz="1800" b="0" dirty="0">
                          <a:solidFill>
                            <a:schemeClr val="tx1"/>
                          </a:solidFill>
                          <a:effectLst/>
                          <a:latin typeface="+mn-lt"/>
                        </a:rPr>
                        <a:t>Snowy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0</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777826486"/>
                  </a:ext>
                </a:extLst>
              </a:tr>
              <a:tr h="0">
                <a:tc>
                  <a:txBody>
                    <a:bodyPr/>
                    <a:lstStyle/>
                    <a:p>
                      <a:pPr algn="l"/>
                      <a:r>
                        <a:rPr lang="en-GB" sz="1800" b="0" dirty="0">
                          <a:solidFill>
                            <a:schemeClr val="tx1"/>
                          </a:solidFill>
                          <a:effectLst/>
                          <a:latin typeface="+mn-lt"/>
                        </a:rPr>
                        <a:t>Snowy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2705716962"/>
                  </a:ext>
                </a:extLst>
              </a:tr>
              <a:tr h="0">
                <a:tc>
                  <a:txBody>
                    <a:bodyPr/>
                    <a:lstStyle/>
                    <a:p>
                      <a:pPr algn="l"/>
                      <a:r>
                        <a:rPr lang="en-GB" sz="1800" b="0" dirty="0">
                          <a:solidFill>
                            <a:schemeClr val="tx1"/>
                          </a:solidFill>
                          <a:effectLst/>
                          <a:latin typeface="+mn-lt"/>
                        </a:rPr>
                        <a:t>Snowy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2</a:t>
                      </a:r>
                    </a:p>
                  </a:txBody>
                  <a:tcPr marL="9525" marR="9525" marT="9525" marB="9525" anchor="ctr"/>
                </a:tc>
                <a:tc>
                  <a:txBody>
                    <a:bodyPr/>
                    <a:lstStyle/>
                    <a:p>
                      <a:pPr algn="l"/>
                      <a:r>
                        <a:rPr lang="en-GB" sz="1800" b="0" i="0" dirty="0" err="1">
                          <a:solidFill>
                            <a:schemeClr val="tx1"/>
                          </a:solidFill>
                          <a:effectLst/>
                          <a:latin typeface="+mn-lt"/>
                          <a:cs typeface="Calibri" panose="020F0502020204030204" pitchFamily="34" charset="0"/>
                        </a:rPr>
                        <a:t>PetSure</a:t>
                      </a:r>
                      <a:endParaRPr lang="en-GB" sz="18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3471423699"/>
                  </a:ext>
                </a:extLst>
              </a:tr>
              <a:tr h="0">
                <a:tc>
                  <a:txBody>
                    <a:bodyPr/>
                    <a:lstStyle/>
                    <a:p>
                      <a:pPr algn="l"/>
                      <a:r>
                        <a:rPr lang="en-GB" sz="1800" b="0" dirty="0">
                          <a:solidFill>
                            <a:schemeClr val="tx1"/>
                          </a:solidFill>
                          <a:effectLst/>
                          <a:latin typeface="+mn-lt"/>
                        </a:rPr>
                        <a:t>Kitty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0</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1904147145"/>
                  </a:ext>
                </a:extLst>
              </a:tr>
              <a:tr h="0">
                <a:tc>
                  <a:txBody>
                    <a:bodyPr/>
                    <a:lstStyle/>
                    <a:p>
                      <a:pPr algn="l"/>
                      <a:r>
                        <a:rPr lang="en-GB" sz="1800" b="0" dirty="0">
                          <a:solidFill>
                            <a:schemeClr val="tx1"/>
                          </a:solidFill>
                          <a:effectLst/>
                          <a:latin typeface="+mn-lt"/>
                        </a:rPr>
                        <a:t>Kitty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976741720"/>
                  </a:ext>
                </a:extLst>
              </a:tr>
              <a:tr h="0">
                <a:tc>
                  <a:txBody>
                    <a:bodyPr/>
                    <a:lstStyle/>
                    <a:p>
                      <a:pPr algn="l"/>
                      <a:r>
                        <a:rPr lang="en-GB" sz="1800" b="0" dirty="0">
                          <a:solidFill>
                            <a:schemeClr val="tx1"/>
                          </a:solidFill>
                          <a:effectLst/>
                          <a:latin typeface="+mn-lt"/>
                        </a:rPr>
                        <a:t>Kitty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2</a:t>
                      </a:r>
                    </a:p>
                  </a:txBody>
                  <a:tcPr marL="9525" marR="9525" marT="9525" marB="9525" anchor="ctr"/>
                </a:tc>
                <a:tc>
                  <a:txBody>
                    <a:bodyPr/>
                    <a:lstStyle/>
                    <a:p>
                      <a:pPr algn="l"/>
                      <a:r>
                        <a:rPr lang="en-GB" sz="1800" b="0" i="0" dirty="0" err="1">
                          <a:solidFill>
                            <a:schemeClr val="tx1"/>
                          </a:solidFill>
                          <a:effectLst/>
                          <a:latin typeface="+mn-lt"/>
                          <a:cs typeface="Calibri" panose="020F0502020204030204" pitchFamily="34" charset="0"/>
                        </a:rPr>
                        <a:t>PetSure</a:t>
                      </a:r>
                      <a:endParaRPr lang="en-GB" sz="18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2806725075"/>
                  </a:ext>
                </a:extLst>
              </a:tr>
            </a:tbl>
          </a:graphicData>
        </a:graphic>
      </p:graphicFrame>
      <p:sp>
        <p:nvSpPr>
          <p:cNvPr id="25" name="Select">
            <a:extLst>
              <a:ext uri="{FF2B5EF4-FFF2-40B4-BE49-F238E27FC236}">
                <a16:creationId xmlns:a16="http://schemas.microsoft.com/office/drawing/2014/main" id="{35683CAD-1E2A-EA31-E6BB-C707B14B8F0A}"/>
              </a:ext>
            </a:extLst>
          </p:cNvPr>
          <p:cNvSpPr txBox="1"/>
          <p:nvPr/>
        </p:nvSpPr>
        <p:spPr>
          <a:xfrm>
            <a:off x="5894289" y="1379453"/>
            <a:ext cx="850960" cy="369332"/>
          </a:xfrm>
          <a:prstGeom prst="rect">
            <a:avLst/>
          </a:prstGeom>
          <a:noFill/>
        </p:spPr>
        <p:txBody>
          <a:bodyPr wrap="square" rtlCol="0">
            <a:spAutoFit/>
          </a:bodyPr>
          <a:lstStyle/>
          <a:p>
            <a:pPr algn="ctr"/>
            <a:r>
              <a:rPr lang="en-GB" b="1" dirty="0"/>
              <a:t>SELECT</a:t>
            </a:r>
          </a:p>
        </p:txBody>
      </p:sp>
      <p:sp>
        <p:nvSpPr>
          <p:cNvPr id="28" name="Output - Arrow">
            <a:extLst>
              <a:ext uri="{FF2B5EF4-FFF2-40B4-BE49-F238E27FC236}">
                <a16:creationId xmlns:a16="http://schemas.microsoft.com/office/drawing/2014/main" id="{27833E17-04CE-E6AD-804B-EB51B8F41239}"/>
              </a:ext>
            </a:extLst>
          </p:cNvPr>
          <p:cNvSpPr/>
          <p:nvPr/>
        </p:nvSpPr>
        <p:spPr>
          <a:xfrm>
            <a:off x="8529428" y="3458978"/>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9" name="Name - Column">
            <a:extLst>
              <a:ext uri="{FF2B5EF4-FFF2-40B4-BE49-F238E27FC236}">
                <a16:creationId xmlns:a16="http://schemas.microsoft.com/office/drawing/2014/main" id="{9CFD6623-90F9-8CA0-585A-959ADF79ADE1}"/>
              </a:ext>
            </a:extLst>
          </p:cNvPr>
          <p:cNvSpPr/>
          <p:nvPr/>
        </p:nvSpPr>
        <p:spPr>
          <a:xfrm>
            <a:off x="4795199" y="2770419"/>
            <a:ext cx="720000" cy="3944706"/>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0" name="Age - Column">
            <a:extLst>
              <a:ext uri="{FF2B5EF4-FFF2-40B4-BE49-F238E27FC236}">
                <a16:creationId xmlns:a16="http://schemas.microsoft.com/office/drawing/2014/main" id="{F8908677-B9D0-5945-93E8-1112E85882A9}"/>
              </a:ext>
            </a:extLst>
          </p:cNvPr>
          <p:cNvSpPr/>
          <p:nvPr/>
        </p:nvSpPr>
        <p:spPr>
          <a:xfrm>
            <a:off x="6999769" y="2768253"/>
            <a:ext cx="928086" cy="3941211"/>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1" name="Where - Arrow">
            <a:extLst>
              <a:ext uri="{FF2B5EF4-FFF2-40B4-BE49-F238E27FC236}">
                <a16:creationId xmlns:a16="http://schemas.microsoft.com/office/drawing/2014/main" id="{44EEC309-5164-E750-8A98-948F7250CF9F}"/>
              </a:ext>
            </a:extLst>
          </p:cNvPr>
          <p:cNvSpPr/>
          <p:nvPr/>
        </p:nvSpPr>
        <p:spPr>
          <a:xfrm>
            <a:off x="149292" y="2223308"/>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2" name="Output">
            <a:extLst>
              <a:ext uri="{FF2B5EF4-FFF2-40B4-BE49-F238E27FC236}">
                <a16:creationId xmlns:a16="http://schemas.microsoft.com/office/drawing/2014/main" id="{56038AF1-3FFC-CE48-15B4-04B9F7CE57D9}"/>
              </a:ext>
            </a:extLst>
          </p:cNvPr>
          <p:cNvSpPr txBox="1"/>
          <p:nvPr/>
        </p:nvSpPr>
        <p:spPr>
          <a:xfrm>
            <a:off x="8281623" y="2513129"/>
            <a:ext cx="960176" cy="369332"/>
          </a:xfrm>
          <a:prstGeom prst="rect">
            <a:avLst/>
          </a:prstGeom>
          <a:noFill/>
        </p:spPr>
        <p:txBody>
          <a:bodyPr wrap="square" rtlCol="0">
            <a:spAutoFit/>
          </a:bodyPr>
          <a:lstStyle/>
          <a:p>
            <a:pPr algn="ctr"/>
            <a:r>
              <a:rPr lang="en-GB" b="1" dirty="0"/>
              <a:t>Output</a:t>
            </a:r>
          </a:p>
        </p:txBody>
      </p:sp>
      <p:sp>
        <p:nvSpPr>
          <p:cNvPr id="35" name="From - Arrow">
            <a:extLst>
              <a:ext uri="{FF2B5EF4-FFF2-40B4-BE49-F238E27FC236}">
                <a16:creationId xmlns:a16="http://schemas.microsoft.com/office/drawing/2014/main" id="{570E26B8-2533-45CC-B630-78104B4BF6E3}"/>
              </a:ext>
            </a:extLst>
          </p:cNvPr>
          <p:cNvSpPr/>
          <p:nvPr/>
        </p:nvSpPr>
        <p:spPr>
          <a:xfrm>
            <a:off x="154554" y="1905059"/>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cxnSp>
        <p:nvCxnSpPr>
          <p:cNvPr id="5" name="Name - Arrow">
            <a:extLst>
              <a:ext uri="{FF2B5EF4-FFF2-40B4-BE49-F238E27FC236}">
                <a16:creationId xmlns:a16="http://schemas.microsoft.com/office/drawing/2014/main" id="{74743580-1BBD-44D1-9B4B-3FCD69A573CA}"/>
              </a:ext>
            </a:extLst>
          </p:cNvPr>
          <p:cNvCxnSpPr>
            <a:cxnSpLocks/>
            <a:stCxn id="25" idx="2"/>
          </p:cNvCxnSpPr>
          <p:nvPr/>
        </p:nvCxnSpPr>
        <p:spPr>
          <a:xfrm flipH="1">
            <a:off x="5353216" y="1748785"/>
            <a:ext cx="966553" cy="1014328"/>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9" name="Age - Arrow">
            <a:extLst>
              <a:ext uri="{FF2B5EF4-FFF2-40B4-BE49-F238E27FC236}">
                <a16:creationId xmlns:a16="http://schemas.microsoft.com/office/drawing/2014/main" id="{4A59694F-BFA9-47E0-AA51-53E4E5936D1D}"/>
              </a:ext>
            </a:extLst>
          </p:cNvPr>
          <p:cNvCxnSpPr>
            <a:cxnSpLocks/>
            <a:stCxn id="25" idx="2"/>
          </p:cNvCxnSpPr>
          <p:nvPr/>
        </p:nvCxnSpPr>
        <p:spPr>
          <a:xfrm>
            <a:off x="6319769" y="1748785"/>
            <a:ext cx="881143" cy="1006058"/>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2" name="Insurer">
            <a:extLst>
              <a:ext uri="{FF2B5EF4-FFF2-40B4-BE49-F238E27FC236}">
                <a16:creationId xmlns:a16="http://schemas.microsoft.com/office/drawing/2014/main" id="{94BF93ED-DCBC-929A-3978-645514F34654}"/>
              </a:ext>
            </a:extLst>
          </p:cNvPr>
          <p:cNvSpPr txBox="1"/>
          <p:nvPr/>
        </p:nvSpPr>
        <p:spPr>
          <a:xfrm>
            <a:off x="501700" y="4793841"/>
            <a:ext cx="1771650" cy="369332"/>
          </a:xfrm>
          <a:prstGeom prst="rect">
            <a:avLst/>
          </a:prstGeom>
          <a:noFill/>
        </p:spPr>
        <p:txBody>
          <a:bodyPr wrap="square" rtlCol="0">
            <a:spAutoFit/>
          </a:bodyPr>
          <a:lstStyle/>
          <a:p>
            <a:r>
              <a:rPr lang="en-GB" b="1" dirty="0"/>
              <a:t>Table: Insurer</a:t>
            </a:r>
          </a:p>
        </p:txBody>
      </p:sp>
      <p:graphicFrame>
        <p:nvGraphicFramePr>
          <p:cNvPr id="3" name="Pet - Insurer">
            <a:extLst>
              <a:ext uri="{FF2B5EF4-FFF2-40B4-BE49-F238E27FC236}">
                <a16:creationId xmlns:a16="http://schemas.microsoft.com/office/drawing/2014/main" id="{DED03D99-A09A-68ED-29D5-FF622C9224CD}"/>
              </a:ext>
            </a:extLst>
          </p:cNvPr>
          <p:cNvGraphicFramePr>
            <a:graphicFrameLocks noGrp="1"/>
          </p:cNvGraphicFramePr>
          <p:nvPr/>
        </p:nvGraphicFramePr>
        <p:xfrm>
          <a:off x="587423" y="5114909"/>
          <a:ext cx="1285431" cy="1295400"/>
        </p:xfrm>
        <a:graphic>
          <a:graphicData uri="http://schemas.openxmlformats.org/drawingml/2006/table">
            <a:tbl>
              <a:tblPr firstRow="1" bandRow="1">
                <a:tableStyleId>{5C22544A-7EE6-4342-B048-85BDC9FD1C3A}</a:tableStyleId>
              </a:tblPr>
              <a:tblGrid>
                <a:gridCol w="268288">
                  <a:extLst>
                    <a:ext uri="{9D8B030D-6E8A-4147-A177-3AD203B41FA5}">
                      <a16:colId xmlns:a16="http://schemas.microsoft.com/office/drawing/2014/main" val="2854243258"/>
                    </a:ext>
                  </a:extLst>
                </a:gridCol>
                <a:gridCol w="1017143">
                  <a:extLst>
                    <a:ext uri="{9D8B030D-6E8A-4147-A177-3AD203B41FA5}">
                      <a16:colId xmlns:a16="http://schemas.microsoft.com/office/drawing/2014/main" val="3258369125"/>
                    </a:ext>
                  </a:extLst>
                </a:gridCol>
              </a:tblGrid>
              <a:tr h="0">
                <a:tc>
                  <a:txBody>
                    <a:bodyPr/>
                    <a:lstStyle/>
                    <a:p>
                      <a:pPr algn="l"/>
                      <a:r>
                        <a:rPr lang="en-GB" sz="2000" b="0" i="0" dirty="0">
                          <a:solidFill>
                            <a:schemeClr val="bg1"/>
                          </a:solidFill>
                          <a:effectLst/>
                          <a:latin typeface="+mn-lt"/>
                          <a:cs typeface="Calibri" panose="020F0502020204030204" pitchFamily="34" charset="0"/>
                        </a:rPr>
                        <a:t>id</a:t>
                      </a:r>
                    </a:p>
                  </a:txBody>
                  <a:tcPr marL="9525" marR="9525" marT="9525" marB="9525" anchor="ctr"/>
                </a:tc>
                <a:tc>
                  <a:txBody>
                    <a:bodyPr/>
                    <a:lstStyle/>
                    <a:p>
                      <a:pPr algn="l"/>
                      <a:r>
                        <a:rPr lang="en-GB" sz="2000" b="0" i="0" dirty="0">
                          <a:solidFill>
                            <a:schemeClr val="bg1"/>
                          </a:solidFill>
                          <a:effectLst/>
                          <a:latin typeface="+mn-lt"/>
                          <a:cs typeface="Calibri" panose="020F0502020204030204" pitchFamily="34" charset="0"/>
                        </a:rPr>
                        <a:t>company</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dirty="0">
                          <a:solidFill>
                            <a:schemeClr val="tx1"/>
                          </a:solidFill>
                          <a:effectLst/>
                          <a:latin typeface="+mn-lt"/>
                        </a:rPr>
                        <a:t>0</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latin typeface="+mn-lt"/>
                        </a:rPr>
                        <a:t>1</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dirty="0">
                          <a:solidFill>
                            <a:schemeClr val="tx1"/>
                          </a:solidFill>
                          <a:effectLst/>
                          <a:latin typeface="+mn-lt"/>
                        </a:rPr>
                        <a:t>2</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i="0" dirty="0" err="1">
                          <a:solidFill>
                            <a:schemeClr val="tx1"/>
                          </a:solidFill>
                          <a:effectLst/>
                          <a:latin typeface="+mn-lt"/>
                          <a:cs typeface="Calibri" panose="020F0502020204030204" pitchFamily="34" charset="0"/>
                        </a:rPr>
                        <a:t>PetSure</a:t>
                      </a:r>
                      <a:endParaRPr lang="en-GB" sz="20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bl>
          </a:graphicData>
        </a:graphic>
      </p:graphicFrame>
      <p:graphicFrame>
        <p:nvGraphicFramePr>
          <p:cNvPr id="43" name="Output - Table">
            <a:extLst>
              <a:ext uri="{FF2B5EF4-FFF2-40B4-BE49-F238E27FC236}">
                <a16:creationId xmlns:a16="http://schemas.microsoft.com/office/drawing/2014/main" id="{568C7E54-FFF5-6232-653C-F1481651CB4C}"/>
              </a:ext>
            </a:extLst>
          </p:cNvPr>
          <p:cNvGraphicFramePr>
            <a:graphicFrameLocks noGrp="1"/>
          </p:cNvGraphicFramePr>
          <p:nvPr>
            <p:extLst>
              <p:ext uri="{D42A27DB-BD31-4B8C-83A1-F6EECF244321}">
                <p14:modId xmlns:p14="http://schemas.microsoft.com/office/powerpoint/2010/main" val="1700732818"/>
              </p:ext>
            </p:extLst>
          </p:nvPr>
        </p:nvGraphicFramePr>
        <p:xfrm>
          <a:off x="9595568" y="2831953"/>
          <a:ext cx="1652969" cy="1466850"/>
        </p:xfrm>
        <a:graphic>
          <a:graphicData uri="http://schemas.openxmlformats.org/drawingml/2006/table">
            <a:tbl>
              <a:tblPr firstRow="1" bandRow="1">
                <a:tableStyleId>{5C22544A-7EE6-4342-B048-85BDC9FD1C3A}</a:tableStyleId>
              </a:tblPr>
              <a:tblGrid>
                <a:gridCol w="733616">
                  <a:extLst>
                    <a:ext uri="{9D8B030D-6E8A-4147-A177-3AD203B41FA5}">
                      <a16:colId xmlns:a16="http://schemas.microsoft.com/office/drawing/2014/main" val="2854243258"/>
                    </a:ext>
                  </a:extLst>
                </a:gridCol>
                <a:gridCol w="919353">
                  <a:extLst>
                    <a:ext uri="{9D8B030D-6E8A-4147-A177-3AD203B41FA5}">
                      <a16:colId xmlns:a16="http://schemas.microsoft.com/office/drawing/2014/main" val="2564927205"/>
                    </a:ext>
                  </a:extLst>
                </a:gridCol>
              </a:tblGrid>
              <a:tr h="0">
                <a:tc>
                  <a:txBody>
                    <a:bodyPr/>
                    <a:lstStyle/>
                    <a:p>
                      <a:pPr algn="l"/>
                      <a:r>
                        <a:rPr lang="en-GB" sz="1800" b="0" i="0" dirty="0">
                          <a:solidFill>
                            <a:schemeClr val="bg1"/>
                          </a:solidFill>
                          <a:effectLst/>
                          <a:latin typeface="+mn-lt"/>
                          <a:cs typeface="Calibri" panose="020F0502020204030204" pitchFamily="34" charset="0"/>
                        </a:rPr>
                        <a:t>name</a:t>
                      </a:r>
                    </a:p>
                  </a:txBody>
                  <a:tcPr marL="9525" marR="9525" marT="9525" marB="9525" anchor="ctr"/>
                </a:tc>
                <a:tc>
                  <a:txBody>
                    <a:bodyPr/>
                    <a:lstStyle/>
                    <a:p>
                      <a:pPr algn="l"/>
                      <a:r>
                        <a:rPr lang="en-GB" sz="1800" b="0" i="0" dirty="0">
                          <a:solidFill>
                            <a:schemeClr val="bg1"/>
                          </a:solidFill>
                          <a:effectLst/>
                          <a:latin typeface="+mn-lt"/>
                          <a:cs typeface="Calibri" panose="020F0502020204030204" pitchFamily="34" charset="0"/>
                        </a:rPr>
                        <a:t>company</a:t>
                      </a:r>
                    </a:p>
                  </a:txBody>
                  <a:tcPr marL="9525" marR="9525" marT="9525" marB="9525" anchor="ctr"/>
                </a:tc>
                <a:extLst>
                  <a:ext uri="{0D108BD9-81ED-4DB2-BD59-A6C34878D82A}">
                    <a16:rowId xmlns:a16="http://schemas.microsoft.com/office/drawing/2014/main" val="4025555614"/>
                  </a:ext>
                </a:extLst>
              </a:tr>
              <a:tr h="123404">
                <a:tc>
                  <a:txBody>
                    <a:bodyPr/>
                    <a:lstStyle/>
                    <a:p>
                      <a:pPr algn="l"/>
                      <a:r>
                        <a:rPr lang="en-GB" sz="1800" b="0" dirty="0">
                          <a:solidFill>
                            <a:schemeClr val="tx1"/>
                          </a:solidFill>
                          <a:effectLst/>
                          <a:latin typeface="+mn-lt"/>
                        </a:rPr>
                        <a:t>Pepper</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1800" b="0" dirty="0">
                          <a:solidFill>
                            <a:schemeClr val="tx1"/>
                          </a:solidFill>
                          <a:effectLst/>
                          <a:latin typeface="+mn-lt"/>
                        </a:rPr>
                        <a:t>Cindy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err="1">
                          <a:solidFill>
                            <a:schemeClr val="tx1"/>
                          </a:solidFill>
                          <a:effectLst/>
                          <a:latin typeface="+mn-lt"/>
                          <a:cs typeface="Calibri" panose="020F0502020204030204" pitchFamily="34" charset="0"/>
                        </a:rPr>
                        <a:t>PetSure</a:t>
                      </a:r>
                      <a:endParaRPr lang="en-GB" sz="18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417314715"/>
                  </a:ext>
                </a:extLst>
              </a:tr>
              <a:tr h="0">
                <a:tc>
                  <a:txBody>
                    <a:bodyPr/>
                    <a:lstStyle/>
                    <a:p>
                      <a:pPr algn="l"/>
                      <a:r>
                        <a:rPr lang="en-GB" sz="1800" b="0" dirty="0">
                          <a:solidFill>
                            <a:schemeClr val="tx1"/>
                          </a:solidFill>
                          <a:effectLst/>
                          <a:latin typeface="+mn-lt"/>
                        </a:rPr>
                        <a:t>Snowy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2705716962"/>
                  </a:ext>
                </a:extLst>
              </a:tr>
              <a:tr h="0">
                <a:tc>
                  <a:txBody>
                    <a:bodyPr/>
                    <a:lstStyle/>
                    <a:p>
                      <a:pPr algn="l"/>
                      <a:r>
                        <a:rPr lang="en-GB" sz="1800" b="0" dirty="0">
                          <a:solidFill>
                            <a:schemeClr val="tx1"/>
                          </a:solidFill>
                          <a:effectLst/>
                          <a:latin typeface="+mn-lt"/>
                        </a:rPr>
                        <a:t>Kitty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976741720"/>
                  </a:ext>
                </a:extLst>
              </a:tr>
            </a:tbl>
          </a:graphicData>
        </a:graphic>
      </p:graphicFrame>
      <p:sp>
        <p:nvSpPr>
          <p:cNvPr id="44" name="From - Brace">
            <a:extLst>
              <a:ext uri="{FF2B5EF4-FFF2-40B4-BE49-F238E27FC236}">
                <a16:creationId xmlns:a16="http://schemas.microsoft.com/office/drawing/2014/main" id="{4AB582EA-E161-553B-E130-D03025BDF6D6}"/>
              </a:ext>
            </a:extLst>
          </p:cNvPr>
          <p:cNvSpPr/>
          <p:nvPr/>
        </p:nvSpPr>
        <p:spPr>
          <a:xfrm>
            <a:off x="3443509" y="3460080"/>
            <a:ext cx="594061" cy="2495550"/>
          </a:xfrm>
          <a:prstGeom prst="rightBrace">
            <a:avLst>
              <a:gd name="adj1" fmla="val 56609"/>
              <a:gd name="adj2" fmla="val 50000"/>
            </a:avLst>
          </a:prstGeom>
          <a:noFill/>
          <a:ln w="38100">
            <a:solidFill>
              <a:srgbClr val="FF000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GB"/>
          </a:p>
        </p:txBody>
      </p:sp>
      <p:sp>
        <p:nvSpPr>
          <p:cNvPr id="51" name="Order">
            <a:extLst>
              <a:ext uri="{FF2B5EF4-FFF2-40B4-BE49-F238E27FC236}">
                <a16:creationId xmlns:a16="http://schemas.microsoft.com/office/drawing/2014/main" id="{A84125A0-FE9B-4B5B-4183-B7CDBBEF9D4C}"/>
              </a:ext>
            </a:extLst>
          </p:cNvPr>
          <p:cNvSpPr txBox="1"/>
          <p:nvPr/>
        </p:nvSpPr>
        <p:spPr>
          <a:xfrm>
            <a:off x="3343494" y="3480475"/>
            <a:ext cx="396064" cy="523220"/>
          </a:xfrm>
          <a:prstGeom prst="rect">
            <a:avLst/>
          </a:prstGeom>
          <a:noFill/>
        </p:spPr>
        <p:txBody>
          <a:bodyPr wrap="square" rtlCol="0">
            <a:spAutoFit/>
          </a:bodyPr>
          <a:lstStyle/>
          <a:p>
            <a:pPr algn="ctr"/>
            <a:r>
              <a:rPr lang="en-GB" sz="2800" b="1" dirty="0">
                <a:solidFill>
                  <a:srgbClr val="7030A0"/>
                </a:solidFill>
              </a:rPr>
              <a:t>4</a:t>
            </a:r>
            <a:endParaRPr lang="en-GB" sz="2800" dirty="0">
              <a:solidFill>
                <a:srgbClr val="7030A0"/>
              </a:solidFill>
            </a:endParaRPr>
          </a:p>
        </p:txBody>
      </p:sp>
      <p:sp>
        <p:nvSpPr>
          <p:cNvPr id="52" name="Order">
            <a:extLst>
              <a:ext uri="{FF2B5EF4-FFF2-40B4-BE49-F238E27FC236}">
                <a16:creationId xmlns:a16="http://schemas.microsoft.com/office/drawing/2014/main" id="{BCEA5CB0-5749-1A40-A7A8-2A13550A9ECB}"/>
              </a:ext>
            </a:extLst>
          </p:cNvPr>
          <p:cNvSpPr txBox="1"/>
          <p:nvPr/>
        </p:nvSpPr>
        <p:spPr>
          <a:xfrm>
            <a:off x="3351452" y="5429809"/>
            <a:ext cx="396064" cy="523220"/>
          </a:xfrm>
          <a:prstGeom prst="rect">
            <a:avLst/>
          </a:prstGeom>
          <a:noFill/>
        </p:spPr>
        <p:txBody>
          <a:bodyPr wrap="square" rtlCol="0">
            <a:spAutoFit/>
          </a:bodyPr>
          <a:lstStyle/>
          <a:p>
            <a:pPr algn="ctr"/>
            <a:r>
              <a:rPr lang="en-GB" sz="2800" b="1" dirty="0">
                <a:solidFill>
                  <a:srgbClr val="7030A0"/>
                </a:solidFill>
              </a:rPr>
              <a:t>3</a:t>
            </a:r>
          </a:p>
        </p:txBody>
      </p:sp>
      <p:sp>
        <p:nvSpPr>
          <p:cNvPr id="53" name="Order">
            <a:extLst>
              <a:ext uri="{FF2B5EF4-FFF2-40B4-BE49-F238E27FC236}">
                <a16:creationId xmlns:a16="http://schemas.microsoft.com/office/drawing/2014/main" id="{92831D18-72D2-C4FA-FD15-A525AFB4E5C5}"/>
              </a:ext>
            </a:extLst>
          </p:cNvPr>
          <p:cNvSpPr txBox="1"/>
          <p:nvPr/>
        </p:nvSpPr>
        <p:spPr>
          <a:xfrm>
            <a:off x="4080831" y="4444136"/>
            <a:ext cx="558311" cy="523220"/>
          </a:xfrm>
          <a:prstGeom prst="rect">
            <a:avLst/>
          </a:prstGeom>
          <a:noFill/>
        </p:spPr>
        <p:txBody>
          <a:bodyPr wrap="square" rtlCol="0" anchor="ctr">
            <a:spAutoFit/>
          </a:bodyPr>
          <a:lstStyle/>
          <a:p>
            <a:pPr algn="ctr"/>
            <a:r>
              <a:rPr lang="en-GB" sz="2800" b="1" dirty="0">
                <a:solidFill>
                  <a:srgbClr val="7030A0"/>
                </a:solidFill>
              </a:rPr>
              <a:t>12</a:t>
            </a:r>
          </a:p>
        </p:txBody>
      </p:sp>
      <p:sp>
        <p:nvSpPr>
          <p:cNvPr id="54" name="Order">
            <a:extLst>
              <a:ext uri="{FF2B5EF4-FFF2-40B4-BE49-F238E27FC236}">
                <a16:creationId xmlns:a16="http://schemas.microsoft.com/office/drawing/2014/main" id="{FF73204C-FADD-6664-F4EE-878B598637DD}"/>
              </a:ext>
            </a:extLst>
          </p:cNvPr>
          <p:cNvSpPr txBox="1"/>
          <p:nvPr/>
        </p:nvSpPr>
        <p:spPr>
          <a:xfrm>
            <a:off x="3352887" y="4451518"/>
            <a:ext cx="396064" cy="523220"/>
          </a:xfrm>
          <a:prstGeom prst="rect">
            <a:avLst/>
          </a:prstGeom>
          <a:noFill/>
        </p:spPr>
        <p:txBody>
          <a:bodyPr wrap="square" rtlCol="0">
            <a:spAutoFit/>
          </a:bodyPr>
          <a:lstStyle/>
          <a:p>
            <a:pPr algn="ctr"/>
            <a:r>
              <a:rPr lang="en-GB" sz="2800" b="1" dirty="0">
                <a:solidFill>
                  <a:srgbClr val="7030A0"/>
                </a:solidFill>
              </a:rPr>
              <a:t>×</a:t>
            </a:r>
          </a:p>
        </p:txBody>
      </p:sp>
      <p:sp>
        <p:nvSpPr>
          <p:cNvPr id="26" name="Select - Arrow">
            <a:extLst>
              <a:ext uri="{FF2B5EF4-FFF2-40B4-BE49-F238E27FC236}">
                <a16:creationId xmlns:a16="http://schemas.microsoft.com/office/drawing/2014/main" id="{A4913A86-8E20-4DDA-AAA9-F82A2BA73778}"/>
              </a:ext>
            </a:extLst>
          </p:cNvPr>
          <p:cNvSpPr/>
          <p:nvPr/>
        </p:nvSpPr>
        <p:spPr>
          <a:xfrm>
            <a:off x="156727" y="1583975"/>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7" name="Pepper - Row">
            <a:extLst>
              <a:ext uri="{FF2B5EF4-FFF2-40B4-BE49-F238E27FC236}">
                <a16:creationId xmlns:a16="http://schemas.microsoft.com/office/drawing/2014/main" id="{EDC109E2-0F8E-4D72-965B-C320174FCB9B}"/>
              </a:ext>
            </a:extLst>
          </p:cNvPr>
          <p:cNvSpPr/>
          <p:nvPr/>
        </p:nvSpPr>
        <p:spPr>
          <a:xfrm>
            <a:off x="4758623" y="3113320"/>
            <a:ext cx="320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4" name="Pepper - Purple">
            <a:extLst>
              <a:ext uri="{FF2B5EF4-FFF2-40B4-BE49-F238E27FC236}">
                <a16:creationId xmlns:a16="http://schemas.microsoft.com/office/drawing/2014/main" id="{4D280F94-804B-4EC1-AB76-E66DA40E0536}"/>
              </a:ext>
            </a:extLst>
          </p:cNvPr>
          <p:cNvSpPr/>
          <p:nvPr/>
        </p:nvSpPr>
        <p:spPr>
          <a:xfrm>
            <a:off x="6770596" y="3111681"/>
            <a:ext cx="229174" cy="312791"/>
          </a:xfrm>
          <a:prstGeom prst="rect">
            <a:avLst/>
          </a:prstGeom>
          <a:solidFill>
            <a:srgbClr val="FF00FF">
              <a:alpha val="24706"/>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3" name="Pepper - Yellow">
            <a:extLst>
              <a:ext uri="{FF2B5EF4-FFF2-40B4-BE49-F238E27FC236}">
                <a16:creationId xmlns:a16="http://schemas.microsoft.com/office/drawing/2014/main" id="{EAF79AAF-4AEA-4F65-9751-46A72BB869A5}"/>
              </a:ext>
            </a:extLst>
          </p:cNvPr>
          <p:cNvSpPr/>
          <p:nvPr/>
        </p:nvSpPr>
        <p:spPr>
          <a:xfrm>
            <a:off x="6038424" y="3118769"/>
            <a:ext cx="706825"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6" name="Cindy - Row">
            <a:extLst>
              <a:ext uri="{FF2B5EF4-FFF2-40B4-BE49-F238E27FC236}">
                <a16:creationId xmlns:a16="http://schemas.microsoft.com/office/drawing/2014/main" id="{58BEFD8E-59D7-4B59-AD8D-56CF2F8CD107}"/>
              </a:ext>
            </a:extLst>
          </p:cNvPr>
          <p:cNvSpPr/>
          <p:nvPr/>
        </p:nvSpPr>
        <p:spPr>
          <a:xfrm>
            <a:off x="4758623" y="4588552"/>
            <a:ext cx="320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7" name="Cindy - Purple">
            <a:extLst>
              <a:ext uri="{FF2B5EF4-FFF2-40B4-BE49-F238E27FC236}">
                <a16:creationId xmlns:a16="http://schemas.microsoft.com/office/drawing/2014/main" id="{2138EE6B-2A89-465B-8D74-A2F0DB965B5D}"/>
              </a:ext>
            </a:extLst>
          </p:cNvPr>
          <p:cNvSpPr/>
          <p:nvPr/>
        </p:nvSpPr>
        <p:spPr>
          <a:xfrm>
            <a:off x="6770596" y="4586913"/>
            <a:ext cx="229174" cy="312791"/>
          </a:xfrm>
          <a:prstGeom prst="rect">
            <a:avLst/>
          </a:prstGeom>
          <a:solidFill>
            <a:srgbClr val="FF00FF">
              <a:alpha val="24706"/>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8" name="Cindy - Yellow">
            <a:extLst>
              <a:ext uri="{FF2B5EF4-FFF2-40B4-BE49-F238E27FC236}">
                <a16:creationId xmlns:a16="http://schemas.microsoft.com/office/drawing/2014/main" id="{40519916-002C-4B50-9CAD-882322014126}"/>
              </a:ext>
            </a:extLst>
          </p:cNvPr>
          <p:cNvSpPr/>
          <p:nvPr/>
        </p:nvSpPr>
        <p:spPr>
          <a:xfrm>
            <a:off x="6038424" y="4594001"/>
            <a:ext cx="706825"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9" name="Snowy - Row">
            <a:extLst>
              <a:ext uri="{FF2B5EF4-FFF2-40B4-BE49-F238E27FC236}">
                <a16:creationId xmlns:a16="http://schemas.microsoft.com/office/drawing/2014/main" id="{590FF629-1C6B-4A73-9B6F-1A3047E0C351}"/>
              </a:ext>
            </a:extLst>
          </p:cNvPr>
          <p:cNvSpPr/>
          <p:nvPr/>
        </p:nvSpPr>
        <p:spPr>
          <a:xfrm>
            <a:off x="4758623" y="5167672"/>
            <a:ext cx="320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0" name="Snowy - Purple">
            <a:extLst>
              <a:ext uri="{FF2B5EF4-FFF2-40B4-BE49-F238E27FC236}">
                <a16:creationId xmlns:a16="http://schemas.microsoft.com/office/drawing/2014/main" id="{2059C02D-22B0-4CF8-88BE-A139FCC5E365}"/>
              </a:ext>
            </a:extLst>
          </p:cNvPr>
          <p:cNvSpPr/>
          <p:nvPr/>
        </p:nvSpPr>
        <p:spPr>
          <a:xfrm>
            <a:off x="6770596" y="5166033"/>
            <a:ext cx="229174" cy="312791"/>
          </a:xfrm>
          <a:prstGeom prst="rect">
            <a:avLst/>
          </a:prstGeom>
          <a:solidFill>
            <a:srgbClr val="FF00FF">
              <a:alpha val="24706"/>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1" name="Snowy - Yellow">
            <a:extLst>
              <a:ext uri="{FF2B5EF4-FFF2-40B4-BE49-F238E27FC236}">
                <a16:creationId xmlns:a16="http://schemas.microsoft.com/office/drawing/2014/main" id="{A908B61F-A960-4A63-B920-885CE28F0894}"/>
              </a:ext>
            </a:extLst>
          </p:cNvPr>
          <p:cNvSpPr/>
          <p:nvPr/>
        </p:nvSpPr>
        <p:spPr>
          <a:xfrm>
            <a:off x="6038424" y="5173121"/>
            <a:ext cx="706825"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2" name="Kitty - Row">
            <a:extLst>
              <a:ext uri="{FF2B5EF4-FFF2-40B4-BE49-F238E27FC236}">
                <a16:creationId xmlns:a16="http://schemas.microsoft.com/office/drawing/2014/main" id="{26C3B023-4A76-47DA-A8DB-F1CCF91F3D0B}"/>
              </a:ext>
            </a:extLst>
          </p:cNvPr>
          <p:cNvSpPr/>
          <p:nvPr/>
        </p:nvSpPr>
        <p:spPr>
          <a:xfrm>
            <a:off x="4758623" y="6045496"/>
            <a:ext cx="320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5" name="Kitty - Purple">
            <a:extLst>
              <a:ext uri="{FF2B5EF4-FFF2-40B4-BE49-F238E27FC236}">
                <a16:creationId xmlns:a16="http://schemas.microsoft.com/office/drawing/2014/main" id="{D34CE510-4BD9-46EC-99AA-DBE7BD04F483}"/>
              </a:ext>
            </a:extLst>
          </p:cNvPr>
          <p:cNvSpPr/>
          <p:nvPr/>
        </p:nvSpPr>
        <p:spPr>
          <a:xfrm>
            <a:off x="6770596" y="6043857"/>
            <a:ext cx="229174" cy="312791"/>
          </a:xfrm>
          <a:prstGeom prst="rect">
            <a:avLst/>
          </a:prstGeom>
          <a:solidFill>
            <a:srgbClr val="FF00FF">
              <a:alpha val="24706"/>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6" name="Kitty - Yellow">
            <a:extLst>
              <a:ext uri="{FF2B5EF4-FFF2-40B4-BE49-F238E27FC236}">
                <a16:creationId xmlns:a16="http://schemas.microsoft.com/office/drawing/2014/main" id="{F09336A1-7B8C-4DEF-A7AB-2B0BC362A9E8}"/>
              </a:ext>
            </a:extLst>
          </p:cNvPr>
          <p:cNvSpPr/>
          <p:nvPr/>
        </p:nvSpPr>
        <p:spPr>
          <a:xfrm>
            <a:off x="6038424" y="6050945"/>
            <a:ext cx="706825"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7" name="Where 2 - Arrow">
            <a:extLst>
              <a:ext uri="{FF2B5EF4-FFF2-40B4-BE49-F238E27FC236}">
                <a16:creationId xmlns:a16="http://schemas.microsoft.com/office/drawing/2014/main" id="{57F0F467-01B0-47CA-9897-A45723917472}"/>
              </a:ext>
            </a:extLst>
          </p:cNvPr>
          <p:cNvSpPr/>
          <p:nvPr/>
        </p:nvSpPr>
        <p:spPr>
          <a:xfrm rot="3278631">
            <a:off x="6365200" y="2384994"/>
            <a:ext cx="464567" cy="467998"/>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a:p>
        </p:txBody>
      </p:sp>
      <p:sp>
        <p:nvSpPr>
          <p:cNvPr id="48" name="Where">
            <a:extLst>
              <a:ext uri="{FF2B5EF4-FFF2-40B4-BE49-F238E27FC236}">
                <a16:creationId xmlns:a16="http://schemas.microsoft.com/office/drawing/2014/main" id="{D9C491AC-88F8-426C-A43D-B2F060D5E6AD}"/>
              </a:ext>
            </a:extLst>
          </p:cNvPr>
          <p:cNvSpPr txBox="1"/>
          <p:nvPr/>
        </p:nvSpPr>
        <p:spPr>
          <a:xfrm>
            <a:off x="5845106" y="2071055"/>
            <a:ext cx="908750" cy="369332"/>
          </a:xfrm>
          <a:prstGeom prst="rect">
            <a:avLst/>
          </a:prstGeom>
          <a:noFill/>
        </p:spPr>
        <p:txBody>
          <a:bodyPr wrap="square" rtlCol="0">
            <a:spAutoFit/>
          </a:bodyPr>
          <a:lstStyle/>
          <a:p>
            <a:pPr algn="ctr"/>
            <a:r>
              <a:rPr lang="en-GB" b="1" dirty="0"/>
              <a:t>WHERE</a:t>
            </a:r>
          </a:p>
        </p:txBody>
      </p:sp>
    </p:spTree>
    <p:extLst>
      <p:ext uri="{BB962C8B-B14F-4D97-AF65-F5344CB8AC3E}">
        <p14:creationId xmlns:p14="http://schemas.microsoft.com/office/powerpoint/2010/main" val="181650296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17"/>
                                        </p:tgtEl>
                                        <p:attrNameLst>
                                          <p:attrName>style.visibility</p:attrName>
                                        </p:attrNameLst>
                                      </p:cBhvr>
                                      <p:to>
                                        <p:strVal val="visible"/>
                                      </p:to>
                                    </p:set>
                                    <p:animEffect transition="in" filter="wipe(left)">
                                      <p:cBhvr>
                                        <p:cTn id="7" dur="500"/>
                                        <p:tgtEl>
                                          <p:spTgt spid="17"/>
                                        </p:tgtEl>
                                      </p:cBhvr>
                                    </p:animEffect>
                                  </p:childTnLst>
                                </p:cTn>
                              </p:par>
                            </p:childTnLst>
                          </p:cTn>
                        </p:par>
                        <p:par>
                          <p:cTn id="8" fill="hold">
                            <p:stCondLst>
                              <p:cond delay="500"/>
                            </p:stCondLst>
                            <p:childTnLst>
                              <p:par>
                                <p:cTn id="9" presetID="22" presetClass="entr" presetSubtype="1" fill="hold" nodeType="afterEffect">
                                  <p:stCondLst>
                                    <p:cond delay="0"/>
                                  </p:stCondLst>
                                  <p:childTnLst>
                                    <p:set>
                                      <p:cBhvr>
                                        <p:cTn id="10" dur="1" fill="hold">
                                          <p:stCondLst>
                                            <p:cond delay="0"/>
                                          </p:stCondLst>
                                        </p:cTn>
                                        <p:tgtEl>
                                          <p:spTgt spid="22"/>
                                        </p:tgtEl>
                                        <p:attrNameLst>
                                          <p:attrName>style.visibility</p:attrName>
                                        </p:attrNameLst>
                                      </p:cBhvr>
                                      <p:to>
                                        <p:strVal val="visible"/>
                                      </p:to>
                                    </p:set>
                                    <p:animEffect transition="in" filter="wipe(up)">
                                      <p:cBhvr>
                                        <p:cTn id="11" dur="2000"/>
                                        <p:tgtEl>
                                          <p:spTgt spid="22"/>
                                        </p:tgtEl>
                                      </p:cBhvr>
                                    </p:animEffect>
                                  </p:childTnLst>
                                </p:cTn>
                              </p:par>
                            </p:childTnLst>
                          </p:cTn>
                        </p:par>
                        <p:par>
                          <p:cTn id="12" fill="hold">
                            <p:stCondLst>
                              <p:cond delay="2500"/>
                            </p:stCondLst>
                            <p:childTnLst>
                              <p:par>
                                <p:cTn id="13" presetID="22" presetClass="entr" presetSubtype="8" fill="hold" grpId="0" nodeType="afterEffect">
                                  <p:stCondLst>
                                    <p:cond delay="0"/>
                                  </p:stCondLst>
                                  <p:childTnLst>
                                    <p:set>
                                      <p:cBhvr>
                                        <p:cTn id="14" dur="1" fill="hold">
                                          <p:stCondLst>
                                            <p:cond delay="0"/>
                                          </p:stCondLst>
                                        </p:cTn>
                                        <p:tgtEl>
                                          <p:spTgt spid="2"/>
                                        </p:tgtEl>
                                        <p:attrNameLst>
                                          <p:attrName>style.visibility</p:attrName>
                                        </p:attrNameLst>
                                      </p:cBhvr>
                                      <p:to>
                                        <p:strVal val="visible"/>
                                      </p:to>
                                    </p:set>
                                    <p:animEffect transition="in" filter="wipe(left)">
                                      <p:cBhvr>
                                        <p:cTn id="15" dur="500"/>
                                        <p:tgtEl>
                                          <p:spTgt spid="2"/>
                                        </p:tgtEl>
                                      </p:cBhvr>
                                    </p:animEffect>
                                  </p:childTnLst>
                                </p:cTn>
                              </p:par>
                            </p:childTnLst>
                          </p:cTn>
                        </p:par>
                        <p:par>
                          <p:cTn id="16" fill="hold">
                            <p:stCondLst>
                              <p:cond delay="3000"/>
                            </p:stCondLst>
                            <p:childTnLst>
                              <p:par>
                                <p:cTn id="17" presetID="22" presetClass="entr" presetSubtype="1" fill="hold" nodeType="afterEffect">
                                  <p:stCondLst>
                                    <p:cond delay="0"/>
                                  </p:stCondLst>
                                  <p:childTnLst>
                                    <p:set>
                                      <p:cBhvr>
                                        <p:cTn id="18" dur="1" fill="hold">
                                          <p:stCondLst>
                                            <p:cond delay="0"/>
                                          </p:stCondLst>
                                        </p:cTn>
                                        <p:tgtEl>
                                          <p:spTgt spid="3"/>
                                        </p:tgtEl>
                                        <p:attrNameLst>
                                          <p:attrName>style.visibility</p:attrName>
                                        </p:attrNameLst>
                                      </p:cBhvr>
                                      <p:to>
                                        <p:strVal val="visible"/>
                                      </p:to>
                                    </p:set>
                                    <p:animEffect transition="in" filter="wipe(up)">
                                      <p:cBhvr>
                                        <p:cTn id="19" dur="2000"/>
                                        <p:tgtEl>
                                          <p:spTgt spid="3"/>
                                        </p:tgtEl>
                                      </p:cBhvr>
                                    </p:animEffect>
                                  </p:childTnLst>
                                </p:cTn>
                              </p:par>
                            </p:childTnLst>
                          </p:cTn>
                        </p:par>
                        <p:par>
                          <p:cTn id="20" fill="hold">
                            <p:stCondLst>
                              <p:cond delay="5000"/>
                            </p:stCondLst>
                            <p:childTnLst>
                              <p:par>
                                <p:cTn id="21" presetID="22" presetClass="entr" presetSubtype="8" fill="hold" grpId="0" nodeType="afterEffect">
                                  <p:stCondLst>
                                    <p:cond delay="0"/>
                                  </p:stCondLst>
                                  <p:childTnLst>
                                    <p:set>
                                      <p:cBhvr>
                                        <p:cTn id="22" dur="1" fill="hold">
                                          <p:stCondLst>
                                            <p:cond delay="0"/>
                                          </p:stCondLst>
                                        </p:cTn>
                                        <p:tgtEl>
                                          <p:spTgt spid="6">
                                            <p:txEl>
                                              <p:pRg st="0" end="0"/>
                                            </p:txEl>
                                          </p:spTgt>
                                        </p:tgtEl>
                                        <p:attrNameLst>
                                          <p:attrName>style.visibility</p:attrName>
                                        </p:attrNameLst>
                                      </p:cBhvr>
                                      <p:to>
                                        <p:strVal val="visible"/>
                                      </p:to>
                                    </p:set>
                                    <p:animEffect transition="in" filter="wipe(left)">
                                      <p:cBhvr>
                                        <p:cTn id="23" dur="1500"/>
                                        <p:tgtEl>
                                          <p:spTgt spid="6">
                                            <p:txEl>
                                              <p:pRg st="0" end="0"/>
                                            </p:txEl>
                                          </p:spTgt>
                                        </p:tgtEl>
                                      </p:cBhvr>
                                    </p:animEffect>
                                  </p:childTnLst>
                                </p:cTn>
                              </p:par>
                            </p:childTnLst>
                          </p:cTn>
                        </p:par>
                        <p:par>
                          <p:cTn id="24" fill="hold">
                            <p:stCondLst>
                              <p:cond delay="6500"/>
                            </p:stCondLst>
                            <p:childTnLst>
                              <p:par>
                                <p:cTn id="25" presetID="22" presetClass="entr" presetSubtype="8" fill="hold" grpId="0" nodeType="afterEffect">
                                  <p:stCondLst>
                                    <p:cond delay="0"/>
                                  </p:stCondLst>
                                  <p:childTnLst>
                                    <p:set>
                                      <p:cBhvr>
                                        <p:cTn id="26" dur="1" fill="hold">
                                          <p:stCondLst>
                                            <p:cond delay="0"/>
                                          </p:stCondLst>
                                        </p:cTn>
                                        <p:tgtEl>
                                          <p:spTgt spid="6">
                                            <p:txEl>
                                              <p:pRg st="1" end="1"/>
                                            </p:txEl>
                                          </p:spTgt>
                                        </p:tgtEl>
                                        <p:attrNameLst>
                                          <p:attrName>style.visibility</p:attrName>
                                        </p:attrNameLst>
                                      </p:cBhvr>
                                      <p:to>
                                        <p:strVal val="visible"/>
                                      </p:to>
                                    </p:set>
                                    <p:animEffect transition="in" filter="wipe(left)">
                                      <p:cBhvr>
                                        <p:cTn id="27" dur="1500"/>
                                        <p:tgtEl>
                                          <p:spTgt spid="6">
                                            <p:txEl>
                                              <p:pRg st="1" end="1"/>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6">
                                            <p:txEl>
                                              <p:pRg st="2" end="2"/>
                                            </p:txEl>
                                          </p:spTgt>
                                        </p:tgtEl>
                                        <p:attrNameLst>
                                          <p:attrName>style.visibility</p:attrName>
                                        </p:attrNameLst>
                                      </p:cBhvr>
                                      <p:to>
                                        <p:strVal val="visible"/>
                                      </p:to>
                                    </p:set>
                                    <p:animEffect transition="in" filter="wipe(left)">
                                      <p:cBhvr>
                                        <p:cTn id="32" dur="2500"/>
                                        <p:tgtEl>
                                          <p:spTgt spid="6">
                                            <p:txEl>
                                              <p:pRg st="2" end="2"/>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19">
                                            <p:txEl>
                                              <p:pRg st="0" end="0"/>
                                            </p:txEl>
                                          </p:spTgt>
                                        </p:tgtEl>
                                        <p:attrNameLst>
                                          <p:attrName>style.visibility</p:attrName>
                                        </p:attrNameLst>
                                      </p:cBhvr>
                                      <p:to>
                                        <p:strVal val="visible"/>
                                      </p:to>
                                    </p:set>
                                    <p:animEffect transition="in" filter="wipe(left)">
                                      <p:cBhvr>
                                        <p:cTn id="37" dur="1000"/>
                                        <p:tgtEl>
                                          <p:spTgt spid="19">
                                            <p:txEl>
                                              <p:pRg st="0" end="0"/>
                                            </p:txEl>
                                          </p:spTgt>
                                        </p:tgtEl>
                                      </p:cBhvr>
                                    </p:animEffect>
                                  </p:childTnLst>
                                </p:cTn>
                              </p:par>
                            </p:childTnLst>
                          </p:cTn>
                        </p:par>
                        <p:par>
                          <p:cTn id="38" fill="hold">
                            <p:stCondLst>
                              <p:cond delay="1000"/>
                            </p:stCondLst>
                            <p:childTnLst>
                              <p:par>
                                <p:cTn id="39" presetID="22" presetClass="entr" presetSubtype="8" fill="hold" grpId="0" nodeType="afterEffect">
                                  <p:stCondLst>
                                    <p:cond delay="0"/>
                                  </p:stCondLst>
                                  <p:childTnLst>
                                    <p:set>
                                      <p:cBhvr>
                                        <p:cTn id="40" dur="1" fill="hold">
                                          <p:stCondLst>
                                            <p:cond delay="0"/>
                                          </p:stCondLst>
                                        </p:cTn>
                                        <p:tgtEl>
                                          <p:spTgt spid="19">
                                            <p:txEl>
                                              <p:pRg st="1" end="1"/>
                                            </p:txEl>
                                          </p:spTgt>
                                        </p:tgtEl>
                                        <p:attrNameLst>
                                          <p:attrName>style.visibility</p:attrName>
                                        </p:attrNameLst>
                                      </p:cBhvr>
                                      <p:to>
                                        <p:strVal val="visible"/>
                                      </p:to>
                                    </p:set>
                                    <p:animEffect transition="in" filter="wipe(left)">
                                      <p:cBhvr>
                                        <p:cTn id="41" dur="1000"/>
                                        <p:tgtEl>
                                          <p:spTgt spid="19">
                                            <p:txEl>
                                              <p:pRg st="1" end="1"/>
                                            </p:txEl>
                                          </p:spTgt>
                                        </p:tgtEl>
                                      </p:cBhvr>
                                    </p:animEffect>
                                  </p:childTnLst>
                                </p:cTn>
                              </p:par>
                            </p:childTnLst>
                          </p:cTn>
                        </p:par>
                        <p:par>
                          <p:cTn id="42" fill="hold">
                            <p:stCondLst>
                              <p:cond delay="2000"/>
                            </p:stCondLst>
                            <p:childTnLst>
                              <p:par>
                                <p:cTn id="43" presetID="22" presetClass="entr" presetSubtype="8" fill="hold" grpId="0" nodeType="afterEffect">
                                  <p:stCondLst>
                                    <p:cond delay="0"/>
                                  </p:stCondLst>
                                  <p:childTnLst>
                                    <p:set>
                                      <p:cBhvr>
                                        <p:cTn id="44" dur="1" fill="hold">
                                          <p:stCondLst>
                                            <p:cond delay="0"/>
                                          </p:stCondLst>
                                        </p:cTn>
                                        <p:tgtEl>
                                          <p:spTgt spid="19">
                                            <p:txEl>
                                              <p:pRg st="2" end="2"/>
                                            </p:txEl>
                                          </p:spTgt>
                                        </p:tgtEl>
                                        <p:attrNameLst>
                                          <p:attrName>style.visibility</p:attrName>
                                        </p:attrNameLst>
                                      </p:cBhvr>
                                      <p:to>
                                        <p:strVal val="visible"/>
                                      </p:to>
                                    </p:set>
                                    <p:animEffect transition="in" filter="wipe(left)">
                                      <p:cBhvr>
                                        <p:cTn id="45" dur="1000"/>
                                        <p:tgtEl>
                                          <p:spTgt spid="19">
                                            <p:txEl>
                                              <p:pRg st="2" end="2"/>
                                            </p:txEl>
                                          </p:spTgt>
                                        </p:tgtEl>
                                      </p:cBhvr>
                                    </p:animEffect>
                                  </p:childTnLst>
                                </p:cTn>
                              </p:par>
                            </p:childTnLst>
                          </p:cTn>
                        </p:par>
                        <p:par>
                          <p:cTn id="46" fill="hold">
                            <p:stCondLst>
                              <p:cond delay="3000"/>
                            </p:stCondLst>
                            <p:childTnLst>
                              <p:par>
                                <p:cTn id="47" presetID="22" presetClass="entr" presetSubtype="8" fill="hold" grpId="0" nodeType="afterEffect">
                                  <p:stCondLst>
                                    <p:cond delay="0"/>
                                  </p:stCondLst>
                                  <p:childTnLst>
                                    <p:set>
                                      <p:cBhvr>
                                        <p:cTn id="48" dur="1" fill="hold">
                                          <p:stCondLst>
                                            <p:cond delay="0"/>
                                          </p:stCondLst>
                                        </p:cTn>
                                        <p:tgtEl>
                                          <p:spTgt spid="19">
                                            <p:txEl>
                                              <p:pRg st="3" end="3"/>
                                            </p:txEl>
                                          </p:spTgt>
                                        </p:tgtEl>
                                        <p:attrNameLst>
                                          <p:attrName>style.visibility</p:attrName>
                                        </p:attrNameLst>
                                      </p:cBhvr>
                                      <p:to>
                                        <p:strVal val="visible"/>
                                      </p:to>
                                    </p:set>
                                    <p:animEffect transition="in" filter="wipe(left)">
                                      <p:cBhvr>
                                        <p:cTn id="49" dur="1000"/>
                                        <p:tgtEl>
                                          <p:spTgt spid="19">
                                            <p:txEl>
                                              <p:pRg st="3" end="3"/>
                                            </p:txEl>
                                          </p:spTgt>
                                        </p:tgtEl>
                                      </p:cBhvr>
                                    </p:animEffect>
                                  </p:childTnLst>
                                </p:cTn>
                              </p:par>
                            </p:childTnLst>
                          </p:cTn>
                        </p:par>
                      </p:childTnLst>
                    </p:cTn>
                  </p:par>
                  <p:par>
                    <p:cTn id="50" fill="hold">
                      <p:stCondLst>
                        <p:cond delay="indefinite"/>
                      </p:stCondLst>
                      <p:childTnLst>
                        <p:par>
                          <p:cTn id="51" fill="hold">
                            <p:stCondLst>
                              <p:cond delay="0"/>
                            </p:stCondLst>
                            <p:childTnLst>
                              <p:par>
                                <p:cTn id="52" presetID="22" presetClass="entr" presetSubtype="8" fill="hold" grpId="0" nodeType="clickEffect">
                                  <p:stCondLst>
                                    <p:cond delay="0"/>
                                  </p:stCondLst>
                                  <p:childTnLst>
                                    <p:set>
                                      <p:cBhvr>
                                        <p:cTn id="53" dur="1" fill="hold">
                                          <p:stCondLst>
                                            <p:cond delay="0"/>
                                          </p:stCondLst>
                                        </p:cTn>
                                        <p:tgtEl>
                                          <p:spTgt spid="35"/>
                                        </p:tgtEl>
                                        <p:attrNameLst>
                                          <p:attrName>style.visibility</p:attrName>
                                        </p:attrNameLst>
                                      </p:cBhvr>
                                      <p:to>
                                        <p:strVal val="visible"/>
                                      </p:to>
                                    </p:set>
                                    <p:animEffect transition="in" filter="wipe(left)">
                                      <p:cBhvr>
                                        <p:cTn id="54" dur="1000"/>
                                        <p:tgtEl>
                                          <p:spTgt spid="35"/>
                                        </p:tgtEl>
                                      </p:cBhvr>
                                    </p:animEffect>
                                  </p:childTnLst>
                                </p:cTn>
                              </p:par>
                            </p:childTnLst>
                          </p:cTn>
                        </p:par>
                      </p:childTnLst>
                    </p:cTn>
                  </p:par>
                  <p:par>
                    <p:cTn id="55" fill="hold">
                      <p:stCondLst>
                        <p:cond delay="indefinite"/>
                      </p:stCondLst>
                      <p:childTnLst>
                        <p:par>
                          <p:cTn id="56" fill="hold">
                            <p:stCondLst>
                              <p:cond delay="0"/>
                            </p:stCondLst>
                            <p:childTnLst>
                              <p:par>
                                <p:cTn id="57" presetID="22" presetClass="entr" presetSubtype="8" fill="hold" grpId="0" nodeType="clickEffect">
                                  <p:stCondLst>
                                    <p:cond delay="0"/>
                                  </p:stCondLst>
                                  <p:childTnLst>
                                    <p:set>
                                      <p:cBhvr>
                                        <p:cTn id="58" dur="1" fill="hold">
                                          <p:stCondLst>
                                            <p:cond delay="0"/>
                                          </p:stCondLst>
                                        </p:cTn>
                                        <p:tgtEl>
                                          <p:spTgt spid="10"/>
                                        </p:tgtEl>
                                        <p:attrNameLst>
                                          <p:attrName>style.visibility</p:attrName>
                                        </p:attrNameLst>
                                      </p:cBhvr>
                                      <p:to>
                                        <p:strVal val="visible"/>
                                      </p:to>
                                    </p:set>
                                    <p:animEffect transition="in" filter="wipe(left)">
                                      <p:cBhvr>
                                        <p:cTn id="59" dur="500"/>
                                        <p:tgtEl>
                                          <p:spTgt spid="10"/>
                                        </p:tgtEl>
                                      </p:cBhvr>
                                    </p:animEffect>
                                  </p:childTnLst>
                                </p:cTn>
                              </p:par>
                            </p:childTnLst>
                          </p:cTn>
                        </p:par>
                        <p:par>
                          <p:cTn id="60" fill="hold">
                            <p:stCondLst>
                              <p:cond delay="500"/>
                            </p:stCondLst>
                            <p:childTnLst>
                              <p:par>
                                <p:cTn id="61" presetID="22" presetClass="entr" presetSubtype="8" fill="hold" grpId="0" nodeType="afterEffect">
                                  <p:stCondLst>
                                    <p:cond delay="0"/>
                                  </p:stCondLst>
                                  <p:childTnLst>
                                    <p:set>
                                      <p:cBhvr>
                                        <p:cTn id="62" dur="1" fill="hold">
                                          <p:stCondLst>
                                            <p:cond delay="0"/>
                                          </p:stCondLst>
                                        </p:cTn>
                                        <p:tgtEl>
                                          <p:spTgt spid="44"/>
                                        </p:tgtEl>
                                        <p:attrNameLst>
                                          <p:attrName>style.visibility</p:attrName>
                                        </p:attrNameLst>
                                      </p:cBhvr>
                                      <p:to>
                                        <p:strVal val="visible"/>
                                      </p:to>
                                    </p:set>
                                    <p:animEffect transition="in" filter="wipe(left)">
                                      <p:cBhvr>
                                        <p:cTn id="63" dur="1000"/>
                                        <p:tgtEl>
                                          <p:spTgt spid="44"/>
                                        </p:tgtEl>
                                      </p:cBhvr>
                                    </p:animEffect>
                                  </p:childTnLst>
                                </p:cTn>
                              </p:par>
                            </p:childTnLst>
                          </p:cTn>
                        </p:par>
                        <p:par>
                          <p:cTn id="64" fill="hold">
                            <p:stCondLst>
                              <p:cond delay="1500"/>
                            </p:stCondLst>
                            <p:childTnLst>
                              <p:par>
                                <p:cTn id="65" presetID="22" presetClass="entr" presetSubtype="8" fill="hold" grpId="0" nodeType="afterEffect">
                                  <p:stCondLst>
                                    <p:cond delay="0"/>
                                  </p:stCondLst>
                                  <p:childTnLst>
                                    <p:set>
                                      <p:cBhvr>
                                        <p:cTn id="66" dur="1" fill="hold">
                                          <p:stCondLst>
                                            <p:cond delay="0"/>
                                          </p:stCondLst>
                                        </p:cTn>
                                        <p:tgtEl>
                                          <p:spTgt spid="51">
                                            <p:txEl>
                                              <p:pRg st="0" end="0"/>
                                            </p:txEl>
                                          </p:spTgt>
                                        </p:tgtEl>
                                        <p:attrNameLst>
                                          <p:attrName>style.visibility</p:attrName>
                                        </p:attrNameLst>
                                      </p:cBhvr>
                                      <p:to>
                                        <p:strVal val="visible"/>
                                      </p:to>
                                    </p:set>
                                    <p:animEffect transition="in" filter="wipe(left)">
                                      <p:cBhvr>
                                        <p:cTn id="67" dur="500"/>
                                        <p:tgtEl>
                                          <p:spTgt spid="51">
                                            <p:txEl>
                                              <p:pRg st="0" end="0"/>
                                            </p:txEl>
                                          </p:spTgt>
                                        </p:tgtEl>
                                      </p:cBhvr>
                                    </p:animEffect>
                                  </p:childTnLst>
                                </p:cTn>
                              </p:par>
                            </p:childTnLst>
                          </p:cTn>
                        </p:par>
                        <p:par>
                          <p:cTn id="68" fill="hold">
                            <p:stCondLst>
                              <p:cond delay="2000"/>
                            </p:stCondLst>
                            <p:childTnLst>
                              <p:par>
                                <p:cTn id="69" presetID="22" presetClass="entr" presetSubtype="8" fill="hold" grpId="0" nodeType="afterEffect" nodePh="1">
                                  <p:stCondLst>
                                    <p:cond delay="0"/>
                                  </p:stCondLst>
                                  <p:endCondLst>
                                    <p:cond evt="begin" delay="0">
                                      <p:tn val="69"/>
                                    </p:cond>
                                  </p:endCondLst>
                                  <p:childTnLst>
                                    <p:set>
                                      <p:cBhvr>
                                        <p:cTn id="70" dur="1" fill="hold">
                                          <p:stCondLst>
                                            <p:cond delay="0"/>
                                          </p:stCondLst>
                                        </p:cTn>
                                        <p:tgtEl>
                                          <p:spTgt spid="54">
                                            <p:txEl>
                                              <p:pRg st="0" end="0"/>
                                            </p:txEl>
                                          </p:spTgt>
                                        </p:tgtEl>
                                        <p:attrNameLst>
                                          <p:attrName>style.visibility</p:attrName>
                                        </p:attrNameLst>
                                      </p:cBhvr>
                                      <p:to>
                                        <p:strVal val="visible"/>
                                      </p:to>
                                    </p:set>
                                    <p:animEffect transition="in" filter="wipe(left)">
                                      <p:cBhvr>
                                        <p:cTn id="71" dur="500"/>
                                        <p:tgtEl>
                                          <p:spTgt spid="54">
                                            <p:txEl>
                                              <p:pRg st="0" end="0"/>
                                            </p:txEl>
                                          </p:spTgt>
                                        </p:tgtEl>
                                      </p:cBhvr>
                                    </p:animEffect>
                                  </p:childTnLst>
                                </p:cTn>
                              </p:par>
                            </p:childTnLst>
                          </p:cTn>
                        </p:par>
                        <p:par>
                          <p:cTn id="72" fill="hold">
                            <p:stCondLst>
                              <p:cond delay="2500"/>
                            </p:stCondLst>
                            <p:childTnLst>
                              <p:par>
                                <p:cTn id="73" presetID="22" presetClass="entr" presetSubtype="8" fill="hold" grpId="0" nodeType="afterEffect">
                                  <p:stCondLst>
                                    <p:cond delay="0"/>
                                  </p:stCondLst>
                                  <p:childTnLst>
                                    <p:set>
                                      <p:cBhvr>
                                        <p:cTn id="74" dur="1" fill="hold">
                                          <p:stCondLst>
                                            <p:cond delay="0"/>
                                          </p:stCondLst>
                                        </p:cTn>
                                        <p:tgtEl>
                                          <p:spTgt spid="52">
                                            <p:txEl>
                                              <p:pRg st="0" end="0"/>
                                            </p:txEl>
                                          </p:spTgt>
                                        </p:tgtEl>
                                        <p:attrNameLst>
                                          <p:attrName>style.visibility</p:attrName>
                                        </p:attrNameLst>
                                      </p:cBhvr>
                                      <p:to>
                                        <p:strVal val="visible"/>
                                      </p:to>
                                    </p:set>
                                    <p:animEffect transition="in" filter="wipe(left)">
                                      <p:cBhvr>
                                        <p:cTn id="75" dur="500"/>
                                        <p:tgtEl>
                                          <p:spTgt spid="52">
                                            <p:txEl>
                                              <p:pRg st="0" end="0"/>
                                            </p:txEl>
                                          </p:spTgt>
                                        </p:tgtEl>
                                      </p:cBhvr>
                                    </p:animEffect>
                                  </p:childTnLst>
                                </p:cTn>
                              </p:par>
                            </p:childTnLst>
                          </p:cTn>
                        </p:par>
                        <p:par>
                          <p:cTn id="76" fill="hold">
                            <p:stCondLst>
                              <p:cond delay="3000"/>
                            </p:stCondLst>
                            <p:childTnLst>
                              <p:par>
                                <p:cTn id="77" presetID="22" presetClass="entr" presetSubtype="8" fill="hold" grpId="0" nodeType="afterEffect">
                                  <p:stCondLst>
                                    <p:cond delay="0"/>
                                  </p:stCondLst>
                                  <p:childTnLst>
                                    <p:set>
                                      <p:cBhvr>
                                        <p:cTn id="78" dur="1" fill="hold">
                                          <p:stCondLst>
                                            <p:cond delay="0"/>
                                          </p:stCondLst>
                                        </p:cTn>
                                        <p:tgtEl>
                                          <p:spTgt spid="53">
                                            <p:txEl>
                                              <p:pRg st="0" end="0"/>
                                            </p:txEl>
                                          </p:spTgt>
                                        </p:tgtEl>
                                        <p:attrNameLst>
                                          <p:attrName>style.visibility</p:attrName>
                                        </p:attrNameLst>
                                      </p:cBhvr>
                                      <p:to>
                                        <p:strVal val="visible"/>
                                      </p:to>
                                    </p:set>
                                    <p:animEffect transition="in" filter="wipe(left)">
                                      <p:cBhvr>
                                        <p:cTn id="79" dur="500"/>
                                        <p:tgtEl>
                                          <p:spTgt spid="53">
                                            <p:txEl>
                                              <p:pRg st="0" end="0"/>
                                            </p:txEl>
                                          </p:spTgt>
                                        </p:tgtEl>
                                      </p:cBhvr>
                                    </p:animEffect>
                                  </p:childTnLst>
                                </p:cTn>
                              </p:par>
                            </p:childTnLst>
                          </p:cTn>
                        </p:par>
                        <p:par>
                          <p:cTn id="80" fill="hold">
                            <p:stCondLst>
                              <p:cond delay="3500"/>
                            </p:stCondLst>
                            <p:childTnLst>
                              <p:par>
                                <p:cTn id="81" presetID="22" presetClass="entr" presetSubtype="8" fill="hold" nodeType="afterEffect">
                                  <p:stCondLst>
                                    <p:cond delay="0"/>
                                  </p:stCondLst>
                                  <p:childTnLst>
                                    <p:set>
                                      <p:cBhvr>
                                        <p:cTn id="82" dur="1" fill="hold">
                                          <p:stCondLst>
                                            <p:cond delay="0"/>
                                          </p:stCondLst>
                                        </p:cTn>
                                        <p:tgtEl>
                                          <p:spTgt spid="23"/>
                                        </p:tgtEl>
                                        <p:attrNameLst>
                                          <p:attrName>style.visibility</p:attrName>
                                        </p:attrNameLst>
                                      </p:cBhvr>
                                      <p:to>
                                        <p:strVal val="visible"/>
                                      </p:to>
                                    </p:set>
                                    <p:animEffect transition="in" filter="wipe(left)">
                                      <p:cBhvr>
                                        <p:cTn id="83" dur="2000"/>
                                        <p:tgtEl>
                                          <p:spTgt spid="23"/>
                                        </p:tgtEl>
                                      </p:cBhvr>
                                    </p:animEffect>
                                  </p:childTnLst>
                                </p:cTn>
                              </p:par>
                            </p:childTnLst>
                          </p:cTn>
                        </p:par>
                      </p:childTnLst>
                    </p:cTn>
                  </p:par>
                  <p:par>
                    <p:cTn id="84" fill="hold">
                      <p:stCondLst>
                        <p:cond delay="indefinite"/>
                      </p:stCondLst>
                      <p:childTnLst>
                        <p:par>
                          <p:cTn id="85" fill="hold">
                            <p:stCondLst>
                              <p:cond delay="0"/>
                            </p:stCondLst>
                            <p:childTnLst>
                              <p:par>
                                <p:cTn id="86" presetID="22" presetClass="exit" presetSubtype="8" fill="hold" grpId="1" nodeType="clickEffect">
                                  <p:stCondLst>
                                    <p:cond delay="0"/>
                                  </p:stCondLst>
                                  <p:childTnLst>
                                    <p:animEffect transition="out" filter="wipe(left)">
                                      <p:cBhvr>
                                        <p:cTn id="87" dur="500"/>
                                        <p:tgtEl>
                                          <p:spTgt spid="35"/>
                                        </p:tgtEl>
                                      </p:cBhvr>
                                    </p:animEffect>
                                    <p:set>
                                      <p:cBhvr>
                                        <p:cTn id="88" dur="1" fill="hold">
                                          <p:stCondLst>
                                            <p:cond delay="499"/>
                                          </p:stCondLst>
                                        </p:cTn>
                                        <p:tgtEl>
                                          <p:spTgt spid="35"/>
                                        </p:tgtEl>
                                        <p:attrNameLst>
                                          <p:attrName>style.visibility</p:attrName>
                                        </p:attrNameLst>
                                      </p:cBhvr>
                                      <p:to>
                                        <p:strVal val="hidden"/>
                                      </p:to>
                                    </p:set>
                                  </p:childTnLst>
                                </p:cTn>
                              </p:par>
                            </p:childTnLst>
                          </p:cTn>
                        </p:par>
                        <p:par>
                          <p:cTn id="89" fill="hold">
                            <p:stCondLst>
                              <p:cond delay="500"/>
                            </p:stCondLst>
                            <p:childTnLst>
                              <p:par>
                                <p:cTn id="90" presetID="22" presetClass="entr" presetSubtype="8" fill="hold" grpId="0" nodeType="afterEffect">
                                  <p:stCondLst>
                                    <p:cond delay="0"/>
                                  </p:stCondLst>
                                  <p:childTnLst>
                                    <p:set>
                                      <p:cBhvr>
                                        <p:cTn id="91" dur="1" fill="hold">
                                          <p:stCondLst>
                                            <p:cond delay="0"/>
                                          </p:stCondLst>
                                        </p:cTn>
                                        <p:tgtEl>
                                          <p:spTgt spid="31"/>
                                        </p:tgtEl>
                                        <p:attrNameLst>
                                          <p:attrName>style.visibility</p:attrName>
                                        </p:attrNameLst>
                                      </p:cBhvr>
                                      <p:to>
                                        <p:strVal val="visible"/>
                                      </p:to>
                                    </p:set>
                                    <p:animEffect transition="in" filter="wipe(left)">
                                      <p:cBhvr>
                                        <p:cTn id="92" dur="1000"/>
                                        <p:tgtEl>
                                          <p:spTgt spid="31"/>
                                        </p:tgtEl>
                                      </p:cBhvr>
                                    </p:animEffect>
                                  </p:childTnLst>
                                </p:cTn>
                              </p:par>
                            </p:childTnLst>
                          </p:cTn>
                        </p:par>
                      </p:childTnLst>
                    </p:cTn>
                  </p:par>
                  <p:par>
                    <p:cTn id="93" fill="hold">
                      <p:stCondLst>
                        <p:cond delay="indefinite"/>
                      </p:stCondLst>
                      <p:childTnLst>
                        <p:par>
                          <p:cTn id="94" fill="hold">
                            <p:stCondLst>
                              <p:cond delay="0"/>
                            </p:stCondLst>
                            <p:childTnLst>
                              <p:par>
                                <p:cTn id="95" presetID="22" presetClass="entr" presetSubtype="8" fill="hold" grpId="0" nodeType="clickEffect">
                                  <p:stCondLst>
                                    <p:cond delay="0"/>
                                  </p:stCondLst>
                                  <p:childTnLst>
                                    <p:set>
                                      <p:cBhvr>
                                        <p:cTn id="96" dur="1" fill="hold">
                                          <p:stCondLst>
                                            <p:cond delay="0"/>
                                          </p:stCondLst>
                                        </p:cTn>
                                        <p:tgtEl>
                                          <p:spTgt spid="48"/>
                                        </p:tgtEl>
                                        <p:attrNameLst>
                                          <p:attrName>style.visibility</p:attrName>
                                        </p:attrNameLst>
                                      </p:cBhvr>
                                      <p:to>
                                        <p:strVal val="visible"/>
                                      </p:to>
                                    </p:set>
                                    <p:animEffect transition="in" filter="wipe(left)">
                                      <p:cBhvr>
                                        <p:cTn id="97" dur="500"/>
                                        <p:tgtEl>
                                          <p:spTgt spid="48"/>
                                        </p:tgtEl>
                                      </p:cBhvr>
                                    </p:animEffect>
                                  </p:childTnLst>
                                </p:cTn>
                              </p:par>
                            </p:childTnLst>
                          </p:cTn>
                        </p:par>
                        <p:par>
                          <p:cTn id="98" fill="hold">
                            <p:stCondLst>
                              <p:cond delay="500"/>
                            </p:stCondLst>
                            <p:childTnLst>
                              <p:par>
                                <p:cTn id="99" presetID="22" presetClass="entr" presetSubtype="1" fill="hold" grpId="0" nodeType="afterEffect">
                                  <p:stCondLst>
                                    <p:cond delay="0"/>
                                  </p:stCondLst>
                                  <p:childTnLst>
                                    <p:set>
                                      <p:cBhvr>
                                        <p:cTn id="100" dur="1" fill="hold">
                                          <p:stCondLst>
                                            <p:cond delay="0"/>
                                          </p:stCondLst>
                                        </p:cTn>
                                        <p:tgtEl>
                                          <p:spTgt spid="47"/>
                                        </p:tgtEl>
                                        <p:attrNameLst>
                                          <p:attrName>style.visibility</p:attrName>
                                        </p:attrNameLst>
                                      </p:cBhvr>
                                      <p:to>
                                        <p:strVal val="visible"/>
                                      </p:to>
                                    </p:set>
                                    <p:animEffect transition="in" filter="wipe(up)">
                                      <p:cBhvr>
                                        <p:cTn id="101" dur="1000"/>
                                        <p:tgtEl>
                                          <p:spTgt spid="47"/>
                                        </p:tgtEl>
                                      </p:cBhvr>
                                    </p:animEffect>
                                  </p:childTnLst>
                                </p:cTn>
                              </p:par>
                            </p:childTnLst>
                          </p:cTn>
                        </p:par>
                      </p:childTnLst>
                    </p:cTn>
                  </p:par>
                  <p:par>
                    <p:cTn id="102" fill="hold">
                      <p:stCondLst>
                        <p:cond delay="indefinite"/>
                      </p:stCondLst>
                      <p:childTnLst>
                        <p:par>
                          <p:cTn id="103" fill="hold">
                            <p:stCondLst>
                              <p:cond delay="0"/>
                            </p:stCondLst>
                            <p:childTnLst>
                              <p:par>
                                <p:cTn id="104" presetID="22" presetClass="entr" presetSubtype="8" fill="hold" grpId="0" nodeType="clickEffect">
                                  <p:stCondLst>
                                    <p:cond delay="0"/>
                                  </p:stCondLst>
                                  <p:childTnLst>
                                    <p:set>
                                      <p:cBhvr>
                                        <p:cTn id="105" dur="1" fill="hold">
                                          <p:stCondLst>
                                            <p:cond delay="0"/>
                                          </p:stCondLst>
                                        </p:cTn>
                                        <p:tgtEl>
                                          <p:spTgt spid="33"/>
                                        </p:tgtEl>
                                        <p:attrNameLst>
                                          <p:attrName>style.visibility</p:attrName>
                                        </p:attrNameLst>
                                      </p:cBhvr>
                                      <p:to>
                                        <p:strVal val="visible"/>
                                      </p:to>
                                    </p:set>
                                    <p:animEffect transition="in" filter="wipe(left)">
                                      <p:cBhvr>
                                        <p:cTn id="106" dur="500"/>
                                        <p:tgtEl>
                                          <p:spTgt spid="33"/>
                                        </p:tgtEl>
                                      </p:cBhvr>
                                    </p:animEffect>
                                  </p:childTnLst>
                                </p:cTn>
                              </p:par>
                            </p:childTnLst>
                          </p:cTn>
                        </p:par>
                        <p:par>
                          <p:cTn id="107" fill="hold">
                            <p:stCondLst>
                              <p:cond delay="500"/>
                            </p:stCondLst>
                            <p:childTnLst>
                              <p:par>
                                <p:cTn id="108" presetID="22" presetClass="entr" presetSubtype="8" fill="hold" grpId="0" nodeType="afterEffect">
                                  <p:stCondLst>
                                    <p:cond delay="0"/>
                                  </p:stCondLst>
                                  <p:childTnLst>
                                    <p:set>
                                      <p:cBhvr>
                                        <p:cTn id="109" dur="1" fill="hold">
                                          <p:stCondLst>
                                            <p:cond delay="0"/>
                                          </p:stCondLst>
                                        </p:cTn>
                                        <p:tgtEl>
                                          <p:spTgt spid="34"/>
                                        </p:tgtEl>
                                        <p:attrNameLst>
                                          <p:attrName>style.visibility</p:attrName>
                                        </p:attrNameLst>
                                      </p:cBhvr>
                                      <p:to>
                                        <p:strVal val="visible"/>
                                      </p:to>
                                    </p:set>
                                    <p:animEffect transition="in" filter="wipe(left)">
                                      <p:cBhvr>
                                        <p:cTn id="110" dur="500"/>
                                        <p:tgtEl>
                                          <p:spTgt spid="34"/>
                                        </p:tgtEl>
                                      </p:cBhvr>
                                    </p:animEffect>
                                  </p:childTnLst>
                                </p:cTn>
                              </p:par>
                            </p:childTnLst>
                          </p:cTn>
                        </p:par>
                        <p:par>
                          <p:cTn id="111" fill="hold">
                            <p:stCondLst>
                              <p:cond delay="1000"/>
                            </p:stCondLst>
                            <p:childTnLst>
                              <p:par>
                                <p:cTn id="112" presetID="22" presetClass="entr" presetSubtype="8" fill="hold" grpId="0" nodeType="afterEffect">
                                  <p:stCondLst>
                                    <p:cond delay="0"/>
                                  </p:stCondLst>
                                  <p:childTnLst>
                                    <p:set>
                                      <p:cBhvr>
                                        <p:cTn id="113" dur="1" fill="hold">
                                          <p:stCondLst>
                                            <p:cond delay="0"/>
                                          </p:stCondLst>
                                        </p:cTn>
                                        <p:tgtEl>
                                          <p:spTgt spid="27"/>
                                        </p:tgtEl>
                                        <p:attrNameLst>
                                          <p:attrName>style.visibility</p:attrName>
                                        </p:attrNameLst>
                                      </p:cBhvr>
                                      <p:to>
                                        <p:strVal val="visible"/>
                                      </p:to>
                                    </p:set>
                                    <p:animEffect transition="in" filter="wipe(left)">
                                      <p:cBhvr>
                                        <p:cTn id="114" dur="1500"/>
                                        <p:tgtEl>
                                          <p:spTgt spid="27"/>
                                        </p:tgtEl>
                                      </p:cBhvr>
                                    </p:animEffect>
                                  </p:childTnLst>
                                </p:cTn>
                              </p:par>
                            </p:childTnLst>
                          </p:cTn>
                        </p:par>
                      </p:childTnLst>
                    </p:cTn>
                  </p:par>
                  <p:par>
                    <p:cTn id="115" fill="hold">
                      <p:stCondLst>
                        <p:cond delay="indefinite"/>
                      </p:stCondLst>
                      <p:childTnLst>
                        <p:par>
                          <p:cTn id="116" fill="hold">
                            <p:stCondLst>
                              <p:cond delay="0"/>
                            </p:stCondLst>
                            <p:childTnLst>
                              <p:par>
                                <p:cTn id="117" presetID="22" presetClass="entr" presetSubtype="8" fill="hold" grpId="0" nodeType="clickEffect">
                                  <p:stCondLst>
                                    <p:cond delay="0"/>
                                  </p:stCondLst>
                                  <p:childTnLst>
                                    <p:set>
                                      <p:cBhvr>
                                        <p:cTn id="118" dur="1" fill="hold">
                                          <p:stCondLst>
                                            <p:cond delay="0"/>
                                          </p:stCondLst>
                                        </p:cTn>
                                        <p:tgtEl>
                                          <p:spTgt spid="38"/>
                                        </p:tgtEl>
                                        <p:attrNameLst>
                                          <p:attrName>style.visibility</p:attrName>
                                        </p:attrNameLst>
                                      </p:cBhvr>
                                      <p:to>
                                        <p:strVal val="visible"/>
                                      </p:to>
                                    </p:set>
                                    <p:animEffect transition="in" filter="wipe(left)">
                                      <p:cBhvr>
                                        <p:cTn id="119" dur="500"/>
                                        <p:tgtEl>
                                          <p:spTgt spid="38"/>
                                        </p:tgtEl>
                                      </p:cBhvr>
                                    </p:animEffect>
                                  </p:childTnLst>
                                </p:cTn>
                              </p:par>
                            </p:childTnLst>
                          </p:cTn>
                        </p:par>
                        <p:par>
                          <p:cTn id="120" fill="hold">
                            <p:stCondLst>
                              <p:cond delay="500"/>
                            </p:stCondLst>
                            <p:childTnLst>
                              <p:par>
                                <p:cTn id="121" presetID="22" presetClass="entr" presetSubtype="8" fill="hold" grpId="0" nodeType="afterEffect">
                                  <p:stCondLst>
                                    <p:cond delay="0"/>
                                  </p:stCondLst>
                                  <p:childTnLst>
                                    <p:set>
                                      <p:cBhvr>
                                        <p:cTn id="122" dur="1" fill="hold">
                                          <p:stCondLst>
                                            <p:cond delay="0"/>
                                          </p:stCondLst>
                                        </p:cTn>
                                        <p:tgtEl>
                                          <p:spTgt spid="37"/>
                                        </p:tgtEl>
                                        <p:attrNameLst>
                                          <p:attrName>style.visibility</p:attrName>
                                        </p:attrNameLst>
                                      </p:cBhvr>
                                      <p:to>
                                        <p:strVal val="visible"/>
                                      </p:to>
                                    </p:set>
                                    <p:animEffect transition="in" filter="wipe(left)">
                                      <p:cBhvr>
                                        <p:cTn id="123" dur="500"/>
                                        <p:tgtEl>
                                          <p:spTgt spid="37"/>
                                        </p:tgtEl>
                                      </p:cBhvr>
                                    </p:animEffect>
                                  </p:childTnLst>
                                </p:cTn>
                              </p:par>
                            </p:childTnLst>
                          </p:cTn>
                        </p:par>
                        <p:par>
                          <p:cTn id="124" fill="hold">
                            <p:stCondLst>
                              <p:cond delay="1000"/>
                            </p:stCondLst>
                            <p:childTnLst>
                              <p:par>
                                <p:cTn id="125" presetID="22" presetClass="entr" presetSubtype="8" fill="hold" grpId="0" nodeType="afterEffect">
                                  <p:stCondLst>
                                    <p:cond delay="0"/>
                                  </p:stCondLst>
                                  <p:childTnLst>
                                    <p:set>
                                      <p:cBhvr>
                                        <p:cTn id="126" dur="1" fill="hold">
                                          <p:stCondLst>
                                            <p:cond delay="0"/>
                                          </p:stCondLst>
                                        </p:cTn>
                                        <p:tgtEl>
                                          <p:spTgt spid="36"/>
                                        </p:tgtEl>
                                        <p:attrNameLst>
                                          <p:attrName>style.visibility</p:attrName>
                                        </p:attrNameLst>
                                      </p:cBhvr>
                                      <p:to>
                                        <p:strVal val="visible"/>
                                      </p:to>
                                    </p:set>
                                    <p:animEffect transition="in" filter="wipe(left)">
                                      <p:cBhvr>
                                        <p:cTn id="127" dur="1500"/>
                                        <p:tgtEl>
                                          <p:spTgt spid="36"/>
                                        </p:tgtEl>
                                      </p:cBhvr>
                                    </p:animEffect>
                                  </p:childTnLst>
                                </p:cTn>
                              </p:par>
                            </p:childTnLst>
                          </p:cTn>
                        </p:par>
                        <p:par>
                          <p:cTn id="128" fill="hold">
                            <p:stCondLst>
                              <p:cond delay="2500"/>
                            </p:stCondLst>
                            <p:childTnLst>
                              <p:par>
                                <p:cTn id="129" presetID="22" presetClass="entr" presetSubtype="8" fill="hold" grpId="0" nodeType="afterEffect">
                                  <p:stCondLst>
                                    <p:cond delay="0"/>
                                  </p:stCondLst>
                                  <p:childTnLst>
                                    <p:set>
                                      <p:cBhvr>
                                        <p:cTn id="130" dur="1" fill="hold">
                                          <p:stCondLst>
                                            <p:cond delay="0"/>
                                          </p:stCondLst>
                                        </p:cTn>
                                        <p:tgtEl>
                                          <p:spTgt spid="41"/>
                                        </p:tgtEl>
                                        <p:attrNameLst>
                                          <p:attrName>style.visibility</p:attrName>
                                        </p:attrNameLst>
                                      </p:cBhvr>
                                      <p:to>
                                        <p:strVal val="visible"/>
                                      </p:to>
                                    </p:set>
                                    <p:animEffect transition="in" filter="wipe(left)">
                                      <p:cBhvr>
                                        <p:cTn id="131" dur="500"/>
                                        <p:tgtEl>
                                          <p:spTgt spid="41"/>
                                        </p:tgtEl>
                                      </p:cBhvr>
                                    </p:animEffect>
                                  </p:childTnLst>
                                </p:cTn>
                              </p:par>
                            </p:childTnLst>
                          </p:cTn>
                        </p:par>
                        <p:par>
                          <p:cTn id="132" fill="hold">
                            <p:stCondLst>
                              <p:cond delay="3000"/>
                            </p:stCondLst>
                            <p:childTnLst>
                              <p:par>
                                <p:cTn id="133" presetID="22" presetClass="entr" presetSubtype="8" fill="hold" grpId="0" nodeType="afterEffect">
                                  <p:stCondLst>
                                    <p:cond delay="0"/>
                                  </p:stCondLst>
                                  <p:childTnLst>
                                    <p:set>
                                      <p:cBhvr>
                                        <p:cTn id="134" dur="1" fill="hold">
                                          <p:stCondLst>
                                            <p:cond delay="0"/>
                                          </p:stCondLst>
                                        </p:cTn>
                                        <p:tgtEl>
                                          <p:spTgt spid="40"/>
                                        </p:tgtEl>
                                        <p:attrNameLst>
                                          <p:attrName>style.visibility</p:attrName>
                                        </p:attrNameLst>
                                      </p:cBhvr>
                                      <p:to>
                                        <p:strVal val="visible"/>
                                      </p:to>
                                    </p:set>
                                    <p:animEffect transition="in" filter="wipe(left)">
                                      <p:cBhvr>
                                        <p:cTn id="135" dur="500"/>
                                        <p:tgtEl>
                                          <p:spTgt spid="40"/>
                                        </p:tgtEl>
                                      </p:cBhvr>
                                    </p:animEffect>
                                  </p:childTnLst>
                                </p:cTn>
                              </p:par>
                            </p:childTnLst>
                          </p:cTn>
                        </p:par>
                        <p:par>
                          <p:cTn id="136" fill="hold">
                            <p:stCondLst>
                              <p:cond delay="3500"/>
                            </p:stCondLst>
                            <p:childTnLst>
                              <p:par>
                                <p:cTn id="137" presetID="22" presetClass="entr" presetSubtype="8" fill="hold" grpId="0" nodeType="afterEffect">
                                  <p:stCondLst>
                                    <p:cond delay="0"/>
                                  </p:stCondLst>
                                  <p:childTnLst>
                                    <p:set>
                                      <p:cBhvr>
                                        <p:cTn id="138" dur="1" fill="hold">
                                          <p:stCondLst>
                                            <p:cond delay="0"/>
                                          </p:stCondLst>
                                        </p:cTn>
                                        <p:tgtEl>
                                          <p:spTgt spid="39"/>
                                        </p:tgtEl>
                                        <p:attrNameLst>
                                          <p:attrName>style.visibility</p:attrName>
                                        </p:attrNameLst>
                                      </p:cBhvr>
                                      <p:to>
                                        <p:strVal val="visible"/>
                                      </p:to>
                                    </p:set>
                                    <p:animEffect transition="in" filter="wipe(left)">
                                      <p:cBhvr>
                                        <p:cTn id="139" dur="1500"/>
                                        <p:tgtEl>
                                          <p:spTgt spid="39"/>
                                        </p:tgtEl>
                                      </p:cBhvr>
                                    </p:animEffect>
                                  </p:childTnLst>
                                </p:cTn>
                              </p:par>
                            </p:childTnLst>
                          </p:cTn>
                        </p:par>
                        <p:par>
                          <p:cTn id="140" fill="hold">
                            <p:stCondLst>
                              <p:cond delay="5000"/>
                            </p:stCondLst>
                            <p:childTnLst>
                              <p:par>
                                <p:cTn id="141" presetID="22" presetClass="entr" presetSubtype="8" fill="hold" grpId="0" nodeType="afterEffect">
                                  <p:stCondLst>
                                    <p:cond delay="0"/>
                                  </p:stCondLst>
                                  <p:childTnLst>
                                    <p:set>
                                      <p:cBhvr>
                                        <p:cTn id="142" dur="1" fill="hold">
                                          <p:stCondLst>
                                            <p:cond delay="0"/>
                                          </p:stCondLst>
                                        </p:cTn>
                                        <p:tgtEl>
                                          <p:spTgt spid="46"/>
                                        </p:tgtEl>
                                        <p:attrNameLst>
                                          <p:attrName>style.visibility</p:attrName>
                                        </p:attrNameLst>
                                      </p:cBhvr>
                                      <p:to>
                                        <p:strVal val="visible"/>
                                      </p:to>
                                    </p:set>
                                    <p:animEffect transition="in" filter="wipe(left)">
                                      <p:cBhvr>
                                        <p:cTn id="143" dur="500"/>
                                        <p:tgtEl>
                                          <p:spTgt spid="46"/>
                                        </p:tgtEl>
                                      </p:cBhvr>
                                    </p:animEffect>
                                  </p:childTnLst>
                                </p:cTn>
                              </p:par>
                            </p:childTnLst>
                          </p:cTn>
                        </p:par>
                        <p:par>
                          <p:cTn id="144" fill="hold">
                            <p:stCondLst>
                              <p:cond delay="5500"/>
                            </p:stCondLst>
                            <p:childTnLst>
                              <p:par>
                                <p:cTn id="145" presetID="22" presetClass="entr" presetSubtype="8" fill="hold" grpId="0" nodeType="afterEffect">
                                  <p:stCondLst>
                                    <p:cond delay="0"/>
                                  </p:stCondLst>
                                  <p:childTnLst>
                                    <p:set>
                                      <p:cBhvr>
                                        <p:cTn id="146" dur="1" fill="hold">
                                          <p:stCondLst>
                                            <p:cond delay="0"/>
                                          </p:stCondLst>
                                        </p:cTn>
                                        <p:tgtEl>
                                          <p:spTgt spid="45"/>
                                        </p:tgtEl>
                                        <p:attrNameLst>
                                          <p:attrName>style.visibility</p:attrName>
                                        </p:attrNameLst>
                                      </p:cBhvr>
                                      <p:to>
                                        <p:strVal val="visible"/>
                                      </p:to>
                                    </p:set>
                                    <p:animEffect transition="in" filter="wipe(left)">
                                      <p:cBhvr>
                                        <p:cTn id="147" dur="500"/>
                                        <p:tgtEl>
                                          <p:spTgt spid="45"/>
                                        </p:tgtEl>
                                      </p:cBhvr>
                                    </p:animEffect>
                                  </p:childTnLst>
                                </p:cTn>
                              </p:par>
                            </p:childTnLst>
                          </p:cTn>
                        </p:par>
                        <p:par>
                          <p:cTn id="148" fill="hold">
                            <p:stCondLst>
                              <p:cond delay="6000"/>
                            </p:stCondLst>
                            <p:childTnLst>
                              <p:par>
                                <p:cTn id="149" presetID="22" presetClass="entr" presetSubtype="8" fill="hold" grpId="0" nodeType="afterEffect">
                                  <p:stCondLst>
                                    <p:cond delay="0"/>
                                  </p:stCondLst>
                                  <p:childTnLst>
                                    <p:set>
                                      <p:cBhvr>
                                        <p:cTn id="150" dur="1" fill="hold">
                                          <p:stCondLst>
                                            <p:cond delay="0"/>
                                          </p:stCondLst>
                                        </p:cTn>
                                        <p:tgtEl>
                                          <p:spTgt spid="42"/>
                                        </p:tgtEl>
                                        <p:attrNameLst>
                                          <p:attrName>style.visibility</p:attrName>
                                        </p:attrNameLst>
                                      </p:cBhvr>
                                      <p:to>
                                        <p:strVal val="visible"/>
                                      </p:to>
                                    </p:set>
                                    <p:animEffect transition="in" filter="wipe(left)">
                                      <p:cBhvr>
                                        <p:cTn id="151" dur="1500"/>
                                        <p:tgtEl>
                                          <p:spTgt spid="42"/>
                                        </p:tgtEl>
                                      </p:cBhvr>
                                    </p:animEffect>
                                  </p:childTnLst>
                                </p:cTn>
                              </p:par>
                            </p:childTnLst>
                          </p:cTn>
                        </p:par>
                      </p:childTnLst>
                    </p:cTn>
                  </p:par>
                  <p:par>
                    <p:cTn id="152" fill="hold">
                      <p:stCondLst>
                        <p:cond delay="indefinite"/>
                      </p:stCondLst>
                      <p:childTnLst>
                        <p:par>
                          <p:cTn id="153" fill="hold">
                            <p:stCondLst>
                              <p:cond delay="0"/>
                            </p:stCondLst>
                            <p:childTnLst>
                              <p:par>
                                <p:cTn id="154" presetID="22" presetClass="exit" presetSubtype="8" fill="hold" grpId="1" nodeType="clickEffect">
                                  <p:stCondLst>
                                    <p:cond delay="0"/>
                                  </p:stCondLst>
                                  <p:childTnLst>
                                    <p:animEffect transition="out" filter="wipe(left)">
                                      <p:cBhvr>
                                        <p:cTn id="155" dur="500"/>
                                        <p:tgtEl>
                                          <p:spTgt spid="31"/>
                                        </p:tgtEl>
                                      </p:cBhvr>
                                    </p:animEffect>
                                    <p:set>
                                      <p:cBhvr>
                                        <p:cTn id="156" dur="1" fill="hold">
                                          <p:stCondLst>
                                            <p:cond delay="499"/>
                                          </p:stCondLst>
                                        </p:cTn>
                                        <p:tgtEl>
                                          <p:spTgt spid="31"/>
                                        </p:tgtEl>
                                        <p:attrNameLst>
                                          <p:attrName>style.visibility</p:attrName>
                                        </p:attrNameLst>
                                      </p:cBhvr>
                                      <p:to>
                                        <p:strVal val="hidden"/>
                                      </p:to>
                                    </p:set>
                                  </p:childTnLst>
                                </p:cTn>
                              </p:par>
                            </p:childTnLst>
                          </p:cTn>
                        </p:par>
                        <p:par>
                          <p:cTn id="157" fill="hold">
                            <p:stCondLst>
                              <p:cond delay="500"/>
                            </p:stCondLst>
                            <p:childTnLst>
                              <p:par>
                                <p:cTn id="158" presetID="22" presetClass="entr" presetSubtype="8" fill="hold" grpId="0" nodeType="afterEffect">
                                  <p:stCondLst>
                                    <p:cond delay="0"/>
                                  </p:stCondLst>
                                  <p:childTnLst>
                                    <p:set>
                                      <p:cBhvr>
                                        <p:cTn id="159" dur="1" fill="hold">
                                          <p:stCondLst>
                                            <p:cond delay="0"/>
                                          </p:stCondLst>
                                        </p:cTn>
                                        <p:tgtEl>
                                          <p:spTgt spid="26"/>
                                        </p:tgtEl>
                                        <p:attrNameLst>
                                          <p:attrName>style.visibility</p:attrName>
                                        </p:attrNameLst>
                                      </p:cBhvr>
                                      <p:to>
                                        <p:strVal val="visible"/>
                                      </p:to>
                                    </p:set>
                                    <p:animEffect transition="in" filter="wipe(left)">
                                      <p:cBhvr>
                                        <p:cTn id="160" dur="1000"/>
                                        <p:tgtEl>
                                          <p:spTgt spid="26"/>
                                        </p:tgtEl>
                                      </p:cBhvr>
                                    </p:animEffect>
                                  </p:childTnLst>
                                </p:cTn>
                              </p:par>
                            </p:childTnLst>
                          </p:cTn>
                        </p:par>
                      </p:childTnLst>
                    </p:cTn>
                  </p:par>
                  <p:par>
                    <p:cTn id="161" fill="hold">
                      <p:stCondLst>
                        <p:cond delay="indefinite"/>
                      </p:stCondLst>
                      <p:childTnLst>
                        <p:par>
                          <p:cTn id="162" fill="hold">
                            <p:stCondLst>
                              <p:cond delay="0"/>
                            </p:stCondLst>
                            <p:childTnLst>
                              <p:par>
                                <p:cTn id="163" presetID="22" presetClass="entr" presetSubtype="8" fill="hold" grpId="0" nodeType="clickEffect">
                                  <p:stCondLst>
                                    <p:cond delay="0"/>
                                  </p:stCondLst>
                                  <p:childTnLst>
                                    <p:set>
                                      <p:cBhvr>
                                        <p:cTn id="164" dur="1" fill="hold">
                                          <p:stCondLst>
                                            <p:cond delay="0"/>
                                          </p:stCondLst>
                                        </p:cTn>
                                        <p:tgtEl>
                                          <p:spTgt spid="25"/>
                                        </p:tgtEl>
                                        <p:attrNameLst>
                                          <p:attrName>style.visibility</p:attrName>
                                        </p:attrNameLst>
                                      </p:cBhvr>
                                      <p:to>
                                        <p:strVal val="visible"/>
                                      </p:to>
                                    </p:set>
                                    <p:animEffect transition="in" filter="wipe(left)">
                                      <p:cBhvr>
                                        <p:cTn id="165" dur="500"/>
                                        <p:tgtEl>
                                          <p:spTgt spid="25"/>
                                        </p:tgtEl>
                                      </p:cBhvr>
                                    </p:animEffect>
                                  </p:childTnLst>
                                </p:cTn>
                              </p:par>
                            </p:childTnLst>
                          </p:cTn>
                        </p:par>
                        <p:par>
                          <p:cTn id="166" fill="hold">
                            <p:stCondLst>
                              <p:cond delay="500"/>
                            </p:stCondLst>
                            <p:childTnLst>
                              <p:par>
                                <p:cTn id="167" presetID="22" presetClass="entr" presetSubtype="1" fill="hold" nodeType="afterEffect">
                                  <p:stCondLst>
                                    <p:cond delay="0"/>
                                  </p:stCondLst>
                                  <p:childTnLst>
                                    <p:set>
                                      <p:cBhvr>
                                        <p:cTn id="168" dur="1" fill="hold">
                                          <p:stCondLst>
                                            <p:cond delay="0"/>
                                          </p:stCondLst>
                                        </p:cTn>
                                        <p:tgtEl>
                                          <p:spTgt spid="5"/>
                                        </p:tgtEl>
                                        <p:attrNameLst>
                                          <p:attrName>style.visibility</p:attrName>
                                        </p:attrNameLst>
                                      </p:cBhvr>
                                      <p:to>
                                        <p:strVal val="visible"/>
                                      </p:to>
                                    </p:set>
                                    <p:animEffect transition="in" filter="wipe(up)">
                                      <p:cBhvr>
                                        <p:cTn id="169" dur="500"/>
                                        <p:tgtEl>
                                          <p:spTgt spid="5"/>
                                        </p:tgtEl>
                                      </p:cBhvr>
                                    </p:animEffect>
                                  </p:childTnLst>
                                </p:cTn>
                              </p:par>
                            </p:childTnLst>
                          </p:cTn>
                        </p:par>
                        <p:par>
                          <p:cTn id="170" fill="hold">
                            <p:stCondLst>
                              <p:cond delay="1000"/>
                            </p:stCondLst>
                            <p:childTnLst>
                              <p:par>
                                <p:cTn id="171" presetID="22" presetClass="entr" presetSubtype="1" fill="hold" grpId="0" nodeType="afterEffect">
                                  <p:stCondLst>
                                    <p:cond delay="0"/>
                                  </p:stCondLst>
                                  <p:childTnLst>
                                    <p:set>
                                      <p:cBhvr>
                                        <p:cTn id="172" dur="1" fill="hold">
                                          <p:stCondLst>
                                            <p:cond delay="0"/>
                                          </p:stCondLst>
                                        </p:cTn>
                                        <p:tgtEl>
                                          <p:spTgt spid="29"/>
                                        </p:tgtEl>
                                        <p:attrNameLst>
                                          <p:attrName>style.visibility</p:attrName>
                                        </p:attrNameLst>
                                      </p:cBhvr>
                                      <p:to>
                                        <p:strVal val="visible"/>
                                      </p:to>
                                    </p:set>
                                    <p:animEffect transition="in" filter="wipe(up)">
                                      <p:cBhvr>
                                        <p:cTn id="173" dur="1500"/>
                                        <p:tgtEl>
                                          <p:spTgt spid="29"/>
                                        </p:tgtEl>
                                      </p:cBhvr>
                                    </p:animEffect>
                                  </p:childTnLst>
                                </p:cTn>
                              </p:par>
                            </p:childTnLst>
                          </p:cTn>
                        </p:par>
                        <p:par>
                          <p:cTn id="174" fill="hold">
                            <p:stCondLst>
                              <p:cond delay="2500"/>
                            </p:stCondLst>
                            <p:childTnLst>
                              <p:par>
                                <p:cTn id="175" presetID="22" presetClass="entr" presetSubtype="1" fill="hold" nodeType="afterEffect">
                                  <p:stCondLst>
                                    <p:cond delay="0"/>
                                  </p:stCondLst>
                                  <p:childTnLst>
                                    <p:set>
                                      <p:cBhvr>
                                        <p:cTn id="176" dur="1" fill="hold">
                                          <p:stCondLst>
                                            <p:cond delay="0"/>
                                          </p:stCondLst>
                                        </p:cTn>
                                        <p:tgtEl>
                                          <p:spTgt spid="9"/>
                                        </p:tgtEl>
                                        <p:attrNameLst>
                                          <p:attrName>style.visibility</p:attrName>
                                        </p:attrNameLst>
                                      </p:cBhvr>
                                      <p:to>
                                        <p:strVal val="visible"/>
                                      </p:to>
                                    </p:set>
                                    <p:animEffect transition="in" filter="wipe(up)">
                                      <p:cBhvr>
                                        <p:cTn id="177" dur="500"/>
                                        <p:tgtEl>
                                          <p:spTgt spid="9"/>
                                        </p:tgtEl>
                                      </p:cBhvr>
                                    </p:animEffect>
                                  </p:childTnLst>
                                </p:cTn>
                              </p:par>
                            </p:childTnLst>
                          </p:cTn>
                        </p:par>
                        <p:par>
                          <p:cTn id="178" fill="hold">
                            <p:stCondLst>
                              <p:cond delay="3000"/>
                            </p:stCondLst>
                            <p:childTnLst>
                              <p:par>
                                <p:cTn id="179" presetID="22" presetClass="entr" presetSubtype="1" fill="hold" grpId="0" nodeType="afterEffect">
                                  <p:stCondLst>
                                    <p:cond delay="0"/>
                                  </p:stCondLst>
                                  <p:childTnLst>
                                    <p:set>
                                      <p:cBhvr>
                                        <p:cTn id="180" dur="1" fill="hold">
                                          <p:stCondLst>
                                            <p:cond delay="0"/>
                                          </p:stCondLst>
                                        </p:cTn>
                                        <p:tgtEl>
                                          <p:spTgt spid="30"/>
                                        </p:tgtEl>
                                        <p:attrNameLst>
                                          <p:attrName>style.visibility</p:attrName>
                                        </p:attrNameLst>
                                      </p:cBhvr>
                                      <p:to>
                                        <p:strVal val="visible"/>
                                      </p:to>
                                    </p:set>
                                    <p:animEffect transition="in" filter="wipe(up)">
                                      <p:cBhvr>
                                        <p:cTn id="181" dur="1500"/>
                                        <p:tgtEl>
                                          <p:spTgt spid="30"/>
                                        </p:tgtEl>
                                      </p:cBhvr>
                                    </p:animEffect>
                                  </p:childTnLst>
                                </p:cTn>
                              </p:par>
                            </p:childTnLst>
                          </p:cTn>
                        </p:par>
                      </p:childTnLst>
                    </p:cTn>
                  </p:par>
                  <p:par>
                    <p:cTn id="182" fill="hold">
                      <p:stCondLst>
                        <p:cond delay="indefinite"/>
                      </p:stCondLst>
                      <p:childTnLst>
                        <p:par>
                          <p:cTn id="183" fill="hold">
                            <p:stCondLst>
                              <p:cond delay="0"/>
                            </p:stCondLst>
                            <p:childTnLst>
                              <p:par>
                                <p:cTn id="184" presetID="22" presetClass="exit" presetSubtype="8" fill="hold" grpId="1" nodeType="clickEffect">
                                  <p:stCondLst>
                                    <p:cond delay="0"/>
                                  </p:stCondLst>
                                  <p:childTnLst>
                                    <p:animEffect transition="out" filter="wipe(left)">
                                      <p:cBhvr>
                                        <p:cTn id="185" dur="500"/>
                                        <p:tgtEl>
                                          <p:spTgt spid="26"/>
                                        </p:tgtEl>
                                      </p:cBhvr>
                                    </p:animEffect>
                                    <p:set>
                                      <p:cBhvr>
                                        <p:cTn id="186" dur="1" fill="hold">
                                          <p:stCondLst>
                                            <p:cond delay="499"/>
                                          </p:stCondLst>
                                        </p:cTn>
                                        <p:tgtEl>
                                          <p:spTgt spid="26"/>
                                        </p:tgtEl>
                                        <p:attrNameLst>
                                          <p:attrName>style.visibility</p:attrName>
                                        </p:attrNameLst>
                                      </p:cBhvr>
                                      <p:to>
                                        <p:strVal val="hidden"/>
                                      </p:to>
                                    </p:set>
                                  </p:childTnLst>
                                </p:cTn>
                              </p:par>
                            </p:childTnLst>
                          </p:cTn>
                        </p:par>
                        <p:par>
                          <p:cTn id="187" fill="hold">
                            <p:stCondLst>
                              <p:cond delay="500"/>
                            </p:stCondLst>
                            <p:childTnLst>
                              <p:par>
                                <p:cTn id="188" presetID="22" presetClass="entr" presetSubtype="8" fill="hold" grpId="0" nodeType="afterEffect">
                                  <p:stCondLst>
                                    <p:cond delay="0"/>
                                  </p:stCondLst>
                                  <p:childTnLst>
                                    <p:set>
                                      <p:cBhvr>
                                        <p:cTn id="189" dur="1" fill="hold">
                                          <p:stCondLst>
                                            <p:cond delay="0"/>
                                          </p:stCondLst>
                                        </p:cTn>
                                        <p:tgtEl>
                                          <p:spTgt spid="32"/>
                                        </p:tgtEl>
                                        <p:attrNameLst>
                                          <p:attrName>style.visibility</p:attrName>
                                        </p:attrNameLst>
                                      </p:cBhvr>
                                      <p:to>
                                        <p:strVal val="visible"/>
                                      </p:to>
                                    </p:set>
                                    <p:animEffect transition="in" filter="wipe(left)">
                                      <p:cBhvr>
                                        <p:cTn id="190" dur="500"/>
                                        <p:tgtEl>
                                          <p:spTgt spid="32"/>
                                        </p:tgtEl>
                                      </p:cBhvr>
                                    </p:animEffect>
                                  </p:childTnLst>
                                </p:cTn>
                              </p:par>
                            </p:childTnLst>
                          </p:cTn>
                        </p:par>
                        <p:par>
                          <p:cTn id="191" fill="hold">
                            <p:stCondLst>
                              <p:cond delay="1000"/>
                            </p:stCondLst>
                            <p:childTnLst>
                              <p:par>
                                <p:cTn id="192" presetID="22" presetClass="entr" presetSubtype="8" fill="hold" grpId="0" nodeType="afterEffect">
                                  <p:stCondLst>
                                    <p:cond delay="0"/>
                                  </p:stCondLst>
                                  <p:childTnLst>
                                    <p:set>
                                      <p:cBhvr>
                                        <p:cTn id="193" dur="1" fill="hold">
                                          <p:stCondLst>
                                            <p:cond delay="0"/>
                                          </p:stCondLst>
                                        </p:cTn>
                                        <p:tgtEl>
                                          <p:spTgt spid="28"/>
                                        </p:tgtEl>
                                        <p:attrNameLst>
                                          <p:attrName>style.visibility</p:attrName>
                                        </p:attrNameLst>
                                      </p:cBhvr>
                                      <p:to>
                                        <p:strVal val="visible"/>
                                      </p:to>
                                    </p:set>
                                    <p:animEffect transition="in" filter="wipe(left)">
                                      <p:cBhvr>
                                        <p:cTn id="194" dur="1000"/>
                                        <p:tgtEl>
                                          <p:spTgt spid="28"/>
                                        </p:tgtEl>
                                      </p:cBhvr>
                                    </p:animEffect>
                                  </p:childTnLst>
                                </p:cTn>
                              </p:par>
                            </p:childTnLst>
                          </p:cTn>
                        </p:par>
                        <p:par>
                          <p:cTn id="195" fill="hold">
                            <p:stCondLst>
                              <p:cond delay="2000"/>
                            </p:stCondLst>
                            <p:childTnLst>
                              <p:par>
                                <p:cTn id="196" presetID="22" presetClass="entr" presetSubtype="8" fill="hold" nodeType="afterEffect">
                                  <p:stCondLst>
                                    <p:cond delay="0"/>
                                  </p:stCondLst>
                                  <p:childTnLst>
                                    <p:set>
                                      <p:cBhvr>
                                        <p:cTn id="197" dur="1" fill="hold">
                                          <p:stCondLst>
                                            <p:cond delay="0"/>
                                          </p:stCondLst>
                                        </p:cTn>
                                        <p:tgtEl>
                                          <p:spTgt spid="43"/>
                                        </p:tgtEl>
                                        <p:attrNameLst>
                                          <p:attrName>style.visibility</p:attrName>
                                        </p:attrNameLst>
                                      </p:cBhvr>
                                      <p:to>
                                        <p:strVal val="visible"/>
                                      </p:to>
                                    </p:set>
                                    <p:animEffect transition="in" filter="wipe(left)">
                                      <p:cBhvr>
                                        <p:cTn id="198" dur="2000"/>
                                        <p:tgtEl>
                                          <p:spTgt spid="4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uiExpand="1" build="p"/>
      <p:bldP spid="17" grpId="0"/>
      <p:bldP spid="19" grpId="0" uiExpand="1" build="p"/>
      <p:bldP spid="10" grpId="0"/>
      <p:bldP spid="25" grpId="0"/>
      <p:bldP spid="28" grpId="0" animBg="1"/>
      <p:bldP spid="29" grpId="0" animBg="1"/>
      <p:bldP spid="30" grpId="0" animBg="1"/>
      <p:bldP spid="31" grpId="0" animBg="1"/>
      <p:bldP spid="31" grpId="1" animBg="1"/>
      <p:bldP spid="32" grpId="0"/>
      <p:bldP spid="35" grpId="0" animBg="1"/>
      <p:bldP spid="35" grpId="1" animBg="1"/>
      <p:bldP spid="2" grpId="0"/>
      <p:bldP spid="44" grpId="0" animBg="1"/>
      <p:bldP spid="51" grpId="0" uiExpand="1" build="p"/>
      <p:bldP spid="52" grpId="0" uiExpand="1" build="p"/>
      <p:bldP spid="53" grpId="0" uiExpand="1" build="p"/>
      <p:bldP spid="54" grpId="0" uiExpand="1" build="p"/>
      <p:bldP spid="26" grpId="0" animBg="1"/>
      <p:bldP spid="26" grpId="1" animBg="1"/>
      <p:bldP spid="27" grpId="0" animBg="1"/>
      <p:bldP spid="34" grpId="0" animBg="1"/>
      <p:bldP spid="33" grpId="0" animBg="1"/>
      <p:bldP spid="36" grpId="0" animBg="1"/>
      <p:bldP spid="37" grpId="0" animBg="1"/>
      <p:bldP spid="38" grpId="0" animBg="1"/>
      <p:bldP spid="39" grpId="0" animBg="1"/>
      <p:bldP spid="40" grpId="0" animBg="1"/>
      <p:bldP spid="41" grpId="0" animBg="1"/>
      <p:bldP spid="42" grpId="0" animBg="1"/>
      <p:bldP spid="45" grpId="0" animBg="1"/>
      <p:bldP spid="46" grpId="0" animBg="1"/>
      <p:bldP spid="47" grpId="0" animBg="1"/>
      <p:bldP spid="48" grpId="0"/>
    </p:bldLst>
  </p:timing>
</p:sld>
</file>

<file path=ppt/slides/slide88.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08C76DEA-F650-51AB-7EE7-9B3064808EC0}"/>
              </a:ext>
            </a:extLst>
          </p:cNvPr>
          <p:cNvSpPr>
            <a:spLocks noGrp="1"/>
          </p:cNvSpPr>
          <p:nvPr>
            <p:ph type="title"/>
          </p:nvPr>
        </p:nvSpPr>
        <p:spPr/>
        <p:txBody>
          <a:bodyPr/>
          <a:lstStyle/>
          <a:p>
            <a:r>
              <a:rPr lang="en-GB" dirty="0"/>
              <a:t>Order of Operations (6)</a:t>
            </a:r>
          </a:p>
        </p:txBody>
      </p:sp>
      <p:sp>
        <p:nvSpPr>
          <p:cNvPr id="6" name="SQL">
            <a:extLst>
              <a:ext uri="{FF2B5EF4-FFF2-40B4-BE49-F238E27FC236}">
                <a16:creationId xmlns:a16="http://schemas.microsoft.com/office/drawing/2014/main" id="{C460184D-D803-F499-E82E-972FB39F9288}"/>
              </a:ext>
            </a:extLst>
          </p:cNvPr>
          <p:cNvSpPr>
            <a:spLocks noChangeArrowheads="1"/>
          </p:cNvSpPr>
          <p:nvPr/>
        </p:nvSpPr>
        <p:spPr bwMode="auto">
          <a:xfrm>
            <a:off x="619125" y="1524726"/>
            <a:ext cx="5121915" cy="101566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name, company</a:t>
            </a:r>
          </a:p>
          <a:p>
            <a:pPr lvl="0" eaLnBrk="0" fontAlgn="base" hangingPunct="0">
              <a:spcBef>
                <a:spcPct val="0"/>
              </a:spcBef>
              <a:spcAft>
                <a:spcPct val="0"/>
              </a:spcAft>
            </a:pPr>
            <a:r>
              <a:rPr lang="en-US" altLang="en-US" sz="2000" dirty="0">
                <a:solidFill>
                  <a:srgbClr val="B2B2B2"/>
                </a:solidFill>
                <a:latin typeface="Consolas" panose="020B0609020204030204" pitchFamily="49" charset="0"/>
              </a:rPr>
              <a:t>2 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FROM</a:t>
            </a:r>
            <a:r>
              <a:rPr lang="en-US" altLang="en-US" sz="2000" dirty="0">
                <a:solidFill>
                  <a:srgbClr val="000000"/>
                </a:solidFill>
                <a:latin typeface="Consolas" panose="020B0609020204030204" pitchFamily="49" charset="0"/>
              </a:rPr>
              <a:t> Pet, Insurer</a:t>
            </a:r>
          </a:p>
          <a:p>
            <a:pPr eaLnBrk="0" fontAlgn="base" hangingPunct="0">
              <a:spcBef>
                <a:spcPct val="0"/>
              </a:spcBef>
              <a:spcAft>
                <a:spcPct val="0"/>
              </a:spcAft>
            </a:pPr>
            <a:r>
              <a:rPr lang="en-US" altLang="en-US" sz="2000" dirty="0">
                <a:solidFill>
                  <a:srgbClr val="B2B2B2"/>
                </a:solidFill>
                <a:latin typeface="Consolas" panose="020B0609020204030204" pitchFamily="49" charset="0"/>
              </a:rPr>
              <a:t>3 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WHERE</a:t>
            </a:r>
            <a:r>
              <a:rPr lang="en-US" altLang="en-US" sz="2000" dirty="0">
                <a:solidFill>
                  <a:srgbClr val="000000"/>
                </a:solidFill>
                <a:latin typeface="Consolas" panose="020B0609020204030204" pitchFamily="49" charset="0"/>
              </a:rPr>
              <a:t> </a:t>
            </a:r>
            <a:r>
              <a:rPr lang="en-US" altLang="en-US" sz="2000" dirty="0" err="1">
                <a:solidFill>
                  <a:srgbClr val="000000"/>
                </a:solidFill>
                <a:latin typeface="Consolas" panose="020B0609020204030204" pitchFamily="49" charset="0"/>
              </a:rPr>
              <a:t>Pet.insurer</a:t>
            </a:r>
            <a:r>
              <a:rPr lang="en-US" altLang="en-US" sz="2000" dirty="0">
                <a:solidFill>
                  <a:srgbClr val="000000"/>
                </a:solidFill>
                <a:latin typeface="Consolas" panose="020B0609020204030204" pitchFamily="49" charset="0"/>
              </a:rPr>
              <a:t> = Insurer.id;</a:t>
            </a:r>
            <a:endParaRPr lang="en-US" altLang="en-US" sz="2000" dirty="0">
              <a:latin typeface="Consolas" panose="020B0609020204030204" pitchFamily="49" charset="0"/>
            </a:endParaRPr>
          </a:p>
        </p:txBody>
      </p:sp>
      <p:sp>
        <p:nvSpPr>
          <p:cNvPr id="17" name="Pet">
            <a:extLst>
              <a:ext uri="{FF2B5EF4-FFF2-40B4-BE49-F238E27FC236}">
                <a16:creationId xmlns:a16="http://schemas.microsoft.com/office/drawing/2014/main" id="{37697A85-FE4A-5F49-87D3-DF60452AD532}"/>
              </a:ext>
            </a:extLst>
          </p:cNvPr>
          <p:cNvSpPr txBox="1"/>
          <p:nvPr/>
        </p:nvSpPr>
        <p:spPr>
          <a:xfrm>
            <a:off x="501700" y="2767538"/>
            <a:ext cx="1771650" cy="369332"/>
          </a:xfrm>
          <a:prstGeom prst="rect">
            <a:avLst/>
          </a:prstGeom>
          <a:noFill/>
        </p:spPr>
        <p:txBody>
          <a:bodyPr wrap="square" rtlCol="0">
            <a:spAutoFit/>
          </a:bodyPr>
          <a:lstStyle/>
          <a:p>
            <a:r>
              <a:rPr lang="en-GB" b="1" dirty="0"/>
              <a:t>Table: Pet</a:t>
            </a:r>
          </a:p>
        </p:txBody>
      </p:sp>
      <p:sp>
        <p:nvSpPr>
          <p:cNvPr id="19" name="Order">
            <a:extLst>
              <a:ext uri="{FF2B5EF4-FFF2-40B4-BE49-F238E27FC236}">
                <a16:creationId xmlns:a16="http://schemas.microsoft.com/office/drawing/2014/main" id="{39027E70-266E-C921-B96A-180149336170}"/>
              </a:ext>
            </a:extLst>
          </p:cNvPr>
          <p:cNvSpPr txBox="1"/>
          <p:nvPr/>
        </p:nvSpPr>
        <p:spPr>
          <a:xfrm>
            <a:off x="7417818" y="494976"/>
            <a:ext cx="2590417" cy="1815882"/>
          </a:xfrm>
          <a:prstGeom prst="rect">
            <a:avLst/>
          </a:prstGeom>
          <a:noFill/>
        </p:spPr>
        <p:txBody>
          <a:bodyPr wrap="square" rtlCol="0">
            <a:spAutoFit/>
          </a:bodyPr>
          <a:lstStyle/>
          <a:p>
            <a:r>
              <a:rPr lang="en-GB" sz="2800" b="1" dirty="0">
                <a:solidFill>
                  <a:srgbClr val="7030A0"/>
                </a:solidFill>
              </a:rPr>
              <a:t>Order</a:t>
            </a:r>
            <a:r>
              <a:rPr lang="en-GB" sz="2800" dirty="0">
                <a:solidFill>
                  <a:srgbClr val="7030A0"/>
                </a:solidFill>
              </a:rPr>
              <a:t>:</a:t>
            </a:r>
          </a:p>
          <a:p>
            <a:pPr lvl="1"/>
            <a:r>
              <a:rPr lang="en-GB" sz="2800" dirty="0">
                <a:solidFill>
                  <a:srgbClr val="7030A0"/>
                </a:solidFill>
              </a:rPr>
              <a:t>1.  FROM</a:t>
            </a:r>
          </a:p>
          <a:p>
            <a:pPr lvl="1"/>
            <a:r>
              <a:rPr lang="en-GB" sz="2800" dirty="0">
                <a:solidFill>
                  <a:srgbClr val="7030A0"/>
                </a:solidFill>
              </a:rPr>
              <a:t>2.  WHERE</a:t>
            </a:r>
          </a:p>
          <a:p>
            <a:pPr lvl="1"/>
            <a:r>
              <a:rPr lang="en-GB" sz="2800" dirty="0">
                <a:solidFill>
                  <a:srgbClr val="7030A0"/>
                </a:solidFill>
              </a:rPr>
              <a:t>3.  SELECT</a:t>
            </a:r>
          </a:p>
        </p:txBody>
      </p:sp>
      <p:graphicFrame>
        <p:nvGraphicFramePr>
          <p:cNvPr id="22" name="Pet - Table">
            <a:extLst>
              <a:ext uri="{FF2B5EF4-FFF2-40B4-BE49-F238E27FC236}">
                <a16:creationId xmlns:a16="http://schemas.microsoft.com/office/drawing/2014/main" id="{E1C47C29-B1FD-7991-E626-2F12DC1AFFDE}"/>
              </a:ext>
            </a:extLst>
          </p:cNvPr>
          <p:cNvGraphicFramePr>
            <a:graphicFrameLocks noGrp="1"/>
          </p:cNvGraphicFramePr>
          <p:nvPr/>
        </p:nvGraphicFramePr>
        <p:xfrm>
          <a:off x="587423" y="3088606"/>
          <a:ext cx="2152143" cy="16192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536575">
                  <a:extLst>
                    <a:ext uri="{9D8B030D-6E8A-4147-A177-3AD203B41FA5}">
                      <a16:colId xmlns:a16="http://schemas.microsoft.com/office/drawing/2014/main" val="3258369125"/>
                    </a:ext>
                  </a:extLst>
                </a:gridCol>
                <a:gridCol w="803085">
                  <a:extLst>
                    <a:ext uri="{9D8B030D-6E8A-4147-A177-3AD203B41FA5}">
                      <a16:colId xmlns:a16="http://schemas.microsoft.com/office/drawing/2014/main" val="3431466674"/>
                    </a:ext>
                  </a:extLst>
                </a:gridCol>
              </a:tblGrid>
              <a:tr h="0">
                <a:tc>
                  <a:txBody>
                    <a:bodyPr/>
                    <a:lstStyle/>
                    <a:p>
                      <a:pPr algn="l"/>
                      <a:r>
                        <a:rPr lang="en-GB" sz="2000" b="0" i="0" dirty="0">
                          <a:solidFill>
                            <a:schemeClr val="bg1"/>
                          </a:solidFill>
                          <a:effectLst/>
                          <a:latin typeface="+mn-lt"/>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mn-lt"/>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mn-lt"/>
                          <a:cs typeface="Calibri" panose="020F0502020204030204" pitchFamily="34" charset="0"/>
                        </a:rPr>
                        <a:t>insurer</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dirty="0">
                          <a:solidFill>
                            <a:schemeClr val="tx1"/>
                          </a:solidFill>
                          <a:effectLst/>
                          <a:latin typeface="+mn-lt"/>
                        </a:rPr>
                        <a:t>Pepper</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latin typeface="+mn-lt"/>
                        </a:rPr>
                        <a:t>Cat</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latin typeface="+mn-lt"/>
                        </a:rPr>
                        <a:t>0</a:t>
                      </a:r>
                      <a:endParaRPr lang="en-GB" sz="20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latin typeface="+mn-lt"/>
                        </a:rPr>
                        <a:t>Cindy</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latin typeface="+mn-lt"/>
                        </a:rPr>
                        <a:t>Dog</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mn-lt"/>
                          <a:cs typeface="Calibri" panose="020F0502020204030204" pitchFamily="34" charset="0"/>
                        </a:rPr>
                        <a:t>2</a:t>
                      </a: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dirty="0">
                          <a:solidFill>
                            <a:schemeClr val="tx1"/>
                          </a:solidFill>
                          <a:effectLst/>
                          <a:latin typeface="+mn-lt"/>
                        </a:rPr>
                        <a:t>Snowy</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latin typeface="+mn-lt"/>
                        </a:rPr>
                        <a:t>Cat</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mn-lt"/>
                          <a:cs typeface="Calibri" panose="020F0502020204030204" pitchFamily="34" charset="0"/>
                        </a:rPr>
                        <a:t>1</a:t>
                      </a: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a:solidFill>
                            <a:schemeClr val="tx1"/>
                          </a:solidFill>
                          <a:effectLst/>
                          <a:latin typeface="+mn-lt"/>
                        </a:rPr>
                        <a:t>Kitty</a:t>
                      </a:r>
                      <a:endParaRPr lang="en-GB" sz="2000" b="0" i="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a:solidFill>
                            <a:schemeClr val="tx1"/>
                          </a:solidFill>
                          <a:effectLst/>
                          <a:latin typeface="+mn-lt"/>
                        </a:rPr>
                        <a:t>Cat</a:t>
                      </a:r>
                      <a:endParaRPr lang="en-GB" sz="2000" b="0" i="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mn-lt"/>
                          <a:cs typeface="Calibri" panose="020F0502020204030204" pitchFamily="34" charset="0"/>
                        </a:rPr>
                        <a:t>1</a:t>
                      </a:r>
                    </a:p>
                  </a:txBody>
                  <a:tcPr marL="9525" marR="9525" marT="9525" marB="9525" anchor="ctr"/>
                </a:tc>
                <a:extLst>
                  <a:ext uri="{0D108BD9-81ED-4DB2-BD59-A6C34878D82A}">
                    <a16:rowId xmlns:a16="http://schemas.microsoft.com/office/drawing/2014/main" val="812093042"/>
                  </a:ext>
                </a:extLst>
              </a:tr>
            </a:tbl>
          </a:graphicData>
        </a:graphic>
      </p:graphicFrame>
      <p:graphicFrame>
        <p:nvGraphicFramePr>
          <p:cNvPr id="23" name="Temp - Table">
            <a:extLst>
              <a:ext uri="{FF2B5EF4-FFF2-40B4-BE49-F238E27FC236}">
                <a16:creationId xmlns:a16="http://schemas.microsoft.com/office/drawing/2014/main" id="{57FE39BF-DC05-E516-87E6-26364C7BBE24}"/>
              </a:ext>
            </a:extLst>
          </p:cNvPr>
          <p:cNvGraphicFramePr>
            <a:graphicFrameLocks noGrp="1"/>
          </p:cNvGraphicFramePr>
          <p:nvPr/>
        </p:nvGraphicFramePr>
        <p:xfrm>
          <a:off x="4820545" y="2833037"/>
          <a:ext cx="3107310" cy="3813810"/>
        </p:xfrm>
        <a:graphic>
          <a:graphicData uri="http://schemas.openxmlformats.org/drawingml/2006/table">
            <a:tbl>
              <a:tblPr firstRow="1" bandRow="1">
                <a:tableStyleId>{5C22544A-7EE6-4342-B048-85BDC9FD1C3A}</a:tableStyleId>
              </a:tblPr>
              <a:tblGrid>
                <a:gridCol w="733616">
                  <a:extLst>
                    <a:ext uri="{9D8B030D-6E8A-4147-A177-3AD203B41FA5}">
                      <a16:colId xmlns:a16="http://schemas.microsoft.com/office/drawing/2014/main" val="2854243258"/>
                    </a:ext>
                  </a:extLst>
                </a:gridCol>
                <a:gridCol w="485775">
                  <a:extLst>
                    <a:ext uri="{9D8B030D-6E8A-4147-A177-3AD203B41FA5}">
                      <a16:colId xmlns:a16="http://schemas.microsoft.com/office/drawing/2014/main" val="3258369125"/>
                    </a:ext>
                  </a:extLst>
                </a:gridCol>
                <a:gridCol w="724091">
                  <a:extLst>
                    <a:ext uri="{9D8B030D-6E8A-4147-A177-3AD203B41FA5}">
                      <a16:colId xmlns:a16="http://schemas.microsoft.com/office/drawing/2014/main" val="3431466674"/>
                    </a:ext>
                  </a:extLst>
                </a:gridCol>
                <a:gridCol w="244475">
                  <a:extLst>
                    <a:ext uri="{9D8B030D-6E8A-4147-A177-3AD203B41FA5}">
                      <a16:colId xmlns:a16="http://schemas.microsoft.com/office/drawing/2014/main" val="994748769"/>
                    </a:ext>
                  </a:extLst>
                </a:gridCol>
                <a:gridCol w="919353">
                  <a:extLst>
                    <a:ext uri="{9D8B030D-6E8A-4147-A177-3AD203B41FA5}">
                      <a16:colId xmlns:a16="http://schemas.microsoft.com/office/drawing/2014/main" val="2564927205"/>
                    </a:ext>
                  </a:extLst>
                </a:gridCol>
              </a:tblGrid>
              <a:tr h="0">
                <a:tc>
                  <a:txBody>
                    <a:bodyPr/>
                    <a:lstStyle/>
                    <a:p>
                      <a:pPr algn="l"/>
                      <a:r>
                        <a:rPr lang="en-GB" sz="1800" b="0" i="0" dirty="0">
                          <a:solidFill>
                            <a:schemeClr val="bg1"/>
                          </a:solidFill>
                          <a:effectLst/>
                          <a:latin typeface="+mn-lt"/>
                          <a:cs typeface="Calibri" panose="020F0502020204030204" pitchFamily="34" charset="0"/>
                        </a:rPr>
                        <a:t>name</a:t>
                      </a:r>
                    </a:p>
                  </a:txBody>
                  <a:tcPr marL="9525" marR="9525" marT="9525" marB="9525" anchor="ctr"/>
                </a:tc>
                <a:tc>
                  <a:txBody>
                    <a:bodyPr/>
                    <a:lstStyle/>
                    <a:p>
                      <a:pPr algn="l"/>
                      <a:r>
                        <a:rPr lang="en-GB" sz="1800" b="0" i="0" dirty="0">
                          <a:solidFill>
                            <a:schemeClr val="bg1"/>
                          </a:solidFill>
                          <a:effectLst/>
                          <a:latin typeface="+mn-lt"/>
                          <a:cs typeface="Calibri" panose="020F0502020204030204" pitchFamily="34" charset="0"/>
                        </a:rPr>
                        <a:t>type</a:t>
                      </a:r>
                    </a:p>
                  </a:txBody>
                  <a:tcPr marL="9525" marR="9525" marT="9525" marB="9525" anchor="ctr"/>
                </a:tc>
                <a:tc>
                  <a:txBody>
                    <a:bodyPr/>
                    <a:lstStyle/>
                    <a:p>
                      <a:pPr algn="l"/>
                      <a:r>
                        <a:rPr lang="en-GB" sz="1800" b="0" i="0" dirty="0">
                          <a:solidFill>
                            <a:schemeClr val="bg1"/>
                          </a:solidFill>
                          <a:effectLst/>
                          <a:latin typeface="+mn-lt"/>
                          <a:cs typeface="Calibri" panose="020F0502020204030204" pitchFamily="34" charset="0"/>
                        </a:rPr>
                        <a:t>insurer</a:t>
                      </a:r>
                    </a:p>
                  </a:txBody>
                  <a:tcPr marL="9525" marR="9525" marT="9525" marB="9525" anchor="ctr"/>
                </a:tc>
                <a:tc>
                  <a:txBody>
                    <a:bodyPr/>
                    <a:lstStyle/>
                    <a:p>
                      <a:pPr algn="l"/>
                      <a:r>
                        <a:rPr lang="en-GB" sz="1800" b="0" i="0" dirty="0">
                          <a:solidFill>
                            <a:schemeClr val="bg1"/>
                          </a:solidFill>
                          <a:effectLst/>
                          <a:latin typeface="+mn-lt"/>
                          <a:cs typeface="Calibri" panose="020F0502020204030204" pitchFamily="34" charset="0"/>
                        </a:rPr>
                        <a:t>id</a:t>
                      </a:r>
                    </a:p>
                  </a:txBody>
                  <a:tcPr marL="9525" marR="9525" marT="9525" marB="9525" anchor="ctr"/>
                </a:tc>
                <a:tc>
                  <a:txBody>
                    <a:bodyPr/>
                    <a:lstStyle/>
                    <a:p>
                      <a:pPr algn="l"/>
                      <a:r>
                        <a:rPr lang="en-GB" sz="1800" b="0" i="0" dirty="0">
                          <a:solidFill>
                            <a:schemeClr val="bg1"/>
                          </a:solidFill>
                          <a:effectLst/>
                          <a:latin typeface="+mn-lt"/>
                          <a:cs typeface="Calibri" panose="020F0502020204030204" pitchFamily="34" charset="0"/>
                        </a:rPr>
                        <a:t>company</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1800" b="0" dirty="0">
                          <a:solidFill>
                            <a:schemeClr val="tx1"/>
                          </a:solidFill>
                          <a:effectLst/>
                          <a:latin typeface="+mn-lt"/>
                        </a:rPr>
                        <a:t>Pepper</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0</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0</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1800" b="0" dirty="0">
                          <a:solidFill>
                            <a:schemeClr val="tx1"/>
                          </a:solidFill>
                          <a:effectLst/>
                          <a:latin typeface="+mn-lt"/>
                        </a:rPr>
                        <a:t>Pepper</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0</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1800" b="0" dirty="0">
                          <a:solidFill>
                            <a:schemeClr val="tx1"/>
                          </a:solidFill>
                          <a:effectLst/>
                          <a:latin typeface="+mn-lt"/>
                        </a:rPr>
                        <a:t>Pepper</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0</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2</a:t>
                      </a:r>
                    </a:p>
                  </a:txBody>
                  <a:tcPr marL="9525" marR="9525" marT="9525" marB="9525" anchor="ctr"/>
                </a:tc>
                <a:tc>
                  <a:txBody>
                    <a:bodyPr/>
                    <a:lstStyle/>
                    <a:p>
                      <a:pPr algn="l"/>
                      <a:r>
                        <a:rPr lang="en-GB" sz="1800" b="0" i="0" dirty="0" err="1">
                          <a:solidFill>
                            <a:schemeClr val="tx1"/>
                          </a:solidFill>
                          <a:effectLst/>
                          <a:latin typeface="+mn-lt"/>
                          <a:cs typeface="Calibri" panose="020F0502020204030204" pitchFamily="34" charset="0"/>
                        </a:rPr>
                        <a:t>PetSure</a:t>
                      </a:r>
                      <a:endParaRPr lang="en-GB" sz="18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1800" b="0" dirty="0">
                          <a:solidFill>
                            <a:schemeClr val="tx1"/>
                          </a:solidFill>
                          <a:effectLst/>
                          <a:latin typeface="+mn-lt"/>
                        </a:rPr>
                        <a:t>Cindy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Dog</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2</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0</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1800" b="0" dirty="0">
                          <a:solidFill>
                            <a:schemeClr val="tx1"/>
                          </a:solidFill>
                          <a:effectLst/>
                          <a:latin typeface="+mn-lt"/>
                        </a:rPr>
                        <a:t>Cindy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Dog</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2</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1659393023"/>
                  </a:ext>
                </a:extLst>
              </a:tr>
              <a:tr h="0">
                <a:tc>
                  <a:txBody>
                    <a:bodyPr/>
                    <a:lstStyle/>
                    <a:p>
                      <a:pPr algn="l"/>
                      <a:r>
                        <a:rPr lang="en-GB" sz="1800" b="0" dirty="0">
                          <a:solidFill>
                            <a:schemeClr val="tx1"/>
                          </a:solidFill>
                          <a:effectLst/>
                          <a:latin typeface="+mn-lt"/>
                        </a:rPr>
                        <a:t>Cindy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Dog</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2</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2</a:t>
                      </a:r>
                    </a:p>
                  </a:txBody>
                  <a:tcPr marL="9525" marR="9525" marT="9525" marB="9525" anchor="ctr"/>
                </a:tc>
                <a:tc>
                  <a:txBody>
                    <a:bodyPr/>
                    <a:lstStyle/>
                    <a:p>
                      <a:pPr algn="l"/>
                      <a:r>
                        <a:rPr lang="en-GB" sz="1800" b="0" i="0" dirty="0" err="1">
                          <a:solidFill>
                            <a:schemeClr val="tx1"/>
                          </a:solidFill>
                          <a:effectLst/>
                          <a:latin typeface="+mn-lt"/>
                          <a:cs typeface="Calibri" panose="020F0502020204030204" pitchFamily="34" charset="0"/>
                        </a:rPr>
                        <a:t>PetSure</a:t>
                      </a:r>
                      <a:endParaRPr lang="en-GB" sz="18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417314715"/>
                  </a:ext>
                </a:extLst>
              </a:tr>
              <a:tr h="0">
                <a:tc>
                  <a:txBody>
                    <a:bodyPr/>
                    <a:lstStyle/>
                    <a:p>
                      <a:pPr algn="l"/>
                      <a:r>
                        <a:rPr lang="en-GB" sz="1800" b="0" dirty="0">
                          <a:solidFill>
                            <a:schemeClr val="tx1"/>
                          </a:solidFill>
                          <a:effectLst/>
                          <a:latin typeface="+mn-lt"/>
                        </a:rPr>
                        <a:t>Snowy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0</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777826486"/>
                  </a:ext>
                </a:extLst>
              </a:tr>
              <a:tr h="0">
                <a:tc>
                  <a:txBody>
                    <a:bodyPr/>
                    <a:lstStyle/>
                    <a:p>
                      <a:pPr algn="l"/>
                      <a:r>
                        <a:rPr lang="en-GB" sz="1800" b="0" dirty="0">
                          <a:solidFill>
                            <a:schemeClr val="tx1"/>
                          </a:solidFill>
                          <a:effectLst/>
                          <a:latin typeface="+mn-lt"/>
                        </a:rPr>
                        <a:t>Snowy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2705716962"/>
                  </a:ext>
                </a:extLst>
              </a:tr>
              <a:tr h="0">
                <a:tc>
                  <a:txBody>
                    <a:bodyPr/>
                    <a:lstStyle/>
                    <a:p>
                      <a:pPr algn="l"/>
                      <a:r>
                        <a:rPr lang="en-GB" sz="1800" b="0" dirty="0">
                          <a:solidFill>
                            <a:schemeClr val="tx1"/>
                          </a:solidFill>
                          <a:effectLst/>
                          <a:latin typeface="+mn-lt"/>
                        </a:rPr>
                        <a:t>Snowy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2</a:t>
                      </a:r>
                    </a:p>
                  </a:txBody>
                  <a:tcPr marL="9525" marR="9525" marT="9525" marB="9525" anchor="ctr"/>
                </a:tc>
                <a:tc>
                  <a:txBody>
                    <a:bodyPr/>
                    <a:lstStyle/>
                    <a:p>
                      <a:pPr algn="l"/>
                      <a:r>
                        <a:rPr lang="en-GB" sz="1800" b="0" i="0" dirty="0" err="1">
                          <a:solidFill>
                            <a:schemeClr val="tx1"/>
                          </a:solidFill>
                          <a:effectLst/>
                          <a:latin typeface="+mn-lt"/>
                          <a:cs typeface="Calibri" panose="020F0502020204030204" pitchFamily="34" charset="0"/>
                        </a:rPr>
                        <a:t>PetSure</a:t>
                      </a:r>
                      <a:endParaRPr lang="en-GB" sz="18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3471423699"/>
                  </a:ext>
                </a:extLst>
              </a:tr>
              <a:tr h="0">
                <a:tc>
                  <a:txBody>
                    <a:bodyPr/>
                    <a:lstStyle/>
                    <a:p>
                      <a:pPr algn="l"/>
                      <a:r>
                        <a:rPr lang="en-GB" sz="1800" b="0" dirty="0">
                          <a:solidFill>
                            <a:schemeClr val="tx1"/>
                          </a:solidFill>
                          <a:effectLst/>
                          <a:latin typeface="+mn-lt"/>
                        </a:rPr>
                        <a:t>Kitty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0</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1904147145"/>
                  </a:ext>
                </a:extLst>
              </a:tr>
              <a:tr h="0">
                <a:tc>
                  <a:txBody>
                    <a:bodyPr/>
                    <a:lstStyle/>
                    <a:p>
                      <a:pPr algn="l"/>
                      <a:r>
                        <a:rPr lang="en-GB" sz="1800" b="0" dirty="0">
                          <a:solidFill>
                            <a:schemeClr val="tx1"/>
                          </a:solidFill>
                          <a:effectLst/>
                          <a:latin typeface="+mn-lt"/>
                        </a:rPr>
                        <a:t>Kitty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976741720"/>
                  </a:ext>
                </a:extLst>
              </a:tr>
              <a:tr h="0">
                <a:tc>
                  <a:txBody>
                    <a:bodyPr/>
                    <a:lstStyle/>
                    <a:p>
                      <a:pPr algn="l"/>
                      <a:r>
                        <a:rPr lang="en-GB" sz="1800" b="0" dirty="0">
                          <a:solidFill>
                            <a:schemeClr val="tx1"/>
                          </a:solidFill>
                          <a:effectLst/>
                          <a:latin typeface="+mn-lt"/>
                        </a:rPr>
                        <a:t>Kitty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2</a:t>
                      </a:r>
                    </a:p>
                  </a:txBody>
                  <a:tcPr marL="9525" marR="9525" marT="9525" marB="9525" anchor="ctr"/>
                </a:tc>
                <a:tc>
                  <a:txBody>
                    <a:bodyPr/>
                    <a:lstStyle/>
                    <a:p>
                      <a:pPr algn="l"/>
                      <a:r>
                        <a:rPr lang="en-GB" sz="1800" b="0" i="0" dirty="0" err="1">
                          <a:solidFill>
                            <a:schemeClr val="tx1"/>
                          </a:solidFill>
                          <a:effectLst/>
                          <a:latin typeface="+mn-lt"/>
                          <a:cs typeface="Calibri" panose="020F0502020204030204" pitchFamily="34" charset="0"/>
                        </a:rPr>
                        <a:t>PetSure</a:t>
                      </a:r>
                      <a:endParaRPr lang="en-GB" sz="18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2806725075"/>
                  </a:ext>
                </a:extLst>
              </a:tr>
            </a:tbl>
          </a:graphicData>
        </a:graphic>
      </p:graphicFrame>
      <p:sp>
        <p:nvSpPr>
          <p:cNvPr id="28" name="Output - Arrow">
            <a:extLst>
              <a:ext uri="{FF2B5EF4-FFF2-40B4-BE49-F238E27FC236}">
                <a16:creationId xmlns:a16="http://schemas.microsoft.com/office/drawing/2014/main" id="{27833E17-04CE-E6AD-804B-EB51B8F41239}"/>
              </a:ext>
            </a:extLst>
          </p:cNvPr>
          <p:cNvSpPr/>
          <p:nvPr/>
        </p:nvSpPr>
        <p:spPr>
          <a:xfrm>
            <a:off x="8529428" y="3458978"/>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9" name="Name - Column">
            <a:extLst>
              <a:ext uri="{FF2B5EF4-FFF2-40B4-BE49-F238E27FC236}">
                <a16:creationId xmlns:a16="http://schemas.microsoft.com/office/drawing/2014/main" id="{9CFD6623-90F9-8CA0-585A-959ADF79ADE1}"/>
              </a:ext>
            </a:extLst>
          </p:cNvPr>
          <p:cNvSpPr/>
          <p:nvPr/>
        </p:nvSpPr>
        <p:spPr>
          <a:xfrm>
            <a:off x="4795199" y="2770419"/>
            <a:ext cx="720000" cy="3944706"/>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0" name="Age - Column">
            <a:extLst>
              <a:ext uri="{FF2B5EF4-FFF2-40B4-BE49-F238E27FC236}">
                <a16:creationId xmlns:a16="http://schemas.microsoft.com/office/drawing/2014/main" id="{F8908677-B9D0-5945-93E8-1112E85882A9}"/>
              </a:ext>
            </a:extLst>
          </p:cNvPr>
          <p:cNvSpPr/>
          <p:nvPr/>
        </p:nvSpPr>
        <p:spPr>
          <a:xfrm>
            <a:off x="6999769" y="2768253"/>
            <a:ext cx="928086" cy="3941211"/>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cxnSp>
        <p:nvCxnSpPr>
          <p:cNvPr id="5" name="Name - Arrow">
            <a:extLst>
              <a:ext uri="{FF2B5EF4-FFF2-40B4-BE49-F238E27FC236}">
                <a16:creationId xmlns:a16="http://schemas.microsoft.com/office/drawing/2014/main" id="{74743580-1BBD-44D1-9B4B-3FCD69A573CA}"/>
              </a:ext>
            </a:extLst>
          </p:cNvPr>
          <p:cNvCxnSpPr>
            <a:cxnSpLocks/>
          </p:cNvCxnSpPr>
          <p:nvPr/>
        </p:nvCxnSpPr>
        <p:spPr>
          <a:xfrm flipH="1">
            <a:off x="5353216" y="1748785"/>
            <a:ext cx="966553" cy="1014328"/>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9" name="Age - Arrow">
            <a:extLst>
              <a:ext uri="{FF2B5EF4-FFF2-40B4-BE49-F238E27FC236}">
                <a16:creationId xmlns:a16="http://schemas.microsoft.com/office/drawing/2014/main" id="{4A59694F-BFA9-47E0-AA51-53E4E5936D1D}"/>
              </a:ext>
            </a:extLst>
          </p:cNvPr>
          <p:cNvCxnSpPr>
            <a:cxnSpLocks/>
          </p:cNvCxnSpPr>
          <p:nvPr/>
        </p:nvCxnSpPr>
        <p:spPr>
          <a:xfrm>
            <a:off x="6319769" y="1748785"/>
            <a:ext cx="881143" cy="1006058"/>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2" name="Insurer">
            <a:extLst>
              <a:ext uri="{FF2B5EF4-FFF2-40B4-BE49-F238E27FC236}">
                <a16:creationId xmlns:a16="http://schemas.microsoft.com/office/drawing/2014/main" id="{94BF93ED-DCBC-929A-3978-645514F34654}"/>
              </a:ext>
            </a:extLst>
          </p:cNvPr>
          <p:cNvSpPr txBox="1"/>
          <p:nvPr/>
        </p:nvSpPr>
        <p:spPr>
          <a:xfrm>
            <a:off x="501700" y="4793841"/>
            <a:ext cx="1771650" cy="369332"/>
          </a:xfrm>
          <a:prstGeom prst="rect">
            <a:avLst/>
          </a:prstGeom>
          <a:noFill/>
        </p:spPr>
        <p:txBody>
          <a:bodyPr wrap="square" rtlCol="0">
            <a:spAutoFit/>
          </a:bodyPr>
          <a:lstStyle/>
          <a:p>
            <a:r>
              <a:rPr lang="en-GB" b="1" dirty="0"/>
              <a:t>Table: Insurer</a:t>
            </a:r>
          </a:p>
        </p:txBody>
      </p:sp>
      <p:graphicFrame>
        <p:nvGraphicFramePr>
          <p:cNvPr id="3" name="Pet - Insurer">
            <a:extLst>
              <a:ext uri="{FF2B5EF4-FFF2-40B4-BE49-F238E27FC236}">
                <a16:creationId xmlns:a16="http://schemas.microsoft.com/office/drawing/2014/main" id="{DED03D99-A09A-68ED-29D5-FF622C9224CD}"/>
              </a:ext>
            </a:extLst>
          </p:cNvPr>
          <p:cNvGraphicFramePr>
            <a:graphicFrameLocks noGrp="1"/>
          </p:cNvGraphicFramePr>
          <p:nvPr/>
        </p:nvGraphicFramePr>
        <p:xfrm>
          <a:off x="587423" y="5114909"/>
          <a:ext cx="1285431" cy="1295400"/>
        </p:xfrm>
        <a:graphic>
          <a:graphicData uri="http://schemas.openxmlformats.org/drawingml/2006/table">
            <a:tbl>
              <a:tblPr firstRow="1" bandRow="1">
                <a:tableStyleId>{5C22544A-7EE6-4342-B048-85BDC9FD1C3A}</a:tableStyleId>
              </a:tblPr>
              <a:tblGrid>
                <a:gridCol w="268288">
                  <a:extLst>
                    <a:ext uri="{9D8B030D-6E8A-4147-A177-3AD203B41FA5}">
                      <a16:colId xmlns:a16="http://schemas.microsoft.com/office/drawing/2014/main" val="2854243258"/>
                    </a:ext>
                  </a:extLst>
                </a:gridCol>
                <a:gridCol w="1017143">
                  <a:extLst>
                    <a:ext uri="{9D8B030D-6E8A-4147-A177-3AD203B41FA5}">
                      <a16:colId xmlns:a16="http://schemas.microsoft.com/office/drawing/2014/main" val="3258369125"/>
                    </a:ext>
                  </a:extLst>
                </a:gridCol>
              </a:tblGrid>
              <a:tr h="0">
                <a:tc>
                  <a:txBody>
                    <a:bodyPr/>
                    <a:lstStyle/>
                    <a:p>
                      <a:pPr algn="l"/>
                      <a:r>
                        <a:rPr lang="en-GB" sz="2000" b="0" i="0" dirty="0">
                          <a:solidFill>
                            <a:schemeClr val="bg1"/>
                          </a:solidFill>
                          <a:effectLst/>
                          <a:latin typeface="+mn-lt"/>
                          <a:cs typeface="Calibri" panose="020F0502020204030204" pitchFamily="34" charset="0"/>
                        </a:rPr>
                        <a:t>id</a:t>
                      </a:r>
                    </a:p>
                  </a:txBody>
                  <a:tcPr marL="9525" marR="9525" marT="9525" marB="9525" anchor="ctr"/>
                </a:tc>
                <a:tc>
                  <a:txBody>
                    <a:bodyPr/>
                    <a:lstStyle/>
                    <a:p>
                      <a:pPr algn="l"/>
                      <a:r>
                        <a:rPr lang="en-GB" sz="2000" b="0" i="0" dirty="0">
                          <a:solidFill>
                            <a:schemeClr val="bg1"/>
                          </a:solidFill>
                          <a:effectLst/>
                          <a:latin typeface="+mn-lt"/>
                          <a:cs typeface="Calibri" panose="020F0502020204030204" pitchFamily="34" charset="0"/>
                        </a:rPr>
                        <a:t>company</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dirty="0">
                          <a:solidFill>
                            <a:schemeClr val="tx1"/>
                          </a:solidFill>
                          <a:effectLst/>
                          <a:latin typeface="+mn-lt"/>
                        </a:rPr>
                        <a:t>0</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latin typeface="+mn-lt"/>
                        </a:rPr>
                        <a:t>1</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dirty="0">
                          <a:solidFill>
                            <a:schemeClr val="tx1"/>
                          </a:solidFill>
                          <a:effectLst/>
                          <a:latin typeface="+mn-lt"/>
                        </a:rPr>
                        <a:t>2</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i="0" dirty="0" err="1">
                          <a:solidFill>
                            <a:schemeClr val="tx1"/>
                          </a:solidFill>
                          <a:effectLst/>
                          <a:latin typeface="+mn-lt"/>
                          <a:cs typeface="Calibri" panose="020F0502020204030204" pitchFamily="34" charset="0"/>
                        </a:rPr>
                        <a:t>PetSure</a:t>
                      </a:r>
                      <a:endParaRPr lang="en-GB" sz="20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bl>
          </a:graphicData>
        </a:graphic>
      </p:graphicFrame>
      <p:graphicFrame>
        <p:nvGraphicFramePr>
          <p:cNvPr id="43" name="Output - Table">
            <a:extLst>
              <a:ext uri="{FF2B5EF4-FFF2-40B4-BE49-F238E27FC236}">
                <a16:creationId xmlns:a16="http://schemas.microsoft.com/office/drawing/2014/main" id="{568C7E54-FFF5-6232-653C-F1481651CB4C}"/>
              </a:ext>
            </a:extLst>
          </p:cNvPr>
          <p:cNvGraphicFramePr>
            <a:graphicFrameLocks noGrp="1"/>
          </p:cNvGraphicFramePr>
          <p:nvPr/>
        </p:nvGraphicFramePr>
        <p:xfrm>
          <a:off x="9595568" y="2831953"/>
          <a:ext cx="1652969" cy="1466850"/>
        </p:xfrm>
        <a:graphic>
          <a:graphicData uri="http://schemas.openxmlformats.org/drawingml/2006/table">
            <a:tbl>
              <a:tblPr firstRow="1" bandRow="1">
                <a:tableStyleId>{5C22544A-7EE6-4342-B048-85BDC9FD1C3A}</a:tableStyleId>
              </a:tblPr>
              <a:tblGrid>
                <a:gridCol w="733616">
                  <a:extLst>
                    <a:ext uri="{9D8B030D-6E8A-4147-A177-3AD203B41FA5}">
                      <a16:colId xmlns:a16="http://schemas.microsoft.com/office/drawing/2014/main" val="2854243258"/>
                    </a:ext>
                  </a:extLst>
                </a:gridCol>
                <a:gridCol w="919353">
                  <a:extLst>
                    <a:ext uri="{9D8B030D-6E8A-4147-A177-3AD203B41FA5}">
                      <a16:colId xmlns:a16="http://schemas.microsoft.com/office/drawing/2014/main" val="2564927205"/>
                    </a:ext>
                  </a:extLst>
                </a:gridCol>
              </a:tblGrid>
              <a:tr h="0">
                <a:tc>
                  <a:txBody>
                    <a:bodyPr/>
                    <a:lstStyle/>
                    <a:p>
                      <a:pPr algn="l"/>
                      <a:r>
                        <a:rPr lang="en-GB" sz="1800" b="0" i="0" dirty="0">
                          <a:solidFill>
                            <a:schemeClr val="bg1"/>
                          </a:solidFill>
                          <a:effectLst/>
                          <a:latin typeface="+mn-lt"/>
                          <a:cs typeface="Calibri" panose="020F0502020204030204" pitchFamily="34" charset="0"/>
                        </a:rPr>
                        <a:t>name</a:t>
                      </a:r>
                    </a:p>
                  </a:txBody>
                  <a:tcPr marL="9525" marR="9525" marT="9525" marB="9525" anchor="ctr"/>
                </a:tc>
                <a:tc>
                  <a:txBody>
                    <a:bodyPr/>
                    <a:lstStyle/>
                    <a:p>
                      <a:pPr algn="l"/>
                      <a:r>
                        <a:rPr lang="en-GB" sz="1800" b="0" i="0" dirty="0">
                          <a:solidFill>
                            <a:schemeClr val="bg1"/>
                          </a:solidFill>
                          <a:effectLst/>
                          <a:latin typeface="+mn-lt"/>
                          <a:cs typeface="Calibri" panose="020F0502020204030204" pitchFamily="34" charset="0"/>
                        </a:rPr>
                        <a:t>company</a:t>
                      </a:r>
                    </a:p>
                  </a:txBody>
                  <a:tcPr marL="9525" marR="9525" marT="9525" marB="9525" anchor="ctr"/>
                </a:tc>
                <a:extLst>
                  <a:ext uri="{0D108BD9-81ED-4DB2-BD59-A6C34878D82A}">
                    <a16:rowId xmlns:a16="http://schemas.microsoft.com/office/drawing/2014/main" val="4025555614"/>
                  </a:ext>
                </a:extLst>
              </a:tr>
              <a:tr h="123404">
                <a:tc>
                  <a:txBody>
                    <a:bodyPr/>
                    <a:lstStyle/>
                    <a:p>
                      <a:pPr algn="l"/>
                      <a:r>
                        <a:rPr lang="en-GB" sz="1800" b="0" dirty="0">
                          <a:solidFill>
                            <a:schemeClr val="tx1"/>
                          </a:solidFill>
                          <a:effectLst/>
                          <a:latin typeface="+mn-lt"/>
                        </a:rPr>
                        <a:t>Pepper</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1800" b="0" dirty="0">
                          <a:solidFill>
                            <a:schemeClr val="tx1"/>
                          </a:solidFill>
                          <a:effectLst/>
                          <a:latin typeface="+mn-lt"/>
                        </a:rPr>
                        <a:t>Cindy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err="1">
                          <a:solidFill>
                            <a:schemeClr val="tx1"/>
                          </a:solidFill>
                          <a:effectLst/>
                          <a:latin typeface="+mn-lt"/>
                          <a:cs typeface="Calibri" panose="020F0502020204030204" pitchFamily="34" charset="0"/>
                        </a:rPr>
                        <a:t>PetSure</a:t>
                      </a:r>
                      <a:endParaRPr lang="en-GB" sz="18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417314715"/>
                  </a:ext>
                </a:extLst>
              </a:tr>
              <a:tr h="0">
                <a:tc>
                  <a:txBody>
                    <a:bodyPr/>
                    <a:lstStyle/>
                    <a:p>
                      <a:pPr algn="l"/>
                      <a:r>
                        <a:rPr lang="en-GB" sz="1800" b="0" dirty="0">
                          <a:solidFill>
                            <a:schemeClr val="tx1"/>
                          </a:solidFill>
                          <a:effectLst/>
                          <a:latin typeface="+mn-lt"/>
                        </a:rPr>
                        <a:t>Snowy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2705716962"/>
                  </a:ext>
                </a:extLst>
              </a:tr>
              <a:tr h="0">
                <a:tc>
                  <a:txBody>
                    <a:bodyPr/>
                    <a:lstStyle/>
                    <a:p>
                      <a:pPr algn="l"/>
                      <a:r>
                        <a:rPr lang="en-GB" sz="1800" b="0" dirty="0">
                          <a:solidFill>
                            <a:schemeClr val="tx1"/>
                          </a:solidFill>
                          <a:effectLst/>
                          <a:latin typeface="+mn-lt"/>
                        </a:rPr>
                        <a:t>Kitty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976741720"/>
                  </a:ext>
                </a:extLst>
              </a:tr>
            </a:tbl>
          </a:graphicData>
        </a:graphic>
      </p:graphicFrame>
      <p:sp>
        <p:nvSpPr>
          <p:cNvPr id="27" name="Pepper - Row">
            <a:extLst>
              <a:ext uri="{FF2B5EF4-FFF2-40B4-BE49-F238E27FC236}">
                <a16:creationId xmlns:a16="http://schemas.microsoft.com/office/drawing/2014/main" id="{EDC109E2-0F8E-4D72-965B-C320174FCB9B}"/>
              </a:ext>
            </a:extLst>
          </p:cNvPr>
          <p:cNvSpPr/>
          <p:nvPr/>
        </p:nvSpPr>
        <p:spPr>
          <a:xfrm>
            <a:off x="4758623" y="3113320"/>
            <a:ext cx="320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4" name="Pepper - Purple">
            <a:extLst>
              <a:ext uri="{FF2B5EF4-FFF2-40B4-BE49-F238E27FC236}">
                <a16:creationId xmlns:a16="http://schemas.microsoft.com/office/drawing/2014/main" id="{4D280F94-804B-4EC1-AB76-E66DA40E0536}"/>
              </a:ext>
            </a:extLst>
          </p:cNvPr>
          <p:cNvSpPr/>
          <p:nvPr/>
        </p:nvSpPr>
        <p:spPr>
          <a:xfrm>
            <a:off x="6770596" y="3111681"/>
            <a:ext cx="229174" cy="312791"/>
          </a:xfrm>
          <a:prstGeom prst="rect">
            <a:avLst/>
          </a:prstGeom>
          <a:solidFill>
            <a:srgbClr val="FF00FF">
              <a:alpha val="24706"/>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3" name="Pepper - Yellow">
            <a:extLst>
              <a:ext uri="{FF2B5EF4-FFF2-40B4-BE49-F238E27FC236}">
                <a16:creationId xmlns:a16="http://schemas.microsoft.com/office/drawing/2014/main" id="{EAF79AAF-4AEA-4F65-9751-46A72BB869A5}"/>
              </a:ext>
            </a:extLst>
          </p:cNvPr>
          <p:cNvSpPr/>
          <p:nvPr/>
        </p:nvSpPr>
        <p:spPr>
          <a:xfrm>
            <a:off x="6038424" y="3118769"/>
            <a:ext cx="706825"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6" name="Cindy - Row">
            <a:extLst>
              <a:ext uri="{FF2B5EF4-FFF2-40B4-BE49-F238E27FC236}">
                <a16:creationId xmlns:a16="http://schemas.microsoft.com/office/drawing/2014/main" id="{58BEFD8E-59D7-4B59-AD8D-56CF2F8CD107}"/>
              </a:ext>
            </a:extLst>
          </p:cNvPr>
          <p:cNvSpPr/>
          <p:nvPr/>
        </p:nvSpPr>
        <p:spPr>
          <a:xfrm>
            <a:off x="4758623" y="4588552"/>
            <a:ext cx="320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7" name="Cindy - Purple">
            <a:extLst>
              <a:ext uri="{FF2B5EF4-FFF2-40B4-BE49-F238E27FC236}">
                <a16:creationId xmlns:a16="http://schemas.microsoft.com/office/drawing/2014/main" id="{2138EE6B-2A89-465B-8D74-A2F0DB965B5D}"/>
              </a:ext>
            </a:extLst>
          </p:cNvPr>
          <p:cNvSpPr/>
          <p:nvPr/>
        </p:nvSpPr>
        <p:spPr>
          <a:xfrm>
            <a:off x="6770596" y="4586913"/>
            <a:ext cx="229174" cy="312791"/>
          </a:xfrm>
          <a:prstGeom prst="rect">
            <a:avLst/>
          </a:prstGeom>
          <a:solidFill>
            <a:srgbClr val="FF00FF">
              <a:alpha val="24706"/>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8" name="Cindy - Yellow">
            <a:extLst>
              <a:ext uri="{FF2B5EF4-FFF2-40B4-BE49-F238E27FC236}">
                <a16:creationId xmlns:a16="http://schemas.microsoft.com/office/drawing/2014/main" id="{40519916-002C-4B50-9CAD-882322014126}"/>
              </a:ext>
            </a:extLst>
          </p:cNvPr>
          <p:cNvSpPr/>
          <p:nvPr/>
        </p:nvSpPr>
        <p:spPr>
          <a:xfrm>
            <a:off x="6038424" y="4594001"/>
            <a:ext cx="706825"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9" name="Snowy - Row">
            <a:extLst>
              <a:ext uri="{FF2B5EF4-FFF2-40B4-BE49-F238E27FC236}">
                <a16:creationId xmlns:a16="http://schemas.microsoft.com/office/drawing/2014/main" id="{590FF629-1C6B-4A73-9B6F-1A3047E0C351}"/>
              </a:ext>
            </a:extLst>
          </p:cNvPr>
          <p:cNvSpPr/>
          <p:nvPr/>
        </p:nvSpPr>
        <p:spPr>
          <a:xfrm>
            <a:off x="4758623" y="5167672"/>
            <a:ext cx="320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0" name="Snowy - Purple">
            <a:extLst>
              <a:ext uri="{FF2B5EF4-FFF2-40B4-BE49-F238E27FC236}">
                <a16:creationId xmlns:a16="http://schemas.microsoft.com/office/drawing/2014/main" id="{2059C02D-22B0-4CF8-88BE-A139FCC5E365}"/>
              </a:ext>
            </a:extLst>
          </p:cNvPr>
          <p:cNvSpPr/>
          <p:nvPr/>
        </p:nvSpPr>
        <p:spPr>
          <a:xfrm>
            <a:off x="6770596" y="5166033"/>
            <a:ext cx="229174" cy="312791"/>
          </a:xfrm>
          <a:prstGeom prst="rect">
            <a:avLst/>
          </a:prstGeom>
          <a:solidFill>
            <a:srgbClr val="FF00FF">
              <a:alpha val="24706"/>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1" name="Snowy - Yellow">
            <a:extLst>
              <a:ext uri="{FF2B5EF4-FFF2-40B4-BE49-F238E27FC236}">
                <a16:creationId xmlns:a16="http://schemas.microsoft.com/office/drawing/2014/main" id="{A908B61F-A960-4A63-B920-885CE28F0894}"/>
              </a:ext>
            </a:extLst>
          </p:cNvPr>
          <p:cNvSpPr/>
          <p:nvPr/>
        </p:nvSpPr>
        <p:spPr>
          <a:xfrm>
            <a:off x="6038424" y="5173121"/>
            <a:ext cx="706825"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2" name="Kitty - Row">
            <a:extLst>
              <a:ext uri="{FF2B5EF4-FFF2-40B4-BE49-F238E27FC236}">
                <a16:creationId xmlns:a16="http://schemas.microsoft.com/office/drawing/2014/main" id="{26C3B023-4A76-47DA-A8DB-F1CCF91F3D0B}"/>
              </a:ext>
            </a:extLst>
          </p:cNvPr>
          <p:cNvSpPr/>
          <p:nvPr/>
        </p:nvSpPr>
        <p:spPr>
          <a:xfrm>
            <a:off x="4758623" y="6045496"/>
            <a:ext cx="320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5" name="Kitty - Purple">
            <a:extLst>
              <a:ext uri="{FF2B5EF4-FFF2-40B4-BE49-F238E27FC236}">
                <a16:creationId xmlns:a16="http://schemas.microsoft.com/office/drawing/2014/main" id="{D34CE510-4BD9-46EC-99AA-DBE7BD04F483}"/>
              </a:ext>
            </a:extLst>
          </p:cNvPr>
          <p:cNvSpPr/>
          <p:nvPr/>
        </p:nvSpPr>
        <p:spPr>
          <a:xfrm>
            <a:off x="6770596" y="6043857"/>
            <a:ext cx="229174" cy="312791"/>
          </a:xfrm>
          <a:prstGeom prst="rect">
            <a:avLst/>
          </a:prstGeom>
          <a:solidFill>
            <a:srgbClr val="FF00FF">
              <a:alpha val="24706"/>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6" name="Kitty - Yellow">
            <a:extLst>
              <a:ext uri="{FF2B5EF4-FFF2-40B4-BE49-F238E27FC236}">
                <a16:creationId xmlns:a16="http://schemas.microsoft.com/office/drawing/2014/main" id="{F09336A1-7B8C-4DEF-A7AB-2B0BC362A9E8}"/>
              </a:ext>
            </a:extLst>
          </p:cNvPr>
          <p:cNvSpPr/>
          <p:nvPr/>
        </p:nvSpPr>
        <p:spPr>
          <a:xfrm>
            <a:off x="6038424" y="6050945"/>
            <a:ext cx="706825"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7" name="Where 2 - Arrow">
            <a:extLst>
              <a:ext uri="{FF2B5EF4-FFF2-40B4-BE49-F238E27FC236}">
                <a16:creationId xmlns:a16="http://schemas.microsoft.com/office/drawing/2014/main" id="{57F0F467-01B0-47CA-9897-A45723917472}"/>
              </a:ext>
            </a:extLst>
          </p:cNvPr>
          <p:cNvSpPr/>
          <p:nvPr/>
        </p:nvSpPr>
        <p:spPr>
          <a:xfrm rot="3278631">
            <a:off x="6365200" y="2384994"/>
            <a:ext cx="464567" cy="467998"/>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a:p>
        </p:txBody>
      </p:sp>
      <p:sp>
        <p:nvSpPr>
          <p:cNvPr id="49" name="From - Brace">
            <a:extLst>
              <a:ext uri="{FF2B5EF4-FFF2-40B4-BE49-F238E27FC236}">
                <a16:creationId xmlns:a16="http://schemas.microsoft.com/office/drawing/2014/main" id="{5373CEB6-70E9-42AA-BD65-4517F949FB2E}"/>
              </a:ext>
            </a:extLst>
          </p:cNvPr>
          <p:cNvSpPr/>
          <p:nvPr/>
        </p:nvSpPr>
        <p:spPr>
          <a:xfrm>
            <a:off x="3443509" y="3460080"/>
            <a:ext cx="594061" cy="2495550"/>
          </a:xfrm>
          <a:prstGeom prst="rightBrace">
            <a:avLst>
              <a:gd name="adj1" fmla="val 56609"/>
              <a:gd name="adj2" fmla="val 50000"/>
            </a:avLst>
          </a:prstGeom>
          <a:noFill/>
          <a:ln w="38100">
            <a:solidFill>
              <a:srgbClr val="FF000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GB"/>
          </a:p>
        </p:txBody>
      </p:sp>
    </p:spTree>
    <p:extLst>
      <p:ext uri="{BB962C8B-B14F-4D97-AF65-F5344CB8AC3E}">
        <p14:creationId xmlns:p14="http://schemas.microsoft.com/office/powerpoint/2010/main" val="2053263644"/>
      </p:ext>
    </p:extLst>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Learning Intentions</a:t>
            </a:r>
          </a:p>
        </p:txBody>
      </p:sp>
      <p:sp>
        <p:nvSpPr>
          <p:cNvPr id="3" name="Content Placeholder 2"/>
          <p:cNvSpPr>
            <a:spLocks noGrp="1"/>
          </p:cNvSpPr>
          <p:nvPr>
            <p:ph idx="1"/>
          </p:nvPr>
        </p:nvSpPr>
        <p:spPr/>
        <p:txBody>
          <a:bodyPr/>
          <a:lstStyle/>
          <a:p>
            <a:r>
              <a:rPr lang="en-GB" dirty="0"/>
              <a:t>Describe and use SQL insert operations</a:t>
            </a:r>
          </a:p>
        </p:txBody>
      </p:sp>
    </p:spTree>
    <p:extLst>
      <p:ext uri="{BB962C8B-B14F-4D97-AF65-F5344CB8AC3E}">
        <p14:creationId xmlns:p14="http://schemas.microsoft.com/office/powerpoint/2010/main" val="4178387525"/>
      </p:ext>
    </p:extLst>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Add Data – Single Record (1) – Example</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a:xfrm>
            <a:off x="838200" y="1825625"/>
            <a:ext cx="10922000" cy="4351338"/>
          </a:xfrm>
        </p:spPr>
        <p:txBody>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INSERT INTO</a:t>
            </a:r>
            <a:r>
              <a:rPr lang="en-US" altLang="en-US" sz="4400" dirty="0">
                <a:solidFill>
                  <a:srgbClr val="000000"/>
                </a:solidFill>
                <a:latin typeface="Consolas" panose="020B0609020204030204" pitchFamily="49" charset="0"/>
              </a:rPr>
              <a:t> Pupil</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VALUES</a:t>
            </a:r>
            <a:r>
              <a:rPr lang="en-US" altLang="en-US" sz="4400" dirty="0">
                <a:solidFill>
                  <a:srgbClr val="000000"/>
                </a:solidFill>
                <a:latin typeface="Consolas" panose="020B0609020204030204" pitchFamily="49" charset="0"/>
              </a:rPr>
              <a:t> (</a:t>
            </a:r>
            <a:r>
              <a:rPr lang="en-US" altLang="en-US" sz="4400" dirty="0">
                <a:solidFill>
                  <a:srgbClr val="0086B3"/>
                </a:solidFill>
                <a:latin typeface="Consolas" panose="020B0609020204030204" pitchFamily="49" charset="0"/>
              </a:rPr>
              <a:t>2</a:t>
            </a:r>
            <a:r>
              <a:rPr lang="en-US" altLang="en-US" sz="4400" dirty="0">
                <a:solidFill>
                  <a:srgbClr val="000000"/>
                </a:solidFill>
                <a:latin typeface="Consolas" panose="020B0609020204030204" pitchFamily="49" charset="0"/>
              </a:rPr>
              <a:t>, </a:t>
            </a:r>
            <a:r>
              <a:rPr lang="en-US" altLang="en-US" sz="4400" dirty="0">
                <a:solidFill>
                  <a:srgbClr val="0086B3"/>
                </a:solidFill>
                <a:latin typeface="Consolas" panose="020B0609020204030204" pitchFamily="49" charset="0"/>
              </a:rPr>
              <a:t>2</a:t>
            </a:r>
            <a:r>
              <a:rPr lang="en-US" altLang="en-US" sz="4400" dirty="0">
                <a:solidFill>
                  <a:srgbClr val="000000"/>
                </a:solidFill>
                <a:latin typeface="Consolas" panose="020B0609020204030204" pitchFamily="49" charset="0"/>
              </a:rPr>
              <a:t>, </a:t>
            </a:r>
            <a:r>
              <a:rPr lang="en-US" altLang="en-US" sz="4400" dirty="0">
                <a:solidFill>
                  <a:srgbClr val="183691"/>
                </a:solidFill>
                <a:latin typeface="Consolas" panose="020B0609020204030204" pitchFamily="49" charset="0"/>
              </a:rPr>
              <a:t>"Tom"</a:t>
            </a:r>
            <a:r>
              <a:rPr lang="en-US" altLang="en-US" sz="4400" dirty="0">
                <a:solidFill>
                  <a:srgbClr val="000000"/>
                </a:solidFill>
                <a:latin typeface="Consolas" panose="020B0609020204030204" pitchFamily="49" charset="0"/>
              </a:rPr>
              <a:t>, </a:t>
            </a:r>
            <a:r>
              <a:rPr lang="en-US" altLang="en-US" sz="4400" dirty="0">
                <a:solidFill>
                  <a:srgbClr val="183691"/>
                </a:solidFill>
                <a:latin typeface="Consolas" panose="020B0609020204030204" pitchFamily="49" charset="0"/>
              </a:rPr>
              <a:t>"Fox"</a:t>
            </a:r>
            <a:r>
              <a:rPr lang="en-US" altLang="en-US" sz="44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4400" dirty="0">
                <a:solidFill>
                  <a:srgbClr val="000000"/>
                </a:solidFill>
                <a:latin typeface="Consolas" panose="020B0609020204030204" pitchFamily="49" charset="0"/>
              </a:rPr>
              <a:t>       </a:t>
            </a:r>
            <a:r>
              <a:rPr lang="en-US" altLang="en-US" sz="4400" dirty="0">
                <a:solidFill>
                  <a:srgbClr val="183691"/>
                </a:solidFill>
                <a:latin typeface="Consolas" panose="020B0609020204030204" pitchFamily="49" charset="0"/>
              </a:rPr>
              <a:t>"2000-10-23"</a:t>
            </a:r>
            <a:r>
              <a:rPr lang="en-US" altLang="en-US" sz="4400" dirty="0">
                <a:solidFill>
                  <a:srgbClr val="000000"/>
                </a:solidFill>
                <a:latin typeface="Consolas" panose="020B0609020204030204" pitchFamily="49" charset="0"/>
              </a:rPr>
              <a:t>, </a:t>
            </a:r>
            <a:r>
              <a:rPr lang="en-US" altLang="en-US" sz="4400" dirty="0">
                <a:solidFill>
                  <a:srgbClr val="0086B3"/>
                </a:solidFill>
                <a:latin typeface="Consolas" panose="020B0609020204030204" pitchFamily="49" charset="0"/>
              </a:rPr>
              <a:t>22</a:t>
            </a:r>
            <a:r>
              <a:rPr lang="en-US" altLang="en-US" sz="4400" dirty="0">
                <a:solidFill>
                  <a:srgbClr val="000000"/>
                </a:solidFill>
                <a:latin typeface="Consolas" panose="020B0609020204030204" pitchFamily="49" charset="0"/>
              </a:rPr>
              <a:t>, </a:t>
            </a:r>
            <a:r>
              <a:rPr lang="en-US" altLang="en-US" sz="4400" dirty="0">
                <a:solidFill>
                  <a:srgbClr val="A71D5D"/>
                </a:solidFill>
                <a:latin typeface="Consolas" panose="020B0609020204030204" pitchFamily="49" charset="0"/>
              </a:rPr>
              <a:t>FALSE</a:t>
            </a:r>
            <a:r>
              <a:rPr lang="en-US" altLang="en-US" sz="4400" dirty="0">
                <a:solidFill>
                  <a:srgbClr val="000000"/>
                </a:solidFill>
                <a:latin typeface="Consolas" panose="020B0609020204030204" pitchFamily="49" charset="0"/>
              </a:rPr>
              <a:t>);</a:t>
            </a:r>
            <a:br>
              <a:rPr lang="en-US" altLang="en-US" sz="4400" dirty="0">
                <a:solidFill>
                  <a:srgbClr val="000000"/>
                </a:solidFill>
                <a:latin typeface="Consolas" panose="020B0609020204030204" pitchFamily="49" charset="0"/>
              </a:rPr>
            </a:br>
            <a:endParaRPr lang="en-US" altLang="en-US" sz="5400" dirty="0">
              <a:latin typeface="Arial" panose="020B0604020202020204" pitchFamily="34" charset="0"/>
            </a:endParaRPr>
          </a:p>
        </p:txBody>
      </p:sp>
      <p:sp>
        <p:nvSpPr>
          <p:cNvPr id="6" name="Callout: Bent Line with No Border 3">
            <a:extLst>
              <a:ext uri="{FF2B5EF4-FFF2-40B4-BE49-F238E27FC236}">
                <a16:creationId xmlns:a16="http://schemas.microsoft.com/office/drawing/2014/main" id="{77E8332C-AADD-4F2B-B0E2-AC0B43D6AE90}"/>
              </a:ext>
            </a:extLst>
          </p:cNvPr>
          <p:cNvSpPr/>
          <p:nvPr/>
        </p:nvSpPr>
        <p:spPr>
          <a:xfrm>
            <a:off x="8070157" y="1091740"/>
            <a:ext cx="1258570" cy="862642"/>
          </a:xfrm>
          <a:prstGeom prst="callout2">
            <a:avLst>
              <a:gd name="adj1" fmla="val 52750"/>
              <a:gd name="adj2" fmla="val -2245"/>
              <a:gd name="adj3" fmla="val 52979"/>
              <a:gd name="adj4" fmla="val -49644"/>
              <a:gd name="adj5" fmla="val 103172"/>
              <a:gd name="adj6" fmla="val -98231"/>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Table</a:t>
            </a:r>
          </a:p>
        </p:txBody>
      </p:sp>
      <p:sp>
        <p:nvSpPr>
          <p:cNvPr id="7" name="Callout: Bent Line with No Border 8">
            <a:extLst>
              <a:ext uri="{FF2B5EF4-FFF2-40B4-BE49-F238E27FC236}">
                <a16:creationId xmlns:a16="http://schemas.microsoft.com/office/drawing/2014/main" id="{412E8916-E1C6-455C-96C6-1411BB246ADC}"/>
              </a:ext>
            </a:extLst>
          </p:cNvPr>
          <p:cNvSpPr/>
          <p:nvPr/>
        </p:nvSpPr>
        <p:spPr>
          <a:xfrm>
            <a:off x="612824" y="4047157"/>
            <a:ext cx="3291840" cy="862642"/>
          </a:xfrm>
          <a:prstGeom prst="callout2">
            <a:avLst>
              <a:gd name="adj1" fmla="val 48750"/>
              <a:gd name="adj2" fmla="val 104056"/>
              <a:gd name="adj3" fmla="val 49417"/>
              <a:gd name="adj4" fmla="val 129889"/>
              <a:gd name="adj5" fmla="val 3088"/>
              <a:gd name="adj6" fmla="val 136956"/>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Values in table order</a:t>
            </a:r>
          </a:p>
        </p:txBody>
      </p:sp>
      <p:sp>
        <p:nvSpPr>
          <p:cNvPr id="8" name="TextBox 7">
            <a:extLst>
              <a:ext uri="{FF2B5EF4-FFF2-40B4-BE49-F238E27FC236}">
                <a16:creationId xmlns:a16="http://schemas.microsoft.com/office/drawing/2014/main" id="{DF4BA8FF-524A-4C13-87BF-68801971FA28}"/>
              </a:ext>
            </a:extLst>
          </p:cNvPr>
          <p:cNvSpPr txBox="1"/>
          <p:nvPr/>
        </p:nvSpPr>
        <p:spPr>
          <a:xfrm>
            <a:off x="1398116" y="4903618"/>
            <a:ext cx="8074967" cy="1569660"/>
          </a:xfrm>
          <a:prstGeom prst="rect">
            <a:avLst/>
          </a:prstGeom>
          <a:noFill/>
        </p:spPr>
        <p:txBody>
          <a:bodyPr wrap="none" rtlCol="0">
            <a:spAutoFit/>
          </a:bodyPr>
          <a:lstStyle/>
          <a:p>
            <a:pPr algn="ctr"/>
            <a:r>
              <a:rPr lang="en-GB" sz="3600" dirty="0">
                <a:solidFill>
                  <a:srgbClr val="7030A0"/>
                </a:solidFill>
              </a:rPr>
              <a:t>PK and all validation rules must be met</a:t>
            </a:r>
          </a:p>
          <a:p>
            <a:pPr algn="ctr"/>
            <a:endParaRPr lang="en-GB" sz="2400" dirty="0">
              <a:solidFill>
                <a:srgbClr val="7030A0"/>
              </a:solidFill>
              <a:latin typeface="Consolas" panose="020B0609020204030204" pitchFamily="49" charset="0"/>
            </a:endParaRPr>
          </a:p>
          <a:p>
            <a:pPr algn="ctr"/>
            <a:r>
              <a:rPr lang="en-GB" sz="3600" dirty="0">
                <a:solidFill>
                  <a:srgbClr val="7030A0"/>
                </a:solidFill>
              </a:rPr>
              <a:t>If a validation rule fails, no data is inserted</a:t>
            </a:r>
            <a:endParaRPr lang="en-GB" sz="3600" dirty="0">
              <a:solidFill>
                <a:srgbClr val="7030A0"/>
              </a:solidFill>
              <a:latin typeface="Consolas" panose="020B0609020204030204" pitchFamily="49" charset="0"/>
            </a:endParaRPr>
          </a:p>
        </p:txBody>
      </p:sp>
      <p:pic>
        <p:nvPicPr>
          <p:cNvPr id="4" name="Picture 3">
            <a:extLst>
              <a:ext uri="{FF2B5EF4-FFF2-40B4-BE49-F238E27FC236}">
                <a16:creationId xmlns:a16="http://schemas.microsoft.com/office/drawing/2014/main" id="{DF398829-DC2A-B151-516C-44CD1A47887C}"/>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510520" y="4001294"/>
            <a:ext cx="1341956" cy="2782104"/>
          </a:xfrm>
          <a:prstGeom prst="rect">
            <a:avLst/>
          </a:prstGeom>
        </p:spPr>
      </p:pic>
    </p:spTree>
    <p:extLst>
      <p:ext uri="{BB962C8B-B14F-4D97-AF65-F5344CB8AC3E}">
        <p14:creationId xmlns:p14="http://schemas.microsoft.com/office/powerpoint/2010/main" val="422261168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2500"/>
                                        <p:tgtEl>
                                          <p:spTgt spid="3">
                                            <p:txEl>
                                              <p:pRg st="1" end="1"/>
                                            </p:txEl>
                                          </p:spTgt>
                                        </p:tgtEl>
                                      </p:cBhvr>
                                    </p:animEffect>
                                  </p:childTnLst>
                                </p:cTn>
                              </p:par>
                            </p:childTnLst>
                          </p:cTn>
                        </p:par>
                        <p:par>
                          <p:cTn id="13" fill="hold">
                            <p:stCondLst>
                              <p:cond delay="2500"/>
                            </p:stCondLst>
                            <p:childTnLst>
                              <p:par>
                                <p:cTn id="14" presetID="22" presetClass="entr" presetSubtype="8" fill="hold" grpId="0" nodeType="afterEffect">
                                  <p:stCondLst>
                                    <p:cond delay="0"/>
                                  </p:stCondLst>
                                  <p:childTnLst>
                                    <p:set>
                                      <p:cBhvr>
                                        <p:cTn id="15" dur="1" fill="hold">
                                          <p:stCondLst>
                                            <p:cond delay="0"/>
                                          </p:stCondLst>
                                        </p:cTn>
                                        <p:tgtEl>
                                          <p:spTgt spid="3">
                                            <p:txEl>
                                              <p:pRg st="2" end="2"/>
                                            </p:txEl>
                                          </p:spTgt>
                                        </p:tgtEl>
                                        <p:attrNameLst>
                                          <p:attrName>style.visibility</p:attrName>
                                        </p:attrNameLst>
                                      </p:cBhvr>
                                      <p:to>
                                        <p:strVal val="visible"/>
                                      </p:to>
                                    </p:set>
                                    <p:animEffect transition="in" filter="wipe(left)">
                                      <p:cBhvr>
                                        <p:cTn id="16" dur="2500"/>
                                        <p:tgtEl>
                                          <p:spTgt spid="3">
                                            <p:txEl>
                                              <p:pRg st="2" end="2"/>
                                            </p:txEl>
                                          </p:spTgt>
                                        </p:tgtEl>
                                      </p:cBhvr>
                                    </p:animEffect>
                                  </p:childTnLst>
                                </p:cTn>
                              </p:par>
                            </p:childTnLst>
                          </p:cTn>
                        </p:par>
                      </p:childTnLst>
                    </p:cTn>
                  </p:par>
                  <p:par>
                    <p:cTn id="17" fill="hold">
                      <p:stCondLst>
                        <p:cond delay="indefinite"/>
                      </p:stCondLst>
                      <p:childTnLst>
                        <p:par>
                          <p:cTn id="18" fill="hold">
                            <p:stCondLst>
                              <p:cond delay="0"/>
                            </p:stCondLst>
                            <p:childTnLst>
                              <p:par>
                                <p:cTn id="19" presetID="10" presetClass="entr" presetSubtype="0" fill="hold" grpId="0" nodeType="clickEffect">
                                  <p:stCondLst>
                                    <p:cond delay="0"/>
                                  </p:stCondLst>
                                  <p:childTnLst>
                                    <p:set>
                                      <p:cBhvr>
                                        <p:cTn id="20" dur="1" fill="hold">
                                          <p:stCondLst>
                                            <p:cond delay="0"/>
                                          </p:stCondLst>
                                        </p:cTn>
                                        <p:tgtEl>
                                          <p:spTgt spid="6"/>
                                        </p:tgtEl>
                                        <p:attrNameLst>
                                          <p:attrName>style.visibility</p:attrName>
                                        </p:attrNameLst>
                                      </p:cBhvr>
                                      <p:to>
                                        <p:strVal val="visible"/>
                                      </p:to>
                                    </p:set>
                                    <p:animEffect transition="in" filter="fade">
                                      <p:cBhvr>
                                        <p:cTn id="21" dur="1000"/>
                                        <p:tgtEl>
                                          <p:spTgt spid="6"/>
                                        </p:tgtEl>
                                      </p:cBhvr>
                                    </p:animEffect>
                                  </p:childTnLst>
                                </p:cTn>
                              </p:par>
                            </p:childTnLst>
                          </p:cTn>
                        </p:par>
                      </p:childTnLst>
                    </p:cTn>
                  </p:par>
                  <p:par>
                    <p:cTn id="22" fill="hold">
                      <p:stCondLst>
                        <p:cond delay="indefinite"/>
                      </p:stCondLst>
                      <p:childTnLst>
                        <p:par>
                          <p:cTn id="23" fill="hold">
                            <p:stCondLst>
                              <p:cond delay="0"/>
                            </p:stCondLst>
                            <p:childTnLst>
                              <p:par>
                                <p:cTn id="24" presetID="10" presetClass="entr" presetSubtype="0" fill="hold" grpId="0" nodeType="clickEffect">
                                  <p:stCondLst>
                                    <p:cond delay="0"/>
                                  </p:stCondLst>
                                  <p:childTnLst>
                                    <p:set>
                                      <p:cBhvr>
                                        <p:cTn id="25" dur="1" fill="hold">
                                          <p:stCondLst>
                                            <p:cond delay="0"/>
                                          </p:stCondLst>
                                        </p:cTn>
                                        <p:tgtEl>
                                          <p:spTgt spid="7"/>
                                        </p:tgtEl>
                                        <p:attrNameLst>
                                          <p:attrName>style.visibility</p:attrName>
                                        </p:attrNameLst>
                                      </p:cBhvr>
                                      <p:to>
                                        <p:strVal val="visible"/>
                                      </p:to>
                                    </p:set>
                                    <p:animEffect transition="in" filter="fade">
                                      <p:cBhvr>
                                        <p:cTn id="26" dur="1000"/>
                                        <p:tgtEl>
                                          <p:spTgt spid="7"/>
                                        </p:tgtEl>
                                      </p:cBhvr>
                                    </p:animEffect>
                                  </p:childTnLst>
                                </p:cTn>
                              </p:par>
                            </p:childTnLst>
                          </p:cTn>
                        </p:par>
                      </p:childTnLst>
                    </p:cTn>
                  </p:par>
                  <p:par>
                    <p:cTn id="27" fill="hold">
                      <p:stCondLst>
                        <p:cond delay="indefinite"/>
                      </p:stCondLst>
                      <p:childTnLst>
                        <p:par>
                          <p:cTn id="28" fill="hold">
                            <p:stCondLst>
                              <p:cond delay="0"/>
                            </p:stCondLst>
                            <p:childTnLst>
                              <p:par>
                                <p:cTn id="29" presetID="22" presetClass="entr" presetSubtype="8" fill="hold" grpId="0" nodeType="clickEffect">
                                  <p:stCondLst>
                                    <p:cond delay="0"/>
                                  </p:stCondLst>
                                  <p:childTnLst>
                                    <p:set>
                                      <p:cBhvr>
                                        <p:cTn id="30" dur="1" fill="hold">
                                          <p:stCondLst>
                                            <p:cond delay="0"/>
                                          </p:stCondLst>
                                        </p:cTn>
                                        <p:tgtEl>
                                          <p:spTgt spid="8">
                                            <p:txEl>
                                              <p:pRg st="0" end="0"/>
                                            </p:txEl>
                                          </p:spTgt>
                                        </p:tgtEl>
                                        <p:attrNameLst>
                                          <p:attrName>style.visibility</p:attrName>
                                        </p:attrNameLst>
                                      </p:cBhvr>
                                      <p:to>
                                        <p:strVal val="visible"/>
                                      </p:to>
                                    </p:set>
                                    <p:animEffect transition="in" filter="wipe(left)">
                                      <p:cBhvr>
                                        <p:cTn id="31" dur="2000"/>
                                        <p:tgtEl>
                                          <p:spTgt spid="8">
                                            <p:txEl>
                                              <p:pRg st="0" end="0"/>
                                            </p:txEl>
                                          </p:spTgt>
                                        </p:tgtEl>
                                      </p:cBhvr>
                                    </p:animEffect>
                                  </p:childTnLst>
                                </p:cTn>
                              </p:par>
                            </p:childTnLst>
                          </p:cTn>
                        </p:par>
                      </p:childTnLst>
                    </p:cTn>
                  </p:par>
                  <p:par>
                    <p:cTn id="32" fill="hold">
                      <p:stCondLst>
                        <p:cond delay="indefinite"/>
                      </p:stCondLst>
                      <p:childTnLst>
                        <p:par>
                          <p:cTn id="33" fill="hold">
                            <p:stCondLst>
                              <p:cond delay="0"/>
                            </p:stCondLst>
                            <p:childTnLst>
                              <p:par>
                                <p:cTn id="34" presetID="22" presetClass="entr" presetSubtype="8" fill="hold" grpId="0" nodeType="clickEffect">
                                  <p:stCondLst>
                                    <p:cond delay="0"/>
                                  </p:stCondLst>
                                  <p:childTnLst>
                                    <p:set>
                                      <p:cBhvr>
                                        <p:cTn id="35" dur="1" fill="hold">
                                          <p:stCondLst>
                                            <p:cond delay="0"/>
                                          </p:stCondLst>
                                        </p:cTn>
                                        <p:tgtEl>
                                          <p:spTgt spid="8">
                                            <p:txEl>
                                              <p:pRg st="2" end="2"/>
                                            </p:txEl>
                                          </p:spTgt>
                                        </p:tgtEl>
                                        <p:attrNameLst>
                                          <p:attrName>style.visibility</p:attrName>
                                        </p:attrNameLst>
                                      </p:cBhvr>
                                      <p:to>
                                        <p:strVal val="visible"/>
                                      </p:to>
                                    </p:set>
                                    <p:animEffect transition="in" filter="wipe(left)">
                                      <p:cBhvr>
                                        <p:cTn id="36" dur="2000"/>
                                        <p:tgtEl>
                                          <p:spTgt spid="8">
                                            <p:txEl>
                                              <p:pRg st="2" end="2"/>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6" grpId="0" animBg="1"/>
      <p:bldP spid="7" grpId="0" animBg="1"/>
      <p:bldP spid="8" grpId="0" build="p"/>
    </p:bldLst>
  </p:timing>
</p:sld>
</file>

<file path=ppt/slides/slide9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Add Data – Single Record (1) – Example</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a:xfrm>
            <a:off x="838200" y="1825625"/>
            <a:ext cx="10922000" cy="4351338"/>
          </a:xfrm>
        </p:spPr>
        <p:txBody>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INSERT INTO</a:t>
            </a:r>
            <a:r>
              <a:rPr lang="en-US" altLang="en-US" sz="4400" dirty="0">
                <a:solidFill>
                  <a:srgbClr val="000000"/>
                </a:solidFill>
                <a:latin typeface="Consolas" panose="020B0609020204030204" pitchFamily="49" charset="0"/>
              </a:rPr>
              <a:t> Pupil</a:t>
            </a:r>
            <a:br>
              <a:rPr lang="en-US" altLang="en-US" sz="4400" dirty="0">
                <a:solidFill>
                  <a:srgbClr val="000000"/>
                </a:solidFill>
                <a:latin typeface="Consolas" panose="020B0609020204030204" pitchFamily="49" charset="0"/>
              </a:rPr>
            </a:b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VALUES</a:t>
            </a:r>
            <a:r>
              <a:rPr lang="en-US" altLang="en-US" sz="4400" dirty="0">
                <a:solidFill>
                  <a:srgbClr val="000000"/>
                </a:solidFill>
                <a:latin typeface="Consolas" panose="020B0609020204030204" pitchFamily="49" charset="0"/>
              </a:rPr>
              <a:t> (</a:t>
            </a:r>
            <a:r>
              <a:rPr lang="en-US" altLang="en-US" sz="4400" dirty="0">
                <a:solidFill>
                  <a:srgbClr val="0086B3"/>
                </a:solidFill>
                <a:latin typeface="Consolas" panose="020B0609020204030204" pitchFamily="49" charset="0"/>
              </a:rPr>
              <a:t>2</a:t>
            </a:r>
            <a:r>
              <a:rPr lang="en-US" altLang="en-US" sz="4400" dirty="0">
                <a:solidFill>
                  <a:srgbClr val="000000"/>
                </a:solidFill>
                <a:latin typeface="Consolas" panose="020B0609020204030204" pitchFamily="49" charset="0"/>
              </a:rPr>
              <a:t>, </a:t>
            </a:r>
            <a:r>
              <a:rPr lang="en-US" altLang="en-US" sz="4400" dirty="0">
                <a:solidFill>
                  <a:srgbClr val="0086B3"/>
                </a:solidFill>
                <a:latin typeface="Consolas" panose="020B0609020204030204" pitchFamily="49" charset="0"/>
              </a:rPr>
              <a:t>2</a:t>
            </a:r>
            <a:r>
              <a:rPr lang="en-US" altLang="en-US" sz="4400" dirty="0">
                <a:solidFill>
                  <a:srgbClr val="000000"/>
                </a:solidFill>
                <a:latin typeface="Consolas" panose="020B0609020204030204" pitchFamily="49" charset="0"/>
              </a:rPr>
              <a:t>, </a:t>
            </a:r>
            <a:r>
              <a:rPr lang="en-US" altLang="en-US" sz="4400" dirty="0">
                <a:solidFill>
                  <a:srgbClr val="183691"/>
                </a:solidFill>
                <a:latin typeface="Consolas" panose="020B0609020204030204" pitchFamily="49" charset="0"/>
              </a:rPr>
              <a:t>"Tom"</a:t>
            </a:r>
            <a:r>
              <a:rPr lang="en-US" altLang="en-US" sz="4400" dirty="0">
                <a:solidFill>
                  <a:srgbClr val="000000"/>
                </a:solidFill>
                <a:latin typeface="Consolas" panose="020B0609020204030204" pitchFamily="49" charset="0"/>
              </a:rPr>
              <a:t>, </a:t>
            </a:r>
            <a:r>
              <a:rPr lang="en-US" altLang="en-US" sz="4400" dirty="0">
                <a:solidFill>
                  <a:srgbClr val="183691"/>
                </a:solidFill>
                <a:latin typeface="Consolas" panose="020B0609020204030204" pitchFamily="49" charset="0"/>
              </a:rPr>
              <a:t>"Fox"</a:t>
            </a:r>
            <a:r>
              <a:rPr lang="en-US" altLang="en-US" sz="44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4400" dirty="0">
                <a:solidFill>
                  <a:srgbClr val="000000"/>
                </a:solidFill>
                <a:latin typeface="Consolas" panose="020B0609020204030204" pitchFamily="49" charset="0"/>
              </a:rPr>
              <a:t>       </a:t>
            </a:r>
            <a:r>
              <a:rPr lang="en-US" altLang="en-US" sz="4400" dirty="0">
                <a:solidFill>
                  <a:srgbClr val="183691"/>
                </a:solidFill>
                <a:latin typeface="Consolas" panose="020B0609020204030204" pitchFamily="49" charset="0"/>
              </a:rPr>
              <a:t>"2000-10-23"</a:t>
            </a:r>
            <a:r>
              <a:rPr lang="en-US" altLang="en-US" sz="4400" dirty="0">
                <a:solidFill>
                  <a:srgbClr val="000000"/>
                </a:solidFill>
                <a:latin typeface="Consolas" panose="020B0609020204030204" pitchFamily="49" charset="0"/>
              </a:rPr>
              <a:t>, </a:t>
            </a:r>
            <a:r>
              <a:rPr lang="en-US" altLang="en-US" sz="4400" dirty="0">
                <a:solidFill>
                  <a:srgbClr val="0086B3"/>
                </a:solidFill>
                <a:latin typeface="Consolas" panose="020B0609020204030204" pitchFamily="49" charset="0"/>
              </a:rPr>
              <a:t>22</a:t>
            </a:r>
            <a:r>
              <a:rPr lang="en-US" altLang="en-US" sz="4400" dirty="0">
                <a:solidFill>
                  <a:srgbClr val="000000"/>
                </a:solidFill>
                <a:latin typeface="Consolas" panose="020B0609020204030204" pitchFamily="49" charset="0"/>
              </a:rPr>
              <a:t>, </a:t>
            </a:r>
            <a:r>
              <a:rPr lang="en-US" altLang="en-US" sz="4400" dirty="0">
                <a:solidFill>
                  <a:srgbClr val="A71D5D"/>
                </a:solidFill>
                <a:latin typeface="Consolas" panose="020B0609020204030204" pitchFamily="49" charset="0"/>
              </a:rPr>
              <a:t>FALSE</a:t>
            </a:r>
            <a:r>
              <a:rPr lang="en-US" altLang="en-US" sz="4400" dirty="0">
                <a:solidFill>
                  <a:srgbClr val="000000"/>
                </a:solidFill>
                <a:latin typeface="Consolas" panose="020B0609020204030204" pitchFamily="49" charset="0"/>
              </a:rPr>
              <a:t>);</a:t>
            </a:r>
            <a:br>
              <a:rPr lang="en-US" altLang="en-US" sz="4400" dirty="0">
                <a:solidFill>
                  <a:srgbClr val="000000"/>
                </a:solidFill>
                <a:latin typeface="Consolas" panose="020B0609020204030204" pitchFamily="49" charset="0"/>
              </a:rPr>
            </a:br>
            <a:endParaRPr lang="en-US" altLang="en-US" sz="5400" dirty="0">
              <a:latin typeface="Arial" panose="020B0604020202020204" pitchFamily="34" charset="0"/>
            </a:endParaRPr>
          </a:p>
        </p:txBody>
      </p:sp>
      <p:pic>
        <p:nvPicPr>
          <p:cNvPr id="6" name="Picture 5">
            <a:extLst>
              <a:ext uri="{FF2B5EF4-FFF2-40B4-BE49-F238E27FC236}">
                <a16:creationId xmlns:a16="http://schemas.microsoft.com/office/drawing/2014/main" id="{F34E53EA-672F-798A-60D2-8A00D1769360}"/>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510519" y="4001293"/>
            <a:ext cx="1353531" cy="2806101"/>
          </a:xfrm>
          <a:prstGeom prst="rect">
            <a:avLst/>
          </a:prstGeom>
        </p:spPr>
      </p:pic>
    </p:spTree>
    <p:extLst>
      <p:ext uri="{BB962C8B-B14F-4D97-AF65-F5344CB8AC3E}">
        <p14:creationId xmlns:p14="http://schemas.microsoft.com/office/powerpoint/2010/main" val="2837841370"/>
      </p:ext>
    </p:extLst>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D39CF4B-3EA2-0A99-2C63-8565E373CC2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F749025-99FB-CCCE-2414-09997F4A8845}"/>
              </a:ext>
            </a:extLst>
          </p:cNvPr>
          <p:cNvSpPr>
            <a:spLocks noGrp="1"/>
          </p:cNvSpPr>
          <p:nvPr>
            <p:ph type="title"/>
          </p:nvPr>
        </p:nvSpPr>
        <p:spPr/>
        <p:txBody>
          <a:bodyPr/>
          <a:lstStyle/>
          <a:p>
            <a:r>
              <a:rPr lang="en-GB" dirty="0"/>
              <a:t>Add Data – Single Record (2) – Example</a:t>
            </a:r>
          </a:p>
        </p:txBody>
      </p:sp>
      <p:sp>
        <p:nvSpPr>
          <p:cNvPr id="3" name="Content Placeholder 2">
            <a:extLst>
              <a:ext uri="{FF2B5EF4-FFF2-40B4-BE49-F238E27FC236}">
                <a16:creationId xmlns:a16="http://schemas.microsoft.com/office/drawing/2014/main" id="{7306360E-CDB0-5519-669C-C23382CC6A49}"/>
              </a:ext>
            </a:extLst>
          </p:cNvPr>
          <p:cNvSpPr>
            <a:spLocks noGrp="1"/>
          </p:cNvSpPr>
          <p:nvPr>
            <p:ph idx="1"/>
          </p:nvPr>
        </p:nvSpPr>
        <p:spPr>
          <a:xfrm>
            <a:off x="838200" y="1825625"/>
            <a:ext cx="10773294" cy="4351338"/>
          </a:xfrm>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INSERT INTO</a:t>
            </a:r>
            <a:r>
              <a:rPr lang="en-US" altLang="en-US" sz="4000" dirty="0">
                <a:solidFill>
                  <a:srgbClr val="000000"/>
                </a:solidFill>
                <a:latin typeface="Consolas" panose="020B0609020204030204" pitchFamily="49" charset="0"/>
              </a:rPr>
              <a:t> </a:t>
            </a:r>
            <a:r>
              <a:rPr lang="en-US" altLang="en-US" sz="4000" dirty="0">
                <a:solidFill>
                  <a:srgbClr val="0086B3"/>
                </a:solidFill>
                <a:latin typeface="Consolas" panose="020B0609020204030204" pitchFamily="49" charset="0"/>
              </a:rPr>
              <a:t>Datatypes</a:t>
            </a:r>
            <a:endParaRPr lang="en-US" altLang="en-US" sz="40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VALUES</a:t>
            </a:r>
            <a:r>
              <a:rPr lang="en-US" altLang="en-US" sz="4000" dirty="0">
                <a:solidFill>
                  <a:srgbClr val="000000"/>
                </a:solidFill>
                <a:latin typeface="Consolas" panose="020B0609020204030204" pitchFamily="49" charset="0"/>
              </a:rPr>
              <a:t> (</a:t>
            </a:r>
            <a:r>
              <a:rPr lang="en-US" altLang="en-US" sz="4000" dirty="0">
                <a:solidFill>
                  <a:srgbClr val="0086B3"/>
                </a:solidFill>
                <a:latin typeface="Consolas" panose="020B0609020204030204" pitchFamily="49" charset="0"/>
              </a:rPr>
              <a:t>1001</a:t>
            </a:r>
            <a:r>
              <a:rPr lang="en-US" altLang="en-US" sz="4000" dirty="0">
                <a:latin typeface="Consolas" panose="020B0609020204030204" pitchFamily="49" charset="0"/>
              </a:rPr>
              <a:t>, </a:t>
            </a:r>
            <a:r>
              <a:rPr lang="en-US" altLang="en-US" sz="4000" dirty="0">
                <a:solidFill>
                  <a:srgbClr val="A71D5D"/>
                </a:solidFill>
                <a:latin typeface="Consolas" panose="020B0609020204030204" pitchFamily="49" charset="0"/>
              </a:rPr>
              <a:t>NULL</a:t>
            </a:r>
            <a:r>
              <a:rPr lang="en-US" altLang="en-US" sz="4000" dirty="0">
                <a:solidFill>
                  <a:srgbClr val="000000"/>
                </a:solidFill>
                <a:latin typeface="Consolas" panose="020B0609020204030204" pitchFamily="49" charset="0"/>
              </a:rPr>
              <a:t>,</a:t>
            </a:r>
            <a:r>
              <a:rPr lang="en-US" altLang="en-US" sz="4000" dirty="0">
                <a:solidFill>
                  <a:srgbClr val="183691"/>
                </a:solidFill>
                <a:latin typeface="Consolas" panose="020B0609020204030204" pitchFamily="49" charset="0"/>
              </a:rPr>
              <a:t> </a:t>
            </a:r>
            <a:r>
              <a:rPr lang="en-US" altLang="en-US" sz="4000" dirty="0">
                <a:solidFill>
                  <a:srgbClr val="A71D5D"/>
                </a:solidFill>
                <a:latin typeface="Consolas" panose="020B0609020204030204" pitchFamily="49" charset="0"/>
              </a:rPr>
              <a:t>NULL</a:t>
            </a:r>
            <a:r>
              <a:rPr lang="en-US" altLang="en-US" sz="4000" dirty="0">
                <a:solidFill>
                  <a:srgbClr val="000000"/>
                </a:solidFill>
                <a:latin typeface="Consolas" panose="020B0609020204030204" pitchFamily="49" charset="0"/>
              </a:rPr>
              <a:t>,</a:t>
            </a:r>
            <a:r>
              <a:rPr lang="en-US" altLang="en-US" sz="4000" dirty="0">
                <a:solidFill>
                  <a:srgbClr val="183691"/>
                </a:solidFill>
                <a:latin typeface="Consolas" panose="020B0609020204030204" pitchFamily="49" charset="0"/>
              </a:rPr>
              <a:t> </a:t>
            </a:r>
            <a:r>
              <a:rPr lang="en-US" altLang="en-US" sz="4000" dirty="0">
                <a:solidFill>
                  <a:srgbClr val="A71D5D"/>
                </a:solidFill>
                <a:latin typeface="Consolas" panose="020B0609020204030204" pitchFamily="49" charset="0"/>
              </a:rPr>
              <a:t>NULL</a:t>
            </a:r>
            <a:r>
              <a:rPr lang="en-US" altLang="en-US" sz="4000" dirty="0">
                <a:solidFill>
                  <a:srgbClr val="000000"/>
                </a:solidFill>
                <a:latin typeface="Consolas" panose="020B0609020204030204" pitchFamily="49" charset="0"/>
              </a:rPr>
              <a:t>,</a:t>
            </a:r>
            <a:br>
              <a:rPr lang="en-US" altLang="en-US" sz="4000" dirty="0">
                <a:solidFill>
                  <a:srgbClr val="183691"/>
                </a:solidFill>
                <a:latin typeface="Consolas" panose="020B0609020204030204" pitchFamily="49" charset="0"/>
              </a:rPr>
            </a:br>
            <a:r>
              <a:rPr lang="en-US" altLang="en-US" sz="4000" dirty="0">
                <a:solidFill>
                  <a:srgbClr val="183691"/>
                </a:solidFill>
                <a:latin typeface="Consolas" panose="020B0609020204030204" pitchFamily="49" charset="0"/>
              </a:rPr>
              <a:t>            </a:t>
            </a:r>
            <a:r>
              <a:rPr lang="en-US" altLang="en-US" sz="4000" dirty="0">
                <a:solidFill>
                  <a:srgbClr val="A71D5D"/>
                </a:solidFill>
                <a:latin typeface="Consolas" panose="020B0609020204030204" pitchFamily="49" charset="0"/>
              </a:rPr>
              <a:t>NULL</a:t>
            </a:r>
            <a:r>
              <a:rPr lang="en-US" altLang="en-US" sz="4000" dirty="0">
                <a:solidFill>
                  <a:srgbClr val="000000"/>
                </a:solidFill>
                <a:latin typeface="Consolas" panose="020B0609020204030204" pitchFamily="49" charset="0"/>
              </a:rPr>
              <a:t>,</a:t>
            </a:r>
            <a:r>
              <a:rPr lang="en-US" altLang="en-US" sz="4000" dirty="0">
                <a:solidFill>
                  <a:srgbClr val="A71D5D"/>
                </a:solidFill>
                <a:latin typeface="Consolas" panose="020B0609020204030204" pitchFamily="49" charset="0"/>
              </a:rPr>
              <a:t> NULL</a:t>
            </a:r>
            <a:r>
              <a:rPr lang="en-US" altLang="en-US" sz="4000" dirty="0">
                <a:solidFill>
                  <a:srgbClr val="000000"/>
                </a:solidFill>
                <a:latin typeface="Consolas" panose="020B0609020204030204" pitchFamily="49" charset="0"/>
              </a:rPr>
              <a:t>,</a:t>
            </a:r>
            <a:r>
              <a:rPr lang="en-US" altLang="en-US" sz="4000" dirty="0">
                <a:solidFill>
                  <a:srgbClr val="183691"/>
                </a:solidFill>
                <a:latin typeface="Consolas" panose="020B0609020204030204" pitchFamily="49" charset="0"/>
              </a:rPr>
              <a:t> FALSE</a:t>
            </a:r>
            <a:r>
              <a:rPr lang="en-US" altLang="en-US" sz="4000" dirty="0">
                <a:solidFill>
                  <a:srgbClr val="000000"/>
                </a:solidFill>
                <a:latin typeface="Consolas" panose="020B0609020204030204" pitchFamily="49" charset="0"/>
              </a:rPr>
              <a:t>);</a:t>
            </a:r>
            <a:br>
              <a:rPr lang="en-US" altLang="en-US" sz="4000" dirty="0">
                <a:solidFill>
                  <a:srgbClr val="000000"/>
                </a:solidFill>
                <a:latin typeface="Consolas" panose="020B0609020204030204" pitchFamily="49" charset="0"/>
              </a:rPr>
            </a:br>
            <a:endParaRPr lang="en-US" altLang="en-US" sz="4800" dirty="0">
              <a:latin typeface="Arial" panose="020B0604020202020204" pitchFamily="34" charset="0"/>
            </a:endParaRPr>
          </a:p>
        </p:txBody>
      </p:sp>
      <p:sp>
        <p:nvSpPr>
          <p:cNvPr id="4" name="Callout: Bent Line with No Border 8">
            <a:extLst>
              <a:ext uri="{FF2B5EF4-FFF2-40B4-BE49-F238E27FC236}">
                <a16:creationId xmlns:a16="http://schemas.microsoft.com/office/drawing/2014/main" id="{81BEBBED-B231-6136-A3F8-2F452E644786}"/>
              </a:ext>
            </a:extLst>
          </p:cNvPr>
          <p:cNvSpPr/>
          <p:nvPr/>
        </p:nvSpPr>
        <p:spPr>
          <a:xfrm>
            <a:off x="930222" y="3744114"/>
            <a:ext cx="3291840" cy="862642"/>
          </a:xfrm>
          <a:prstGeom prst="callout2">
            <a:avLst>
              <a:gd name="adj1" fmla="val 49854"/>
              <a:gd name="adj2" fmla="val 100102"/>
              <a:gd name="adj3" fmla="val 49417"/>
              <a:gd name="adj4" fmla="val 129889"/>
              <a:gd name="adj5" fmla="val 3088"/>
              <a:gd name="adj6" fmla="val 136956"/>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Values in table order</a:t>
            </a:r>
          </a:p>
        </p:txBody>
      </p:sp>
      <p:sp>
        <p:nvSpPr>
          <p:cNvPr id="7" name="TextBox 6">
            <a:extLst>
              <a:ext uri="{FF2B5EF4-FFF2-40B4-BE49-F238E27FC236}">
                <a16:creationId xmlns:a16="http://schemas.microsoft.com/office/drawing/2014/main" id="{EF7A69E0-4E03-2636-8FEC-43A8EFE367D8}"/>
              </a:ext>
            </a:extLst>
          </p:cNvPr>
          <p:cNvSpPr txBox="1"/>
          <p:nvPr/>
        </p:nvSpPr>
        <p:spPr>
          <a:xfrm>
            <a:off x="2" y="4716635"/>
            <a:ext cx="9951718" cy="2123658"/>
          </a:xfrm>
          <a:prstGeom prst="rect">
            <a:avLst/>
          </a:prstGeom>
          <a:noFill/>
        </p:spPr>
        <p:txBody>
          <a:bodyPr wrap="square" rtlCol="0">
            <a:spAutoFit/>
          </a:bodyPr>
          <a:lstStyle/>
          <a:p>
            <a:pPr algn="ctr"/>
            <a:r>
              <a:rPr lang="en-GB" sz="3600" dirty="0">
                <a:solidFill>
                  <a:srgbClr val="A71D5D"/>
                </a:solidFill>
              </a:rPr>
              <a:t>NULL</a:t>
            </a:r>
            <a:r>
              <a:rPr lang="en-GB" sz="3600" dirty="0">
                <a:solidFill>
                  <a:srgbClr val="7030A0"/>
                </a:solidFill>
              </a:rPr>
              <a:t> can be used when no value is available,</a:t>
            </a:r>
          </a:p>
          <a:p>
            <a:pPr algn="ctr"/>
            <a:r>
              <a:rPr lang="en-GB" sz="3600" dirty="0">
                <a:solidFill>
                  <a:srgbClr val="7030A0"/>
                </a:solidFill>
              </a:rPr>
              <a:t>but PK and all validation rules must be met</a:t>
            </a:r>
          </a:p>
          <a:p>
            <a:pPr algn="ctr"/>
            <a:endParaRPr lang="en-GB" sz="2400" dirty="0">
              <a:solidFill>
                <a:srgbClr val="7030A0"/>
              </a:solidFill>
              <a:latin typeface="Consolas" panose="020B0609020204030204" pitchFamily="49" charset="0"/>
            </a:endParaRPr>
          </a:p>
          <a:p>
            <a:pPr algn="ctr"/>
            <a:r>
              <a:rPr lang="en-GB" sz="3600" dirty="0">
                <a:solidFill>
                  <a:srgbClr val="7030A0"/>
                </a:solidFill>
              </a:rPr>
              <a:t>If a validation rule fails, no data is inserted</a:t>
            </a:r>
            <a:endParaRPr lang="en-GB" sz="3600" dirty="0">
              <a:solidFill>
                <a:srgbClr val="7030A0"/>
              </a:solidFill>
              <a:latin typeface="Consolas" panose="020B0609020204030204" pitchFamily="49" charset="0"/>
            </a:endParaRPr>
          </a:p>
        </p:txBody>
      </p:sp>
      <p:pic>
        <p:nvPicPr>
          <p:cNvPr id="10" name="Picture 9">
            <a:extLst>
              <a:ext uri="{FF2B5EF4-FFF2-40B4-BE49-F238E27FC236}">
                <a16:creationId xmlns:a16="http://schemas.microsoft.com/office/drawing/2014/main" id="{C87E85EE-4907-5EE4-F65E-A2E77EF3EF92}"/>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113540" y="3429000"/>
            <a:ext cx="1752600" cy="3238500"/>
          </a:xfrm>
          <a:prstGeom prst="rect">
            <a:avLst/>
          </a:prstGeom>
        </p:spPr>
      </p:pic>
    </p:spTree>
    <p:extLst>
      <p:ext uri="{BB962C8B-B14F-4D97-AF65-F5344CB8AC3E}">
        <p14:creationId xmlns:p14="http://schemas.microsoft.com/office/powerpoint/2010/main" val="227583815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2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25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4"/>
                                        </p:tgtEl>
                                        <p:attrNameLst>
                                          <p:attrName>style.visibility</p:attrName>
                                        </p:attrNameLst>
                                      </p:cBhvr>
                                      <p:to>
                                        <p:strVal val="visible"/>
                                      </p:to>
                                    </p:set>
                                    <p:animEffect transition="in" filter="fade">
                                      <p:cBhvr>
                                        <p:cTn id="17" dur="1000"/>
                                        <p:tgtEl>
                                          <p:spTgt spid="4"/>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7">
                                            <p:txEl>
                                              <p:pRg st="0" end="0"/>
                                            </p:txEl>
                                          </p:spTgt>
                                        </p:tgtEl>
                                        <p:attrNameLst>
                                          <p:attrName>style.visibility</p:attrName>
                                        </p:attrNameLst>
                                      </p:cBhvr>
                                      <p:to>
                                        <p:strVal val="visible"/>
                                      </p:to>
                                    </p:set>
                                    <p:animEffect transition="in" filter="wipe(left)">
                                      <p:cBhvr>
                                        <p:cTn id="22" dur="2000"/>
                                        <p:tgtEl>
                                          <p:spTgt spid="7">
                                            <p:txEl>
                                              <p:pRg st="0" end="0"/>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7">
                                            <p:txEl>
                                              <p:pRg st="1" end="1"/>
                                            </p:txEl>
                                          </p:spTgt>
                                        </p:tgtEl>
                                        <p:attrNameLst>
                                          <p:attrName>style.visibility</p:attrName>
                                        </p:attrNameLst>
                                      </p:cBhvr>
                                      <p:to>
                                        <p:strVal val="visible"/>
                                      </p:to>
                                    </p:set>
                                    <p:animEffect transition="in" filter="wipe(left)">
                                      <p:cBhvr>
                                        <p:cTn id="27" dur="2000"/>
                                        <p:tgtEl>
                                          <p:spTgt spid="7">
                                            <p:txEl>
                                              <p:pRg st="1" end="1"/>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7">
                                            <p:txEl>
                                              <p:pRg st="3" end="3"/>
                                            </p:txEl>
                                          </p:spTgt>
                                        </p:tgtEl>
                                        <p:attrNameLst>
                                          <p:attrName>style.visibility</p:attrName>
                                        </p:attrNameLst>
                                      </p:cBhvr>
                                      <p:to>
                                        <p:strVal val="visible"/>
                                      </p:to>
                                    </p:set>
                                    <p:animEffect transition="in" filter="wipe(left)">
                                      <p:cBhvr>
                                        <p:cTn id="32" dur="2000"/>
                                        <p:tgtEl>
                                          <p:spTgt spid="7">
                                            <p:txEl>
                                              <p:pRg st="3" end="3"/>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4" grpId="0" animBg="1"/>
      <p:bldP spid="7" grpId="0" build="p"/>
    </p:bldLst>
  </p:timing>
</p:sld>
</file>

<file path=ppt/slides/slide93.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119345DC-6C31-748D-8420-E64F92243FE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856091F-452F-84E1-FC0A-F50D0EBA903F}"/>
              </a:ext>
            </a:extLst>
          </p:cNvPr>
          <p:cNvSpPr>
            <a:spLocks noGrp="1"/>
          </p:cNvSpPr>
          <p:nvPr>
            <p:ph type="title"/>
          </p:nvPr>
        </p:nvSpPr>
        <p:spPr/>
        <p:txBody>
          <a:bodyPr/>
          <a:lstStyle/>
          <a:p>
            <a:r>
              <a:rPr lang="en-GB" dirty="0"/>
              <a:t>Add Data – Single Record (2) – Example</a:t>
            </a:r>
          </a:p>
        </p:txBody>
      </p:sp>
      <p:sp>
        <p:nvSpPr>
          <p:cNvPr id="3" name="Content Placeholder 2">
            <a:extLst>
              <a:ext uri="{FF2B5EF4-FFF2-40B4-BE49-F238E27FC236}">
                <a16:creationId xmlns:a16="http://schemas.microsoft.com/office/drawing/2014/main" id="{79772BBC-BE43-683F-4299-664C13FA0031}"/>
              </a:ext>
            </a:extLst>
          </p:cNvPr>
          <p:cNvSpPr>
            <a:spLocks noGrp="1"/>
          </p:cNvSpPr>
          <p:nvPr>
            <p:ph idx="1"/>
          </p:nvPr>
        </p:nvSpPr>
        <p:spPr>
          <a:xfrm>
            <a:off x="838200" y="1825625"/>
            <a:ext cx="10773294" cy="4351338"/>
          </a:xfrm>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INSERT INTO</a:t>
            </a:r>
            <a:r>
              <a:rPr lang="en-US" altLang="en-US" sz="4000" dirty="0">
                <a:solidFill>
                  <a:srgbClr val="000000"/>
                </a:solidFill>
                <a:latin typeface="Consolas" panose="020B0609020204030204" pitchFamily="49" charset="0"/>
              </a:rPr>
              <a:t> </a:t>
            </a:r>
            <a:r>
              <a:rPr lang="en-US" altLang="en-US" sz="4000" dirty="0">
                <a:solidFill>
                  <a:srgbClr val="0086B3"/>
                </a:solidFill>
                <a:latin typeface="Consolas" panose="020B0609020204030204" pitchFamily="49" charset="0"/>
              </a:rPr>
              <a:t>Datatypes</a:t>
            </a:r>
            <a:endParaRPr lang="en-US" altLang="en-US" sz="40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VALUES</a:t>
            </a:r>
            <a:r>
              <a:rPr lang="en-US" altLang="en-US" sz="4000" dirty="0">
                <a:solidFill>
                  <a:srgbClr val="000000"/>
                </a:solidFill>
                <a:latin typeface="Consolas" panose="020B0609020204030204" pitchFamily="49" charset="0"/>
              </a:rPr>
              <a:t> (</a:t>
            </a:r>
            <a:r>
              <a:rPr lang="en-US" altLang="en-US" sz="4000" dirty="0">
                <a:solidFill>
                  <a:srgbClr val="0086B3"/>
                </a:solidFill>
                <a:latin typeface="Consolas" panose="020B0609020204030204" pitchFamily="49" charset="0"/>
              </a:rPr>
              <a:t>1001</a:t>
            </a:r>
            <a:r>
              <a:rPr lang="en-US" altLang="en-US" sz="4000" dirty="0">
                <a:latin typeface="Consolas" panose="020B0609020204030204" pitchFamily="49" charset="0"/>
              </a:rPr>
              <a:t>, </a:t>
            </a:r>
            <a:r>
              <a:rPr lang="en-US" altLang="en-US" sz="4000" dirty="0">
                <a:solidFill>
                  <a:srgbClr val="A71D5D"/>
                </a:solidFill>
                <a:latin typeface="Consolas" panose="020B0609020204030204" pitchFamily="49" charset="0"/>
              </a:rPr>
              <a:t>NULL</a:t>
            </a:r>
            <a:r>
              <a:rPr lang="en-US" altLang="en-US" sz="4000" dirty="0">
                <a:solidFill>
                  <a:srgbClr val="000000"/>
                </a:solidFill>
                <a:latin typeface="Consolas" panose="020B0609020204030204" pitchFamily="49" charset="0"/>
              </a:rPr>
              <a:t>,</a:t>
            </a:r>
            <a:r>
              <a:rPr lang="en-US" altLang="en-US" sz="4000" dirty="0">
                <a:solidFill>
                  <a:srgbClr val="183691"/>
                </a:solidFill>
                <a:latin typeface="Consolas" panose="020B0609020204030204" pitchFamily="49" charset="0"/>
              </a:rPr>
              <a:t> </a:t>
            </a:r>
            <a:r>
              <a:rPr lang="en-US" altLang="en-US" sz="4000" dirty="0">
                <a:solidFill>
                  <a:srgbClr val="A71D5D"/>
                </a:solidFill>
                <a:latin typeface="Consolas" panose="020B0609020204030204" pitchFamily="49" charset="0"/>
              </a:rPr>
              <a:t>NULL</a:t>
            </a:r>
            <a:r>
              <a:rPr lang="en-US" altLang="en-US" sz="4000" dirty="0">
                <a:solidFill>
                  <a:srgbClr val="000000"/>
                </a:solidFill>
                <a:latin typeface="Consolas" panose="020B0609020204030204" pitchFamily="49" charset="0"/>
              </a:rPr>
              <a:t>,</a:t>
            </a:r>
            <a:r>
              <a:rPr lang="en-US" altLang="en-US" sz="4000" dirty="0">
                <a:solidFill>
                  <a:srgbClr val="183691"/>
                </a:solidFill>
                <a:latin typeface="Consolas" panose="020B0609020204030204" pitchFamily="49" charset="0"/>
              </a:rPr>
              <a:t> </a:t>
            </a:r>
            <a:r>
              <a:rPr lang="en-US" altLang="en-US" sz="4000" dirty="0">
                <a:solidFill>
                  <a:srgbClr val="A71D5D"/>
                </a:solidFill>
                <a:latin typeface="Consolas" panose="020B0609020204030204" pitchFamily="49" charset="0"/>
              </a:rPr>
              <a:t>NULL</a:t>
            </a:r>
            <a:r>
              <a:rPr lang="en-US" altLang="en-US" sz="4000" dirty="0">
                <a:solidFill>
                  <a:srgbClr val="000000"/>
                </a:solidFill>
                <a:latin typeface="Consolas" panose="020B0609020204030204" pitchFamily="49" charset="0"/>
              </a:rPr>
              <a:t>,</a:t>
            </a:r>
            <a:br>
              <a:rPr lang="en-US" altLang="en-US" sz="4000" dirty="0">
                <a:solidFill>
                  <a:srgbClr val="183691"/>
                </a:solidFill>
                <a:latin typeface="Consolas" panose="020B0609020204030204" pitchFamily="49" charset="0"/>
              </a:rPr>
            </a:br>
            <a:r>
              <a:rPr lang="en-US" altLang="en-US" sz="4000" dirty="0">
                <a:solidFill>
                  <a:srgbClr val="183691"/>
                </a:solidFill>
                <a:latin typeface="Consolas" panose="020B0609020204030204" pitchFamily="49" charset="0"/>
              </a:rPr>
              <a:t>            </a:t>
            </a:r>
            <a:r>
              <a:rPr lang="en-US" altLang="en-US" sz="4000" dirty="0">
                <a:solidFill>
                  <a:srgbClr val="A71D5D"/>
                </a:solidFill>
                <a:latin typeface="Consolas" panose="020B0609020204030204" pitchFamily="49" charset="0"/>
              </a:rPr>
              <a:t>NULL</a:t>
            </a:r>
            <a:r>
              <a:rPr lang="en-US" altLang="en-US" sz="4000" dirty="0">
                <a:solidFill>
                  <a:srgbClr val="000000"/>
                </a:solidFill>
                <a:latin typeface="Consolas" panose="020B0609020204030204" pitchFamily="49" charset="0"/>
              </a:rPr>
              <a:t>,</a:t>
            </a:r>
            <a:r>
              <a:rPr lang="en-US" altLang="en-US" sz="4000" dirty="0">
                <a:solidFill>
                  <a:srgbClr val="A71D5D"/>
                </a:solidFill>
                <a:latin typeface="Consolas" panose="020B0609020204030204" pitchFamily="49" charset="0"/>
              </a:rPr>
              <a:t> NULL</a:t>
            </a:r>
            <a:r>
              <a:rPr lang="en-US" altLang="en-US" sz="4000" dirty="0">
                <a:solidFill>
                  <a:srgbClr val="000000"/>
                </a:solidFill>
                <a:latin typeface="Consolas" panose="020B0609020204030204" pitchFamily="49" charset="0"/>
              </a:rPr>
              <a:t>,</a:t>
            </a:r>
            <a:r>
              <a:rPr lang="en-US" altLang="en-US" sz="4000" dirty="0">
                <a:solidFill>
                  <a:srgbClr val="183691"/>
                </a:solidFill>
                <a:latin typeface="Consolas" panose="020B0609020204030204" pitchFamily="49" charset="0"/>
              </a:rPr>
              <a:t> FALSE</a:t>
            </a:r>
            <a:r>
              <a:rPr lang="en-US" altLang="en-US" sz="4000" dirty="0">
                <a:solidFill>
                  <a:srgbClr val="000000"/>
                </a:solidFill>
                <a:latin typeface="Consolas" panose="020B0609020204030204" pitchFamily="49" charset="0"/>
              </a:rPr>
              <a:t>);</a:t>
            </a:r>
            <a:br>
              <a:rPr lang="en-US" altLang="en-US" sz="4000" dirty="0">
                <a:solidFill>
                  <a:srgbClr val="000000"/>
                </a:solidFill>
                <a:latin typeface="Consolas" panose="020B0609020204030204" pitchFamily="49" charset="0"/>
              </a:rPr>
            </a:br>
            <a:endParaRPr lang="en-US" altLang="en-US" sz="4800" dirty="0">
              <a:latin typeface="Arial" panose="020B0604020202020204" pitchFamily="34" charset="0"/>
            </a:endParaRPr>
          </a:p>
        </p:txBody>
      </p:sp>
      <p:sp>
        <p:nvSpPr>
          <p:cNvPr id="7" name="TextBox 6">
            <a:extLst>
              <a:ext uri="{FF2B5EF4-FFF2-40B4-BE49-F238E27FC236}">
                <a16:creationId xmlns:a16="http://schemas.microsoft.com/office/drawing/2014/main" id="{CFC4D925-BD84-AB03-E98E-1B56D295E961}"/>
              </a:ext>
            </a:extLst>
          </p:cNvPr>
          <p:cNvSpPr txBox="1"/>
          <p:nvPr/>
        </p:nvSpPr>
        <p:spPr>
          <a:xfrm>
            <a:off x="2" y="4716635"/>
            <a:ext cx="9951718" cy="2123658"/>
          </a:xfrm>
          <a:prstGeom prst="rect">
            <a:avLst/>
          </a:prstGeom>
          <a:noFill/>
        </p:spPr>
        <p:txBody>
          <a:bodyPr wrap="square" rtlCol="0">
            <a:spAutoFit/>
          </a:bodyPr>
          <a:lstStyle/>
          <a:p>
            <a:pPr algn="ctr"/>
            <a:endParaRPr lang="en-GB" sz="3600" dirty="0">
              <a:solidFill>
                <a:srgbClr val="7030A0"/>
              </a:solidFill>
            </a:endParaRPr>
          </a:p>
          <a:p>
            <a:pPr algn="ctr"/>
            <a:r>
              <a:rPr lang="en-GB" sz="3600" dirty="0">
                <a:solidFill>
                  <a:srgbClr val="7030A0"/>
                </a:solidFill>
              </a:rPr>
              <a:t>but PK and all validation rules must be met</a:t>
            </a:r>
          </a:p>
          <a:p>
            <a:pPr algn="ctr"/>
            <a:endParaRPr lang="en-GB" sz="2400" dirty="0">
              <a:solidFill>
                <a:srgbClr val="7030A0"/>
              </a:solidFill>
              <a:latin typeface="Consolas" panose="020B0609020204030204" pitchFamily="49" charset="0"/>
            </a:endParaRPr>
          </a:p>
          <a:p>
            <a:pPr algn="ctr"/>
            <a:r>
              <a:rPr lang="en-GB" sz="3600" dirty="0">
                <a:solidFill>
                  <a:srgbClr val="7030A0"/>
                </a:solidFill>
              </a:rPr>
              <a:t>If a validation rule fails, no data is inserted</a:t>
            </a:r>
            <a:endParaRPr lang="en-GB" sz="3600" dirty="0">
              <a:solidFill>
                <a:srgbClr val="7030A0"/>
              </a:solidFill>
              <a:latin typeface="Consolas" panose="020B0609020204030204" pitchFamily="49" charset="0"/>
            </a:endParaRPr>
          </a:p>
        </p:txBody>
      </p:sp>
      <p:pic>
        <p:nvPicPr>
          <p:cNvPr id="10" name="Picture 9">
            <a:extLst>
              <a:ext uri="{FF2B5EF4-FFF2-40B4-BE49-F238E27FC236}">
                <a16:creationId xmlns:a16="http://schemas.microsoft.com/office/drawing/2014/main" id="{BC1A91A5-EFF0-1759-C2D6-E0B83E278A69}"/>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113544" y="3429000"/>
            <a:ext cx="1752600" cy="3238500"/>
          </a:xfrm>
          <a:prstGeom prst="rect">
            <a:avLst/>
          </a:prstGeom>
        </p:spPr>
      </p:pic>
    </p:spTree>
    <p:extLst>
      <p:ext uri="{BB962C8B-B14F-4D97-AF65-F5344CB8AC3E}">
        <p14:creationId xmlns:p14="http://schemas.microsoft.com/office/powerpoint/2010/main" val="139799991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2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25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7">
                                            <p:txEl>
                                              <p:pRg st="1" end="1"/>
                                            </p:txEl>
                                          </p:spTgt>
                                        </p:tgtEl>
                                        <p:attrNameLst>
                                          <p:attrName>style.visibility</p:attrName>
                                        </p:attrNameLst>
                                      </p:cBhvr>
                                      <p:to>
                                        <p:strVal val="visible"/>
                                      </p:to>
                                    </p:set>
                                    <p:animEffect transition="in" filter="wipe(left)">
                                      <p:cBhvr>
                                        <p:cTn id="17" dur="2000"/>
                                        <p:tgtEl>
                                          <p:spTgt spid="7">
                                            <p:txEl>
                                              <p:pRg st="1" end="1"/>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7">
                                            <p:txEl>
                                              <p:pRg st="3" end="3"/>
                                            </p:txEl>
                                          </p:spTgt>
                                        </p:tgtEl>
                                        <p:attrNameLst>
                                          <p:attrName>style.visibility</p:attrName>
                                        </p:attrNameLst>
                                      </p:cBhvr>
                                      <p:to>
                                        <p:strVal val="visible"/>
                                      </p:to>
                                    </p:set>
                                    <p:animEffect transition="in" filter="wipe(left)">
                                      <p:cBhvr>
                                        <p:cTn id="22" dur="2000"/>
                                        <p:tgtEl>
                                          <p:spTgt spid="7">
                                            <p:txEl>
                                              <p:pRg st="3" end="3"/>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7" grpId="0" build="p"/>
    </p:bldLst>
  </p:timing>
</p:sld>
</file>

<file path=ppt/slides/slide9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8FDBD5C-77C7-352F-9C12-FEE38CECAAA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AA59CFF-5D06-DAD8-A9D9-9F2AE9CD2894}"/>
              </a:ext>
            </a:extLst>
          </p:cNvPr>
          <p:cNvSpPr>
            <a:spLocks noGrp="1"/>
          </p:cNvSpPr>
          <p:nvPr>
            <p:ph type="title"/>
          </p:nvPr>
        </p:nvSpPr>
        <p:spPr/>
        <p:txBody>
          <a:bodyPr/>
          <a:lstStyle/>
          <a:p>
            <a:r>
              <a:rPr lang="en-GB" dirty="0"/>
              <a:t>Add Data – Multiple Records – Example</a:t>
            </a:r>
          </a:p>
        </p:txBody>
      </p:sp>
      <p:sp>
        <p:nvSpPr>
          <p:cNvPr id="3" name="Content Placeholder 2">
            <a:extLst>
              <a:ext uri="{FF2B5EF4-FFF2-40B4-BE49-F238E27FC236}">
                <a16:creationId xmlns:a16="http://schemas.microsoft.com/office/drawing/2014/main" id="{2E0E1C93-E526-A9A9-7F89-D6D33D95AC12}"/>
              </a:ext>
            </a:extLst>
          </p:cNvPr>
          <p:cNvSpPr>
            <a:spLocks noGrp="1"/>
          </p:cNvSpPr>
          <p:nvPr>
            <p:ph idx="1"/>
          </p:nvPr>
        </p:nvSpPr>
        <p:spPr>
          <a:xfrm>
            <a:off x="838200" y="1825625"/>
            <a:ext cx="10773294" cy="4351338"/>
          </a:xfrm>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INSERT INTO</a:t>
            </a:r>
            <a:r>
              <a:rPr lang="en-US" altLang="en-US" sz="4000" dirty="0">
                <a:solidFill>
                  <a:srgbClr val="000000"/>
                </a:solidFill>
                <a:latin typeface="Consolas" panose="020B0609020204030204" pitchFamily="49" charset="0"/>
              </a:rPr>
              <a:t> Pet</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VALUES</a:t>
            </a:r>
            <a:r>
              <a:rPr lang="en-US" altLang="en-US" sz="4000" dirty="0">
                <a:solidFill>
                  <a:srgbClr val="000000"/>
                </a:solidFill>
                <a:latin typeface="Consolas" panose="020B0609020204030204" pitchFamily="49" charset="0"/>
              </a:rPr>
              <a:t> (</a:t>
            </a:r>
            <a:r>
              <a:rPr lang="en-US" altLang="en-US" sz="4000" dirty="0">
                <a:solidFill>
                  <a:srgbClr val="183691"/>
                </a:solidFill>
                <a:latin typeface="Consolas" panose="020B0609020204030204" pitchFamily="49" charset="0"/>
              </a:rPr>
              <a:t>"Monty"</a:t>
            </a:r>
            <a:r>
              <a:rPr lang="en-US" altLang="en-US" sz="4000" dirty="0">
                <a:solidFill>
                  <a:srgbClr val="000000"/>
                </a:solidFill>
                <a:latin typeface="Consolas" panose="020B0609020204030204" pitchFamily="49" charset="0"/>
              </a:rPr>
              <a:t>, </a:t>
            </a:r>
            <a:r>
              <a:rPr lang="en-US" altLang="en-US" sz="4000" dirty="0">
                <a:solidFill>
                  <a:srgbClr val="183691"/>
                </a:solidFill>
                <a:latin typeface="Consolas" panose="020B0609020204030204" pitchFamily="49" charset="0"/>
              </a:rPr>
              <a:t>"Dog"</a:t>
            </a:r>
            <a:r>
              <a:rPr lang="en-US" altLang="en-US" sz="4000" dirty="0">
                <a:solidFill>
                  <a:srgbClr val="000000"/>
                </a:solidFill>
                <a:latin typeface="Consolas" panose="020B0609020204030204" pitchFamily="49" charset="0"/>
              </a:rPr>
              <a:t>, </a:t>
            </a:r>
            <a:r>
              <a:rPr lang="en-US" altLang="en-US" sz="4000" dirty="0">
                <a:solidFill>
                  <a:srgbClr val="0086B3"/>
                </a:solidFill>
                <a:latin typeface="Consolas" panose="020B0609020204030204" pitchFamily="49" charset="0"/>
              </a:rPr>
              <a:t>2</a:t>
            </a:r>
            <a:r>
              <a:rPr lang="en-US" altLang="en-US" sz="4000" dirty="0">
                <a:solidFill>
                  <a:srgbClr val="000000"/>
                </a:solidFill>
                <a:latin typeface="Consolas" panose="020B0609020204030204" pitchFamily="49" charset="0"/>
              </a:rPr>
              <a:t>, </a:t>
            </a:r>
            <a:r>
              <a:rPr lang="en-US" altLang="en-US" sz="4000" dirty="0">
                <a:solidFill>
                  <a:srgbClr val="0086B3"/>
                </a:solidFill>
                <a:latin typeface="Consolas" panose="020B0609020204030204" pitchFamily="49" charset="0"/>
              </a:rPr>
              <a:t>2</a:t>
            </a:r>
            <a:r>
              <a:rPr lang="en-US" altLang="en-US" sz="40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3          </a:t>
            </a:r>
            <a:r>
              <a:rPr lang="en-US" altLang="en-US" sz="4000" dirty="0">
                <a:solidFill>
                  <a:srgbClr val="000000"/>
                </a:solidFill>
                <a:latin typeface="Consolas" panose="020B0609020204030204" pitchFamily="49" charset="0"/>
              </a:rPr>
              <a:t>(</a:t>
            </a:r>
            <a:r>
              <a:rPr lang="en-US" altLang="en-US" sz="4000" dirty="0">
                <a:solidFill>
                  <a:srgbClr val="183691"/>
                </a:solidFill>
                <a:latin typeface="Consolas" panose="020B0609020204030204" pitchFamily="49" charset="0"/>
              </a:rPr>
              <a:t>"Roland"</a:t>
            </a:r>
            <a:r>
              <a:rPr lang="en-US" altLang="en-US" sz="4000" dirty="0">
                <a:solidFill>
                  <a:srgbClr val="000000"/>
                </a:solidFill>
                <a:latin typeface="Consolas" panose="020B0609020204030204" pitchFamily="49" charset="0"/>
              </a:rPr>
              <a:t>, </a:t>
            </a:r>
            <a:r>
              <a:rPr lang="en-US" altLang="en-US" sz="4000" dirty="0">
                <a:solidFill>
                  <a:srgbClr val="183691"/>
                </a:solidFill>
                <a:latin typeface="Consolas" panose="020B0609020204030204" pitchFamily="49" charset="0"/>
              </a:rPr>
              <a:t>"Mouse"</a:t>
            </a:r>
            <a:r>
              <a:rPr lang="en-US" altLang="en-US" sz="4000" dirty="0">
                <a:solidFill>
                  <a:srgbClr val="000000"/>
                </a:solidFill>
                <a:latin typeface="Consolas" panose="020B0609020204030204" pitchFamily="49" charset="0"/>
              </a:rPr>
              <a:t>, </a:t>
            </a:r>
            <a:r>
              <a:rPr lang="en-US" altLang="en-US" sz="4000" dirty="0">
                <a:solidFill>
                  <a:srgbClr val="0086B3"/>
                </a:solidFill>
                <a:latin typeface="Consolas" panose="020B0609020204030204" pitchFamily="49" charset="0"/>
              </a:rPr>
              <a:t>1</a:t>
            </a:r>
            <a:r>
              <a:rPr lang="en-US" altLang="en-US" sz="4000" dirty="0">
                <a:solidFill>
                  <a:srgbClr val="000000"/>
                </a:solidFill>
                <a:latin typeface="Consolas" panose="020B0609020204030204" pitchFamily="49" charset="0"/>
              </a:rPr>
              <a:t>, </a:t>
            </a:r>
            <a:r>
              <a:rPr lang="en-US" altLang="en-US" sz="4000" dirty="0">
                <a:solidFill>
                  <a:srgbClr val="0086B3"/>
                </a:solidFill>
                <a:latin typeface="Consolas" panose="020B0609020204030204" pitchFamily="49" charset="0"/>
              </a:rPr>
              <a:t>0</a:t>
            </a:r>
            <a:r>
              <a:rPr lang="en-US" altLang="en-US" sz="4000" dirty="0">
                <a:solidFill>
                  <a:srgbClr val="000000"/>
                </a:solidFill>
                <a:latin typeface="Consolas" panose="020B0609020204030204" pitchFamily="49" charset="0"/>
              </a:rPr>
              <a:t>);</a:t>
            </a:r>
            <a:br>
              <a:rPr lang="en-US" altLang="en-US" sz="4000" dirty="0">
                <a:solidFill>
                  <a:srgbClr val="000000"/>
                </a:solidFill>
                <a:latin typeface="Consolas" panose="020B0609020204030204" pitchFamily="49" charset="0"/>
              </a:rPr>
            </a:br>
            <a:endParaRPr lang="en-US" altLang="en-US" sz="5400" dirty="0">
              <a:latin typeface="Arial" panose="020B0604020202020204" pitchFamily="34" charset="0"/>
            </a:endParaRPr>
          </a:p>
          <a:p>
            <a:pPr marL="0" lvl="0" indent="0" eaLnBrk="0" fontAlgn="base" hangingPunct="0">
              <a:lnSpc>
                <a:spcPct val="100000"/>
              </a:lnSpc>
              <a:spcBef>
                <a:spcPct val="0"/>
              </a:spcBef>
              <a:spcAft>
                <a:spcPct val="0"/>
              </a:spcAft>
              <a:buNone/>
            </a:pPr>
            <a:br>
              <a:rPr lang="en-US" altLang="en-US" sz="4000" dirty="0">
                <a:solidFill>
                  <a:srgbClr val="000000"/>
                </a:solidFill>
                <a:latin typeface="Consolas" panose="020B0609020204030204" pitchFamily="49" charset="0"/>
              </a:rPr>
            </a:br>
            <a:endParaRPr lang="en-US" altLang="en-US" sz="4800" dirty="0">
              <a:latin typeface="Arial" panose="020B0604020202020204" pitchFamily="34" charset="0"/>
            </a:endParaRPr>
          </a:p>
        </p:txBody>
      </p:sp>
      <p:sp>
        <p:nvSpPr>
          <p:cNvPr id="4" name="Callout: Bent Line with No Border 8">
            <a:extLst>
              <a:ext uri="{FF2B5EF4-FFF2-40B4-BE49-F238E27FC236}">
                <a16:creationId xmlns:a16="http://schemas.microsoft.com/office/drawing/2014/main" id="{F2BEF3FC-7388-EA2F-FFCB-D37B842730C4}"/>
              </a:ext>
            </a:extLst>
          </p:cNvPr>
          <p:cNvSpPr/>
          <p:nvPr/>
        </p:nvSpPr>
        <p:spPr>
          <a:xfrm>
            <a:off x="838200" y="3786525"/>
            <a:ext cx="3291840" cy="862642"/>
          </a:xfrm>
          <a:prstGeom prst="callout2">
            <a:avLst>
              <a:gd name="adj1" fmla="val 49854"/>
              <a:gd name="adj2" fmla="val 100102"/>
              <a:gd name="adj3" fmla="val 49417"/>
              <a:gd name="adj4" fmla="val 129889"/>
              <a:gd name="adj5" fmla="val 3088"/>
              <a:gd name="adj6" fmla="val 136956"/>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Values in table order</a:t>
            </a:r>
          </a:p>
        </p:txBody>
      </p:sp>
      <p:sp>
        <p:nvSpPr>
          <p:cNvPr id="7" name="TextBox 6">
            <a:extLst>
              <a:ext uri="{FF2B5EF4-FFF2-40B4-BE49-F238E27FC236}">
                <a16:creationId xmlns:a16="http://schemas.microsoft.com/office/drawing/2014/main" id="{5EDAEA0F-21C3-0196-1449-192C034B3DD2}"/>
              </a:ext>
            </a:extLst>
          </p:cNvPr>
          <p:cNvSpPr txBox="1"/>
          <p:nvPr/>
        </p:nvSpPr>
        <p:spPr>
          <a:xfrm>
            <a:off x="2" y="4897640"/>
            <a:ext cx="10430392" cy="1569660"/>
          </a:xfrm>
          <a:prstGeom prst="rect">
            <a:avLst/>
          </a:prstGeom>
          <a:noFill/>
        </p:spPr>
        <p:txBody>
          <a:bodyPr wrap="square" rtlCol="0">
            <a:spAutoFit/>
          </a:bodyPr>
          <a:lstStyle/>
          <a:p>
            <a:pPr algn="ctr"/>
            <a:r>
              <a:rPr lang="en-GB" sz="3600" dirty="0">
                <a:solidFill>
                  <a:srgbClr val="7030A0"/>
                </a:solidFill>
              </a:rPr>
              <a:t>PK and all validation rules must be met</a:t>
            </a:r>
          </a:p>
          <a:p>
            <a:pPr algn="ctr"/>
            <a:endParaRPr lang="en-GB" sz="2400" dirty="0">
              <a:solidFill>
                <a:srgbClr val="7030A0"/>
              </a:solidFill>
              <a:latin typeface="Consolas" panose="020B0609020204030204" pitchFamily="49" charset="0"/>
            </a:endParaRPr>
          </a:p>
          <a:p>
            <a:pPr algn="ctr"/>
            <a:r>
              <a:rPr lang="en-GB" sz="3600" dirty="0">
                <a:solidFill>
                  <a:srgbClr val="7030A0"/>
                </a:solidFill>
              </a:rPr>
              <a:t>If a validation rule fails, no data is inserted</a:t>
            </a:r>
            <a:endParaRPr lang="en-GB" sz="3600" dirty="0">
              <a:solidFill>
                <a:srgbClr val="7030A0"/>
              </a:solidFill>
              <a:latin typeface="Consolas" panose="020B0609020204030204" pitchFamily="49" charset="0"/>
            </a:endParaRPr>
          </a:p>
        </p:txBody>
      </p:sp>
      <p:pic>
        <p:nvPicPr>
          <p:cNvPr id="13" name="Picture 12">
            <a:extLst>
              <a:ext uri="{FF2B5EF4-FFF2-40B4-BE49-F238E27FC236}">
                <a16:creationId xmlns:a16="http://schemas.microsoft.com/office/drawing/2014/main" id="{656375C2-54C0-BBF0-DD6E-7AC717F23D6B}"/>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685037" y="4217846"/>
            <a:ext cx="1181100" cy="2286000"/>
          </a:xfrm>
          <a:prstGeom prst="rect">
            <a:avLst/>
          </a:prstGeom>
        </p:spPr>
      </p:pic>
      <p:sp>
        <p:nvSpPr>
          <p:cNvPr id="14" name="Callout: Bent Line with No Border 3">
            <a:extLst>
              <a:ext uri="{FF2B5EF4-FFF2-40B4-BE49-F238E27FC236}">
                <a16:creationId xmlns:a16="http://schemas.microsoft.com/office/drawing/2014/main" id="{029110F2-0DC4-A3F3-7131-F6191AD79C79}"/>
              </a:ext>
            </a:extLst>
          </p:cNvPr>
          <p:cNvSpPr/>
          <p:nvPr/>
        </p:nvSpPr>
        <p:spPr>
          <a:xfrm>
            <a:off x="10789635" y="1535288"/>
            <a:ext cx="1402363" cy="862642"/>
          </a:xfrm>
          <a:prstGeom prst="callout2">
            <a:avLst>
              <a:gd name="adj1" fmla="val 50368"/>
              <a:gd name="adj2" fmla="val -2245"/>
              <a:gd name="adj3" fmla="val 50597"/>
              <a:gd name="adj4" fmla="val -18873"/>
              <a:gd name="adj5" fmla="val 137473"/>
              <a:gd name="adj6" fmla="val -33926"/>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Comma</a:t>
            </a:r>
          </a:p>
        </p:txBody>
      </p:sp>
    </p:spTree>
    <p:extLst>
      <p:ext uri="{BB962C8B-B14F-4D97-AF65-F5344CB8AC3E}">
        <p14:creationId xmlns:p14="http://schemas.microsoft.com/office/powerpoint/2010/main" val="398539554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2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25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25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3">
                                            <p:txEl>
                                              <p:pRg st="3" end="3"/>
                                            </p:txEl>
                                          </p:spTgt>
                                        </p:tgtEl>
                                        <p:attrNameLst>
                                          <p:attrName>style.visibility</p:attrName>
                                        </p:attrNameLst>
                                      </p:cBhvr>
                                      <p:to>
                                        <p:strVal val="visible"/>
                                      </p:to>
                                    </p:set>
                                    <p:animEffect transition="in" filter="wipe(left)">
                                      <p:cBhvr>
                                        <p:cTn id="22" dur="2500"/>
                                        <p:tgtEl>
                                          <p:spTgt spid="3">
                                            <p:txEl>
                                              <p:pRg st="3" end="3"/>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4"/>
                                        </p:tgtEl>
                                        <p:attrNameLst>
                                          <p:attrName>style.visibility</p:attrName>
                                        </p:attrNameLst>
                                      </p:cBhvr>
                                      <p:to>
                                        <p:strVal val="visible"/>
                                      </p:to>
                                    </p:set>
                                    <p:animEffect transition="in" filter="fade">
                                      <p:cBhvr>
                                        <p:cTn id="27" dur="1000"/>
                                        <p:tgtEl>
                                          <p:spTgt spid="4"/>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7">
                                            <p:txEl>
                                              <p:pRg st="0" end="0"/>
                                            </p:txEl>
                                          </p:spTgt>
                                        </p:tgtEl>
                                        <p:attrNameLst>
                                          <p:attrName>style.visibility</p:attrName>
                                        </p:attrNameLst>
                                      </p:cBhvr>
                                      <p:to>
                                        <p:strVal val="visible"/>
                                      </p:to>
                                    </p:set>
                                    <p:animEffect transition="in" filter="wipe(left)">
                                      <p:cBhvr>
                                        <p:cTn id="32" dur="2000"/>
                                        <p:tgtEl>
                                          <p:spTgt spid="7">
                                            <p:txEl>
                                              <p:pRg st="0" end="0"/>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7">
                                            <p:txEl>
                                              <p:pRg st="2" end="2"/>
                                            </p:txEl>
                                          </p:spTgt>
                                        </p:tgtEl>
                                        <p:attrNameLst>
                                          <p:attrName>style.visibility</p:attrName>
                                        </p:attrNameLst>
                                      </p:cBhvr>
                                      <p:to>
                                        <p:strVal val="visible"/>
                                      </p:to>
                                    </p:set>
                                    <p:animEffect transition="in" filter="wipe(left)">
                                      <p:cBhvr>
                                        <p:cTn id="37" dur="2000"/>
                                        <p:tgtEl>
                                          <p:spTgt spid="7">
                                            <p:txEl>
                                              <p:pRg st="2" end="2"/>
                                            </p:txEl>
                                          </p:spTgt>
                                        </p:tgtEl>
                                      </p:cBhvr>
                                    </p:animEffect>
                                  </p:childTnLst>
                                </p:cTn>
                              </p:par>
                            </p:childTnLst>
                          </p:cTn>
                        </p:par>
                      </p:childTnLst>
                    </p:cTn>
                  </p:par>
                  <p:par>
                    <p:cTn id="38" fill="hold">
                      <p:stCondLst>
                        <p:cond delay="indefinite"/>
                      </p:stCondLst>
                      <p:childTnLst>
                        <p:par>
                          <p:cTn id="39" fill="hold">
                            <p:stCondLst>
                              <p:cond delay="0"/>
                            </p:stCondLst>
                            <p:childTnLst>
                              <p:par>
                                <p:cTn id="40" presetID="10" presetClass="entr" presetSubtype="0" fill="hold" grpId="0" nodeType="clickEffect">
                                  <p:stCondLst>
                                    <p:cond delay="0"/>
                                  </p:stCondLst>
                                  <p:childTnLst>
                                    <p:set>
                                      <p:cBhvr>
                                        <p:cTn id="41" dur="1" fill="hold">
                                          <p:stCondLst>
                                            <p:cond delay="0"/>
                                          </p:stCondLst>
                                        </p:cTn>
                                        <p:tgtEl>
                                          <p:spTgt spid="14"/>
                                        </p:tgtEl>
                                        <p:attrNameLst>
                                          <p:attrName>style.visibility</p:attrName>
                                        </p:attrNameLst>
                                      </p:cBhvr>
                                      <p:to>
                                        <p:strVal val="visible"/>
                                      </p:to>
                                    </p:set>
                                    <p:animEffect transition="in" filter="fade">
                                      <p:cBhvr>
                                        <p:cTn id="42" dur="1000"/>
                                        <p:tgtEl>
                                          <p:spTgt spid="1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4" grpId="0" animBg="1"/>
      <p:bldP spid="7" grpId="0" build="p"/>
      <p:bldP spid="14" grpId="0" animBg="1"/>
    </p:bldLst>
  </p:timing>
</p:sld>
</file>

<file path=ppt/slides/slide95.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DC5756C6-B7B9-7319-7E35-D9FDD57F340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57B97D9-3D77-CF48-CAFE-34818DDBE4C7}"/>
              </a:ext>
            </a:extLst>
          </p:cNvPr>
          <p:cNvSpPr>
            <a:spLocks noGrp="1"/>
          </p:cNvSpPr>
          <p:nvPr>
            <p:ph type="title"/>
          </p:nvPr>
        </p:nvSpPr>
        <p:spPr/>
        <p:txBody>
          <a:bodyPr/>
          <a:lstStyle/>
          <a:p>
            <a:r>
              <a:rPr lang="en-GB" dirty="0"/>
              <a:t>Add Data – Multiple Records – Example</a:t>
            </a:r>
          </a:p>
        </p:txBody>
      </p:sp>
      <p:sp>
        <p:nvSpPr>
          <p:cNvPr id="3" name="Content Placeholder 2">
            <a:extLst>
              <a:ext uri="{FF2B5EF4-FFF2-40B4-BE49-F238E27FC236}">
                <a16:creationId xmlns:a16="http://schemas.microsoft.com/office/drawing/2014/main" id="{92301FAF-DB90-9848-5BD6-5FD1B69C59E0}"/>
              </a:ext>
            </a:extLst>
          </p:cNvPr>
          <p:cNvSpPr>
            <a:spLocks noGrp="1"/>
          </p:cNvSpPr>
          <p:nvPr>
            <p:ph idx="1"/>
          </p:nvPr>
        </p:nvSpPr>
        <p:spPr>
          <a:xfrm>
            <a:off x="838200" y="1825625"/>
            <a:ext cx="10773294" cy="4351338"/>
          </a:xfrm>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INSERT INTO</a:t>
            </a:r>
            <a:r>
              <a:rPr lang="en-US" altLang="en-US" sz="4000" dirty="0">
                <a:solidFill>
                  <a:srgbClr val="000000"/>
                </a:solidFill>
                <a:latin typeface="Consolas" panose="020B0609020204030204" pitchFamily="49" charset="0"/>
              </a:rPr>
              <a:t> Pet</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VALUES</a:t>
            </a:r>
            <a:r>
              <a:rPr lang="en-US" altLang="en-US" sz="4000" dirty="0">
                <a:solidFill>
                  <a:srgbClr val="000000"/>
                </a:solidFill>
                <a:latin typeface="Consolas" panose="020B0609020204030204" pitchFamily="49" charset="0"/>
              </a:rPr>
              <a:t> (</a:t>
            </a:r>
            <a:r>
              <a:rPr lang="en-US" altLang="en-US" sz="4000" dirty="0">
                <a:solidFill>
                  <a:srgbClr val="183691"/>
                </a:solidFill>
                <a:latin typeface="Consolas" panose="020B0609020204030204" pitchFamily="49" charset="0"/>
              </a:rPr>
              <a:t>"Monty"</a:t>
            </a:r>
            <a:r>
              <a:rPr lang="en-US" altLang="en-US" sz="4000" dirty="0">
                <a:solidFill>
                  <a:srgbClr val="000000"/>
                </a:solidFill>
                <a:latin typeface="Consolas" panose="020B0609020204030204" pitchFamily="49" charset="0"/>
              </a:rPr>
              <a:t>, </a:t>
            </a:r>
            <a:r>
              <a:rPr lang="en-US" altLang="en-US" sz="4000" dirty="0">
                <a:solidFill>
                  <a:srgbClr val="183691"/>
                </a:solidFill>
                <a:latin typeface="Consolas" panose="020B0609020204030204" pitchFamily="49" charset="0"/>
              </a:rPr>
              <a:t>"Dog"</a:t>
            </a:r>
            <a:r>
              <a:rPr lang="en-US" altLang="en-US" sz="4000" dirty="0">
                <a:solidFill>
                  <a:srgbClr val="000000"/>
                </a:solidFill>
                <a:latin typeface="Consolas" panose="020B0609020204030204" pitchFamily="49" charset="0"/>
              </a:rPr>
              <a:t>, </a:t>
            </a:r>
            <a:r>
              <a:rPr lang="en-US" altLang="en-US" sz="4000" dirty="0">
                <a:solidFill>
                  <a:srgbClr val="0086B3"/>
                </a:solidFill>
                <a:latin typeface="Consolas" panose="020B0609020204030204" pitchFamily="49" charset="0"/>
              </a:rPr>
              <a:t>2</a:t>
            </a:r>
            <a:r>
              <a:rPr lang="en-US" altLang="en-US" sz="4000" dirty="0">
                <a:solidFill>
                  <a:srgbClr val="000000"/>
                </a:solidFill>
                <a:latin typeface="Consolas" panose="020B0609020204030204" pitchFamily="49" charset="0"/>
              </a:rPr>
              <a:t>, </a:t>
            </a:r>
            <a:r>
              <a:rPr lang="en-US" altLang="en-US" sz="4000" dirty="0">
                <a:solidFill>
                  <a:srgbClr val="0086B3"/>
                </a:solidFill>
                <a:latin typeface="Consolas" panose="020B0609020204030204" pitchFamily="49" charset="0"/>
              </a:rPr>
              <a:t>2</a:t>
            </a:r>
            <a:r>
              <a:rPr lang="en-US" altLang="en-US" sz="40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3          </a:t>
            </a:r>
            <a:r>
              <a:rPr lang="en-US" altLang="en-US" sz="4000" dirty="0">
                <a:solidFill>
                  <a:srgbClr val="000000"/>
                </a:solidFill>
                <a:latin typeface="Consolas" panose="020B0609020204030204" pitchFamily="49" charset="0"/>
              </a:rPr>
              <a:t>(</a:t>
            </a:r>
            <a:r>
              <a:rPr lang="en-US" altLang="en-US" sz="4000" dirty="0">
                <a:solidFill>
                  <a:srgbClr val="183691"/>
                </a:solidFill>
                <a:latin typeface="Consolas" panose="020B0609020204030204" pitchFamily="49" charset="0"/>
              </a:rPr>
              <a:t>"Roland"</a:t>
            </a:r>
            <a:r>
              <a:rPr lang="en-US" altLang="en-US" sz="4000" dirty="0">
                <a:solidFill>
                  <a:srgbClr val="000000"/>
                </a:solidFill>
                <a:latin typeface="Consolas" panose="020B0609020204030204" pitchFamily="49" charset="0"/>
              </a:rPr>
              <a:t>, </a:t>
            </a:r>
            <a:r>
              <a:rPr lang="en-US" altLang="en-US" sz="4000" dirty="0">
                <a:solidFill>
                  <a:srgbClr val="183691"/>
                </a:solidFill>
                <a:latin typeface="Consolas" panose="020B0609020204030204" pitchFamily="49" charset="0"/>
              </a:rPr>
              <a:t>"Mouse"</a:t>
            </a:r>
            <a:r>
              <a:rPr lang="en-US" altLang="en-US" sz="4000" dirty="0">
                <a:solidFill>
                  <a:srgbClr val="000000"/>
                </a:solidFill>
                <a:latin typeface="Consolas" panose="020B0609020204030204" pitchFamily="49" charset="0"/>
              </a:rPr>
              <a:t>, </a:t>
            </a:r>
            <a:r>
              <a:rPr lang="en-US" altLang="en-US" sz="4000" dirty="0">
                <a:solidFill>
                  <a:srgbClr val="0086B3"/>
                </a:solidFill>
                <a:latin typeface="Consolas" panose="020B0609020204030204" pitchFamily="49" charset="0"/>
              </a:rPr>
              <a:t>1</a:t>
            </a:r>
            <a:r>
              <a:rPr lang="en-US" altLang="en-US" sz="4000" dirty="0">
                <a:solidFill>
                  <a:srgbClr val="000000"/>
                </a:solidFill>
                <a:latin typeface="Consolas" panose="020B0609020204030204" pitchFamily="49" charset="0"/>
              </a:rPr>
              <a:t>, </a:t>
            </a:r>
            <a:r>
              <a:rPr lang="en-US" altLang="en-US" sz="4000" dirty="0">
                <a:solidFill>
                  <a:srgbClr val="0086B3"/>
                </a:solidFill>
                <a:latin typeface="Consolas" panose="020B0609020204030204" pitchFamily="49" charset="0"/>
              </a:rPr>
              <a:t>0</a:t>
            </a:r>
            <a:r>
              <a:rPr lang="en-US" altLang="en-US" sz="4000" dirty="0">
                <a:solidFill>
                  <a:srgbClr val="000000"/>
                </a:solidFill>
                <a:latin typeface="Consolas" panose="020B0609020204030204" pitchFamily="49" charset="0"/>
              </a:rPr>
              <a:t>);</a:t>
            </a:r>
            <a:br>
              <a:rPr lang="en-US" altLang="en-US" sz="4000" dirty="0">
                <a:solidFill>
                  <a:srgbClr val="000000"/>
                </a:solidFill>
                <a:latin typeface="Consolas" panose="020B0609020204030204" pitchFamily="49" charset="0"/>
              </a:rPr>
            </a:br>
            <a:endParaRPr lang="en-US" altLang="en-US" sz="5400" dirty="0">
              <a:latin typeface="Arial" panose="020B0604020202020204" pitchFamily="34" charset="0"/>
            </a:endParaRPr>
          </a:p>
          <a:p>
            <a:pPr marL="0" lvl="0" indent="0" eaLnBrk="0" fontAlgn="base" hangingPunct="0">
              <a:lnSpc>
                <a:spcPct val="100000"/>
              </a:lnSpc>
              <a:spcBef>
                <a:spcPct val="0"/>
              </a:spcBef>
              <a:spcAft>
                <a:spcPct val="0"/>
              </a:spcAft>
              <a:buNone/>
            </a:pPr>
            <a:br>
              <a:rPr lang="en-US" altLang="en-US" sz="4000" dirty="0">
                <a:solidFill>
                  <a:srgbClr val="000000"/>
                </a:solidFill>
                <a:latin typeface="Consolas" panose="020B0609020204030204" pitchFamily="49" charset="0"/>
              </a:rPr>
            </a:br>
            <a:endParaRPr lang="en-US" altLang="en-US" sz="4800" dirty="0">
              <a:latin typeface="Arial" panose="020B0604020202020204" pitchFamily="34" charset="0"/>
            </a:endParaRPr>
          </a:p>
        </p:txBody>
      </p:sp>
      <p:sp>
        <p:nvSpPr>
          <p:cNvPr id="7" name="TextBox 6">
            <a:extLst>
              <a:ext uri="{FF2B5EF4-FFF2-40B4-BE49-F238E27FC236}">
                <a16:creationId xmlns:a16="http://schemas.microsoft.com/office/drawing/2014/main" id="{F803A1AA-0F70-D7A6-F874-39F582955F78}"/>
              </a:ext>
            </a:extLst>
          </p:cNvPr>
          <p:cNvSpPr txBox="1"/>
          <p:nvPr/>
        </p:nvSpPr>
        <p:spPr>
          <a:xfrm>
            <a:off x="2" y="4897640"/>
            <a:ext cx="10430392" cy="1569660"/>
          </a:xfrm>
          <a:prstGeom prst="rect">
            <a:avLst/>
          </a:prstGeom>
          <a:noFill/>
        </p:spPr>
        <p:txBody>
          <a:bodyPr wrap="square" rtlCol="0">
            <a:spAutoFit/>
          </a:bodyPr>
          <a:lstStyle/>
          <a:p>
            <a:pPr algn="ctr"/>
            <a:r>
              <a:rPr lang="en-GB" sz="3600" dirty="0">
                <a:solidFill>
                  <a:srgbClr val="7030A0"/>
                </a:solidFill>
              </a:rPr>
              <a:t>PK and all validation rules must be met</a:t>
            </a:r>
          </a:p>
          <a:p>
            <a:pPr algn="ctr"/>
            <a:endParaRPr lang="en-GB" sz="2400" dirty="0">
              <a:solidFill>
                <a:srgbClr val="7030A0"/>
              </a:solidFill>
              <a:latin typeface="Consolas" panose="020B0609020204030204" pitchFamily="49" charset="0"/>
            </a:endParaRPr>
          </a:p>
          <a:p>
            <a:pPr algn="ctr"/>
            <a:r>
              <a:rPr lang="en-GB" sz="3600" dirty="0">
                <a:solidFill>
                  <a:srgbClr val="7030A0"/>
                </a:solidFill>
              </a:rPr>
              <a:t>If a validation rule fails, no data is inserted</a:t>
            </a:r>
            <a:endParaRPr lang="en-GB" sz="3600" dirty="0">
              <a:solidFill>
                <a:srgbClr val="7030A0"/>
              </a:solidFill>
              <a:latin typeface="Consolas" panose="020B0609020204030204" pitchFamily="49" charset="0"/>
            </a:endParaRPr>
          </a:p>
        </p:txBody>
      </p:sp>
      <p:pic>
        <p:nvPicPr>
          <p:cNvPr id="13" name="Picture 12">
            <a:extLst>
              <a:ext uri="{FF2B5EF4-FFF2-40B4-BE49-F238E27FC236}">
                <a16:creationId xmlns:a16="http://schemas.microsoft.com/office/drawing/2014/main" id="{C95F7D0C-CB25-4E1E-2515-C438B8B377A4}"/>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685041" y="4217846"/>
            <a:ext cx="1181100" cy="2286000"/>
          </a:xfrm>
          <a:prstGeom prst="rect">
            <a:avLst/>
          </a:prstGeom>
        </p:spPr>
      </p:pic>
    </p:spTree>
    <p:extLst>
      <p:ext uri="{BB962C8B-B14F-4D97-AF65-F5344CB8AC3E}">
        <p14:creationId xmlns:p14="http://schemas.microsoft.com/office/powerpoint/2010/main" val="233091747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2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25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25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3">
                                            <p:txEl>
                                              <p:pRg st="3" end="3"/>
                                            </p:txEl>
                                          </p:spTgt>
                                        </p:tgtEl>
                                        <p:attrNameLst>
                                          <p:attrName>style.visibility</p:attrName>
                                        </p:attrNameLst>
                                      </p:cBhvr>
                                      <p:to>
                                        <p:strVal val="visible"/>
                                      </p:to>
                                    </p:set>
                                    <p:animEffect transition="in" filter="wipe(left)">
                                      <p:cBhvr>
                                        <p:cTn id="22" dur="2500"/>
                                        <p:tgtEl>
                                          <p:spTgt spid="3">
                                            <p:txEl>
                                              <p:pRg st="3" end="3"/>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7">
                                            <p:txEl>
                                              <p:pRg st="0" end="0"/>
                                            </p:txEl>
                                          </p:spTgt>
                                        </p:tgtEl>
                                        <p:attrNameLst>
                                          <p:attrName>style.visibility</p:attrName>
                                        </p:attrNameLst>
                                      </p:cBhvr>
                                      <p:to>
                                        <p:strVal val="visible"/>
                                      </p:to>
                                    </p:set>
                                    <p:animEffect transition="in" filter="wipe(left)">
                                      <p:cBhvr>
                                        <p:cTn id="27" dur="2000"/>
                                        <p:tgtEl>
                                          <p:spTgt spid="7">
                                            <p:txEl>
                                              <p:pRg st="0" end="0"/>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7">
                                            <p:txEl>
                                              <p:pRg st="2" end="2"/>
                                            </p:txEl>
                                          </p:spTgt>
                                        </p:tgtEl>
                                        <p:attrNameLst>
                                          <p:attrName>style.visibility</p:attrName>
                                        </p:attrNameLst>
                                      </p:cBhvr>
                                      <p:to>
                                        <p:strVal val="visible"/>
                                      </p:to>
                                    </p:set>
                                    <p:animEffect transition="in" filter="wipe(left)">
                                      <p:cBhvr>
                                        <p:cTn id="32" dur="2000"/>
                                        <p:tgtEl>
                                          <p:spTgt spid="7">
                                            <p:txEl>
                                              <p:pRg st="2" end="2"/>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7" grpId="0" build="p"/>
    </p:bldLst>
  </p:timing>
</p:sld>
</file>

<file path=ppt/slides/slide9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Add Data – Some fields</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INSERT INTO table</a:t>
            </a:r>
            <a:r>
              <a:rPr lang="en-US" altLang="en-US" sz="4000" dirty="0">
                <a:solidFill>
                  <a:srgbClr val="000000"/>
                </a:solidFill>
                <a:latin typeface="Consolas" panose="020B0609020204030204" pitchFamily="49" charset="0"/>
              </a:rPr>
              <a:t> (field1, field2)</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VALUES</a:t>
            </a:r>
            <a:r>
              <a:rPr lang="en-US" altLang="en-US" sz="4000" dirty="0">
                <a:solidFill>
                  <a:srgbClr val="000000"/>
                </a:solidFill>
                <a:latin typeface="Consolas" panose="020B0609020204030204" pitchFamily="49" charset="0"/>
              </a:rPr>
              <a:t> (value1, value2);</a:t>
            </a:r>
            <a:endParaRPr lang="en-US" altLang="en-US" sz="4800" dirty="0">
              <a:latin typeface="Arial" panose="020B0604020202020204" pitchFamily="34" charset="0"/>
            </a:endParaRPr>
          </a:p>
        </p:txBody>
      </p:sp>
      <p:sp>
        <p:nvSpPr>
          <p:cNvPr id="6" name="Callout: Bent Line with No Border 3">
            <a:extLst>
              <a:ext uri="{FF2B5EF4-FFF2-40B4-BE49-F238E27FC236}">
                <a16:creationId xmlns:a16="http://schemas.microsoft.com/office/drawing/2014/main" id="{77E8332C-AADD-4F2B-B0E2-AC0B43D6AE90}"/>
              </a:ext>
            </a:extLst>
          </p:cNvPr>
          <p:cNvSpPr/>
          <p:nvPr/>
        </p:nvSpPr>
        <p:spPr>
          <a:xfrm>
            <a:off x="10053320" y="836127"/>
            <a:ext cx="1280160" cy="862642"/>
          </a:xfrm>
          <a:prstGeom prst="callout2">
            <a:avLst>
              <a:gd name="adj1" fmla="val 52750"/>
              <a:gd name="adj2" fmla="val -2245"/>
              <a:gd name="adj3" fmla="val 52979"/>
              <a:gd name="adj4" fmla="val -49644"/>
              <a:gd name="adj5" fmla="val 124372"/>
              <a:gd name="adj6" fmla="val -63231"/>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Fields</a:t>
            </a:r>
          </a:p>
        </p:txBody>
      </p:sp>
      <p:sp>
        <p:nvSpPr>
          <p:cNvPr id="7" name="Callout: Bent Line with No Border 8">
            <a:extLst>
              <a:ext uri="{FF2B5EF4-FFF2-40B4-BE49-F238E27FC236}">
                <a16:creationId xmlns:a16="http://schemas.microsoft.com/office/drawing/2014/main" id="{412E8916-E1C6-455C-96C6-1411BB246ADC}"/>
              </a:ext>
            </a:extLst>
          </p:cNvPr>
          <p:cNvSpPr/>
          <p:nvPr/>
        </p:nvSpPr>
        <p:spPr>
          <a:xfrm>
            <a:off x="1553558" y="3441700"/>
            <a:ext cx="3291840" cy="862642"/>
          </a:xfrm>
          <a:prstGeom prst="callout2">
            <a:avLst>
              <a:gd name="adj1" fmla="val 48750"/>
              <a:gd name="adj2" fmla="val 104056"/>
              <a:gd name="adj3" fmla="val 49417"/>
              <a:gd name="adj4" fmla="val 129889"/>
              <a:gd name="adj5" fmla="val -32513"/>
              <a:gd name="adj6" fmla="val 134851"/>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Values in field order</a:t>
            </a:r>
          </a:p>
        </p:txBody>
      </p:sp>
      <p:sp>
        <p:nvSpPr>
          <p:cNvPr id="8" name="TextBox 7">
            <a:extLst>
              <a:ext uri="{FF2B5EF4-FFF2-40B4-BE49-F238E27FC236}">
                <a16:creationId xmlns:a16="http://schemas.microsoft.com/office/drawing/2014/main" id="{DF4BA8FF-524A-4C13-87BF-68801971FA28}"/>
              </a:ext>
            </a:extLst>
          </p:cNvPr>
          <p:cNvSpPr txBox="1"/>
          <p:nvPr/>
        </p:nvSpPr>
        <p:spPr>
          <a:xfrm>
            <a:off x="2058516" y="4918858"/>
            <a:ext cx="8074967" cy="1631216"/>
          </a:xfrm>
          <a:prstGeom prst="rect">
            <a:avLst/>
          </a:prstGeom>
          <a:noFill/>
        </p:spPr>
        <p:txBody>
          <a:bodyPr wrap="none" rtlCol="0">
            <a:spAutoFit/>
          </a:bodyPr>
          <a:lstStyle/>
          <a:p>
            <a:pPr algn="ctr"/>
            <a:r>
              <a:rPr lang="en-GB" sz="3600" dirty="0">
                <a:solidFill>
                  <a:srgbClr val="7030A0"/>
                </a:solidFill>
              </a:rPr>
              <a:t>All validation rules must be met</a:t>
            </a:r>
          </a:p>
          <a:p>
            <a:pPr algn="ctr"/>
            <a:endParaRPr lang="en-GB" sz="2400" dirty="0">
              <a:solidFill>
                <a:srgbClr val="7030A0"/>
              </a:solidFill>
              <a:latin typeface="Consolas" panose="020B0609020204030204" pitchFamily="49" charset="0"/>
            </a:endParaRPr>
          </a:p>
          <a:p>
            <a:pPr algn="ctr"/>
            <a:r>
              <a:rPr lang="en-GB" sz="3600" dirty="0">
                <a:solidFill>
                  <a:srgbClr val="7030A0"/>
                </a:solidFill>
              </a:rPr>
              <a:t>If a validation rule fails, no data is inserted</a:t>
            </a:r>
            <a:endParaRPr lang="en-GB" sz="3600" dirty="0">
              <a:solidFill>
                <a:srgbClr val="7030A0"/>
              </a:solidFill>
              <a:latin typeface="Consolas" panose="020B0609020204030204" pitchFamily="49" charset="0"/>
            </a:endParaRPr>
          </a:p>
        </p:txBody>
      </p:sp>
      <p:sp>
        <p:nvSpPr>
          <p:cNvPr id="9" name="TextBox 8">
            <a:extLst>
              <a:ext uri="{FF2B5EF4-FFF2-40B4-BE49-F238E27FC236}">
                <a16:creationId xmlns:a16="http://schemas.microsoft.com/office/drawing/2014/main" id="{DF4BA8FF-524A-4C13-87BF-68801971FA28}"/>
              </a:ext>
            </a:extLst>
          </p:cNvPr>
          <p:cNvSpPr txBox="1"/>
          <p:nvPr/>
        </p:nvSpPr>
        <p:spPr>
          <a:xfrm>
            <a:off x="8289174" y="3583592"/>
            <a:ext cx="3322320" cy="1200329"/>
          </a:xfrm>
          <a:prstGeom prst="rect">
            <a:avLst/>
          </a:prstGeom>
          <a:noFill/>
        </p:spPr>
        <p:txBody>
          <a:bodyPr wrap="square" rtlCol="0">
            <a:spAutoFit/>
          </a:bodyPr>
          <a:lstStyle/>
          <a:p>
            <a:pPr algn="ctr"/>
            <a:r>
              <a:rPr lang="en-GB" sz="3600" b="1" dirty="0">
                <a:solidFill>
                  <a:srgbClr val="FF0000"/>
                </a:solidFill>
              </a:rPr>
              <a:t>Same</a:t>
            </a:r>
            <a:r>
              <a:rPr lang="en-GB" sz="3600" dirty="0"/>
              <a:t> </a:t>
            </a:r>
            <a:r>
              <a:rPr lang="en-GB" sz="3600" dirty="0">
                <a:solidFill>
                  <a:srgbClr val="7030A0"/>
                </a:solidFill>
              </a:rPr>
              <a:t>number of fields and values</a:t>
            </a:r>
          </a:p>
        </p:txBody>
      </p:sp>
    </p:spTree>
    <p:extLst>
      <p:ext uri="{BB962C8B-B14F-4D97-AF65-F5344CB8AC3E}">
        <p14:creationId xmlns:p14="http://schemas.microsoft.com/office/powerpoint/2010/main" val="108338363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0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10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6"/>
                                        </p:tgtEl>
                                        <p:attrNameLst>
                                          <p:attrName>style.visibility</p:attrName>
                                        </p:attrNameLst>
                                      </p:cBhvr>
                                      <p:to>
                                        <p:strVal val="visible"/>
                                      </p:to>
                                    </p:set>
                                    <p:animEffect transition="in" filter="fade">
                                      <p:cBhvr>
                                        <p:cTn id="17" dur="1000"/>
                                        <p:tgtEl>
                                          <p:spTgt spid="6"/>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7"/>
                                        </p:tgtEl>
                                        <p:attrNameLst>
                                          <p:attrName>style.visibility</p:attrName>
                                        </p:attrNameLst>
                                      </p:cBhvr>
                                      <p:to>
                                        <p:strVal val="visible"/>
                                      </p:to>
                                    </p:set>
                                    <p:animEffect transition="in" filter="fade">
                                      <p:cBhvr>
                                        <p:cTn id="22" dur="1000"/>
                                        <p:tgtEl>
                                          <p:spTgt spid="7"/>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9"/>
                                        </p:tgtEl>
                                        <p:attrNameLst>
                                          <p:attrName>style.visibility</p:attrName>
                                        </p:attrNameLst>
                                      </p:cBhvr>
                                      <p:to>
                                        <p:strVal val="visible"/>
                                      </p:to>
                                    </p:set>
                                    <p:animEffect transition="in" filter="fade">
                                      <p:cBhvr>
                                        <p:cTn id="27" dur="500"/>
                                        <p:tgtEl>
                                          <p:spTgt spid="9"/>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8">
                                            <p:txEl>
                                              <p:pRg st="0" end="0"/>
                                            </p:txEl>
                                          </p:spTgt>
                                        </p:tgtEl>
                                        <p:attrNameLst>
                                          <p:attrName>style.visibility</p:attrName>
                                        </p:attrNameLst>
                                      </p:cBhvr>
                                      <p:to>
                                        <p:strVal val="visible"/>
                                      </p:to>
                                    </p:set>
                                    <p:animEffect transition="in" filter="wipe(left)">
                                      <p:cBhvr>
                                        <p:cTn id="32" dur="2000"/>
                                        <p:tgtEl>
                                          <p:spTgt spid="8">
                                            <p:txEl>
                                              <p:pRg st="0" end="0"/>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8">
                                            <p:txEl>
                                              <p:pRg st="2" end="2"/>
                                            </p:txEl>
                                          </p:spTgt>
                                        </p:tgtEl>
                                        <p:attrNameLst>
                                          <p:attrName>style.visibility</p:attrName>
                                        </p:attrNameLst>
                                      </p:cBhvr>
                                      <p:to>
                                        <p:strVal val="visible"/>
                                      </p:to>
                                    </p:set>
                                    <p:animEffect transition="in" filter="wipe(left)">
                                      <p:cBhvr>
                                        <p:cTn id="37" dur="2000"/>
                                        <p:tgtEl>
                                          <p:spTgt spid="8">
                                            <p:txEl>
                                              <p:pRg st="2" end="2"/>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6" grpId="0" animBg="1"/>
      <p:bldP spid="7" grpId="0" animBg="1"/>
      <p:bldP spid="8" grpId="0" build="p"/>
      <p:bldP spid="9" grpId="0"/>
    </p:bldLst>
  </p:timing>
</p:sld>
</file>

<file path=ppt/slides/slide97.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Add Data – Some fields</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INSERT INTO table</a:t>
            </a:r>
            <a:r>
              <a:rPr lang="en-US" altLang="en-US" sz="4000" dirty="0">
                <a:solidFill>
                  <a:srgbClr val="000000"/>
                </a:solidFill>
                <a:latin typeface="Consolas" panose="020B0609020204030204" pitchFamily="49" charset="0"/>
              </a:rPr>
              <a:t> (field1, field2)</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VALUES</a:t>
            </a:r>
            <a:r>
              <a:rPr lang="en-US" altLang="en-US" sz="4000" dirty="0">
                <a:solidFill>
                  <a:srgbClr val="000000"/>
                </a:solidFill>
                <a:latin typeface="Consolas" panose="020B0609020204030204" pitchFamily="49" charset="0"/>
              </a:rPr>
              <a:t> (value1, value2);</a:t>
            </a:r>
            <a:endParaRPr lang="en-US" altLang="en-US" sz="4800" dirty="0">
              <a:latin typeface="Arial" panose="020B0604020202020204" pitchFamily="34" charset="0"/>
            </a:endParaRPr>
          </a:p>
        </p:txBody>
      </p:sp>
      <p:sp>
        <p:nvSpPr>
          <p:cNvPr id="8" name="TextBox 7">
            <a:extLst>
              <a:ext uri="{FF2B5EF4-FFF2-40B4-BE49-F238E27FC236}">
                <a16:creationId xmlns:a16="http://schemas.microsoft.com/office/drawing/2014/main" id="{DF4BA8FF-524A-4C13-87BF-68801971FA28}"/>
              </a:ext>
            </a:extLst>
          </p:cNvPr>
          <p:cNvSpPr txBox="1"/>
          <p:nvPr/>
        </p:nvSpPr>
        <p:spPr>
          <a:xfrm>
            <a:off x="2058516" y="4918858"/>
            <a:ext cx="8074967" cy="1631216"/>
          </a:xfrm>
          <a:prstGeom prst="rect">
            <a:avLst/>
          </a:prstGeom>
          <a:noFill/>
        </p:spPr>
        <p:txBody>
          <a:bodyPr wrap="none" rtlCol="0">
            <a:spAutoFit/>
          </a:bodyPr>
          <a:lstStyle/>
          <a:p>
            <a:pPr algn="ctr"/>
            <a:endParaRPr lang="en-GB" sz="3600" dirty="0">
              <a:solidFill>
                <a:srgbClr val="7030A0"/>
              </a:solidFill>
            </a:endParaRPr>
          </a:p>
          <a:p>
            <a:pPr algn="ctr"/>
            <a:endParaRPr lang="en-GB" sz="2400" dirty="0">
              <a:solidFill>
                <a:srgbClr val="7030A0"/>
              </a:solidFill>
              <a:latin typeface="Consolas" panose="020B0609020204030204" pitchFamily="49" charset="0"/>
            </a:endParaRPr>
          </a:p>
          <a:p>
            <a:pPr algn="ctr"/>
            <a:r>
              <a:rPr lang="en-GB" sz="3600" dirty="0">
                <a:solidFill>
                  <a:srgbClr val="7030A0"/>
                </a:solidFill>
              </a:rPr>
              <a:t>If a validation rule fails, no data is inserted</a:t>
            </a:r>
            <a:endParaRPr lang="en-GB" sz="3600" dirty="0">
              <a:solidFill>
                <a:srgbClr val="7030A0"/>
              </a:solidFill>
              <a:latin typeface="Consolas" panose="020B0609020204030204" pitchFamily="49" charset="0"/>
            </a:endParaRPr>
          </a:p>
        </p:txBody>
      </p:sp>
    </p:spTree>
    <p:extLst>
      <p:ext uri="{BB962C8B-B14F-4D97-AF65-F5344CB8AC3E}">
        <p14:creationId xmlns:p14="http://schemas.microsoft.com/office/powerpoint/2010/main" val="864512744"/>
      </p:ext>
    </p:extLst>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Add Data – Some fields – Example</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a:xfrm>
            <a:off x="838200" y="1825625"/>
            <a:ext cx="10773294" cy="4351338"/>
          </a:xfrm>
        </p:spPr>
        <p:txBody>
          <a:bodyPr>
            <a:normAutofit/>
          </a:bodyPr>
          <a:lstStyle/>
          <a:p>
            <a:pPr marL="0" lvl="0" indent="0" eaLnBrk="0" fontAlgn="base" hangingPunct="0">
              <a:lnSpc>
                <a:spcPct val="100000"/>
              </a:lnSpc>
              <a:spcBef>
                <a:spcPct val="0"/>
              </a:spcBef>
              <a:spcAft>
                <a:spcPct val="0"/>
              </a:spcAft>
              <a:buNone/>
            </a:pPr>
            <a:endParaRPr lang="en-US" altLang="en-US" sz="4000" dirty="0">
              <a:solidFill>
                <a:srgbClr val="B2B2B2"/>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INSERT INTO</a:t>
            </a:r>
            <a:r>
              <a:rPr lang="en-US" altLang="en-US" sz="4000" dirty="0">
                <a:solidFill>
                  <a:srgbClr val="000000"/>
                </a:solidFill>
                <a:latin typeface="Consolas" panose="020B0609020204030204" pitchFamily="49" charset="0"/>
              </a:rPr>
              <a:t> </a:t>
            </a:r>
            <a:r>
              <a:rPr lang="en-US" altLang="en-US" sz="4000" dirty="0">
                <a:solidFill>
                  <a:srgbClr val="0086B3"/>
                </a:solidFill>
                <a:latin typeface="Consolas" panose="020B0609020204030204" pitchFamily="49" charset="0"/>
              </a:rPr>
              <a:t>Datatypes</a:t>
            </a:r>
            <a:r>
              <a:rPr lang="en-US" altLang="en-US" sz="4000" dirty="0">
                <a:solidFill>
                  <a:srgbClr val="000000"/>
                </a:solidFill>
                <a:latin typeface="Consolas" panose="020B0609020204030204" pitchFamily="49" charset="0"/>
              </a:rPr>
              <a:t> (</a:t>
            </a:r>
            <a:r>
              <a:rPr lang="en-US" altLang="en-US" sz="4000" dirty="0">
                <a:solidFill>
                  <a:srgbClr val="0086B3"/>
                </a:solidFill>
                <a:latin typeface="Consolas" panose="020B0609020204030204" pitchFamily="49" charset="0"/>
              </a:rPr>
              <a:t>nice</a:t>
            </a:r>
            <a:r>
              <a:rPr lang="en-US" altLang="en-US" sz="4000" dirty="0">
                <a:solidFill>
                  <a:srgbClr val="000000"/>
                </a:solidFill>
                <a:latin typeface="Consolas" panose="020B0609020204030204" pitchFamily="49" charset="0"/>
              </a:rPr>
              <a:t>, </a:t>
            </a:r>
            <a:r>
              <a:rPr lang="en-US" altLang="en-US" sz="4000" dirty="0" err="1">
                <a:solidFill>
                  <a:srgbClr val="0086B3"/>
                </a:solidFill>
                <a:latin typeface="Consolas" panose="020B0609020204030204" pitchFamily="49" charset="0"/>
              </a:rPr>
              <a:t>rowID</a:t>
            </a:r>
            <a:r>
              <a:rPr lang="en-US" altLang="en-US" sz="40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VALUES</a:t>
            </a:r>
            <a:r>
              <a:rPr lang="en-US" altLang="en-US" sz="4000" dirty="0">
                <a:solidFill>
                  <a:srgbClr val="000000"/>
                </a:solidFill>
                <a:latin typeface="Consolas" panose="020B0609020204030204" pitchFamily="49" charset="0"/>
              </a:rPr>
              <a:t> (</a:t>
            </a:r>
            <a:r>
              <a:rPr lang="en-US" altLang="en-US" sz="4000" dirty="0">
                <a:solidFill>
                  <a:srgbClr val="A71D5D"/>
                </a:solidFill>
                <a:latin typeface="Consolas" panose="020B0609020204030204" pitchFamily="49" charset="0"/>
              </a:rPr>
              <a:t>TRUE</a:t>
            </a:r>
            <a:r>
              <a:rPr lang="en-US" altLang="en-US" sz="4000" dirty="0">
                <a:solidFill>
                  <a:srgbClr val="000000"/>
                </a:solidFill>
                <a:latin typeface="Consolas" panose="020B0609020204030204" pitchFamily="49" charset="0"/>
              </a:rPr>
              <a:t>, </a:t>
            </a:r>
            <a:r>
              <a:rPr lang="en-US" altLang="en-US" sz="4000" dirty="0">
                <a:solidFill>
                  <a:srgbClr val="0086B3"/>
                </a:solidFill>
                <a:latin typeface="Consolas" panose="020B0609020204030204" pitchFamily="49" charset="0"/>
              </a:rPr>
              <a:t>1002</a:t>
            </a:r>
            <a:r>
              <a:rPr lang="en-US" altLang="en-US" sz="4000" dirty="0">
                <a:solidFill>
                  <a:srgbClr val="000000"/>
                </a:solidFill>
                <a:latin typeface="Consolas" panose="020B0609020204030204" pitchFamily="49" charset="0"/>
              </a:rPr>
              <a:t>);</a:t>
            </a:r>
            <a:br>
              <a:rPr lang="en-US" altLang="en-US" sz="4000" dirty="0">
                <a:solidFill>
                  <a:srgbClr val="000000"/>
                </a:solidFill>
                <a:latin typeface="Consolas" panose="020B0609020204030204" pitchFamily="49" charset="0"/>
              </a:rPr>
            </a:br>
            <a:endParaRPr lang="en-US" altLang="en-US" sz="4800" dirty="0">
              <a:latin typeface="Arial" panose="020B0604020202020204" pitchFamily="34" charset="0"/>
            </a:endParaRPr>
          </a:p>
        </p:txBody>
      </p:sp>
      <p:sp>
        <p:nvSpPr>
          <p:cNvPr id="5" name="Callout: Bent Line with No Border 8">
            <a:extLst>
              <a:ext uri="{FF2B5EF4-FFF2-40B4-BE49-F238E27FC236}">
                <a16:creationId xmlns:a16="http://schemas.microsoft.com/office/drawing/2014/main" id="{44FEFF9E-B37B-D61A-0BB0-4A87C663B88F}"/>
              </a:ext>
            </a:extLst>
          </p:cNvPr>
          <p:cNvSpPr/>
          <p:nvPr/>
        </p:nvSpPr>
        <p:spPr>
          <a:xfrm>
            <a:off x="960300" y="4059402"/>
            <a:ext cx="3430323" cy="862642"/>
          </a:xfrm>
          <a:prstGeom prst="callout2">
            <a:avLst>
              <a:gd name="adj1" fmla="val 49241"/>
              <a:gd name="adj2" fmla="val 100162"/>
              <a:gd name="adj3" fmla="val 48124"/>
              <a:gd name="adj4" fmla="val 125200"/>
              <a:gd name="adj5" fmla="val -31220"/>
              <a:gd name="adj6" fmla="val 131087"/>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2. Values same order</a:t>
            </a:r>
          </a:p>
        </p:txBody>
      </p:sp>
      <p:sp>
        <p:nvSpPr>
          <p:cNvPr id="6" name="Callout: Bent Line with No Border 8">
            <a:extLst>
              <a:ext uri="{FF2B5EF4-FFF2-40B4-BE49-F238E27FC236}">
                <a16:creationId xmlns:a16="http://schemas.microsoft.com/office/drawing/2014/main" id="{8C82E73A-9351-440B-AD5A-91B4FA5E208F}"/>
              </a:ext>
            </a:extLst>
          </p:cNvPr>
          <p:cNvSpPr/>
          <p:nvPr/>
        </p:nvSpPr>
        <p:spPr>
          <a:xfrm>
            <a:off x="4274463" y="1603835"/>
            <a:ext cx="3430323" cy="862642"/>
          </a:xfrm>
          <a:prstGeom prst="callout2">
            <a:avLst>
              <a:gd name="adj1" fmla="val 50222"/>
              <a:gd name="adj2" fmla="val 100724"/>
              <a:gd name="adj3" fmla="val 50087"/>
              <a:gd name="adj4" fmla="val 130949"/>
              <a:gd name="adj5" fmla="val 117410"/>
              <a:gd name="adj6" fmla="val 138989"/>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1. Fields in any order</a:t>
            </a:r>
          </a:p>
        </p:txBody>
      </p:sp>
      <p:pic>
        <p:nvPicPr>
          <p:cNvPr id="4" name="Picture 3">
            <a:extLst>
              <a:ext uri="{FF2B5EF4-FFF2-40B4-BE49-F238E27FC236}">
                <a16:creationId xmlns:a16="http://schemas.microsoft.com/office/drawing/2014/main" id="{A23D4659-DB2A-6E80-1762-FC291C94C986}"/>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858894" y="3429000"/>
            <a:ext cx="1752600" cy="3238500"/>
          </a:xfrm>
          <a:prstGeom prst="rect">
            <a:avLst/>
          </a:prstGeom>
        </p:spPr>
      </p:pic>
    </p:spTree>
    <p:extLst>
      <p:ext uri="{BB962C8B-B14F-4D97-AF65-F5344CB8AC3E}">
        <p14:creationId xmlns:p14="http://schemas.microsoft.com/office/powerpoint/2010/main" val="317361972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animEffect transition="in" filter="wipe(left)">
                                      <p:cBhvr>
                                        <p:cTn id="7" dur="2500"/>
                                        <p:tgtEl>
                                          <p:spTgt spid="3">
                                            <p:txEl>
                                              <p:pRg st="1" end="1"/>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2" end="2"/>
                                            </p:txEl>
                                          </p:spTgt>
                                        </p:tgtEl>
                                        <p:attrNameLst>
                                          <p:attrName>style.visibility</p:attrName>
                                        </p:attrNameLst>
                                      </p:cBhvr>
                                      <p:to>
                                        <p:strVal val="visible"/>
                                      </p:to>
                                    </p:set>
                                    <p:animEffect transition="in" filter="wipe(left)">
                                      <p:cBhvr>
                                        <p:cTn id="12" dur="2000"/>
                                        <p:tgtEl>
                                          <p:spTgt spid="3">
                                            <p:txEl>
                                              <p:pRg st="2" end="2"/>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4" fill="hold" grpId="0" nodeType="clickEffect">
                                  <p:stCondLst>
                                    <p:cond delay="0"/>
                                  </p:stCondLst>
                                  <p:childTnLst>
                                    <p:set>
                                      <p:cBhvr>
                                        <p:cTn id="16" dur="1" fill="hold">
                                          <p:stCondLst>
                                            <p:cond delay="0"/>
                                          </p:stCondLst>
                                        </p:cTn>
                                        <p:tgtEl>
                                          <p:spTgt spid="6"/>
                                        </p:tgtEl>
                                        <p:attrNameLst>
                                          <p:attrName>style.visibility</p:attrName>
                                        </p:attrNameLst>
                                      </p:cBhvr>
                                      <p:to>
                                        <p:strVal val="visible"/>
                                      </p:to>
                                    </p:set>
                                    <p:animEffect transition="in" filter="wipe(down)">
                                      <p:cBhvr>
                                        <p:cTn id="17" dur="2000"/>
                                        <p:tgtEl>
                                          <p:spTgt spid="6"/>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4" fill="hold" grpId="0" nodeType="clickEffect">
                                  <p:stCondLst>
                                    <p:cond delay="0"/>
                                  </p:stCondLst>
                                  <p:childTnLst>
                                    <p:set>
                                      <p:cBhvr>
                                        <p:cTn id="21" dur="1" fill="hold">
                                          <p:stCondLst>
                                            <p:cond delay="0"/>
                                          </p:stCondLst>
                                        </p:cTn>
                                        <p:tgtEl>
                                          <p:spTgt spid="5"/>
                                        </p:tgtEl>
                                        <p:attrNameLst>
                                          <p:attrName>style.visibility</p:attrName>
                                        </p:attrNameLst>
                                      </p:cBhvr>
                                      <p:to>
                                        <p:strVal val="visible"/>
                                      </p:to>
                                    </p:set>
                                    <p:animEffect transition="in" filter="wipe(down)">
                                      <p:cBhvr>
                                        <p:cTn id="22" dur="15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5" grpId="0" animBg="1"/>
      <p:bldP spid="6" grpId="0" animBg="1"/>
    </p:bldLst>
  </p:timing>
</p:sld>
</file>

<file path=ppt/slides/slide99.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Add Data – Some fields – Example</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a:xfrm>
            <a:off x="838200" y="1825625"/>
            <a:ext cx="10773294" cy="4351338"/>
          </a:xfrm>
        </p:spPr>
        <p:txBody>
          <a:bodyPr>
            <a:normAutofit/>
          </a:bodyPr>
          <a:lstStyle/>
          <a:p>
            <a:pPr marL="0" lvl="0" indent="0" eaLnBrk="0" fontAlgn="base" hangingPunct="0">
              <a:lnSpc>
                <a:spcPct val="100000"/>
              </a:lnSpc>
              <a:spcBef>
                <a:spcPct val="0"/>
              </a:spcBef>
              <a:spcAft>
                <a:spcPct val="0"/>
              </a:spcAft>
              <a:buNone/>
            </a:pPr>
            <a:endParaRPr lang="en-US" altLang="en-US" sz="4000" dirty="0">
              <a:solidFill>
                <a:srgbClr val="B2B2B2"/>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INSERT INTO</a:t>
            </a:r>
            <a:r>
              <a:rPr lang="en-US" altLang="en-US" sz="4000" dirty="0">
                <a:solidFill>
                  <a:srgbClr val="000000"/>
                </a:solidFill>
                <a:latin typeface="Consolas" panose="020B0609020204030204" pitchFamily="49" charset="0"/>
              </a:rPr>
              <a:t> </a:t>
            </a:r>
            <a:r>
              <a:rPr lang="en-US" altLang="en-US" sz="4000" dirty="0">
                <a:solidFill>
                  <a:srgbClr val="0086B3"/>
                </a:solidFill>
                <a:latin typeface="Consolas" panose="020B0609020204030204" pitchFamily="49" charset="0"/>
              </a:rPr>
              <a:t>Datatypes</a:t>
            </a:r>
            <a:r>
              <a:rPr lang="en-US" altLang="en-US" sz="4000" dirty="0">
                <a:solidFill>
                  <a:srgbClr val="000000"/>
                </a:solidFill>
                <a:latin typeface="Consolas" panose="020B0609020204030204" pitchFamily="49" charset="0"/>
              </a:rPr>
              <a:t> (</a:t>
            </a:r>
            <a:r>
              <a:rPr lang="en-US" altLang="en-US" sz="4000" dirty="0">
                <a:solidFill>
                  <a:srgbClr val="0086B3"/>
                </a:solidFill>
                <a:latin typeface="Consolas" panose="020B0609020204030204" pitchFamily="49" charset="0"/>
              </a:rPr>
              <a:t>nice</a:t>
            </a:r>
            <a:r>
              <a:rPr lang="en-US" altLang="en-US" sz="4000" dirty="0">
                <a:solidFill>
                  <a:srgbClr val="000000"/>
                </a:solidFill>
                <a:latin typeface="Consolas" panose="020B0609020204030204" pitchFamily="49" charset="0"/>
              </a:rPr>
              <a:t>, </a:t>
            </a:r>
            <a:r>
              <a:rPr lang="en-US" altLang="en-US" sz="4000" dirty="0" err="1">
                <a:solidFill>
                  <a:srgbClr val="0086B3"/>
                </a:solidFill>
                <a:latin typeface="Consolas" panose="020B0609020204030204" pitchFamily="49" charset="0"/>
              </a:rPr>
              <a:t>rowID</a:t>
            </a:r>
            <a:r>
              <a:rPr lang="en-US" altLang="en-US" sz="40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VALUES</a:t>
            </a:r>
            <a:r>
              <a:rPr lang="en-US" altLang="en-US" sz="4000" dirty="0">
                <a:solidFill>
                  <a:srgbClr val="000000"/>
                </a:solidFill>
                <a:latin typeface="Consolas" panose="020B0609020204030204" pitchFamily="49" charset="0"/>
              </a:rPr>
              <a:t> (</a:t>
            </a:r>
            <a:r>
              <a:rPr lang="en-US" altLang="en-US" sz="4000" dirty="0">
                <a:solidFill>
                  <a:srgbClr val="A71D5D"/>
                </a:solidFill>
                <a:latin typeface="Consolas" panose="020B0609020204030204" pitchFamily="49" charset="0"/>
              </a:rPr>
              <a:t>TRUE</a:t>
            </a:r>
            <a:r>
              <a:rPr lang="en-US" altLang="en-US" sz="4000" dirty="0">
                <a:solidFill>
                  <a:srgbClr val="000000"/>
                </a:solidFill>
                <a:latin typeface="Consolas" panose="020B0609020204030204" pitchFamily="49" charset="0"/>
              </a:rPr>
              <a:t>, </a:t>
            </a:r>
            <a:r>
              <a:rPr lang="en-US" altLang="en-US" sz="4000" dirty="0">
                <a:solidFill>
                  <a:srgbClr val="0086B3"/>
                </a:solidFill>
                <a:latin typeface="Consolas" panose="020B0609020204030204" pitchFamily="49" charset="0"/>
              </a:rPr>
              <a:t>1002</a:t>
            </a:r>
            <a:r>
              <a:rPr lang="en-US" altLang="en-US" sz="4000" dirty="0">
                <a:solidFill>
                  <a:srgbClr val="000000"/>
                </a:solidFill>
                <a:latin typeface="Consolas" panose="020B0609020204030204" pitchFamily="49" charset="0"/>
              </a:rPr>
              <a:t>);</a:t>
            </a:r>
            <a:br>
              <a:rPr lang="en-US" altLang="en-US" sz="4000" dirty="0">
                <a:solidFill>
                  <a:srgbClr val="000000"/>
                </a:solidFill>
                <a:latin typeface="Consolas" panose="020B0609020204030204" pitchFamily="49" charset="0"/>
              </a:rPr>
            </a:br>
            <a:endParaRPr lang="en-US" altLang="en-US" sz="4800" dirty="0">
              <a:latin typeface="Arial" panose="020B0604020202020204" pitchFamily="34" charset="0"/>
            </a:endParaRPr>
          </a:p>
        </p:txBody>
      </p:sp>
      <p:pic>
        <p:nvPicPr>
          <p:cNvPr id="4" name="Picture 3">
            <a:extLst>
              <a:ext uri="{FF2B5EF4-FFF2-40B4-BE49-F238E27FC236}">
                <a16:creationId xmlns:a16="http://schemas.microsoft.com/office/drawing/2014/main" id="{66ACFDEB-1C93-6348-D109-D9023094466C}"/>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858894" y="3429000"/>
            <a:ext cx="1752600" cy="3238500"/>
          </a:xfrm>
          <a:prstGeom prst="rect">
            <a:avLst/>
          </a:prstGeom>
        </p:spPr>
      </p:pic>
    </p:spTree>
    <p:extLst>
      <p:ext uri="{BB962C8B-B14F-4D97-AF65-F5344CB8AC3E}">
        <p14:creationId xmlns:p14="http://schemas.microsoft.com/office/powerpoint/2010/main" val="98939593"/>
      </p:ext>
    </p:extLst>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Learning Intentions</a:t>
            </a:r>
          </a:p>
        </p:txBody>
      </p:sp>
      <p:sp>
        <p:nvSpPr>
          <p:cNvPr id="3" name="Content Placeholder 2"/>
          <p:cNvSpPr>
            <a:spLocks noGrp="1"/>
          </p:cNvSpPr>
          <p:nvPr>
            <p:ph idx="1"/>
          </p:nvPr>
        </p:nvSpPr>
        <p:spPr/>
        <p:txBody>
          <a:bodyPr/>
          <a:lstStyle/>
          <a:p>
            <a:r>
              <a:rPr lang="en-GB" dirty="0"/>
              <a:t>Describe and use SQL update operations</a:t>
            </a:r>
          </a:p>
        </p:txBody>
      </p:sp>
    </p:spTree>
    <p:extLst>
      <p:ext uri="{BB962C8B-B14F-4D97-AF65-F5344CB8AC3E}">
        <p14:creationId xmlns:p14="http://schemas.microsoft.com/office/powerpoint/2010/main" val="3304494681"/>
      </p:ext>
    </p:extLst>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Change Data</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UPDATE</a:t>
            </a:r>
            <a:r>
              <a:rPr lang="en-US" altLang="en-US" sz="4400" dirty="0">
                <a:solidFill>
                  <a:srgbClr val="000000"/>
                </a:solidFill>
                <a:latin typeface="Consolas" panose="020B0609020204030204" pitchFamily="49" charset="0"/>
              </a:rPr>
              <a:t> Datatypes</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SET</a:t>
            </a:r>
            <a:r>
              <a:rPr lang="en-US" altLang="en-US" sz="4400" dirty="0">
                <a:solidFill>
                  <a:srgbClr val="000000"/>
                </a:solidFill>
                <a:latin typeface="Consolas" panose="020B0609020204030204" pitchFamily="49" charset="0"/>
              </a:rPr>
              <a:t> </a:t>
            </a:r>
            <a:r>
              <a:rPr lang="en-US" altLang="en-US" sz="4400" dirty="0" err="1">
                <a:solidFill>
                  <a:srgbClr val="000000"/>
                </a:solidFill>
                <a:latin typeface="Consolas" panose="020B0609020204030204" pitchFamily="49" charset="0"/>
              </a:rPr>
              <a:t>colour</a:t>
            </a:r>
            <a:r>
              <a:rPr lang="en-US" altLang="en-US" sz="4400" dirty="0">
                <a:solidFill>
                  <a:srgbClr val="000000"/>
                </a:solidFill>
                <a:latin typeface="Consolas" panose="020B0609020204030204" pitchFamily="49" charset="0"/>
              </a:rPr>
              <a:t> = </a:t>
            </a:r>
            <a:r>
              <a:rPr lang="en-US" altLang="en-US" sz="4400" dirty="0">
                <a:solidFill>
                  <a:srgbClr val="183691"/>
                </a:solidFill>
                <a:latin typeface="Consolas" panose="020B0609020204030204" pitchFamily="49" charset="0"/>
              </a:rPr>
              <a:t>"Mauve"</a:t>
            </a:r>
            <a:endParaRPr lang="en-US" altLang="en-US" sz="44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3   </a:t>
            </a:r>
            <a:r>
              <a:rPr lang="en-US" altLang="en-US" sz="4400" dirty="0">
                <a:solidFill>
                  <a:srgbClr val="A71D5D"/>
                </a:solidFill>
                <a:latin typeface="Consolas" panose="020B0609020204030204" pitchFamily="49" charset="0"/>
              </a:rPr>
              <a:t>WHERE</a:t>
            </a:r>
            <a:r>
              <a:rPr lang="en-US" altLang="en-US" sz="4400" dirty="0">
                <a:solidFill>
                  <a:srgbClr val="000000"/>
                </a:solidFill>
                <a:latin typeface="Consolas" panose="020B0609020204030204" pitchFamily="49" charset="0"/>
              </a:rPr>
              <a:t> </a:t>
            </a:r>
            <a:r>
              <a:rPr lang="en-US" altLang="en-US" sz="4400" dirty="0" err="1">
                <a:solidFill>
                  <a:srgbClr val="000000"/>
                </a:solidFill>
                <a:latin typeface="Consolas" panose="020B0609020204030204" pitchFamily="49" charset="0"/>
              </a:rPr>
              <a:t>colour</a:t>
            </a:r>
            <a:r>
              <a:rPr lang="en-US" altLang="en-US" sz="4400" dirty="0">
                <a:solidFill>
                  <a:srgbClr val="000000"/>
                </a:solidFill>
                <a:latin typeface="Consolas" panose="020B0609020204030204" pitchFamily="49" charset="0"/>
              </a:rPr>
              <a:t> = </a:t>
            </a:r>
            <a:r>
              <a:rPr lang="en-US" altLang="en-US" sz="4400" dirty="0">
                <a:solidFill>
                  <a:srgbClr val="183691"/>
                </a:solidFill>
                <a:latin typeface="Consolas" panose="020B0609020204030204" pitchFamily="49" charset="0"/>
              </a:rPr>
              <a:t>"</a:t>
            </a:r>
            <a:r>
              <a:rPr lang="en-US" altLang="en-US" sz="4400" dirty="0" err="1">
                <a:solidFill>
                  <a:srgbClr val="183691"/>
                </a:solidFill>
                <a:latin typeface="Consolas" panose="020B0609020204030204" pitchFamily="49" charset="0"/>
              </a:rPr>
              <a:t>Mauv</a:t>
            </a:r>
            <a:r>
              <a:rPr lang="en-US" altLang="en-US" sz="4400" dirty="0">
                <a:solidFill>
                  <a:srgbClr val="183691"/>
                </a:solidFill>
                <a:latin typeface="Consolas" panose="020B0609020204030204" pitchFamily="49" charset="0"/>
              </a:rPr>
              <a:t>"</a:t>
            </a:r>
            <a:r>
              <a:rPr lang="en-US" altLang="en-US" sz="4400" dirty="0">
                <a:solidFill>
                  <a:srgbClr val="000000"/>
                </a:solidFill>
                <a:latin typeface="Consolas" panose="020B0609020204030204" pitchFamily="49" charset="0"/>
              </a:rPr>
              <a:t>;</a:t>
            </a:r>
            <a:endParaRPr lang="en-US" altLang="en-US" sz="6000" dirty="0">
              <a:latin typeface="Arial" panose="020B0604020202020204" pitchFamily="34" charset="0"/>
            </a:endParaRPr>
          </a:p>
        </p:txBody>
      </p:sp>
      <p:sp>
        <p:nvSpPr>
          <p:cNvPr id="6" name="Callout: Bent Line with No Border 3">
            <a:extLst>
              <a:ext uri="{FF2B5EF4-FFF2-40B4-BE49-F238E27FC236}">
                <a16:creationId xmlns:a16="http://schemas.microsoft.com/office/drawing/2014/main" id="{77E8332C-AADD-4F2B-B0E2-AC0B43D6AE90}"/>
              </a:ext>
            </a:extLst>
          </p:cNvPr>
          <p:cNvSpPr/>
          <p:nvPr/>
        </p:nvSpPr>
        <p:spPr>
          <a:xfrm>
            <a:off x="7416095" y="1331516"/>
            <a:ext cx="1085850" cy="718344"/>
          </a:xfrm>
          <a:prstGeom prst="callout2">
            <a:avLst>
              <a:gd name="adj1" fmla="val 49990"/>
              <a:gd name="adj2" fmla="val -52"/>
              <a:gd name="adj3" fmla="val 50311"/>
              <a:gd name="adj4" fmla="val -43860"/>
              <a:gd name="adj5" fmla="val 104481"/>
              <a:gd name="adj6" fmla="val -92411"/>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Table</a:t>
            </a:r>
          </a:p>
        </p:txBody>
      </p:sp>
      <p:sp>
        <p:nvSpPr>
          <p:cNvPr id="9" name="Callout: Bent Line with No Border 3">
            <a:extLst>
              <a:ext uri="{FF2B5EF4-FFF2-40B4-BE49-F238E27FC236}">
                <a16:creationId xmlns:a16="http://schemas.microsoft.com/office/drawing/2014/main" id="{77E8332C-AADD-4F2B-B0E2-AC0B43D6AE90}"/>
              </a:ext>
            </a:extLst>
          </p:cNvPr>
          <p:cNvSpPr/>
          <p:nvPr/>
        </p:nvSpPr>
        <p:spPr>
          <a:xfrm>
            <a:off x="9252920" y="1956862"/>
            <a:ext cx="2654036" cy="862642"/>
          </a:xfrm>
          <a:prstGeom prst="callout2">
            <a:avLst>
              <a:gd name="adj1" fmla="val 50910"/>
              <a:gd name="adj2" fmla="val -1058"/>
              <a:gd name="adj3" fmla="val 50697"/>
              <a:gd name="adj4" fmla="val -11665"/>
              <a:gd name="adj5" fmla="val 76367"/>
              <a:gd name="adj6" fmla="val -35585"/>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Field to update</a:t>
            </a:r>
          </a:p>
          <a:p>
            <a:r>
              <a:rPr lang="en-GB" sz="2800" b="1" dirty="0">
                <a:solidFill>
                  <a:srgbClr val="7030A0"/>
                </a:solidFill>
              </a:rPr>
              <a:t>with new value</a:t>
            </a:r>
          </a:p>
        </p:txBody>
      </p:sp>
      <p:sp>
        <p:nvSpPr>
          <p:cNvPr id="11" name="TextBox 10">
            <a:extLst>
              <a:ext uri="{FF2B5EF4-FFF2-40B4-BE49-F238E27FC236}">
                <a16:creationId xmlns:a16="http://schemas.microsoft.com/office/drawing/2014/main" id="{DF4BA8FF-524A-4C13-87BF-68801971FA28}"/>
              </a:ext>
            </a:extLst>
          </p:cNvPr>
          <p:cNvSpPr txBox="1"/>
          <p:nvPr/>
        </p:nvSpPr>
        <p:spPr>
          <a:xfrm>
            <a:off x="1736601" y="5115849"/>
            <a:ext cx="8718797" cy="1631216"/>
          </a:xfrm>
          <a:prstGeom prst="rect">
            <a:avLst/>
          </a:prstGeom>
          <a:noFill/>
        </p:spPr>
        <p:txBody>
          <a:bodyPr wrap="none" rtlCol="0">
            <a:spAutoFit/>
          </a:bodyPr>
          <a:lstStyle/>
          <a:p>
            <a:pPr algn="ctr"/>
            <a:r>
              <a:rPr lang="en-GB" sz="3600" dirty="0">
                <a:solidFill>
                  <a:srgbClr val="7030A0"/>
                </a:solidFill>
              </a:rPr>
              <a:t>Updates</a:t>
            </a:r>
            <a:r>
              <a:rPr lang="en-GB" sz="3600" dirty="0"/>
              <a:t> </a:t>
            </a:r>
            <a:r>
              <a:rPr lang="en-GB" sz="3600" b="1" i="1" dirty="0">
                <a:solidFill>
                  <a:srgbClr val="FF0000"/>
                </a:solidFill>
              </a:rPr>
              <a:t>all</a:t>
            </a:r>
            <a:r>
              <a:rPr lang="en-GB" sz="3600" dirty="0"/>
              <a:t> </a:t>
            </a:r>
            <a:r>
              <a:rPr lang="en-GB" sz="3600" dirty="0">
                <a:solidFill>
                  <a:srgbClr val="7030A0"/>
                </a:solidFill>
              </a:rPr>
              <a:t>records that match the condition!</a:t>
            </a:r>
          </a:p>
          <a:p>
            <a:pPr algn="ctr"/>
            <a:endParaRPr lang="en-GB" sz="2800" dirty="0">
              <a:solidFill>
                <a:srgbClr val="7030A0"/>
              </a:solidFill>
              <a:latin typeface="Consolas" panose="020B0609020204030204" pitchFamily="49" charset="0"/>
            </a:endParaRPr>
          </a:p>
          <a:p>
            <a:pPr algn="ctr"/>
            <a:r>
              <a:rPr lang="en-GB" sz="3600" dirty="0">
                <a:solidFill>
                  <a:srgbClr val="7030A0"/>
                </a:solidFill>
              </a:rPr>
              <a:t>If a validation rule fails, no data is updated</a:t>
            </a:r>
            <a:endParaRPr lang="en-GB" sz="3600" dirty="0">
              <a:solidFill>
                <a:srgbClr val="7030A0"/>
              </a:solidFill>
              <a:latin typeface="Consolas" panose="020B0609020204030204" pitchFamily="49" charset="0"/>
            </a:endParaRPr>
          </a:p>
        </p:txBody>
      </p:sp>
      <p:sp>
        <p:nvSpPr>
          <p:cNvPr id="7" name="TextBox 6">
            <a:extLst>
              <a:ext uri="{FF2B5EF4-FFF2-40B4-BE49-F238E27FC236}">
                <a16:creationId xmlns:a16="http://schemas.microsoft.com/office/drawing/2014/main" id="{E239E10E-AA44-C822-F751-FA77E1000038}"/>
              </a:ext>
            </a:extLst>
          </p:cNvPr>
          <p:cNvSpPr txBox="1"/>
          <p:nvPr/>
        </p:nvSpPr>
        <p:spPr>
          <a:xfrm>
            <a:off x="7708235" y="-5485"/>
            <a:ext cx="4483765" cy="1200329"/>
          </a:xfrm>
          <a:prstGeom prst="rect">
            <a:avLst/>
          </a:prstGeom>
          <a:noFill/>
          <a:ln w="19050">
            <a:solidFill>
              <a:srgbClr val="FF0000"/>
            </a:solidFill>
          </a:ln>
        </p:spPr>
        <p:txBody>
          <a:bodyPr wrap="square" rtlCol="0">
            <a:spAutoFit/>
          </a:bodyPr>
          <a:lstStyle/>
          <a:p>
            <a:r>
              <a:rPr lang="en-GB" sz="3600" dirty="0">
                <a:solidFill>
                  <a:srgbClr val="FF0000"/>
                </a:solidFill>
                <a:latin typeface="Consolas" panose="020B0609020204030204" pitchFamily="49" charset="0"/>
              </a:rPr>
              <a:t>Tip</a:t>
            </a:r>
            <a:r>
              <a:rPr lang="en-GB" sz="3600" dirty="0">
                <a:solidFill>
                  <a:srgbClr val="7030A0"/>
                </a:solidFill>
                <a:latin typeface="Consolas" panose="020B0609020204030204" pitchFamily="49" charset="0"/>
              </a:rPr>
              <a:t>: Use SELECT with WHERE first!</a:t>
            </a:r>
          </a:p>
        </p:txBody>
      </p:sp>
    </p:spTree>
    <p:extLst>
      <p:ext uri="{BB962C8B-B14F-4D97-AF65-F5344CB8AC3E}">
        <p14:creationId xmlns:p14="http://schemas.microsoft.com/office/powerpoint/2010/main" val="340720245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20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20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6"/>
                                        </p:tgtEl>
                                        <p:attrNameLst>
                                          <p:attrName>style.visibility</p:attrName>
                                        </p:attrNameLst>
                                      </p:cBhvr>
                                      <p:to>
                                        <p:strVal val="visible"/>
                                      </p:to>
                                    </p:set>
                                    <p:animEffect transition="in" filter="fade">
                                      <p:cBhvr>
                                        <p:cTn id="22" dur="1000"/>
                                        <p:tgtEl>
                                          <p:spTgt spid="6"/>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9"/>
                                        </p:tgtEl>
                                        <p:attrNameLst>
                                          <p:attrName>style.visibility</p:attrName>
                                        </p:attrNameLst>
                                      </p:cBhvr>
                                      <p:to>
                                        <p:strVal val="visible"/>
                                      </p:to>
                                    </p:set>
                                    <p:animEffect transition="in" filter="fade">
                                      <p:cBhvr>
                                        <p:cTn id="27" dur="1000"/>
                                        <p:tgtEl>
                                          <p:spTgt spid="9"/>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11">
                                            <p:txEl>
                                              <p:pRg st="0" end="0"/>
                                            </p:txEl>
                                          </p:spTgt>
                                        </p:tgtEl>
                                        <p:attrNameLst>
                                          <p:attrName>style.visibility</p:attrName>
                                        </p:attrNameLst>
                                      </p:cBhvr>
                                      <p:to>
                                        <p:strVal val="visible"/>
                                      </p:to>
                                    </p:set>
                                    <p:animEffect transition="in" filter="wipe(left)">
                                      <p:cBhvr>
                                        <p:cTn id="32" dur="2000"/>
                                        <p:tgtEl>
                                          <p:spTgt spid="11">
                                            <p:txEl>
                                              <p:pRg st="0" end="0"/>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11">
                                            <p:txEl>
                                              <p:pRg st="2" end="2"/>
                                            </p:txEl>
                                          </p:spTgt>
                                        </p:tgtEl>
                                        <p:attrNameLst>
                                          <p:attrName>style.visibility</p:attrName>
                                        </p:attrNameLst>
                                      </p:cBhvr>
                                      <p:to>
                                        <p:strVal val="visible"/>
                                      </p:to>
                                    </p:set>
                                    <p:animEffect transition="in" filter="wipe(left)">
                                      <p:cBhvr>
                                        <p:cTn id="37" dur="2000"/>
                                        <p:tgtEl>
                                          <p:spTgt spid="11">
                                            <p:txEl>
                                              <p:pRg st="2" end="2"/>
                                            </p:txEl>
                                          </p:spTgt>
                                        </p:tgtEl>
                                      </p:cBhvr>
                                    </p:animEffect>
                                  </p:childTnLst>
                                </p:cTn>
                              </p:par>
                            </p:childTnLst>
                          </p:cTn>
                        </p:par>
                      </p:childTnLst>
                    </p:cTn>
                  </p:par>
                  <p:par>
                    <p:cTn id="38" fill="hold">
                      <p:stCondLst>
                        <p:cond delay="indefinite"/>
                      </p:stCondLst>
                      <p:childTnLst>
                        <p:par>
                          <p:cTn id="39" fill="hold">
                            <p:stCondLst>
                              <p:cond delay="0"/>
                            </p:stCondLst>
                            <p:childTnLst>
                              <p:par>
                                <p:cTn id="40" presetID="22" presetClass="entr" presetSubtype="8" fill="hold" grpId="0" nodeType="clickEffect">
                                  <p:stCondLst>
                                    <p:cond delay="0"/>
                                  </p:stCondLst>
                                  <p:childTnLst>
                                    <p:set>
                                      <p:cBhvr>
                                        <p:cTn id="41" dur="1" fill="hold">
                                          <p:stCondLst>
                                            <p:cond delay="0"/>
                                          </p:stCondLst>
                                        </p:cTn>
                                        <p:tgtEl>
                                          <p:spTgt spid="7"/>
                                        </p:tgtEl>
                                        <p:attrNameLst>
                                          <p:attrName>style.visibility</p:attrName>
                                        </p:attrNameLst>
                                      </p:cBhvr>
                                      <p:to>
                                        <p:strVal val="visible"/>
                                      </p:to>
                                    </p:set>
                                    <p:animEffect transition="in" filter="wipe(left)">
                                      <p:cBhvr>
                                        <p:cTn id="42" dur="20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6" grpId="0" animBg="1"/>
      <p:bldP spid="9" grpId="0" animBg="1"/>
      <p:bldP spid="11" grpId="0" uiExpand="1" build="p"/>
      <p:bldP spid="7" grpId="0" animBg="1"/>
    </p:bldLst>
  </p:timing>
</p:sld>
</file>

<file path=ppt/slides/slide102.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Change Data</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UPDATE</a:t>
            </a:r>
            <a:r>
              <a:rPr lang="en-US" altLang="en-US" sz="4400" dirty="0">
                <a:solidFill>
                  <a:srgbClr val="000000"/>
                </a:solidFill>
                <a:latin typeface="Consolas" panose="020B0609020204030204" pitchFamily="49" charset="0"/>
              </a:rPr>
              <a:t> Datatypes</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SET</a:t>
            </a:r>
            <a:r>
              <a:rPr lang="en-US" altLang="en-US" sz="4400" dirty="0">
                <a:solidFill>
                  <a:srgbClr val="000000"/>
                </a:solidFill>
                <a:latin typeface="Consolas" panose="020B0609020204030204" pitchFamily="49" charset="0"/>
              </a:rPr>
              <a:t> </a:t>
            </a:r>
            <a:r>
              <a:rPr lang="en-US" altLang="en-US" sz="4400" dirty="0" err="1">
                <a:solidFill>
                  <a:srgbClr val="000000"/>
                </a:solidFill>
                <a:latin typeface="Consolas" panose="020B0609020204030204" pitchFamily="49" charset="0"/>
              </a:rPr>
              <a:t>colour</a:t>
            </a:r>
            <a:r>
              <a:rPr lang="en-US" altLang="en-US" sz="4400" dirty="0">
                <a:solidFill>
                  <a:srgbClr val="000000"/>
                </a:solidFill>
                <a:latin typeface="Consolas" panose="020B0609020204030204" pitchFamily="49" charset="0"/>
              </a:rPr>
              <a:t> = </a:t>
            </a:r>
            <a:r>
              <a:rPr lang="en-US" altLang="en-US" sz="4400" dirty="0">
                <a:solidFill>
                  <a:srgbClr val="183691"/>
                </a:solidFill>
                <a:latin typeface="Consolas" panose="020B0609020204030204" pitchFamily="49" charset="0"/>
              </a:rPr>
              <a:t>"Mauve"</a:t>
            </a:r>
            <a:endParaRPr lang="en-US" altLang="en-US" sz="44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3   </a:t>
            </a:r>
            <a:r>
              <a:rPr lang="en-US" altLang="en-US" sz="4400" dirty="0">
                <a:solidFill>
                  <a:srgbClr val="A71D5D"/>
                </a:solidFill>
                <a:latin typeface="Consolas" panose="020B0609020204030204" pitchFamily="49" charset="0"/>
              </a:rPr>
              <a:t>WHERE</a:t>
            </a:r>
            <a:r>
              <a:rPr lang="en-US" altLang="en-US" sz="4400" dirty="0">
                <a:solidFill>
                  <a:srgbClr val="000000"/>
                </a:solidFill>
                <a:latin typeface="Consolas" panose="020B0609020204030204" pitchFamily="49" charset="0"/>
              </a:rPr>
              <a:t> </a:t>
            </a:r>
            <a:r>
              <a:rPr lang="en-US" altLang="en-US" sz="4400" dirty="0" err="1">
                <a:solidFill>
                  <a:srgbClr val="000000"/>
                </a:solidFill>
                <a:latin typeface="Consolas" panose="020B0609020204030204" pitchFamily="49" charset="0"/>
              </a:rPr>
              <a:t>colour</a:t>
            </a:r>
            <a:r>
              <a:rPr lang="en-US" altLang="en-US" sz="4400" dirty="0">
                <a:solidFill>
                  <a:srgbClr val="000000"/>
                </a:solidFill>
                <a:latin typeface="Consolas" panose="020B0609020204030204" pitchFamily="49" charset="0"/>
              </a:rPr>
              <a:t> = </a:t>
            </a:r>
            <a:r>
              <a:rPr lang="en-US" altLang="en-US" sz="4400" dirty="0">
                <a:solidFill>
                  <a:srgbClr val="183691"/>
                </a:solidFill>
                <a:latin typeface="Consolas" panose="020B0609020204030204" pitchFamily="49" charset="0"/>
              </a:rPr>
              <a:t>"</a:t>
            </a:r>
            <a:r>
              <a:rPr lang="en-US" altLang="en-US" sz="4400" dirty="0" err="1">
                <a:solidFill>
                  <a:srgbClr val="183691"/>
                </a:solidFill>
                <a:latin typeface="Consolas" panose="020B0609020204030204" pitchFamily="49" charset="0"/>
              </a:rPr>
              <a:t>Mauv</a:t>
            </a:r>
            <a:r>
              <a:rPr lang="en-US" altLang="en-US" sz="4400" dirty="0">
                <a:solidFill>
                  <a:srgbClr val="183691"/>
                </a:solidFill>
                <a:latin typeface="Consolas" panose="020B0609020204030204" pitchFamily="49" charset="0"/>
              </a:rPr>
              <a:t>"</a:t>
            </a:r>
            <a:r>
              <a:rPr lang="en-US" altLang="en-US" sz="4400" dirty="0">
                <a:solidFill>
                  <a:srgbClr val="000000"/>
                </a:solidFill>
                <a:latin typeface="Consolas" panose="020B0609020204030204" pitchFamily="49" charset="0"/>
              </a:rPr>
              <a:t>;</a:t>
            </a:r>
            <a:endParaRPr lang="en-US" altLang="en-US" sz="6000" dirty="0">
              <a:latin typeface="Arial" panose="020B0604020202020204" pitchFamily="34" charset="0"/>
            </a:endParaRPr>
          </a:p>
        </p:txBody>
      </p:sp>
      <p:sp>
        <p:nvSpPr>
          <p:cNvPr id="5" name="TextBox 4">
            <a:extLst>
              <a:ext uri="{FF2B5EF4-FFF2-40B4-BE49-F238E27FC236}">
                <a16:creationId xmlns:a16="http://schemas.microsoft.com/office/drawing/2014/main" id="{32C88DB2-4D2B-79F2-D24D-8D005D8CED13}"/>
              </a:ext>
            </a:extLst>
          </p:cNvPr>
          <p:cNvSpPr txBox="1"/>
          <p:nvPr/>
        </p:nvSpPr>
        <p:spPr>
          <a:xfrm>
            <a:off x="2046238" y="6079439"/>
            <a:ext cx="8099525" cy="646331"/>
          </a:xfrm>
          <a:prstGeom prst="rect">
            <a:avLst/>
          </a:prstGeom>
          <a:noFill/>
        </p:spPr>
        <p:txBody>
          <a:bodyPr wrap="none" rtlCol="0">
            <a:spAutoFit/>
          </a:bodyPr>
          <a:lstStyle/>
          <a:p>
            <a:pPr algn="ctr"/>
            <a:r>
              <a:rPr lang="en-GB" sz="3600" dirty="0">
                <a:solidFill>
                  <a:srgbClr val="7030A0"/>
                </a:solidFill>
              </a:rPr>
              <a:t>If a validation rule fails, no data is updated</a:t>
            </a:r>
            <a:endParaRPr lang="en-GB" sz="3600" dirty="0">
              <a:solidFill>
                <a:srgbClr val="7030A0"/>
              </a:solidFill>
              <a:latin typeface="Consolas" panose="020B0609020204030204" pitchFamily="49" charset="0"/>
            </a:endParaRPr>
          </a:p>
        </p:txBody>
      </p:sp>
    </p:spTree>
    <p:extLst>
      <p:ext uri="{BB962C8B-B14F-4D97-AF65-F5344CB8AC3E}">
        <p14:creationId xmlns:p14="http://schemas.microsoft.com/office/powerpoint/2010/main" val="3328011524"/>
      </p:ext>
    </p:extLst>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4150D6E-A7AE-40F1-B520-C3C5A5B9033C}"/>
              </a:ext>
            </a:extLst>
          </p:cNvPr>
          <p:cNvSpPr>
            <a:spLocks noGrp="1"/>
          </p:cNvSpPr>
          <p:nvPr>
            <p:ph type="title"/>
          </p:nvPr>
        </p:nvSpPr>
        <p:spPr/>
        <p:txBody>
          <a:bodyPr/>
          <a:lstStyle/>
          <a:p>
            <a:r>
              <a:rPr lang="en-GB" dirty="0"/>
              <a:t>Change Data -  In stages</a:t>
            </a:r>
          </a:p>
        </p:txBody>
      </p:sp>
      <p:sp>
        <p:nvSpPr>
          <p:cNvPr id="5" name="Text Placeholder 4">
            <a:extLst>
              <a:ext uri="{FF2B5EF4-FFF2-40B4-BE49-F238E27FC236}">
                <a16:creationId xmlns:a16="http://schemas.microsoft.com/office/drawing/2014/main" id="{000FA1C3-5832-49DF-B768-CBF372ADFA59}"/>
              </a:ext>
            </a:extLst>
          </p:cNvPr>
          <p:cNvSpPr>
            <a:spLocks noGrp="1"/>
          </p:cNvSpPr>
          <p:nvPr>
            <p:ph type="body" idx="1"/>
          </p:nvPr>
        </p:nvSpPr>
        <p:spPr/>
        <p:txBody>
          <a:bodyPr>
            <a:normAutofit/>
          </a:bodyPr>
          <a:lstStyle/>
          <a:p>
            <a:r>
              <a:rPr lang="en-GB" sz="3600" dirty="0"/>
              <a:t>Step 1</a:t>
            </a:r>
          </a:p>
        </p:txBody>
      </p:sp>
      <p:sp>
        <p:nvSpPr>
          <p:cNvPr id="3" name="Content Placeholder 2">
            <a:extLst>
              <a:ext uri="{FF2B5EF4-FFF2-40B4-BE49-F238E27FC236}">
                <a16:creationId xmlns:a16="http://schemas.microsoft.com/office/drawing/2014/main" id="{95A0844E-7BAE-4F4A-A1DA-DD7BE74B9B74}"/>
              </a:ext>
            </a:extLst>
          </p:cNvPr>
          <p:cNvSpPr>
            <a:spLocks noGrp="1"/>
          </p:cNvSpPr>
          <p:nvPr>
            <p:ph sz="half" idx="2"/>
          </p:nvPr>
        </p:nvSpPr>
        <p:spPr>
          <a:xfrm>
            <a:off x="729797" y="2505075"/>
            <a:ext cx="5290004" cy="3684588"/>
          </a:xfrm>
        </p:spPr>
        <p:txBody>
          <a:bodyPr/>
          <a:lstStyle/>
          <a:p>
            <a:pPr marL="0" lv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1 </a:t>
            </a:r>
            <a:r>
              <a:rPr lang="en-US" altLang="en-US" dirty="0">
                <a:solidFill>
                  <a:srgbClr val="A71D5D"/>
                </a:solidFill>
                <a:latin typeface="Consolas" panose="020B0609020204030204" pitchFamily="49" charset="0"/>
              </a:rPr>
              <a:t>SELECT </a:t>
            </a:r>
            <a:r>
              <a:rPr lang="en-US" altLang="en-US"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2   </a:t>
            </a:r>
            <a:r>
              <a:rPr lang="en-US" altLang="en-US" dirty="0">
                <a:solidFill>
                  <a:srgbClr val="A71D5D"/>
                </a:solidFill>
                <a:latin typeface="Consolas" panose="020B0609020204030204" pitchFamily="49" charset="0"/>
              </a:rPr>
              <a:t>FROM</a:t>
            </a:r>
            <a:r>
              <a:rPr lang="en-US" altLang="en-US" dirty="0">
                <a:solidFill>
                  <a:srgbClr val="000000"/>
                </a:solidFill>
                <a:latin typeface="Consolas" panose="020B0609020204030204" pitchFamily="49" charset="0"/>
              </a:rPr>
              <a:t> Datatypes</a:t>
            </a:r>
          </a:p>
          <a:p>
            <a:pPr marL="0" lv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3   </a:t>
            </a:r>
            <a:r>
              <a:rPr lang="en-US" altLang="en-US" dirty="0">
                <a:solidFill>
                  <a:srgbClr val="A71D5D"/>
                </a:solidFill>
                <a:latin typeface="Consolas" panose="020B0609020204030204" pitchFamily="49" charset="0"/>
              </a:rPr>
              <a:t>WHERE</a:t>
            </a:r>
            <a:r>
              <a:rPr lang="en-US" altLang="en-US" dirty="0">
                <a:solidFill>
                  <a:srgbClr val="000000"/>
                </a:solidFill>
                <a:latin typeface="Consolas" panose="020B0609020204030204" pitchFamily="49" charset="0"/>
              </a:rPr>
              <a:t> </a:t>
            </a:r>
            <a:r>
              <a:rPr lang="en-US" altLang="en-US" dirty="0" err="1">
                <a:solidFill>
                  <a:srgbClr val="000000"/>
                </a:solidFill>
                <a:latin typeface="Consolas" panose="020B0609020204030204" pitchFamily="49" charset="0"/>
              </a:rPr>
              <a:t>colour</a:t>
            </a:r>
            <a:r>
              <a:rPr lang="en-US" altLang="en-US" dirty="0">
                <a:solidFill>
                  <a:srgbClr val="000000"/>
                </a:solidFill>
                <a:latin typeface="Consolas" panose="020B0609020204030204" pitchFamily="49" charset="0"/>
              </a:rPr>
              <a:t> = </a:t>
            </a:r>
            <a:r>
              <a:rPr lang="en-US" altLang="en-US" dirty="0">
                <a:solidFill>
                  <a:srgbClr val="183691"/>
                </a:solidFill>
                <a:latin typeface="Consolas" panose="020B0609020204030204" pitchFamily="49" charset="0"/>
              </a:rPr>
              <a:t>"</a:t>
            </a:r>
            <a:r>
              <a:rPr lang="en-US" altLang="en-US" dirty="0" err="1">
                <a:solidFill>
                  <a:srgbClr val="183691"/>
                </a:solidFill>
                <a:latin typeface="Consolas" panose="020B0609020204030204" pitchFamily="49" charset="0"/>
              </a:rPr>
              <a:t>Mauv</a:t>
            </a:r>
            <a:r>
              <a:rPr lang="en-US" altLang="en-US" dirty="0">
                <a:solidFill>
                  <a:srgbClr val="183691"/>
                </a:solidFill>
                <a:latin typeface="Consolas" panose="020B0609020204030204" pitchFamily="49" charset="0"/>
              </a:rPr>
              <a:t>"</a:t>
            </a:r>
            <a:r>
              <a:rPr lang="en-US" altLang="en-US" dirty="0">
                <a:solidFill>
                  <a:srgbClr val="000000"/>
                </a:solidFill>
                <a:latin typeface="Consolas" panose="020B0609020204030204" pitchFamily="49" charset="0"/>
              </a:rPr>
              <a:t>;</a:t>
            </a:r>
            <a:endParaRPr lang="en-US" altLang="en-US" sz="4000" dirty="0">
              <a:latin typeface="Arial" panose="020B0604020202020204" pitchFamily="34" charset="0"/>
            </a:endParaRPr>
          </a:p>
          <a:p>
            <a:pPr marL="0" indent="0">
              <a:buNone/>
            </a:pPr>
            <a:endParaRPr lang="en-GB" dirty="0"/>
          </a:p>
        </p:txBody>
      </p:sp>
      <p:sp>
        <p:nvSpPr>
          <p:cNvPr id="6" name="Text Placeholder 5">
            <a:extLst>
              <a:ext uri="{FF2B5EF4-FFF2-40B4-BE49-F238E27FC236}">
                <a16:creationId xmlns:a16="http://schemas.microsoft.com/office/drawing/2014/main" id="{8577C599-C84A-46C7-BB62-6C336B2F005F}"/>
              </a:ext>
            </a:extLst>
          </p:cNvPr>
          <p:cNvSpPr>
            <a:spLocks noGrp="1"/>
          </p:cNvSpPr>
          <p:nvPr>
            <p:ph type="body" sz="quarter" idx="3"/>
          </p:nvPr>
        </p:nvSpPr>
        <p:spPr/>
        <p:txBody>
          <a:bodyPr>
            <a:normAutofit/>
          </a:bodyPr>
          <a:lstStyle/>
          <a:p>
            <a:r>
              <a:rPr lang="en-GB" sz="3600" dirty="0"/>
              <a:t>Step 2</a:t>
            </a:r>
          </a:p>
        </p:txBody>
      </p:sp>
      <p:sp>
        <p:nvSpPr>
          <p:cNvPr id="4" name="Content Placeholder 3">
            <a:extLst>
              <a:ext uri="{FF2B5EF4-FFF2-40B4-BE49-F238E27FC236}">
                <a16:creationId xmlns:a16="http://schemas.microsoft.com/office/drawing/2014/main" id="{D6A3CFF1-8569-4597-ADB2-1CADEA342D2F}"/>
              </a:ext>
            </a:extLst>
          </p:cNvPr>
          <p:cNvSpPr>
            <a:spLocks noGrp="1"/>
          </p:cNvSpPr>
          <p:nvPr>
            <p:ph sz="quarter" idx="4"/>
          </p:nvPr>
        </p:nvSpPr>
        <p:spPr>
          <a:xfrm>
            <a:off x="6172200" y="2505075"/>
            <a:ext cx="5290004" cy="3684588"/>
          </a:xfrm>
        </p:spPr>
        <p:txBody>
          <a:bodyPr/>
          <a:lstStyle/>
          <a:p>
            <a:pPr marL="0" lv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1 </a:t>
            </a:r>
            <a:r>
              <a:rPr lang="en-US" altLang="en-US" dirty="0">
                <a:solidFill>
                  <a:srgbClr val="A71D5D"/>
                </a:solidFill>
                <a:latin typeface="Consolas" panose="020B0609020204030204" pitchFamily="49" charset="0"/>
              </a:rPr>
              <a:t>UPDATE</a:t>
            </a:r>
            <a:r>
              <a:rPr lang="en-US" altLang="en-US" dirty="0">
                <a:solidFill>
                  <a:srgbClr val="000000"/>
                </a:solidFill>
                <a:latin typeface="Consolas" panose="020B0609020204030204" pitchFamily="49" charset="0"/>
              </a:rPr>
              <a:t> Datatypes</a:t>
            </a:r>
          </a:p>
          <a:p>
            <a:pPr marL="0" lv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2   </a:t>
            </a:r>
            <a:r>
              <a:rPr lang="en-US" altLang="en-US" dirty="0">
                <a:solidFill>
                  <a:srgbClr val="A71D5D"/>
                </a:solidFill>
                <a:latin typeface="Consolas" panose="020B0609020204030204" pitchFamily="49" charset="0"/>
              </a:rPr>
              <a:t>SET</a:t>
            </a:r>
            <a:r>
              <a:rPr lang="en-US" altLang="en-US" dirty="0">
                <a:solidFill>
                  <a:srgbClr val="000000"/>
                </a:solidFill>
                <a:latin typeface="Consolas" panose="020B0609020204030204" pitchFamily="49" charset="0"/>
              </a:rPr>
              <a:t> </a:t>
            </a:r>
            <a:r>
              <a:rPr lang="en-US" altLang="en-US" dirty="0" err="1">
                <a:solidFill>
                  <a:srgbClr val="000000"/>
                </a:solidFill>
                <a:latin typeface="Consolas" panose="020B0609020204030204" pitchFamily="49" charset="0"/>
              </a:rPr>
              <a:t>colour</a:t>
            </a:r>
            <a:r>
              <a:rPr lang="en-US" altLang="en-US" dirty="0">
                <a:solidFill>
                  <a:srgbClr val="000000"/>
                </a:solidFill>
                <a:latin typeface="Consolas" panose="020B0609020204030204" pitchFamily="49" charset="0"/>
              </a:rPr>
              <a:t> = </a:t>
            </a:r>
            <a:r>
              <a:rPr lang="en-US" altLang="en-US" dirty="0">
                <a:solidFill>
                  <a:srgbClr val="183691"/>
                </a:solidFill>
                <a:latin typeface="Consolas" panose="020B0609020204030204" pitchFamily="49" charset="0"/>
              </a:rPr>
              <a:t>"Mauve"</a:t>
            </a:r>
            <a:endParaRPr lang="en-US" altLang="en-US"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3   </a:t>
            </a:r>
            <a:r>
              <a:rPr lang="en-US" altLang="en-US" dirty="0">
                <a:solidFill>
                  <a:srgbClr val="A71D5D"/>
                </a:solidFill>
                <a:latin typeface="Consolas" panose="020B0609020204030204" pitchFamily="49" charset="0"/>
              </a:rPr>
              <a:t>WHERE</a:t>
            </a:r>
            <a:r>
              <a:rPr lang="en-US" altLang="en-US" dirty="0">
                <a:solidFill>
                  <a:srgbClr val="000000"/>
                </a:solidFill>
                <a:latin typeface="Consolas" panose="020B0609020204030204" pitchFamily="49" charset="0"/>
              </a:rPr>
              <a:t> </a:t>
            </a:r>
            <a:r>
              <a:rPr lang="en-US" altLang="en-US" dirty="0" err="1">
                <a:solidFill>
                  <a:srgbClr val="000000"/>
                </a:solidFill>
                <a:latin typeface="Consolas" panose="020B0609020204030204" pitchFamily="49" charset="0"/>
              </a:rPr>
              <a:t>colour</a:t>
            </a:r>
            <a:r>
              <a:rPr lang="en-US" altLang="en-US" dirty="0">
                <a:solidFill>
                  <a:srgbClr val="000000"/>
                </a:solidFill>
                <a:latin typeface="Consolas" panose="020B0609020204030204" pitchFamily="49" charset="0"/>
              </a:rPr>
              <a:t> = </a:t>
            </a:r>
            <a:r>
              <a:rPr lang="en-US" altLang="en-US" dirty="0">
                <a:solidFill>
                  <a:srgbClr val="183691"/>
                </a:solidFill>
                <a:latin typeface="Consolas" panose="020B0609020204030204" pitchFamily="49" charset="0"/>
              </a:rPr>
              <a:t>"</a:t>
            </a:r>
            <a:r>
              <a:rPr lang="en-US" altLang="en-US" dirty="0" err="1">
                <a:solidFill>
                  <a:srgbClr val="183691"/>
                </a:solidFill>
                <a:latin typeface="Consolas" panose="020B0609020204030204" pitchFamily="49" charset="0"/>
              </a:rPr>
              <a:t>Mauv</a:t>
            </a:r>
            <a:r>
              <a:rPr lang="en-US" altLang="en-US" dirty="0">
                <a:solidFill>
                  <a:srgbClr val="183691"/>
                </a:solidFill>
                <a:latin typeface="Consolas" panose="020B0609020204030204" pitchFamily="49" charset="0"/>
              </a:rPr>
              <a:t>"</a:t>
            </a:r>
            <a:r>
              <a:rPr lang="en-US" altLang="en-US" dirty="0">
                <a:solidFill>
                  <a:srgbClr val="000000"/>
                </a:solidFill>
                <a:latin typeface="Consolas" panose="020B0609020204030204" pitchFamily="49" charset="0"/>
              </a:rPr>
              <a:t>;</a:t>
            </a:r>
            <a:endParaRPr lang="en-US" altLang="en-US" sz="4000" dirty="0">
              <a:latin typeface="Arial" panose="020B0604020202020204" pitchFamily="34" charset="0"/>
            </a:endParaRPr>
          </a:p>
          <a:p>
            <a:pPr marL="0" indent="0">
              <a:buNone/>
            </a:pPr>
            <a:endParaRPr lang="en-GB" dirty="0"/>
          </a:p>
        </p:txBody>
      </p:sp>
      <p:sp>
        <p:nvSpPr>
          <p:cNvPr id="7" name="TextBox 6">
            <a:extLst>
              <a:ext uri="{FF2B5EF4-FFF2-40B4-BE49-F238E27FC236}">
                <a16:creationId xmlns:a16="http://schemas.microsoft.com/office/drawing/2014/main" id="{3D7C5561-49CA-4DD0-9A81-A755A354B542}"/>
              </a:ext>
            </a:extLst>
          </p:cNvPr>
          <p:cNvSpPr txBox="1"/>
          <p:nvPr/>
        </p:nvSpPr>
        <p:spPr>
          <a:xfrm>
            <a:off x="3187768" y="4698363"/>
            <a:ext cx="5816464" cy="769441"/>
          </a:xfrm>
          <a:prstGeom prst="rect">
            <a:avLst/>
          </a:prstGeom>
          <a:noFill/>
        </p:spPr>
        <p:txBody>
          <a:bodyPr wrap="none" rtlCol="0">
            <a:spAutoFit/>
          </a:bodyPr>
          <a:lstStyle/>
          <a:p>
            <a:r>
              <a:rPr lang="en-GB" sz="4400" dirty="0">
                <a:solidFill>
                  <a:srgbClr val="7030A0"/>
                </a:solidFill>
              </a:rPr>
              <a:t>Copy the </a:t>
            </a:r>
            <a:r>
              <a:rPr lang="en-GB" sz="4400" dirty="0">
                <a:solidFill>
                  <a:srgbClr val="A71D5D"/>
                </a:solidFill>
              </a:rPr>
              <a:t>WHERE</a:t>
            </a:r>
            <a:r>
              <a:rPr lang="en-GB" sz="4400" dirty="0">
                <a:solidFill>
                  <a:srgbClr val="7030A0"/>
                </a:solidFill>
              </a:rPr>
              <a:t> clause!</a:t>
            </a:r>
          </a:p>
        </p:txBody>
      </p:sp>
      <p:sp>
        <p:nvSpPr>
          <p:cNvPr id="8" name="Arc 7">
            <a:extLst>
              <a:ext uri="{FF2B5EF4-FFF2-40B4-BE49-F238E27FC236}">
                <a16:creationId xmlns:a16="http://schemas.microsoft.com/office/drawing/2014/main" id="{6F055A38-53AB-4D21-B310-4508FD3AA00E}"/>
              </a:ext>
            </a:extLst>
          </p:cNvPr>
          <p:cNvSpPr/>
          <p:nvPr/>
        </p:nvSpPr>
        <p:spPr>
          <a:xfrm rot="10800000" flipH="1">
            <a:off x="5573400" y="3238500"/>
            <a:ext cx="1487800" cy="1325562"/>
          </a:xfrm>
          <a:prstGeom prst="arc">
            <a:avLst>
              <a:gd name="adj1" fmla="val 10934631"/>
              <a:gd name="adj2" fmla="val 21444232"/>
            </a:avLst>
          </a:prstGeom>
          <a:ln w="38100">
            <a:solidFill>
              <a:schemeClr val="accent6">
                <a:lumMod val="75000"/>
              </a:schemeClr>
            </a:solidFill>
            <a:tailEnd type="triangle" w="lg" len="lg"/>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GB"/>
          </a:p>
        </p:txBody>
      </p:sp>
      <p:sp>
        <p:nvSpPr>
          <p:cNvPr id="9" name="Text Placeholder 4">
            <a:extLst>
              <a:ext uri="{FF2B5EF4-FFF2-40B4-BE49-F238E27FC236}">
                <a16:creationId xmlns:a16="http://schemas.microsoft.com/office/drawing/2014/main" id="{6BC444EA-344C-4AF7-9C47-709AD41F4E57}"/>
              </a:ext>
            </a:extLst>
          </p:cNvPr>
          <p:cNvSpPr txBox="1">
            <a:spLocks/>
          </p:cNvSpPr>
          <p:nvPr/>
        </p:nvSpPr>
        <p:spPr>
          <a:xfrm>
            <a:off x="3505994" y="5608953"/>
            <a:ext cx="5157787" cy="823912"/>
          </a:xfrm>
          <a:prstGeom prst="rect">
            <a:avLst/>
          </a:prstGeom>
        </p:spPr>
        <p:txBody>
          <a:bodyPr vert="horz" lIns="91440" tIns="45720" rIns="91440" bIns="45720" rtlCol="0" anchor="b">
            <a:normAutofit/>
          </a:bodyPr>
          <a:lstStyle>
            <a:lvl1pPr marL="0" indent="0" algn="l" defTabSz="914400" rtl="0" eaLnBrk="1" latinLnBrk="0" hangingPunct="1">
              <a:lnSpc>
                <a:spcPct val="120000"/>
              </a:lnSpc>
              <a:spcBef>
                <a:spcPts val="0"/>
              </a:spcBef>
              <a:buFont typeface="Arial" panose="020B0604020202020204" pitchFamily="34" charset="0"/>
              <a:buNone/>
              <a:defRPr sz="2400" b="1" kern="1200">
                <a:solidFill>
                  <a:schemeClr val="tx1"/>
                </a:solidFill>
                <a:latin typeface="+mn-lt"/>
                <a:ea typeface="+mn-ea"/>
                <a:cs typeface="+mn-cs"/>
              </a:defRPr>
            </a:lvl1pPr>
            <a:lvl2pPr marL="457200" indent="0" algn="l" defTabSz="914400" rtl="0" eaLnBrk="1" latinLnBrk="0" hangingPunct="1">
              <a:lnSpc>
                <a:spcPct val="120000"/>
              </a:lnSpc>
              <a:spcBef>
                <a:spcPts val="0"/>
              </a:spcBef>
              <a:buFont typeface="Arial" panose="020B0604020202020204" pitchFamily="34" charset="0"/>
              <a:buNone/>
              <a:defRPr sz="2000" b="1" kern="1200">
                <a:solidFill>
                  <a:schemeClr val="tx1"/>
                </a:solidFill>
                <a:latin typeface="+mn-lt"/>
                <a:ea typeface="+mn-ea"/>
                <a:cs typeface="+mn-cs"/>
              </a:defRPr>
            </a:lvl2pPr>
            <a:lvl3pPr marL="914400" indent="0" algn="l" defTabSz="914400" rtl="0" eaLnBrk="1" latinLnBrk="0" hangingPunct="1">
              <a:lnSpc>
                <a:spcPct val="120000"/>
              </a:lnSpc>
              <a:spcBef>
                <a:spcPts val="0"/>
              </a:spcBef>
              <a:buFont typeface="Arial" panose="020B0604020202020204" pitchFamily="34" charset="0"/>
              <a:buNone/>
              <a:defRPr sz="1800" b="1" kern="1200">
                <a:solidFill>
                  <a:schemeClr val="tx1"/>
                </a:solidFill>
                <a:latin typeface="+mn-lt"/>
                <a:ea typeface="+mn-ea"/>
                <a:cs typeface="+mn-cs"/>
              </a:defRPr>
            </a:lvl3pPr>
            <a:lvl4pPr marL="1371600" indent="0" algn="l" defTabSz="914400" rtl="0" eaLnBrk="1" latinLnBrk="0" hangingPunct="1">
              <a:lnSpc>
                <a:spcPct val="120000"/>
              </a:lnSpc>
              <a:spcBef>
                <a:spcPts val="0"/>
              </a:spcBef>
              <a:buFont typeface="Arial" panose="020B0604020202020204" pitchFamily="34" charset="0"/>
              <a:buNone/>
              <a:defRPr sz="1600" b="1" kern="1200">
                <a:solidFill>
                  <a:schemeClr val="tx1"/>
                </a:solidFill>
                <a:latin typeface="+mn-lt"/>
                <a:ea typeface="+mn-ea"/>
                <a:cs typeface="+mn-cs"/>
              </a:defRPr>
            </a:lvl4pPr>
            <a:lvl5pPr marL="1828800" indent="0" algn="l" defTabSz="914400" rtl="0" eaLnBrk="1" latinLnBrk="0" hangingPunct="1">
              <a:lnSpc>
                <a:spcPct val="120000"/>
              </a:lnSpc>
              <a:spcBef>
                <a:spcPts val="0"/>
              </a:spcBef>
              <a:buFont typeface="Arial" panose="020B0604020202020204" pitchFamily="34" charset="0"/>
              <a:buNone/>
              <a:defRPr sz="1600" b="1" kern="1200">
                <a:solidFill>
                  <a:schemeClr val="tx1"/>
                </a:solidFill>
                <a:latin typeface="+mn-lt"/>
                <a:ea typeface="+mn-ea"/>
                <a:cs typeface="+mn-cs"/>
              </a:defRPr>
            </a:lvl5pPr>
            <a:lvl6pPr marL="2286000" indent="0" algn="l" defTabSz="914400" rtl="0" eaLnBrk="1" latinLnBrk="0"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6pPr>
            <a:lvl7pPr marL="2743200" indent="0" algn="l" defTabSz="914400" rtl="0" eaLnBrk="1" latinLnBrk="0"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7pPr>
            <a:lvl8pPr marL="3200400" indent="0" algn="l" defTabSz="914400" rtl="0" eaLnBrk="1" latinLnBrk="0"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8pPr>
            <a:lvl9pPr marL="3657600" indent="0" algn="l" defTabSz="914400" rtl="0" eaLnBrk="1" latinLnBrk="0"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9pPr>
          </a:lstStyle>
          <a:p>
            <a:pPr algn="ctr"/>
            <a:r>
              <a:rPr lang="en-GB" sz="3600" dirty="0"/>
              <a:t>Step 3 </a:t>
            </a:r>
            <a:r>
              <a:rPr lang="en-GB" sz="3600" dirty="0">
                <a:solidFill>
                  <a:srgbClr val="7030A0"/>
                </a:solidFill>
              </a:rPr>
              <a:t>– Run Step 1 again</a:t>
            </a:r>
          </a:p>
        </p:txBody>
      </p:sp>
    </p:spTree>
    <p:extLst>
      <p:ext uri="{BB962C8B-B14F-4D97-AF65-F5344CB8AC3E}">
        <p14:creationId xmlns:p14="http://schemas.microsoft.com/office/powerpoint/2010/main" val="254587533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5">
                                            <p:txEl>
                                              <p:pRg st="0" end="0"/>
                                            </p:txEl>
                                          </p:spTgt>
                                        </p:tgtEl>
                                        <p:attrNameLst>
                                          <p:attrName>style.visibility</p:attrName>
                                        </p:attrNameLst>
                                      </p:cBhvr>
                                      <p:to>
                                        <p:strVal val="visible"/>
                                      </p:to>
                                    </p:set>
                                    <p:animEffect transition="in" filter="wipe(left)">
                                      <p:cBhvr>
                                        <p:cTn id="7" dur="500"/>
                                        <p:tgtEl>
                                          <p:spTgt spid="5">
                                            <p:txEl>
                                              <p:pRg st="0" end="0"/>
                                            </p:txEl>
                                          </p:spTgt>
                                        </p:tgtEl>
                                      </p:cBhvr>
                                    </p:animEffect>
                                  </p:childTnLst>
                                </p:cTn>
                              </p:par>
                            </p:childTnLst>
                          </p:cTn>
                        </p:par>
                        <p:par>
                          <p:cTn id="8" fill="hold">
                            <p:stCondLst>
                              <p:cond delay="500"/>
                            </p:stCondLst>
                            <p:childTnLst>
                              <p:par>
                                <p:cTn id="9" presetID="22" presetClass="entr" presetSubtype="8" fill="hold" grpId="0" nodeType="afterEffect">
                                  <p:stCondLst>
                                    <p:cond delay="0"/>
                                  </p:stCondLst>
                                  <p:childTnLst>
                                    <p:set>
                                      <p:cBhvr>
                                        <p:cTn id="10" dur="1" fill="hold">
                                          <p:stCondLst>
                                            <p:cond delay="0"/>
                                          </p:stCondLst>
                                        </p:cTn>
                                        <p:tgtEl>
                                          <p:spTgt spid="3">
                                            <p:txEl>
                                              <p:pRg st="0" end="0"/>
                                            </p:txEl>
                                          </p:spTgt>
                                        </p:tgtEl>
                                        <p:attrNameLst>
                                          <p:attrName>style.visibility</p:attrName>
                                        </p:attrNameLst>
                                      </p:cBhvr>
                                      <p:to>
                                        <p:strVal val="visible"/>
                                      </p:to>
                                    </p:set>
                                    <p:animEffect transition="in" filter="wipe(left)">
                                      <p:cBhvr>
                                        <p:cTn id="11" dur="500"/>
                                        <p:tgtEl>
                                          <p:spTgt spid="3">
                                            <p:txEl>
                                              <p:pRg st="0" end="0"/>
                                            </p:txEl>
                                          </p:spTgt>
                                        </p:tgtEl>
                                      </p:cBhvr>
                                    </p:animEffect>
                                  </p:childTnLst>
                                </p:cTn>
                              </p:par>
                            </p:childTnLst>
                          </p:cTn>
                        </p:par>
                        <p:par>
                          <p:cTn id="12" fill="hold">
                            <p:stCondLst>
                              <p:cond delay="1000"/>
                            </p:stCondLst>
                            <p:childTnLst>
                              <p:par>
                                <p:cTn id="13" presetID="22" presetClass="entr" presetSubtype="8" fill="hold" grpId="0" nodeType="afterEffect">
                                  <p:stCondLst>
                                    <p:cond delay="0"/>
                                  </p:stCondLst>
                                  <p:childTnLst>
                                    <p:set>
                                      <p:cBhvr>
                                        <p:cTn id="14" dur="1" fill="hold">
                                          <p:stCondLst>
                                            <p:cond delay="0"/>
                                          </p:stCondLst>
                                        </p:cTn>
                                        <p:tgtEl>
                                          <p:spTgt spid="3">
                                            <p:txEl>
                                              <p:pRg st="1" end="1"/>
                                            </p:txEl>
                                          </p:spTgt>
                                        </p:tgtEl>
                                        <p:attrNameLst>
                                          <p:attrName>style.visibility</p:attrName>
                                        </p:attrNameLst>
                                      </p:cBhvr>
                                      <p:to>
                                        <p:strVal val="visible"/>
                                      </p:to>
                                    </p:set>
                                    <p:animEffect transition="in" filter="wipe(left)">
                                      <p:cBhvr>
                                        <p:cTn id="15" dur="1000"/>
                                        <p:tgtEl>
                                          <p:spTgt spid="3">
                                            <p:txEl>
                                              <p:pRg st="1" end="1"/>
                                            </p:txEl>
                                          </p:spTgt>
                                        </p:tgtEl>
                                      </p:cBhvr>
                                    </p:animEffect>
                                  </p:childTnLst>
                                </p:cTn>
                              </p:par>
                            </p:childTnLst>
                          </p:cTn>
                        </p:par>
                        <p:par>
                          <p:cTn id="16" fill="hold">
                            <p:stCondLst>
                              <p:cond delay="2000"/>
                            </p:stCondLst>
                            <p:childTnLst>
                              <p:par>
                                <p:cTn id="17" presetID="22" presetClass="entr" presetSubtype="8" fill="hold" grpId="0" nodeType="afterEffect">
                                  <p:stCondLst>
                                    <p:cond delay="0"/>
                                  </p:stCondLst>
                                  <p:childTnLst>
                                    <p:set>
                                      <p:cBhvr>
                                        <p:cTn id="18" dur="1" fill="hold">
                                          <p:stCondLst>
                                            <p:cond delay="0"/>
                                          </p:stCondLst>
                                        </p:cTn>
                                        <p:tgtEl>
                                          <p:spTgt spid="3">
                                            <p:txEl>
                                              <p:pRg st="2" end="2"/>
                                            </p:txEl>
                                          </p:spTgt>
                                        </p:tgtEl>
                                        <p:attrNameLst>
                                          <p:attrName>style.visibility</p:attrName>
                                        </p:attrNameLst>
                                      </p:cBhvr>
                                      <p:to>
                                        <p:strVal val="visible"/>
                                      </p:to>
                                    </p:set>
                                    <p:animEffect transition="in" filter="wipe(left)">
                                      <p:cBhvr>
                                        <p:cTn id="19" dur="1500"/>
                                        <p:tgtEl>
                                          <p:spTgt spid="3">
                                            <p:txEl>
                                              <p:pRg st="2" end="2"/>
                                            </p:txEl>
                                          </p:spTgt>
                                        </p:tgtEl>
                                      </p:cBhvr>
                                    </p:animEffect>
                                  </p:childTnLst>
                                </p:cTn>
                              </p:par>
                            </p:childTnLst>
                          </p:cTn>
                        </p:par>
                      </p:childTnLst>
                    </p:cTn>
                  </p:par>
                  <p:par>
                    <p:cTn id="20" fill="hold">
                      <p:stCondLst>
                        <p:cond delay="indefinite"/>
                      </p:stCondLst>
                      <p:childTnLst>
                        <p:par>
                          <p:cTn id="21" fill="hold">
                            <p:stCondLst>
                              <p:cond delay="0"/>
                            </p:stCondLst>
                            <p:childTnLst>
                              <p:par>
                                <p:cTn id="22" presetID="22" presetClass="entr" presetSubtype="8" fill="hold" grpId="0" nodeType="clickEffect">
                                  <p:stCondLst>
                                    <p:cond delay="0"/>
                                  </p:stCondLst>
                                  <p:childTnLst>
                                    <p:set>
                                      <p:cBhvr>
                                        <p:cTn id="23" dur="1" fill="hold">
                                          <p:stCondLst>
                                            <p:cond delay="0"/>
                                          </p:stCondLst>
                                        </p:cTn>
                                        <p:tgtEl>
                                          <p:spTgt spid="6">
                                            <p:txEl>
                                              <p:pRg st="0" end="0"/>
                                            </p:txEl>
                                          </p:spTgt>
                                        </p:tgtEl>
                                        <p:attrNameLst>
                                          <p:attrName>style.visibility</p:attrName>
                                        </p:attrNameLst>
                                      </p:cBhvr>
                                      <p:to>
                                        <p:strVal val="visible"/>
                                      </p:to>
                                    </p:set>
                                    <p:animEffect transition="in" filter="wipe(left)">
                                      <p:cBhvr>
                                        <p:cTn id="24" dur="500"/>
                                        <p:tgtEl>
                                          <p:spTgt spid="6">
                                            <p:txEl>
                                              <p:pRg st="0" end="0"/>
                                            </p:txEl>
                                          </p:spTgt>
                                        </p:tgtEl>
                                      </p:cBhvr>
                                    </p:animEffect>
                                  </p:childTnLst>
                                </p:cTn>
                              </p:par>
                            </p:childTnLst>
                          </p:cTn>
                        </p:par>
                        <p:par>
                          <p:cTn id="25" fill="hold">
                            <p:stCondLst>
                              <p:cond delay="500"/>
                            </p:stCondLst>
                            <p:childTnLst>
                              <p:par>
                                <p:cTn id="26" presetID="22" presetClass="entr" presetSubtype="8" fill="hold" grpId="0" nodeType="afterEffect">
                                  <p:stCondLst>
                                    <p:cond delay="0"/>
                                  </p:stCondLst>
                                  <p:childTnLst>
                                    <p:set>
                                      <p:cBhvr>
                                        <p:cTn id="27" dur="1" fill="hold">
                                          <p:stCondLst>
                                            <p:cond delay="0"/>
                                          </p:stCondLst>
                                        </p:cTn>
                                        <p:tgtEl>
                                          <p:spTgt spid="4">
                                            <p:txEl>
                                              <p:pRg st="0" end="0"/>
                                            </p:txEl>
                                          </p:spTgt>
                                        </p:tgtEl>
                                        <p:attrNameLst>
                                          <p:attrName>style.visibility</p:attrName>
                                        </p:attrNameLst>
                                      </p:cBhvr>
                                      <p:to>
                                        <p:strVal val="visible"/>
                                      </p:to>
                                    </p:set>
                                    <p:animEffect transition="in" filter="wipe(left)">
                                      <p:cBhvr>
                                        <p:cTn id="28" dur="1000"/>
                                        <p:tgtEl>
                                          <p:spTgt spid="4">
                                            <p:txEl>
                                              <p:pRg st="0" end="0"/>
                                            </p:txEl>
                                          </p:spTgt>
                                        </p:tgtEl>
                                      </p:cBhvr>
                                    </p:animEffect>
                                  </p:childTnLst>
                                </p:cTn>
                              </p:par>
                            </p:childTnLst>
                          </p:cTn>
                        </p:par>
                        <p:par>
                          <p:cTn id="29" fill="hold">
                            <p:stCondLst>
                              <p:cond delay="1500"/>
                            </p:stCondLst>
                            <p:childTnLst>
                              <p:par>
                                <p:cTn id="30" presetID="22" presetClass="entr" presetSubtype="8" fill="hold" grpId="0" nodeType="afterEffect">
                                  <p:stCondLst>
                                    <p:cond delay="0"/>
                                  </p:stCondLst>
                                  <p:childTnLst>
                                    <p:set>
                                      <p:cBhvr>
                                        <p:cTn id="31" dur="1" fill="hold">
                                          <p:stCondLst>
                                            <p:cond delay="0"/>
                                          </p:stCondLst>
                                        </p:cTn>
                                        <p:tgtEl>
                                          <p:spTgt spid="4">
                                            <p:txEl>
                                              <p:pRg st="1" end="1"/>
                                            </p:txEl>
                                          </p:spTgt>
                                        </p:tgtEl>
                                        <p:attrNameLst>
                                          <p:attrName>style.visibility</p:attrName>
                                        </p:attrNameLst>
                                      </p:cBhvr>
                                      <p:to>
                                        <p:strVal val="visible"/>
                                      </p:to>
                                    </p:set>
                                    <p:animEffect transition="in" filter="wipe(left)">
                                      <p:cBhvr>
                                        <p:cTn id="32" dur="1500"/>
                                        <p:tgtEl>
                                          <p:spTgt spid="4">
                                            <p:txEl>
                                              <p:pRg st="1" end="1"/>
                                            </p:txEl>
                                          </p:spTgt>
                                        </p:tgtEl>
                                      </p:cBhvr>
                                    </p:animEffect>
                                  </p:childTnLst>
                                </p:cTn>
                              </p:par>
                            </p:childTnLst>
                          </p:cTn>
                        </p:par>
                        <p:par>
                          <p:cTn id="33" fill="hold">
                            <p:stCondLst>
                              <p:cond delay="3000"/>
                            </p:stCondLst>
                            <p:childTnLst>
                              <p:par>
                                <p:cTn id="34" presetID="22" presetClass="entr" presetSubtype="8" fill="hold" grpId="0" nodeType="afterEffect">
                                  <p:stCondLst>
                                    <p:cond delay="0"/>
                                  </p:stCondLst>
                                  <p:childTnLst>
                                    <p:set>
                                      <p:cBhvr>
                                        <p:cTn id="35" dur="1" fill="hold">
                                          <p:stCondLst>
                                            <p:cond delay="0"/>
                                          </p:stCondLst>
                                        </p:cTn>
                                        <p:tgtEl>
                                          <p:spTgt spid="4">
                                            <p:txEl>
                                              <p:pRg st="2" end="2"/>
                                            </p:txEl>
                                          </p:spTgt>
                                        </p:tgtEl>
                                        <p:attrNameLst>
                                          <p:attrName>style.visibility</p:attrName>
                                        </p:attrNameLst>
                                      </p:cBhvr>
                                      <p:to>
                                        <p:strVal val="visible"/>
                                      </p:to>
                                    </p:set>
                                    <p:animEffect transition="in" filter="wipe(left)">
                                      <p:cBhvr>
                                        <p:cTn id="36" dur="1500"/>
                                        <p:tgtEl>
                                          <p:spTgt spid="4">
                                            <p:txEl>
                                              <p:pRg st="2" end="2"/>
                                            </p:txEl>
                                          </p:spTgt>
                                        </p:tgtEl>
                                      </p:cBhvr>
                                    </p:animEffect>
                                  </p:childTnLst>
                                </p:cTn>
                              </p:par>
                            </p:childTnLst>
                          </p:cTn>
                        </p:par>
                      </p:childTnLst>
                    </p:cTn>
                  </p:par>
                  <p:par>
                    <p:cTn id="37" fill="hold">
                      <p:stCondLst>
                        <p:cond delay="indefinite"/>
                      </p:stCondLst>
                      <p:childTnLst>
                        <p:par>
                          <p:cTn id="38" fill="hold">
                            <p:stCondLst>
                              <p:cond delay="0"/>
                            </p:stCondLst>
                            <p:childTnLst>
                              <p:par>
                                <p:cTn id="39" presetID="22" presetClass="entr" presetSubtype="8" fill="hold" grpId="0" nodeType="clickEffect">
                                  <p:stCondLst>
                                    <p:cond delay="0"/>
                                  </p:stCondLst>
                                  <p:childTnLst>
                                    <p:set>
                                      <p:cBhvr>
                                        <p:cTn id="40" dur="1" fill="hold">
                                          <p:stCondLst>
                                            <p:cond delay="0"/>
                                          </p:stCondLst>
                                        </p:cTn>
                                        <p:tgtEl>
                                          <p:spTgt spid="8"/>
                                        </p:tgtEl>
                                        <p:attrNameLst>
                                          <p:attrName>style.visibility</p:attrName>
                                        </p:attrNameLst>
                                      </p:cBhvr>
                                      <p:to>
                                        <p:strVal val="visible"/>
                                      </p:to>
                                    </p:set>
                                    <p:animEffect transition="in" filter="wipe(left)">
                                      <p:cBhvr>
                                        <p:cTn id="41" dur="1000"/>
                                        <p:tgtEl>
                                          <p:spTgt spid="8"/>
                                        </p:tgtEl>
                                      </p:cBhvr>
                                    </p:animEffect>
                                  </p:childTnLst>
                                </p:cTn>
                              </p:par>
                            </p:childTnLst>
                          </p:cTn>
                        </p:par>
                        <p:par>
                          <p:cTn id="42" fill="hold">
                            <p:stCondLst>
                              <p:cond delay="1000"/>
                            </p:stCondLst>
                            <p:childTnLst>
                              <p:par>
                                <p:cTn id="43" presetID="22" presetClass="entr" presetSubtype="8" fill="hold" grpId="0" nodeType="afterEffect">
                                  <p:stCondLst>
                                    <p:cond delay="0"/>
                                  </p:stCondLst>
                                  <p:childTnLst>
                                    <p:set>
                                      <p:cBhvr>
                                        <p:cTn id="44" dur="1" fill="hold">
                                          <p:stCondLst>
                                            <p:cond delay="0"/>
                                          </p:stCondLst>
                                        </p:cTn>
                                        <p:tgtEl>
                                          <p:spTgt spid="7"/>
                                        </p:tgtEl>
                                        <p:attrNameLst>
                                          <p:attrName>style.visibility</p:attrName>
                                        </p:attrNameLst>
                                      </p:cBhvr>
                                      <p:to>
                                        <p:strVal val="visible"/>
                                      </p:to>
                                    </p:set>
                                    <p:animEffect transition="in" filter="wipe(left)">
                                      <p:cBhvr>
                                        <p:cTn id="45" dur="2000"/>
                                        <p:tgtEl>
                                          <p:spTgt spid="7"/>
                                        </p:tgtEl>
                                      </p:cBhvr>
                                    </p:animEffect>
                                  </p:childTnLst>
                                </p:cTn>
                              </p:par>
                            </p:childTnLst>
                          </p:cTn>
                        </p:par>
                      </p:childTnLst>
                    </p:cTn>
                  </p:par>
                  <p:par>
                    <p:cTn id="46" fill="hold">
                      <p:stCondLst>
                        <p:cond delay="indefinite"/>
                      </p:stCondLst>
                      <p:childTnLst>
                        <p:par>
                          <p:cTn id="47" fill="hold">
                            <p:stCondLst>
                              <p:cond delay="0"/>
                            </p:stCondLst>
                            <p:childTnLst>
                              <p:par>
                                <p:cTn id="48" presetID="22" presetClass="entr" presetSubtype="8" fill="hold" grpId="0" nodeType="clickEffect">
                                  <p:stCondLst>
                                    <p:cond delay="0"/>
                                  </p:stCondLst>
                                  <p:childTnLst>
                                    <p:set>
                                      <p:cBhvr>
                                        <p:cTn id="49" dur="1" fill="hold">
                                          <p:stCondLst>
                                            <p:cond delay="0"/>
                                          </p:stCondLst>
                                        </p:cTn>
                                        <p:tgtEl>
                                          <p:spTgt spid="9">
                                            <p:txEl>
                                              <p:pRg st="0" end="0"/>
                                            </p:txEl>
                                          </p:spTgt>
                                        </p:tgtEl>
                                        <p:attrNameLst>
                                          <p:attrName>style.visibility</p:attrName>
                                        </p:attrNameLst>
                                      </p:cBhvr>
                                      <p:to>
                                        <p:strVal val="visible"/>
                                      </p:to>
                                    </p:set>
                                    <p:animEffect transition="in" filter="wipe(left)">
                                      <p:cBhvr>
                                        <p:cTn id="50" dur="2000"/>
                                        <p:tgtEl>
                                          <p:spTgt spid="9">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build="p"/>
      <p:bldP spid="3" grpId="0" uiExpand="1" build="p"/>
      <p:bldP spid="6" grpId="0" build="p"/>
      <p:bldP spid="4" grpId="0" uiExpand="1" build="p"/>
      <p:bldP spid="7" grpId="0"/>
      <p:bldP spid="8" grpId="0" animBg="1"/>
      <p:bldP spid="9" grpId="0" build="p"/>
    </p:bldLst>
  </p:timing>
</p:sld>
</file>

<file path=ppt/slides/slide104.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4150D6E-A7AE-40F1-B520-C3C5A5B9033C}"/>
              </a:ext>
            </a:extLst>
          </p:cNvPr>
          <p:cNvSpPr>
            <a:spLocks noGrp="1"/>
          </p:cNvSpPr>
          <p:nvPr>
            <p:ph type="title"/>
          </p:nvPr>
        </p:nvSpPr>
        <p:spPr/>
        <p:txBody>
          <a:bodyPr/>
          <a:lstStyle/>
          <a:p>
            <a:r>
              <a:rPr lang="en-GB" dirty="0"/>
              <a:t>Change Data -  In stages</a:t>
            </a:r>
          </a:p>
        </p:txBody>
      </p:sp>
      <p:sp>
        <p:nvSpPr>
          <p:cNvPr id="5" name="Text Placeholder 4">
            <a:extLst>
              <a:ext uri="{FF2B5EF4-FFF2-40B4-BE49-F238E27FC236}">
                <a16:creationId xmlns:a16="http://schemas.microsoft.com/office/drawing/2014/main" id="{000FA1C3-5832-49DF-B768-CBF372ADFA59}"/>
              </a:ext>
            </a:extLst>
          </p:cNvPr>
          <p:cNvSpPr>
            <a:spLocks noGrp="1"/>
          </p:cNvSpPr>
          <p:nvPr>
            <p:ph type="body" idx="1"/>
          </p:nvPr>
        </p:nvSpPr>
        <p:spPr/>
        <p:txBody>
          <a:bodyPr>
            <a:normAutofit/>
          </a:bodyPr>
          <a:lstStyle/>
          <a:p>
            <a:endParaRPr lang="en-GB" sz="3600" dirty="0"/>
          </a:p>
        </p:txBody>
      </p:sp>
      <p:sp>
        <p:nvSpPr>
          <p:cNvPr id="3" name="Content Placeholder 2">
            <a:extLst>
              <a:ext uri="{FF2B5EF4-FFF2-40B4-BE49-F238E27FC236}">
                <a16:creationId xmlns:a16="http://schemas.microsoft.com/office/drawing/2014/main" id="{95A0844E-7BAE-4F4A-A1DA-DD7BE74B9B74}"/>
              </a:ext>
            </a:extLst>
          </p:cNvPr>
          <p:cNvSpPr>
            <a:spLocks noGrp="1"/>
          </p:cNvSpPr>
          <p:nvPr>
            <p:ph sz="half" idx="2"/>
          </p:nvPr>
        </p:nvSpPr>
        <p:spPr>
          <a:xfrm>
            <a:off x="707572" y="2505075"/>
            <a:ext cx="5290004" cy="3684588"/>
          </a:xfrm>
        </p:spPr>
        <p:txBody>
          <a:bodyPr/>
          <a:lstStyle/>
          <a:p>
            <a:pPr marL="0" lv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1 </a:t>
            </a:r>
            <a:r>
              <a:rPr lang="en-US" altLang="en-US" dirty="0">
                <a:solidFill>
                  <a:srgbClr val="A71D5D"/>
                </a:solidFill>
                <a:latin typeface="Consolas" panose="020B0609020204030204" pitchFamily="49" charset="0"/>
              </a:rPr>
              <a:t>SELECT </a:t>
            </a:r>
            <a:r>
              <a:rPr lang="en-US" altLang="en-US"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2   </a:t>
            </a:r>
            <a:r>
              <a:rPr lang="en-US" altLang="en-US" dirty="0">
                <a:solidFill>
                  <a:srgbClr val="A71D5D"/>
                </a:solidFill>
                <a:latin typeface="Consolas" panose="020B0609020204030204" pitchFamily="49" charset="0"/>
              </a:rPr>
              <a:t>FROM</a:t>
            </a:r>
            <a:r>
              <a:rPr lang="en-US" altLang="en-US" dirty="0">
                <a:solidFill>
                  <a:srgbClr val="000000"/>
                </a:solidFill>
                <a:latin typeface="Consolas" panose="020B0609020204030204" pitchFamily="49" charset="0"/>
              </a:rPr>
              <a:t> Datatypes</a:t>
            </a:r>
          </a:p>
          <a:p>
            <a:pPr marL="0" lv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3   </a:t>
            </a:r>
            <a:r>
              <a:rPr lang="en-US" altLang="en-US" dirty="0">
                <a:solidFill>
                  <a:srgbClr val="A71D5D"/>
                </a:solidFill>
                <a:latin typeface="Consolas" panose="020B0609020204030204" pitchFamily="49" charset="0"/>
              </a:rPr>
              <a:t>WHERE</a:t>
            </a:r>
            <a:r>
              <a:rPr lang="en-US" altLang="en-US" dirty="0">
                <a:solidFill>
                  <a:srgbClr val="000000"/>
                </a:solidFill>
                <a:latin typeface="Consolas" panose="020B0609020204030204" pitchFamily="49" charset="0"/>
              </a:rPr>
              <a:t> </a:t>
            </a:r>
            <a:r>
              <a:rPr lang="en-US" altLang="en-US" dirty="0" err="1">
                <a:solidFill>
                  <a:srgbClr val="000000"/>
                </a:solidFill>
                <a:latin typeface="Consolas" panose="020B0609020204030204" pitchFamily="49" charset="0"/>
              </a:rPr>
              <a:t>colour</a:t>
            </a:r>
            <a:r>
              <a:rPr lang="en-US" altLang="en-US" dirty="0">
                <a:solidFill>
                  <a:srgbClr val="000000"/>
                </a:solidFill>
                <a:latin typeface="Consolas" panose="020B0609020204030204" pitchFamily="49" charset="0"/>
              </a:rPr>
              <a:t> = </a:t>
            </a:r>
            <a:r>
              <a:rPr lang="en-US" altLang="en-US" dirty="0">
                <a:solidFill>
                  <a:srgbClr val="183691"/>
                </a:solidFill>
                <a:latin typeface="Consolas" panose="020B0609020204030204" pitchFamily="49" charset="0"/>
              </a:rPr>
              <a:t>"</a:t>
            </a:r>
            <a:r>
              <a:rPr lang="en-US" altLang="en-US" dirty="0" err="1">
                <a:solidFill>
                  <a:srgbClr val="183691"/>
                </a:solidFill>
                <a:latin typeface="Consolas" panose="020B0609020204030204" pitchFamily="49" charset="0"/>
              </a:rPr>
              <a:t>Mauv</a:t>
            </a:r>
            <a:r>
              <a:rPr lang="en-US" altLang="en-US" dirty="0">
                <a:solidFill>
                  <a:srgbClr val="183691"/>
                </a:solidFill>
                <a:latin typeface="Consolas" panose="020B0609020204030204" pitchFamily="49" charset="0"/>
              </a:rPr>
              <a:t>"</a:t>
            </a:r>
            <a:r>
              <a:rPr lang="en-US" altLang="en-US" dirty="0">
                <a:solidFill>
                  <a:srgbClr val="000000"/>
                </a:solidFill>
                <a:latin typeface="Consolas" panose="020B0609020204030204" pitchFamily="49" charset="0"/>
              </a:rPr>
              <a:t>;</a:t>
            </a:r>
            <a:endParaRPr lang="en-US" altLang="en-US" sz="4000" dirty="0">
              <a:latin typeface="Arial" panose="020B0604020202020204" pitchFamily="34" charset="0"/>
            </a:endParaRPr>
          </a:p>
          <a:p>
            <a:pPr marL="0" indent="0">
              <a:buNone/>
            </a:pPr>
            <a:endParaRPr lang="en-GB" dirty="0"/>
          </a:p>
        </p:txBody>
      </p:sp>
      <p:sp>
        <p:nvSpPr>
          <p:cNvPr id="6" name="Text Placeholder 5">
            <a:extLst>
              <a:ext uri="{FF2B5EF4-FFF2-40B4-BE49-F238E27FC236}">
                <a16:creationId xmlns:a16="http://schemas.microsoft.com/office/drawing/2014/main" id="{8577C599-C84A-46C7-BB62-6C336B2F005F}"/>
              </a:ext>
            </a:extLst>
          </p:cNvPr>
          <p:cNvSpPr>
            <a:spLocks noGrp="1"/>
          </p:cNvSpPr>
          <p:nvPr>
            <p:ph type="body" sz="quarter" idx="3"/>
          </p:nvPr>
        </p:nvSpPr>
        <p:spPr/>
        <p:txBody>
          <a:bodyPr>
            <a:normAutofit/>
          </a:bodyPr>
          <a:lstStyle/>
          <a:p>
            <a:endParaRPr lang="en-GB" sz="3600" dirty="0"/>
          </a:p>
        </p:txBody>
      </p:sp>
      <p:sp>
        <p:nvSpPr>
          <p:cNvPr id="4" name="Content Placeholder 3">
            <a:extLst>
              <a:ext uri="{FF2B5EF4-FFF2-40B4-BE49-F238E27FC236}">
                <a16:creationId xmlns:a16="http://schemas.microsoft.com/office/drawing/2014/main" id="{D6A3CFF1-8569-4597-ADB2-1CADEA342D2F}"/>
              </a:ext>
            </a:extLst>
          </p:cNvPr>
          <p:cNvSpPr>
            <a:spLocks noGrp="1"/>
          </p:cNvSpPr>
          <p:nvPr>
            <p:ph sz="quarter" idx="4"/>
          </p:nvPr>
        </p:nvSpPr>
        <p:spPr>
          <a:xfrm>
            <a:off x="6172200" y="2505075"/>
            <a:ext cx="5290004" cy="3684588"/>
          </a:xfrm>
        </p:spPr>
        <p:txBody>
          <a:bodyPr/>
          <a:lstStyle/>
          <a:p>
            <a:pPr marL="0" lv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1 </a:t>
            </a:r>
            <a:r>
              <a:rPr lang="en-US" altLang="en-US" dirty="0">
                <a:solidFill>
                  <a:srgbClr val="A71D5D"/>
                </a:solidFill>
                <a:latin typeface="Consolas" panose="020B0609020204030204" pitchFamily="49" charset="0"/>
              </a:rPr>
              <a:t>UPDATE</a:t>
            </a:r>
            <a:r>
              <a:rPr lang="en-US" altLang="en-US" dirty="0">
                <a:solidFill>
                  <a:srgbClr val="000000"/>
                </a:solidFill>
                <a:latin typeface="Consolas" panose="020B0609020204030204" pitchFamily="49" charset="0"/>
              </a:rPr>
              <a:t> Datatypes</a:t>
            </a:r>
          </a:p>
          <a:p>
            <a:pPr marL="0" lv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2   </a:t>
            </a:r>
            <a:r>
              <a:rPr lang="en-US" altLang="en-US" dirty="0">
                <a:solidFill>
                  <a:srgbClr val="A71D5D"/>
                </a:solidFill>
                <a:latin typeface="Consolas" panose="020B0609020204030204" pitchFamily="49" charset="0"/>
              </a:rPr>
              <a:t>SET</a:t>
            </a:r>
            <a:r>
              <a:rPr lang="en-US" altLang="en-US" dirty="0">
                <a:solidFill>
                  <a:srgbClr val="000000"/>
                </a:solidFill>
                <a:latin typeface="Consolas" panose="020B0609020204030204" pitchFamily="49" charset="0"/>
              </a:rPr>
              <a:t> </a:t>
            </a:r>
            <a:r>
              <a:rPr lang="en-US" altLang="en-US" dirty="0" err="1">
                <a:solidFill>
                  <a:srgbClr val="000000"/>
                </a:solidFill>
                <a:latin typeface="Consolas" panose="020B0609020204030204" pitchFamily="49" charset="0"/>
              </a:rPr>
              <a:t>colour</a:t>
            </a:r>
            <a:r>
              <a:rPr lang="en-US" altLang="en-US" dirty="0">
                <a:solidFill>
                  <a:srgbClr val="000000"/>
                </a:solidFill>
                <a:latin typeface="Consolas" panose="020B0609020204030204" pitchFamily="49" charset="0"/>
              </a:rPr>
              <a:t> = </a:t>
            </a:r>
            <a:r>
              <a:rPr lang="en-US" altLang="en-US" dirty="0">
                <a:solidFill>
                  <a:srgbClr val="183691"/>
                </a:solidFill>
                <a:latin typeface="Consolas" panose="020B0609020204030204" pitchFamily="49" charset="0"/>
              </a:rPr>
              <a:t>"Mauve"</a:t>
            </a:r>
            <a:endParaRPr lang="en-US" altLang="en-US"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3   </a:t>
            </a:r>
            <a:r>
              <a:rPr lang="en-US" altLang="en-US" dirty="0">
                <a:solidFill>
                  <a:srgbClr val="A71D5D"/>
                </a:solidFill>
                <a:latin typeface="Consolas" panose="020B0609020204030204" pitchFamily="49" charset="0"/>
              </a:rPr>
              <a:t>WHERE</a:t>
            </a:r>
            <a:r>
              <a:rPr lang="en-US" altLang="en-US" dirty="0">
                <a:solidFill>
                  <a:srgbClr val="000000"/>
                </a:solidFill>
                <a:latin typeface="Consolas" panose="020B0609020204030204" pitchFamily="49" charset="0"/>
              </a:rPr>
              <a:t> </a:t>
            </a:r>
            <a:r>
              <a:rPr lang="en-US" altLang="en-US" dirty="0" err="1">
                <a:solidFill>
                  <a:srgbClr val="000000"/>
                </a:solidFill>
                <a:latin typeface="Consolas" panose="020B0609020204030204" pitchFamily="49" charset="0"/>
              </a:rPr>
              <a:t>colour</a:t>
            </a:r>
            <a:r>
              <a:rPr lang="en-US" altLang="en-US" dirty="0">
                <a:solidFill>
                  <a:srgbClr val="000000"/>
                </a:solidFill>
                <a:latin typeface="Consolas" panose="020B0609020204030204" pitchFamily="49" charset="0"/>
              </a:rPr>
              <a:t> = </a:t>
            </a:r>
            <a:r>
              <a:rPr lang="en-US" altLang="en-US" dirty="0">
                <a:solidFill>
                  <a:srgbClr val="183691"/>
                </a:solidFill>
                <a:latin typeface="Consolas" panose="020B0609020204030204" pitchFamily="49" charset="0"/>
              </a:rPr>
              <a:t>"</a:t>
            </a:r>
            <a:r>
              <a:rPr lang="en-US" altLang="en-US" dirty="0" err="1">
                <a:solidFill>
                  <a:srgbClr val="183691"/>
                </a:solidFill>
                <a:latin typeface="Consolas" panose="020B0609020204030204" pitchFamily="49" charset="0"/>
              </a:rPr>
              <a:t>Mauv</a:t>
            </a:r>
            <a:r>
              <a:rPr lang="en-US" altLang="en-US" dirty="0">
                <a:solidFill>
                  <a:srgbClr val="183691"/>
                </a:solidFill>
                <a:latin typeface="Consolas" panose="020B0609020204030204" pitchFamily="49" charset="0"/>
              </a:rPr>
              <a:t>"</a:t>
            </a:r>
            <a:r>
              <a:rPr lang="en-US" altLang="en-US" dirty="0">
                <a:solidFill>
                  <a:srgbClr val="000000"/>
                </a:solidFill>
                <a:latin typeface="Consolas" panose="020B0609020204030204" pitchFamily="49" charset="0"/>
              </a:rPr>
              <a:t>;</a:t>
            </a:r>
            <a:endParaRPr lang="en-US" altLang="en-US" sz="4000" dirty="0">
              <a:latin typeface="Arial" panose="020B0604020202020204" pitchFamily="34" charset="0"/>
            </a:endParaRPr>
          </a:p>
          <a:p>
            <a:pPr marL="0" indent="0">
              <a:buNone/>
            </a:pPr>
            <a:endParaRPr lang="en-GB" dirty="0"/>
          </a:p>
        </p:txBody>
      </p:sp>
      <p:sp>
        <p:nvSpPr>
          <p:cNvPr id="7" name="Text Placeholder 4">
            <a:extLst>
              <a:ext uri="{FF2B5EF4-FFF2-40B4-BE49-F238E27FC236}">
                <a16:creationId xmlns:a16="http://schemas.microsoft.com/office/drawing/2014/main" id="{41751C26-6A04-C944-CDD6-9316AA4E0BC6}"/>
              </a:ext>
            </a:extLst>
          </p:cNvPr>
          <p:cNvSpPr txBox="1">
            <a:spLocks/>
          </p:cNvSpPr>
          <p:nvPr/>
        </p:nvSpPr>
        <p:spPr>
          <a:xfrm>
            <a:off x="3607738" y="5608953"/>
            <a:ext cx="4976525" cy="823912"/>
          </a:xfrm>
          <a:prstGeom prst="rect">
            <a:avLst/>
          </a:prstGeom>
        </p:spPr>
        <p:txBody>
          <a:bodyPr vert="horz" lIns="91440" tIns="45720" rIns="91440" bIns="45720" rtlCol="0" anchor="b">
            <a:normAutofit/>
          </a:bodyPr>
          <a:lstStyle>
            <a:lvl1pPr marL="0" indent="0" algn="l" defTabSz="914400" rtl="0" eaLnBrk="1" latinLnBrk="0" hangingPunct="1">
              <a:lnSpc>
                <a:spcPct val="120000"/>
              </a:lnSpc>
              <a:spcBef>
                <a:spcPts val="0"/>
              </a:spcBef>
              <a:buFont typeface="Arial" panose="020B0604020202020204" pitchFamily="34" charset="0"/>
              <a:buNone/>
              <a:defRPr sz="2400" b="1" kern="1200">
                <a:solidFill>
                  <a:schemeClr val="tx1"/>
                </a:solidFill>
                <a:latin typeface="+mn-lt"/>
                <a:ea typeface="+mn-ea"/>
                <a:cs typeface="+mn-cs"/>
              </a:defRPr>
            </a:lvl1pPr>
            <a:lvl2pPr marL="457200" indent="0" algn="l" defTabSz="914400" rtl="0" eaLnBrk="1" latinLnBrk="0" hangingPunct="1">
              <a:lnSpc>
                <a:spcPct val="120000"/>
              </a:lnSpc>
              <a:spcBef>
                <a:spcPts val="0"/>
              </a:spcBef>
              <a:buFont typeface="Arial" panose="020B0604020202020204" pitchFamily="34" charset="0"/>
              <a:buNone/>
              <a:defRPr sz="2000" b="1" kern="1200">
                <a:solidFill>
                  <a:schemeClr val="tx1"/>
                </a:solidFill>
                <a:latin typeface="+mn-lt"/>
                <a:ea typeface="+mn-ea"/>
                <a:cs typeface="+mn-cs"/>
              </a:defRPr>
            </a:lvl2pPr>
            <a:lvl3pPr marL="914400" indent="0" algn="l" defTabSz="914400" rtl="0" eaLnBrk="1" latinLnBrk="0" hangingPunct="1">
              <a:lnSpc>
                <a:spcPct val="120000"/>
              </a:lnSpc>
              <a:spcBef>
                <a:spcPts val="0"/>
              </a:spcBef>
              <a:buFont typeface="Arial" panose="020B0604020202020204" pitchFamily="34" charset="0"/>
              <a:buNone/>
              <a:defRPr sz="1800" b="1" kern="1200">
                <a:solidFill>
                  <a:schemeClr val="tx1"/>
                </a:solidFill>
                <a:latin typeface="+mn-lt"/>
                <a:ea typeface="+mn-ea"/>
                <a:cs typeface="+mn-cs"/>
              </a:defRPr>
            </a:lvl3pPr>
            <a:lvl4pPr marL="1371600" indent="0" algn="l" defTabSz="914400" rtl="0" eaLnBrk="1" latinLnBrk="0" hangingPunct="1">
              <a:lnSpc>
                <a:spcPct val="120000"/>
              </a:lnSpc>
              <a:spcBef>
                <a:spcPts val="0"/>
              </a:spcBef>
              <a:buFont typeface="Arial" panose="020B0604020202020204" pitchFamily="34" charset="0"/>
              <a:buNone/>
              <a:defRPr sz="1600" b="1" kern="1200">
                <a:solidFill>
                  <a:schemeClr val="tx1"/>
                </a:solidFill>
                <a:latin typeface="+mn-lt"/>
                <a:ea typeface="+mn-ea"/>
                <a:cs typeface="+mn-cs"/>
              </a:defRPr>
            </a:lvl4pPr>
            <a:lvl5pPr marL="1828800" indent="0" algn="l" defTabSz="914400" rtl="0" eaLnBrk="1" latinLnBrk="0" hangingPunct="1">
              <a:lnSpc>
                <a:spcPct val="120000"/>
              </a:lnSpc>
              <a:spcBef>
                <a:spcPts val="0"/>
              </a:spcBef>
              <a:buFont typeface="Arial" panose="020B0604020202020204" pitchFamily="34" charset="0"/>
              <a:buNone/>
              <a:defRPr sz="1600" b="1" kern="1200">
                <a:solidFill>
                  <a:schemeClr val="tx1"/>
                </a:solidFill>
                <a:latin typeface="+mn-lt"/>
                <a:ea typeface="+mn-ea"/>
                <a:cs typeface="+mn-cs"/>
              </a:defRPr>
            </a:lvl5pPr>
            <a:lvl6pPr marL="2286000" indent="0" algn="l" defTabSz="914400" rtl="0" eaLnBrk="1" latinLnBrk="0"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6pPr>
            <a:lvl7pPr marL="2743200" indent="0" algn="l" defTabSz="914400" rtl="0" eaLnBrk="1" latinLnBrk="0"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7pPr>
            <a:lvl8pPr marL="3200400" indent="0" algn="l" defTabSz="914400" rtl="0" eaLnBrk="1" latinLnBrk="0"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8pPr>
            <a:lvl9pPr marL="3657600" indent="0" algn="l" defTabSz="914400" rtl="0" eaLnBrk="1" latinLnBrk="0"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9pPr>
          </a:lstStyle>
          <a:p>
            <a:r>
              <a:rPr lang="en-GB" sz="3600" dirty="0"/>
              <a:t>Step 3 </a:t>
            </a:r>
            <a:r>
              <a:rPr lang="en-GB" sz="3600" dirty="0">
                <a:solidFill>
                  <a:srgbClr val="7030A0"/>
                </a:solidFill>
              </a:rPr>
              <a:t>– </a:t>
            </a:r>
          </a:p>
        </p:txBody>
      </p:sp>
    </p:spTree>
    <p:extLst>
      <p:ext uri="{BB962C8B-B14F-4D97-AF65-F5344CB8AC3E}">
        <p14:creationId xmlns:p14="http://schemas.microsoft.com/office/powerpoint/2010/main" val="456428960"/>
      </p:ext>
    </p:extLst>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Change Data – Multiple fields</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UPDATE</a:t>
            </a:r>
            <a:r>
              <a:rPr lang="en-US" altLang="en-US" sz="4400" dirty="0">
                <a:solidFill>
                  <a:srgbClr val="000000"/>
                </a:solidFill>
                <a:latin typeface="Consolas" panose="020B0609020204030204" pitchFamily="49" charset="0"/>
              </a:rPr>
              <a:t> Pupil</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SET</a:t>
            </a:r>
            <a:r>
              <a:rPr lang="en-US" altLang="en-US" sz="4400" dirty="0">
                <a:solidFill>
                  <a:srgbClr val="000000"/>
                </a:solidFill>
                <a:latin typeface="Consolas" panose="020B0609020204030204" pitchFamily="49" charset="0"/>
              </a:rPr>
              <a:t> </a:t>
            </a:r>
            <a:r>
              <a:rPr lang="en-US" altLang="en-US" sz="4400" dirty="0" err="1">
                <a:solidFill>
                  <a:srgbClr val="000000"/>
                </a:solidFill>
                <a:latin typeface="Consolas" panose="020B0609020204030204" pitchFamily="49" charset="0"/>
              </a:rPr>
              <a:t>lastName</a:t>
            </a:r>
            <a:r>
              <a:rPr lang="en-US" altLang="en-US" sz="4400" dirty="0">
                <a:solidFill>
                  <a:srgbClr val="000000"/>
                </a:solidFill>
                <a:latin typeface="Consolas" panose="020B0609020204030204" pitchFamily="49" charset="0"/>
              </a:rPr>
              <a:t> = </a:t>
            </a:r>
            <a:r>
              <a:rPr lang="en-US" altLang="en-US" sz="4400" dirty="0">
                <a:solidFill>
                  <a:srgbClr val="183691"/>
                </a:solidFill>
                <a:latin typeface="Consolas" panose="020B0609020204030204" pitchFamily="49" charset="0"/>
              </a:rPr>
              <a:t>"Box"</a:t>
            </a:r>
            <a:r>
              <a:rPr lang="en-US" altLang="en-US" sz="44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3       </a:t>
            </a:r>
            <a:r>
              <a:rPr lang="en-US" altLang="en-US" sz="4400" dirty="0" err="1">
                <a:solidFill>
                  <a:srgbClr val="000000"/>
                </a:solidFill>
                <a:latin typeface="Consolas" panose="020B0609020204030204" pitchFamily="49" charset="0"/>
              </a:rPr>
              <a:t>addressID</a:t>
            </a:r>
            <a:r>
              <a:rPr lang="en-US" altLang="en-US" sz="4400" dirty="0">
                <a:solidFill>
                  <a:srgbClr val="000000"/>
                </a:solidFill>
                <a:latin typeface="Consolas" panose="020B0609020204030204" pitchFamily="49" charset="0"/>
              </a:rPr>
              <a:t> = </a:t>
            </a:r>
            <a:r>
              <a:rPr lang="en-US" altLang="en-US" sz="4400" dirty="0">
                <a:solidFill>
                  <a:srgbClr val="0086B3"/>
                </a:solidFill>
                <a:latin typeface="Consolas" panose="020B0609020204030204" pitchFamily="49" charset="0"/>
              </a:rPr>
              <a:t>17</a:t>
            </a:r>
            <a:endParaRPr lang="en-US" altLang="en-US" sz="44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4   </a:t>
            </a:r>
            <a:r>
              <a:rPr lang="en-US" altLang="en-US" sz="4400" dirty="0">
                <a:solidFill>
                  <a:srgbClr val="A71D5D"/>
                </a:solidFill>
                <a:latin typeface="Consolas" panose="020B0609020204030204" pitchFamily="49" charset="0"/>
              </a:rPr>
              <a:t>WHERE</a:t>
            </a:r>
            <a:r>
              <a:rPr lang="en-US" altLang="en-US" sz="4400" dirty="0">
                <a:solidFill>
                  <a:srgbClr val="000000"/>
                </a:solidFill>
                <a:latin typeface="Consolas" panose="020B0609020204030204" pitchFamily="49" charset="0"/>
              </a:rPr>
              <a:t> </a:t>
            </a:r>
            <a:r>
              <a:rPr lang="en-US" altLang="en-US" sz="4400" dirty="0" err="1">
                <a:solidFill>
                  <a:srgbClr val="000000"/>
                </a:solidFill>
                <a:latin typeface="Consolas" panose="020B0609020204030204" pitchFamily="49" charset="0"/>
              </a:rPr>
              <a:t>pupilID</a:t>
            </a:r>
            <a:r>
              <a:rPr lang="en-US" altLang="en-US" sz="4400" dirty="0">
                <a:solidFill>
                  <a:srgbClr val="000000"/>
                </a:solidFill>
                <a:latin typeface="Consolas" panose="020B0609020204030204" pitchFamily="49" charset="0"/>
              </a:rPr>
              <a:t> = </a:t>
            </a:r>
            <a:r>
              <a:rPr lang="en-US" altLang="en-US" sz="4400" dirty="0">
                <a:solidFill>
                  <a:srgbClr val="0086B3"/>
                </a:solidFill>
                <a:latin typeface="Consolas" panose="020B0609020204030204" pitchFamily="49" charset="0"/>
              </a:rPr>
              <a:t>2</a:t>
            </a:r>
            <a:r>
              <a:rPr lang="en-US" altLang="en-US" sz="4400" dirty="0">
                <a:solidFill>
                  <a:srgbClr val="000000"/>
                </a:solidFill>
                <a:latin typeface="Consolas" panose="020B0609020204030204" pitchFamily="49" charset="0"/>
              </a:rPr>
              <a:t>;</a:t>
            </a:r>
            <a:endParaRPr lang="en-US" altLang="en-US" sz="6000" dirty="0">
              <a:latin typeface="Arial" panose="020B0604020202020204" pitchFamily="34" charset="0"/>
            </a:endParaRPr>
          </a:p>
        </p:txBody>
      </p:sp>
      <p:sp>
        <p:nvSpPr>
          <p:cNvPr id="6" name="Callout: Bent Line with No Border 3">
            <a:extLst>
              <a:ext uri="{FF2B5EF4-FFF2-40B4-BE49-F238E27FC236}">
                <a16:creationId xmlns:a16="http://schemas.microsoft.com/office/drawing/2014/main" id="{77E8332C-AADD-4F2B-B0E2-AC0B43D6AE90}"/>
              </a:ext>
            </a:extLst>
          </p:cNvPr>
          <p:cNvSpPr/>
          <p:nvPr/>
        </p:nvSpPr>
        <p:spPr>
          <a:xfrm>
            <a:off x="9731682" y="2104805"/>
            <a:ext cx="1327150" cy="718344"/>
          </a:xfrm>
          <a:prstGeom prst="callout2">
            <a:avLst>
              <a:gd name="adj1" fmla="val 49990"/>
              <a:gd name="adj2" fmla="val -52"/>
              <a:gd name="adj3" fmla="val 50311"/>
              <a:gd name="adj4" fmla="val -43860"/>
              <a:gd name="adj5" fmla="val 111750"/>
              <a:gd name="adj6" fmla="val -87201"/>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comma</a:t>
            </a:r>
          </a:p>
        </p:txBody>
      </p:sp>
      <p:sp>
        <p:nvSpPr>
          <p:cNvPr id="7" name="TextBox 6">
            <a:extLst>
              <a:ext uri="{FF2B5EF4-FFF2-40B4-BE49-F238E27FC236}">
                <a16:creationId xmlns:a16="http://schemas.microsoft.com/office/drawing/2014/main" id="{AD414FCB-BBD2-57F0-E5DF-35C9E0F2C5A4}"/>
              </a:ext>
            </a:extLst>
          </p:cNvPr>
          <p:cNvSpPr txBox="1"/>
          <p:nvPr/>
        </p:nvSpPr>
        <p:spPr>
          <a:xfrm>
            <a:off x="7708235" y="-5485"/>
            <a:ext cx="4483765" cy="1200329"/>
          </a:xfrm>
          <a:prstGeom prst="rect">
            <a:avLst/>
          </a:prstGeom>
          <a:noFill/>
          <a:ln w="19050">
            <a:solidFill>
              <a:srgbClr val="FF0000"/>
            </a:solidFill>
          </a:ln>
        </p:spPr>
        <p:txBody>
          <a:bodyPr wrap="square" rtlCol="0">
            <a:spAutoFit/>
          </a:bodyPr>
          <a:lstStyle/>
          <a:p>
            <a:r>
              <a:rPr lang="en-GB" sz="3600" dirty="0">
                <a:solidFill>
                  <a:srgbClr val="FF0000"/>
                </a:solidFill>
                <a:latin typeface="Consolas" panose="020B0609020204030204" pitchFamily="49" charset="0"/>
              </a:rPr>
              <a:t>Tip</a:t>
            </a:r>
            <a:r>
              <a:rPr lang="en-GB" sz="3600" dirty="0">
                <a:solidFill>
                  <a:srgbClr val="7030A0"/>
                </a:solidFill>
                <a:latin typeface="Consolas" panose="020B0609020204030204" pitchFamily="49" charset="0"/>
              </a:rPr>
              <a:t>: Use SELECT with WHERE first!</a:t>
            </a:r>
          </a:p>
        </p:txBody>
      </p:sp>
      <p:sp>
        <p:nvSpPr>
          <p:cNvPr id="8" name="TextBox 7">
            <a:extLst>
              <a:ext uri="{FF2B5EF4-FFF2-40B4-BE49-F238E27FC236}">
                <a16:creationId xmlns:a16="http://schemas.microsoft.com/office/drawing/2014/main" id="{B283BD82-FC96-C90C-169D-C505080B3876}"/>
              </a:ext>
            </a:extLst>
          </p:cNvPr>
          <p:cNvSpPr txBox="1"/>
          <p:nvPr/>
        </p:nvSpPr>
        <p:spPr>
          <a:xfrm>
            <a:off x="1736601" y="5104560"/>
            <a:ext cx="8718797" cy="1631216"/>
          </a:xfrm>
          <a:prstGeom prst="rect">
            <a:avLst/>
          </a:prstGeom>
          <a:noFill/>
        </p:spPr>
        <p:txBody>
          <a:bodyPr wrap="none" rtlCol="0">
            <a:spAutoFit/>
          </a:bodyPr>
          <a:lstStyle/>
          <a:p>
            <a:pPr algn="ctr"/>
            <a:r>
              <a:rPr lang="en-GB" sz="3600" dirty="0">
                <a:solidFill>
                  <a:srgbClr val="7030A0"/>
                </a:solidFill>
              </a:rPr>
              <a:t>Updates</a:t>
            </a:r>
            <a:r>
              <a:rPr lang="en-GB" sz="3600" dirty="0"/>
              <a:t> </a:t>
            </a:r>
            <a:r>
              <a:rPr lang="en-GB" sz="3600" b="1" i="1" dirty="0">
                <a:solidFill>
                  <a:srgbClr val="FF0000"/>
                </a:solidFill>
              </a:rPr>
              <a:t>all</a:t>
            </a:r>
            <a:r>
              <a:rPr lang="en-GB" sz="3600" dirty="0"/>
              <a:t> </a:t>
            </a:r>
            <a:r>
              <a:rPr lang="en-GB" sz="3600" dirty="0">
                <a:solidFill>
                  <a:srgbClr val="7030A0"/>
                </a:solidFill>
              </a:rPr>
              <a:t>records that match the condition!</a:t>
            </a:r>
          </a:p>
          <a:p>
            <a:pPr algn="ctr"/>
            <a:endParaRPr lang="en-GB" sz="2800" dirty="0">
              <a:solidFill>
                <a:srgbClr val="7030A0"/>
              </a:solidFill>
              <a:latin typeface="Consolas" panose="020B0609020204030204" pitchFamily="49" charset="0"/>
            </a:endParaRPr>
          </a:p>
          <a:p>
            <a:pPr algn="ctr"/>
            <a:r>
              <a:rPr lang="en-GB" sz="3600" dirty="0">
                <a:solidFill>
                  <a:srgbClr val="7030A0"/>
                </a:solidFill>
              </a:rPr>
              <a:t>If a validation rule fails, no data is updated</a:t>
            </a:r>
            <a:endParaRPr lang="en-GB" sz="3600" dirty="0">
              <a:solidFill>
                <a:srgbClr val="7030A0"/>
              </a:solidFill>
              <a:latin typeface="Consolas" panose="020B0609020204030204" pitchFamily="49" charset="0"/>
            </a:endParaRPr>
          </a:p>
        </p:txBody>
      </p:sp>
    </p:spTree>
    <p:extLst>
      <p:ext uri="{BB962C8B-B14F-4D97-AF65-F5344CB8AC3E}">
        <p14:creationId xmlns:p14="http://schemas.microsoft.com/office/powerpoint/2010/main" val="156370275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0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20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125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3">
                                            <p:txEl>
                                              <p:pRg st="3" end="3"/>
                                            </p:txEl>
                                          </p:spTgt>
                                        </p:tgtEl>
                                        <p:attrNameLst>
                                          <p:attrName>style.visibility</p:attrName>
                                        </p:attrNameLst>
                                      </p:cBhvr>
                                      <p:to>
                                        <p:strVal val="visible"/>
                                      </p:to>
                                    </p:set>
                                    <p:animEffect transition="in" filter="wipe(left)">
                                      <p:cBhvr>
                                        <p:cTn id="22" dur="1750"/>
                                        <p:tgtEl>
                                          <p:spTgt spid="3">
                                            <p:txEl>
                                              <p:pRg st="3" end="3"/>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6"/>
                                        </p:tgtEl>
                                        <p:attrNameLst>
                                          <p:attrName>style.visibility</p:attrName>
                                        </p:attrNameLst>
                                      </p:cBhvr>
                                      <p:to>
                                        <p:strVal val="visible"/>
                                      </p:to>
                                    </p:set>
                                    <p:animEffect transition="in" filter="fade">
                                      <p:cBhvr>
                                        <p:cTn id="27" dur="1000"/>
                                        <p:tgtEl>
                                          <p:spTgt spid="6"/>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8">
                                            <p:txEl>
                                              <p:pRg st="0" end="0"/>
                                            </p:txEl>
                                          </p:spTgt>
                                        </p:tgtEl>
                                        <p:attrNameLst>
                                          <p:attrName>style.visibility</p:attrName>
                                        </p:attrNameLst>
                                      </p:cBhvr>
                                      <p:to>
                                        <p:strVal val="visible"/>
                                      </p:to>
                                    </p:set>
                                    <p:animEffect transition="in" filter="wipe(left)">
                                      <p:cBhvr>
                                        <p:cTn id="32" dur="2000"/>
                                        <p:tgtEl>
                                          <p:spTgt spid="8">
                                            <p:txEl>
                                              <p:pRg st="0" end="0"/>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8">
                                            <p:txEl>
                                              <p:pRg st="2" end="2"/>
                                            </p:txEl>
                                          </p:spTgt>
                                        </p:tgtEl>
                                        <p:attrNameLst>
                                          <p:attrName>style.visibility</p:attrName>
                                        </p:attrNameLst>
                                      </p:cBhvr>
                                      <p:to>
                                        <p:strVal val="visible"/>
                                      </p:to>
                                    </p:set>
                                    <p:animEffect transition="in" filter="wipe(left)">
                                      <p:cBhvr>
                                        <p:cTn id="37" dur="2000"/>
                                        <p:tgtEl>
                                          <p:spTgt spid="8">
                                            <p:txEl>
                                              <p:pRg st="2" end="2"/>
                                            </p:txEl>
                                          </p:spTgt>
                                        </p:tgtEl>
                                      </p:cBhvr>
                                    </p:animEffect>
                                  </p:childTnLst>
                                </p:cTn>
                              </p:par>
                            </p:childTnLst>
                          </p:cTn>
                        </p:par>
                      </p:childTnLst>
                    </p:cTn>
                  </p:par>
                  <p:par>
                    <p:cTn id="38" fill="hold">
                      <p:stCondLst>
                        <p:cond delay="indefinite"/>
                      </p:stCondLst>
                      <p:childTnLst>
                        <p:par>
                          <p:cTn id="39" fill="hold">
                            <p:stCondLst>
                              <p:cond delay="0"/>
                            </p:stCondLst>
                            <p:childTnLst>
                              <p:par>
                                <p:cTn id="40" presetID="22" presetClass="entr" presetSubtype="8" fill="hold" grpId="0" nodeType="clickEffect">
                                  <p:stCondLst>
                                    <p:cond delay="0"/>
                                  </p:stCondLst>
                                  <p:childTnLst>
                                    <p:set>
                                      <p:cBhvr>
                                        <p:cTn id="41" dur="1" fill="hold">
                                          <p:stCondLst>
                                            <p:cond delay="0"/>
                                          </p:stCondLst>
                                        </p:cTn>
                                        <p:tgtEl>
                                          <p:spTgt spid="7">
                                            <p:bg/>
                                          </p:spTgt>
                                        </p:tgtEl>
                                        <p:attrNameLst>
                                          <p:attrName>style.visibility</p:attrName>
                                        </p:attrNameLst>
                                      </p:cBhvr>
                                      <p:to>
                                        <p:strVal val="visible"/>
                                      </p:to>
                                    </p:set>
                                    <p:animEffect transition="in" filter="wipe(left)">
                                      <p:cBhvr>
                                        <p:cTn id="42" dur="2000"/>
                                        <p:tgtEl>
                                          <p:spTgt spid="7">
                                            <p:bg/>
                                          </p:spTgt>
                                        </p:tgtEl>
                                      </p:cBhvr>
                                    </p:animEffect>
                                  </p:childTnLst>
                                </p:cTn>
                              </p:par>
                              <p:par>
                                <p:cTn id="43" presetID="22" presetClass="entr" presetSubtype="8" fill="hold" grpId="0" nodeType="withEffect">
                                  <p:stCondLst>
                                    <p:cond delay="0"/>
                                  </p:stCondLst>
                                  <p:childTnLst>
                                    <p:set>
                                      <p:cBhvr>
                                        <p:cTn id="44" dur="1" fill="hold">
                                          <p:stCondLst>
                                            <p:cond delay="0"/>
                                          </p:stCondLst>
                                        </p:cTn>
                                        <p:tgtEl>
                                          <p:spTgt spid="7">
                                            <p:txEl>
                                              <p:pRg st="0" end="0"/>
                                            </p:txEl>
                                          </p:spTgt>
                                        </p:tgtEl>
                                        <p:attrNameLst>
                                          <p:attrName>style.visibility</p:attrName>
                                        </p:attrNameLst>
                                      </p:cBhvr>
                                      <p:to>
                                        <p:strVal val="visible"/>
                                      </p:to>
                                    </p:set>
                                    <p:animEffect transition="in" filter="wipe(left)">
                                      <p:cBhvr>
                                        <p:cTn id="45" dur="2000"/>
                                        <p:tgtEl>
                                          <p:spTgt spid="7">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6" grpId="0" animBg="1"/>
      <p:bldP spid="7" grpId="0" build="allAtOnce" animBg="1"/>
      <p:bldP spid="8" grpId="0" uiExpand="1" build="p"/>
    </p:bldLst>
  </p:timing>
</p:sld>
</file>

<file path=ppt/slides/slide106.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Change Data – Multiple fields</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UPDATE</a:t>
            </a:r>
            <a:r>
              <a:rPr lang="en-US" altLang="en-US" sz="4400" dirty="0">
                <a:solidFill>
                  <a:srgbClr val="000000"/>
                </a:solidFill>
                <a:latin typeface="Consolas" panose="020B0609020204030204" pitchFamily="49" charset="0"/>
              </a:rPr>
              <a:t> Pupil</a:t>
            </a:r>
            <a:br>
              <a:rPr lang="en-US" altLang="en-US" sz="4400" dirty="0">
                <a:solidFill>
                  <a:srgbClr val="000000"/>
                </a:solidFill>
                <a:latin typeface="Consolas" panose="020B0609020204030204" pitchFamily="49" charset="0"/>
              </a:rPr>
            </a:b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SET</a:t>
            </a:r>
            <a:r>
              <a:rPr lang="en-US" altLang="en-US" sz="4400" dirty="0">
                <a:solidFill>
                  <a:srgbClr val="000000"/>
                </a:solidFill>
                <a:latin typeface="Consolas" panose="020B0609020204030204" pitchFamily="49" charset="0"/>
              </a:rPr>
              <a:t> </a:t>
            </a:r>
            <a:r>
              <a:rPr lang="en-US" altLang="en-US" sz="4400" dirty="0" err="1">
                <a:solidFill>
                  <a:srgbClr val="000000"/>
                </a:solidFill>
                <a:latin typeface="Consolas" panose="020B0609020204030204" pitchFamily="49" charset="0"/>
              </a:rPr>
              <a:t>lastName</a:t>
            </a:r>
            <a:r>
              <a:rPr lang="en-US" altLang="en-US" sz="4400" dirty="0">
                <a:solidFill>
                  <a:srgbClr val="000000"/>
                </a:solidFill>
                <a:latin typeface="Consolas" panose="020B0609020204030204" pitchFamily="49" charset="0"/>
              </a:rPr>
              <a:t> = </a:t>
            </a:r>
            <a:r>
              <a:rPr lang="en-US" altLang="en-US" sz="4400" dirty="0">
                <a:solidFill>
                  <a:srgbClr val="183691"/>
                </a:solidFill>
                <a:latin typeface="Consolas" panose="020B0609020204030204" pitchFamily="49" charset="0"/>
              </a:rPr>
              <a:t>"Box"</a:t>
            </a:r>
            <a:r>
              <a:rPr lang="en-US" altLang="en-US" sz="4400" dirty="0">
                <a:solidFill>
                  <a:srgbClr val="000000"/>
                </a:solidFill>
                <a:latin typeface="Consolas" panose="020B0609020204030204" pitchFamily="49" charset="0"/>
              </a:rPr>
              <a:t>,</a:t>
            </a:r>
            <a:br>
              <a:rPr lang="en-US" altLang="en-US" sz="4400" dirty="0">
                <a:solidFill>
                  <a:srgbClr val="000000"/>
                </a:solidFill>
                <a:latin typeface="Consolas" panose="020B0609020204030204" pitchFamily="49" charset="0"/>
              </a:rPr>
            </a:br>
            <a:r>
              <a:rPr lang="en-US" altLang="en-US" sz="4400" dirty="0">
                <a:solidFill>
                  <a:srgbClr val="B2B2B2"/>
                </a:solidFill>
                <a:latin typeface="Consolas" panose="020B0609020204030204" pitchFamily="49" charset="0"/>
              </a:rPr>
              <a:t>3       </a:t>
            </a:r>
            <a:r>
              <a:rPr lang="en-US" altLang="en-US" sz="4400" dirty="0" err="1">
                <a:solidFill>
                  <a:srgbClr val="000000"/>
                </a:solidFill>
                <a:latin typeface="Consolas" panose="020B0609020204030204" pitchFamily="49" charset="0"/>
              </a:rPr>
              <a:t>addressID</a:t>
            </a:r>
            <a:r>
              <a:rPr lang="en-US" altLang="en-US" sz="4400" dirty="0">
                <a:solidFill>
                  <a:srgbClr val="000000"/>
                </a:solidFill>
                <a:latin typeface="Consolas" panose="020B0609020204030204" pitchFamily="49" charset="0"/>
              </a:rPr>
              <a:t> = </a:t>
            </a:r>
            <a:r>
              <a:rPr lang="en-US" altLang="en-US" sz="4400" dirty="0">
                <a:solidFill>
                  <a:srgbClr val="0086B3"/>
                </a:solidFill>
                <a:latin typeface="Consolas" panose="020B0609020204030204" pitchFamily="49" charset="0"/>
              </a:rPr>
              <a:t>17</a:t>
            </a:r>
            <a:br>
              <a:rPr lang="en-US" altLang="en-US" sz="4400" dirty="0">
                <a:solidFill>
                  <a:srgbClr val="000000"/>
                </a:solidFill>
                <a:latin typeface="Consolas" panose="020B0609020204030204" pitchFamily="49" charset="0"/>
              </a:rPr>
            </a:br>
            <a:r>
              <a:rPr lang="en-US" altLang="en-US" sz="4400" dirty="0">
                <a:solidFill>
                  <a:srgbClr val="B2B2B2"/>
                </a:solidFill>
                <a:latin typeface="Consolas" panose="020B0609020204030204" pitchFamily="49" charset="0"/>
              </a:rPr>
              <a:t>4   </a:t>
            </a:r>
            <a:r>
              <a:rPr lang="en-US" altLang="en-US" sz="4400" dirty="0">
                <a:solidFill>
                  <a:srgbClr val="A71D5D"/>
                </a:solidFill>
                <a:latin typeface="Consolas" panose="020B0609020204030204" pitchFamily="49" charset="0"/>
              </a:rPr>
              <a:t>WHERE</a:t>
            </a:r>
            <a:r>
              <a:rPr lang="en-US" altLang="en-US" sz="4400" dirty="0">
                <a:solidFill>
                  <a:srgbClr val="000000"/>
                </a:solidFill>
                <a:latin typeface="Consolas" panose="020B0609020204030204" pitchFamily="49" charset="0"/>
              </a:rPr>
              <a:t> </a:t>
            </a:r>
            <a:r>
              <a:rPr lang="en-US" altLang="en-US" sz="4400" dirty="0" err="1">
                <a:solidFill>
                  <a:srgbClr val="000000"/>
                </a:solidFill>
                <a:latin typeface="Consolas" panose="020B0609020204030204" pitchFamily="49" charset="0"/>
              </a:rPr>
              <a:t>pupilID</a:t>
            </a:r>
            <a:r>
              <a:rPr lang="en-US" altLang="en-US" sz="4400" dirty="0">
                <a:solidFill>
                  <a:srgbClr val="000000"/>
                </a:solidFill>
                <a:latin typeface="Consolas" panose="020B0609020204030204" pitchFamily="49" charset="0"/>
              </a:rPr>
              <a:t> = </a:t>
            </a:r>
            <a:r>
              <a:rPr lang="en-US" altLang="en-US" sz="4400" dirty="0">
                <a:solidFill>
                  <a:srgbClr val="0086B3"/>
                </a:solidFill>
                <a:latin typeface="Consolas" panose="020B0609020204030204" pitchFamily="49" charset="0"/>
              </a:rPr>
              <a:t>2</a:t>
            </a:r>
            <a:r>
              <a:rPr lang="en-US" altLang="en-US" sz="4400" dirty="0">
                <a:solidFill>
                  <a:srgbClr val="000000"/>
                </a:solidFill>
                <a:latin typeface="Consolas" panose="020B0609020204030204" pitchFamily="49" charset="0"/>
              </a:rPr>
              <a:t>;</a:t>
            </a:r>
            <a:endParaRPr lang="en-US" altLang="en-US" sz="6000" dirty="0">
              <a:latin typeface="Arial" panose="020B0604020202020204" pitchFamily="34" charset="0"/>
            </a:endParaRPr>
          </a:p>
        </p:txBody>
      </p:sp>
      <p:sp>
        <p:nvSpPr>
          <p:cNvPr id="4" name="TextBox 3">
            <a:extLst>
              <a:ext uri="{FF2B5EF4-FFF2-40B4-BE49-F238E27FC236}">
                <a16:creationId xmlns:a16="http://schemas.microsoft.com/office/drawing/2014/main" id="{88744E53-6521-DB39-3E4D-AA698E15D4D0}"/>
              </a:ext>
            </a:extLst>
          </p:cNvPr>
          <p:cNvSpPr txBox="1"/>
          <p:nvPr/>
        </p:nvSpPr>
        <p:spPr>
          <a:xfrm>
            <a:off x="2046238" y="6079439"/>
            <a:ext cx="8099525" cy="646331"/>
          </a:xfrm>
          <a:prstGeom prst="rect">
            <a:avLst/>
          </a:prstGeom>
          <a:noFill/>
        </p:spPr>
        <p:txBody>
          <a:bodyPr wrap="none" rtlCol="0">
            <a:spAutoFit/>
          </a:bodyPr>
          <a:lstStyle/>
          <a:p>
            <a:pPr algn="ctr"/>
            <a:r>
              <a:rPr lang="en-GB" sz="3600" dirty="0">
                <a:solidFill>
                  <a:srgbClr val="7030A0"/>
                </a:solidFill>
              </a:rPr>
              <a:t>If a validation rule fails, no data is updated</a:t>
            </a:r>
            <a:endParaRPr lang="en-GB" sz="3600" dirty="0">
              <a:solidFill>
                <a:srgbClr val="7030A0"/>
              </a:solidFill>
              <a:latin typeface="Consolas" panose="020B0609020204030204" pitchFamily="49" charset="0"/>
            </a:endParaRPr>
          </a:p>
        </p:txBody>
      </p:sp>
    </p:spTree>
    <p:extLst>
      <p:ext uri="{BB962C8B-B14F-4D97-AF65-F5344CB8AC3E}">
        <p14:creationId xmlns:p14="http://schemas.microsoft.com/office/powerpoint/2010/main" val="2927532629"/>
      </p:ext>
    </p:extLst>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Learning Intentions</a:t>
            </a:r>
          </a:p>
        </p:txBody>
      </p:sp>
      <p:sp>
        <p:nvSpPr>
          <p:cNvPr id="3" name="Content Placeholder 2"/>
          <p:cNvSpPr>
            <a:spLocks noGrp="1"/>
          </p:cNvSpPr>
          <p:nvPr>
            <p:ph idx="1"/>
          </p:nvPr>
        </p:nvSpPr>
        <p:spPr/>
        <p:txBody>
          <a:bodyPr/>
          <a:lstStyle/>
          <a:p>
            <a:r>
              <a:rPr lang="en-GB" dirty="0"/>
              <a:t>Describe and use SQL delete operations</a:t>
            </a:r>
          </a:p>
        </p:txBody>
      </p:sp>
    </p:spTree>
    <p:extLst>
      <p:ext uri="{BB962C8B-B14F-4D97-AF65-F5344CB8AC3E}">
        <p14:creationId xmlns:p14="http://schemas.microsoft.com/office/powerpoint/2010/main" val="3230821191"/>
      </p:ext>
    </p:extLst>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Remove Data</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DELETE FROM</a:t>
            </a:r>
            <a:r>
              <a:rPr lang="en-US" altLang="en-US" sz="4400" dirty="0">
                <a:solidFill>
                  <a:srgbClr val="000000"/>
                </a:solidFill>
                <a:latin typeface="Consolas" panose="020B0609020204030204" pitchFamily="49" charset="0"/>
              </a:rPr>
              <a:t> Pupil</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WHERE</a:t>
            </a:r>
            <a:r>
              <a:rPr lang="en-US" altLang="en-US" sz="4400" dirty="0">
                <a:solidFill>
                  <a:srgbClr val="000000"/>
                </a:solidFill>
                <a:latin typeface="Consolas" panose="020B0609020204030204" pitchFamily="49" charset="0"/>
              </a:rPr>
              <a:t> </a:t>
            </a:r>
            <a:r>
              <a:rPr lang="en-US" altLang="en-US" sz="4400" dirty="0" err="1">
                <a:solidFill>
                  <a:srgbClr val="000000"/>
                </a:solidFill>
                <a:latin typeface="Consolas" panose="020B0609020204030204" pitchFamily="49" charset="0"/>
              </a:rPr>
              <a:t>pupilID</a:t>
            </a:r>
            <a:r>
              <a:rPr lang="en-US" altLang="en-US" sz="4400" dirty="0">
                <a:solidFill>
                  <a:srgbClr val="000000"/>
                </a:solidFill>
                <a:latin typeface="Consolas" panose="020B0609020204030204" pitchFamily="49" charset="0"/>
              </a:rPr>
              <a:t> = </a:t>
            </a:r>
            <a:r>
              <a:rPr lang="en-US" altLang="en-US" sz="4400" dirty="0">
                <a:solidFill>
                  <a:srgbClr val="0086B3"/>
                </a:solidFill>
                <a:latin typeface="Consolas" panose="020B0609020204030204" pitchFamily="49" charset="0"/>
              </a:rPr>
              <a:t>2</a:t>
            </a:r>
            <a:r>
              <a:rPr lang="en-US" altLang="en-US" sz="4400" dirty="0">
                <a:solidFill>
                  <a:srgbClr val="000000"/>
                </a:solidFill>
                <a:latin typeface="Consolas" panose="020B0609020204030204" pitchFamily="49" charset="0"/>
              </a:rPr>
              <a:t>;</a:t>
            </a:r>
            <a:endParaRPr lang="en-US" altLang="en-US" sz="6000" dirty="0">
              <a:latin typeface="Arial" panose="020B0604020202020204" pitchFamily="34" charset="0"/>
            </a:endParaRPr>
          </a:p>
        </p:txBody>
      </p:sp>
      <p:sp>
        <p:nvSpPr>
          <p:cNvPr id="7" name="TextBox 6">
            <a:extLst>
              <a:ext uri="{FF2B5EF4-FFF2-40B4-BE49-F238E27FC236}">
                <a16:creationId xmlns:a16="http://schemas.microsoft.com/office/drawing/2014/main" id="{DF4BA8FF-524A-4C13-87BF-68801971FA28}"/>
              </a:ext>
            </a:extLst>
          </p:cNvPr>
          <p:cNvSpPr txBox="1"/>
          <p:nvPr/>
        </p:nvSpPr>
        <p:spPr>
          <a:xfrm>
            <a:off x="1812647" y="5360818"/>
            <a:ext cx="8566705" cy="646331"/>
          </a:xfrm>
          <a:prstGeom prst="rect">
            <a:avLst/>
          </a:prstGeom>
          <a:noFill/>
        </p:spPr>
        <p:txBody>
          <a:bodyPr wrap="none" rtlCol="0">
            <a:spAutoFit/>
          </a:bodyPr>
          <a:lstStyle/>
          <a:p>
            <a:pPr algn="ctr"/>
            <a:r>
              <a:rPr lang="en-GB" sz="3600" dirty="0">
                <a:solidFill>
                  <a:srgbClr val="7030A0"/>
                </a:solidFill>
              </a:rPr>
              <a:t>Deletes</a:t>
            </a:r>
            <a:r>
              <a:rPr lang="en-GB" sz="3600" dirty="0"/>
              <a:t> </a:t>
            </a:r>
            <a:r>
              <a:rPr lang="en-GB" sz="3600" b="1" i="1" dirty="0">
                <a:solidFill>
                  <a:srgbClr val="FF0000"/>
                </a:solidFill>
              </a:rPr>
              <a:t>all</a:t>
            </a:r>
            <a:r>
              <a:rPr lang="en-GB" sz="3600" dirty="0"/>
              <a:t> </a:t>
            </a:r>
            <a:r>
              <a:rPr lang="en-GB" sz="3600" dirty="0">
                <a:solidFill>
                  <a:srgbClr val="7030A0"/>
                </a:solidFill>
              </a:rPr>
              <a:t>records that match the condition!</a:t>
            </a:r>
            <a:endParaRPr lang="en-GB" sz="3600" dirty="0">
              <a:solidFill>
                <a:srgbClr val="7030A0"/>
              </a:solidFill>
              <a:latin typeface="Consolas" panose="020B0609020204030204" pitchFamily="49" charset="0"/>
            </a:endParaRPr>
          </a:p>
        </p:txBody>
      </p:sp>
      <p:sp>
        <p:nvSpPr>
          <p:cNvPr id="4" name="Callout: Bent Line with No Border 3">
            <a:extLst>
              <a:ext uri="{FF2B5EF4-FFF2-40B4-BE49-F238E27FC236}">
                <a16:creationId xmlns:a16="http://schemas.microsoft.com/office/drawing/2014/main" id="{E047F7BC-FA07-FA57-5095-E57424A36FC7}"/>
              </a:ext>
            </a:extLst>
          </p:cNvPr>
          <p:cNvSpPr/>
          <p:nvPr/>
        </p:nvSpPr>
        <p:spPr>
          <a:xfrm>
            <a:off x="7723719" y="1167606"/>
            <a:ext cx="1085850" cy="718344"/>
          </a:xfrm>
          <a:prstGeom prst="callout2">
            <a:avLst>
              <a:gd name="adj1" fmla="val 49990"/>
              <a:gd name="adj2" fmla="val -52"/>
              <a:gd name="adj3" fmla="val 50311"/>
              <a:gd name="adj4" fmla="val -43860"/>
              <a:gd name="adj5" fmla="val 104481"/>
              <a:gd name="adj6" fmla="val -92411"/>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Table</a:t>
            </a:r>
          </a:p>
        </p:txBody>
      </p:sp>
      <p:sp>
        <p:nvSpPr>
          <p:cNvPr id="6" name="TextBox 5">
            <a:extLst>
              <a:ext uri="{FF2B5EF4-FFF2-40B4-BE49-F238E27FC236}">
                <a16:creationId xmlns:a16="http://schemas.microsoft.com/office/drawing/2014/main" id="{D2799C50-5B8F-A5A7-D5BE-93FD79B0C67A}"/>
              </a:ext>
            </a:extLst>
          </p:cNvPr>
          <p:cNvSpPr txBox="1"/>
          <p:nvPr/>
        </p:nvSpPr>
        <p:spPr>
          <a:xfrm>
            <a:off x="7708235" y="-5485"/>
            <a:ext cx="4483765" cy="1200329"/>
          </a:xfrm>
          <a:prstGeom prst="rect">
            <a:avLst/>
          </a:prstGeom>
          <a:noFill/>
          <a:ln w="19050">
            <a:solidFill>
              <a:srgbClr val="FF0000"/>
            </a:solidFill>
          </a:ln>
        </p:spPr>
        <p:txBody>
          <a:bodyPr wrap="square" rtlCol="0">
            <a:spAutoFit/>
          </a:bodyPr>
          <a:lstStyle/>
          <a:p>
            <a:r>
              <a:rPr lang="en-GB" sz="3600" dirty="0">
                <a:solidFill>
                  <a:srgbClr val="FF0000"/>
                </a:solidFill>
                <a:latin typeface="Consolas" panose="020B0609020204030204" pitchFamily="49" charset="0"/>
              </a:rPr>
              <a:t>Tip</a:t>
            </a:r>
            <a:r>
              <a:rPr lang="en-GB" sz="3600" dirty="0">
                <a:solidFill>
                  <a:srgbClr val="7030A0"/>
                </a:solidFill>
                <a:latin typeface="Consolas" panose="020B0609020204030204" pitchFamily="49" charset="0"/>
              </a:rPr>
              <a:t>: Use SELECT with WHERE first!</a:t>
            </a:r>
          </a:p>
        </p:txBody>
      </p:sp>
    </p:spTree>
    <p:extLst>
      <p:ext uri="{BB962C8B-B14F-4D97-AF65-F5344CB8AC3E}">
        <p14:creationId xmlns:p14="http://schemas.microsoft.com/office/powerpoint/2010/main" val="168172179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175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4"/>
                                        </p:tgtEl>
                                        <p:attrNameLst>
                                          <p:attrName>style.visibility</p:attrName>
                                        </p:attrNameLst>
                                      </p:cBhvr>
                                      <p:to>
                                        <p:strVal val="visible"/>
                                      </p:to>
                                    </p:set>
                                    <p:animEffect transition="in" filter="fade">
                                      <p:cBhvr>
                                        <p:cTn id="17" dur="1000"/>
                                        <p:tgtEl>
                                          <p:spTgt spid="4"/>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7">
                                            <p:txEl>
                                              <p:pRg st="0" end="0"/>
                                            </p:txEl>
                                          </p:spTgt>
                                        </p:tgtEl>
                                        <p:attrNameLst>
                                          <p:attrName>style.visibility</p:attrName>
                                        </p:attrNameLst>
                                      </p:cBhvr>
                                      <p:to>
                                        <p:strVal val="visible"/>
                                      </p:to>
                                    </p:set>
                                    <p:animEffect transition="in" filter="wipe(left)">
                                      <p:cBhvr>
                                        <p:cTn id="22" dur="2000"/>
                                        <p:tgtEl>
                                          <p:spTgt spid="7">
                                            <p:txEl>
                                              <p:pRg st="0" end="0"/>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6"/>
                                        </p:tgtEl>
                                        <p:attrNameLst>
                                          <p:attrName>style.visibility</p:attrName>
                                        </p:attrNameLst>
                                      </p:cBhvr>
                                      <p:to>
                                        <p:strVal val="visible"/>
                                      </p:to>
                                    </p:set>
                                    <p:animEffect transition="in" filter="wipe(left)">
                                      <p:cBhvr>
                                        <p:cTn id="27" dur="20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7" grpId="0" build="p"/>
      <p:bldP spid="4" grpId="0" animBg="1"/>
      <p:bldP spid="6" grpId="0" animBg="1"/>
    </p:bldLst>
  </p:timing>
</p:sld>
</file>

<file path=ppt/slides/slide109.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Remove Data</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DELETE FROM</a:t>
            </a:r>
            <a:r>
              <a:rPr lang="en-US" altLang="en-US" sz="4400" dirty="0">
                <a:solidFill>
                  <a:srgbClr val="000000"/>
                </a:solidFill>
                <a:latin typeface="Consolas" panose="020B0609020204030204" pitchFamily="49" charset="0"/>
              </a:rPr>
              <a:t> Pupil</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WHERE</a:t>
            </a:r>
            <a:r>
              <a:rPr lang="en-US" altLang="en-US" sz="4400" dirty="0">
                <a:solidFill>
                  <a:srgbClr val="000000"/>
                </a:solidFill>
                <a:latin typeface="Consolas" panose="020B0609020204030204" pitchFamily="49" charset="0"/>
              </a:rPr>
              <a:t> </a:t>
            </a:r>
            <a:r>
              <a:rPr lang="en-US" altLang="en-US" sz="4400" dirty="0" err="1">
                <a:solidFill>
                  <a:srgbClr val="000000"/>
                </a:solidFill>
                <a:latin typeface="Consolas" panose="020B0609020204030204" pitchFamily="49" charset="0"/>
              </a:rPr>
              <a:t>pupilID</a:t>
            </a:r>
            <a:r>
              <a:rPr lang="en-US" altLang="en-US" sz="4400" dirty="0">
                <a:solidFill>
                  <a:srgbClr val="000000"/>
                </a:solidFill>
                <a:latin typeface="Consolas" panose="020B0609020204030204" pitchFamily="49" charset="0"/>
              </a:rPr>
              <a:t> = </a:t>
            </a:r>
            <a:r>
              <a:rPr lang="en-US" altLang="en-US" sz="4400" dirty="0">
                <a:solidFill>
                  <a:srgbClr val="0086B3"/>
                </a:solidFill>
                <a:latin typeface="Consolas" panose="020B0609020204030204" pitchFamily="49" charset="0"/>
              </a:rPr>
              <a:t>2</a:t>
            </a:r>
            <a:r>
              <a:rPr lang="en-US" altLang="en-US" sz="4400" dirty="0">
                <a:solidFill>
                  <a:srgbClr val="000000"/>
                </a:solidFill>
                <a:latin typeface="Consolas" panose="020B0609020204030204" pitchFamily="49" charset="0"/>
              </a:rPr>
              <a:t>;</a:t>
            </a:r>
            <a:endParaRPr lang="en-US" altLang="en-US" sz="6000" dirty="0">
              <a:latin typeface="Arial" panose="020B0604020202020204" pitchFamily="34" charset="0"/>
            </a:endParaRPr>
          </a:p>
        </p:txBody>
      </p:sp>
    </p:spTree>
    <p:extLst>
      <p:ext uri="{BB962C8B-B14F-4D97-AF65-F5344CB8AC3E}">
        <p14:creationId xmlns:p14="http://schemas.microsoft.com/office/powerpoint/2010/main" val="1479912318"/>
      </p:ext>
    </p:extLst>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4150D6E-A7AE-40F1-B520-C3C5A5B9033C}"/>
              </a:ext>
            </a:extLst>
          </p:cNvPr>
          <p:cNvSpPr>
            <a:spLocks noGrp="1"/>
          </p:cNvSpPr>
          <p:nvPr>
            <p:ph type="title"/>
          </p:nvPr>
        </p:nvSpPr>
        <p:spPr/>
        <p:txBody>
          <a:bodyPr/>
          <a:lstStyle/>
          <a:p>
            <a:r>
              <a:rPr lang="en-GB" dirty="0"/>
              <a:t>Remove Data -  In stages</a:t>
            </a:r>
          </a:p>
        </p:txBody>
      </p:sp>
      <p:sp>
        <p:nvSpPr>
          <p:cNvPr id="5" name="Text Placeholder 4">
            <a:extLst>
              <a:ext uri="{FF2B5EF4-FFF2-40B4-BE49-F238E27FC236}">
                <a16:creationId xmlns:a16="http://schemas.microsoft.com/office/drawing/2014/main" id="{000FA1C3-5832-49DF-B768-CBF372ADFA59}"/>
              </a:ext>
            </a:extLst>
          </p:cNvPr>
          <p:cNvSpPr>
            <a:spLocks noGrp="1"/>
          </p:cNvSpPr>
          <p:nvPr>
            <p:ph type="body" idx="1"/>
          </p:nvPr>
        </p:nvSpPr>
        <p:spPr/>
        <p:txBody>
          <a:bodyPr>
            <a:normAutofit/>
          </a:bodyPr>
          <a:lstStyle/>
          <a:p>
            <a:r>
              <a:rPr lang="en-GB" sz="3600"/>
              <a:t>Step 1</a:t>
            </a:r>
            <a:endParaRPr lang="en-GB" sz="3600" dirty="0"/>
          </a:p>
        </p:txBody>
      </p:sp>
      <p:sp>
        <p:nvSpPr>
          <p:cNvPr id="3" name="Content Placeholder 2">
            <a:extLst>
              <a:ext uri="{FF2B5EF4-FFF2-40B4-BE49-F238E27FC236}">
                <a16:creationId xmlns:a16="http://schemas.microsoft.com/office/drawing/2014/main" id="{95A0844E-7BAE-4F4A-A1DA-DD7BE74B9B74}"/>
              </a:ext>
            </a:extLst>
          </p:cNvPr>
          <p:cNvSpPr>
            <a:spLocks noGrp="1"/>
          </p:cNvSpPr>
          <p:nvPr>
            <p:ph sz="half" idx="2"/>
          </p:nvPr>
        </p:nvSpPr>
        <p:spPr>
          <a:xfrm>
            <a:off x="836612" y="2505075"/>
            <a:ext cx="5160964" cy="3684588"/>
          </a:xfrm>
        </p:spPr>
        <p:txBody>
          <a:bodyPr/>
          <a:lstStyle/>
          <a:p>
            <a:pPr marL="0" lv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1 </a:t>
            </a:r>
            <a:r>
              <a:rPr lang="en-US" altLang="en-US" dirty="0">
                <a:solidFill>
                  <a:srgbClr val="A71D5D"/>
                </a:solidFill>
                <a:latin typeface="Consolas" panose="020B0609020204030204" pitchFamily="49" charset="0"/>
              </a:rPr>
              <a:t>SELECT </a:t>
            </a:r>
            <a:r>
              <a:rPr lang="en-US" altLang="en-US"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2   </a:t>
            </a:r>
            <a:r>
              <a:rPr lang="en-US" altLang="en-US" dirty="0">
                <a:solidFill>
                  <a:srgbClr val="A71D5D"/>
                </a:solidFill>
                <a:latin typeface="Consolas" panose="020B0609020204030204" pitchFamily="49" charset="0"/>
              </a:rPr>
              <a:t>FROM</a:t>
            </a:r>
            <a:r>
              <a:rPr lang="en-US" altLang="en-US" dirty="0">
                <a:solidFill>
                  <a:srgbClr val="000000"/>
                </a:solidFill>
                <a:latin typeface="Consolas" panose="020B0609020204030204" pitchFamily="49" charset="0"/>
              </a:rPr>
              <a:t> Pupil</a:t>
            </a:r>
          </a:p>
          <a:p>
            <a:pPr marL="0" lv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2   </a:t>
            </a:r>
            <a:r>
              <a:rPr lang="en-US" altLang="en-US" dirty="0">
                <a:solidFill>
                  <a:srgbClr val="A71D5D"/>
                </a:solidFill>
                <a:latin typeface="Consolas" panose="020B0609020204030204" pitchFamily="49" charset="0"/>
              </a:rPr>
              <a:t>WHERE</a:t>
            </a:r>
            <a:r>
              <a:rPr lang="en-US" altLang="en-US" dirty="0">
                <a:solidFill>
                  <a:srgbClr val="000000"/>
                </a:solidFill>
                <a:latin typeface="Consolas" panose="020B0609020204030204" pitchFamily="49" charset="0"/>
              </a:rPr>
              <a:t> </a:t>
            </a:r>
            <a:r>
              <a:rPr lang="en-US" altLang="en-US" dirty="0" err="1">
                <a:solidFill>
                  <a:srgbClr val="000000"/>
                </a:solidFill>
                <a:latin typeface="Consolas" panose="020B0609020204030204" pitchFamily="49" charset="0"/>
              </a:rPr>
              <a:t>pupilID</a:t>
            </a:r>
            <a:r>
              <a:rPr lang="en-US" altLang="en-US" dirty="0">
                <a:solidFill>
                  <a:srgbClr val="000000"/>
                </a:solidFill>
                <a:latin typeface="Consolas" panose="020B0609020204030204" pitchFamily="49" charset="0"/>
              </a:rPr>
              <a:t> = </a:t>
            </a:r>
            <a:r>
              <a:rPr lang="en-US" altLang="en-US" dirty="0">
                <a:solidFill>
                  <a:srgbClr val="0086B3"/>
                </a:solidFill>
                <a:latin typeface="Consolas" panose="020B0609020204030204" pitchFamily="49" charset="0"/>
              </a:rPr>
              <a:t>2</a:t>
            </a:r>
            <a:r>
              <a:rPr lang="en-US" altLang="en-US" dirty="0">
                <a:solidFill>
                  <a:srgbClr val="000000"/>
                </a:solidFill>
                <a:latin typeface="Consolas" panose="020B0609020204030204" pitchFamily="49" charset="0"/>
              </a:rPr>
              <a:t>;</a:t>
            </a:r>
            <a:endParaRPr lang="en-US" altLang="en-US" sz="4000" dirty="0">
              <a:latin typeface="Arial" panose="020B0604020202020204" pitchFamily="34" charset="0"/>
            </a:endParaRPr>
          </a:p>
          <a:p>
            <a:pPr marL="0" indent="0">
              <a:buNone/>
            </a:pPr>
            <a:endParaRPr lang="en-GB" dirty="0"/>
          </a:p>
        </p:txBody>
      </p:sp>
      <p:sp>
        <p:nvSpPr>
          <p:cNvPr id="6" name="Text Placeholder 5">
            <a:extLst>
              <a:ext uri="{FF2B5EF4-FFF2-40B4-BE49-F238E27FC236}">
                <a16:creationId xmlns:a16="http://schemas.microsoft.com/office/drawing/2014/main" id="{8577C599-C84A-46C7-BB62-6C336B2F005F}"/>
              </a:ext>
            </a:extLst>
          </p:cNvPr>
          <p:cNvSpPr>
            <a:spLocks noGrp="1"/>
          </p:cNvSpPr>
          <p:nvPr>
            <p:ph type="body" sz="quarter" idx="3"/>
          </p:nvPr>
        </p:nvSpPr>
        <p:spPr/>
        <p:txBody>
          <a:bodyPr>
            <a:normAutofit/>
          </a:bodyPr>
          <a:lstStyle/>
          <a:p>
            <a:r>
              <a:rPr lang="en-GB" sz="3600"/>
              <a:t>Step 2</a:t>
            </a:r>
            <a:endParaRPr lang="en-GB" sz="3600" dirty="0"/>
          </a:p>
        </p:txBody>
      </p:sp>
      <p:sp>
        <p:nvSpPr>
          <p:cNvPr id="4" name="Content Placeholder 3">
            <a:extLst>
              <a:ext uri="{FF2B5EF4-FFF2-40B4-BE49-F238E27FC236}">
                <a16:creationId xmlns:a16="http://schemas.microsoft.com/office/drawing/2014/main" id="{D6A3CFF1-8569-4597-ADB2-1CADEA342D2F}"/>
              </a:ext>
            </a:extLst>
          </p:cNvPr>
          <p:cNvSpPr>
            <a:spLocks noGrp="1"/>
          </p:cNvSpPr>
          <p:nvPr>
            <p:ph sz="quarter" idx="4"/>
          </p:nvPr>
        </p:nvSpPr>
        <p:spPr>
          <a:xfrm>
            <a:off x="6172200" y="2505075"/>
            <a:ext cx="5180012" cy="3684588"/>
          </a:xfrm>
        </p:spPr>
        <p:txBody>
          <a:bodyPr/>
          <a:lstStyle/>
          <a:p>
            <a:pPr marL="0" lv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1 </a:t>
            </a:r>
            <a:r>
              <a:rPr lang="en-US" altLang="en-US" dirty="0">
                <a:solidFill>
                  <a:srgbClr val="A71D5D"/>
                </a:solidFill>
                <a:latin typeface="Consolas" panose="020B0609020204030204" pitchFamily="49" charset="0"/>
              </a:rPr>
              <a:t>DELETE FROM</a:t>
            </a:r>
            <a:r>
              <a:rPr lang="en-US" altLang="en-US" dirty="0">
                <a:solidFill>
                  <a:srgbClr val="000000"/>
                </a:solidFill>
                <a:latin typeface="Consolas" panose="020B0609020204030204" pitchFamily="49" charset="0"/>
              </a:rPr>
              <a:t> Pupil</a:t>
            </a:r>
          </a:p>
          <a:p>
            <a:pPr marL="0" lv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2   </a:t>
            </a:r>
            <a:r>
              <a:rPr lang="en-US" altLang="en-US" dirty="0">
                <a:solidFill>
                  <a:srgbClr val="A71D5D"/>
                </a:solidFill>
                <a:latin typeface="Consolas" panose="020B0609020204030204" pitchFamily="49" charset="0"/>
              </a:rPr>
              <a:t>WHERE</a:t>
            </a:r>
            <a:r>
              <a:rPr lang="en-US" altLang="en-US" dirty="0">
                <a:solidFill>
                  <a:srgbClr val="000000"/>
                </a:solidFill>
                <a:latin typeface="Consolas" panose="020B0609020204030204" pitchFamily="49" charset="0"/>
              </a:rPr>
              <a:t> </a:t>
            </a:r>
            <a:r>
              <a:rPr lang="en-US" altLang="en-US" dirty="0" err="1">
                <a:solidFill>
                  <a:srgbClr val="000000"/>
                </a:solidFill>
                <a:latin typeface="Consolas" panose="020B0609020204030204" pitchFamily="49" charset="0"/>
              </a:rPr>
              <a:t>pupilID</a:t>
            </a:r>
            <a:r>
              <a:rPr lang="en-US" altLang="en-US" dirty="0">
                <a:solidFill>
                  <a:srgbClr val="000000"/>
                </a:solidFill>
                <a:latin typeface="Consolas" panose="020B0609020204030204" pitchFamily="49" charset="0"/>
              </a:rPr>
              <a:t> = </a:t>
            </a:r>
            <a:r>
              <a:rPr lang="en-US" altLang="en-US" dirty="0">
                <a:solidFill>
                  <a:srgbClr val="0086B3"/>
                </a:solidFill>
                <a:latin typeface="Consolas" panose="020B0609020204030204" pitchFamily="49" charset="0"/>
              </a:rPr>
              <a:t>2</a:t>
            </a:r>
            <a:r>
              <a:rPr lang="en-US" altLang="en-US" dirty="0">
                <a:solidFill>
                  <a:srgbClr val="000000"/>
                </a:solidFill>
                <a:latin typeface="Consolas" panose="020B0609020204030204" pitchFamily="49" charset="0"/>
              </a:rPr>
              <a:t>;</a:t>
            </a:r>
            <a:endParaRPr lang="en-US" altLang="en-US" sz="4000" dirty="0">
              <a:latin typeface="Arial" panose="020B0604020202020204" pitchFamily="34" charset="0"/>
            </a:endParaRPr>
          </a:p>
          <a:p>
            <a:pPr marL="0" indent="0">
              <a:buNone/>
            </a:pPr>
            <a:endParaRPr lang="en-GB" dirty="0"/>
          </a:p>
        </p:txBody>
      </p:sp>
      <p:sp>
        <p:nvSpPr>
          <p:cNvPr id="7" name="TextBox 6">
            <a:extLst>
              <a:ext uri="{FF2B5EF4-FFF2-40B4-BE49-F238E27FC236}">
                <a16:creationId xmlns:a16="http://schemas.microsoft.com/office/drawing/2014/main" id="{3D7C5561-49CA-4DD0-9A81-A755A354B542}"/>
              </a:ext>
            </a:extLst>
          </p:cNvPr>
          <p:cNvSpPr txBox="1"/>
          <p:nvPr/>
        </p:nvSpPr>
        <p:spPr>
          <a:xfrm>
            <a:off x="3187768" y="4912766"/>
            <a:ext cx="5816464" cy="769441"/>
          </a:xfrm>
          <a:prstGeom prst="rect">
            <a:avLst/>
          </a:prstGeom>
          <a:noFill/>
        </p:spPr>
        <p:txBody>
          <a:bodyPr wrap="none" rtlCol="0">
            <a:spAutoFit/>
          </a:bodyPr>
          <a:lstStyle/>
          <a:p>
            <a:r>
              <a:rPr lang="en-GB" sz="4400" dirty="0">
                <a:solidFill>
                  <a:srgbClr val="7030A0"/>
                </a:solidFill>
              </a:rPr>
              <a:t>Copy the </a:t>
            </a:r>
            <a:r>
              <a:rPr lang="en-GB" sz="4400" dirty="0">
                <a:solidFill>
                  <a:srgbClr val="A71D5D"/>
                </a:solidFill>
              </a:rPr>
              <a:t>WHERE</a:t>
            </a:r>
            <a:r>
              <a:rPr lang="en-GB" sz="4400" dirty="0">
                <a:solidFill>
                  <a:srgbClr val="7030A0"/>
                </a:solidFill>
              </a:rPr>
              <a:t> clause!</a:t>
            </a:r>
          </a:p>
        </p:txBody>
      </p:sp>
      <p:sp>
        <p:nvSpPr>
          <p:cNvPr id="8" name="Arc 7">
            <a:extLst>
              <a:ext uri="{FF2B5EF4-FFF2-40B4-BE49-F238E27FC236}">
                <a16:creationId xmlns:a16="http://schemas.microsoft.com/office/drawing/2014/main" id="{6F055A38-53AB-4D21-B310-4508FD3AA00E}"/>
              </a:ext>
            </a:extLst>
          </p:cNvPr>
          <p:cNvSpPr/>
          <p:nvPr/>
        </p:nvSpPr>
        <p:spPr>
          <a:xfrm rot="10800000" flipH="1">
            <a:off x="5225143" y="3238500"/>
            <a:ext cx="1836057" cy="1325562"/>
          </a:xfrm>
          <a:prstGeom prst="arc">
            <a:avLst>
              <a:gd name="adj1" fmla="val 10934631"/>
              <a:gd name="adj2" fmla="val 21444232"/>
            </a:avLst>
          </a:prstGeom>
          <a:ln w="38100">
            <a:solidFill>
              <a:schemeClr val="accent6">
                <a:lumMod val="75000"/>
              </a:schemeClr>
            </a:solidFill>
            <a:headEnd w="lg" len="lg"/>
            <a:tailEnd type="triangle" w="lg" len="lg"/>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GB"/>
          </a:p>
        </p:txBody>
      </p:sp>
      <p:sp>
        <p:nvSpPr>
          <p:cNvPr id="9" name="Text Placeholder 4">
            <a:extLst>
              <a:ext uri="{FF2B5EF4-FFF2-40B4-BE49-F238E27FC236}">
                <a16:creationId xmlns:a16="http://schemas.microsoft.com/office/drawing/2014/main" id="{F407117B-6C1A-4EDA-96A7-C25A850F00DB}"/>
              </a:ext>
            </a:extLst>
          </p:cNvPr>
          <p:cNvSpPr txBox="1">
            <a:spLocks/>
          </p:cNvSpPr>
          <p:nvPr/>
        </p:nvSpPr>
        <p:spPr>
          <a:xfrm>
            <a:off x="3505994" y="5608953"/>
            <a:ext cx="5157787" cy="823912"/>
          </a:xfrm>
          <a:prstGeom prst="rect">
            <a:avLst/>
          </a:prstGeom>
        </p:spPr>
        <p:txBody>
          <a:bodyPr vert="horz" lIns="91440" tIns="45720" rIns="91440" bIns="45720" rtlCol="0" anchor="b">
            <a:normAutofit/>
          </a:bodyPr>
          <a:lstStyle>
            <a:lvl1pPr marL="0" indent="0" algn="l" defTabSz="914400" rtl="0" eaLnBrk="1" latinLnBrk="0" hangingPunct="1">
              <a:lnSpc>
                <a:spcPct val="120000"/>
              </a:lnSpc>
              <a:spcBef>
                <a:spcPts val="0"/>
              </a:spcBef>
              <a:buFont typeface="Arial" panose="020B0604020202020204" pitchFamily="34" charset="0"/>
              <a:buNone/>
              <a:defRPr sz="2400" b="1" kern="1200">
                <a:solidFill>
                  <a:schemeClr val="tx1"/>
                </a:solidFill>
                <a:latin typeface="+mn-lt"/>
                <a:ea typeface="+mn-ea"/>
                <a:cs typeface="+mn-cs"/>
              </a:defRPr>
            </a:lvl1pPr>
            <a:lvl2pPr marL="457200" indent="0" algn="l" defTabSz="914400" rtl="0" eaLnBrk="1" latinLnBrk="0" hangingPunct="1">
              <a:lnSpc>
                <a:spcPct val="120000"/>
              </a:lnSpc>
              <a:spcBef>
                <a:spcPts val="0"/>
              </a:spcBef>
              <a:buFont typeface="Arial" panose="020B0604020202020204" pitchFamily="34" charset="0"/>
              <a:buNone/>
              <a:defRPr sz="2000" b="1" kern="1200">
                <a:solidFill>
                  <a:schemeClr val="tx1"/>
                </a:solidFill>
                <a:latin typeface="+mn-lt"/>
                <a:ea typeface="+mn-ea"/>
                <a:cs typeface="+mn-cs"/>
              </a:defRPr>
            </a:lvl2pPr>
            <a:lvl3pPr marL="914400" indent="0" algn="l" defTabSz="914400" rtl="0" eaLnBrk="1" latinLnBrk="0" hangingPunct="1">
              <a:lnSpc>
                <a:spcPct val="120000"/>
              </a:lnSpc>
              <a:spcBef>
                <a:spcPts val="0"/>
              </a:spcBef>
              <a:buFont typeface="Arial" panose="020B0604020202020204" pitchFamily="34" charset="0"/>
              <a:buNone/>
              <a:defRPr sz="1800" b="1" kern="1200">
                <a:solidFill>
                  <a:schemeClr val="tx1"/>
                </a:solidFill>
                <a:latin typeface="+mn-lt"/>
                <a:ea typeface="+mn-ea"/>
                <a:cs typeface="+mn-cs"/>
              </a:defRPr>
            </a:lvl3pPr>
            <a:lvl4pPr marL="1371600" indent="0" algn="l" defTabSz="914400" rtl="0" eaLnBrk="1" latinLnBrk="0" hangingPunct="1">
              <a:lnSpc>
                <a:spcPct val="120000"/>
              </a:lnSpc>
              <a:spcBef>
                <a:spcPts val="0"/>
              </a:spcBef>
              <a:buFont typeface="Arial" panose="020B0604020202020204" pitchFamily="34" charset="0"/>
              <a:buNone/>
              <a:defRPr sz="1600" b="1" kern="1200">
                <a:solidFill>
                  <a:schemeClr val="tx1"/>
                </a:solidFill>
                <a:latin typeface="+mn-lt"/>
                <a:ea typeface="+mn-ea"/>
                <a:cs typeface="+mn-cs"/>
              </a:defRPr>
            </a:lvl4pPr>
            <a:lvl5pPr marL="1828800" indent="0" algn="l" defTabSz="914400" rtl="0" eaLnBrk="1" latinLnBrk="0" hangingPunct="1">
              <a:lnSpc>
                <a:spcPct val="120000"/>
              </a:lnSpc>
              <a:spcBef>
                <a:spcPts val="0"/>
              </a:spcBef>
              <a:buFont typeface="Arial" panose="020B0604020202020204" pitchFamily="34" charset="0"/>
              <a:buNone/>
              <a:defRPr sz="1600" b="1" kern="1200">
                <a:solidFill>
                  <a:schemeClr val="tx1"/>
                </a:solidFill>
                <a:latin typeface="+mn-lt"/>
                <a:ea typeface="+mn-ea"/>
                <a:cs typeface="+mn-cs"/>
              </a:defRPr>
            </a:lvl5pPr>
            <a:lvl6pPr marL="2286000" indent="0" algn="l" defTabSz="914400" rtl="0" eaLnBrk="1" latinLnBrk="0"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6pPr>
            <a:lvl7pPr marL="2743200" indent="0" algn="l" defTabSz="914400" rtl="0" eaLnBrk="1" latinLnBrk="0"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7pPr>
            <a:lvl8pPr marL="3200400" indent="0" algn="l" defTabSz="914400" rtl="0" eaLnBrk="1" latinLnBrk="0"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8pPr>
            <a:lvl9pPr marL="3657600" indent="0" algn="l" defTabSz="914400" rtl="0" eaLnBrk="1" latinLnBrk="0"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9pPr>
          </a:lstStyle>
          <a:p>
            <a:pPr algn="ctr"/>
            <a:r>
              <a:rPr lang="en-GB" sz="3600" dirty="0"/>
              <a:t>Step 3 </a:t>
            </a:r>
            <a:r>
              <a:rPr lang="en-GB" sz="3600" dirty="0">
                <a:solidFill>
                  <a:srgbClr val="7030A0"/>
                </a:solidFill>
              </a:rPr>
              <a:t>– Run Step 1 again</a:t>
            </a:r>
          </a:p>
        </p:txBody>
      </p:sp>
    </p:spTree>
    <p:extLst>
      <p:ext uri="{BB962C8B-B14F-4D97-AF65-F5344CB8AC3E}">
        <p14:creationId xmlns:p14="http://schemas.microsoft.com/office/powerpoint/2010/main" val="235111250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5">
                                            <p:txEl>
                                              <p:pRg st="0" end="0"/>
                                            </p:txEl>
                                          </p:spTgt>
                                        </p:tgtEl>
                                        <p:attrNameLst>
                                          <p:attrName>style.visibility</p:attrName>
                                        </p:attrNameLst>
                                      </p:cBhvr>
                                      <p:to>
                                        <p:strVal val="visible"/>
                                      </p:to>
                                    </p:set>
                                    <p:animEffect transition="in" filter="wipe(left)">
                                      <p:cBhvr>
                                        <p:cTn id="7" dur="500"/>
                                        <p:tgtEl>
                                          <p:spTgt spid="5">
                                            <p:txEl>
                                              <p:pRg st="0" end="0"/>
                                            </p:txEl>
                                          </p:spTgt>
                                        </p:tgtEl>
                                      </p:cBhvr>
                                    </p:animEffect>
                                  </p:childTnLst>
                                </p:cTn>
                              </p:par>
                            </p:childTnLst>
                          </p:cTn>
                        </p:par>
                        <p:par>
                          <p:cTn id="8" fill="hold">
                            <p:stCondLst>
                              <p:cond delay="500"/>
                            </p:stCondLst>
                            <p:childTnLst>
                              <p:par>
                                <p:cTn id="9" presetID="22" presetClass="entr" presetSubtype="8" fill="hold" grpId="0" nodeType="afterEffect">
                                  <p:stCondLst>
                                    <p:cond delay="0"/>
                                  </p:stCondLst>
                                  <p:childTnLst>
                                    <p:set>
                                      <p:cBhvr>
                                        <p:cTn id="10" dur="1" fill="hold">
                                          <p:stCondLst>
                                            <p:cond delay="0"/>
                                          </p:stCondLst>
                                        </p:cTn>
                                        <p:tgtEl>
                                          <p:spTgt spid="3">
                                            <p:txEl>
                                              <p:pRg st="0" end="0"/>
                                            </p:txEl>
                                          </p:spTgt>
                                        </p:tgtEl>
                                        <p:attrNameLst>
                                          <p:attrName>style.visibility</p:attrName>
                                        </p:attrNameLst>
                                      </p:cBhvr>
                                      <p:to>
                                        <p:strVal val="visible"/>
                                      </p:to>
                                    </p:set>
                                    <p:animEffect transition="in" filter="wipe(left)">
                                      <p:cBhvr>
                                        <p:cTn id="11" dur="500"/>
                                        <p:tgtEl>
                                          <p:spTgt spid="3">
                                            <p:txEl>
                                              <p:pRg st="0" end="0"/>
                                            </p:txEl>
                                          </p:spTgt>
                                        </p:tgtEl>
                                      </p:cBhvr>
                                    </p:animEffect>
                                  </p:childTnLst>
                                </p:cTn>
                              </p:par>
                            </p:childTnLst>
                          </p:cTn>
                        </p:par>
                        <p:par>
                          <p:cTn id="12" fill="hold">
                            <p:stCondLst>
                              <p:cond delay="1000"/>
                            </p:stCondLst>
                            <p:childTnLst>
                              <p:par>
                                <p:cTn id="13" presetID="22" presetClass="entr" presetSubtype="8" fill="hold" grpId="0" nodeType="afterEffect">
                                  <p:stCondLst>
                                    <p:cond delay="0"/>
                                  </p:stCondLst>
                                  <p:childTnLst>
                                    <p:set>
                                      <p:cBhvr>
                                        <p:cTn id="14" dur="1" fill="hold">
                                          <p:stCondLst>
                                            <p:cond delay="0"/>
                                          </p:stCondLst>
                                        </p:cTn>
                                        <p:tgtEl>
                                          <p:spTgt spid="3">
                                            <p:txEl>
                                              <p:pRg st="1" end="1"/>
                                            </p:txEl>
                                          </p:spTgt>
                                        </p:tgtEl>
                                        <p:attrNameLst>
                                          <p:attrName>style.visibility</p:attrName>
                                        </p:attrNameLst>
                                      </p:cBhvr>
                                      <p:to>
                                        <p:strVal val="visible"/>
                                      </p:to>
                                    </p:set>
                                    <p:animEffect transition="in" filter="wipe(left)">
                                      <p:cBhvr>
                                        <p:cTn id="15" dur="1000"/>
                                        <p:tgtEl>
                                          <p:spTgt spid="3">
                                            <p:txEl>
                                              <p:pRg st="1" end="1"/>
                                            </p:txEl>
                                          </p:spTgt>
                                        </p:tgtEl>
                                      </p:cBhvr>
                                    </p:animEffect>
                                  </p:childTnLst>
                                </p:cTn>
                              </p:par>
                            </p:childTnLst>
                          </p:cTn>
                        </p:par>
                        <p:par>
                          <p:cTn id="16" fill="hold">
                            <p:stCondLst>
                              <p:cond delay="2000"/>
                            </p:stCondLst>
                            <p:childTnLst>
                              <p:par>
                                <p:cTn id="17" presetID="22" presetClass="entr" presetSubtype="8" fill="hold" grpId="0" nodeType="afterEffect">
                                  <p:stCondLst>
                                    <p:cond delay="0"/>
                                  </p:stCondLst>
                                  <p:childTnLst>
                                    <p:set>
                                      <p:cBhvr>
                                        <p:cTn id="18" dur="1" fill="hold">
                                          <p:stCondLst>
                                            <p:cond delay="0"/>
                                          </p:stCondLst>
                                        </p:cTn>
                                        <p:tgtEl>
                                          <p:spTgt spid="3">
                                            <p:txEl>
                                              <p:pRg st="2" end="2"/>
                                            </p:txEl>
                                          </p:spTgt>
                                        </p:tgtEl>
                                        <p:attrNameLst>
                                          <p:attrName>style.visibility</p:attrName>
                                        </p:attrNameLst>
                                      </p:cBhvr>
                                      <p:to>
                                        <p:strVal val="visible"/>
                                      </p:to>
                                    </p:set>
                                    <p:animEffect transition="in" filter="wipe(left)">
                                      <p:cBhvr>
                                        <p:cTn id="19" dur="1000"/>
                                        <p:tgtEl>
                                          <p:spTgt spid="3">
                                            <p:txEl>
                                              <p:pRg st="2" end="2"/>
                                            </p:txEl>
                                          </p:spTgt>
                                        </p:tgtEl>
                                      </p:cBhvr>
                                    </p:animEffect>
                                  </p:childTnLst>
                                </p:cTn>
                              </p:par>
                            </p:childTnLst>
                          </p:cTn>
                        </p:par>
                      </p:childTnLst>
                    </p:cTn>
                  </p:par>
                  <p:par>
                    <p:cTn id="20" fill="hold">
                      <p:stCondLst>
                        <p:cond delay="indefinite"/>
                      </p:stCondLst>
                      <p:childTnLst>
                        <p:par>
                          <p:cTn id="21" fill="hold">
                            <p:stCondLst>
                              <p:cond delay="0"/>
                            </p:stCondLst>
                            <p:childTnLst>
                              <p:par>
                                <p:cTn id="22" presetID="22" presetClass="entr" presetSubtype="8" fill="hold" grpId="0" nodeType="clickEffect">
                                  <p:stCondLst>
                                    <p:cond delay="0"/>
                                  </p:stCondLst>
                                  <p:childTnLst>
                                    <p:set>
                                      <p:cBhvr>
                                        <p:cTn id="23" dur="1" fill="hold">
                                          <p:stCondLst>
                                            <p:cond delay="0"/>
                                          </p:stCondLst>
                                        </p:cTn>
                                        <p:tgtEl>
                                          <p:spTgt spid="6">
                                            <p:txEl>
                                              <p:pRg st="0" end="0"/>
                                            </p:txEl>
                                          </p:spTgt>
                                        </p:tgtEl>
                                        <p:attrNameLst>
                                          <p:attrName>style.visibility</p:attrName>
                                        </p:attrNameLst>
                                      </p:cBhvr>
                                      <p:to>
                                        <p:strVal val="visible"/>
                                      </p:to>
                                    </p:set>
                                    <p:animEffect transition="in" filter="wipe(left)">
                                      <p:cBhvr>
                                        <p:cTn id="24" dur="500"/>
                                        <p:tgtEl>
                                          <p:spTgt spid="6">
                                            <p:txEl>
                                              <p:pRg st="0" end="0"/>
                                            </p:txEl>
                                          </p:spTgt>
                                        </p:tgtEl>
                                      </p:cBhvr>
                                    </p:animEffect>
                                  </p:childTnLst>
                                </p:cTn>
                              </p:par>
                            </p:childTnLst>
                          </p:cTn>
                        </p:par>
                        <p:par>
                          <p:cTn id="25" fill="hold">
                            <p:stCondLst>
                              <p:cond delay="500"/>
                            </p:stCondLst>
                            <p:childTnLst>
                              <p:par>
                                <p:cTn id="26" presetID="22" presetClass="entr" presetSubtype="8" fill="hold" grpId="0" nodeType="afterEffect">
                                  <p:stCondLst>
                                    <p:cond delay="0"/>
                                  </p:stCondLst>
                                  <p:childTnLst>
                                    <p:set>
                                      <p:cBhvr>
                                        <p:cTn id="27" dur="1" fill="hold">
                                          <p:stCondLst>
                                            <p:cond delay="0"/>
                                          </p:stCondLst>
                                        </p:cTn>
                                        <p:tgtEl>
                                          <p:spTgt spid="4">
                                            <p:txEl>
                                              <p:pRg st="0" end="0"/>
                                            </p:txEl>
                                          </p:spTgt>
                                        </p:tgtEl>
                                        <p:attrNameLst>
                                          <p:attrName>style.visibility</p:attrName>
                                        </p:attrNameLst>
                                      </p:cBhvr>
                                      <p:to>
                                        <p:strVal val="visible"/>
                                      </p:to>
                                    </p:set>
                                    <p:animEffect transition="in" filter="wipe(left)">
                                      <p:cBhvr>
                                        <p:cTn id="28" dur="1000"/>
                                        <p:tgtEl>
                                          <p:spTgt spid="4">
                                            <p:txEl>
                                              <p:pRg st="0" end="0"/>
                                            </p:txEl>
                                          </p:spTgt>
                                        </p:tgtEl>
                                      </p:cBhvr>
                                    </p:animEffect>
                                  </p:childTnLst>
                                </p:cTn>
                              </p:par>
                            </p:childTnLst>
                          </p:cTn>
                        </p:par>
                        <p:par>
                          <p:cTn id="29" fill="hold">
                            <p:stCondLst>
                              <p:cond delay="1500"/>
                            </p:stCondLst>
                            <p:childTnLst>
                              <p:par>
                                <p:cTn id="30" presetID="22" presetClass="entr" presetSubtype="8" fill="hold" grpId="0" nodeType="afterEffect">
                                  <p:stCondLst>
                                    <p:cond delay="0"/>
                                  </p:stCondLst>
                                  <p:childTnLst>
                                    <p:set>
                                      <p:cBhvr>
                                        <p:cTn id="31" dur="1" fill="hold">
                                          <p:stCondLst>
                                            <p:cond delay="0"/>
                                          </p:stCondLst>
                                        </p:cTn>
                                        <p:tgtEl>
                                          <p:spTgt spid="4">
                                            <p:txEl>
                                              <p:pRg st="1" end="1"/>
                                            </p:txEl>
                                          </p:spTgt>
                                        </p:tgtEl>
                                        <p:attrNameLst>
                                          <p:attrName>style.visibility</p:attrName>
                                        </p:attrNameLst>
                                      </p:cBhvr>
                                      <p:to>
                                        <p:strVal val="visible"/>
                                      </p:to>
                                    </p:set>
                                    <p:animEffect transition="in" filter="wipe(left)">
                                      <p:cBhvr>
                                        <p:cTn id="32" dur="1000"/>
                                        <p:tgtEl>
                                          <p:spTgt spid="4">
                                            <p:txEl>
                                              <p:pRg st="1" end="1"/>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8"/>
                                        </p:tgtEl>
                                        <p:attrNameLst>
                                          <p:attrName>style.visibility</p:attrName>
                                        </p:attrNameLst>
                                      </p:cBhvr>
                                      <p:to>
                                        <p:strVal val="visible"/>
                                      </p:to>
                                    </p:set>
                                    <p:animEffect transition="in" filter="wipe(left)">
                                      <p:cBhvr>
                                        <p:cTn id="37" dur="1000"/>
                                        <p:tgtEl>
                                          <p:spTgt spid="8"/>
                                        </p:tgtEl>
                                      </p:cBhvr>
                                    </p:animEffect>
                                  </p:childTnLst>
                                </p:cTn>
                              </p:par>
                            </p:childTnLst>
                          </p:cTn>
                        </p:par>
                        <p:par>
                          <p:cTn id="38" fill="hold">
                            <p:stCondLst>
                              <p:cond delay="1000"/>
                            </p:stCondLst>
                            <p:childTnLst>
                              <p:par>
                                <p:cTn id="39" presetID="22" presetClass="entr" presetSubtype="8" fill="hold" grpId="0" nodeType="afterEffect">
                                  <p:stCondLst>
                                    <p:cond delay="0"/>
                                  </p:stCondLst>
                                  <p:childTnLst>
                                    <p:set>
                                      <p:cBhvr>
                                        <p:cTn id="40" dur="1" fill="hold">
                                          <p:stCondLst>
                                            <p:cond delay="0"/>
                                          </p:stCondLst>
                                        </p:cTn>
                                        <p:tgtEl>
                                          <p:spTgt spid="7"/>
                                        </p:tgtEl>
                                        <p:attrNameLst>
                                          <p:attrName>style.visibility</p:attrName>
                                        </p:attrNameLst>
                                      </p:cBhvr>
                                      <p:to>
                                        <p:strVal val="visible"/>
                                      </p:to>
                                    </p:set>
                                    <p:animEffect transition="in" filter="wipe(left)">
                                      <p:cBhvr>
                                        <p:cTn id="41" dur="2000"/>
                                        <p:tgtEl>
                                          <p:spTgt spid="7"/>
                                        </p:tgtEl>
                                      </p:cBhvr>
                                    </p:animEffect>
                                  </p:childTnLst>
                                </p:cTn>
                              </p:par>
                            </p:childTnLst>
                          </p:cTn>
                        </p:par>
                      </p:childTnLst>
                    </p:cTn>
                  </p:par>
                  <p:par>
                    <p:cTn id="42" fill="hold">
                      <p:stCondLst>
                        <p:cond delay="indefinite"/>
                      </p:stCondLst>
                      <p:childTnLst>
                        <p:par>
                          <p:cTn id="43" fill="hold">
                            <p:stCondLst>
                              <p:cond delay="0"/>
                            </p:stCondLst>
                            <p:childTnLst>
                              <p:par>
                                <p:cTn id="44" presetID="22" presetClass="entr" presetSubtype="8" fill="hold" grpId="0" nodeType="clickEffect">
                                  <p:stCondLst>
                                    <p:cond delay="0"/>
                                  </p:stCondLst>
                                  <p:childTnLst>
                                    <p:set>
                                      <p:cBhvr>
                                        <p:cTn id="45" dur="1" fill="hold">
                                          <p:stCondLst>
                                            <p:cond delay="0"/>
                                          </p:stCondLst>
                                        </p:cTn>
                                        <p:tgtEl>
                                          <p:spTgt spid="9">
                                            <p:txEl>
                                              <p:pRg st="0" end="0"/>
                                            </p:txEl>
                                          </p:spTgt>
                                        </p:tgtEl>
                                        <p:attrNameLst>
                                          <p:attrName>style.visibility</p:attrName>
                                        </p:attrNameLst>
                                      </p:cBhvr>
                                      <p:to>
                                        <p:strVal val="visible"/>
                                      </p:to>
                                    </p:set>
                                    <p:animEffect transition="in" filter="wipe(left)">
                                      <p:cBhvr>
                                        <p:cTn id="46" dur="2000"/>
                                        <p:tgtEl>
                                          <p:spTgt spid="9">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build="p"/>
      <p:bldP spid="3" grpId="0" uiExpand="1" build="p"/>
      <p:bldP spid="6" grpId="0" build="p"/>
      <p:bldP spid="4" grpId="0" uiExpand="1" build="p"/>
      <p:bldP spid="7" grpId="0"/>
      <p:bldP spid="8" grpId="0" animBg="1"/>
      <p:bldP spid="9" grpId="0" build="p"/>
    </p:bldLst>
  </p:timing>
</p:sld>
</file>

<file path=ppt/slides/slide11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4150D6E-A7AE-40F1-B520-C3C5A5B9033C}"/>
              </a:ext>
            </a:extLst>
          </p:cNvPr>
          <p:cNvSpPr>
            <a:spLocks noGrp="1"/>
          </p:cNvSpPr>
          <p:nvPr>
            <p:ph type="title"/>
          </p:nvPr>
        </p:nvSpPr>
        <p:spPr/>
        <p:txBody>
          <a:bodyPr/>
          <a:lstStyle/>
          <a:p>
            <a:r>
              <a:rPr lang="en-GB" dirty="0"/>
              <a:t>Remove Data -  In stages</a:t>
            </a:r>
          </a:p>
        </p:txBody>
      </p:sp>
      <p:sp>
        <p:nvSpPr>
          <p:cNvPr id="5" name="Text Placeholder 4">
            <a:extLst>
              <a:ext uri="{FF2B5EF4-FFF2-40B4-BE49-F238E27FC236}">
                <a16:creationId xmlns:a16="http://schemas.microsoft.com/office/drawing/2014/main" id="{000FA1C3-5832-49DF-B768-CBF372ADFA59}"/>
              </a:ext>
            </a:extLst>
          </p:cNvPr>
          <p:cNvSpPr>
            <a:spLocks noGrp="1"/>
          </p:cNvSpPr>
          <p:nvPr>
            <p:ph type="body" idx="1"/>
          </p:nvPr>
        </p:nvSpPr>
        <p:spPr/>
        <p:txBody>
          <a:bodyPr>
            <a:normAutofit/>
          </a:bodyPr>
          <a:lstStyle/>
          <a:p>
            <a:endParaRPr lang="en-GB" sz="3600" dirty="0"/>
          </a:p>
        </p:txBody>
      </p:sp>
      <p:sp>
        <p:nvSpPr>
          <p:cNvPr id="3" name="Content Placeholder 2">
            <a:extLst>
              <a:ext uri="{FF2B5EF4-FFF2-40B4-BE49-F238E27FC236}">
                <a16:creationId xmlns:a16="http://schemas.microsoft.com/office/drawing/2014/main" id="{95A0844E-7BAE-4F4A-A1DA-DD7BE74B9B74}"/>
              </a:ext>
            </a:extLst>
          </p:cNvPr>
          <p:cNvSpPr>
            <a:spLocks noGrp="1"/>
          </p:cNvSpPr>
          <p:nvPr>
            <p:ph sz="half" idx="2"/>
          </p:nvPr>
        </p:nvSpPr>
        <p:spPr>
          <a:xfrm>
            <a:off x="836612" y="2505075"/>
            <a:ext cx="5160964" cy="3684588"/>
          </a:xfrm>
        </p:spPr>
        <p:txBody>
          <a:bodyPr/>
          <a:lstStyle/>
          <a:p>
            <a:pPr marL="0" lv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1 </a:t>
            </a:r>
            <a:r>
              <a:rPr lang="en-US" altLang="en-US" dirty="0">
                <a:solidFill>
                  <a:srgbClr val="A71D5D"/>
                </a:solidFill>
                <a:latin typeface="Consolas" panose="020B0609020204030204" pitchFamily="49" charset="0"/>
              </a:rPr>
              <a:t>SELECT </a:t>
            </a:r>
            <a:r>
              <a:rPr lang="en-US" altLang="en-US"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2   </a:t>
            </a:r>
            <a:r>
              <a:rPr lang="en-US" altLang="en-US" dirty="0">
                <a:solidFill>
                  <a:srgbClr val="A71D5D"/>
                </a:solidFill>
                <a:latin typeface="Consolas" panose="020B0609020204030204" pitchFamily="49" charset="0"/>
              </a:rPr>
              <a:t>FROM</a:t>
            </a:r>
            <a:r>
              <a:rPr lang="en-US" altLang="en-US" dirty="0">
                <a:solidFill>
                  <a:srgbClr val="000000"/>
                </a:solidFill>
                <a:latin typeface="Consolas" panose="020B0609020204030204" pitchFamily="49" charset="0"/>
              </a:rPr>
              <a:t> Pupil</a:t>
            </a:r>
          </a:p>
          <a:p>
            <a:pPr marL="0" lv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2   </a:t>
            </a:r>
            <a:r>
              <a:rPr lang="en-US" altLang="en-US" dirty="0">
                <a:solidFill>
                  <a:srgbClr val="A71D5D"/>
                </a:solidFill>
                <a:latin typeface="Consolas" panose="020B0609020204030204" pitchFamily="49" charset="0"/>
              </a:rPr>
              <a:t>WHERE</a:t>
            </a:r>
            <a:r>
              <a:rPr lang="en-US" altLang="en-US" dirty="0">
                <a:solidFill>
                  <a:srgbClr val="000000"/>
                </a:solidFill>
                <a:latin typeface="Consolas" panose="020B0609020204030204" pitchFamily="49" charset="0"/>
              </a:rPr>
              <a:t> </a:t>
            </a:r>
            <a:r>
              <a:rPr lang="en-US" altLang="en-US" dirty="0" err="1">
                <a:solidFill>
                  <a:srgbClr val="000000"/>
                </a:solidFill>
                <a:latin typeface="Consolas" panose="020B0609020204030204" pitchFamily="49" charset="0"/>
              </a:rPr>
              <a:t>pupilID</a:t>
            </a:r>
            <a:r>
              <a:rPr lang="en-US" altLang="en-US" dirty="0">
                <a:solidFill>
                  <a:srgbClr val="000000"/>
                </a:solidFill>
                <a:latin typeface="Consolas" panose="020B0609020204030204" pitchFamily="49" charset="0"/>
              </a:rPr>
              <a:t> = </a:t>
            </a:r>
            <a:r>
              <a:rPr lang="en-US" altLang="en-US" dirty="0">
                <a:solidFill>
                  <a:srgbClr val="0086B3"/>
                </a:solidFill>
                <a:latin typeface="Consolas" panose="020B0609020204030204" pitchFamily="49" charset="0"/>
              </a:rPr>
              <a:t>2</a:t>
            </a:r>
            <a:r>
              <a:rPr lang="en-US" altLang="en-US" dirty="0">
                <a:solidFill>
                  <a:srgbClr val="000000"/>
                </a:solidFill>
                <a:latin typeface="Consolas" panose="020B0609020204030204" pitchFamily="49" charset="0"/>
              </a:rPr>
              <a:t>;</a:t>
            </a:r>
            <a:endParaRPr lang="en-US" altLang="en-US" sz="4000" dirty="0">
              <a:latin typeface="Arial" panose="020B0604020202020204" pitchFamily="34" charset="0"/>
            </a:endParaRPr>
          </a:p>
          <a:p>
            <a:pPr marL="0" indent="0">
              <a:buNone/>
            </a:pPr>
            <a:endParaRPr lang="en-GB" dirty="0"/>
          </a:p>
        </p:txBody>
      </p:sp>
      <p:sp>
        <p:nvSpPr>
          <p:cNvPr id="6" name="Text Placeholder 5">
            <a:extLst>
              <a:ext uri="{FF2B5EF4-FFF2-40B4-BE49-F238E27FC236}">
                <a16:creationId xmlns:a16="http://schemas.microsoft.com/office/drawing/2014/main" id="{8577C599-C84A-46C7-BB62-6C336B2F005F}"/>
              </a:ext>
            </a:extLst>
          </p:cNvPr>
          <p:cNvSpPr>
            <a:spLocks noGrp="1"/>
          </p:cNvSpPr>
          <p:nvPr>
            <p:ph type="body" sz="quarter" idx="3"/>
          </p:nvPr>
        </p:nvSpPr>
        <p:spPr/>
        <p:txBody>
          <a:bodyPr>
            <a:normAutofit/>
          </a:bodyPr>
          <a:lstStyle/>
          <a:p>
            <a:endParaRPr lang="en-GB" sz="3600" dirty="0"/>
          </a:p>
        </p:txBody>
      </p:sp>
      <p:sp>
        <p:nvSpPr>
          <p:cNvPr id="4" name="Content Placeholder 3">
            <a:extLst>
              <a:ext uri="{FF2B5EF4-FFF2-40B4-BE49-F238E27FC236}">
                <a16:creationId xmlns:a16="http://schemas.microsoft.com/office/drawing/2014/main" id="{D6A3CFF1-8569-4597-ADB2-1CADEA342D2F}"/>
              </a:ext>
            </a:extLst>
          </p:cNvPr>
          <p:cNvSpPr>
            <a:spLocks noGrp="1"/>
          </p:cNvSpPr>
          <p:nvPr>
            <p:ph sz="quarter" idx="4"/>
          </p:nvPr>
        </p:nvSpPr>
        <p:spPr>
          <a:xfrm>
            <a:off x="6172200" y="2505075"/>
            <a:ext cx="5180012" cy="3684588"/>
          </a:xfrm>
        </p:spPr>
        <p:txBody>
          <a:bodyPr/>
          <a:lstStyle/>
          <a:p>
            <a:pPr marL="0" lv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1 </a:t>
            </a:r>
            <a:r>
              <a:rPr lang="en-US" altLang="en-US" dirty="0">
                <a:solidFill>
                  <a:srgbClr val="A71D5D"/>
                </a:solidFill>
                <a:latin typeface="Consolas" panose="020B0609020204030204" pitchFamily="49" charset="0"/>
              </a:rPr>
              <a:t>DELETE FROM</a:t>
            </a:r>
            <a:r>
              <a:rPr lang="en-US" altLang="en-US" dirty="0">
                <a:solidFill>
                  <a:srgbClr val="000000"/>
                </a:solidFill>
                <a:latin typeface="Consolas" panose="020B0609020204030204" pitchFamily="49" charset="0"/>
              </a:rPr>
              <a:t> Pupil</a:t>
            </a:r>
          </a:p>
          <a:p>
            <a:pPr marL="0" lv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2   </a:t>
            </a:r>
            <a:r>
              <a:rPr lang="en-US" altLang="en-US" dirty="0">
                <a:solidFill>
                  <a:srgbClr val="A71D5D"/>
                </a:solidFill>
                <a:latin typeface="Consolas" panose="020B0609020204030204" pitchFamily="49" charset="0"/>
              </a:rPr>
              <a:t>WHERE</a:t>
            </a:r>
            <a:r>
              <a:rPr lang="en-US" altLang="en-US" dirty="0">
                <a:solidFill>
                  <a:srgbClr val="000000"/>
                </a:solidFill>
                <a:latin typeface="Consolas" panose="020B0609020204030204" pitchFamily="49" charset="0"/>
              </a:rPr>
              <a:t> </a:t>
            </a:r>
            <a:r>
              <a:rPr lang="en-US" altLang="en-US" dirty="0" err="1">
                <a:solidFill>
                  <a:srgbClr val="000000"/>
                </a:solidFill>
                <a:latin typeface="Consolas" panose="020B0609020204030204" pitchFamily="49" charset="0"/>
              </a:rPr>
              <a:t>pupilID</a:t>
            </a:r>
            <a:r>
              <a:rPr lang="en-US" altLang="en-US" dirty="0">
                <a:solidFill>
                  <a:srgbClr val="000000"/>
                </a:solidFill>
                <a:latin typeface="Consolas" panose="020B0609020204030204" pitchFamily="49" charset="0"/>
              </a:rPr>
              <a:t> = </a:t>
            </a:r>
            <a:r>
              <a:rPr lang="en-US" altLang="en-US" dirty="0">
                <a:solidFill>
                  <a:srgbClr val="0086B3"/>
                </a:solidFill>
                <a:latin typeface="Consolas" panose="020B0609020204030204" pitchFamily="49" charset="0"/>
              </a:rPr>
              <a:t>2</a:t>
            </a:r>
            <a:r>
              <a:rPr lang="en-US" altLang="en-US" dirty="0">
                <a:solidFill>
                  <a:srgbClr val="000000"/>
                </a:solidFill>
                <a:latin typeface="Consolas" panose="020B0609020204030204" pitchFamily="49" charset="0"/>
              </a:rPr>
              <a:t>;</a:t>
            </a:r>
            <a:endParaRPr lang="en-US" altLang="en-US" sz="4000" dirty="0">
              <a:latin typeface="Arial" panose="020B0604020202020204" pitchFamily="34" charset="0"/>
            </a:endParaRPr>
          </a:p>
          <a:p>
            <a:pPr marL="0" indent="0">
              <a:buNone/>
            </a:pPr>
            <a:endParaRPr lang="en-GB" dirty="0"/>
          </a:p>
        </p:txBody>
      </p:sp>
      <p:sp>
        <p:nvSpPr>
          <p:cNvPr id="7" name="Text Placeholder 4">
            <a:extLst>
              <a:ext uri="{FF2B5EF4-FFF2-40B4-BE49-F238E27FC236}">
                <a16:creationId xmlns:a16="http://schemas.microsoft.com/office/drawing/2014/main" id="{4F13AA94-9389-A23C-9F7B-78D9F5F9BC32}"/>
              </a:ext>
            </a:extLst>
          </p:cNvPr>
          <p:cNvSpPr txBox="1">
            <a:spLocks/>
          </p:cNvSpPr>
          <p:nvPr/>
        </p:nvSpPr>
        <p:spPr>
          <a:xfrm>
            <a:off x="3607738" y="5608953"/>
            <a:ext cx="4976525" cy="823912"/>
          </a:xfrm>
          <a:prstGeom prst="rect">
            <a:avLst/>
          </a:prstGeom>
        </p:spPr>
        <p:txBody>
          <a:bodyPr vert="horz" lIns="91440" tIns="45720" rIns="91440" bIns="45720" rtlCol="0" anchor="b">
            <a:normAutofit/>
          </a:bodyPr>
          <a:lstStyle>
            <a:lvl1pPr marL="0" indent="0" algn="l" defTabSz="914400" rtl="0" eaLnBrk="1" latinLnBrk="0" hangingPunct="1">
              <a:lnSpc>
                <a:spcPct val="120000"/>
              </a:lnSpc>
              <a:spcBef>
                <a:spcPts val="0"/>
              </a:spcBef>
              <a:buFont typeface="Arial" panose="020B0604020202020204" pitchFamily="34" charset="0"/>
              <a:buNone/>
              <a:defRPr sz="2400" b="1" kern="1200">
                <a:solidFill>
                  <a:schemeClr val="tx1"/>
                </a:solidFill>
                <a:latin typeface="+mn-lt"/>
                <a:ea typeface="+mn-ea"/>
                <a:cs typeface="+mn-cs"/>
              </a:defRPr>
            </a:lvl1pPr>
            <a:lvl2pPr marL="457200" indent="0" algn="l" defTabSz="914400" rtl="0" eaLnBrk="1" latinLnBrk="0" hangingPunct="1">
              <a:lnSpc>
                <a:spcPct val="120000"/>
              </a:lnSpc>
              <a:spcBef>
                <a:spcPts val="0"/>
              </a:spcBef>
              <a:buFont typeface="Arial" panose="020B0604020202020204" pitchFamily="34" charset="0"/>
              <a:buNone/>
              <a:defRPr sz="2000" b="1" kern="1200">
                <a:solidFill>
                  <a:schemeClr val="tx1"/>
                </a:solidFill>
                <a:latin typeface="+mn-lt"/>
                <a:ea typeface="+mn-ea"/>
                <a:cs typeface="+mn-cs"/>
              </a:defRPr>
            </a:lvl2pPr>
            <a:lvl3pPr marL="914400" indent="0" algn="l" defTabSz="914400" rtl="0" eaLnBrk="1" latinLnBrk="0" hangingPunct="1">
              <a:lnSpc>
                <a:spcPct val="120000"/>
              </a:lnSpc>
              <a:spcBef>
                <a:spcPts val="0"/>
              </a:spcBef>
              <a:buFont typeface="Arial" panose="020B0604020202020204" pitchFamily="34" charset="0"/>
              <a:buNone/>
              <a:defRPr sz="1800" b="1" kern="1200">
                <a:solidFill>
                  <a:schemeClr val="tx1"/>
                </a:solidFill>
                <a:latin typeface="+mn-lt"/>
                <a:ea typeface="+mn-ea"/>
                <a:cs typeface="+mn-cs"/>
              </a:defRPr>
            </a:lvl3pPr>
            <a:lvl4pPr marL="1371600" indent="0" algn="l" defTabSz="914400" rtl="0" eaLnBrk="1" latinLnBrk="0" hangingPunct="1">
              <a:lnSpc>
                <a:spcPct val="120000"/>
              </a:lnSpc>
              <a:spcBef>
                <a:spcPts val="0"/>
              </a:spcBef>
              <a:buFont typeface="Arial" panose="020B0604020202020204" pitchFamily="34" charset="0"/>
              <a:buNone/>
              <a:defRPr sz="1600" b="1" kern="1200">
                <a:solidFill>
                  <a:schemeClr val="tx1"/>
                </a:solidFill>
                <a:latin typeface="+mn-lt"/>
                <a:ea typeface="+mn-ea"/>
                <a:cs typeface="+mn-cs"/>
              </a:defRPr>
            </a:lvl4pPr>
            <a:lvl5pPr marL="1828800" indent="0" algn="l" defTabSz="914400" rtl="0" eaLnBrk="1" latinLnBrk="0" hangingPunct="1">
              <a:lnSpc>
                <a:spcPct val="120000"/>
              </a:lnSpc>
              <a:spcBef>
                <a:spcPts val="0"/>
              </a:spcBef>
              <a:buFont typeface="Arial" panose="020B0604020202020204" pitchFamily="34" charset="0"/>
              <a:buNone/>
              <a:defRPr sz="1600" b="1" kern="1200">
                <a:solidFill>
                  <a:schemeClr val="tx1"/>
                </a:solidFill>
                <a:latin typeface="+mn-lt"/>
                <a:ea typeface="+mn-ea"/>
                <a:cs typeface="+mn-cs"/>
              </a:defRPr>
            </a:lvl5pPr>
            <a:lvl6pPr marL="2286000" indent="0" algn="l" defTabSz="914400" rtl="0" eaLnBrk="1" latinLnBrk="0"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6pPr>
            <a:lvl7pPr marL="2743200" indent="0" algn="l" defTabSz="914400" rtl="0" eaLnBrk="1" latinLnBrk="0"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7pPr>
            <a:lvl8pPr marL="3200400" indent="0" algn="l" defTabSz="914400" rtl="0" eaLnBrk="1" latinLnBrk="0"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8pPr>
            <a:lvl9pPr marL="3657600" indent="0" algn="l" defTabSz="914400" rtl="0" eaLnBrk="1" latinLnBrk="0"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9pPr>
          </a:lstStyle>
          <a:p>
            <a:r>
              <a:rPr lang="en-GB" sz="3600" dirty="0"/>
              <a:t>Step 3 </a:t>
            </a:r>
            <a:r>
              <a:rPr lang="en-GB" sz="3600" dirty="0">
                <a:solidFill>
                  <a:srgbClr val="7030A0"/>
                </a:solidFill>
              </a:rPr>
              <a:t>– </a:t>
            </a:r>
          </a:p>
        </p:txBody>
      </p:sp>
    </p:spTree>
    <p:extLst>
      <p:ext uri="{BB962C8B-B14F-4D97-AF65-F5344CB8AC3E}">
        <p14:creationId xmlns:p14="http://schemas.microsoft.com/office/powerpoint/2010/main" val="3289411279"/>
      </p:ext>
    </p:extLst>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457F073F-C049-47E9-959D-70C4FC9FE669}"/>
              </a:ext>
            </a:extLst>
          </p:cNvPr>
          <p:cNvSpPr>
            <a:spLocks noGrp="1"/>
          </p:cNvSpPr>
          <p:nvPr>
            <p:ph type="title"/>
          </p:nvPr>
        </p:nvSpPr>
        <p:spPr/>
        <p:txBody>
          <a:bodyPr/>
          <a:lstStyle/>
          <a:p>
            <a:r>
              <a:rPr lang="en-GB" dirty="0"/>
              <a:t>SQL Queries - Overview</a:t>
            </a:r>
          </a:p>
        </p:txBody>
      </p:sp>
      <p:sp>
        <p:nvSpPr>
          <p:cNvPr id="5" name="TextBox 4">
            <a:extLst>
              <a:ext uri="{FF2B5EF4-FFF2-40B4-BE49-F238E27FC236}">
                <a16:creationId xmlns:a16="http://schemas.microsoft.com/office/drawing/2014/main" id="{BAA89BB4-3AB4-4ECE-8A4E-BAE9D9416378}"/>
              </a:ext>
            </a:extLst>
          </p:cNvPr>
          <p:cNvSpPr txBox="1"/>
          <p:nvPr/>
        </p:nvSpPr>
        <p:spPr>
          <a:xfrm>
            <a:off x="838200" y="1686391"/>
            <a:ext cx="6296917" cy="2400657"/>
          </a:xfrm>
          <a:prstGeom prst="rect">
            <a:avLst/>
          </a:prstGeom>
          <a:noFill/>
        </p:spPr>
        <p:txBody>
          <a:bodyPr wrap="none" rtlCol="0">
            <a:spAutoFit/>
          </a:bodyPr>
          <a:lstStyle/>
          <a:p>
            <a:r>
              <a:rPr lang="en-GB" sz="2800" b="1" dirty="0">
                <a:solidFill>
                  <a:srgbClr val="0070C0"/>
                </a:solidFill>
              </a:rPr>
              <a:t>View</a:t>
            </a:r>
          </a:p>
          <a:p>
            <a:endParaRPr lang="en-GB" sz="1000" dirty="0"/>
          </a:p>
          <a:p>
            <a:r>
              <a:rPr lang="en-GB" sz="2800" dirty="0">
                <a:latin typeface="Consolas" panose="020B0609020204030204" pitchFamily="49" charset="0"/>
              </a:rPr>
              <a:t>SELECT field(s)</a:t>
            </a:r>
          </a:p>
          <a:p>
            <a:r>
              <a:rPr lang="en-GB" sz="2800" dirty="0">
                <a:latin typeface="Consolas" panose="020B0609020204030204" pitchFamily="49" charset="0"/>
              </a:rPr>
              <a:t>  FROM table(s)</a:t>
            </a:r>
          </a:p>
          <a:p>
            <a:r>
              <a:rPr lang="en-GB" sz="2800" dirty="0">
                <a:latin typeface="Consolas" panose="020B0609020204030204" pitchFamily="49" charset="0"/>
              </a:rPr>
              <a:t>  </a:t>
            </a:r>
            <a:r>
              <a:rPr lang="en-GB" sz="2800" i="1" dirty="0">
                <a:latin typeface="Consolas" panose="020B0609020204030204" pitchFamily="49" charset="0"/>
              </a:rPr>
              <a:t>WHERE condition(s) </a:t>
            </a:r>
            <a:r>
              <a:rPr lang="en-GB" sz="2800" b="1" i="1" dirty="0" err="1">
                <a:solidFill>
                  <a:srgbClr val="00B050"/>
                </a:solidFill>
                <a:latin typeface="Consolas" panose="020B0609020204030204" pitchFamily="49" charset="0"/>
              </a:rPr>
              <a:t>equi</a:t>
            </a:r>
            <a:r>
              <a:rPr lang="en-GB" sz="2800" b="1" i="1" dirty="0">
                <a:solidFill>
                  <a:srgbClr val="00B050"/>
                </a:solidFill>
                <a:latin typeface="Consolas" panose="020B0609020204030204" pitchFamily="49" charset="0"/>
              </a:rPr>
              <a:t>-join?</a:t>
            </a:r>
            <a:endParaRPr lang="en-GB" sz="2800" b="1" i="1" dirty="0">
              <a:latin typeface="Consolas" panose="020B0609020204030204" pitchFamily="49" charset="0"/>
            </a:endParaRPr>
          </a:p>
          <a:p>
            <a:r>
              <a:rPr lang="en-GB" sz="2800" i="1" dirty="0">
                <a:latin typeface="Consolas" panose="020B0609020204030204" pitchFamily="49" charset="0"/>
              </a:rPr>
              <a:t>  ORDER BY field(s) ASC </a:t>
            </a:r>
            <a:r>
              <a:rPr lang="en-GB" sz="2800" i="1" dirty="0">
                <a:solidFill>
                  <a:srgbClr val="7030A0"/>
                </a:solidFill>
                <a:latin typeface="Consolas" panose="020B0609020204030204" pitchFamily="49" charset="0"/>
              </a:rPr>
              <a:t>|</a:t>
            </a:r>
            <a:r>
              <a:rPr lang="en-GB" sz="2800" i="1" dirty="0">
                <a:latin typeface="Consolas" panose="020B0609020204030204" pitchFamily="49" charset="0"/>
              </a:rPr>
              <a:t> DESC</a:t>
            </a:r>
            <a:r>
              <a:rPr lang="en-GB" sz="2800" dirty="0">
                <a:latin typeface="Consolas" panose="020B0609020204030204" pitchFamily="49" charset="0"/>
              </a:rPr>
              <a:t>;</a:t>
            </a:r>
          </a:p>
        </p:txBody>
      </p:sp>
      <p:sp>
        <p:nvSpPr>
          <p:cNvPr id="6" name="TextBox 5">
            <a:extLst>
              <a:ext uri="{FF2B5EF4-FFF2-40B4-BE49-F238E27FC236}">
                <a16:creationId xmlns:a16="http://schemas.microsoft.com/office/drawing/2014/main" id="{194818A1-3C4F-43CB-A0EC-9F156FA116B6}"/>
              </a:ext>
            </a:extLst>
          </p:cNvPr>
          <p:cNvSpPr txBox="1"/>
          <p:nvPr/>
        </p:nvSpPr>
        <p:spPr>
          <a:xfrm>
            <a:off x="7817254" y="1686390"/>
            <a:ext cx="3536546" cy="2400657"/>
          </a:xfrm>
          <a:prstGeom prst="rect">
            <a:avLst/>
          </a:prstGeom>
          <a:noFill/>
        </p:spPr>
        <p:txBody>
          <a:bodyPr wrap="none" rtlCol="0">
            <a:spAutoFit/>
          </a:bodyPr>
          <a:lstStyle/>
          <a:p>
            <a:r>
              <a:rPr lang="en-GB" sz="2800" b="1" dirty="0">
                <a:solidFill>
                  <a:srgbClr val="0070C0"/>
                </a:solidFill>
              </a:rPr>
              <a:t>Add</a:t>
            </a:r>
          </a:p>
          <a:p>
            <a:endParaRPr lang="en-GB" sz="1000" dirty="0"/>
          </a:p>
          <a:p>
            <a:r>
              <a:rPr lang="en-GB" sz="2800" dirty="0">
                <a:latin typeface="Consolas" panose="020B0609020204030204" pitchFamily="49" charset="0"/>
              </a:rPr>
              <a:t>INSERT INTO table</a:t>
            </a:r>
          </a:p>
          <a:p>
            <a:r>
              <a:rPr lang="en-GB" sz="2800" dirty="0">
                <a:latin typeface="Consolas" panose="020B0609020204030204" pitchFamily="49" charset="0"/>
              </a:rPr>
              <a:t>  VALUES (…);</a:t>
            </a:r>
          </a:p>
          <a:p>
            <a:endParaRPr lang="en-GB" sz="2800" dirty="0">
              <a:latin typeface="Consolas" panose="020B0609020204030204" pitchFamily="49" charset="0"/>
            </a:endParaRPr>
          </a:p>
          <a:p>
            <a:pPr algn="ctr"/>
            <a:r>
              <a:rPr lang="en-GB" sz="2800" b="1" dirty="0">
                <a:solidFill>
                  <a:srgbClr val="00B050"/>
                </a:solidFill>
                <a:latin typeface="Consolas" panose="020B0609020204030204" pitchFamily="49" charset="0"/>
              </a:rPr>
              <a:t>(+ variations)</a:t>
            </a:r>
          </a:p>
        </p:txBody>
      </p:sp>
      <p:sp>
        <p:nvSpPr>
          <p:cNvPr id="7" name="TextBox 6">
            <a:extLst>
              <a:ext uri="{FF2B5EF4-FFF2-40B4-BE49-F238E27FC236}">
                <a16:creationId xmlns:a16="http://schemas.microsoft.com/office/drawing/2014/main" id="{A7748392-0430-47F2-9A73-6449587C132E}"/>
              </a:ext>
            </a:extLst>
          </p:cNvPr>
          <p:cNvSpPr txBox="1"/>
          <p:nvPr/>
        </p:nvSpPr>
        <p:spPr>
          <a:xfrm>
            <a:off x="838200" y="4461550"/>
            <a:ext cx="5113900" cy="2031325"/>
          </a:xfrm>
          <a:prstGeom prst="rect">
            <a:avLst/>
          </a:prstGeom>
          <a:noFill/>
        </p:spPr>
        <p:txBody>
          <a:bodyPr wrap="none" rtlCol="0">
            <a:spAutoFit/>
          </a:bodyPr>
          <a:lstStyle/>
          <a:p>
            <a:r>
              <a:rPr lang="en-GB" sz="2800" b="1" dirty="0">
                <a:solidFill>
                  <a:srgbClr val="0070C0"/>
                </a:solidFill>
              </a:rPr>
              <a:t>Modify - </a:t>
            </a:r>
            <a:r>
              <a:rPr lang="en-GB" sz="2800" b="1" dirty="0">
                <a:solidFill>
                  <a:srgbClr val="FF0000"/>
                </a:solidFill>
              </a:rPr>
              <a:t>Danger!</a:t>
            </a:r>
            <a:endParaRPr lang="en-GB" sz="2800" b="1" dirty="0">
              <a:solidFill>
                <a:srgbClr val="0070C0"/>
              </a:solidFill>
            </a:endParaRPr>
          </a:p>
          <a:p>
            <a:endParaRPr lang="en-GB" sz="1000" dirty="0"/>
          </a:p>
          <a:p>
            <a:r>
              <a:rPr lang="en-GB" sz="2800" dirty="0">
                <a:latin typeface="Consolas" panose="020B0609020204030204" pitchFamily="49" charset="0"/>
              </a:rPr>
              <a:t>UPDATE table</a:t>
            </a:r>
          </a:p>
          <a:p>
            <a:r>
              <a:rPr lang="en-GB" sz="2800" dirty="0">
                <a:latin typeface="Consolas" panose="020B0609020204030204" pitchFamily="49" charset="0"/>
              </a:rPr>
              <a:t>  SET field(s) = value(s)</a:t>
            </a:r>
          </a:p>
          <a:p>
            <a:r>
              <a:rPr lang="en-GB" sz="2800" dirty="0">
                <a:latin typeface="Consolas" panose="020B0609020204030204" pitchFamily="49" charset="0"/>
              </a:rPr>
              <a:t>  </a:t>
            </a:r>
            <a:r>
              <a:rPr lang="en-GB" sz="2800" i="1" dirty="0">
                <a:latin typeface="Consolas" panose="020B0609020204030204" pitchFamily="49" charset="0"/>
              </a:rPr>
              <a:t>WHERE condition(s)</a:t>
            </a:r>
            <a:r>
              <a:rPr lang="en-GB" sz="2800" dirty="0">
                <a:latin typeface="Consolas" panose="020B0609020204030204" pitchFamily="49" charset="0"/>
              </a:rPr>
              <a:t>;</a:t>
            </a:r>
          </a:p>
        </p:txBody>
      </p:sp>
      <p:sp>
        <p:nvSpPr>
          <p:cNvPr id="8" name="TextBox 7">
            <a:extLst>
              <a:ext uri="{FF2B5EF4-FFF2-40B4-BE49-F238E27FC236}">
                <a16:creationId xmlns:a16="http://schemas.microsoft.com/office/drawing/2014/main" id="{8E9F13E4-7830-4921-B255-D2BF3B973DB4}"/>
              </a:ext>
            </a:extLst>
          </p:cNvPr>
          <p:cNvSpPr txBox="1"/>
          <p:nvPr/>
        </p:nvSpPr>
        <p:spPr>
          <a:xfrm>
            <a:off x="7028577" y="4461550"/>
            <a:ext cx="4325223" cy="1538883"/>
          </a:xfrm>
          <a:prstGeom prst="rect">
            <a:avLst/>
          </a:prstGeom>
          <a:noFill/>
        </p:spPr>
        <p:txBody>
          <a:bodyPr wrap="none" rtlCol="0">
            <a:spAutoFit/>
          </a:bodyPr>
          <a:lstStyle/>
          <a:p>
            <a:r>
              <a:rPr lang="en-GB" sz="2800" b="1" dirty="0">
                <a:solidFill>
                  <a:srgbClr val="0070C0"/>
                </a:solidFill>
              </a:rPr>
              <a:t>Remove - </a:t>
            </a:r>
            <a:r>
              <a:rPr lang="en-GB" sz="2800" b="1" dirty="0">
                <a:solidFill>
                  <a:srgbClr val="FF0000"/>
                </a:solidFill>
              </a:rPr>
              <a:t>Danger!</a:t>
            </a:r>
            <a:endParaRPr lang="en-GB" sz="2800" b="1" dirty="0">
              <a:solidFill>
                <a:srgbClr val="0070C0"/>
              </a:solidFill>
            </a:endParaRPr>
          </a:p>
          <a:p>
            <a:endParaRPr lang="en-GB" sz="1000" dirty="0"/>
          </a:p>
          <a:p>
            <a:r>
              <a:rPr lang="en-GB" sz="2800" dirty="0">
                <a:latin typeface="Consolas" panose="020B0609020204030204" pitchFamily="49" charset="0"/>
              </a:rPr>
              <a:t>DELETE FROM table</a:t>
            </a:r>
          </a:p>
          <a:p>
            <a:r>
              <a:rPr lang="en-GB" sz="2800" dirty="0">
                <a:latin typeface="Consolas" panose="020B0609020204030204" pitchFamily="49" charset="0"/>
              </a:rPr>
              <a:t>  </a:t>
            </a:r>
            <a:r>
              <a:rPr lang="en-GB" sz="2800" i="1" dirty="0">
                <a:latin typeface="Consolas" panose="020B0609020204030204" pitchFamily="49" charset="0"/>
              </a:rPr>
              <a:t>WHERE condition(s)</a:t>
            </a:r>
            <a:r>
              <a:rPr lang="en-GB" sz="2800" dirty="0">
                <a:latin typeface="Consolas" panose="020B0609020204030204" pitchFamily="49" charset="0"/>
              </a:rPr>
              <a:t>;</a:t>
            </a:r>
          </a:p>
        </p:txBody>
      </p:sp>
      <p:sp>
        <p:nvSpPr>
          <p:cNvPr id="9" name="TextBox 8">
            <a:extLst>
              <a:ext uri="{FF2B5EF4-FFF2-40B4-BE49-F238E27FC236}">
                <a16:creationId xmlns:a16="http://schemas.microsoft.com/office/drawing/2014/main" id="{D90CCF84-79A0-4860-8BAA-EEB57D73FB33}"/>
              </a:ext>
            </a:extLst>
          </p:cNvPr>
          <p:cNvSpPr txBox="1"/>
          <p:nvPr/>
        </p:nvSpPr>
        <p:spPr>
          <a:xfrm>
            <a:off x="5952100" y="6231265"/>
            <a:ext cx="5705408" cy="523220"/>
          </a:xfrm>
          <a:prstGeom prst="rect">
            <a:avLst/>
          </a:prstGeom>
          <a:noFill/>
        </p:spPr>
        <p:txBody>
          <a:bodyPr wrap="none" rtlCol="0">
            <a:spAutoFit/>
          </a:bodyPr>
          <a:lstStyle/>
          <a:p>
            <a:r>
              <a:rPr lang="en-GB" sz="2800" b="1" i="1" dirty="0">
                <a:solidFill>
                  <a:srgbClr val="7030A0"/>
                </a:solidFill>
                <a:latin typeface="Consolas" panose="020B0609020204030204" pitchFamily="49" charset="0"/>
              </a:rPr>
              <a:t>Italic = Optional SQL clause</a:t>
            </a:r>
          </a:p>
        </p:txBody>
      </p:sp>
    </p:spTree>
    <p:extLst>
      <p:ext uri="{BB962C8B-B14F-4D97-AF65-F5344CB8AC3E}">
        <p14:creationId xmlns:p14="http://schemas.microsoft.com/office/powerpoint/2010/main" val="235282904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5">
                                            <p:txEl>
                                              <p:pRg st="0" end="0"/>
                                            </p:txEl>
                                          </p:spTgt>
                                        </p:tgtEl>
                                        <p:attrNameLst>
                                          <p:attrName>style.visibility</p:attrName>
                                        </p:attrNameLst>
                                      </p:cBhvr>
                                      <p:to>
                                        <p:strVal val="visible"/>
                                      </p:to>
                                    </p:set>
                                    <p:animEffect transition="in" filter="wipe(left)">
                                      <p:cBhvr>
                                        <p:cTn id="7" dur="500"/>
                                        <p:tgtEl>
                                          <p:spTgt spid="5">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5">
                                            <p:txEl>
                                              <p:pRg st="2" end="2"/>
                                            </p:txEl>
                                          </p:spTgt>
                                        </p:tgtEl>
                                        <p:attrNameLst>
                                          <p:attrName>style.visibility</p:attrName>
                                        </p:attrNameLst>
                                      </p:cBhvr>
                                      <p:to>
                                        <p:strVal val="visible"/>
                                      </p:to>
                                    </p:set>
                                    <p:animEffect transition="in" filter="wipe(left)">
                                      <p:cBhvr>
                                        <p:cTn id="12" dur="750"/>
                                        <p:tgtEl>
                                          <p:spTgt spid="5">
                                            <p:txEl>
                                              <p:pRg st="2" end="2"/>
                                            </p:txEl>
                                          </p:spTgt>
                                        </p:tgtEl>
                                      </p:cBhvr>
                                    </p:animEffect>
                                  </p:childTnLst>
                                </p:cTn>
                              </p:par>
                            </p:childTnLst>
                          </p:cTn>
                        </p:par>
                        <p:par>
                          <p:cTn id="13" fill="hold">
                            <p:stCondLst>
                              <p:cond delay="750"/>
                            </p:stCondLst>
                            <p:childTnLst>
                              <p:par>
                                <p:cTn id="14" presetID="22" presetClass="entr" presetSubtype="8" fill="hold" grpId="0" nodeType="afterEffect">
                                  <p:stCondLst>
                                    <p:cond delay="0"/>
                                  </p:stCondLst>
                                  <p:childTnLst>
                                    <p:set>
                                      <p:cBhvr>
                                        <p:cTn id="15" dur="1" fill="hold">
                                          <p:stCondLst>
                                            <p:cond delay="0"/>
                                          </p:stCondLst>
                                        </p:cTn>
                                        <p:tgtEl>
                                          <p:spTgt spid="5">
                                            <p:txEl>
                                              <p:pRg st="3" end="3"/>
                                            </p:txEl>
                                          </p:spTgt>
                                        </p:tgtEl>
                                        <p:attrNameLst>
                                          <p:attrName>style.visibility</p:attrName>
                                        </p:attrNameLst>
                                      </p:cBhvr>
                                      <p:to>
                                        <p:strVal val="visible"/>
                                      </p:to>
                                    </p:set>
                                    <p:animEffect transition="in" filter="wipe(left)">
                                      <p:cBhvr>
                                        <p:cTn id="16" dur="750"/>
                                        <p:tgtEl>
                                          <p:spTgt spid="5">
                                            <p:txEl>
                                              <p:pRg st="3" end="3"/>
                                            </p:txEl>
                                          </p:spTgt>
                                        </p:tgtEl>
                                      </p:cBhvr>
                                    </p:animEffect>
                                  </p:childTnLst>
                                </p:cTn>
                              </p:par>
                            </p:childTnLst>
                          </p:cTn>
                        </p:par>
                        <p:par>
                          <p:cTn id="17" fill="hold">
                            <p:stCondLst>
                              <p:cond delay="1500"/>
                            </p:stCondLst>
                            <p:childTnLst>
                              <p:par>
                                <p:cTn id="18" presetID="22" presetClass="entr" presetSubtype="8" fill="hold" grpId="0" nodeType="afterEffect">
                                  <p:stCondLst>
                                    <p:cond delay="0"/>
                                  </p:stCondLst>
                                  <p:childTnLst>
                                    <p:set>
                                      <p:cBhvr>
                                        <p:cTn id="19" dur="1" fill="hold">
                                          <p:stCondLst>
                                            <p:cond delay="0"/>
                                          </p:stCondLst>
                                        </p:cTn>
                                        <p:tgtEl>
                                          <p:spTgt spid="5">
                                            <p:txEl>
                                              <p:pRg st="4" end="4"/>
                                            </p:txEl>
                                          </p:spTgt>
                                        </p:tgtEl>
                                        <p:attrNameLst>
                                          <p:attrName>style.visibility</p:attrName>
                                        </p:attrNameLst>
                                      </p:cBhvr>
                                      <p:to>
                                        <p:strVal val="visible"/>
                                      </p:to>
                                    </p:set>
                                    <p:animEffect transition="in" filter="wipe(left)">
                                      <p:cBhvr>
                                        <p:cTn id="20" dur="1500"/>
                                        <p:tgtEl>
                                          <p:spTgt spid="5">
                                            <p:txEl>
                                              <p:pRg st="4" end="4"/>
                                            </p:txEl>
                                          </p:spTgt>
                                        </p:tgtEl>
                                      </p:cBhvr>
                                    </p:animEffect>
                                  </p:childTnLst>
                                </p:cTn>
                              </p:par>
                            </p:childTnLst>
                          </p:cTn>
                        </p:par>
                        <p:par>
                          <p:cTn id="21" fill="hold">
                            <p:stCondLst>
                              <p:cond delay="3000"/>
                            </p:stCondLst>
                            <p:childTnLst>
                              <p:par>
                                <p:cTn id="22" presetID="22" presetClass="entr" presetSubtype="8" fill="hold" grpId="0" nodeType="afterEffect">
                                  <p:stCondLst>
                                    <p:cond delay="0"/>
                                  </p:stCondLst>
                                  <p:childTnLst>
                                    <p:set>
                                      <p:cBhvr>
                                        <p:cTn id="23" dur="1" fill="hold">
                                          <p:stCondLst>
                                            <p:cond delay="0"/>
                                          </p:stCondLst>
                                        </p:cTn>
                                        <p:tgtEl>
                                          <p:spTgt spid="5">
                                            <p:txEl>
                                              <p:pRg st="5" end="5"/>
                                            </p:txEl>
                                          </p:spTgt>
                                        </p:tgtEl>
                                        <p:attrNameLst>
                                          <p:attrName>style.visibility</p:attrName>
                                        </p:attrNameLst>
                                      </p:cBhvr>
                                      <p:to>
                                        <p:strVal val="visible"/>
                                      </p:to>
                                    </p:set>
                                    <p:animEffect transition="in" filter="wipe(left)">
                                      <p:cBhvr>
                                        <p:cTn id="24" dur="1500"/>
                                        <p:tgtEl>
                                          <p:spTgt spid="5">
                                            <p:txEl>
                                              <p:pRg st="5" end="5"/>
                                            </p:txEl>
                                          </p:spTgt>
                                        </p:tgtEl>
                                      </p:cBhvr>
                                    </p:animEffect>
                                  </p:childTnLst>
                                </p:cTn>
                              </p:par>
                            </p:childTnLst>
                          </p:cTn>
                        </p:par>
                      </p:childTnLst>
                    </p:cTn>
                  </p:par>
                  <p:par>
                    <p:cTn id="25" fill="hold">
                      <p:stCondLst>
                        <p:cond delay="indefinite"/>
                      </p:stCondLst>
                      <p:childTnLst>
                        <p:par>
                          <p:cTn id="26" fill="hold">
                            <p:stCondLst>
                              <p:cond delay="0"/>
                            </p:stCondLst>
                            <p:childTnLst>
                              <p:par>
                                <p:cTn id="27" presetID="22" presetClass="entr" presetSubtype="8" fill="hold" grpId="0" nodeType="clickEffect">
                                  <p:stCondLst>
                                    <p:cond delay="0"/>
                                  </p:stCondLst>
                                  <p:childTnLst>
                                    <p:set>
                                      <p:cBhvr>
                                        <p:cTn id="28" dur="1" fill="hold">
                                          <p:stCondLst>
                                            <p:cond delay="0"/>
                                          </p:stCondLst>
                                        </p:cTn>
                                        <p:tgtEl>
                                          <p:spTgt spid="6">
                                            <p:txEl>
                                              <p:pRg st="0" end="0"/>
                                            </p:txEl>
                                          </p:spTgt>
                                        </p:tgtEl>
                                        <p:attrNameLst>
                                          <p:attrName>style.visibility</p:attrName>
                                        </p:attrNameLst>
                                      </p:cBhvr>
                                      <p:to>
                                        <p:strVal val="visible"/>
                                      </p:to>
                                    </p:set>
                                    <p:animEffect transition="in" filter="wipe(left)">
                                      <p:cBhvr>
                                        <p:cTn id="29" dur="500"/>
                                        <p:tgtEl>
                                          <p:spTgt spid="6">
                                            <p:txEl>
                                              <p:pRg st="0" end="0"/>
                                            </p:txEl>
                                          </p:spTgt>
                                        </p:tgtEl>
                                      </p:cBhvr>
                                    </p:animEffect>
                                  </p:childTnLst>
                                </p:cTn>
                              </p:par>
                            </p:childTnLst>
                          </p:cTn>
                        </p:par>
                      </p:childTnLst>
                    </p:cTn>
                  </p:par>
                  <p:par>
                    <p:cTn id="30" fill="hold">
                      <p:stCondLst>
                        <p:cond delay="indefinite"/>
                      </p:stCondLst>
                      <p:childTnLst>
                        <p:par>
                          <p:cTn id="31" fill="hold">
                            <p:stCondLst>
                              <p:cond delay="0"/>
                            </p:stCondLst>
                            <p:childTnLst>
                              <p:par>
                                <p:cTn id="32" presetID="22" presetClass="entr" presetSubtype="8" fill="hold" grpId="0" nodeType="clickEffect">
                                  <p:stCondLst>
                                    <p:cond delay="0"/>
                                  </p:stCondLst>
                                  <p:childTnLst>
                                    <p:set>
                                      <p:cBhvr>
                                        <p:cTn id="33" dur="1" fill="hold">
                                          <p:stCondLst>
                                            <p:cond delay="0"/>
                                          </p:stCondLst>
                                        </p:cTn>
                                        <p:tgtEl>
                                          <p:spTgt spid="6">
                                            <p:txEl>
                                              <p:pRg st="2" end="2"/>
                                            </p:txEl>
                                          </p:spTgt>
                                        </p:tgtEl>
                                        <p:attrNameLst>
                                          <p:attrName>style.visibility</p:attrName>
                                        </p:attrNameLst>
                                      </p:cBhvr>
                                      <p:to>
                                        <p:strVal val="visible"/>
                                      </p:to>
                                    </p:set>
                                    <p:animEffect transition="in" filter="wipe(left)">
                                      <p:cBhvr>
                                        <p:cTn id="34" dur="1000"/>
                                        <p:tgtEl>
                                          <p:spTgt spid="6">
                                            <p:txEl>
                                              <p:pRg st="2" end="2"/>
                                            </p:txEl>
                                          </p:spTgt>
                                        </p:tgtEl>
                                      </p:cBhvr>
                                    </p:animEffect>
                                  </p:childTnLst>
                                </p:cTn>
                              </p:par>
                            </p:childTnLst>
                          </p:cTn>
                        </p:par>
                        <p:par>
                          <p:cTn id="35" fill="hold">
                            <p:stCondLst>
                              <p:cond delay="1000"/>
                            </p:stCondLst>
                            <p:childTnLst>
                              <p:par>
                                <p:cTn id="36" presetID="22" presetClass="entr" presetSubtype="8" fill="hold" grpId="0" nodeType="afterEffect">
                                  <p:stCondLst>
                                    <p:cond delay="0"/>
                                  </p:stCondLst>
                                  <p:childTnLst>
                                    <p:set>
                                      <p:cBhvr>
                                        <p:cTn id="37" dur="1" fill="hold">
                                          <p:stCondLst>
                                            <p:cond delay="0"/>
                                          </p:stCondLst>
                                        </p:cTn>
                                        <p:tgtEl>
                                          <p:spTgt spid="6">
                                            <p:txEl>
                                              <p:pRg st="3" end="3"/>
                                            </p:txEl>
                                          </p:spTgt>
                                        </p:tgtEl>
                                        <p:attrNameLst>
                                          <p:attrName>style.visibility</p:attrName>
                                        </p:attrNameLst>
                                      </p:cBhvr>
                                      <p:to>
                                        <p:strVal val="visible"/>
                                      </p:to>
                                    </p:set>
                                    <p:animEffect transition="in" filter="wipe(left)">
                                      <p:cBhvr>
                                        <p:cTn id="38" dur="1000"/>
                                        <p:tgtEl>
                                          <p:spTgt spid="6">
                                            <p:txEl>
                                              <p:pRg st="3" end="3"/>
                                            </p:txEl>
                                          </p:spTgt>
                                        </p:tgtEl>
                                      </p:cBhvr>
                                    </p:animEffect>
                                  </p:childTnLst>
                                </p:cTn>
                              </p:par>
                            </p:childTnLst>
                          </p:cTn>
                        </p:par>
                      </p:childTnLst>
                    </p:cTn>
                  </p:par>
                  <p:par>
                    <p:cTn id="39" fill="hold">
                      <p:stCondLst>
                        <p:cond delay="indefinite"/>
                      </p:stCondLst>
                      <p:childTnLst>
                        <p:par>
                          <p:cTn id="40" fill="hold">
                            <p:stCondLst>
                              <p:cond delay="0"/>
                            </p:stCondLst>
                            <p:childTnLst>
                              <p:par>
                                <p:cTn id="41" presetID="22" presetClass="entr" presetSubtype="8" fill="hold" grpId="0" nodeType="clickEffect">
                                  <p:stCondLst>
                                    <p:cond delay="0"/>
                                  </p:stCondLst>
                                  <p:childTnLst>
                                    <p:set>
                                      <p:cBhvr>
                                        <p:cTn id="42" dur="1" fill="hold">
                                          <p:stCondLst>
                                            <p:cond delay="0"/>
                                          </p:stCondLst>
                                        </p:cTn>
                                        <p:tgtEl>
                                          <p:spTgt spid="6">
                                            <p:txEl>
                                              <p:pRg st="5" end="5"/>
                                            </p:txEl>
                                          </p:spTgt>
                                        </p:tgtEl>
                                        <p:attrNameLst>
                                          <p:attrName>style.visibility</p:attrName>
                                        </p:attrNameLst>
                                      </p:cBhvr>
                                      <p:to>
                                        <p:strVal val="visible"/>
                                      </p:to>
                                    </p:set>
                                    <p:animEffect transition="in" filter="wipe(left)">
                                      <p:cBhvr>
                                        <p:cTn id="43" dur="1000"/>
                                        <p:tgtEl>
                                          <p:spTgt spid="6">
                                            <p:txEl>
                                              <p:pRg st="5" end="5"/>
                                            </p:txEl>
                                          </p:spTgt>
                                        </p:tgtEl>
                                      </p:cBhvr>
                                    </p:animEffect>
                                  </p:childTnLst>
                                </p:cTn>
                              </p:par>
                            </p:childTnLst>
                          </p:cTn>
                        </p:par>
                      </p:childTnLst>
                    </p:cTn>
                  </p:par>
                  <p:par>
                    <p:cTn id="44" fill="hold">
                      <p:stCondLst>
                        <p:cond delay="indefinite"/>
                      </p:stCondLst>
                      <p:childTnLst>
                        <p:par>
                          <p:cTn id="45" fill="hold">
                            <p:stCondLst>
                              <p:cond delay="0"/>
                            </p:stCondLst>
                            <p:childTnLst>
                              <p:par>
                                <p:cTn id="46" presetID="22" presetClass="entr" presetSubtype="8" fill="hold" grpId="0" nodeType="clickEffect">
                                  <p:stCondLst>
                                    <p:cond delay="0"/>
                                  </p:stCondLst>
                                  <p:childTnLst>
                                    <p:set>
                                      <p:cBhvr>
                                        <p:cTn id="47" dur="1" fill="hold">
                                          <p:stCondLst>
                                            <p:cond delay="0"/>
                                          </p:stCondLst>
                                        </p:cTn>
                                        <p:tgtEl>
                                          <p:spTgt spid="7">
                                            <p:txEl>
                                              <p:pRg st="0" end="0"/>
                                            </p:txEl>
                                          </p:spTgt>
                                        </p:tgtEl>
                                        <p:attrNameLst>
                                          <p:attrName>style.visibility</p:attrName>
                                        </p:attrNameLst>
                                      </p:cBhvr>
                                      <p:to>
                                        <p:strVal val="visible"/>
                                      </p:to>
                                    </p:set>
                                    <p:animEffect transition="in" filter="wipe(left)">
                                      <p:cBhvr>
                                        <p:cTn id="48" dur="500"/>
                                        <p:tgtEl>
                                          <p:spTgt spid="7">
                                            <p:txEl>
                                              <p:pRg st="0" end="0"/>
                                            </p:txEl>
                                          </p:spTgt>
                                        </p:tgtEl>
                                      </p:cBhvr>
                                    </p:animEffect>
                                  </p:childTnLst>
                                </p:cTn>
                              </p:par>
                            </p:childTnLst>
                          </p:cTn>
                        </p:par>
                      </p:childTnLst>
                    </p:cTn>
                  </p:par>
                  <p:par>
                    <p:cTn id="49" fill="hold">
                      <p:stCondLst>
                        <p:cond delay="indefinite"/>
                      </p:stCondLst>
                      <p:childTnLst>
                        <p:par>
                          <p:cTn id="50" fill="hold">
                            <p:stCondLst>
                              <p:cond delay="0"/>
                            </p:stCondLst>
                            <p:childTnLst>
                              <p:par>
                                <p:cTn id="51" presetID="22" presetClass="entr" presetSubtype="8" fill="hold" grpId="0" nodeType="clickEffect">
                                  <p:stCondLst>
                                    <p:cond delay="0"/>
                                  </p:stCondLst>
                                  <p:childTnLst>
                                    <p:set>
                                      <p:cBhvr>
                                        <p:cTn id="52" dur="1" fill="hold">
                                          <p:stCondLst>
                                            <p:cond delay="0"/>
                                          </p:stCondLst>
                                        </p:cTn>
                                        <p:tgtEl>
                                          <p:spTgt spid="7">
                                            <p:txEl>
                                              <p:pRg st="2" end="2"/>
                                            </p:txEl>
                                          </p:spTgt>
                                        </p:tgtEl>
                                        <p:attrNameLst>
                                          <p:attrName>style.visibility</p:attrName>
                                        </p:attrNameLst>
                                      </p:cBhvr>
                                      <p:to>
                                        <p:strVal val="visible"/>
                                      </p:to>
                                    </p:set>
                                    <p:animEffect transition="in" filter="wipe(left)">
                                      <p:cBhvr>
                                        <p:cTn id="53" dur="750"/>
                                        <p:tgtEl>
                                          <p:spTgt spid="7">
                                            <p:txEl>
                                              <p:pRg st="2" end="2"/>
                                            </p:txEl>
                                          </p:spTgt>
                                        </p:tgtEl>
                                      </p:cBhvr>
                                    </p:animEffect>
                                  </p:childTnLst>
                                </p:cTn>
                              </p:par>
                            </p:childTnLst>
                          </p:cTn>
                        </p:par>
                        <p:par>
                          <p:cTn id="54" fill="hold">
                            <p:stCondLst>
                              <p:cond delay="750"/>
                            </p:stCondLst>
                            <p:childTnLst>
                              <p:par>
                                <p:cTn id="55" presetID="22" presetClass="entr" presetSubtype="8" fill="hold" grpId="0" nodeType="afterEffect">
                                  <p:stCondLst>
                                    <p:cond delay="0"/>
                                  </p:stCondLst>
                                  <p:childTnLst>
                                    <p:set>
                                      <p:cBhvr>
                                        <p:cTn id="56" dur="1" fill="hold">
                                          <p:stCondLst>
                                            <p:cond delay="0"/>
                                          </p:stCondLst>
                                        </p:cTn>
                                        <p:tgtEl>
                                          <p:spTgt spid="7">
                                            <p:txEl>
                                              <p:pRg st="3" end="3"/>
                                            </p:txEl>
                                          </p:spTgt>
                                        </p:tgtEl>
                                        <p:attrNameLst>
                                          <p:attrName>style.visibility</p:attrName>
                                        </p:attrNameLst>
                                      </p:cBhvr>
                                      <p:to>
                                        <p:strVal val="visible"/>
                                      </p:to>
                                    </p:set>
                                    <p:animEffect transition="in" filter="wipe(left)">
                                      <p:cBhvr>
                                        <p:cTn id="57" dur="1500"/>
                                        <p:tgtEl>
                                          <p:spTgt spid="7">
                                            <p:txEl>
                                              <p:pRg st="3" end="3"/>
                                            </p:txEl>
                                          </p:spTgt>
                                        </p:tgtEl>
                                      </p:cBhvr>
                                    </p:animEffect>
                                  </p:childTnLst>
                                </p:cTn>
                              </p:par>
                            </p:childTnLst>
                          </p:cTn>
                        </p:par>
                        <p:par>
                          <p:cTn id="58" fill="hold">
                            <p:stCondLst>
                              <p:cond delay="2250"/>
                            </p:stCondLst>
                            <p:childTnLst>
                              <p:par>
                                <p:cTn id="59" presetID="22" presetClass="entr" presetSubtype="8" fill="hold" grpId="0" nodeType="afterEffect">
                                  <p:stCondLst>
                                    <p:cond delay="0"/>
                                  </p:stCondLst>
                                  <p:childTnLst>
                                    <p:set>
                                      <p:cBhvr>
                                        <p:cTn id="60" dur="1" fill="hold">
                                          <p:stCondLst>
                                            <p:cond delay="0"/>
                                          </p:stCondLst>
                                        </p:cTn>
                                        <p:tgtEl>
                                          <p:spTgt spid="7">
                                            <p:txEl>
                                              <p:pRg st="4" end="4"/>
                                            </p:txEl>
                                          </p:spTgt>
                                        </p:tgtEl>
                                        <p:attrNameLst>
                                          <p:attrName>style.visibility</p:attrName>
                                        </p:attrNameLst>
                                      </p:cBhvr>
                                      <p:to>
                                        <p:strVal val="visible"/>
                                      </p:to>
                                    </p:set>
                                    <p:animEffect transition="in" filter="wipe(left)">
                                      <p:cBhvr>
                                        <p:cTn id="61" dur="1250"/>
                                        <p:tgtEl>
                                          <p:spTgt spid="7">
                                            <p:txEl>
                                              <p:pRg st="4" end="4"/>
                                            </p:txEl>
                                          </p:spTgt>
                                        </p:tgtEl>
                                      </p:cBhvr>
                                    </p:animEffect>
                                  </p:childTnLst>
                                </p:cTn>
                              </p:par>
                            </p:childTnLst>
                          </p:cTn>
                        </p:par>
                      </p:childTnLst>
                    </p:cTn>
                  </p:par>
                  <p:par>
                    <p:cTn id="62" fill="hold">
                      <p:stCondLst>
                        <p:cond delay="indefinite"/>
                      </p:stCondLst>
                      <p:childTnLst>
                        <p:par>
                          <p:cTn id="63" fill="hold">
                            <p:stCondLst>
                              <p:cond delay="0"/>
                            </p:stCondLst>
                            <p:childTnLst>
                              <p:par>
                                <p:cTn id="64" presetID="22" presetClass="entr" presetSubtype="8" fill="hold" grpId="0" nodeType="clickEffect">
                                  <p:stCondLst>
                                    <p:cond delay="0"/>
                                  </p:stCondLst>
                                  <p:childTnLst>
                                    <p:set>
                                      <p:cBhvr>
                                        <p:cTn id="65" dur="1" fill="hold">
                                          <p:stCondLst>
                                            <p:cond delay="0"/>
                                          </p:stCondLst>
                                        </p:cTn>
                                        <p:tgtEl>
                                          <p:spTgt spid="8">
                                            <p:txEl>
                                              <p:pRg st="0" end="0"/>
                                            </p:txEl>
                                          </p:spTgt>
                                        </p:tgtEl>
                                        <p:attrNameLst>
                                          <p:attrName>style.visibility</p:attrName>
                                        </p:attrNameLst>
                                      </p:cBhvr>
                                      <p:to>
                                        <p:strVal val="visible"/>
                                      </p:to>
                                    </p:set>
                                    <p:animEffect transition="in" filter="wipe(left)">
                                      <p:cBhvr>
                                        <p:cTn id="66" dur="500"/>
                                        <p:tgtEl>
                                          <p:spTgt spid="8">
                                            <p:txEl>
                                              <p:pRg st="0" end="0"/>
                                            </p:txEl>
                                          </p:spTgt>
                                        </p:tgtEl>
                                      </p:cBhvr>
                                    </p:animEffect>
                                  </p:childTnLst>
                                </p:cTn>
                              </p:par>
                            </p:childTnLst>
                          </p:cTn>
                        </p:par>
                        <p:par>
                          <p:cTn id="67" fill="hold">
                            <p:stCondLst>
                              <p:cond delay="500"/>
                            </p:stCondLst>
                            <p:childTnLst>
                              <p:par>
                                <p:cTn id="68" presetID="22" presetClass="entr" presetSubtype="8" fill="hold" grpId="0" nodeType="afterEffect">
                                  <p:stCondLst>
                                    <p:cond delay="0"/>
                                  </p:stCondLst>
                                  <p:childTnLst>
                                    <p:set>
                                      <p:cBhvr>
                                        <p:cTn id="69" dur="1" fill="hold">
                                          <p:stCondLst>
                                            <p:cond delay="0"/>
                                          </p:stCondLst>
                                        </p:cTn>
                                        <p:tgtEl>
                                          <p:spTgt spid="8">
                                            <p:txEl>
                                              <p:pRg st="2" end="2"/>
                                            </p:txEl>
                                          </p:spTgt>
                                        </p:tgtEl>
                                        <p:attrNameLst>
                                          <p:attrName>style.visibility</p:attrName>
                                        </p:attrNameLst>
                                      </p:cBhvr>
                                      <p:to>
                                        <p:strVal val="visible"/>
                                      </p:to>
                                    </p:set>
                                    <p:animEffect transition="in" filter="wipe(left)">
                                      <p:cBhvr>
                                        <p:cTn id="70" dur="1500"/>
                                        <p:tgtEl>
                                          <p:spTgt spid="8">
                                            <p:txEl>
                                              <p:pRg st="2" end="2"/>
                                            </p:txEl>
                                          </p:spTgt>
                                        </p:tgtEl>
                                      </p:cBhvr>
                                    </p:animEffect>
                                  </p:childTnLst>
                                </p:cTn>
                              </p:par>
                            </p:childTnLst>
                          </p:cTn>
                        </p:par>
                        <p:par>
                          <p:cTn id="71" fill="hold">
                            <p:stCondLst>
                              <p:cond delay="2000"/>
                            </p:stCondLst>
                            <p:childTnLst>
                              <p:par>
                                <p:cTn id="72" presetID="22" presetClass="entr" presetSubtype="8" fill="hold" grpId="0" nodeType="afterEffect">
                                  <p:stCondLst>
                                    <p:cond delay="0"/>
                                  </p:stCondLst>
                                  <p:childTnLst>
                                    <p:set>
                                      <p:cBhvr>
                                        <p:cTn id="73" dur="1" fill="hold">
                                          <p:stCondLst>
                                            <p:cond delay="0"/>
                                          </p:stCondLst>
                                        </p:cTn>
                                        <p:tgtEl>
                                          <p:spTgt spid="8">
                                            <p:txEl>
                                              <p:pRg st="3" end="3"/>
                                            </p:txEl>
                                          </p:spTgt>
                                        </p:tgtEl>
                                        <p:attrNameLst>
                                          <p:attrName>style.visibility</p:attrName>
                                        </p:attrNameLst>
                                      </p:cBhvr>
                                      <p:to>
                                        <p:strVal val="visible"/>
                                      </p:to>
                                    </p:set>
                                    <p:animEffect transition="in" filter="wipe(left)">
                                      <p:cBhvr>
                                        <p:cTn id="74" dur="1500"/>
                                        <p:tgtEl>
                                          <p:spTgt spid="8">
                                            <p:txEl>
                                              <p:pRg st="3" end="3"/>
                                            </p:txEl>
                                          </p:spTgt>
                                        </p:tgtEl>
                                      </p:cBhvr>
                                    </p:animEffect>
                                  </p:childTnLst>
                                </p:cTn>
                              </p:par>
                            </p:childTnLst>
                          </p:cTn>
                        </p:par>
                      </p:childTnLst>
                    </p:cTn>
                  </p:par>
                  <p:par>
                    <p:cTn id="75" fill="hold">
                      <p:stCondLst>
                        <p:cond delay="indefinite"/>
                      </p:stCondLst>
                      <p:childTnLst>
                        <p:par>
                          <p:cTn id="76" fill="hold">
                            <p:stCondLst>
                              <p:cond delay="0"/>
                            </p:stCondLst>
                            <p:childTnLst>
                              <p:par>
                                <p:cTn id="77" presetID="22" presetClass="entr" presetSubtype="8" fill="hold" grpId="0" nodeType="clickEffect">
                                  <p:stCondLst>
                                    <p:cond delay="0"/>
                                  </p:stCondLst>
                                  <p:childTnLst>
                                    <p:set>
                                      <p:cBhvr>
                                        <p:cTn id="78" dur="1" fill="hold">
                                          <p:stCondLst>
                                            <p:cond delay="0"/>
                                          </p:stCondLst>
                                        </p:cTn>
                                        <p:tgtEl>
                                          <p:spTgt spid="9">
                                            <p:txEl>
                                              <p:pRg st="0" end="0"/>
                                            </p:txEl>
                                          </p:spTgt>
                                        </p:tgtEl>
                                        <p:attrNameLst>
                                          <p:attrName>style.visibility</p:attrName>
                                        </p:attrNameLst>
                                      </p:cBhvr>
                                      <p:to>
                                        <p:strVal val="visible"/>
                                      </p:to>
                                    </p:set>
                                    <p:animEffect transition="in" filter="wipe(left)">
                                      <p:cBhvr>
                                        <p:cTn id="79" dur="2000"/>
                                        <p:tgtEl>
                                          <p:spTgt spid="9">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uiExpand="1" build="p"/>
      <p:bldP spid="6" grpId="0" uiExpand="1" build="p"/>
      <p:bldP spid="7" grpId="0" uiExpand="1" build="p"/>
      <p:bldP spid="8" grpId="0" uiExpand="1" build="p"/>
      <p:bldP spid="9" grpId="0" uiExpand="1" build="p"/>
    </p:bldLst>
  </p:timing>
</p:sld>
</file>

<file path=ppt/slides/slide11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457F073F-C049-47E9-959D-70C4FC9FE669}"/>
              </a:ext>
            </a:extLst>
          </p:cNvPr>
          <p:cNvSpPr>
            <a:spLocks noGrp="1"/>
          </p:cNvSpPr>
          <p:nvPr>
            <p:ph type="title"/>
          </p:nvPr>
        </p:nvSpPr>
        <p:spPr/>
        <p:txBody>
          <a:bodyPr/>
          <a:lstStyle/>
          <a:p>
            <a:r>
              <a:rPr lang="en-GB" dirty="0"/>
              <a:t>SQL Queries - Overview</a:t>
            </a:r>
          </a:p>
        </p:txBody>
      </p:sp>
      <p:sp>
        <p:nvSpPr>
          <p:cNvPr id="5" name="TextBox 4">
            <a:extLst>
              <a:ext uri="{FF2B5EF4-FFF2-40B4-BE49-F238E27FC236}">
                <a16:creationId xmlns:a16="http://schemas.microsoft.com/office/drawing/2014/main" id="{BAA89BB4-3AB4-4ECE-8A4E-BAE9D9416378}"/>
              </a:ext>
            </a:extLst>
          </p:cNvPr>
          <p:cNvSpPr txBox="1"/>
          <p:nvPr/>
        </p:nvSpPr>
        <p:spPr>
          <a:xfrm>
            <a:off x="838200" y="1686391"/>
            <a:ext cx="6296917" cy="2400657"/>
          </a:xfrm>
          <a:prstGeom prst="rect">
            <a:avLst/>
          </a:prstGeom>
          <a:noFill/>
        </p:spPr>
        <p:txBody>
          <a:bodyPr wrap="none" rtlCol="0">
            <a:spAutoFit/>
          </a:bodyPr>
          <a:lstStyle/>
          <a:p>
            <a:endParaRPr lang="en-GB" sz="2800" b="1" dirty="0">
              <a:solidFill>
                <a:srgbClr val="7030A0"/>
              </a:solidFill>
            </a:endParaRPr>
          </a:p>
          <a:p>
            <a:endParaRPr lang="en-GB" sz="1000" dirty="0"/>
          </a:p>
          <a:p>
            <a:r>
              <a:rPr lang="en-GB" sz="2800" dirty="0">
                <a:latin typeface="Consolas" panose="020B0609020204030204" pitchFamily="49" charset="0"/>
              </a:rPr>
              <a:t>SELECT field(s)</a:t>
            </a:r>
          </a:p>
          <a:p>
            <a:r>
              <a:rPr lang="en-GB" sz="2800" dirty="0">
                <a:latin typeface="Consolas" panose="020B0609020204030204" pitchFamily="49" charset="0"/>
              </a:rPr>
              <a:t>  FROM table(s)</a:t>
            </a:r>
          </a:p>
          <a:p>
            <a:r>
              <a:rPr lang="en-GB" sz="2800" dirty="0">
                <a:latin typeface="Consolas" panose="020B0609020204030204" pitchFamily="49" charset="0"/>
              </a:rPr>
              <a:t>  </a:t>
            </a:r>
            <a:r>
              <a:rPr lang="en-GB" sz="2800" i="1" dirty="0">
                <a:latin typeface="Consolas" panose="020B0609020204030204" pitchFamily="49" charset="0"/>
              </a:rPr>
              <a:t>WHERE condition(s)</a:t>
            </a:r>
          </a:p>
          <a:p>
            <a:r>
              <a:rPr lang="en-GB" sz="2800" i="1" dirty="0">
                <a:latin typeface="Consolas" panose="020B0609020204030204" pitchFamily="49" charset="0"/>
              </a:rPr>
              <a:t>  ORDER BY field(s) ASC </a:t>
            </a:r>
            <a:r>
              <a:rPr lang="en-GB" sz="2800" i="1" dirty="0">
                <a:solidFill>
                  <a:srgbClr val="7030A0"/>
                </a:solidFill>
                <a:latin typeface="Consolas" panose="020B0609020204030204" pitchFamily="49" charset="0"/>
              </a:rPr>
              <a:t>|</a:t>
            </a:r>
            <a:r>
              <a:rPr lang="en-GB" sz="2800" i="1" dirty="0">
                <a:latin typeface="Consolas" panose="020B0609020204030204" pitchFamily="49" charset="0"/>
              </a:rPr>
              <a:t> DESC</a:t>
            </a:r>
            <a:r>
              <a:rPr lang="en-GB" sz="2800" dirty="0">
                <a:latin typeface="Consolas" panose="020B0609020204030204" pitchFamily="49" charset="0"/>
              </a:rPr>
              <a:t>;</a:t>
            </a:r>
          </a:p>
        </p:txBody>
      </p:sp>
      <p:sp>
        <p:nvSpPr>
          <p:cNvPr id="6" name="TextBox 5">
            <a:extLst>
              <a:ext uri="{FF2B5EF4-FFF2-40B4-BE49-F238E27FC236}">
                <a16:creationId xmlns:a16="http://schemas.microsoft.com/office/drawing/2014/main" id="{194818A1-3C4F-43CB-A0EC-9F156FA116B6}"/>
              </a:ext>
            </a:extLst>
          </p:cNvPr>
          <p:cNvSpPr txBox="1"/>
          <p:nvPr/>
        </p:nvSpPr>
        <p:spPr>
          <a:xfrm>
            <a:off x="7817254" y="1686390"/>
            <a:ext cx="3536546" cy="2400657"/>
          </a:xfrm>
          <a:prstGeom prst="rect">
            <a:avLst/>
          </a:prstGeom>
          <a:noFill/>
        </p:spPr>
        <p:txBody>
          <a:bodyPr wrap="none" rtlCol="0">
            <a:spAutoFit/>
          </a:bodyPr>
          <a:lstStyle/>
          <a:p>
            <a:endParaRPr lang="en-GB" sz="2800" b="1" dirty="0">
              <a:solidFill>
                <a:srgbClr val="7030A0"/>
              </a:solidFill>
            </a:endParaRPr>
          </a:p>
          <a:p>
            <a:endParaRPr lang="en-GB" sz="1000" dirty="0"/>
          </a:p>
          <a:p>
            <a:r>
              <a:rPr lang="en-GB" sz="2800" dirty="0">
                <a:latin typeface="Consolas" panose="020B0609020204030204" pitchFamily="49" charset="0"/>
              </a:rPr>
              <a:t>INSERT INTO table</a:t>
            </a:r>
          </a:p>
          <a:p>
            <a:r>
              <a:rPr lang="en-GB" sz="2800" dirty="0">
                <a:latin typeface="Consolas" panose="020B0609020204030204" pitchFamily="49" charset="0"/>
              </a:rPr>
              <a:t>  VALUES (…);</a:t>
            </a:r>
          </a:p>
          <a:p>
            <a:endParaRPr lang="en-GB" sz="2800" dirty="0">
              <a:latin typeface="Consolas" panose="020B0609020204030204" pitchFamily="49" charset="0"/>
            </a:endParaRPr>
          </a:p>
          <a:p>
            <a:pPr algn="ctr"/>
            <a:endParaRPr lang="en-GB" sz="2800" dirty="0">
              <a:solidFill>
                <a:srgbClr val="00B050"/>
              </a:solidFill>
              <a:latin typeface="Consolas" panose="020B0609020204030204" pitchFamily="49" charset="0"/>
            </a:endParaRPr>
          </a:p>
        </p:txBody>
      </p:sp>
      <p:sp>
        <p:nvSpPr>
          <p:cNvPr id="7" name="TextBox 6">
            <a:extLst>
              <a:ext uri="{FF2B5EF4-FFF2-40B4-BE49-F238E27FC236}">
                <a16:creationId xmlns:a16="http://schemas.microsoft.com/office/drawing/2014/main" id="{A7748392-0430-47F2-9A73-6449587C132E}"/>
              </a:ext>
            </a:extLst>
          </p:cNvPr>
          <p:cNvSpPr txBox="1"/>
          <p:nvPr/>
        </p:nvSpPr>
        <p:spPr>
          <a:xfrm>
            <a:off x="838200" y="4461550"/>
            <a:ext cx="5113900" cy="2031325"/>
          </a:xfrm>
          <a:prstGeom prst="rect">
            <a:avLst/>
          </a:prstGeom>
          <a:noFill/>
        </p:spPr>
        <p:txBody>
          <a:bodyPr wrap="none" rtlCol="0">
            <a:spAutoFit/>
          </a:bodyPr>
          <a:lstStyle/>
          <a:p>
            <a:endParaRPr lang="en-GB" sz="2800" b="1" dirty="0">
              <a:solidFill>
                <a:srgbClr val="FF0000"/>
              </a:solidFill>
            </a:endParaRPr>
          </a:p>
          <a:p>
            <a:endParaRPr lang="en-GB" sz="1000" dirty="0"/>
          </a:p>
          <a:p>
            <a:r>
              <a:rPr lang="en-GB" sz="2800" dirty="0">
                <a:latin typeface="Consolas" panose="020B0609020204030204" pitchFamily="49" charset="0"/>
              </a:rPr>
              <a:t>UPDATE table</a:t>
            </a:r>
          </a:p>
          <a:p>
            <a:r>
              <a:rPr lang="en-GB" sz="2800" dirty="0">
                <a:latin typeface="Consolas" panose="020B0609020204030204" pitchFamily="49" charset="0"/>
              </a:rPr>
              <a:t>  SET field(s) = value(s)</a:t>
            </a:r>
          </a:p>
          <a:p>
            <a:r>
              <a:rPr lang="en-GB" sz="2800" dirty="0">
                <a:latin typeface="Consolas" panose="020B0609020204030204" pitchFamily="49" charset="0"/>
              </a:rPr>
              <a:t>  </a:t>
            </a:r>
            <a:r>
              <a:rPr lang="en-GB" sz="2800" i="1" dirty="0">
                <a:latin typeface="Consolas" panose="020B0609020204030204" pitchFamily="49" charset="0"/>
              </a:rPr>
              <a:t>WHERE condition(s)</a:t>
            </a:r>
            <a:r>
              <a:rPr lang="en-GB" sz="2800" dirty="0">
                <a:latin typeface="Consolas" panose="020B0609020204030204" pitchFamily="49" charset="0"/>
              </a:rPr>
              <a:t>;</a:t>
            </a:r>
          </a:p>
        </p:txBody>
      </p:sp>
      <p:sp>
        <p:nvSpPr>
          <p:cNvPr id="8" name="TextBox 7">
            <a:extLst>
              <a:ext uri="{FF2B5EF4-FFF2-40B4-BE49-F238E27FC236}">
                <a16:creationId xmlns:a16="http://schemas.microsoft.com/office/drawing/2014/main" id="{8E9F13E4-7830-4921-B255-D2BF3B973DB4}"/>
              </a:ext>
            </a:extLst>
          </p:cNvPr>
          <p:cNvSpPr txBox="1"/>
          <p:nvPr/>
        </p:nvSpPr>
        <p:spPr>
          <a:xfrm>
            <a:off x="7028577" y="4461550"/>
            <a:ext cx="4325223" cy="1538883"/>
          </a:xfrm>
          <a:prstGeom prst="rect">
            <a:avLst/>
          </a:prstGeom>
          <a:noFill/>
        </p:spPr>
        <p:txBody>
          <a:bodyPr wrap="none" rtlCol="0">
            <a:spAutoFit/>
          </a:bodyPr>
          <a:lstStyle/>
          <a:p>
            <a:endParaRPr lang="en-GB" sz="2800" b="1" dirty="0">
              <a:solidFill>
                <a:srgbClr val="FF0000"/>
              </a:solidFill>
            </a:endParaRPr>
          </a:p>
          <a:p>
            <a:endParaRPr lang="en-GB" sz="1000" dirty="0"/>
          </a:p>
          <a:p>
            <a:r>
              <a:rPr lang="en-GB" sz="2800" dirty="0">
                <a:latin typeface="Consolas" panose="020B0609020204030204" pitchFamily="49" charset="0"/>
              </a:rPr>
              <a:t>DELETE FROM table</a:t>
            </a:r>
          </a:p>
          <a:p>
            <a:r>
              <a:rPr lang="en-GB" sz="2800" dirty="0">
                <a:latin typeface="Consolas" panose="020B0609020204030204" pitchFamily="49" charset="0"/>
              </a:rPr>
              <a:t>  </a:t>
            </a:r>
            <a:r>
              <a:rPr lang="en-GB" sz="2800" i="1" dirty="0">
                <a:latin typeface="Consolas" panose="020B0609020204030204" pitchFamily="49" charset="0"/>
              </a:rPr>
              <a:t>WHERE condition(s);</a:t>
            </a:r>
          </a:p>
        </p:txBody>
      </p:sp>
    </p:spTree>
    <p:extLst>
      <p:ext uri="{BB962C8B-B14F-4D97-AF65-F5344CB8AC3E}">
        <p14:creationId xmlns:p14="http://schemas.microsoft.com/office/powerpoint/2010/main" val="142200069"/>
      </p:ext>
    </p:extLst>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Membership Task</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a:lnSpc>
                <a:spcPct val="120000"/>
              </a:lnSpc>
            </a:pPr>
            <a:r>
              <a:rPr lang="en-GB" sz="4200" dirty="0"/>
              <a:t>Complete the Membership tasks</a:t>
            </a:r>
          </a:p>
        </p:txBody>
      </p:sp>
    </p:spTree>
    <p:extLst>
      <p:ext uri="{BB962C8B-B14F-4D97-AF65-F5344CB8AC3E}">
        <p14:creationId xmlns:p14="http://schemas.microsoft.com/office/powerpoint/2010/main" val="3936275849"/>
      </p:ext>
    </p:extLst>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Learning Intentions</a:t>
            </a:r>
          </a:p>
        </p:txBody>
      </p:sp>
      <p:sp>
        <p:nvSpPr>
          <p:cNvPr id="3" name="Content Placeholder 2"/>
          <p:cNvSpPr>
            <a:spLocks noGrp="1"/>
          </p:cNvSpPr>
          <p:nvPr>
            <p:ph idx="1"/>
          </p:nvPr>
        </p:nvSpPr>
        <p:spPr/>
        <p:txBody>
          <a:bodyPr/>
          <a:lstStyle/>
          <a:p>
            <a:r>
              <a:rPr lang="en-GB" dirty="0"/>
              <a:t>Create a table</a:t>
            </a:r>
          </a:p>
        </p:txBody>
      </p:sp>
    </p:spTree>
    <p:extLst>
      <p:ext uri="{BB962C8B-B14F-4D97-AF65-F5344CB8AC3E}">
        <p14:creationId xmlns:p14="http://schemas.microsoft.com/office/powerpoint/2010/main" val="3685864833"/>
      </p:ext>
    </p:extLst>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p:cNvSpPr>
            <a:spLocks noGrp="1"/>
          </p:cNvSpPr>
          <p:nvPr>
            <p:ph type="title"/>
          </p:nvPr>
        </p:nvSpPr>
        <p:spPr/>
        <p:txBody>
          <a:bodyPr/>
          <a:lstStyle/>
          <a:p>
            <a:r>
              <a:rPr lang="en-GB" dirty="0"/>
              <a:t>Data Types</a:t>
            </a:r>
          </a:p>
        </p:txBody>
      </p:sp>
      <p:graphicFrame>
        <p:nvGraphicFramePr>
          <p:cNvPr id="5" name="Table 4"/>
          <p:cNvGraphicFramePr>
            <a:graphicFrameLocks noGrp="1"/>
          </p:cNvGraphicFramePr>
          <p:nvPr>
            <p:extLst>
              <p:ext uri="{D42A27DB-BD31-4B8C-83A1-F6EECF244321}">
                <p14:modId xmlns:p14="http://schemas.microsoft.com/office/powerpoint/2010/main" val="1561520139"/>
              </p:ext>
            </p:extLst>
          </p:nvPr>
        </p:nvGraphicFramePr>
        <p:xfrm>
          <a:off x="838199" y="1690688"/>
          <a:ext cx="10700657" cy="4732535"/>
        </p:xfrm>
        <a:graphic>
          <a:graphicData uri="http://schemas.openxmlformats.org/drawingml/2006/table">
            <a:tbl>
              <a:tblPr firstRow="1" bandRow="1">
                <a:tableStyleId>{5C22544A-7EE6-4342-B048-85BDC9FD1C3A}</a:tableStyleId>
              </a:tblPr>
              <a:tblGrid>
                <a:gridCol w="2304620">
                  <a:extLst>
                    <a:ext uri="{9D8B030D-6E8A-4147-A177-3AD203B41FA5}">
                      <a16:colId xmlns:a16="http://schemas.microsoft.com/office/drawing/2014/main" val="3886860534"/>
                    </a:ext>
                  </a:extLst>
                </a:gridCol>
                <a:gridCol w="3796996">
                  <a:extLst>
                    <a:ext uri="{9D8B030D-6E8A-4147-A177-3AD203B41FA5}">
                      <a16:colId xmlns:a16="http://schemas.microsoft.com/office/drawing/2014/main" val="2462689531"/>
                    </a:ext>
                  </a:extLst>
                </a:gridCol>
                <a:gridCol w="4599041">
                  <a:extLst>
                    <a:ext uri="{9D8B030D-6E8A-4147-A177-3AD203B41FA5}">
                      <a16:colId xmlns:a16="http://schemas.microsoft.com/office/drawing/2014/main" val="2428889176"/>
                    </a:ext>
                  </a:extLst>
                </a:gridCol>
              </a:tblGrid>
              <a:tr h="720000">
                <a:tc>
                  <a:txBody>
                    <a:bodyPr/>
                    <a:lstStyle/>
                    <a:p>
                      <a:r>
                        <a:rPr lang="en-GB" sz="4000"/>
                        <a:t>Type</a:t>
                      </a:r>
                    </a:p>
                  </a:txBody>
                  <a:tcPr anchor="ctr"/>
                </a:tc>
                <a:tc>
                  <a:txBody>
                    <a:bodyPr/>
                    <a:lstStyle/>
                    <a:p>
                      <a:r>
                        <a:rPr lang="en-GB" sz="4000" dirty="0"/>
                        <a:t>SQL</a:t>
                      </a:r>
                      <a:endParaRPr lang="en-GB" dirty="0"/>
                    </a:p>
                  </a:txBody>
                  <a:tcPr anchor="ctr"/>
                </a:tc>
                <a:tc>
                  <a:txBody>
                    <a:bodyPr/>
                    <a:lstStyle/>
                    <a:p>
                      <a:r>
                        <a:rPr lang="en-GB" sz="4000" dirty="0"/>
                        <a:t>Comment</a:t>
                      </a:r>
                    </a:p>
                  </a:txBody>
                  <a:tcPr anchor="ctr"/>
                </a:tc>
                <a:extLst>
                  <a:ext uri="{0D108BD9-81ED-4DB2-BD59-A6C34878D82A}">
                    <a16:rowId xmlns:a16="http://schemas.microsoft.com/office/drawing/2014/main" val="2306187331"/>
                  </a:ext>
                </a:extLst>
              </a:tr>
              <a:tr h="802507">
                <a:tc>
                  <a:txBody>
                    <a:bodyPr/>
                    <a:lstStyle/>
                    <a:p>
                      <a:r>
                        <a:rPr lang="en-GB" sz="3600" dirty="0"/>
                        <a:t>text</a:t>
                      </a:r>
                    </a:p>
                  </a:txBody>
                  <a:tcPr anchor="ctr"/>
                </a:tc>
                <a:tc>
                  <a:txBody>
                    <a:bodyPr/>
                    <a:lstStyle/>
                    <a:p>
                      <a:endParaRPr lang="en-GB" sz="3600" dirty="0"/>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sz="3600" dirty="0"/>
                    </a:p>
                  </a:txBody>
                  <a:tcPr anchor="ctr"/>
                </a:tc>
                <a:extLst>
                  <a:ext uri="{0D108BD9-81ED-4DB2-BD59-A6C34878D82A}">
                    <a16:rowId xmlns:a16="http://schemas.microsoft.com/office/drawing/2014/main" val="3461540582"/>
                  </a:ext>
                </a:extLst>
              </a:tr>
              <a:tr h="802507">
                <a:tc>
                  <a:txBody>
                    <a:bodyPr/>
                    <a:lstStyle/>
                    <a:p>
                      <a:r>
                        <a:rPr lang="en-GB" sz="3600" dirty="0"/>
                        <a:t>number</a:t>
                      </a:r>
                    </a:p>
                  </a:txBody>
                  <a:tcPr anchor="ctr"/>
                </a:tc>
                <a:tc>
                  <a:txBody>
                    <a:bodyPr/>
                    <a:lstStyle/>
                    <a:p>
                      <a:endParaRPr lang="en-GB" sz="3600" dirty="0"/>
                    </a:p>
                  </a:txBody>
                  <a:tcPr anchor="ctr"/>
                </a:tc>
                <a:tc>
                  <a:txBody>
                    <a:bodyPr/>
                    <a:lstStyle/>
                    <a:p>
                      <a:endParaRPr lang="en-GB" sz="3600" dirty="0"/>
                    </a:p>
                  </a:txBody>
                  <a:tcPr anchor="ctr"/>
                </a:tc>
                <a:extLst>
                  <a:ext uri="{0D108BD9-81ED-4DB2-BD59-A6C34878D82A}">
                    <a16:rowId xmlns:a16="http://schemas.microsoft.com/office/drawing/2014/main" val="3725072174"/>
                  </a:ext>
                </a:extLst>
              </a:tr>
              <a:tr h="802507">
                <a:tc>
                  <a:txBody>
                    <a:bodyPr/>
                    <a:lstStyle/>
                    <a:p>
                      <a:r>
                        <a:rPr lang="en-GB" sz="3600" dirty="0"/>
                        <a:t>date</a:t>
                      </a:r>
                    </a:p>
                  </a:txBody>
                  <a:tcPr anchor="ctr"/>
                </a:tc>
                <a:tc>
                  <a:txBody>
                    <a:bodyPr/>
                    <a:lstStyle/>
                    <a:p>
                      <a:endParaRPr lang="en-GB" sz="3600" dirty="0"/>
                    </a:p>
                  </a:txBody>
                  <a:tcPr anchor="ctr"/>
                </a:tc>
                <a:tc>
                  <a:txBody>
                    <a:bodyPr/>
                    <a:lstStyle/>
                    <a:p>
                      <a:endParaRPr lang="en-GB" sz="3600" dirty="0"/>
                    </a:p>
                  </a:txBody>
                  <a:tcPr anchor="ctr"/>
                </a:tc>
                <a:extLst>
                  <a:ext uri="{0D108BD9-81ED-4DB2-BD59-A6C34878D82A}">
                    <a16:rowId xmlns:a16="http://schemas.microsoft.com/office/drawing/2014/main" val="2280682125"/>
                  </a:ext>
                </a:extLst>
              </a:tr>
              <a:tr h="802507">
                <a:tc>
                  <a:txBody>
                    <a:bodyPr/>
                    <a:lstStyle/>
                    <a:p>
                      <a:r>
                        <a:rPr lang="en-GB" sz="3600" dirty="0"/>
                        <a:t>time</a:t>
                      </a:r>
                    </a:p>
                  </a:txBody>
                  <a:tcPr anchor="ctr"/>
                </a:tc>
                <a:tc>
                  <a:txBody>
                    <a:bodyPr/>
                    <a:lstStyle/>
                    <a:p>
                      <a:endParaRPr lang="en-GB" sz="3600" dirty="0"/>
                    </a:p>
                  </a:txBody>
                  <a:tcPr anchor="ctr"/>
                </a:tc>
                <a:tc>
                  <a:txBody>
                    <a:bodyPr/>
                    <a:lstStyle/>
                    <a:p>
                      <a:endParaRPr lang="en-GB" sz="3600" dirty="0"/>
                    </a:p>
                  </a:txBody>
                  <a:tcPr anchor="ctr"/>
                </a:tc>
                <a:extLst>
                  <a:ext uri="{0D108BD9-81ED-4DB2-BD59-A6C34878D82A}">
                    <a16:rowId xmlns:a16="http://schemas.microsoft.com/office/drawing/2014/main" val="40948160"/>
                  </a:ext>
                </a:extLst>
              </a:tr>
              <a:tr h="802507">
                <a:tc>
                  <a:txBody>
                    <a:bodyPr/>
                    <a:lstStyle/>
                    <a:p>
                      <a:r>
                        <a:rPr lang="en-GB" sz="3600"/>
                        <a:t>Boolean</a:t>
                      </a:r>
                    </a:p>
                  </a:txBody>
                  <a:tcPr anchor="ctr"/>
                </a:tc>
                <a:tc>
                  <a:txBody>
                    <a:bodyPr/>
                    <a:lstStyle/>
                    <a:p>
                      <a:endParaRPr lang="en-GB" sz="3600" dirty="0"/>
                    </a:p>
                  </a:txBody>
                  <a:tcPr anchor="ctr"/>
                </a:tc>
                <a:tc>
                  <a:txBody>
                    <a:bodyPr/>
                    <a:lstStyle/>
                    <a:p>
                      <a:endParaRPr lang="en-GB" sz="3600" dirty="0"/>
                    </a:p>
                  </a:txBody>
                  <a:tcPr anchor="ctr"/>
                </a:tc>
                <a:extLst>
                  <a:ext uri="{0D108BD9-81ED-4DB2-BD59-A6C34878D82A}">
                    <a16:rowId xmlns:a16="http://schemas.microsoft.com/office/drawing/2014/main" val="788213604"/>
                  </a:ext>
                </a:extLst>
              </a:tr>
            </a:tbl>
          </a:graphicData>
        </a:graphic>
      </p:graphicFrame>
      <p:sp>
        <p:nvSpPr>
          <p:cNvPr id="6" name="TextBox 5">
            <a:extLst>
              <a:ext uri="{FF2B5EF4-FFF2-40B4-BE49-F238E27FC236}">
                <a16:creationId xmlns:a16="http://schemas.microsoft.com/office/drawing/2014/main" id="{213C2DD8-DE81-4F49-BB33-3CD1484A4605}"/>
              </a:ext>
            </a:extLst>
          </p:cNvPr>
          <p:cNvSpPr txBox="1"/>
          <p:nvPr/>
        </p:nvSpPr>
        <p:spPr>
          <a:xfrm>
            <a:off x="3138972" y="2481291"/>
            <a:ext cx="2957028" cy="646331"/>
          </a:xfrm>
          <a:prstGeom prst="rect">
            <a:avLst/>
          </a:prstGeom>
          <a:noFill/>
        </p:spPr>
        <p:txBody>
          <a:bodyPr wrap="none" rtlCol="0">
            <a:spAutoFit/>
          </a:bodyPr>
          <a:lstStyle/>
          <a:p>
            <a:r>
              <a:rPr lang="en-GB" sz="3600" dirty="0"/>
              <a:t>VARCHAR(size)</a:t>
            </a:r>
          </a:p>
        </p:txBody>
      </p:sp>
      <p:sp>
        <p:nvSpPr>
          <p:cNvPr id="7" name="TextBox 6">
            <a:extLst>
              <a:ext uri="{FF2B5EF4-FFF2-40B4-BE49-F238E27FC236}">
                <a16:creationId xmlns:a16="http://schemas.microsoft.com/office/drawing/2014/main" id="{3D74CAB3-48D6-4AE8-852D-C1672928A55F}"/>
              </a:ext>
            </a:extLst>
          </p:cNvPr>
          <p:cNvSpPr txBox="1"/>
          <p:nvPr/>
        </p:nvSpPr>
        <p:spPr>
          <a:xfrm>
            <a:off x="3138972" y="3285342"/>
            <a:ext cx="2143407" cy="646331"/>
          </a:xfrm>
          <a:prstGeom prst="rect">
            <a:avLst/>
          </a:prstGeom>
          <a:noFill/>
        </p:spPr>
        <p:txBody>
          <a:bodyPr wrap="none" rtlCol="0">
            <a:spAutoFit/>
          </a:bodyPr>
          <a:lstStyle/>
          <a:p>
            <a:r>
              <a:rPr lang="en-GB" sz="3600" dirty="0"/>
              <a:t>INT </a:t>
            </a:r>
            <a:r>
              <a:rPr lang="en-GB" sz="3600" dirty="0">
                <a:solidFill>
                  <a:srgbClr val="7030A0"/>
                </a:solidFill>
              </a:rPr>
              <a:t>/</a:t>
            </a:r>
            <a:r>
              <a:rPr lang="en-GB" sz="3600" dirty="0"/>
              <a:t> REAL</a:t>
            </a:r>
          </a:p>
        </p:txBody>
      </p:sp>
      <p:sp>
        <p:nvSpPr>
          <p:cNvPr id="8" name="TextBox 7">
            <a:extLst>
              <a:ext uri="{FF2B5EF4-FFF2-40B4-BE49-F238E27FC236}">
                <a16:creationId xmlns:a16="http://schemas.microsoft.com/office/drawing/2014/main" id="{36BA8DDB-5D18-4F8A-8BF1-2999BC1F43EF}"/>
              </a:ext>
            </a:extLst>
          </p:cNvPr>
          <p:cNvSpPr txBox="1"/>
          <p:nvPr/>
        </p:nvSpPr>
        <p:spPr>
          <a:xfrm>
            <a:off x="3138972" y="4107322"/>
            <a:ext cx="1143711" cy="646331"/>
          </a:xfrm>
          <a:prstGeom prst="rect">
            <a:avLst/>
          </a:prstGeom>
          <a:noFill/>
        </p:spPr>
        <p:txBody>
          <a:bodyPr wrap="none" rtlCol="0">
            <a:spAutoFit/>
          </a:bodyPr>
          <a:lstStyle/>
          <a:p>
            <a:r>
              <a:rPr lang="en-GB" sz="3600" dirty="0"/>
              <a:t>DATE</a:t>
            </a:r>
          </a:p>
        </p:txBody>
      </p:sp>
      <p:sp>
        <p:nvSpPr>
          <p:cNvPr id="9" name="TextBox 8">
            <a:extLst>
              <a:ext uri="{FF2B5EF4-FFF2-40B4-BE49-F238E27FC236}">
                <a16:creationId xmlns:a16="http://schemas.microsoft.com/office/drawing/2014/main" id="{DBEE6A21-ECAD-4FB4-9415-223BD7759DC2}"/>
              </a:ext>
            </a:extLst>
          </p:cNvPr>
          <p:cNvSpPr txBox="1"/>
          <p:nvPr/>
        </p:nvSpPr>
        <p:spPr>
          <a:xfrm>
            <a:off x="3138972" y="4907193"/>
            <a:ext cx="1146468" cy="646331"/>
          </a:xfrm>
          <a:prstGeom prst="rect">
            <a:avLst/>
          </a:prstGeom>
          <a:noFill/>
        </p:spPr>
        <p:txBody>
          <a:bodyPr wrap="none" rtlCol="0">
            <a:spAutoFit/>
          </a:bodyPr>
          <a:lstStyle/>
          <a:p>
            <a:r>
              <a:rPr lang="en-GB" sz="3600" dirty="0"/>
              <a:t>TIME</a:t>
            </a:r>
          </a:p>
        </p:txBody>
      </p:sp>
      <p:sp>
        <p:nvSpPr>
          <p:cNvPr id="10" name="TextBox 9">
            <a:extLst>
              <a:ext uri="{FF2B5EF4-FFF2-40B4-BE49-F238E27FC236}">
                <a16:creationId xmlns:a16="http://schemas.microsoft.com/office/drawing/2014/main" id="{EEAD741D-8C95-4152-94FE-5A0F8E9D7B1E}"/>
              </a:ext>
            </a:extLst>
          </p:cNvPr>
          <p:cNvSpPr txBox="1"/>
          <p:nvPr/>
        </p:nvSpPr>
        <p:spPr>
          <a:xfrm>
            <a:off x="3138972" y="5697306"/>
            <a:ext cx="1242648" cy="646331"/>
          </a:xfrm>
          <a:prstGeom prst="rect">
            <a:avLst/>
          </a:prstGeom>
          <a:noFill/>
        </p:spPr>
        <p:txBody>
          <a:bodyPr wrap="none" rtlCol="0">
            <a:spAutoFit/>
          </a:bodyPr>
          <a:lstStyle/>
          <a:p>
            <a:r>
              <a:rPr lang="en-GB" sz="3600" dirty="0"/>
              <a:t>BOOL</a:t>
            </a:r>
          </a:p>
        </p:txBody>
      </p:sp>
      <p:sp>
        <p:nvSpPr>
          <p:cNvPr id="11" name="TextBox 10">
            <a:extLst>
              <a:ext uri="{FF2B5EF4-FFF2-40B4-BE49-F238E27FC236}">
                <a16:creationId xmlns:a16="http://schemas.microsoft.com/office/drawing/2014/main" id="{D3394448-7BFE-4DD1-BCD4-64686E621426}"/>
              </a:ext>
            </a:extLst>
          </p:cNvPr>
          <p:cNvSpPr txBox="1"/>
          <p:nvPr/>
        </p:nvSpPr>
        <p:spPr>
          <a:xfrm>
            <a:off x="6905429" y="2481290"/>
            <a:ext cx="4169603" cy="646331"/>
          </a:xfrm>
          <a:prstGeom prst="rect">
            <a:avLst/>
          </a:prstGeom>
          <a:noFill/>
        </p:spPr>
        <p:txBody>
          <a:bodyPr wrap="none" rtlCol="0">
            <a:spAutoFit/>
          </a:bodyPr>
          <a:lstStyle/>
          <a:p>
            <a:r>
              <a:rPr lang="en-GB" sz="3600" dirty="0"/>
              <a:t>Size = max characters</a:t>
            </a:r>
          </a:p>
        </p:txBody>
      </p:sp>
    </p:spTree>
    <p:extLst>
      <p:ext uri="{BB962C8B-B14F-4D97-AF65-F5344CB8AC3E}">
        <p14:creationId xmlns:p14="http://schemas.microsoft.com/office/powerpoint/2010/main" val="173063426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1" fill="hold"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wipe(up)">
                                      <p:cBhvr>
                                        <p:cTn id="7" dur="2000"/>
                                        <p:tgtEl>
                                          <p:spTgt spid="5"/>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6"/>
                                        </p:tgtEl>
                                        <p:attrNameLst>
                                          <p:attrName>style.visibility</p:attrName>
                                        </p:attrNameLst>
                                      </p:cBhvr>
                                      <p:to>
                                        <p:strVal val="visible"/>
                                      </p:to>
                                    </p:set>
                                    <p:animEffect transition="in" filter="wipe(left)">
                                      <p:cBhvr>
                                        <p:cTn id="12" dur="1000"/>
                                        <p:tgtEl>
                                          <p:spTgt spid="6"/>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11"/>
                                        </p:tgtEl>
                                        <p:attrNameLst>
                                          <p:attrName>style.visibility</p:attrName>
                                        </p:attrNameLst>
                                      </p:cBhvr>
                                      <p:to>
                                        <p:strVal val="visible"/>
                                      </p:to>
                                    </p:set>
                                    <p:animEffect transition="in" filter="wipe(left)">
                                      <p:cBhvr>
                                        <p:cTn id="17" dur="1500"/>
                                        <p:tgtEl>
                                          <p:spTgt spid="11"/>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7"/>
                                        </p:tgtEl>
                                        <p:attrNameLst>
                                          <p:attrName>style.visibility</p:attrName>
                                        </p:attrNameLst>
                                      </p:cBhvr>
                                      <p:to>
                                        <p:strVal val="visible"/>
                                      </p:to>
                                    </p:set>
                                    <p:animEffect transition="in" filter="wipe(left)">
                                      <p:cBhvr>
                                        <p:cTn id="22" dur="750"/>
                                        <p:tgtEl>
                                          <p:spTgt spid="7"/>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8"/>
                                        </p:tgtEl>
                                        <p:attrNameLst>
                                          <p:attrName>style.visibility</p:attrName>
                                        </p:attrNameLst>
                                      </p:cBhvr>
                                      <p:to>
                                        <p:strVal val="visible"/>
                                      </p:to>
                                    </p:set>
                                    <p:animEffect transition="in" filter="wipe(left)">
                                      <p:cBhvr>
                                        <p:cTn id="27" dur="500"/>
                                        <p:tgtEl>
                                          <p:spTgt spid="8"/>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9"/>
                                        </p:tgtEl>
                                        <p:attrNameLst>
                                          <p:attrName>style.visibility</p:attrName>
                                        </p:attrNameLst>
                                      </p:cBhvr>
                                      <p:to>
                                        <p:strVal val="visible"/>
                                      </p:to>
                                    </p:set>
                                    <p:animEffect transition="in" filter="wipe(left)">
                                      <p:cBhvr>
                                        <p:cTn id="32" dur="500"/>
                                        <p:tgtEl>
                                          <p:spTgt spid="9"/>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10"/>
                                        </p:tgtEl>
                                        <p:attrNameLst>
                                          <p:attrName>style.visibility</p:attrName>
                                        </p:attrNameLst>
                                      </p:cBhvr>
                                      <p:to>
                                        <p:strVal val="visible"/>
                                      </p:to>
                                    </p:set>
                                    <p:animEffect transition="in" filter="wipe(left)">
                                      <p:cBhvr>
                                        <p:cTn id="37" dur="5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P spid="7" grpId="0"/>
      <p:bldP spid="8" grpId="0"/>
      <p:bldP spid="9" grpId="0"/>
      <p:bldP spid="10" grpId="0"/>
      <p:bldP spid="11" grpId="0"/>
    </p:bldLst>
  </p:timing>
</p:sld>
</file>

<file path=ppt/slides/slide117.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p:cNvSpPr>
            <a:spLocks noGrp="1"/>
          </p:cNvSpPr>
          <p:nvPr>
            <p:ph type="title"/>
          </p:nvPr>
        </p:nvSpPr>
        <p:spPr/>
        <p:txBody>
          <a:bodyPr/>
          <a:lstStyle/>
          <a:p>
            <a:r>
              <a:rPr lang="en-GB" dirty="0"/>
              <a:t>Data Types</a:t>
            </a:r>
          </a:p>
        </p:txBody>
      </p:sp>
      <p:graphicFrame>
        <p:nvGraphicFramePr>
          <p:cNvPr id="5" name="Table 4"/>
          <p:cNvGraphicFramePr>
            <a:graphicFrameLocks noGrp="1"/>
          </p:cNvGraphicFramePr>
          <p:nvPr>
            <p:extLst>
              <p:ext uri="{D42A27DB-BD31-4B8C-83A1-F6EECF244321}">
                <p14:modId xmlns:p14="http://schemas.microsoft.com/office/powerpoint/2010/main" val="704281264"/>
              </p:ext>
            </p:extLst>
          </p:nvPr>
        </p:nvGraphicFramePr>
        <p:xfrm>
          <a:off x="838199" y="1690688"/>
          <a:ext cx="10700657" cy="4732535"/>
        </p:xfrm>
        <a:graphic>
          <a:graphicData uri="http://schemas.openxmlformats.org/drawingml/2006/table">
            <a:tbl>
              <a:tblPr firstRow="1" bandRow="1">
                <a:tableStyleId>{5C22544A-7EE6-4342-B048-85BDC9FD1C3A}</a:tableStyleId>
              </a:tblPr>
              <a:tblGrid>
                <a:gridCol w="2304620">
                  <a:extLst>
                    <a:ext uri="{9D8B030D-6E8A-4147-A177-3AD203B41FA5}">
                      <a16:colId xmlns:a16="http://schemas.microsoft.com/office/drawing/2014/main" val="3886860534"/>
                    </a:ext>
                  </a:extLst>
                </a:gridCol>
                <a:gridCol w="3796996">
                  <a:extLst>
                    <a:ext uri="{9D8B030D-6E8A-4147-A177-3AD203B41FA5}">
                      <a16:colId xmlns:a16="http://schemas.microsoft.com/office/drawing/2014/main" val="2462689531"/>
                    </a:ext>
                  </a:extLst>
                </a:gridCol>
                <a:gridCol w="4599041">
                  <a:extLst>
                    <a:ext uri="{9D8B030D-6E8A-4147-A177-3AD203B41FA5}">
                      <a16:colId xmlns:a16="http://schemas.microsoft.com/office/drawing/2014/main" val="2428889176"/>
                    </a:ext>
                  </a:extLst>
                </a:gridCol>
              </a:tblGrid>
              <a:tr h="720000">
                <a:tc>
                  <a:txBody>
                    <a:bodyPr/>
                    <a:lstStyle/>
                    <a:p>
                      <a:r>
                        <a:rPr lang="en-GB" sz="4000"/>
                        <a:t>Type</a:t>
                      </a:r>
                    </a:p>
                  </a:txBody>
                  <a:tcPr anchor="ctr"/>
                </a:tc>
                <a:tc>
                  <a:txBody>
                    <a:bodyPr/>
                    <a:lstStyle/>
                    <a:p>
                      <a:r>
                        <a:rPr lang="en-GB" sz="4000" dirty="0"/>
                        <a:t>SQL</a:t>
                      </a:r>
                      <a:endParaRPr lang="en-GB" dirty="0"/>
                    </a:p>
                  </a:txBody>
                  <a:tcPr anchor="ctr"/>
                </a:tc>
                <a:tc>
                  <a:txBody>
                    <a:bodyPr/>
                    <a:lstStyle/>
                    <a:p>
                      <a:r>
                        <a:rPr lang="en-GB" sz="4000" dirty="0"/>
                        <a:t>Comment</a:t>
                      </a:r>
                    </a:p>
                  </a:txBody>
                  <a:tcPr anchor="ctr"/>
                </a:tc>
                <a:extLst>
                  <a:ext uri="{0D108BD9-81ED-4DB2-BD59-A6C34878D82A}">
                    <a16:rowId xmlns:a16="http://schemas.microsoft.com/office/drawing/2014/main" val="2306187331"/>
                  </a:ext>
                </a:extLst>
              </a:tr>
              <a:tr h="802507">
                <a:tc>
                  <a:txBody>
                    <a:bodyPr/>
                    <a:lstStyle/>
                    <a:p>
                      <a:endParaRPr lang="en-GB" sz="3600" dirty="0"/>
                    </a:p>
                  </a:txBody>
                  <a:tcPr anchor="ctr"/>
                </a:tc>
                <a:tc>
                  <a:txBody>
                    <a:bodyPr/>
                    <a:lstStyle/>
                    <a:p>
                      <a:r>
                        <a:rPr lang="en-GB" sz="3600" dirty="0"/>
                        <a:t>VARCHAR(size)</a:t>
                      </a: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3600" dirty="0"/>
                        <a:t>Size =</a:t>
                      </a:r>
                    </a:p>
                  </a:txBody>
                  <a:tcPr anchor="ctr"/>
                </a:tc>
                <a:extLst>
                  <a:ext uri="{0D108BD9-81ED-4DB2-BD59-A6C34878D82A}">
                    <a16:rowId xmlns:a16="http://schemas.microsoft.com/office/drawing/2014/main" val="3461540582"/>
                  </a:ext>
                </a:extLst>
              </a:tr>
              <a:tr h="802507">
                <a:tc>
                  <a:txBody>
                    <a:bodyPr/>
                    <a:lstStyle/>
                    <a:p>
                      <a:endParaRPr lang="en-GB" sz="3600" dirty="0"/>
                    </a:p>
                  </a:txBody>
                  <a:tcPr anchor="ctr"/>
                </a:tc>
                <a:tc>
                  <a:txBody>
                    <a:bodyPr/>
                    <a:lstStyle/>
                    <a:p>
                      <a:r>
                        <a:rPr lang="en-GB" sz="3600" dirty="0"/>
                        <a:t>INT </a:t>
                      </a:r>
                      <a:r>
                        <a:rPr lang="en-GB" sz="3600" dirty="0">
                          <a:solidFill>
                            <a:srgbClr val="7030A0"/>
                          </a:solidFill>
                        </a:rPr>
                        <a:t>/</a:t>
                      </a:r>
                      <a:r>
                        <a:rPr lang="en-GB" sz="3600" dirty="0"/>
                        <a:t> REAL</a:t>
                      </a:r>
                    </a:p>
                  </a:txBody>
                  <a:tcPr anchor="ctr"/>
                </a:tc>
                <a:tc>
                  <a:txBody>
                    <a:bodyPr/>
                    <a:lstStyle/>
                    <a:p>
                      <a:endParaRPr lang="en-GB" sz="3600" dirty="0"/>
                    </a:p>
                  </a:txBody>
                  <a:tcPr anchor="ctr"/>
                </a:tc>
                <a:extLst>
                  <a:ext uri="{0D108BD9-81ED-4DB2-BD59-A6C34878D82A}">
                    <a16:rowId xmlns:a16="http://schemas.microsoft.com/office/drawing/2014/main" val="3725072174"/>
                  </a:ext>
                </a:extLst>
              </a:tr>
              <a:tr h="802507">
                <a:tc>
                  <a:txBody>
                    <a:bodyPr/>
                    <a:lstStyle/>
                    <a:p>
                      <a:endParaRPr lang="en-GB" sz="3600" dirty="0"/>
                    </a:p>
                  </a:txBody>
                  <a:tcPr anchor="ctr"/>
                </a:tc>
                <a:tc>
                  <a:txBody>
                    <a:bodyPr/>
                    <a:lstStyle/>
                    <a:p>
                      <a:r>
                        <a:rPr lang="en-GB" sz="3600" dirty="0"/>
                        <a:t>DATE</a:t>
                      </a:r>
                    </a:p>
                  </a:txBody>
                  <a:tcPr anchor="ctr"/>
                </a:tc>
                <a:tc>
                  <a:txBody>
                    <a:bodyPr/>
                    <a:lstStyle/>
                    <a:p>
                      <a:endParaRPr lang="en-GB" sz="3600" dirty="0"/>
                    </a:p>
                  </a:txBody>
                  <a:tcPr anchor="ctr"/>
                </a:tc>
                <a:extLst>
                  <a:ext uri="{0D108BD9-81ED-4DB2-BD59-A6C34878D82A}">
                    <a16:rowId xmlns:a16="http://schemas.microsoft.com/office/drawing/2014/main" val="2280682125"/>
                  </a:ext>
                </a:extLst>
              </a:tr>
              <a:tr h="802507">
                <a:tc>
                  <a:txBody>
                    <a:bodyPr/>
                    <a:lstStyle/>
                    <a:p>
                      <a:endParaRPr lang="en-GB" sz="3600" dirty="0"/>
                    </a:p>
                  </a:txBody>
                  <a:tcPr anchor="ctr"/>
                </a:tc>
                <a:tc>
                  <a:txBody>
                    <a:bodyPr/>
                    <a:lstStyle/>
                    <a:p>
                      <a:r>
                        <a:rPr lang="en-GB" sz="3600" dirty="0"/>
                        <a:t>TIME</a:t>
                      </a:r>
                    </a:p>
                  </a:txBody>
                  <a:tcPr anchor="ctr"/>
                </a:tc>
                <a:tc>
                  <a:txBody>
                    <a:bodyPr/>
                    <a:lstStyle/>
                    <a:p>
                      <a:endParaRPr lang="en-GB" sz="3600" dirty="0"/>
                    </a:p>
                  </a:txBody>
                  <a:tcPr anchor="ctr"/>
                </a:tc>
                <a:extLst>
                  <a:ext uri="{0D108BD9-81ED-4DB2-BD59-A6C34878D82A}">
                    <a16:rowId xmlns:a16="http://schemas.microsoft.com/office/drawing/2014/main" val="40948160"/>
                  </a:ext>
                </a:extLst>
              </a:tr>
              <a:tr h="802507">
                <a:tc>
                  <a:txBody>
                    <a:bodyPr/>
                    <a:lstStyle/>
                    <a:p>
                      <a:endParaRPr lang="en-GB" sz="3600" dirty="0"/>
                    </a:p>
                  </a:txBody>
                  <a:tcPr anchor="ctr"/>
                </a:tc>
                <a:tc>
                  <a:txBody>
                    <a:bodyPr/>
                    <a:lstStyle/>
                    <a:p>
                      <a:r>
                        <a:rPr lang="en-GB" sz="3600" dirty="0"/>
                        <a:t>BOOL</a:t>
                      </a:r>
                    </a:p>
                  </a:txBody>
                  <a:tcPr anchor="ctr"/>
                </a:tc>
                <a:tc>
                  <a:txBody>
                    <a:bodyPr/>
                    <a:lstStyle/>
                    <a:p>
                      <a:endParaRPr lang="en-GB" sz="3600" dirty="0"/>
                    </a:p>
                  </a:txBody>
                  <a:tcPr anchor="ctr"/>
                </a:tc>
                <a:extLst>
                  <a:ext uri="{0D108BD9-81ED-4DB2-BD59-A6C34878D82A}">
                    <a16:rowId xmlns:a16="http://schemas.microsoft.com/office/drawing/2014/main" val="788213604"/>
                  </a:ext>
                </a:extLst>
              </a:tr>
            </a:tbl>
          </a:graphicData>
        </a:graphic>
      </p:graphicFrame>
    </p:spTree>
    <p:extLst>
      <p:ext uri="{BB962C8B-B14F-4D97-AF65-F5344CB8AC3E}">
        <p14:creationId xmlns:p14="http://schemas.microsoft.com/office/powerpoint/2010/main" val="116647972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1" fill="hold"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wipe(up)">
                                      <p:cBhvr>
                                        <p:cTn id="7" dur="20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DDBCD22-4094-7C2D-7AFF-D31CE2E460D0}"/>
              </a:ext>
            </a:extLst>
          </p:cNvPr>
          <p:cNvSpPr>
            <a:spLocks noGrp="1"/>
          </p:cNvSpPr>
          <p:nvPr>
            <p:ph type="title"/>
          </p:nvPr>
        </p:nvSpPr>
        <p:spPr/>
        <p:txBody>
          <a:bodyPr/>
          <a:lstStyle/>
          <a:p>
            <a:r>
              <a:rPr lang="en-GB" dirty="0"/>
              <a:t>Validation</a:t>
            </a:r>
          </a:p>
        </p:txBody>
      </p:sp>
      <p:graphicFrame>
        <p:nvGraphicFramePr>
          <p:cNvPr id="4" name="Table 4">
            <a:extLst>
              <a:ext uri="{FF2B5EF4-FFF2-40B4-BE49-F238E27FC236}">
                <a16:creationId xmlns:a16="http://schemas.microsoft.com/office/drawing/2014/main" id="{2D33DD18-5F25-90D0-9ED0-252DD9A0F5A9}"/>
              </a:ext>
            </a:extLst>
          </p:cNvPr>
          <p:cNvGraphicFramePr>
            <a:graphicFrameLocks noGrp="1"/>
          </p:cNvGraphicFramePr>
          <p:nvPr>
            <p:ph idx="1"/>
          </p:nvPr>
        </p:nvGraphicFramePr>
        <p:xfrm>
          <a:off x="588000" y="1825625"/>
          <a:ext cx="11016000" cy="579120"/>
        </p:xfrm>
        <a:graphic>
          <a:graphicData uri="http://schemas.openxmlformats.org/drawingml/2006/table">
            <a:tbl>
              <a:tblPr firstRow="1" bandRow="1">
                <a:tableStyleId>{5C22544A-7EE6-4342-B048-85BDC9FD1C3A}</a:tableStyleId>
              </a:tblPr>
              <a:tblGrid>
                <a:gridCol w="2780278">
                  <a:extLst>
                    <a:ext uri="{9D8B030D-6E8A-4147-A177-3AD203B41FA5}">
                      <a16:colId xmlns:a16="http://schemas.microsoft.com/office/drawing/2014/main" val="4090402969"/>
                    </a:ext>
                  </a:extLst>
                </a:gridCol>
                <a:gridCol w="8235722">
                  <a:extLst>
                    <a:ext uri="{9D8B030D-6E8A-4147-A177-3AD203B41FA5}">
                      <a16:colId xmlns:a16="http://schemas.microsoft.com/office/drawing/2014/main" val="1722507857"/>
                    </a:ext>
                  </a:extLst>
                </a:gridCol>
              </a:tblGrid>
              <a:tr h="370840">
                <a:tc>
                  <a:txBody>
                    <a:bodyPr/>
                    <a:lstStyle/>
                    <a:p>
                      <a:r>
                        <a:rPr lang="en-GB" sz="3200" dirty="0"/>
                        <a:t>Type</a:t>
                      </a:r>
                    </a:p>
                  </a:txBody>
                  <a:tcPr/>
                </a:tc>
                <a:tc>
                  <a:txBody>
                    <a:bodyPr/>
                    <a:lstStyle/>
                    <a:p>
                      <a:r>
                        <a:rPr lang="en-GB" sz="3200" dirty="0"/>
                        <a:t>SQLite</a:t>
                      </a:r>
                    </a:p>
                  </a:txBody>
                  <a:tcPr/>
                </a:tc>
                <a:extLst>
                  <a:ext uri="{0D108BD9-81ED-4DB2-BD59-A6C34878D82A}">
                    <a16:rowId xmlns:a16="http://schemas.microsoft.com/office/drawing/2014/main" val="2410808451"/>
                  </a:ext>
                </a:extLst>
              </a:tr>
            </a:tbl>
          </a:graphicData>
        </a:graphic>
      </p:graphicFrame>
      <p:graphicFrame>
        <p:nvGraphicFramePr>
          <p:cNvPr id="3" name="Table 4">
            <a:extLst>
              <a:ext uri="{FF2B5EF4-FFF2-40B4-BE49-F238E27FC236}">
                <a16:creationId xmlns:a16="http://schemas.microsoft.com/office/drawing/2014/main" id="{EF8BA731-9234-00F1-1ADD-A00FA76E7140}"/>
              </a:ext>
            </a:extLst>
          </p:cNvPr>
          <p:cNvGraphicFramePr>
            <a:graphicFrameLocks/>
          </p:cNvGraphicFramePr>
          <p:nvPr/>
        </p:nvGraphicFramePr>
        <p:xfrm>
          <a:off x="588000" y="3150433"/>
          <a:ext cx="11016000" cy="720000"/>
        </p:xfrm>
        <a:graphic>
          <a:graphicData uri="http://schemas.openxmlformats.org/drawingml/2006/table">
            <a:tbl>
              <a:tblPr bandRow="1">
                <a:tableStyleId>{5C22544A-7EE6-4342-B048-85BDC9FD1C3A}</a:tableStyleId>
              </a:tblPr>
              <a:tblGrid>
                <a:gridCol w="2780609">
                  <a:extLst>
                    <a:ext uri="{9D8B030D-6E8A-4147-A177-3AD203B41FA5}">
                      <a16:colId xmlns:a16="http://schemas.microsoft.com/office/drawing/2014/main" val="4090402969"/>
                    </a:ext>
                  </a:extLst>
                </a:gridCol>
                <a:gridCol w="8235391">
                  <a:extLst>
                    <a:ext uri="{9D8B030D-6E8A-4147-A177-3AD203B41FA5}">
                      <a16:colId xmlns:a16="http://schemas.microsoft.com/office/drawing/2014/main" val="1722507857"/>
                    </a:ext>
                  </a:extLst>
                </a:gridCol>
              </a:tblGrid>
              <a:tr h="720000">
                <a:tc>
                  <a:txBody>
                    <a:bodyPr/>
                    <a:lstStyle/>
                    <a:p>
                      <a:r>
                        <a:rPr lang="en-GB" sz="2900" dirty="0"/>
                        <a:t>Restricted choice</a:t>
                      </a:r>
                    </a:p>
                  </a:txBody>
                  <a:tcPr anchor="ctr">
                    <a:solidFill>
                      <a:srgbClr val="E9EBF5"/>
                    </a:solidFill>
                  </a:tcPr>
                </a:tc>
                <a:tc>
                  <a:txBody>
                    <a:bodyPr/>
                    <a:lstStyle/>
                    <a:p>
                      <a:r>
                        <a:rPr lang="en-GB" sz="3200" dirty="0">
                          <a:latin typeface="Consolas" panose="020B0609020204030204" pitchFamily="49" charset="0"/>
                        </a:rPr>
                        <a:t>CHECK(</a:t>
                      </a:r>
                      <a:r>
                        <a:rPr lang="en-GB" sz="3200" i="1" dirty="0">
                          <a:solidFill>
                            <a:srgbClr val="7030A0"/>
                          </a:solidFill>
                          <a:latin typeface="Consolas" panose="020B0609020204030204" pitchFamily="49" charset="0"/>
                        </a:rPr>
                        <a:t>field</a:t>
                      </a:r>
                      <a:r>
                        <a:rPr lang="en-GB" sz="3200" dirty="0">
                          <a:latin typeface="Consolas" panose="020B0609020204030204" pitchFamily="49" charset="0"/>
                        </a:rPr>
                        <a:t> IN ("S", "M", "L"))</a:t>
                      </a:r>
                    </a:p>
                  </a:txBody>
                  <a:tcPr anchor="ctr">
                    <a:solidFill>
                      <a:srgbClr val="E9EBF5"/>
                    </a:solidFill>
                  </a:tcPr>
                </a:tc>
                <a:extLst>
                  <a:ext uri="{0D108BD9-81ED-4DB2-BD59-A6C34878D82A}">
                    <a16:rowId xmlns:a16="http://schemas.microsoft.com/office/drawing/2014/main" val="1273096015"/>
                  </a:ext>
                </a:extLst>
              </a:tr>
            </a:tbl>
          </a:graphicData>
        </a:graphic>
      </p:graphicFrame>
      <p:graphicFrame>
        <p:nvGraphicFramePr>
          <p:cNvPr id="5" name="Table 4">
            <a:extLst>
              <a:ext uri="{FF2B5EF4-FFF2-40B4-BE49-F238E27FC236}">
                <a16:creationId xmlns:a16="http://schemas.microsoft.com/office/drawing/2014/main" id="{C8D1E40A-FB62-5AE6-C01B-7AE27F11F35A}"/>
              </a:ext>
            </a:extLst>
          </p:cNvPr>
          <p:cNvGraphicFramePr>
            <a:graphicFrameLocks/>
          </p:cNvGraphicFramePr>
          <p:nvPr/>
        </p:nvGraphicFramePr>
        <p:xfrm>
          <a:off x="588000" y="3883010"/>
          <a:ext cx="11016000" cy="720000"/>
        </p:xfrm>
        <a:graphic>
          <a:graphicData uri="http://schemas.openxmlformats.org/drawingml/2006/table">
            <a:tbl>
              <a:tblPr bandRow="1">
                <a:tableStyleId>{5C22544A-7EE6-4342-B048-85BDC9FD1C3A}</a:tableStyleId>
              </a:tblPr>
              <a:tblGrid>
                <a:gridCol w="2773954">
                  <a:extLst>
                    <a:ext uri="{9D8B030D-6E8A-4147-A177-3AD203B41FA5}">
                      <a16:colId xmlns:a16="http://schemas.microsoft.com/office/drawing/2014/main" val="4090402969"/>
                    </a:ext>
                  </a:extLst>
                </a:gridCol>
                <a:gridCol w="8242046">
                  <a:extLst>
                    <a:ext uri="{9D8B030D-6E8A-4147-A177-3AD203B41FA5}">
                      <a16:colId xmlns:a16="http://schemas.microsoft.com/office/drawing/2014/main" val="1722507857"/>
                    </a:ext>
                  </a:extLst>
                </a:gridCol>
              </a:tblGrid>
              <a:tr h="720000">
                <a:tc>
                  <a:txBody>
                    <a:bodyPr/>
                    <a:lstStyle/>
                    <a:p>
                      <a:r>
                        <a:rPr lang="en-GB" sz="2900" dirty="0"/>
                        <a:t>Field length</a:t>
                      </a:r>
                    </a:p>
                  </a:txBody>
                  <a:tcPr anchor="ctr"/>
                </a:tc>
                <a:tc>
                  <a:txBody>
                    <a:bodyPr/>
                    <a:lstStyle/>
                    <a:p>
                      <a:r>
                        <a:rPr lang="en-GB" sz="3200" dirty="0">
                          <a:latin typeface="Consolas" panose="020B0609020204030204" pitchFamily="49" charset="0"/>
                        </a:rPr>
                        <a:t>CHECK(LENGTH(</a:t>
                      </a:r>
                      <a:r>
                        <a:rPr lang="en-GB" sz="3200" i="1" dirty="0">
                          <a:solidFill>
                            <a:srgbClr val="7030A0"/>
                          </a:solidFill>
                          <a:latin typeface="Consolas" panose="020B0609020204030204" pitchFamily="49" charset="0"/>
                        </a:rPr>
                        <a:t>field</a:t>
                      </a:r>
                      <a:r>
                        <a:rPr lang="en-GB" sz="3200" dirty="0">
                          <a:latin typeface="Consolas" panose="020B0609020204030204" pitchFamily="49" charset="0"/>
                        </a:rPr>
                        <a:t>) = 3)</a:t>
                      </a:r>
                    </a:p>
                  </a:txBody>
                  <a:tcPr anchor="ctr"/>
                </a:tc>
                <a:extLst>
                  <a:ext uri="{0D108BD9-81ED-4DB2-BD59-A6C34878D82A}">
                    <a16:rowId xmlns:a16="http://schemas.microsoft.com/office/drawing/2014/main" val="1789209260"/>
                  </a:ext>
                </a:extLst>
              </a:tr>
            </a:tbl>
          </a:graphicData>
        </a:graphic>
      </p:graphicFrame>
      <p:graphicFrame>
        <p:nvGraphicFramePr>
          <p:cNvPr id="6" name="Table 5">
            <a:extLst>
              <a:ext uri="{FF2B5EF4-FFF2-40B4-BE49-F238E27FC236}">
                <a16:creationId xmlns:a16="http://schemas.microsoft.com/office/drawing/2014/main" id="{F0133006-5F4F-295A-065F-A6D1FD3402DA}"/>
              </a:ext>
            </a:extLst>
          </p:cNvPr>
          <p:cNvGraphicFramePr>
            <a:graphicFrameLocks/>
          </p:cNvGraphicFramePr>
          <p:nvPr/>
        </p:nvGraphicFramePr>
        <p:xfrm>
          <a:off x="588000" y="4615116"/>
          <a:ext cx="11016000" cy="720000"/>
        </p:xfrm>
        <a:graphic>
          <a:graphicData uri="http://schemas.openxmlformats.org/drawingml/2006/table">
            <a:tbl>
              <a:tblPr bandRow="1">
                <a:tableStyleId>{5C22544A-7EE6-4342-B048-85BDC9FD1C3A}</a:tableStyleId>
              </a:tblPr>
              <a:tblGrid>
                <a:gridCol w="2773956">
                  <a:extLst>
                    <a:ext uri="{9D8B030D-6E8A-4147-A177-3AD203B41FA5}">
                      <a16:colId xmlns:a16="http://schemas.microsoft.com/office/drawing/2014/main" val="4090402969"/>
                    </a:ext>
                  </a:extLst>
                </a:gridCol>
                <a:gridCol w="8242044">
                  <a:extLst>
                    <a:ext uri="{9D8B030D-6E8A-4147-A177-3AD203B41FA5}">
                      <a16:colId xmlns:a16="http://schemas.microsoft.com/office/drawing/2014/main" val="1722507857"/>
                    </a:ext>
                  </a:extLst>
                </a:gridCol>
              </a:tblGrid>
              <a:tr h="720000">
                <a:tc>
                  <a:txBody>
                    <a:bodyPr/>
                    <a:lstStyle/>
                    <a:p>
                      <a:r>
                        <a:rPr lang="en-GB" sz="2900" dirty="0"/>
                        <a:t>Range</a:t>
                      </a:r>
                    </a:p>
                  </a:txBody>
                  <a:tcPr anchor="ctr">
                    <a:solidFill>
                      <a:srgbClr val="E9EBF5"/>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3200" dirty="0">
                          <a:latin typeface="Consolas" panose="020B0609020204030204" pitchFamily="49" charset="0"/>
                        </a:rPr>
                        <a:t>CHECK(</a:t>
                      </a:r>
                      <a:r>
                        <a:rPr lang="en-GB" sz="3200" i="1" dirty="0">
                          <a:solidFill>
                            <a:srgbClr val="7030A0"/>
                          </a:solidFill>
                          <a:latin typeface="Consolas" panose="020B0609020204030204" pitchFamily="49" charset="0"/>
                        </a:rPr>
                        <a:t>field</a:t>
                      </a:r>
                      <a:r>
                        <a:rPr lang="en-GB" sz="3200" dirty="0">
                          <a:latin typeface="Consolas" panose="020B0609020204030204" pitchFamily="49" charset="0"/>
                        </a:rPr>
                        <a:t> &gt;= 1 AND </a:t>
                      </a:r>
                      <a:r>
                        <a:rPr lang="en-GB" sz="3200" i="1" dirty="0">
                          <a:solidFill>
                            <a:srgbClr val="7030A0"/>
                          </a:solidFill>
                          <a:latin typeface="Consolas" panose="020B0609020204030204" pitchFamily="49" charset="0"/>
                        </a:rPr>
                        <a:t>field</a:t>
                      </a:r>
                      <a:r>
                        <a:rPr lang="en-GB" sz="3200" dirty="0">
                          <a:latin typeface="Consolas" panose="020B0609020204030204" pitchFamily="49" charset="0"/>
                        </a:rPr>
                        <a:t> &lt;= 6)</a:t>
                      </a:r>
                    </a:p>
                  </a:txBody>
                  <a:tcPr anchor="ctr">
                    <a:solidFill>
                      <a:srgbClr val="E9EBF5"/>
                    </a:solidFill>
                  </a:tcPr>
                </a:tc>
                <a:extLst>
                  <a:ext uri="{0D108BD9-81ED-4DB2-BD59-A6C34878D82A}">
                    <a16:rowId xmlns:a16="http://schemas.microsoft.com/office/drawing/2014/main" val="1838898904"/>
                  </a:ext>
                </a:extLst>
              </a:tr>
            </a:tbl>
          </a:graphicData>
        </a:graphic>
      </p:graphicFrame>
      <p:graphicFrame>
        <p:nvGraphicFramePr>
          <p:cNvPr id="7" name="Table 4">
            <a:extLst>
              <a:ext uri="{FF2B5EF4-FFF2-40B4-BE49-F238E27FC236}">
                <a16:creationId xmlns:a16="http://schemas.microsoft.com/office/drawing/2014/main" id="{49E6C231-1DBD-D004-78B6-4C7CD51B3B1A}"/>
              </a:ext>
            </a:extLst>
          </p:cNvPr>
          <p:cNvGraphicFramePr>
            <a:graphicFrameLocks/>
          </p:cNvGraphicFramePr>
          <p:nvPr/>
        </p:nvGraphicFramePr>
        <p:xfrm>
          <a:off x="588000" y="2417590"/>
          <a:ext cx="11016000" cy="720000"/>
        </p:xfrm>
        <a:graphic>
          <a:graphicData uri="http://schemas.openxmlformats.org/drawingml/2006/table">
            <a:tbl>
              <a:tblPr bandRow="1">
                <a:tableStyleId>{5C22544A-7EE6-4342-B048-85BDC9FD1C3A}</a:tableStyleId>
              </a:tblPr>
              <a:tblGrid>
                <a:gridCol w="2780609">
                  <a:extLst>
                    <a:ext uri="{9D8B030D-6E8A-4147-A177-3AD203B41FA5}">
                      <a16:colId xmlns:a16="http://schemas.microsoft.com/office/drawing/2014/main" val="4090402969"/>
                    </a:ext>
                  </a:extLst>
                </a:gridCol>
                <a:gridCol w="8235391">
                  <a:extLst>
                    <a:ext uri="{9D8B030D-6E8A-4147-A177-3AD203B41FA5}">
                      <a16:colId xmlns:a16="http://schemas.microsoft.com/office/drawing/2014/main" val="1722507857"/>
                    </a:ext>
                  </a:extLst>
                </a:gridCol>
              </a:tblGrid>
              <a:tr h="72000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2900" dirty="0"/>
                        <a:t>Presence check</a:t>
                      </a: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3200" dirty="0">
                          <a:latin typeface="Consolas" panose="020B0609020204030204" pitchFamily="49" charset="0"/>
                        </a:rPr>
                        <a:t>NOT NULL</a:t>
                      </a:r>
                    </a:p>
                  </a:txBody>
                  <a:tcPr anchor="ctr"/>
                </a:tc>
                <a:extLst>
                  <a:ext uri="{0D108BD9-81ED-4DB2-BD59-A6C34878D82A}">
                    <a16:rowId xmlns:a16="http://schemas.microsoft.com/office/drawing/2014/main" val="3222086612"/>
                  </a:ext>
                </a:extLst>
              </a:tr>
            </a:tbl>
          </a:graphicData>
        </a:graphic>
      </p:graphicFrame>
    </p:spTree>
    <p:extLst>
      <p:ext uri="{BB962C8B-B14F-4D97-AF65-F5344CB8AC3E}">
        <p14:creationId xmlns:p14="http://schemas.microsoft.com/office/powerpoint/2010/main" val="361828171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nodeType="click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wipe(left)">
                                      <p:cBhvr>
                                        <p:cTn id="7" dur="3000"/>
                                        <p:tgtEl>
                                          <p:spTgt spid="4"/>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nodeType="clickEffect">
                                  <p:stCondLst>
                                    <p:cond delay="0"/>
                                  </p:stCondLst>
                                  <p:childTnLst>
                                    <p:set>
                                      <p:cBhvr>
                                        <p:cTn id="11" dur="1" fill="hold">
                                          <p:stCondLst>
                                            <p:cond delay="0"/>
                                          </p:stCondLst>
                                        </p:cTn>
                                        <p:tgtEl>
                                          <p:spTgt spid="7"/>
                                        </p:tgtEl>
                                        <p:attrNameLst>
                                          <p:attrName>style.visibility</p:attrName>
                                        </p:attrNameLst>
                                      </p:cBhvr>
                                      <p:to>
                                        <p:strVal val="visible"/>
                                      </p:to>
                                    </p:set>
                                    <p:animEffect transition="in" filter="wipe(left)">
                                      <p:cBhvr>
                                        <p:cTn id="12" dur="3000"/>
                                        <p:tgtEl>
                                          <p:spTgt spid="7"/>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nodeType="clickEffect">
                                  <p:stCondLst>
                                    <p:cond delay="0"/>
                                  </p:stCondLst>
                                  <p:childTnLst>
                                    <p:set>
                                      <p:cBhvr>
                                        <p:cTn id="16" dur="1" fill="hold">
                                          <p:stCondLst>
                                            <p:cond delay="0"/>
                                          </p:stCondLst>
                                        </p:cTn>
                                        <p:tgtEl>
                                          <p:spTgt spid="3"/>
                                        </p:tgtEl>
                                        <p:attrNameLst>
                                          <p:attrName>style.visibility</p:attrName>
                                        </p:attrNameLst>
                                      </p:cBhvr>
                                      <p:to>
                                        <p:strVal val="visible"/>
                                      </p:to>
                                    </p:set>
                                    <p:animEffect transition="in" filter="wipe(left)">
                                      <p:cBhvr>
                                        <p:cTn id="17" dur="3000"/>
                                        <p:tgtEl>
                                          <p:spTgt spid="3"/>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nodeType="clickEffect">
                                  <p:stCondLst>
                                    <p:cond delay="0"/>
                                  </p:stCondLst>
                                  <p:childTnLst>
                                    <p:set>
                                      <p:cBhvr>
                                        <p:cTn id="21" dur="1" fill="hold">
                                          <p:stCondLst>
                                            <p:cond delay="0"/>
                                          </p:stCondLst>
                                        </p:cTn>
                                        <p:tgtEl>
                                          <p:spTgt spid="5"/>
                                        </p:tgtEl>
                                        <p:attrNameLst>
                                          <p:attrName>style.visibility</p:attrName>
                                        </p:attrNameLst>
                                      </p:cBhvr>
                                      <p:to>
                                        <p:strVal val="visible"/>
                                      </p:to>
                                    </p:set>
                                    <p:animEffect transition="in" filter="wipe(left)">
                                      <p:cBhvr>
                                        <p:cTn id="22" dur="3000"/>
                                        <p:tgtEl>
                                          <p:spTgt spid="5"/>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nodeType="clickEffect">
                                  <p:stCondLst>
                                    <p:cond delay="0"/>
                                  </p:stCondLst>
                                  <p:childTnLst>
                                    <p:set>
                                      <p:cBhvr>
                                        <p:cTn id="26" dur="1" fill="hold">
                                          <p:stCondLst>
                                            <p:cond delay="0"/>
                                          </p:stCondLst>
                                        </p:cTn>
                                        <p:tgtEl>
                                          <p:spTgt spid="6"/>
                                        </p:tgtEl>
                                        <p:attrNameLst>
                                          <p:attrName>style.visibility</p:attrName>
                                        </p:attrNameLst>
                                      </p:cBhvr>
                                      <p:to>
                                        <p:strVal val="visible"/>
                                      </p:to>
                                    </p:set>
                                    <p:animEffect transition="in" filter="wipe(left)">
                                      <p:cBhvr>
                                        <p:cTn id="27" dur="30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9.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DDBCD22-4094-7C2D-7AFF-D31CE2E460D0}"/>
              </a:ext>
            </a:extLst>
          </p:cNvPr>
          <p:cNvSpPr>
            <a:spLocks noGrp="1"/>
          </p:cNvSpPr>
          <p:nvPr>
            <p:ph type="title"/>
          </p:nvPr>
        </p:nvSpPr>
        <p:spPr/>
        <p:txBody>
          <a:bodyPr/>
          <a:lstStyle/>
          <a:p>
            <a:r>
              <a:rPr lang="en-GB" dirty="0"/>
              <a:t>Validation</a:t>
            </a:r>
          </a:p>
        </p:txBody>
      </p:sp>
      <p:graphicFrame>
        <p:nvGraphicFramePr>
          <p:cNvPr id="4" name="Table 4">
            <a:extLst>
              <a:ext uri="{FF2B5EF4-FFF2-40B4-BE49-F238E27FC236}">
                <a16:creationId xmlns:a16="http://schemas.microsoft.com/office/drawing/2014/main" id="{2D33DD18-5F25-90D0-9ED0-252DD9A0F5A9}"/>
              </a:ext>
            </a:extLst>
          </p:cNvPr>
          <p:cNvGraphicFramePr>
            <a:graphicFrameLocks noGrp="1"/>
          </p:cNvGraphicFramePr>
          <p:nvPr>
            <p:ph idx="1"/>
          </p:nvPr>
        </p:nvGraphicFramePr>
        <p:xfrm>
          <a:off x="588000" y="1825625"/>
          <a:ext cx="11016000" cy="579120"/>
        </p:xfrm>
        <a:graphic>
          <a:graphicData uri="http://schemas.openxmlformats.org/drawingml/2006/table">
            <a:tbl>
              <a:tblPr firstRow="1" bandRow="1">
                <a:tableStyleId>{5C22544A-7EE6-4342-B048-85BDC9FD1C3A}</a:tableStyleId>
              </a:tblPr>
              <a:tblGrid>
                <a:gridCol w="2780278">
                  <a:extLst>
                    <a:ext uri="{9D8B030D-6E8A-4147-A177-3AD203B41FA5}">
                      <a16:colId xmlns:a16="http://schemas.microsoft.com/office/drawing/2014/main" val="4090402969"/>
                    </a:ext>
                  </a:extLst>
                </a:gridCol>
                <a:gridCol w="8235722">
                  <a:extLst>
                    <a:ext uri="{9D8B030D-6E8A-4147-A177-3AD203B41FA5}">
                      <a16:colId xmlns:a16="http://schemas.microsoft.com/office/drawing/2014/main" val="1722507857"/>
                    </a:ext>
                  </a:extLst>
                </a:gridCol>
              </a:tblGrid>
              <a:tr h="370840">
                <a:tc>
                  <a:txBody>
                    <a:bodyPr/>
                    <a:lstStyle/>
                    <a:p>
                      <a:r>
                        <a:rPr lang="en-GB" sz="3200" dirty="0"/>
                        <a:t>Type</a:t>
                      </a:r>
                    </a:p>
                  </a:txBody>
                  <a:tcPr/>
                </a:tc>
                <a:tc>
                  <a:txBody>
                    <a:bodyPr/>
                    <a:lstStyle/>
                    <a:p>
                      <a:r>
                        <a:rPr lang="en-GB" sz="3200" dirty="0"/>
                        <a:t>SQLite</a:t>
                      </a:r>
                    </a:p>
                  </a:txBody>
                  <a:tcPr/>
                </a:tc>
                <a:extLst>
                  <a:ext uri="{0D108BD9-81ED-4DB2-BD59-A6C34878D82A}">
                    <a16:rowId xmlns:a16="http://schemas.microsoft.com/office/drawing/2014/main" val="2410808451"/>
                  </a:ext>
                </a:extLst>
              </a:tr>
            </a:tbl>
          </a:graphicData>
        </a:graphic>
      </p:graphicFrame>
      <p:graphicFrame>
        <p:nvGraphicFramePr>
          <p:cNvPr id="3" name="Table 4">
            <a:extLst>
              <a:ext uri="{FF2B5EF4-FFF2-40B4-BE49-F238E27FC236}">
                <a16:creationId xmlns:a16="http://schemas.microsoft.com/office/drawing/2014/main" id="{EF8BA731-9234-00F1-1ADD-A00FA76E7140}"/>
              </a:ext>
            </a:extLst>
          </p:cNvPr>
          <p:cNvGraphicFramePr>
            <a:graphicFrameLocks/>
          </p:cNvGraphicFramePr>
          <p:nvPr/>
        </p:nvGraphicFramePr>
        <p:xfrm>
          <a:off x="588000" y="3150433"/>
          <a:ext cx="11016000" cy="720000"/>
        </p:xfrm>
        <a:graphic>
          <a:graphicData uri="http://schemas.openxmlformats.org/drawingml/2006/table">
            <a:tbl>
              <a:tblPr bandRow="1">
                <a:tableStyleId>{5C22544A-7EE6-4342-B048-85BDC9FD1C3A}</a:tableStyleId>
              </a:tblPr>
              <a:tblGrid>
                <a:gridCol w="2780609">
                  <a:extLst>
                    <a:ext uri="{9D8B030D-6E8A-4147-A177-3AD203B41FA5}">
                      <a16:colId xmlns:a16="http://schemas.microsoft.com/office/drawing/2014/main" val="4090402969"/>
                    </a:ext>
                  </a:extLst>
                </a:gridCol>
                <a:gridCol w="8235391">
                  <a:extLst>
                    <a:ext uri="{9D8B030D-6E8A-4147-A177-3AD203B41FA5}">
                      <a16:colId xmlns:a16="http://schemas.microsoft.com/office/drawing/2014/main" val="1722507857"/>
                    </a:ext>
                  </a:extLst>
                </a:gridCol>
              </a:tblGrid>
              <a:tr h="720000">
                <a:tc>
                  <a:txBody>
                    <a:bodyPr/>
                    <a:lstStyle/>
                    <a:p>
                      <a:endParaRPr lang="en-GB" sz="2900" dirty="0"/>
                    </a:p>
                  </a:txBody>
                  <a:tcPr anchor="ctr">
                    <a:solidFill>
                      <a:srgbClr val="E9EBF5"/>
                    </a:solidFill>
                  </a:tcPr>
                </a:tc>
                <a:tc>
                  <a:txBody>
                    <a:bodyPr/>
                    <a:lstStyle/>
                    <a:p>
                      <a:r>
                        <a:rPr lang="en-GB" sz="3200" dirty="0">
                          <a:latin typeface="Consolas" panose="020B0609020204030204" pitchFamily="49" charset="0"/>
                        </a:rPr>
                        <a:t>CHECK(</a:t>
                      </a:r>
                      <a:r>
                        <a:rPr lang="en-GB" sz="3200" i="1" dirty="0">
                          <a:solidFill>
                            <a:srgbClr val="7030A0"/>
                          </a:solidFill>
                          <a:latin typeface="Consolas" panose="020B0609020204030204" pitchFamily="49" charset="0"/>
                        </a:rPr>
                        <a:t>field</a:t>
                      </a:r>
                      <a:r>
                        <a:rPr lang="en-GB" sz="3200" dirty="0">
                          <a:latin typeface="Consolas" panose="020B0609020204030204" pitchFamily="49" charset="0"/>
                        </a:rPr>
                        <a:t> IN ("S", "M", "L"))</a:t>
                      </a:r>
                    </a:p>
                  </a:txBody>
                  <a:tcPr anchor="ctr">
                    <a:solidFill>
                      <a:srgbClr val="E9EBF5"/>
                    </a:solidFill>
                  </a:tcPr>
                </a:tc>
                <a:extLst>
                  <a:ext uri="{0D108BD9-81ED-4DB2-BD59-A6C34878D82A}">
                    <a16:rowId xmlns:a16="http://schemas.microsoft.com/office/drawing/2014/main" val="1273096015"/>
                  </a:ext>
                </a:extLst>
              </a:tr>
            </a:tbl>
          </a:graphicData>
        </a:graphic>
      </p:graphicFrame>
      <p:graphicFrame>
        <p:nvGraphicFramePr>
          <p:cNvPr id="5" name="Table 4">
            <a:extLst>
              <a:ext uri="{FF2B5EF4-FFF2-40B4-BE49-F238E27FC236}">
                <a16:creationId xmlns:a16="http://schemas.microsoft.com/office/drawing/2014/main" id="{C8D1E40A-FB62-5AE6-C01B-7AE27F11F35A}"/>
              </a:ext>
            </a:extLst>
          </p:cNvPr>
          <p:cNvGraphicFramePr>
            <a:graphicFrameLocks/>
          </p:cNvGraphicFramePr>
          <p:nvPr/>
        </p:nvGraphicFramePr>
        <p:xfrm>
          <a:off x="588000" y="3883010"/>
          <a:ext cx="11016000" cy="720000"/>
        </p:xfrm>
        <a:graphic>
          <a:graphicData uri="http://schemas.openxmlformats.org/drawingml/2006/table">
            <a:tbl>
              <a:tblPr bandRow="1">
                <a:tableStyleId>{5C22544A-7EE6-4342-B048-85BDC9FD1C3A}</a:tableStyleId>
              </a:tblPr>
              <a:tblGrid>
                <a:gridCol w="2773954">
                  <a:extLst>
                    <a:ext uri="{9D8B030D-6E8A-4147-A177-3AD203B41FA5}">
                      <a16:colId xmlns:a16="http://schemas.microsoft.com/office/drawing/2014/main" val="4090402969"/>
                    </a:ext>
                  </a:extLst>
                </a:gridCol>
                <a:gridCol w="8242046">
                  <a:extLst>
                    <a:ext uri="{9D8B030D-6E8A-4147-A177-3AD203B41FA5}">
                      <a16:colId xmlns:a16="http://schemas.microsoft.com/office/drawing/2014/main" val="1722507857"/>
                    </a:ext>
                  </a:extLst>
                </a:gridCol>
              </a:tblGrid>
              <a:tr h="720000">
                <a:tc>
                  <a:txBody>
                    <a:bodyPr/>
                    <a:lstStyle/>
                    <a:p>
                      <a:endParaRPr lang="en-GB" sz="2900" dirty="0"/>
                    </a:p>
                  </a:txBody>
                  <a:tcPr anchor="ctr"/>
                </a:tc>
                <a:tc>
                  <a:txBody>
                    <a:bodyPr/>
                    <a:lstStyle/>
                    <a:p>
                      <a:r>
                        <a:rPr lang="en-GB" sz="3200" dirty="0">
                          <a:latin typeface="Consolas" panose="020B0609020204030204" pitchFamily="49" charset="0"/>
                        </a:rPr>
                        <a:t>CHECK(LENGTH(</a:t>
                      </a:r>
                      <a:r>
                        <a:rPr lang="en-GB" sz="3200" i="1" dirty="0">
                          <a:solidFill>
                            <a:srgbClr val="7030A0"/>
                          </a:solidFill>
                          <a:latin typeface="Consolas" panose="020B0609020204030204" pitchFamily="49" charset="0"/>
                        </a:rPr>
                        <a:t>field</a:t>
                      </a:r>
                      <a:r>
                        <a:rPr lang="en-GB" sz="3200" dirty="0">
                          <a:latin typeface="Consolas" panose="020B0609020204030204" pitchFamily="49" charset="0"/>
                        </a:rPr>
                        <a:t>) = 3)</a:t>
                      </a:r>
                    </a:p>
                  </a:txBody>
                  <a:tcPr anchor="ctr"/>
                </a:tc>
                <a:extLst>
                  <a:ext uri="{0D108BD9-81ED-4DB2-BD59-A6C34878D82A}">
                    <a16:rowId xmlns:a16="http://schemas.microsoft.com/office/drawing/2014/main" val="1789209260"/>
                  </a:ext>
                </a:extLst>
              </a:tr>
            </a:tbl>
          </a:graphicData>
        </a:graphic>
      </p:graphicFrame>
      <p:graphicFrame>
        <p:nvGraphicFramePr>
          <p:cNvPr id="6" name="Table 5">
            <a:extLst>
              <a:ext uri="{FF2B5EF4-FFF2-40B4-BE49-F238E27FC236}">
                <a16:creationId xmlns:a16="http://schemas.microsoft.com/office/drawing/2014/main" id="{F0133006-5F4F-295A-065F-A6D1FD3402DA}"/>
              </a:ext>
            </a:extLst>
          </p:cNvPr>
          <p:cNvGraphicFramePr>
            <a:graphicFrameLocks/>
          </p:cNvGraphicFramePr>
          <p:nvPr/>
        </p:nvGraphicFramePr>
        <p:xfrm>
          <a:off x="588000" y="4615116"/>
          <a:ext cx="11016000" cy="720000"/>
        </p:xfrm>
        <a:graphic>
          <a:graphicData uri="http://schemas.openxmlformats.org/drawingml/2006/table">
            <a:tbl>
              <a:tblPr bandRow="1">
                <a:tableStyleId>{5C22544A-7EE6-4342-B048-85BDC9FD1C3A}</a:tableStyleId>
              </a:tblPr>
              <a:tblGrid>
                <a:gridCol w="2773956">
                  <a:extLst>
                    <a:ext uri="{9D8B030D-6E8A-4147-A177-3AD203B41FA5}">
                      <a16:colId xmlns:a16="http://schemas.microsoft.com/office/drawing/2014/main" val="4090402969"/>
                    </a:ext>
                  </a:extLst>
                </a:gridCol>
                <a:gridCol w="8242044">
                  <a:extLst>
                    <a:ext uri="{9D8B030D-6E8A-4147-A177-3AD203B41FA5}">
                      <a16:colId xmlns:a16="http://schemas.microsoft.com/office/drawing/2014/main" val="1722507857"/>
                    </a:ext>
                  </a:extLst>
                </a:gridCol>
              </a:tblGrid>
              <a:tr h="720000">
                <a:tc>
                  <a:txBody>
                    <a:bodyPr/>
                    <a:lstStyle/>
                    <a:p>
                      <a:endParaRPr lang="en-GB" sz="2900" dirty="0"/>
                    </a:p>
                  </a:txBody>
                  <a:tcPr anchor="ctr">
                    <a:solidFill>
                      <a:srgbClr val="E9EBF5"/>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3200" dirty="0">
                          <a:latin typeface="Consolas" panose="020B0609020204030204" pitchFamily="49" charset="0"/>
                        </a:rPr>
                        <a:t>CHECK(</a:t>
                      </a:r>
                      <a:r>
                        <a:rPr lang="en-GB" sz="3200" i="1" dirty="0">
                          <a:solidFill>
                            <a:srgbClr val="7030A0"/>
                          </a:solidFill>
                          <a:latin typeface="Consolas" panose="020B0609020204030204" pitchFamily="49" charset="0"/>
                        </a:rPr>
                        <a:t>field</a:t>
                      </a:r>
                      <a:r>
                        <a:rPr lang="en-GB" sz="3200" dirty="0">
                          <a:latin typeface="Consolas" panose="020B0609020204030204" pitchFamily="49" charset="0"/>
                        </a:rPr>
                        <a:t> &gt;= 1 AND </a:t>
                      </a:r>
                      <a:r>
                        <a:rPr lang="en-GB" sz="3200" i="1" dirty="0">
                          <a:solidFill>
                            <a:srgbClr val="7030A0"/>
                          </a:solidFill>
                          <a:latin typeface="Consolas" panose="020B0609020204030204" pitchFamily="49" charset="0"/>
                        </a:rPr>
                        <a:t>field</a:t>
                      </a:r>
                      <a:r>
                        <a:rPr lang="en-GB" sz="3200" dirty="0">
                          <a:latin typeface="Consolas" panose="020B0609020204030204" pitchFamily="49" charset="0"/>
                        </a:rPr>
                        <a:t> &lt;= 6)</a:t>
                      </a:r>
                    </a:p>
                  </a:txBody>
                  <a:tcPr anchor="ctr">
                    <a:solidFill>
                      <a:srgbClr val="E9EBF5"/>
                    </a:solidFill>
                  </a:tcPr>
                </a:tc>
                <a:extLst>
                  <a:ext uri="{0D108BD9-81ED-4DB2-BD59-A6C34878D82A}">
                    <a16:rowId xmlns:a16="http://schemas.microsoft.com/office/drawing/2014/main" val="1838898904"/>
                  </a:ext>
                </a:extLst>
              </a:tr>
            </a:tbl>
          </a:graphicData>
        </a:graphic>
      </p:graphicFrame>
      <p:graphicFrame>
        <p:nvGraphicFramePr>
          <p:cNvPr id="7" name="Table 4">
            <a:extLst>
              <a:ext uri="{FF2B5EF4-FFF2-40B4-BE49-F238E27FC236}">
                <a16:creationId xmlns:a16="http://schemas.microsoft.com/office/drawing/2014/main" id="{49E6C231-1DBD-D004-78B6-4C7CD51B3B1A}"/>
              </a:ext>
            </a:extLst>
          </p:cNvPr>
          <p:cNvGraphicFramePr>
            <a:graphicFrameLocks/>
          </p:cNvGraphicFramePr>
          <p:nvPr/>
        </p:nvGraphicFramePr>
        <p:xfrm>
          <a:off x="588000" y="2417590"/>
          <a:ext cx="11016000" cy="720000"/>
        </p:xfrm>
        <a:graphic>
          <a:graphicData uri="http://schemas.openxmlformats.org/drawingml/2006/table">
            <a:tbl>
              <a:tblPr bandRow="1">
                <a:tableStyleId>{5C22544A-7EE6-4342-B048-85BDC9FD1C3A}</a:tableStyleId>
              </a:tblPr>
              <a:tblGrid>
                <a:gridCol w="2780609">
                  <a:extLst>
                    <a:ext uri="{9D8B030D-6E8A-4147-A177-3AD203B41FA5}">
                      <a16:colId xmlns:a16="http://schemas.microsoft.com/office/drawing/2014/main" val="4090402969"/>
                    </a:ext>
                  </a:extLst>
                </a:gridCol>
                <a:gridCol w="8235391">
                  <a:extLst>
                    <a:ext uri="{9D8B030D-6E8A-4147-A177-3AD203B41FA5}">
                      <a16:colId xmlns:a16="http://schemas.microsoft.com/office/drawing/2014/main" val="1722507857"/>
                    </a:ext>
                  </a:extLst>
                </a:gridCol>
              </a:tblGrid>
              <a:tr h="72000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sz="2900" dirty="0"/>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3200" dirty="0">
                          <a:latin typeface="Consolas" panose="020B0609020204030204" pitchFamily="49" charset="0"/>
                        </a:rPr>
                        <a:t>NOT NULL</a:t>
                      </a:r>
                    </a:p>
                  </a:txBody>
                  <a:tcPr anchor="ctr"/>
                </a:tc>
                <a:extLst>
                  <a:ext uri="{0D108BD9-81ED-4DB2-BD59-A6C34878D82A}">
                    <a16:rowId xmlns:a16="http://schemas.microsoft.com/office/drawing/2014/main" val="3222086612"/>
                  </a:ext>
                </a:extLst>
              </a:tr>
            </a:tbl>
          </a:graphicData>
        </a:graphic>
      </p:graphicFrame>
    </p:spTree>
    <p:extLst>
      <p:ext uri="{BB962C8B-B14F-4D97-AF65-F5344CB8AC3E}">
        <p14:creationId xmlns:p14="http://schemas.microsoft.com/office/powerpoint/2010/main" val="177327447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nodeType="click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wipe(left)">
                                      <p:cBhvr>
                                        <p:cTn id="7" dur="3000"/>
                                        <p:tgtEl>
                                          <p:spTgt spid="4"/>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nodeType="clickEffect">
                                  <p:stCondLst>
                                    <p:cond delay="0"/>
                                  </p:stCondLst>
                                  <p:childTnLst>
                                    <p:set>
                                      <p:cBhvr>
                                        <p:cTn id="11" dur="1" fill="hold">
                                          <p:stCondLst>
                                            <p:cond delay="0"/>
                                          </p:stCondLst>
                                        </p:cTn>
                                        <p:tgtEl>
                                          <p:spTgt spid="7"/>
                                        </p:tgtEl>
                                        <p:attrNameLst>
                                          <p:attrName>style.visibility</p:attrName>
                                        </p:attrNameLst>
                                      </p:cBhvr>
                                      <p:to>
                                        <p:strVal val="visible"/>
                                      </p:to>
                                    </p:set>
                                    <p:animEffect transition="in" filter="wipe(left)">
                                      <p:cBhvr>
                                        <p:cTn id="12" dur="3000"/>
                                        <p:tgtEl>
                                          <p:spTgt spid="7"/>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nodeType="clickEffect">
                                  <p:stCondLst>
                                    <p:cond delay="0"/>
                                  </p:stCondLst>
                                  <p:childTnLst>
                                    <p:set>
                                      <p:cBhvr>
                                        <p:cTn id="16" dur="1" fill="hold">
                                          <p:stCondLst>
                                            <p:cond delay="0"/>
                                          </p:stCondLst>
                                        </p:cTn>
                                        <p:tgtEl>
                                          <p:spTgt spid="3"/>
                                        </p:tgtEl>
                                        <p:attrNameLst>
                                          <p:attrName>style.visibility</p:attrName>
                                        </p:attrNameLst>
                                      </p:cBhvr>
                                      <p:to>
                                        <p:strVal val="visible"/>
                                      </p:to>
                                    </p:set>
                                    <p:animEffect transition="in" filter="wipe(left)">
                                      <p:cBhvr>
                                        <p:cTn id="17" dur="3000"/>
                                        <p:tgtEl>
                                          <p:spTgt spid="3"/>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nodeType="clickEffect">
                                  <p:stCondLst>
                                    <p:cond delay="0"/>
                                  </p:stCondLst>
                                  <p:childTnLst>
                                    <p:set>
                                      <p:cBhvr>
                                        <p:cTn id="21" dur="1" fill="hold">
                                          <p:stCondLst>
                                            <p:cond delay="0"/>
                                          </p:stCondLst>
                                        </p:cTn>
                                        <p:tgtEl>
                                          <p:spTgt spid="5"/>
                                        </p:tgtEl>
                                        <p:attrNameLst>
                                          <p:attrName>style.visibility</p:attrName>
                                        </p:attrNameLst>
                                      </p:cBhvr>
                                      <p:to>
                                        <p:strVal val="visible"/>
                                      </p:to>
                                    </p:set>
                                    <p:animEffect transition="in" filter="wipe(left)">
                                      <p:cBhvr>
                                        <p:cTn id="22" dur="3000"/>
                                        <p:tgtEl>
                                          <p:spTgt spid="5"/>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nodeType="clickEffect">
                                  <p:stCondLst>
                                    <p:cond delay="0"/>
                                  </p:stCondLst>
                                  <p:childTnLst>
                                    <p:set>
                                      <p:cBhvr>
                                        <p:cTn id="26" dur="1" fill="hold">
                                          <p:stCondLst>
                                            <p:cond delay="0"/>
                                          </p:stCondLst>
                                        </p:cTn>
                                        <p:tgtEl>
                                          <p:spTgt spid="6"/>
                                        </p:tgtEl>
                                        <p:attrNameLst>
                                          <p:attrName>style.visibility</p:attrName>
                                        </p:attrNameLst>
                                      </p:cBhvr>
                                      <p:to>
                                        <p:strVal val="visible"/>
                                      </p:to>
                                    </p:set>
                                    <p:animEffect transition="in" filter="wipe(left)">
                                      <p:cBhvr>
                                        <p:cTn id="27" dur="30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CREATE TABLE</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a:xfrm>
            <a:off x="838200" y="1825625"/>
            <a:ext cx="10800644" cy="4351338"/>
          </a:xfrm>
        </p:spPr>
        <p:txBody>
          <a:bodyPr>
            <a:noAutofit/>
          </a:bodyPr>
          <a:lstStyle/>
          <a:p>
            <a:pPr marL="0" lvl="0" indent="0" eaLnBrk="0" fontAlgn="base" hangingPunct="0">
              <a:lnSpc>
                <a:spcPct val="100000"/>
              </a:lnSpc>
              <a:spcBef>
                <a:spcPct val="0"/>
              </a:spcBef>
              <a:spcAft>
                <a:spcPts val="1200"/>
              </a:spcAft>
              <a:buNone/>
            </a:pPr>
            <a:r>
              <a:rPr lang="en-US" altLang="en-US" sz="3600" dirty="0">
                <a:solidFill>
                  <a:srgbClr val="B2B2B2"/>
                </a:solidFill>
                <a:latin typeface="Consolas" panose="020B0609020204030204" pitchFamily="49" charset="0"/>
              </a:rPr>
              <a:t>1 </a:t>
            </a:r>
            <a:r>
              <a:rPr lang="en-US" altLang="en-US" sz="3600" dirty="0">
                <a:solidFill>
                  <a:srgbClr val="A71D5D"/>
                </a:solidFill>
                <a:latin typeface="Consolas" panose="020B0609020204030204" pitchFamily="49" charset="0"/>
              </a:rPr>
              <a:t>CREATE TABLE</a:t>
            </a:r>
            <a:r>
              <a:rPr lang="en-US" altLang="en-US" sz="3600" dirty="0">
                <a:solidFill>
                  <a:srgbClr val="000000"/>
                </a:solidFill>
                <a:latin typeface="Consolas" panose="020B0609020204030204" pitchFamily="49" charset="0"/>
              </a:rPr>
              <a:t> </a:t>
            </a:r>
            <a:r>
              <a:rPr lang="en-US" altLang="en-US" sz="3600" dirty="0">
                <a:solidFill>
                  <a:srgbClr val="183691"/>
                </a:solidFill>
                <a:latin typeface="Consolas" panose="020B0609020204030204" pitchFamily="49" charset="0"/>
              </a:rPr>
              <a:t>table2</a:t>
            </a:r>
            <a:r>
              <a:rPr lang="en-US" altLang="en-US" sz="3600" dirty="0">
                <a:solidFill>
                  <a:srgbClr val="000000"/>
                </a:solidFill>
                <a:latin typeface="Consolas" panose="020B0609020204030204" pitchFamily="49" charset="0"/>
              </a:rPr>
              <a:t> (</a:t>
            </a: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2   </a:t>
            </a:r>
            <a:r>
              <a:rPr lang="en-US" altLang="en-US" sz="3600" dirty="0">
                <a:solidFill>
                  <a:srgbClr val="183691"/>
                </a:solidFill>
                <a:latin typeface="Consolas" panose="020B0609020204030204" pitchFamily="49" charset="0"/>
              </a:rPr>
              <a:t>field1</a:t>
            </a:r>
            <a:r>
              <a:rPr lang="en-US" altLang="en-US" sz="3600" dirty="0">
                <a:solidFill>
                  <a:srgbClr val="000000"/>
                </a:solidFill>
                <a:latin typeface="Consolas" panose="020B0609020204030204" pitchFamily="49" charset="0"/>
              </a:rPr>
              <a:t> </a:t>
            </a:r>
            <a:r>
              <a:rPr lang="en-US" altLang="en-US" sz="3600" dirty="0">
                <a:solidFill>
                  <a:srgbClr val="49A5CA"/>
                </a:solidFill>
                <a:latin typeface="Consolas" panose="020B0609020204030204" pitchFamily="49" charset="0"/>
              </a:rPr>
              <a:t>datatype</a:t>
            </a:r>
            <a:r>
              <a:rPr lang="en-US" altLang="en-US" sz="3600" dirty="0">
                <a:solidFill>
                  <a:srgbClr val="000000"/>
                </a:solidFill>
                <a:latin typeface="Consolas" panose="020B0609020204030204" pitchFamily="49" charset="0"/>
              </a:rPr>
              <a:t> </a:t>
            </a:r>
            <a:r>
              <a:rPr lang="en-US" altLang="en-US" sz="3600" dirty="0">
                <a:solidFill>
                  <a:srgbClr val="A71D5D"/>
                </a:solidFill>
                <a:latin typeface="Consolas" panose="020B0609020204030204" pitchFamily="49" charset="0"/>
              </a:rPr>
              <a:t>validation</a:t>
            </a:r>
            <a:r>
              <a:rPr lang="en-US" altLang="en-US" sz="3600" dirty="0">
                <a:solidFill>
                  <a:srgbClr val="000000"/>
                </a:solidFill>
                <a:latin typeface="Consolas" panose="020B0609020204030204" pitchFamily="49" charset="0"/>
              </a:rPr>
              <a:t>,</a:t>
            </a:r>
          </a:p>
          <a:p>
            <a:pPr marL="0" lvl="0" indent="0" eaLnBrk="0" fontAlgn="base" hangingPunct="0">
              <a:lnSpc>
                <a:spcPct val="100000"/>
              </a:lnSpc>
              <a:spcBef>
                <a:spcPct val="0"/>
              </a:spcBef>
              <a:spcAft>
                <a:spcPts val="1200"/>
              </a:spcAft>
              <a:buNone/>
            </a:pPr>
            <a:r>
              <a:rPr lang="en-US" altLang="en-US" sz="3600" dirty="0">
                <a:solidFill>
                  <a:srgbClr val="B2B2B2"/>
                </a:solidFill>
                <a:latin typeface="Consolas" panose="020B0609020204030204" pitchFamily="49" charset="0"/>
              </a:rPr>
              <a:t>3   </a:t>
            </a:r>
            <a:r>
              <a:rPr lang="en-US" altLang="en-US" sz="3600" dirty="0">
                <a:solidFill>
                  <a:srgbClr val="183691"/>
                </a:solidFill>
                <a:latin typeface="Consolas" panose="020B0609020204030204" pitchFamily="49" charset="0"/>
              </a:rPr>
              <a:t>field2</a:t>
            </a:r>
            <a:r>
              <a:rPr lang="en-US" altLang="en-US" sz="3600" dirty="0">
                <a:solidFill>
                  <a:srgbClr val="000000"/>
                </a:solidFill>
                <a:latin typeface="Consolas" panose="020B0609020204030204" pitchFamily="49" charset="0"/>
              </a:rPr>
              <a:t> </a:t>
            </a:r>
            <a:r>
              <a:rPr lang="en-US" altLang="en-US" sz="3600" dirty="0">
                <a:solidFill>
                  <a:srgbClr val="49A5CA"/>
                </a:solidFill>
                <a:latin typeface="Consolas" panose="020B0609020204030204" pitchFamily="49" charset="0"/>
              </a:rPr>
              <a:t>datatype</a:t>
            </a:r>
            <a:r>
              <a:rPr lang="en-US" altLang="en-US" sz="3600" dirty="0">
                <a:solidFill>
                  <a:srgbClr val="000000"/>
                </a:solidFill>
                <a:latin typeface="Consolas" panose="020B0609020204030204" pitchFamily="49" charset="0"/>
              </a:rPr>
              <a:t> </a:t>
            </a:r>
            <a:r>
              <a:rPr lang="en-US" altLang="en-US" sz="3600" dirty="0">
                <a:solidFill>
                  <a:srgbClr val="A71D5D"/>
                </a:solidFill>
                <a:latin typeface="Consolas" panose="020B0609020204030204" pitchFamily="49" charset="0"/>
              </a:rPr>
              <a:t>validation</a:t>
            </a:r>
            <a:r>
              <a:rPr lang="en-US" altLang="en-US" sz="36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4   </a:t>
            </a:r>
            <a:r>
              <a:rPr lang="en-US" altLang="en-US" sz="3600" dirty="0">
                <a:solidFill>
                  <a:srgbClr val="A71D5D"/>
                </a:solidFill>
                <a:latin typeface="Consolas" panose="020B0609020204030204" pitchFamily="49" charset="0"/>
              </a:rPr>
              <a:t>FOREIGN KEY</a:t>
            </a:r>
            <a:r>
              <a:rPr lang="en-US" altLang="en-US" sz="3600" dirty="0">
                <a:solidFill>
                  <a:srgbClr val="000000"/>
                </a:solidFill>
                <a:latin typeface="Consolas" panose="020B0609020204030204" pitchFamily="49" charset="0"/>
              </a:rPr>
              <a:t>(</a:t>
            </a:r>
            <a:r>
              <a:rPr lang="en-US" altLang="en-US" sz="3600" dirty="0">
                <a:solidFill>
                  <a:srgbClr val="183691"/>
                </a:solidFill>
                <a:latin typeface="Consolas" panose="020B0609020204030204" pitchFamily="49" charset="0"/>
              </a:rPr>
              <a:t>field2</a:t>
            </a:r>
            <a:r>
              <a:rPr lang="en-US" altLang="en-US" sz="3600" dirty="0">
                <a:solidFill>
                  <a:srgbClr val="000000"/>
                </a:solidFill>
                <a:latin typeface="Consolas" panose="020B0609020204030204" pitchFamily="49" charset="0"/>
              </a:rPr>
              <a:t>)</a:t>
            </a:r>
          </a:p>
          <a:p>
            <a:pPr marL="0" lvl="0" indent="0" eaLnBrk="0" fontAlgn="base" hangingPunct="0">
              <a:lnSpc>
                <a:spcPct val="100000"/>
              </a:lnSpc>
              <a:spcBef>
                <a:spcPct val="0"/>
              </a:spcBef>
              <a:spcAft>
                <a:spcPts val="1200"/>
              </a:spcAft>
              <a:buNone/>
            </a:pPr>
            <a:r>
              <a:rPr lang="en-US" altLang="en-US" sz="3600" dirty="0">
                <a:solidFill>
                  <a:srgbClr val="000000"/>
                </a:solidFill>
                <a:latin typeface="Consolas" panose="020B0609020204030204" pitchFamily="49" charset="0"/>
              </a:rPr>
              <a:t>      </a:t>
            </a:r>
            <a:r>
              <a:rPr lang="en-US" altLang="en-US" sz="3600" dirty="0">
                <a:solidFill>
                  <a:srgbClr val="A71D5D"/>
                </a:solidFill>
                <a:latin typeface="Consolas" panose="020B0609020204030204" pitchFamily="49" charset="0"/>
              </a:rPr>
              <a:t>REFERENCES</a:t>
            </a:r>
            <a:r>
              <a:rPr lang="en-US" altLang="en-US" sz="3600" dirty="0">
                <a:solidFill>
                  <a:srgbClr val="000000"/>
                </a:solidFill>
                <a:latin typeface="Consolas" panose="020B0609020204030204" pitchFamily="49" charset="0"/>
              </a:rPr>
              <a:t> </a:t>
            </a:r>
            <a:r>
              <a:rPr lang="en-US" altLang="en-US" sz="3600" dirty="0">
                <a:solidFill>
                  <a:srgbClr val="183691"/>
                </a:solidFill>
                <a:latin typeface="Consolas" panose="020B0609020204030204" pitchFamily="49" charset="0"/>
              </a:rPr>
              <a:t>table1</a:t>
            </a:r>
            <a:r>
              <a:rPr lang="en-US" altLang="en-US" sz="3600" dirty="0">
                <a:solidFill>
                  <a:srgbClr val="000000"/>
                </a:solidFill>
                <a:latin typeface="Consolas" panose="020B0609020204030204" pitchFamily="49" charset="0"/>
              </a:rPr>
              <a:t>(</a:t>
            </a:r>
            <a:r>
              <a:rPr lang="en-US" altLang="en-US" sz="3600" dirty="0">
                <a:solidFill>
                  <a:srgbClr val="183691"/>
                </a:solidFill>
                <a:latin typeface="Consolas" panose="020B0609020204030204" pitchFamily="49" charset="0"/>
              </a:rPr>
              <a:t>field1</a:t>
            </a:r>
            <a:r>
              <a:rPr lang="en-US" altLang="en-US" sz="36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5   </a:t>
            </a:r>
            <a:r>
              <a:rPr lang="en-US" altLang="en-US" sz="3600" dirty="0">
                <a:solidFill>
                  <a:srgbClr val="A71D5D"/>
                </a:solidFill>
                <a:latin typeface="Consolas" panose="020B0609020204030204" pitchFamily="49" charset="0"/>
              </a:rPr>
              <a:t>PRIMARY KEY</a:t>
            </a:r>
            <a:r>
              <a:rPr lang="en-US" altLang="en-US" sz="3600" dirty="0">
                <a:solidFill>
                  <a:srgbClr val="000000"/>
                </a:solidFill>
                <a:latin typeface="Consolas" panose="020B0609020204030204" pitchFamily="49" charset="0"/>
              </a:rPr>
              <a:t>(</a:t>
            </a:r>
            <a:r>
              <a:rPr lang="en-US" altLang="en-US" sz="3600" dirty="0">
                <a:solidFill>
                  <a:srgbClr val="183691"/>
                </a:solidFill>
                <a:latin typeface="Consolas" panose="020B0609020204030204" pitchFamily="49" charset="0"/>
              </a:rPr>
              <a:t>field1</a:t>
            </a:r>
            <a:r>
              <a:rPr lang="en-US" altLang="en-US" sz="36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6 </a:t>
            </a:r>
            <a:r>
              <a:rPr lang="en-US" altLang="en-US" sz="3600" dirty="0">
                <a:solidFill>
                  <a:srgbClr val="000000"/>
                </a:solidFill>
                <a:latin typeface="Consolas" panose="020B0609020204030204" pitchFamily="49" charset="0"/>
              </a:rPr>
              <a:t>);</a:t>
            </a:r>
            <a:endParaRPr lang="en-US" altLang="en-US" sz="4800" dirty="0">
              <a:latin typeface="Arial" panose="020B0604020202020204" pitchFamily="34" charset="0"/>
            </a:endParaRPr>
          </a:p>
        </p:txBody>
      </p:sp>
      <p:sp>
        <p:nvSpPr>
          <p:cNvPr id="7" name="Callout: Bent Line with No Border 6">
            <a:extLst>
              <a:ext uri="{FF2B5EF4-FFF2-40B4-BE49-F238E27FC236}">
                <a16:creationId xmlns:a16="http://schemas.microsoft.com/office/drawing/2014/main" id="{2907BCF3-6896-E60D-4077-92B218BC4872}"/>
              </a:ext>
            </a:extLst>
          </p:cNvPr>
          <p:cNvSpPr/>
          <p:nvPr/>
        </p:nvSpPr>
        <p:spPr>
          <a:xfrm>
            <a:off x="7562971" y="5594323"/>
            <a:ext cx="2486025" cy="468340"/>
          </a:xfrm>
          <a:prstGeom prst="callout2">
            <a:avLst>
              <a:gd name="adj1" fmla="val 49990"/>
              <a:gd name="adj2" fmla="val -52"/>
              <a:gd name="adj3" fmla="val 50311"/>
              <a:gd name="adj4" fmla="val -20105"/>
              <a:gd name="adj5" fmla="val -530"/>
              <a:gd name="adj6" fmla="val -34446"/>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No comma</a:t>
            </a:r>
          </a:p>
        </p:txBody>
      </p:sp>
      <p:sp>
        <p:nvSpPr>
          <p:cNvPr id="4" name="Callout: Bent Line with No Border 3">
            <a:extLst>
              <a:ext uri="{FF2B5EF4-FFF2-40B4-BE49-F238E27FC236}">
                <a16:creationId xmlns:a16="http://schemas.microsoft.com/office/drawing/2014/main" id="{D967C08A-DC45-A18B-8F04-2A6DE01DF715}"/>
              </a:ext>
            </a:extLst>
          </p:cNvPr>
          <p:cNvSpPr/>
          <p:nvPr/>
        </p:nvSpPr>
        <p:spPr>
          <a:xfrm>
            <a:off x="6461541" y="1016398"/>
            <a:ext cx="2646850" cy="718344"/>
          </a:xfrm>
          <a:prstGeom prst="callout2">
            <a:avLst>
              <a:gd name="adj1" fmla="val 49990"/>
              <a:gd name="adj2" fmla="val -52"/>
              <a:gd name="adj3" fmla="val 49905"/>
              <a:gd name="adj4" fmla="val -22425"/>
              <a:gd name="adj5" fmla="val 112387"/>
              <a:gd name="adj6" fmla="val -29211"/>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New table name</a:t>
            </a:r>
          </a:p>
        </p:txBody>
      </p:sp>
      <p:sp>
        <p:nvSpPr>
          <p:cNvPr id="8" name="Callout: Bent Line with No Border 7">
            <a:extLst>
              <a:ext uri="{FF2B5EF4-FFF2-40B4-BE49-F238E27FC236}">
                <a16:creationId xmlns:a16="http://schemas.microsoft.com/office/drawing/2014/main" id="{3F36ADB4-DD88-33DC-C546-8F3A963B2B29}"/>
              </a:ext>
            </a:extLst>
          </p:cNvPr>
          <p:cNvSpPr/>
          <p:nvPr/>
        </p:nvSpPr>
        <p:spPr>
          <a:xfrm flipH="1">
            <a:off x="3006299" y="5724923"/>
            <a:ext cx="1941999" cy="452040"/>
          </a:xfrm>
          <a:prstGeom prst="callout2">
            <a:avLst>
              <a:gd name="adj1" fmla="val 49990"/>
              <a:gd name="adj2" fmla="val -52"/>
              <a:gd name="adj3" fmla="val 49905"/>
              <a:gd name="adj4" fmla="val -22425"/>
              <a:gd name="adj5" fmla="val -36667"/>
              <a:gd name="adj6" fmla="val -35789"/>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Field name</a:t>
            </a:r>
          </a:p>
        </p:txBody>
      </p:sp>
      <p:grpSp>
        <p:nvGrpSpPr>
          <p:cNvPr id="5" name="Group 4">
            <a:extLst>
              <a:ext uri="{FF2B5EF4-FFF2-40B4-BE49-F238E27FC236}">
                <a16:creationId xmlns:a16="http://schemas.microsoft.com/office/drawing/2014/main" id="{1A8434B4-01EB-4B43-B14C-4E4F41F9DF80}"/>
              </a:ext>
            </a:extLst>
          </p:cNvPr>
          <p:cNvGrpSpPr/>
          <p:nvPr/>
        </p:nvGrpSpPr>
        <p:grpSpPr>
          <a:xfrm>
            <a:off x="958902" y="3861197"/>
            <a:ext cx="1168783" cy="1023144"/>
            <a:chOff x="1627561" y="5311895"/>
            <a:chExt cx="1168783" cy="1150130"/>
          </a:xfrm>
        </p:grpSpPr>
        <p:sp>
          <p:nvSpPr>
            <p:cNvPr id="10" name="Right Brace 9">
              <a:extLst>
                <a:ext uri="{FF2B5EF4-FFF2-40B4-BE49-F238E27FC236}">
                  <a16:creationId xmlns:a16="http://schemas.microsoft.com/office/drawing/2014/main" id="{819BA9D7-3F25-43FC-B8DE-565215E8B322}"/>
                </a:ext>
              </a:extLst>
            </p:cNvPr>
            <p:cNvSpPr/>
            <p:nvPr/>
          </p:nvSpPr>
          <p:spPr>
            <a:xfrm flipH="1">
              <a:off x="2264230" y="5311895"/>
              <a:ext cx="532114" cy="1150130"/>
            </a:xfrm>
            <a:prstGeom prst="rightBrace">
              <a:avLst>
                <a:gd name="adj1" fmla="val 0"/>
                <a:gd name="adj2" fmla="val 68087"/>
              </a:avLst>
            </a:prstGeom>
            <a:noFill/>
            <a:ln w="38100">
              <a:solidFill>
                <a:schemeClr val="accent6">
                  <a:lumMod val="75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GB"/>
            </a:p>
          </p:txBody>
        </p:sp>
        <p:sp>
          <p:nvSpPr>
            <p:cNvPr id="11" name="TextBox 10">
              <a:extLst>
                <a:ext uri="{FF2B5EF4-FFF2-40B4-BE49-F238E27FC236}">
                  <a16:creationId xmlns:a16="http://schemas.microsoft.com/office/drawing/2014/main" id="{4C64850D-8485-41E4-A356-7A5DD26A156B}"/>
                </a:ext>
              </a:extLst>
            </p:cNvPr>
            <p:cNvSpPr txBox="1"/>
            <p:nvPr/>
          </p:nvSpPr>
          <p:spPr>
            <a:xfrm>
              <a:off x="1627561" y="5828213"/>
              <a:ext cx="636669" cy="523220"/>
            </a:xfrm>
            <a:prstGeom prst="rect">
              <a:avLst/>
            </a:prstGeom>
            <a:noFill/>
          </p:spPr>
          <p:txBody>
            <a:bodyPr wrap="square" rtlCol="0">
              <a:spAutoFit/>
            </a:bodyPr>
            <a:lstStyle/>
            <a:p>
              <a:r>
                <a:rPr lang="en-GB" sz="2800" b="1" dirty="0">
                  <a:solidFill>
                    <a:srgbClr val="7030A0"/>
                  </a:solidFill>
                </a:rPr>
                <a:t>FK</a:t>
              </a:r>
            </a:p>
          </p:txBody>
        </p:sp>
      </p:grpSp>
      <p:sp>
        <p:nvSpPr>
          <p:cNvPr id="12" name="Callout: Bent Line with No Border 11">
            <a:extLst>
              <a:ext uri="{FF2B5EF4-FFF2-40B4-BE49-F238E27FC236}">
                <a16:creationId xmlns:a16="http://schemas.microsoft.com/office/drawing/2014/main" id="{2146B694-487C-4FEF-B3E2-FBD92365CDFC}"/>
              </a:ext>
            </a:extLst>
          </p:cNvPr>
          <p:cNvSpPr/>
          <p:nvPr/>
        </p:nvSpPr>
        <p:spPr>
          <a:xfrm>
            <a:off x="7562971" y="1825625"/>
            <a:ext cx="2646850" cy="718344"/>
          </a:xfrm>
          <a:prstGeom prst="callout2">
            <a:avLst>
              <a:gd name="adj1" fmla="val 49990"/>
              <a:gd name="adj2" fmla="val -52"/>
              <a:gd name="adj3" fmla="val 49905"/>
              <a:gd name="adj4" fmla="val -22425"/>
              <a:gd name="adj5" fmla="val 49877"/>
              <a:gd name="adj6" fmla="val -29057"/>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Opening bracket</a:t>
            </a:r>
          </a:p>
        </p:txBody>
      </p:sp>
      <p:sp>
        <p:nvSpPr>
          <p:cNvPr id="13" name="Callout: Bent Line with No Border 12">
            <a:extLst>
              <a:ext uri="{FF2B5EF4-FFF2-40B4-BE49-F238E27FC236}">
                <a16:creationId xmlns:a16="http://schemas.microsoft.com/office/drawing/2014/main" id="{4BD557DE-5399-4B9B-A8B3-E680DB65D68B}"/>
              </a:ext>
            </a:extLst>
          </p:cNvPr>
          <p:cNvSpPr/>
          <p:nvPr/>
        </p:nvSpPr>
        <p:spPr>
          <a:xfrm>
            <a:off x="2746353" y="6230938"/>
            <a:ext cx="2646850" cy="432197"/>
          </a:xfrm>
          <a:prstGeom prst="callout2">
            <a:avLst>
              <a:gd name="adj1" fmla="val 49990"/>
              <a:gd name="adj2" fmla="val -52"/>
              <a:gd name="adj3" fmla="val 49905"/>
              <a:gd name="adj4" fmla="val -22425"/>
              <a:gd name="adj5" fmla="val -15041"/>
              <a:gd name="adj6" fmla="val -42731"/>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Closing bracket</a:t>
            </a:r>
          </a:p>
        </p:txBody>
      </p:sp>
      <p:grpSp>
        <p:nvGrpSpPr>
          <p:cNvPr id="6" name="Group 5">
            <a:extLst>
              <a:ext uri="{FF2B5EF4-FFF2-40B4-BE49-F238E27FC236}">
                <a16:creationId xmlns:a16="http://schemas.microsoft.com/office/drawing/2014/main" id="{37953906-1C97-2535-71FF-3222658B65B1}"/>
              </a:ext>
            </a:extLst>
          </p:cNvPr>
          <p:cNvGrpSpPr/>
          <p:nvPr/>
        </p:nvGrpSpPr>
        <p:grpSpPr>
          <a:xfrm flipH="1">
            <a:off x="8523999" y="2663428"/>
            <a:ext cx="2553576" cy="1023144"/>
            <a:chOff x="242768" y="5311895"/>
            <a:chExt cx="2553576" cy="1150130"/>
          </a:xfrm>
        </p:grpSpPr>
        <p:sp>
          <p:nvSpPr>
            <p:cNvPr id="9" name="Right Brace 8">
              <a:extLst>
                <a:ext uri="{FF2B5EF4-FFF2-40B4-BE49-F238E27FC236}">
                  <a16:creationId xmlns:a16="http://schemas.microsoft.com/office/drawing/2014/main" id="{2B7B8925-DC1C-6B0B-AAC2-DF6718466728}"/>
                </a:ext>
              </a:extLst>
            </p:cNvPr>
            <p:cNvSpPr/>
            <p:nvPr/>
          </p:nvSpPr>
          <p:spPr>
            <a:xfrm flipH="1">
              <a:off x="2264230" y="5311895"/>
              <a:ext cx="532114" cy="1150130"/>
            </a:xfrm>
            <a:prstGeom prst="rightBrace">
              <a:avLst>
                <a:gd name="adj1" fmla="val 0"/>
                <a:gd name="adj2" fmla="val 49468"/>
              </a:avLst>
            </a:prstGeom>
            <a:noFill/>
            <a:ln w="38100">
              <a:solidFill>
                <a:schemeClr val="accent6">
                  <a:lumMod val="75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GB"/>
            </a:p>
          </p:txBody>
        </p:sp>
        <p:sp>
          <p:nvSpPr>
            <p:cNvPr id="14" name="TextBox 13">
              <a:extLst>
                <a:ext uri="{FF2B5EF4-FFF2-40B4-BE49-F238E27FC236}">
                  <a16:creationId xmlns:a16="http://schemas.microsoft.com/office/drawing/2014/main" id="{F6667925-6699-BE41-828A-EF263835AA15}"/>
                </a:ext>
              </a:extLst>
            </p:cNvPr>
            <p:cNvSpPr txBox="1"/>
            <p:nvPr/>
          </p:nvSpPr>
          <p:spPr>
            <a:xfrm>
              <a:off x="242768" y="5354666"/>
              <a:ext cx="2021462" cy="1072525"/>
            </a:xfrm>
            <a:prstGeom prst="rect">
              <a:avLst/>
            </a:prstGeom>
            <a:noFill/>
          </p:spPr>
          <p:txBody>
            <a:bodyPr wrap="square" rtlCol="0">
              <a:spAutoFit/>
            </a:bodyPr>
            <a:lstStyle/>
            <a:p>
              <a:r>
                <a:rPr lang="en-GB" sz="2800" b="1" dirty="0">
                  <a:solidFill>
                    <a:srgbClr val="7030A0"/>
                  </a:solidFill>
                </a:rPr>
                <a:t>As many as required</a:t>
              </a:r>
            </a:p>
          </p:txBody>
        </p:sp>
      </p:grpSp>
    </p:spTree>
    <p:extLst>
      <p:ext uri="{BB962C8B-B14F-4D97-AF65-F5344CB8AC3E}">
        <p14:creationId xmlns:p14="http://schemas.microsoft.com/office/powerpoint/2010/main" val="90124140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20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25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25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3">
                                            <p:txEl>
                                              <p:pRg st="3" end="3"/>
                                            </p:txEl>
                                          </p:spTgt>
                                        </p:tgtEl>
                                        <p:attrNameLst>
                                          <p:attrName>style.visibility</p:attrName>
                                        </p:attrNameLst>
                                      </p:cBhvr>
                                      <p:to>
                                        <p:strVal val="visible"/>
                                      </p:to>
                                    </p:set>
                                    <p:animEffect transition="in" filter="wipe(left)">
                                      <p:cBhvr>
                                        <p:cTn id="22" dur="2000"/>
                                        <p:tgtEl>
                                          <p:spTgt spid="3">
                                            <p:txEl>
                                              <p:pRg st="3" end="3"/>
                                            </p:txEl>
                                          </p:spTgt>
                                        </p:tgtEl>
                                      </p:cBhvr>
                                    </p:animEffect>
                                  </p:childTnLst>
                                </p:cTn>
                              </p:par>
                            </p:childTnLst>
                          </p:cTn>
                        </p:par>
                        <p:par>
                          <p:cTn id="23" fill="hold">
                            <p:stCondLst>
                              <p:cond delay="2000"/>
                            </p:stCondLst>
                            <p:childTnLst>
                              <p:par>
                                <p:cTn id="24" presetID="22" presetClass="entr" presetSubtype="8" fill="hold" grpId="0" nodeType="afterEffect">
                                  <p:stCondLst>
                                    <p:cond delay="0"/>
                                  </p:stCondLst>
                                  <p:childTnLst>
                                    <p:set>
                                      <p:cBhvr>
                                        <p:cTn id="25" dur="1" fill="hold">
                                          <p:stCondLst>
                                            <p:cond delay="0"/>
                                          </p:stCondLst>
                                        </p:cTn>
                                        <p:tgtEl>
                                          <p:spTgt spid="3">
                                            <p:txEl>
                                              <p:pRg st="4" end="4"/>
                                            </p:txEl>
                                          </p:spTgt>
                                        </p:tgtEl>
                                        <p:attrNameLst>
                                          <p:attrName>style.visibility</p:attrName>
                                        </p:attrNameLst>
                                      </p:cBhvr>
                                      <p:to>
                                        <p:strVal val="visible"/>
                                      </p:to>
                                    </p:set>
                                    <p:animEffect transition="in" filter="wipe(left)">
                                      <p:cBhvr>
                                        <p:cTn id="26" dur="2500"/>
                                        <p:tgtEl>
                                          <p:spTgt spid="3">
                                            <p:txEl>
                                              <p:pRg st="4" end="4"/>
                                            </p:txEl>
                                          </p:spTgt>
                                        </p:tgtEl>
                                      </p:cBhvr>
                                    </p:animEffect>
                                  </p:childTnLst>
                                </p:cTn>
                              </p:par>
                            </p:childTnLst>
                          </p:cTn>
                        </p:par>
                      </p:childTnLst>
                    </p:cTn>
                  </p:par>
                  <p:par>
                    <p:cTn id="27" fill="hold">
                      <p:stCondLst>
                        <p:cond delay="indefinite"/>
                      </p:stCondLst>
                      <p:childTnLst>
                        <p:par>
                          <p:cTn id="28" fill="hold">
                            <p:stCondLst>
                              <p:cond delay="0"/>
                            </p:stCondLst>
                            <p:childTnLst>
                              <p:par>
                                <p:cTn id="29" presetID="22" presetClass="entr" presetSubtype="8" fill="hold" grpId="0" nodeType="clickEffect">
                                  <p:stCondLst>
                                    <p:cond delay="0"/>
                                  </p:stCondLst>
                                  <p:childTnLst>
                                    <p:set>
                                      <p:cBhvr>
                                        <p:cTn id="30" dur="1" fill="hold">
                                          <p:stCondLst>
                                            <p:cond delay="0"/>
                                          </p:stCondLst>
                                        </p:cTn>
                                        <p:tgtEl>
                                          <p:spTgt spid="3">
                                            <p:txEl>
                                              <p:pRg st="5" end="5"/>
                                            </p:txEl>
                                          </p:spTgt>
                                        </p:tgtEl>
                                        <p:attrNameLst>
                                          <p:attrName>style.visibility</p:attrName>
                                        </p:attrNameLst>
                                      </p:cBhvr>
                                      <p:to>
                                        <p:strVal val="visible"/>
                                      </p:to>
                                    </p:set>
                                    <p:animEffect transition="in" filter="wipe(left)">
                                      <p:cBhvr>
                                        <p:cTn id="31" dur="2000"/>
                                        <p:tgtEl>
                                          <p:spTgt spid="3">
                                            <p:txEl>
                                              <p:pRg st="5" end="5"/>
                                            </p:txEl>
                                          </p:spTgt>
                                        </p:tgtEl>
                                      </p:cBhvr>
                                    </p:animEffect>
                                  </p:childTnLst>
                                </p:cTn>
                              </p:par>
                            </p:childTnLst>
                          </p:cTn>
                        </p:par>
                      </p:childTnLst>
                    </p:cTn>
                  </p:par>
                  <p:par>
                    <p:cTn id="32" fill="hold">
                      <p:stCondLst>
                        <p:cond delay="indefinite"/>
                      </p:stCondLst>
                      <p:childTnLst>
                        <p:par>
                          <p:cTn id="33" fill="hold">
                            <p:stCondLst>
                              <p:cond delay="0"/>
                            </p:stCondLst>
                            <p:childTnLst>
                              <p:par>
                                <p:cTn id="34" presetID="22" presetClass="entr" presetSubtype="8" fill="hold" grpId="0" nodeType="clickEffect">
                                  <p:stCondLst>
                                    <p:cond delay="0"/>
                                  </p:stCondLst>
                                  <p:childTnLst>
                                    <p:set>
                                      <p:cBhvr>
                                        <p:cTn id="35" dur="1" fill="hold">
                                          <p:stCondLst>
                                            <p:cond delay="0"/>
                                          </p:stCondLst>
                                        </p:cTn>
                                        <p:tgtEl>
                                          <p:spTgt spid="3">
                                            <p:txEl>
                                              <p:pRg st="6" end="6"/>
                                            </p:txEl>
                                          </p:spTgt>
                                        </p:tgtEl>
                                        <p:attrNameLst>
                                          <p:attrName>style.visibility</p:attrName>
                                        </p:attrNameLst>
                                      </p:cBhvr>
                                      <p:to>
                                        <p:strVal val="visible"/>
                                      </p:to>
                                    </p:set>
                                    <p:animEffect transition="in" filter="wipe(left)">
                                      <p:cBhvr>
                                        <p:cTn id="36" dur="500"/>
                                        <p:tgtEl>
                                          <p:spTgt spid="3">
                                            <p:txEl>
                                              <p:pRg st="6" end="6"/>
                                            </p:txEl>
                                          </p:spTgt>
                                        </p:tgtEl>
                                      </p:cBhvr>
                                    </p:animEffect>
                                  </p:childTnLst>
                                </p:cTn>
                              </p:par>
                            </p:childTnLst>
                          </p:cTn>
                        </p:par>
                      </p:childTnLst>
                    </p:cTn>
                  </p:par>
                  <p:par>
                    <p:cTn id="37" fill="hold">
                      <p:stCondLst>
                        <p:cond delay="indefinite"/>
                      </p:stCondLst>
                      <p:childTnLst>
                        <p:par>
                          <p:cTn id="38" fill="hold">
                            <p:stCondLst>
                              <p:cond delay="0"/>
                            </p:stCondLst>
                            <p:childTnLst>
                              <p:par>
                                <p:cTn id="39" presetID="10" presetClass="entr" presetSubtype="0" fill="hold" grpId="0" nodeType="clickEffect">
                                  <p:stCondLst>
                                    <p:cond delay="0"/>
                                  </p:stCondLst>
                                  <p:childTnLst>
                                    <p:set>
                                      <p:cBhvr>
                                        <p:cTn id="40" dur="1" fill="hold">
                                          <p:stCondLst>
                                            <p:cond delay="0"/>
                                          </p:stCondLst>
                                        </p:cTn>
                                        <p:tgtEl>
                                          <p:spTgt spid="4"/>
                                        </p:tgtEl>
                                        <p:attrNameLst>
                                          <p:attrName>style.visibility</p:attrName>
                                        </p:attrNameLst>
                                      </p:cBhvr>
                                      <p:to>
                                        <p:strVal val="visible"/>
                                      </p:to>
                                    </p:set>
                                    <p:animEffect transition="in" filter="fade">
                                      <p:cBhvr>
                                        <p:cTn id="41" dur="1000"/>
                                        <p:tgtEl>
                                          <p:spTgt spid="4"/>
                                        </p:tgtEl>
                                      </p:cBhvr>
                                    </p:animEffect>
                                  </p:childTnLst>
                                </p:cTn>
                              </p:par>
                            </p:childTnLst>
                          </p:cTn>
                        </p:par>
                      </p:childTnLst>
                    </p:cTn>
                  </p:par>
                  <p:par>
                    <p:cTn id="42" fill="hold">
                      <p:stCondLst>
                        <p:cond delay="indefinite"/>
                      </p:stCondLst>
                      <p:childTnLst>
                        <p:par>
                          <p:cTn id="43" fill="hold">
                            <p:stCondLst>
                              <p:cond delay="0"/>
                            </p:stCondLst>
                            <p:childTnLst>
                              <p:par>
                                <p:cTn id="44" presetID="10" presetClass="entr" presetSubtype="0" fill="hold" grpId="0" nodeType="clickEffect">
                                  <p:stCondLst>
                                    <p:cond delay="0"/>
                                  </p:stCondLst>
                                  <p:childTnLst>
                                    <p:set>
                                      <p:cBhvr>
                                        <p:cTn id="45" dur="1" fill="hold">
                                          <p:stCondLst>
                                            <p:cond delay="0"/>
                                          </p:stCondLst>
                                        </p:cTn>
                                        <p:tgtEl>
                                          <p:spTgt spid="12"/>
                                        </p:tgtEl>
                                        <p:attrNameLst>
                                          <p:attrName>style.visibility</p:attrName>
                                        </p:attrNameLst>
                                      </p:cBhvr>
                                      <p:to>
                                        <p:strVal val="visible"/>
                                      </p:to>
                                    </p:set>
                                    <p:animEffect transition="in" filter="fade">
                                      <p:cBhvr>
                                        <p:cTn id="46" dur="1000"/>
                                        <p:tgtEl>
                                          <p:spTgt spid="12"/>
                                        </p:tgtEl>
                                      </p:cBhvr>
                                    </p:animEffect>
                                  </p:childTnLst>
                                </p:cTn>
                              </p:par>
                            </p:childTnLst>
                          </p:cTn>
                        </p:par>
                      </p:childTnLst>
                    </p:cTn>
                  </p:par>
                  <p:par>
                    <p:cTn id="47" fill="hold">
                      <p:stCondLst>
                        <p:cond delay="indefinite"/>
                      </p:stCondLst>
                      <p:childTnLst>
                        <p:par>
                          <p:cTn id="48" fill="hold">
                            <p:stCondLst>
                              <p:cond delay="0"/>
                            </p:stCondLst>
                            <p:childTnLst>
                              <p:par>
                                <p:cTn id="49" presetID="22" presetClass="entr" presetSubtype="8" fill="hold" nodeType="clickEffect">
                                  <p:stCondLst>
                                    <p:cond delay="0"/>
                                  </p:stCondLst>
                                  <p:childTnLst>
                                    <p:set>
                                      <p:cBhvr>
                                        <p:cTn id="50" dur="1" fill="hold">
                                          <p:stCondLst>
                                            <p:cond delay="0"/>
                                          </p:stCondLst>
                                        </p:cTn>
                                        <p:tgtEl>
                                          <p:spTgt spid="6"/>
                                        </p:tgtEl>
                                        <p:attrNameLst>
                                          <p:attrName>style.visibility</p:attrName>
                                        </p:attrNameLst>
                                      </p:cBhvr>
                                      <p:to>
                                        <p:strVal val="visible"/>
                                      </p:to>
                                    </p:set>
                                    <p:animEffect transition="in" filter="wipe(left)">
                                      <p:cBhvr>
                                        <p:cTn id="51" dur="1000"/>
                                        <p:tgtEl>
                                          <p:spTgt spid="6"/>
                                        </p:tgtEl>
                                      </p:cBhvr>
                                    </p:animEffect>
                                  </p:childTnLst>
                                </p:cTn>
                              </p:par>
                            </p:childTnLst>
                          </p:cTn>
                        </p:par>
                      </p:childTnLst>
                    </p:cTn>
                  </p:par>
                  <p:par>
                    <p:cTn id="52" fill="hold">
                      <p:stCondLst>
                        <p:cond delay="indefinite"/>
                      </p:stCondLst>
                      <p:childTnLst>
                        <p:par>
                          <p:cTn id="53" fill="hold">
                            <p:stCondLst>
                              <p:cond delay="0"/>
                            </p:stCondLst>
                            <p:childTnLst>
                              <p:par>
                                <p:cTn id="54" presetID="22" presetClass="entr" presetSubtype="8" fill="hold" nodeType="clickEffect">
                                  <p:stCondLst>
                                    <p:cond delay="0"/>
                                  </p:stCondLst>
                                  <p:childTnLst>
                                    <p:set>
                                      <p:cBhvr>
                                        <p:cTn id="55" dur="1" fill="hold">
                                          <p:stCondLst>
                                            <p:cond delay="0"/>
                                          </p:stCondLst>
                                        </p:cTn>
                                        <p:tgtEl>
                                          <p:spTgt spid="5"/>
                                        </p:tgtEl>
                                        <p:attrNameLst>
                                          <p:attrName>style.visibility</p:attrName>
                                        </p:attrNameLst>
                                      </p:cBhvr>
                                      <p:to>
                                        <p:strVal val="visible"/>
                                      </p:to>
                                    </p:set>
                                    <p:animEffect transition="in" filter="wipe(left)">
                                      <p:cBhvr>
                                        <p:cTn id="56" dur="1000"/>
                                        <p:tgtEl>
                                          <p:spTgt spid="5"/>
                                        </p:tgtEl>
                                      </p:cBhvr>
                                    </p:animEffect>
                                  </p:childTnLst>
                                </p:cTn>
                              </p:par>
                            </p:childTnLst>
                          </p:cTn>
                        </p:par>
                      </p:childTnLst>
                    </p:cTn>
                  </p:par>
                  <p:par>
                    <p:cTn id="57" fill="hold">
                      <p:stCondLst>
                        <p:cond delay="indefinite"/>
                      </p:stCondLst>
                      <p:childTnLst>
                        <p:par>
                          <p:cTn id="58" fill="hold">
                            <p:stCondLst>
                              <p:cond delay="0"/>
                            </p:stCondLst>
                            <p:childTnLst>
                              <p:par>
                                <p:cTn id="59" presetID="10" presetClass="entr" presetSubtype="0" fill="hold" grpId="0" nodeType="clickEffect">
                                  <p:stCondLst>
                                    <p:cond delay="0"/>
                                  </p:stCondLst>
                                  <p:childTnLst>
                                    <p:set>
                                      <p:cBhvr>
                                        <p:cTn id="60" dur="1" fill="hold">
                                          <p:stCondLst>
                                            <p:cond delay="0"/>
                                          </p:stCondLst>
                                        </p:cTn>
                                        <p:tgtEl>
                                          <p:spTgt spid="8"/>
                                        </p:tgtEl>
                                        <p:attrNameLst>
                                          <p:attrName>style.visibility</p:attrName>
                                        </p:attrNameLst>
                                      </p:cBhvr>
                                      <p:to>
                                        <p:strVal val="visible"/>
                                      </p:to>
                                    </p:set>
                                    <p:animEffect transition="in" filter="fade">
                                      <p:cBhvr>
                                        <p:cTn id="61" dur="1000"/>
                                        <p:tgtEl>
                                          <p:spTgt spid="8"/>
                                        </p:tgtEl>
                                      </p:cBhvr>
                                    </p:animEffect>
                                  </p:childTnLst>
                                </p:cTn>
                              </p:par>
                            </p:childTnLst>
                          </p:cTn>
                        </p:par>
                      </p:childTnLst>
                    </p:cTn>
                  </p:par>
                  <p:par>
                    <p:cTn id="62" fill="hold">
                      <p:stCondLst>
                        <p:cond delay="indefinite"/>
                      </p:stCondLst>
                      <p:childTnLst>
                        <p:par>
                          <p:cTn id="63" fill="hold">
                            <p:stCondLst>
                              <p:cond delay="0"/>
                            </p:stCondLst>
                            <p:childTnLst>
                              <p:par>
                                <p:cTn id="64" presetID="10" presetClass="entr" presetSubtype="0" fill="hold" grpId="0" nodeType="clickEffect">
                                  <p:stCondLst>
                                    <p:cond delay="0"/>
                                  </p:stCondLst>
                                  <p:childTnLst>
                                    <p:set>
                                      <p:cBhvr>
                                        <p:cTn id="65" dur="1" fill="hold">
                                          <p:stCondLst>
                                            <p:cond delay="0"/>
                                          </p:stCondLst>
                                        </p:cTn>
                                        <p:tgtEl>
                                          <p:spTgt spid="7"/>
                                        </p:tgtEl>
                                        <p:attrNameLst>
                                          <p:attrName>style.visibility</p:attrName>
                                        </p:attrNameLst>
                                      </p:cBhvr>
                                      <p:to>
                                        <p:strVal val="visible"/>
                                      </p:to>
                                    </p:set>
                                    <p:animEffect transition="in" filter="fade">
                                      <p:cBhvr>
                                        <p:cTn id="66" dur="1000"/>
                                        <p:tgtEl>
                                          <p:spTgt spid="7"/>
                                        </p:tgtEl>
                                      </p:cBhvr>
                                    </p:animEffect>
                                  </p:childTnLst>
                                </p:cTn>
                              </p:par>
                            </p:childTnLst>
                          </p:cTn>
                        </p:par>
                      </p:childTnLst>
                    </p:cTn>
                  </p:par>
                  <p:par>
                    <p:cTn id="67" fill="hold">
                      <p:stCondLst>
                        <p:cond delay="indefinite"/>
                      </p:stCondLst>
                      <p:childTnLst>
                        <p:par>
                          <p:cTn id="68" fill="hold">
                            <p:stCondLst>
                              <p:cond delay="0"/>
                            </p:stCondLst>
                            <p:childTnLst>
                              <p:par>
                                <p:cTn id="69" presetID="10" presetClass="entr" presetSubtype="0" fill="hold" grpId="0" nodeType="clickEffect">
                                  <p:stCondLst>
                                    <p:cond delay="0"/>
                                  </p:stCondLst>
                                  <p:childTnLst>
                                    <p:set>
                                      <p:cBhvr>
                                        <p:cTn id="70" dur="1" fill="hold">
                                          <p:stCondLst>
                                            <p:cond delay="0"/>
                                          </p:stCondLst>
                                        </p:cTn>
                                        <p:tgtEl>
                                          <p:spTgt spid="13"/>
                                        </p:tgtEl>
                                        <p:attrNameLst>
                                          <p:attrName>style.visibility</p:attrName>
                                        </p:attrNameLst>
                                      </p:cBhvr>
                                      <p:to>
                                        <p:strVal val="visible"/>
                                      </p:to>
                                    </p:set>
                                    <p:animEffect transition="in" filter="fade">
                                      <p:cBhvr>
                                        <p:cTn id="71" dur="1000"/>
                                        <p:tgtEl>
                                          <p:spTgt spid="1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7" grpId="0" animBg="1"/>
      <p:bldP spid="4" grpId="0" animBg="1"/>
      <p:bldP spid="8" grpId="0" animBg="1"/>
      <p:bldP spid="12" grpId="0" animBg="1"/>
      <p:bldP spid="13" grpId="0" animBg="1"/>
    </p:bldLst>
  </p:timing>
</p:sld>
</file>

<file path=ppt/slides/slide12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CREATE TABLE</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a:xfrm>
            <a:off x="838200" y="1825625"/>
            <a:ext cx="10800644" cy="4351338"/>
          </a:xfrm>
        </p:spPr>
        <p:txBody>
          <a:bodyPr>
            <a:noAutofit/>
          </a:bodyPr>
          <a:lstStyle/>
          <a:p>
            <a:pPr marL="0" lvl="0" indent="0" eaLnBrk="0" fontAlgn="base" hangingPunct="0">
              <a:lnSpc>
                <a:spcPct val="100000"/>
              </a:lnSpc>
              <a:spcBef>
                <a:spcPct val="0"/>
              </a:spcBef>
              <a:spcAft>
                <a:spcPts val="1200"/>
              </a:spcAft>
              <a:buNone/>
            </a:pPr>
            <a:r>
              <a:rPr lang="en-US" altLang="en-US" sz="3600" dirty="0">
                <a:solidFill>
                  <a:srgbClr val="B2B2B2"/>
                </a:solidFill>
                <a:latin typeface="Consolas" panose="020B0609020204030204" pitchFamily="49" charset="0"/>
              </a:rPr>
              <a:t>1 </a:t>
            </a:r>
            <a:r>
              <a:rPr lang="en-US" altLang="en-US" sz="3600" dirty="0">
                <a:solidFill>
                  <a:srgbClr val="A71D5D"/>
                </a:solidFill>
                <a:latin typeface="Consolas" panose="020B0609020204030204" pitchFamily="49" charset="0"/>
              </a:rPr>
              <a:t>CREATE TABLE</a:t>
            </a:r>
            <a:r>
              <a:rPr lang="en-US" altLang="en-US" sz="3600" dirty="0">
                <a:solidFill>
                  <a:srgbClr val="000000"/>
                </a:solidFill>
                <a:latin typeface="Consolas" panose="020B0609020204030204" pitchFamily="49" charset="0"/>
              </a:rPr>
              <a:t> </a:t>
            </a:r>
            <a:r>
              <a:rPr lang="en-US" altLang="en-US" sz="3600" dirty="0">
                <a:solidFill>
                  <a:srgbClr val="183691"/>
                </a:solidFill>
                <a:latin typeface="Consolas" panose="020B0609020204030204" pitchFamily="49" charset="0"/>
              </a:rPr>
              <a:t>table2</a:t>
            </a:r>
            <a:r>
              <a:rPr lang="en-US" altLang="en-US" sz="3600" dirty="0">
                <a:solidFill>
                  <a:srgbClr val="000000"/>
                </a:solidFill>
                <a:latin typeface="Consolas" panose="020B0609020204030204" pitchFamily="49" charset="0"/>
              </a:rPr>
              <a:t> (</a:t>
            </a: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2   </a:t>
            </a:r>
            <a:r>
              <a:rPr lang="en-US" altLang="en-US" sz="3600" dirty="0">
                <a:solidFill>
                  <a:srgbClr val="183691"/>
                </a:solidFill>
                <a:latin typeface="Consolas" panose="020B0609020204030204" pitchFamily="49" charset="0"/>
              </a:rPr>
              <a:t>field1</a:t>
            </a:r>
            <a:r>
              <a:rPr lang="en-US" altLang="en-US" sz="3600" dirty="0">
                <a:solidFill>
                  <a:srgbClr val="000000"/>
                </a:solidFill>
                <a:latin typeface="Consolas" panose="020B0609020204030204" pitchFamily="49" charset="0"/>
              </a:rPr>
              <a:t> </a:t>
            </a:r>
            <a:r>
              <a:rPr lang="en-US" altLang="en-US" sz="3600" dirty="0">
                <a:solidFill>
                  <a:srgbClr val="49A5CA"/>
                </a:solidFill>
                <a:latin typeface="Consolas" panose="020B0609020204030204" pitchFamily="49" charset="0"/>
              </a:rPr>
              <a:t>datatype</a:t>
            </a:r>
            <a:r>
              <a:rPr lang="en-US" altLang="en-US" sz="3600" dirty="0">
                <a:solidFill>
                  <a:srgbClr val="000000"/>
                </a:solidFill>
                <a:latin typeface="Consolas" panose="020B0609020204030204" pitchFamily="49" charset="0"/>
              </a:rPr>
              <a:t> </a:t>
            </a:r>
            <a:r>
              <a:rPr lang="en-US" altLang="en-US" sz="3600" dirty="0">
                <a:solidFill>
                  <a:srgbClr val="A71D5D"/>
                </a:solidFill>
                <a:latin typeface="Consolas" panose="020B0609020204030204" pitchFamily="49" charset="0"/>
              </a:rPr>
              <a:t>validation</a:t>
            </a:r>
            <a:r>
              <a:rPr lang="en-US" altLang="en-US" sz="3600" dirty="0">
                <a:solidFill>
                  <a:srgbClr val="000000"/>
                </a:solidFill>
                <a:latin typeface="Consolas" panose="020B0609020204030204" pitchFamily="49" charset="0"/>
              </a:rPr>
              <a:t>,</a:t>
            </a:r>
          </a:p>
          <a:p>
            <a:pPr marL="0" lvl="0" indent="0" eaLnBrk="0" fontAlgn="base" hangingPunct="0">
              <a:lnSpc>
                <a:spcPct val="100000"/>
              </a:lnSpc>
              <a:spcBef>
                <a:spcPct val="0"/>
              </a:spcBef>
              <a:spcAft>
                <a:spcPts val="1200"/>
              </a:spcAft>
              <a:buNone/>
            </a:pPr>
            <a:r>
              <a:rPr lang="en-US" altLang="en-US" sz="3600" dirty="0">
                <a:solidFill>
                  <a:srgbClr val="B2B2B2"/>
                </a:solidFill>
                <a:latin typeface="Consolas" panose="020B0609020204030204" pitchFamily="49" charset="0"/>
              </a:rPr>
              <a:t>3   </a:t>
            </a:r>
            <a:r>
              <a:rPr lang="en-US" altLang="en-US" sz="3600" dirty="0">
                <a:solidFill>
                  <a:srgbClr val="183691"/>
                </a:solidFill>
                <a:latin typeface="Consolas" panose="020B0609020204030204" pitchFamily="49" charset="0"/>
              </a:rPr>
              <a:t>field2</a:t>
            </a:r>
            <a:r>
              <a:rPr lang="en-US" altLang="en-US" sz="3600" dirty="0">
                <a:solidFill>
                  <a:srgbClr val="000000"/>
                </a:solidFill>
                <a:latin typeface="Consolas" panose="020B0609020204030204" pitchFamily="49" charset="0"/>
              </a:rPr>
              <a:t> </a:t>
            </a:r>
            <a:r>
              <a:rPr lang="en-US" altLang="en-US" sz="3600" dirty="0">
                <a:solidFill>
                  <a:srgbClr val="49A5CA"/>
                </a:solidFill>
                <a:latin typeface="Consolas" panose="020B0609020204030204" pitchFamily="49" charset="0"/>
              </a:rPr>
              <a:t>datatype</a:t>
            </a:r>
            <a:r>
              <a:rPr lang="en-US" altLang="en-US" sz="3600" dirty="0">
                <a:solidFill>
                  <a:srgbClr val="000000"/>
                </a:solidFill>
                <a:latin typeface="Consolas" panose="020B0609020204030204" pitchFamily="49" charset="0"/>
              </a:rPr>
              <a:t> </a:t>
            </a:r>
            <a:r>
              <a:rPr lang="en-US" altLang="en-US" sz="3600" dirty="0">
                <a:solidFill>
                  <a:srgbClr val="A71D5D"/>
                </a:solidFill>
                <a:latin typeface="Consolas" panose="020B0609020204030204" pitchFamily="49" charset="0"/>
              </a:rPr>
              <a:t>validation</a:t>
            </a:r>
            <a:r>
              <a:rPr lang="en-US" altLang="en-US" sz="36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4   </a:t>
            </a:r>
            <a:r>
              <a:rPr lang="en-US" altLang="en-US" sz="3600" dirty="0">
                <a:solidFill>
                  <a:srgbClr val="A71D5D"/>
                </a:solidFill>
                <a:latin typeface="Consolas" panose="020B0609020204030204" pitchFamily="49" charset="0"/>
              </a:rPr>
              <a:t>FOREIGN KEY</a:t>
            </a:r>
            <a:r>
              <a:rPr lang="en-US" altLang="en-US" sz="3600" dirty="0">
                <a:solidFill>
                  <a:srgbClr val="000000"/>
                </a:solidFill>
                <a:latin typeface="Consolas" panose="020B0609020204030204" pitchFamily="49" charset="0"/>
              </a:rPr>
              <a:t>(</a:t>
            </a:r>
            <a:r>
              <a:rPr lang="en-US" altLang="en-US" sz="3600" dirty="0">
                <a:solidFill>
                  <a:srgbClr val="183691"/>
                </a:solidFill>
                <a:latin typeface="Consolas" panose="020B0609020204030204" pitchFamily="49" charset="0"/>
              </a:rPr>
              <a:t>field2</a:t>
            </a:r>
            <a:r>
              <a:rPr lang="en-US" altLang="en-US" sz="3600" dirty="0">
                <a:solidFill>
                  <a:srgbClr val="000000"/>
                </a:solidFill>
                <a:latin typeface="Consolas" panose="020B0609020204030204" pitchFamily="49" charset="0"/>
              </a:rPr>
              <a:t>)</a:t>
            </a:r>
          </a:p>
          <a:p>
            <a:pPr marL="0" lvl="0" indent="0" eaLnBrk="0" fontAlgn="base" hangingPunct="0">
              <a:lnSpc>
                <a:spcPct val="100000"/>
              </a:lnSpc>
              <a:spcBef>
                <a:spcPct val="0"/>
              </a:spcBef>
              <a:spcAft>
                <a:spcPts val="1200"/>
              </a:spcAft>
              <a:buNone/>
            </a:pPr>
            <a:r>
              <a:rPr lang="en-US" altLang="en-US" sz="3600" dirty="0">
                <a:solidFill>
                  <a:srgbClr val="000000"/>
                </a:solidFill>
                <a:latin typeface="Consolas" panose="020B0609020204030204" pitchFamily="49" charset="0"/>
              </a:rPr>
              <a:t>      </a:t>
            </a:r>
            <a:r>
              <a:rPr lang="en-US" altLang="en-US" sz="3600" dirty="0">
                <a:solidFill>
                  <a:srgbClr val="A71D5D"/>
                </a:solidFill>
                <a:latin typeface="Consolas" panose="020B0609020204030204" pitchFamily="49" charset="0"/>
              </a:rPr>
              <a:t>REFERENCES</a:t>
            </a:r>
            <a:r>
              <a:rPr lang="en-US" altLang="en-US" sz="3600" dirty="0">
                <a:solidFill>
                  <a:srgbClr val="000000"/>
                </a:solidFill>
                <a:latin typeface="Consolas" panose="020B0609020204030204" pitchFamily="49" charset="0"/>
              </a:rPr>
              <a:t> </a:t>
            </a:r>
            <a:r>
              <a:rPr lang="en-US" altLang="en-US" sz="3600" dirty="0">
                <a:solidFill>
                  <a:srgbClr val="183691"/>
                </a:solidFill>
                <a:latin typeface="Consolas" panose="020B0609020204030204" pitchFamily="49" charset="0"/>
              </a:rPr>
              <a:t>table1</a:t>
            </a:r>
            <a:r>
              <a:rPr lang="en-US" altLang="en-US" sz="3600" dirty="0">
                <a:solidFill>
                  <a:srgbClr val="000000"/>
                </a:solidFill>
                <a:latin typeface="Consolas" panose="020B0609020204030204" pitchFamily="49" charset="0"/>
              </a:rPr>
              <a:t>(</a:t>
            </a:r>
            <a:r>
              <a:rPr lang="en-US" altLang="en-US" sz="3600" dirty="0">
                <a:solidFill>
                  <a:srgbClr val="183691"/>
                </a:solidFill>
                <a:latin typeface="Consolas" panose="020B0609020204030204" pitchFamily="49" charset="0"/>
              </a:rPr>
              <a:t>field1</a:t>
            </a:r>
            <a:r>
              <a:rPr lang="en-US" altLang="en-US" sz="36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5   </a:t>
            </a:r>
            <a:r>
              <a:rPr lang="en-US" altLang="en-US" sz="3600" dirty="0">
                <a:solidFill>
                  <a:srgbClr val="A71D5D"/>
                </a:solidFill>
                <a:latin typeface="Consolas" panose="020B0609020204030204" pitchFamily="49" charset="0"/>
              </a:rPr>
              <a:t>PRIMARY KEY</a:t>
            </a:r>
            <a:r>
              <a:rPr lang="en-US" altLang="en-US" sz="3600" dirty="0">
                <a:solidFill>
                  <a:srgbClr val="000000"/>
                </a:solidFill>
                <a:latin typeface="Consolas" panose="020B0609020204030204" pitchFamily="49" charset="0"/>
              </a:rPr>
              <a:t>(</a:t>
            </a:r>
            <a:r>
              <a:rPr lang="en-US" altLang="en-US" sz="3600" dirty="0">
                <a:solidFill>
                  <a:srgbClr val="183691"/>
                </a:solidFill>
                <a:latin typeface="Consolas" panose="020B0609020204030204" pitchFamily="49" charset="0"/>
              </a:rPr>
              <a:t>field1</a:t>
            </a:r>
            <a:r>
              <a:rPr lang="en-US" altLang="en-US" sz="36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6 </a:t>
            </a:r>
            <a:r>
              <a:rPr lang="en-US" altLang="en-US" sz="3600" dirty="0">
                <a:solidFill>
                  <a:srgbClr val="000000"/>
                </a:solidFill>
                <a:latin typeface="Consolas" panose="020B0609020204030204" pitchFamily="49" charset="0"/>
              </a:rPr>
              <a:t>);</a:t>
            </a:r>
            <a:endParaRPr lang="en-US" altLang="en-US" sz="4800" dirty="0">
              <a:latin typeface="Arial" panose="020B0604020202020204" pitchFamily="34" charset="0"/>
            </a:endParaRPr>
          </a:p>
        </p:txBody>
      </p:sp>
    </p:spTree>
    <p:extLst>
      <p:ext uri="{BB962C8B-B14F-4D97-AF65-F5344CB8AC3E}">
        <p14:creationId xmlns:p14="http://schemas.microsoft.com/office/powerpoint/2010/main" val="376945475"/>
      </p:ext>
    </p:extLst>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CREATE TABLE – Task 1</a:t>
            </a:r>
          </a:p>
        </p:txBody>
      </p:sp>
      <p:graphicFrame>
        <p:nvGraphicFramePr>
          <p:cNvPr id="5" name="Table 5">
            <a:extLst>
              <a:ext uri="{FF2B5EF4-FFF2-40B4-BE49-F238E27FC236}">
                <a16:creationId xmlns:a16="http://schemas.microsoft.com/office/drawing/2014/main" id="{38A8414E-6490-4AD8-90BD-DF0216F61C69}"/>
              </a:ext>
            </a:extLst>
          </p:cNvPr>
          <p:cNvGraphicFramePr>
            <a:graphicFrameLocks noGrp="1"/>
          </p:cNvGraphicFramePr>
          <p:nvPr>
            <p:ph idx="1"/>
            <p:extLst>
              <p:ext uri="{D42A27DB-BD31-4B8C-83A1-F6EECF244321}">
                <p14:modId xmlns:p14="http://schemas.microsoft.com/office/powerpoint/2010/main" val="4173441596"/>
              </p:ext>
            </p:extLst>
          </p:nvPr>
        </p:nvGraphicFramePr>
        <p:xfrm>
          <a:off x="838200" y="2239693"/>
          <a:ext cx="10337800" cy="4053840"/>
        </p:xfrm>
        <a:graphic>
          <a:graphicData uri="http://schemas.openxmlformats.org/drawingml/2006/table">
            <a:tbl>
              <a:tblPr firstRow="1" bandRow="1">
                <a:tableStyleId>{5C22544A-7EE6-4342-B048-85BDC9FD1C3A}</a:tableStyleId>
              </a:tblPr>
              <a:tblGrid>
                <a:gridCol w="2056986">
                  <a:extLst>
                    <a:ext uri="{9D8B030D-6E8A-4147-A177-3AD203B41FA5}">
                      <a16:colId xmlns:a16="http://schemas.microsoft.com/office/drawing/2014/main" val="1632358923"/>
                    </a:ext>
                  </a:extLst>
                </a:gridCol>
                <a:gridCol w="829807">
                  <a:extLst>
                    <a:ext uri="{9D8B030D-6E8A-4147-A177-3AD203B41FA5}">
                      <a16:colId xmlns:a16="http://schemas.microsoft.com/office/drawing/2014/main" val="3505833113"/>
                    </a:ext>
                  </a:extLst>
                </a:gridCol>
                <a:gridCol w="1586230">
                  <a:extLst>
                    <a:ext uri="{9D8B030D-6E8A-4147-A177-3AD203B41FA5}">
                      <a16:colId xmlns:a16="http://schemas.microsoft.com/office/drawing/2014/main" val="2732100902"/>
                    </a:ext>
                  </a:extLst>
                </a:gridCol>
                <a:gridCol w="926211">
                  <a:extLst>
                    <a:ext uri="{9D8B030D-6E8A-4147-A177-3AD203B41FA5}">
                      <a16:colId xmlns:a16="http://schemas.microsoft.com/office/drawing/2014/main" val="315362434"/>
                    </a:ext>
                  </a:extLst>
                </a:gridCol>
                <a:gridCol w="1297304">
                  <a:extLst>
                    <a:ext uri="{9D8B030D-6E8A-4147-A177-3AD203B41FA5}">
                      <a16:colId xmlns:a16="http://schemas.microsoft.com/office/drawing/2014/main" val="2971574360"/>
                    </a:ext>
                  </a:extLst>
                </a:gridCol>
                <a:gridCol w="3641262">
                  <a:extLst>
                    <a:ext uri="{9D8B030D-6E8A-4147-A177-3AD203B41FA5}">
                      <a16:colId xmlns:a16="http://schemas.microsoft.com/office/drawing/2014/main" val="2515431282"/>
                    </a:ext>
                  </a:extLst>
                </a:gridCol>
              </a:tblGrid>
              <a:tr h="370840">
                <a:tc>
                  <a:txBody>
                    <a:bodyPr/>
                    <a:lstStyle/>
                    <a:p>
                      <a:pPr algn="ctr"/>
                      <a:r>
                        <a:rPr lang="en-GB" sz="3200" dirty="0"/>
                        <a:t>Attribute</a:t>
                      </a:r>
                    </a:p>
                  </a:txBody>
                  <a:tcPr/>
                </a:tc>
                <a:tc>
                  <a:txBody>
                    <a:bodyPr/>
                    <a:lstStyle/>
                    <a:p>
                      <a:pPr algn="ctr"/>
                      <a:r>
                        <a:rPr lang="en-GB" sz="3200" dirty="0"/>
                        <a:t>Key</a:t>
                      </a:r>
                    </a:p>
                  </a:txBody>
                  <a:tcPr/>
                </a:tc>
                <a:tc>
                  <a:txBody>
                    <a:bodyPr/>
                    <a:lstStyle/>
                    <a:p>
                      <a:pPr algn="ctr"/>
                      <a:r>
                        <a:rPr lang="en-GB" sz="3200" dirty="0"/>
                        <a:t>Type</a:t>
                      </a:r>
                    </a:p>
                  </a:txBody>
                  <a:tcPr/>
                </a:tc>
                <a:tc>
                  <a:txBody>
                    <a:bodyPr/>
                    <a:lstStyle/>
                    <a:p>
                      <a:pPr algn="ctr"/>
                      <a:r>
                        <a:rPr lang="en-GB" sz="3200" dirty="0"/>
                        <a:t>Size</a:t>
                      </a:r>
                    </a:p>
                  </a:txBody>
                  <a:tcPr/>
                </a:tc>
                <a:tc>
                  <a:txBody>
                    <a:bodyPr/>
                    <a:lstStyle/>
                    <a:p>
                      <a:pPr algn="ctr"/>
                      <a:r>
                        <a:rPr lang="en-GB" sz="3200" dirty="0" err="1"/>
                        <a:t>Req'd</a:t>
                      </a:r>
                      <a:endParaRPr lang="en-GB" sz="3200" dirty="0"/>
                    </a:p>
                  </a:txBody>
                  <a:tcPr/>
                </a:tc>
                <a:tc>
                  <a:txBody>
                    <a:bodyPr/>
                    <a:lstStyle/>
                    <a:p>
                      <a:pPr algn="ctr"/>
                      <a:r>
                        <a:rPr lang="en-GB" sz="3200" dirty="0"/>
                        <a:t>Validation</a:t>
                      </a:r>
                    </a:p>
                  </a:txBody>
                  <a:tcPr/>
                </a:tc>
                <a:extLst>
                  <a:ext uri="{0D108BD9-81ED-4DB2-BD59-A6C34878D82A}">
                    <a16:rowId xmlns:a16="http://schemas.microsoft.com/office/drawing/2014/main" val="3459615676"/>
                  </a:ext>
                </a:extLst>
              </a:tr>
              <a:tr h="370840">
                <a:tc>
                  <a:txBody>
                    <a:bodyPr/>
                    <a:lstStyle/>
                    <a:p>
                      <a:r>
                        <a:rPr lang="en-GB" sz="3200" dirty="0" err="1"/>
                        <a:t>supplierID</a:t>
                      </a:r>
                      <a:endParaRPr lang="en-GB" sz="3200" dirty="0"/>
                    </a:p>
                  </a:txBody>
                  <a:tcPr/>
                </a:tc>
                <a:tc>
                  <a:txBody>
                    <a:bodyPr/>
                    <a:lstStyle/>
                    <a:p>
                      <a:pPr algn="ctr"/>
                      <a:r>
                        <a:rPr lang="en-GB" sz="3200" dirty="0"/>
                        <a:t>PK</a:t>
                      </a:r>
                    </a:p>
                  </a:txBody>
                  <a:tcPr/>
                </a:tc>
                <a:tc>
                  <a:txBody>
                    <a:bodyPr/>
                    <a:lstStyle/>
                    <a:p>
                      <a:r>
                        <a:rPr lang="en-GB" sz="3200" dirty="0"/>
                        <a:t>number</a:t>
                      </a:r>
                    </a:p>
                  </a:txBody>
                  <a:tcPr/>
                </a:tc>
                <a:tc>
                  <a:txBody>
                    <a:bodyPr/>
                    <a:lstStyle/>
                    <a:p>
                      <a:pPr algn="ctr"/>
                      <a:endParaRPr lang="en-GB" sz="3200" dirty="0"/>
                    </a:p>
                  </a:txBody>
                  <a:tcPr/>
                </a:tc>
                <a:tc>
                  <a:txBody>
                    <a:bodyPr/>
                    <a:lstStyle/>
                    <a:p>
                      <a:pPr algn="ctr"/>
                      <a:r>
                        <a:rPr lang="en-GB" sz="3200" dirty="0"/>
                        <a:t>Y</a:t>
                      </a:r>
                    </a:p>
                  </a:txBody>
                  <a:tcPr/>
                </a:tc>
                <a:tc>
                  <a:txBody>
                    <a:bodyPr/>
                    <a:lstStyle/>
                    <a:p>
                      <a:endParaRPr lang="en-GB" sz="3200" dirty="0"/>
                    </a:p>
                  </a:txBody>
                  <a:tcPr/>
                </a:tc>
                <a:extLst>
                  <a:ext uri="{0D108BD9-81ED-4DB2-BD59-A6C34878D82A}">
                    <a16:rowId xmlns:a16="http://schemas.microsoft.com/office/drawing/2014/main" val="1127765656"/>
                  </a:ext>
                </a:extLst>
              </a:tr>
              <a:tr h="370840">
                <a:tc>
                  <a:txBody>
                    <a:bodyPr/>
                    <a:lstStyle/>
                    <a:p>
                      <a:r>
                        <a:rPr lang="en-GB" sz="3200" dirty="0"/>
                        <a:t>name</a:t>
                      </a:r>
                    </a:p>
                  </a:txBody>
                  <a:tcPr/>
                </a:tc>
                <a:tc>
                  <a:txBody>
                    <a:bodyPr/>
                    <a:lstStyle/>
                    <a:p>
                      <a:pPr algn="ctr"/>
                      <a:endParaRPr lang="en-GB" sz="3200" dirty="0"/>
                    </a:p>
                  </a:txBody>
                  <a:tcPr/>
                </a:tc>
                <a:tc>
                  <a:txBody>
                    <a:bodyPr/>
                    <a:lstStyle/>
                    <a:p>
                      <a:r>
                        <a:rPr lang="en-GB" sz="3200" dirty="0"/>
                        <a:t>text</a:t>
                      </a:r>
                    </a:p>
                  </a:txBody>
                  <a:tcPr/>
                </a:tc>
                <a:tc>
                  <a:txBody>
                    <a:bodyPr/>
                    <a:lstStyle/>
                    <a:p>
                      <a:pPr algn="ctr"/>
                      <a:r>
                        <a:rPr lang="en-GB" sz="3200" dirty="0"/>
                        <a:t>30</a:t>
                      </a:r>
                    </a:p>
                  </a:txBody>
                  <a:tcPr/>
                </a:tc>
                <a:tc>
                  <a:txBody>
                    <a:bodyPr/>
                    <a:lstStyle/>
                    <a:p>
                      <a:pPr algn="ctr"/>
                      <a:r>
                        <a:rPr lang="en-GB" sz="3200" dirty="0"/>
                        <a:t>Y</a:t>
                      </a:r>
                    </a:p>
                  </a:txBody>
                  <a:tcPr/>
                </a:tc>
                <a:tc>
                  <a:txBody>
                    <a:bodyPr/>
                    <a:lstStyle/>
                    <a:p>
                      <a:endParaRPr lang="en-GB" sz="3200" dirty="0"/>
                    </a:p>
                  </a:txBody>
                  <a:tcPr/>
                </a:tc>
                <a:extLst>
                  <a:ext uri="{0D108BD9-81ED-4DB2-BD59-A6C34878D82A}">
                    <a16:rowId xmlns:a16="http://schemas.microsoft.com/office/drawing/2014/main" val="2924661129"/>
                  </a:ext>
                </a:extLst>
              </a:tr>
              <a:tr h="370840">
                <a:tc>
                  <a:txBody>
                    <a:bodyPr/>
                    <a:lstStyle/>
                    <a:p>
                      <a:r>
                        <a:rPr lang="en-GB" sz="3200" dirty="0"/>
                        <a:t>address</a:t>
                      </a:r>
                    </a:p>
                  </a:txBody>
                  <a:tcPr/>
                </a:tc>
                <a:tc>
                  <a:txBody>
                    <a:bodyPr/>
                    <a:lstStyle/>
                    <a:p>
                      <a:pPr algn="ctr"/>
                      <a:endParaRPr lang="en-GB" sz="3200" dirty="0"/>
                    </a:p>
                  </a:txBody>
                  <a:tcPr/>
                </a:tc>
                <a:tc>
                  <a:txBody>
                    <a:bodyPr/>
                    <a:lstStyle/>
                    <a:p>
                      <a:r>
                        <a:rPr lang="en-GB" sz="3200" dirty="0"/>
                        <a:t>text</a:t>
                      </a:r>
                    </a:p>
                  </a:txBody>
                  <a:tcPr/>
                </a:tc>
                <a:tc>
                  <a:txBody>
                    <a:bodyPr/>
                    <a:lstStyle/>
                    <a:p>
                      <a:pPr algn="ctr"/>
                      <a:r>
                        <a:rPr lang="en-GB" sz="3200" dirty="0"/>
                        <a:t>50</a:t>
                      </a:r>
                    </a:p>
                  </a:txBody>
                  <a:tcPr/>
                </a:tc>
                <a:tc>
                  <a:txBody>
                    <a:bodyPr/>
                    <a:lstStyle/>
                    <a:p>
                      <a:pPr algn="ctr"/>
                      <a:r>
                        <a:rPr lang="en-GB" sz="3200" dirty="0"/>
                        <a:t>Y</a:t>
                      </a:r>
                    </a:p>
                  </a:txBody>
                  <a:tcPr/>
                </a:tc>
                <a:tc>
                  <a:txBody>
                    <a:bodyPr/>
                    <a:lstStyle/>
                    <a:p>
                      <a:endParaRPr lang="en-GB" sz="3200" dirty="0"/>
                    </a:p>
                  </a:txBody>
                  <a:tcPr/>
                </a:tc>
                <a:extLst>
                  <a:ext uri="{0D108BD9-81ED-4DB2-BD59-A6C34878D82A}">
                    <a16:rowId xmlns:a16="http://schemas.microsoft.com/office/drawing/2014/main" val="3885493841"/>
                  </a:ext>
                </a:extLst>
              </a:tr>
              <a:tr h="370840">
                <a:tc>
                  <a:txBody>
                    <a:bodyPr/>
                    <a:lstStyle/>
                    <a:p>
                      <a:r>
                        <a:rPr lang="en-GB" sz="3200" dirty="0"/>
                        <a:t>phone</a:t>
                      </a:r>
                    </a:p>
                  </a:txBody>
                  <a:tcPr/>
                </a:tc>
                <a:tc>
                  <a:txBody>
                    <a:bodyPr/>
                    <a:lstStyle/>
                    <a:p>
                      <a:pPr algn="ctr"/>
                      <a:endParaRPr lang="en-GB" sz="3200" dirty="0"/>
                    </a:p>
                  </a:txBody>
                  <a:tcPr/>
                </a:tc>
                <a:tc>
                  <a:txBody>
                    <a:bodyPr/>
                    <a:lstStyle/>
                    <a:p>
                      <a:r>
                        <a:rPr lang="en-GB" sz="3200" dirty="0"/>
                        <a:t>text</a:t>
                      </a:r>
                    </a:p>
                  </a:txBody>
                  <a:tcPr/>
                </a:tc>
                <a:tc>
                  <a:txBody>
                    <a:bodyPr/>
                    <a:lstStyle/>
                    <a:p>
                      <a:pPr algn="ctr"/>
                      <a:r>
                        <a:rPr lang="en-GB" sz="3200" dirty="0"/>
                        <a:t>12</a:t>
                      </a:r>
                    </a:p>
                  </a:txBody>
                  <a:tcPr/>
                </a:tc>
                <a:tc>
                  <a:txBody>
                    <a:bodyPr/>
                    <a:lstStyle/>
                    <a:p>
                      <a:pPr algn="ctr"/>
                      <a:r>
                        <a:rPr lang="en-GB" sz="3200" dirty="0"/>
                        <a:t>N</a:t>
                      </a:r>
                    </a:p>
                  </a:txBody>
                  <a:tcPr/>
                </a:tc>
                <a:tc>
                  <a:txBody>
                    <a:bodyPr/>
                    <a:lstStyle/>
                    <a:p>
                      <a:r>
                        <a:rPr lang="en-GB" sz="3200" dirty="0"/>
                        <a:t>length: &gt;= 11</a:t>
                      </a:r>
                    </a:p>
                  </a:txBody>
                  <a:tcPr/>
                </a:tc>
                <a:extLst>
                  <a:ext uri="{0D108BD9-81ED-4DB2-BD59-A6C34878D82A}">
                    <a16:rowId xmlns:a16="http://schemas.microsoft.com/office/drawing/2014/main" val="1487565366"/>
                  </a:ext>
                </a:extLst>
              </a:tr>
              <a:tr h="370840">
                <a:tc>
                  <a:txBody>
                    <a:bodyPr/>
                    <a:lstStyle/>
                    <a:p>
                      <a:r>
                        <a:rPr lang="en-GB" sz="3200" dirty="0"/>
                        <a:t>email</a:t>
                      </a:r>
                    </a:p>
                  </a:txBody>
                  <a:tcPr/>
                </a:tc>
                <a:tc>
                  <a:txBody>
                    <a:bodyPr/>
                    <a:lstStyle/>
                    <a:p>
                      <a:pPr algn="ctr"/>
                      <a:endParaRPr lang="en-GB" sz="3200" dirty="0"/>
                    </a:p>
                  </a:txBody>
                  <a:tcPr/>
                </a:tc>
                <a:tc>
                  <a:txBody>
                    <a:bodyPr/>
                    <a:lstStyle/>
                    <a:p>
                      <a:r>
                        <a:rPr lang="en-GB" sz="3200" dirty="0"/>
                        <a:t>text</a:t>
                      </a:r>
                    </a:p>
                  </a:txBody>
                  <a:tcPr/>
                </a:tc>
                <a:tc>
                  <a:txBody>
                    <a:bodyPr/>
                    <a:lstStyle/>
                    <a:p>
                      <a:pPr algn="ctr"/>
                      <a:r>
                        <a:rPr lang="en-GB" sz="3200" dirty="0"/>
                        <a:t>30</a:t>
                      </a:r>
                    </a:p>
                  </a:txBody>
                  <a:tcPr/>
                </a:tc>
                <a:tc>
                  <a:txBody>
                    <a:bodyPr/>
                    <a:lstStyle/>
                    <a:p>
                      <a:pPr algn="ctr"/>
                      <a:r>
                        <a:rPr lang="en-GB" sz="3200" dirty="0"/>
                        <a:t>Y</a:t>
                      </a:r>
                    </a:p>
                  </a:txBody>
                  <a:tcPr/>
                </a:tc>
                <a:tc>
                  <a:txBody>
                    <a:bodyPr/>
                    <a:lstStyle/>
                    <a:p>
                      <a:endParaRPr lang="en-GB" sz="3200" dirty="0"/>
                    </a:p>
                  </a:txBody>
                  <a:tcPr/>
                </a:tc>
                <a:extLst>
                  <a:ext uri="{0D108BD9-81ED-4DB2-BD59-A6C34878D82A}">
                    <a16:rowId xmlns:a16="http://schemas.microsoft.com/office/drawing/2014/main" val="3947728551"/>
                  </a:ext>
                </a:extLst>
              </a:tr>
              <a:tr h="370840">
                <a:tc>
                  <a:txBody>
                    <a:bodyPr/>
                    <a:lstStyle/>
                    <a:p>
                      <a:r>
                        <a:rPr lang="en-GB" sz="3200" dirty="0"/>
                        <a:t>active</a:t>
                      </a:r>
                    </a:p>
                  </a:txBody>
                  <a:tcPr/>
                </a:tc>
                <a:tc>
                  <a:txBody>
                    <a:bodyPr/>
                    <a:lstStyle/>
                    <a:p>
                      <a:pPr algn="ctr"/>
                      <a:endParaRPr lang="en-GB" sz="3200" dirty="0"/>
                    </a:p>
                  </a:txBody>
                  <a:tcPr/>
                </a:tc>
                <a:tc>
                  <a:txBody>
                    <a:bodyPr/>
                    <a:lstStyle/>
                    <a:p>
                      <a:r>
                        <a:rPr lang="en-GB" sz="3200" dirty="0" err="1"/>
                        <a:t>boolean</a:t>
                      </a:r>
                      <a:endParaRPr lang="en-GB" sz="3200" dirty="0"/>
                    </a:p>
                  </a:txBody>
                  <a:tcPr/>
                </a:tc>
                <a:tc>
                  <a:txBody>
                    <a:bodyPr/>
                    <a:lstStyle/>
                    <a:p>
                      <a:pPr algn="ctr"/>
                      <a:endParaRPr lang="en-GB" sz="3200" dirty="0"/>
                    </a:p>
                  </a:txBody>
                  <a:tcPr/>
                </a:tc>
                <a:tc>
                  <a:txBody>
                    <a:bodyPr/>
                    <a:lstStyle/>
                    <a:p>
                      <a:pPr algn="ctr"/>
                      <a:r>
                        <a:rPr lang="en-GB" sz="3200" dirty="0"/>
                        <a:t>N</a:t>
                      </a:r>
                    </a:p>
                  </a:txBody>
                  <a:tcPr/>
                </a:tc>
                <a:tc>
                  <a:txBody>
                    <a:bodyPr/>
                    <a:lstStyle/>
                    <a:p>
                      <a:endParaRPr lang="en-GB" sz="3200" dirty="0"/>
                    </a:p>
                  </a:txBody>
                  <a:tcPr/>
                </a:tc>
                <a:extLst>
                  <a:ext uri="{0D108BD9-81ED-4DB2-BD59-A6C34878D82A}">
                    <a16:rowId xmlns:a16="http://schemas.microsoft.com/office/drawing/2014/main" val="228004377"/>
                  </a:ext>
                </a:extLst>
              </a:tr>
            </a:tbl>
          </a:graphicData>
        </a:graphic>
      </p:graphicFrame>
      <p:sp>
        <p:nvSpPr>
          <p:cNvPr id="3" name="TextBox 2">
            <a:extLst>
              <a:ext uri="{FF2B5EF4-FFF2-40B4-BE49-F238E27FC236}">
                <a16:creationId xmlns:a16="http://schemas.microsoft.com/office/drawing/2014/main" id="{2870215D-9F81-A8EC-08CB-B997553DFED6}"/>
              </a:ext>
            </a:extLst>
          </p:cNvPr>
          <p:cNvSpPr txBox="1"/>
          <p:nvPr/>
        </p:nvSpPr>
        <p:spPr>
          <a:xfrm>
            <a:off x="838200" y="1592921"/>
            <a:ext cx="3041730" cy="646331"/>
          </a:xfrm>
          <a:prstGeom prst="rect">
            <a:avLst/>
          </a:prstGeom>
          <a:noFill/>
        </p:spPr>
        <p:txBody>
          <a:bodyPr wrap="none" rtlCol="0">
            <a:spAutoFit/>
          </a:bodyPr>
          <a:lstStyle/>
          <a:p>
            <a:r>
              <a:rPr lang="en-GB" sz="3600" b="1" dirty="0"/>
              <a:t>Entity</a:t>
            </a:r>
            <a:r>
              <a:rPr lang="en-GB" sz="3600" dirty="0"/>
              <a:t>: supplier</a:t>
            </a:r>
          </a:p>
        </p:txBody>
      </p:sp>
    </p:spTree>
    <p:extLst>
      <p:ext uri="{BB962C8B-B14F-4D97-AF65-F5344CB8AC3E}">
        <p14:creationId xmlns:p14="http://schemas.microsoft.com/office/powerpoint/2010/main" val="252938768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wipe(left)">
                                      <p:cBhvr>
                                        <p:cTn id="7" dur="1000"/>
                                        <p:tgtEl>
                                          <p:spTgt spid="3"/>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1" fill="hold" nodeType="clickEffect">
                                  <p:stCondLst>
                                    <p:cond delay="0"/>
                                  </p:stCondLst>
                                  <p:childTnLst>
                                    <p:set>
                                      <p:cBhvr>
                                        <p:cTn id="11" dur="1" fill="hold">
                                          <p:stCondLst>
                                            <p:cond delay="0"/>
                                          </p:stCondLst>
                                        </p:cTn>
                                        <p:tgtEl>
                                          <p:spTgt spid="5"/>
                                        </p:tgtEl>
                                        <p:attrNameLst>
                                          <p:attrName>style.visibility</p:attrName>
                                        </p:attrNameLst>
                                      </p:cBhvr>
                                      <p:to>
                                        <p:strVal val="visible"/>
                                      </p:to>
                                    </p:set>
                                    <p:animEffect transition="in" filter="wipe(up)">
                                      <p:cBhvr>
                                        <p:cTn id="12" dur="30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p:bldLst>
  </p:timing>
</p:sld>
</file>

<file path=ppt/slides/slide1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CREATE TABLE – Task 1 - Solution</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a:xfrm>
            <a:off x="838200" y="1825625"/>
            <a:ext cx="10515600" cy="4351338"/>
          </a:xfrm>
        </p:spPr>
        <p:txBody>
          <a:bodyPr>
            <a:noAutofit/>
          </a:bodyPr>
          <a:lstStyle/>
          <a:p>
            <a:pPr marL="0" lvl="0" indent="0" eaLnBrk="0" fontAlgn="base" hangingPunct="0">
              <a:lnSpc>
                <a:spcPct val="100000"/>
              </a:lnSpc>
              <a:spcBef>
                <a:spcPct val="0"/>
              </a:spcBef>
              <a:spcAft>
                <a:spcPct val="0"/>
              </a:spcAft>
              <a:buNone/>
            </a:pPr>
            <a:r>
              <a:rPr lang="en-US" altLang="en-US" sz="3000" dirty="0">
                <a:solidFill>
                  <a:srgbClr val="B2B2B2"/>
                </a:solidFill>
                <a:latin typeface="Consolas" panose="020B0609020204030204" pitchFamily="49" charset="0"/>
              </a:rPr>
              <a:t>1 </a:t>
            </a:r>
            <a:r>
              <a:rPr lang="en-US" altLang="en-US" sz="3000" dirty="0">
                <a:solidFill>
                  <a:srgbClr val="A71D5D"/>
                </a:solidFill>
                <a:latin typeface="Consolas" panose="020B0609020204030204" pitchFamily="49" charset="0"/>
              </a:rPr>
              <a:t>CREATE TABLE</a:t>
            </a:r>
            <a:r>
              <a:rPr lang="en-US" altLang="en-US" sz="3000" dirty="0">
                <a:solidFill>
                  <a:srgbClr val="000000"/>
                </a:solidFill>
                <a:latin typeface="Consolas" panose="020B0609020204030204" pitchFamily="49" charset="0"/>
              </a:rPr>
              <a:t> </a:t>
            </a:r>
            <a:r>
              <a:rPr lang="en-US" altLang="en-US" sz="3000" dirty="0">
                <a:solidFill>
                  <a:srgbClr val="0086B3"/>
                </a:solidFill>
                <a:latin typeface="Consolas" panose="020B0609020204030204" pitchFamily="49" charset="0"/>
              </a:rPr>
              <a:t>supplier</a:t>
            </a:r>
            <a:r>
              <a:rPr lang="en-US" altLang="en-US" sz="3000" dirty="0">
                <a:solidFill>
                  <a:srgbClr val="000000"/>
                </a:solidFill>
                <a:latin typeface="Consolas" panose="020B0609020204030204" pitchFamily="49" charset="0"/>
              </a:rPr>
              <a:t> (</a:t>
            </a:r>
          </a:p>
          <a:p>
            <a:pPr marL="0" lvl="0" indent="0" eaLnBrk="0" fontAlgn="base" hangingPunct="0">
              <a:lnSpc>
                <a:spcPct val="100000"/>
              </a:lnSpc>
              <a:spcBef>
                <a:spcPct val="0"/>
              </a:spcBef>
              <a:spcAft>
                <a:spcPct val="0"/>
              </a:spcAft>
              <a:buNone/>
            </a:pPr>
            <a:r>
              <a:rPr lang="en-US" altLang="en-US" sz="3000" dirty="0">
                <a:solidFill>
                  <a:srgbClr val="B2B2B2"/>
                </a:solidFill>
                <a:latin typeface="Consolas" panose="020B0609020204030204" pitchFamily="49" charset="0"/>
              </a:rPr>
              <a:t>2 </a:t>
            </a:r>
            <a:r>
              <a:rPr lang="en-US" altLang="en-US" sz="3000" dirty="0">
                <a:solidFill>
                  <a:srgbClr val="000000"/>
                </a:solidFill>
                <a:latin typeface="Consolas" panose="020B0609020204030204" pitchFamily="49" charset="0"/>
              </a:rPr>
              <a:t>  </a:t>
            </a:r>
            <a:r>
              <a:rPr lang="en-US" altLang="en-US" sz="3000" dirty="0" err="1">
                <a:solidFill>
                  <a:srgbClr val="000000"/>
                </a:solidFill>
                <a:latin typeface="Consolas" panose="020B0609020204030204" pitchFamily="49" charset="0"/>
              </a:rPr>
              <a:t>supplierID</a:t>
            </a:r>
            <a:r>
              <a:rPr lang="en-US" altLang="en-US" sz="3000" dirty="0">
                <a:solidFill>
                  <a:srgbClr val="000000"/>
                </a:solidFill>
                <a:latin typeface="Consolas" panose="020B0609020204030204" pitchFamily="49" charset="0"/>
              </a:rPr>
              <a:t> </a:t>
            </a:r>
            <a:r>
              <a:rPr lang="en-US" altLang="en-US" sz="3000" dirty="0">
                <a:solidFill>
                  <a:srgbClr val="0086B3"/>
                </a:solidFill>
                <a:latin typeface="Consolas" panose="020B0609020204030204" pitchFamily="49" charset="0"/>
              </a:rPr>
              <a:t>INT</a:t>
            </a:r>
            <a:r>
              <a:rPr lang="en-US" altLang="en-US" sz="3000" dirty="0">
                <a:solidFill>
                  <a:srgbClr val="000000"/>
                </a:solidFill>
                <a:latin typeface="Consolas" panose="020B0609020204030204" pitchFamily="49" charset="0"/>
              </a:rPr>
              <a:t> </a:t>
            </a:r>
            <a:r>
              <a:rPr lang="en-US" altLang="en-US" sz="3000" dirty="0">
                <a:solidFill>
                  <a:srgbClr val="A71D5D"/>
                </a:solidFill>
                <a:latin typeface="Consolas" panose="020B0609020204030204" pitchFamily="49" charset="0"/>
              </a:rPr>
              <a:t>NOT NULL</a:t>
            </a:r>
            <a:endParaRPr lang="en-US" altLang="en-US" sz="30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3000" dirty="0">
                <a:solidFill>
                  <a:srgbClr val="B2B2B2"/>
                </a:solidFill>
                <a:latin typeface="Consolas" panose="020B0609020204030204" pitchFamily="49" charset="0"/>
              </a:rPr>
              <a:t>3 </a:t>
            </a:r>
            <a:r>
              <a:rPr lang="en-US" altLang="en-US" sz="3000" dirty="0">
                <a:solidFill>
                  <a:srgbClr val="000000"/>
                </a:solidFill>
                <a:latin typeface="Consolas" panose="020B0609020204030204" pitchFamily="49" charset="0"/>
              </a:rPr>
              <a:t>  name </a:t>
            </a:r>
            <a:r>
              <a:rPr lang="en-US" altLang="en-US" sz="3000" dirty="0">
                <a:solidFill>
                  <a:srgbClr val="0086B3"/>
                </a:solidFill>
                <a:latin typeface="Consolas" panose="020B0609020204030204" pitchFamily="49" charset="0"/>
              </a:rPr>
              <a:t>VARCHAR</a:t>
            </a:r>
            <a:r>
              <a:rPr lang="en-US" altLang="en-US" sz="3000" dirty="0">
                <a:solidFill>
                  <a:srgbClr val="000000"/>
                </a:solidFill>
                <a:latin typeface="Consolas" panose="020B0609020204030204" pitchFamily="49" charset="0"/>
              </a:rPr>
              <a:t>(</a:t>
            </a:r>
            <a:r>
              <a:rPr lang="en-US" altLang="en-US" sz="3000" dirty="0">
                <a:solidFill>
                  <a:srgbClr val="0086B3"/>
                </a:solidFill>
                <a:latin typeface="Consolas" panose="020B0609020204030204" pitchFamily="49" charset="0"/>
              </a:rPr>
              <a:t>30</a:t>
            </a:r>
            <a:r>
              <a:rPr lang="en-US" altLang="en-US" sz="3000" dirty="0">
                <a:solidFill>
                  <a:srgbClr val="000000"/>
                </a:solidFill>
                <a:latin typeface="Consolas" panose="020B0609020204030204" pitchFamily="49" charset="0"/>
              </a:rPr>
              <a:t>) </a:t>
            </a:r>
            <a:r>
              <a:rPr lang="en-US" altLang="en-US" sz="3000" dirty="0">
                <a:solidFill>
                  <a:srgbClr val="A71D5D"/>
                </a:solidFill>
                <a:latin typeface="Consolas" panose="020B0609020204030204" pitchFamily="49" charset="0"/>
              </a:rPr>
              <a:t>NOT NULL</a:t>
            </a:r>
            <a:r>
              <a:rPr lang="en-US" altLang="en-US" sz="30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000" dirty="0">
                <a:solidFill>
                  <a:srgbClr val="B2B2B2"/>
                </a:solidFill>
                <a:latin typeface="Consolas" panose="020B0609020204030204" pitchFamily="49" charset="0"/>
              </a:rPr>
              <a:t>4 </a:t>
            </a:r>
            <a:r>
              <a:rPr lang="en-US" altLang="en-US" sz="3000" dirty="0">
                <a:solidFill>
                  <a:srgbClr val="000000"/>
                </a:solidFill>
                <a:latin typeface="Consolas" panose="020B0609020204030204" pitchFamily="49" charset="0"/>
              </a:rPr>
              <a:t>  address </a:t>
            </a:r>
            <a:r>
              <a:rPr lang="en-US" altLang="en-US" sz="3000" dirty="0">
                <a:solidFill>
                  <a:srgbClr val="0086B3"/>
                </a:solidFill>
                <a:latin typeface="Consolas" panose="020B0609020204030204" pitchFamily="49" charset="0"/>
              </a:rPr>
              <a:t>VARCHAR</a:t>
            </a:r>
            <a:r>
              <a:rPr lang="en-US" altLang="en-US" sz="3000" dirty="0">
                <a:solidFill>
                  <a:srgbClr val="000000"/>
                </a:solidFill>
                <a:latin typeface="Consolas" panose="020B0609020204030204" pitchFamily="49" charset="0"/>
              </a:rPr>
              <a:t>(</a:t>
            </a:r>
            <a:r>
              <a:rPr lang="en-US" altLang="en-US" sz="3000" dirty="0">
                <a:solidFill>
                  <a:srgbClr val="0086B3"/>
                </a:solidFill>
                <a:latin typeface="Consolas" panose="020B0609020204030204" pitchFamily="49" charset="0"/>
              </a:rPr>
              <a:t>50</a:t>
            </a:r>
            <a:r>
              <a:rPr lang="en-US" altLang="en-US" sz="3000" dirty="0">
                <a:solidFill>
                  <a:srgbClr val="000000"/>
                </a:solidFill>
                <a:latin typeface="Consolas" panose="020B0609020204030204" pitchFamily="49" charset="0"/>
              </a:rPr>
              <a:t>) </a:t>
            </a:r>
            <a:r>
              <a:rPr lang="en-US" altLang="en-US" sz="3000" dirty="0">
                <a:solidFill>
                  <a:srgbClr val="A71D5D"/>
                </a:solidFill>
                <a:latin typeface="Consolas" panose="020B0609020204030204" pitchFamily="49" charset="0"/>
              </a:rPr>
              <a:t>NOT NULL</a:t>
            </a:r>
            <a:r>
              <a:rPr lang="en-US" altLang="en-US" sz="30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000" dirty="0">
                <a:solidFill>
                  <a:srgbClr val="B2B2B2"/>
                </a:solidFill>
                <a:latin typeface="Consolas" panose="020B0609020204030204" pitchFamily="49" charset="0"/>
              </a:rPr>
              <a:t>5 </a:t>
            </a:r>
            <a:r>
              <a:rPr lang="en-US" altLang="en-US" sz="3000" dirty="0">
                <a:solidFill>
                  <a:srgbClr val="000000"/>
                </a:solidFill>
                <a:latin typeface="Consolas" panose="020B0609020204030204" pitchFamily="49" charset="0"/>
              </a:rPr>
              <a:t>  phone </a:t>
            </a:r>
            <a:r>
              <a:rPr lang="en-US" altLang="en-US" sz="3000" dirty="0">
                <a:solidFill>
                  <a:srgbClr val="0086B3"/>
                </a:solidFill>
                <a:latin typeface="Consolas" panose="020B0609020204030204" pitchFamily="49" charset="0"/>
              </a:rPr>
              <a:t>VARCHAR</a:t>
            </a:r>
            <a:r>
              <a:rPr lang="en-US" altLang="en-US" sz="3000" dirty="0">
                <a:solidFill>
                  <a:srgbClr val="000000"/>
                </a:solidFill>
                <a:latin typeface="Consolas" panose="020B0609020204030204" pitchFamily="49" charset="0"/>
              </a:rPr>
              <a:t>(</a:t>
            </a:r>
            <a:r>
              <a:rPr lang="en-US" altLang="en-US" sz="3000" dirty="0">
                <a:solidFill>
                  <a:srgbClr val="0086B3"/>
                </a:solidFill>
                <a:latin typeface="Consolas" panose="020B0609020204030204" pitchFamily="49" charset="0"/>
              </a:rPr>
              <a:t>12</a:t>
            </a:r>
            <a:r>
              <a:rPr lang="en-US" altLang="en-US" sz="3000" dirty="0">
                <a:solidFill>
                  <a:srgbClr val="000000"/>
                </a:solidFill>
                <a:latin typeface="Consolas" panose="020B0609020204030204" pitchFamily="49" charset="0"/>
              </a:rPr>
              <a:t>) </a:t>
            </a:r>
            <a:r>
              <a:rPr lang="en-US" altLang="en-US" sz="3000" dirty="0">
                <a:solidFill>
                  <a:srgbClr val="A71D5D"/>
                </a:solidFill>
                <a:latin typeface="Consolas" panose="020B0609020204030204" pitchFamily="49" charset="0"/>
              </a:rPr>
              <a:t>CHECK</a:t>
            </a:r>
            <a:r>
              <a:rPr lang="en-US" altLang="en-US" sz="3000" dirty="0">
                <a:solidFill>
                  <a:srgbClr val="000000"/>
                </a:solidFill>
                <a:latin typeface="Consolas" panose="020B0609020204030204" pitchFamily="49" charset="0"/>
              </a:rPr>
              <a:t>(</a:t>
            </a:r>
            <a:r>
              <a:rPr lang="en-US" altLang="en-US" sz="3000" dirty="0">
                <a:solidFill>
                  <a:srgbClr val="A71D5D"/>
                </a:solidFill>
                <a:latin typeface="Consolas" panose="020B0609020204030204" pitchFamily="49" charset="0"/>
              </a:rPr>
              <a:t>LENGTH</a:t>
            </a:r>
            <a:r>
              <a:rPr lang="en-US" altLang="en-US" sz="3000" dirty="0">
                <a:solidFill>
                  <a:srgbClr val="000000"/>
                </a:solidFill>
                <a:latin typeface="Consolas" panose="020B0609020204030204" pitchFamily="49" charset="0"/>
              </a:rPr>
              <a:t>(phone) &gt;= </a:t>
            </a:r>
            <a:r>
              <a:rPr lang="en-US" altLang="en-US" sz="3000" dirty="0">
                <a:solidFill>
                  <a:srgbClr val="0086B3"/>
                </a:solidFill>
                <a:latin typeface="Consolas" panose="020B0609020204030204" pitchFamily="49" charset="0"/>
              </a:rPr>
              <a:t>11</a:t>
            </a:r>
            <a:r>
              <a:rPr lang="en-US" altLang="en-US" sz="30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000" dirty="0">
                <a:solidFill>
                  <a:srgbClr val="B2B2B2"/>
                </a:solidFill>
                <a:latin typeface="Consolas" panose="020B0609020204030204" pitchFamily="49" charset="0"/>
              </a:rPr>
              <a:t>6 </a:t>
            </a:r>
            <a:r>
              <a:rPr lang="en-US" altLang="en-US" sz="3000" dirty="0">
                <a:solidFill>
                  <a:srgbClr val="000000"/>
                </a:solidFill>
                <a:latin typeface="Consolas" panose="020B0609020204030204" pitchFamily="49" charset="0"/>
              </a:rPr>
              <a:t>  email </a:t>
            </a:r>
            <a:r>
              <a:rPr lang="en-US" altLang="en-US" sz="3000" dirty="0">
                <a:solidFill>
                  <a:srgbClr val="0086B3"/>
                </a:solidFill>
                <a:latin typeface="Consolas" panose="020B0609020204030204" pitchFamily="49" charset="0"/>
              </a:rPr>
              <a:t>VARCHAR</a:t>
            </a:r>
            <a:r>
              <a:rPr lang="en-US" altLang="en-US" sz="3000" dirty="0">
                <a:solidFill>
                  <a:srgbClr val="000000"/>
                </a:solidFill>
                <a:latin typeface="Consolas" panose="020B0609020204030204" pitchFamily="49" charset="0"/>
              </a:rPr>
              <a:t>(</a:t>
            </a:r>
            <a:r>
              <a:rPr lang="en-US" altLang="en-US" sz="3000" dirty="0">
                <a:solidFill>
                  <a:srgbClr val="0086B3"/>
                </a:solidFill>
                <a:latin typeface="Consolas" panose="020B0609020204030204" pitchFamily="49" charset="0"/>
              </a:rPr>
              <a:t>30</a:t>
            </a:r>
            <a:r>
              <a:rPr lang="en-US" altLang="en-US" sz="3000" dirty="0">
                <a:solidFill>
                  <a:srgbClr val="000000"/>
                </a:solidFill>
                <a:latin typeface="Consolas" panose="020B0609020204030204" pitchFamily="49" charset="0"/>
              </a:rPr>
              <a:t>) </a:t>
            </a:r>
            <a:r>
              <a:rPr lang="en-US" altLang="en-US" sz="3000" dirty="0">
                <a:solidFill>
                  <a:srgbClr val="A71D5D"/>
                </a:solidFill>
                <a:latin typeface="Consolas" panose="020B0609020204030204" pitchFamily="49" charset="0"/>
              </a:rPr>
              <a:t>NOT NULL</a:t>
            </a:r>
            <a:r>
              <a:rPr lang="en-US" altLang="en-US" sz="30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000" dirty="0">
                <a:solidFill>
                  <a:srgbClr val="B2B2B2"/>
                </a:solidFill>
                <a:latin typeface="Consolas" panose="020B0609020204030204" pitchFamily="49" charset="0"/>
              </a:rPr>
              <a:t>7 </a:t>
            </a:r>
            <a:r>
              <a:rPr lang="en-US" altLang="en-US" sz="3000" dirty="0">
                <a:solidFill>
                  <a:srgbClr val="000000"/>
                </a:solidFill>
                <a:latin typeface="Consolas" panose="020B0609020204030204" pitchFamily="49" charset="0"/>
              </a:rPr>
              <a:t>  active BOOL,</a:t>
            </a:r>
          </a:p>
          <a:p>
            <a:pPr marL="0" lvl="0" indent="0" eaLnBrk="0" fontAlgn="base" hangingPunct="0">
              <a:lnSpc>
                <a:spcPct val="100000"/>
              </a:lnSpc>
              <a:spcBef>
                <a:spcPct val="0"/>
              </a:spcBef>
              <a:spcAft>
                <a:spcPct val="0"/>
              </a:spcAft>
              <a:buNone/>
            </a:pPr>
            <a:r>
              <a:rPr lang="en-US" altLang="en-US" sz="3000" dirty="0">
                <a:solidFill>
                  <a:srgbClr val="B2B2B2"/>
                </a:solidFill>
                <a:latin typeface="Consolas" panose="020B0609020204030204" pitchFamily="49" charset="0"/>
              </a:rPr>
              <a:t>8 </a:t>
            </a:r>
            <a:r>
              <a:rPr lang="en-US" altLang="en-US" sz="3000" dirty="0">
                <a:solidFill>
                  <a:srgbClr val="000000"/>
                </a:solidFill>
                <a:latin typeface="Consolas" panose="020B0609020204030204" pitchFamily="49" charset="0"/>
              </a:rPr>
              <a:t>  </a:t>
            </a:r>
            <a:r>
              <a:rPr lang="en-US" altLang="en-US" sz="3000" dirty="0">
                <a:solidFill>
                  <a:srgbClr val="A71D5D"/>
                </a:solidFill>
                <a:latin typeface="Consolas" panose="020B0609020204030204" pitchFamily="49" charset="0"/>
              </a:rPr>
              <a:t>PRIMARY KEY</a:t>
            </a:r>
            <a:r>
              <a:rPr lang="en-US" altLang="en-US" sz="3000" dirty="0">
                <a:solidFill>
                  <a:srgbClr val="000000"/>
                </a:solidFill>
                <a:latin typeface="Consolas" panose="020B0609020204030204" pitchFamily="49" charset="0"/>
              </a:rPr>
              <a:t> (</a:t>
            </a:r>
            <a:r>
              <a:rPr lang="en-US" altLang="en-US" sz="3000" dirty="0" err="1">
                <a:solidFill>
                  <a:srgbClr val="000000"/>
                </a:solidFill>
                <a:latin typeface="Consolas" panose="020B0609020204030204" pitchFamily="49" charset="0"/>
              </a:rPr>
              <a:t>supplierID</a:t>
            </a:r>
            <a:r>
              <a:rPr lang="en-US" altLang="en-US" sz="30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000" dirty="0">
                <a:solidFill>
                  <a:srgbClr val="B2B2B2"/>
                </a:solidFill>
                <a:latin typeface="Consolas" panose="020B0609020204030204" pitchFamily="49" charset="0"/>
              </a:rPr>
              <a:t>9 </a:t>
            </a:r>
            <a:r>
              <a:rPr lang="en-US" altLang="en-US" sz="3000" dirty="0">
                <a:solidFill>
                  <a:srgbClr val="000000"/>
                </a:solidFill>
                <a:latin typeface="Consolas" panose="020B0609020204030204" pitchFamily="49" charset="0"/>
              </a:rPr>
              <a:t>);</a:t>
            </a:r>
            <a:br>
              <a:rPr lang="en-US" altLang="en-US" sz="3000" dirty="0">
                <a:solidFill>
                  <a:srgbClr val="000000"/>
                </a:solidFill>
                <a:latin typeface="Consolas" panose="020B0609020204030204" pitchFamily="49" charset="0"/>
              </a:rPr>
            </a:br>
            <a:endParaRPr lang="en-US" altLang="en-US" sz="3000" dirty="0">
              <a:latin typeface="Arial" panose="020B0604020202020204" pitchFamily="34" charset="0"/>
            </a:endParaRPr>
          </a:p>
        </p:txBody>
      </p:sp>
    </p:spTree>
    <p:extLst>
      <p:ext uri="{BB962C8B-B14F-4D97-AF65-F5344CB8AC3E}">
        <p14:creationId xmlns:p14="http://schemas.microsoft.com/office/powerpoint/2010/main" val="254326037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20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20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20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3">
                                            <p:txEl>
                                              <p:pRg st="3" end="3"/>
                                            </p:txEl>
                                          </p:spTgt>
                                        </p:tgtEl>
                                        <p:attrNameLst>
                                          <p:attrName>style.visibility</p:attrName>
                                        </p:attrNameLst>
                                      </p:cBhvr>
                                      <p:to>
                                        <p:strVal val="visible"/>
                                      </p:to>
                                    </p:set>
                                    <p:animEffect transition="in" filter="wipe(left)">
                                      <p:cBhvr>
                                        <p:cTn id="22" dur="2000"/>
                                        <p:tgtEl>
                                          <p:spTgt spid="3">
                                            <p:txEl>
                                              <p:pRg st="3" end="3"/>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3">
                                            <p:txEl>
                                              <p:pRg st="4" end="4"/>
                                            </p:txEl>
                                          </p:spTgt>
                                        </p:tgtEl>
                                        <p:attrNameLst>
                                          <p:attrName>style.visibility</p:attrName>
                                        </p:attrNameLst>
                                      </p:cBhvr>
                                      <p:to>
                                        <p:strVal val="visible"/>
                                      </p:to>
                                    </p:set>
                                    <p:animEffect transition="in" filter="wipe(left)">
                                      <p:cBhvr>
                                        <p:cTn id="27" dur="2000"/>
                                        <p:tgtEl>
                                          <p:spTgt spid="3">
                                            <p:txEl>
                                              <p:pRg st="4" end="4"/>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3">
                                            <p:txEl>
                                              <p:pRg st="5" end="5"/>
                                            </p:txEl>
                                          </p:spTgt>
                                        </p:tgtEl>
                                        <p:attrNameLst>
                                          <p:attrName>style.visibility</p:attrName>
                                        </p:attrNameLst>
                                      </p:cBhvr>
                                      <p:to>
                                        <p:strVal val="visible"/>
                                      </p:to>
                                    </p:set>
                                    <p:animEffect transition="in" filter="wipe(left)">
                                      <p:cBhvr>
                                        <p:cTn id="32" dur="2000"/>
                                        <p:tgtEl>
                                          <p:spTgt spid="3">
                                            <p:txEl>
                                              <p:pRg st="5" end="5"/>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3">
                                            <p:txEl>
                                              <p:pRg st="6" end="6"/>
                                            </p:txEl>
                                          </p:spTgt>
                                        </p:tgtEl>
                                        <p:attrNameLst>
                                          <p:attrName>style.visibility</p:attrName>
                                        </p:attrNameLst>
                                      </p:cBhvr>
                                      <p:to>
                                        <p:strVal val="visible"/>
                                      </p:to>
                                    </p:set>
                                    <p:animEffect transition="in" filter="wipe(left)">
                                      <p:cBhvr>
                                        <p:cTn id="37" dur="2000"/>
                                        <p:tgtEl>
                                          <p:spTgt spid="3">
                                            <p:txEl>
                                              <p:pRg st="6" end="6"/>
                                            </p:txEl>
                                          </p:spTgt>
                                        </p:tgtEl>
                                      </p:cBhvr>
                                    </p:animEffect>
                                  </p:childTnLst>
                                </p:cTn>
                              </p:par>
                            </p:childTnLst>
                          </p:cTn>
                        </p:par>
                      </p:childTnLst>
                    </p:cTn>
                  </p:par>
                  <p:par>
                    <p:cTn id="38" fill="hold">
                      <p:stCondLst>
                        <p:cond delay="indefinite"/>
                      </p:stCondLst>
                      <p:childTnLst>
                        <p:par>
                          <p:cTn id="39" fill="hold">
                            <p:stCondLst>
                              <p:cond delay="0"/>
                            </p:stCondLst>
                            <p:childTnLst>
                              <p:par>
                                <p:cTn id="40" presetID="22" presetClass="entr" presetSubtype="8" fill="hold" grpId="0" nodeType="clickEffect">
                                  <p:stCondLst>
                                    <p:cond delay="0"/>
                                  </p:stCondLst>
                                  <p:childTnLst>
                                    <p:set>
                                      <p:cBhvr>
                                        <p:cTn id="41" dur="1" fill="hold">
                                          <p:stCondLst>
                                            <p:cond delay="0"/>
                                          </p:stCondLst>
                                        </p:cTn>
                                        <p:tgtEl>
                                          <p:spTgt spid="3">
                                            <p:txEl>
                                              <p:pRg st="7" end="7"/>
                                            </p:txEl>
                                          </p:spTgt>
                                        </p:tgtEl>
                                        <p:attrNameLst>
                                          <p:attrName>style.visibility</p:attrName>
                                        </p:attrNameLst>
                                      </p:cBhvr>
                                      <p:to>
                                        <p:strVal val="visible"/>
                                      </p:to>
                                    </p:set>
                                    <p:animEffect transition="in" filter="wipe(left)">
                                      <p:cBhvr>
                                        <p:cTn id="42" dur="2000"/>
                                        <p:tgtEl>
                                          <p:spTgt spid="3">
                                            <p:txEl>
                                              <p:pRg st="7" end="7"/>
                                            </p:txEl>
                                          </p:spTgt>
                                        </p:tgtEl>
                                      </p:cBhvr>
                                    </p:animEffect>
                                  </p:childTnLst>
                                </p:cTn>
                              </p:par>
                            </p:childTnLst>
                          </p:cTn>
                        </p:par>
                      </p:childTnLst>
                    </p:cTn>
                  </p:par>
                  <p:par>
                    <p:cTn id="43" fill="hold">
                      <p:stCondLst>
                        <p:cond delay="indefinite"/>
                      </p:stCondLst>
                      <p:childTnLst>
                        <p:par>
                          <p:cTn id="44" fill="hold">
                            <p:stCondLst>
                              <p:cond delay="0"/>
                            </p:stCondLst>
                            <p:childTnLst>
                              <p:par>
                                <p:cTn id="45" presetID="22" presetClass="entr" presetSubtype="8" fill="hold" grpId="0" nodeType="clickEffect">
                                  <p:stCondLst>
                                    <p:cond delay="0"/>
                                  </p:stCondLst>
                                  <p:childTnLst>
                                    <p:set>
                                      <p:cBhvr>
                                        <p:cTn id="46" dur="1" fill="hold">
                                          <p:stCondLst>
                                            <p:cond delay="0"/>
                                          </p:stCondLst>
                                        </p:cTn>
                                        <p:tgtEl>
                                          <p:spTgt spid="3">
                                            <p:txEl>
                                              <p:pRg st="8" end="8"/>
                                            </p:txEl>
                                          </p:spTgt>
                                        </p:tgtEl>
                                        <p:attrNameLst>
                                          <p:attrName>style.visibility</p:attrName>
                                        </p:attrNameLst>
                                      </p:cBhvr>
                                      <p:to>
                                        <p:strVal val="visible"/>
                                      </p:to>
                                    </p:set>
                                    <p:animEffect transition="in" filter="wipe(left)">
                                      <p:cBhvr>
                                        <p:cTn id="47" dur="2000"/>
                                        <p:tgtEl>
                                          <p:spTgt spid="3">
                                            <p:txEl>
                                              <p:pRg st="8" end="8"/>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CREATE TABLE – Task 2</a:t>
            </a:r>
          </a:p>
        </p:txBody>
      </p:sp>
      <p:graphicFrame>
        <p:nvGraphicFramePr>
          <p:cNvPr id="5" name="Table 5">
            <a:extLst>
              <a:ext uri="{FF2B5EF4-FFF2-40B4-BE49-F238E27FC236}">
                <a16:creationId xmlns:a16="http://schemas.microsoft.com/office/drawing/2014/main" id="{38A8414E-6490-4AD8-90BD-DF0216F61C69}"/>
              </a:ext>
            </a:extLst>
          </p:cNvPr>
          <p:cNvGraphicFramePr>
            <a:graphicFrameLocks noGrp="1"/>
          </p:cNvGraphicFramePr>
          <p:nvPr>
            <p:ph idx="1"/>
            <p:extLst>
              <p:ext uri="{D42A27DB-BD31-4B8C-83A1-F6EECF244321}">
                <p14:modId xmlns:p14="http://schemas.microsoft.com/office/powerpoint/2010/main" val="1915562325"/>
              </p:ext>
            </p:extLst>
          </p:nvPr>
        </p:nvGraphicFramePr>
        <p:xfrm>
          <a:off x="838200" y="2239693"/>
          <a:ext cx="10337800" cy="3474720"/>
        </p:xfrm>
        <a:graphic>
          <a:graphicData uri="http://schemas.openxmlformats.org/drawingml/2006/table">
            <a:tbl>
              <a:tblPr firstRow="1" bandRow="1">
                <a:tableStyleId>{5C22544A-7EE6-4342-B048-85BDC9FD1C3A}</a:tableStyleId>
              </a:tblPr>
              <a:tblGrid>
                <a:gridCol w="2056986">
                  <a:extLst>
                    <a:ext uri="{9D8B030D-6E8A-4147-A177-3AD203B41FA5}">
                      <a16:colId xmlns:a16="http://schemas.microsoft.com/office/drawing/2014/main" val="1632358923"/>
                    </a:ext>
                  </a:extLst>
                </a:gridCol>
                <a:gridCol w="829807">
                  <a:extLst>
                    <a:ext uri="{9D8B030D-6E8A-4147-A177-3AD203B41FA5}">
                      <a16:colId xmlns:a16="http://schemas.microsoft.com/office/drawing/2014/main" val="3505833113"/>
                    </a:ext>
                  </a:extLst>
                </a:gridCol>
                <a:gridCol w="1586230">
                  <a:extLst>
                    <a:ext uri="{9D8B030D-6E8A-4147-A177-3AD203B41FA5}">
                      <a16:colId xmlns:a16="http://schemas.microsoft.com/office/drawing/2014/main" val="2732100902"/>
                    </a:ext>
                  </a:extLst>
                </a:gridCol>
                <a:gridCol w="926211">
                  <a:extLst>
                    <a:ext uri="{9D8B030D-6E8A-4147-A177-3AD203B41FA5}">
                      <a16:colId xmlns:a16="http://schemas.microsoft.com/office/drawing/2014/main" val="315362434"/>
                    </a:ext>
                  </a:extLst>
                </a:gridCol>
                <a:gridCol w="1297304">
                  <a:extLst>
                    <a:ext uri="{9D8B030D-6E8A-4147-A177-3AD203B41FA5}">
                      <a16:colId xmlns:a16="http://schemas.microsoft.com/office/drawing/2014/main" val="2971574360"/>
                    </a:ext>
                  </a:extLst>
                </a:gridCol>
                <a:gridCol w="3641262">
                  <a:extLst>
                    <a:ext uri="{9D8B030D-6E8A-4147-A177-3AD203B41FA5}">
                      <a16:colId xmlns:a16="http://schemas.microsoft.com/office/drawing/2014/main" val="2515431282"/>
                    </a:ext>
                  </a:extLst>
                </a:gridCol>
              </a:tblGrid>
              <a:tr h="370840">
                <a:tc>
                  <a:txBody>
                    <a:bodyPr/>
                    <a:lstStyle/>
                    <a:p>
                      <a:pPr algn="ctr"/>
                      <a:r>
                        <a:rPr lang="en-GB" sz="3200" dirty="0"/>
                        <a:t>Attribute</a:t>
                      </a:r>
                    </a:p>
                  </a:txBody>
                  <a:tcPr/>
                </a:tc>
                <a:tc>
                  <a:txBody>
                    <a:bodyPr/>
                    <a:lstStyle/>
                    <a:p>
                      <a:pPr algn="ctr"/>
                      <a:r>
                        <a:rPr lang="en-GB" sz="3200" dirty="0"/>
                        <a:t>Key</a:t>
                      </a:r>
                    </a:p>
                  </a:txBody>
                  <a:tcPr/>
                </a:tc>
                <a:tc>
                  <a:txBody>
                    <a:bodyPr/>
                    <a:lstStyle/>
                    <a:p>
                      <a:pPr algn="ctr"/>
                      <a:r>
                        <a:rPr lang="en-GB" sz="3200" dirty="0"/>
                        <a:t>Type</a:t>
                      </a:r>
                    </a:p>
                  </a:txBody>
                  <a:tcPr/>
                </a:tc>
                <a:tc>
                  <a:txBody>
                    <a:bodyPr/>
                    <a:lstStyle/>
                    <a:p>
                      <a:pPr algn="ctr"/>
                      <a:r>
                        <a:rPr lang="en-GB" sz="3200" dirty="0"/>
                        <a:t>Size</a:t>
                      </a:r>
                    </a:p>
                  </a:txBody>
                  <a:tcPr/>
                </a:tc>
                <a:tc>
                  <a:txBody>
                    <a:bodyPr/>
                    <a:lstStyle/>
                    <a:p>
                      <a:pPr algn="ctr"/>
                      <a:r>
                        <a:rPr lang="en-GB" sz="3200" dirty="0" err="1"/>
                        <a:t>Req'd</a:t>
                      </a:r>
                      <a:endParaRPr lang="en-GB" sz="3200" dirty="0"/>
                    </a:p>
                  </a:txBody>
                  <a:tcPr/>
                </a:tc>
                <a:tc>
                  <a:txBody>
                    <a:bodyPr/>
                    <a:lstStyle/>
                    <a:p>
                      <a:pPr algn="ctr"/>
                      <a:r>
                        <a:rPr lang="en-GB" sz="3200" dirty="0"/>
                        <a:t>Validation</a:t>
                      </a:r>
                    </a:p>
                  </a:txBody>
                  <a:tcPr/>
                </a:tc>
                <a:extLst>
                  <a:ext uri="{0D108BD9-81ED-4DB2-BD59-A6C34878D82A}">
                    <a16:rowId xmlns:a16="http://schemas.microsoft.com/office/drawing/2014/main" val="3459615676"/>
                  </a:ext>
                </a:extLst>
              </a:tr>
              <a:tr h="370840">
                <a:tc>
                  <a:txBody>
                    <a:bodyPr/>
                    <a:lstStyle/>
                    <a:p>
                      <a:r>
                        <a:rPr lang="en-GB" sz="3200" dirty="0" err="1"/>
                        <a:t>stockNo</a:t>
                      </a:r>
                      <a:endParaRPr lang="en-GB" sz="3200" dirty="0"/>
                    </a:p>
                  </a:txBody>
                  <a:tcPr/>
                </a:tc>
                <a:tc>
                  <a:txBody>
                    <a:bodyPr/>
                    <a:lstStyle/>
                    <a:p>
                      <a:pPr algn="ctr"/>
                      <a:r>
                        <a:rPr lang="en-GB" sz="3200" dirty="0"/>
                        <a:t>PK</a:t>
                      </a:r>
                    </a:p>
                  </a:txBody>
                  <a:tcPr/>
                </a:tc>
                <a:tc>
                  <a:txBody>
                    <a:bodyPr/>
                    <a:lstStyle/>
                    <a:p>
                      <a:r>
                        <a:rPr lang="en-GB" sz="3200" dirty="0"/>
                        <a:t>number</a:t>
                      </a:r>
                    </a:p>
                  </a:txBody>
                  <a:tcPr/>
                </a:tc>
                <a:tc>
                  <a:txBody>
                    <a:bodyPr/>
                    <a:lstStyle/>
                    <a:p>
                      <a:pPr algn="ctr"/>
                      <a:endParaRPr lang="en-GB" sz="3200" dirty="0"/>
                    </a:p>
                  </a:txBody>
                  <a:tcPr/>
                </a:tc>
                <a:tc>
                  <a:txBody>
                    <a:bodyPr/>
                    <a:lstStyle/>
                    <a:p>
                      <a:pPr algn="ctr"/>
                      <a:r>
                        <a:rPr lang="en-GB" sz="3200" dirty="0"/>
                        <a:t>Y</a:t>
                      </a:r>
                    </a:p>
                  </a:txBody>
                  <a:tcPr/>
                </a:tc>
                <a:tc>
                  <a:txBody>
                    <a:bodyPr/>
                    <a:lstStyle/>
                    <a:p>
                      <a:endParaRPr lang="en-GB" sz="3200" dirty="0"/>
                    </a:p>
                  </a:txBody>
                  <a:tcPr/>
                </a:tc>
                <a:extLst>
                  <a:ext uri="{0D108BD9-81ED-4DB2-BD59-A6C34878D82A}">
                    <a16:rowId xmlns:a16="http://schemas.microsoft.com/office/drawing/2014/main" val="1127765656"/>
                  </a:ext>
                </a:extLst>
              </a:tr>
              <a:tr h="3708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3200" dirty="0" err="1"/>
                        <a:t>supplierID</a:t>
                      </a:r>
                      <a:endParaRPr lang="en-GB" sz="3200" dirty="0"/>
                    </a:p>
                  </a:txBody>
                  <a:tcPr/>
                </a:tc>
                <a:tc>
                  <a:txBody>
                    <a:bodyPr/>
                    <a:lstStyle/>
                    <a:p>
                      <a:pPr algn="ctr"/>
                      <a:r>
                        <a:rPr lang="en-GB" sz="3200" dirty="0"/>
                        <a:t>FK</a:t>
                      </a:r>
                    </a:p>
                  </a:txBody>
                  <a:tcPr/>
                </a:tc>
                <a:tc>
                  <a:txBody>
                    <a:bodyPr/>
                    <a:lstStyle/>
                    <a:p>
                      <a:r>
                        <a:rPr lang="en-GB" sz="3200" dirty="0"/>
                        <a:t>number</a:t>
                      </a:r>
                    </a:p>
                  </a:txBody>
                  <a:tcPr/>
                </a:tc>
                <a:tc>
                  <a:txBody>
                    <a:bodyPr/>
                    <a:lstStyle/>
                    <a:p>
                      <a:pPr algn="ctr"/>
                      <a:endParaRPr lang="en-GB" sz="3200" dirty="0"/>
                    </a:p>
                  </a:txBody>
                  <a:tcPr/>
                </a:tc>
                <a:tc>
                  <a:txBody>
                    <a:bodyPr/>
                    <a:lstStyle/>
                    <a:p>
                      <a:pPr algn="ctr"/>
                      <a:r>
                        <a:rPr lang="en-GB" sz="3200" dirty="0"/>
                        <a:t>Y</a:t>
                      </a:r>
                    </a:p>
                  </a:txBody>
                  <a:tcPr/>
                </a:tc>
                <a:tc>
                  <a:txBody>
                    <a:bodyPr/>
                    <a:lstStyle/>
                    <a:p>
                      <a:r>
                        <a:rPr lang="en-GB" sz="3200" dirty="0"/>
                        <a:t>Exists in supplier</a:t>
                      </a:r>
                    </a:p>
                  </a:txBody>
                  <a:tcPr/>
                </a:tc>
                <a:extLst>
                  <a:ext uri="{0D108BD9-81ED-4DB2-BD59-A6C34878D82A}">
                    <a16:rowId xmlns:a16="http://schemas.microsoft.com/office/drawing/2014/main" val="2924661129"/>
                  </a:ext>
                </a:extLst>
              </a:tr>
              <a:tr h="370840">
                <a:tc>
                  <a:txBody>
                    <a:bodyPr/>
                    <a:lstStyle/>
                    <a:p>
                      <a:r>
                        <a:rPr lang="en-GB" sz="3200" dirty="0"/>
                        <a:t>name</a:t>
                      </a:r>
                    </a:p>
                  </a:txBody>
                  <a:tcPr/>
                </a:tc>
                <a:tc>
                  <a:txBody>
                    <a:bodyPr/>
                    <a:lstStyle/>
                    <a:p>
                      <a:pPr algn="ctr"/>
                      <a:endParaRPr lang="en-GB" sz="3200" dirty="0"/>
                    </a:p>
                  </a:txBody>
                  <a:tcPr/>
                </a:tc>
                <a:tc>
                  <a:txBody>
                    <a:bodyPr/>
                    <a:lstStyle/>
                    <a:p>
                      <a:r>
                        <a:rPr lang="en-GB" sz="3200" dirty="0"/>
                        <a:t>text</a:t>
                      </a:r>
                    </a:p>
                  </a:txBody>
                  <a:tcPr/>
                </a:tc>
                <a:tc>
                  <a:txBody>
                    <a:bodyPr/>
                    <a:lstStyle/>
                    <a:p>
                      <a:pPr algn="ctr"/>
                      <a:r>
                        <a:rPr lang="en-GB" sz="3200" dirty="0"/>
                        <a:t>30</a:t>
                      </a:r>
                    </a:p>
                  </a:txBody>
                  <a:tcPr/>
                </a:tc>
                <a:tc>
                  <a:txBody>
                    <a:bodyPr/>
                    <a:lstStyle/>
                    <a:p>
                      <a:pPr algn="ctr"/>
                      <a:r>
                        <a:rPr lang="en-GB" sz="3200" dirty="0"/>
                        <a:t>Y</a:t>
                      </a:r>
                    </a:p>
                  </a:txBody>
                  <a:tcPr/>
                </a:tc>
                <a:tc>
                  <a:txBody>
                    <a:bodyPr/>
                    <a:lstStyle/>
                    <a:p>
                      <a:endParaRPr lang="en-GB" sz="3200" dirty="0"/>
                    </a:p>
                  </a:txBody>
                  <a:tcPr/>
                </a:tc>
                <a:extLst>
                  <a:ext uri="{0D108BD9-81ED-4DB2-BD59-A6C34878D82A}">
                    <a16:rowId xmlns:a16="http://schemas.microsoft.com/office/drawing/2014/main" val="3885493841"/>
                  </a:ext>
                </a:extLst>
              </a:tr>
              <a:tr h="370840">
                <a:tc>
                  <a:txBody>
                    <a:bodyPr/>
                    <a:lstStyle/>
                    <a:p>
                      <a:r>
                        <a:rPr lang="en-GB" sz="3200" dirty="0"/>
                        <a:t>price</a:t>
                      </a:r>
                    </a:p>
                  </a:txBody>
                  <a:tcPr/>
                </a:tc>
                <a:tc>
                  <a:txBody>
                    <a:bodyPr/>
                    <a:lstStyle/>
                    <a:p>
                      <a:pPr algn="ctr"/>
                      <a:endParaRPr lang="en-GB" sz="3200" dirty="0"/>
                    </a:p>
                  </a:txBody>
                  <a:tcPr/>
                </a:tc>
                <a:tc>
                  <a:txBody>
                    <a:bodyPr/>
                    <a:lstStyle/>
                    <a:p>
                      <a:r>
                        <a:rPr lang="en-GB" sz="3200" dirty="0"/>
                        <a:t>number</a:t>
                      </a:r>
                    </a:p>
                  </a:txBody>
                  <a:tcPr/>
                </a:tc>
                <a:tc>
                  <a:txBody>
                    <a:bodyPr/>
                    <a:lstStyle/>
                    <a:p>
                      <a:pPr algn="ctr"/>
                      <a:endParaRPr lang="en-GB" sz="3200" dirty="0"/>
                    </a:p>
                  </a:txBody>
                  <a:tcPr/>
                </a:tc>
                <a:tc>
                  <a:txBody>
                    <a:bodyPr/>
                    <a:lstStyle/>
                    <a:p>
                      <a:pPr algn="ctr"/>
                      <a:r>
                        <a:rPr lang="en-GB" sz="3200" dirty="0"/>
                        <a:t>Y</a:t>
                      </a:r>
                    </a:p>
                  </a:txBody>
                  <a:tcPr/>
                </a:tc>
                <a:tc>
                  <a:txBody>
                    <a:bodyPr/>
                    <a:lstStyle/>
                    <a:p>
                      <a:r>
                        <a:rPr lang="en-GB" sz="3200" dirty="0"/>
                        <a:t>range: &gt;= 0.01</a:t>
                      </a:r>
                    </a:p>
                  </a:txBody>
                  <a:tcPr/>
                </a:tc>
                <a:extLst>
                  <a:ext uri="{0D108BD9-81ED-4DB2-BD59-A6C34878D82A}">
                    <a16:rowId xmlns:a16="http://schemas.microsoft.com/office/drawing/2014/main" val="1487565366"/>
                  </a:ext>
                </a:extLst>
              </a:tr>
              <a:tr h="370840">
                <a:tc>
                  <a:txBody>
                    <a:bodyPr/>
                    <a:lstStyle/>
                    <a:p>
                      <a:r>
                        <a:rPr lang="en-GB" sz="3200" dirty="0"/>
                        <a:t>quantity</a:t>
                      </a:r>
                    </a:p>
                  </a:txBody>
                  <a:tcPr/>
                </a:tc>
                <a:tc>
                  <a:txBody>
                    <a:bodyPr/>
                    <a:lstStyle/>
                    <a:p>
                      <a:pPr algn="ctr"/>
                      <a:endParaRPr lang="en-GB" sz="3200" dirty="0"/>
                    </a:p>
                  </a:txBody>
                  <a:tcPr/>
                </a:tc>
                <a:tc>
                  <a:txBody>
                    <a:bodyPr/>
                    <a:lstStyle/>
                    <a:p>
                      <a:r>
                        <a:rPr lang="en-GB" sz="3200" dirty="0"/>
                        <a:t>number</a:t>
                      </a:r>
                    </a:p>
                  </a:txBody>
                  <a:tcPr/>
                </a:tc>
                <a:tc>
                  <a:txBody>
                    <a:bodyPr/>
                    <a:lstStyle/>
                    <a:p>
                      <a:pPr algn="ctr"/>
                      <a:endParaRPr lang="en-GB" sz="3200" dirty="0"/>
                    </a:p>
                  </a:txBody>
                  <a:tcPr/>
                </a:tc>
                <a:tc>
                  <a:txBody>
                    <a:bodyPr/>
                    <a:lstStyle/>
                    <a:p>
                      <a:pPr algn="ctr"/>
                      <a:r>
                        <a:rPr lang="en-GB" sz="3200" dirty="0"/>
                        <a:t>N</a:t>
                      </a:r>
                    </a:p>
                  </a:txBody>
                  <a:tcPr/>
                </a:tc>
                <a:tc>
                  <a:txBody>
                    <a:bodyPr/>
                    <a:lstStyle/>
                    <a:p>
                      <a:r>
                        <a:rPr lang="en-GB" sz="3200" dirty="0"/>
                        <a:t>range: &gt;= -1</a:t>
                      </a:r>
                    </a:p>
                  </a:txBody>
                  <a:tcPr/>
                </a:tc>
                <a:extLst>
                  <a:ext uri="{0D108BD9-81ED-4DB2-BD59-A6C34878D82A}">
                    <a16:rowId xmlns:a16="http://schemas.microsoft.com/office/drawing/2014/main" val="3947728551"/>
                  </a:ext>
                </a:extLst>
              </a:tr>
            </a:tbl>
          </a:graphicData>
        </a:graphic>
      </p:graphicFrame>
      <p:sp>
        <p:nvSpPr>
          <p:cNvPr id="3" name="TextBox 2">
            <a:extLst>
              <a:ext uri="{FF2B5EF4-FFF2-40B4-BE49-F238E27FC236}">
                <a16:creationId xmlns:a16="http://schemas.microsoft.com/office/drawing/2014/main" id="{2870215D-9F81-A8EC-08CB-B997553DFED6}"/>
              </a:ext>
            </a:extLst>
          </p:cNvPr>
          <p:cNvSpPr txBox="1"/>
          <p:nvPr/>
        </p:nvSpPr>
        <p:spPr>
          <a:xfrm>
            <a:off x="838200" y="1592921"/>
            <a:ext cx="2507866" cy="646331"/>
          </a:xfrm>
          <a:prstGeom prst="rect">
            <a:avLst/>
          </a:prstGeom>
          <a:noFill/>
        </p:spPr>
        <p:txBody>
          <a:bodyPr wrap="none" rtlCol="0">
            <a:spAutoFit/>
          </a:bodyPr>
          <a:lstStyle/>
          <a:p>
            <a:r>
              <a:rPr lang="en-GB" sz="3600" b="1" dirty="0"/>
              <a:t>Entity</a:t>
            </a:r>
            <a:r>
              <a:rPr lang="en-GB" sz="3600" dirty="0"/>
              <a:t>: stock</a:t>
            </a:r>
          </a:p>
        </p:txBody>
      </p:sp>
    </p:spTree>
    <p:extLst>
      <p:ext uri="{BB962C8B-B14F-4D97-AF65-F5344CB8AC3E}">
        <p14:creationId xmlns:p14="http://schemas.microsoft.com/office/powerpoint/2010/main" val="309078152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wipe(left)">
                                      <p:cBhvr>
                                        <p:cTn id="7" dur="1000"/>
                                        <p:tgtEl>
                                          <p:spTgt spid="3"/>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1" fill="hold" nodeType="clickEffect">
                                  <p:stCondLst>
                                    <p:cond delay="0"/>
                                  </p:stCondLst>
                                  <p:childTnLst>
                                    <p:set>
                                      <p:cBhvr>
                                        <p:cTn id="11" dur="1" fill="hold">
                                          <p:stCondLst>
                                            <p:cond delay="0"/>
                                          </p:stCondLst>
                                        </p:cTn>
                                        <p:tgtEl>
                                          <p:spTgt spid="5"/>
                                        </p:tgtEl>
                                        <p:attrNameLst>
                                          <p:attrName>style.visibility</p:attrName>
                                        </p:attrNameLst>
                                      </p:cBhvr>
                                      <p:to>
                                        <p:strVal val="visible"/>
                                      </p:to>
                                    </p:set>
                                    <p:animEffect transition="in" filter="wipe(up)">
                                      <p:cBhvr>
                                        <p:cTn id="12" dur="25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p:bldLst>
  </p:timing>
</p:sld>
</file>

<file path=ppt/slides/slide1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CREATE TABLE – Task 2 - Solution</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a:xfrm>
            <a:off x="838200" y="1825625"/>
            <a:ext cx="10515600" cy="4667250"/>
          </a:xfrm>
        </p:spPr>
        <p:txBody>
          <a:bodyPr>
            <a:noAutofit/>
          </a:bodyPr>
          <a:lstStyle/>
          <a:p>
            <a:pPr marL="0" lvl="0" indent="0" eaLnBrk="0" fontAlgn="base" hangingPunct="0">
              <a:lnSpc>
                <a:spcPct val="100000"/>
              </a:lnSpc>
              <a:spcBef>
                <a:spcPct val="0"/>
              </a:spcBef>
              <a:spcAft>
                <a:spcPct val="0"/>
              </a:spcAft>
              <a:buNone/>
            </a:pPr>
            <a:r>
              <a:rPr lang="en-US" altLang="en-US" sz="3000" dirty="0">
                <a:solidFill>
                  <a:srgbClr val="B2B2B2"/>
                </a:solidFill>
                <a:latin typeface="Consolas" panose="020B0609020204030204" pitchFamily="49" charset="0"/>
              </a:rPr>
              <a:t> 1 </a:t>
            </a:r>
            <a:r>
              <a:rPr lang="en-US" altLang="en-US" sz="3000" dirty="0">
                <a:solidFill>
                  <a:srgbClr val="A71D5D"/>
                </a:solidFill>
                <a:latin typeface="Consolas" panose="020B0609020204030204" pitchFamily="49" charset="0"/>
              </a:rPr>
              <a:t>CREATE TABLE</a:t>
            </a:r>
            <a:r>
              <a:rPr lang="en-US" altLang="en-US" sz="3000" dirty="0">
                <a:solidFill>
                  <a:srgbClr val="000000"/>
                </a:solidFill>
                <a:latin typeface="Consolas" panose="020B0609020204030204" pitchFamily="49" charset="0"/>
              </a:rPr>
              <a:t> </a:t>
            </a:r>
            <a:r>
              <a:rPr lang="en-US" altLang="en-US" sz="3000" dirty="0">
                <a:solidFill>
                  <a:srgbClr val="0086B3"/>
                </a:solidFill>
                <a:latin typeface="Consolas" panose="020B0609020204030204" pitchFamily="49" charset="0"/>
              </a:rPr>
              <a:t>stock</a:t>
            </a:r>
            <a:r>
              <a:rPr lang="en-US" altLang="en-US" sz="3000" dirty="0">
                <a:solidFill>
                  <a:srgbClr val="000000"/>
                </a:solidFill>
                <a:latin typeface="Consolas" panose="020B0609020204030204" pitchFamily="49" charset="0"/>
              </a:rPr>
              <a:t> (</a:t>
            </a:r>
          </a:p>
          <a:p>
            <a:pPr marL="0" lvl="0" indent="0" eaLnBrk="0" fontAlgn="base" hangingPunct="0">
              <a:lnSpc>
                <a:spcPct val="100000"/>
              </a:lnSpc>
              <a:spcBef>
                <a:spcPct val="0"/>
              </a:spcBef>
              <a:spcAft>
                <a:spcPct val="0"/>
              </a:spcAft>
              <a:buNone/>
            </a:pPr>
            <a:r>
              <a:rPr lang="en-US" altLang="en-US" sz="3000" dirty="0">
                <a:solidFill>
                  <a:srgbClr val="B2B2B2"/>
                </a:solidFill>
                <a:latin typeface="Consolas" panose="020B0609020204030204" pitchFamily="49" charset="0"/>
              </a:rPr>
              <a:t> 2 </a:t>
            </a:r>
            <a:r>
              <a:rPr lang="en-US" altLang="en-US" sz="3000" dirty="0">
                <a:solidFill>
                  <a:srgbClr val="000000"/>
                </a:solidFill>
                <a:latin typeface="Consolas" panose="020B0609020204030204" pitchFamily="49" charset="0"/>
              </a:rPr>
              <a:t>  </a:t>
            </a:r>
            <a:r>
              <a:rPr lang="en-US" altLang="en-US" sz="3000" dirty="0" err="1">
                <a:solidFill>
                  <a:srgbClr val="000000"/>
                </a:solidFill>
                <a:latin typeface="Consolas" panose="020B0609020204030204" pitchFamily="49" charset="0"/>
              </a:rPr>
              <a:t>stockCode</a:t>
            </a:r>
            <a:r>
              <a:rPr lang="en-US" altLang="en-US" sz="3000" dirty="0">
                <a:solidFill>
                  <a:srgbClr val="000000"/>
                </a:solidFill>
                <a:latin typeface="Consolas" panose="020B0609020204030204" pitchFamily="49" charset="0"/>
              </a:rPr>
              <a:t> </a:t>
            </a:r>
            <a:r>
              <a:rPr lang="en-US" altLang="en-US" sz="3000" dirty="0">
                <a:solidFill>
                  <a:srgbClr val="0086B3"/>
                </a:solidFill>
                <a:latin typeface="Consolas" panose="020B0609020204030204" pitchFamily="49" charset="0"/>
              </a:rPr>
              <a:t>INT</a:t>
            </a:r>
            <a:r>
              <a:rPr lang="en-US" altLang="en-US" sz="3000" dirty="0">
                <a:solidFill>
                  <a:srgbClr val="000000"/>
                </a:solidFill>
                <a:latin typeface="Consolas" panose="020B0609020204030204" pitchFamily="49" charset="0"/>
              </a:rPr>
              <a:t> </a:t>
            </a:r>
            <a:r>
              <a:rPr lang="en-US" altLang="en-US" sz="3000" dirty="0">
                <a:solidFill>
                  <a:srgbClr val="A71D5D"/>
                </a:solidFill>
                <a:latin typeface="Consolas" panose="020B0609020204030204" pitchFamily="49" charset="0"/>
              </a:rPr>
              <a:t>NOT NULL</a:t>
            </a:r>
            <a:r>
              <a:rPr lang="en-US" altLang="en-US" sz="30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000" dirty="0">
                <a:solidFill>
                  <a:srgbClr val="B2B2B2"/>
                </a:solidFill>
                <a:latin typeface="Consolas" panose="020B0609020204030204" pitchFamily="49" charset="0"/>
              </a:rPr>
              <a:t> 3 </a:t>
            </a:r>
            <a:r>
              <a:rPr lang="en-US" altLang="en-US" sz="3000" dirty="0">
                <a:solidFill>
                  <a:srgbClr val="000000"/>
                </a:solidFill>
                <a:latin typeface="Consolas" panose="020B0609020204030204" pitchFamily="49" charset="0"/>
              </a:rPr>
              <a:t>  </a:t>
            </a:r>
            <a:r>
              <a:rPr lang="en-US" altLang="en-US" sz="3000" dirty="0" err="1">
                <a:solidFill>
                  <a:srgbClr val="000000"/>
                </a:solidFill>
                <a:latin typeface="Consolas" panose="020B0609020204030204" pitchFamily="49" charset="0"/>
              </a:rPr>
              <a:t>supplierID</a:t>
            </a:r>
            <a:r>
              <a:rPr lang="en-US" altLang="en-US" sz="3000" dirty="0">
                <a:solidFill>
                  <a:srgbClr val="000000"/>
                </a:solidFill>
                <a:latin typeface="Consolas" panose="020B0609020204030204" pitchFamily="49" charset="0"/>
              </a:rPr>
              <a:t> </a:t>
            </a:r>
            <a:r>
              <a:rPr lang="en-US" altLang="en-US" sz="3000" dirty="0">
                <a:solidFill>
                  <a:srgbClr val="0086B3"/>
                </a:solidFill>
                <a:latin typeface="Consolas" panose="020B0609020204030204" pitchFamily="49" charset="0"/>
              </a:rPr>
              <a:t>INT</a:t>
            </a:r>
            <a:r>
              <a:rPr lang="en-US" altLang="en-US" sz="3000" dirty="0">
                <a:solidFill>
                  <a:srgbClr val="000000"/>
                </a:solidFill>
                <a:latin typeface="Consolas" panose="020B0609020204030204" pitchFamily="49" charset="0"/>
              </a:rPr>
              <a:t> </a:t>
            </a:r>
            <a:r>
              <a:rPr lang="en-US" altLang="en-US" sz="3000" dirty="0">
                <a:solidFill>
                  <a:srgbClr val="A71D5D"/>
                </a:solidFill>
                <a:latin typeface="Consolas" panose="020B0609020204030204" pitchFamily="49" charset="0"/>
              </a:rPr>
              <a:t>NOT NULL</a:t>
            </a:r>
            <a:r>
              <a:rPr lang="en-US" altLang="en-US" sz="30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000" dirty="0">
                <a:solidFill>
                  <a:srgbClr val="B2B2B2"/>
                </a:solidFill>
                <a:latin typeface="Consolas" panose="020B0609020204030204" pitchFamily="49" charset="0"/>
              </a:rPr>
              <a:t> 4 </a:t>
            </a:r>
            <a:r>
              <a:rPr lang="en-US" altLang="en-US" sz="3000" dirty="0">
                <a:solidFill>
                  <a:srgbClr val="000000"/>
                </a:solidFill>
                <a:latin typeface="Consolas" panose="020B0609020204030204" pitchFamily="49" charset="0"/>
              </a:rPr>
              <a:t>  name </a:t>
            </a:r>
            <a:r>
              <a:rPr lang="en-US" altLang="en-US" sz="3000" dirty="0">
                <a:solidFill>
                  <a:srgbClr val="0086B3"/>
                </a:solidFill>
                <a:latin typeface="Consolas" panose="020B0609020204030204" pitchFamily="49" charset="0"/>
              </a:rPr>
              <a:t>VARCHAR</a:t>
            </a:r>
            <a:r>
              <a:rPr lang="en-US" altLang="en-US" sz="3000" dirty="0">
                <a:solidFill>
                  <a:srgbClr val="000000"/>
                </a:solidFill>
                <a:latin typeface="Consolas" panose="020B0609020204030204" pitchFamily="49" charset="0"/>
              </a:rPr>
              <a:t>(</a:t>
            </a:r>
            <a:r>
              <a:rPr lang="en-US" altLang="en-US" sz="3000" dirty="0">
                <a:solidFill>
                  <a:srgbClr val="0086B3"/>
                </a:solidFill>
                <a:latin typeface="Consolas" panose="020B0609020204030204" pitchFamily="49" charset="0"/>
              </a:rPr>
              <a:t>30</a:t>
            </a:r>
            <a:r>
              <a:rPr lang="en-US" altLang="en-US" sz="3000" dirty="0">
                <a:solidFill>
                  <a:srgbClr val="000000"/>
                </a:solidFill>
                <a:latin typeface="Consolas" panose="020B0609020204030204" pitchFamily="49" charset="0"/>
              </a:rPr>
              <a:t>) </a:t>
            </a:r>
            <a:r>
              <a:rPr lang="en-US" altLang="en-US" sz="3000" dirty="0">
                <a:solidFill>
                  <a:srgbClr val="A71D5D"/>
                </a:solidFill>
                <a:latin typeface="Consolas" panose="020B0609020204030204" pitchFamily="49" charset="0"/>
              </a:rPr>
              <a:t>NOT NULL</a:t>
            </a:r>
            <a:r>
              <a:rPr lang="en-US" altLang="en-US" sz="30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000" dirty="0">
                <a:solidFill>
                  <a:srgbClr val="B2B2B2"/>
                </a:solidFill>
                <a:latin typeface="Consolas" panose="020B0609020204030204" pitchFamily="49" charset="0"/>
              </a:rPr>
              <a:t> 5 </a:t>
            </a:r>
            <a:r>
              <a:rPr lang="en-US" altLang="en-US" sz="3000" dirty="0">
                <a:solidFill>
                  <a:srgbClr val="000000"/>
                </a:solidFill>
                <a:latin typeface="Consolas" panose="020B0609020204030204" pitchFamily="49" charset="0"/>
              </a:rPr>
              <a:t>  price </a:t>
            </a:r>
            <a:r>
              <a:rPr lang="en-US" altLang="en-US" sz="3000" dirty="0">
                <a:solidFill>
                  <a:srgbClr val="0086B3"/>
                </a:solidFill>
                <a:latin typeface="Consolas" panose="020B0609020204030204" pitchFamily="49" charset="0"/>
              </a:rPr>
              <a:t>REAL</a:t>
            </a:r>
            <a:r>
              <a:rPr lang="en-US" altLang="en-US" sz="3000" dirty="0">
                <a:solidFill>
                  <a:srgbClr val="A71D5D"/>
                </a:solidFill>
                <a:latin typeface="Consolas" panose="020B0609020204030204" pitchFamily="49" charset="0"/>
              </a:rPr>
              <a:t> NOT NULL CHECK</a:t>
            </a:r>
            <a:r>
              <a:rPr lang="en-US" altLang="en-US" sz="3000" dirty="0">
                <a:solidFill>
                  <a:srgbClr val="000000"/>
                </a:solidFill>
                <a:latin typeface="Consolas" panose="020B0609020204030204" pitchFamily="49" charset="0"/>
              </a:rPr>
              <a:t>(price &gt;= </a:t>
            </a:r>
            <a:r>
              <a:rPr lang="en-US" altLang="en-US" sz="3000" dirty="0">
                <a:solidFill>
                  <a:srgbClr val="0086B3"/>
                </a:solidFill>
                <a:latin typeface="Consolas" panose="020B0609020204030204" pitchFamily="49" charset="0"/>
              </a:rPr>
              <a:t>0.01</a:t>
            </a:r>
            <a:r>
              <a:rPr lang="en-US" altLang="en-US" sz="30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000" dirty="0">
                <a:solidFill>
                  <a:srgbClr val="B2B2B2"/>
                </a:solidFill>
                <a:latin typeface="Consolas" panose="020B0609020204030204" pitchFamily="49" charset="0"/>
              </a:rPr>
              <a:t> 6 </a:t>
            </a:r>
            <a:r>
              <a:rPr lang="en-US" altLang="en-US" sz="3000" dirty="0">
                <a:solidFill>
                  <a:srgbClr val="000000"/>
                </a:solidFill>
                <a:latin typeface="Consolas" panose="020B0609020204030204" pitchFamily="49" charset="0"/>
              </a:rPr>
              <a:t>  quantity </a:t>
            </a:r>
            <a:r>
              <a:rPr lang="en-US" altLang="en-US" sz="3000" dirty="0">
                <a:solidFill>
                  <a:srgbClr val="0086B3"/>
                </a:solidFill>
                <a:latin typeface="Consolas" panose="020B0609020204030204" pitchFamily="49" charset="0"/>
              </a:rPr>
              <a:t>INT</a:t>
            </a:r>
            <a:r>
              <a:rPr lang="en-US" altLang="en-US" sz="3000" dirty="0">
                <a:solidFill>
                  <a:srgbClr val="000000"/>
                </a:solidFill>
                <a:latin typeface="Consolas" panose="020B0609020204030204" pitchFamily="49" charset="0"/>
              </a:rPr>
              <a:t> </a:t>
            </a:r>
            <a:r>
              <a:rPr lang="en-US" altLang="en-US" sz="3000" dirty="0">
                <a:solidFill>
                  <a:srgbClr val="A71D5D"/>
                </a:solidFill>
                <a:latin typeface="Consolas" panose="020B0609020204030204" pitchFamily="49" charset="0"/>
              </a:rPr>
              <a:t>NOT NULL CHECK</a:t>
            </a:r>
            <a:r>
              <a:rPr lang="en-US" altLang="en-US" sz="3000" dirty="0">
                <a:solidFill>
                  <a:srgbClr val="000000"/>
                </a:solidFill>
                <a:latin typeface="Consolas" panose="020B0609020204030204" pitchFamily="49" charset="0"/>
              </a:rPr>
              <a:t>(quantity &gt;= </a:t>
            </a:r>
            <a:r>
              <a:rPr lang="en-US" altLang="en-US" sz="3000" dirty="0">
                <a:solidFill>
                  <a:srgbClr val="0086B3"/>
                </a:solidFill>
                <a:latin typeface="Consolas" panose="020B0609020204030204" pitchFamily="49" charset="0"/>
              </a:rPr>
              <a:t>-1</a:t>
            </a:r>
            <a:r>
              <a:rPr lang="en-US" altLang="en-US" sz="30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000" dirty="0">
                <a:solidFill>
                  <a:srgbClr val="B2B2B2"/>
                </a:solidFill>
                <a:latin typeface="Consolas" panose="020B0609020204030204" pitchFamily="49" charset="0"/>
              </a:rPr>
              <a:t> 7 </a:t>
            </a:r>
            <a:r>
              <a:rPr lang="en-US" altLang="en-US" sz="3000" dirty="0">
                <a:solidFill>
                  <a:srgbClr val="000000"/>
                </a:solidFill>
                <a:latin typeface="Consolas" panose="020B0609020204030204" pitchFamily="49" charset="0"/>
              </a:rPr>
              <a:t>  </a:t>
            </a:r>
            <a:r>
              <a:rPr lang="en-US" altLang="en-US" sz="3000" dirty="0">
                <a:solidFill>
                  <a:srgbClr val="A71D5D"/>
                </a:solidFill>
                <a:latin typeface="Consolas" panose="020B0609020204030204" pitchFamily="49" charset="0"/>
              </a:rPr>
              <a:t>FOREIGN KEY</a:t>
            </a:r>
            <a:r>
              <a:rPr lang="en-US" altLang="en-US" sz="3000" dirty="0">
                <a:solidFill>
                  <a:srgbClr val="000000"/>
                </a:solidFill>
                <a:latin typeface="Consolas" panose="020B0609020204030204" pitchFamily="49" charset="0"/>
              </a:rPr>
              <a:t> (</a:t>
            </a:r>
            <a:r>
              <a:rPr lang="en-US" altLang="en-US" sz="3000" dirty="0" err="1">
                <a:solidFill>
                  <a:srgbClr val="000000"/>
                </a:solidFill>
                <a:latin typeface="Consolas" panose="020B0609020204030204" pitchFamily="49" charset="0"/>
              </a:rPr>
              <a:t>supplierID</a:t>
            </a:r>
            <a:r>
              <a:rPr lang="en-US" altLang="en-US" sz="30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000" dirty="0">
                <a:solidFill>
                  <a:srgbClr val="B2B2B2"/>
                </a:solidFill>
                <a:latin typeface="Consolas" panose="020B0609020204030204" pitchFamily="49" charset="0"/>
              </a:rPr>
              <a:t> 8 </a:t>
            </a:r>
            <a:r>
              <a:rPr lang="en-US" altLang="en-US" sz="3000" dirty="0">
                <a:solidFill>
                  <a:srgbClr val="000000"/>
                </a:solidFill>
                <a:latin typeface="Consolas" panose="020B0609020204030204" pitchFamily="49" charset="0"/>
              </a:rPr>
              <a:t>      </a:t>
            </a:r>
            <a:r>
              <a:rPr lang="en-US" altLang="en-US" sz="3000" dirty="0">
                <a:solidFill>
                  <a:srgbClr val="A71D5D"/>
                </a:solidFill>
                <a:latin typeface="Consolas" panose="020B0609020204030204" pitchFamily="49" charset="0"/>
              </a:rPr>
              <a:t>REFERENCES</a:t>
            </a:r>
            <a:r>
              <a:rPr lang="en-US" altLang="en-US" sz="3000" dirty="0">
                <a:solidFill>
                  <a:srgbClr val="000000"/>
                </a:solidFill>
                <a:latin typeface="Consolas" panose="020B0609020204030204" pitchFamily="49" charset="0"/>
              </a:rPr>
              <a:t> </a:t>
            </a:r>
            <a:r>
              <a:rPr lang="en-US" altLang="en-US" sz="3000" dirty="0">
                <a:solidFill>
                  <a:srgbClr val="0086B3"/>
                </a:solidFill>
                <a:latin typeface="Consolas" panose="020B0609020204030204" pitchFamily="49" charset="0"/>
              </a:rPr>
              <a:t>supplier</a:t>
            </a:r>
            <a:r>
              <a:rPr lang="en-US" altLang="en-US" sz="3000" dirty="0">
                <a:solidFill>
                  <a:srgbClr val="000000"/>
                </a:solidFill>
                <a:latin typeface="Consolas" panose="020B0609020204030204" pitchFamily="49" charset="0"/>
              </a:rPr>
              <a:t>(</a:t>
            </a:r>
            <a:r>
              <a:rPr lang="en-US" altLang="en-US" sz="3000" dirty="0" err="1">
                <a:solidFill>
                  <a:srgbClr val="000000"/>
                </a:solidFill>
                <a:latin typeface="Consolas" panose="020B0609020204030204" pitchFamily="49" charset="0"/>
              </a:rPr>
              <a:t>supplierID</a:t>
            </a:r>
            <a:r>
              <a:rPr lang="en-US" altLang="en-US" sz="30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000" dirty="0">
                <a:solidFill>
                  <a:srgbClr val="B2B2B2"/>
                </a:solidFill>
                <a:latin typeface="Consolas" panose="020B0609020204030204" pitchFamily="49" charset="0"/>
              </a:rPr>
              <a:t> 9 </a:t>
            </a:r>
            <a:r>
              <a:rPr lang="en-US" altLang="en-US" sz="3000" dirty="0">
                <a:solidFill>
                  <a:srgbClr val="000000"/>
                </a:solidFill>
                <a:latin typeface="Consolas" panose="020B0609020204030204" pitchFamily="49" charset="0"/>
              </a:rPr>
              <a:t>  </a:t>
            </a:r>
            <a:r>
              <a:rPr lang="en-US" altLang="en-US" sz="3000" dirty="0">
                <a:solidFill>
                  <a:srgbClr val="A71D5D"/>
                </a:solidFill>
                <a:latin typeface="Consolas" panose="020B0609020204030204" pitchFamily="49" charset="0"/>
              </a:rPr>
              <a:t>PRIMARY KEY</a:t>
            </a:r>
            <a:r>
              <a:rPr lang="en-US" altLang="en-US" sz="3000" dirty="0">
                <a:solidFill>
                  <a:srgbClr val="000000"/>
                </a:solidFill>
                <a:latin typeface="Consolas" panose="020B0609020204030204" pitchFamily="49" charset="0"/>
              </a:rPr>
              <a:t> (</a:t>
            </a:r>
            <a:r>
              <a:rPr lang="en-US" altLang="en-US" sz="3000" dirty="0" err="1">
                <a:solidFill>
                  <a:srgbClr val="000000"/>
                </a:solidFill>
                <a:latin typeface="Consolas" panose="020B0609020204030204" pitchFamily="49" charset="0"/>
              </a:rPr>
              <a:t>stockCode</a:t>
            </a:r>
            <a:r>
              <a:rPr lang="en-US" altLang="en-US" sz="30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000" dirty="0">
                <a:solidFill>
                  <a:srgbClr val="B2B2B2"/>
                </a:solidFill>
                <a:latin typeface="Consolas" panose="020B0609020204030204" pitchFamily="49" charset="0"/>
              </a:rPr>
              <a:t>10 </a:t>
            </a:r>
            <a:r>
              <a:rPr lang="en-US" altLang="en-US" sz="3000" dirty="0">
                <a:solidFill>
                  <a:srgbClr val="000000"/>
                </a:solidFill>
                <a:latin typeface="Consolas" panose="020B0609020204030204" pitchFamily="49" charset="0"/>
              </a:rPr>
              <a:t>);</a:t>
            </a:r>
            <a:endParaRPr lang="en-US" altLang="en-US" sz="3000" dirty="0">
              <a:latin typeface="Arial" panose="020B0604020202020204" pitchFamily="34" charset="0"/>
            </a:endParaRPr>
          </a:p>
        </p:txBody>
      </p:sp>
    </p:spTree>
    <p:extLst>
      <p:ext uri="{BB962C8B-B14F-4D97-AF65-F5344CB8AC3E}">
        <p14:creationId xmlns:p14="http://schemas.microsoft.com/office/powerpoint/2010/main" val="116208035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20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20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20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3">
                                            <p:txEl>
                                              <p:pRg st="3" end="3"/>
                                            </p:txEl>
                                          </p:spTgt>
                                        </p:tgtEl>
                                        <p:attrNameLst>
                                          <p:attrName>style.visibility</p:attrName>
                                        </p:attrNameLst>
                                      </p:cBhvr>
                                      <p:to>
                                        <p:strVal val="visible"/>
                                      </p:to>
                                    </p:set>
                                    <p:animEffect transition="in" filter="wipe(left)">
                                      <p:cBhvr>
                                        <p:cTn id="22" dur="2000"/>
                                        <p:tgtEl>
                                          <p:spTgt spid="3">
                                            <p:txEl>
                                              <p:pRg st="3" end="3"/>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3">
                                            <p:txEl>
                                              <p:pRg st="4" end="4"/>
                                            </p:txEl>
                                          </p:spTgt>
                                        </p:tgtEl>
                                        <p:attrNameLst>
                                          <p:attrName>style.visibility</p:attrName>
                                        </p:attrNameLst>
                                      </p:cBhvr>
                                      <p:to>
                                        <p:strVal val="visible"/>
                                      </p:to>
                                    </p:set>
                                    <p:animEffect transition="in" filter="wipe(left)">
                                      <p:cBhvr>
                                        <p:cTn id="27" dur="2000"/>
                                        <p:tgtEl>
                                          <p:spTgt spid="3">
                                            <p:txEl>
                                              <p:pRg st="4" end="4"/>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3">
                                            <p:txEl>
                                              <p:pRg st="5" end="5"/>
                                            </p:txEl>
                                          </p:spTgt>
                                        </p:tgtEl>
                                        <p:attrNameLst>
                                          <p:attrName>style.visibility</p:attrName>
                                        </p:attrNameLst>
                                      </p:cBhvr>
                                      <p:to>
                                        <p:strVal val="visible"/>
                                      </p:to>
                                    </p:set>
                                    <p:animEffect transition="in" filter="wipe(left)">
                                      <p:cBhvr>
                                        <p:cTn id="32" dur="2000"/>
                                        <p:tgtEl>
                                          <p:spTgt spid="3">
                                            <p:txEl>
                                              <p:pRg st="5" end="5"/>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3">
                                            <p:txEl>
                                              <p:pRg st="6" end="6"/>
                                            </p:txEl>
                                          </p:spTgt>
                                        </p:tgtEl>
                                        <p:attrNameLst>
                                          <p:attrName>style.visibility</p:attrName>
                                        </p:attrNameLst>
                                      </p:cBhvr>
                                      <p:to>
                                        <p:strVal val="visible"/>
                                      </p:to>
                                    </p:set>
                                    <p:animEffect transition="in" filter="wipe(left)">
                                      <p:cBhvr>
                                        <p:cTn id="37" dur="2000"/>
                                        <p:tgtEl>
                                          <p:spTgt spid="3">
                                            <p:txEl>
                                              <p:pRg st="6" end="6"/>
                                            </p:txEl>
                                          </p:spTgt>
                                        </p:tgtEl>
                                      </p:cBhvr>
                                    </p:animEffect>
                                  </p:childTnLst>
                                </p:cTn>
                              </p:par>
                            </p:childTnLst>
                          </p:cTn>
                        </p:par>
                      </p:childTnLst>
                    </p:cTn>
                  </p:par>
                  <p:par>
                    <p:cTn id="38" fill="hold">
                      <p:stCondLst>
                        <p:cond delay="indefinite"/>
                      </p:stCondLst>
                      <p:childTnLst>
                        <p:par>
                          <p:cTn id="39" fill="hold">
                            <p:stCondLst>
                              <p:cond delay="0"/>
                            </p:stCondLst>
                            <p:childTnLst>
                              <p:par>
                                <p:cTn id="40" presetID="22" presetClass="entr" presetSubtype="8" fill="hold" grpId="0" nodeType="clickEffect">
                                  <p:stCondLst>
                                    <p:cond delay="0"/>
                                  </p:stCondLst>
                                  <p:childTnLst>
                                    <p:set>
                                      <p:cBhvr>
                                        <p:cTn id="41" dur="1" fill="hold">
                                          <p:stCondLst>
                                            <p:cond delay="0"/>
                                          </p:stCondLst>
                                        </p:cTn>
                                        <p:tgtEl>
                                          <p:spTgt spid="3">
                                            <p:txEl>
                                              <p:pRg st="7" end="7"/>
                                            </p:txEl>
                                          </p:spTgt>
                                        </p:tgtEl>
                                        <p:attrNameLst>
                                          <p:attrName>style.visibility</p:attrName>
                                        </p:attrNameLst>
                                      </p:cBhvr>
                                      <p:to>
                                        <p:strVal val="visible"/>
                                      </p:to>
                                    </p:set>
                                    <p:animEffect transition="in" filter="wipe(left)">
                                      <p:cBhvr>
                                        <p:cTn id="42" dur="2000"/>
                                        <p:tgtEl>
                                          <p:spTgt spid="3">
                                            <p:txEl>
                                              <p:pRg st="7" end="7"/>
                                            </p:txEl>
                                          </p:spTgt>
                                        </p:tgtEl>
                                      </p:cBhvr>
                                    </p:animEffect>
                                  </p:childTnLst>
                                </p:cTn>
                              </p:par>
                            </p:childTnLst>
                          </p:cTn>
                        </p:par>
                      </p:childTnLst>
                    </p:cTn>
                  </p:par>
                  <p:par>
                    <p:cTn id="43" fill="hold">
                      <p:stCondLst>
                        <p:cond delay="indefinite"/>
                      </p:stCondLst>
                      <p:childTnLst>
                        <p:par>
                          <p:cTn id="44" fill="hold">
                            <p:stCondLst>
                              <p:cond delay="0"/>
                            </p:stCondLst>
                            <p:childTnLst>
                              <p:par>
                                <p:cTn id="45" presetID="22" presetClass="entr" presetSubtype="8" fill="hold" grpId="0" nodeType="clickEffect">
                                  <p:stCondLst>
                                    <p:cond delay="0"/>
                                  </p:stCondLst>
                                  <p:childTnLst>
                                    <p:set>
                                      <p:cBhvr>
                                        <p:cTn id="46" dur="1" fill="hold">
                                          <p:stCondLst>
                                            <p:cond delay="0"/>
                                          </p:stCondLst>
                                        </p:cTn>
                                        <p:tgtEl>
                                          <p:spTgt spid="3">
                                            <p:txEl>
                                              <p:pRg st="8" end="8"/>
                                            </p:txEl>
                                          </p:spTgt>
                                        </p:tgtEl>
                                        <p:attrNameLst>
                                          <p:attrName>style.visibility</p:attrName>
                                        </p:attrNameLst>
                                      </p:cBhvr>
                                      <p:to>
                                        <p:strVal val="visible"/>
                                      </p:to>
                                    </p:set>
                                    <p:animEffect transition="in" filter="wipe(left)">
                                      <p:cBhvr>
                                        <p:cTn id="47" dur="2000"/>
                                        <p:tgtEl>
                                          <p:spTgt spid="3">
                                            <p:txEl>
                                              <p:pRg st="8" end="8"/>
                                            </p:txEl>
                                          </p:spTgt>
                                        </p:tgtEl>
                                      </p:cBhvr>
                                    </p:animEffect>
                                  </p:childTnLst>
                                </p:cTn>
                              </p:par>
                            </p:childTnLst>
                          </p:cTn>
                        </p:par>
                      </p:childTnLst>
                    </p:cTn>
                  </p:par>
                  <p:par>
                    <p:cTn id="48" fill="hold">
                      <p:stCondLst>
                        <p:cond delay="indefinite"/>
                      </p:stCondLst>
                      <p:childTnLst>
                        <p:par>
                          <p:cTn id="49" fill="hold">
                            <p:stCondLst>
                              <p:cond delay="0"/>
                            </p:stCondLst>
                            <p:childTnLst>
                              <p:par>
                                <p:cTn id="50" presetID="22" presetClass="entr" presetSubtype="8" fill="hold" grpId="0" nodeType="clickEffect">
                                  <p:stCondLst>
                                    <p:cond delay="0"/>
                                  </p:stCondLst>
                                  <p:childTnLst>
                                    <p:set>
                                      <p:cBhvr>
                                        <p:cTn id="51" dur="1" fill="hold">
                                          <p:stCondLst>
                                            <p:cond delay="0"/>
                                          </p:stCondLst>
                                        </p:cTn>
                                        <p:tgtEl>
                                          <p:spTgt spid="3">
                                            <p:txEl>
                                              <p:pRg st="9" end="9"/>
                                            </p:txEl>
                                          </p:spTgt>
                                        </p:tgtEl>
                                        <p:attrNameLst>
                                          <p:attrName>style.visibility</p:attrName>
                                        </p:attrNameLst>
                                      </p:cBhvr>
                                      <p:to>
                                        <p:strVal val="visible"/>
                                      </p:to>
                                    </p:set>
                                    <p:animEffect transition="in" filter="wipe(left)">
                                      <p:cBhvr>
                                        <p:cTn id="52" dur="2000"/>
                                        <p:tgtEl>
                                          <p:spTgt spid="3">
                                            <p:txEl>
                                              <p:pRg st="9" end="9"/>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Learning Intentions</a:t>
            </a:r>
          </a:p>
        </p:txBody>
      </p:sp>
      <p:sp>
        <p:nvSpPr>
          <p:cNvPr id="3" name="Content Placeholder 2"/>
          <p:cNvSpPr>
            <a:spLocks noGrp="1"/>
          </p:cNvSpPr>
          <p:nvPr>
            <p:ph idx="1"/>
          </p:nvPr>
        </p:nvSpPr>
        <p:spPr/>
        <p:txBody>
          <a:bodyPr/>
          <a:lstStyle/>
          <a:p>
            <a:r>
              <a:rPr lang="en-GB" dirty="0"/>
              <a:t>Implement or modify validation</a:t>
            </a:r>
          </a:p>
          <a:p>
            <a:r>
              <a:rPr lang="en-GB" dirty="0"/>
              <a:t>See 2024S Task 2B Q2c</a:t>
            </a:r>
          </a:p>
        </p:txBody>
      </p:sp>
    </p:spTree>
    <p:extLst>
      <p:ext uri="{BB962C8B-B14F-4D97-AF65-F5344CB8AC3E}">
        <p14:creationId xmlns:p14="http://schemas.microsoft.com/office/powerpoint/2010/main" val="1907564055"/>
      </p:ext>
    </p:extLst>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584C72E-788B-FC8C-1E58-4206DC25034E}"/>
              </a:ext>
            </a:extLst>
          </p:cNvPr>
          <p:cNvSpPr>
            <a:spLocks noGrp="1"/>
          </p:cNvSpPr>
          <p:nvPr>
            <p:ph type="title"/>
          </p:nvPr>
        </p:nvSpPr>
        <p:spPr/>
        <p:txBody>
          <a:bodyPr/>
          <a:lstStyle/>
          <a:p>
            <a:r>
              <a:rPr lang="en-GB" dirty="0"/>
              <a:t>Modify Table – 8 Steps</a:t>
            </a:r>
          </a:p>
        </p:txBody>
      </p:sp>
      <p:sp>
        <p:nvSpPr>
          <p:cNvPr id="3" name="Content Placeholder 2">
            <a:extLst>
              <a:ext uri="{FF2B5EF4-FFF2-40B4-BE49-F238E27FC236}">
                <a16:creationId xmlns:a16="http://schemas.microsoft.com/office/drawing/2014/main" id="{42ABBBA0-8EAA-7A33-3162-51F1894BF9C3}"/>
              </a:ext>
            </a:extLst>
          </p:cNvPr>
          <p:cNvSpPr>
            <a:spLocks noGrp="1"/>
          </p:cNvSpPr>
          <p:nvPr>
            <p:ph idx="1"/>
          </p:nvPr>
        </p:nvSpPr>
        <p:spPr/>
        <p:txBody>
          <a:bodyPr>
            <a:noAutofit/>
          </a:bodyPr>
          <a:lstStyle/>
          <a:p>
            <a:pPr marL="514350" indent="-514350">
              <a:lnSpc>
                <a:spcPct val="100000"/>
              </a:lnSpc>
              <a:buFont typeface="+mj-lt"/>
              <a:buAutoNum type="arabicPeriod"/>
            </a:pPr>
            <a:r>
              <a:rPr lang="en-GB" sz="3600" dirty="0"/>
              <a:t>Get table definition</a:t>
            </a:r>
          </a:p>
          <a:p>
            <a:pPr marL="514350" indent="-514350">
              <a:lnSpc>
                <a:spcPct val="100000"/>
              </a:lnSpc>
              <a:buFont typeface="+mj-lt"/>
              <a:buAutoNum type="arabicPeriod"/>
            </a:pPr>
            <a:r>
              <a:rPr lang="en-GB" sz="3600" dirty="0"/>
              <a:t>Create empty table with modified definition</a:t>
            </a:r>
          </a:p>
          <a:p>
            <a:pPr marL="514350" indent="-514350">
              <a:lnSpc>
                <a:spcPct val="100000"/>
              </a:lnSpc>
              <a:buFont typeface="+mj-lt"/>
              <a:buAutoNum type="arabicPeriod"/>
            </a:pPr>
            <a:r>
              <a:rPr lang="en-GB" sz="3600" dirty="0"/>
              <a:t>Copy all data to new table</a:t>
            </a:r>
          </a:p>
          <a:p>
            <a:pPr marL="514350" indent="-514350">
              <a:lnSpc>
                <a:spcPct val="100000"/>
              </a:lnSpc>
              <a:buFont typeface="+mj-lt"/>
              <a:buAutoNum type="arabicPeriod"/>
            </a:pPr>
            <a:r>
              <a:rPr lang="en-GB" sz="3600" dirty="0"/>
              <a:t>Check data is copied</a:t>
            </a:r>
          </a:p>
          <a:p>
            <a:pPr marL="514350" indent="-514350">
              <a:lnSpc>
                <a:spcPct val="100000"/>
              </a:lnSpc>
              <a:buFont typeface="+mj-lt"/>
              <a:buAutoNum type="arabicPeriod"/>
            </a:pPr>
            <a:r>
              <a:rPr lang="en-GB" sz="3600" i="1" dirty="0">
                <a:solidFill>
                  <a:srgbClr val="7030A0"/>
                </a:solidFill>
              </a:rPr>
              <a:t>Referential integrity</a:t>
            </a:r>
            <a:r>
              <a:rPr lang="en-GB" sz="3600" dirty="0">
                <a:solidFill>
                  <a:srgbClr val="7030A0"/>
                </a:solidFill>
              </a:rPr>
              <a:t>: </a:t>
            </a:r>
            <a:r>
              <a:rPr lang="en-GB" sz="3600" dirty="0">
                <a:solidFill>
                  <a:srgbClr val="FF0000"/>
                </a:solidFill>
              </a:rPr>
              <a:t>Off</a:t>
            </a:r>
          </a:p>
          <a:p>
            <a:pPr marL="514350" indent="-514350">
              <a:lnSpc>
                <a:spcPct val="100000"/>
              </a:lnSpc>
              <a:buFont typeface="+mj-lt"/>
              <a:buAutoNum type="arabicPeriod"/>
            </a:pPr>
            <a:r>
              <a:rPr lang="en-GB" sz="3600" dirty="0"/>
              <a:t>Delete old table</a:t>
            </a:r>
          </a:p>
          <a:p>
            <a:pPr marL="514350" indent="-514350">
              <a:lnSpc>
                <a:spcPct val="100000"/>
              </a:lnSpc>
              <a:buFont typeface="+mj-lt"/>
              <a:buAutoNum type="arabicPeriod"/>
            </a:pPr>
            <a:r>
              <a:rPr lang="en-GB" sz="3600" dirty="0"/>
              <a:t>Rename new table</a:t>
            </a:r>
          </a:p>
          <a:p>
            <a:pPr marL="514350" indent="-514350">
              <a:lnSpc>
                <a:spcPct val="100000"/>
              </a:lnSpc>
              <a:buFont typeface="+mj-lt"/>
              <a:buAutoNum type="arabicPeriod"/>
            </a:pPr>
            <a:r>
              <a:rPr lang="en-GB" sz="3600" i="1" dirty="0">
                <a:solidFill>
                  <a:srgbClr val="7030A0"/>
                </a:solidFill>
              </a:rPr>
              <a:t>Referential integrity</a:t>
            </a:r>
            <a:r>
              <a:rPr lang="en-GB" sz="3600" dirty="0">
                <a:solidFill>
                  <a:srgbClr val="7030A0"/>
                </a:solidFill>
              </a:rPr>
              <a:t>: </a:t>
            </a:r>
            <a:r>
              <a:rPr lang="en-GB" sz="3600" dirty="0">
                <a:solidFill>
                  <a:srgbClr val="FF0000"/>
                </a:solidFill>
              </a:rPr>
              <a:t>On</a:t>
            </a:r>
          </a:p>
          <a:p>
            <a:pPr marL="514350" indent="-514350">
              <a:lnSpc>
                <a:spcPct val="100000"/>
              </a:lnSpc>
              <a:buFont typeface="+mj-lt"/>
              <a:buAutoNum type="arabicPeriod"/>
            </a:pPr>
            <a:endParaRPr lang="en-GB" sz="3600" dirty="0"/>
          </a:p>
        </p:txBody>
      </p:sp>
      <p:grpSp>
        <p:nvGrpSpPr>
          <p:cNvPr id="12" name="Group 11">
            <a:extLst>
              <a:ext uri="{FF2B5EF4-FFF2-40B4-BE49-F238E27FC236}">
                <a16:creationId xmlns:a16="http://schemas.microsoft.com/office/drawing/2014/main" id="{7B1C52D3-D2CA-C355-3FB3-D69B7DDFA6A0}"/>
              </a:ext>
            </a:extLst>
          </p:cNvPr>
          <p:cNvGrpSpPr/>
          <p:nvPr/>
        </p:nvGrpSpPr>
        <p:grpSpPr>
          <a:xfrm>
            <a:off x="6021426" y="4269871"/>
            <a:ext cx="4717023" cy="1763421"/>
            <a:chOff x="6636777" y="4016829"/>
            <a:chExt cx="4717023" cy="1763421"/>
          </a:xfrm>
        </p:grpSpPr>
        <p:sp>
          <p:nvSpPr>
            <p:cNvPr id="5" name="TextBox 4">
              <a:extLst>
                <a:ext uri="{FF2B5EF4-FFF2-40B4-BE49-F238E27FC236}">
                  <a16:creationId xmlns:a16="http://schemas.microsoft.com/office/drawing/2014/main" id="{5E6A5664-67E9-2018-FAE6-E37705995D43}"/>
                </a:ext>
              </a:extLst>
            </p:cNvPr>
            <p:cNvSpPr txBox="1"/>
            <p:nvPr/>
          </p:nvSpPr>
          <p:spPr>
            <a:xfrm>
              <a:off x="8276793" y="4260318"/>
              <a:ext cx="3077007" cy="1384995"/>
            </a:xfrm>
            <a:prstGeom prst="rect">
              <a:avLst/>
            </a:prstGeom>
            <a:noFill/>
          </p:spPr>
          <p:txBody>
            <a:bodyPr wrap="square" rtlCol="0">
              <a:spAutoFit/>
            </a:bodyPr>
            <a:lstStyle/>
            <a:p>
              <a:r>
                <a:rPr lang="en-GB" sz="2800" b="1" dirty="0">
                  <a:solidFill>
                    <a:srgbClr val="7030A0"/>
                  </a:solidFill>
                </a:rPr>
                <a:t>If any field is used in another table as a Foreign Key (FK)</a:t>
              </a:r>
            </a:p>
          </p:txBody>
        </p:sp>
        <p:cxnSp>
          <p:nvCxnSpPr>
            <p:cNvPr id="7" name="Straight Arrow Connector 6">
              <a:extLst>
                <a:ext uri="{FF2B5EF4-FFF2-40B4-BE49-F238E27FC236}">
                  <a16:creationId xmlns:a16="http://schemas.microsoft.com/office/drawing/2014/main" id="{6D5E464B-EC13-BF7E-D0F5-29933590FC61}"/>
                </a:ext>
              </a:extLst>
            </p:cNvPr>
            <p:cNvCxnSpPr>
              <a:cxnSpLocks/>
              <a:stCxn id="5" idx="1"/>
            </p:cNvCxnSpPr>
            <p:nvPr/>
          </p:nvCxnSpPr>
          <p:spPr>
            <a:xfrm flipH="1" flipV="1">
              <a:off x="6636777" y="4016829"/>
              <a:ext cx="1640016" cy="935987"/>
            </a:xfrm>
            <a:prstGeom prst="straightConnector1">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cxnSp>
        <p:cxnSp>
          <p:nvCxnSpPr>
            <p:cNvPr id="8" name="Straight Arrow Connector 7">
              <a:extLst>
                <a:ext uri="{FF2B5EF4-FFF2-40B4-BE49-F238E27FC236}">
                  <a16:creationId xmlns:a16="http://schemas.microsoft.com/office/drawing/2014/main" id="{1D5B82FC-98F6-DD8C-5C6F-D9B8F86F5B1C}"/>
                </a:ext>
              </a:extLst>
            </p:cNvPr>
            <p:cNvCxnSpPr>
              <a:cxnSpLocks/>
              <a:stCxn id="5" idx="1"/>
            </p:cNvCxnSpPr>
            <p:nvPr/>
          </p:nvCxnSpPr>
          <p:spPr>
            <a:xfrm flipH="1">
              <a:off x="6636777" y="4952816"/>
              <a:ext cx="1640016" cy="827434"/>
            </a:xfrm>
            <a:prstGeom prst="straightConnector1">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cxnSp>
      </p:grpSp>
    </p:spTree>
    <p:extLst>
      <p:ext uri="{BB962C8B-B14F-4D97-AF65-F5344CB8AC3E}">
        <p14:creationId xmlns:p14="http://schemas.microsoft.com/office/powerpoint/2010/main" val="104601340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20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15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3">
                                            <p:txEl>
                                              <p:pRg st="3" end="3"/>
                                            </p:txEl>
                                          </p:spTgt>
                                        </p:tgtEl>
                                        <p:attrNameLst>
                                          <p:attrName>style.visibility</p:attrName>
                                        </p:attrNameLst>
                                      </p:cBhvr>
                                      <p:to>
                                        <p:strVal val="visible"/>
                                      </p:to>
                                    </p:set>
                                    <p:animEffect transition="in" filter="wipe(left)">
                                      <p:cBhvr>
                                        <p:cTn id="22" dur="1500"/>
                                        <p:tgtEl>
                                          <p:spTgt spid="3">
                                            <p:txEl>
                                              <p:pRg st="3" end="3"/>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3">
                                            <p:txEl>
                                              <p:pRg st="4" end="4"/>
                                            </p:txEl>
                                          </p:spTgt>
                                        </p:tgtEl>
                                        <p:attrNameLst>
                                          <p:attrName>style.visibility</p:attrName>
                                        </p:attrNameLst>
                                      </p:cBhvr>
                                      <p:to>
                                        <p:strVal val="visible"/>
                                      </p:to>
                                    </p:set>
                                    <p:animEffect transition="in" filter="wipe(left)">
                                      <p:cBhvr>
                                        <p:cTn id="27" dur="2250"/>
                                        <p:tgtEl>
                                          <p:spTgt spid="3">
                                            <p:txEl>
                                              <p:pRg st="4" end="4"/>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3">
                                            <p:txEl>
                                              <p:pRg st="5" end="5"/>
                                            </p:txEl>
                                          </p:spTgt>
                                        </p:tgtEl>
                                        <p:attrNameLst>
                                          <p:attrName>style.visibility</p:attrName>
                                        </p:attrNameLst>
                                      </p:cBhvr>
                                      <p:to>
                                        <p:strVal val="visible"/>
                                      </p:to>
                                    </p:set>
                                    <p:animEffect transition="in" filter="wipe(left)">
                                      <p:cBhvr>
                                        <p:cTn id="32" dur="1500"/>
                                        <p:tgtEl>
                                          <p:spTgt spid="3">
                                            <p:txEl>
                                              <p:pRg st="5" end="5"/>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3">
                                            <p:txEl>
                                              <p:pRg st="6" end="6"/>
                                            </p:txEl>
                                          </p:spTgt>
                                        </p:tgtEl>
                                        <p:attrNameLst>
                                          <p:attrName>style.visibility</p:attrName>
                                        </p:attrNameLst>
                                      </p:cBhvr>
                                      <p:to>
                                        <p:strVal val="visible"/>
                                      </p:to>
                                    </p:set>
                                    <p:animEffect transition="in" filter="wipe(left)">
                                      <p:cBhvr>
                                        <p:cTn id="37" dur="1500"/>
                                        <p:tgtEl>
                                          <p:spTgt spid="3">
                                            <p:txEl>
                                              <p:pRg st="6" end="6"/>
                                            </p:txEl>
                                          </p:spTgt>
                                        </p:tgtEl>
                                      </p:cBhvr>
                                    </p:animEffect>
                                  </p:childTnLst>
                                </p:cTn>
                              </p:par>
                            </p:childTnLst>
                          </p:cTn>
                        </p:par>
                      </p:childTnLst>
                    </p:cTn>
                  </p:par>
                  <p:par>
                    <p:cTn id="38" fill="hold">
                      <p:stCondLst>
                        <p:cond delay="indefinite"/>
                      </p:stCondLst>
                      <p:childTnLst>
                        <p:par>
                          <p:cTn id="39" fill="hold">
                            <p:stCondLst>
                              <p:cond delay="0"/>
                            </p:stCondLst>
                            <p:childTnLst>
                              <p:par>
                                <p:cTn id="40" presetID="22" presetClass="entr" presetSubtype="8" fill="hold" grpId="0" nodeType="clickEffect">
                                  <p:stCondLst>
                                    <p:cond delay="0"/>
                                  </p:stCondLst>
                                  <p:childTnLst>
                                    <p:set>
                                      <p:cBhvr>
                                        <p:cTn id="41" dur="1" fill="hold">
                                          <p:stCondLst>
                                            <p:cond delay="0"/>
                                          </p:stCondLst>
                                        </p:cTn>
                                        <p:tgtEl>
                                          <p:spTgt spid="3">
                                            <p:txEl>
                                              <p:pRg st="7" end="7"/>
                                            </p:txEl>
                                          </p:spTgt>
                                        </p:tgtEl>
                                        <p:attrNameLst>
                                          <p:attrName>style.visibility</p:attrName>
                                        </p:attrNameLst>
                                      </p:cBhvr>
                                      <p:to>
                                        <p:strVal val="visible"/>
                                      </p:to>
                                    </p:set>
                                    <p:animEffect transition="in" filter="wipe(left)">
                                      <p:cBhvr>
                                        <p:cTn id="42" dur="2250"/>
                                        <p:tgtEl>
                                          <p:spTgt spid="3">
                                            <p:txEl>
                                              <p:pRg st="7" end="7"/>
                                            </p:txEl>
                                          </p:spTgt>
                                        </p:tgtEl>
                                      </p:cBhvr>
                                    </p:animEffect>
                                  </p:childTnLst>
                                </p:cTn>
                              </p:par>
                            </p:childTnLst>
                          </p:cTn>
                        </p:par>
                      </p:childTnLst>
                    </p:cTn>
                  </p:par>
                  <p:par>
                    <p:cTn id="43" fill="hold">
                      <p:stCondLst>
                        <p:cond delay="indefinite"/>
                      </p:stCondLst>
                      <p:childTnLst>
                        <p:par>
                          <p:cTn id="44" fill="hold">
                            <p:stCondLst>
                              <p:cond delay="0"/>
                            </p:stCondLst>
                            <p:childTnLst>
                              <p:par>
                                <p:cTn id="45" presetID="22" presetClass="entr" presetSubtype="8" fill="hold" nodeType="clickEffect">
                                  <p:stCondLst>
                                    <p:cond delay="0"/>
                                  </p:stCondLst>
                                  <p:childTnLst>
                                    <p:set>
                                      <p:cBhvr>
                                        <p:cTn id="46" dur="1" fill="hold">
                                          <p:stCondLst>
                                            <p:cond delay="0"/>
                                          </p:stCondLst>
                                        </p:cTn>
                                        <p:tgtEl>
                                          <p:spTgt spid="12"/>
                                        </p:tgtEl>
                                        <p:attrNameLst>
                                          <p:attrName>style.visibility</p:attrName>
                                        </p:attrNameLst>
                                      </p:cBhvr>
                                      <p:to>
                                        <p:strVal val="visible"/>
                                      </p:to>
                                    </p:set>
                                    <p:animEffect transition="in" filter="wipe(left)">
                                      <p:cBhvr>
                                        <p:cTn id="47" dur="2000"/>
                                        <p:tgtEl>
                                          <p:spTgt spid="1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28.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584C72E-788B-FC8C-1E58-4206DC25034E}"/>
              </a:ext>
            </a:extLst>
          </p:cNvPr>
          <p:cNvSpPr>
            <a:spLocks noGrp="1"/>
          </p:cNvSpPr>
          <p:nvPr>
            <p:ph type="title"/>
          </p:nvPr>
        </p:nvSpPr>
        <p:spPr/>
        <p:txBody>
          <a:bodyPr/>
          <a:lstStyle/>
          <a:p>
            <a:r>
              <a:rPr lang="en-GB" dirty="0"/>
              <a:t>Modify Table – 8 Steps</a:t>
            </a:r>
          </a:p>
        </p:txBody>
      </p:sp>
      <p:sp>
        <p:nvSpPr>
          <p:cNvPr id="3" name="Content Placeholder 2">
            <a:extLst>
              <a:ext uri="{FF2B5EF4-FFF2-40B4-BE49-F238E27FC236}">
                <a16:creationId xmlns:a16="http://schemas.microsoft.com/office/drawing/2014/main" id="{42ABBBA0-8EAA-7A33-3162-51F1894BF9C3}"/>
              </a:ext>
            </a:extLst>
          </p:cNvPr>
          <p:cNvSpPr>
            <a:spLocks noGrp="1"/>
          </p:cNvSpPr>
          <p:nvPr>
            <p:ph idx="1"/>
          </p:nvPr>
        </p:nvSpPr>
        <p:spPr/>
        <p:txBody>
          <a:bodyPr>
            <a:noAutofit/>
          </a:bodyPr>
          <a:lstStyle/>
          <a:p>
            <a:pPr marL="514350" indent="-514350">
              <a:lnSpc>
                <a:spcPct val="100000"/>
              </a:lnSpc>
              <a:buFont typeface="+mj-lt"/>
              <a:buAutoNum type="arabicPeriod"/>
            </a:pPr>
            <a:r>
              <a:rPr lang="en-GB" sz="3600" dirty="0"/>
              <a:t>Get table definition</a:t>
            </a:r>
          </a:p>
          <a:p>
            <a:pPr marL="514350" indent="-514350">
              <a:lnSpc>
                <a:spcPct val="100000"/>
              </a:lnSpc>
              <a:buFont typeface="+mj-lt"/>
              <a:buAutoNum type="arabicPeriod"/>
            </a:pPr>
            <a:r>
              <a:rPr lang="en-GB" sz="3600" dirty="0"/>
              <a:t>Create empty table with modified definition</a:t>
            </a:r>
          </a:p>
          <a:p>
            <a:pPr marL="514350" indent="-514350">
              <a:lnSpc>
                <a:spcPct val="100000"/>
              </a:lnSpc>
              <a:buFont typeface="+mj-lt"/>
              <a:buAutoNum type="arabicPeriod"/>
            </a:pPr>
            <a:r>
              <a:rPr lang="en-GB" sz="3600" dirty="0"/>
              <a:t>Copy all data to new table</a:t>
            </a:r>
          </a:p>
          <a:p>
            <a:pPr marL="514350" indent="-514350">
              <a:lnSpc>
                <a:spcPct val="100000"/>
              </a:lnSpc>
              <a:buFont typeface="+mj-lt"/>
              <a:buAutoNum type="arabicPeriod"/>
            </a:pPr>
            <a:r>
              <a:rPr lang="en-GB" sz="3600" dirty="0"/>
              <a:t>Check data is copied</a:t>
            </a:r>
          </a:p>
          <a:p>
            <a:pPr marL="514350" indent="-514350">
              <a:lnSpc>
                <a:spcPct val="100000"/>
              </a:lnSpc>
              <a:buFont typeface="+mj-lt"/>
              <a:buAutoNum type="arabicPeriod"/>
            </a:pPr>
            <a:r>
              <a:rPr lang="en-GB" sz="3600" i="1" dirty="0">
                <a:solidFill>
                  <a:srgbClr val="7030A0"/>
                </a:solidFill>
              </a:rPr>
              <a:t>Referential integrity</a:t>
            </a:r>
            <a:r>
              <a:rPr lang="en-GB" sz="3600" dirty="0">
                <a:solidFill>
                  <a:srgbClr val="7030A0"/>
                </a:solidFill>
              </a:rPr>
              <a:t>:</a:t>
            </a:r>
            <a:endParaRPr lang="en-GB" sz="3600" dirty="0">
              <a:solidFill>
                <a:srgbClr val="FF0000"/>
              </a:solidFill>
            </a:endParaRPr>
          </a:p>
          <a:p>
            <a:pPr marL="514350" indent="-514350">
              <a:lnSpc>
                <a:spcPct val="100000"/>
              </a:lnSpc>
              <a:buFont typeface="+mj-lt"/>
              <a:buAutoNum type="arabicPeriod"/>
            </a:pPr>
            <a:r>
              <a:rPr lang="en-GB" sz="3600" dirty="0"/>
              <a:t>Delete old table</a:t>
            </a:r>
          </a:p>
          <a:p>
            <a:pPr marL="514350" indent="-514350">
              <a:lnSpc>
                <a:spcPct val="100000"/>
              </a:lnSpc>
              <a:buFont typeface="+mj-lt"/>
              <a:buAutoNum type="arabicPeriod"/>
            </a:pPr>
            <a:r>
              <a:rPr lang="en-GB" sz="3600" dirty="0"/>
              <a:t>Rename new table</a:t>
            </a:r>
          </a:p>
          <a:p>
            <a:pPr marL="514350" indent="-514350">
              <a:lnSpc>
                <a:spcPct val="100000"/>
              </a:lnSpc>
              <a:buFont typeface="+mj-lt"/>
              <a:buAutoNum type="arabicPeriod"/>
            </a:pPr>
            <a:r>
              <a:rPr lang="en-GB" sz="3600" i="1" dirty="0">
                <a:solidFill>
                  <a:srgbClr val="7030A0"/>
                </a:solidFill>
              </a:rPr>
              <a:t>Referential integrity</a:t>
            </a:r>
            <a:r>
              <a:rPr lang="en-GB" sz="3600" dirty="0">
                <a:solidFill>
                  <a:srgbClr val="7030A0"/>
                </a:solidFill>
              </a:rPr>
              <a:t>:</a:t>
            </a:r>
            <a:endParaRPr lang="en-GB" sz="3600" dirty="0">
              <a:solidFill>
                <a:srgbClr val="FF0000"/>
              </a:solidFill>
            </a:endParaRPr>
          </a:p>
          <a:p>
            <a:pPr marL="514350" indent="-514350">
              <a:lnSpc>
                <a:spcPct val="100000"/>
              </a:lnSpc>
              <a:buFont typeface="+mj-lt"/>
              <a:buAutoNum type="arabicPeriod"/>
            </a:pPr>
            <a:endParaRPr lang="en-GB" sz="3600" dirty="0"/>
          </a:p>
        </p:txBody>
      </p:sp>
    </p:spTree>
    <p:extLst>
      <p:ext uri="{BB962C8B-B14F-4D97-AF65-F5344CB8AC3E}">
        <p14:creationId xmlns:p14="http://schemas.microsoft.com/office/powerpoint/2010/main" val="14137859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20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15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3">
                                            <p:txEl>
                                              <p:pRg st="3" end="3"/>
                                            </p:txEl>
                                          </p:spTgt>
                                        </p:tgtEl>
                                        <p:attrNameLst>
                                          <p:attrName>style.visibility</p:attrName>
                                        </p:attrNameLst>
                                      </p:cBhvr>
                                      <p:to>
                                        <p:strVal val="visible"/>
                                      </p:to>
                                    </p:set>
                                    <p:animEffect transition="in" filter="wipe(left)">
                                      <p:cBhvr>
                                        <p:cTn id="22" dur="1500"/>
                                        <p:tgtEl>
                                          <p:spTgt spid="3">
                                            <p:txEl>
                                              <p:pRg st="3" end="3"/>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3">
                                            <p:txEl>
                                              <p:pRg st="4" end="4"/>
                                            </p:txEl>
                                          </p:spTgt>
                                        </p:tgtEl>
                                        <p:attrNameLst>
                                          <p:attrName>style.visibility</p:attrName>
                                        </p:attrNameLst>
                                      </p:cBhvr>
                                      <p:to>
                                        <p:strVal val="visible"/>
                                      </p:to>
                                    </p:set>
                                    <p:animEffect transition="in" filter="wipe(left)">
                                      <p:cBhvr>
                                        <p:cTn id="27" dur="2250"/>
                                        <p:tgtEl>
                                          <p:spTgt spid="3">
                                            <p:txEl>
                                              <p:pRg st="4" end="4"/>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3">
                                            <p:txEl>
                                              <p:pRg st="5" end="5"/>
                                            </p:txEl>
                                          </p:spTgt>
                                        </p:tgtEl>
                                        <p:attrNameLst>
                                          <p:attrName>style.visibility</p:attrName>
                                        </p:attrNameLst>
                                      </p:cBhvr>
                                      <p:to>
                                        <p:strVal val="visible"/>
                                      </p:to>
                                    </p:set>
                                    <p:animEffect transition="in" filter="wipe(left)">
                                      <p:cBhvr>
                                        <p:cTn id="32" dur="1500"/>
                                        <p:tgtEl>
                                          <p:spTgt spid="3">
                                            <p:txEl>
                                              <p:pRg st="5" end="5"/>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3">
                                            <p:txEl>
                                              <p:pRg st="6" end="6"/>
                                            </p:txEl>
                                          </p:spTgt>
                                        </p:tgtEl>
                                        <p:attrNameLst>
                                          <p:attrName>style.visibility</p:attrName>
                                        </p:attrNameLst>
                                      </p:cBhvr>
                                      <p:to>
                                        <p:strVal val="visible"/>
                                      </p:to>
                                    </p:set>
                                    <p:animEffect transition="in" filter="wipe(left)">
                                      <p:cBhvr>
                                        <p:cTn id="37" dur="1500"/>
                                        <p:tgtEl>
                                          <p:spTgt spid="3">
                                            <p:txEl>
                                              <p:pRg st="6" end="6"/>
                                            </p:txEl>
                                          </p:spTgt>
                                        </p:tgtEl>
                                      </p:cBhvr>
                                    </p:animEffect>
                                  </p:childTnLst>
                                </p:cTn>
                              </p:par>
                            </p:childTnLst>
                          </p:cTn>
                        </p:par>
                      </p:childTnLst>
                    </p:cTn>
                  </p:par>
                  <p:par>
                    <p:cTn id="38" fill="hold">
                      <p:stCondLst>
                        <p:cond delay="indefinite"/>
                      </p:stCondLst>
                      <p:childTnLst>
                        <p:par>
                          <p:cTn id="39" fill="hold">
                            <p:stCondLst>
                              <p:cond delay="0"/>
                            </p:stCondLst>
                            <p:childTnLst>
                              <p:par>
                                <p:cTn id="40" presetID="22" presetClass="entr" presetSubtype="8" fill="hold" grpId="0" nodeType="clickEffect">
                                  <p:stCondLst>
                                    <p:cond delay="0"/>
                                  </p:stCondLst>
                                  <p:childTnLst>
                                    <p:set>
                                      <p:cBhvr>
                                        <p:cTn id="41" dur="1" fill="hold">
                                          <p:stCondLst>
                                            <p:cond delay="0"/>
                                          </p:stCondLst>
                                        </p:cTn>
                                        <p:tgtEl>
                                          <p:spTgt spid="3">
                                            <p:txEl>
                                              <p:pRg st="7" end="7"/>
                                            </p:txEl>
                                          </p:spTgt>
                                        </p:tgtEl>
                                        <p:attrNameLst>
                                          <p:attrName>style.visibility</p:attrName>
                                        </p:attrNameLst>
                                      </p:cBhvr>
                                      <p:to>
                                        <p:strVal val="visible"/>
                                      </p:to>
                                    </p:set>
                                    <p:animEffect transition="in" filter="wipe(left)">
                                      <p:cBhvr>
                                        <p:cTn id="42" dur="2250"/>
                                        <p:tgtEl>
                                          <p:spTgt spid="3">
                                            <p:txEl>
                                              <p:pRg st="7" end="7"/>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A1D1611-AD0D-4255-8F4D-FFC4F2217C70}"/>
              </a:ext>
            </a:extLst>
          </p:cNvPr>
          <p:cNvSpPr>
            <a:spLocks noGrp="1"/>
          </p:cNvSpPr>
          <p:nvPr>
            <p:ph type="title"/>
          </p:nvPr>
        </p:nvSpPr>
        <p:spPr/>
        <p:txBody>
          <a:bodyPr/>
          <a:lstStyle/>
          <a:p>
            <a:r>
              <a:rPr lang="en-GB" dirty="0"/>
              <a:t>Modify Table Task</a:t>
            </a:r>
          </a:p>
        </p:txBody>
      </p:sp>
      <p:sp>
        <p:nvSpPr>
          <p:cNvPr id="3" name="Content Placeholder 2">
            <a:extLst>
              <a:ext uri="{FF2B5EF4-FFF2-40B4-BE49-F238E27FC236}">
                <a16:creationId xmlns:a16="http://schemas.microsoft.com/office/drawing/2014/main" id="{5F9E7E1D-33F4-47C6-B73D-75FCD303A24F}"/>
              </a:ext>
            </a:extLst>
          </p:cNvPr>
          <p:cNvSpPr>
            <a:spLocks noGrp="1"/>
          </p:cNvSpPr>
          <p:nvPr>
            <p:ph idx="1"/>
          </p:nvPr>
        </p:nvSpPr>
        <p:spPr/>
        <p:txBody>
          <a:bodyPr>
            <a:normAutofit/>
          </a:bodyPr>
          <a:lstStyle/>
          <a:p>
            <a:r>
              <a:rPr lang="en-GB" sz="3200" dirty="0"/>
              <a:t>Update the </a:t>
            </a:r>
            <a:r>
              <a:rPr lang="en-GB" sz="3200" i="1" dirty="0">
                <a:solidFill>
                  <a:srgbClr val="7030A0"/>
                </a:solidFill>
              </a:rPr>
              <a:t>staff</a:t>
            </a:r>
            <a:r>
              <a:rPr lang="en-GB" sz="3200" dirty="0"/>
              <a:t> table to ensure that a surname is required for each record</a:t>
            </a:r>
          </a:p>
        </p:txBody>
      </p:sp>
    </p:spTree>
    <p:extLst>
      <p:ext uri="{BB962C8B-B14F-4D97-AF65-F5344CB8AC3E}">
        <p14:creationId xmlns:p14="http://schemas.microsoft.com/office/powerpoint/2010/main" val="294793937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2500"/>
                                        <p:tgtEl>
                                          <p:spTgt spid="3">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Database Definition</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SELECT </a:t>
            </a:r>
            <a:r>
              <a:rPr lang="en-US" altLang="en-US" sz="40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FROM</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sqlite_schema</a:t>
            </a:r>
            <a:r>
              <a:rPr lang="en-US" altLang="en-US" sz="4000" dirty="0">
                <a:solidFill>
                  <a:srgbClr val="000000"/>
                </a:solidFill>
                <a:latin typeface="Consolas" panose="020B0609020204030204" pitchFamily="49" charset="0"/>
              </a:rPr>
              <a:t>;</a:t>
            </a:r>
            <a:br>
              <a:rPr lang="en-US" altLang="en-US" sz="4000" dirty="0">
                <a:solidFill>
                  <a:srgbClr val="000000"/>
                </a:solidFill>
                <a:latin typeface="Consolas" panose="020B0609020204030204" pitchFamily="49" charset="0"/>
              </a:rPr>
            </a:br>
            <a:endParaRPr lang="en-US" altLang="en-US" sz="4000" dirty="0">
              <a:latin typeface="Arial" panose="020B0604020202020204" pitchFamily="34" charset="0"/>
            </a:endParaRPr>
          </a:p>
        </p:txBody>
      </p:sp>
      <p:sp>
        <p:nvSpPr>
          <p:cNvPr id="11" name="TextBox 10">
            <a:extLst>
              <a:ext uri="{FF2B5EF4-FFF2-40B4-BE49-F238E27FC236}">
                <a16:creationId xmlns:a16="http://schemas.microsoft.com/office/drawing/2014/main" id="{027ADC58-29AC-4336-9E4E-EBA26B8FE749}"/>
              </a:ext>
            </a:extLst>
          </p:cNvPr>
          <p:cNvSpPr txBox="1"/>
          <p:nvPr/>
        </p:nvSpPr>
        <p:spPr>
          <a:xfrm>
            <a:off x="2446244" y="5111571"/>
            <a:ext cx="7299511" cy="1200329"/>
          </a:xfrm>
          <a:prstGeom prst="rect">
            <a:avLst/>
          </a:prstGeom>
          <a:noFill/>
        </p:spPr>
        <p:txBody>
          <a:bodyPr wrap="square" rtlCol="0">
            <a:spAutoFit/>
          </a:bodyPr>
          <a:lstStyle/>
          <a:p>
            <a:pPr algn="ctr"/>
            <a:r>
              <a:rPr lang="en-US" altLang="en-US" sz="3600" dirty="0" err="1">
                <a:solidFill>
                  <a:srgbClr val="000000"/>
                </a:solidFill>
                <a:latin typeface="Consolas" panose="020B0609020204030204" pitchFamily="49" charset="0"/>
              </a:rPr>
              <a:t>sqlite_schema</a:t>
            </a:r>
            <a:r>
              <a:rPr lang="en-GB" sz="3600" dirty="0">
                <a:solidFill>
                  <a:srgbClr val="7030A0"/>
                </a:solidFill>
              </a:rPr>
              <a:t> is a table that holds information about the database</a:t>
            </a:r>
            <a:endParaRPr lang="en-GB" sz="3600" dirty="0">
              <a:solidFill>
                <a:srgbClr val="7030A0"/>
              </a:solidFill>
              <a:latin typeface="Consolas" panose="020B0609020204030204" pitchFamily="49" charset="0"/>
            </a:endParaRPr>
          </a:p>
        </p:txBody>
      </p:sp>
    </p:spTree>
    <p:extLst>
      <p:ext uri="{BB962C8B-B14F-4D97-AF65-F5344CB8AC3E}">
        <p14:creationId xmlns:p14="http://schemas.microsoft.com/office/powerpoint/2010/main" val="410968338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75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175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11">
                                            <p:txEl>
                                              <p:pRg st="0" end="0"/>
                                            </p:txEl>
                                          </p:spTgt>
                                        </p:tgtEl>
                                        <p:attrNameLst>
                                          <p:attrName>style.visibility</p:attrName>
                                        </p:attrNameLst>
                                      </p:cBhvr>
                                      <p:to>
                                        <p:strVal val="visible"/>
                                      </p:to>
                                    </p:set>
                                    <p:animEffect transition="in" filter="wipe(left)">
                                      <p:cBhvr>
                                        <p:cTn id="17" dur="2000"/>
                                        <p:tgtEl>
                                          <p:spTgt spid="11">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11" grpId="0" build="p"/>
    </p:bldLst>
  </p:timing>
</p:sld>
</file>

<file path=ppt/slides/slide13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Database Definition</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SELECT </a:t>
            </a:r>
            <a:r>
              <a:rPr lang="en-US" altLang="en-US" sz="4000" dirty="0" err="1">
                <a:solidFill>
                  <a:srgbClr val="A71D5D"/>
                </a:solidFill>
                <a:latin typeface="Consolas" panose="020B0609020204030204" pitchFamily="49" charset="0"/>
              </a:rPr>
              <a:t>sql</a:t>
            </a:r>
            <a:endParaRPr lang="en-US" altLang="en-US" sz="40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FROM</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sqlite_schema</a:t>
            </a:r>
            <a:r>
              <a:rPr lang="en-US" altLang="en-US" sz="4000" dirty="0">
                <a:solidFill>
                  <a:srgbClr val="000000"/>
                </a:solidFill>
                <a:latin typeface="Consolas" panose="020B0609020204030204" pitchFamily="49" charset="0"/>
              </a:rPr>
              <a:t>;</a:t>
            </a:r>
            <a:br>
              <a:rPr lang="en-US" altLang="en-US" sz="4000" dirty="0">
                <a:solidFill>
                  <a:srgbClr val="000000"/>
                </a:solidFill>
                <a:latin typeface="Consolas" panose="020B0609020204030204" pitchFamily="49" charset="0"/>
              </a:rPr>
            </a:br>
            <a:endParaRPr lang="en-US" altLang="en-US" sz="4000" dirty="0">
              <a:latin typeface="Arial" panose="020B0604020202020204" pitchFamily="34" charset="0"/>
            </a:endParaRPr>
          </a:p>
        </p:txBody>
      </p:sp>
      <p:sp>
        <p:nvSpPr>
          <p:cNvPr id="11" name="TextBox 10">
            <a:extLst>
              <a:ext uri="{FF2B5EF4-FFF2-40B4-BE49-F238E27FC236}">
                <a16:creationId xmlns:a16="http://schemas.microsoft.com/office/drawing/2014/main" id="{027ADC58-29AC-4336-9E4E-EBA26B8FE749}"/>
              </a:ext>
            </a:extLst>
          </p:cNvPr>
          <p:cNvSpPr txBox="1"/>
          <p:nvPr/>
        </p:nvSpPr>
        <p:spPr>
          <a:xfrm>
            <a:off x="2446244" y="5111571"/>
            <a:ext cx="7299511" cy="1200329"/>
          </a:xfrm>
          <a:prstGeom prst="rect">
            <a:avLst/>
          </a:prstGeom>
          <a:noFill/>
        </p:spPr>
        <p:txBody>
          <a:bodyPr wrap="square" rtlCol="0">
            <a:spAutoFit/>
          </a:bodyPr>
          <a:lstStyle/>
          <a:p>
            <a:pPr algn="ctr"/>
            <a:r>
              <a:rPr lang="en-US" altLang="en-US" sz="3600" dirty="0">
                <a:solidFill>
                  <a:srgbClr val="000000"/>
                </a:solidFill>
                <a:latin typeface="Consolas" panose="020B0609020204030204" pitchFamily="49" charset="0"/>
              </a:rPr>
              <a:t>             </a:t>
            </a:r>
            <a:r>
              <a:rPr lang="en-GB" sz="3600" dirty="0">
                <a:solidFill>
                  <a:srgbClr val="7030A0"/>
                </a:solidFill>
              </a:rPr>
              <a:t> is a table that holds information about the database</a:t>
            </a:r>
            <a:endParaRPr lang="en-GB" sz="3600" dirty="0">
              <a:solidFill>
                <a:srgbClr val="7030A0"/>
              </a:solidFill>
              <a:latin typeface="Consolas" panose="020B0609020204030204" pitchFamily="49" charset="0"/>
            </a:endParaRPr>
          </a:p>
        </p:txBody>
      </p:sp>
    </p:spTree>
    <p:extLst>
      <p:ext uri="{BB962C8B-B14F-4D97-AF65-F5344CB8AC3E}">
        <p14:creationId xmlns:p14="http://schemas.microsoft.com/office/powerpoint/2010/main" val="1297078891"/>
      </p:ext>
    </p:extLst>
  </p:cSld>
  <p:clrMapOvr>
    <a:masterClrMapping/>
  </p:clrMapOvr>
</p:sld>
</file>

<file path=ppt/slides/slide1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Modify Table: 1 Get Table Definition</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SELECT </a:t>
            </a:r>
            <a:r>
              <a:rPr lang="en-US" altLang="en-US" sz="4000" dirty="0" err="1">
                <a:solidFill>
                  <a:srgbClr val="000000"/>
                </a:solidFill>
                <a:latin typeface="Consolas" panose="020B0609020204030204" pitchFamily="49" charset="0"/>
              </a:rPr>
              <a:t>sql</a:t>
            </a:r>
            <a:endParaRPr lang="en-US" altLang="en-US" sz="40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FROM</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sqlite_schema</a:t>
            </a:r>
            <a:endParaRPr lang="en-US" altLang="en-US" sz="40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3   </a:t>
            </a:r>
            <a:r>
              <a:rPr lang="en-US" altLang="en-US" sz="4000" dirty="0">
                <a:solidFill>
                  <a:srgbClr val="A71D5D"/>
                </a:solidFill>
                <a:latin typeface="Consolas" panose="020B0609020204030204" pitchFamily="49" charset="0"/>
              </a:rPr>
              <a:t>WHERE </a:t>
            </a:r>
            <a:r>
              <a:rPr lang="en-US" altLang="en-US" sz="4000" dirty="0" err="1">
                <a:solidFill>
                  <a:srgbClr val="000000"/>
                </a:solidFill>
                <a:latin typeface="Consolas" panose="020B0609020204030204" pitchFamily="49" charset="0"/>
              </a:rPr>
              <a:t>tbl_name</a:t>
            </a:r>
            <a:r>
              <a:rPr lang="en-US" altLang="en-US" sz="4000" dirty="0">
                <a:solidFill>
                  <a:srgbClr val="000000"/>
                </a:solidFill>
                <a:latin typeface="Consolas" panose="020B0609020204030204" pitchFamily="49" charset="0"/>
              </a:rPr>
              <a:t> = </a:t>
            </a:r>
            <a:r>
              <a:rPr lang="en-US" altLang="en-US" sz="4000" dirty="0">
                <a:solidFill>
                  <a:srgbClr val="183691"/>
                </a:solidFill>
                <a:latin typeface="Consolas" panose="020B0609020204030204" pitchFamily="49" charset="0"/>
              </a:rPr>
              <a:t>"staff"</a:t>
            </a:r>
            <a:r>
              <a:rPr lang="en-US" altLang="en-US" sz="4000" dirty="0">
                <a:solidFill>
                  <a:srgbClr val="000000"/>
                </a:solidFill>
                <a:latin typeface="Consolas" panose="020B0609020204030204" pitchFamily="49" charset="0"/>
              </a:rPr>
              <a:t>;</a:t>
            </a:r>
            <a:br>
              <a:rPr lang="en-US" altLang="en-US" sz="4000" dirty="0">
                <a:solidFill>
                  <a:srgbClr val="000000"/>
                </a:solidFill>
                <a:latin typeface="Consolas" panose="020B0609020204030204" pitchFamily="49" charset="0"/>
              </a:rPr>
            </a:br>
            <a:endParaRPr lang="en-US" altLang="en-US" sz="4000" dirty="0">
              <a:latin typeface="Arial" panose="020B0604020202020204" pitchFamily="34" charset="0"/>
            </a:endParaRPr>
          </a:p>
        </p:txBody>
      </p:sp>
      <p:sp>
        <p:nvSpPr>
          <p:cNvPr id="4" name="Callout: Bent Line with No Border 3">
            <a:extLst>
              <a:ext uri="{FF2B5EF4-FFF2-40B4-BE49-F238E27FC236}">
                <a16:creationId xmlns:a16="http://schemas.microsoft.com/office/drawing/2014/main" id="{E047F7BC-FA07-FA57-5095-E57424A36FC7}"/>
              </a:ext>
            </a:extLst>
          </p:cNvPr>
          <p:cNvSpPr/>
          <p:nvPr/>
        </p:nvSpPr>
        <p:spPr>
          <a:xfrm>
            <a:off x="9599390" y="2012695"/>
            <a:ext cx="1085850" cy="718344"/>
          </a:xfrm>
          <a:prstGeom prst="callout2">
            <a:avLst>
              <a:gd name="adj1" fmla="val 49990"/>
              <a:gd name="adj2" fmla="val -52"/>
              <a:gd name="adj3" fmla="val 50311"/>
              <a:gd name="adj4" fmla="val -43860"/>
              <a:gd name="adj5" fmla="val 144769"/>
              <a:gd name="adj6" fmla="val -104575"/>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Table</a:t>
            </a:r>
          </a:p>
        </p:txBody>
      </p:sp>
      <p:sp>
        <p:nvSpPr>
          <p:cNvPr id="10" name="TextBox 9">
            <a:extLst>
              <a:ext uri="{FF2B5EF4-FFF2-40B4-BE49-F238E27FC236}">
                <a16:creationId xmlns:a16="http://schemas.microsoft.com/office/drawing/2014/main" id="{0E523A2E-4E81-1110-D5F2-FAB72AD8D149}"/>
              </a:ext>
            </a:extLst>
          </p:cNvPr>
          <p:cNvSpPr txBox="1"/>
          <p:nvPr/>
        </p:nvSpPr>
        <p:spPr>
          <a:xfrm>
            <a:off x="4413852" y="3962400"/>
            <a:ext cx="5938462" cy="2677656"/>
          </a:xfrm>
          <a:prstGeom prst="rect">
            <a:avLst/>
          </a:prstGeom>
          <a:solidFill>
            <a:schemeClr val="bg1"/>
          </a:solidFill>
        </p:spPr>
        <p:txBody>
          <a:bodyPr wrap="square">
            <a:spAutoFit/>
          </a:bodyPr>
          <a:lstStyle/>
          <a:p>
            <a:r>
              <a:rPr lang="en-GB" sz="2400" dirty="0">
                <a:latin typeface="Consolas" panose="020B0609020204030204" pitchFamily="49" charset="0"/>
              </a:rPr>
              <a:t>CREATE TABLE staff (               </a:t>
            </a:r>
          </a:p>
          <a:p>
            <a:r>
              <a:rPr lang="en-GB" sz="2400" dirty="0">
                <a:latin typeface="Consolas" panose="020B0609020204030204" pitchFamily="49" charset="0"/>
              </a:rPr>
              <a:t>        </a:t>
            </a:r>
            <a:r>
              <a:rPr lang="en-GB" sz="2400" dirty="0" err="1">
                <a:latin typeface="Consolas" panose="020B0609020204030204" pitchFamily="49" charset="0"/>
              </a:rPr>
              <a:t>staffID</a:t>
            </a:r>
            <a:r>
              <a:rPr lang="en-GB" sz="2400" dirty="0">
                <a:latin typeface="Consolas" panose="020B0609020204030204" pitchFamily="49" charset="0"/>
              </a:rPr>
              <a:t> INT NOT NULL,       </a:t>
            </a:r>
          </a:p>
          <a:p>
            <a:r>
              <a:rPr lang="en-GB" sz="2400" dirty="0">
                <a:latin typeface="Consolas" panose="020B0609020204030204" pitchFamily="49" charset="0"/>
              </a:rPr>
              <a:t>        title VARCHAR(6) NOT NULL, </a:t>
            </a:r>
          </a:p>
          <a:p>
            <a:r>
              <a:rPr lang="en-GB" sz="2400" dirty="0">
                <a:latin typeface="Consolas" panose="020B0609020204030204" pitchFamily="49" charset="0"/>
              </a:rPr>
              <a:t>        </a:t>
            </a:r>
            <a:r>
              <a:rPr lang="en-GB" sz="2400" dirty="0" err="1">
                <a:latin typeface="Consolas" panose="020B0609020204030204" pitchFamily="49" charset="0"/>
              </a:rPr>
              <a:t>lastName</a:t>
            </a:r>
            <a:r>
              <a:rPr lang="en-GB" sz="2400" dirty="0">
                <a:latin typeface="Consolas" panose="020B0609020204030204" pitchFamily="49" charset="0"/>
              </a:rPr>
              <a:t> VARCHAR(30),       </a:t>
            </a:r>
          </a:p>
          <a:p>
            <a:r>
              <a:rPr lang="en-GB" sz="2400" dirty="0">
                <a:latin typeface="Consolas" panose="020B0609020204030204" pitchFamily="49" charset="0"/>
              </a:rPr>
              <a:t>        role VARCHAR(15) NOT NULL,</a:t>
            </a:r>
          </a:p>
          <a:p>
            <a:r>
              <a:rPr lang="en-GB" sz="2400" dirty="0">
                <a:latin typeface="Consolas" panose="020B0609020204030204" pitchFamily="49" charset="0"/>
              </a:rPr>
              <a:t>        PRIMARY KEY(</a:t>
            </a:r>
            <a:r>
              <a:rPr lang="en-GB" sz="2400" dirty="0" err="1">
                <a:latin typeface="Consolas" panose="020B0609020204030204" pitchFamily="49" charset="0"/>
              </a:rPr>
              <a:t>staffID</a:t>
            </a:r>
            <a:r>
              <a:rPr lang="en-GB" sz="2400" dirty="0">
                <a:latin typeface="Consolas" panose="020B0609020204030204" pitchFamily="49" charset="0"/>
              </a:rPr>
              <a:t>)        </a:t>
            </a:r>
          </a:p>
          <a:p>
            <a:r>
              <a:rPr lang="en-GB" sz="2400" dirty="0">
                <a:latin typeface="Consolas" panose="020B0609020204030204" pitchFamily="49" charset="0"/>
              </a:rPr>
              <a:t>); </a:t>
            </a:r>
          </a:p>
        </p:txBody>
      </p:sp>
      <p:grpSp>
        <p:nvGrpSpPr>
          <p:cNvPr id="15" name="Group 14">
            <a:extLst>
              <a:ext uri="{FF2B5EF4-FFF2-40B4-BE49-F238E27FC236}">
                <a16:creationId xmlns:a16="http://schemas.microsoft.com/office/drawing/2014/main" id="{472CD3B9-0306-45A5-6465-AEE3EF1CC0DA}"/>
              </a:ext>
            </a:extLst>
          </p:cNvPr>
          <p:cNvGrpSpPr/>
          <p:nvPr/>
        </p:nvGrpSpPr>
        <p:grpSpPr>
          <a:xfrm>
            <a:off x="1603340" y="5039618"/>
            <a:ext cx="2446150" cy="523220"/>
            <a:chOff x="1202984" y="4979421"/>
            <a:chExt cx="2446150" cy="523220"/>
          </a:xfrm>
        </p:grpSpPr>
        <p:sp>
          <p:nvSpPr>
            <p:cNvPr id="13" name="Arrow: Right 12">
              <a:extLst>
                <a:ext uri="{FF2B5EF4-FFF2-40B4-BE49-F238E27FC236}">
                  <a16:creationId xmlns:a16="http://schemas.microsoft.com/office/drawing/2014/main" id="{A36AD98B-BEBE-5C19-71B3-02152A7E31EA}"/>
                </a:ext>
              </a:extLst>
            </p:cNvPr>
            <p:cNvSpPr/>
            <p:nvPr/>
          </p:nvSpPr>
          <p:spPr>
            <a:xfrm>
              <a:off x="2670726" y="4998715"/>
              <a:ext cx="978408" cy="484632"/>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a:p>
          </p:txBody>
        </p:sp>
        <p:sp>
          <p:nvSpPr>
            <p:cNvPr id="14" name="TextBox 13">
              <a:extLst>
                <a:ext uri="{FF2B5EF4-FFF2-40B4-BE49-F238E27FC236}">
                  <a16:creationId xmlns:a16="http://schemas.microsoft.com/office/drawing/2014/main" id="{F7A7BDE9-1158-6911-E928-0344D8411A1E}"/>
                </a:ext>
              </a:extLst>
            </p:cNvPr>
            <p:cNvSpPr txBox="1"/>
            <p:nvPr/>
          </p:nvSpPr>
          <p:spPr>
            <a:xfrm>
              <a:off x="1202984" y="4979421"/>
              <a:ext cx="1253869" cy="523220"/>
            </a:xfrm>
            <a:prstGeom prst="rect">
              <a:avLst/>
            </a:prstGeom>
            <a:noFill/>
          </p:spPr>
          <p:txBody>
            <a:bodyPr wrap="none" rtlCol="0">
              <a:spAutoFit/>
            </a:bodyPr>
            <a:lstStyle/>
            <a:p>
              <a:r>
                <a:rPr lang="en-GB" sz="2800" b="1" dirty="0">
                  <a:solidFill>
                    <a:srgbClr val="7030A0"/>
                  </a:solidFill>
                </a:rPr>
                <a:t>Output</a:t>
              </a:r>
            </a:p>
          </p:txBody>
        </p:sp>
      </p:grpSp>
    </p:spTree>
    <p:extLst>
      <p:ext uri="{BB962C8B-B14F-4D97-AF65-F5344CB8AC3E}">
        <p14:creationId xmlns:p14="http://schemas.microsoft.com/office/powerpoint/2010/main" val="209819822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75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175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175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4"/>
                                        </p:tgtEl>
                                        <p:attrNameLst>
                                          <p:attrName>style.visibility</p:attrName>
                                        </p:attrNameLst>
                                      </p:cBhvr>
                                      <p:to>
                                        <p:strVal val="visible"/>
                                      </p:to>
                                    </p:set>
                                    <p:animEffect transition="in" filter="fade">
                                      <p:cBhvr>
                                        <p:cTn id="22" dur="1000"/>
                                        <p:tgtEl>
                                          <p:spTgt spid="4"/>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nodeType="clickEffect">
                                  <p:stCondLst>
                                    <p:cond delay="0"/>
                                  </p:stCondLst>
                                  <p:childTnLst>
                                    <p:set>
                                      <p:cBhvr>
                                        <p:cTn id="26" dur="1" fill="hold">
                                          <p:stCondLst>
                                            <p:cond delay="0"/>
                                          </p:stCondLst>
                                        </p:cTn>
                                        <p:tgtEl>
                                          <p:spTgt spid="15"/>
                                        </p:tgtEl>
                                        <p:attrNameLst>
                                          <p:attrName>style.visibility</p:attrName>
                                        </p:attrNameLst>
                                      </p:cBhvr>
                                      <p:to>
                                        <p:strVal val="visible"/>
                                      </p:to>
                                    </p:set>
                                    <p:animEffect transition="in" filter="wipe(left)">
                                      <p:cBhvr>
                                        <p:cTn id="27" dur="1500"/>
                                        <p:tgtEl>
                                          <p:spTgt spid="15"/>
                                        </p:tgtEl>
                                      </p:cBhvr>
                                    </p:animEffect>
                                  </p:childTnLst>
                                </p:cTn>
                              </p:par>
                            </p:childTnLst>
                          </p:cTn>
                        </p:par>
                        <p:par>
                          <p:cTn id="28" fill="hold">
                            <p:stCondLst>
                              <p:cond delay="1500"/>
                            </p:stCondLst>
                            <p:childTnLst>
                              <p:par>
                                <p:cTn id="29" presetID="10" presetClass="entr" presetSubtype="0" fill="hold" grpId="0" nodeType="afterEffect">
                                  <p:stCondLst>
                                    <p:cond delay="0"/>
                                  </p:stCondLst>
                                  <p:childTnLst>
                                    <p:set>
                                      <p:cBhvr>
                                        <p:cTn id="30" dur="1" fill="hold">
                                          <p:stCondLst>
                                            <p:cond delay="0"/>
                                          </p:stCondLst>
                                        </p:cTn>
                                        <p:tgtEl>
                                          <p:spTgt spid="10"/>
                                        </p:tgtEl>
                                        <p:attrNameLst>
                                          <p:attrName>style.visibility</p:attrName>
                                        </p:attrNameLst>
                                      </p:cBhvr>
                                      <p:to>
                                        <p:strVal val="visible"/>
                                      </p:to>
                                    </p:set>
                                    <p:animEffect transition="in" filter="fade">
                                      <p:cBhvr>
                                        <p:cTn id="31" dur="10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4" grpId="0" animBg="1"/>
      <p:bldP spid="10" grpId="0" animBg="1"/>
    </p:bldLst>
  </p:timing>
</p:sld>
</file>

<file path=ppt/slides/slide133.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3456FBC0-E7A8-E58D-730D-AA3D7AE3857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1DDA024-3B4D-1DDC-6377-67193DA4B2F9}"/>
              </a:ext>
            </a:extLst>
          </p:cNvPr>
          <p:cNvSpPr>
            <a:spLocks noGrp="1"/>
          </p:cNvSpPr>
          <p:nvPr>
            <p:ph type="title"/>
          </p:nvPr>
        </p:nvSpPr>
        <p:spPr/>
        <p:txBody>
          <a:bodyPr/>
          <a:lstStyle/>
          <a:p>
            <a:r>
              <a:rPr lang="en-GB" dirty="0"/>
              <a:t>Modify Table: 1 Get Table Definition</a:t>
            </a:r>
          </a:p>
        </p:txBody>
      </p:sp>
      <p:sp>
        <p:nvSpPr>
          <p:cNvPr id="3" name="Content Placeholder 2">
            <a:extLst>
              <a:ext uri="{FF2B5EF4-FFF2-40B4-BE49-F238E27FC236}">
                <a16:creationId xmlns:a16="http://schemas.microsoft.com/office/drawing/2014/main" id="{E5D23418-9FC5-76A5-065A-C99BB5BE70F7}"/>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SELECT </a:t>
            </a:r>
            <a:r>
              <a:rPr lang="en-US" altLang="en-US" sz="4000" dirty="0" err="1">
                <a:solidFill>
                  <a:srgbClr val="000000"/>
                </a:solidFill>
                <a:latin typeface="Consolas" panose="020B0609020204030204" pitchFamily="49" charset="0"/>
              </a:rPr>
              <a:t>sql</a:t>
            </a:r>
            <a:endParaRPr lang="en-US" altLang="en-US" sz="40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FROM</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sqlite_schema</a:t>
            </a:r>
            <a:endParaRPr lang="en-US" altLang="en-US" sz="40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3   </a:t>
            </a:r>
            <a:r>
              <a:rPr lang="en-US" altLang="en-US" sz="4000" dirty="0">
                <a:solidFill>
                  <a:srgbClr val="A71D5D"/>
                </a:solidFill>
                <a:latin typeface="Consolas" panose="020B0609020204030204" pitchFamily="49" charset="0"/>
              </a:rPr>
              <a:t>WHERE </a:t>
            </a:r>
            <a:r>
              <a:rPr lang="en-US" altLang="en-US" sz="4000" dirty="0" err="1">
                <a:solidFill>
                  <a:srgbClr val="000000"/>
                </a:solidFill>
                <a:latin typeface="Consolas" panose="020B0609020204030204" pitchFamily="49" charset="0"/>
              </a:rPr>
              <a:t>tbl_name</a:t>
            </a:r>
            <a:r>
              <a:rPr lang="en-US" altLang="en-US" sz="4000" dirty="0">
                <a:solidFill>
                  <a:srgbClr val="000000"/>
                </a:solidFill>
                <a:latin typeface="Consolas" panose="020B0609020204030204" pitchFamily="49" charset="0"/>
              </a:rPr>
              <a:t> = </a:t>
            </a:r>
            <a:r>
              <a:rPr lang="en-US" altLang="en-US" sz="4000" dirty="0">
                <a:solidFill>
                  <a:srgbClr val="183691"/>
                </a:solidFill>
                <a:latin typeface="Consolas" panose="020B0609020204030204" pitchFamily="49" charset="0"/>
              </a:rPr>
              <a:t>"staff"</a:t>
            </a:r>
            <a:r>
              <a:rPr lang="en-US" altLang="en-US" sz="4000" dirty="0">
                <a:solidFill>
                  <a:srgbClr val="000000"/>
                </a:solidFill>
                <a:latin typeface="Consolas" panose="020B0609020204030204" pitchFamily="49" charset="0"/>
              </a:rPr>
              <a:t>;</a:t>
            </a:r>
            <a:br>
              <a:rPr lang="en-US" altLang="en-US" sz="4000" dirty="0">
                <a:solidFill>
                  <a:srgbClr val="000000"/>
                </a:solidFill>
                <a:latin typeface="Consolas" panose="020B0609020204030204" pitchFamily="49" charset="0"/>
              </a:rPr>
            </a:br>
            <a:endParaRPr lang="en-US" altLang="en-US" sz="4000" dirty="0">
              <a:latin typeface="Arial" panose="020B0604020202020204" pitchFamily="34" charset="0"/>
            </a:endParaRPr>
          </a:p>
        </p:txBody>
      </p:sp>
      <p:sp>
        <p:nvSpPr>
          <p:cNvPr id="10" name="TextBox 9">
            <a:extLst>
              <a:ext uri="{FF2B5EF4-FFF2-40B4-BE49-F238E27FC236}">
                <a16:creationId xmlns:a16="http://schemas.microsoft.com/office/drawing/2014/main" id="{DC2B2D4D-62A8-D1A0-DC6A-ACF5A5C232E3}"/>
              </a:ext>
            </a:extLst>
          </p:cNvPr>
          <p:cNvSpPr txBox="1"/>
          <p:nvPr/>
        </p:nvSpPr>
        <p:spPr>
          <a:xfrm>
            <a:off x="4413852" y="3962400"/>
            <a:ext cx="5938462" cy="2677656"/>
          </a:xfrm>
          <a:prstGeom prst="rect">
            <a:avLst/>
          </a:prstGeom>
          <a:solidFill>
            <a:schemeClr val="bg1"/>
          </a:solidFill>
        </p:spPr>
        <p:txBody>
          <a:bodyPr wrap="square">
            <a:spAutoFit/>
          </a:bodyPr>
          <a:lstStyle/>
          <a:p>
            <a:r>
              <a:rPr lang="en-GB" sz="2400" dirty="0">
                <a:latin typeface="Consolas" panose="020B0609020204030204" pitchFamily="49" charset="0"/>
              </a:rPr>
              <a:t>CREATE TABLE staff (               </a:t>
            </a:r>
          </a:p>
          <a:p>
            <a:r>
              <a:rPr lang="en-GB" sz="2400" dirty="0">
                <a:latin typeface="Consolas" panose="020B0609020204030204" pitchFamily="49" charset="0"/>
              </a:rPr>
              <a:t>        </a:t>
            </a:r>
            <a:r>
              <a:rPr lang="en-GB" sz="2400" dirty="0" err="1">
                <a:latin typeface="Consolas" panose="020B0609020204030204" pitchFamily="49" charset="0"/>
              </a:rPr>
              <a:t>staffID</a:t>
            </a:r>
            <a:r>
              <a:rPr lang="en-GB" sz="2400" dirty="0">
                <a:latin typeface="Consolas" panose="020B0609020204030204" pitchFamily="49" charset="0"/>
              </a:rPr>
              <a:t> INT NOT NULL,       </a:t>
            </a:r>
          </a:p>
          <a:p>
            <a:r>
              <a:rPr lang="en-GB" sz="2400" dirty="0">
                <a:latin typeface="Consolas" panose="020B0609020204030204" pitchFamily="49" charset="0"/>
              </a:rPr>
              <a:t>        title VARCHAR(6) NOT NULL, </a:t>
            </a:r>
          </a:p>
          <a:p>
            <a:r>
              <a:rPr lang="en-GB" sz="2400" dirty="0">
                <a:latin typeface="Consolas" panose="020B0609020204030204" pitchFamily="49" charset="0"/>
              </a:rPr>
              <a:t>        </a:t>
            </a:r>
            <a:r>
              <a:rPr lang="en-GB" sz="2400" dirty="0" err="1">
                <a:latin typeface="Consolas" panose="020B0609020204030204" pitchFamily="49" charset="0"/>
              </a:rPr>
              <a:t>lastName</a:t>
            </a:r>
            <a:r>
              <a:rPr lang="en-GB" sz="2400" dirty="0">
                <a:latin typeface="Consolas" panose="020B0609020204030204" pitchFamily="49" charset="0"/>
              </a:rPr>
              <a:t> VARCHAR(30),       </a:t>
            </a:r>
          </a:p>
          <a:p>
            <a:r>
              <a:rPr lang="en-GB" sz="2400" dirty="0">
                <a:latin typeface="Consolas" panose="020B0609020204030204" pitchFamily="49" charset="0"/>
              </a:rPr>
              <a:t>        role VARCHAR(15) NOT NULL,</a:t>
            </a:r>
          </a:p>
          <a:p>
            <a:r>
              <a:rPr lang="en-GB" sz="2400" dirty="0">
                <a:latin typeface="Consolas" panose="020B0609020204030204" pitchFamily="49" charset="0"/>
              </a:rPr>
              <a:t>        PRIMARY KEY(</a:t>
            </a:r>
            <a:r>
              <a:rPr lang="en-GB" sz="2400" dirty="0" err="1">
                <a:latin typeface="Consolas" panose="020B0609020204030204" pitchFamily="49" charset="0"/>
              </a:rPr>
              <a:t>staffID</a:t>
            </a:r>
            <a:r>
              <a:rPr lang="en-GB" sz="2400" dirty="0">
                <a:latin typeface="Consolas" panose="020B0609020204030204" pitchFamily="49" charset="0"/>
              </a:rPr>
              <a:t>)        </a:t>
            </a:r>
          </a:p>
          <a:p>
            <a:r>
              <a:rPr lang="en-GB" sz="2400" dirty="0">
                <a:latin typeface="Consolas" panose="020B0609020204030204" pitchFamily="49" charset="0"/>
              </a:rPr>
              <a:t>); </a:t>
            </a:r>
          </a:p>
        </p:txBody>
      </p:sp>
    </p:spTree>
    <p:extLst>
      <p:ext uri="{BB962C8B-B14F-4D97-AF65-F5344CB8AC3E}">
        <p14:creationId xmlns:p14="http://schemas.microsoft.com/office/powerpoint/2010/main" val="1585838069"/>
      </p:ext>
    </p:extLst>
  </p:cSld>
  <p:clrMapOvr>
    <a:masterClrMapping/>
  </p:clrMapOvr>
</p:sld>
</file>

<file path=ppt/slides/slide134.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Modify Table: 1 Get Table Definition</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000000"/>
                </a:solidFill>
                <a:latin typeface="Consolas" panose="020B0609020204030204" pitchFamily="49" charset="0"/>
              </a:rPr>
              <a:t>.</a:t>
            </a:r>
            <a:r>
              <a:rPr lang="en-US" altLang="en-US" sz="4400" dirty="0">
                <a:solidFill>
                  <a:srgbClr val="A71D5D"/>
                </a:solidFill>
                <a:latin typeface="Consolas" panose="020B0609020204030204" pitchFamily="49" charset="0"/>
              </a:rPr>
              <a:t>schema</a:t>
            </a:r>
            <a:r>
              <a:rPr lang="en-US" altLang="en-US" sz="4400" dirty="0">
                <a:solidFill>
                  <a:srgbClr val="000000"/>
                </a:solidFill>
                <a:latin typeface="Consolas" panose="020B0609020204030204" pitchFamily="49" charset="0"/>
              </a:rPr>
              <a:t> staff</a:t>
            </a:r>
            <a:endParaRPr lang="en-US" altLang="en-US" sz="6000" dirty="0">
              <a:latin typeface="Arial" panose="020B0604020202020204" pitchFamily="34" charset="0"/>
            </a:endParaRPr>
          </a:p>
        </p:txBody>
      </p:sp>
      <p:sp>
        <p:nvSpPr>
          <p:cNvPr id="4" name="Callout: Bent Line with No Border 3">
            <a:extLst>
              <a:ext uri="{FF2B5EF4-FFF2-40B4-BE49-F238E27FC236}">
                <a16:creationId xmlns:a16="http://schemas.microsoft.com/office/drawing/2014/main" id="{E047F7BC-FA07-FA57-5095-E57424A36FC7}"/>
              </a:ext>
            </a:extLst>
          </p:cNvPr>
          <p:cNvSpPr/>
          <p:nvPr/>
        </p:nvSpPr>
        <p:spPr>
          <a:xfrm>
            <a:off x="4671479" y="2999410"/>
            <a:ext cx="1085850" cy="718344"/>
          </a:xfrm>
          <a:prstGeom prst="callout2">
            <a:avLst>
              <a:gd name="adj1" fmla="val 49990"/>
              <a:gd name="adj2" fmla="val -52"/>
              <a:gd name="adj3" fmla="val 50311"/>
              <a:gd name="adj4" fmla="val -43860"/>
              <a:gd name="adj5" fmla="val -52329"/>
              <a:gd name="adj6" fmla="val -44813"/>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Table</a:t>
            </a:r>
          </a:p>
        </p:txBody>
      </p:sp>
      <p:sp>
        <p:nvSpPr>
          <p:cNvPr id="6" name="Callout: Bent Line with No Border 5">
            <a:extLst>
              <a:ext uri="{FF2B5EF4-FFF2-40B4-BE49-F238E27FC236}">
                <a16:creationId xmlns:a16="http://schemas.microsoft.com/office/drawing/2014/main" id="{DEC21E10-375A-0A9D-2F84-A3F122B207B0}"/>
              </a:ext>
            </a:extLst>
          </p:cNvPr>
          <p:cNvSpPr/>
          <p:nvPr/>
        </p:nvSpPr>
        <p:spPr>
          <a:xfrm>
            <a:off x="7469302" y="2640238"/>
            <a:ext cx="2486025" cy="718344"/>
          </a:xfrm>
          <a:prstGeom prst="callout2">
            <a:avLst>
              <a:gd name="adj1" fmla="val 49990"/>
              <a:gd name="adj2" fmla="val -52"/>
              <a:gd name="adj3" fmla="val 50057"/>
              <a:gd name="adj4" fmla="val -76310"/>
              <a:gd name="adj5" fmla="val -4410"/>
              <a:gd name="adj6" fmla="val -76242"/>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No semi-colon</a:t>
            </a:r>
          </a:p>
        </p:txBody>
      </p:sp>
      <p:sp>
        <p:nvSpPr>
          <p:cNvPr id="8" name="Callout: Bent Line with No Border 7">
            <a:extLst>
              <a:ext uri="{FF2B5EF4-FFF2-40B4-BE49-F238E27FC236}">
                <a16:creationId xmlns:a16="http://schemas.microsoft.com/office/drawing/2014/main" id="{78DF4B25-8E1A-1EA2-7BCA-BB75BAAA720F}"/>
              </a:ext>
            </a:extLst>
          </p:cNvPr>
          <p:cNvSpPr/>
          <p:nvPr/>
        </p:nvSpPr>
        <p:spPr>
          <a:xfrm>
            <a:off x="2184246" y="2999410"/>
            <a:ext cx="1085850" cy="718344"/>
          </a:xfrm>
          <a:prstGeom prst="callout2">
            <a:avLst>
              <a:gd name="adj1" fmla="val 49990"/>
              <a:gd name="adj2" fmla="val -52"/>
              <a:gd name="adj3" fmla="val 50311"/>
              <a:gd name="adj4" fmla="val -43860"/>
              <a:gd name="adj5" fmla="val -52329"/>
              <a:gd name="adj6" fmla="val -44813"/>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dot</a:t>
            </a:r>
          </a:p>
        </p:txBody>
      </p:sp>
      <p:sp>
        <p:nvSpPr>
          <p:cNvPr id="10" name="TextBox 9">
            <a:extLst>
              <a:ext uri="{FF2B5EF4-FFF2-40B4-BE49-F238E27FC236}">
                <a16:creationId xmlns:a16="http://schemas.microsoft.com/office/drawing/2014/main" id="{0E523A2E-4E81-1110-D5F2-FAB72AD8D149}"/>
              </a:ext>
            </a:extLst>
          </p:cNvPr>
          <p:cNvSpPr txBox="1"/>
          <p:nvPr/>
        </p:nvSpPr>
        <p:spPr>
          <a:xfrm>
            <a:off x="4185338" y="3847965"/>
            <a:ext cx="4599433" cy="2677656"/>
          </a:xfrm>
          <a:prstGeom prst="rect">
            <a:avLst/>
          </a:prstGeom>
          <a:solidFill>
            <a:schemeClr val="bg1"/>
          </a:solidFill>
        </p:spPr>
        <p:txBody>
          <a:bodyPr wrap="square">
            <a:spAutoFit/>
          </a:bodyPr>
          <a:lstStyle/>
          <a:p>
            <a:r>
              <a:rPr lang="en-GB" sz="2400" dirty="0">
                <a:latin typeface="Consolas" panose="020B0609020204030204" pitchFamily="49" charset="0"/>
              </a:rPr>
              <a:t>CREATE TABLE staff (</a:t>
            </a:r>
          </a:p>
          <a:p>
            <a:r>
              <a:rPr lang="en-GB" sz="2400" dirty="0">
                <a:latin typeface="Consolas" panose="020B0609020204030204" pitchFamily="49" charset="0"/>
              </a:rPr>
              <a:t>    </a:t>
            </a:r>
            <a:r>
              <a:rPr lang="en-GB" sz="2400" dirty="0" err="1">
                <a:latin typeface="Consolas" panose="020B0609020204030204" pitchFamily="49" charset="0"/>
              </a:rPr>
              <a:t>staffID</a:t>
            </a:r>
            <a:r>
              <a:rPr lang="en-GB" sz="2400" dirty="0">
                <a:latin typeface="Consolas" panose="020B0609020204030204" pitchFamily="49" charset="0"/>
              </a:rPr>
              <a:t> INT NOT NULL,</a:t>
            </a:r>
          </a:p>
          <a:p>
            <a:r>
              <a:rPr lang="en-GB" sz="2400" dirty="0">
                <a:latin typeface="Consolas" panose="020B0609020204030204" pitchFamily="49" charset="0"/>
              </a:rPr>
              <a:t>    title TEXT NOT NULL,</a:t>
            </a:r>
          </a:p>
          <a:p>
            <a:r>
              <a:rPr lang="en-GB" sz="2400" dirty="0">
                <a:latin typeface="Consolas" panose="020B0609020204030204" pitchFamily="49" charset="0"/>
              </a:rPr>
              <a:t>    </a:t>
            </a:r>
            <a:r>
              <a:rPr lang="en-GB" sz="2400" dirty="0" err="1">
                <a:latin typeface="Consolas" panose="020B0609020204030204" pitchFamily="49" charset="0"/>
              </a:rPr>
              <a:t>lastName</a:t>
            </a:r>
            <a:r>
              <a:rPr lang="en-GB" sz="2400" dirty="0">
                <a:latin typeface="Consolas" panose="020B0609020204030204" pitchFamily="49" charset="0"/>
              </a:rPr>
              <a:t> TEXT,</a:t>
            </a:r>
          </a:p>
          <a:p>
            <a:r>
              <a:rPr lang="en-GB" sz="2400" dirty="0">
                <a:latin typeface="Consolas" panose="020B0609020204030204" pitchFamily="49" charset="0"/>
              </a:rPr>
              <a:t>    role TEXT NOT NULL,</a:t>
            </a:r>
          </a:p>
          <a:p>
            <a:r>
              <a:rPr lang="en-GB" sz="2400" dirty="0">
                <a:latin typeface="Consolas" panose="020B0609020204030204" pitchFamily="49" charset="0"/>
              </a:rPr>
              <a:t>    PRIMARY KEY(</a:t>
            </a:r>
            <a:r>
              <a:rPr lang="en-GB" sz="2400" dirty="0" err="1">
                <a:latin typeface="Consolas" panose="020B0609020204030204" pitchFamily="49" charset="0"/>
              </a:rPr>
              <a:t>staffID</a:t>
            </a:r>
            <a:r>
              <a:rPr lang="en-GB" sz="2400" dirty="0">
                <a:latin typeface="Consolas" panose="020B0609020204030204" pitchFamily="49" charset="0"/>
              </a:rPr>
              <a:t>)</a:t>
            </a:r>
          </a:p>
          <a:p>
            <a:r>
              <a:rPr lang="en-GB" sz="2400" dirty="0">
                <a:latin typeface="Consolas" panose="020B0609020204030204" pitchFamily="49" charset="0"/>
              </a:rPr>
              <a:t>)</a:t>
            </a:r>
          </a:p>
        </p:txBody>
      </p:sp>
      <p:grpSp>
        <p:nvGrpSpPr>
          <p:cNvPr id="15" name="Group 14">
            <a:extLst>
              <a:ext uri="{FF2B5EF4-FFF2-40B4-BE49-F238E27FC236}">
                <a16:creationId xmlns:a16="http://schemas.microsoft.com/office/drawing/2014/main" id="{472CD3B9-0306-45A5-6465-AEE3EF1CC0DA}"/>
              </a:ext>
            </a:extLst>
          </p:cNvPr>
          <p:cNvGrpSpPr/>
          <p:nvPr/>
        </p:nvGrpSpPr>
        <p:grpSpPr>
          <a:xfrm>
            <a:off x="1525315" y="4925183"/>
            <a:ext cx="2446150" cy="523220"/>
            <a:chOff x="1202984" y="4979421"/>
            <a:chExt cx="2446150" cy="523220"/>
          </a:xfrm>
        </p:grpSpPr>
        <p:sp>
          <p:nvSpPr>
            <p:cNvPr id="13" name="Arrow: Right 12">
              <a:extLst>
                <a:ext uri="{FF2B5EF4-FFF2-40B4-BE49-F238E27FC236}">
                  <a16:creationId xmlns:a16="http://schemas.microsoft.com/office/drawing/2014/main" id="{A36AD98B-BEBE-5C19-71B3-02152A7E31EA}"/>
                </a:ext>
              </a:extLst>
            </p:cNvPr>
            <p:cNvSpPr/>
            <p:nvPr/>
          </p:nvSpPr>
          <p:spPr>
            <a:xfrm>
              <a:off x="2670726" y="4998715"/>
              <a:ext cx="978408" cy="484632"/>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4" name="TextBox 13">
              <a:extLst>
                <a:ext uri="{FF2B5EF4-FFF2-40B4-BE49-F238E27FC236}">
                  <a16:creationId xmlns:a16="http://schemas.microsoft.com/office/drawing/2014/main" id="{F7A7BDE9-1158-6911-E928-0344D8411A1E}"/>
                </a:ext>
              </a:extLst>
            </p:cNvPr>
            <p:cNvSpPr txBox="1"/>
            <p:nvPr/>
          </p:nvSpPr>
          <p:spPr>
            <a:xfrm>
              <a:off x="1202984" y="4979421"/>
              <a:ext cx="1253869" cy="523220"/>
            </a:xfrm>
            <a:prstGeom prst="rect">
              <a:avLst/>
            </a:prstGeom>
            <a:noFill/>
          </p:spPr>
          <p:txBody>
            <a:bodyPr wrap="none" rtlCol="0">
              <a:spAutoFit/>
            </a:bodyPr>
            <a:lstStyle/>
            <a:p>
              <a:r>
                <a:rPr lang="en-GB" sz="2800" b="1" dirty="0">
                  <a:solidFill>
                    <a:srgbClr val="7030A0"/>
                  </a:solidFill>
                </a:rPr>
                <a:t>Output</a:t>
              </a:r>
            </a:p>
          </p:txBody>
        </p:sp>
      </p:grpSp>
      <p:sp>
        <p:nvSpPr>
          <p:cNvPr id="5" name="Callout: Bent Line with No Border 4">
            <a:extLst>
              <a:ext uri="{FF2B5EF4-FFF2-40B4-BE49-F238E27FC236}">
                <a16:creationId xmlns:a16="http://schemas.microsoft.com/office/drawing/2014/main" id="{B20D1658-EAD9-EC45-CE68-EBF3A2D3E7A8}"/>
              </a:ext>
            </a:extLst>
          </p:cNvPr>
          <p:cNvSpPr/>
          <p:nvPr/>
        </p:nvSpPr>
        <p:spPr>
          <a:xfrm>
            <a:off x="5406127" y="6067633"/>
            <a:ext cx="2486025" cy="479082"/>
          </a:xfrm>
          <a:prstGeom prst="callout2">
            <a:avLst>
              <a:gd name="adj1" fmla="val 49990"/>
              <a:gd name="adj2" fmla="val -52"/>
              <a:gd name="adj3" fmla="val 50311"/>
              <a:gd name="adj4" fmla="val -20105"/>
              <a:gd name="adj5" fmla="val 51223"/>
              <a:gd name="adj6" fmla="val -30214"/>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a:solidFill>
                  <a:srgbClr val="7030A0"/>
                </a:solidFill>
              </a:rPr>
              <a:t>Semi-colon</a:t>
            </a:r>
            <a:endParaRPr lang="en-GB" sz="2800" b="1" dirty="0">
              <a:solidFill>
                <a:srgbClr val="7030A0"/>
              </a:solidFill>
            </a:endParaRPr>
          </a:p>
        </p:txBody>
      </p:sp>
    </p:spTree>
    <p:extLst>
      <p:ext uri="{BB962C8B-B14F-4D97-AF65-F5344CB8AC3E}">
        <p14:creationId xmlns:p14="http://schemas.microsoft.com/office/powerpoint/2010/main" val="250984555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75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8"/>
                                        </p:tgtEl>
                                        <p:attrNameLst>
                                          <p:attrName>style.visibility</p:attrName>
                                        </p:attrNameLst>
                                      </p:cBhvr>
                                      <p:to>
                                        <p:strVal val="visible"/>
                                      </p:to>
                                    </p:set>
                                    <p:animEffect transition="in" filter="fade">
                                      <p:cBhvr>
                                        <p:cTn id="12" dur="1000"/>
                                        <p:tgtEl>
                                          <p:spTgt spid="8"/>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4"/>
                                        </p:tgtEl>
                                        <p:attrNameLst>
                                          <p:attrName>style.visibility</p:attrName>
                                        </p:attrNameLst>
                                      </p:cBhvr>
                                      <p:to>
                                        <p:strVal val="visible"/>
                                      </p:to>
                                    </p:set>
                                    <p:animEffect transition="in" filter="fade">
                                      <p:cBhvr>
                                        <p:cTn id="17" dur="1000"/>
                                        <p:tgtEl>
                                          <p:spTgt spid="4"/>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6"/>
                                        </p:tgtEl>
                                        <p:attrNameLst>
                                          <p:attrName>style.visibility</p:attrName>
                                        </p:attrNameLst>
                                      </p:cBhvr>
                                      <p:to>
                                        <p:strVal val="visible"/>
                                      </p:to>
                                    </p:set>
                                    <p:animEffect transition="in" filter="fade">
                                      <p:cBhvr>
                                        <p:cTn id="22" dur="1000"/>
                                        <p:tgtEl>
                                          <p:spTgt spid="6"/>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nodeType="clickEffect">
                                  <p:stCondLst>
                                    <p:cond delay="0"/>
                                  </p:stCondLst>
                                  <p:childTnLst>
                                    <p:set>
                                      <p:cBhvr>
                                        <p:cTn id="26" dur="1" fill="hold">
                                          <p:stCondLst>
                                            <p:cond delay="0"/>
                                          </p:stCondLst>
                                        </p:cTn>
                                        <p:tgtEl>
                                          <p:spTgt spid="15"/>
                                        </p:tgtEl>
                                        <p:attrNameLst>
                                          <p:attrName>style.visibility</p:attrName>
                                        </p:attrNameLst>
                                      </p:cBhvr>
                                      <p:to>
                                        <p:strVal val="visible"/>
                                      </p:to>
                                    </p:set>
                                    <p:animEffect transition="in" filter="wipe(left)">
                                      <p:cBhvr>
                                        <p:cTn id="27" dur="1500"/>
                                        <p:tgtEl>
                                          <p:spTgt spid="15"/>
                                        </p:tgtEl>
                                      </p:cBhvr>
                                    </p:animEffect>
                                  </p:childTnLst>
                                </p:cTn>
                              </p:par>
                            </p:childTnLst>
                          </p:cTn>
                        </p:par>
                        <p:par>
                          <p:cTn id="28" fill="hold">
                            <p:stCondLst>
                              <p:cond delay="1500"/>
                            </p:stCondLst>
                            <p:childTnLst>
                              <p:par>
                                <p:cTn id="29" presetID="10" presetClass="entr" presetSubtype="0" fill="hold" grpId="0" nodeType="afterEffect">
                                  <p:stCondLst>
                                    <p:cond delay="0"/>
                                  </p:stCondLst>
                                  <p:childTnLst>
                                    <p:set>
                                      <p:cBhvr>
                                        <p:cTn id="30" dur="1" fill="hold">
                                          <p:stCondLst>
                                            <p:cond delay="0"/>
                                          </p:stCondLst>
                                        </p:cTn>
                                        <p:tgtEl>
                                          <p:spTgt spid="10"/>
                                        </p:tgtEl>
                                        <p:attrNameLst>
                                          <p:attrName>style.visibility</p:attrName>
                                        </p:attrNameLst>
                                      </p:cBhvr>
                                      <p:to>
                                        <p:strVal val="visible"/>
                                      </p:to>
                                    </p:set>
                                    <p:animEffect transition="in" filter="fade">
                                      <p:cBhvr>
                                        <p:cTn id="31" dur="1000"/>
                                        <p:tgtEl>
                                          <p:spTgt spid="10"/>
                                        </p:tgtEl>
                                      </p:cBhvr>
                                    </p:animEffect>
                                  </p:childTnLst>
                                </p:cTn>
                              </p:par>
                            </p:childTnLst>
                          </p:cTn>
                        </p:par>
                      </p:childTnLst>
                    </p:cTn>
                  </p:par>
                  <p:par>
                    <p:cTn id="32" fill="hold">
                      <p:stCondLst>
                        <p:cond delay="indefinite"/>
                      </p:stCondLst>
                      <p:childTnLst>
                        <p:par>
                          <p:cTn id="33" fill="hold">
                            <p:stCondLst>
                              <p:cond delay="0"/>
                            </p:stCondLst>
                            <p:childTnLst>
                              <p:par>
                                <p:cTn id="34" presetID="10" presetClass="entr" presetSubtype="0" fill="hold" grpId="0" nodeType="clickEffect">
                                  <p:stCondLst>
                                    <p:cond delay="0"/>
                                  </p:stCondLst>
                                  <p:childTnLst>
                                    <p:set>
                                      <p:cBhvr>
                                        <p:cTn id="35" dur="1" fill="hold">
                                          <p:stCondLst>
                                            <p:cond delay="0"/>
                                          </p:stCondLst>
                                        </p:cTn>
                                        <p:tgtEl>
                                          <p:spTgt spid="5"/>
                                        </p:tgtEl>
                                        <p:attrNameLst>
                                          <p:attrName>style.visibility</p:attrName>
                                        </p:attrNameLst>
                                      </p:cBhvr>
                                      <p:to>
                                        <p:strVal val="visible"/>
                                      </p:to>
                                    </p:set>
                                    <p:animEffect transition="in" filter="fade">
                                      <p:cBhvr>
                                        <p:cTn id="36" dur="10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4" grpId="0" animBg="1"/>
      <p:bldP spid="6" grpId="0" animBg="1"/>
      <p:bldP spid="8" grpId="0" animBg="1"/>
      <p:bldP spid="10" grpId="0" animBg="1"/>
      <p:bldP spid="5" grpId="0" animBg="1"/>
    </p:bldLst>
  </p:timing>
</p:sld>
</file>

<file path=ppt/slides/slide135.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Modify Table: 1 Get Table Definition</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000000"/>
                </a:solidFill>
                <a:latin typeface="Consolas" panose="020B0609020204030204" pitchFamily="49" charset="0"/>
              </a:rPr>
              <a:t>.</a:t>
            </a:r>
            <a:r>
              <a:rPr lang="en-US" altLang="en-US" sz="4400" dirty="0">
                <a:solidFill>
                  <a:srgbClr val="A71D5D"/>
                </a:solidFill>
                <a:latin typeface="Consolas" panose="020B0609020204030204" pitchFamily="49" charset="0"/>
              </a:rPr>
              <a:t>schema</a:t>
            </a:r>
            <a:r>
              <a:rPr lang="en-US" altLang="en-US" sz="4400" dirty="0">
                <a:solidFill>
                  <a:srgbClr val="000000"/>
                </a:solidFill>
                <a:latin typeface="Consolas" panose="020B0609020204030204" pitchFamily="49" charset="0"/>
              </a:rPr>
              <a:t> staff</a:t>
            </a:r>
            <a:endParaRPr lang="en-US" altLang="en-US" sz="6000" dirty="0">
              <a:latin typeface="Arial" panose="020B0604020202020204" pitchFamily="34" charset="0"/>
            </a:endParaRPr>
          </a:p>
        </p:txBody>
      </p:sp>
      <p:sp>
        <p:nvSpPr>
          <p:cNvPr id="10" name="TextBox 9">
            <a:extLst>
              <a:ext uri="{FF2B5EF4-FFF2-40B4-BE49-F238E27FC236}">
                <a16:creationId xmlns:a16="http://schemas.microsoft.com/office/drawing/2014/main" id="{0E523A2E-4E81-1110-D5F2-FAB72AD8D149}"/>
              </a:ext>
            </a:extLst>
          </p:cNvPr>
          <p:cNvSpPr txBox="1"/>
          <p:nvPr/>
        </p:nvSpPr>
        <p:spPr>
          <a:xfrm>
            <a:off x="4185339" y="3847965"/>
            <a:ext cx="4566775" cy="2677656"/>
          </a:xfrm>
          <a:prstGeom prst="rect">
            <a:avLst/>
          </a:prstGeom>
          <a:solidFill>
            <a:schemeClr val="bg1"/>
          </a:solidFill>
        </p:spPr>
        <p:txBody>
          <a:bodyPr wrap="square">
            <a:spAutoFit/>
          </a:bodyPr>
          <a:lstStyle/>
          <a:p>
            <a:r>
              <a:rPr lang="en-GB" sz="2400" dirty="0">
                <a:latin typeface="Consolas" panose="020B0609020204030204" pitchFamily="49" charset="0"/>
              </a:rPr>
              <a:t>CREATE TABLE staff (</a:t>
            </a:r>
          </a:p>
          <a:p>
            <a:r>
              <a:rPr lang="en-GB" sz="2400" dirty="0">
                <a:latin typeface="Consolas" panose="020B0609020204030204" pitchFamily="49" charset="0"/>
              </a:rPr>
              <a:t>    </a:t>
            </a:r>
            <a:r>
              <a:rPr lang="en-GB" sz="2400" dirty="0" err="1">
                <a:latin typeface="Consolas" panose="020B0609020204030204" pitchFamily="49" charset="0"/>
              </a:rPr>
              <a:t>staffID</a:t>
            </a:r>
            <a:r>
              <a:rPr lang="en-GB" sz="2400" dirty="0">
                <a:latin typeface="Consolas" panose="020B0609020204030204" pitchFamily="49" charset="0"/>
              </a:rPr>
              <a:t> INT NOT NULL,</a:t>
            </a:r>
          </a:p>
          <a:p>
            <a:r>
              <a:rPr lang="en-GB" sz="2400" dirty="0">
                <a:latin typeface="Consolas" panose="020B0609020204030204" pitchFamily="49" charset="0"/>
              </a:rPr>
              <a:t>    title TEXT NOT NULL,</a:t>
            </a:r>
          </a:p>
          <a:p>
            <a:r>
              <a:rPr lang="en-GB" sz="2400" dirty="0">
                <a:latin typeface="Consolas" panose="020B0609020204030204" pitchFamily="49" charset="0"/>
              </a:rPr>
              <a:t>    </a:t>
            </a:r>
            <a:r>
              <a:rPr lang="en-GB" sz="2400" dirty="0" err="1">
                <a:latin typeface="Consolas" panose="020B0609020204030204" pitchFamily="49" charset="0"/>
              </a:rPr>
              <a:t>lastName</a:t>
            </a:r>
            <a:r>
              <a:rPr lang="en-GB" sz="2400" dirty="0">
                <a:latin typeface="Consolas" panose="020B0609020204030204" pitchFamily="49" charset="0"/>
              </a:rPr>
              <a:t> TEXT,</a:t>
            </a:r>
          </a:p>
          <a:p>
            <a:r>
              <a:rPr lang="en-GB" sz="2400" dirty="0">
                <a:latin typeface="Consolas" panose="020B0609020204030204" pitchFamily="49" charset="0"/>
              </a:rPr>
              <a:t>    role TEXT NOT NULL,</a:t>
            </a:r>
          </a:p>
          <a:p>
            <a:r>
              <a:rPr lang="en-GB" sz="2400" dirty="0">
                <a:latin typeface="Consolas" panose="020B0609020204030204" pitchFamily="49" charset="0"/>
              </a:rPr>
              <a:t>    PRIMARY KEY(</a:t>
            </a:r>
            <a:r>
              <a:rPr lang="en-GB" sz="2400" dirty="0" err="1">
                <a:latin typeface="Consolas" panose="020B0609020204030204" pitchFamily="49" charset="0"/>
              </a:rPr>
              <a:t>staffID</a:t>
            </a:r>
            <a:r>
              <a:rPr lang="en-GB" sz="2400" dirty="0">
                <a:latin typeface="Consolas" panose="020B0609020204030204" pitchFamily="49" charset="0"/>
              </a:rPr>
              <a:t>)</a:t>
            </a:r>
          </a:p>
          <a:p>
            <a:r>
              <a:rPr lang="en-GB" sz="2400" dirty="0">
                <a:latin typeface="Consolas" panose="020B0609020204030204" pitchFamily="49" charset="0"/>
              </a:rPr>
              <a:t>)</a:t>
            </a:r>
          </a:p>
        </p:txBody>
      </p:sp>
    </p:spTree>
    <p:extLst>
      <p:ext uri="{BB962C8B-B14F-4D97-AF65-F5344CB8AC3E}">
        <p14:creationId xmlns:p14="http://schemas.microsoft.com/office/powerpoint/2010/main" val="181957085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750"/>
                                        <p:tgtEl>
                                          <p:spTgt spid="3">
                                            <p:txEl>
                                              <p:pRg st="0" end="0"/>
                                            </p:txEl>
                                          </p:spTgt>
                                        </p:tgtEl>
                                      </p:cBhvr>
                                    </p:animEffect>
                                  </p:childTnLst>
                                </p:cTn>
                              </p:par>
                            </p:childTnLst>
                          </p:cTn>
                        </p:par>
                        <p:par>
                          <p:cTn id="8" fill="hold">
                            <p:stCondLst>
                              <p:cond delay="1750"/>
                            </p:stCondLst>
                            <p:childTnLst>
                              <p:par>
                                <p:cTn id="9" presetID="10" presetClass="entr" presetSubtype="0" fill="hold" grpId="0" nodeType="afterEffect">
                                  <p:stCondLst>
                                    <p:cond delay="0"/>
                                  </p:stCondLst>
                                  <p:childTnLst>
                                    <p:set>
                                      <p:cBhvr>
                                        <p:cTn id="10" dur="1" fill="hold">
                                          <p:stCondLst>
                                            <p:cond delay="0"/>
                                          </p:stCondLst>
                                        </p:cTn>
                                        <p:tgtEl>
                                          <p:spTgt spid="10"/>
                                        </p:tgtEl>
                                        <p:attrNameLst>
                                          <p:attrName>style.visibility</p:attrName>
                                        </p:attrNameLst>
                                      </p:cBhvr>
                                      <p:to>
                                        <p:strVal val="visible"/>
                                      </p:to>
                                    </p:set>
                                    <p:animEffect transition="in" filter="fade">
                                      <p:cBhvr>
                                        <p:cTn id="11" dur="10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10" grpId="0" animBg="1"/>
    </p:bldLst>
  </p:timing>
</p:sld>
</file>

<file path=ppt/slides/slide1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Modify Table: 2 Create Empty Table</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Autofit/>
          </a:bodyPr>
          <a:lstStyle/>
          <a:p>
            <a:pPr marL="0" lvl="0" indent="0" eaLnBrk="0" fontAlgn="base" hangingPunct="0">
              <a:lnSpc>
                <a:spcPct val="100000"/>
              </a:lnSpc>
              <a:spcBef>
                <a:spcPct val="0"/>
              </a:spcBef>
              <a:spcAft>
                <a:spcPts val="1200"/>
              </a:spcAft>
              <a:buNone/>
            </a:pPr>
            <a:r>
              <a:rPr lang="en-US" altLang="en-US" sz="3600" dirty="0">
                <a:solidFill>
                  <a:srgbClr val="B2B2B2"/>
                </a:solidFill>
                <a:latin typeface="Consolas" panose="020B0609020204030204" pitchFamily="49" charset="0"/>
              </a:rPr>
              <a:t>1 </a:t>
            </a:r>
            <a:r>
              <a:rPr lang="en-US" altLang="en-US" sz="3600" dirty="0">
                <a:solidFill>
                  <a:srgbClr val="A71D5D"/>
                </a:solidFill>
                <a:latin typeface="Consolas" panose="020B0609020204030204" pitchFamily="49" charset="0"/>
              </a:rPr>
              <a:t>CREATE TABLE </a:t>
            </a:r>
            <a:r>
              <a:rPr lang="en-US" altLang="en-US" sz="3600" dirty="0" err="1">
                <a:solidFill>
                  <a:srgbClr val="183691"/>
                </a:solidFill>
                <a:latin typeface="Consolas" panose="020B0609020204030204" pitchFamily="49" charset="0"/>
              </a:rPr>
              <a:t>newStaff</a:t>
            </a:r>
            <a:r>
              <a:rPr lang="en-US" altLang="en-US" sz="3600" dirty="0">
                <a:solidFill>
                  <a:srgbClr val="000000"/>
                </a:solidFill>
                <a:latin typeface="Consolas" panose="020B0609020204030204" pitchFamily="49" charset="0"/>
              </a:rPr>
              <a:t> (</a:t>
            </a: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2   </a:t>
            </a:r>
            <a:r>
              <a:rPr lang="en-US" altLang="en-US" sz="3600" dirty="0" err="1">
                <a:solidFill>
                  <a:srgbClr val="183691"/>
                </a:solidFill>
                <a:latin typeface="Consolas" panose="020B0609020204030204" pitchFamily="49" charset="0"/>
              </a:rPr>
              <a:t>staffID</a:t>
            </a:r>
            <a:r>
              <a:rPr lang="en-US" altLang="en-US" sz="3600" dirty="0">
                <a:solidFill>
                  <a:srgbClr val="000000"/>
                </a:solidFill>
                <a:latin typeface="Consolas" panose="020B0609020204030204" pitchFamily="49" charset="0"/>
              </a:rPr>
              <a:t> </a:t>
            </a:r>
            <a:r>
              <a:rPr lang="en-US" altLang="en-US" sz="3600" dirty="0">
                <a:solidFill>
                  <a:srgbClr val="0086B3"/>
                </a:solidFill>
                <a:latin typeface="Consolas" panose="020B0609020204030204" pitchFamily="49" charset="0"/>
              </a:rPr>
              <a:t>INT</a:t>
            </a:r>
            <a:r>
              <a:rPr lang="en-US" altLang="en-US" sz="3600" dirty="0">
                <a:solidFill>
                  <a:srgbClr val="000000"/>
                </a:solidFill>
                <a:latin typeface="Consolas" panose="020B0609020204030204" pitchFamily="49" charset="0"/>
              </a:rPr>
              <a:t> </a:t>
            </a:r>
            <a:r>
              <a:rPr lang="en-US" altLang="en-US" sz="3600" dirty="0">
                <a:solidFill>
                  <a:srgbClr val="A71D5D"/>
                </a:solidFill>
                <a:latin typeface="Consolas" panose="020B0609020204030204" pitchFamily="49" charset="0"/>
              </a:rPr>
              <a:t>NOT NULL</a:t>
            </a:r>
            <a:r>
              <a:rPr lang="en-US" altLang="en-US" sz="36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3   </a:t>
            </a:r>
            <a:r>
              <a:rPr lang="en-US" altLang="en-US" sz="3600" dirty="0">
                <a:solidFill>
                  <a:srgbClr val="183691"/>
                </a:solidFill>
                <a:latin typeface="Consolas" panose="020B0609020204030204" pitchFamily="49" charset="0"/>
              </a:rPr>
              <a:t>title</a:t>
            </a:r>
            <a:r>
              <a:rPr lang="en-US" altLang="en-US" sz="3600" dirty="0">
                <a:solidFill>
                  <a:srgbClr val="000000"/>
                </a:solidFill>
                <a:latin typeface="Consolas" panose="020B0609020204030204" pitchFamily="49" charset="0"/>
              </a:rPr>
              <a:t> </a:t>
            </a:r>
            <a:r>
              <a:rPr lang="en-US" altLang="en-US" sz="3600" dirty="0">
                <a:solidFill>
                  <a:srgbClr val="0086B3"/>
                </a:solidFill>
                <a:latin typeface="Consolas" panose="020B0609020204030204" pitchFamily="49" charset="0"/>
              </a:rPr>
              <a:t>VARCHAR(6)</a:t>
            </a:r>
            <a:r>
              <a:rPr lang="en-US" altLang="en-US" sz="3600" dirty="0">
                <a:solidFill>
                  <a:srgbClr val="000000"/>
                </a:solidFill>
                <a:latin typeface="Consolas" panose="020B0609020204030204" pitchFamily="49" charset="0"/>
              </a:rPr>
              <a:t> </a:t>
            </a:r>
            <a:r>
              <a:rPr lang="en-US" altLang="en-US" sz="3600" dirty="0">
                <a:solidFill>
                  <a:srgbClr val="A71D5D"/>
                </a:solidFill>
                <a:latin typeface="Consolas" panose="020B0609020204030204" pitchFamily="49" charset="0"/>
              </a:rPr>
              <a:t>NOT NULL</a:t>
            </a:r>
            <a:r>
              <a:rPr lang="en-US" altLang="en-US" sz="36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4   </a:t>
            </a:r>
            <a:r>
              <a:rPr lang="en-US" altLang="en-US" sz="3600" dirty="0" err="1">
                <a:solidFill>
                  <a:srgbClr val="183691"/>
                </a:solidFill>
                <a:latin typeface="Consolas" panose="020B0609020204030204" pitchFamily="49" charset="0"/>
              </a:rPr>
              <a:t>lastName</a:t>
            </a:r>
            <a:r>
              <a:rPr lang="en-US" altLang="en-US" sz="3600" dirty="0">
                <a:solidFill>
                  <a:srgbClr val="000000"/>
                </a:solidFill>
                <a:latin typeface="Consolas" panose="020B0609020204030204" pitchFamily="49" charset="0"/>
              </a:rPr>
              <a:t> </a:t>
            </a:r>
            <a:r>
              <a:rPr lang="en-US" altLang="en-US" sz="3600" dirty="0">
                <a:solidFill>
                  <a:srgbClr val="0086B3"/>
                </a:solidFill>
                <a:latin typeface="Consolas" panose="020B0609020204030204" pitchFamily="49" charset="0"/>
              </a:rPr>
              <a:t>VARCHAR(30)</a:t>
            </a:r>
            <a:r>
              <a:rPr lang="en-US" altLang="en-US" sz="3600" dirty="0">
                <a:solidFill>
                  <a:srgbClr val="000000"/>
                </a:solidFill>
                <a:latin typeface="Consolas" panose="020B0609020204030204" pitchFamily="49" charset="0"/>
              </a:rPr>
              <a:t> </a:t>
            </a:r>
            <a:r>
              <a:rPr lang="en-US" altLang="en-US" sz="3600" dirty="0">
                <a:solidFill>
                  <a:srgbClr val="A71D5D"/>
                </a:solidFill>
                <a:latin typeface="Consolas" panose="020B0609020204030204" pitchFamily="49" charset="0"/>
              </a:rPr>
              <a:t>NOT NULL</a:t>
            </a:r>
            <a:r>
              <a:rPr lang="en-US" altLang="en-US" sz="3600" dirty="0">
                <a:solidFill>
                  <a:srgbClr val="000000"/>
                </a:solidFill>
                <a:latin typeface="Consolas" panose="020B0609020204030204" pitchFamily="49" charset="0"/>
              </a:rPr>
              <a:t>,</a:t>
            </a:r>
          </a:p>
          <a:p>
            <a:pPr marL="0" lvl="0" indent="0" eaLnBrk="0" fontAlgn="base" hangingPunct="0">
              <a:lnSpc>
                <a:spcPct val="100000"/>
              </a:lnSpc>
              <a:spcBef>
                <a:spcPct val="0"/>
              </a:spcBef>
              <a:spcAft>
                <a:spcPts val="1200"/>
              </a:spcAft>
              <a:buNone/>
            </a:pPr>
            <a:r>
              <a:rPr lang="en-US" altLang="en-US" sz="3600" dirty="0">
                <a:solidFill>
                  <a:srgbClr val="B2B2B2"/>
                </a:solidFill>
                <a:latin typeface="Consolas" panose="020B0609020204030204" pitchFamily="49" charset="0"/>
              </a:rPr>
              <a:t>5   </a:t>
            </a:r>
            <a:r>
              <a:rPr lang="en-US" altLang="en-US" sz="3600" dirty="0">
                <a:solidFill>
                  <a:srgbClr val="183691"/>
                </a:solidFill>
                <a:latin typeface="Consolas" panose="020B0609020204030204" pitchFamily="49" charset="0"/>
              </a:rPr>
              <a:t>role</a:t>
            </a:r>
            <a:r>
              <a:rPr lang="en-US" altLang="en-US" sz="3600" dirty="0">
                <a:solidFill>
                  <a:srgbClr val="000000"/>
                </a:solidFill>
                <a:latin typeface="Consolas" panose="020B0609020204030204" pitchFamily="49" charset="0"/>
              </a:rPr>
              <a:t> </a:t>
            </a:r>
            <a:r>
              <a:rPr lang="en-US" altLang="en-US" sz="3600" dirty="0">
                <a:solidFill>
                  <a:srgbClr val="0086B3"/>
                </a:solidFill>
                <a:latin typeface="Consolas" panose="020B0609020204030204" pitchFamily="49" charset="0"/>
              </a:rPr>
              <a:t>VARCHAR(15)</a:t>
            </a:r>
            <a:r>
              <a:rPr lang="en-US" altLang="en-US" sz="3600" dirty="0">
                <a:solidFill>
                  <a:srgbClr val="000000"/>
                </a:solidFill>
                <a:latin typeface="Consolas" panose="020B0609020204030204" pitchFamily="49" charset="0"/>
              </a:rPr>
              <a:t> </a:t>
            </a:r>
            <a:r>
              <a:rPr lang="en-US" altLang="en-US" sz="3600" dirty="0">
                <a:solidFill>
                  <a:srgbClr val="A71D5D"/>
                </a:solidFill>
                <a:latin typeface="Consolas" panose="020B0609020204030204" pitchFamily="49" charset="0"/>
              </a:rPr>
              <a:t>NOT NULL</a:t>
            </a:r>
            <a:r>
              <a:rPr lang="en-US" altLang="en-US" sz="36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6   </a:t>
            </a:r>
            <a:r>
              <a:rPr lang="en-US" altLang="en-US" sz="3600" dirty="0">
                <a:solidFill>
                  <a:srgbClr val="A71D5D"/>
                </a:solidFill>
                <a:latin typeface="Consolas" panose="020B0609020204030204" pitchFamily="49" charset="0"/>
              </a:rPr>
              <a:t>PRIMARY KEY</a:t>
            </a:r>
            <a:r>
              <a:rPr lang="en-US" altLang="en-US" sz="3600" dirty="0">
                <a:solidFill>
                  <a:srgbClr val="000000"/>
                </a:solidFill>
                <a:latin typeface="Consolas" panose="020B0609020204030204" pitchFamily="49" charset="0"/>
              </a:rPr>
              <a:t>(</a:t>
            </a:r>
            <a:r>
              <a:rPr lang="en-US" altLang="en-US" sz="3600" dirty="0" err="1">
                <a:solidFill>
                  <a:srgbClr val="183691"/>
                </a:solidFill>
                <a:latin typeface="Consolas" panose="020B0609020204030204" pitchFamily="49" charset="0"/>
              </a:rPr>
              <a:t>staffID</a:t>
            </a:r>
            <a:r>
              <a:rPr lang="en-US" altLang="en-US" sz="36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7 </a:t>
            </a:r>
            <a:r>
              <a:rPr lang="en-US" altLang="en-US" sz="3600" dirty="0">
                <a:solidFill>
                  <a:srgbClr val="000000"/>
                </a:solidFill>
                <a:latin typeface="Consolas" panose="020B0609020204030204" pitchFamily="49" charset="0"/>
              </a:rPr>
              <a:t>);</a:t>
            </a:r>
            <a:endParaRPr lang="en-US" altLang="en-US" sz="4800" dirty="0">
              <a:latin typeface="Arial" panose="020B0604020202020204" pitchFamily="34" charset="0"/>
            </a:endParaRPr>
          </a:p>
        </p:txBody>
      </p:sp>
      <p:sp>
        <p:nvSpPr>
          <p:cNvPr id="6" name="Callout: Bent Line with No Border 5">
            <a:extLst>
              <a:ext uri="{FF2B5EF4-FFF2-40B4-BE49-F238E27FC236}">
                <a16:creationId xmlns:a16="http://schemas.microsoft.com/office/drawing/2014/main" id="{DEC21E10-375A-0A9D-2F84-A3F122B207B0}"/>
              </a:ext>
            </a:extLst>
          </p:cNvPr>
          <p:cNvSpPr/>
          <p:nvPr/>
        </p:nvSpPr>
        <p:spPr>
          <a:xfrm>
            <a:off x="7239910" y="1449572"/>
            <a:ext cx="1716036" cy="482231"/>
          </a:xfrm>
          <a:prstGeom prst="callout2">
            <a:avLst>
              <a:gd name="adj1" fmla="val 49990"/>
              <a:gd name="adj2" fmla="val -52"/>
              <a:gd name="adj3" fmla="val 49905"/>
              <a:gd name="adj4" fmla="val -22425"/>
              <a:gd name="adj5" fmla="val 97511"/>
              <a:gd name="adj6" fmla="val -32273"/>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New table</a:t>
            </a:r>
          </a:p>
        </p:txBody>
      </p:sp>
      <p:sp>
        <p:nvSpPr>
          <p:cNvPr id="5" name="Callout: Bent Line with No Border 4">
            <a:extLst>
              <a:ext uri="{FF2B5EF4-FFF2-40B4-BE49-F238E27FC236}">
                <a16:creationId xmlns:a16="http://schemas.microsoft.com/office/drawing/2014/main" id="{FEB24D9D-4EC1-6715-2488-DCA64BDD8B2A}"/>
              </a:ext>
            </a:extLst>
          </p:cNvPr>
          <p:cNvSpPr/>
          <p:nvPr/>
        </p:nvSpPr>
        <p:spPr>
          <a:xfrm>
            <a:off x="9155754" y="4406692"/>
            <a:ext cx="2486025" cy="482231"/>
          </a:xfrm>
          <a:prstGeom prst="callout2">
            <a:avLst>
              <a:gd name="adj1" fmla="val 49990"/>
              <a:gd name="adj2" fmla="val -52"/>
              <a:gd name="adj3" fmla="val 50311"/>
              <a:gd name="adj4" fmla="val -20105"/>
              <a:gd name="adj5" fmla="val -39610"/>
              <a:gd name="adj6" fmla="val -26492"/>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New validation</a:t>
            </a:r>
          </a:p>
        </p:txBody>
      </p:sp>
      <p:sp>
        <p:nvSpPr>
          <p:cNvPr id="7" name="Callout: Bent Line with No Border 6">
            <a:extLst>
              <a:ext uri="{FF2B5EF4-FFF2-40B4-BE49-F238E27FC236}">
                <a16:creationId xmlns:a16="http://schemas.microsoft.com/office/drawing/2014/main" id="{2907BCF3-6896-E60D-4077-92B218BC4872}"/>
              </a:ext>
            </a:extLst>
          </p:cNvPr>
          <p:cNvSpPr/>
          <p:nvPr/>
        </p:nvSpPr>
        <p:spPr>
          <a:xfrm>
            <a:off x="7912742" y="5610198"/>
            <a:ext cx="2486025" cy="482230"/>
          </a:xfrm>
          <a:prstGeom prst="callout2">
            <a:avLst>
              <a:gd name="adj1" fmla="val 49990"/>
              <a:gd name="adj2" fmla="val -52"/>
              <a:gd name="adj3" fmla="val 50311"/>
              <a:gd name="adj4" fmla="val -20105"/>
              <a:gd name="adj5" fmla="val -43220"/>
              <a:gd name="adj6" fmla="val -28316"/>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No comma</a:t>
            </a:r>
          </a:p>
        </p:txBody>
      </p:sp>
      <p:sp>
        <p:nvSpPr>
          <p:cNvPr id="4" name="Callout: Bent Line with No Border 3">
            <a:extLst>
              <a:ext uri="{FF2B5EF4-FFF2-40B4-BE49-F238E27FC236}">
                <a16:creationId xmlns:a16="http://schemas.microsoft.com/office/drawing/2014/main" id="{4677CF7F-9AA9-D658-7CC6-F5CA85ACE72F}"/>
              </a:ext>
            </a:extLst>
          </p:cNvPr>
          <p:cNvSpPr/>
          <p:nvPr/>
        </p:nvSpPr>
        <p:spPr>
          <a:xfrm>
            <a:off x="2469126" y="6092428"/>
            <a:ext cx="2486025" cy="359172"/>
          </a:xfrm>
          <a:prstGeom prst="callout2">
            <a:avLst>
              <a:gd name="adj1" fmla="val 49990"/>
              <a:gd name="adj2" fmla="val -52"/>
              <a:gd name="adj3" fmla="val 50311"/>
              <a:gd name="adj4" fmla="val -20105"/>
              <a:gd name="adj5" fmla="val -10370"/>
              <a:gd name="adj6" fmla="val -24519"/>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Semi-colon</a:t>
            </a:r>
          </a:p>
        </p:txBody>
      </p:sp>
      <p:cxnSp>
        <p:nvCxnSpPr>
          <p:cNvPr id="9" name="Straight Connector 8">
            <a:extLst>
              <a:ext uri="{FF2B5EF4-FFF2-40B4-BE49-F238E27FC236}">
                <a16:creationId xmlns:a16="http://schemas.microsoft.com/office/drawing/2014/main" id="{7423847B-70CA-C332-39E1-9F8F078ECAE9}"/>
              </a:ext>
            </a:extLst>
          </p:cNvPr>
          <p:cNvCxnSpPr/>
          <p:nvPr/>
        </p:nvCxnSpPr>
        <p:spPr>
          <a:xfrm>
            <a:off x="7400925" y="4162425"/>
            <a:ext cx="2052000" cy="0"/>
          </a:xfrm>
          <a:prstGeom prst="line">
            <a:avLst/>
          </a:prstGeom>
          <a:noFill/>
          <a:ln w="38100">
            <a:solidFill>
              <a:schemeClr val="accent6">
                <a:lumMod val="75000"/>
              </a:schemeClr>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cxnSp>
    </p:spTree>
    <p:extLst>
      <p:ext uri="{BB962C8B-B14F-4D97-AF65-F5344CB8AC3E}">
        <p14:creationId xmlns:p14="http://schemas.microsoft.com/office/powerpoint/2010/main" val="347491323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30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30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25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3">
                                            <p:txEl>
                                              <p:pRg st="3" end="3"/>
                                            </p:txEl>
                                          </p:spTgt>
                                        </p:tgtEl>
                                        <p:attrNameLst>
                                          <p:attrName>style.visibility</p:attrName>
                                        </p:attrNameLst>
                                      </p:cBhvr>
                                      <p:to>
                                        <p:strVal val="visible"/>
                                      </p:to>
                                    </p:set>
                                    <p:animEffect transition="in" filter="wipe(left)">
                                      <p:cBhvr>
                                        <p:cTn id="22" dur="2750"/>
                                        <p:tgtEl>
                                          <p:spTgt spid="3">
                                            <p:txEl>
                                              <p:pRg st="3" end="3"/>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3">
                                            <p:txEl>
                                              <p:pRg st="4" end="4"/>
                                            </p:txEl>
                                          </p:spTgt>
                                        </p:tgtEl>
                                        <p:attrNameLst>
                                          <p:attrName>style.visibility</p:attrName>
                                        </p:attrNameLst>
                                      </p:cBhvr>
                                      <p:to>
                                        <p:strVal val="visible"/>
                                      </p:to>
                                    </p:set>
                                    <p:animEffect transition="in" filter="wipe(left)">
                                      <p:cBhvr>
                                        <p:cTn id="27" dur="2500"/>
                                        <p:tgtEl>
                                          <p:spTgt spid="3">
                                            <p:txEl>
                                              <p:pRg st="4" end="4"/>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3">
                                            <p:txEl>
                                              <p:pRg st="5" end="5"/>
                                            </p:txEl>
                                          </p:spTgt>
                                        </p:tgtEl>
                                        <p:attrNameLst>
                                          <p:attrName>style.visibility</p:attrName>
                                        </p:attrNameLst>
                                      </p:cBhvr>
                                      <p:to>
                                        <p:strVal val="visible"/>
                                      </p:to>
                                    </p:set>
                                    <p:animEffect transition="in" filter="wipe(left)">
                                      <p:cBhvr>
                                        <p:cTn id="32" dur="2500"/>
                                        <p:tgtEl>
                                          <p:spTgt spid="3">
                                            <p:txEl>
                                              <p:pRg st="5" end="5"/>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3">
                                            <p:txEl>
                                              <p:pRg st="6" end="6"/>
                                            </p:txEl>
                                          </p:spTgt>
                                        </p:tgtEl>
                                        <p:attrNameLst>
                                          <p:attrName>style.visibility</p:attrName>
                                        </p:attrNameLst>
                                      </p:cBhvr>
                                      <p:to>
                                        <p:strVal val="visible"/>
                                      </p:to>
                                    </p:set>
                                    <p:animEffect transition="in" filter="wipe(left)">
                                      <p:cBhvr>
                                        <p:cTn id="37" dur="500"/>
                                        <p:tgtEl>
                                          <p:spTgt spid="3">
                                            <p:txEl>
                                              <p:pRg st="6" end="6"/>
                                            </p:txEl>
                                          </p:spTgt>
                                        </p:tgtEl>
                                      </p:cBhvr>
                                    </p:animEffect>
                                  </p:childTnLst>
                                </p:cTn>
                              </p:par>
                            </p:childTnLst>
                          </p:cTn>
                        </p:par>
                      </p:childTnLst>
                    </p:cTn>
                  </p:par>
                  <p:par>
                    <p:cTn id="38" fill="hold">
                      <p:stCondLst>
                        <p:cond delay="indefinite"/>
                      </p:stCondLst>
                      <p:childTnLst>
                        <p:par>
                          <p:cTn id="39" fill="hold">
                            <p:stCondLst>
                              <p:cond delay="0"/>
                            </p:stCondLst>
                            <p:childTnLst>
                              <p:par>
                                <p:cTn id="40" presetID="10" presetClass="entr" presetSubtype="0" fill="hold" grpId="0" nodeType="clickEffect">
                                  <p:stCondLst>
                                    <p:cond delay="0"/>
                                  </p:stCondLst>
                                  <p:childTnLst>
                                    <p:set>
                                      <p:cBhvr>
                                        <p:cTn id="41" dur="1" fill="hold">
                                          <p:stCondLst>
                                            <p:cond delay="0"/>
                                          </p:stCondLst>
                                        </p:cTn>
                                        <p:tgtEl>
                                          <p:spTgt spid="6"/>
                                        </p:tgtEl>
                                        <p:attrNameLst>
                                          <p:attrName>style.visibility</p:attrName>
                                        </p:attrNameLst>
                                      </p:cBhvr>
                                      <p:to>
                                        <p:strVal val="visible"/>
                                      </p:to>
                                    </p:set>
                                    <p:animEffect transition="in" filter="fade">
                                      <p:cBhvr>
                                        <p:cTn id="42" dur="1000"/>
                                        <p:tgtEl>
                                          <p:spTgt spid="6"/>
                                        </p:tgtEl>
                                      </p:cBhvr>
                                    </p:animEffect>
                                  </p:childTnLst>
                                </p:cTn>
                              </p:par>
                            </p:childTnLst>
                          </p:cTn>
                        </p:par>
                      </p:childTnLst>
                    </p:cTn>
                  </p:par>
                  <p:par>
                    <p:cTn id="43" fill="hold">
                      <p:stCondLst>
                        <p:cond delay="indefinite"/>
                      </p:stCondLst>
                      <p:childTnLst>
                        <p:par>
                          <p:cTn id="44" fill="hold">
                            <p:stCondLst>
                              <p:cond delay="0"/>
                            </p:stCondLst>
                            <p:childTnLst>
                              <p:par>
                                <p:cTn id="45" presetID="10" presetClass="entr" presetSubtype="0" fill="hold" grpId="0" nodeType="clickEffect">
                                  <p:stCondLst>
                                    <p:cond delay="0"/>
                                  </p:stCondLst>
                                  <p:childTnLst>
                                    <p:set>
                                      <p:cBhvr>
                                        <p:cTn id="46" dur="1" fill="hold">
                                          <p:stCondLst>
                                            <p:cond delay="0"/>
                                          </p:stCondLst>
                                        </p:cTn>
                                        <p:tgtEl>
                                          <p:spTgt spid="5"/>
                                        </p:tgtEl>
                                        <p:attrNameLst>
                                          <p:attrName>style.visibility</p:attrName>
                                        </p:attrNameLst>
                                      </p:cBhvr>
                                      <p:to>
                                        <p:strVal val="visible"/>
                                      </p:to>
                                    </p:set>
                                    <p:animEffect transition="in" filter="fade">
                                      <p:cBhvr>
                                        <p:cTn id="47" dur="1000"/>
                                        <p:tgtEl>
                                          <p:spTgt spid="5"/>
                                        </p:tgtEl>
                                      </p:cBhvr>
                                    </p:animEffect>
                                  </p:childTnLst>
                                </p:cTn>
                              </p:par>
                            </p:childTnLst>
                          </p:cTn>
                        </p:par>
                        <p:par>
                          <p:cTn id="48" fill="hold">
                            <p:stCondLst>
                              <p:cond delay="1000"/>
                            </p:stCondLst>
                            <p:childTnLst>
                              <p:par>
                                <p:cTn id="49" presetID="16" presetClass="entr" presetSubtype="37" fill="hold" nodeType="afterEffect">
                                  <p:stCondLst>
                                    <p:cond delay="0"/>
                                  </p:stCondLst>
                                  <p:childTnLst>
                                    <p:set>
                                      <p:cBhvr>
                                        <p:cTn id="50" dur="1" fill="hold">
                                          <p:stCondLst>
                                            <p:cond delay="0"/>
                                          </p:stCondLst>
                                        </p:cTn>
                                        <p:tgtEl>
                                          <p:spTgt spid="9"/>
                                        </p:tgtEl>
                                        <p:attrNameLst>
                                          <p:attrName>style.visibility</p:attrName>
                                        </p:attrNameLst>
                                      </p:cBhvr>
                                      <p:to>
                                        <p:strVal val="visible"/>
                                      </p:to>
                                    </p:set>
                                    <p:animEffect transition="in" filter="barn(outVertical)">
                                      <p:cBhvr>
                                        <p:cTn id="51" dur="1000"/>
                                        <p:tgtEl>
                                          <p:spTgt spid="9"/>
                                        </p:tgtEl>
                                      </p:cBhvr>
                                    </p:animEffect>
                                  </p:childTnLst>
                                </p:cTn>
                              </p:par>
                            </p:childTnLst>
                          </p:cTn>
                        </p:par>
                      </p:childTnLst>
                    </p:cTn>
                  </p:par>
                  <p:par>
                    <p:cTn id="52" fill="hold">
                      <p:stCondLst>
                        <p:cond delay="indefinite"/>
                      </p:stCondLst>
                      <p:childTnLst>
                        <p:par>
                          <p:cTn id="53" fill="hold">
                            <p:stCondLst>
                              <p:cond delay="0"/>
                            </p:stCondLst>
                            <p:childTnLst>
                              <p:par>
                                <p:cTn id="54" presetID="10" presetClass="entr" presetSubtype="0" fill="hold" grpId="0" nodeType="clickEffect">
                                  <p:stCondLst>
                                    <p:cond delay="0"/>
                                  </p:stCondLst>
                                  <p:childTnLst>
                                    <p:set>
                                      <p:cBhvr>
                                        <p:cTn id="55" dur="1" fill="hold">
                                          <p:stCondLst>
                                            <p:cond delay="0"/>
                                          </p:stCondLst>
                                        </p:cTn>
                                        <p:tgtEl>
                                          <p:spTgt spid="7"/>
                                        </p:tgtEl>
                                        <p:attrNameLst>
                                          <p:attrName>style.visibility</p:attrName>
                                        </p:attrNameLst>
                                      </p:cBhvr>
                                      <p:to>
                                        <p:strVal val="visible"/>
                                      </p:to>
                                    </p:set>
                                    <p:animEffect transition="in" filter="fade">
                                      <p:cBhvr>
                                        <p:cTn id="56" dur="1000"/>
                                        <p:tgtEl>
                                          <p:spTgt spid="7"/>
                                        </p:tgtEl>
                                      </p:cBhvr>
                                    </p:animEffect>
                                  </p:childTnLst>
                                </p:cTn>
                              </p:par>
                            </p:childTnLst>
                          </p:cTn>
                        </p:par>
                      </p:childTnLst>
                    </p:cTn>
                  </p:par>
                  <p:par>
                    <p:cTn id="57" fill="hold">
                      <p:stCondLst>
                        <p:cond delay="indefinite"/>
                      </p:stCondLst>
                      <p:childTnLst>
                        <p:par>
                          <p:cTn id="58" fill="hold">
                            <p:stCondLst>
                              <p:cond delay="0"/>
                            </p:stCondLst>
                            <p:childTnLst>
                              <p:par>
                                <p:cTn id="59" presetID="10" presetClass="entr" presetSubtype="0" fill="hold" grpId="0" nodeType="clickEffect">
                                  <p:stCondLst>
                                    <p:cond delay="0"/>
                                  </p:stCondLst>
                                  <p:childTnLst>
                                    <p:set>
                                      <p:cBhvr>
                                        <p:cTn id="60" dur="1" fill="hold">
                                          <p:stCondLst>
                                            <p:cond delay="0"/>
                                          </p:stCondLst>
                                        </p:cTn>
                                        <p:tgtEl>
                                          <p:spTgt spid="4"/>
                                        </p:tgtEl>
                                        <p:attrNameLst>
                                          <p:attrName>style.visibility</p:attrName>
                                        </p:attrNameLst>
                                      </p:cBhvr>
                                      <p:to>
                                        <p:strVal val="visible"/>
                                      </p:to>
                                    </p:set>
                                    <p:animEffect transition="in" filter="fade">
                                      <p:cBhvr>
                                        <p:cTn id="61" dur="10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6" grpId="0" animBg="1"/>
      <p:bldP spid="5" grpId="0" animBg="1"/>
      <p:bldP spid="7" grpId="0" animBg="1"/>
      <p:bldP spid="4" grpId="0" animBg="1"/>
    </p:bldLst>
  </p:timing>
</p:sld>
</file>

<file path=ppt/slides/slide137.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Modify Table: 2 Create Empty Table</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Autofit/>
          </a:bodyPr>
          <a:lstStyle/>
          <a:p>
            <a:pPr marL="0" lvl="0" indent="0" eaLnBrk="0" fontAlgn="base" hangingPunct="0">
              <a:lnSpc>
                <a:spcPct val="100000"/>
              </a:lnSpc>
              <a:spcBef>
                <a:spcPct val="0"/>
              </a:spcBef>
              <a:spcAft>
                <a:spcPts val="1200"/>
              </a:spcAft>
              <a:buNone/>
            </a:pPr>
            <a:r>
              <a:rPr lang="en-US" altLang="en-US" sz="3600" dirty="0">
                <a:solidFill>
                  <a:srgbClr val="B2B2B2"/>
                </a:solidFill>
                <a:latin typeface="Consolas" panose="020B0609020204030204" pitchFamily="49" charset="0"/>
              </a:rPr>
              <a:t>1 </a:t>
            </a:r>
            <a:r>
              <a:rPr lang="en-US" altLang="en-US" sz="3600" dirty="0">
                <a:solidFill>
                  <a:srgbClr val="A71D5D"/>
                </a:solidFill>
                <a:latin typeface="Consolas" panose="020B0609020204030204" pitchFamily="49" charset="0"/>
              </a:rPr>
              <a:t>CREATE TABLE </a:t>
            </a:r>
            <a:r>
              <a:rPr lang="en-US" altLang="en-US" sz="3600" dirty="0" err="1">
                <a:solidFill>
                  <a:srgbClr val="183691"/>
                </a:solidFill>
                <a:latin typeface="Consolas" panose="020B0609020204030204" pitchFamily="49" charset="0"/>
              </a:rPr>
              <a:t>newStaff</a:t>
            </a:r>
            <a:r>
              <a:rPr lang="en-US" altLang="en-US" sz="3600" dirty="0">
                <a:solidFill>
                  <a:srgbClr val="000000"/>
                </a:solidFill>
                <a:latin typeface="Consolas" panose="020B0609020204030204" pitchFamily="49" charset="0"/>
              </a:rPr>
              <a:t> (</a:t>
            </a: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2   </a:t>
            </a:r>
            <a:r>
              <a:rPr lang="en-US" altLang="en-US" sz="3600" dirty="0" err="1">
                <a:solidFill>
                  <a:srgbClr val="183691"/>
                </a:solidFill>
                <a:latin typeface="Consolas" panose="020B0609020204030204" pitchFamily="49" charset="0"/>
              </a:rPr>
              <a:t>staffID</a:t>
            </a:r>
            <a:r>
              <a:rPr lang="en-US" altLang="en-US" sz="3600" dirty="0">
                <a:solidFill>
                  <a:srgbClr val="000000"/>
                </a:solidFill>
                <a:latin typeface="Consolas" panose="020B0609020204030204" pitchFamily="49" charset="0"/>
              </a:rPr>
              <a:t> </a:t>
            </a:r>
            <a:r>
              <a:rPr lang="en-US" altLang="en-US" sz="3600" dirty="0">
                <a:solidFill>
                  <a:srgbClr val="0086B3"/>
                </a:solidFill>
                <a:latin typeface="Consolas" panose="020B0609020204030204" pitchFamily="49" charset="0"/>
              </a:rPr>
              <a:t>INT</a:t>
            </a:r>
            <a:r>
              <a:rPr lang="en-US" altLang="en-US" sz="3600" dirty="0">
                <a:solidFill>
                  <a:srgbClr val="000000"/>
                </a:solidFill>
                <a:latin typeface="Consolas" panose="020B0609020204030204" pitchFamily="49" charset="0"/>
              </a:rPr>
              <a:t> </a:t>
            </a:r>
            <a:r>
              <a:rPr lang="en-US" altLang="en-US" sz="3600" dirty="0">
                <a:solidFill>
                  <a:srgbClr val="A71D5D"/>
                </a:solidFill>
                <a:latin typeface="Consolas" panose="020B0609020204030204" pitchFamily="49" charset="0"/>
              </a:rPr>
              <a:t>NOT NULL</a:t>
            </a:r>
            <a:r>
              <a:rPr lang="en-US" altLang="en-US" sz="36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3   </a:t>
            </a:r>
            <a:r>
              <a:rPr lang="en-US" altLang="en-US" sz="3600" dirty="0">
                <a:solidFill>
                  <a:srgbClr val="183691"/>
                </a:solidFill>
                <a:latin typeface="Consolas" panose="020B0609020204030204" pitchFamily="49" charset="0"/>
              </a:rPr>
              <a:t>title</a:t>
            </a:r>
            <a:r>
              <a:rPr lang="en-US" altLang="en-US" sz="3600" dirty="0">
                <a:solidFill>
                  <a:srgbClr val="000000"/>
                </a:solidFill>
                <a:latin typeface="Consolas" panose="020B0609020204030204" pitchFamily="49" charset="0"/>
              </a:rPr>
              <a:t> </a:t>
            </a:r>
            <a:r>
              <a:rPr lang="en-US" altLang="en-US" sz="3600" dirty="0">
                <a:solidFill>
                  <a:srgbClr val="0086B3"/>
                </a:solidFill>
                <a:latin typeface="Consolas" panose="020B0609020204030204" pitchFamily="49" charset="0"/>
              </a:rPr>
              <a:t>VARCHAR(6)</a:t>
            </a:r>
            <a:r>
              <a:rPr lang="en-US" altLang="en-US" sz="3600" dirty="0">
                <a:solidFill>
                  <a:srgbClr val="000000"/>
                </a:solidFill>
                <a:latin typeface="Consolas" panose="020B0609020204030204" pitchFamily="49" charset="0"/>
              </a:rPr>
              <a:t> </a:t>
            </a:r>
            <a:r>
              <a:rPr lang="en-US" altLang="en-US" sz="3600" dirty="0">
                <a:solidFill>
                  <a:srgbClr val="A71D5D"/>
                </a:solidFill>
                <a:latin typeface="Consolas" panose="020B0609020204030204" pitchFamily="49" charset="0"/>
              </a:rPr>
              <a:t>NOT NULL</a:t>
            </a:r>
            <a:r>
              <a:rPr lang="en-US" altLang="en-US" sz="36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4   </a:t>
            </a:r>
            <a:r>
              <a:rPr lang="en-US" altLang="en-US" sz="3600" dirty="0" err="1">
                <a:solidFill>
                  <a:srgbClr val="183691"/>
                </a:solidFill>
                <a:latin typeface="Consolas" panose="020B0609020204030204" pitchFamily="49" charset="0"/>
              </a:rPr>
              <a:t>lastName</a:t>
            </a:r>
            <a:r>
              <a:rPr lang="en-US" altLang="en-US" sz="3600" dirty="0">
                <a:solidFill>
                  <a:srgbClr val="000000"/>
                </a:solidFill>
                <a:latin typeface="Consolas" panose="020B0609020204030204" pitchFamily="49" charset="0"/>
              </a:rPr>
              <a:t> </a:t>
            </a:r>
            <a:r>
              <a:rPr lang="en-US" altLang="en-US" sz="3600" dirty="0">
                <a:solidFill>
                  <a:srgbClr val="0086B3"/>
                </a:solidFill>
                <a:latin typeface="Consolas" panose="020B0609020204030204" pitchFamily="49" charset="0"/>
              </a:rPr>
              <a:t>VARCHAR(30)</a:t>
            </a:r>
            <a:r>
              <a:rPr lang="en-US" altLang="en-US" sz="3600" dirty="0">
                <a:solidFill>
                  <a:srgbClr val="000000"/>
                </a:solidFill>
                <a:latin typeface="Consolas" panose="020B0609020204030204" pitchFamily="49" charset="0"/>
              </a:rPr>
              <a:t> </a:t>
            </a:r>
            <a:r>
              <a:rPr lang="en-US" altLang="en-US" sz="3600" dirty="0">
                <a:solidFill>
                  <a:srgbClr val="A71D5D"/>
                </a:solidFill>
                <a:latin typeface="Consolas" panose="020B0609020204030204" pitchFamily="49" charset="0"/>
              </a:rPr>
              <a:t>NOT NULL</a:t>
            </a:r>
            <a:r>
              <a:rPr lang="en-US" altLang="en-US" sz="3600" dirty="0">
                <a:solidFill>
                  <a:srgbClr val="000000"/>
                </a:solidFill>
                <a:latin typeface="Consolas" panose="020B0609020204030204" pitchFamily="49" charset="0"/>
              </a:rPr>
              <a:t>,</a:t>
            </a:r>
          </a:p>
          <a:p>
            <a:pPr marL="0" lvl="0" indent="0" eaLnBrk="0" fontAlgn="base" hangingPunct="0">
              <a:lnSpc>
                <a:spcPct val="100000"/>
              </a:lnSpc>
              <a:spcBef>
                <a:spcPct val="0"/>
              </a:spcBef>
              <a:spcAft>
                <a:spcPts val="1200"/>
              </a:spcAft>
              <a:buNone/>
            </a:pPr>
            <a:r>
              <a:rPr lang="en-US" altLang="en-US" sz="3600" dirty="0">
                <a:solidFill>
                  <a:srgbClr val="B2B2B2"/>
                </a:solidFill>
                <a:latin typeface="Consolas" panose="020B0609020204030204" pitchFamily="49" charset="0"/>
              </a:rPr>
              <a:t>5   </a:t>
            </a:r>
            <a:r>
              <a:rPr lang="en-US" altLang="en-US" sz="3600" dirty="0">
                <a:solidFill>
                  <a:srgbClr val="183691"/>
                </a:solidFill>
                <a:latin typeface="Consolas" panose="020B0609020204030204" pitchFamily="49" charset="0"/>
              </a:rPr>
              <a:t>role</a:t>
            </a:r>
            <a:r>
              <a:rPr lang="en-US" altLang="en-US" sz="3600" dirty="0">
                <a:solidFill>
                  <a:srgbClr val="000000"/>
                </a:solidFill>
                <a:latin typeface="Consolas" panose="020B0609020204030204" pitchFamily="49" charset="0"/>
              </a:rPr>
              <a:t> </a:t>
            </a:r>
            <a:r>
              <a:rPr lang="en-US" altLang="en-US" sz="3600" dirty="0">
                <a:solidFill>
                  <a:srgbClr val="0086B3"/>
                </a:solidFill>
                <a:latin typeface="Consolas" panose="020B0609020204030204" pitchFamily="49" charset="0"/>
              </a:rPr>
              <a:t>VARCHAR(15)</a:t>
            </a:r>
            <a:r>
              <a:rPr lang="en-US" altLang="en-US" sz="3600" dirty="0">
                <a:solidFill>
                  <a:srgbClr val="000000"/>
                </a:solidFill>
                <a:latin typeface="Consolas" panose="020B0609020204030204" pitchFamily="49" charset="0"/>
              </a:rPr>
              <a:t> </a:t>
            </a:r>
            <a:r>
              <a:rPr lang="en-US" altLang="en-US" sz="3600" dirty="0">
                <a:solidFill>
                  <a:srgbClr val="A71D5D"/>
                </a:solidFill>
                <a:latin typeface="Consolas" panose="020B0609020204030204" pitchFamily="49" charset="0"/>
              </a:rPr>
              <a:t>NOT NULL</a:t>
            </a:r>
            <a:r>
              <a:rPr lang="en-US" altLang="en-US" sz="36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6   </a:t>
            </a:r>
            <a:r>
              <a:rPr lang="en-US" altLang="en-US" sz="3600" dirty="0">
                <a:solidFill>
                  <a:srgbClr val="A71D5D"/>
                </a:solidFill>
                <a:latin typeface="Consolas" panose="020B0609020204030204" pitchFamily="49" charset="0"/>
              </a:rPr>
              <a:t>PRIMARY KEY</a:t>
            </a:r>
            <a:r>
              <a:rPr lang="en-US" altLang="en-US" sz="3600" dirty="0">
                <a:solidFill>
                  <a:srgbClr val="000000"/>
                </a:solidFill>
                <a:latin typeface="Consolas" panose="020B0609020204030204" pitchFamily="49" charset="0"/>
              </a:rPr>
              <a:t>(</a:t>
            </a:r>
            <a:r>
              <a:rPr lang="en-US" altLang="en-US" sz="3600" dirty="0" err="1">
                <a:solidFill>
                  <a:srgbClr val="183691"/>
                </a:solidFill>
                <a:latin typeface="Consolas" panose="020B0609020204030204" pitchFamily="49" charset="0"/>
              </a:rPr>
              <a:t>staffID</a:t>
            </a:r>
            <a:r>
              <a:rPr lang="en-US" altLang="en-US" sz="36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7 </a:t>
            </a:r>
            <a:r>
              <a:rPr lang="en-US" altLang="en-US" sz="3600" dirty="0">
                <a:solidFill>
                  <a:srgbClr val="000000"/>
                </a:solidFill>
                <a:latin typeface="Consolas" panose="020B0609020204030204" pitchFamily="49" charset="0"/>
              </a:rPr>
              <a:t>);</a:t>
            </a:r>
            <a:endParaRPr lang="en-US" altLang="en-US" sz="4800" dirty="0">
              <a:latin typeface="Arial" panose="020B0604020202020204" pitchFamily="34" charset="0"/>
            </a:endParaRPr>
          </a:p>
        </p:txBody>
      </p:sp>
    </p:spTree>
    <p:extLst>
      <p:ext uri="{BB962C8B-B14F-4D97-AF65-F5344CB8AC3E}">
        <p14:creationId xmlns:p14="http://schemas.microsoft.com/office/powerpoint/2010/main" val="1476730994"/>
      </p:ext>
    </p:extLst>
  </p:cSld>
  <p:clrMapOvr>
    <a:masterClrMapping/>
  </p:clrMapOvr>
</p:sld>
</file>

<file path=ppt/slides/slide1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Modify Table: 3 Copy Data</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1 </a:t>
            </a:r>
            <a:r>
              <a:rPr lang="en-US" altLang="en-US" sz="3600" dirty="0">
                <a:solidFill>
                  <a:srgbClr val="A71D5D"/>
                </a:solidFill>
                <a:latin typeface="Consolas" panose="020B0609020204030204" pitchFamily="49" charset="0"/>
              </a:rPr>
              <a:t>INSERT INTO</a:t>
            </a:r>
            <a:r>
              <a:rPr lang="en-US" altLang="en-US" sz="3600" dirty="0">
                <a:solidFill>
                  <a:srgbClr val="000000"/>
                </a:solidFill>
                <a:latin typeface="Consolas" panose="020B0609020204030204" pitchFamily="49" charset="0"/>
              </a:rPr>
              <a:t> </a:t>
            </a:r>
            <a:r>
              <a:rPr lang="en-US" altLang="en-US" sz="3600" dirty="0" err="1">
                <a:solidFill>
                  <a:srgbClr val="000000"/>
                </a:solidFill>
                <a:latin typeface="Consolas" panose="020B0609020204030204" pitchFamily="49" charset="0"/>
              </a:rPr>
              <a:t>newStaff</a:t>
            </a:r>
            <a:endParaRPr lang="en-US" altLang="en-US" sz="36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2   </a:t>
            </a:r>
            <a:r>
              <a:rPr lang="en-US" altLang="en-US" sz="3600" dirty="0">
                <a:solidFill>
                  <a:srgbClr val="A71D5D"/>
                </a:solidFill>
                <a:latin typeface="Consolas" panose="020B0609020204030204" pitchFamily="49" charset="0"/>
              </a:rPr>
              <a:t>SELECT</a:t>
            </a:r>
            <a:r>
              <a:rPr lang="en-US" altLang="en-US" sz="3600" dirty="0">
                <a:solidFill>
                  <a:srgbClr val="000000"/>
                </a:solidFill>
                <a:latin typeface="Consolas" panose="020B0609020204030204" pitchFamily="49" charset="0"/>
              </a:rPr>
              <a:t> *</a:t>
            </a: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3     </a:t>
            </a:r>
            <a:r>
              <a:rPr lang="en-US" altLang="en-US" sz="3600" dirty="0">
                <a:solidFill>
                  <a:srgbClr val="A71D5D"/>
                </a:solidFill>
                <a:latin typeface="Consolas" panose="020B0609020204030204" pitchFamily="49" charset="0"/>
              </a:rPr>
              <a:t>FROM</a:t>
            </a:r>
            <a:r>
              <a:rPr lang="en-US" altLang="en-US" sz="3600" dirty="0">
                <a:solidFill>
                  <a:srgbClr val="000000"/>
                </a:solidFill>
                <a:latin typeface="Consolas" panose="020B0609020204030204" pitchFamily="49" charset="0"/>
              </a:rPr>
              <a:t> staff;</a:t>
            </a:r>
            <a:endParaRPr lang="en-US" altLang="en-US" sz="4800" dirty="0">
              <a:latin typeface="Arial" panose="020B0604020202020204" pitchFamily="34" charset="0"/>
            </a:endParaRPr>
          </a:p>
        </p:txBody>
      </p:sp>
      <p:sp>
        <p:nvSpPr>
          <p:cNvPr id="6" name="Callout: Bent Line with No Border 5">
            <a:extLst>
              <a:ext uri="{FF2B5EF4-FFF2-40B4-BE49-F238E27FC236}">
                <a16:creationId xmlns:a16="http://schemas.microsoft.com/office/drawing/2014/main" id="{DEC21E10-375A-0A9D-2F84-A3F122B207B0}"/>
              </a:ext>
            </a:extLst>
          </p:cNvPr>
          <p:cNvSpPr/>
          <p:nvPr/>
        </p:nvSpPr>
        <p:spPr>
          <a:xfrm>
            <a:off x="6660853" y="2572764"/>
            <a:ext cx="1716036" cy="718344"/>
          </a:xfrm>
          <a:prstGeom prst="callout2">
            <a:avLst>
              <a:gd name="adj1" fmla="val 49990"/>
              <a:gd name="adj2" fmla="val -52"/>
              <a:gd name="adj3" fmla="val 49905"/>
              <a:gd name="adj4" fmla="val -22425"/>
              <a:gd name="adj5" fmla="val -22628"/>
              <a:gd name="adj6" fmla="val -47626"/>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New table</a:t>
            </a:r>
          </a:p>
        </p:txBody>
      </p:sp>
      <p:sp>
        <p:nvSpPr>
          <p:cNvPr id="7" name="Callout: Bent Line with No Border 6">
            <a:extLst>
              <a:ext uri="{FF2B5EF4-FFF2-40B4-BE49-F238E27FC236}">
                <a16:creationId xmlns:a16="http://schemas.microsoft.com/office/drawing/2014/main" id="{E6763BB3-8CAE-4CE6-9117-2B2F414BC5CC}"/>
              </a:ext>
            </a:extLst>
          </p:cNvPr>
          <p:cNvSpPr/>
          <p:nvPr/>
        </p:nvSpPr>
        <p:spPr>
          <a:xfrm>
            <a:off x="5237982" y="3734715"/>
            <a:ext cx="1716036" cy="718344"/>
          </a:xfrm>
          <a:prstGeom prst="callout2">
            <a:avLst>
              <a:gd name="adj1" fmla="val 49990"/>
              <a:gd name="adj2" fmla="val -52"/>
              <a:gd name="adj3" fmla="val 49905"/>
              <a:gd name="adj4" fmla="val -22425"/>
              <a:gd name="adj5" fmla="val -22628"/>
              <a:gd name="adj6" fmla="val -47626"/>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Old table</a:t>
            </a:r>
          </a:p>
        </p:txBody>
      </p:sp>
    </p:spTree>
    <p:extLst>
      <p:ext uri="{BB962C8B-B14F-4D97-AF65-F5344CB8AC3E}">
        <p14:creationId xmlns:p14="http://schemas.microsoft.com/office/powerpoint/2010/main" val="363247932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20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125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15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6"/>
                                        </p:tgtEl>
                                        <p:attrNameLst>
                                          <p:attrName>style.visibility</p:attrName>
                                        </p:attrNameLst>
                                      </p:cBhvr>
                                      <p:to>
                                        <p:strVal val="visible"/>
                                      </p:to>
                                    </p:set>
                                    <p:animEffect transition="in" filter="fade">
                                      <p:cBhvr>
                                        <p:cTn id="22" dur="1000"/>
                                        <p:tgtEl>
                                          <p:spTgt spid="6"/>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7"/>
                                        </p:tgtEl>
                                        <p:attrNameLst>
                                          <p:attrName>style.visibility</p:attrName>
                                        </p:attrNameLst>
                                      </p:cBhvr>
                                      <p:to>
                                        <p:strVal val="visible"/>
                                      </p:to>
                                    </p:set>
                                    <p:animEffect transition="in" filter="fade">
                                      <p:cBhvr>
                                        <p:cTn id="27" dur="10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6" grpId="0" animBg="1"/>
      <p:bldP spid="7" grpId="0" animBg="1"/>
    </p:bldLst>
  </p:timing>
</p:sld>
</file>

<file path=ppt/slides/slide139.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Modify Table: 3 Copy Data</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1 </a:t>
            </a:r>
            <a:r>
              <a:rPr lang="en-US" altLang="en-US" sz="3600" dirty="0">
                <a:solidFill>
                  <a:srgbClr val="A71D5D"/>
                </a:solidFill>
                <a:latin typeface="Consolas" panose="020B0609020204030204" pitchFamily="49" charset="0"/>
              </a:rPr>
              <a:t>INSERT INTO</a:t>
            </a:r>
            <a:r>
              <a:rPr lang="en-US" altLang="en-US" sz="3600" dirty="0">
                <a:solidFill>
                  <a:srgbClr val="000000"/>
                </a:solidFill>
                <a:latin typeface="Consolas" panose="020B0609020204030204" pitchFamily="49" charset="0"/>
              </a:rPr>
              <a:t> </a:t>
            </a:r>
            <a:r>
              <a:rPr lang="en-US" altLang="en-US" sz="3600" dirty="0" err="1">
                <a:solidFill>
                  <a:srgbClr val="000000"/>
                </a:solidFill>
                <a:latin typeface="Consolas" panose="020B0609020204030204" pitchFamily="49" charset="0"/>
              </a:rPr>
              <a:t>newStaff</a:t>
            </a:r>
            <a:endParaRPr lang="en-US" altLang="en-US" sz="36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2   </a:t>
            </a:r>
            <a:r>
              <a:rPr lang="en-US" altLang="en-US" sz="3600" dirty="0">
                <a:solidFill>
                  <a:srgbClr val="A71D5D"/>
                </a:solidFill>
                <a:latin typeface="Consolas" panose="020B0609020204030204" pitchFamily="49" charset="0"/>
              </a:rPr>
              <a:t>SELECT</a:t>
            </a:r>
            <a:r>
              <a:rPr lang="en-US" altLang="en-US" sz="3600" dirty="0">
                <a:solidFill>
                  <a:srgbClr val="000000"/>
                </a:solidFill>
                <a:latin typeface="Consolas" panose="020B0609020204030204" pitchFamily="49" charset="0"/>
              </a:rPr>
              <a:t> *</a:t>
            </a: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3     </a:t>
            </a:r>
            <a:r>
              <a:rPr lang="en-US" altLang="en-US" sz="3600" dirty="0">
                <a:solidFill>
                  <a:srgbClr val="A71D5D"/>
                </a:solidFill>
                <a:latin typeface="Consolas" panose="020B0609020204030204" pitchFamily="49" charset="0"/>
              </a:rPr>
              <a:t>FROM</a:t>
            </a:r>
            <a:r>
              <a:rPr lang="en-US" altLang="en-US" sz="3600" dirty="0">
                <a:solidFill>
                  <a:srgbClr val="000000"/>
                </a:solidFill>
                <a:latin typeface="Consolas" panose="020B0609020204030204" pitchFamily="49" charset="0"/>
              </a:rPr>
              <a:t> staff;</a:t>
            </a:r>
            <a:endParaRPr lang="en-US" altLang="en-US" sz="4800" dirty="0">
              <a:latin typeface="Arial" panose="020B0604020202020204" pitchFamily="34" charset="0"/>
            </a:endParaRPr>
          </a:p>
        </p:txBody>
      </p:sp>
    </p:spTree>
    <p:extLst>
      <p:ext uri="{BB962C8B-B14F-4D97-AF65-F5344CB8AC3E}">
        <p14:creationId xmlns:p14="http://schemas.microsoft.com/office/powerpoint/2010/main" val="3068552250"/>
      </p:ext>
    </p:extLst>
  </p:cSld>
  <p:clrMapOvr>
    <a:masterClrMapping/>
  </p:clrMapOvr>
</p:sld>
</file>

<file path=ppt/slides/slide1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Modify Table: 4 Check Data</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SELECT</a:t>
            </a:r>
            <a:r>
              <a:rPr lang="en-US" altLang="en-US" sz="4400" dirty="0">
                <a:solidFill>
                  <a:srgbClr val="000000"/>
                </a:solidFill>
                <a:latin typeface="Consolas" panose="020B0609020204030204" pitchFamily="49" charset="0"/>
              </a:rPr>
              <a:t> *</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FROM</a:t>
            </a:r>
            <a:r>
              <a:rPr lang="en-US" altLang="en-US" sz="4400" dirty="0">
                <a:solidFill>
                  <a:srgbClr val="000000"/>
                </a:solidFill>
                <a:latin typeface="Consolas" panose="020B0609020204030204" pitchFamily="49" charset="0"/>
              </a:rPr>
              <a:t> </a:t>
            </a:r>
            <a:r>
              <a:rPr lang="en-US" altLang="en-US" sz="4400" dirty="0" err="1">
                <a:solidFill>
                  <a:srgbClr val="000000"/>
                </a:solidFill>
                <a:latin typeface="Consolas" panose="020B0609020204030204" pitchFamily="49" charset="0"/>
              </a:rPr>
              <a:t>newStaff</a:t>
            </a:r>
            <a:r>
              <a:rPr lang="en-US" altLang="en-US" sz="4400" dirty="0">
                <a:solidFill>
                  <a:srgbClr val="000000"/>
                </a:solidFill>
                <a:latin typeface="Consolas" panose="020B0609020204030204" pitchFamily="49" charset="0"/>
              </a:rPr>
              <a:t>;</a:t>
            </a:r>
            <a:endParaRPr lang="en-US" altLang="en-US" sz="5400" dirty="0">
              <a:latin typeface="Arial" panose="020B0604020202020204" pitchFamily="34" charset="0"/>
            </a:endParaRPr>
          </a:p>
        </p:txBody>
      </p:sp>
      <p:sp>
        <p:nvSpPr>
          <p:cNvPr id="6" name="Callout: Bent Line with No Border 5">
            <a:extLst>
              <a:ext uri="{FF2B5EF4-FFF2-40B4-BE49-F238E27FC236}">
                <a16:creationId xmlns:a16="http://schemas.microsoft.com/office/drawing/2014/main" id="{58A7E803-997A-41BB-B0A2-D305F06E3754}"/>
              </a:ext>
            </a:extLst>
          </p:cNvPr>
          <p:cNvSpPr/>
          <p:nvPr/>
        </p:nvSpPr>
        <p:spPr>
          <a:xfrm>
            <a:off x="2124365" y="3619965"/>
            <a:ext cx="1886610" cy="862642"/>
          </a:xfrm>
          <a:prstGeom prst="callout2">
            <a:avLst>
              <a:gd name="adj1" fmla="val 48750"/>
              <a:gd name="adj2" fmla="val 104056"/>
              <a:gd name="adj3" fmla="val 49417"/>
              <a:gd name="adj4" fmla="val 134218"/>
              <a:gd name="adj5" fmla="val -40415"/>
              <a:gd name="adj6" fmla="val 148618"/>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New name</a:t>
            </a:r>
          </a:p>
        </p:txBody>
      </p:sp>
    </p:spTree>
    <p:extLst>
      <p:ext uri="{BB962C8B-B14F-4D97-AF65-F5344CB8AC3E}">
        <p14:creationId xmlns:p14="http://schemas.microsoft.com/office/powerpoint/2010/main" val="340979295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0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15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6"/>
                                        </p:tgtEl>
                                        <p:attrNameLst>
                                          <p:attrName>style.visibility</p:attrName>
                                        </p:attrNameLst>
                                      </p:cBhvr>
                                      <p:to>
                                        <p:strVal val="visible"/>
                                      </p:to>
                                    </p:set>
                                    <p:animEffect transition="in" filter="fade">
                                      <p:cBhvr>
                                        <p:cTn id="17" dur="10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6" grpId="0" animBg="1"/>
    </p:bldLst>
  </p:timing>
</p:sld>
</file>

<file path=ppt/slides/slide14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Modify Table: 4 Check Data</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SELECT</a:t>
            </a:r>
            <a:r>
              <a:rPr lang="en-US" altLang="en-US" sz="4400" dirty="0">
                <a:solidFill>
                  <a:srgbClr val="000000"/>
                </a:solidFill>
                <a:latin typeface="Consolas" panose="020B0609020204030204" pitchFamily="49" charset="0"/>
              </a:rPr>
              <a:t> *</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FROM</a:t>
            </a:r>
            <a:r>
              <a:rPr lang="en-US" altLang="en-US" sz="4400" dirty="0">
                <a:solidFill>
                  <a:srgbClr val="000000"/>
                </a:solidFill>
                <a:latin typeface="Consolas" panose="020B0609020204030204" pitchFamily="49" charset="0"/>
              </a:rPr>
              <a:t> </a:t>
            </a:r>
            <a:r>
              <a:rPr lang="en-US" altLang="en-US" sz="4400" dirty="0" err="1">
                <a:solidFill>
                  <a:srgbClr val="000000"/>
                </a:solidFill>
                <a:latin typeface="Consolas" panose="020B0609020204030204" pitchFamily="49" charset="0"/>
              </a:rPr>
              <a:t>newStaff</a:t>
            </a:r>
            <a:r>
              <a:rPr lang="en-US" altLang="en-US" sz="4400" dirty="0">
                <a:solidFill>
                  <a:srgbClr val="000000"/>
                </a:solidFill>
                <a:latin typeface="Consolas" panose="020B0609020204030204" pitchFamily="49" charset="0"/>
              </a:rPr>
              <a:t>;</a:t>
            </a:r>
            <a:endParaRPr lang="en-US" altLang="en-US" sz="5400" dirty="0">
              <a:latin typeface="Arial" panose="020B0604020202020204" pitchFamily="34" charset="0"/>
            </a:endParaRPr>
          </a:p>
        </p:txBody>
      </p:sp>
    </p:spTree>
    <p:extLst>
      <p:ext uri="{BB962C8B-B14F-4D97-AF65-F5344CB8AC3E}">
        <p14:creationId xmlns:p14="http://schemas.microsoft.com/office/powerpoint/2010/main" val="77538261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0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1500"/>
                                        <p:tgtEl>
                                          <p:spTgt spid="3">
                                            <p:txEl>
                                              <p:pRg st="1" end="1"/>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Modify Table: 5 Referential integrity: Off</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1 </a:t>
            </a:r>
            <a:r>
              <a:rPr lang="en-US" altLang="en-US" sz="3600" dirty="0">
                <a:solidFill>
                  <a:srgbClr val="000000"/>
                </a:solidFill>
                <a:latin typeface="Consolas" panose="020B0609020204030204" pitchFamily="49" charset="0"/>
              </a:rPr>
              <a:t>PRAGMA </a:t>
            </a:r>
            <a:r>
              <a:rPr lang="en-US" altLang="en-US" sz="3600" dirty="0" err="1">
                <a:solidFill>
                  <a:srgbClr val="000000"/>
                </a:solidFill>
                <a:latin typeface="Consolas" panose="020B0609020204030204" pitchFamily="49" charset="0"/>
              </a:rPr>
              <a:t>foreign_keys</a:t>
            </a:r>
            <a:r>
              <a:rPr lang="en-US" altLang="en-US" sz="3600" dirty="0">
                <a:solidFill>
                  <a:srgbClr val="000000"/>
                </a:solidFill>
                <a:latin typeface="Consolas" panose="020B0609020204030204" pitchFamily="49" charset="0"/>
              </a:rPr>
              <a:t> = </a:t>
            </a:r>
            <a:r>
              <a:rPr lang="en-US" altLang="en-US" sz="3600" dirty="0">
                <a:solidFill>
                  <a:srgbClr val="A71D5D"/>
                </a:solidFill>
                <a:latin typeface="Consolas" panose="020B0609020204030204" pitchFamily="49" charset="0"/>
              </a:rPr>
              <a:t>off</a:t>
            </a:r>
            <a:r>
              <a:rPr lang="en-US" altLang="en-US" sz="3600" dirty="0">
                <a:solidFill>
                  <a:srgbClr val="000000"/>
                </a:solidFill>
                <a:latin typeface="Consolas" panose="020B0609020204030204" pitchFamily="49" charset="0"/>
              </a:rPr>
              <a:t>;</a:t>
            </a:r>
            <a:endParaRPr lang="en-US" altLang="en-US" sz="4800" dirty="0">
              <a:latin typeface="Arial" panose="020B0604020202020204" pitchFamily="34" charset="0"/>
            </a:endParaRPr>
          </a:p>
        </p:txBody>
      </p:sp>
      <p:sp>
        <p:nvSpPr>
          <p:cNvPr id="4" name="Callout: Bent Line with No Border 3">
            <a:extLst>
              <a:ext uri="{FF2B5EF4-FFF2-40B4-BE49-F238E27FC236}">
                <a16:creationId xmlns:a16="http://schemas.microsoft.com/office/drawing/2014/main" id="{B72B031F-C16B-44DD-BAE2-1591BA67FDEA}"/>
              </a:ext>
            </a:extLst>
          </p:cNvPr>
          <p:cNvSpPr/>
          <p:nvPr/>
        </p:nvSpPr>
        <p:spPr>
          <a:xfrm>
            <a:off x="2985637" y="3033316"/>
            <a:ext cx="2816447" cy="718344"/>
          </a:xfrm>
          <a:prstGeom prst="callout2">
            <a:avLst>
              <a:gd name="adj1" fmla="val 49990"/>
              <a:gd name="adj2" fmla="val -52"/>
              <a:gd name="adj3" fmla="val 49905"/>
              <a:gd name="adj4" fmla="val -22425"/>
              <a:gd name="adj5" fmla="val -83243"/>
              <a:gd name="adj6" fmla="val -27129"/>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Specific to SQLite</a:t>
            </a:r>
          </a:p>
        </p:txBody>
      </p:sp>
    </p:spTree>
    <p:extLst>
      <p:ext uri="{BB962C8B-B14F-4D97-AF65-F5344CB8AC3E}">
        <p14:creationId xmlns:p14="http://schemas.microsoft.com/office/powerpoint/2010/main" val="121661234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4"/>
                                        </p:tgtEl>
                                        <p:attrNameLst>
                                          <p:attrName>style.visibility</p:attrName>
                                        </p:attrNameLst>
                                      </p:cBhvr>
                                      <p:to>
                                        <p:strVal val="visible"/>
                                      </p:to>
                                    </p:set>
                                    <p:animEffect transition="in" filter="fade">
                                      <p:cBhvr>
                                        <p:cTn id="12" dur="10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4" grpId="0" animBg="1"/>
    </p:bldLst>
  </p:timing>
</p:sld>
</file>

<file path=ppt/slides/slide14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Modify Table: 5 Referential integrity: Off</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1 </a:t>
            </a:r>
            <a:r>
              <a:rPr lang="en-US" altLang="en-US" sz="3600" dirty="0">
                <a:solidFill>
                  <a:srgbClr val="000000"/>
                </a:solidFill>
                <a:latin typeface="Consolas" panose="020B0609020204030204" pitchFamily="49" charset="0"/>
              </a:rPr>
              <a:t>PRAGMA </a:t>
            </a:r>
            <a:r>
              <a:rPr lang="en-US" altLang="en-US" sz="3600" dirty="0" err="1">
                <a:solidFill>
                  <a:srgbClr val="000000"/>
                </a:solidFill>
                <a:latin typeface="Consolas" panose="020B0609020204030204" pitchFamily="49" charset="0"/>
              </a:rPr>
              <a:t>foreign_keys</a:t>
            </a:r>
            <a:r>
              <a:rPr lang="en-US" altLang="en-US" sz="3600" dirty="0">
                <a:solidFill>
                  <a:srgbClr val="000000"/>
                </a:solidFill>
                <a:latin typeface="Consolas" panose="020B0609020204030204" pitchFamily="49" charset="0"/>
              </a:rPr>
              <a:t> =</a:t>
            </a:r>
            <a:endParaRPr lang="en-US" altLang="en-US" sz="4800" dirty="0">
              <a:latin typeface="Arial" panose="020B0604020202020204" pitchFamily="34" charset="0"/>
            </a:endParaRPr>
          </a:p>
        </p:txBody>
      </p:sp>
    </p:spTree>
    <p:extLst>
      <p:ext uri="{BB962C8B-B14F-4D97-AF65-F5344CB8AC3E}">
        <p14:creationId xmlns:p14="http://schemas.microsoft.com/office/powerpoint/2010/main" val="2439365964"/>
      </p:ext>
    </p:extLst>
  </p:cSld>
  <p:clrMapOvr>
    <a:masterClrMapping/>
  </p:clrMapOvr>
</p:sld>
</file>

<file path=ppt/slides/slide1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Modify Table: 6 Delete Old Table</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1 </a:t>
            </a:r>
            <a:r>
              <a:rPr lang="en-US" altLang="en-US" sz="3600" dirty="0">
                <a:solidFill>
                  <a:srgbClr val="A71D5D"/>
                </a:solidFill>
                <a:latin typeface="Consolas" panose="020B0609020204030204" pitchFamily="49" charset="0"/>
              </a:rPr>
              <a:t>DROP TABLE</a:t>
            </a:r>
            <a:r>
              <a:rPr lang="en-US" altLang="en-US" sz="3600" dirty="0">
                <a:solidFill>
                  <a:srgbClr val="000000"/>
                </a:solidFill>
                <a:latin typeface="Consolas" panose="020B0609020204030204" pitchFamily="49" charset="0"/>
              </a:rPr>
              <a:t> staff;</a:t>
            </a:r>
            <a:endParaRPr lang="en-US" altLang="en-US" sz="4400" dirty="0">
              <a:latin typeface="Arial" panose="020B0604020202020204" pitchFamily="34" charset="0"/>
            </a:endParaRPr>
          </a:p>
        </p:txBody>
      </p:sp>
      <p:sp>
        <p:nvSpPr>
          <p:cNvPr id="7" name="Callout: Bent Line with No Border 6">
            <a:extLst>
              <a:ext uri="{FF2B5EF4-FFF2-40B4-BE49-F238E27FC236}">
                <a16:creationId xmlns:a16="http://schemas.microsoft.com/office/drawing/2014/main" id="{E6763BB3-8CAE-4CE6-9117-2B2F414BC5CC}"/>
              </a:ext>
            </a:extLst>
          </p:cNvPr>
          <p:cNvSpPr/>
          <p:nvPr/>
        </p:nvSpPr>
        <p:spPr>
          <a:xfrm>
            <a:off x="5772381" y="2637286"/>
            <a:ext cx="1716036" cy="718344"/>
          </a:xfrm>
          <a:prstGeom prst="callout2">
            <a:avLst>
              <a:gd name="adj1" fmla="val 49990"/>
              <a:gd name="adj2" fmla="val -52"/>
              <a:gd name="adj3" fmla="val 49905"/>
              <a:gd name="adj4" fmla="val -22425"/>
              <a:gd name="adj5" fmla="val -22628"/>
              <a:gd name="adj6" fmla="val -47626"/>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Old table</a:t>
            </a:r>
          </a:p>
        </p:txBody>
      </p:sp>
    </p:spTree>
    <p:extLst>
      <p:ext uri="{BB962C8B-B14F-4D97-AF65-F5344CB8AC3E}">
        <p14:creationId xmlns:p14="http://schemas.microsoft.com/office/powerpoint/2010/main" val="328553793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7"/>
                                        </p:tgtEl>
                                        <p:attrNameLst>
                                          <p:attrName>style.visibility</p:attrName>
                                        </p:attrNameLst>
                                      </p:cBhvr>
                                      <p:to>
                                        <p:strVal val="visible"/>
                                      </p:to>
                                    </p:set>
                                    <p:animEffect transition="in" filter="fade">
                                      <p:cBhvr>
                                        <p:cTn id="12" dur="10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7" grpId="0" animBg="1"/>
    </p:bldLst>
  </p:timing>
</p:sld>
</file>

<file path=ppt/slides/slide145.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Modify Table: 6 Delete Table</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1 </a:t>
            </a:r>
            <a:r>
              <a:rPr lang="en-US" altLang="en-US" sz="3600" dirty="0">
                <a:solidFill>
                  <a:srgbClr val="A71D5D"/>
                </a:solidFill>
                <a:latin typeface="Consolas" panose="020B0609020204030204" pitchFamily="49" charset="0"/>
              </a:rPr>
              <a:t>DROP TABLE</a:t>
            </a:r>
            <a:r>
              <a:rPr lang="en-US" altLang="en-US" sz="3600" dirty="0">
                <a:solidFill>
                  <a:srgbClr val="000000"/>
                </a:solidFill>
                <a:latin typeface="Consolas" panose="020B0609020204030204" pitchFamily="49" charset="0"/>
              </a:rPr>
              <a:t> staff;</a:t>
            </a:r>
            <a:endParaRPr lang="en-US" altLang="en-US" sz="4400" dirty="0">
              <a:latin typeface="Arial" panose="020B0604020202020204" pitchFamily="34" charset="0"/>
            </a:endParaRPr>
          </a:p>
        </p:txBody>
      </p:sp>
    </p:spTree>
    <p:extLst>
      <p:ext uri="{BB962C8B-B14F-4D97-AF65-F5344CB8AC3E}">
        <p14:creationId xmlns:p14="http://schemas.microsoft.com/office/powerpoint/2010/main" val="537458580"/>
      </p:ext>
    </p:extLst>
  </p:cSld>
  <p:clrMapOvr>
    <a:masterClrMapping/>
  </p:clrMapOvr>
</p:sld>
</file>

<file path=ppt/slides/slide1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Modify Table: 7 Rename New Table</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1 </a:t>
            </a:r>
            <a:r>
              <a:rPr lang="en-US" altLang="en-US" sz="3600" dirty="0">
                <a:solidFill>
                  <a:srgbClr val="A71D5D"/>
                </a:solidFill>
                <a:latin typeface="Consolas" panose="020B0609020204030204" pitchFamily="49" charset="0"/>
              </a:rPr>
              <a:t>ALTER TABLE</a:t>
            </a:r>
            <a:r>
              <a:rPr lang="en-US" altLang="en-US" sz="3600" dirty="0">
                <a:solidFill>
                  <a:srgbClr val="000000"/>
                </a:solidFill>
                <a:latin typeface="Consolas" panose="020B0609020204030204" pitchFamily="49" charset="0"/>
              </a:rPr>
              <a:t> </a:t>
            </a:r>
            <a:r>
              <a:rPr lang="en-US" altLang="en-US" sz="3600" dirty="0" err="1">
                <a:solidFill>
                  <a:srgbClr val="000000"/>
                </a:solidFill>
                <a:latin typeface="Consolas" panose="020B0609020204030204" pitchFamily="49" charset="0"/>
              </a:rPr>
              <a:t>newStaff</a:t>
            </a:r>
            <a:endParaRPr lang="en-US" altLang="en-US" sz="36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2   </a:t>
            </a:r>
            <a:r>
              <a:rPr lang="en-US" altLang="en-US" sz="3600" dirty="0">
                <a:solidFill>
                  <a:srgbClr val="A71D5D"/>
                </a:solidFill>
                <a:latin typeface="Consolas" panose="020B0609020204030204" pitchFamily="49" charset="0"/>
              </a:rPr>
              <a:t>RENAME TO</a:t>
            </a:r>
            <a:r>
              <a:rPr lang="en-US" altLang="en-US" sz="3600" dirty="0">
                <a:solidFill>
                  <a:srgbClr val="000000"/>
                </a:solidFill>
                <a:latin typeface="Consolas" panose="020B0609020204030204" pitchFamily="49" charset="0"/>
              </a:rPr>
              <a:t> staff;</a:t>
            </a:r>
            <a:endParaRPr lang="en-US" altLang="en-US" sz="4400" dirty="0">
              <a:latin typeface="Arial" panose="020B0604020202020204" pitchFamily="34" charset="0"/>
            </a:endParaRPr>
          </a:p>
        </p:txBody>
      </p:sp>
      <p:sp>
        <p:nvSpPr>
          <p:cNvPr id="6" name="Callout: Bent Line with No Border 5">
            <a:extLst>
              <a:ext uri="{FF2B5EF4-FFF2-40B4-BE49-F238E27FC236}">
                <a16:creationId xmlns:a16="http://schemas.microsoft.com/office/drawing/2014/main" id="{DEC21E10-375A-0A9D-2F84-A3F122B207B0}"/>
              </a:ext>
            </a:extLst>
          </p:cNvPr>
          <p:cNvSpPr/>
          <p:nvPr/>
        </p:nvSpPr>
        <p:spPr>
          <a:xfrm>
            <a:off x="7308430" y="2447607"/>
            <a:ext cx="1716036" cy="718344"/>
          </a:xfrm>
          <a:prstGeom prst="callout2">
            <a:avLst>
              <a:gd name="adj1" fmla="val 49990"/>
              <a:gd name="adj2" fmla="val -52"/>
              <a:gd name="adj3" fmla="val 49905"/>
              <a:gd name="adj4" fmla="val -22425"/>
              <a:gd name="adj5" fmla="val -18819"/>
              <a:gd name="adj6" fmla="val -52250"/>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New table</a:t>
            </a:r>
          </a:p>
        </p:txBody>
      </p:sp>
      <p:sp>
        <p:nvSpPr>
          <p:cNvPr id="5" name="Callout: Bent Line with No Border 4">
            <a:extLst>
              <a:ext uri="{FF2B5EF4-FFF2-40B4-BE49-F238E27FC236}">
                <a16:creationId xmlns:a16="http://schemas.microsoft.com/office/drawing/2014/main" id="{FD072562-D618-0A67-D4FA-BB167CF06F47}"/>
              </a:ext>
            </a:extLst>
          </p:cNvPr>
          <p:cNvSpPr/>
          <p:nvPr/>
        </p:nvSpPr>
        <p:spPr>
          <a:xfrm flipH="1">
            <a:off x="2962339" y="3187467"/>
            <a:ext cx="1716036" cy="718344"/>
          </a:xfrm>
          <a:prstGeom prst="callout2">
            <a:avLst>
              <a:gd name="adj1" fmla="val 49990"/>
              <a:gd name="adj2" fmla="val -52"/>
              <a:gd name="adj3" fmla="val 49905"/>
              <a:gd name="adj4" fmla="val -22425"/>
              <a:gd name="adj5" fmla="val -36883"/>
              <a:gd name="adj6" fmla="val -22694"/>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Old table</a:t>
            </a:r>
          </a:p>
        </p:txBody>
      </p:sp>
    </p:spTree>
    <p:extLst>
      <p:ext uri="{BB962C8B-B14F-4D97-AF65-F5344CB8AC3E}">
        <p14:creationId xmlns:p14="http://schemas.microsoft.com/office/powerpoint/2010/main" val="112559663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15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6"/>
                                        </p:tgtEl>
                                        <p:attrNameLst>
                                          <p:attrName>style.visibility</p:attrName>
                                        </p:attrNameLst>
                                      </p:cBhvr>
                                      <p:to>
                                        <p:strVal val="visible"/>
                                      </p:to>
                                    </p:set>
                                    <p:animEffect transition="in" filter="wipe(left)">
                                      <p:cBhvr>
                                        <p:cTn id="17" dur="1000"/>
                                        <p:tgtEl>
                                          <p:spTgt spid="6"/>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5"/>
                                        </p:tgtEl>
                                        <p:attrNameLst>
                                          <p:attrName>style.visibility</p:attrName>
                                        </p:attrNameLst>
                                      </p:cBhvr>
                                      <p:to>
                                        <p:strVal val="visible"/>
                                      </p:to>
                                    </p:set>
                                    <p:animEffect transition="in" filter="wipe(left)">
                                      <p:cBhvr>
                                        <p:cTn id="22" dur="10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6" grpId="0" animBg="1"/>
      <p:bldP spid="5" grpId="0" animBg="1"/>
    </p:bldLst>
  </p:timing>
</p:sld>
</file>

<file path=ppt/slides/slide147.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Modify Table: 7 Rename New Table</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1 </a:t>
            </a:r>
            <a:r>
              <a:rPr lang="en-US" altLang="en-US" sz="3600" dirty="0">
                <a:solidFill>
                  <a:srgbClr val="A71D5D"/>
                </a:solidFill>
                <a:latin typeface="Consolas" panose="020B0609020204030204" pitchFamily="49" charset="0"/>
              </a:rPr>
              <a:t>ALTER TABLE</a:t>
            </a:r>
            <a:r>
              <a:rPr lang="en-US" altLang="en-US" sz="3600" dirty="0">
                <a:solidFill>
                  <a:srgbClr val="000000"/>
                </a:solidFill>
                <a:latin typeface="Consolas" panose="020B0609020204030204" pitchFamily="49" charset="0"/>
              </a:rPr>
              <a:t> </a:t>
            </a:r>
            <a:r>
              <a:rPr lang="en-US" altLang="en-US" sz="3600" dirty="0" err="1">
                <a:solidFill>
                  <a:srgbClr val="000000"/>
                </a:solidFill>
                <a:latin typeface="Consolas" panose="020B0609020204030204" pitchFamily="49" charset="0"/>
              </a:rPr>
              <a:t>newStaff</a:t>
            </a:r>
            <a:endParaRPr lang="en-US" altLang="en-US" sz="36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3600">
                <a:solidFill>
                  <a:srgbClr val="B2B2B2"/>
                </a:solidFill>
                <a:latin typeface="Consolas" panose="020B0609020204030204" pitchFamily="49" charset="0"/>
              </a:rPr>
              <a:t>2  </a:t>
            </a:r>
            <a:r>
              <a:rPr lang="en-US" altLang="en-US" sz="3600">
                <a:solidFill>
                  <a:srgbClr val="000000"/>
                </a:solidFill>
                <a:latin typeface="Consolas" panose="020B0609020204030204" pitchFamily="49" charset="0"/>
              </a:rPr>
              <a:t> </a:t>
            </a:r>
            <a:r>
              <a:rPr lang="en-US" altLang="en-US" sz="3600" dirty="0">
                <a:solidFill>
                  <a:srgbClr val="A71D5D"/>
                </a:solidFill>
                <a:latin typeface="Consolas" panose="020B0609020204030204" pitchFamily="49" charset="0"/>
              </a:rPr>
              <a:t>RENAME TO</a:t>
            </a:r>
            <a:r>
              <a:rPr lang="en-US" altLang="en-US" sz="3600" dirty="0">
                <a:solidFill>
                  <a:srgbClr val="000000"/>
                </a:solidFill>
                <a:latin typeface="Consolas" panose="020B0609020204030204" pitchFamily="49" charset="0"/>
              </a:rPr>
              <a:t> staff;</a:t>
            </a:r>
            <a:endParaRPr lang="en-US" altLang="en-US" sz="4400" dirty="0">
              <a:latin typeface="Arial" panose="020B0604020202020204" pitchFamily="34" charset="0"/>
            </a:endParaRPr>
          </a:p>
        </p:txBody>
      </p:sp>
    </p:spTree>
    <p:extLst>
      <p:ext uri="{BB962C8B-B14F-4D97-AF65-F5344CB8AC3E}">
        <p14:creationId xmlns:p14="http://schemas.microsoft.com/office/powerpoint/2010/main" val="954236486"/>
      </p:ext>
    </p:extLst>
  </p:cSld>
  <p:clrMapOvr>
    <a:masterClrMapping/>
  </p:clrMapOvr>
</p:sld>
</file>

<file path=ppt/slides/slide1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Modify Table: 8 Referential integrity: On</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1 </a:t>
            </a:r>
            <a:r>
              <a:rPr lang="en-US" altLang="en-US" sz="3600" dirty="0">
                <a:solidFill>
                  <a:srgbClr val="000000"/>
                </a:solidFill>
                <a:latin typeface="Consolas" panose="020B0609020204030204" pitchFamily="49" charset="0"/>
              </a:rPr>
              <a:t>PRAGMA </a:t>
            </a:r>
            <a:r>
              <a:rPr lang="en-US" altLang="en-US" sz="3600" dirty="0" err="1">
                <a:solidFill>
                  <a:srgbClr val="000000"/>
                </a:solidFill>
                <a:latin typeface="Consolas" panose="020B0609020204030204" pitchFamily="49" charset="0"/>
              </a:rPr>
              <a:t>foreign_keys</a:t>
            </a:r>
            <a:r>
              <a:rPr lang="en-US" altLang="en-US" sz="3600" dirty="0">
                <a:solidFill>
                  <a:srgbClr val="000000"/>
                </a:solidFill>
                <a:latin typeface="Consolas" panose="020B0609020204030204" pitchFamily="49" charset="0"/>
              </a:rPr>
              <a:t> = </a:t>
            </a:r>
            <a:r>
              <a:rPr lang="en-US" altLang="en-US" sz="3600" dirty="0">
                <a:solidFill>
                  <a:srgbClr val="A71D5D"/>
                </a:solidFill>
                <a:latin typeface="Consolas" panose="020B0609020204030204" pitchFamily="49" charset="0"/>
              </a:rPr>
              <a:t>on</a:t>
            </a:r>
            <a:r>
              <a:rPr lang="en-US" altLang="en-US" sz="3600" dirty="0">
                <a:solidFill>
                  <a:srgbClr val="000000"/>
                </a:solidFill>
                <a:latin typeface="Consolas" panose="020B0609020204030204" pitchFamily="49" charset="0"/>
              </a:rPr>
              <a:t>;</a:t>
            </a:r>
            <a:endParaRPr lang="en-US" altLang="en-US" sz="4800" dirty="0">
              <a:latin typeface="Arial" panose="020B0604020202020204" pitchFamily="34" charset="0"/>
            </a:endParaRPr>
          </a:p>
        </p:txBody>
      </p:sp>
    </p:spTree>
    <p:extLst>
      <p:ext uri="{BB962C8B-B14F-4D97-AF65-F5344CB8AC3E}">
        <p14:creationId xmlns:p14="http://schemas.microsoft.com/office/powerpoint/2010/main" val="114063203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500"/>
                                        <p:tgtEl>
                                          <p:spTgt spid="3">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49.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Modify Table: 8 Referential integrity: On</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1 </a:t>
            </a:r>
            <a:r>
              <a:rPr lang="en-US" altLang="en-US" sz="3600" dirty="0">
                <a:solidFill>
                  <a:srgbClr val="000000"/>
                </a:solidFill>
                <a:latin typeface="Consolas" panose="020B0609020204030204" pitchFamily="49" charset="0"/>
              </a:rPr>
              <a:t>PRAGMA </a:t>
            </a:r>
            <a:r>
              <a:rPr lang="en-US" altLang="en-US" sz="3600" dirty="0" err="1">
                <a:solidFill>
                  <a:srgbClr val="000000"/>
                </a:solidFill>
                <a:latin typeface="Consolas" panose="020B0609020204030204" pitchFamily="49" charset="0"/>
              </a:rPr>
              <a:t>foreign_keys</a:t>
            </a:r>
            <a:r>
              <a:rPr lang="en-US" altLang="en-US" sz="3600" dirty="0">
                <a:solidFill>
                  <a:srgbClr val="000000"/>
                </a:solidFill>
                <a:latin typeface="Consolas" panose="020B0609020204030204" pitchFamily="49" charset="0"/>
              </a:rPr>
              <a:t> =</a:t>
            </a:r>
            <a:endParaRPr lang="en-US" altLang="en-US" sz="4800" dirty="0">
              <a:latin typeface="Arial" panose="020B0604020202020204" pitchFamily="34" charset="0"/>
            </a:endParaRPr>
          </a:p>
        </p:txBody>
      </p:sp>
    </p:spTree>
    <p:extLst>
      <p:ext uri="{BB962C8B-B14F-4D97-AF65-F5344CB8AC3E}">
        <p14:creationId xmlns:p14="http://schemas.microsoft.com/office/powerpoint/2010/main" val="391662293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500"/>
                                        <p:tgtEl>
                                          <p:spTgt spid="3">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Plan – N5 Year 2</a:t>
            </a:r>
          </a:p>
        </p:txBody>
      </p:sp>
      <p:graphicFrame>
        <p:nvGraphicFramePr>
          <p:cNvPr id="5" name="Content Placeholder 4"/>
          <p:cNvGraphicFramePr>
            <a:graphicFrameLocks noGrp="1"/>
          </p:cNvGraphicFramePr>
          <p:nvPr>
            <p:ph idx="1"/>
          </p:nvPr>
        </p:nvGraphicFramePr>
        <p:xfrm>
          <a:off x="2042160" y="1825625"/>
          <a:ext cx="8107680" cy="4351338"/>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cxnSp>
        <p:nvCxnSpPr>
          <p:cNvPr id="4" name="Straight Arrow Connector 3"/>
          <p:cNvCxnSpPr/>
          <p:nvPr/>
        </p:nvCxnSpPr>
        <p:spPr>
          <a:xfrm>
            <a:off x="762000" y="2994663"/>
            <a:ext cx="1080000" cy="0"/>
          </a:xfrm>
          <a:prstGeom prst="straightConnector1">
            <a:avLst/>
          </a:prstGeom>
          <a:ln w="76200">
            <a:solidFill>
              <a:srgbClr val="FF0000"/>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6" name="Straight Arrow Connector 5"/>
          <p:cNvCxnSpPr/>
          <p:nvPr/>
        </p:nvCxnSpPr>
        <p:spPr>
          <a:xfrm flipH="1">
            <a:off x="10393680" y="2994663"/>
            <a:ext cx="1080000" cy="0"/>
          </a:xfrm>
          <a:prstGeom prst="straightConnector1">
            <a:avLst/>
          </a:prstGeom>
          <a:ln w="76200">
            <a:solidFill>
              <a:srgbClr val="FF0000"/>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17481445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5">
                                            <p:graphicEl>
                                              <a:dgm id="{DFA48299-B840-4714-A5F6-769C74D74113}"/>
                                            </p:graphicEl>
                                          </p:spTgt>
                                        </p:tgtEl>
                                        <p:attrNameLst>
                                          <p:attrName>style.visibility</p:attrName>
                                        </p:attrNameLst>
                                      </p:cBhvr>
                                      <p:to>
                                        <p:strVal val="visible"/>
                                      </p:to>
                                    </p:set>
                                    <p:animEffect transition="in" filter="wipe(left)">
                                      <p:cBhvr>
                                        <p:cTn id="7" dur="500"/>
                                        <p:tgtEl>
                                          <p:spTgt spid="5">
                                            <p:graphicEl>
                                              <a:dgm id="{DFA48299-B840-4714-A5F6-769C74D74113}"/>
                                            </p:graphicEl>
                                          </p:spTgt>
                                        </p:tgtEl>
                                      </p:cBhvr>
                                    </p:animEffect>
                                  </p:childTnLst>
                                </p:cTn>
                              </p:par>
                            </p:childTnLst>
                          </p:cTn>
                        </p:par>
                        <p:par>
                          <p:cTn id="8" fill="hold">
                            <p:stCondLst>
                              <p:cond delay="500"/>
                            </p:stCondLst>
                            <p:childTnLst>
                              <p:par>
                                <p:cTn id="9" presetID="22" presetClass="entr" presetSubtype="8" fill="hold" grpId="0" nodeType="afterEffect">
                                  <p:stCondLst>
                                    <p:cond delay="0"/>
                                  </p:stCondLst>
                                  <p:childTnLst>
                                    <p:set>
                                      <p:cBhvr>
                                        <p:cTn id="10" dur="1" fill="hold">
                                          <p:stCondLst>
                                            <p:cond delay="0"/>
                                          </p:stCondLst>
                                        </p:cTn>
                                        <p:tgtEl>
                                          <p:spTgt spid="5">
                                            <p:graphicEl>
                                              <a:dgm id="{19C32B8D-512E-49A1-A0E6-109384C61E4D}"/>
                                            </p:graphicEl>
                                          </p:spTgt>
                                        </p:tgtEl>
                                        <p:attrNameLst>
                                          <p:attrName>style.visibility</p:attrName>
                                        </p:attrNameLst>
                                      </p:cBhvr>
                                      <p:to>
                                        <p:strVal val="visible"/>
                                      </p:to>
                                    </p:set>
                                    <p:animEffect transition="in" filter="wipe(left)">
                                      <p:cBhvr>
                                        <p:cTn id="11" dur="2000"/>
                                        <p:tgtEl>
                                          <p:spTgt spid="5">
                                            <p:graphicEl>
                                              <a:dgm id="{19C32B8D-512E-49A1-A0E6-109384C61E4D}"/>
                                            </p:graphicEl>
                                          </p:spTgt>
                                        </p:tgtEl>
                                      </p:cBhvr>
                                    </p:animEffect>
                                  </p:childTnLst>
                                </p:cTn>
                              </p:par>
                            </p:childTnLst>
                          </p:cTn>
                        </p:par>
                      </p:childTnLst>
                    </p:cTn>
                  </p:par>
                  <p:par>
                    <p:cTn id="12" fill="hold">
                      <p:stCondLst>
                        <p:cond delay="indefinite"/>
                      </p:stCondLst>
                      <p:childTnLst>
                        <p:par>
                          <p:cTn id="13" fill="hold">
                            <p:stCondLst>
                              <p:cond delay="0"/>
                            </p:stCondLst>
                            <p:childTnLst>
                              <p:par>
                                <p:cTn id="14" presetID="22" presetClass="entr" presetSubtype="8" fill="hold" grpId="0" nodeType="clickEffect">
                                  <p:stCondLst>
                                    <p:cond delay="0"/>
                                  </p:stCondLst>
                                  <p:childTnLst>
                                    <p:set>
                                      <p:cBhvr>
                                        <p:cTn id="15" dur="1" fill="hold">
                                          <p:stCondLst>
                                            <p:cond delay="0"/>
                                          </p:stCondLst>
                                        </p:cTn>
                                        <p:tgtEl>
                                          <p:spTgt spid="5">
                                            <p:graphicEl>
                                              <a:dgm id="{AAD30B60-88C6-4919-B6DD-9F480459E84E}"/>
                                            </p:graphicEl>
                                          </p:spTgt>
                                        </p:tgtEl>
                                        <p:attrNameLst>
                                          <p:attrName>style.visibility</p:attrName>
                                        </p:attrNameLst>
                                      </p:cBhvr>
                                      <p:to>
                                        <p:strVal val="visible"/>
                                      </p:to>
                                    </p:set>
                                    <p:animEffect transition="in" filter="wipe(left)">
                                      <p:cBhvr>
                                        <p:cTn id="16" dur="500"/>
                                        <p:tgtEl>
                                          <p:spTgt spid="5">
                                            <p:graphicEl>
                                              <a:dgm id="{AAD30B60-88C6-4919-B6DD-9F480459E84E}"/>
                                            </p:graphicEl>
                                          </p:spTgt>
                                        </p:tgtEl>
                                      </p:cBhvr>
                                    </p:animEffect>
                                  </p:childTnLst>
                                </p:cTn>
                              </p:par>
                            </p:childTnLst>
                          </p:cTn>
                        </p:par>
                        <p:par>
                          <p:cTn id="17" fill="hold">
                            <p:stCondLst>
                              <p:cond delay="500"/>
                            </p:stCondLst>
                            <p:childTnLst>
                              <p:par>
                                <p:cTn id="18" presetID="22" presetClass="entr" presetSubtype="8" fill="hold" grpId="0" nodeType="afterEffect">
                                  <p:stCondLst>
                                    <p:cond delay="0"/>
                                  </p:stCondLst>
                                  <p:childTnLst>
                                    <p:set>
                                      <p:cBhvr>
                                        <p:cTn id="19" dur="1" fill="hold">
                                          <p:stCondLst>
                                            <p:cond delay="0"/>
                                          </p:stCondLst>
                                        </p:cTn>
                                        <p:tgtEl>
                                          <p:spTgt spid="5">
                                            <p:graphicEl>
                                              <a:dgm id="{0DFDFC6D-8604-4378-B6A3-6A6720006C95}"/>
                                            </p:graphicEl>
                                          </p:spTgt>
                                        </p:tgtEl>
                                        <p:attrNameLst>
                                          <p:attrName>style.visibility</p:attrName>
                                        </p:attrNameLst>
                                      </p:cBhvr>
                                      <p:to>
                                        <p:strVal val="visible"/>
                                      </p:to>
                                    </p:set>
                                    <p:animEffect transition="in" filter="wipe(left)">
                                      <p:cBhvr>
                                        <p:cTn id="20" dur="2000"/>
                                        <p:tgtEl>
                                          <p:spTgt spid="5">
                                            <p:graphicEl>
                                              <a:dgm id="{0DFDFC6D-8604-4378-B6A3-6A6720006C95}"/>
                                            </p:graphicEl>
                                          </p:spTgt>
                                        </p:tgtEl>
                                      </p:cBhvr>
                                    </p:animEffect>
                                  </p:childTnLst>
                                </p:cTn>
                              </p:par>
                            </p:childTnLst>
                          </p:cTn>
                        </p:par>
                      </p:childTnLst>
                    </p:cTn>
                  </p:par>
                  <p:par>
                    <p:cTn id="21" fill="hold">
                      <p:stCondLst>
                        <p:cond delay="indefinite"/>
                      </p:stCondLst>
                      <p:childTnLst>
                        <p:par>
                          <p:cTn id="22" fill="hold">
                            <p:stCondLst>
                              <p:cond delay="0"/>
                            </p:stCondLst>
                            <p:childTnLst>
                              <p:par>
                                <p:cTn id="23" presetID="22" presetClass="entr" presetSubtype="8" fill="hold" grpId="0" nodeType="clickEffect">
                                  <p:stCondLst>
                                    <p:cond delay="0"/>
                                  </p:stCondLst>
                                  <p:childTnLst>
                                    <p:set>
                                      <p:cBhvr>
                                        <p:cTn id="24" dur="1" fill="hold">
                                          <p:stCondLst>
                                            <p:cond delay="0"/>
                                          </p:stCondLst>
                                        </p:cTn>
                                        <p:tgtEl>
                                          <p:spTgt spid="5">
                                            <p:graphicEl>
                                              <a:dgm id="{17253025-0BE3-46B4-B2C8-BFD879D75B26}"/>
                                            </p:graphicEl>
                                          </p:spTgt>
                                        </p:tgtEl>
                                        <p:attrNameLst>
                                          <p:attrName>style.visibility</p:attrName>
                                        </p:attrNameLst>
                                      </p:cBhvr>
                                      <p:to>
                                        <p:strVal val="visible"/>
                                      </p:to>
                                    </p:set>
                                    <p:animEffect transition="in" filter="wipe(left)">
                                      <p:cBhvr>
                                        <p:cTn id="25" dur="500"/>
                                        <p:tgtEl>
                                          <p:spTgt spid="5">
                                            <p:graphicEl>
                                              <a:dgm id="{17253025-0BE3-46B4-B2C8-BFD879D75B26}"/>
                                            </p:graphicEl>
                                          </p:spTgt>
                                        </p:tgtEl>
                                      </p:cBhvr>
                                    </p:animEffect>
                                  </p:childTnLst>
                                </p:cTn>
                              </p:par>
                            </p:childTnLst>
                          </p:cTn>
                        </p:par>
                        <p:par>
                          <p:cTn id="26" fill="hold">
                            <p:stCondLst>
                              <p:cond delay="500"/>
                            </p:stCondLst>
                            <p:childTnLst>
                              <p:par>
                                <p:cTn id="27" presetID="22" presetClass="entr" presetSubtype="8" fill="hold" grpId="0" nodeType="afterEffect">
                                  <p:stCondLst>
                                    <p:cond delay="0"/>
                                  </p:stCondLst>
                                  <p:childTnLst>
                                    <p:set>
                                      <p:cBhvr>
                                        <p:cTn id="28" dur="1" fill="hold">
                                          <p:stCondLst>
                                            <p:cond delay="0"/>
                                          </p:stCondLst>
                                        </p:cTn>
                                        <p:tgtEl>
                                          <p:spTgt spid="5">
                                            <p:graphicEl>
                                              <a:dgm id="{B2D4CD90-7709-4B59-AC85-D09667CFC12B}"/>
                                            </p:graphicEl>
                                          </p:spTgt>
                                        </p:tgtEl>
                                        <p:attrNameLst>
                                          <p:attrName>style.visibility</p:attrName>
                                        </p:attrNameLst>
                                      </p:cBhvr>
                                      <p:to>
                                        <p:strVal val="visible"/>
                                      </p:to>
                                    </p:set>
                                    <p:animEffect transition="in" filter="wipe(left)">
                                      <p:cBhvr>
                                        <p:cTn id="29" dur="2000"/>
                                        <p:tgtEl>
                                          <p:spTgt spid="5">
                                            <p:graphicEl>
                                              <a:dgm id="{B2D4CD90-7709-4B59-AC85-D09667CFC12B}"/>
                                            </p:graphicEl>
                                          </p:spTgt>
                                        </p:tgtEl>
                                      </p:cBhvr>
                                    </p:animEffect>
                                  </p:childTnLst>
                                </p:cTn>
                              </p:par>
                            </p:childTnLst>
                          </p:cTn>
                        </p:par>
                      </p:childTnLst>
                    </p:cTn>
                  </p:par>
                  <p:par>
                    <p:cTn id="30" fill="hold">
                      <p:stCondLst>
                        <p:cond delay="indefinite"/>
                      </p:stCondLst>
                      <p:childTnLst>
                        <p:par>
                          <p:cTn id="31" fill="hold">
                            <p:stCondLst>
                              <p:cond delay="0"/>
                            </p:stCondLst>
                            <p:childTnLst>
                              <p:par>
                                <p:cTn id="32" presetID="22" presetClass="entr" presetSubtype="8" fill="hold" grpId="0" nodeType="clickEffect">
                                  <p:stCondLst>
                                    <p:cond delay="0"/>
                                  </p:stCondLst>
                                  <p:childTnLst>
                                    <p:set>
                                      <p:cBhvr>
                                        <p:cTn id="33" dur="1" fill="hold">
                                          <p:stCondLst>
                                            <p:cond delay="0"/>
                                          </p:stCondLst>
                                        </p:cTn>
                                        <p:tgtEl>
                                          <p:spTgt spid="5">
                                            <p:graphicEl>
                                              <a:dgm id="{056CCBB6-5CE0-4348-89C6-99FB2D3AB62B}"/>
                                            </p:graphicEl>
                                          </p:spTgt>
                                        </p:tgtEl>
                                        <p:attrNameLst>
                                          <p:attrName>style.visibility</p:attrName>
                                        </p:attrNameLst>
                                      </p:cBhvr>
                                      <p:to>
                                        <p:strVal val="visible"/>
                                      </p:to>
                                    </p:set>
                                    <p:animEffect transition="in" filter="wipe(left)">
                                      <p:cBhvr>
                                        <p:cTn id="34" dur="500"/>
                                        <p:tgtEl>
                                          <p:spTgt spid="5">
                                            <p:graphicEl>
                                              <a:dgm id="{056CCBB6-5CE0-4348-89C6-99FB2D3AB62B}"/>
                                            </p:graphicEl>
                                          </p:spTgt>
                                        </p:tgtEl>
                                      </p:cBhvr>
                                    </p:animEffect>
                                  </p:childTnLst>
                                </p:cTn>
                              </p:par>
                            </p:childTnLst>
                          </p:cTn>
                        </p:par>
                        <p:par>
                          <p:cTn id="35" fill="hold">
                            <p:stCondLst>
                              <p:cond delay="500"/>
                            </p:stCondLst>
                            <p:childTnLst>
                              <p:par>
                                <p:cTn id="36" presetID="22" presetClass="entr" presetSubtype="8" fill="hold" grpId="0" nodeType="afterEffect">
                                  <p:stCondLst>
                                    <p:cond delay="0"/>
                                  </p:stCondLst>
                                  <p:childTnLst>
                                    <p:set>
                                      <p:cBhvr>
                                        <p:cTn id="37" dur="1" fill="hold">
                                          <p:stCondLst>
                                            <p:cond delay="0"/>
                                          </p:stCondLst>
                                        </p:cTn>
                                        <p:tgtEl>
                                          <p:spTgt spid="5">
                                            <p:graphicEl>
                                              <a:dgm id="{90709722-0E94-45E4-BEDD-48CB660682DD}"/>
                                            </p:graphicEl>
                                          </p:spTgt>
                                        </p:tgtEl>
                                        <p:attrNameLst>
                                          <p:attrName>style.visibility</p:attrName>
                                        </p:attrNameLst>
                                      </p:cBhvr>
                                      <p:to>
                                        <p:strVal val="visible"/>
                                      </p:to>
                                    </p:set>
                                    <p:animEffect transition="in" filter="wipe(left)">
                                      <p:cBhvr>
                                        <p:cTn id="38" dur="2000"/>
                                        <p:tgtEl>
                                          <p:spTgt spid="5">
                                            <p:graphicEl>
                                              <a:dgm id="{90709722-0E94-45E4-BEDD-48CB660682DD}"/>
                                            </p:graphicEl>
                                          </p:spTgt>
                                        </p:tgtEl>
                                      </p:cBhvr>
                                    </p:animEffect>
                                  </p:childTnLst>
                                </p:cTn>
                              </p:par>
                            </p:childTnLst>
                          </p:cTn>
                        </p:par>
                      </p:childTnLst>
                    </p:cTn>
                  </p:par>
                  <p:par>
                    <p:cTn id="39" fill="hold">
                      <p:stCondLst>
                        <p:cond delay="indefinite"/>
                      </p:stCondLst>
                      <p:childTnLst>
                        <p:par>
                          <p:cTn id="40" fill="hold">
                            <p:stCondLst>
                              <p:cond delay="0"/>
                            </p:stCondLst>
                            <p:childTnLst>
                              <p:par>
                                <p:cTn id="41" presetID="22" presetClass="entr" presetSubtype="8" fill="hold" grpId="0" nodeType="clickEffect">
                                  <p:stCondLst>
                                    <p:cond delay="0"/>
                                  </p:stCondLst>
                                  <p:childTnLst>
                                    <p:set>
                                      <p:cBhvr>
                                        <p:cTn id="42" dur="1" fill="hold">
                                          <p:stCondLst>
                                            <p:cond delay="0"/>
                                          </p:stCondLst>
                                        </p:cTn>
                                        <p:tgtEl>
                                          <p:spTgt spid="5">
                                            <p:graphicEl>
                                              <a:dgm id="{EB2E52AE-8FCF-47D0-B499-CFCFAF1883A9}"/>
                                            </p:graphicEl>
                                          </p:spTgt>
                                        </p:tgtEl>
                                        <p:attrNameLst>
                                          <p:attrName>style.visibility</p:attrName>
                                        </p:attrNameLst>
                                      </p:cBhvr>
                                      <p:to>
                                        <p:strVal val="visible"/>
                                      </p:to>
                                    </p:set>
                                    <p:animEffect transition="in" filter="wipe(left)">
                                      <p:cBhvr>
                                        <p:cTn id="43" dur="500"/>
                                        <p:tgtEl>
                                          <p:spTgt spid="5">
                                            <p:graphicEl>
                                              <a:dgm id="{EB2E52AE-8FCF-47D0-B499-CFCFAF1883A9}"/>
                                            </p:graphicEl>
                                          </p:spTgt>
                                        </p:tgtEl>
                                      </p:cBhvr>
                                    </p:animEffect>
                                  </p:childTnLst>
                                </p:cTn>
                              </p:par>
                            </p:childTnLst>
                          </p:cTn>
                        </p:par>
                        <p:par>
                          <p:cTn id="44" fill="hold">
                            <p:stCondLst>
                              <p:cond delay="500"/>
                            </p:stCondLst>
                            <p:childTnLst>
                              <p:par>
                                <p:cTn id="45" presetID="22" presetClass="entr" presetSubtype="8" fill="hold" grpId="0" nodeType="afterEffect">
                                  <p:stCondLst>
                                    <p:cond delay="0"/>
                                  </p:stCondLst>
                                  <p:childTnLst>
                                    <p:set>
                                      <p:cBhvr>
                                        <p:cTn id="46" dur="1" fill="hold">
                                          <p:stCondLst>
                                            <p:cond delay="0"/>
                                          </p:stCondLst>
                                        </p:cTn>
                                        <p:tgtEl>
                                          <p:spTgt spid="5">
                                            <p:graphicEl>
                                              <a:dgm id="{C92F1771-01AA-4FF3-B7EC-0229DB7A592C}"/>
                                            </p:graphicEl>
                                          </p:spTgt>
                                        </p:tgtEl>
                                        <p:attrNameLst>
                                          <p:attrName>style.visibility</p:attrName>
                                        </p:attrNameLst>
                                      </p:cBhvr>
                                      <p:to>
                                        <p:strVal val="visible"/>
                                      </p:to>
                                    </p:set>
                                    <p:animEffect transition="in" filter="wipe(left)">
                                      <p:cBhvr>
                                        <p:cTn id="47" dur="2000"/>
                                        <p:tgtEl>
                                          <p:spTgt spid="5">
                                            <p:graphicEl>
                                              <a:dgm id="{C92F1771-01AA-4FF3-B7EC-0229DB7A592C}"/>
                                            </p:graphicEl>
                                          </p:spTgt>
                                        </p:tgtEl>
                                      </p:cBhvr>
                                    </p:animEffect>
                                  </p:childTnLst>
                                </p:cTn>
                              </p:par>
                            </p:childTnLst>
                          </p:cTn>
                        </p:par>
                      </p:childTnLst>
                    </p:cTn>
                  </p:par>
                  <p:par>
                    <p:cTn id="48" fill="hold">
                      <p:stCondLst>
                        <p:cond delay="indefinite"/>
                      </p:stCondLst>
                      <p:childTnLst>
                        <p:par>
                          <p:cTn id="49" fill="hold">
                            <p:stCondLst>
                              <p:cond delay="0"/>
                            </p:stCondLst>
                            <p:childTnLst>
                              <p:par>
                                <p:cTn id="50" presetID="22" presetClass="entr" presetSubtype="8" fill="hold" nodeType="clickEffect">
                                  <p:stCondLst>
                                    <p:cond delay="0"/>
                                  </p:stCondLst>
                                  <p:childTnLst>
                                    <p:set>
                                      <p:cBhvr>
                                        <p:cTn id="51" dur="1" fill="hold">
                                          <p:stCondLst>
                                            <p:cond delay="0"/>
                                          </p:stCondLst>
                                        </p:cTn>
                                        <p:tgtEl>
                                          <p:spTgt spid="4"/>
                                        </p:tgtEl>
                                        <p:attrNameLst>
                                          <p:attrName>style.visibility</p:attrName>
                                        </p:attrNameLst>
                                      </p:cBhvr>
                                      <p:to>
                                        <p:strVal val="visible"/>
                                      </p:to>
                                    </p:set>
                                    <p:animEffect transition="in" filter="wipe(left)">
                                      <p:cBhvr>
                                        <p:cTn id="52" dur="1500"/>
                                        <p:tgtEl>
                                          <p:spTgt spid="4"/>
                                        </p:tgtEl>
                                      </p:cBhvr>
                                    </p:animEffect>
                                  </p:childTnLst>
                                </p:cTn>
                              </p:par>
                              <p:par>
                                <p:cTn id="53" presetID="22" presetClass="entr" presetSubtype="2" fill="hold" nodeType="withEffect">
                                  <p:stCondLst>
                                    <p:cond delay="0"/>
                                  </p:stCondLst>
                                  <p:childTnLst>
                                    <p:set>
                                      <p:cBhvr>
                                        <p:cTn id="54" dur="1" fill="hold">
                                          <p:stCondLst>
                                            <p:cond delay="0"/>
                                          </p:stCondLst>
                                        </p:cTn>
                                        <p:tgtEl>
                                          <p:spTgt spid="6"/>
                                        </p:tgtEl>
                                        <p:attrNameLst>
                                          <p:attrName>style.visibility</p:attrName>
                                        </p:attrNameLst>
                                      </p:cBhvr>
                                      <p:to>
                                        <p:strVal val="visible"/>
                                      </p:to>
                                    </p:set>
                                    <p:animEffect transition="in" filter="wipe(right)">
                                      <p:cBhvr>
                                        <p:cTn id="55" dur="15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Graphic spid="5" grpId="0" uiExpand="1">
        <p:bldSub>
          <a:bldDgm bld="one"/>
        </p:bldSub>
      </p:bldGraphic>
    </p:bldLst>
  </p:timing>
</p:sld>
</file>

<file path=ppt/slides/slide1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D900886-4568-405D-A477-82C7E4CA49F9}"/>
              </a:ext>
            </a:extLst>
          </p:cNvPr>
          <p:cNvSpPr>
            <a:spLocks noGrp="1"/>
          </p:cNvSpPr>
          <p:nvPr>
            <p:ph type="title"/>
          </p:nvPr>
        </p:nvSpPr>
        <p:spPr/>
        <p:txBody>
          <a:bodyPr/>
          <a:lstStyle/>
          <a:p>
            <a:r>
              <a:rPr lang="en-GB"/>
              <a:t>Assessment</a:t>
            </a:r>
          </a:p>
        </p:txBody>
      </p:sp>
      <p:sp>
        <p:nvSpPr>
          <p:cNvPr id="3" name="Text Placeholder 2">
            <a:extLst>
              <a:ext uri="{FF2B5EF4-FFF2-40B4-BE49-F238E27FC236}">
                <a16:creationId xmlns:a16="http://schemas.microsoft.com/office/drawing/2014/main" id="{800ECB73-0608-4B44-882B-9BBB8EADD3EA}"/>
              </a:ext>
            </a:extLst>
          </p:cNvPr>
          <p:cNvSpPr>
            <a:spLocks noGrp="1"/>
          </p:cNvSpPr>
          <p:nvPr>
            <p:ph type="body" idx="1"/>
          </p:nvPr>
        </p:nvSpPr>
        <p:spPr/>
        <p:txBody>
          <a:bodyPr/>
          <a:lstStyle/>
          <a:p>
            <a:r>
              <a:rPr lang="en-GB" dirty="0"/>
              <a:t>Assignment – 33%</a:t>
            </a:r>
          </a:p>
        </p:txBody>
      </p:sp>
      <p:sp>
        <p:nvSpPr>
          <p:cNvPr id="4" name="Content Placeholder 3">
            <a:extLst>
              <a:ext uri="{FF2B5EF4-FFF2-40B4-BE49-F238E27FC236}">
                <a16:creationId xmlns:a16="http://schemas.microsoft.com/office/drawing/2014/main" id="{6C837FB6-A567-497F-93B1-2DEE87ED18D6}"/>
              </a:ext>
            </a:extLst>
          </p:cNvPr>
          <p:cNvSpPr>
            <a:spLocks noGrp="1"/>
          </p:cNvSpPr>
          <p:nvPr>
            <p:ph sz="half" idx="2"/>
          </p:nvPr>
        </p:nvSpPr>
        <p:spPr/>
        <p:txBody>
          <a:bodyPr/>
          <a:lstStyle/>
          <a:p>
            <a:pPr indent="0"/>
            <a:r>
              <a:rPr lang="en-GB" dirty="0"/>
              <a:t>SDD		67%</a:t>
            </a:r>
          </a:p>
          <a:p>
            <a:pPr indent="0"/>
            <a:r>
              <a:rPr lang="en-GB" dirty="0"/>
              <a:t>DDD		33%</a:t>
            </a:r>
          </a:p>
          <a:p>
            <a:pPr indent="0"/>
            <a:endParaRPr lang="en-GB" dirty="0"/>
          </a:p>
          <a:p>
            <a:pPr indent="0">
              <a:buNone/>
            </a:pPr>
            <a:endParaRPr lang="en-GB" dirty="0"/>
          </a:p>
          <a:p>
            <a:pPr indent="0"/>
            <a:r>
              <a:rPr lang="en-GB" b="1" dirty="0"/>
              <a:t>Marks		40</a:t>
            </a:r>
          </a:p>
        </p:txBody>
      </p:sp>
      <p:sp>
        <p:nvSpPr>
          <p:cNvPr id="5" name="Text Placeholder 4">
            <a:extLst>
              <a:ext uri="{FF2B5EF4-FFF2-40B4-BE49-F238E27FC236}">
                <a16:creationId xmlns:a16="http://schemas.microsoft.com/office/drawing/2014/main" id="{23B492CD-F51E-4517-A552-72BB03A9DDC1}"/>
              </a:ext>
            </a:extLst>
          </p:cNvPr>
          <p:cNvSpPr>
            <a:spLocks noGrp="1"/>
          </p:cNvSpPr>
          <p:nvPr>
            <p:ph type="body" sz="quarter" idx="3"/>
          </p:nvPr>
        </p:nvSpPr>
        <p:spPr/>
        <p:txBody>
          <a:bodyPr/>
          <a:lstStyle/>
          <a:p>
            <a:r>
              <a:rPr lang="en-GB" dirty="0"/>
              <a:t>Question Paper – 67%</a:t>
            </a:r>
          </a:p>
        </p:txBody>
      </p:sp>
      <p:sp>
        <p:nvSpPr>
          <p:cNvPr id="6" name="Content Placeholder 5">
            <a:extLst>
              <a:ext uri="{FF2B5EF4-FFF2-40B4-BE49-F238E27FC236}">
                <a16:creationId xmlns:a16="http://schemas.microsoft.com/office/drawing/2014/main" id="{85EA51F6-ECFD-4D1F-BF54-C5C44552D6D8}"/>
              </a:ext>
            </a:extLst>
          </p:cNvPr>
          <p:cNvSpPr>
            <a:spLocks noGrp="1"/>
          </p:cNvSpPr>
          <p:nvPr>
            <p:ph sz="quarter" idx="4"/>
          </p:nvPr>
        </p:nvSpPr>
        <p:spPr/>
        <p:txBody>
          <a:bodyPr>
            <a:normAutofit/>
          </a:bodyPr>
          <a:lstStyle/>
          <a:p>
            <a:pPr indent="0"/>
            <a:r>
              <a:rPr lang="en-GB" dirty="0"/>
              <a:t>SDD		54%</a:t>
            </a:r>
          </a:p>
          <a:p>
            <a:pPr indent="0"/>
            <a:r>
              <a:rPr lang="en-GB" dirty="0"/>
              <a:t>DDD		33%</a:t>
            </a:r>
          </a:p>
          <a:p>
            <a:pPr indent="0"/>
            <a:r>
              <a:rPr lang="en-GB" dirty="0"/>
              <a:t>Comp Sys		13%</a:t>
            </a:r>
          </a:p>
          <a:p>
            <a:pPr marL="0" indent="0">
              <a:buNone/>
            </a:pPr>
            <a:endParaRPr lang="en-GB" dirty="0"/>
          </a:p>
          <a:p>
            <a:pPr indent="0"/>
            <a:r>
              <a:rPr lang="en-GB" b="1" dirty="0"/>
              <a:t>Marks		80</a:t>
            </a:r>
          </a:p>
        </p:txBody>
      </p:sp>
      <p:sp>
        <p:nvSpPr>
          <p:cNvPr id="7" name="TextBox 6"/>
          <p:cNvSpPr txBox="1"/>
          <p:nvPr/>
        </p:nvSpPr>
        <p:spPr>
          <a:xfrm>
            <a:off x="4053485" y="5897275"/>
            <a:ext cx="3888180" cy="584775"/>
          </a:xfrm>
          <a:prstGeom prst="rect">
            <a:avLst/>
          </a:prstGeom>
          <a:noFill/>
        </p:spPr>
        <p:txBody>
          <a:bodyPr wrap="none" rtlCol="0">
            <a:spAutoFit/>
          </a:bodyPr>
          <a:lstStyle/>
          <a:p>
            <a:r>
              <a:rPr lang="en-GB" sz="3200" b="1" dirty="0">
                <a:solidFill>
                  <a:srgbClr val="FF0000"/>
                </a:solidFill>
              </a:rPr>
              <a:t>Final grade out of 120</a:t>
            </a:r>
          </a:p>
        </p:txBody>
      </p:sp>
    </p:spTree>
    <p:extLst>
      <p:ext uri="{BB962C8B-B14F-4D97-AF65-F5344CB8AC3E}">
        <p14:creationId xmlns:p14="http://schemas.microsoft.com/office/powerpoint/2010/main" val="324416228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5">
                                            <p:txEl>
                                              <p:pRg st="0" end="0"/>
                                            </p:txEl>
                                          </p:spTgt>
                                        </p:tgtEl>
                                        <p:attrNameLst>
                                          <p:attrName>style.visibility</p:attrName>
                                        </p:attrNameLst>
                                      </p:cBhvr>
                                      <p:to>
                                        <p:strVal val="visible"/>
                                      </p:to>
                                    </p:set>
                                    <p:animEffect transition="in" filter="wipe(left)">
                                      <p:cBhvr>
                                        <p:cTn id="12" dur="500"/>
                                        <p:tgtEl>
                                          <p:spTgt spid="5">
                                            <p:txEl>
                                              <p:pRg st="0" end="0"/>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4">
                                            <p:txEl>
                                              <p:pRg st="0" end="0"/>
                                            </p:txEl>
                                          </p:spTgt>
                                        </p:tgtEl>
                                        <p:attrNameLst>
                                          <p:attrName>style.visibility</p:attrName>
                                        </p:attrNameLst>
                                      </p:cBhvr>
                                      <p:to>
                                        <p:strVal val="visible"/>
                                      </p:to>
                                    </p:set>
                                    <p:animEffect transition="in" filter="wipe(left)">
                                      <p:cBhvr>
                                        <p:cTn id="17" dur="500"/>
                                        <p:tgtEl>
                                          <p:spTgt spid="4">
                                            <p:txEl>
                                              <p:pRg st="0" end="0"/>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6">
                                            <p:txEl>
                                              <p:pRg st="0" end="0"/>
                                            </p:txEl>
                                          </p:spTgt>
                                        </p:tgtEl>
                                        <p:attrNameLst>
                                          <p:attrName>style.visibility</p:attrName>
                                        </p:attrNameLst>
                                      </p:cBhvr>
                                      <p:to>
                                        <p:strVal val="visible"/>
                                      </p:to>
                                    </p:set>
                                    <p:animEffect transition="in" filter="wipe(left)">
                                      <p:cBhvr>
                                        <p:cTn id="22" dur="500"/>
                                        <p:tgtEl>
                                          <p:spTgt spid="6">
                                            <p:txEl>
                                              <p:pRg st="0" end="0"/>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4">
                                            <p:txEl>
                                              <p:pRg st="1" end="1"/>
                                            </p:txEl>
                                          </p:spTgt>
                                        </p:tgtEl>
                                        <p:attrNameLst>
                                          <p:attrName>style.visibility</p:attrName>
                                        </p:attrNameLst>
                                      </p:cBhvr>
                                      <p:to>
                                        <p:strVal val="visible"/>
                                      </p:to>
                                    </p:set>
                                    <p:animEffect transition="in" filter="wipe(left)">
                                      <p:cBhvr>
                                        <p:cTn id="27" dur="500"/>
                                        <p:tgtEl>
                                          <p:spTgt spid="4">
                                            <p:txEl>
                                              <p:pRg st="1" end="1"/>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4">
                                            <p:txEl>
                                              <p:pRg st="4" end="4"/>
                                            </p:txEl>
                                          </p:spTgt>
                                        </p:tgtEl>
                                        <p:attrNameLst>
                                          <p:attrName>style.visibility</p:attrName>
                                        </p:attrNameLst>
                                      </p:cBhvr>
                                      <p:to>
                                        <p:strVal val="visible"/>
                                      </p:to>
                                    </p:set>
                                    <p:animEffect transition="in" filter="wipe(left)">
                                      <p:cBhvr>
                                        <p:cTn id="32" dur="500"/>
                                        <p:tgtEl>
                                          <p:spTgt spid="4">
                                            <p:txEl>
                                              <p:pRg st="4" end="4"/>
                                            </p:txEl>
                                          </p:spTgt>
                                        </p:tgtEl>
                                      </p:cBhvr>
                                    </p:animEffect>
                                  </p:childTnLst>
                                </p:cTn>
                              </p:par>
                            </p:childTnLst>
                          </p:cTn>
                        </p:par>
                        <p:par>
                          <p:cTn id="33" fill="hold">
                            <p:stCondLst>
                              <p:cond delay="500"/>
                            </p:stCondLst>
                            <p:childTnLst>
                              <p:par>
                                <p:cTn id="34" presetID="22" presetClass="entr" presetSubtype="8" fill="hold" grpId="0" nodeType="afterEffect">
                                  <p:stCondLst>
                                    <p:cond delay="0"/>
                                  </p:stCondLst>
                                  <p:childTnLst>
                                    <p:set>
                                      <p:cBhvr>
                                        <p:cTn id="35" dur="1" fill="hold">
                                          <p:stCondLst>
                                            <p:cond delay="0"/>
                                          </p:stCondLst>
                                        </p:cTn>
                                        <p:tgtEl>
                                          <p:spTgt spid="6">
                                            <p:txEl>
                                              <p:pRg st="1" end="1"/>
                                            </p:txEl>
                                          </p:spTgt>
                                        </p:tgtEl>
                                        <p:attrNameLst>
                                          <p:attrName>style.visibility</p:attrName>
                                        </p:attrNameLst>
                                      </p:cBhvr>
                                      <p:to>
                                        <p:strVal val="visible"/>
                                      </p:to>
                                    </p:set>
                                    <p:animEffect transition="in" filter="wipe(left)">
                                      <p:cBhvr>
                                        <p:cTn id="36" dur="500"/>
                                        <p:tgtEl>
                                          <p:spTgt spid="6">
                                            <p:txEl>
                                              <p:pRg st="1" end="1"/>
                                            </p:txEl>
                                          </p:spTgt>
                                        </p:tgtEl>
                                      </p:cBhvr>
                                    </p:animEffect>
                                  </p:childTnLst>
                                </p:cTn>
                              </p:par>
                            </p:childTnLst>
                          </p:cTn>
                        </p:par>
                        <p:par>
                          <p:cTn id="37" fill="hold">
                            <p:stCondLst>
                              <p:cond delay="1000"/>
                            </p:stCondLst>
                            <p:childTnLst>
                              <p:par>
                                <p:cTn id="38" presetID="22" presetClass="entr" presetSubtype="8" fill="hold" grpId="0" nodeType="afterEffect">
                                  <p:stCondLst>
                                    <p:cond delay="0"/>
                                  </p:stCondLst>
                                  <p:childTnLst>
                                    <p:set>
                                      <p:cBhvr>
                                        <p:cTn id="39" dur="1" fill="hold">
                                          <p:stCondLst>
                                            <p:cond delay="0"/>
                                          </p:stCondLst>
                                        </p:cTn>
                                        <p:tgtEl>
                                          <p:spTgt spid="6">
                                            <p:txEl>
                                              <p:pRg st="2" end="2"/>
                                            </p:txEl>
                                          </p:spTgt>
                                        </p:tgtEl>
                                        <p:attrNameLst>
                                          <p:attrName>style.visibility</p:attrName>
                                        </p:attrNameLst>
                                      </p:cBhvr>
                                      <p:to>
                                        <p:strVal val="visible"/>
                                      </p:to>
                                    </p:set>
                                    <p:animEffect transition="in" filter="wipe(left)">
                                      <p:cBhvr>
                                        <p:cTn id="40" dur="500"/>
                                        <p:tgtEl>
                                          <p:spTgt spid="6">
                                            <p:txEl>
                                              <p:pRg st="2" end="2"/>
                                            </p:txEl>
                                          </p:spTgt>
                                        </p:tgtEl>
                                      </p:cBhvr>
                                    </p:animEffect>
                                  </p:childTnLst>
                                </p:cTn>
                              </p:par>
                            </p:childTnLst>
                          </p:cTn>
                        </p:par>
                        <p:par>
                          <p:cTn id="41" fill="hold">
                            <p:stCondLst>
                              <p:cond delay="1500"/>
                            </p:stCondLst>
                            <p:childTnLst>
                              <p:par>
                                <p:cTn id="42" presetID="22" presetClass="entr" presetSubtype="8" fill="hold" grpId="0" nodeType="afterEffect">
                                  <p:stCondLst>
                                    <p:cond delay="0"/>
                                  </p:stCondLst>
                                  <p:childTnLst>
                                    <p:set>
                                      <p:cBhvr>
                                        <p:cTn id="43" dur="1" fill="hold">
                                          <p:stCondLst>
                                            <p:cond delay="0"/>
                                          </p:stCondLst>
                                        </p:cTn>
                                        <p:tgtEl>
                                          <p:spTgt spid="6">
                                            <p:txEl>
                                              <p:pRg st="4" end="4"/>
                                            </p:txEl>
                                          </p:spTgt>
                                        </p:tgtEl>
                                        <p:attrNameLst>
                                          <p:attrName>style.visibility</p:attrName>
                                        </p:attrNameLst>
                                      </p:cBhvr>
                                      <p:to>
                                        <p:strVal val="visible"/>
                                      </p:to>
                                    </p:set>
                                    <p:animEffect transition="in" filter="wipe(left)">
                                      <p:cBhvr>
                                        <p:cTn id="44" dur="500"/>
                                        <p:tgtEl>
                                          <p:spTgt spid="6">
                                            <p:txEl>
                                              <p:pRg st="4" end="4"/>
                                            </p:txEl>
                                          </p:spTgt>
                                        </p:tgtEl>
                                      </p:cBhvr>
                                    </p:animEffect>
                                  </p:childTnLst>
                                </p:cTn>
                              </p:par>
                            </p:childTnLst>
                          </p:cTn>
                        </p:par>
                      </p:childTnLst>
                    </p:cTn>
                  </p:par>
                  <p:par>
                    <p:cTn id="45" fill="hold">
                      <p:stCondLst>
                        <p:cond delay="indefinite"/>
                      </p:stCondLst>
                      <p:childTnLst>
                        <p:par>
                          <p:cTn id="46" fill="hold">
                            <p:stCondLst>
                              <p:cond delay="0"/>
                            </p:stCondLst>
                            <p:childTnLst>
                              <p:par>
                                <p:cTn id="47" presetID="10" presetClass="entr" presetSubtype="0" fill="hold" grpId="0" nodeType="clickEffect">
                                  <p:stCondLst>
                                    <p:cond delay="0"/>
                                  </p:stCondLst>
                                  <p:childTnLst>
                                    <p:set>
                                      <p:cBhvr>
                                        <p:cTn id="48" dur="1" fill="hold">
                                          <p:stCondLst>
                                            <p:cond delay="0"/>
                                          </p:stCondLst>
                                        </p:cTn>
                                        <p:tgtEl>
                                          <p:spTgt spid="7"/>
                                        </p:tgtEl>
                                        <p:attrNameLst>
                                          <p:attrName>style.visibility</p:attrName>
                                        </p:attrNameLst>
                                      </p:cBhvr>
                                      <p:to>
                                        <p:strVal val="visible"/>
                                      </p:to>
                                    </p:set>
                                    <p:animEffect transition="in" filter="fade">
                                      <p:cBhvr>
                                        <p:cTn id="49" dur="5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P spid="4" grpId="0" uiExpand="1" build="p"/>
      <p:bldP spid="5" grpId="0" build="p"/>
      <p:bldP spid="6" grpId="0" uiExpand="1" build="p"/>
      <p:bldP spid="7" grpId="0"/>
    </p:bldLst>
  </p:timing>
</p:sld>
</file>

<file path=ppt/slides/slide15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32547A0-88C7-29D0-1307-5BCED1457CA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0CF40F9-12DF-5CC1-6444-96F6A8C9E14D}"/>
              </a:ext>
            </a:extLst>
          </p:cNvPr>
          <p:cNvSpPr>
            <a:spLocks noGrp="1"/>
          </p:cNvSpPr>
          <p:nvPr>
            <p:ph type="title"/>
          </p:nvPr>
        </p:nvSpPr>
        <p:spPr/>
        <p:txBody>
          <a:bodyPr/>
          <a:lstStyle/>
          <a:p>
            <a:r>
              <a:rPr lang="en-GB"/>
              <a:t>Assessment</a:t>
            </a:r>
          </a:p>
        </p:txBody>
      </p:sp>
      <p:sp>
        <p:nvSpPr>
          <p:cNvPr id="3" name="Text Placeholder 2">
            <a:extLst>
              <a:ext uri="{FF2B5EF4-FFF2-40B4-BE49-F238E27FC236}">
                <a16:creationId xmlns:a16="http://schemas.microsoft.com/office/drawing/2014/main" id="{F2DE83AB-2C48-8ADE-7508-2790A834FFEF}"/>
              </a:ext>
            </a:extLst>
          </p:cNvPr>
          <p:cNvSpPr>
            <a:spLocks noGrp="1"/>
          </p:cNvSpPr>
          <p:nvPr>
            <p:ph type="body" idx="1"/>
          </p:nvPr>
        </p:nvSpPr>
        <p:spPr/>
        <p:txBody>
          <a:bodyPr/>
          <a:lstStyle/>
          <a:p>
            <a:r>
              <a:rPr lang="en-GB" dirty="0"/>
              <a:t>Assignment – 40 Marks</a:t>
            </a:r>
          </a:p>
        </p:txBody>
      </p:sp>
      <p:sp>
        <p:nvSpPr>
          <p:cNvPr id="4" name="Content Placeholder 3">
            <a:extLst>
              <a:ext uri="{FF2B5EF4-FFF2-40B4-BE49-F238E27FC236}">
                <a16:creationId xmlns:a16="http://schemas.microsoft.com/office/drawing/2014/main" id="{00021F32-B7C8-2B86-861F-529D12CF9E8C}"/>
              </a:ext>
            </a:extLst>
          </p:cNvPr>
          <p:cNvSpPr>
            <a:spLocks noGrp="1"/>
          </p:cNvSpPr>
          <p:nvPr>
            <p:ph sz="half" idx="2"/>
          </p:nvPr>
        </p:nvSpPr>
        <p:spPr/>
        <p:txBody>
          <a:bodyPr>
            <a:normAutofit/>
          </a:bodyPr>
          <a:lstStyle/>
          <a:p>
            <a:pPr indent="0">
              <a:tabLst>
                <a:tab pos="3771900" algn="ctr"/>
              </a:tabLst>
            </a:pPr>
            <a:r>
              <a:rPr lang="en-GB" dirty="0"/>
              <a:t>Analysis	3 – 6</a:t>
            </a:r>
          </a:p>
          <a:p>
            <a:pPr indent="0">
              <a:tabLst>
                <a:tab pos="3771900" algn="ctr"/>
              </a:tabLst>
            </a:pPr>
            <a:r>
              <a:rPr lang="en-GB" dirty="0"/>
              <a:t>Design	4 – 8</a:t>
            </a:r>
          </a:p>
          <a:p>
            <a:pPr indent="0">
              <a:tabLst>
                <a:tab pos="3771900" algn="ctr"/>
              </a:tabLst>
            </a:pPr>
            <a:r>
              <a:rPr lang="en-GB" dirty="0"/>
              <a:t>Implementation	22 – 24</a:t>
            </a:r>
          </a:p>
          <a:p>
            <a:pPr indent="0">
              <a:tabLst>
                <a:tab pos="3771900" algn="ctr"/>
              </a:tabLst>
            </a:pPr>
            <a:r>
              <a:rPr lang="en-GB" dirty="0"/>
              <a:t>Testing	3 – 6</a:t>
            </a:r>
          </a:p>
          <a:p>
            <a:pPr indent="0">
              <a:tabLst>
                <a:tab pos="3771900" algn="ctr"/>
              </a:tabLst>
            </a:pPr>
            <a:r>
              <a:rPr lang="en-GB" dirty="0"/>
              <a:t>Evaluation	3 – 6</a:t>
            </a:r>
          </a:p>
          <a:p>
            <a:pPr indent="0">
              <a:tabLst>
                <a:tab pos="3771900" algn="ctr"/>
              </a:tabLst>
            </a:pPr>
            <a:r>
              <a:rPr lang="en-GB" dirty="0"/>
              <a:t>Computer Systems	0</a:t>
            </a:r>
            <a:endParaRPr lang="en-GB" b="1" dirty="0"/>
          </a:p>
        </p:txBody>
      </p:sp>
      <p:sp>
        <p:nvSpPr>
          <p:cNvPr id="5" name="Text Placeholder 4">
            <a:extLst>
              <a:ext uri="{FF2B5EF4-FFF2-40B4-BE49-F238E27FC236}">
                <a16:creationId xmlns:a16="http://schemas.microsoft.com/office/drawing/2014/main" id="{01CD7EDA-AF5A-4C0C-1B99-BFA4129AB6AD}"/>
              </a:ext>
            </a:extLst>
          </p:cNvPr>
          <p:cNvSpPr>
            <a:spLocks noGrp="1"/>
          </p:cNvSpPr>
          <p:nvPr>
            <p:ph type="body" sz="quarter" idx="3"/>
          </p:nvPr>
        </p:nvSpPr>
        <p:spPr/>
        <p:txBody>
          <a:bodyPr/>
          <a:lstStyle/>
          <a:p>
            <a:r>
              <a:rPr lang="en-GB" dirty="0"/>
              <a:t>Question Paper – 80 Marks</a:t>
            </a:r>
          </a:p>
        </p:txBody>
      </p:sp>
      <p:sp>
        <p:nvSpPr>
          <p:cNvPr id="6" name="Content Placeholder 5">
            <a:extLst>
              <a:ext uri="{FF2B5EF4-FFF2-40B4-BE49-F238E27FC236}">
                <a16:creationId xmlns:a16="http://schemas.microsoft.com/office/drawing/2014/main" id="{59E44D69-802E-5AE9-8D1D-6F50E7C5F50A}"/>
              </a:ext>
            </a:extLst>
          </p:cNvPr>
          <p:cNvSpPr>
            <a:spLocks noGrp="1"/>
          </p:cNvSpPr>
          <p:nvPr>
            <p:ph sz="quarter" idx="4"/>
          </p:nvPr>
        </p:nvSpPr>
        <p:spPr/>
        <p:txBody>
          <a:bodyPr>
            <a:normAutofit/>
          </a:bodyPr>
          <a:lstStyle/>
          <a:p>
            <a:pPr indent="0">
              <a:tabLst>
                <a:tab pos="3771900" algn="ctr"/>
              </a:tabLst>
            </a:pPr>
            <a:r>
              <a:rPr lang="en-GB" dirty="0"/>
              <a:t>Analysis	0 – 5</a:t>
            </a:r>
          </a:p>
          <a:p>
            <a:pPr indent="0">
              <a:tabLst>
                <a:tab pos="3771900" algn="ctr"/>
              </a:tabLst>
            </a:pPr>
            <a:r>
              <a:rPr lang="en-GB" dirty="0"/>
              <a:t>Design	20 – 40</a:t>
            </a:r>
          </a:p>
          <a:p>
            <a:pPr indent="0">
              <a:tabLst>
                <a:tab pos="3771900" algn="ctr"/>
              </a:tabLst>
            </a:pPr>
            <a:r>
              <a:rPr lang="en-GB" dirty="0"/>
              <a:t>Implementation	16 – 34</a:t>
            </a:r>
          </a:p>
          <a:p>
            <a:pPr indent="0">
              <a:tabLst>
                <a:tab pos="3771900" algn="ctr"/>
              </a:tabLst>
            </a:pPr>
            <a:r>
              <a:rPr lang="en-GB" dirty="0"/>
              <a:t>Testing	5 – 10</a:t>
            </a:r>
          </a:p>
          <a:p>
            <a:pPr indent="0">
              <a:tabLst>
                <a:tab pos="3771900" algn="ctr"/>
              </a:tabLst>
            </a:pPr>
            <a:r>
              <a:rPr lang="en-GB" dirty="0"/>
              <a:t>Evaluation	0 – 5</a:t>
            </a:r>
          </a:p>
          <a:p>
            <a:pPr indent="0">
              <a:tabLst>
                <a:tab pos="3771900" algn="ctr"/>
              </a:tabLst>
            </a:pPr>
            <a:r>
              <a:rPr lang="en-GB" dirty="0"/>
              <a:t>Computer Systems	10 – 14</a:t>
            </a:r>
            <a:endParaRPr lang="en-GB" b="1" dirty="0"/>
          </a:p>
        </p:txBody>
      </p:sp>
      <p:sp>
        <p:nvSpPr>
          <p:cNvPr id="7" name="TextBox 6">
            <a:extLst>
              <a:ext uri="{FF2B5EF4-FFF2-40B4-BE49-F238E27FC236}">
                <a16:creationId xmlns:a16="http://schemas.microsoft.com/office/drawing/2014/main" id="{2176D600-6369-CA43-BB03-20F2D3E7B2F0}"/>
              </a:ext>
            </a:extLst>
          </p:cNvPr>
          <p:cNvSpPr txBox="1"/>
          <p:nvPr/>
        </p:nvSpPr>
        <p:spPr>
          <a:xfrm>
            <a:off x="3682010" y="6200487"/>
            <a:ext cx="3888180" cy="584775"/>
          </a:xfrm>
          <a:prstGeom prst="rect">
            <a:avLst/>
          </a:prstGeom>
          <a:noFill/>
        </p:spPr>
        <p:txBody>
          <a:bodyPr wrap="none" rtlCol="0">
            <a:spAutoFit/>
          </a:bodyPr>
          <a:lstStyle/>
          <a:p>
            <a:pPr algn="ctr"/>
            <a:r>
              <a:rPr lang="en-GB" sz="3200" b="1" dirty="0">
                <a:solidFill>
                  <a:srgbClr val="FF0000"/>
                </a:solidFill>
              </a:rPr>
              <a:t>Final grade out of 120</a:t>
            </a:r>
          </a:p>
        </p:txBody>
      </p:sp>
    </p:spTree>
    <p:extLst>
      <p:ext uri="{BB962C8B-B14F-4D97-AF65-F5344CB8AC3E}">
        <p14:creationId xmlns:p14="http://schemas.microsoft.com/office/powerpoint/2010/main" val="310850909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4">
                                            <p:txEl>
                                              <p:pRg st="0" end="0"/>
                                            </p:txEl>
                                          </p:spTgt>
                                        </p:tgtEl>
                                        <p:attrNameLst>
                                          <p:attrName>style.visibility</p:attrName>
                                        </p:attrNameLst>
                                      </p:cBhvr>
                                      <p:to>
                                        <p:strVal val="visible"/>
                                      </p:to>
                                    </p:set>
                                    <p:animEffect transition="in" filter="wipe(left)">
                                      <p:cBhvr>
                                        <p:cTn id="12" dur="1500"/>
                                        <p:tgtEl>
                                          <p:spTgt spid="4">
                                            <p:txEl>
                                              <p:pRg st="0" end="0"/>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4">
                                            <p:txEl>
                                              <p:pRg st="1" end="1"/>
                                            </p:txEl>
                                          </p:spTgt>
                                        </p:tgtEl>
                                        <p:attrNameLst>
                                          <p:attrName>style.visibility</p:attrName>
                                        </p:attrNameLst>
                                      </p:cBhvr>
                                      <p:to>
                                        <p:strVal val="visible"/>
                                      </p:to>
                                    </p:set>
                                    <p:animEffect transition="in" filter="wipe(left)">
                                      <p:cBhvr>
                                        <p:cTn id="17" dur="1500"/>
                                        <p:tgtEl>
                                          <p:spTgt spid="4">
                                            <p:txEl>
                                              <p:pRg st="1" end="1"/>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4">
                                            <p:txEl>
                                              <p:pRg st="2" end="2"/>
                                            </p:txEl>
                                          </p:spTgt>
                                        </p:tgtEl>
                                        <p:attrNameLst>
                                          <p:attrName>style.visibility</p:attrName>
                                        </p:attrNameLst>
                                      </p:cBhvr>
                                      <p:to>
                                        <p:strVal val="visible"/>
                                      </p:to>
                                    </p:set>
                                    <p:animEffect transition="in" filter="wipe(left)">
                                      <p:cBhvr>
                                        <p:cTn id="22" dur="1500"/>
                                        <p:tgtEl>
                                          <p:spTgt spid="4">
                                            <p:txEl>
                                              <p:pRg st="2" end="2"/>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4">
                                            <p:txEl>
                                              <p:pRg st="3" end="3"/>
                                            </p:txEl>
                                          </p:spTgt>
                                        </p:tgtEl>
                                        <p:attrNameLst>
                                          <p:attrName>style.visibility</p:attrName>
                                        </p:attrNameLst>
                                      </p:cBhvr>
                                      <p:to>
                                        <p:strVal val="visible"/>
                                      </p:to>
                                    </p:set>
                                    <p:animEffect transition="in" filter="wipe(left)">
                                      <p:cBhvr>
                                        <p:cTn id="27" dur="1500"/>
                                        <p:tgtEl>
                                          <p:spTgt spid="4">
                                            <p:txEl>
                                              <p:pRg st="3" end="3"/>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4">
                                            <p:txEl>
                                              <p:pRg st="4" end="4"/>
                                            </p:txEl>
                                          </p:spTgt>
                                        </p:tgtEl>
                                        <p:attrNameLst>
                                          <p:attrName>style.visibility</p:attrName>
                                        </p:attrNameLst>
                                      </p:cBhvr>
                                      <p:to>
                                        <p:strVal val="visible"/>
                                      </p:to>
                                    </p:set>
                                    <p:animEffect transition="in" filter="wipe(left)">
                                      <p:cBhvr>
                                        <p:cTn id="32" dur="1500"/>
                                        <p:tgtEl>
                                          <p:spTgt spid="4">
                                            <p:txEl>
                                              <p:pRg st="4" end="4"/>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4">
                                            <p:txEl>
                                              <p:pRg st="5" end="5"/>
                                            </p:txEl>
                                          </p:spTgt>
                                        </p:tgtEl>
                                        <p:attrNameLst>
                                          <p:attrName>style.visibility</p:attrName>
                                        </p:attrNameLst>
                                      </p:cBhvr>
                                      <p:to>
                                        <p:strVal val="visible"/>
                                      </p:to>
                                    </p:set>
                                    <p:animEffect transition="in" filter="wipe(left)">
                                      <p:cBhvr>
                                        <p:cTn id="37" dur="1500"/>
                                        <p:tgtEl>
                                          <p:spTgt spid="4">
                                            <p:txEl>
                                              <p:pRg st="5" end="5"/>
                                            </p:txEl>
                                          </p:spTgt>
                                        </p:tgtEl>
                                      </p:cBhvr>
                                    </p:animEffect>
                                  </p:childTnLst>
                                </p:cTn>
                              </p:par>
                            </p:childTnLst>
                          </p:cTn>
                        </p:par>
                      </p:childTnLst>
                    </p:cTn>
                  </p:par>
                  <p:par>
                    <p:cTn id="38" fill="hold">
                      <p:stCondLst>
                        <p:cond delay="indefinite"/>
                      </p:stCondLst>
                      <p:childTnLst>
                        <p:par>
                          <p:cTn id="39" fill="hold">
                            <p:stCondLst>
                              <p:cond delay="0"/>
                            </p:stCondLst>
                            <p:childTnLst>
                              <p:par>
                                <p:cTn id="40" presetID="22" presetClass="entr" presetSubtype="8" fill="hold" grpId="0" nodeType="clickEffect">
                                  <p:stCondLst>
                                    <p:cond delay="0"/>
                                  </p:stCondLst>
                                  <p:childTnLst>
                                    <p:set>
                                      <p:cBhvr>
                                        <p:cTn id="41" dur="1" fill="hold">
                                          <p:stCondLst>
                                            <p:cond delay="0"/>
                                          </p:stCondLst>
                                        </p:cTn>
                                        <p:tgtEl>
                                          <p:spTgt spid="5">
                                            <p:txEl>
                                              <p:pRg st="0" end="0"/>
                                            </p:txEl>
                                          </p:spTgt>
                                        </p:tgtEl>
                                        <p:attrNameLst>
                                          <p:attrName>style.visibility</p:attrName>
                                        </p:attrNameLst>
                                      </p:cBhvr>
                                      <p:to>
                                        <p:strVal val="visible"/>
                                      </p:to>
                                    </p:set>
                                    <p:animEffect transition="in" filter="wipe(left)">
                                      <p:cBhvr>
                                        <p:cTn id="42" dur="1500"/>
                                        <p:tgtEl>
                                          <p:spTgt spid="5">
                                            <p:txEl>
                                              <p:pRg st="0" end="0"/>
                                            </p:txEl>
                                          </p:spTgt>
                                        </p:tgtEl>
                                      </p:cBhvr>
                                    </p:animEffect>
                                  </p:childTnLst>
                                </p:cTn>
                              </p:par>
                            </p:childTnLst>
                          </p:cTn>
                        </p:par>
                      </p:childTnLst>
                    </p:cTn>
                  </p:par>
                  <p:par>
                    <p:cTn id="43" fill="hold">
                      <p:stCondLst>
                        <p:cond delay="indefinite"/>
                      </p:stCondLst>
                      <p:childTnLst>
                        <p:par>
                          <p:cTn id="44" fill="hold">
                            <p:stCondLst>
                              <p:cond delay="0"/>
                            </p:stCondLst>
                            <p:childTnLst>
                              <p:par>
                                <p:cTn id="45" presetID="22" presetClass="entr" presetSubtype="8" fill="hold" nodeType="clickEffect">
                                  <p:stCondLst>
                                    <p:cond delay="0"/>
                                  </p:stCondLst>
                                  <p:childTnLst>
                                    <p:set>
                                      <p:cBhvr>
                                        <p:cTn id="46" dur="1" fill="hold">
                                          <p:stCondLst>
                                            <p:cond delay="0"/>
                                          </p:stCondLst>
                                        </p:cTn>
                                        <p:tgtEl>
                                          <p:spTgt spid="6">
                                            <p:txEl>
                                              <p:pRg st="0" end="0"/>
                                            </p:txEl>
                                          </p:spTgt>
                                        </p:tgtEl>
                                        <p:attrNameLst>
                                          <p:attrName>style.visibility</p:attrName>
                                        </p:attrNameLst>
                                      </p:cBhvr>
                                      <p:to>
                                        <p:strVal val="visible"/>
                                      </p:to>
                                    </p:set>
                                    <p:animEffect transition="in" filter="wipe(left)">
                                      <p:cBhvr>
                                        <p:cTn id="47" dur="1500"/>
                                        <p:tgtEl>
                                          <p:spTgt spid="6">
                                            <p:txEl>
                                              <p:pRg st="0" end="0"/>
                                            </p:txEl>
                                          </p:spTgt>
                                        </p:tgtEl>
                                      </p:cBhvr>
                                    </p:animEffect>
                                  </p:childTnLst>
                                </p:cTn>
                              </p:par>
                            </p:childTnLst>
                          </p:cTn>
                        </p:par>
                      </p:childTnLst>
                    </p:cTn>
                  </p:par>
                  <p:par>
                    <p:cTn id="48" fill="hold">
                      <p:stCondLst>
                        <p:cond delay="indefinite"/>
                      </p:stCondLst>
                      <p:childTnLst>
                        <p:par>
                          <p:cTn id="49" fill="hold">
                            <p:stCondLst>
                              <p:cond delay="0"/>
                            </p:stCondLst>
                            <p:childTnLst>
                              <p:par>
                                <p:cTn id="50" presetID="22" presetClass="entr" presetSubtype="8" fill="hold" nodeType="clickEffect">
                                  <p:stCondLst>
                                    <p:cond delay="0"/>
                                  </p:stCondLst>
                                  <p:childTnLst>
                                    <p:set>
                                      <p:cBhvr>
                                        <p:cTn id="51" dur="1" fill="hold">
                                          <p:stCondLst>
                                            <p:cond delay="0"/>
                                          </p:stCondLst>
                                        </p:cTn>
                                        <p:tgtEl>
                                          <p:spTgt spid="6">
                                            <p:txEl>
                                              <p:pRg st="1" end="1"/>
                                            </p:txEl>
                                          </p:spTgt>
                                        </p:tgtEl>
                                        <p:attrNameLst>
                                          <p:attrName>style.visibility</p:attrName>
                                        </p:attrNameLst>
                                      </p:cBhvr>
                                      <p:to>
                                        <p:strVal val="visible"/>
                                      </p:to>
                                    </p:set>
                                    <p:animEffect transition="in" filter="wipe(left)">
                                      <p:cBhvr>
                                        <p:cTn id="52" dur="1500"/>
                                        <p:tgtEl>
                                          <p:spTgt spid="6">
                                            <p:txEl>
                                              <p:pRg st="1" end="1"/>
                                            </p:txEl>
                                          </p:spTgt>
                                        </p:tgtEl>
                                      </p:cBhvr>
                                    </p:animEffect>
                                  </p:childTnLst>
                                </p:cTn>
                              </p:par>
                            </p:childTnLst>
                          </p:cTn>
                        </p:par>
                      </p:childTnLst>
                    </p:cTn>
                  </p:par>
                  <p:par>
                    <p:cTn id="53" fill="hold">
                      <p:stCondLst>
                        <p:cond delay="indefinite"/>
                      </p:stCondLst>
                      <p:childTnLst>
                        <p:par>
                          <p:cTn id="54" fill="hold">
                            <p:stCondLst>
                              <p:cond delay="0"/>
                            </p:stCondLst>
                            <p:childTnLst>
                              <p:par>
                                <p:cTn id="55" presetID="22" presetClass="entr" presetSubtype="8" fill="hold" nodeType="clickEffect">
                                  <p:stCondLst>
                                    <p:cond delay="0"/>
                                  </p:stCondLst>
                                  <p:childTnLst>
                                    <p:set>
                                      <p:cBhvr>
                                        <p:cTn id="56" dur="1" fill="hold">
                                          <p:stCondLst>
                                            <p:cond delay="0"/>
                                          </p:stCondLst>
                                        </p:cTn>
                                        <p:tgtEl>
                                          <p:spTgt spid="6">
                                            <p:txEl>
                                              <p:pRg st="2" end="2"/>
                                            </p:txEl>
                                          </p:spTgt>
                                        </p:tgtEl>
                                        <p:attrNameLst>
                                          <p:attrName>style.visibility</p:attrName>
                                        </p:attrNameLst>
                                      </p:cBhvr>
                                      <p:to>
                                        <p:strVal val="visible"/>
                                      </p:to>
                                    </p:set>
                                    <p:animEffect transition="in" filter="wipe(left)">
                                      <p:cBhvr>
                                        <p:cTn id="57" dur="1500"/>
                                        <p:tgtEl>
                                          <p:spTgt spid="6">
                                            <p:txEl>
                                              <p:pRg st="2" end="2"/>
                                            </p:txEl>
                                          </p:spTgt>
                                        </p:tgtEl>
                                      </p:cBhvr>
                                    </p:animEffect>
                                  </p:childTnLst>
                                </p:cTn>
                              </p:par>
                            </p:childTnLst>
                          </p:cTn>
                        </p:par>
                      </p:childTnLst>
                    </p:cTn>
                  </p:par>
                  <p:par>
                    <p:cTn id="58" fill="hold">
                      <p:stCondLst>
                        <p:cond delay="indefinite"/>
                      </p:stCondLst>
                      <p:childTnLst>
                        <p:par>
                          <p:cTn id="59" fill="hold">
                            <p:stCondLst>
                              <p:cond delay="0"/>
                            </p:stCondLst>
                            <p:childTnLst>
                              <p:par>
                                <p:cTn id="60" presetID="22" presetClass="entr" presetSubtype="8" fill="hold" nodeType="clickEffect">
                                  <p:stCondLst>
                                    <p:cond delay="0"/>
                                  </p:stCondLst>
                                  <p:childTnLst>
                                    <p:set>
                                      <p:cBhvr>
                                        <p:cTn id="61" dur="1" fill="hold">
                                          <p:stCondLst>
                                            <p:cond delay="0"/>
                                          </p:stCondLst>
                                        </p:cTn>
                                        <p:tgtEl>
                                          <p:spTgt spid="6">
                                            <p:txEl>
                                              <p:pRg st="3" end="3"/>
                                            </p:txEl>
                                          </p:spTgt>
                                        </p:tgtEl>
                                        <p:attrNameLst>
                                          <p:attrName>style.visibility</p:attrName>
                                        </p:attrNameLst>
                                      </p:cBhvr>
                                      <p:to>
                                        <p:strVal val="visible"/>
                                      </p:to>
                                    </p:set>
                                    <p:animEffect transition="in" filter="wipe(left)">
                                      <p:cBhvr>
                                        <p:cTn id="62" dur="1500"/>
                                        <p:tgtEl>
                                          <p:spTgt spid="6">
                                            <p:txEl>
                                              <p:pRg st="3" end="3"/>
                                            </p:txEl>
                                          </p:spTgt>
                                        </p:tgtEl>
                                      </p:cBhvr>
                                    </p:animEffect>
                                  </p:childTnLst>
                                </p:cTn>
                              </p:par>
                            </p:childTnLst>
                          </p:cTn>
                        </p:par>
                      </p:childTnLst>
                    </p:cTn>
                  </p:par>
                  <p:par>
                    <p:cTn id="63" fill="hold">
                      <p:stCondLst>
                        <p:cond delay="indefinite"/>
                      </p:stCondLst>
                      <p:childTnLst>
                        <p:par>
                          <p:cTn id="64" fill="hold">
                            <p:stCondLst>
                              <p:cond delay="0"/>
                            </p:stCondLst>
                            <p:childTnLst>
                              <p:par>
                                <p:cTn id="65" presetID="22" presetClass="entr" presetSubtype="8" fill="hold" nodeType="clickEffect">
                                  <p:stCondLst>
                                    <p:cond delay="0"/>
                                  </p:stCondLst>
                                  <p:childTnLst>
                                    <p:set>
                                      <p:cBhvr>
                                        <p:cTn id="66" dur="1" fill="hold">
                                          <p:stCondLst>
                                            <p:cond delay="0"/>
                                          </p:stCondLst>
                                        </p:cTn>
                                        <p:tgtEl>
                                          <p:spTgt spid="6">
                                            <p:txEl>
                                              <p:pRg st="4" end="4"/>
                                            </p:txEl>
                                          </p:spTgt>
                                        </p:tgtEl>
                                        <p:attrNameLst>
                                          <p:attrName>style.visibility</p:attrName>
                                        </p:attrNameLst>
                                      </p:cBhvr>
                                      <p:to>
                                        <p:strVal val="visible"/>
                                      </p:to>
                                    </p:set>
                                    <p:animEffect transition="in" filter="wipe(left)">
                                      <p:cBhvr>
                                        <p:cTn id="67" dur="1500"/>
                                        <p:tgtEl>
                                          <p:spTgt spid="6">
                                            <p:txEl>
                                              <p:pRg st="4" end="4"/>
                                            </p:txEl>
                                          </p:spTgt>
                                        </p:tgtEl>
                                      </p:cBhvr>
                                    </p:animEffect>
                                  </p:childTnLst>
                                </p:cTn>
                              </p:par>
                            </p:childTnLst>
                          </p:cTn>
                        </p:par>
                      </p:childTnLst>
                    </p:cTn>
                  </p:par>
                  <p:par>
                    <p:cTn id="68" fill="hold">
                      <p:stCondLst>
                        <p:cond delay="indefinite"/>
                      </p:stCondLst>
                      <p:childTnLst>
                        <p:par>
                          <p:cTn id="69" fill="hold">
                            <p:stCondLst>
                              <p:cond delay="0"/>
                            </p:stCondLst>
                            <p:childTnLst>
                              <p:par>
                                <p:cTn id="70" presetID="22" presetClass="entr" presetSubtype="8" fill="hold" nodeType="clickEffect">
                                  <p:stCondLst>
                                    <p:cond delay="0"/>
                                  </p:stCondLst>
                                  <p:childTnLst>
                                    <p:set>
                                      <p:cBhvr>
                                        <p:cTn id="71" dur="1" fill="hold">
                                          <p:stCondLst>
                                            <p:cond delay="0"/>
                                          </p:stCondLst>
                                        </p:cTn>
                                        <p:tgtEl>
                                          <p:spTgt spid="6">
                                            <p:txEl>
                                              <p:pRg st="5" end="5"/>
                                            </p:txEl>
                                          </p:spTgt>
                                        </p:tgtEl>
                                        <p:attrNameLst>
                                          <p:attrName>style.visibility</p:attrName>
                                        </p:attrNameLst>
                                      </p:cBhvr>
                                      <p:to>
                                        <p:strVal val="visible"/>
                                      </p:to>
                                    </p:set>
                                    <p:animEffect transition="in" filter="wipe(left)">
                                      <p:cBhvr>
                                        <p:cTn id="72" dur="1500"/>
                                        <p:tgtEl>
                                          <p:spTgt spid="6">
                                            <p:txEl>
                                              <p:pRg st="5" end="5"/>
                                            </p:txEl>
                                          </p:spTgt>
                                        </p:tgtEl>
                                      </p:cBhvr>
                                    </p:animEffect>
                                  </p:childTnLst>
                                </p:cTn>
                              </p:par>
                            </p:childTnLst>
                          </p:cTn>
                        </p:par>
                      </p:childTnLst>
                    </p:cTn>
                  </p:par>
                  <p:par>
                    <p:cTn id="73" fill="hold">
                      <p:stCondLst>
                        <p:cond delay="indefinite"/>
                      </p:stCondLst>
                      <p:childTnLst>
                        <p:par>
                          <p:cTn id="74" fill="hold">
                            <p:stCondLst>
                              <p:cond delay="0"/>
                            </p:stCondLst>
                            <p:childTnLst>
                              <p:par>
                                <p:cTn id="75" presetID="22" presetClass="entr" presetSubtype="8" fill="hold" grpId="0" nodeType="clickEffect">
                                  <p:stCondLst>
                                    <p:cond delay="0"/>
                                  </p:stCondLst>
                                  <p:childTnLst>
                                    <p:set>
                                      <p:cBhvr>
                                        <p:cTn id="76" dur="1" fill="hold">
                                          <p:stCondLst>
                                            <p:cond delay="0"/>
                                          </p:stCondLst>
                                        </p:cTn>
                                        <p:tgtEl>
                                          <p:spTgt spid="7"/>
                                        </p:tgtEl>
                                        <p:attrNameLst>
                                          <p:attrName>style.visibility</p:attrName>
                                        </p:attrNameLst>
                                      </p:cBhvr>
                                      <p:to>
                                        <p:strVal val="visible"/>
                                      </p:to>
                                    </p:set>
                                    <p:animEffect transition="in" filter="wipe(left)">
                                      <p:cBhvr>
                                        <p:cTn id="77" dur="20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P spid="4" grpId="0" uiExpand="1" build="p"/>
      <p:bldP spid="5" grpId="0" build="p"/>
      <p:bldP spid="7" grpId="0"/>
    </p:bldLst>
  </p:timing>
</p:sld>
</file>

<file path=ppt/slides/slide1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GDPR</a:t>
            </a:r>
          </a:p>
        </p:txBody>
      </p:sp>
      <p:sp>
        <p:nvSpPr>
          <p:cNvPr id="3" name="Subtitle 2"/>
          <p:cNvSpPr>
            <a:spLocks noGrp="1"/>
          </p:cNvSpPr>
          <p:nvPr>
            <p:ph type="body" idx="1"/>
          </p:nvPr>
        </p:nvSpPr>
        <p:spPr/>
        <p:txBody>
          <a:bodyPr/>
          <a:lstStyle/>
          <a:p>
            <a:endParaRPr lang="en-GB" dirty="0"/>
          </a:p>
        </p:txBody>
      </p:sp>
    </p:spTree>
    <p:extLst>
      <p:ext uri="{BB962C8B-B14F-4D97-AF65-F5344CB8AC3E}">
        <p14:creationId xmlns:p14="http://schemas.microsoft.com/office/powerpoint/2010/main" val="2580359445"/>
      </p:ext>
    </p:extLst>
  </p:cSld>
  <p:clrMapOvr>
    <a:masterClrMapping/>
  </p:clrMapOvr>
</p:sld>
</file>

<file path=ppt/slides/slide1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Learning Intentions</a:t>
            </a:r>
          </a:p>
        </p:txBody>
      </p:sp>
      <p:sp>
        <p:nvSpPr>
          <p:cNvPr id="3" name="Content Placeholder 2"/>
          <p:cNvSpPr>
            <a:spLocks noGrp="1"/>
          </p:cNvSpPr>
          <p:nvPr>
            <p:ph idx="1"/>
          </p:nvPr>
        </p:nvSpPr>
        <p:spPr/>
        <p:txBody>
          <a:bodyPr>
            <a:normAutofit/>
          </a:bodyPr>
          <a:lstStyle/>
          <a:p>
            <a:r>
              <a:rPr lang="en-GB" sz="3600" dirty="0"/>
              <a:t>Describe and identify the implications for individuals and businesses of the UK General Data Protection Regulation (UK GDPR)</a:t>
            </a:r>
            <a:endParaRPr lang="en-GB" dirty="0"/>
          </a:p>
        </p:txBody>
      </p:sp>
      <p:sp>
        <p:nvSpPr>
          <p:cNvPr id="4" name="Action Button: Go Forward or Next 3">
            <a:hlinkClick r:id="rId3" highlightClick="1"/>
            <a:extLst>
              <a:ext uri="{FF2B5EF4-FFF2-40B4-BE49-F238E27FC236}">
                <a16:creationId xmlns:a16="http://schemas.microsoft.com/office/drawing/2014/main" id="{FF3A55D2-53DA-A5F8-282C-07911623CC19}"/>
              </a:ext>
            </a:extLst>
          </p:cNvPr>
          <p:cNvSpPr/>
          <p:nvPr/>
        </p:nvSpPr>
        <p:spPr>
          <a:xfrm>
            <a:off x="10832592" y="5655755"/>
            <a:ext cx="1042416" cy="1042416"/>
          </a:xfrm>
          <a:prstGeom prst="actionButtonForwardNext">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Tree>
    <p:extLst>
      <p:ext uri="{BB962C8B-B14F-4D97-AF65-F5344CB8AC3E}">
        <p14:creationId xmlns:p14="http://schemas.microsoft.com/office/powerpoint/2010/main" val="264762220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2000"/>
                                        <p:tgtEl>
                                          <p:spTgt spid="3">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1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59E83AA-EE28-0599-B167-E9F38D289DF6}"/>
              </a:ext>
            </a:extLst>
          </p:cNvPr>
          <p:cNvSpPr>
            <a:spLocks noGrp="1"/>
          </p:cNvSpPr>
          <p:nvPr>
            <p:ph type="title"/>
          </p:nvPr>
        </p:nvSpPr>
        <p:spPr/>
        <p:txBody>
          <a:bodyPr>
            <a:normAutofit/>
          </a:bodyPr>
          <a:lstStyle/>
          <a:p>
            <a:r>
              <a:rPr lang="en-GB" dirty="0"/>
              <a:t>Lawfulness, fairness and transparency</a:t>
            </a:r>
          </a:p>
        </p:txBody>
      </p:sp>
      <p:sp>
        <p:nvSpPr>
          <p:cNvPr id="3" name="Content Placeholder 2">
            <a:extLst>
              <a:ext uri="{FF2B5EF4-FFF2-40B4-BE49-F238E27FC236}">
                <a16:creationId xmlns:a16="http://schemas.microsoft.com/office/drawing/2014/main" id="{3BF8633D-C374-D6AF-17C9-F89D591C2E40}"/>
              </a:ext>
            </a:extLst>
          </p:cNvPr>
          <p:cNvSpPr>
            <a:spLocks noGrp="1"/>
          </p:cNvSpPr>
          <p:nvPr>
            <p:ph idx="1"/>
          </p:nvPr>
        </p:nvSpPr>
        <p:spPr/>
        <p:txBody>
          <a:bodyPr>
            <a:normAutofit/>
          </a:bodyPr>
          <a:lstStyle/>
          <a:p>
            <a:r>
              <a:rPr lang="en-GB" sz="3200" dirty="0"/>
              <a:t>Processed lawfully, fairly and in a transparent manner in relation to individuals</a:t>
            </a:r>
          </a:p>
          <a:p>
            <a:r>
              <a:rPr lang="en-GB" sz="3200" dirty="0"/>
              <a:t>Personal data is used in a way that is fair</a:t>
            </a:r>
          </a:p>
          <a:p>
            <a:r>
              <a:rPr lang="en-GB" sz="3200" dirty="0"/>
              <a:t>Clear, open and honest about how personal data will be used</a:t>
            </a:r>
          </a:p>
        </p:txBody>
      </p:sp>
    </p:spTree>
    <p:extLst>
      <p:ext uri="{BB962C8B-B14F-4D97-AF65-F5344CB8AC3E}">
        <p14:creationId xmlns:p14="http://schemas.microsoft.com/office/powerpoint/2010/main" val="2179619999"/>
      </p:ext>
    </p:extLst>
  </p:cSld>
  <p:clrMapOvr>
    <a:masterClrMapping/>
  </p:clrMapOvr>
</p:sld>
</file>

<file path=ppt/slides/slide1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9F40209-8C1E-4D03-17F1-0B25A569229B}"/>
              </a:ext>
            </a:extLst>
          </p:cNvPr>
          <p:cNvSpPr>
            <a:spLocks noGrp="1"/>
          </p:cNvSpPr>
          <p:nvPr>
            <p:ph type="title"/>
          </p:nvPr>
        </p:nvSpPr>
        <p:spPr/>
        <p:txBody>
          <a:bodyPr/>
          <a:lstStyle/>
          <a:p>
            <a:r>
              <a:rPr lang="en-GB" dirty="0"/>
              <a:t>Purpose limitation</a:t>
            </a:r>
          </a:p>
        </p:txBody>
      </p:sp>
      <p:sp>
        <p:nvSpPr>
          <p:cNvPr id="3" name="Content Placeholder 2">
            <a:extLst>
              <a:ext uri="{FF2B5EF4-FFF2-40B4-BE49-F238E27FC236}">
                <a16:creationId xmlns:a16="http://schemas.microsoft.com/office/drawing/2014/main" id="{AC0A1240-16F4-825F-0457-BCDA2A4D97D3}"/>
              </a:ext>
            </a:extLst>
          </p:cNvPr>
          <p:cNvSpPr>
            <a:spLocks noGrp="1"/>
          </p:cNvSpPr>
          <p:nvPr>
            <p:ph idx="1"/>
          </p:nvPr>
        </p:nvSpPr>
        <p:spPr/>
        <p:txBody>
          <a:bodyPr>
            <a:normAutofit/>
          </a:bodyPr>
          <a:lstStyle/>
          <a:p>
            <a:r>
              <a:rPr lang="en-GB" sz="3200" dirty="0"/>
              <a:t>Used for the declared purpose only</a:t>
            </a:r>
          </a:p>
          <a:p>
            <a:r>
              <a:rPr lang="en-GB" sz="3200" dirty="0"/>
              <a:t>Personal data can only used for a new purpose if:</a:t>
            </a:r>
          </a:p>
          <a:p>
            <a:pPr lvl="1"/>
            <a:r>
              <a:rPr lang="en-GB" sz="3200" dirty="0"/>
              <a:t>compatible with original purpose</a:t>
            </a:r>
          </a:p>
          <a:p>
            <a:pPr lvl="1"/>
            <a:r>
              <a:rPr lang="en-GB" sz="3200" dirty="0"/>
              <a:t>new consent gained</a:t>
            </a:r>
          </a:p>
          <a:p>
            <a:pPr lvl="1"/>
            <a:r>
              <a:rPr lang="en-GB" sz="3200" dirty="0"/>
              <a:t>obligation or function set out in law</a:t>
            </a:r>
          </a:p>
        </p:txBody>
      </p:sp>
    </p:spTree>
    <p:extLst>
      <p:ext uri="{BB962C8B-B14F-4D97-AF65-F5344CB8AC3E}">
        <p14:creationId xmlns:p14="http://schemas.microsoft.com/office/powerpoint/2010/main" val="1923468790"/>
      </p:ext>
    </p:extLst>
  </p:cSld>
  <p:clrMapOvr>
    <a:masterClrMapping/>
  </p:clrMapOvr>
</p:sld>
</file>

<file path=ppt/slides/slide1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47D8603-1AE1-AA52-FACD-E6BE787027BB}"/>
              </a:ext>
            </a:extLst>
          </p:cNvPr>
          <p:cNvSpPr>
            <a:spLocks noGrp="1"/>
          </p:cNvSpPr>
          <p:nvPr>
            <p:ph type="title"/>
          </p:nvPr>
        </p:nvSpPr>
        <p:spPr/>
        <p:txBody>
          <a:bodyPr/>
          <a:lstStyle/>
          <a:p>
            <a:r>
              <a:rPr lang="en-GB" dirty="0"/>
              <a:t>Data minimisation</a:t>
            </a:r>
          </a:p>
        </p:txBody>
      </p:sp>
      <p:sp>
        <p:nvSpPr>
          <p:cNvPr id="3" name="Content Placeholder 2">
            <a:extLst>
              <a:ext uri="{FF2B5EF4-FFF2-40B4-BE49-F238E27FC236}">
                <a16:creationId xmlns:a16="http://schemas.microsoft.com/office/drawing/2014/main" id="{D0433B07-78A7-33E9-8E02-3014F87FE084}"/>
              </a:ext>
            </a:extLst>
          </p:cNvPr>
          <p:cNvSpPr>
            <a:spLocks noGrp="1"/>
          </p:cNvSpPr>
          <p:nvPr>
            <p:ph idx="1"/>
          </p:nvPr>
        </p:nvSpPr>
        <p:spPr/>
        <p:txBody>
          <a:bodyPr>
            <a:normAutofit/>
          </a:bodyPr>
          <a:lstStyle/>
          <a:p>
            <a:r>
              <a:rPr lang="en-GB" sz="3200" dirty="0"/>
              <a:t>Limited to the data needed for the declared purpose</a:t>
            </a:r>
          </a:p>
          <a:p>
            <a:r>
              <a:rPr lang="en-GB" sz="3200" dirty="0"/>
              <a:t>Data must be:</a:t>
            </a:r>
          </a:p>
          <a:p>
            <a:pPr lvl="1"/>
            <a:r>
              <a:rPr lang="en-GB" sz="3200" dirty="0"/>
              <a:t>adequate – sufficient to fulfil your stated purpose</a:t>
            </a:r>
          </a:p>
          <a:p>
            <a:pPr lvl="1"/>
            <a:r>
              <a:rPr lang="en-GB" sz="3200" dirty="0"/>
              <a:t>relevant – has a clear link to that purpose</a:t>
            </a:r>
          </a:p>
          <a:p>
            <a:pPr lvl="1"/>
            <a:r>
              <a:rPr lang="en-GB" sz="3200" dirty="0"/>
              <a:t>limited to what is necessary</a:t>
            </a:r>
          </a:p>
        </p:txBody>
      </p:sp>
    </p:spTree>
    <p:extLst>
      <p:ext uri="{BB962C8B-B14F-4D97-AF65-F5344CB8AC3E}">
        <p14:creationId xmlns:p14="http://schemas.microsoft.com/office/powerpoint/2010/main" val="864826872"/>
      </p:ext>
    </p:extLst>
  </p:cSld>
  <p:clrMapOvr>
    <a:masterClrMapping/>
  </p:clrMapOvr>
</p:sld>
</file>

<file path=ppt/slides/slide1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D6914D0-9D77-EAD9-8D32-2C3A50E60221}"/>
              </a:ext>
            </a:extLst>
          </p:cNvPr>
          <p:cNvSpPr>
            <a:spLocks noGrp="1"/>
          </p:cNvSpPr>
          <p:nvPr>
            <p:ph type="title"/>
          </p:nvPr>
        </p:nvSpPr>
        <p:spPr/>
        <p:txBody>
          <a:bodyPr/>
          <a:lstStyle/>
          <a:p>
            <a:r>
              <a:rPr lang="en-GB" dirty="0"/>
              <a:t>Accuracy</a:t>
            </a:r>
          </a:p>
        </p:txBody>
      </p:sp>
      <p:sp>
        <p:nvSpPr>
          <p:cNvPr id="3" name="Content Placeholder 2">
            <a:extLst>
              <a:ext uri="{FF2B5EF4-FFF2-40B4-BE49-F238E27FC236}">
                <a16:creationId xmlns:a16="http://schemas.microsoft.com/office/drawing/2014/main" id="{3E14A3DB-E2AE-A8B5-E68C-9822353BC769}"/>
              </a:ext>
            </a:extLst>
          </p:cNvPr>
          <p:cNvSpPr>
            <a:spLocks noGrp="1"/>
          </p:cNvSpPr>
          <p:nvPr>
            <p:ph idx="1"/>
          </p:nvPr>
        </p:nvSpPr>
        <p:spPr/>
        <p:txBody>
          <a:bodyPr>
            <a:normAutofit/>
          </a:bodyPr>
          <a:lstStyle/>
          <a:p>
            <a:r>
              <a:rPr lang="en-GB" sz="3200" dirty="0"/>
              <a:t>Accurate</a:t>
            </a:r>
          </a:p>
          <a:p>
            <a:r>
              <a:rPr lang="en-GB" sz="3200" dirty="0"/>
              <a:t>Steps taken to ensure the accuracy of personal data</a:t>
            </a:r>
          </a:p>
        </p:txBody>
      </p:sp>
    </p:spTree>
    <p:extLst>
      <p:ext uri="{BB962C8B-B14F-4D97-AF65-F5344CB8AC3E}">
        <p14:creationId xmlns:p14="http://schemas.microsoft.com/office/powerpoint/2010/main" val="2465990110"/>
      </p:ext>
    </p:extLst>
  </p:cSld>
  <p:clrMapOvr>
    <a:masterClrMapping/>
  </p:clrMapOvr>
</p:sld>
</file>

<file path=ppt/slides/slide1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0E6D224-A02B-F736-6D46-C7590119C67C}"/>
              </a:ext>
            </a:extLst>
          </p:cNvPr>
          <p:cNvSpPr>
            <a:spLocks noGrp="1"/>
          </p:cNvSpPr>
          <p:nvPr>
            <p:ph type="title"/>
          </p:nvPr>
        </p:nvSpPr>
        <p:spPr/>
        <p:txBody>
          <a:bodyPr>
            <a:normAutofit/>
          </a:bodyPr>
          <a:lstStyle/>
          <a:p>
            <a:r>
              <a:rPr lang="en-GB" dirty="0"/>
              <a:t>Storage limitation</a:t>
            </a:r>
          </a:p>
        </p:txBody>
      </p:sp>
      <p:sp>
        <p:nvSpPr>
          <p:cNvPr id="3" name="Content Placeholder 2">
            <a:extLst>
              <a:ext uri="{FF2B5EF4-FFF2-40B4-BE49-F238E27FC236}">
                <a16:creationId xmlns:a16="http://schemas.microsoft.com/office/drawing/2014/main" id="{C270B8E5-83C1-EC42-FE1A-05D0ED85F473}"/>
              </a:ext>
            </a:extLst>
          </p:cNvPr>
          <p:cNvSpPr>
            <a:spLocks noGrp="1"/>
          </p:cNvSpPr>
          <p:nvPr>
            <p:ph idx="1"/>
          </p:nvPr>
        </p:nvSpPr>
        <p:spPr/>
        <p:txBody>
          <a:bodyPr>
            <a:normAutofit/>
          </a:bodyPr>
          <a:lstStyle/>
          <a:p>
            <a:r>
              <a:rPr lang="en-GB" sz="3200" dirty="0"/>
              <a:t>Not kept for longer than necessary 	</a:t>
            </a:r>
          </a:p>
        </p:txBody>
      </p:sp>
    </p:spTree>
    <p:extLst>
      <p:ext uri="{BB962C8B-B14F-4D97-AF65-F5344CB8AC3E}">
        <p14:creationId xmlns:p14="http://schemas.microsoft.com/office/powerpoint/2010/main" val="3704889719"/>
      </p:ext>
    </p:extLst>
  </p:cSld>
  <p:clrMapOvr>
    <a:masterClrMapping/>
  </p:clrMapOvr>
</p:sld>
</file>

<file path=ppt/slides/slide1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8D041FE-B04D-6D94-1A3E-225B9EB3BCBC}"/>
              </a:ext>
            </a:extLst>
          </p:cNvPr>
          <p:cNvSpPr>
            <a:spLocks noGrp="1"/>
          </p:cNvSpPr>
          <p:nvPr>
            <p:ph type="title"/>
          </p:nvPr>
        </p:nvSpPr>
        <p:spPr/>
        <p:txBody>
          <a:bodyPr/>
          <a:lstStyle/>
          <a:p>
            <a:r>
              <a:rPr lang="en-GB" dirty="0"/>
              <a:t>Integrity and confidentiality</a:t>
            </a:r>
          </a:p>
        </p:txBody>
      </p:sp>
      <p:sp>
        <p:nvSpPr>
          <p:cNvPr id="3" name="Content Placeholder 2">
            <a:extLst>
              <a:ext uri="{FF2B5EF4-FFF2-40B4-BE49-F238E27FC236}">
                <a16:creationId xmlns:a16="http://schemas.microsoft.com/office/drawing/2014/main" id="{E9A49755-BB00-33FD-7E1B-FD41E624CF57}"/>
              </a:ext>
            </a:extLst>
          </p:cNvPr>
          <p:cNvSpPr>
            <a:spLocks noGrp="1"/>
          </p:cNvSpPr>
          <p:nvPr>
            <p:ph idx="1"/>
          </p:nvPr>
        </p:nvSpPr>
        <p:spPr/>
        <p:txBody>
          <a:bodyPr>
            <a:normAutofit/>
          </a:bodyPr>
          <a:lstStyle/>
          <a:p>
            <a:pPr marL="0" indent="0">
              <a:buNone/>
            </a:pPr>
            <a:r>
              <a:rPr lang="en-GB" sz="3200" dirty="0"/>
              <a:t>Held securely</a:t>
            </a:r>
          </a:p>
        </p:txBody>
      </p:sp>
    </p:spTree>
    <p:extLst>
      <p:ext uri="{BB962C8B-B14F-4D97-AF65-F5344CB8AC3E}">
        <p14:creationId xmlns:p14="http://schemas.microsoft.com/office/powerpoint/2010/main" val="4193087359"/>
      </p:ext>
    </p:extLst>
  </p:cSld>
  <p:clrMapOvr>
    <a:masterClrMapping/>
  </p:clrMapOvr>
</p:sld>
</file>

<file path=ppt/slides/slide1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969B548-520E-4A1A-99D5-1A35599E9328}"/>
              </a:ext>
            </a:extLst>
          </p:cNvPr>
          <p:cNvSpPr>
            <a:spLocks noGrp="1"/>
          </p:cNvSpPr>
          <p:nvPr>
            <p:ph type="title"/>
          </p:nvPr>
        </p:nvSpPr>
        <p:spPr/>
        <p:txBody>
          <a:bodyPr/>
          <a:lstStyle/>
          <a:p>
            <a:r>
              <a:rPr lang="en-GB" dirty="0"/>
              <a:t>GDPR Key Principles</a:t>
            </a:r>
          </a:p>
        </p:txBody>
      </p:sp>
      <p:sp>
        <p:nvSpPr>
          <p:cNvPr id="3" name="Content Placeholder 2">
            <a:extLst>
              <a:ext uri="{FF2B5EF4-FFF2-40B4-BE49-F238E27FC236}">
                <a16:creationId xmlns:a16="http://schemas.microsoft.com/office/drawing/2014/main" id="{257141CB-89B9-453C-950A-3B96F4293BEE}"/>
              </a:ext>
            </a:extLst>
          </p:cNvPr>
          <p:cNvSpPr>
            <a:spLocks noGrp="1"/>
          </p:cNvSpPr>
          <p:nvPr>
            <p:ph idx="1"/>
          </p:nvPr>
        </p:nvSpPr>
        <p:spPr>
          <a:xfrm>
            <a:off x="838200" y="1825625"/>
            <a:ext cx="10515600" cy="4667250"/>
          </a:xfrm>
        </p:spPr>
        <p:txBody>
          <a:bodyPr>
            <a:noAutofit/>
          </a:bodyPr>
          <a:lstStyle/>
          <a:p>
            <a:pPr marL="514350" indent="-514350">
              <a:spcAft>
                <a:spcPts val="1200"/>
              </a:spcAft>
              <a:buFont typeface="+mj-lt"/>
              <a:buAutoNum type="arabicPeriod"/>
            </a:pPr>
            <a:r>
              <a:rPr lang="en-GB" sz="3200" dirty="0"/>
              <a:t>processed lawfully, fairly and in a transparent manner</a:t>
            </a:r>
          </a:p>
          <a:p>
            <a:pPr marL="514350" indent="-514350">
              <a:spcAft>
                <a:spcPts val="1200"/>
              </a:spcAft>
              <a:buFont typeface="+mj-lt"/>
              <a:buAutoNum type="arabicPeriod"/>
            </a:pPr>
            <a:r>
              <a:rPr lang="en-GB" sz="3200" dirty="0"/>
              <a:t>used for the declared purpose only</a:t>
            </a:r>
          </a:p>
          <a:p>
            <a:pPr marL="514350" indent="-514350">
              <a:spcAft>
                <a:spcPts val="1200"/>
              </a:spcAft>
              <a:buFont typeface="+mj-lt"/>
              <a:buAutoNum type="arabicPeriod"/>
            </a:pPr>
            <a:r>
              <a:rPr lang="en-GB" sz="3200" dirty="0"/>
              <a:t>limited to the data needed for the declared purpose</a:t>
            </a:r>
          </a:p>
          <a:p>
            <a:pPr marL="514350" indent="-514350">
              <a:spcAft>
                <a:spcPts val="1200"/>
              </a:spcAft>
              <a:buFont typeface="+mj-lt"/>
              <a:buAutoNum type="arabicPeriod"/>
            </a:pPr>
            <a:r>
              <a:rPr lang="en-GB" sz="3200" dirty="0"/>
              <a:t>accurate</a:t>
            </a:r>
          </a:p>
          <a:p>
            <a:pPr marL="514350" indent="-514350">
              <a:spcAft>
                <a:spcPts val="1200"/>
              </a:spcAft>
              <a:buFont typeface="+mj-lt"/>
              <a:buAutoNum type="arabicPeriod"/>
            </a:pPr>
            <a:r>
              <a:rPr lang="en-GB" sz="3200" dirty="0"/>
              <a:t>not kept for longer than necessary</a:t>
            </a:r>
          </a:p>
          <a:p>
            <a:pPr marL="514350" indent="-514350">
              <a:spcAft>
                <a:spcPts val="1200"/>
              </a:spcAft>
              <a:buFont typeface="+mj-lt"/>
              <a:buAutoNum type="arabicPeriod"/>
            </a:pPr>
            <a:r>
              <a:rPr lang="en-GB" sz="3200" dirty="0"/>
              <a:t>held securely</a:t>
            </a:r>
          </a:p>
        </p:txBody>
      </p:sp>
    </p:spTree>
    <p:extLst>
      <p:ext uri="{BB962C8B-B14F-4D97-AF65-F5344CB8AC3E}">
        <p14:creationId xmlns:p14="http://schemas.microsoft.com/office/powerpoint/2010/main" val="362240468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20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15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20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3">
                                            <p:txEl>
                                              <p:pRg st="3" end="3"/>
                                            </p:txEl>
                                          </p:spTgt>
                                        </p:tgtEl>
                                        <p:attrNameLst>
                                          <p:attrName>style.visibility</p:attrName>
                                        </p:attrNameLst>
                                      </p:cBhvr>
                                      <p:to>
                                        <p:strVal val="visible"/>
                                      </p:to>
                                    </p:set>
                                    <p:animEffect transition="in" filter="wipe(left)">
                                      <p:cBhvr>
                                        <p:cTn id="22" dur="500"/>
                                        <p:tgtEl>
                                          <p:spTgt spid="3">
                                            <p:txEl>
                                              <p:pRg st="3" end="3"/>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3">
                                            <p:txEl>
                                              <p:pRg st="4" end="4"/>
                                            </p:txEl>
                                          </p:spTgt>
                                        </p:tgtEl>
                                        <p:attrNameLst>
                                          <p:attrName>style.visibility</p:attrName>
                                        </p:attrNameLst>
                                      </p:cBhvr>
                                      <p:to>
                                        <p:strVal val="visible"/>
                                      </p:to>
                                    </p:set>
                                    <p:animEffect transition="in" filter="wipe(left)">
                                      <p:cBhvr>
                                        <p:cTn id="27" dur="1500"/>
                                        <p:tgtEl>
                                          <p:spTgt spid="3">
                                            <p:txEl>
                                              <p:pRg st="4" end="4"/>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3">
                                            <p:txEl>
                                              <p:pRg st="5" end="5"/>
                                            </p:txEl>
                                          </p:spTgt>
                                        </p:tgtEl>
                                        <p:attrNameLst>
                                          <p:attrName>style.visibility</p:attrName>
                                        </p:attrNameLst>
                                      </p:cBhvr>
                                      <p:to>
                                        <p:strVal val="visible"/>
                                      </p:to>
                                    </p:set>
                                    <p:animEffect transition="in" filter="wipe(left)">
                                      <p:cBhvr>
                                        <p:cTn id="32" dur="750"/>
                                        <p:tgtEl>
                                          <p:spTgt spid="3">
                                            <p:txEl>
                                              <p:pRg st="5" end="5"/>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62.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969B548-520E-4A1A-99D5-1A35599E9328}"/>
              </a:ext>
            </a:extLst>
          </p:cNvPr>
          <p:cNvSpPr>
            <a:spLocks noGrp="1"/>
          </p:cNvSpPr>
          <p:nvPr>
            <p:ph type="title"/>
          </p:nvPr>
        </p:nvSpPr>
        <p:spPr/>
        <p:txBody>
          <a:bodyPr/>
          <a:lstStyle/>
          <a:p>
            <a:r>
              <a:rPr lang="en-GB" dirty="0"/>
              <a:t>GDPR Key Principles</a:t>
            </a:r>
          </a:p>
        </p:txBody>
      </p:sp>
      <p:sp>
        <p:nvSpPr>
          <p:cNvPr id="3" name="Content Placeholder 2">
            <a:extLst>
              <a:ext uri="{FF2B5EF4-FFF2-40B4-BE49-F238E27FC236}">
                <a16:creationId xmlns:a16="http://schemas.microsoft.com/office/drawing/2014/main" id="{257141CB-89B9-453C-950A-3B96F4293BEE}"/>
              </a:ext>
            </a:extLst>
          </p:cNvPr>
          <p:cNvSpPr>
            <a:spLocks noGrp="1"/>
          </p:cNvSpPr>
          <p:nvPr>
            <p:ph idx="1"/>
          </p:nvPr>
        </p:nvSpPr>
        <p:spPr>
          <a:xfrm>
            <a:off x="838200" y="1825625"/>
            <a:ext cx="10515600" cy="4667250"/>
          </a:xfrm>
        </p:spPr>
        <p:txBody>
          <a:bodyPr>
            <a:noAutofit/>
          </a:bodyPr>
          <a:lstStyle/>
          <a:p>
            <a:pPr marL="514350" indent="-514350">
              <a:spcAft>
                <a:spcPts val="1200"/>
              </a:spcAft>
              <a:buFont typeface="+mj-lt"/>
              <a:buAutoNum type="arabicPeriod"/>
            </a:pPr>
            <a:r>
              <a:rPr lang="en-GB" sz="3200" dirty="0"/>
              <a:t> </a:t>
            </a:r>
          </a:p>
          <a:p>
            <a:pPr marL="514350" indent="-514350">
              <a:spcAft>
                <a:spcPts val="1200"/>
              </a:spcAft>
              <a:buFont typeface="+mj-lt"/>
              <a:buAutoNum type="arabicPeriod"/>
            </a:pPr>
            <a:r>
              <a:rPr lang="en-GB" sz="3200" dirty="0"/>
              <a:t> </a:t>
            </a:r>
          </a:p>
          <a:p>
            <a:pPr marL="514350" indent="-514350">
              <a:spcAft>
                <a:spcPts val="1200"/>
              </a:spcAft>
              <a:buFont typeface="+mj-lt"/>
              <a:buAutoNum type="arabicPeriod"/>
            </a:pPr>
            <a:r>
              <a:rPr lang="en-GB" sz="3200" dirty="0"/>
              <a:t> </a:t>
            </a:r>
          </a:p>
          <a:p>
            <a:pPr marL="514350" indent="-514350">
              <a:spcAft>
                <a:spcPts val="1200"/>
              </a:spcAft>
              <a:buFont typeface="+mj-lt"/>
              <a:buAutoNum type="arabicPeriod"/>
            </a:pPr>
            <a:r>
              <a:rPr lang="en-GB" sz="3200" dirty="0"/>
              <a:t> </a:t>
            </a:r>
          </a:p>
          <a:p>
            <a:pPr marL="514350" indent="-514350">
              <a:spcAft>
                <a:spcPts val="1200"/>
              </a:spcAft>
              <a:buFont typeface="+mj-lt"/>
              <a:buAutoNum type="arabicPeriod"/>
            </a:pPr>
            <a:r>
              <a:rPr lang="en-GB" sz="3200" dirty="0"/>
              <a:t> </a:t>
            </a:r>
          </a:p>
          <a:p>
            <a:pPr marL="514350" indent="-514350">
              <a:spcAft>
                <a:spcPts val="1200"/>
              </a:spcAft>
              <a:buFont typeface="+mj-lt"/>
              <a:buAutoNum type="arabicPeriod"/>
            </a:pPr>
            <a:r>
              <a:rPr lang="en-GB" sz="3200" dirty="0"/>
              <a:t> </a:t>
            </a:r>
          </a:p>
        </p:txBody>
      </p:sp>
    </p:spTree>
    <p:extLst>
      <p:ext uri="{BB962C8B-B14F-4D97-AF65-F5344CB8AC3E}">
        <p14:creationId xmlns:p14="http://schemas.microsoft.com/office/powerpoint/2010/main" val="2584223036"/>
      </p:ext>
    </p:extLst>
  </p:cSld>
  <p:clrMapOvr>
    <a:masterClrMapping/>
  </p:clrMapOvr>
</p:sld>
</file>

<file path=ppt/slides/slide1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Learning Intentions</a:t>
            </a:r>
          </a:p>
        </p:txBody>
      </p:sp>
      <p:sp>
        <p:nvSpPr>
          <p:cNvPr id="3" name="Content Placeholder 2"/>
          <p:cNvSpPr>
            <a:spLocks noGrp="1"/>
          </p:cNvSpPr>
          <p:nvPr>
            <p:ph idx="1"/>
          </p:nvPr>
        </p:nvSpPr>
        <p:spPr/>
        <p:txBody>
          <a:bodyPr/>
          <a:lstStyle/>
          <a:p>
            <a:r>
              <a:rPr lang="en-GB" dirty="0"/>
              <a:t>Identify the end-user and functional requirements of a database problem </a:t>
            </a:r>
          </a:p>
        </p:txBody>
      </p:sp>
    </p:spTree>
    <p:extLst>
      <p:ext uri="{BB962C8B-B14F-4D97-AF65-F5344CB8AC3E}">
        <p14:creationId xmlns:p14="http://schemas.microsoft.com/office/powerpoint/2010/main" val="1141868467"/>
      </p:ext>
    </p:extLst>
  </p:cSld>
  <p:clrMapOvr>
    <a:masterClrMapping/>
  </p:clrMapOvr>
</p:sld>
</file>

<file path=ppt/slides/slide1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a:extLst>
              <a:ext uri="{FF2B5EF4-FFF2-40B4-BE49-F238E27FC236}">
                <a16:creationId xmlns:a16="http://schemas.microsoft.com/office/drawing/2014/main" id="{362EC34A-2A90-40D7-8C39-37217612E64D}"/>
              </a:ext>
            </a:extLst>
          </p:cNvPr>
          <p:cNvSpPr>
            <a:spLocks noGrp="1"/>
          </p:cNvSpPr>
          <p:nvPr>
            <p:ph type="title"/>
          </p:nvPr>
        </p:nvSpPr>
        <p:spPr/>
        <p:txBody>
          <a:bodyPr/>
          <a:lstStyle/>
          <a:p>
            <a:r>
              <a:rPr lang="en-GB" dirty="0"/>
              <a:t>Requirements</a:t>
            </a:r>
          </a:p>
        </p:txBody>
      </p:sp>
      <p:sp>
        <p:nvSpPr>
          <p:cNvPr id="6" name="Text Placeholder 5">
            <a:extLst>
              <a:ext uri="{FF2B5EF4-FFF2-40B4-BE49-F238E27FC236}">
                <a16:creationId xmlns:a16="http://schemas.microsoft.com/office/drawing/2014/main" id="{980D2D71-F529-4649-9356-81FC175149AE}"/>
              </a:ext>
            </a:extLst>
          </p:cNvPr>
          <p:cNvSpPr>
            <a:spLocks noGrp="1"/>
          </p:cNvSpPr>
          <p:nvPr>
            <p:ph type="body" idx="1"/>
          </p:nvPr>
        </p:nvSpPr>
        <p:spPr/>
        <p:txBody>
          <a:bodyPr>
            <a:normAutofit/>
          </a:bodyPr>
          <a:lstStyle/>
          <a:p>
            <a:r>
              <a:rPr lang="en-GB" sz="3200" dirty="0"/>
              <a:t>End-user Requirements	</a:t>
            </a:r>
          </a:p>
        </p:txBody>
      </p:sp>
      <p:sp>
        <p:nvSpPr>
          <p:cNvPr id="8" name="Text Placeholder 7">
            <a:extLst>
              <a:ext uri="{FF2B5EF4-FFF2-40B4-BE49-F238E27FC236}">
                <a16:creationId xmlns:a16="http://schemas.microsoft.com/office/drawing/2014/main" id="{21EA3E42-8994-40FF-8791-2942875985C5}"/>
              </a:ext>
            </a:extLst>
          </p:cNvPr>
          <p:cNvSpPr>
            <a:spLocks noGrp="1"/>
          </p:cNvSpPr>
          <p:nvPr>
            <p:ph type="body" sz="quarter" idx="3"/>
          </p:nvPr>
        </p:nvSpPr>
        <p:spPr/>
        <p:txBody>
          <a:bodyPr>
            <a:normAutofit/>
          </a:bodyPr>
          <a:lstStyle/>
          <a:p>
            <a:r>
              <a:rPr lang="en-GB" sz="3200" b="1" i="0" dirty="0">
                <a:solidFill>
                  <a:srgbClr val="231F20"/>
                </a:solidFill>
                <a:effectLst/>
                <a:latin typeface="ReithSans"/>
              </a:rPr>
              <a:t>Functional Requirements</a:t>
            </a:r>
          </a:p>
        </p:txBody>
      </p:sp>
      <p:sp>
        <p:nvSpPr>
          <p:cNvPr id="14" name="Content Placeholder 13">
            <a:extLst>
              <a:ext uri="{FF2B5EF4-FFF2-40B4-BE49-F238E27FC236}">
                <a16:creationId xmlns:a16="http://schemas.microsoft.com/office/drawing/2014/main" id="{E05973AC-DAFB-40B7-9EB6-558188914A8C}"/>
              </a:ext>
            </a:extLst>
          </p:cNvPr>
          <p:cNvSpPr>
            <a:spLocks noGrp="1"/>
          </p:cNvSpPr>
          <p:nvPr>
            <p:ph sz="half" idx="2"/>
          </p:nvPr>
        </p:nvSpPr>
        <p:spPr/>
        <p:txBody>
          <a:bodyPr/>
          <a:lstStyle/>
          <a:p>
            <a:r>
              <a:rPr lang="en-GB" dirty="0"/>
              <a:t>The tasks that the users of the database must be able to do</a:t>
            </a:r>
          </a:p>
        </p:txBody>
      </p:sp>
      <p:sp>
        <p:nvSpPr>
          <p:cNvPr id="16" name="Content Placeholder 15">
            <a:extLst>
              <a:ext uri="{FF2B5EF4-FFF2-40B4-BE49-F238E27FC236}">
                <a16:creationId xmlns:a16="http://schemas.microsoft.com/office/drawing/2014/main" id="{330D2466-F170-40B9-B023-9A560AA62506}"/>
              </a:ext>
            </a:extLst>
          </p:cNvPr>
          <p:cNvSpPr>
            <a:spLocks noGrp="1"/>
          </p:cNvSpPr>
          <p:nvPr>
            <p:ph sz="quarter" idx="4"/>
          </p:nvPr>
        </p:nvSpPr>
        <p:spPr/>
        <p:txBody>
          <a:bodyPr/>
          <a:lstStyle/>
          <a:p>
            <a:r>
              <a:rPr lang="en-GB" dirty="0"/>
              <a:t>The information that the database will need to hold</a:t>
            </a:r>
          </a:p>
          <a:p>
            <a:r>
              <a:rPr lang="en-GB" dirty="0"/>
              <a:t>The SQL queries that are required to produce the results</a:t>
            </a:r>
          </a:p>
        </p:txBody>
      </p:sp>
      <p:sp>
        <p:nvSpPr>
          <p:cNvPr id="3" name="TextBox 2">
            <a:extLst>
              <a:ext uri="{FF2B5EF4-FFF2-40B4-BE49-F238E27FC236}">
                <a16:creationId xmlns:a16="http://schemas.microsoft.com/office/drawing/2014/main" id="{D15345B6-E9DB-78B1-1F2F-94E853898FBE}"/>
              </a:ext>
            </a:extLst>
          </p:cNvPr>
          <p:cNvSpPr txBox="1"/>
          <p:nvPr/>
        </p:nvSpPr>
        <p:spPr>
          <a:xfrm>
            <a:off x="1798744" y="4461550"/>
            <a:ext cx="8572287" cy="2031325"/>
          </a:xfrm>
          <a:prstGeom prst="rect">
            <a:avLst/>
          </a:prstGeom>
          <a:noFill/>
        </p:spPr>
        <p:txBody>
          <a:bodyPr wrap="square">
            <a:spAutoFit/>
          </a:bodyPr>
          <a:lstStyle/>
          <a:p>
            <a:r>
              <a:rPr lang="en-GB" sz="2800" b="1" dirty="0">
                <a:solidFill>
                  <a:srgbClr val="7030A0"/>
                </a:solidFill>
              </a:rPr>
              <a:t>Requirements help</a:t>
            </a:r>
            <a:r>
              <a:rPr lang="en-GB" sz="2800" dirty="0"/>
              <a:t>:  </a:t>
            </a:r>
          </a:p>
          <a:p>
            <a:endParaRPr lang="en-GB" sz="1400" dirty="0"/>
          </a:p>
          <a:p>
            <a:pPr marL="285750" indent="-285750">
              <a:buFont typeface="Arial" panose="020B0604020202020204" pitchFamily="34" charset="0"/>
              <a:buChar char="•"/>
            </a:pPr>
            <a:r>
              <a:rPr lang="en-GB" sz="2800" dirty="0"/>
              <a:t>clarify the design of the database </a:t>
            </a:r>
          </a:p>
          <a:p>
            <a:pPr marL="285750" indent="-285750">
              <a:buFont typeface="Arial" panose="020B0604020202020204" pitchFamily="34" charset="0"/>
              <a:buChar char="•"/>
            </a:pPr>
            <a:r>
              <a:rPr lang="en-GB" sz="2800" dirty="0"/>
              <a:t>identify the features to be implemented</a:t>
            </a:r>
          </a:p>
          <a:p>
            <a:pPr marL="285750" indent="-285750">
              <a:buFont typeface="Arial" panose="020B0604020202020204" pitchFamily="34" charset="0"/>
              <a:buChar char="•"/>
            </a:pPr>
            <a:r>
              <a:rPr lang="en-GB" sz="2800" dirty="0"/>
              <a:t>evaluate if the system is fit for purpose when completed </a:t>
            </a:r>
          </a:p>
        </p:txBody>
      </p:sp>
    </p:spTree>
    <p:extLst>
      <p:ext uri="{BB962C8B-B14F-4D97-AF65-F5344CB8AC3E}">
        <p14:creationId xmlns:p14="http://schemas.microsoft.com/office/powerpoint/2010/main" val="160064438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6">
                                            <p:txEl>
                                              <p:pRg st="0" end="0"/>
                                            </p:txEl>
                                          </p:spTgt>
                                        </p:tgtEl>
                                        <p:attrNameLst>
                                          <p:attrName>style.visibility</p:attrName>
                                        </p:attrNameLst>
                                      </p:cBhvr>
                                      <p:to>
                                        <p:strVal val="visible"/>
                                      </p:to>
                                    </p:set>
                                    <p:animEffect transition="in" filter="wipe(left)">
                                      <p:cBhvr>
                                        <p:cTn id="7" dur="1000"/>
                                        <p:tgtEl>
                                          <p:spTgt spid="6">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14">
                                            <p:txEl>
                                              <p:pRg st="0" end="0"/>
                                            </p:txEl>
                                          </p:spTgt>
                                        </p:tgtEl>
                                        <p:attrNameLst>
                                          <p:attrName>style.visibility</p:attrName>
                                        </p:attrNameLst>
                                      </p:cBhvr>
                                      <p:to>
                                        <p:strVal val="visible"/>
                                      </p:to>
                                    </p:set>
                                    <p:animEffect transition="in" filter="wipe(left)">
                                      <p:cBhvr>
                                        <p:cTn id="12" dur="1000"/>
                                        <p:tgtEl>
                                          <p:spTgt spid="14">
                                            <p:txEl>
                                              <p:pRg st="0" end="0"/>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8">
                                            <p:txEl>
                                              <p:pRg st="0" end="0"/>
                                            </p:txEl>
                                          </p:spTgt>
                                        </p:tgtEl>
                                        <p:attrNameLst>
                                          <p:attrName>style.visibility</p:attrName>
                                        </p:attrNameLst>
                                      </p:cBhvr>
                                      <p:to>
                                        <p:strVal val="visible"/>
                                      </p:to>
                                    </p:set>
                                    <p:animEffect transition="in" filter="wipe(left)">
                                      <p:cBhvr>
                                        <p:cTn id="17" dur="1000"/>
                                        <p:tgtEl>
                                          <p:spTgt spid="8">
                                            <p:txEl>
                                              <p:pRg st="0" end="0"/>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16">
                                            <p:txEl>
                                              <p:pRg st="0" end="0"/>
                                            </p:txEl>
                                          </p:spTgt>
                                        </p:tgtEl>
                                        <p:attrNameLst>
                                          <p:attrName>style.visibility</p:attrName>
                                        </p:attrNameLst>
                                      </p:cBhvr>
                                      <p:to>
                                        <p:strVal val="visible"/>
                                      </p:to>
                                    </p:set>
                                    <p:animEffect transition="in" filter="wipe(left)">
                                      <p:cBhvr>
                                        <p:cTn id="22" dur="1000"/>
                                        <p:tgtEl>
                                          <p:spTgt spid="16">
                                            <p:txEl>
                                              <p:pRg st="0" end="0"/>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16">
                                            <p:txEl>
                                              <p:pRg st="1" end="1"/>
                                            </p:txEl>
                                          </p:spTgt>
                                        </p:tgtEl>
                                        <p:attrNameLst>
                                          <p:attrName>style.visibility</p:attrName>
                                        </p:attrNameLst>
                                      </p:cBhvr>
                                      <p:to>
                                        <p:strVal val="visible"/>
                                      </p:to>
                                    </p:set>
                                    <p:animEffect transition="in" filter="wipe(left)">
                                      <p:cBhvr>
                                        <p:cTn id="27" dur="1000"/>
                                        <p:tgtEl>
                                          <p:spTgt spid="16">
                                            <p:txEl>
                                              <p:pRg st="1" end="1"/>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3">
                                            <p:txEl>
                                              <p:pRg st="0" end="0"/>
                                            </p:txEl>
                                          </p:spTgt>
                                        </p:tgtEl>
                                        <p:attrNameLst>
                                          <p:attrName>style.visibility</p:attrName>
                                        </p:attrNameLst>
                                      </p:cBhvr>
                                      <p:to>
                                        <p:strVal val="visible"/>
                                      </p:to>
                                    </p:set>
                                    <p:animEffect transition="in" filter="wipe(left)">
                                      <p:cBhvr>
                                        <p:cTn id="32" dur="1000"/>
                                        <p:tgtEl>
                                          <p:spTgt spid="3">
                                            <p:txEl>
                                              <p:pRg st="0" end="0"/>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3">
                                            <p:txEl>
                                              <p:pRg st="2" end="2"/>
                                            </p:txEl>
                                          </p:spTgt>
                                        </p:tgtEl>
                                        <p:attrNameLst>
                                          <p:attrName>style.visibility</p:attrName>
                                        </p:attrNameLst>
                                      </p:cBhvr>
                                      <p:to>
                                        <p:strVal val="visible"/>
                                      </p:to>
                                    </p:set>
                                    <p:animEffect transition="in" filter="wipe(left)">
                                      <p:cBhvr>
                                        <p:cTn id="37" dur="1500"/>
                                        <p:tgtEl>
                                          <p:spTgt spid="3">
                                            <p:txEl>
                                              <p:pRg st="2" end="2"/>
                                            </p:txEl>
                                          </p:spTgt>
                                        </p:tgtEl>
                                      </p:cBhvr>
                                    </p:animEffect>
                                  </p:childTnLst>
                                </p:cTn>
                              </p:par>
                            </p:childTnLst>
                          </p:cTn>
                        </p:par>
                      </p:childTnLst>
                    </p:cTn>
                  </p:par>
                  <p:par>
                    <p:cTn id="38" fill="hold">
                      <p:stCondLst>
                        <p:cond delay="indefinite"/>
                      </p:stCondLst>
                      <p:childTnLst>
                        <p:par>
                          <p:cTn id="39" fill="hold">
                            <p:stCondLst>
                              <p:cond delay="0"/>
                            </p:stCondLst>
                            <p:childTnLst>
                              <p:par>
                                <p:cTn id="40" presetID="22" presetClass="entr" presetSubtype="8" fill="hold" grpId="0" nodeType="clickEffect">
                                  <p:stCondLst>
                                    <p:cond delay="0"/>
                                  </p:stCondLst>
                                  <p:childTnLst>
                                    <p:set>
                                      <p:cBhvr>
                                        <p:cTn id="41" dur="1" fill="hold">
                                          <p:stCondLst>
                                            <p:cond delay="0"/>
                                          </p:stCondLst>
                                        </p:cTn>
                                        <p:tgtEl>
                                          <p:spTgt spid="3">
                                            <p:txEl>
                                              <p:pRg st="3" end="3"/>
                                            </p:txEl>
                                          </p:spTgt>
                                        </p:tgtEl>
                                        <p:attrNameLst>
                                          <p:attrName>style.visibility</p:attrName>
                                        </p:attrNameLst>
                                      </p:cBhvr>
                                      <p:to>
                                        <p:strVal val="visible"/>
                                      </p:to>
                                    </p:set>
                                    <p:animEffect transition="in" filter="wipe(left)">
                                      <p:cBhvr>
                                        <p:cTn id="42" dur="1750"/>
                                        <p:tgtEl>
                                          <p:spTgt spid="3">
                                            <p:txEl>
                                              <p:pRg st="3" end="3"/>
                                            </p:txEl>
                                          </p:spTgt>
                                        </p:tgtEl>
                                      </p:cBhvr>
                                    </p:animEffect>
                                  </p:childTnLst>
                                </p:cTn>
                              </p:par>
                            </p:childTnLst>
                          </p:cTn>
                        </p:par>
                      </p:childTnLst>
                    </p:cTn>
                  </p:par>
                  <p:par>
                    <p:cTn id="43" fill="hold">
                      <p:stCondLst>
                        <p:cond delay="indefinite"/>
                      </p:stCondLst>
                      <p:childTnLst>
                        <p:par>
                          <p:cTn id="44" fill="hold">
                            <p:stCondLst>
                              <p:cond delay="0"/>
                            </p:stCondLst>
                            <p:childTnLst>
                              <p:par>
                                <p:cTn id="45" presetID="22" presetClass="entr" presetSubtype="8" fill="hold" grpId="0" nodeType="clickEffect">
                                  <p:stCondLst>
                                    <p:cond delay="0"/>
                                  </p:stCondLst>
                                  <p:childTnLst>
                                    <p:set>
                                      <p:cBhvr>
                                        <p:cTn id="46" dur="1" fill="hold">
                                          <p:stCondLst>
                                            <p:cond delay="0"/>
                                          </p:stCondLst>
                                        </p:cTn>
                                        <p:tgtEl>
                                          <p:spTgt spid="3">
                                            <p:txEl>
                                              <p:pRg st="4" end="4"/>
                                            </p:txEl>
                                          </p:spTgt>
                                        </p:tgtEl>
                                        <p:attrNameLst>
                                          <p:attrName>style.visibility</p:attrName>
                                        </p:attrNameLst>
                                      </p:cBhvr>
                                      <p:to>
                                        <p:strVal val="visible"/>
                                      </p:to>
                                    </p:set>
                                    <p:animEffect transition="in" filter="wipe(left)">
                                      <p:cBhvr>
                                        <p:cTn id="47" dur="2000"/>
                                        <p:tgtEl>
                                          <p:spTgt spid="3">
                                            <p:txEl>
                                              <p:pRg st="4" end="4"/>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build="p"/>
      <p:bldP spid="8" grpId="0" build="p"/>
      <p:bldP spid="14" grpId="0" build="p"/>
      <p:bldP spid="16" grpId="0" build="p"/>
      <p:bldP spid="3" grpId="0" uiExpand="1" build="p"/>
    </p:bldLst>
  </p:timing>
</p:sld>
</file>

<file path=ppt/slides/slide165.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5" name="Title 4">
            <a:extLst>
              <a:ext uri="{FF2B5EF4-FFF2-40B4-BE49-F238E27FC236}">
                <a16:creationId xmlns:a16="http://schemas.microsoft.com/office/drawing/2014/main" id="{362EC34A-2A90-40D7-8C39-37217612E64D}"/>
              </a:ext>
            </a:extLst>
          </p:cNvPr>
          <p:cNvSpPr>
            <a:spLocks noGrp="1"/>
          </p:cNvSpPr>
          <p:nvPr>
            <p:ph type="title"/>
          </p:nvPr>
        </p:nvSpPr>
        <p:spPr/>
        <p:txBody>
          <a:bodyPr/>
          <a:lstStyle/>
          <a:p>
            <a:r>
              <a:rPr lang="en-GB" dirty="0"/>
              <a:t>Requirements</a:t>
            </a:r>
          </a:p>
        </p:txBody>
      </p:sp>
      <p:sp>
        <p:nvSpPr>
          <p:cNvPr id="6" name="Text Placeholder 5">
            <a:extLst>
              <a:ext uri="{FF2B5EF4-FFF2-40B4-BE49-F238E27FC236}">
                <a16:creationId xmlns:a16="http://schemas.microsoft.com/office/drawing/2014/main" id="{980D2D71-F529-4649-9356-81FC175149AE}"/>
              </a:ext>
            </a:extLst>
          </p:cNvPr>
          <p:cNvSpPr>
            <a:spLocks noGrp="1"/>
          </p:cNvSpPr>
          <p:nvPr>
            <p:ph type="body" idx="1"/>
          </p:nvPr>
        </p:nvSpPr>
        <p:spPr/>
        <p:txBody>
          <a:bodyPr>
            <a:normAutofit/>
          </a:bodyPr>
          <a:lstStyle/>
          <a:p>
            <a:r>
              <a:rPr lang="en-GB" sz="3200" dirty="0"/>
              <a:t>                   Requirements	</a:t>
            </a:r>
          </a:p>
        </p:txBody>
      </p:sp>
      <p:sp>
        <p:nvSpPr>
          <p:cNvPr id="8" name="Text Placeholder 7">
            <a:extLst>
              <a:ext uri="{FF2B5EF4-FFF2-40B4-BE49-F238E27FC236}">
                <a16:creationId xmlns:a16="http://schemas.microsoft.com/office/drawing/2014/main" id="{21EA3E42-8994-40FF-8791-2942875985C5}"/>
              </a:ext>
            </a:extLst>
          </p:cNvPr>
          <p:cNvSpPr>
            <a:spLocks noGrp="1"/>
          </p:cNvSpPr>
          <p:nvPr>
            <p:ph type="body" sz="quarter" idx="3"/>
          </p:nvPr>
        </p:nvSpPr>
        <p:spPr/>
        <p:txBody>
          <a:bodyPr>
            <a:normAutofit/>
          </a:bodyPr>
          <a:lstStyle/>
          <a:p>
            <a:r>
              <a:rPr lang="en-GB" sz="3200" b="1" i="0" dirty="0">
                <a:solidFill>
                  <a:srgbClr val="231F20"/>
                </a:solidFill>
                <a:effectLst/>
                <a:latin typeface="ReithSans"/>
              </a:rPr>
              <a:t>                       Requirements</a:t>
            </a:r>
          </a:p>
        </p:txBody>
      </p:sp>
      <p:sp>
        <p:nvSpPr>
          <p:cNvPr id="14" name="Content Placeholder 13">
            <a:extLst>
              <a:ext uri="{FF2B5EF4-FFF2-40B4-BE49-F238E27FC236}">
                <a16:creationId xmlns:a16="http://schemas.microsoft.com/office/drawing/2014/main" id="{E05973AC-DAFB-40B7-9EB6-558188914A8C}"/>
              </a:ext>
            </a:extLst>
          </p:cNvPr>
          <p:cNvSpPr>
            <a:spLocks noGrp="1"/>
          </p:cNvSpPr>
          <p:nvPr>
            <p:ph sz="half" idx="2"/>
          </p:nvPr>
        </p:nvSpPr>
        <p:spPr/>
        <p:txBody>
          <a:bodyPr/>
          <a:lstStyle/>
          <a:p>
            <a:r>
              <a:rPr lang="en-GB" dirty="0"/>
              <a:t>The            that the users of the database must be able to do</a:t>
            </a:r>
          </a:p>
        </p:txBody>
      </p:sp>
      <p:sp>
        <p:nvSpPr>
          <p:cNvPr id="16" name="Content Placeholder 15">
            <a:extLst>
              <a:ext uri="{FF2B5EF4-FFF2-40B4-BE49-F238E27FC236}">
                <a16:creationId xmlns:a16="http://schemas.microsoft.com/office/drawing/2014/main" id="{330D2466-F170-40B9-B023-9A560AA62506}"/>
              </a:ext>
            </a:extLst>
          </p:cNvPr>
          <p:cNvSpPr>
            <a:spLocks noGrp="1"/>
          </p:cNvSpPr>
          <p:nvPr>
            <p:ph sz="quarter" idx="4"/>
          </p:nvPr>
        </p:nvSpPr>
        <p:spPr/>
        <p:txBody>
          <a:bodyPr/>
          <a:lstStyle/>
          <a:p>
            <a:r>
              <a:rPr lang="en-GB" dirty="0"/>
              <a:t>The                           that the database will need to hold</a:t>
            </a:r>
          </a:p>
          <a:p>
            <a:r>
              <a:rPr lang="en-GB" dirty="0"/>
              <a:t>The SQL                   that are required to produce the results</a:t>
            </a:r>
          </a:p>
        </p:txBody>
      </p:sp>
      <p:sp>
        <p:nvSpPr>
          <p:cNvPr id="3" name="TextBox 2">
            <a:extLst>
              <a:ext uri="{FF2B5EF4-FFF2-40B4-BE49-F238E27FC236}">
                <a16:creationId xmlns:a16="http://schemas.microsoft.com/office/drawing/2014/main" id="{D15345B6-E9DB-78B1-1F2F-94E853898FBE}"/>
              </a:ext>
            </a:extLst>
          </p:cNvPr>
          <p:cNvSpPr txBox="1"/>
          <p:nvPr/>
        </p:nvSpPr>
        <p:spPr>
          <a:xfrm>
            <a:off x="1798744" y="4461550"/>
            <a:ext cx="9193106" cy="2031325"/>
          </a:xfrm>
          <a:prstGeom prst="rect">
            <a:avLst/>
          </a:prstGeom>
          <a:noFill/>
        </p:spPr>
        <p:txBody>
          <a:bodyPr wrap="square">
            <a:spAutoFit/>
          </a:bodyPr>
          <a:lstStyle/>
          <a:p>
            <a:r>
              <a:rPr lang="en-GB" sz="2800" b="1" dirty="0">
                <a:solidFill>
                  <a:srgbClr val="7030A0"/>
                </a:solidFill>
              </a:rPr>
              <a:t>Requirements help</a:t>
            </a:r>
            <a:r>
              <a:rPr lang="en-GB" sz="2800" dirty="0"/>
              <a:t>:  </a:t>
            </a:r>
          </a:p>
          <a:p>
            <a:endParaRPr lang="en-GB" sz="1400" dirty="0"/>
          </a:p>
          <a:p>
            <a:pPr marL="285750" indent="-285750">
              <a:buFont typeface="Arial" panose="020B0604020202020204" pitchFamily="34" charset="0"/>
              <a:buChar char="•"/>
            </a:pPr>
            <a:r>
              <a:rPr lang="en-GB" sz="2800" dirty="0"/>
              <a:t>              the design of the database </a:t>
            </a:r>
          </a:p>
          <a:p>
            <a:pPr marL="285750" indent="-285750">
              <a:buFont typeface="Arial" panose="020B0604020202020204" pitchFamily="34" charset="0"/>
              <a:buChar char="•"/>
            </a:pPr>
            <a:r>
              <a:rPr lang="en-GB" sz="2800" dirty="0"/>
              <a:t>                 the features to be implemented</a:t>
            </a:r>
          </a:p>
          <a:p>
            <a:pPr marL="285750" indent="-285750">
              <a:buFont typeface="Arial" panose="020B0604020202020204" pitchFamily="34" charset="0"/>
              <a:buChar char="•"/>
            </a:pPr>
            <a:r>
              <a:rPr lang="en-GB" sz="2800" dirty="0"/>
              <a:t>                   if the system is fit for purpose when completed </a:t>
            </a:r>
          </a:p>
        </p:txBody>
      </p:sp>
    </p:spTree>
    <p:extLst>
      <p:ext uri="{BB962C8B-B14F-4D97-AF65-F5344CB8AC3E}">
        <p14:creationId xmlns:p14="http://schemas.microsoft.com/office/powerpoint/2010/main" val="583759258"/>
      </p:ext>
    </p:extLst>
  </p:cSld>
  <p:clrMapOvr>
    <a:masterClrMapping/>
  </p:clrMapOvr>
</p:sld>
</file>

<file path=ppt/slides/slide1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B3977BA9-5052-AEBB-63AE-9572018FCAC5}"/>
              </a:ext>
            </a:extLst>
          </p:cNvPr>
          <p:cNvSpPr>
            <a:spLocks noGrp="1"/>
          </p:cNvSpPr>
          <p:nvPr>
            <p:ph type="title"/>
          </p:nvPr>
        </p:nvSpPr>
        <p:spPr/>
        <p:txBody>
          <a:bodyPr/>
          <a:lstStyle/>
          <a:p>
            <a:r>
              <a:rPr lang="en-GB" dirty="0"/>
              <a:t>End-User Requirements</a:t>
            </a:r>
          </a:p>
        </p:txBody>
      </p:sp>
      <p:sp>
        <p:nvSpPr>
          <p:cNvPr id="5" name="Rectangle: Rounded Corners 4">
            <a:extLst>
              <a:ext uri="{FF2B5EF4-FFF2-40B4-BE49-F238E27FC236}">
                <a16:creationId xmlns:a16="http://schemas.microsoft.com/office/drawing/2014/main" id="{14D164DF-E92D-CBB7-F339-F11144806BD0}"/>
              </a:ext>
            </a:extLst>
          </p:cNvPr>
          <p:cNvSpPr/>
          <p:nvPr/>
        </p:nvSpPr>
        <p:spPr>
          <a:xfrm>
            <a:off x="349956" y="3442352"/>
            <a:ext cx="2988000" cy="1440000"/>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3200" dirty="0"/>
              <a:t>The user must be able to</a:t>
            </a:r>
          </a:p>
        </p:txBody>
      </p:sp>
      <p:sp>
        <p:nvSpPr>
          <p:cNvPr id="6" name="Rectangle: Rounded Corners 5">
            <a:extLst>
              <a:ext uri="{FF2B5EF4-FFF2-40B4-BE49-F238E27FC236}">
                <a16:creationId xmlns:a16="http://schemas.microsoft.com/office/drawing/2014/main" id="{AAD69D90-28B7-7A05-046C-3A5212110F16}"/>
              </a:ext>
            </a:extLst>
          </p:cNvPr>
          <p:cNvSpPr/>
          <p:nvPr/>
        </p:nvSpPr>
        <p:spPr>
          <a:xfrm>
            <a:off x="8854044" y="3442352"/>
            <a:ext cx="2988000" cy="1440000"/>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3200" dirty="0"/>
              <a:t>specific details from context</a:t>
            </a:r>
          </a:p>
        </p:txBody>
      </p:sp>
      <p:grpSp>
        <p:nvGrpSpPr>
          <p:cNvPr id="39" name="Group 38">
            <a:extLst>
              <a:ext uri="{FF2B5EF4-FFF2-40B4-BE49-F238E27FC236}">
                <a16:creationId xmlns:a16="http://schemas.microsoft.com/office/drawing/2014/main" id="{99B7C9B5-1940-69D9-ED01-2BE6CFD0E7DF}"/>
              </a:ext>
            </a:extLst>
          </p:cNvPr>
          <p:cNvGrpSpPr/>
          <p:nvPr/>
        </p:nvGrpSpPr>
        <p:grpSpPr>
          <a:xfrm>
            <a:off x="3337956" y="2290900"/>
            <a:ext cx="5516088" cy="1871452"/>
            <a:chOff x="3337956" y="2290900"/>
            <a:chExt cx="5516088" cy="1871452"/>
          </a:xfrm>
        </p:grpSpPr>
        <p:sp>
          <p:nvSpPr>
            <p:cNvPr id="10" name="Rectangle: Rounded Corners 9">
              <a:extLst>
                <a:ext uri="{FF2B5EF4-FFF2-40B4-BE49-F238E27FC236}">
                  <a16:creationId xmlns:a16="http://schemas.microsoft.com/office/drawing/2014/main" id="{BFAC4B34-BF94-3A70-1101-76BA02F53E6D}"/>
                </a:ext>
              </a:extLst>
            </p:cNvPr>
            <p:cNvSpPr/>
            <p:nvPr/>
          </p:nvSpPr>
          <p:spPr>
            <a:xfrm>
              <a:off x="5286000" y="2290900"/>
              <a:ext cx="1620000" cy="576000"/>
            </a:xfrm>
            <a:prstGeom prst="roundRect">
              <a:avLst/>
            </a:prstGeom>
            <a:ln>
              <a:tailEnd w="lg"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3200" dirty="0"/>
                <a:t>display</a:t>
              </a:r>
            </a:p>
          </p:txBody>
        </p:sp>
        <p:cxnSp>
          <p:nvCxnSpPr>
            <p:cNvPr id="13" name="Straight Arrow Connector 12">
              <a:extLst>
                <a:ext uri="{FF2B5EF4-FFF2-40B4-BE49-F238E27FC236}">
                  <a16:creationId xmlns:a16="http://schemas.microsoft.com/office/drawing/2014/main" id="{706068DC-3EE2-FCC1-B884-AD1137DF4DA6}"/>
                </a:ext>
              </a:extLst>
            </p:cNvPr>
            <p:cNvCxnSpPr>
              <a:stCxn id="5" idx="3"/>
              <a:endCxn id="10" idx="1"/>
            </p:cNvCxnSpPr>
            <p:nvPr/>
          </p:nvCxnSpPr>
          <p:spPr>
            <a:xfrm flipV="1">
              <a:off x="3337956" y="2578900"/>
              <a:ext cx="1948044" cy="1583452"/>
            </a:xfrm>
            <a:prstGeom prst="curvedConnector3">
              <a:avLst>
                <a:gd name="adj1" fmla="val 31122"/>
              </a:avLst>
            </a:prstGeom>
            <a:ln w="38100">
              <a:solidFill>
                <a:srgbClr val="FF0000"/>
              </a:solidFill>
              <a:tailEnd type="triangle" w="lg" len="lg"/>
            </a:ln>
          </p:spPr>
          <p:style>
            <a:lnRef idx="1">
              <a:schemeClr val="accent1"/>
            </a:lnRef>
            <a:fillRef idx="0">
              <a:schemeClr val="accent1"/>
            </a:fillRef>
            <a:effectRef idx="0">
              <a:schemeClr val="accent1"/>
            </a:effectRef>
            <a:fontRef idx="minor">
              <a:schemeClr val="tx1"/>
            </a:fontRef>
          </p:style>
        </p:cxnSp>
        <p:cxnSp>
          <p:nvCxnSpPr>
            <p:cNvPr id="22" name="Straight Arrow Connector 21">
              <a:extLst>
                <a:ext uri="{FF2B5EF4-FFF2-40B4-BE49-F238E27FC236}">
                  <a16:creationId xmlns:a16="http://schemas.microsoft.com/office/drawing/2014/main" id="{20D5A7B2-B7AD-7D36-8EB1-D7BDBEFC1604}"/>
                </a:ext>
              </a:extLst>
            </p:cNvPr>
            <p:cNvCxnSpPr>
              <a:stCxn id="10" idx="3"/>
              <a:endCxn id="6" idx="1"/>
            </p:cNvCxnSpPr>
            <p:nvPr/>
          </p:nvCxnSpPr>
          <p:spPr>
            <a:xfrm>
              <a:off x="6906000" y="2578900"/>
              <a:ext cx="1948044" cy="1583452"/>
            </a:xfrm>
            <a:prstGeom prst="curvedConnector3">
              <a:avLst>
                <a:gd name="adj1" fmla="val 69069"/>
              </a:avLst>
            </a:prstGeom>
            <a:ln w="38100">
              <a:solidFill>
                <a:srgbClr val="FF0000"/>
              </a:solidFill>
              <a:tailEnd type="triangle" w="lg" len="lg"/>
            </a:ln>
          </p:spPr>
          <p:style>
            <a:lnRef idx="1">
              <a:schemeClr val="accent1"/>
            </a:lnRef>
            <a:fillRef idx="0">
              <a:schemeClr val="accent1"/>
            </a:fillRef>
            <a:effectRef idx="0">
              <a:schemeClr val="accent1"/>
            </a:effectRef>
            <a:fontRef idx="minor">
              <a:schemeClr val="tx1"/>
            </a:fontRef>
          </p:style>
        </p:cxnSp>
      </p:grpSp>
      <p:grpSp>
        <p:nvGrpSpPr>
          <p:cNvPr id="40" name="Group 39">
            <a:extLst>
              <a:ext uri="{FF2B5EF4-FFF2-40B4-BE49-F238E27FC236}">
                <a16:creationId xmlns:a16="http://schemas.microsoft.com/office/drawing/2014/main" id="{DE04E227-EC5E-5B11-8E1B-4FDBA3493BC6}"/>
              </a:ext>
            </a:extLst>
          </p:cNvPr>
          <p:cNvGrpSpPr/>
          <p:nvPr/>
        </p:nvGrpSpPr>
        <p:grpSpPr>
          <a:xfrm>
            <a:off x="3337956" y="3301255"/>
            <a:ext cx="5516088" cy="861097"/>
            <a:chOff x="3337956" y="3301255"/>
            <a:chExt cx="5516088" cy="861097"/>
          </a:xfrm>
        </p:grpSpPr>
        <p:sp>
          <p:nvSpPr>
            <p:cNvPr id="9" name="Rectangle: Rounded Corners 8">
              <a:extLst>
                <a:ext uri="{FF2B5EF4-FFF2-40B4-BE49-F238E27FC236}">
                  <a16:creationId xmlns:a16="http://schemas.microsoft.com/office/drawing/2014/main" id="{06EF0D47-7B57-60F1-3B60-0A56D6754DAD}"/>
                </a:ext>
              </a:extLst>
            </p:cNvPr>
            <p:cNvSpPr/>
            <p:nvPr/>
          </p:nvSpPr>
          <p:spPr>
            <a:xfrm>
              <a:off x="5286000" y="3301255"/>
              <a:ext cx="1620000" cy="576000"/>
            </a:xfrm>
            <a:prstGeom prst="roundRect">
              <a:avLst/>
            </a:prstGeom>
            <a:ln>
              <a:tailEnd w="lg"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3200" dirty="0"/>
                <a:t>add</a:t>
              </a:r>
            </a:p>
          </p:txBody>
        </p:sp>
        <p:cxnSp>
          <p:nvCxnSpPr>
            <p:cNvPr id="16" name="Straight Arrow Connector 15">
              <a:extLst>
                <a:ext uri="{FF2B5EF4-FFF2-40B4-BE49-F238E27FC236}">
                  <a16:creationId xmlns:a16="http://schemas.microsoft.com/office/drawing/2014/main" id="{A2C04D05-B888-B28C-3B89-A1C1A5DEA472}"/>
                </a:ext>
              </a:extLst>
            </p:cNvPr>
            <p:cNvCxnSpPr>
              <a:cxnSpLocks/>
              <a:stCxn id="5" idx="3"/>
              <a:endCxn id="9" idx="1"/>
            </p:cNvCxnSpPr>
            <p:nvPr/>
          </p:nvCxnSpPr>
          <p:spPr>
            <a:xfrm flipV="1">
              <a:off x="3337956" y="3589255"/>
              <a:ext cx="1948044" cy="573097"/>
            </a:xfrm>
            <a:prstGeom prst="curvedConnector3">
              <a:avLst>
                <a:gd name="adj1" fmla="val 31611"/>
              </a:avLst>
            </a:prstGeom>
            <a:ln w="38100">
              <a:solidFill>
                <a:srgbClr val="FFC000"/>
              </a:solidFill>
              <a:tailEnd type="triangle" w="lg" len="lg"/>
            </a:ln>
          </p:spPr>
          <p:style>
            <a:lnRef idx="1">
              <a:schemeClr val="accent1"/>
            </a:lnRef>
            <a:fillRef idx="0">
              <a:schemeClr val="accent1"/>
            </a:fillRef>
            <a:effectRef idx="0">
              <a:schemeClr val="accent1"/>
            </a:effectRef>
            <a:fontRef idx="minor">
              <a:schemeClr val="tx1"/>
            </a:fontRef>
          </p:style>
        </p:cxnSp>
        <p:cxnSp>
          <p:nvCxnSpPr>
            <p:cNvPr id="24" name="Straight Arrow Connector 23">
              <a:extLst>
                <a:ext uri="{FF2B5EF4-FFF2-40B4-BE49-F238E27FC236}">
                  <a16:creationId xmlns:a16="http://schemas.microsoft.com/office/drawing/2014/main" id="{9348DE9A-1D2D-72E3-162F-0D7068291FDF}"/>
                </a:ext>
              </a:extLst>
            </p:cNvPr>
            <p:cNvCxnSpPr>
              <a:stCxn id="9" idx="3"/>
              <a:endCxn id="6" idx="1"/>
            </p:cNvCxnSpPr>
            <p:nvPr/>
          </p:nvCxnSpPr>
          <p:spPr>
            <a:xfrm>
              <a:off x="6906000" y="3589255"/>
              <a:ext cx="1948044" cy="573097"/>
            </a:xfrm>
            <a:prstGeom prst="curvedConnector3">
              <a:avLst>
                <a:gd name="adj1" fmla="val 69558"/>
              </a:avLst>
            </a:prstGeom>
            <a:ln w="38100">
              <a:solidFill>
                <a:srgbClr val="FFC000"/>
              </a:solidFill>
              <a:tailEnd type="triangle" w="lg" len="lg"/>
            </a:ln>
          </p:spPr>
          <p:style>
            <a:lnRef idx="1">
              <a:schemeClr val="accent1"/>
            </a:lnRef>
            <a:fillRef idx="0">
              <a:schemeClr val="accent1"/>
            </a:fillRef>
            <a:effectRef idx="0">
              <a:schemeClr val="accent1"/>
            </a:effectRef>
            <a:fontRef idx="minor">
              <a:schemeClr val="tx1"/>
            </a:fontRef>
          </p:style>
        </p:cxnSp>
      </p:grpSp>
      <p:grpSp>
        <p:nvGrpSpPr>
          <p:cNvPr id="41" name="Group 40">
            <a:extLst>
              <a:ext uri="{FF2B5EF4-FFF2-40B4-BE49-F238E27FC236}">
                <a16:creationId xmlns:a16="http://schemas.microsoft.com/office/drawing/2014/main" id="{D0D29CB2-063F-BC3D-5B79-F592688F21ED}"/>
              </a:ext>
            </a:extLst>
          </p:cNvPr>
          <p:cNvGrpSpPr/>
          <p:nvPr/>
        </p:nvGrpSpPr>
        <p:grpSpPr>
          <a:xfrm>
            <a:off x="3337956" y="4162352"/>
            <a:ext cx="5516088" cy="725258"/>
            <a:chOff x="3337956" y="4162352"/>
            <a:chExt cx="5516088" cy="725258"/>
          </a:xfrm>
        </p:grpSpPr>
        <p:sp>
          <p:nvSpPr>
            <p:cNvPr id="8" name="Rectangle: Rounded Corners 7">
              <a:extLst>
                <a:ext uri="{FF2B5EF4-FFF2-40B4-BE49-F238E27FC236}">
                  <a16:creationId xmlns:a16="http://schemas.microsoft.com/office/drawing/2014/main" id="{681D8EBA-C9CF-E11E-8335-B5E1C0BD4897}"/>
                </a:ext>
              </a:extLst>
            </p:cNvPr>
            <p:cNvSpPr/>
            <p:nvPr/>
          </p:nvSpPr>
          <p:spPr>
            <a:xfrm>
              <a:off x="5286000" y="4311610"/>
              <a:ext cx="1620000" cy="576000"/>
            </a:xfrm>
            <a:prstGeom prst="roundRect">
              <a:avLst/>
            </a:prstGeom>
            <a:ln>
              <a:tailEnd w="lg"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3200" dirty="0"/>
                <a:t>edit</a:t>
              </a:r>
            </a:p>
          </p:txBody>
        </p:sp>
        <p:cxnSp>
          <p:nvCxnSpPr>
            <p:cNvPr id="18" name="Straight Arrow Connector 17">
              <a:extLst>
                <a:ext uri="{FF2B5EF4-FFF2-40B4-BE49-F238E27FC236}">
                  <a16:creationId xmlns:a16="http://schemas.microsoft.com/office/drawing/2014/main" id="{4F8C6197-C09C-3507-D9E1-77BDF13D49D2}"/>
                </a:ext>
              </a:extLst>
            </p:cNvPr>
            <p:cNvCxnSpPr>
              <a:stCxn id="5" idx="3"/>
              <a:endCxn id="8" idx="1"/>
            </p:cNvCxnSpPr>
            <p:nvPr/>
          </p:nvCxnSpPr>
          <p:spPr>
            <a:xfrm>
              <a:off x="3337956" y="4162352"/>
              <a:ext cx="1948044" cy="437258"/>
            </a:xfrm>
            <a:prstGeom prst="curvedConnector3">
              <a:avLst>
                <a:gd name="adj1" fmla="val 30959"/>
              </a:avLst>
            </a:prstGeom>
            <a:ln w="38100">
              <a:solidFill>
                <a:srgbClr val="FFFF00"/>
              </a:solidFill>
              <a:tailEnd type="triangle" w="lg" len="lg"/>
            </a:ln>
          </p:spPr>
          <p:style>
            <a:lnRef idx="1">
              <a:schemeClr val="accent1"/>
            </a:lnRef>
            <a:fillRef idx="0">
              <a:schemeClr val="accent1"/>
            </a:fillRef>
            <a:effectRef idx="0">
              <a:schemeClr val="accent1"/>
            </a:effectRef>
            <a:fontRef idx="minor">
              <a:schemeClr val="tx1"/>
            </a:fontRef>
          </p:style>
        </p:cxnSp>
        <p:cxnSp>
          <p:nvCxnSpPr>
            <p:cNvPr id="26" name="Straight Arrow Connector 25">
              <a:extLst>
                <a:ext uri="{FF2B5EF4-FFF2-40B4-BE49-F238E27FC236}">
                  <a16:creationId xmlns:a16="http://schemas.microsoft.com/office/drawing/2014/main" id="{190ABB77-9281-89C2-0741-89A308B68B9D}"/>
                </a:ext>
              </a:extLst>
            </p:cNvPr>
            <p:cNvCxnSpPr>
              <a:stCxn id="8" idx="3"/>
              <a:endCxn id="6" idx="1"/>
            </p:cNvCxnSpPr>
            <p:nvPr/>
          </p:nvCxnSpPr>
          <p:spPr>
            <a:xfrm flipV="1">
              <a:off x="6906000" y="4162352"/>
              <a:ext cx="1948044" cy="437258"/>
            </a:xfrm>
            <a:prstGeom prst="curvedConnector3">
              <a:avLst>
                <a:gd name="adj1" fmla="val 69558"/>
              </a:avLst>
            </a:prstGeom>
            <a:ln w="38100">
              <a:solidFill>
                <a:srgbClr val="FFFF00"/>
              </a:solidFill>
              <a:tailEnd type="triangle" w="lg" len="lg"/>
            </a:ln>
          </p:spPr>
          <p:style>
            <a:lnRef idx="1">
              <a:schemeClr val="accent1"/>
            </a:lnRef>
            <a:fillRef idx="0">
              <a:schemeClr val="accent1"/>
            </a:fillRef>
            <a:effectRef idx="0">
              <a:schemeClr val="accent1"/>
            </a:effectRef>
            <a:fontRef idx="minor">
              <a:schemeClr val="tx1"/>
            </a:fontRef>
          </p:style>
        </p:cxnSp>
      </p:grpSp>
      <p:grpSp>
        <p:nvGrpSpPr>
          <p:cNvPr id="42" name="Group 41">
            <a:extLst>
              <a:ext uri="{FF2B5EF4-FFF2-40B4-BE49-F238E27FC236}">
                <a16:creationId xmlns:a16="http://schemas.microsoft.com/office/drawing/2014/main" id="{3E3760D5-EA89-8E10-B7FD-8370049545DD}"/>
              </a:ext>
            </a:extLst>
          </p:cNvPr>
          <p:cNvGrpSpPr/>
          <p:nvPr/>
        </p:nvGrpSpPr>
        <p:grpSpPr>
          <a:xfrm>
            <a:off x="3337956" y="4162352"/>
            <a:ext cx="5516088" cy="1735613"/>
            <a:chOff x="3337956" y="4162352"/>
            <a:chExt cx="5516088" cy="1735613"/>
          </a:xfrm>
        </p:grpSpPr>
        <p:sp>
          <p:nvSpPr>
            <p:cNvPr id="7" name="Rectangle: Rounded Corners 6">
              <a:extLst>
                <a:ext uri="{FF2B5EF4-FFF2-40B4-BE49-F238E27FC236}">
                  <a16:creationId xmlns:a16="http://schemas.microsoft.com/office/drawing/2014/main" id="{DDAC4BFC-3AC2-CDF6-6A70-54E3B698E160}"/>
                </a:ext>
              </a:extLst>
            </p:cNvPr>
            <p:cNvSpPr/>
            <p:nvPr/>
          </p:nvSpPr>
          <p:spPr>
            <a:xfrm>
              <a:off x="5286000" y="5321965"/>
              <a:ext cx="1620000" cy="576000"/>
            </a:xfrm>
            <a:prstGeom prst="roundRect">
              <a:avLst/>
            </a:prstGeom>
            <a:ln>
              <a:tailEnd w="lg"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3200" dirty="0"/>
                <a:t>remove</a:t>
              </a:r>
            </a:p>
          </p:txBody>
        </p:sp>
        <p:cxnSp>
          <p:nvCxnSpPr>
            <p:cNvPr id="20" name="Straight Arrow Connector 19">
              <a:extLst>
                <a:ext uri="{FF2B5EF4-FFF2-40B4-BE49-F238E27FC236}">
                  <a16:creationId xmlns:a16="http://schemas.microsoft.com/office/drawing/2014/main" id="{4F7D1DF8-E4A3-503E-0374-FCBF7ED62765}"/>
                </a:ext>
              </a:extLst>
            </p:cNvPr>
            <p:cNvCxnSpPr>
              <a:stCxn id="5" idx="3"/>
              <a:endCxn id="7" idx="1"/>
            </p:cNvCxnSpPr>
            <p:nvPr/>
          </p:nvCxnSpPr>
          <p:spPr>
            <a:xfrm>
              <a:off x="3337956" y="4162352"/>
              <a:ext cx="1948044" cy="1447613"/>
            </a:xfrm>
            <a:prstGeom prst="curvedConnector3">
              <a:avLst>
                <a:gd name="adj1" fmla="val 30644"/>
              </a:avLst>
            </a:prstGeom>
            <a:ln w="38100">
              <a:solidFill>
                <a:srgbClr val="00B050"/>
              </a:solidFill>
              <a:tailEnd type="triangle" w="lg" len="lg"/>
            </a:ln>
          </p:spPr>
          <p:style>
            <a:lnRef idx="1">
              <a:schemeClr val="accent1"/>
            </a:lnRef>
            <a:fillRef idx="0">
              <a:schemeClr val="accent1"/>
            </a:fillRef>
            <a:effectRef idx="0">
              <a:schemeClr val="accent1"/>
            </a:effectRef>
            <a:fontRef idx="minor">
              <a:schemeClr val="tx1"/>
            </a:fontRef>
          </p:style>
        </p:cxnSp>
        <p:cxnSp>
          <p:nvCxnSpPr>
            <p:cNvPr id="28" name="Straight Arrow Connector 27">
              <a:extLst>
                <a:ext uri="{FF2B5EF4-FFF2-40B4-BE49-F238E27FC236}">
                  <a16:creationId xmlns:a16="http://schemas.microsoft.com/office/drawing/2014/main" id="{A565C2C7-1437-CDF9-79D7-B4B948E7344B}"/>
                </a:ext>
              </a:extLst>
            </p:cNvPr>
            <p:cNvCxnSpPr>
              <a:stCxn id="7" idx="3"/>
              <a:endCxn id="6" idx="1"/>
            </p:cNvCxnSpPr>
            <p:nvPr/>
          </p:nvCxnSpPr>
          <p:spPr>
            <a:xfrm flipV="1">
              <a:off x="6906000" y="4162352"/>
              <a:ext cx="1948044" cy="1447613"/>
            </a:xfrm>
            <a:prstGeom prst="curvedConnector3">
              <a:avLst>
                <a:gd name="adj1" fmla="val 69069"/>
              </a:avLst>
            </a:prstGeom>
            <a:ln w="38100">
              <a:solidFill>
                <a:srgbClr val="00B050"/>
              </a:solidFill>
              <a:tailEnd type="triangle" w="lg" len="lg"/>
            </a:ln>
          </p:spPr>
          <p:style>
            <a:lnRef idx="1">
              <a:schemeClr val="accent1"/>
            </a:lnRef>
            <a:fillRef idx="0">
              <a:schemeClr val="accent1"/>
            </a:fillRef>
            <a:effectRef idx="0">
              <a:schemeClr val="accent1"/>
            </a:effectRef>
            <a:fontRef idx="minor">
              <a:schemeClr val="tx1"/>
            </a:fontRef>
          </p:style>
        </p:cxnSp>
      </p:grpSp>
      <p:sp>
        <p:nvSpPr>
          <p:cNvPr id="2" name="TextBox 1">
            <a:extLst>
              <a:ext uri="{FF2B5EF4-FFF2-40B4-BE49-F238E27FC236}">
                <a16:creationId xmlns:a16="http://schemas.microsoft.com/office/drawing/2014/main" id="{399ACD80-6E1D-EC8C-93E6-81538834C453}"/>
              </a:ext>
            </a:extLst>
          </p:cNvPr>
          <p:cNvSpPr txBox="1"/>
          <p:nvPr/>
        </p:nvSpPr>
        <p:spPr>
          <a:xfrm>
            <a:off x="4276023" y="6183062"/>
            <a:ext cx="3639954" cy="523220"/>
          </a:xfrm>
          <a:prstGeom prst="rect">
            <a:avLst/>
          </a:prstGeom>
          <a:noFill/>
        </p:spPr>
        <p:txBody>
          <a:bodyPr wrap="square">
            <a:spAutoFit/>
          </a:bodyPr>
          <a:lstStyle/>
          <a:p>
            <a:pPr algn="ctr"/>
            <a:r>
              <a:rPr lang="en-GB" sz="2800" dirty="0">
                <a:solidFill>
                  <a:srgbClr val="7030A0"/>
                </a:solidFill>
              </a:rPr>
              <a:t>Non-technical language</a:t>
            </a:r>
          </a:p>
        </p:txBody>
      </p:sp>
    </p:spTree>
    <p:extLst>
      <p:ext uri="{BB962C8B-B14F-4D97-AF65-F5344CB8AC3E}">
        <p14:creationId xmlns:p14="http://schemas.microsoft.com/office/powerpoint/2010/main" val="116418848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wipe(left)">
                                      <p:cBhvr>
                                        <p:cTn id="7" dur="1500"/>
                                        <p:tgtEl>
                                          <p:spTgt spid="5"/>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6"/>
                                        </p:tgtEl>
                                        <p:attrNameLst>
                                          <p:attrName>style.visibility</p:attrName>
                                        </p:attrNameLst>
                                      </p:cBhvr>
                                      <p:to>
                                        <p:strVal val="visible"/>
                                      </p:to>
                                    </p:set>
                                    <p:animEffect transition="in" filter="wipe(left)">
                                      <p:cBhvr>
                                        <p:cTn id="12" dur="1500"/>
                                        <p:tgtEl>
                                          <p:spTgt spid="6"/>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nodeType="clickEffect">
                                  <p:stCondLst>
                                    <p:cond delay="0"/>
                                  </p:stCondLst>
                                  <p:childTnLst>
                                    <p:set>
                                      <p:cBhvr>
                                        <p:cTn id="16" dur="1" fill="hold">
                                          <p:stCondLst>
                                            <p:cond delay="0"/>
                                          </p:stCondLst>
                                        </p:cTn>
                                        <p:tgtEl>
                                          <p:spTgt spid="39"/>
                                        </p:tgtEl>
                                        <p:attrNameLst>
                                          <p:attrName>style.visibility</p:attrName>
                                        </p:attrNameLst>
                                      </p:cBhvr>
                                      <p:to>
                                        <p:strVal val="visible"/>
                                      </p:to>
                                    </p:set>
                                    <p:animEffect transition="in" filter="wipe(left)">
                                      <p:cBhvr>
                                        <p:cTn id="17" dur="3000"/>
                                        <p:tgtEl>
                                          <p:spTgt spid="39"/>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nodeType="clickEffect">
                                  <p:stCondLst>
                                    <p:cond delay="0"/>
                                  </p:stCondLst>
                                  <p:childTnLst>
                                    <p:set>
                                      <p:cBhvr>
                                        <p:cTn id="21" dur="1" fill="hold">
                                          <p:stCondLst>
                                            <p:cond delay="0"/>
                                          </p:stCondLst>
                                        </p:cTn>
                                        <p:tgtEl>
                                          <p:spTgt spid="40"/>
                                        </p:tgtEl>
                                        <p:attrNameLst>
                                          <p:attrName>style.visibility</p:attrName>
                                        </p:attrNameLst>
                                      </p:cBhvr>
                                      <p:to>
                                        <p:strVal val="visible"/>
                                      </p:to>
                                    </p:set>
                                    <p:animEffect transition="in" filter="wipe(left)">
                                      <p:cBhvr>
                                        <p:cTn id="22" dur="3000"/>
                                        <p:tgtEl>
                                          <p:spTgt spid="40"/>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nodeType="clickEffect">
                                  <p:stCondLst>
                                    <p:cond delay="0"/>
                                  </p:stCondLst>
                                  <p:childTnLst>
                                    <p:set>
                                      <p:cBhvr>
                                        <p:cTn id="26" dur="1" fill="hold">
                                          <p:stCondLst>
                                            <p:cond delay="0"/>
                                          </p:stCondLst>
                                        </p:cTn>
                                        <p:tgtEl>
                                          <p:spTgt spid="41"/>
                                        </p:tgtEl>
                                        <p:attrNameLst>
                                          <p:attrName>style.visibility</p:attrName>
                                        </p:attrNameLst>
                                      </p:cBhvr>
                                      <p:to>
                                        <p:strVal val="visible"/>
                                      </p:to>
                                    </p:set>
                                    <p:animEffect transition="in" filter="wipe(left)">
                                      <p:cBhvr>
                                        <p:cTn id="27" dur="3000"/>
                                        <p:tgtEl>
                                          <p:spTgt spid="41"/>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nodeType="clickEffect">
                                  <p:stCondLst>
                                    <p:cond delay="0"/>
                                  </p:stCondLst>
                                  <p:childTnLst>
                                    <p:set>
                                      <p:cBhvr>
                                        <p:cTn id="31" dur="1" fill="hold">
                                          <p:stCondLst>
                                            <p:cond delay="0"/>
                                          </p:stCondLst>
                                        </p:cTn>
                                        <p:tgtEl>
                                          <p:spTgt spid="42"/>
                                        </p:tgtEl>
                                        <p:attrNameLst>
                                          <p:attrName>style.visibility</p:attrName>
                                        </p:attrNameLst>
                                      </p:cBhvr>
                                      <p:to>
                                        <p:strVal val="visible"/>
                                      </p:to>
                                    </p:set>
                                    <p:animEffect transition="in" filter="wipe(left)">
                                      <p:cBhvr>
                                        <p:cTn id="32" dur="3000"/>
                                        <p:tgtEl>
                                          <p:spTgt spid="42"/>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2"/>
                                        </p:tgtEl>
                                        <p:attrNameLst>
                                          <p:attrName>style.visibility</p:attrName>
                                        </p:attrNameLst>
                                      </p:cBhvr>
                                      <p:to>
                                        <p:strVal val="visible"/>
                                      </p:to>
                                    </p:set>
                                    <p:animEffect transition="in" filter="wipe(left)">
                                      <p:cBhvr>
                                        <p:cTn id="37" dur="15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2" grpId="0"/>
    </p:bldLst>
  </p:timing>
</p:sld>
</file>

<file path=ppt/slides/slide167.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B3977BA9-5052-AEBB-63AE-9572018FCAC5}"/>
              </a:ext>
            </a:extLst>
          </p:cNvPr>
          <p:cNvSpPr>
            <a:spLocks noGrp="1"/>
          </p:cNvSpPr>
          <p:nvPr>
            <p:ph type="title"/>
          </p:nvPr>
        </p:nvSpPr>
        <p:spPr/>
        <p:txBody>
          <a:bodyPr/>
          <a:lstStyle/>
          <a:p>
            <a:r>
              <a:rPr lang="en-GB" dirty="0"/>
              <a:t>End-User Requirements</a:t>
            </a:r>
          </a:p>
        </p:txBody>
      </p:sp>
      <p:sp>
        <p:nvSpPr>
          <p:cNvPr id="5" name="Rectangle: Rounded Corners 4">
            <a:extLst>
              <a:ext uri="{FF2B5EF4-FFF2-40B4-BE49-F238E27FC236}">
                <a16:creationId xmlns:a16="http://schemas.microsoft.com/office/drawing/2014/main" id="{14D164DF-E92D-CBB7-F339-F11144806BD0}"/>
              </a:ext>
            </a:extLst>
          </p:cNvPr>
          <p:cNvSpPr/>
          <p:nvPr/>
        </p:nvSpPr>
        <p:spPr>
          <a:xfrm>
            <a:off x="349956" y="3442352"/>
            <a:ext cx="2988000" cy="1440000"/>
          </a:xfrm>
          <a:prstGeom prst="roundRect">
            <a:avLst/>
          </a:prstGeom>
          <a:noFill/>
          <a:ln w="3810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sz="3200" dirty="0"/>
          </a:p>
        </p:txBody>
      </p:sp>
      <p:sp>
        <p:nvSpPr>
          <p:cNvPr id="6" name="Rectangle: Rounded Corners 5">
            <a:extLst>
              <a:ext uri="{FF2B5EF4-FFF2-40B4-BE49-F238E27FC236}">
                <a16:creationId xmlns:a16="http://schemas.microsoft.com/office/drawing/2014/main" id="{AAD69D90-28B7-7A05-046C-3A5212110F16}"/>
              </a:ext>
            </a:extLst>
          </p:cNvPr>
          <p:cNvSpPr/>
          <p:nvPr/>
        </p:nvSpPr>
        <p:spPr>
          <a:xfrm>
            <a:off x="8854044" y="3442352"/>
            <a:ext cx="2988000" cy="1440000"/>
          </a:xfrm>
          <a:prstGeom prst="roundRect">
            <a:avLst/>
          </a:prstGeom>
          <a:noFill/>
          <a:ln w="3810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sz="3200" dirty="0"/>
          </a:p>
        </p:txBody>
      </p:sp>
      <p:grpSp>
        <p:nvGrpSpPr>
          <p:cNvPr id="39" name="Group 38">
            <a:extLst>
              <a:ext uri="{FF2B5EF4-FFF2-40B4-BE49-F238E27FC236}">
                <a16:creationId xmlns:a16="http://schemas.microsoft.com/office/drawing/2014/main" id="{99B7C9B5-1940-69D9-ED01-2BE6CFD0E7DF}"/>
              </a:ext>
            </a:extLst>
          </p:cNvPr>
          <p:cNvGrpSpPr/>
          <p:nvPr/>
        </p:nvGrpSpPr>
        <p:grpSpPr>
          <a:xfrm>
            <a:off x="3337956" y="2290900"/>
            <a:ext cx="5516088" cy="1871452"/>
            <a:chOff x="3337956" y="2290900"/>
            <a:chExt cx="5516088" cy="1871452"/>
          </a:xfrm>
        </p:grpSpPr>
        <p:sp>
          <p:nvSpPr>
            <p:cNvPr id="10" name="Rectangle: Rounded Corners 9">
              <a:extLst>
                <a:ext uri="{FF2B5EF4-FFF2-40B4-BE49-F238E27FC236}">
                  <a16:creationId xmlns:a16="http://schemas.microsoft.com/office/drawing/2014/main" id="{BFAC4B34-BF94-3A70-1101-76BA02F53E6D}"/>
                </a:ext>
              </a:extLst>
            </p:cNvPr>
            <p:cNvSpPr/>
            <p:nvPr/>
          </p:nvSpPr>
          <p:spPr>
            <a:xfrm>
              <a:off x="5286000" y="2290900"/>
              <a:ext cx="1620000" cy="576000"/>
            </a:xfrm>
            <a:prstGeom prst="roundRect">
              <a:avLst/>
            </a:prstGeom>
            <a:noFill/>
            <a:ln w="28575">
              <a:tailEnd w="lg"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sz="3200" dirty="0"/>
            </a:p>
          </p:txBody>
        </p:sp>
        <p:cxnSp>
          <p:nvCxnSpPr>
            <p:cNvPr id="13" name="Straight Arrow Connector 12">
              <a:extLst>
                <a:ext uri="{FF2B5EF4-FFF2-40B4-BE49-F238E27FC236}">
                  <a16:creationId xmlns:a16="http://schemas.microsoft.com/office/drawing/2014/main" id="{706068DC-3EE2-FCC1-B884-AD1137DF4DA6}"/>
                </a:ext>
              </a:extLst>
            </p:cNvPr>
            <p:cNvCxnSpPr>
              <a:stCxn id="5" idx="3"/>
              <a:endCxn id="10" idx="1"/>
            </p:cNvCxnSpPr>
            <p:nvPr/>
          </p:nvCxnSpPr>
          <p:spPr>
            <a:xfrm flipV="1">
              <a:off x="3337956" y="2578900"/>
              <a:ext cx="1948044" cy="1583452"/>
            </a:xfrm>
            <a:prstGeom prst="curvedConnector3">
              <a:avLst>
                <a:gd name="adj1" fmla="val 31122"/>
              </a:avLst>
            </a:prstGeom>
            <a:ln w="38100">
              <a:solidFill>
                <a:srgbClr val="FF0000"/>
              </a:solidFill>
              <a:tailEnd type="triangle" w="lg" len="lg"/>
            </a:ln>
          </p:spPr>
          <p:style>
            <a:lnRef idx="1">
              <a:schemeClr val="accent1"/>
            </a:lnRef>
            <a:fillRef idx="0">
              <a:schemeClr val="accent1"/>
            </a:fillRef>
            <a:effectRef idx="0">
              <a:schemeClr val="accent1"/>
            </a:effectRef>
            <a:fontRef idx="minor">
              <a:schemeClr val="tx1"/>
            </a:fontRef>
          </p:style>
        </p:cxnSp>
        <p:cxnSp>
          <p:nvCxnSpPr>
            <p:cNvPr id="22" name="Straight Arrow Connector 21">
              <a:extLst>
                <a:ext uri="{FF2B5EF4-FFF2-40B4-BE49-F238E27FC236}">
                  <a16:creationId xmlns:a16="http://schemas.microsoft.com/office/drawing/2014/main" id="{20D5A7B2-B7AD-7D36-8EB1-D7BDBEFC1604}"/>
                </a:ext>
              </a:extLst>
            </p:cNvPr>
            <p:cNvCxnSpPr>
              <a:stCxn id="10" idx="3"/>
              <a:endCxn id="6" idx="1"/>
            </p:cNvCxnSpPr>
            <p:nvPr/>
          </p:nvCxnSpPr>
          <p:spPr>
            <a:xfrm>
              <a:off x="6906000" y="2578900"/>
              <a:ext cx="1948044" cy="1583452"/>
            </a:xfrm>
            <a:prstGeom prst="curvedConnector3">
              <a:avLst>
                <a:gd name="adj1" fmla="val 69069"/>
              </a:avLst>
            </a:prstGeom>
            <a:ln w="38100">
              <a:solidFill>
                <a:srgbClr val="FF0000"/>
              </a:solidFill>
              <a:tailEnd type="triangle" w="lg" len="lg"/>
            </a:ln>
          </p:spPr>
          <p:style>
            <a:lnRef idx="1">
              <a:schemeClr val="accent1"/>
            </a:lnRef>
            <a:fillRef idx="0">
              <a:schemeClr val="accent1"/>
            </a:fillRef>
            <a:effectRef idx="0">
              <a:schemeClr val="accent1"/>
            </a:effectRef>
            <a:fontRef idx="minor">
              <a:schemeClr val="tx1"/>
            </a:fontRef>
          </p:style>
        </p:cxnSp>
      </p:grpSp>
      <p:grpSp>
        <p:nvGrpSpPr>
          <p:cNvPr id="40" name="Group 39">
            <a:extLst>
              <a:ext uri="{FF2B5EF4-FFF2-40B4-BE49-F238E27FC236}">
                <a16:creationId xmlns:a16="http://schemas.microsoft.com/office/drawing/2014/main" id="{DE04E227-EC5E-5B11-8E1B-4FDBA3493BC6}"/>
              </a:ext>
            </a:extLst>
          </p:cNvPr>
          <p:cNvGrpSpPr/>
          <p:nvPr/>
        </p:nvGrpSpPr>
        <p:grpSpPr>
          <a:xfrm>
            <a:off x="3337956" y="3301255"/>
            <a:ext cx="5516088" cy="861097"/>
            <a:chOff x="3337956" y="3301255"/>
            <a:chExt cx="5516088" cy="861097"/>
          </a:xfrm>
        </p:grpSpPr>
        <p:sp>
          <p:nvSpPr>
            <p:cNvPr id="9" name="Rectangle: Rounded Corners 8">
              <a:extLst>
                <a:ext uri="{FF2B5EF4-FFF2-40B4-BE49-F238E27FC236}">
                  <a16:creationId xmlns:a16="http://schemas.microsoft.com/office/drawing/2014/main" id="{06EF0D47-7B57-60F1-3B60-0A56D6754DAD}"/>
                </a:ext>
              </a:extLst>
            </p:cNvPr>
            <p:cNvSpPr/>
            <p:nvPr/>
          </p:nvSpPr>
          <p:spPr>
            <a:xfrm>
              <a:off x="5286000" y="3301255"/>
              <a:ext cx="1620000" cy="576000"/>
            </a:xfrm>
            <a:prstGeom prst="roundRect">
              <a:avLst/>
            </a:prstGeom>
            <a:noFill/>
            <a:ln w="28575">
              <a:tailEnd w="lg"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sz="3200" dirty="0"/>
            </a:p>
          </p:txBody>
        </p:sp>
        <p:cxnSp>
          <p:nvCxnSpPr>
            <p:cNvPr id="16" name="Straight Arrow Connector 15">
              <a:extLst>
                <a:ext uri="{FF2B5EF4-FFF2-40B4-BE49-F238E27FC236}">
                  <a16:creationId xmlns:a16="http://schemas.microsoft.com/office/drawing/2014/main" id="{A2C04D05-B888-B28C-3B89-A1C1A5DEA472}"/>
                </a:ext>
              </a:extLst>
            </p:cNvPr>
            <p:cNvCxnSpPr>
              <a:cxnSpLocks/>
              <a:stCxn id="5" idx="3"/>
              <a:endCxn id="9" idx="1"/>
            </p:cNvCxnSpPr>
            <p:nvPr/>
          </p:nvCxnSpPr>
          <p:spPr>
            <a:xfrm flipV="1">
              <a:off x="3337956" y="3589255"/>
              <a:ext cx="1948044" cy="573097"/>
            </a:xfrm>
            <a:prstGeom prst="curvedConnector3">
              <a:avLst>
                <a:gd name="adj1" fmla="val 31611"/>
              </a:avLst>
            </a:prstGeom>
            <a:ln w="38100">
              <a:solidFill>
                <a:srgbClr val="FFC000"/>
              </a:solidFill>
              <a:tailEnd type="triangle" w="lg" len="lg"/>
            </a:ln>
          </p:spPr>
          <p:style>
            <a:lnRef idx="1">
              <a:schemeClr val="accent1"/>
            </a:lnRef>
            <a:fillRef idx="0">
              <a:schemeClr val="accent1"/>
            </a:fillRef>
            <a:effectRef idx="0">
              <a:schemeClr val="accent1"/>
            </a:effectRef>
            <a:fontRef idx="minor">
              <a:schemeClr val="tx1"/>
            </a:fontRef>
          </p:style>
        </p:cxnSp>
        <p:cxnSp>
          <p:nvCxnSpPr>
            <p:cNvPr id="24" name="Straight Arrow Connector 23">
              <a:extLst>
                <a:ext uri="{FF2B5EF4-FFF2-40B4-BE49-F238E27FC236}">
                  <a16:creationId xmlns:a16="http://schemas.microsoft.com/office/drawing/2014/main" id="{9348DE9A-1D2D-72E3-162F-0D7068291FDF}"/>
                </a:ext>
              </a:extLst>
            </p:cNvPr>
            <p:cNvCxnSpPr>
              <a:stCxn id="9" idx="3"/>
              <a:endCxn id="6" idx="1"/>
            </p:cNvCxnSpPr>
            <p:nvPr/>
          </p:nvCxnSpPr>
          <p:spPr>
            <a:xfrm>
              <a:off x="6906000" y="3589255"/>
              <a:ext cx="1948044" cy="573097"/>
            </a:xfrm>
            <a:prstGeom prst="curvedConnector3">
              <a:avLst>
                <a:gd name="adj1" fmla="val 69558"/>
              </a:avLst>
            </a:prstGeom>
            <a:ln w="38100">
              <a:solidFill>
                <a:srgbClr val="FFC000"/>
              </a:solidFill>
              <a:tailEnd type="triangle" w="lg" len="lg"/>
            </a:ln>
          </p:spPr>
          <p:style>
            <a:lnRef idx="1">
              <a:schemeClr val="accent1"/>
            </a:lnRef>
            <a:fillRef idx="0">
              <a:schemeClr val="accent1"/>
            </a:fillRef>
            <a:effectRef idx="0">
              <a:schemeClr val="accent1"/>
            </a:effectRef>
            <a:fontRef idx="minor">
              <a:schemeClr val="tx1"/>
            </a:fontRef>
          </p:style>
        </p:cxnSp>
      </p:grpSp>
      <p:grpSp>
        <p:nvGrpSpPr>
          <p:cNvPr id="41" name="Group 40">
            <a:extLst>
              <a:ext uri="{FF2B5EF4-FFF2-40B4-BE49-F238E27FC236}">
                <a16:creationId xmlns:a16="http://schemas.microsoft.com/office/drawing/2014/main" id="{D0D29CB2-063F-BC3D-5B79-F592688F21ED}"/>
              </a:ext>
            </a:extLst>
          </p:cNvPr>
          <p:cNvGrpSpPr/>
          <p:nvPr/>
        </p:nvGrpSpPr>
        <p:grpSpPr>
          <a:xfrm>
            <a:off x="3337956" y="4162352"/>
            <a:ext cx="5516088" cy="725258"/>
            <a:chOff x="3337956" y="4162352"/>
            <a:chExt cx="5516088" cy="725258"/>
          </a:xfrm>
        </p:grpSpPr>
        <p:sp>
          <p:nvSpPr>
            <p:cNvPr id="8" name="Rectangle: Rounded Corners 7">
              <a:extLst>
                <a:ext uri="{FF2B5EF4-FFF2-40B4-BE49-F238E27FC236}">
                  <a16:creationId xmlns:a16="http://schemas.microsoft.com/office/drawing/2014/main" id="{681D8EBA-C9CF-E11E-8335-B5E1C0BD4897}"/>
                </a:ext>
              </a:extLst>
            </p:cNvPr>
            <p:cNvSpPr/>
            <p:nvPr/>
          </p:nvSpPr>
          <p:spPr>
            <a:xfrm>
              <a:off x="5286000" y="4311610"/>
              <a:ext cx="1620000" cy="576000"/>
            </a:xfrm>
            <a:prstGeom prst="roundRect">
              <a:avLst/>
            </a:prstGeom>
            <a:noFill/>
            <a:ln w="28575">
              <a:tailEnd w="lg"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sz="3200" dirty="0"/>
            </a:p>
          </p:txBody>
        </p:sp>
        <p:cxnSp>
          <p:nvCxnSpPr>
            <p:cNvPr id="18" name="Straight Arrow Connector 17">
              <a:extLst>
                <a:ext uri="{FF2B5EF4-FFF2-40B4-BE49-F238E27FC236}">
                  <a16:creationId xmlns:a16="http://schemas.microsoft.com/office/drawing/2014/main" id="{4F8C6197-C09C-3507-D9E1-77BDF13D49D2}"/>
                </a:ext>
              </a:extLst>
            </p:cNvPr>
            <p:cNvCxnSpPr>
              <a:stCxn id="5" idx="3"/>
              <a:endCxn id="8" idx="1"/>
            </p:cNvCxnSpPr>
            <p:nvPr/>
          </p:nvCxnSpPr>
          <p:spPr>
            <a:xfrm>
              <a:off x="3337956" y="4162352"/>
              <a:ext cx="1948044" cy="437258"/>
            </a:xfrm>
            <a:prstGeom prst="curvedConnector3">
              <a:avLst>
                <a:gd name="adj1" fmla="val 30959"/>
              </a:avLst>
            </a:prstGeom>
            <a:ln w="38100">
              <a:solidFill>
                <a:srgbClr val="FFFF00"/>
              </a:solidFill>
              <a:tailEnd type="triangle" w="lg" len="lg"/>
            </a:ln>
          </p:spPr>
          <p:style>
            <a:lnRef idx="1">
              <a:schemeClr val="accent1"/>
            </a:lnRef>
            <a:fillRef idx="0">
              <a:schemeClr val="accent1"/>
            </a:fillRef>
            <a:effectRef idx="0">
              <a:schemeClr val="accent1"/>
            </a:effectRef>
            <a:fontRef idx="minor">
              <a:schemeClr val="tx1"/>
            </a:fontRef>
          </p:style>
        </p:cxnSp>
        <p:cxnSp>
          <p:nvCxnSpPr>
            <p:cNvPr id="26" name="Straight Arrow Connector 25">
              <a:extLst>
                <a:ext uri="{FF2B5EF4-FFF2-40B4-BE49-F238E27FC236}">
                  <a16:creationId xmlns:a16="http://schemas.microsoft.com/office/drawing/2014/main" id="{190ABB77-9281-89C2-0741-89A308B68B9D}"/>
                </a:ext>
              </a:extLst>
            </p:cNvPr>
            <p:cNvCxnSpPr>
              <a:stCxn id="8" idx="3"/>
              <a:endCxn id="6" idx="1"/>
            </p:cNvCxnSpPr>
            <p:nvPr/>
          </p:nvCxnSpPr>
          <p:spPr>
            <a:xfrm flipV="1">
              <a:off x="6906000" y="4162352"/>
              <a:ext cx="1948044" cy="437258"/>
            </a:xfrm>
            <a:prstGeom prst="curvedConnector3">
              <a:avLst>
                <a:gd name="adj1" fmla="val 69558"/>
              </a:avLst>
            </a:prstGeom>
            <a:ln w="38100">
              <a:solidFill>
                <a:srgbClr val="FFFF00"/>
              </a:solidFill>
              <a:tailEnd type="triangle" w="lg" len="lg"/>
            </a:ln>
          </p:spPr>
          <p:style>
            <a:lnRef idx="1">
              <a:schemeClr val="accent1"/>
            </a:lnRef>
            <a:fillRef idx="0">
              <a:schemeClr val="accent1"/>
            </a:fillRef>
            <a:effectRef idx="0">
              <a:schemeClr val="accent1"/>
            </a:effectRef>
            <a:fontRef idx="minor">
              <a:schemeClr val="tx1"/>
            </a:fontRef>
          </p:style>
        </p:cxnSp>
      </p:grpSp>
      <p:grpSp>
        <p:nvGrpSpPr>
          <p:cNvPr id="42" name="Group 41">
            <a:extLst>
              <a:ext uri="{FF2B5EF4-FFF2-40B4-BE49-F238E27FC236}">
                <a16:creationId xmlns:a16="http://schemas.microsoft.com/office/drawing/2014/main" id="{3E3760D5-EA89-8E10-B7FD-8370049545DD}"/>
              </a:ext>
            </a:extLst>
          </p:cNvPr>
          <p:cNvGrpSpPr/>
          <p:nvPr/>
        </p:nvGrpSpPr>
        <p:grpSpPr>
          <a:xfrm>
            <a:off x="3337956" y="4162352"/>
            <a:ext cx="5516088" cy="1735613"/>
            <a:chOff x="3337956" y="4162352"/>
            <a:chExt cx="5516088" cy="1735613"/>
          </a:xfrm>
        </p:grpSpPr>
        <p:sp>
          <p:nvSpPr>
            <p:cNvPr id="7" name="Rectangle: Rounded Corners 6">
              <a:extLst>
                <a:ext uri="{FF2B5EF4-FFF2-40B4-BE49-F238E27FC236}">
                  <a16:creationId xmlns:a16="http://schemas.microsoft.com/office/drawing/2014/main" id="{DDAC4BFC-3AC2-CDF6-6A70-54E3B698E160}"/>
                </a:ext>
              </a:extLst>
            </p:cNvPr>
            <p:cNvSpPr/>
            <p:nvPr/>
          </p:nvSpPr>
          <p:spPr>
            <a:xfrm>
              <a:off x="5286000" y="5321965"/>
              <a:ext cx="1620000" cy="576000"/>
            </a:xfrm>
            <a:prstGeom prst="roundRect">
              <a:avLst/>
            </a:prstGeom>
            <a:noFill/>
            <a:ln w="28575">
              <a:solidFill>
                <a:schemeClr val="tx1"/>
              </a:solidFill>
              <a:tailEnd w="lg"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sz="3200" dirty="0"/>
            </a:p>
          </p:txBody>
        </p:sp>
        <p:cxnSp>
          <p:nvCxnSpPr>
            <p:cNvPr id="20" name="Straight Arrow Connector 19">
              <a:extLst>
                <a:ext uri="{FF2B5EF4-FFF2-40B4-BE49-F238E27FC236}">
                  <a16:creationId xmlns:a16="http://schemas.microsoft.com/office/drawing/2014/main" id="{4F7D1DF8-E4A3-503E-0374-FCBF7ED62765}"/>
                </a:ext>
              </a:extLst>
            </p:cNvPr>
            <p:cNvCxnSpPr>
              <a:stCxn id="5" idx="3"/>
              <a:endCxn id="7" idx="1"/>
            </p:cNvCxnSpPr>
            <p:nvPr/>
          </p:nvCxnSpPr>
          <p:spPr>
            <a:xfrm>
              <a:off x="3337956" y="4162352"/>
              <a:ext cx="1948044" cy="1447613"/>
            </a:xfrm>
            <a:prstGeom prst="curvedConnector3">
              <a:avLst>
                <a:gd name="adj1" fmla="val 30644"/>
              </a:avLst>
            </a:prstGeom>
            <a:ln w="38100">
              <a:solidFill>
                <a:srgbClr val="00B050"/>
              </a:solidFill>
              <a:tailEnd type="triangle" w="lg" len="lg"/>
            </a:ln>
          </p:spPr>
          <p:style>
            <a:lnRef idx="1">
              <a:schemeClr val="accent1"/>
            </a:lnRef>
            <a:fillRef idx="0">
              <a:schemeClr val="accent1"/>
            </a:fillRef>
            <a:effectRef idx="0">
              <a:schemeClr val="accent1"/>
            </a:effectRef>
            <a:fontRef idx="minor">
              <a:schemeClr val="tx1"/>
            </a:fontRef>
          </p:style>
        </p:cxnSp>
        <p:cxnSp>
          <p:nvCxnSpPr>
            <p:cNvPr id="28" name="Straight Arrow Connector 27">
              <a:extLst>
                <a:ext uri="{FF2B5EF4-FFF2-40B4-BE49-F238E27FC236}">
                  <a16:creationId xmlns:a16="http://schemas.microsoft.com/office/drawing/2014/main" id="{A565C2C7-1437-CDF9-79D7-B4B948E7344B}"/>
                </a:ext>
              </a:extLst>
            </p:cNvPr>
            <p:cNvCxnSpPr>
              <a:stCxn id="7" idx="3"/>
              <a:endCxn id="6" idx="1"/>
            </p:cNvCxnSpPr>
            <p:nvPr/>
          </p:nvCxnSpPr>
          <p:spPr>
            <a:xfrm flipV="1">
              <a:off x="6906000" y="4162352"/>
              <a:ext cx="1948044" cy="1447613"/>
            </a:xfrm>
            <a:prstGeom prst="curvedConnector3">
              <a:avLst>
                <a:gd name="adj1" fmla="val 69069"/>
              </a:avLst>
            </a:prstGeom>
            <a:ln w="38100">
              <a:solidFill>
                <a:srgbClr val="00B050"/>
              </a:solidFill>
              <a:tailEnd type="triangle" w="lg" len="lg"/>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1188421745"/>
      </p:ext>
    </p:extLst>
  </p:cSld>
  <p:clrMapOvr>
    <a:masterClrMapping/>
  </p:clrMapOvr>
</p:sld>
</file>

<file path=ppt/slides/slide1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B3977BA9-5052-AEBB-63AE-9572018FCAC5}"/>
              </a:ext>
            </a:extLst>
          </p:cNvPr>
          <p:cNvSpPr>
            <a:spLocks noGrp="1"/>
          </p:cNvSpPr>
          <p:nvPr>
            <p:ph type="title"/>
          </p:nvPr>
        </p:nvSpPr>
        <p:spPr/>
        <p:txBody>
          <a:bodyPr/>
          <a:lstStyle/>
          <a:p>
            <a:r>
              <a:rPr lang="en-GB" dirty="0"/>
              <a:t>Functional Requirements (Queries)</a:t>
            </a:r>
          </a:p>
        </p:txBody>
      </p:sp>
      <p:sp>
        <p:nvSpPr>
          <p:cNvPr id="5" name="Rectangle: Rounded Corners 4">
            <a:extLst>
              <a:ext uri="{FF2B5EF4-FFF2-40B4-BE49-F238E27FC236}">
                <a16:creationId xmlns:a16="http://schemas.microsoft.com/office/drawing/2014/main" id="{14D164DF-E92D-CBB7-F339-F11144806BD0}"/>
              </a:ext>
            </a:extLst>
          </p:cNvPr>
          <p:cNvSpPr/>
          <p:nvPr/>
        </p:nvSpPr>
        <p:spPr>
          <a:xfrm>
            <a:off x="349956" y="3442352"/>
            <a:ext cx="2988000" cy="1440000"/>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3200" dirty="0"/>
              <a:t>A query to</a:t>
            </a:r>
          </a:p>
        </p:txBody>
      </p:sp>
      <p:sp>
        <p:nvSpPr>
          <p:cNvPr id="6" name="Rectangle: Rounded Corners 5">
            <a:extLst>
              <a:ext uri="{FF2B5EF4-FFF2-40B4-BE49-F238E27FC236}">
                <a16:creationId xmlns:a16="http://schemas.microsoft.com/office/drawing/2014/main" id="{AAD69D90-28B7-7A05-046C-3A5212110F16}"/>
              </a:ext>
            </a:extLst>
          </p:cNvPr>
          <p:cNvSpPr/>
          <p:nvPr/>
        </p:nvSpPr>
        <p:spPr>
          <a:xfrm>
            <a:off x="8854044" y="3442352"/>
            <a:ext cx="2988000" cy="1440000"/>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3200" dirty="0"/>
              <a:t>specific details from context</a:t>
            </a:r>
          </a:p>
        </p:txBody>
      </p:sp>
      <p:grpSp>
        <p:nvGrpSpPr>
          <p:cNvPr id="39" name="Group 38">
            <a:extLst>
              <a:ext uri="{FF2B5EF4-FFF2-40B4-BE49-F238E27FC236}">
                <a16:creationId xmlns:a16="http://schemas.microsoft.com/office/drawing/2014/main" id="{99B7C9B5-1940-69D9-ED01-2BE6CFD0E7DF}"/>
              </a:ext>
            </a:extLst>
          </p:cNvPr>
          <p:cNvGrpSpPr/>
          <p:nvPr/>
        </p:nvGrpSpPr>
        <p:grpSpPr>
          <a:xfrm>
            <a:off x="3337956" y="2290900"/>
            <a:ext cx="5516088" cy="1871452"/>
            <a:chOff x="3337956" y="2290900"/>
            <a:chExt cx="5516088" cy="1871452"/>
          </a:xfrm>
        </p:grpSpPr>
        <p:sp>
          <p:nvSpPr>
            <p:cNvPr id="10" name="Rectangle: Rounded Corners 9">
              <a:extLst>
                <a:ext uri="{FF2B5EF4-FFF2-40B4-BE49-F238E27FC236}">
                  <a16:creationId xmlns:a16="http://schemas.microsoft.com/office/drawing/2014/main" id="{BFAC4B34-BF94-3A70-1101-76BA02F53E6D}"/>
                </a:ext>
              </a:extLst>
            </p:cNvPr>
            <p:cNvSpPr/>
            <p:nvPr/>
          </p:nvSpPr>
          <p:spPr>
            <a:xfrm>
              <a:off x="5286000" y="2290900"/>
              <a:ext cx="1620000" cy="576000"/>
            </a:xfrm>
            <a:prstGeom prst="roundRect">
              <a:avLst/>
            </a:prstGeom>
            <a:ln>
              <a:tailEnd w="lg"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3200" dirty="0"/>
                <a:t>select</a:t>
              </a:r>
            </a:p>
          </p:txBody>
        </p:sp>
        <p:cxnSp>
          <p:nvCxnSpPr>
            <p:cNvPr id="13" name="Straight Arrow Connector 12">
              <a:extLst>
                <a:ext uri="{FF2B5EF4-FFF2-40B4-BE49-F238E27FC236}">
                  <a16:creationId xmlns:a16="http://schemas.microsoft.com/office/drawing/2014/main" id="{706068DC-3EE2-FCC1-B884-AD1137DF4DA6}"/>
                </a:ext>
              </a:extLst>
            </p:cNvPr>
            <p:cNvCxnSpPr>
              <a:stCxn id="5" idx="3"/>
              <a:endCxn id="10" idx="1"/>
            </p:cNvCxnSpPr>
            <p:nvPr/>
          </p:nvCxnSpPr>
          <p:spPr>
            <a:xfrm flipV="1">
              <a:off x="3337956" y="2578900"/>
              <a:ext cx="1948044" cy="1583452"/>
            </a:xfrm>
            <a:prstGeom prst="curvedConnector3">
              <a:avLst>
                <a:gd name="adj1" fmla="val 31122"/>
              </a:avLst>
            </a:prstGeom>
            <a:ln w="38100">
              <a:solidFill>
                <a:srgbClr val="FF0000"/>
              </a:solidFill>
              <a:tailEnd type="triangle" w="lg" len="lg"/>
            </a:ln>
          </p:spPr>
          <p:style>
            <a:lnRef idx="1">
              <a:schemeClr val="accent1"/>
            </a:lnRef>
            <a:fillRef idx="0">
              <a:schemeClr val="accent1"/>
            </a:fillRef>
            <a:effectRef idx="0">
              <a:schemeClr val="accent1"/>
            </a:effectRef>
            <a:fontRef idx="minor">
              <a:schemeClr val="tx1"/>
            </a:fontRef>
          </p:style>
        </p:cxnSp>
        <p:cxnSp>
          <p:nvCxnSpPr>
            <p:cNvPr id="22" name="Straight Arrow Connector 21">
              <a:extLst>
                <a:ext uri="{FF2B5EF4-FFF2-40B4-BE49-F238E27FC236}">
                  <a16:creationId xmlns:a16="http://schemas.microsoft.com/office/drawing/2014/main" id="{20D5A7B2-B7AD-7D36-8EB1-D7BDBEFC1604}"/>
                </a:ext>
              </a:extLst>
            </p:cNvPr>
            <p:cNvCxnSpPr>
              <a:cxnSpLocks/>
              <a:stCxn id="10" idx="3"/>
              <a:endCxn id="6" idx="1"/>
            </p:cNvCxnSpPr>
            <p:nvPr/>
          </p:nvCxnSpPr>
          <p:spPr>
            <a:xfrm>
              <a:off x="6906000" y="2578900"/>
              <a:ext cx="1948044" cy="1583452"/>
            </a:xfrm>
            <a:prstGeom prst="curvedConnector3">
              <a:avLst>
                <a:gd name="adj1" fmla="val 69069"/>
              </a:avLst>
            </a:prstGeom>
            <a:ln w="38100">
              <a:solidFill>
                <a:srgbClr val="FF0000"/>
              </a:solidFill>
              <a:tailEnd type="triangle" w="lg" len="lg"/>
            </a:ln>
          </p:spPr>
          <p:style>
            <a:lnRef idx="1">
              <a:schemeClr val="accent1"/>
            </a:lnRef>
            <a:fillRef idx="0">
              <a:schemeClr val="accent1"/>
            </a:fillRef>
            <a:effectRef idx="0">
              <a:schemeClr val="accent1"/>
            </a:effectRef>
            <a:fontRef idx="minor">
              <a:schemeClr val="tx1"/>
            </a:fontRef>
          </p:style>
        </p:cxnSp>
      </p:grpSp>
      <p:grpSp>
        <p:nvGrpSpPr>
          <p:cNvPr id="40" name="Group 39">
            <a:extLst>
              <a:ext uri="{FF2B5EF4-FFF2-40B4-BE49-F238E27FC236}">
                <a16:creationId xmlns:a16="http://schemas.microsoft.com/office/drawing/2014/main" id="{DE04E227-EC5E-5B11-8E1B-4FDBA3493BC6}"/>
              </a:ext>
            </a:extLst>
          </p:cNvPr>
          <p:cNvGrpSpPr/>
          <p:nvPr/>
        </p:nvGrpSpPr>
        <p:grpSpPr>
          <a:xfrm>
            <a:off x="3337956" y="3301255"/>
            <a:ext cx="5516088" cy="861097"/>
            <a:chOff x="3337956" y="3301255"/>
            <a:chExt cx="5516088" cy="861097"/>
          </a:xfrm>
        </p:grpSpPr>
        <p:sp>
          <p:nvSpPr>
            <p:cNvPr id="9" name="Rectangle: Rounded Corners 8">
              <a:extLst>
                <a:ext uri="{FF2B5EF4-FFF2-40B4-BE49-F238E27FC236}">
                  <a16:creationId xmlns:a16="http://schemas.microsoft.com/office/drawing/2014/main" id="{06EF0D47-7B57-60F1-3B60-0A56D6754DAD}"/>
                </a:ext>
              </a:extLst>
            </p:cNvPr>
            <p:cNvSpPr/>
            <p:nvPr/>
          </p:nvSpPr>
          <p:spPr>
            <a:xfrm>
              <a:off x="5286000" y="3301255"/>
              <a:ext cx="1620000" cy="576000"/>
            </a:xfrm>
            <a:prstGeom prst="roundRect">
              <a:avLst/>
            </a:prstGeom>
            <a:ln>
              <a:tailEnd w="lg"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3200" dirty="0"/>
                <a:t>insert</a:t>
              </a:r>
            </a:p>
          </p:txBody>
        </p:sp>
        <p:cxnSp>
          <p:nvCxnSpPr>
            <p:cNvPr id="16" name="Straight Arrow Connector 15">
              <a:extLst>
                <a:ext uri="{FF2B5EF4-FFF2-40B4-BE49-F238E27FC236}">
                  <a16:creationId xmlns:a16="http://schemas.microsoft.com/office/drawing/2014/main" id="{A2C04D05-B888-B28C-3B89-A1C1A5DEA472}"/>
                </a:ext>
              </a:extLst>
            </p:cNvPr>
            <p:cNvCxnSpPr>
              <a:cxnSpLocks/>
              <a:stCxn id="5" idx="3"/>
              <a:endCxn id="9" idx="1"/>
            </p:cNvCxnSpPr>
            <p:nvPr/>
          </p:nvCxnSpPr>
          <p:spPr>
            <a:xfrm flipV="1">
              <a:off x="3337956" y="3589255"/>
              <a:ext cx="1948044" cy="573097"/>
            </a:xfrm>
            <a:prstGeom prst="curvedConnector3">
              <a:avLst>
                <a:gd name="adj1" fmla="val 31611"/>
              </a:avLst>
            </a:prstGeom>
            <a:ln w="38100">
              <a:solidFill>
                <a:srgbClr val="FFC000"/>
              </a:solidFill>
              <a:tailEnd type="triangle" w="lg" len="lg"/>
            </a:ln>
          </p:spPr>
          <p:style>
            <a:lnRef idx="1">
              <a:schemeClr val="accent1"/>
            </a:lnRef>
            <a:fillRef idx="0">
              <a:schemeClr val="accent1"/>
            </a:fillRef>
            <a:effectRef idx="0">
              <a:schemeClr val="accent1"/>
            </a:effectRef>
            <a:fontRef idx="minor">
              <a:schemeClr val="tx1"/>
            </a:fontRef>
          </p:style>
        </p:cxnSp>
        <p:cxnSp>
          <p:nvCxnSpPr>
            <p:cNvPr id="24" name="Straight Arrow Connector 23">
              <a:extLst>
                <a:ext uri="{FF2B5EF4-FFF2-40B4-BE49-F238E27FC236}">
                  <a16:creationId xmlns:a16="http://schemas.microsoft.com/office/drawing/2014/main" id="{9348DE9A-1D2D-72E3-162F-0D7068291FDF}"/>
                </a:ext>
              </a:extLst>
            </p:cNvPr>
            <p:cNvCxnSpPr>
              <a:cxnSpLocks/>
              <a:stCxn id="9" idx="3"/>
              <a:endCxn id="6" idx="1"/>
            </p:cNvCxnSpPr>
            <p:nvPr/>
          </p:nvCxnSpPr>
          <p:spPr>
            <a:xfrm>
              <a:off x="6906000" y="3589255"/>
              <a:ext cx="1948044" cy="573097"/>
            </a:xfrm>
            <a:prstGeom prst="curvedConnector3">
              <a:avLst>
                <a:gd name="adj1" fmla="val 69558"/>
              </a:avLst>
            </a:prstGeom>
            <a:ln w="38100">
              <a:solidFill>
                <a:srgbClr val="FFC000"/>
              </a:solidFill>
              <a:tailEnd type="triangle" w="lg" len="lg"/>
            </a:ln>
          </p:spPr>
          <p:style>
            <a:lnRef idx="1">
              <a:schemeClr val="accent1"/>
            </a:lnRef>
            <a:fillRef idx="0">
              <a:schemeClr val="accent1"/>
            </a:fillRef>
            <a:effectRef idx="0">
              <a:schemeClr val="accent1"/>
            </a:effectRef>
            <a:fontRef idx="minor">
              <a:schemeClr val="tx1"/>
            </a:fontRef>
          </p:style>
        </p:cxnSp>
      </p:grpSp>
      <p:grpSp>
        <p:nvGrpSpPr>
          <p:cNvPr id="41" name="Group 40">
            <a:extLst>
              <a:ext uri="{FF2B5EF4-FFF2-40B4-BE49-F238E27FC236}">
                <a16:creationId xmlns:a16="http://schemas.microsoft.com/office/drawing/2014/main" id="{D0D29CB2-063F-BC3D-5B79-F592688F21ED}"/>
              </a:ext>
            </a:extLst>
          </p:cNvPr>
          <p:cNvGrpSpPr/>
          <p:nvPr/>
        </p:nvGrpSpPr>
        <p:grpSpPr>
          <a:xfrm>
            <a:off x="3337956" y="4162352"/>
            <a:ext cx="5516088" cy="725258"/>
            <a:chOff x="3337956" y="4162352"/>
            <a:chExt cx="5516088" cy="725258"/>
          </a:xfrm>
        </p:grpSpPr>
        <p:sp>
          <p:nvSpPr>
            <p:cNvPr id="8" name="Rectangle: Rounded Corners 7">
              <a:extLst>
                <a:ext uri="{FF2B5EF4-FFF2-40B4-BE49-F238E27FC236}">
                  <a16:creationId xmlns:a16="http://schemas.microsoft.com/office/drawing/2014/main" id="{681D8EBA-C9CF-E11E-8335-B5E1C0BD4897}"/>
                </a:ext>
              </a:extLst>
            </p:cNvPr>
            <p:cNvSpPr/>
            <p:nvPr/>
          </p:nvSpPr>
          <p:spPr>
            <a:xfrm>
              <a:off x="5286000" y="4311610"/>
              <a:ext cx="1620000" cy="576000"/>
            </a:xfrm>
            <a:prstGeom prst="roundRect">
              <a:avLst/>
            </a:prstGeom>
            <a:ln>
              <a:tailEnd w="lg"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3200" dirty="0"/>
                <a:t>update</a:t>
              </a:r>
            </a:p>
          </p:txBody>
        </p:sp>
        <p:cxnSp>
          <p:nvCxnSpPr>
            <p:cNvPr id="18" name="Straight Arrow Connector 17">
              <a:extLst>
                <a:ext uri="{FF2B5EF4-FFF2-40B4-BE49-F238E27FC236}">
                  <a16:creationId xmlns:a16="http://schemas.microsoft.com/office/drawing/2014/main" id="{4F8C6197-C09C-3507-D9E1-77BDF13D49D2}"/>
                </a:ext>
              </a:extLst>
            </p:cNvPr>
            <p:cNvCxnSpPr>
              <a:stCxn id="5" idx="3"/>
              <a:endCxn id="8" idx="1"/>
            </p:cNvCxnSpPr>
            <p:nvPr/>
          </p:nvCxnSpPr>
          <p:spPr>
            <a:xfrm>
              <a:off x="3337956" y="4162352"/>
              <a:ext cx="1948044" cy="437258"/>
            </a:xfrm>
            <a:prstGeom prst="curvedConnector3">
              <a:avLst>
                <a:gd name="adj1" fmla="val 30959"/>
              </a:avLst>
            </a:prstGeom>
            <a:ln w="38100">
              <a:solidFill>
                <a:srgbClr val="FFFF00"/>
              </a:solidFill>
              <a:tailEnd type="triangle" w="lg" len="lg"/>
            </a:ln>
          </p:spPr>
          <p:style>
            <a:lnRef idx="1">
              <a:schemeClr val="accent1"/>
            </a:lnRef>
            <a:fillRef idx="0">
              <a:schemeClr val="accent1"/>
            </a:fillRef>
            <a:effectRef idx="0">
              <a:schemeClr val="accent1"/>
            </a:effectRef>
            <a:fontRef idx="minor">
              <a:schemeClr val="tx1"/>
            </a:fontRef>
          </p:style>
        </p:cxnSp>
        <p:cxnSp>
          <p:nvCxnSpPr>
            <p:cNvPr id="26" name="Straight Arrow Connector 25">
              <a:extLst>
                <a:ext uri="{FF2B5EF4-FFF2-40B4-BE49-F238E27FC236}">
                  <a16:creationId xmlns:a16="http://schemas.microsoft.com/office/drawing/2014/main" id="{190ABB77-9281-89C2-0741-89A308B68B9D}"/>
                </a:ext>
              </a:extLst>
            </p:cNvPr>
            <p:cNvCxnSpPr>
              <a:cxnSpLocks/>
              <a:stCxn id="8" idx="3"/>
              <a:endCxn id="6" idx="1"/>
            </p:cNvCxnSpPr>
            <p:nvPr/>
          </p:nvCxnSpPr>
          <p:spPr>
            <a:xfrm flipV="1">
              <a:off x="6906000" y="4162352"/>
              <a:ext cx="1948044" cy="437258"/>
            </a:xfrm>
            <a:prstGeom prst="curvedConnector3">
              <a:avLst>
                <a:gd name="adj1" fmla="val 69558"/>
              </a:avLst>
            </a:prstGeom>
            <a:ln w="38100">
              <a:solidFill>
                <a:srgbClr val="FFFF00"/>
              </a:solidFill>
              <a:tailEnd type="triangle" w="lg" len="lg"/>
            </a:ln>
          </p:spPr>
          <p:style>
            <a:lnRef idx="1">
              <a:schemeClr val="accent1"/>
            </a:lnRef>
            <a:fillRef idx="0">
              <a:schemeClr val="accent1"/>
            </a:fillRef>
            <a:effectRef idx="0">
              <a:schemeClr val="accent1"/>
            </a:effectRef>
            <a:fontRef idx="minor">
              <a:schemeClr val="tx1"/>
            </a:fontRef>
          </p:style>
        </p:cxnSp>
      </p:grpSp>
      <p:grpSp>
        <p:nvGrpSpPr>
          <p:cNvPr id="42" name="Group 41">
            <a:extLst>
              <a:ext uri="{FF2B5EF4-FFF2-40B4-BE49-F238E27FC236}">
                <a16:creationId xmlns:a16="http://schemas.microsoft.com/office/drawing/2014/main" id="{3E3760D5-EA89-8E10-B7FD-8370049545DD}"/>
              </a:ext>
            </a:extLst>
          </p:cNvPr>
          <p:cNvGrpSpPr/>
          <p:nvPr/>
        </p:nvGrpSpPr>
        <p:grpSpPr>
          <a:xfrm>
            <a:off x="3337956" y="4162352"/>
            <a:ext cx="5516088" cy="1735613"/>
            <a:chOff x="3337956" y="4162352"/>
            <a:chExt cx="5516088" cy="1735613"/>
          </a:xfrm>
        </p:grpSpPr>
        <p:sp>
          <p:nvSpPr>
            <p:cNvPr id="7" name="Rectangle: Rounded Corners 6">
              <a:extLst>
                <a:ext uri="{FF2B5EF4-FFF2-40B4-BE49-F238E27FC236}">
                  <a16:creationId xmlns:a16="http://schemas.microsoft.com/office/drawing/2014/main" id="{DDAC4BFC-3AC2-CDF6-6A70-54E3B698E160}"/>
                </a:ext>
              </a:extLst>
            </p:cNvPr>
            <p:cNvSpPr/>
            <p:nvPr/>
          </p:nvSpPr>
          <p:spPr>
            <a:xfrm>
              <a:off x="5286000" y="5321965"/>
              <a:ext cx="1620000" cy="576000"/>
            </a:xfrm>
            <a:prstGeom prst="roundRect">
              <a:avLst/>
            </a:prstGeom>
            <a:ln>
              <a:tailEnd w="lg"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3200" dirty="0"/>
                <a:t>delete</a:t>
              </a:r>
            </a:p>
          </p:txBody>
        </p:sp>
        <p:cxnSp>
          <p:nvCxnSpPr>
            <p:cNvPr id="20" name="Straight Arrow Connector 19">
              <a:extLst>
                <a:ext uri="{FF2B5EF4-FFF2-40B4-BE49-F238E27FC236}">
                  <a16:creationId xmlns:a16="http://schemas.microsoft.com/office/drawing/2014/main" id="{4F7D1DF8-E4A3-503E-0374-FCBF7ED62765}"/>
                </a:ext>
              </a:extLst>
            </p:cNvPr>
            <p:cNvCxnSpPr>
              <a:stCxn id="5" idx="3"/>
              <a:endCxn id="7" idx="1"/>
            </p:cNvCxnSpPr>
            <p:nvPr/>
          </p:nvCxnSpPr>
          <p:spPr>
            <a:xfrm>
              <a:off x="3337956" y="4162352"/>
              <a:ext cx="1948044" cy="1447613"/>
            </a:xfrm>
            <a:prstGeom prst="curvedConnector3">
              <a:avLst>
                <a:gd name="adj1" fmla="val 30644"/>
              </a:avLst>
            </a:prstGeom>
            <a:ln w="38100">
              <a:solidFill>
                <a:srgbClr val="00B050"/>
              </a:solidFill>
              <a:tailEnd type="triangle" w="lg" len="lg"/>
            </a:ln>
          </p:spPr>
          <p:style>
            <a:lnRef idx="1">
              <a:schemeClr val="accent1"/>
            </a:lnRef>
            <a:fillRef idx="0">
              <a:schemeClr val="accent1"/>
            </a:fillRef>
            <a:effectRef idx="0">
              <a:schemeClr val="accent1"/>
            </a:effectRef>
            <a:fontRef idx="minor">
              <a:schemeClr val="tx1"/>
            </a:fontRef>
          </p:style>
        </p:cxnSp>
        <p:cxnSp>
          <p:nvCxnSpPr>
            <p:cNvPr id="28" name="Straight Arrow Connector 27">
              <a:extLst>
                <a:ext uri="{FF2B5EF4-FFF2-40B4-BE49-F238E27FC236}">
                  <a16:creationId xmlns:a16="http://schemas.microsoft.com/office/drawing/2014/main" id="{A565C2C7-1437-CDF9-79D7-B4B948E7344B}"/>
                </a:ext>
              </a:extLst>
            </p:cNvPr>
            <p:cNvCxnSpPr>
              <a:cxnSpLocks/>
              <a:stCxn id="7" idx="3"/>
              <a:endCxn id="6" idx="1"/>
            </p:cNvCxnSpPr>
            <p:nvPr/>
          </p:nvCxnSpPr>
          <p:spPr>
            <a:xfrm flipV="1">
              <a:off x="6906000" y="4162352"/>
              <a:ext cx="1948044" cy="1447613"/>
            </a:xfrm>
            <a:prstGeom prst="curvedConnector3">
              <a:avLst>
                <a:gd name="adj1" fmla="val 69069"/>
              </a:avLst>
            </a:prstGeom>
            <a:ln w="38100">
              <a:solidFill>
                <a:srgbClr val="00B050"/>
              </a:solidFill>
              <a:tailEnd type="triangle" w="lg" len="lg"/>
            </a:ln>
          </p:spPr>
          <p:style>
            <a:lnRef idx="1">
              <a:schemeClr val="accent1"/>
            </a:lnRef>
            <a:fillRef idx="0">
              <a:schemeClr val="accent1"/>
            </a:fillRef>
            <a:effectRef idx="0">
              <a:schemeClr val="accent1"/>
            </a:effectRef>
            <a:fontRef idx="minor">
              <a:schemeClr val="tx1"/>
            </a:fontRef>
          </p:style>
        </p:cxnSp>
      </p:grpSp>
      <p:sp>
        <p:nvSpPr>
          <p:cNvPr id="21" name="TextBox 20">
            <a:extLst>
              <a:ext uri="{FF2B5EF4-FFF2-40B4-BE49-F238E27FC236}">
                <a16:creationId xmlns:a16="http://schemas.microsoft.com/office/drawing/2014/main" id="{0CE56262-06B5-4468-A8EC-F6B52D8201A8}"/>
              </a:ext>
            </a:extLst>
          </p:cNvPr>
          <p:cNvSpPr txBox="1"/>
          <p:nvPr/>
        </p:nvSpPr>
        <p:spPr>
          <a:xfrm>
            <a:off x="4276023" y="6183062"/>
            <a:ext cx="3639954" cy="523220"/>
          </a:xfrm>
          <a:prstGeom prst="rect">
            <a:avLst/>
          </a:prstGeom>
          <a:noFill/>
        </p:spPr>
        <p:txBody>
          <a:bodyPr wrap="square">
            <a:spAutoFit/>
          </a:bodyPr>
          <a:lstStyle/>
          <a:p>
            <a:pPr algn="ctr"/>
            <a:r>
              <a:rPr lang="en-GB" sz="2800" dirty="0">
                <a:solidFill>
                  <a:srgbClr val="7030A0"/>
                </a:solidFill>
              </a:rPr>
              <a:t>Technical language</a:t>
            </a:r>
          </a:p>
        </p:txBody>
      </p:sp>
    </p:spTree>
    <p:extLst>
      <p:ext uri="{BB962C8B-B14F-4D97-AF65-F5344CB8AC3E}">
        <p14:creationId xmlns:p14="http://schemas.microsoft.com/office/powerpoint/2010/main" val="334727623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wipe(left)">
                                      <p:cBhvr>
                                        <p:cTn id="7" dur="1500"/>
                                        <p:tgtEl>
                                          <p:spTgt spid="5"/>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6"/>
                                        </p:tgtEl>
                                        <p:attrNameLst>
                                          <p:attrName>style.visibility</p:attrName>
                                        </p:attrNameLst>
                                      </p:cBhvr>
                                      <p:to>
                                        <p:strVal val="visible"/>
                                      </p:to>
                                    </p:set>
                                    <p:animEffect transition="in" filter="wipe(left)">
                                      <p:cBhvr>
                                        <p:cTn id="12" dur="1500"/>
                                        <p:tgtEl>
                                          <p:spTgt spid="6"/>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nodeType="clickEffect">
                                  <p:stCondLst>
                                    <p:cond delay="0"/>
                                  </p:stCondLst>
                                  <p:childTnLst>
                                    <p:set>
                                      <p:cBhvr>
                                        <p:cTn id="16" dur="1" fill="hold">
                                          <p:stCondLst>
                                            <p:cond delay="0"/>
                                          </p:stCondLst>
                                        </p:cTn>
                                        <p:tgtEl>
                                          <p:spTgt spid="39"/>
                                        </p:tgtEl>
                                        <p:attrNameLst>
                                          <p:attrName>style.visibility</p:attrName>
                                        </p:attrNameLst>
                                      </p:cBhvr>
                                      <p:to>
                                        <p:strVal val="visible"/>
                                      </p:to>
                                    </p:set>
                                    <p:animEffect transition="in" filter="wipe(left)">
                                      <p:cBhvr>
                                        <p:cTn id="17" dur="3000"/>
                                        <p:tgtEl>
                                          <p:spTgt spid="39"/>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nodeType="clickEffect">
                                  <p:stCondLst>
                                    <p:cond delay="0"/>
                                  </p:stCondLst>
                                  <p:childTnLst>
                                    <p:set>
                                      <p:cBhvr>
                                        <p:cTn id="21" dur="1" fill="hold">
                                          <p:stCondLst>
                                            <p:cond delay="0"/>
                                          </p:stCondLst>
                                        </p:cTn>
                                        <p:tgtEl>
                                          <p:spTgt spid="40"/>
                                        </p:tgtEl>
                                        <p:attrNameLst>
                                          <p:attrName>style.visibility</p:attrName>
                                        </p:attrNameLst>
                                      </p:cBhvr>
                                      <p:to>
                                        <p:strVal val="visible"/>
                                      </p:to>
                                    </p:set>
                                    <p:animEffect transition="in" filter="wipe(left)">
                                      <p:cBhvr>
                                        <p:cTn id="22" dur="3000"/>
                                        <p:tgtEl>
                                          <p:spTgt spid="40"/>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nodeType="clickEffect">
                                  <p:stCondLst>
                                    <p:cond delay="0"/>
                                  </p:stCondLst>
                                  <p:childTnLst>
                                    <p:set>
                                      <p:cBhvr>
                                        <p:cTn id="26" dur="1" fill="hold">
                                          <p:stCondLst>
                                            <p:cond delay="0"/>
                                          </p:stCondLst>
                                        </p:cTn>
                                        <p:tgtEl>
                                          <p:spTgt spid="41"/>
                                        </p:tgtEl>
                                        <p:attrNameLst>
                                          <p:attrName>style.visibility</p:attrName>
                                        </p:attrNameLst>
                                      </p:cBhvr>
                                      <p:to>
                                        <p:strVal val="visible"/>
                                      </p:to>
                                    </p:set>
                                    <p:animEffect transition="in" filter="wipe(left)">
                                      <p:cBhvr>
                                        <p:cTn id="27" dur="3000"/>
                                        <p:tgtEl>
                                          <p:spTgt spid="41"/>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nodeType="clickEffect">
                                  <p:stCondLst>
                                    <p:cond delay="0"/>
                                  </p:stCondLst>
                                  <p:childTnLst>
                                    <p:set>
                                      <p:cBhvr>
                                        <p:cTn id="31" dur="1" fill="hold">
                                          <p:stCondLst>
                                            <p:cond delay="0"/>
                                          </p:stCondLst>
                                        </p:cTn>
                                        <p:tgtEl>
                                          <p:spTgt spid="42"/>
                                        </p:tgtEl>
                                        <p:attrNameLst>
                                          <p:attrName>style.visibility</p:attrName>
                                        </p:attrNameLst>
                                      </p:cBhvr>
                                      <p:to>
                                        <p:strVal val="visible"/>
                                      </p:to>
                                    </p:set>
                                    <p:animEffect transition="in" filter="wipe(left)">
                                      <p:cBhvr>
                                        <p:cTn id="32" dur="3000"/>
                                        <p:tgtEl>
                                          <p:spTgt spid="42"/>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21"/>
                                        </p:tgtEl>
                                        <p:attrNameLst>
                                          <p:attrName>style.visibility</p:attrName>
                                        </p:attrNameLst>
                                      </p:cBhvr>
                                      <p:to>
                                        <p:strVal val="visible"/>
                                      </p:to>
                                    </p:set>
                                    <p:animEffect transition="in" filter="wipe(left)">
                                      <p:cBhvr>
                                        <p:cTn id="37" dur="1500"/>
                                        <p:tgtEl>
                                          <p:spTgt spid="2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21" grpId="0"/>
    </p:bldLst>
  </p:timing>
</p:sld>
</file>

<file path=ppt/slides/slide169.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B3977BA9-5052-AEBB-63AE-9572018FCAC5}"/>
              </a:ext>
            </a:extLst>
          </p:cNvPr>
          <p:cNvSpPr>
            <a:spLocks noGrp="1"/>
          </p:cNvSpPr>
          <p:nvPr>
            <p:ph type="title"/>
          </p:nvPr>
        </p:nvSpPr>
        <p:spPr/>
        <p:txBody>
          <a:bodyPr/>
          <a:lstStyle/>
          <a:p>
            <a:r>
              <a:rPr lang="en-GB" dirty="0"/>
              <a:t>Functional Requirements (Queries)</a:t>
            </a:r>
          </a:p>
        </p:txBody>
      </p:sp>
      <p:sp>
        <p:nvSpPr>
          <p:cNvPr id="5" name="Rectangle: Rounded Corners 4">
            <a:extLst>
              <a:ext uri="{FF2B5EF4-FFF2-40B4-BE49-F238E27FC236}">
                <a16:creationId xmlns:a16="http://schemas.microsoft.com/office/drawing/2014/main" id="{14D164DF-E92D-CBB7-F339-F11144806BD0}"/>
              </a:ext>
            </a:extLst>
          </p:cNvPr>
          <p:cNvSpPr/>
          <p:nvPr/>
        </p:nvSpPr>
        <p:spPr>
          <a:xfrm>
            <a:off x="349956" y="3442352"/>
            <a:ext cx="2988000" cy="1440000"/>
          </a:xfrm>
          <a:prstGeom prst="roundRect">
            <a:avLst/>
          </a:prstGeom>
          <a:noFill/>
          <a:ln w="3810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sz="3200" dirty="0"/>
          </a:p>
        </p:txBody>
      </p:sp>
      <p:sp>
        <p:nvSpPr>
          <p:cNvPr id="6" name="Rectangle: Rounded Corners 5">
            <a:extLst>
              <a:ext uri="{FF2B5EF4-FFF2-40B4-BE49-F238E27FC236}">
                <a16:creationId xmlns:a16="http://schemas.microsoft.com/office/drawing/2014/main" id="{AAD69D90-28B7-7A05-046C-3A5212110F16}"/>
              </a:ext>
            </a:extLst>
          </p:cNvPr>
          <p:cNvSpPr/>
          <p:nvPr/>
        </p:nvSpPr>
        <p:spPr>
          <a:xfrm>
            <a:off x="8854044" y="3442352"/>
            <a:ext cx="2988000" cy="1440000"/>
          </a:xfrm>
          <a:prstGeom prst="roundRect">
            <a:avLst/>
          </a:prstGeom>
          <a:noFill/>
          <a:ln w="3810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sz="3200" dirty="0"/>
          </a:p>
        </p:txBody>
      </p:sp>
      <p:grpSp>
        <p:nvGrpSpPr>
          <p:cNvPr id="39" name="Group 38">
            <a:extLst>
              <a:ext uri="{FF2B5EF4-FFF2-40B4-BE49-F238E27FC236}">
                <a16:creationId xmlns:a16="http://schemas.microsoft.com/office/drawing/2014/main" id="{99B7C9B5-1940-69D9-ED01-2BE6CFD0E7DF}"/>
              </a:ext>
            </a:extLst>
          </p:cNvPr>
          <p:cNvGrpSpPr/>
          <p:nvPr/>
        </p:nvGrpSpPr>
        <p:grpSpPr>
          <a:xfrm>
            <a:off x="3337956" y="2290900"/>
            <a:ext cx="5516088" cy="1871452"/>
            <a:chOff x="3337956" y="2290900"/>
            <a:chExt cx="5516088" cy="1871452"/>
          </a:xfrm>
        </p:grpSpPr>
        <p:sp>
          <p:nvSpPr>
            <p:cNvPr id="10" name="Rectangle: Rounded Corners 9">
              <a:extLst>
                <a:ext uri="{FF2B5EF4-FFF2-40B4-BE49-F238E27FC236}">
                  <a16:creationId xmlns:a16="http://schemas.microsoft.com/office/drawing/2014/main" id="{BFAC4B34-BF94-3A70-1101-76BA02F53E6D}"/>
                </a:ext>
              </a:extLst>
            </p:cNvPr>
            <p:cNvSpPr/>
            <p:nvPr/>
          </p:nvSpPr>
          <p:spPr>
            <a:xfrm>
              <a:off x="5286000" y="2290900"/>
              <a:ext cx="1620000" cy="576000"/>
            </a:xfrm>
            <a:prstGeom prst="roundRect">
              <a:avLst/>
            </a:prstGeom>
            <a:noFill/>
            <a:ln w="28575">
              <a:tailEnd w="lg"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sz="3200" dirty="0"/>
            </a:p>
          </p:txBody>
        </p:sp>
        <p:cxnSp>
          <p:nvCxnSpPr>
            <p:cNvPr id="13" name="Straight Arrow Connector 12">
              <a:extLst>
                <a:ext uri="{FF2B5EF4-FFF2-40B4-BE49-F238E27FC236}">
                  <a16:creationId xmlns:a16="http://schemas.microsoft.com/office/drawing/2014/main" id="{706068DC-3EE2-FCC1-B884-AD1137DF4DA6}"/>
                </a:ext>
              </a:extLst>
            </p:cNvPr>
            <p:cNvCxnSpPr>
              <a:stCxn id="5" idx="3"/>
              <a:endCxn id="10" idx="1"/>
            </p:cNvCxnSpPr>
            <p:nvPr/>
          </p:nvCxnSpPr>
          <p:spPr>
            <a:xfrm flipV="1">
              <a:off x="3337956" y="2578900"/>
              <a:ext cx="1948044" cy="1583452"/>
            </a:xfrm>
            <a:prstGeom prst="curvedConnector3">
              <a:avLst>
                <a:gd name="adj1" fmla="val 31122"/>
              </a:avLst>
            </a:prstGeom>
            <a:ln w="38100">
              <a:solidFill>
                <a:srgbClr val="FF0000"/>
              </a:solidFill>
              <a:tailEnd type="triangle" w="lg" len="lg"/>
            </a:ln>
          </p:spPr>
          <p:style>
            <a:lnRef idx="1">
              <a:schemeClr val="accent1"/>
            </a:lnRef>
            <a:fillRef idx="0">
              <a:schemeClr val="accent1"/>
            </a:fillRef>
            <a:effectRef idx="0">
              <a:schemeClr val="accent1"/>
            </a:effectRef>
            <a:fontRef idx="minor">
              <a:schemeClr val="tx1"/>
            </a:fontRef>
          </p:style>
        </p:cxnSp>
        <p:cxnSp>
          <p:nvCxnSpPr>
            <p:cNvPr id="22" name="Straight Arrow Connector 21">
              <a:extLst>
                <a:ext uri="{FF2B5EF4-FFF2-40B4-BE49-F238E27FC236}">
                  <a16:creationId xmlns:a16="http://schemas.microsoft.com/office/drawing/2014/main" id="{20D5A7B2-B7AD-7D36-8EB1-D7BDBEFC1604}"/>
                </a:ext>
              </a:extLst>
            </p:cNvPr>
            <p:cNvCxnSpPr>
              <a:stCxn id="10" idx="3"/>
              <a:endCxn id="6" idx="1"/>
            </p:cNvCxnSpPr>
            <p:nvPr/>
          </p:nvCxnSpPr>
          <p:spPr>
            <a:xfrm>
              <a:off x="6906000" y="2578900"/>
              <a:ext cx="1948044" cy="1583452"/>
            </a:xfrm>
            <a:prstGeom prst="curvedConnector3">
              <a:avLst>
                <a:gd name="adj1" fmla="val 69069"/>
              </a:avLst>
            </a:prstGeom>
            <a:ln w="38100">
              <a:solidFill>
                <a:srgbClr val="FF0000"/>
              </a:solidFill>
              <a:tailEnd type="triangle" w="lg" len="lg"/>
            </a:ln>
          </p:spPr>
          <p:style>
            <a:lnRef idx="1">
              <a:schemeClr val="accent1"/>
            </a:lnRef>
            <a:fillRef idx="0">
              <a:schemeClr val="accent1"/>
            </a:fillRef>
            <a:effectRef idx="0">
              <a:schemeClr val="accent1"/>
            </a:effectRef>
            <a:fontRef idx="minor">
              <a:schemeClr val="tx1"/>
            </a:fontRef>
          </p:style>
        </p:cxnSp>
      </p:grpSp>
      <p:grpSp>
        <p:nvGrpSpPr>
          <p:cNvPr id="40" name="Group 39">
            <a:extLst>
              <a:ext uri="{FF2B5EF4-FFF2-40B4-BE49-F238E27FC236}">
                <a16:creationId xmlns:a16="http://schemas.microsoft.com/office/drawing/2014/main" id="{DE04E227-EC5E-5B11-8E1B-4FDBA3493BC6}"/>
              </a:ext>
            </a:extLst>
          </p:cNvPr>
          <p:cNvGrpSpPr/>
          <p:nvPr/>
        </p:nvGrpSpPr>
        <p:grpSpPr>
          <a:xfrm>
            <a:off x="3337956" y="3301255"/>
            <a:ext cx="5516088" cy="861097"/>
            <a:chOff x="3337956" y="3301255"/>
            <a:chExt cx="5516088" cy="861097"/>
          </a:xfrm>
        </p:grpSpPr>
        <p:sp>
          <p:nvSpPr>
            <p:cNvPr id="9" name="Rectangle: Rounded Corners 8">
              <a:extLst>
                <a:ext uri="{FF2B5EF4-FFF2-40B4-BE49-F238E27FC236}">
                  <a16:creationId xmlns:a16="http://schemas.microsoft.com/office/drawing/2014/main" id="{06EF0D47-7B57-60F1-3B60-0A56D6754DAD}"/>
                </a:ext>
              </a:extLst>
            </p:cNvPr>
            <p:cNvSpPr/>
            <p:nvPr/>
          </p:nvSpPr>
          <p:spPr>
            <a:xfrm>
              <a:off x="5286000" y="3301255"/>
              <a:ext cx="1620000" cy="576000"/>
            </a:xfrm>
            <a:prstGeom prst="roundRect">
              <a:avLst/>
            </a:prstGeom>
            <a:noFill/>
            <a:ln w="28575">
              <a:tailEnd w="lg"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sz="3200" dirty="0"/>
            </a:p>
          </p:txBody>
        </p:sp>
        <p:cxnSp>
          <p:nvCxnSpPr>
            <p:cNvPr id="16" name="Straight Arrow Connector 15">
              <a:extLst>
                <a:ext uri="{FF2B5EF4-FFF2-40B4-BE49-F238E27FC236}">
                  <a16:creationId xmlns:a16="http://schemas.microsoft.com/office/drawing/2014/main" id="{A2C04D05-B888-B28C-3B89-A1C1A5DEA472}"/>
                </a:ext>
              </a:extLst>
            </p:cNvPr>
            <p:cNvCxnSpPr>
              <a:cxnSpLocks/>
              <a:stCxn id="5" idx="3"/>
              <a:endCxn id="9" idx="1"/>
            </p:cNvCxnSpPr>
            <p:nvPr/>
          </p:nvCxnSpPr>
          <p:spPr>
            <a:xfrm flipV="1">
              <a:off x="3337956" y="3589255"/>
              <a:ext cx="1948044" cy="573097"/>
            </a:xfrm>
            <a:prstGeom prst="curvedConnector3">
              <a:avLst>
                <a:gd name="adj1" fmla="val 31611"/>
              </a:avLst>
            </a:prstGeom>
            <a:ln w="38100">
              <a:solidFill>
                <a:srgbClr val="FFC000"/>
              </a:solidFill>
              <a:tailEnd type="triangle" w="lg" len="lg"/>
            </a:ln>
          </p:spPr>
          <p:style>
            <a:lnRef idx="1">
              <a:schemeClr val="accent1"/>
            </a:lnRef>
            <a:fillRef idx="0">
              <a:schemeClr val="accent1"/>
            </a:fillRef>
            <a:effectRef idx="0">
              <a:schemeClr val="accent1"/>
            </a:effectRef>
            <a:fontRef idx="minor">
              <a:schemeClr val="tx1"/>
            </a:fontRef>
          </p:style>
        </p:cxnSp>
        <p:cxnSp>
          <p:nvCxnSpPr>
            <p:cNvPr id="24" name="Straight Arrow Connector 23">
              <a:extLst>
                <a:ext uri="{FF2B5EF4-FFF2-40B4-BE49-F238E27FC236}">
                  <a16:creationId xmlns:a16="http://schemas.microsoft.com/office/drawing/2014/main" id="{9348DE9A-1D2D-72E3-162F-0D7068291FDF}"/>
                </a:ext>
              </a:extLst>
            </p:cNvPr>
            <p:cNvCxnSpPr>
              <a:stCxn id="9" idx="3"/>
              <a:endCxn id="6" idx="1"/>
            </p:cNvCxnSpPr>
            <p:nvPr/>
          </p:nvCxnSpPr>
          <p:spPr>
            <a:xfrm>
              <a:off x="6906000" y="3589255"/>
              <a:ext cx="1948044" cy="573097"/>
            </a:xfrm>
            <a:prstGeom prst="curvedConnector3">
              <a:avLst>
                <a:gd name="adj1" fmla="val 69558"/>
              </a:avLst>
            </a:prstGeom>
            <a:ln w="38100">
              <a:solidFill>
                <a:srgbClr val="FFC000"/>
              </a:solidFill>
              <a:tailEnd type="triangle" w="lg" len="lg"/>
            </a:ln>
          </p:spPr>
          <p:style>
            <a:lnRef idx="1">
              <a:schemeClr val="accent1"/>
            </a:lnRef>
            <a:fillRef idx="0">
              <a:schemeClr val="accent1"/>
            </a:fillRef>
            <a:effectRef idx="0">
              <a:schemeClr val="accent1"/>
            </a:effectRef>
            <a:fontRef idx="minor">
              <a:schemeClr val="tx1"/>
            </a:fontRef>
          </p:style>
        </p:cxnSp>
      </p:grpSp>
      <p:grpSp>
        <p:nvGrpSpPr>
          <p:cNvPr id="41" name="Group 40">
            <a:extLst>
              <a:ext uri="{FF2B5EF4-FFF2-40B4-BE49-F238E27FC236}">
                <a16:creationId xmlns:a16="http://schemas.microsoft.com/office/drawing/2014/main" id="{D0D29CB2-063F-BC3D-5B79-F592688F21ED}"/>
              </a:ext>
            </a:extLst>
          </p:cNvPr>
          <p:cNvGrpSpPr/>
          <p:nvPr/>
        </p:nvGrpSpPr>
        <p:grpSpPr>
          <a:xfrm>
            <a:off x="3337956" y="4162352"/>
            <a:ext cx="5516088" cy="725258"/>
            <a:chOff x="3337956" y="4162352"/>
            <a:chExt cx="5516088" cy="725258"/>
          </a:xfrm>
        </p:grpSpPr>
        <p:sp>
          <p:nvSpPr>
            <p:cNvPr id="8" name="Rectangle: Rounded Corners 7">
              <a:extLst>
                <a:ext uri="{FF2B5EF4-FFF2-40B4-BE49-F238E27FC236}">
                  <a16:creationId xmlns:a16="http://schemas.microsoft.com/office/drawing/2014/main" id="{681D8EBA-C9CF-E11E-8335-B5E1C0BD4897}"/>
                </a:ext>
              </a:extLst>
            </p:cNvPr>
            <p:cNvSpPr/>
            <p:nvPr/>
          </p:nvSpPr>
          <p:spPr>
            <a:xfrm>
              <a:off x="5286000" y="4311610"/>
              <a:ext cx="1620000" cy="576000"/>
            </a:xfrm>
            <a:prstGeom prst="roundRect">
              <a:avLst/>
            </a:prstGeom>
            <a:noFill/>
            <a:ln w="28575">
              <a:tailEnd w="lg"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sz="3200" dirty="0"/>
            </a:p>
          </p:txBody>
        </p:sp>
        <p:cxnSp>
          <p:nvCxnSpPr>
            <p:cNvPr id="18" name="Straight Arrow Connector 17">
              <a:extLst>
                <a:ext uri="{FF2B5EF4-FFF2-40B4-BE49-F238E27FC236}">
                  <a16:creationId xmlns:a16="http://schemas.microsoft.com/office/drawing/2014/main" id="{4F8C6197-C09C-3507-D9E1-77BDF13D49D2}"/>
                </a:ext>
              </a:extLst>
            </p:cNvPr>
            <p:cNvCxnSpPr>
              <a:stCxn id="5" idx="3"/>
              <a:endCxn id="8" idx="1"/>
            </p:cNvCxnSpPr>
            <p:nvPr/>
          </p:nvCxnSpPr>
          <p:spPr>
            <a:xfrm>
              <a:off x="3337956" y="4162352"/>
              <a:ext cx="1948044" cy="437258"/>
            </a:xfrm>
            <a:prstGeom prst="curvedConnector3">
              <a:avLst>
                <a:gd name="adj1" fmla="val 30959"/>
              </a:avLst>
            </a:prstGeom>
            <a:ln w="38100">
              <a:solidFill>
                <a:srgbClr val="FFFF00"/>
              </a:solidFill>
              <a:tailEnd type="triangle" w="lg" len="lg"/>
            </a:ln>
          </p:spPr>
          <p:style>
            <a:lnRef idx="1">
              <a:schemeClr val="accent1"/>
            </a:lnRef>
            <a:fillRef idx="0">
              <a:schemeClr val="accent1"/>
            </a:fillRef>
            <a:effectRef idx="0">
              <a:schemeClr val="accent1"/>
            </a:effectRef>
            <a:fontRef idx="minor">
              <a:schemeClr val="tx1"/>
            </a:fontRef>
          </p:style>
        </p:cxnSp>
        <p:cxnSp>
          <p:nvCxnSpPr>
            <p:cNvPr id="26" name="Straight Arrow Connector 25">
              <a:extLst>
                <a:ext uri="{FF2B5EF4-FFF2-40B4-BE49-F238E27FC236}">
                  <a16:creationId xmlns:a16="http://schemas.microsoft.com/office/drawing/2014/main" id="{190ABB77-9281-89C2-0741-89A308B68B9D}"/>
                </a:ext>
              </a:extLst>
            </p:cNvPr>
            <p:cNvCxnSpPr>
              <a:stCxn id="8" idx="3"/>
              <a:endCxn id="6" idx="1"/>
            </p:cNvCxnSpPr>
            <p:nvPr/>
          </p:nvCxnSpPr>
          <p:spPr>
            <a:xfrm flipV="1">
              <a:off x="6906000" y="4162352"/>
              <a:ext cx="1948044" cy="437258"/>
            </a:xfrm>
            <a:prstGeom prst="curvedConnector3">
              <a:avLst>
                <a:gd name="adj1" fmla="val 69558"/>
              </a:avLst>
            </a:prstGeom>
            <a:ln w="38100">
              <a:solidFill>
                <a:srgbClr val="FFFF00"/>
              </a:solidFill>
              <a:tailEnd type="triangle" w="lg" len="lg"/>
            </a:ln>
          </p:spPr>
          <p:style>
            <a:lnRef idx="1">
              <a:schemeClr val="accent1"/>
            </a:lnRef>
            <a:fillRef idx="0">
              <a:schemeClr val="accent1"/>
            </a:fillRef>
            <a:effectRef idx="0">
              <a:schemeClr val="accent1"/>
            </a:effectRef>
            <a:fontRef idx="minor">
              <a:schemeClr val="tx1"/>
            </a:fontRef>
          </p:style>
        </p:cxnSp>
      </p:grpSp>
      <p:grpSp>
        <p:nvGrpSpPr>
          <p:cNvPr id="42" name="Group 41">
            <a:extLst>
              <a:ext uri="{FF2B5EF4-FFF2-40B4-BE49-F238E27FC236}">
                <a16:creationId xmlns:a16="http://schemas.microsoft.com/office/drawing/2014/main" id="{3E3760D5-EA89-8E10-B7FD-8370049545DD}"/>
              </a:ext>
            </a:extLst>
          </p:cNvPr>
          <p:cNvGrpSpPr/>
          <p:nvPr/>
        </p:nvGrpSpPr>
        <p:grpSpPr>
          <a:xfrm>
            <a:off x="3337956" y="4162352"/>
            <a:ext cx="5516088" cy="1735613"/>
            <a:chOff x="3337956" y="4162352"/>
            <a:chExt cx="5516088" cy="1735613"/>
          </a:xfrm>
        </p:grpSpPr>
        <p:sp>
          <p:nvSpPr>
            <p:cNvPr id="7" name="Rectangle: Rounded Corners 6">
              <a:extLst>
                <a:ext uri="{FF2B5EF4-FFF2-40B4-BE49-F238E27FC236}">
                  <a16:creationId xmlns:a16="http://schemas.microsoft.com/office/drawing/2014/main" id="{DDAC4BFC-3AC2-CDF6-6A70-54E3B698E160}"/>
                </a:ext>
              </a:extLst>
            </p:cNvPr>
            <p:cNvSpPr/>
            <p:nvPr/>
          </p:nvSpPr>
          <p:spPr>
            <a:xfrm>
              <a:off x="5286000" y="5321965"/>
              <a:ext cx="1620000" cy="576000"/>
            </a:xfrm>
            <a:prstGeom prst="roundRect">
              <a:avLst/>
            </a:prstGeom>
            <a:noFill/>
            <a:ln w="28575">
              <a:solidFill>
                <a:schemeClr val="tx1"/>
              </a:solidFill>
              <a:tailEnd w="lg"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sz="3200" dirty="0"/>
            </a:p>
          </p:txBody>
        </p:sp>
        <p:cxnSp>
          <p:nvCxnSpPr>
            <p:cNvPr id="20" name="Straight Arrow Connector 19">
              <a:extLst>
                <a:ext uri="{FF2B5EF4-FFF2-40B4-BE49-F238E27FC236}">
                  <a16:creationId xmlns:a16="http://schemas.microsoft.com/office/drawing/2014/main" id="{4F7D1DF8-E4A3-503E-0374-FCBF7ED62765}"/>
                </a:ext>
              </a:extLst>
            </p:cNvPr>
            <p:cNvCxnSpPr>
              <a:stCxn id="5" idx="3"/>
              <a:endCxn id="7" idx="1"/>
            </p:cNvCxnSpPr>
            <p:nvPr/>
          </p:nvCxnSpPr>
          <p:spPr>
            <a:xfrm>
              <a:off x="3337956" y="4162352"/>
              <a:ext cx="1948044" cy="1447613"/>
            </a:xfrm>
            <a:prstGeom prst="curvedConnector3">
              <a:avLst>
                <a:gd name="adj1" fmla="val 30644"/>
              </a:avLst>
            </a:prstGeom>
            <a:ln w="38100">
              <a:solidFill>
                <a:srgbClr val="00B050"/>
              </a:solidFill>
              <a:tailEnd type="triangle" w="lg" len="lg"/>
            </a:ln>
          </p:spPr>
          <p:style>
            <a:lnRef idx="1">
              <a:schemeClr val="accent1"/>
            </a:lnRef>
            <a:fillRef idx="0">
              <a:schemeClr val="accent1"/>
            </a:fillRef>
            <a:effectRef idx="0">
              <a:schemeClr val="accent1"/>
            </a:effectRef>
            <a:fontRef idx="minor">
              <a:schemeClr val="tx1"/>
            </a:fontRef>
          </p:style>
        </p:cxnSp>
        <p:cxnSp>
          <p:nvCxnSpPr>
            <p:cNvPr id="28" name="Straight Arrow Connector 27">
              <a:extLst>
                <a:ext uri="{FF2B5EF4-FFF2-40B4-BE49-F238E27FC236}">
                  <a16:creationId xmlns:a16="http://schemas.microsoft.com/office/drawing/2014/main" id="{A565C2C7-1437-CDF9-79D7-B4B948E7344B}"/>
                </a:ext>
              </a:extLst>
            </p:cNvPr>
            <p:cNvCxnSpPr>
              <a:stCxn id="7" idx="3"/>
              <a:endCxn id="6" idx="1"/>
            </p:cNvCxnSpPr>
            <p:nvPr/>
          </p:nvCxnSpPr>
          <p:spPr>
            <a:xfrm flipV="1">
              <a:off x="6906000" y="4162352"/>
              <a:ext cx="1948044" cy="1447613"/>
            </a:xfrm>
            <a:prstGeom prst="curvedConnector3">
              <a:avLst>
                <a:gd name="adj1" fmla="val 69069"/>
              </a:avLst>
            </a:prstGeom>
            <a:ln w="38100">
              <a:solidFill>
                <a:srgbClr val="00B050"/>
              </a:solidFill>
              <a:tailEnd type="triangle" w="lg" len="lg"/>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1251185072"/>
      </p:ext>
    </p:extLst>
  </p:cSld>
  <p:clrMapOvr>
    <a:masterClrMapping/>
  </p:clrMapOvr>
</p:sld>
</file>

<file path=ppt/slides/slide1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Learning Intentions</a:t>
            </a:r>
          </a:p>
        </p:txBody>
      </p:sp>
      <p:sp>
        <p:nvSpPr>
          <p:cNvPr id="3" name="Content Placeholder 2"/>
          <p:cNvSpPr>
            <a:spLocks noGrp="1"/>
          </p:cNvSpPr>
          <p:nvPr>
            <p:ph idx="1"/>
          </p:nvPr>
        </p:nvSpPr>
        <p:spPr/>
        <p:txBody>
          <a:bodyPr/>
          <a:lstStyle/>
          <a:p>
            <a:r>
              <a:rPr lang="en-GB" dirty="0"/>
              <a:t>Describe and exemplify entity-relationship diagrams with two entities indicating:</a:t>
            </a:r>
          </a:p>
          <a:p>
            <a:pPr lvl="1"/>
            <a:r>
              <a:rPr lang="en-GB" sz="2800" dirty="0"/>
              <a:t>entity name</a:t>
            </a:r>
          </a:p>
          <a:p>
            <a:pPr lvl="1"/>
            <a:r>
              <a:rPr lang="en-GB" sz="2800" dirty="0"/>
              <a:t>attributes</a:t>
            </a:r>
          </a:p>
          <a:p>
            <a:pPr lvl="1"/>
            <a:r>
              <a:rPr lang="en-GB" sz="2800" dirty="0"/>
              <a:t>relationship (one-to-many) </a:t>
            </a:r>
          </a:p>
        </p:txBody>
      </p:sp>
    </p:spTree>
    <p:extLst>
      <p:ext uri="{BB962C8B-B14F-4D97-AF65-F5344CB8AC3E}">
        <p14:creationId xmlns:p14="http://schemas.microsoft.com/office/powerpoint/2010/main" val="3936560546"/>
      </p:ext>
    </p:extLst>
  </p:cSld>
  <p:clrMapOvr>
    <a:masterClrMapping/>
  </p:clrMapOvr>
</p:sld>
</file>

<file path=ppt/slides/slide1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Tables / Fields</a:t>
            </a:r>
          </a:p>
        </p:txBody>
      </p:sp>
      <p:sp>
        <p:nvSpPr>
          <p:cNvPr id="15" name="TextBox 14">
            <a:extLst>
              <a:ext uri="{FF2B5EF4-FFF2-40B4-BE49-F238E27FC236}">
                <a16:creationId xmlns:a16="http://schemas.microsoft.com/office/drawing/2014/main" id="{B935E981-B7C6-4BDF-ADC2-EFF2B075D3D8}"/>
              </a:ext>
            </a:extLst>
          </p:cNvPr>
          <p:cNvSpPr txBox="1"/>
          <p:nvPr/>
        </p:nvSpPr>
        <p:spPr>
          <a:xfrm>
            <a:off x="838200" y="1559731"/>
            <a:ext cx="5803384" cy="584775"/>
          </a:xfrm>
          <a:prstGeom prst="rect">
            <a:avLst/>
          </a:prstGeom>
          <a:noFill/>
        </p:spPr>
        <p:txBody>
          <a:bodyPr wrap="none" rtlCol="0">
            <a:spAutoFit/>
          </a:bodyPr>
          <a:lstStyle/>
          <a:p>
            <a:r>
              <a:rPr lang="en-GB" sz="3200" b="1" dirty="0">
                <a:solidFill>
                  <a:srgbClr val="7030A0"/>
                </a:solidFill>
              </a:rPr>
              <a:t>Each table has a number of fields</a:t>
            </a:r>
          </a:p>
        </p:txBody>
      </p:sp>
      <p:sp>
        <p:nvSpPr>
          <p:cNvPr id="10" name="Callout: Bent Line with No Border 4">
            <a:extLst>
              <a:ext uri="{FF2B5EF4-FFF2-40B4-BE49-F238E27FC236}">
                <a16:creationId xmlns:a16="http://schemas.microsoft.com/office/drawing/2014/main" id="{924404A3-ED4C-4699-9CA9-EFEB23F51AA9}"/>
              </a:ext>
            </a:extLst>
          </p:cNvPr>
          <p:cNvSpPr/>
          <p:nvPr/>
        </p:nvSpPr>
        <p:spPr>
          <a:xfrm>
            <a:off x="905106" y="5917397"/>
            <a:ext cx="1480165" cy="715010"/>
          </a:xfrm>
          <a:prstGeom prst="callout2">
            <a:avLst>
              <a:gd name="adj1" fmla="val 49806"/>
              <a:gd name="adj2" fmla="val 101751"/>
              <a:gd name="adj3" fmla="val 51303"/>
              <a:gd name="adj4" fmla="val 142945"/>
              <a:gd name="adj5" fmla="val -20715"/>
              <a:gd name="adj6" fmla="val 164188"/>
            </a:avLst>
          </a:prstGeom>
          <a:noFill/>
          <a:ln w="38100">
            <a:solidFill>
              <a:srgbClr val="FF0000"/>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4 fields</a:t>
            </a:r>
          </a:p>
        </p:txBody>
      </p:sp>
      <p:sp>
        <p:nvSpPr>
          <p:cNvPr id="11" name="Callout: Bent Line with No Border 4">
            <a:extLst>
              <a:ext uri="{FF2B5EF4-FFF2-40B4-BE49-F238E27FC236}">
                <a16:creationId xmlns:a16="http://schemas.microsoft.com/office/drawing/2014/main" id="{924404A3-ED4C-4699-9CA9-EFEB23F51AA9}"/>
              </a:ext>
            </a:extLst>
          </p:cNvPr>
          <p:cNvSpPr/>
          <p:nvPr/>
        </p:nvSpPr>
        <p:spPr>
          <a:xfrm>
            <a:off x="7828154" y="4733331"/>
            <a:ext cx="1444363" cy="715010"/>
          </a:xfrm>
          <a:prstGeom prst="callout2">
            <a:avLst>
              <a:gd name="adj1" fmla="val 49806"/>
              <a:gd name="adj2" fmla="val 101751"/>
              <a:gd name="adj3" fmla="val 51303"/>
              <a:gd name="adj4" fmla="val 142945"/>
              <a:gd name="adj5" fmla="val -22275"/>
              <a:gd name="adj6" fmla="val 151320"/>
            </a:avLst>
          </a:prstGeom>
          <a:noFill/>
          <a:ln w="38100">
            <a:solidFill>
              <a:srgbClr val="FF0000"/>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3 fields</a:t>
            </a:r>
          </a:p>
        </p:txBody>
      </p:sp>
      <p:graphicFrame>
        <p:nvGraphicFramePr>
          <p:cNvPr id="12" name="Staff table">
            <a:extLst>
              <a:ext uri="{FF2B5EF4-FFF2-40B4-BE49-F238E27FC236}">
                <a16:creationId xmlns:a16="http://schemas.microsoft.com/office/drawing/2014/main" id="{57241102-6FFA-4A48-B0F0-30D2048C3B7F}"/>
              </a:ext>
            </a:extLst>
          </p:cNvPr>
          <p:cNvGraphicFramePr>
            <a:graphicFrameLocks/>
          </p:cNvGraphicFramePr>
          <p:nvPr>
            <p:extLst>
              <p:ext uri="{D42A27DB-BD31-4B8C-83A1-F6EECF244321}">
                <p14:modId xmlns:p14="http://schemas.microsoft.com/office/powerpoint/2010/main" val="1756753879"/>
              </p:ext>
            </p:extLst>
          </p:nvPr>
        </p:nvGraphicFramePr>
        <p:xfrm>
          <a:off x="838200" y="2708988"/>
          <a:ext cx="5721413" cy="2962760"/>
        </p:xfrm>
        <a:graphic>
          <a:graphicData uri="http://schemas.openxmlformats.org/drawingml/2006/table">
            <a:tbl>
              <a:tblPr firstRow="1" bandRow="1">
                <a:tableStyleId>{5C22544A-7EE6-4342-B048-85BDC9FD1C3A}</a:tableStyleId>
              </a:tblPr>
              <a:tblGrid>
                <a:gridCol w="638492">
                  <a:extLst>
                    <a:ext uri="{9D8B030D-6E8A-4147-A177-3AD203B41FA5}">
                      <a16:colId xmlns:a16="http://schemas.microsoft.com/office/drawing/2014/main" val="1632358923"/>
                    </a:ext>
                  </a:extLst>
                </a:gridCol>
                <a:gridCol w="1913636">
                  <a:extLst>
                    <a:ext uri="{9D8B030D-6E8A-4147-A177-3AD203B41FA5}">
                      <a16:colId xmlns:a16="http://schemas.microsoft.com/office/drawing/2014/main" val="3505833113"/>
                    </a:ext>
                  </a:extLst>
                </a:gridCol>
                <a:gridCol w="1751330">
                  <a:extLst>
                    <a:ext uri="{9D8B030D-6E8A-4147-A177-3AD203B41FA5}">
                      <a16:colId xmlns:a16="http://schemas.microsoft.com/office/drawing/2014/main" val="3401749839"/>
                    </a:ext>
                  </a:extLst>
                </a:gridCol>
                <a:gridCol w="1417955">
                  <a:extLst>
                    <a:ext uri="{9D8B030D-6E8A-4147-A177-3AD203B41FA5}">
                      <a16:colId xmlns:a16="http://schemas.microsoft.com/office/drawing/2014/main" val="415971381"/>
                    </a:ext>
                  </a:extLst>
                </a:gridCol>
              </a:tblGrid>
              <a:tr h="592552">
                <a:tc>
                  <a:txBody>
                    <a:bodyPr/>
                    <a:lstStyle/>
                    <a:p>
                      <a:pPr algn="ctr"/>
                      <a:r>
                        <a:rPr lang="en-GB" sz="3200" dirty="0"/>
                        <a:t>ID</a:t>
                      </a:r>
                    </a:p>
                  </a:txBody>
                  <a:tcPr/>
                </a:tc>
                <a:tc>
                  <a:txBody>
                    <a:bodyPr/>
                    <a:lstStyle/>
                    <a:p>
                      <a:pPr algn="ctr"/>
                      <a:r>
                        <a:rPr lang="en-GB" sz="3200" dirty="0"/>
                        <a:t>forename</a:t>
                      </a:r>
                    </a:p>
                  </a:txBody>
                  <a:tcPr/>
                </a:tc>
                <a:tc>
                  <a:txBody>
                    <a:bodyPr/>
                    <a:lstStyle/>
                    <a:p>
                      <a:pPr algn="ctr"/>
                      <a:r>
                        <a:rPr lang="en-GB" sz="3200" dirty="0"/>
                        <a:t>surname</a:t>
                      </a:r>
                    </a:p>
                  </a:txBody>
                  <a:tcPr/>
                </a:tc>
                <a:tc>
                  <a:txBody>
                    <a:bodyPr/>
                    <a:lstStyle/>
                    <a:p>
                      <a:pPr algn="ctr"/>
                      <a:r>
                        <a:rPr lang="en-GB" sz="3200" dirty="0" err="1"/>
                        <a:t>deptID</a:t>
                      </a:r>
                      <a:endParaRPr lang="en-GB" sz="3200" dirty="0"/>
                    </a:p>
                  </a:txBody>
                  <a:tcPr/>
                </a:tc>
                <a:extLst>
                  <a:ext uri="{0D108BD9-81ED-4DB2-BD59-A6C34878D82A}">
                    <a16:rowId xmlns:a16="http://schemas.microsoft.com/office/drawing/2014/main" val="3459615676"/>
                  </a:ext>
                </a:extLst>
              </a:tr>
              <a:tr h="592552">
                <a:tc>
                  <a:txBody>
                    <a:bodyPr/>
                    <a:lstStyle/>
                    <a:p>
                      <a:pPr lvl="0"/>
                      <a:r>
                        <a:rPr lang="en-GB" sz="3200" dirty="0"/>
                        <a:t>1</a:t>
                      </a:r>
                    </a:p>
                  </a:txBody>
                  <a:tcPr/>
                </a:tc>
                <a:tc>
                  <a:txBody>
                    <a:bodyPr/>
                    <a:lstStyle/>
                    <a:p>
                      <a:pPr lvl="0" algn="l"/>
                      <a:r>
                        <a:rPr lang="en-GB" sz="3200" dirty="0"/>
                        <a:t>Colin</a:t>
                      </a:r>
                    </a:p>
                  </a:txBody>
                  <a:tcPr/>
                </a:tc>
                <a:tc>
                  <a:txBody>
                    <a:bodyPr/>
                    <a:lstStyle/>
                    <a:p>
                      <a:pPr lvl="0" algn="l"/>
                      <a:r>
                        <a:rPr lang="en-GB" sz="3200" dirty="0"/>
                        <a:t>Arthur</a:t>
                      </a:r>
                    </a:p>
                  </a:txBody>
                  <a:tcPr/>
                </a:tc>
                <a:tc>
                  <a:txBody>
                    <a:bodyPr/>
                    <a:lstStyle/>
                    <a:p>
                      <a:pPr lvl="0"/>
                      <a:r>
                        <a:rPr lang="en-GB" sz="3200" dirty="0"/>
                        <a:t>001</a:t>
                      </a:r>
                    </a:p>
                  </a:txBody>
                  <a:tcPr/>
                </a:tc>
                <a:extLst>
                  <a:ext uri="{0D108BD9-81ED-4DB2-BD59-A6C34878D82A}">
                    <a16:rowId xmlns:a16="http://schemas.microsoft.com/office/drawing/2014/main" val="1127765656"/>
                  </a:ext>
                </a:extLst>
              </a:tr>
              <a:tr h="592552">
                <a:tc>
                  <a:txBody>
                    <a:bodyPr/>
                    <a:lstStyle/>
                    <a:p>
                      <a:pPr lvl="0"/>
                      <a:r>
                        <a:rPr lang="en-GB" sz="3200" dirty="0"/>
                        <a:t>2</a:t>
                      </a:r>
                    </a:p>
                  </a:txBody>
                  <a:tcPr/>
                </a:tc>
                <a:tc>
                  <a:txBody>
                    <a:bodyPr/>
                    <a:lstStyle/>
                    <a:p>
                      <a:pPr lvl="0" algn="l"/>
                      <a:r>
                        <a:rPr lang="en-GB" sz="3200" dirty="0"/>
                        <a:t>Laura</a:t>
                      </a:r>
                    </a:p>
                  </a:txBody>
                  <a:tcPr/>
                </a:tc>
                <a:tc>
                  <a:txBody>
                    <a:bodyPr/>
                    <a:lstStyle/>
                    <a:p>
                      <a:pPr lvl="0" algn="l"/>
                      <a:r>
                        <a:rPr lang="en-GB" sz="3200" dirty="0"/>
                        <a:t>Brown</a:t>
                      </a:r>
                    </a:p>
                  </a:txBody>
                  <a:tcPr/>
                </a:tc>
                <a:tc>
                  <a:txBody>
                    <a:bodyPr/>
                    <a:lstStyle/>
                    <a:p>
                      <a:pPr lvl="0"/>
                      <a:r>
                        <a:rPr lang="en-GB" sz="3200" dirty="0"/>
                        <a:t>001</a:t>
                      </a:r>
                    </a:p>
                  </a:txBody>
                  <a:tcPr/>
                </a:tc>
                <a:extLst>
                  <a:ext uri="{0D108BD9-81ED-4DB2-BD59-A6C34878D82A}">
                    <a16:rowId xmlns:a16="http://schemas.microsoft.com/office/drawing/2014/main" val="2924661129"/>
                  </a:ext>
                </a:extLst>
              </a:tr>
              <a:tr h="592552">
                <a:tc>
                  <a:txBody>
                    <a:bodyPr/>
                    <a:lstStyle/>
                    <a:p>
                      <a:pPr lvl="0"/>
                      <a:r>
                        <a:rPr lang="en-GB" sz="3200" dirty="0"/>
                        <a:t>3</a:t>
                      </a:r>
                    </a:p>
                  </a:txBody>
                  <a:tcPr/>
                </a:tc>
                <a:tc>
                  <a:txBody>
                    <a:bodyPr/>
                    <a:lstStyle/>
                    <a:p>
                      <a:pPr lvl="0" algn="l"/>
                      <a:r>
                        <a:rPr lang="en-GB" sz="3200" dirty="0"/>
                        <a:t>Scott</a:t>
                      </a:r>
                    </a:p>
                  </a:txBody>
                  <a:tcPr/>
                </a:tc>
                <a:tc>
                  <a:txBody>
                    <a:bodyPr/>
                    <a:lstStyle/>
                    <a:p>
                      <a:pPr lvl="0" algn="l"/>
                      <a:r>
                        <a:rPr lang="en-GB" sz="3200" dirty="0"/>
                        <a:t>Sinclair</a:t>
                      </a:r>
                    </a:p>
                  </a:txBody>
                  <a:tcPr/>
                </a:tc>
                <a:tc>
                  <a:txBody>
                    <a:bodyPr/>
                    <a:lstStyle/>
                    <a:p>
                      <a:pPr lvl="0"/>
                      <a:r>
                        <a:rPr lang="en-GB" sz="3200" dirty="0"/>
                        <a:t>002</a:t>
                      </a:r>
                    </a:p>
                  </a:txBody>
                  <a:tcPr/>
                </a:tc>
                <a:extLst>
                  <a:ext uri="{0D108BD9-81ED-4DB2-BD59-A6C34878D82A}">
                    <a16:rowId xmlns:a16="http://schemas.microsoft.com/office/drawing/2014/main" val="1487565366"/>
                  </a:ext>
                </a:extLst>
              </a:tr>
              <a:tr h="592552">
                <a:tc>
                  <a:txBody>
                    <a:bodyPr/>
                    <a:lstStyle/>
                    <a:p>
                      <a:pPr lvl="0"/>
                      <a:r>
                        <a:rPr lang="en-GB" sz="3200" dirty="0"/>
                        <a:t>4</a:t>
                      </a:r>
                    </a:p>
                  </a:txBody>
                  <a:tcPr/>
                </a:tc>
                <a:tc>
                  <a:txBody>
                    <a:bodyPr/>
                    <a:lstStyle/>
                    <a:p>
                      <a:pPr lvl="0" algn="l"/>
                      <a:r>
                        <a:rPr lang="en-GB" sz="3200" dirty="0"/>
                        <a:t>Michelle</a:t>
                      </a:r>
                    </a:p>
                  </a:txBody>
                  <a:tcPr/>
                </a:tc>
                <a:tc>
                  <a:txBody>
                    <a:bodyPr/>
                    <a:lstStyle/>
                    <a:p>
                      <a:pPr lvl="0" algn="l"/>
                      <a:r>
                        <a:rPr lang="en-GB" sz="3200" dirty="0"/>
                        <a:t>Wie</a:t>
                      </a:r>
                    </a:p>
                  </a:txBody>
                  <a:tcPr/>
                </a:tc>
                <a:tc>
                  <a:txBody>
                    <a:bodyPr/>
                    <a:lstStyle/>
                    <a:p>
                      <a:pPr lvl="0"/>
                      <a:r>
                        <a:rPr lang="en-GB" sz="3200" dirty="0"/>
                        <a:t>002</a:t>
                      </a:r>
                    </a:p>
                  </a:txBody>
                  <a:tcPr/>
                </a:tc>
                <a:extLst>
                  <a:ext uri="{0D108BD9-81ED-4DB2-BD59-A6C34878D82A}">
                    <a16:rowId xmlns:a16="http://schemas.microsoft.com/office/drawing/2014/main" val="81894544"/>
                  </a:ext>
                </a:extLst>
              </a:tr>
            </a:tbl>
          </a:graphicData>
        </a:graphic>
      </p:graphicFrame>
      <p:graphicFrame>
        <p:nvGraphicFramePr>
          <p:cNvPr id="13" name="Dept table">
            <a:extLst>
              <a:ext uri="{FF2B5EF4-FFF2-40B4-BE49-F238E27FC236}">
                <a16:creationId xmlns:a16="http://schemas.microsoft.com/office/drawing/2014/main" id="{35037C23-5B95-45FB-890F-8341BB82BB00}"/>
              </a:ext>
            </a:extLst>
          </p:cNvPr>
          <p:cNvGraphicFramePr>
            <a:graphicFrameLocks/>
          </p:cNvGraphicFramePr>
          <p:nvPr/>
        </p:nvGraphicFramePr>
        <p:xfrm>
          <a:off x="7144385" y="2702546"/>
          <a:ext cx="4209415" cy="1777656"/>
        </p:xfrm>
        <a:graphic>
          <a:graphicData uri="http://schemas.openxmlformats.org/drawingml/2006/table">
            <a:tbl>
              <a:tblPr firstRow="1" bandRow="1">
                <a:tableStyleId>{5C22544A-7EE6-4342-B048-85BDC9FD1C3A}</a:tableStyleId>
              </a:tblPr>
              <a:tblGrid>
                <a:gridCol w="1417955">
                  <a:extLst>
                    <a:ext uri="{9D8B030D-6E8A-4147-A177-3AD203B41FA5}">
                      <a16:colId xmlns:a16="http://schemas.microsoft.com/office/drawing/2014/main" val="415971381"/>
                    </a:ext>
                  </a:extLst>
                </a:gridCol>
                <a:gridCol w="1440180">
                  <a:extLst>
                    <a:ext uri="{9D8B030D-6E8A-4147-A177-3AD203B41FA5}">
                      <a16:colId xmlns:a16="http://schemas.microsoft.com/office/drawing/2014/main" val="4013636719"/>
                    </a:ext>
                  </a:extLst>
                </a:gridCol>
                <a:gridCol w="1351280">
                  <a:extLst>
                    <a:ext uri="{9D8B030D-6E8A-4147-A177-3AD203B41FA5}">
                      <a16:colId xmlns:a16="http://schemas.microsoft.com/office/drawing/2014/main" val="3467447067"/>
                    </a:ext>
                  </a:extLst>
                </a:gridCol>
              </a:tblGrid>
              <a:tr h="592552">
                <a:tc>
                  <a:txBody>
                    <a:bodyPr/>
                    <a:lstStyle/>
                    <a:p>
                      <a:pPr algn="ctr"/>
                      <a:r>
                        <a:rPr lang="en-GB" sz="3200" dirty="0" err="1"/>
                        <a:t>deptID</a:t>
                      </a:r>
                      <a:endParaRPr lang="en-GB" sz="3200" dirty="0"/>
                    </a:p>
                  </a:txBody>
                  <a:tcPr/>
                </a:tc>
                <a:tc>
                  <a:txBody>
                    <a:bodyPr/>
                    <a:lstStyle/>
                    <a:p>
                      <a:pPr algn="ctr"/>
                      <a:r>
                        <a:rPr lang="en-GB" sz="3200" dirty="0"/>
                        <a:t>name</a:t>
                      </a:r>
                    </a:p>
                  </a:txBody>
                  <a:tcPr/>
                </a:tc>
                <a:tc>
                  <a:txBody>
                    <a:bodyPr/>
                    <a:lstStyle/>
                    <a:p>
                      <a:pPr algn="ctr"/>
                      <a:r>
                        <a:rPr lang="en-GB" sz="3200" dirty="0"/>
                        <a:t>phone</a:t>
                      </a:r>
                    </a:p>
                  </a:txBody>
                  <a:tcPr/>
                </a:tc>
                <a:extLst>
                  <a:ext uri="{0D108BD9-81ED-4DB2-BD59-A6C34878D82A}">
                    <a16:rowId xmlns:a16="http://schemas.microsoft.com/office/drawing/2014/main" val="3459615676"/>
                  </a:ext>
                </a:extLst>
              </a:tr>
              <a:tr h="592552">
                <a:tc>
                  <a:txBody>
                    <a:bodyPr/>
                    <a:lstStyle/>
                    <a:p>
                      <a:pPr lvl="0"/>
                      <a:r>
                        <a:rPr lang="en-GB" sz="3200" dirty="0"/>
                        <a:t>001</a:t>
                      </a:r>
                    </a:p>
                  </a:txBody>
                  <a:tcPr/>
                </a:tc>
                <a:tc>
                  <a:txBody>
                    <a:bodyPr/>
                    <a:lstStyle/>
                    <a:p>
                      <a:pPr lvl="0"/>
                      <a:r>
                        <a:rPr lang="en-GB" sz="3200" dirty="0"/>
                        <a:t>Maths</a:t>
                      </a:r>
                    </a:p>
                  </a:txBody>
                  <a:tcPr/>
                </a:tc>
                <a:tc>
                  <a:txBody>
                    <a:bodyPr/>
                    <a:lstStyle/>
                    <a:p>
                      <a:pPr lvl="0"/>
                      <a:r>
                        <a:rPr lang="en-GB" sz="3200" dirty="0"/>
                        <a:t>300</a:t>
                      </a:r>
                    </a:p>
                  </a:txBody>
                  <a:tcPr/>
                </a:tc>
                <a:extLst>
                  <a:ext uri="{0D108BD9-81ED-4DB2-BD59-A6C34878D82A}">
                    <a16:rowId xmlns:a16="http://schemas.microsoft.com/office/drawing/2014/main" val="1127765656"/>
                  </a:ext>
                </a:extLst>
              </a:tr>
              <a:tr h="592552">
                <a:tc>
                  <a:txBody>
                    <a:bodyPr/>
                    <a:lstStyle/>
                    <a:p>
                      <a:pPr lvl="0"/>
                      <a:r>
                        <a:rPr lang="en-GB" sz="3200" dirty="0"/>
                        <a:t>002</a:t>
                      </a:r>
                    </a:p>
                  </a:txBody>
                  <a:tcPr/>
                </a:tc>
                <a:tc>
                  <a:txBody>
                    <a:bodyPr/>
                    <a:lstStyle/>
                    <a:p>
                      <a:pPr lvl="0"/>
                      <a:r>
                        <a:rPr lang="en-GB" sz="3200" dirty="0"/>
                        <a:t>English</a:t>
                      </a:r>
                    </a:p>
                  </a:txBody>
                  <a:tcPr/>
                </a:tc>
                <a:tc>
                  <a:txBody>
                    <a:bodyPr/>
                    <a:lstStyle/>
                    <a:p>
                      <a:pPr lvl="0"/>
                      <a:r>
                        <a:rPr lang="en-GB" sz="3200" dirty="0"/>
                        <a:t>301</a:t>
                      </a:r>
                    </a:p>
                  </a:txBody>
                  <a:tcPr/>
                </a:tc>
                <a:extLst>
                  <a:ext uri="{0D108BD9-81ED-4DB2-BD59-A6C34878D82A}">
                    <a16:rowId xmlns:a16="http://schemas.microsoft.com/office/drawing/2014/main" val="81894544"/>
                  </a:ext>
                </a:extLst>
              </a:tr>
            </a:tbl>
          </a:graphicData>
        </a:graphic>
      </p:graphicFrame>
      <p:sp>
        <p:nvSpPr>
          <p:cNvPr id="16" name="TextBox 15">
            <a:extLst>
              <a:ext uri="{FF2B5EF4-FFF2-40B4-BE49-F238E27FC236}">
                <a16:creationId xmlns:a16="http://schemas.microsoft.com/office/drawing/2014/main" id="{15903424-A435-49A8-8F1F-D1306EA53915}"/>
              </a:ext>
            </a:extLst>
          </p:cNvPr>
          <p:cNvSpPr txBox="1"/>
          <p:nvPr/>
        </p:nvSpPr>
        <p:spPr>
          <a:xfrm>
            <a:off x="838200" y="2259875"/>
            <a:ext cx="2314544" cy="523220"/>
          </a:xfrm>
          <a:prstGeom prst="rect">
            <a:avLst/>
          </a:prstGeom>
          <a:noFill/>
        </p:spPr>
        <p:txBody>
          <a:bodyPr wrap="none" rtlCol="0">
            <a:spAutoFit/>
          </a:bodyPr>
          <a:lstStyle/>
          <a:p>
            <a:r>
              <a:rPr lang="en-GB" sz="2800" b="1" dirty="0"/>
              <a:t>Table: Teacher</a:t>
            </a:r>
          </a:p>
        </p:txBody>
      </p:sp>
      <p:sp>
        <p:nvSpPr>
          <p:cNvPr id="17" name="TextBox 16">
            <a:extLst>
              <a:ext uri="{FF2B5EF4-FFF2-40B4-BE49-F238E27FC236}">
                <a16:creationId xmlns:a16="http://schemas.microsoft.com/office/drawing/2014/main" id="{30CB5969-0CD9-4051-A35F-FA7E4217BCA6}"/>
              </a:ext>
            </a:extLst>
          </p:cNvPr>
          <p:cNvSpPr txBox="1"/>
          <p:nvPr/>
        </p:nvSpPr>
        <p:spPr>
          <a:xfrm>
            <a:off x="7149390" y="2275196"/>
            <a:ext cx="2973827" cy="523220"/>
          </a:xfrm>
          <a:prstGeom prst="rect">
            <a:avLst/>
          </a:prstGeom>
          <a:noFill/>
        </p:spPr>
        <p:txBody>
          <a:bodyPr wrap="none" rtlCol="0">
            <a:spAutoFit/>
          </a:bodyPr>
          <a:lstStyle/>
          <a:p>
            <a:r>
              <a:rPr lang="en-GB" sz="2800" b="1" dirty="0"/>
              <a:t>Table: Department</a:t>
            </a:r>
          </a:p>
        </p:txBody>
      </p:sp>
    </p:spTree>
    <p:extLst>
      <p:ext uri="{BB962C8B-B14F-4D97-AF65-F5344CB8AC3E}">
        <p14:creationId xmlns:p14="http://schemas.microsoft.com/office/powerpoint/2010/main" val="388314736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15"/>
                                        </p:tgtEl>
                                        <p:attrNameLst>
                                          <p:attrName>style.visibility</p:attrName>
                                        </p:attrNameLst>
                                      </p:cBhvr>
                                      <p:to>
                                        <p:strVal val="visible"/>
                                      </p:to>
                                    </p:set>
                                    <p:animEffect transition="in" filter="wipe(left)">
                                      <p:cBhvr>
                                        <p:cTn id="7" dur="1500"/>
                                        <p:tgtEl>
                                          <p:spTgt spid="15"/>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10"/>
                                        </p:tgtEl>
                                        <p:attrNameLst>
                                          <p:attrName>style.visibility</p:attrName>
                                        </p:attrNameLst>
                                      </p:cBhvr>
                                      <p:to>
                                        <p:strVal val="visible"/>
                                      </p:to>
                                    </p:set>
                                    <p:animEffect transition="in" filter="fade">
                                      <p:cBhvr>
                                        <p:cTn id="12" dur="1000"/>
                                        <p:tgtEl>
                                          <p:spTgt spid="10"/>
                                        </p:tgtEl>
                                      </p:cBhvr>
                                    </p:animEffect>
                                  </p:childTnLst>
                                </p:cTn>
                              </p:par>
                            </p:childTnLst>
                          </p:cTn>
                        </p:par>
                        <p:par>
                          <p:cTn id="13" fill="hold">
                            <p:stCondLst>
                              <p:cond delay="1000"/>
                            </p:stCondLst>
                            <p:childTnLst>
                              <p:par>
                                <p:cTn id="14" presetID="10" presetClass="entr" presetSubtype="0" fill="hold" grpId="0" nodeType="afterEffect">
                                  <p:stCondLst>
                                    <p:cond delay="0"/>
                                  </p:stCondLst>
                                  <p:childTnLst>
                                    <p:set>
                                      <p:cBhvr>
                                        <p:cTn id="15" dur="1" fill="hold">
                                          <p:stCondLst>
                                            <p:cond delay="0"/>
                                          </p:stCondLst>
                                        </p:cTn>
                                        <p:tgtEl>
                                          <p:spTgt spid="11"/>
                                        </p:tgtEl>
                                        <p:attrNameLst>
                                          <p:attrName>style.visibility</p:attrName>
                                        </p:attrNameLst>
                                      </p:cBhvr>
                                      <p:to>
                                        <p:strVal val="visible"/>
                                      </p:to>
                                    </p:set>
                                    <p:animEffect transition="in" filter="fade">
                                      <p:cBhvr>
                                        <p:cTn id="16" dur="1000"/>
                                        <p:tgtEl>
                                          <p:spTgt spid="1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5" grpId="0"/>
      <p:bldP spid="10" grpId="0" animBg="1"/>
      <p:bldP spid="11" grpId="0" animBg="1"/>
    </p:bldLst>
  </p:timing>
</p:sld>
</file>

<file path=ppt/slides/slide172.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Tables / Fields</a:t>
            </a:r>
          </a:p>
        </p:txBody>
      </p:sp>
      <p:graphicFrame>
        <p:nvGraphicFramePr>
          <p:cNvPr id="12" name="Staff table">
            <a:extLst>
              <a:ext uri="{FF2B5EF4-FFF2-40B4-BE49-F238E27FC236}">
                <a16:creationId xmlns:a16="http://schemas.microsoft.com/office/drawing/2014/main" id="{57241102-6FFA-4A48-B0F0-30D2048C3B7F}"/>
              </a:ext>
            </a:extLst>
          </p:cNvPr>
          <p:cNvGraphicFramePr>
            <a:graphicFrameLocks/>
          </p:cNvGraphicFramePr>
          <p:nvPr/>
        </p:nvGraphicFramePr>
        <p:xfrm>
          <a:off x="838200" y="2708988"/>
          <a:ext cx="5721413" cy="2962760"/>
        </p:xfrm>
        <a:graphic>
          <a:graphicData uri="http://schemas.openxmlformats.org/drawingml/2006/table">
            <a:tbl>
              <a:tblPr firstRow="1" bandRow="1">
                <a:tableStyleId>{5C22544A-7EE6-4342-B048-85BDC9FD1C3A}</a:tableStyleId>
              </a:tblPr>
              <a:tblGrid>
                <a:gridCol w="638492">
                  <a:extLst>
                    <a:ext uri="{9D8B030D-6E8A-4147-A177-3AD203B41FA5}">
                      <a16:colId xmlns:a16="http://schemas.microsoft.com/office/drawing/2014/main" val="1632358923"/>
                    </a:ext>
                  </a:extLst>
                </a:gridCol>
                <a:gridCol w="1913636">
                  <a:extLst>
                    <a:ext uri="{9D8B030D-6E8A-4147-A177-3AD203B41FA5}">
                      <a16:colId xmlns:a16="http://schemas.microsoft.com/office/drawing/2014/main" val="3505833113"/>
                    </a:ext>
                  </a:extLst>
                </a:gridCol>
                <a:gridCol w="1751330">
                  <a:extLst>
                    <a:ext uri="{9D8B030D-6E8A-4147-A177-3AD203B41FA5}">
                      <a16:colId xmlns:a16="http://schemas.microsoft.com/office/drawing/2014/main" val="3401749839"/>
                    </a:ext>
                  </a:extLst>
                </a:gridCol>
                <a:gridCol w="1417955">
                  <a:extLst>
                    <a:ext uri="{9D8B030D-6E8A-4147-A177-3AD203B41FA5}">
                      <a16:colId xmlns:a16="http://schemas.microsoft.com/office/drawing/2014/main" val="415971381"/>
                    </a:ext>
                  </a:extLst>
                </a:gridCol>
              </a:tblGrid>
              <a:tr h="592552">
                <a:tc>
                  <a:txBody>
                    <a:bodyPr/>
                    <a:lstStyle/>
                    <a:p>
                      <a:pPr algn="ctr"/>
                      <a:r>
                        <a:rPr lang="en-GB" sz="3200" dirty="0"/>
                        <a:t>ID</a:t>
                      </a:r>
                    </a:p>
                  </a:txBody>
                  <a:tcPr/>
                </a:tc>
                <a:tc>
                  <a:txBody>
                    <a:bodyPr/>
                    <a:lstStyle/>
                    <a:p>
                      <a:pPr algn="ctr"/>
                      <a:r>
                        <a:rPr lang="en-GB" sz="3200" dirty="0"/>
                        <a:t>forename</a:t>
                      </a:r>
                    </a:p>
                  </a:txBody>
                  <a:tcPr/>
                </a:tc>
                <a:tc>
                  <a:txBody>
                    <a:bodyPr/>
                    <a:lstStyle/>
                    <a:p>
                      <a:pPr algn="ctr"/>
                      <a:r>
                        <a:rPr lang="en-GB" sz="3200" dirty="0"/>
                        <a:t>surname</a:t>
                      </a:r>
                    </a:p>
                  </a:txBody>
                  <a:tcPr/>
                </a:tc>
                <a:tc>
                  <a:txBody>
                    <a:bodyPr/>
                    <a:lstStyle/>
                    <a:p>
                      <a:pPr algn="ctr"/>
                      <a:r>
                        <a:rPr lang="en-GB" sz="3200" dirty="0" err="1"/>
                        <a:t>deptID</a:t>
                      </a:r>
                      <a:endParaRPr lang="en-GB" sz="3200" dirty="0"/>
                    </a:p>
                  </a:txBody>
                  <a:tcPr/>
                </a:tc>
                <a:extLst>
                  <a:ext uri="{0D108BD9-81ED-4DB2-BD59-A6C34878D82A}">
                    <a16:rowId xmlns:a16="http://schemas.microsoft.com/office/drawing/2014/main" val="3459615676"/>
                  </a:ext>
                </a:extLst>
              </a:tr>
              <a:tr h="592552">
                <a:tc>
                  <a:txBody>
                    <a:bodyPr/>
                    <a:lstStyle/>
                    <a:p>
                      <a:pPr lvl="0"/>
                      <a:r>
                        <a:rPr lang="en-GB" sz="3200" dirty="0"/>
                        <a:t>1</a:t>
                      </a:r>
                    </a:p>
                  </a:txBody>
                  <a:tcPr/>
                </a:tc>
                <a:tc>
                  <a:txBody>
                    <a:bodyPr/>
                    <a:lstStyle/>
                    <a:p>
                      <a:pPr lvl="0" algn="l"/>
                      <a:r>
                        <a:rPr lang="en-GB" sz="3200" dirty="0"/>
                        <a:t>Colin</a:t>
                      </a:r>
                    </a:p>
                  </a:txBody>
                  <a:tcPr/>
                </a:tc>
                <a:tc>
                  <a:txBody>
                    <a:bodyPr/>
                    <a:lstStyle/>
                    <a:p>
                      <a:pPr lvl="0" algn="l"/>
                      <a:r>
                        <a:rPr lang="en-GB" sz="3200" dirty="0"/>
                        <a:t>Arthur</a:t>
                      </a:r>
                    </a:p>
                  </a:txBody>
                  <a:tcPr/>
                </a:tc>
                <a:tc>
                  <a:txBody>
                    <a:bodyPr/>
                    <a:lstStyle/>
                    <a:p>
                      <a:pPr lvl="0"/>
                      <a:r>
                        <a:rPr lang="en-GB" sz="3200" dirty="0"/>
                        <a:t>001</a:t>
                      </a:r>
                    </a:p>
                  </a:txBody>
                  <a:tcPr/>
                </a:tc>
                <a:extLst>
                  <a:ext uri="{0D108BD9-81ED-4DB2-BD59-A6C34878D82A}">
                    <a16:rowId xmlns:a16="http://schemas.microsoft.com/office/drawing/2014/main" val="1127765656"/>
                  </a:ext>
                </a:extLst>
              </a:tr>
              <a:tr h="592552">
                <a:tc>
                  <a:txBody>
                    <a:bodyPr/>
                    <a:lstStyle/>
                    <a:p>
                      <a:pPr lvl="0"/>
                      <a:r>
                        <a:rPr lang="en-GB" sz="3200" dirty="0"/>
                        <a:t>2</a:t>
                      </a:r>
                    </a:p>
                  </a:txBody>
                  <a:tcPr/>
                </a:tc>
                <a:tc>
                  <a:txBody>
                    <a:bodyPr/>
                    <a:lstStyle/>
                    <a:p>
                      <a:pPr lvl="0" algn="l"/>
                      <a:r>
                        <a:rPr lang="en-GB" sz="3200" dirty="0"/>
                        <a:t>Laura</a:t>
                      </a:r>
                    </a:p>
                  </a:txBody>
                  <a:tcPr/>
                </a:tc>
                <a:tc>
                  <a:txBody>
                    <a:bodyPr/>
                    <a:lstStyle/>
                    <a:p>
                      <a:pPr lvl="0" algn="l"/>
                      <a:r>
                        <a:rPr lang="en-GB" sz="3200" dirty="0"/>
                        <a:t>Brown</a:t>
                      </a:r>
                    </a:p>
                  </a:txBody>
                  <a:tcPr/>
                </a:tc>
                <a:tc>
                  <a:txBody>
                    <a:bodyPr/>
                    <a:lstStyle/>
                    <a:p>
                      <a:pPr lvl="0"/>
                      <a:r>
                        <a:rPr lang="en-GB" sz="3200" dirty="0"/>
                        <a:t>001</a:t>
                      </a:r>
                    </a:p>
                  </a:txBody>
                  <a:tcPr/>
                </a:tc>
                <a:extLst>
                  <a:ext uri="{0D108BD9-81ED-4DB2-BD59-A6C34878D82A}">
                    <a16:rowId xmlns:a16="http://schemas.microsoft.com/office/drawing/2014/main" val="2924661129"/>
                  </a:ext>
                </a:extLst>
              </a:tr>
              <a:tr h="592552">
                <a:tc>
                  <a:txBody>
                    <a:bodyPr/>
                    <a:lstStyle/>
                    <a:p>
                      <a:pPr lvl="0"/>
                      <a:r>
                        <a:rPr lang="en-GB" sz="3200" dirty="0"/>
                        <a:t>3</a:t>
                      </a:r>
                    </a:p>
                  </a:txBody>
                  <a:tcPr/>
                </a:tc>
                <a:tc>
                  <a:txBody>
                    <a:bodyPr/>
                    <a:lstStyle/>
                    <a:p>
                      <a:pPr lvl="0" algn="l"/>
                      <a:r>
                        <a:rPr lang="en-GB" sz="3200" dirty="0"/>
                        <a:t>Scott</a:t>
                      </a:r>
                    </a:p>
                  </a:txBody>
                  <a:tcPr/>
                </a:tc>
                <a:tc>
                  <a:txBody>
                    <a:bodyPr/>
                    <a:lstStyle/>
                    <a:p>
                      <a:pPr lvl="0" algn="l"/>
                      <a:r>
                        <a:rPr lang="en-GB" sz="3200" dirty="0"/>
                        <a:t>Sinclair</a:t>
                      </a:r>
                    </a:p>
                  </a:txBody>
                  <a:tcPr/>
                </a:tc>
                <a:tc>
                  <a:txBody>
                    <a:bodyPr/>
                    <a:lstStyle/>
                    <a:p>
                      <a:pPr lvl="0"/>
                      <a:r>
                        <a:rPr lang="en-GB" sz="3200" dirty="0"/>
                        <a:t>002</a:t>
                      </a:r>
                    </a:p>
                  </a:txBody>
                  <a:tcPr/>
                </a:tc>
                <a:extLst>
                  <a:ext uri="{0D108BD9-81ED-4DB2-BD59-A6C34878D82A}">
                    <a16:rowId xmlns:a16="http://schemas.microsoft.com/office/drawing/2014/main" val="1487565366"/>
                  </a:ext>
                </a:extLst>
              </a:tr>
              <a:tr h="592552">
                <a:tc>
                  <a:txBody>
                    <a:bodyPr/>
                    <a:lstStyle/>
                    <a:p>
                      <a:pPr lvl="0"/>
                      <a:r>
                        <a:rPr lang="en-GB" sz="3200" dirty="0"/>
                        <a:t>4</a:t>
                      </a:r>
                    </a:p>
                  </a:txBody>
                  <a:tcPr/>
                </a:tc>
                <a:tc>
                  <a:txBody>
                    <a:bodyPr/>
                    <a:lstStyle/>
                    <a:p>
                      <a:pPr lvl="0" algn="l"/>
                      <a:r>
                        <a:rPr lang="en-GB" sz="3200" dirty="0"/>
                        <a:t>Michelle</a:t>
                      </a:r>
                    </a:p>
                  </a:txBody>
                  <a:tcPr/>
                </a:tc>
                <a:tc>
                  <a:txBody>
                    <a:bodyPr/>
                    <a:lstStyle/>
                    <a:p>
                      <a:pPr lvl="0" algn="l"/>
                      <a:r>
                        <a:rPr lang="en-GB" sz="3200" dirty="0"/>
                        <a:t>Wie</a:t>
                      </a:r>
                    </a:p>
                  </a:txBody>
                  <a:tcPr/>
                </a:tc>
                <a:tc>
                  <a:txBody>
                    <a:bodyPr/>
                    <a:lstStyle/>
                    <a:p>
                      <a:pPr lvl="0"/>
                      <a:r>
                        <a:rPr lang="en-GB" sz="3200" dirty="0"/>
                        <a:t>002</a:t>
                      </a:r>
                    </a:p>
                  </a:txBody>
                  <a:tcPr/>
                </a:tc>
                <a:extLst>
                  <a:ext uri="{0D108BD9-81ED-4DB2-BD59-A6C34878D82A}">
                    <a16:rowId xmlns:a16="http://schemas.microsoft.com/office/drawing/2014/main" val="81894544"/>
                  </a:ext>
                </a:extLst>
              </a:tr>
            </a:tbl>
          </a:graphicData>
        </a:graphic>
      </p:graphicFrame>
      <p:graphicFrame>
        <p:nvGraphicFramePr>
          <p:cNvPr id="13" name="Dept table">
            <a:extLst>
              <a:ext uri="{FF2B5EF4-FFF2-40B4-BE49-F238E27FC236}">
                <a16:creationId xmlns:a16="http://schemas.microsoft.com/office/drawing/2014/main" id="{35037C23-5B95-45FB-890F-8341BB82BB00}"/>
              </a:ext>
            </a:extLst>
          </p:cNvPr>
          <p:cNvGraphicFramePr>
            <a:graphicFrameLocks/>
          </p:cNvGraphicFramePr>
          <p:nvPr/>
        </p:nvGraphicFramePr>
        <p:xfrm>
          <a:off x="7144385" y="2702546"/>
          <a:ext cx="4209415" cy="1777656"/>
        </p:xfrm>
        <a:graphic>
          <a:graphicData uri="http://schemas.openxmlformats.org/drawingml/2006/table">
            <a:tbl>
              <a:tblPr firstRow="1" bandRow="1">
                <a:tableStyleId>{5C22544A-7EE6-4342-B048-85BDC9FD1C3A}</a:tableStyleId>
              </a:tblPr>
              <a:tblGrid>
                <a:gridCol w="1417955">
                  <a:extLst>
                    <a:ext uri="{9D8B030D-6E8A-4147-A177-3AD203B41FA5}">
                      <a16:colId xmlns:a16="http://schemas.microsoft.com/office/drawing/2014/main" val="415971381"/>
                    </a:ext>
                  </a:extLst>
                </a:gridCol>
                <a:gridCol w="1440180">
                  <a:extLst>
                    <a:ext uri="{9D8B030D-6E8A-4147-A177-3AD203B41FA5}">
                      <a16:colId xmlns:a16="http://schemas.microsoft.com/office/drawing/2014/main" val="4013636719"/>
                    </a:ext>
                  </a:extLst>
                </a:gridCol>
                <a:gridCol w="1351280">
                  <a:extLst>
                    <a:ext uri="{9D8B030D-6E8A-4147-A177-3AD203B41FA5}">
                      <a16:colId xmlns:a16="http://schemas.microsoft.com/office/drawing/2014/main" val="3467447067"/>
                    </a:ext>
                  </a:extLst>
                </a:gridCol>
              </a:tblGrid>
              <a:tr h="592552">
                <a:tc>
                  <a:txBody>
                    <a:bodyPr/>
                    <a:lstStyle/>
                    <a:p>
                      <a:pPr algn="ctr"/>
                      <a:r>
                        <a:rPr lang="en-GB" sz="3200" dirty="0" err="1"/>
                        <a:t>deptID</a:t>
                      </a:r>
                      <a:endParaRPr lang="en-GB" sz="3200" dirty="0"/>
                    </a:p>
                  </a:txBody>
                  <a:tcPr/>
                </a:tc>
                <a:tc>
                  <a:txBody>
                    <a:bodyPr/>
                    <a:lstStyle/>
                    <a:p>
                      <a:pPr algn="ctr"/>
                      <a:r>
                        <a:rPr lang="en-GB" sz="3200" dirty="0"/>
                        <a:t>name</a:t>
                      </a:r>
                    </a:p>
                  </a:txBody>
                  <a:tcPr/>
                </a:tc>
                <a:tc>
                  <a:txBody>
                    <a:bodyPr/>
                    <a:lstStyle/>
                    <a:p>
                      <a:pPr algn="ctr"/>
                      <a:r>
                        <a:rPr lang="en-GB" sz="3200" dirty="0"/>
                        <a:t>phone</a:t>
                      </a:r>
                    </a:p>
                  </a:txBody>
                  <a:tcPr/>
                </a:tc>
                <a:extLst>
                  <a:ext uri="{0D108BD9-81ED-4DB2-BD59-A6C34878D82A}">
                    <a16:rowId xmlns:a16="http://schemas.microsoft.com/office/drawing/2014/main" val="3459615676"/>
                  </a:ext>
                </a:extLst>
              </a:tr>
              <a:tr h="592552">
                <a:tc>
                  <a:txBody>
                    <a:bodyPr/>
                    <a:lstStyle/>
                    <a:p>
                      <a:pPr lvl="0"/>
                      <a:r>
                        <a:rPr lang="en-GB" sz="3200" dirty="0"/>
                        <a:t>001</a:t>
                      </a:r>
                    </a:p>
                  </a:txBody>
                  <a:tcPr/>
                </a:tc>
                <a:tc>
                  <a:txBody>
                    <a:bodyPr/>
                    <a:lstStyle/>
                    <a:p>
                      <a:pPr lvl="0"/>
                      <a:r>
                        <a:rPr lang="en-GB" sz="3200" dirty="0"/>
                        <a:t>Maths</a:t>
                      </a:r>
                    </a:p>
                  </a:txBody>
                  <a:tcPr/>
                </a:tc>
                <a:tc>
                  <a:txBody>
                    <a:bodyPr/>
                    <a:lstStyle/>
                    <a:p>
                      <a:pPr lvl="0"/>
                      <a:r>
                        <a:rPr lang="en-GB" sz="3200" dirty="0"/>
                        <a:t>300</a:t>
                      </a:r>
                    </a:p>
                  </a:txBody>
                  <a:tcPr/>
                </a:tc>
                <a:extLst>
                  <a:ext uri="{0D108BD9-81ED-4DB2-BD59-A6C34878D82A}">
                    <a16:rowId xmlns:a16="http://schemas.microsoft.com/office/drawing/2014/main" val="1127765656"/>
                  </a:ext>
                </a:extLst>
              </a:tr>
              <a:tr h="592552">
                <a:tc>
                  <a:txBody>
                    <a:bodyPr/>
                    <a:lstStyle/>
                    <a:p>
                      <a:pPr lvl="0"/>
                      <a:r>
                        <a:rPr lang="en-GB" sz="3200" dirty="0"/>
                        <a:t>002</a:t>
                      </a:r>
                    </a:p>
                  </a:txBody>
                  <a:tcPr/>
                </a:tc>
                <a:tc>
                  <a:txBody>
                    <a:bodyPr/>
                    <a:lstStyle/>
                    <a:p>
                      <a:pPr lvl="0"/>
                      <a:r>
                        <a:rPr lang="en-GB" sz="3200" dirty="0"/>
                        <a:t>English</a:t>
                      </a:r>
                    </a:p>
                  </a:txBody>
                  <a:tcPr/>
                </a:tc>
                <a:tc>
                  <a:txBody>
                    <a:bodyPr/>
                    <a:lstStyle/>
                    <a:p>
                      <a:pPr lvl="0"/>
                      <a:r>
                        <a:rPr lang="en-GB" sz="3200" dirty="0"/>
                        <a:t>301</a:t>
                      </a:r>
                    </a:p>
                  </a:txBody>
                  <a:tcPr/>
                </a:tc>
                <a:extLst>
                  <a:ext uri="{0D108BD9-81ED-4DB2-BD59-A6C34878D82A}">
                    <a16:rowId xmlns:a16="http://schemas.microsoft.com/office/drawing/2014/main" val="81894544"/>
                  </a:ext>
                </a:extLst>
              </a:tr>
            </a:tbl>
          </a:graphicData>
        </a:graphic>
      </p:graphicFrame>
      <p:sp>
        <p:nvSpPr>
          <p:cNvPr id="16" name="TextBox 15">
            <a:extLst>
              <a:ext uri="{FF2B5EF4-FFF2-40B4-BE49-F238E27FC236}">
                <a16:creationId xmlns:a16="http://schemas.microsoft.com/office/drawing/2014/main" id="{15903424-A435-49A8-8F1F-D1306EA53915}"/>
              </a:ext>
            </a:extLst>
          </p:cNvPr>
          <p:cNvSpPr txBox="1"/>
          <p:nvPr/>
        </p:nvSpPr>
        <p:spPr>
          <a:xfrm>
            <a:off x="838200" y="2259875"/>
            <a:ext cx="2314544" cy="523220"/>
          </a:xfrm>
          <a:prstGeom prst="rect">
            <a:avLst/>
          </a:prstGeom>
          <a:noFill/>
        </p:spPr>
        <p:txBody>
          <a:bodyPr wrap="none" rtlCol="0">
            <a:spAutoFit/>
          </a:bodyPr>
          <a:lstStyle/>
          <a:p>
            <a:r>
              <a:rPr lang="en-GB" sz="2800" b="1" dirty="0"/>
              <a:t>Table: Teacher</a:t>
            </a:r>
          </a:p>
        </p:txBody>
      </p:sp>
      <p:sp>
        <p:nvSpPr>
          <p:cNvPr id="17" name="TextBox 16">
            <a:extLst>
              <a:ext uri="{FF2B5EF4-FFF2-40B4-BE49-F238E27FC236}">
                <a16:creationId xmlns:a16="http://schemas.microsoft.com/office/drawing/2014/main" id="{30CB5969-0CD9-4051-A35F-FA7E4217BCA6}"/>
              </a:ext>
            </a:extLst>
          </p:cNvPr>
          <p:cNvSpPr txBox="1"/>
          <p:nvPr/>
        </p:nvSpPr>
        <p:spPr>
          <a:xfrm>
            <a:off x="7149390" y="2275196"/>
            <a:ext cx="2973827" cy="523220"/>
          </a:xfrm>
          <a:prstGeom prst="rect">
            <a:avLst/>
          </a:prstGeom>
          <a:noFill/>
        </p:spPr>
        <p:txBody>
          <a:bodyPr wrap="none" rtlCol="0">
            <a:spAutoFit/>
          </a:bodyPr>
          <a:lstStyle/>
          <a:p>
            <a:r>
              <a:rPr lang="en-GB" sz="2800" b="1" dirty="0"/>
              <a:t>Table: Department</a:t>
            </a:r>
          </a:p>
        </p:txBody>
      </p:sp>
    </p:spTree>
    <p:extLst>
      <p:ext uri="{BB962C8B-B14F-4D97-AF65-F5344CB8AC3E}">
        <p14:creationId xmlns:p14="http://schemas.microsoft.com/office/powerpoint/2010/main" val="3703383339"/>
      </p:ext>
    </p:extLst>
  </p:cSld>
  <p:clrMapOvr>
    <a:masterClrMapping/>
  </p:clrMapOvr>
</p:sld>
</file>

<file path=ppt/slides/slide1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Keys</a:t>
            </a:r>
          </a:p>
        </p:txBody>
      </p:sp>
      <p:graphicFrame>
        <p:nvGraphicFramePr>
          <p:cNvPr id="5" name="Staff table">
            <a:extLst>
              <a:ext uri="{FF2B5EF4-FFF2-40B4-BE49-F238E27FC236}">
                <a16:creationId xmlns:a16="http://schemas.microsoft.com/office/drawing/2014/main" id="{38A8414E-6490-4AD8-90BD-DF0216F61C69}"/>
              </a:ext>
            </a:extLst>
          </p:cNvPr>
          <p:cNvGraphicFramePr>
            <a:graphicFrameLocks noGrp="1"/>
          </p:cNvGraphicFramePr>
          <p:nvPr>
            <p:ph idx="4294967295"/>
            <p:extLst>
              <p:ext uri="{D42A27DB-BD31-4B8C-83A1-F6EECF244321}">
                <p14:modId xmlns:p14="http://schemas.microsoft.com/office/powerpoint/2010/main" val="815880741"/>
              </p:ext>
            </p:extLst>
          </p:nvPr>
        </p:nvGraphicFramePr>
        <p:xfrm>
          <a:off x="838200" y="2702546"/>
          <a:ext cx="5721413" cy="2962760"/>
        </p:xfrm>
        <a:graphic>
          <a:graphicData uri="http://schemas.openxmlformats.org/drawingml/2006/table">
            <a:tbl>
              <a:tblPr firstRow="1" bandRow="1">
                <a:tableStyleId>{5C22544A-7EE6-4342-B048-85BDC9FD1C3A}</a:tableStyleId>
              </a:tblPr>
              <a:tblGrid>
                <a:gridCol w="638492">
                  <a:extLst>
                    <a:ext uri="{9D8B030D-6E8A-4147-A177-3AD203B41FA5}">
                      <a16:colId xmlns:a16="http://schemas.microsoft.com/office/drawing/2014/main" val="1632358923"/>
                    </a:ext>
                  </a:extLst>
                </a:gridCol>
                <a:gridCol w="1913636">
                  <a:extLst>
                    <a:ext uri="{9D8B030D-6E8A-4147-A177-3AD203B41FA5}">
                      <a16:colId xmlns:a16="http://schemas.microsoft.com/office/drawing/2014/main" val="3505833113"/>
                    </a:ext>
                  </a:extLst>
                </a:gridCol>
                <a:gridCol w="1751330">
                  <a:extLst>
                    <a:ext uri="{9D8B030D-6E8A-4147-A177-3AD203B41FA5}">
                      <a16:colId xmlns:a16="http://schemas.microsoft.com/office/drawing/2014/main" val="3401749839"/>
                    </a:ext>
                  </a:extLst>
                </a:gridCol>
                <a:gridCol w="1417955">
                  <a:extLst>
                    <a:ext uri="{9D8B030D-6E8A-4147-A177-3AD203B41FA5}">
                      <a16:colId xmlns:a16="http://schemas.microsoft.com/office/drawing/2014/main" val="415971381"/>
                    </a:ext>
                  </a:extLst>
                </a:gridCol>
              </a:tblGrid>
              <a:tr h="592552">
                <a:tc>
                  <a:txBody>
                    <a:bodyPr/>
                    <a:lstStyle/>
                    <a:p>
                      <a:pPr algn="ctr"/>
                      <a:r>
                        <a:rPr lang="en-GB" sz="3200" dirty="0"/>
                        <a:t>ID</a:t>
                      </a:r>
                    </a:p>
                  </a:txBody>
                  <a:tcPr/>
                </a:tc>
                <a:tc>
                  <a:txBody>
                    <a:bodyPr/>
                    <a:lstStyle/>
                    <a:p>
                      <a:pPr algn="ctr"/>
                      <a:r>
                        <a:rPr lang="en-GB" sz="3200" dirty="0"/>
                        <a:t>forename</a:t>
                      </a:r>
                    </a:p>
                  </a:txBody>
                  <a:tcPr/>
                </a:tc>
                <a:tc>
                  <a:txBody>
                    <a:bodyPr/>
                    <a:lstStyle/>
                    <a:p>
                      <a:pPr algn="ctr"/>
                      <a:r>
                        <a:rPr lang="en-GB" sz="3200" dirty="0"/>
                        <a:t>surname</a:t>
                      </a:r>
                    </a:p>
                  </a:txBody>
                  <a:tcPr/>
                </a:tc>
                <a:tc>
                  <a:txBody>
                    <a:bodyPr/>
                    <a:lstStyle/>
                    <a:p>
                      <a:pPr algn="ctr"/>
                      <a:r>
                        <a:rPr lang="en-GB" sz="3200" dirty="0" err="1"/>
                        <a:t>deptID</a:t>
                      </a:r>
                      <a:endParaRPr lang="en-GB" sz="3200" dirty="0"/>
                    </a:p>
                  </a:txBody>
                  <a:tcPr/>
                </a:tc>
                <a:extLst>
                  <a:ext uri="{0D108BD9-81ED-4DB2-BD59-A6C34878D82A}">
                    <a16:rowId xmlns:a16="http://schemas.microsoft.com/office/drawing/2014/main" val="3459615676"/>
                  </a:ext>
                </a:extLst>
              </a:tr>
              <a:tr h="592552">
                <a:tc>
                  <a:txBody>
                    <a:bodyPr/>
                    <a:lstStyle/>
                    <a:p>
                      <a:pPr lvl="0"/>
                      <a:r>
                        <a:rPr lang="en-GB" sz="3200" dirty="0"/>
                        <a:t>1</a:t>
                      </a:r>
                    </a:p>
                  </a:txBody>
                  <a:tcPr/>
                </a:tc>
                <a:tc>
                  <a:txBody>
                    <a:bodyPr/>
                    <a:lstStyle/>
                    <a:p>
                      <a:pPr lvl="0" algn="l"/>
                      <a:r>
                        <a:rPr lang="en-GB" sz="3200" dirty="0"/>
                        <a:t>Colin</a:t>
                      </a:r>
                    </a:p>
                  </a:txBody>
                  <a:tcPr/>
                </a:tc>
                <a:tc>
                  <a:txBody>
                    <a:bodyPr/>
                    <a:lstStyle/>
                    <a:p>
                      <a:pPr lvl="0" algn="l"/>
                      <a:r>
                        <a:rPr lang="en-GB" sz="3200" dirty="0"/>
                        <a:t>Arthur</a:t>
                      </a:r>
                    </a:p>
                  </a:txBody>
                  <a:tcPr/>
                </a:tc>
                <a:tc>
                  <a:txBody>
                    <a:bodyPr/>
                    <a:lstStyle/>
                    <a:p>
                      <a:pPr lvl="0"/>
                      <a:r>
                        <a:rPr lang="en-GB" sz="3200" dirty="0"/>
                        <a:t>001</a:t>
                      </a:r>
                    </a:p>
                  </a:txBody>
                  <a:tcPr/>
                </a:tc>
                <a:extLst>
                  <a:ext uri="{0D108BD9-81ED-4DB2-BD59-A6C34878D82A}">
                    <a16:rowId xmlns:a16="http://schemas.microsoft.com/office/drawing/2014/main" val="1127765656"/>
                  </a:ext>
                </a:extLst>
              </a:tr>
              <a:tr h="592552">
                <a:tc>
                  <a:txBody>
                    <a:bodyPr/>
                    <a:lstStyle/>
                    <a:p>
                      <a:pPr lvl="0"/>
                      <a:r>
                        <a:rPr lang="en-GB" sz="3200" dirty="0"/>
                        <a:t>2</a:t>
                      </a:r>
                    </a:p>
                  </a:txBody>
                  <a:tcPr/>
                </a:tc>
                <a:tc>
                  <a:txBody>
                    <a:bodyPr/>
                    <a:lstStyle/>
                    <a:p>
                      <a:pPr lvl="0" algn="l"/>
                      <a:r>
                        <a:rPr lang="en-GB" sz="3200" dirty="0"/>
                        <a:t>Laura</a:t>
                      </a:r>
                    </a:p>
                  </a:txBody>
                  <a:tcPr/>
                </a:tc>
                <a:tc>
                  <a:txBody>
                    <a:bodyPr/>
                    <a:lstStyle/>
                    <a:p>
                      <a:pPr lvl="0" algn="l"/>
                      <a:r>
                        <a:rPr lang="en-GB" sz="3200" dirty="0"/>
                        <a:t>Brown</a:t>
                      </a:r>
                    </a:p>
                  </a:txBody>
                  <a:tcPr/>
                </a:tc>
                <a:tc>
                  <a:txBody>
                    <a:bodyPr/>
                    <a:lstStyle/>
                    <a:p>
                      <a:pPr lvl="0"/>
                      <a:r>
                        <a:rPr lang="en-GB" sz="3200" dirty="0"/>
                        <a:t>001</a:t>
                      </a:r>
                    </a:p>
                  </a:txBody>
                  <a:tcPr/>
                </a:tc>
                <a:extLst>
                  <a:ext uri="{0D108BD9-81ED-4DB2-BD59-A6C34878D82A}">
                    <a16:rowId xmlns:a16="http://schemas.microsoft.com/office/drawing/2014/main" val="2924661129"/>
                  </a:ext>
                </a:extLst>
              </a:tr>
              <a:tr h="592552">
                <a:tc>
                  <a:txBody>
                    <a:bodyPr/>
                    <a:lstStyle/>
                    <a:p>
                      <a:pPr lvl="0"/>
                      <a:r>
                        <a:rPr lang="en-GB" sz="3200" dirty="0"/>
                        <a:t>3</a:t>
                      </a:r>
                    </a:p>
                  </a:txBody>
                  <a:tcPr/>
                </a:tc>
                <a:tc>
                  <a:txBody>
                    <a:bodyPr/>
                    <a:lstStyle/>
                    <a:p>
                      <a:pPr lvl="0" algn="l"/>
                      <a:r>
                        <a:rPr lang="en-GB" sz="3200" dirty="0"/>
                        <a:t>Scott</a:t>
                      </a:r>
                    </a:p>
                  </a:txBody>
                  <a:tcPr/>
                </a:tc>
                <a:tc>
                  <a:txBody>
                    <a:bodyPr/>
                    <a:lstStyle/>
                    <a:p>
                      <a:pPr lvl="0" algn="l"/>
                      <a:r>
                        <a:rPr lang="en-GB" sz="3200" dirty="0"/>
                        <a:t>Sinclair</a:t>
                      </a:r>
                    </a:p>
                  </a:txBody>
                  <a:tcPr/>
                </a:tc>
                <a:tc>
                  <a:txBody>
                    <a:bodyPr/>
                    <a:lstStyle/>
                    <a:p>
                      <a:pPr lvl="0"/>
                      <a:r>
                        <a:rPr lang="en-GB" sz="3200" dirty="0"/>
                        <a:t>002</a:t>
                      </a:r>
                    </a:p>
                  </a:txBody>
                  <a:tcPr/>
                </a:tc>
                <a:extLst>
                  <a:ext uri="{0D108BD9-81ED-4DB2-BD59-A6C34878D82A}">
                    <a16:rowId xmlns:a16="http://schemas.microsoft.com/office/drawing/2014/main" val="1487565366"/>
                  </a:ext>
                </a:extLst>
              </a:tr>
              <a:tr h="592552">
                <a:tc>
                  <a:txBody>
                    <a:bodyPr/>
                    <a:lstStyle/>
                    <a:p>
                      <a:pPr lvl="0"/>
                      <a:r>
                        <a:rPr lang="en-GB" sz="3200" dirty="0"/>
                        <a:t>4</a:t>
                      </a:r>
                    </a:p>
                  </a:txBody>
                  <a:tcPr/>
                </a:tc>
                <a:tc>
                  <a:txBody>
                    <a:bodyPr/>
                    <a:lstStyle/>
                    <a:p>
                      <a:pPr lvl="0" algn="l"/>
                      <a:r>
                        <a:rPr lang="en-GB" sz="3200" dirty="0"/>
                        <a:t>Michelle</a:t>
                      </a:r>
                    </a:p>
                  </a:txBody>
                  <a:tcPr/>
                </a:tc>
                <a:tc>
                  <a:txBody>
                    <a:bodyPr/>
                    <a:lstStyle/>
                    <a:p>
                      <a:pPr lvl="0" algn="l"/>
                      <a:r>
                        <a:rPr lang="en-GB" sz="3200" dirty="0"/>
                        <a:t>Wie</a:t>
                      </a:r>
                    </a:p>
                  </a:txBody>
                  <a:tcPr/>
                </a:tc>
                <a:tc>
                  <a:txBody>
                    <a:bodyPr/>
                    <a:lstStyle/>
                    <a:p>
                      <a:pPr lvl="0"/>
                      <a:r>
                        <a:rPr lang="en-GB" sz="3200" dirty="0"/>
                        <a:t>002</a:t>
                      </a:r>
                    </a:p>
                  </a:txBody>
                  <a:tcPr/>
                </a:tc>
                <a:extLst>
                  <a:ext uri="{0D108BD9-81ED-4DB2-BD59-A6C34878D82A}">
                    <a16:rowId xmlns:a16="http://schemas.microsoft.com/office/drawing/2014/main" val="81894544"/>
                  </a:ext>
                </a:extLst>
              </a:tr>
            </a:tbl>
          </a:graphicData>
        </a:graphic>
      </p:graphicFrame>
      <p:sp>
        <p:nvSpPr>
          <p:cNvPr id="15" name="TextBox 14">
            <a:extLst>
              <a:ext uri="{FF2B5EF4-FFF2-40B4-BE49-F238E27FC236}">
                <a16:creationId xmlns:a16="http://schemas.microsoft.com/office/drawing/2014/main" id="{B935E981-B7C6-4BDF-ADC2-EFF2B075D3D8}"/>
              </a:ext>
            </a:extLst>
          </p:cNvPr>
          <p:cNvSpPr txBox="1"/>
          <p:nvPr/>
        </p:nvSpPr>
        <p:spPr>
          <a:xfrm>
            <a:off x="838200" y="1559731"/>
            <a:ext cx="11338425" cy="584775"/>
          </a:xfrm>
          <a:prstGeom prst="rect">
            <a:avLst/>
          </a:prstGeom>
          <a:noFill/>
        </p:spPr>
        <p:txBody>
          <a:bodyPr wrap="none" rtlCol="0">
            <a:spAutoFit/>
          </a:bodyPr>
          <a:lstStyle/>
          <a:p>
            <a:r>
              <a:rPr lang="en-GB" sz="3200" b="1" dirty="0">
                <a:solidFill>
                  <a:srgbClr val="7030A0"/>
                </a:solidFill>
              </a:rPr>
              <a:t>A table has a Primary Key, and can have one or more Foreign Keys</a:t>
            </a:r>
          </a:p>
        </p:txBody>
      </p:sp>
      <p:graphicFrame>
        <p:nvGraphicFramePr>
          <p:cNvPr id="14" name="Dept table">
            <a:extLst>
              <a:ext uri="{FF2B5EF4-FFF2-40B4-BE49-F238E27FC236}">
                <a16:creationId xmlns:a16="http://schemas.microsoft.com/office/drawing/2014/main" id="{844D8AF2-45F4-4D3A-A16B-FDE72F88C3EB}"/>
              </a:ext>
            </a:extLst>
          </p:cNvPr>
          <p:cNvGraphicFramePr>
            <a:graphicFrameLocks/>
          </p:cNvGraphicFramePr>
          <p:nvPr>
            <p:extLst>
              <p:ext uri="{D42A27DB-BD31-4B8C-83A1-F6EECF244321}">
                <p14:modId xmlns:p14="http://schemas.microsoft.com/office/powerpoint/2010/main" val="2273347209"/>
              </p:ext>
            </p:extLst>
          </p:nvPr>
        </p:nvGraphicFramePr>
        <p:xfrm>
          <a:off x="7144385" y="2702546"/>
          <a:ext cx="4209415" cy="1777656"/>
        </p:xfrm>
        <a:graphic>
          <a:graphicData uri="http://schemas.openxmlformats.org/drawingml/2006/table">
            <a:tbl>
              <a:tblPr firstRow="1" bandRow="1">
                <a:tableStyleId>{5C22544A-7EE6-4342-B048-85BDC9FD1C3A}</a:tableStyleId>
              </a:tblPr>
              <a:tblGrid>
                <a:gridCol w="1417955">
                  <a:extLst>
                    <a:ext uri="{9D8B030D-6E8A-4147-A177-3AD203B41FA5}">
                      <a16:colId xmlns:a16="http://schemas.microsoft.com/office/drawing/2014/main" val="415971381"/>
                    </a:ext>
                  </a:extLst>
                </a:gridCol>
                <a:gridCol w="1440180">
                  <a:extLst>
                    <a:ext uri="{9D8B030D-6E8A-4147-A177-3AD203B41FA5}">
                      <a16:colId xmlns:a16="http://schemas.microsoft.com/office/drawing/2014/main" val="4013636719"/>
                    </a:ext>
                  </a:extLst>
                </a:gridCol>
                <a:gridCol w="1351280">
                  <a:extLst>
                    <a:ext uri="{9D8B030D-6E8A-4147-A177-3AD203B41FA5}">
                      <a16:colId xmlns:a16="http://schemas.microsoft.com/office/drawing/2014/main" val="3467447067"/>
                    </a:ext>
                  </a:extLst>
                </a:gridCol>
              </a:tblGrid>
              <a:tr h="592552">
                <a:tc>
                  <a:txBody>
                    <a:bodyPr/>
                    <a:lstStyle/>
                    <a:p>
                      <a:pPr algn="ctr"/>
                      <a:r>
                        <a:rPr lang="en-GB" sz="3200" dirty="0" err="1"/>
                        <a:t>deptID</a:t>
                      </a:r>
                      <a:endParaRPr lang="en-GB" sz="3200" dirty="0"/>
                    </a:p>
                  </a:txBody>
                  <a:tcPr/>
                </a:tc>
                <a:tc>
                  <a:txBody>
                    <a:bodyPr/>
                    <a:lstStyle/>
                    <a:p>
                      <a:pPr algn="ctr"/>
                      <a:r>
                        <a:rPr lang="en-GB" sz="3200" dirty="0"/>
                        <a:t>name</a:t>
                      </a:r>
                    </a:p>
                  </a:txBody>
                  <a:tcPr/>
                </a:tc>
                <a:tc>
                  <a:txBody>
                    <a:bodyPr/>
                    <a:lstStyle/>
                    <a:p>
                      <a:pPr algn="ctr"/>
                      <a:r>
                        <a:rPr lang="en-GB" sz="3200" dirty="0"/>
                        <a:t>phone</a:t>
                      </a:r>
                    </a:p>
                  </a:txBody>
                  <a:tcPr/>
                </a:tc>
                <a:extLst>
                  <a:ext uri="{0D108BD9-81ED-4DB2-BD59-A6C34878D82A}">
                    <a16:rowId xmlns:a16="http://schemas.microsoft.com/office/drawing/2014/main" val="3459615676"/>
                  </a:ext>
                </a:extLst>
              </a:tr>
              <a:tr h="592552">
                <a:tc>
                  <a:txBody>
                    <a:bodyPr/>
                    <a:lstStyle/>
                    <a:p>
                      <a:pPr lvl="0"/>
                      <a:r>
                        <a:rPr lang="en-GB" sz="3200" dirty="0"/>
                        <a:t>001</a:t>
                      </a:r>
                    </a:p>
                  </a:txBody>
                  <a:tcPr/>
                </a:tc>
                <a:tc>
                  <a:txBody>
                    <a:bodyPr/>
                    <a:lstStyle/>
                    <a:p>
                      <a:pPr lvl="0"/>
                      <a:r>
                        <a:rPr lang="en-GB" sz="3200" dirty="0"/>
                        <a:t>Maths</a:t>
                      </a:r>
                    </a:p>
                  </a:txBody>
                  <a:tcPr/>
                </a:tc>
                <a:tc>
                  <a:txBody>
                    <a:bodyPr/>
                    <a:lstStyle/>
                    <a:p>
                      <a:pPr lvl="0"/>
                      <a:r>
                        <a:rPr lang="en-GB" sz="3200" dirty="0"/>
                        <a:t>300</a:t>
                      </a:r>
                    </a:p>
                  </a:txBody>
                  <a:tcPr/>
                </a:tc>
                <a:extLst>
                  <a:ext uri="{0D108BD9-81ED-4DB2-BD59-A6C34878D82A}">
                    <a16:rowId xmlns:a16="http://schemas.microsoft.com/office/drawing/2014/main" val="1127765656"/>
                  </a:ext>
                </a:extLst>
              </a:tr>
              <a:tr h="592552">
                <a:tc>
                  <a:txBody>
                    <a:bodyPr/>
                    <a:lstStyle/>
                    <a:p>
                      <a:pPr lvl="0"/>
                      <a:r>
                        <a:rPr lang="en-GB" sz="3200" dirty="0"/>
                        <a:t>002</a:t>
                      </a:r>
                    </a:p>
                  </a:txBody>
                  <a:tcPr/>
                </a:tc>
                <a:tc>
                  <a:txBody>
                    <a:bodyPr/>
                    <a:lstStyle/>
                    <a:p>
                      <a:pPr lvl="0"/>
                      <a:r>
                        <a:rPr lang="en-GB" sz="3200" dirty="0"/>
                        <a:t>English</a:t>
                      </a:r>
                    </a:p>
                  </a:txBody>
                  <a:tcPr/>
                </a:tc>
                <a:tc>
                  <a:txBody>
                    <a:bodyPr/>
                    <a:lstStyle/>
                    <a:p>
                      <a:pPr lvl="0"/>
                      <a:r>
                        <a:rPr lang="en-GB" sz="3200" dirty="0"/>
                        <a:t>301</a:t>
                      </a:r>
                    </a:p>
                  </a:txBody>
                  <a:tcPr/>
                </a:tc>
                <a:extLst>
                  <a:ext uri="{0D108BD9-81ED-4DB2-BD59-A6C34878D82A}">
                    <a16:rowId xmlns:a16="http://schemas.microsoft.com/office/drawing/2014/main" val="81894544"/>
                  </a:ext>
                </a:extLst>
              </a:tr>
            </a:tbl>
          </a:graphicData>
        </a:graphic>
      </p:graphicFrame>
      <p:sp>
        <p:nvSpPr>
          <p:cNvPr id="8" name="Callout: Bent Line with No Border 4">
            <a:extLst>
              <a:ext uri="{FF2B5EF4-FFF2-40B4-BE49-F238E27FC236}">
                <a16:creationId xmlns:a16="http://schemas.microsoft.com/office/drawing/2014/main" id="{924404A3-ED4C-4699-9CA9-EFEB23F51AA9}"/>
              </a:ext>
            </a:extLst>
          </p:cNvPr>
          <p:cNvSpPr/>
          <p:nvPr/>
        </p:nvSpPr>
        <p:spPr>
          <a:xfrm>
            <a:off x="1981200" y="5995626"/>
            <a:ext cx="3352800" cy="487680"/>
          </a:xfrm>
          <a:prstGeom prst="callout2">
            <a:avLst>
              <a:gd name="adj1" fmla="val 52750"/>
              <a:gd name="adj2" fmla="val -2245"/>
              <a:gd name="adj3" fmla="val 53715"/>
              <a:gd name="adj4" fmla="val -18685"/>
              <a:gd name="adj5" fmla="val -58483"/>
              <a:gd name="adj6" fmla="val -26295"/>
            </a:avLst>
          </a:prstGeom>
          <a:noFill/>
          <a:ln w="38100">
            <a:solidFill>
              <a:srgbClr val="FF0000"/>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Primary Key (Unique)</a:t>
            </a:r>
          </a:p>
        </p:txBody>
      </p:sp>
      <p:sp>
        <p:nvSpPr>
          <p:cNvPr id="9" name="Callout: Bent Line with No Border 4">
            <a:extLst>
              <a:ext uri="{FF2B5EF4-FFF2-40B4-BE49-F238E27FC236}">
                <a16:creationId xmlns:a16="http://schemas.microsoft.com/office/drawing/2014/main" id="{924404A3-ED4C-4699-9CA9-EFEB23F51AA9}"/>
              </a:ext>
            </a:extLst>
          </p:cNvPr>
          <p:cNvSpPr/>
          <p:nvPr/>
        </p:nvSpPr>
        <p:spPr>
          <a:xfrm>
            <a:off x="8379827" y="4645942"/>
            <a:ext cx="2146434" cy="487680"/>
          </a:xfrm>
          <a:prstGeom prst="callout2">
            <a:avLst>
              <a:gd name="adj1" fmla="val 52750"/>
              <a:gd name="adj2" fmla="val -2245"/>
              <a:gd name="adj3" fmla="val 53715"/>
              <a:gd name="adj4" fmla="val -18685"/>
              <a:gd name="adj5" fmla="val -30851"/>
              <a:gd name="adj6" fmla="val -24950"/>
            </a:avLst>
          </a:prstGeom>
          <a:noFill/>
          <a:ln w="38100">
            <a:solidFill>
              <a:srgbClr val="FF0000"/>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Primary Key</a:t>
            </a:r>
          </a:p>
        </p:txBody>
      </p:sp>
      <p:sp>
        <p:nvSpPr>
          <p:cNvPr id="12" name="Callout: Bent Line with No Border 4">
            <a:extLst>
              <a:ext uri="{FF2B5EF4-FFF2-40B4-BE49-F238E27FC236}">
                <a16:creationId xmlns:a16="http://schemas.microsoft.com/office/drawing/2014/main" id="{924404A3-ED4C-4699-9CA9-EFEB23F51AA9}"/>
              </a:ext>
            </a:extLst>
          </p:cNvPr>
          <p:cNvSpPr/>
          <p:nvPr/>
        </p:nvSpPr>
        <p:spPr>
          <a:xfrm>
            <a:off x="6700212" y="6084834"/>
            <a:ext cx="3942080" cy="487680"/>
          </a:xfrm>
          <a:prstGeom prst="callout2">
            <a:avLst>
              <a:gd name="adj1" fmla="val 52750"/>
              <a:gd name="adj2" fmla="val -2245"/>
              <a:gd name="adj3" fmla="val 53715"/>
              <a:gd name="adj4" fmla="val -16108"/>
              <a:gd name="adj5" fmla="val -78428"/>
              <a:gd name="adj6" fmla="val -21337"/>
            </a:avLst>
          </a:prstGeom>
          <a:noFill/>
          <a:ln w="38100">
            <a:solidFill>
              <a:srgbClr val="FF0000"/>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Foreign Key (Not unique)</a:t>
            </a:r>
          </a:p>
        </p:txBody>
      </p:sp>
      <p:sp>
        <p:nvSpPr>
          <p:cNvPr id="16" name="TextBox 15">
            <a:extLst>
              <a:ext uri="{FF2B5EF4-FFF2-40B4-BE49-F238E27FC236}">
                <a16:creationId xmlns:a16="http://schemas.microsoft.com/office/drawing/2014/main" id="{B935E981-B7C6-4BDF-ADC2-EFF2B075D3D8}"/>
              </a:ext>
            </a:extLst>
          </p:cNvPr>
          <p:cNvSpPr txBox="1"/>
          <p:nvPr/>
        </p:nvSpPr>
        <p:spPr>
          <a:xfrm>
            <a:off x="7490010" y="5191415"/>
            <a:ext cx="2219511" cy="523220"/>
          </a:xfrm>
          <a:prstGeom prst="rect">
            <a:avLst/>
          </a:prstGeom>
          <a:noFill/>
        </p:spPr>
        <p:txBody>
          <a:bodyPr wrap="square" rtlCol="0">
            <a:spAutoFit/>
          </a:bodyPr>
          <a:lstStyle/>
          <a:p>
            <a:pPr algn="r"/>
            <a:r>
              <a:rPr lang="en-GB" sz="2800" b="1" dirty="0">
                <a:solidFill>
                  <a:srgbClr val="FF0000"/>
                </a:solidFill>
              </a:rPr>
              <a:t>FK links to PK</a:t>
            </a:r>
          </a:p>
        </p:txBody>
      </p:sp>
      <p:sp>
        <p:nvSpPr>
          <p:cNvPr id="20" name="TextBox 19">
            <a:extLst>
              <a:ext uri="{FF2B5EF4-FFF2-40B4-BE49-F238E27FC236}">
                <a16:creationId xmlns:a16="http://schemas.microsoft.com/office/drawing/2014/main" id="{FC18EA51-DCE8-4352-972F-FAECFBB2C52E}"/>
              </a:ext>
            </a:extLst>
          </p:cNvPr>
          <p:cNvSpPr txBox="1"/>
          <p:nvPr/>
        </p:nvSpPr>
        <p:spPr>
          <a:xfrm>
            <a:off x="838200" y="2259875"/>
            <a:ext cx="2314544" cy="523220"/>
          </a:xfrm>
          <a:prstGeom prst="rect">
            <a:avLst/>
          </a:prstGeom>
          <a:noFill/>
        </p:spPr>
        <p:txBody>
          <a:bodyPr wrap="none" rtlCol="0">
            <a:spAutoFit/>
          </a:bodyPr>
          <a:lstStyle/>
          <a:p>
            <a:r>
              <a:rPr lang="en-GB" sz="2800" b="1" dirty="0"/>
              <a:t>Table: Teacher</a:t>
            </a:r>
          </a:p>
        </p:txBody>
      </p:sp>
      <p:sp>
        <p:nvSpPr>
          <p:cNvPr id="21" name="TextBox 20">
            <a:extLst>
              <a:ext uri="{FF2B5EF4-FFF2-40B4-BE49-F238E27FC236}">
                <a16:creationId xmlns:a16="http://schemas.microsoft.com/office/drawing/2014/main" id="{2BC1D85C-CC9B-4254-9807-EDCE23158977}"/>
              </a:ext>
            </a:extLst>
          </p:cNvPr>
          <p:cNvSpPr txBox="1"/>
          <p:nvPr/>
        </p:nvSpPr>
        <p:spPr>
          <a:xfrm>
            <a:off x="7149390" y="2275196"/>
            <a:ext cx="2973827" cy="523220"/>
          </a:xfrm>
          <a:prstGeom prst="rect">
            <a:avLst/>
          </a:prstGeom>
          <a:noFill/>
        </p:spPr>
        <p:txBody>
          <a:bodyPr wrap="none" rtlCol="0">
            <a:spAutoFit/>
          </a:bodyPr>
          <a:lstStyle/>
          <a:p>
            <a:r>
              <a:rPr lang="en-GB" sz="2800" b="1" dirty="0"/>
              <a:t>Table: Department</a:t>
            </a:r>
          </a:p>
        </p:txBody>
      </p:sp>
      <p:sp>
        <p:nvSpPr>
          <p:cNvPr id="7" name="Oval 6">
            <a:extLst>
              <a:ext uri="{FF2B5EF4-FFF2-40B4-BE49-F238E27FC236}">
                <a16:creationId xmlns:a16="http://schemas.microsoft.com/office/drawing/2014/main" id="{00C111E4-9515-819D-6CD4-462D7C7670D9}"/>
              </a:ext>
            </a:extLst>
          </p:cNvPr>
          <p:cNvSpPr/>
          <p:nvPr/>
        </p:nvSpPr>
        <p:spPr>
          <a:xfrm>
            <a:off x="7030064" y="2685202"/>
            <a:ext cx="1620000" cy="612000"/>
          </a:xfrm>
          <a:prstGeom prst="ellipse">
            <a:avLst/>
          </a:prstGeom>
          <a:noFill/>
          <a:ln w="5715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1" name="Oval 10">
            <a:extLst>
              <a:ext uri="{FF2B5EF4-FFF2-40B4-BE49-F238E27FC236}">
                <a16:creationId xmlns:a16="http://schemas.microsoft.com/office/drawing/2014/main" id="{20B8326E-0F87-2651-23AE-3B1B3B5A4A2A}"/>
              </a:ext>
            </a:extLst>
          </p:cNvPr>
          <p:cNvSpPr/>
          <p:nvPr/>
        </p:nvSpPr>
        <p:spPr>
          <a:xfrm>
            <a:off x="5042611" y="2679987"/>
            <a:ext cx="1620000" cy="612000"/>
          </a:xfrm>
          <a:prstGeom prst="ellipse">
            <a:avLst/>
          </a:prstGeom>
          <a:noFill/>
          <a:ln w="5715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7" name="Arc 16">
            <a:extLst>
              <a:ext uri="{FF2B5EF4-FFF2-40B4-BE49-F238E27FC236}">
                <a16:creationId xmlns:a16="http://schemas.microsoft.com/office/drawing/2014/main" id="{A2AE177D-AA1E-E2B5-839A-935902A4680E}"/>
              </a:ext>
            </a:extLst>
          </p:cNvPr>
          <p:cNvSpPr/>
          <p:nvPr/>
        </p:nvSpPr>
        <p:spPr>
          <a:xfrm>
            <a:off x="6541436" y="2702546"/>
            <a:ext cx="605451" cy="372754"/>
          </a:xfrm>
          <a:prstGeom prst="arc">
            <a:avLst>
              <a:gd name="adj1" fmla="val 11701476"/>
              <a:gd name="adj2" fmla="val 20745836"/>
            </a:avLst>
          </a:prstGeom>
          <a:ln w="57150">
            <a:solidFill>
              <a:srgbClr val="FF000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GB"/>
          </a:p>
        </p:txBody>
      </p:sp>
      <p:grpSp>
        <p:nvGrpSpPr>
          <p:cNvPr id="25" name="Group 24">
            <a:extLst>
              <a:ext uri="{FF2B5EF4-FFF2-40B4-BE49-F238E27FC236}">
                <a16:creationId xmlns:a16="http://schemas.microsoft.com/office/drawing/2014/main" id="{2469EE32-BAEE-4D4E-B3EB-D137826C322F}"/>
              </a:ext>
            </a:extLst>
          </p:cNvPr>
          <p:cNvGrpSpPr/>
          <p:nvPr/>
        </p:nvGrpSpPr>
        <p:grpSpPr>
          <a:xfrm>
            <a:off x="5902036" y="3574473"/>
            <a:ext cx="1242349" cy="629392"/>
            <a:chOff x="5902036" y="3574473"/>
            <a:chExt cx="1242349" cy="629392"/>
          </a:xfrm>
        </p:grpSpPr>
        <p:cxnSp>
          <p:nvCxnSpPr>
            <p:cNvPr id="6" name="Straight Arrow Connector 5">
              <a:extLst>
                <a:ext uri="{FF2B5EF4-FFF2-40B4-BE49-F238E27FC236}">
                  <a16:creationId xmlns:a16="http://schemas.microsoft.com/office/drawing/2014/main" id="{13817D7A-F685-4CEE-9E6A-3D24AEFFF513}"/>
                </a:ext>
              </a:extLst>
            </p:cNvPr>
            <p:cNvCxnSpPr/>
            <p:nvPr/>
          </p:nvCxnSpPr>
          <p:spPr>
            <a:xfrm flipH="1">
              <a:off x="5902036" y="3574473"/>
              <a:ext cx="1242349" cy="0"/>
            </a:xfrm>
            <a:prstGeom prst="straightConnector1">
              <a:avLst/>
            </a:prstGeom>
            <a:ln w="38100">
              <a:solidFill>
                <a:srgbClr val="FF0000"/>
              </a:solidFill>
              <a:headEnd w="lg" len="lg"/>
              <a:tailEnd type="triangle" w="lg" len="lg"/>
            </a:ln>
          </p:spPr>
          <p:style>
            <a:lnRef idx="1">
              <a:schemeClr val="accent1"/>
            </a:lnRef>
            <a:fillRef idx="0">
              <a:schemeClr val="accent1"/>
            </a:fillRef>
            <a:effectRef idx="0">
              <a:schemeClr val="accent1"/>
            </a:effectRef>
            <a:fontRef idx="minor">
              <a:schemeClr val="tx1"/>
            </a:fontRef>
          </p:style>
        </p:cxnSp>
        <p:cxnSp>
          <p:nvCxnSpPr>
            <p:cNvPr id="22" name="Straight Arrow Connector 21">
              <a:extLst>
                <a:ext uri="{FF2B5EF4-FFF2-40B4-BE49-F238E27FC236}">
                  <a16:creationId xmlns:a16="http://schemas.microsoft.com/office/drawing/2014/main" id="{D38E8BC8-453C-4DC2-B7E4-66F0F3130226}"/>
                </a:ext>
              </a:extLst>
            </p:cNvPr>
            <p:cNvCxnSpPr>
              <a:cxnSpLocks/>
              <a:stCxn id="14" idx="1"/>
            </p:cNvCxnSpPr>
            <p:nvPr/>
          </p:nvCxnSpPr>
          <p:spPr>
            <a:xfrm flipH="1">
              <a:off x="5902036" y="3591374"/>
              <a:ext cx="1242349" cy="612491"/>
            </a:xfrm>
            <a:prstGeom prst="straightConnector1">
              <a:avLst/>
            </a:prstGeom>
            <a:ln w="38100">
              <a:solidFill>
                <a:srgbClr val="FF0000"/>
              </a:solidFill>
              <a:headEnd w="lg" len="lg"/>
              <a:tailEnd type="triangle" w="lg" len="lg"/>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132451370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15"/>
                                        </p:tgtEl>
                                        <p:attrNameLst>
                                          <p:attrName>style.visibility</p:attrName>
                                        </p:attrNameLst>
                                      </p:cBhvr>
                                      <p:to>
                                        <p:strVal val="visible"/>
                                      </p:to>
                                    </p:set>
                                    <p:animEffect transition="in" filter="wipe(left)">
                                      <p:cBhvr>
                                        <p:cTn id="7" dur="2500"/>
                                        <p:tgtEl>
                                          <p:spTgt spid="15"/>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20"/>
                                        </p:tgtEl>
                                        <p:attrNameLst>
                                          <p:attrName>style.visibility</p:attrName>
                                        </p:attrNameLst>
                                      </p:cBhvr>
                                      <p:to>
                                        <p:strVal val="visible"/>
                                      </p:to>
                                    </p:set>
                                    <p:animEffect transition="in" filter="wipe(left)">
                                      <p:cBhvr>
                                        <p:cTn id="12" dur="1000"/>
                                        <p:tgtEl>
                                          <p:spTgt spid="20"/>
                                        </p:tgtEl>
                                      </p:cBhvr>
                                    </p:animEffect>
                                  </p:childTnLst>
                                </p:cTn>
                              </p:par>
                              <p:par>
                                <p:cTn id="13" presetID="22" presetClass="entr" presetSubtype="8" fill="hold" nodeType="withEffect">
                                  <p:stCondLst>
                                    <p:cond delay="0"/>
                                  </p:stCondLst>
                                  <p:childTnLst>
                                    <p:set>
                                      <p:cBhvr>
                                        <p:cTn id="14" dur="1" fill="hold">
                                          <p:stCondLst>
                                            <p:cond delay="0"/>
                                          </p:stCondLst>
                                        </p:cTn>
                                        <p:tgtEl>
                                          <p:spTgt spid="5"/>
                                        </p:tgtEl>
                                        <p:attrNameLst>
                                          <p:attrName>style.visibility</p:attrName>
                                        </p:attrNameLst>
                                      </p:cBhvr>
                                      <p:to>
                                        <p:strVal val="visible"/>
                                      </p:to>
                                    </p:set>
                                    <p:animEffect transition="in" filter="wipe(left)">
                                      <p:cBhvr>
                                        <p:cTn id="15" dur="2000"/>
                                        <p:tgtEl>
                                          <p:spTgt spid="5"/>
                                        </p:tgtEl>
                                      </p:cBhvr>
                                    </p:animEffect>
                                  </p:childTnLst>
                                </p:cTn>
                              </p:par>
                            </p:childTnLst>
                          </p:cTn>
                        </p:par>
                      </p:childTnLst>
                    </p:cTn>
                  </p:par>
                  <p:par>
                    <p:cTn id="16" fill="hold">
                      <p:stCondLst>
                        <p:cond delay="indefinite"/>
                      </p:stCondLst>
                      <p:childTnLst>
                        <p:par>
                          <p:cTn id="17" fill="hold">
                            <p:stCondLst>
                              <p:cond delay="0"/>
                            </p:stCondLst>
                            <p:childTnLst>
                              <p:par>
                                <p:cTn id="18" presetID="22" presetClass="entr" presetSubtype="8" fill="hold" grpId="0" nodeType="clickEffect">
                                  <p:stCondLst>
                                    <p:cond delay="0"/>
                                  </p:stCondLst>
                                  <p:childTnLst>
                                    <p:set>
                                      <p:cBhvr>
                                        <p:cTn id="19" dur="1" fill="hold">
                                          <p:stCondLst>
                                            <p:cond delay="0"/>
                                          </p:stCondLst>
                                        </p:cTn>
                                        <p:tgtEl>
                                          <p:spTgt spid="8"/>
                                        </p:tgtEl>
                                        <p:attrNameLst>
                                          <p:attrName>style.visibility</p:attrName>
                                        </p:attrNameLst>
                                      </p:cBhvr>
                                      <p:to>
                                        <p:strVal val="visible"/>
                                      </p:to>
                                    </p:set>
                                    <p:animEffect transition="in" filter="wipe(left)">
                                      <p:cBhvr>
                                        <p:cTn id="20" dur="1500"/>
                                        <p:tgtEl>
                                          <p:spTgt spid="8"/>
                                        </p:tgtEl>
                                      </p:cBhvr>
                                    </p:animEffect>
                                  </p:childTnLst>
                                </p:cTn>
                              </p:par>
                            </p:childTnLst>
                          </p:cTn>
                        </p:par>
                      </p:childTnLst>
                    </p:cTn>
                  </p:par>
                  <p:par>
                    <p:cTn id="21" fill="hold">
                      <p:stCondLst>
                        <p:cond delay="indefinite"/>
                      </p:stCondLst>
                      <p:childTnLst>
                        <p:par>
                          <p:cTn id="22" fill="hold">
                            <p:stCondLst>
                              <p:cond delay="0"/>
                            </p:stCondLst>
                            <p:childTnLst>
                              <p:par>
                                <p:cTn id="23" presetID="22" presetClass="entr" presetSubtype="8" fill="hold" grpId="0" nodeType="clickEffect">
                                  <p:stCondLst>
                                    <p:cond delay="0"/>
                                  </p:stCondLst>
                                  <p:childTnLst>
                                    <p:set>
                                      <p:cBhvr>
                                        <p:cTn id="24" dur="1" fill="hold">
                                          <p:stCondLst>
                                            <p:cond delay="0"/>
                                          </p:stCondLst>
                                        </p:cTn>
                                        <p:tgtEl>
                                          <p:spTgt spid="21"/>
                                        </p:tgtEl>
                                        <p:attrNameLst>
                                          <p:attrName>style.visibility</p:attrName>
                                        </p:attrNameLst>
                                      </p:cBhvr>
                                      <p:to>
                                        <p:strVal val="visible"/>
                                      </p:to>
                                    </p:set>
                                    <p:animEffect transition="in" filter="wipe(left)">
                                      <p:cBhvr>
                                        <p:cTn id="25" dur="1250"/>
                                        <p:tgtEl>
                                          <p:spTgt spid="21"/>
                                        </p:tgtEl>
                                      </p:cBhvr>
                                    </p:animEffect>
                                  </p:childTnLst>
                                </p:cTn>
                              </p:par>
                              <p:par>
                                <p:cTn id="26" presetID="22" presetClass="entr" presetSubtype="8" fill="hold" nodeType="withEffect">
                                  <p:stCondLst>
                                    <p:cond delay="0"/>
                                  </p:stCondLst>
                                  <p:childTnLst>
                                    <p:set>
                                      <p:cBhvr>
                                        <p:cTn id="27" dur="1" fill="hold">
                                          <p:stCondLst>
                                            <p:cond delay="0"/>
                                          </p:stCondLst>
                                        </p:cTn>
                                        <p:tgtEl>
                                          <p:spTgt spid="14"/>
                                        </p:tgtEl>
                                        <p:attrNameLst>
                                          <p:attrName>style.visibility</p:attrName>
                                        </p:attrNameLst>
                                      </p:cBhvr>
                                      <p:to>
                                        <p:strVal val="visible"/>
                                      </p:to>
                                    </p:set>
                                    <p:animEffect transition="in" filter="wipe(left)">
                                      <p:cBhvr>
                                        <p:cTn id="28" dur="1500"/>
                                        <p:tgtEl>
                                          <p:spTgt spid="14"/>
                                        </p:tgtEl>
                                      </p:cBhvr>
                                    </p:animEffect>
                                  </p:childTnLst>
                                </p:cTn>
                              </p:par>
                            </p:childTnLst>
                          </p:cTn>
                        </p:par>
                      </p:childTnLst>
                    </p:cTn>
                  </p:par>
                  <p:par>
                    <p:cTn id="29" fill="hold">
                      <p:stCondLst>
                        <p:cond delay="indefinite"/>
                      </p:stCondLst>
                      <p:childTnLst>
                        <p:par>
                          <p:cTn id="30" fill="hold">
                            <p:stCondLst>
                              <p:cond delay="0"/>
                            </p:stCondLst>
                            <p:childTnLst>
                              <p:par>
                                <p:cTn id="31" presetID="22" presetClass="entr" presetSubtype="8" fill="hold" grpId="0" nodeType="clickEffect">
                                  <p:stCondLst>
                                    <p:cond delay="0"/>
                                  </p:stCondLst>
                                  <p:childTnLst>
                                    <p:set>
                                      <p:cBhvr>
                                        <p:cTn id="32" dur="1" fill="hold">
                                          <p:stCondLst>
                                            <p:cond delay="0"/>
                                          </p:stCondLst>
                                        </p:cTn>
                                        <p:tgtEl>
                                          <p:spTgt spid="9"/>
                                        </p:tgtEl>
                                        <p:attrNameLst>
                                          <p:attrName>style.visibility</p:attrName>
                                        </p:attrNameLst>
                                      </p:cBhvr>
                                      <p:to>
                                        <p:strVal val="visible"/>
                                      </p:to>
                                    </p:set>
                                    <p:animEffect transition="in" filter="wipe(left)">
                                      <p:cBhvr>
                                        <p:cTn id="33" dur="1000"/>
                                        <p:tgtEl>
                                          <p:spTgt spid="9"/>
                                        </p:tgtEl>
                                      </p:cBhvr>
                                    </p:animEffect>
                                  </p:childTnLst>
                                </p:cTn>
                              </p:par>
                            </p:childTnLst>
                          </p:cTn>
                        </p:par>
                      </p:childTnLst>
                    </p:cTn>
                  </p:par>
                  <p:par>
                    <p:cTn id="34" fill="hold">
                      <p:stCondLst>
                        <p:cond delay="indefinite"/>
                      </p:stCondLst>
                      <p:childTnLst>
                        <p:par>
                          <p:cTn id="35" fill="hold">
                            <p:stCondLst>
                              <p:cond delay="0"/>
                            </p:stCondLst>
                            <p:childTnLst>
                              <p:par>
                                <p:cTn id="36" presetID="21" presetClass="entr" presetSubtype="1" fill="hold" grpId="0" nodeType="clickEffect">
                                  <p:stCondLst>
                                    <p:cond delay="0"/>
                                  </p:stCondLst>
                                  <p:childTnLst>
                                    <p:set>
                                      <p:cBhvr>
                                        <p:cTn id="37" dur="1" fill="hold">
                                          <p:stCondLst>
                                            <p:cond delay="0"/>
                                          </p:stCondLst>
                                        </p:cTn>
                                        <p:tgtEl>
                                          <p:spTgt spid="7"/>
                                        </p:tgtEl>
                                        <p:attrNameLst>
                                          <p:attrName>style.visibility</p:attrName>
                                        </p:attrNameLst>
                                      </p:cBhvr>
                                      <p:to>
                                        <p:strVal val="visible"/>
                                      </p:to>
                                    </p:set>
                                    <p:animEffect transition="in" filter="wheel(1)">
                                      <p:cBhvr>
                                        <p:cTn id="38" dur="2000"/>
                                        <p:tgtEl>
                                          <p:spTgt spid="7"/>
                                        </p:tgtEl>
                                      </p:cBhvr>
                                    </p:animEffect>
                                  </p:childTnLst>
                                </p:cTn>
                              </p:par>
                            </p:childTnLst>
                          </p:cTn>
                        </p:par>
                      </p:childTnLst>
                    </p:cTn>
                  </p:par>
                  <p:par>
                    <p:cTn id="39" fill="hold">
                      <p:stCondLst>
                        <p:cond delay="indefinite"/>
                      </p:stCondLst>
                      <p:childTnLst>
                        <p:par>
                          <p:cTn id="40" fill="hold">
                            <p:stCondLst>
                              <p:cond delay="0"/>
                            </p:stCondLst>
                            <p:childTnLst>
                              <p:par>
                                <p:cTn id="41" presetID="22" presetClass="entr" presetSubtype="2" fill="hold" grpId="0" nodeType="clickEffect">
                                  <p:stCondLst>
                                    <p:cond delay="0"/>
                                  </p:stCondLst>
                                  <p:childTnLst>
                                    <p:set>
                                      <p:cBhvr>
                                        <p:cTn id="42" dur="1" fill="hold">
                                          <p:stCondLst>
                                            <p:cond delay="0"/>
                                          </p:stCondLst>
                                        </p:cTn>
                                        <p:tgtEl>
                                          <p:spTgt spid="17"/>
                                        </p:tgtEl>
                                        <p:attrNameLst>
                                          <p:attrName>style.visibility</p:attrName>
                                        </p:attrNameLst>
                                      </p:cBhvr>
                                      <p:to>
                                        <p:strVal val="visible"/>
                                      </p:to>
                                    </p:set>
                                    <p:animEffect transition="in" filter="wipe(right)">
                                      <p:cBhvr>
                                        <p:cTn id="43" dur="1000"/>
                                        <p:tgtEl>
                                          <p:spTgt spid="17"/>
                                        </p:tgtEl>
                                      </p:cBhvr>
                                    </p:animEffect>
                                  </p:childTnLst>
                                </p:cTn>
                              </p:par>
                            </p:childTnLst>
                          </p:cTn>
                        </p:par>
                        <p:par>
                          <p:cTn id="44" fill="hold">
                            <p:stCondLst>
                              <p:cond delay="1000"/>
                            </p:stCondLst>
                            <p:childTnLst>
                              <p:par>
                                <p:cTn id="45" presetID="21" presetClass="entr" presetSubtype="1" fill="hold" grpId="0" nodeType="afterEffect">
                                  <p:stCondLst>
                                    <p:cond delay="0"/>
                                  </p:stCondLst>
                                  <p:childTnLst>
                                    <p:set>
                                      <p:cBhvr>
                                        <p:cTn id="46" dur="1" fill="hold">
                                          <p:stCondLst>
                                            <p:cond delay="0"/>
                                          </p:stCondLst>
                                        </p:cTn>
                                        <p:tgtEl>
                                          <p:spTgt spid="11"/>
                                        </p:tgtEl>
                                        <p:attrNameLst>
                                          <p:attrName>style.visibility</p:attrName>
                                        </p:attrNameLst>
                                      </p:cBhvr>
                                      <p:to>
                                        <p:strVal val="visible"/>
                                      </p:to>
                                    </p:set>
                                    <p:animEffect transition="in" filter="wheel(1)">
                                      <p:cBhvr>
                                        <p:cTn id="47" dur="2000"/>
                                        <p:tgtEl>
                                          <p:spTgt spid="11"/>
                                        </p:tgtEl>
                                      </p:cBhvr>
                                    </p:animEffect>
                                  </p:childTnLst>
                                </p:cTn>
                              </p:par>
                            </p:childTnLst>
                          </p:cTn>
                        </p:par>
                      </p:childTnLst>
                    </p:cTn>
                  </p:par>
                  <p:par>
                    <p:cTn id="48" fill="hold">
                      <p:stCondLst>
                        <p:cond delay="indefinite"/>
                      </p:stCondLst>
                      <p:childTnLst>
                        <p:par>
                          <p:cTn id="49" fill="hold">
                            <p:stCondLst>
                              <p:cond delay="0"/>
                            </p:stCondLst>
                            <p:childTnLst>
                              <p:par>
                                <p:cTn id="50" presetID="22" presetClass="entr" presetSubtype="8" fill="hold" grpId="0" nodeType="clickEffect">
                                  <p:stCondLst>
                                    <p:cond delay="0"/>
                                  </p:stCondLst>
                                  <p:childTnLst>
                                    <p:set>
                                      <p:cBhvr>
                                        <p:cTn id="51" dur="1" fill="hold">
                                          <p:stCondLst>
                                            <p:cond delay="0"/>
                                          </p:stCondLst>
                                        </p:cTn>
                                        <p:tgtEl>
                                          <p:spTgt spid="12"/>
                                        </p:tgtEl>
                                        <p:attrNameLst>
                                          <p:attrName>style.visibility</p:attrName>
                                        </p:attrNameLst>
                                      </p:cBhvr>
                                      <p:to>
                                        <p:strVal val="visible"/>
                                      </p:to>
                                    </p:set>
                                    <p:animEffect transition="in" filter="wipe(left)">
                                      <p:cBhvr>
                                        <p:cTn id="52" dur="2000"/>
                                        <p:tgtEl>
                                          <p:spTgt spid="12"/>
                                        </p:tgtEl>
                                      </p:cBhvr>
                                    </p:animEffect>
                                  </p:childTnLst>
                                </p:cTn>
                              </p:par>
                            </p:childTnLst>
                          </p:cTn>
                        </p:par>
                      </p:childTnLst>
                    </p:cTn>
                  </p:par>
                  <p:par>
                    <p:cTn id="53" fill="hold">
                      <p:stCondLst>
                        <p:cond delay="indefinite"/>
                      </p:stCondLst>
                      <p:childTnLst>
                        <p:par>
                          <p:cTn id="54" fill="hold">
                            <p:stCondLst>
                              <p:cond delay="0"/>
                            </p:stCondLst>
                            <p:childTnLst>
                              <p:par>
                                <p:cTn id="55" presetID="22" presetClass="entr" presetSubtype="8" fill="hold" grpId="0" nodeType="clickEffect">
                                  <p:stCondLst>
                                    <p:cond delay="0"/>
                                  </p:stCondLst>
                                  <p:childTnLst>
                                    <p:set>
                                      <p:cBhvr>
                                        <p:cTn id="56" dur="1" fill="hold">
                                          <p:stCondLst>
                                            <p:cond delay="0"/>
                                          </p:stCondLst>
                                        </p:cTn>
                                        <p:tgtEl>
                                          <p:spTgt spid="16"/>
                                        </p:tgtEl>
                                        <p:attrNameLst>
                                          <p:attrName>style.visibility</p:attrName>
                                        </p:attrNameLst>
                                      </p:cBhvr>
                                      <p:to>
                                        <p:strVal val="visible"/>
                                      </p:to>
                                    </p:set>
                                    <p:animEffect transition="in" filter="wipe(left)">
                                      <p:cBhvr>
                                        <p:cTn id="57" dur="1000"/>
                                        <p:tgtEl>
                                          <p:spTgt spid="16"/>
                                        </p:tgtEl>
                                      </p:cBhvr>
                                    </p:animEffect>
                                  </p:childTnLst>
                                </p:cTn>
                              </p:par>
                            </p:childTnLst>
                          </p:cTn>
                        </p:par>
                      </p:childTnLst>
                    </p:cTn>
                  </p:par>
                  <p:par>
                    <p:cTn id="58" fill="hold">
                      <p:stCondLst>
                        <p:cond delay="indefinite"/>
                      </p:stCondLst>
                      <p:childTnLst>
                        <p:par>
                          <p:cTn id="59" fill="hold">
                            <p:stCondLst>
                              <p:cond delay="0"/>
                            </p:stCondLst>
                            <p:childTnLst>
                              <p:par>
                                <p:cTn id="60" presetID="22" presetClass="entr" presetSubtype="2" fill="hold" nodeType="clickEffect">
                                  <p:stCondLst>
                                    <p:cond delay="0"/>
                                  </p:stCondLst>
                                  <p:childTnLst>
                                    <p:set>
                                      <p:cBhvr>
                                        <p:cTn id="61" dur="1" fill="hold">
                                          <p:stCondLst>
                                            <p:cond delay="0"/>
                                          </p:stCondLst>
                                        </p:cTn>
                                        <p:tgtEl>
                                          <p:spTgt spid="25"/>
                                        </p:tgtEl>
                                        <p:attrNameLst>
                                          <p:attrName>style.visibility</p:attrName>
                                        </p:attrNameLst>
                                      </p:cBhvr>
                                      <p:to>
                                        <p:strVal val="visible"/>
                                      </p:to>
                                    </p:set>
                                    <p:animEffect transition="in" filter="wipe(right)">
                                      <p:cBhvr>
                                        <p:cTn id="62" dur="1000"/>
                                        <p:tgtEl>
                                          <p:spTgt spid="2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5" grpId="0"/>
      <p:bldP spid="8" grpId="0" animBg="1"/>
      <p:bldP spid="9" grpId="0" animBg="1"/>
      <p:bldP spid="12" grpId="0" animBg="1"/>
      <p:bldP spid="16" grpId="0"/>
      <p:bldP spid="20" grpId="0"/>
      <p:bldP spid="21" grpId="0"/>
      <p:bldP spid="7" grpId="0" animBg="1"/>
      <p:bldP spid="11" grpId="0" animBg="1"/>
      <p:bldP spid="17" grpId="0" animBg="1"/>
    </p:bldLst>
  </p:timing>
</p:sld>
</file>

<file path=ppt/slides/slide174.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Keys</a:t>
            </a:r>
          </a:p>
        </p:txBody>
      </p:sp>
      <p:sp>
        <p:nvSpPr>
          <p:cNvPr id="15" name="TextBox 14">
            <a:extLst>
              <a:ext uri="{FF2B5EF4-FFF2-40B4-BE49-F238E27FC236}">
                <a16:creationId xmlns:a16="http://schemas.microsoft.com/office/drawing/2014/main" id="{B935E981-B7C6-4BDF-ADC2-EFF2B075D3D8}"/>
              </a:ext>
            </a:extLst>
          </p:cNvPr>
          <p:cNvSpPr txBox="1"/>
          <p:nvPr/>
        </p:nvSpPr>
        <p:spPr>
          <a:xfrm>
            <a:off x="838200" y="1559731"/>
            <a:ext cx="11338425" cy="584775"/>
          </a:xfrm>
          <a:prstGeom prst="rect">
            <a:avLst/>
          </a:prstGeom>
          <a:noFill/>
        </p:spPr>
        <p:txBody>
          <a:bodyPr wrap="none" rtlCol="0">
            <a:spAutoFit/>
          </a:bodyPr>
          <a:lstStyle/>
          <a:p>
            <a:r>
              <a:rPr lang="en-GB" sz="3200" b="1" dirty="0">
                <a:solidFill>
                  <a:srgbClr val="7030A0"/>
                </a:solidFill>
              </a:rPr>
              <a:t>A table has a Primary Key, and can have one or more Foreign Keys</a:t>
            </a:r>
          </a:p>
        </p:txBody>
      </p:sp>
      <p:graphicFrame>
        <p:nvGraphicFramePr>
          <p:cNvPr id="14" name="Dept table">
            <a:extLst>
              <a:ext uri="{FF2B5EF4-FFF2-40B4-BE49-F238E27FC236}">
                <a16:creationId xmlns:a16="http://schemas.microsoft.com/office/drawing/2014/main" id="{844D8AF2-45F4-4D3A-A16B-FDE72F88C3EB}"/>
              </a:ext>
            </a:extLst>
          </p:cNvPr>
          <p:cNvGraphicFramePr>
            <a:graphicFrameLocks/>
          </p:cNvGraphicFramePr>
          <p:nvPr/>
        </p:nvGraphicFramePr>
        <p:xfrm>
          <a:off x="7144385" y="2702546"/>
          <a:ext cx="4209415" cy="1777656"/>
        </p:xfrm>
        <a:graphic>
          <a:graphicData uri="http://schemas.openxmlformats.org/drawingml/2006/table">
            <a:tbl>
              <a:tblPr firstRow="1" bandRow="1">
                <a:tableStyleId>{5C22544A-7EE6-4342-B048-85BDC9FD1C3A}</a:tableStyleId>
              </a:tblPr>
              <a:tblGrid>
                <a:gridCol w="1417955">
                  <a:extLst>
                    <a:ext uri="{9D8B030D-6E8A-4147-A177-3AD203B41FA5}">
                      <a16:colId xmlns:a16="http://schemas.microsoft.com/office/drawing/2014/main" val="415971381"/>
                    </a:ext>
                  </a:extLst>
                </a:gridCol>
                <a:gridCol w="1440180">
                  <a:extLst>
                    <a:ext uri="{9D8B030D-6E8A-4147-A177-3AD203B41FA5}">
                      <a16:colId xmlns:a16="http://schemas.microsoft.com/office/drawing/2014/main" val="4013636719"/>
                    </a:ext>
                  </a:extLst>
                </a:gridCol>
                <a:gridCol w="1351280">
                  <a:extLst>
                    <a:ext uri="{9D8B030D-6E8A-4147-A177-3AD203B41FA5}">
                      <a16:colId xmlns:a16="http://schemas.microsoft.com/office/drawing/2014/main" val="3467447067"/>
                    </a:ext>
                  </a:extLst>
                </a:gridCol>
              </a:tblGrid>
              <a:tr h="592552">
                <a:tc>
                  <a:txBody>
                    <a:bodyPr/>
                    <a:lstStyle/>
                    <a:p>
                      <a:pPr algn="ctr"/>
                      <a:r>
                        <a:rPr lang="en-GB" sz="3200" dirty="0" err="1"/>
                        <a:t>deptID</a:t>
                      </a:r>
                      <a:endParaRPr lang="en-GB" sz="3200" dirty="0"/>
                    </a:p>
                  </a:txBody>
                  <a:tcPr/>
                </a:tc>
                <a:tc>
                  <a:txBody>
                    <a:bodyPr/>
                    <a:lstStyle/>
                    <a:p>
                      <a:pPr algn="ctr"/>
                      <a:r>
                        <a:rPr lang="en-GB" sz="3200" dirty="0"/>
                        <a:t>name</a:t>
                      </a:r>
                    </a:p>
                  </a:txBody>
                  <a:tcPr/>
                </a:tc>
                <a:tc>
                  <a:txBody>
                    <a:bodyPr/>
                    <a:lstStyle/>
                    <a:p>
                      <a:pPr algn="ctr"/>
                      <a:r>
                        <a:rPr lang="en-GB" sz="3200" dirty="0"/>
                        <a:t>phone</a:t>
                      </a:r>
                    </a:p>
                  </a:txBody>
                  <a:tcPr/>
                </a:tc>
                <a:extLst>
                  <a:ext uri="{0D108BD9-81ED-4DB2-BD59-A6C34878D82A}">
                    <a16:rowId xmlns:a16="http://schemas.microsoft.com/office/drawing/2014/main" val="3459615676"/>
                  </a:ext>
                </a:extLst>
              </a:tr>
              <a:tr h="592552">
                <a:tc>
                  <a:txBody>
                    <a:bodyPr/>
                    <a:lstStyle/>
                    <a:p>
                      <a:pPr lvl="0"/>
                      <a:r>
                        <a:rPr lang="en-GB" sz="3200" dirty="0"/>
                        <a:t>001</a:t>
                      </a:r>
                    </a:p>
                  </a:txBody>
                  <a:tcPr/>
                </a:tc>
                <a:tc>
                  <a:txBody>
                    <a:bodyPr/>
                    <a:lstStyle/>
                    <a:p>
                      <a:pPr lvl="0"/>
                      <a:r>
                        <a:rPr lang="en-GB" sz="3200" dirty="0"/>
                        <a:t>Maths</a:t>
                      </a:r>
                    </a:p>
                  </a:txBody>
                  <a:tcPr/>
                </a:tc>
                <a:tc>
                  <a:txBody>
                    <a:bodyPr/>
                    <a:lstStyle/>
                    <a:p>
                      <a:pPr lvl="0"/>
                      <a:r>
                        <a:rPr lang="en-GB" sz="3200" dirty="0"/>
                        <a:t>300</a:t>
                      </a:r>
                    </a:p>
                  </a:txBody>
                  <a:tcPr/>
                </a:tc>
                <a:extLst>
                  <a:ext uri="{0D108BD9-81ED-4DB2-BD59-A6C34878D82A}">
                    <a16:rowId xmlns:a16="http://schemas.microsoft.com/office/drawing/2014/main" val="1127765656"/>
                  </a:ext>
                </a:extLst>
              </a:tr>
              <a:tr h="592552">
                <a:tc>
                  <a:txBody>
                    <a:bodyPr/>
                    <a:lstStyle/>
                    <a:p>
                      <a:pPr lvl="0"/>
                      <a:r>
                        <a:rPr lang="en-GB" sz="3200" dirty="0"/>
                        <a:t>002</a:t>
                      </a:r>
                    </a:p>
                  </a:txBody>
                  <a:tcPr/>
                </a:tc>
                <a:tc>
                  <a:txBody>
                    <a:bodyPr/>
                    <a:lstStyle/>
                    <a:p>
                      <a:pPr lvl="0"/>
                      <a:r>
                        <a:rPr lang="en-GB" sz="3200" dirty="0"/>
                        <a:t>English</a:t>
                      </a:r>
                    </a:p>
                  </a:txBody>
                  <a:tcPr/>
                </a:tc>
                <a:tc>
                  <a:txBody>
                    <a:bodyPr/>
                    <a:lstStyle/>
                    <a:p>
                      <a:pPr lvl="0"/>
                      <a:r>
                        <a:rPr lang="en-GB" sz="3200" dirty="0"/>
                        <a:t>301</a:t>
                      </a:r>
                    </a:p>
                  </a:txBody>
                  <a:tcPr/>
                </a:tc>
                <a:extLst>
                  <a:ext uri="{0D108BD9-81ED-4DB2-BD59-A6C34878D82A}">
                    <a16:rowId xmlns:a16="http://schemas.microsoft.com/office/drawing/2014/main" val="81894544"/>
                  </a:ext>
                </a:extLst>
              </a:tr>
            </a:tbl>
          </a:graphicData>
        </a:graphic>
      </p:graphicFrame>
      <p:sp>
        <p:nvSpPr>
          <p:cNvPr id="20" name="TextBox 19">
            <a:extLst>
              <a:ext uri="{FF2B5EF4-FFF2-40B4-BE49-F238E27FC236}">
                <a16:creationId xmlns:a16="http://schemas.microsoft.com/office/drawing/2014/main" id="{FC18EA51-DCE8-4352-972F-FAECFBB2C52E}"/>
              </a:ext>
            </a:extLst>
          </p:cNvPr>
          <p:cNvSpPr txBox="1"/>
          <p:nvPr/>
        </p:nvSpPr>
        <p:spPr>
          <a:xfrm>
            <a:off x="838200" y="2259875"/>
            <a:ext cx="2314544" cy="523220"/>
          </a:xfrm>
          <a:prstGeom prst="rect">
            <a:avLst/>
          </a:prstGeom>
          <a:noFill/>
        </p:spPr>
        <p:txBody>
          <a:bodyPr wrap="none" rtlCol="0">
            <a:spAutoFit/>
          </a:bodyPr>
          <a:lstStyle/>
          <a:p>
            <a:r>
              <a:rPr lang="en-GB" sz="2800" b="1" dirty="0"/>
              <a:t>Table: Teacher</a:t>
            </a:r>
          </a:p>
        </p:txBody>
      </p:sp>
      <p:sp>
        <p:nvSpPr>
          <p:cNvPr id="21" name="TextBox 20">
            <a:extLst>
              <a:ext uri="{FF2B5EF4-FFF2-40B4-BE49-F238E27FC236}">
                <a16:creationId xmlns:a16="http://schemas.microsoft.com/office/drawing/2014/main" id="{2BC1D85C-CC9B-4254-9807-EDCE23158977}"/>
              </a:ext>
            </a:extLst>
          </p:cNvPr>
          <p:cNvSpPr txBox="1"/>
          <p:nvPr/>
        </p:nvSpPr>
        <p:spPr>
          <a:xfrm>
            <a:off x="7149390" y="2275196"/>
            <a:ext cx="2973827" cy="523220"/>
          </a:xfrm>
          <a:prstGeom prst="rect">
            <a:avLst/>
          </a:prstGeom>
          <a:noFill/>
        </p:spPr>
        <p:txBody>
          <a:bodyPr wrap="none" rtlCol="0">
            <a:spAutoFit/>
          </a:bodyPr>
          <a:lstStyle/>
          <a:p>
            <a:r>
              <a:rPr lang="en-GB" sz="2800" b="1" dirty="0"/>
              <a:t>Table: Department</a:t>
            </a:r>
          </a:p>
        </p:txBody>
      </p:sp>
      <p:graphicFrame>
        <p:nvGraphicFramePr>
          <p:cNvPr id="17" name="Staff table">
            <a:extLst>
              <a:ext uri="{FF2B5EF4-FFF2-40B4-BE49-F238E27FC236}">
                <a16:creationId xmlns:a16="http://schemas.microsoft.com/office/drawing/2014/main" id="{8ED3B093-22A7-495C-A6E7-540AF0D30F6B}"/>
              </a:ext>
            </a:extLst>
          </p:cNvPr>
          <p:cNvGraphicFramePr>
            <a:graphicFrameLocks/>
          </p:cNvGraphicFramePr>
          <p:nvPr>
            <p:extLst>
              <p:ext uri="{D42A27DB-BD31-4B8C-83A1-F6EECF244321}">
                <p14:modId xmlns:p14="http://schemas.microsoft.com/office/powerpoint/2010/main" val="945528434"/>
              </p:ext>
            </p:extLst>
          </p:nvPr>
        </p:nvGraphicFramePr>
        <p:xfrm>
          <a:off x="838200" y="2702546"/>
          <a:ext cx="5721413" cy="2962760"/>
        </p:xfrm>
        <a:graphic>
          <a:graphicData uri="http://schemas.openxmlformats.org/drawingml/2006/table">
            <a:tbl>
              <a:tblPr firstRow="1" bandRow="1">
                <a:tableStyleId>{5C22544A-7EE6-4342-B048-85BDC9FD1C3A}</a:tableStyleId>
              </a:tblPr>
              <a:tblGrid>
                <a:gridCol w="638492">
                  <a:extLst>
                    <a:ext uri="{9D8B030D-6E8A-4147-A177-3AD203B41FA5}">
                      <a16:colId xmlns:a16="http://schemas.microsoft.com/office/drawing/2014/main" val="1632358923"/>
                    </a:ext>
                  </a:extLst>
                </a:gridCol>
                <a:gridCol w="1913636">
                  <a:extLst>
                    <a:ext uri="{9D8B030D-6E8A-4147-A177-3AD203B41FA5}">
                      <a16:colId xmlns:a16="http://schemas.microsoft.com/office/drawing/2014/main" val="3505833113"/>
                    </a:ext>
                  </a:extLst>
                </a:gridCol>
                <a:gridCol w="1751330">
                  <a:extLst>
                    <a:ext uri="{9D8B030D-6E8A-4147-A177-3AD203B41FA5}">
                      <a16:colId xmlns:a16="http://schemas.microsoft.com/office/drawing/2014/main" val="3401749839"/>
                    </a:ext>
                  </a:extLst>
                </a:gridCol>
                <a:gridCol w="1417955">
                  <a:extLst>
                    <a:ext uri="{9D8B030D-6E8A-4147-A177-3AD203B41FA5}">
                      <a16:colId xmlns:a16="http://schemas.microsoft.com/office/drawing/2014/main" val="415971381"/>
                    </a:ext>
                  </a:extLst>
                </a:gridCol>
              </a:tblGrid>
              <a:tr h="592552">
                <a:tc>
                  <a:txBody>
                    <a:bodyPr/>
                    <a:lstStyle/>
                    <a:p>
                      <a:pPr algn="ctr"/>
                      <a:r>
                        <a:rPr lang="en-GB" sz="3200" dirty="0"/>
                        <a:t>ID</a:t>
                      </a:r>
                    </a:p>
                  </a:txBody>
                  <a:tcPr/>
                </a:tc>
                <a:tc>
                  <a:txBody>
                    <a:bodyPr/>
                    <a:lstStyle/>
                    <a:p>
                      <a:pPr algn="ctr"/>
                      <a:r>
                        <a:rPr lang="en-GB" sz="3200" dirty="0"/>
                        <a:t>forename</a:t>
                      </a:r>
                    </a:p>
                  </a:txBody>
                  <a:tcPr/>
                </a:tc>
                <a:tc>
                  <a:txBody>
                    <a:bodyPr/>
                    <a:lstStyle/>
                    <a:p>
                      <a:pPr algn="ctr"/>
                      <a:r>
                        <a:rPr lang="en-GB" sz="3200" dirty="0"/>
                        <a:t>surname</a:t>
                      </a:r>
                    </a:p>
                  </a:txBody>
                  <a:tcPr/>
                </a:tc>
                <a:tc>
                  <a:txBody>
                    <a:bodyPr/>
                    <a:lstStyle/>
                    <a:p>
                      <a:pPr algn="ctr"/>
                      <a:r>
                        <a:rPr lang="en-GB" sz="3200" dirty="0" err="1"/>
                        <a:t>deptID</a:t>
                      </a:r>
                      <a:endParaRPr lang="en-GB" sz="3200" dirty="0"/>
                    </a:p>
                  </a:txBody>
                  <a:tcPr/>
                </a:tc>
                <a:extLst>
                  <a:ext uri="{0D108BD9-81ED-4DB2-BD59-A6C34878D82A}">
                    <a16:rowId xmlns:a16="http://schemas.microsoft.com/office/drawing/2014/main" val="3459615676"/>
                  </a:ext>
                </a:extLst>
              </a:tr>
              <a:tr h="592552">
                <a:tc>
                  <a:txBody>
                    <a:bodyPr/>
                    <a:lstStyle/>
                    <a:p>
                      <a:pPr lvl="0"/>
                      <a:r>
                        <a:rPr lang="en-GB" sz="3200" dirty="0"/>
                        <a:t>1</a:t>
                      </a:r>
                    </a:p>
                  </a:txBody>
                  <a:tcPr/>
                </a:tc>
                <a:tc>
                  <a:txBody>
                    <a:bodyPr/>
                    <a:lstStyle/>
                    <a:p>
                      <a:pPr lvl="0" algn="l"/>
                      <a:r>
                        <a:rPr lang="en-GB" sz="3200" dirty="0"/>
                        <a:t>Colin</a:t>
                      </a:r>
                    </a:p>
                  </a:txBody>
                  <a:tcPr/>
                </a:tc>
                <a:tc>
                  <a:txBody>
                    <a:bodyPr/>
                    <a:lstStyle/>
                    <a:p>
                      <a:pPr lvl="0" algn="l"/>
                      <a:r>
                        <a:rPr lang="en-GB" sz="3200" dirty="0"/>
                        <a:t>Arthur</a:t>
                      </a:r>
                    </a:p>
                  </a:txBody>
                  <a:tcPr/>
                </a:tc>
                <a:tc>
                  <a:txBody>
                    <a:bodyPr/>
                    <a:lstStyle/>
                    <a:p>
                      <a:pPr lvl="0"/>
                      <a:r>
                        <a:rPr lang="en-GB" sz="3200" dirty="0"/>
                        <a:t>001</a:t>
                      </a:r>
                    </a:p>
                  </a:txBody>
                  <a:tcPr/>
                </a:tc>
                <a:extLst>
                  <a:ext uri="{0D108BD9-81ED-4DB2-BD59-A6C34878D82A}">
                    <a16:rowId xmlns:a16="http://schemas.microsoft.com/office/drawing/2014/main" val="1127765656"/>
                  </a:ext>
                </a:extLst>
              </a:tr>
              <a:tr h="592552">
                <a:tc>
                  <a:txBody>
                    <a:bodyPr/>
                    <a:lstStyle/>
                    <a:p>
                      <a:pPr lvl="0"/>
                      <a:r>
                        <a:rPr lang="en-GB" sz="3200" dirty="0"/>
                        <a:t>2</a:t>
                      </a:r>
                    </a:p>
                  </a:txBody>
                  <a:tcPr/>
                </a:tc>
                <a:tc>
                  <a:txBody>
                    <a:bodyPr/>
                    <a:lstStyle/>
                    <a:p>
                      <a:pPr lvl="0" algn="l"/>
                      <a:r>
                        <a:rPr lang="en-GB" sz="3200" dirty="0"/>
                        <a:t>Laura</a:t>
                      </a:r>
                    </a:p>
                  </a:txBody>
                  <a:tcPr/>
                </a:tc>
                <a:tc>
                  <a:txBody>
                    <a:bodyPr/>
                    <a:lstStyle/>
                    <a:p>
                      <a:pPr lvl="0" algn="l"/>
                      <a:r>
                        <a:rPr lang="en-GB" sz="3200" dirty="0"/>
                        <a:t>Brown</a:t>
                      </a:r>
                    </a:p>
                  </a:txBody>
                  <a:tcPr/>
                </a:tc>
                <a:tc>
                  <a:txBody>
                    <a:bodyPr/>
                    <a:lstStyle/>
                    <a:p>
                      <a:pPr lvl="0"/>
                      <a:r>
                        <a:rPr lang="en-GB" sz="3200" dirty="0"/>
                        <a:t>001</a:t>
                      </a:r>
                    </a:p>
                  </a:txBody>
                  <a:tcPr/>
                </a:tc>
                <a:extLst>
                  <a:ext uri="{0D108BD9-81ED-4DB2-BD59-A6C34878D82A}">
                    <a16:rowId xmlns:a16="http://schemas.microsoft.com/office/drawing/2014/main" val="2924661129"/>
                  </a:ext>
                </a:extLst>
              </a:tr>
              <a:tr h="592552">
                <a:tc>
                  <a:txBody>
                    <a:bodyPr/>
                    <a:lstStyle/>
                    <a:p>
                      <a:pPr lvl="0"/>
                      <a:r>
                        <a:rPr lang="en-GB" sz="3200" dirty="0"/>
                        <a:t>3</a:t>
                      </a:r>
                    </a:p>
                  </a:txBody>
                  <a:tcPr/>
                </a:tc>
                <a:tc>
                  <a:txBody>
                    <a:bodyPr/>
                    <a:lstStyle/>
                    <a:p>
                      <a:pPr lvl="0" algn="l"/>
                      <a:r>
                        <a:rPr lang="en-GB" sz="3200" dirty="0"/>
                        <a:t>Scott</a:t>
                      </a:r>
                    </a:p>
                  </a:txBody>
                  <a:tcPr/>
                </a:tc>
                <a:tc>
                  <a:txBody>
                    <a:bodyPr/>
                    <a:lstStyle/>
                    <a:p>
                      <a:pPr lvl="0" algn="l"/>
                      <a:r>
                        <a:rPr lang="en-GB" sz="3200" dirty="0"/>
                        <a:t>Sinclair</a:t>
                      </a:r>
                    </a:p>
                  </a:txBody>
                  <a:tcPr/>
                </a:tc>
                <a:tc>
                  <a:txBody>
                    <a:bodyPr/>
                    <a:lstStyle/>
                    <a:p>
                      <a:pPr lvl="0"/>
                      <a:r>
                        <a:rPr lang="en-GB" sz="3200" dirty="0"/>
                        <a:t>002</a:t>
                      </a:r>
                    </a:p>
                  </a:txBody>
                  <a:tcPr/>
                </a:tc>
                <a:extLst>
                  <a:ext uri="{0D108BD9-81ED-4DB2-BD59-A6C34878D82A}">
                    <a16:rowId xmlns:a16="http://schemas.microsoft.com/office/drawing/2014/main" val="1487565366"/>
                  </a:ext>
                </a:extLst>
              </a:tr>
              <a:tr h="592552">
                <a:tc>
                  <a:txBody>
                    <a:bodyPr/>
                    <a:lstStyle/>
                    <a:p>
                      <a:pPr lvl="0"/>
                      <a:r>
                        <a:rPr lang="en-GB" sz="3200" dirty="0"/>
                        <a:t>4</a:t>
                      </a:r>
                    </a:p>
                  </a:txBody>
                  <a:tcPr/>
                </a:tc>
                <a:tc>
                  <a:txBody>
                    <a:bodyPr/>
                    <a:lstStyle/>
                    <a:p>
                      <a:pPr lvl="0" algn="l"/>
                      <a:r>
                        <a:rPr lang="en-GB" sz="3200" dirty="0"/>
                        <a:t>Michelle</a:t>
                      </a:r>
                    </a:p>
                  </a:txBody>
                  <a:tcPr/>
                </a:tc>
                <a:tc>
                  <a:txBody>
                    <a:bodyPr/>
                    <a:lstStyle/>
                    <a:p>
                      <a:pPr lvl="0" algn="l"/>
                      <a:r>
                        <a:rPr lang="en-GB" sz="3200" dirty="0"/>
                        <a:t>Wie</a:t>
                      </a:r>
                    </a:p>
                  </a:txBody>
                  <a:tcPr/>
                </a:tc>
                <a:tc>
                  <a:txBody>
                    <a:bodyPr/>
                    <a:lstStyle/>
                    <a:p>
                      <a:pPr lvl="0"/>
                      <a:r>
                        <a:rPr lang="en-GB" sz="3200" dirty="0"/>
                        <a:t>002</a:t>
                      </a:r>
                    </a:p>
                  </a:txBody>
                  <a:tcPr/>
                </a:tc>
                <a:extLst>
                  <a:ext uri="{0D108BD9-81ED-4DB2-BD59-A6C34878D82A}">
                    <a16:rowId xmlns:a16="http://schemas.microsoft.com/office/drawing/2014/main" val="81894544"/>
                  </a:ext>
                </a:extLst>
              </a:tr>
            </a:tbl>
          </a:graphicData>
        </a:graphic>
      </p:graphicFrame>
    </p:spTree>
    <p:extLst>
      <p:ext uri="{BB962C8B-B14F-4D97-AF65-F5344CB8AC3E}">
        <p14:creationId xmlns:p14="http://schemas.microsoft.com/office/powerpoint/2010/main" val="920552221"/>
      </p:ext>
    </p:extLst>
  </p:cSld>
  <p:clrMapOvr>
    <a:masterClrMapping/>
  </p:clrMapOvr>
</p:sld>
</file>

<file path=ppt/slides/slide1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ERD 1:M</a:t>
            </a:r>
          </a:p>
        </p:txBody>
      </p:sp>
      <p:pic>
        <p:nvPicPr>
          <p:cNvPr id="4" name="Picture 3">
            <a:extLst>
              <a:ext uri="{FF2B5EF4-FFF2-40B4-BE49-F238E27FC236}">
                <a16:creationId xmlns:a16="http://schemas.microsoft.com/office/drawing/2014/main" id="{7AFBB97B-369A-F788-3290-16523E6DA0C6}"/>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874999" y="2169000"/>
            <a:ext cx="8441999" cy="2520000"/>
          </a:xfrm>
          <a:prstGeom prst="rect">
            <a:avLst/>
          </a:prstGeom>
        </p:spPr>
      </p:pic>
      <p:sp>
        <p:nvSpPr>
          <p:cNvPr id="15" name="TextBox 14">
            <a:extLst>
              <a:ext uri="{FF2B5EF4-FFF2-40B4-BE49-F238E27FC236}">
                <a16:creationId xmlns:a16="http://schemas.microsoft.com/office/drawing/2014/main" id="{B935E981-B7C6-4BDF-ADC2-EFF2B075D3D8}"/>
              </a:ext>
            </a:extLst>
          </p:cNvPr>
          <p:cNvSpPr txBox="1"/>
          <p:nvPr/>
        </p:nvSpPr>
        <p:spPr>
          <a:xfrm>
            <a:off x="2373152" y="5455972"/>
            <a:ext cx="6726906" cy="584775"/>
          </a:xfrm>
          <a:prstGeom prst="rect">
            <a:avLst/>
          </a:prstGeom>
          <a:noFill/>
        </p:spPr>
        <p:txBody>
          <a:bodyPr wrap="none" rtlCol="0">
            <a:spAutoFit/>
          </a:bodyPr>
          <a:lstStyle/>
          <a:p>
            <a:pPr algn="ctr"/>
            <a:r>
              <a:rPr lang="en-GB" sz="3200" b="1" dirty="0">
                <a:solidFill>
                  <a:srgbClr val="7030A0"/>
                </a:solidFill>
              </a:rPr>
              <a:t>A department can have many teachers</a:t>
            </a:r>
          </a:p>
        </p:txBody>
      </p:sp>
      <p:sp>
        <p:nvSpPr>
          <p:cNvPr id="9" name="Callout: Bent Line with No Border 4">
            <a:extLst>
              <a:ext uri="{FF2B5EF4-FFF2-40B4-BE49-F238E27FC236}">
                <a16:creationId xmlns:a16="http://schemas.microsoft.com/office/drawing/2014/main" id="{791239AE-DD75-4BA2-AA6E-D46E4F8FEC24}"/>
              </a:ext>
            </a:extLst>
          </p:cNvPr>
          <p:cNvSpPr/>
          <p:nvPr/>
        </p:nvSpPr>
        <p:spPr>
          <a:xfrm>
            <a:off x="10398485" y="2196296"/>
            <a:ext cx="1353014" cy="882602"/>
          </a:xfrm>
          <a:prstGeom prst="callout2">
            <a:avLst>
              <a:gd name="adj1" fmla="val 52750"/>
              <a:gd name="adj2" fmla="val -2245"/>
              <a:gd name="adj3" fmla="val 109624"/>
              <a:gd name="adj4" fmla="val -35707"/>
              <a:gd name="adj5" fmla="val 109695"/>
              <a:gd name="adj6" fmla="val -156293"/>
            </a:avLst>
          </a:prstGeom>
          <a:noFill/>
          <a:ln w="38100">
            <a:solidFill>
              <a:srgbClr val="FF0000"/>
            </a:solidFill>
            <a:headEnd type="none" w="lg" len="lg"/>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Primary</a:t>
            </a:r>
          </a:p>
          <a:p>
            <a:r>
              <a:rPr lang="en-GB" sz="2800" b="1" dirty="0">
                <a:solidFill>
                  <a:srgbClr val="7030A0"/>
                </a:solidFill>
              </a:rPr>
              <a:t>Key</a:t>
            </a:r>
          </a:p>
        </p:txBody>
      </p:sp>
      <p:sp>
        <p:nvSpPr>
          <p:cNvPr id="10" name="Callout: Bent Line with No Border 4">
            <a:extLst>
              <a:ext uri="{FF2B5EF4-FFF2-40B4-BE49-F238E27FC236}">
                <a16:creationId xmlns:a16="http://schemas.microsoft.com/office/drawing/2014/main" id="{BA373AA1-9380-4166-B750-3AB3C461F597}"/>
              </a:ext>
            </a:extLst>
          </p:cNvPr>
          <p:cNvSpPr/>
          <p:nvPr/>
        </p:nvSpPr>
        <p:spPr>
          <a:xfrm>
            <a:off x="9350335" y="4716296"/>
            <a:ext cx="1919681" cy="487680"/>
          </a:xfrm>
          <a:prstGeom prst="callout2">
            <a:avLst>
              <a:gd name="adj1" fmla="val 52750"/>
              <a:gd name="adj2" fmla="val -2245"/>
              <a:gd name="adj3" fmla="val 53715"/>
              <a:gd name="adj4" fmla="val -16108"/>
              <a:gd name="adj5" fmla="val -87574"/>
              <a:gd name="adj6" fmla="val -31792"/>
            </a:avLst>
          </a:prstGeom>
          <a:noFill/>
          <a:ln w="38100">
            <a:solidFill>
              <a:srgbClr val="FF0000"/>
            </a:solidFill>
            <a:headEnd type="none" w="lg" len="lg"/>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Foreign Key</a:t>
            </a:r>
          </a:p>
        </p:txBody>
      </p:sp>
      <p:sp>
        <p:nvSpPr>
          <p:cNvPr id="13" name="Callout: Bent Line with No Border 4">
            <a:extLst>
              <a:ext uri="{FF2B5EF4-FFF2-40B4-BE49-F238E27FC236}">
                <a16:creationId xmlns:a16="http://schemas.microsoft.com/office/drawing/2014/main" id="{2B3EEA4B-6930-4670-9CBA-1BC9C1295CD1}"/>
              </a:ext>
            </a:extLst>
          </p:cNvPr>
          <p:cNvSpPr/>
          <p:nvPr/>
        </p:nvSpPr>
        <p:spPr>
          <a:xfrm flipH="1">
            <a:off x="156500" y="2040721"/>
            <a:ext cx="1412998" cy="752263"/>
          </a:xfrm>
          <a:prstGeom prst="callout2">
            <a:avLst>
              <a:gd name="adj1" fmla="val 52750"/>
              <a:gd name="adj2" fmla="val -2245"/>
              <a:gd name="adj3" fmla="val 146961"/>
              <a:gd name="adj4" fmla="val -3605"/>
              <a:gd name="adj5" fmla="val 148632"/>
              <a:gd name="adj6" fmla="val -29048"/>
            </a:avLst>
          </a:prstGeom>
          <a:noFill/>
          <a:ln w="38100">
            <a:solidFill>
              <a:srgbClr val="FF0000"/>
            </a:solidFill>
            <a:headEnd type="none" w="lg" len="lg"/>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Primary</a:t>
            </a:r>
          </a:p>
          <a:p>
            <a:pPr algn="r"/>
            <a:r>
              <a:rPr lang="en-GB" sz="2800" b="1" dirty="0">
                <a:solidFill>
                  <a:srgbClr val="7030A0"/>
                </a:solidFill>
              </a:rPr>
              <a:t>Key</a:t>
            </a:r>
          </a:p>
        </p:txBody>
      </p:sp>
    </p:spTree>
    <p:extLst>
      <p:ext uri="{BB962C8B-B14F-4D97-AF65-F5344CB8AC3E}">
        <p14:creationId xmlns:p14="http://schemas.microsoft.com/office/powerpoint/2010/main" val="40585888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13"/>
                                        </p:tgtEl>
                                        <p:attrNameLst>
                                          <p:attrName>style.visibility</p:attrName>
                                        </p:attrNameLst>
                                      </p:cBhvr>
                                      <p:to>
                                        <p:strVal val="visible"/>
                                      </p:to>
                                    </p:set>
                                    <p:animEffect transition="in" filter="wipe(left)">
                                      <p:cBhvr>
                                        <p:cTn id="7" dur="1500"/>
                                        <p:tgtEl>
                                          <p:spTgt spid="13"/>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9"/>
                                        </p:tgtEl>
                                        <p:attrNameLst>
                                          <p:attrName>style.visibility</p:attrName>
                                        </p:attrNameLst>
                                      </p:cBhvr>
                                      <p:to>
                                        <p:strVal val="visible"/>
                                      </p:to>
                                    </p:set>
                                    <p:animEffect transition="in" filter="wipe(left)">
                                      <p:cBhvr>
                                        <p:cTn id="12" dur="1500"/>
                                        <p:tgtEl>
                                          <p:spTgt spid="9"/>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10"/>
                                        </p:tgtEl>
                                        <p:attrNameLst>
                                          <p:attrName>style.visibility</p:attrName>
                                        </p:attrNameLst>
                                      </p:cBhvr>
                                      <p:to>
                                        <p:strVal val="visible"/>
                                      </p:to>
                                    </p:set>
                                    <p:animEffect transition="in" filter="wipe(left)">
                                      <p:cBhvr>
                                        <p:cTn id="17" dur="2000"/>
                                        <p:tgtEl>
                                          <p:spTgt spid="10"/>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15"/>
                                        </p:tgtEl>
                                        <p:attrNameLst>
                                          <p:attrName>style.visibility</p:attrName>
                                        </p:attrNameLst>
                                      </p:cBhvr>
                                      <p:to>
                                        <p:strVal val="visible"/>
                                      </p:to>
                                    </p:set>
                                    <p:animEffect transition="in" filter="wipe(left)">
                                      <p:cBhvr>
                                        <p:cTn id="22" dur="2000"/>
                                        <p:tgtEl>
                                          <p:spTgt spid="1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5" grpId="0"/>
      <p:bldP spid="9" grpId="0" animBg="1"/>
      <p:bldP spid="10" grpId="0" animBg="1"/>
      <p:bldP spid="13" grpId="0" animBg="1"/>
    </p:bldLst>
  </p:timing>
</p:sld>
</file>

<file path=ppt/slides/slide176.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ERD 1:M</a:t>
            </a:r>
          </a:p>
        </p:txBody>
      </p:sp>
      <p:pic>
        <p:nvPicPr>
          <p:cNvPr id="3" name="Picture 2">
            <a:extLst>
              <a:ext uri="{FF2B5EF4-FFF2-40B4-BE49-F238E27FC236}">
                <a16:creationId xmlns:a16="http://schemas.microsoft.com/office/drawing/2014/main" id="{7AF3320B-0A4C-0A79-13FE-A05EDD7CB123}"/>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874999" y="2169000"/>
            <a:ext cx="8441999" cy="2520000"/>
          </a:xfrm>
          <a:prstGeom prst="rect">
            <a:avLst/>
          </a:prstGeom>
        </p:spPr>
      </p:pic>
    </p:spTree>
    <p:extLst>
      <p:ext uri="{BB962C8B-B14F-4D97-AF65-F5344CB8AC3E}">
        <p14:creationId xmlns:p14="http://schemas.microsoft.com/office/powerpoint/2010/main" val="2441115929"/>
      </p:ext>
    </p:extLst>
  </p:cSld>
  <p:clrMapOvr>
    <a:masterClrMapping/>
  </p:clrMapOvr>
</p:sld>
</file>

<file path=ppt/slides/slide1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ERD M:1</a:t>
            </a:r>
          </a:p>
        </p:txBody>
      </p:sp>
      <p:pic>
        <p:nvPicPr>
          <p:cNvPr id="5" name="Picture 4">
            <a:extLst>
              <a:ext uri="{FF2B5EF4-FFF2-40B4-BE49-F238E27FC236}">
                <a16:creationId xmlns:a16="http://schemas.microsoft.com/office/drawing/2014/main" id="{D3D82887-011D-F017-2C45-0E0BB817519B}"/>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874999" y="2168999"/>
            <a:ext cx="8441997" cy="2519999"/>
          </a:xfrm>
          <a:prstGeom prst="rect">
            <a:avLst/>
          </a:prstGeom>
        </p:spPr>
      </p:pic>
      <p:sp>
        <p:nvSpPr>
          <p:cNvPr id="15" name="TextBox 14">
            <a:extLst>
              <a:ext uri="{FF2B5EF4-FFF2-40B4-BE49-F238E27FC236}">
                <a16:creationId xmlns:a16="http://schemas.microsoft.com/office/drawing/2014/main" id="{B935E981-B7C6-4BDF-ADC2-EFF2B075D3D8}"/>
              </a:ext>
            </a:extLst>
          </p:cNvPr>
          <p:cNvSpPr txBox="1"/>
          <p:nvPr/>
        </p:nvSpPr>
        <p:spPr>
          <a:xfrm>
            <a:off x="2149631" y="5455972"/>
            <a:ext cx="7173952" cy="584775"/>
          </a:xfrm>
          <a:prstGeom prst="rect">
            <a:avLst/>
          </a:prstGeom>
          <a:noFill/>
        </p:spPr>
        <p:txBody>
          <a:bodyPr wrap="none" rtlCol="0">
            <a:spAutoFit/>
          </a:bodyPr>
          <a:lstStyle/>
          <a:p>
            <a:pPr algn="ctr"/>
            <a:r>
              <a:rPr lang="en-GB" sz="3200" b="1" dirty="0">
                <a:solidFill>
                  <a:srgbClr val="7030A0"/>
                </a:solidFill>
              </a:rPr>
              <a:t>Many teachers can work in a department</a:t>
            </a:r>
          </a:p>
        </p:txBody>
      </p:sp>
      <p:sp>
        <p:nvSpPr>
          <p:cNvPr id="7" name="Callout: Bent Line with No Border 4">
            <a:extLst>
              <a:ext uri="{FF2B5EF4-FFF2-40B4-BE49-F238E27FC236}">
                <a16:creationId xmlns:a16="http://schemas.microsoft.com/office/drawing/2014/main" id="{94AE0579-BDDF-4D9B-8504-7B41B1685E54}"/>
              </a:ext>
            </a:extLst>
          </p:cNvPr>
          <p:cNvSpPr/>
          <p:nvPr/>
        </p:nvSpPr>
        <p:spPr>
          <a:xfrm flipH="1">
            <a:off x="145349" y="2020916"/>
            <a:ext cx="1412998" cy="752263"/>
          </a:xfrm>
          <a:prstGeom prst="callout2">
            <a:avLst>
              <a:gd name="adj1" fmla="val 52750"/>
              <a:gd name="adj2" fmla="val -2245"/>
              <a:gd name="adj3" fmla="val 146961"/>
              <a:gd name="adj4" fmla="val -3605"/>
              <a:gd name="adj5" fmla="val 148632"/>
              <a:gd name="adj6" fmla="val -29048"/>
            </a:avLst>
          </a:prstGeom>
          <a:noFill/>
          <a:ln w="38100">
            <a:solidFill>
              <a:srgbClr val="FF0000"/>
            </a:solidFill>
            <a:headEnd type="none" w="lg" len="lg"/>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Primary</a:t>
            </a:r>
          </a:p>
          <a:p>
            <a:pPr algn="r"/>
            <a:r>
              <a:rPr lang="en-GB" sz="2800" b="1" dirty="0">
                <a:solidFill>
                  <a:srgbClr val="7030A0"/>
                </a:solidFill>
              </a:rPr>
              <a:t>Key</a:t>
            </a:r>
          </a:p>
        </p:txBody>
      </p:sp>
      <p:sp>
        <p:nvSpPr>
          <p:cNvPr id="8" name="Callout: Bent Line with No Border 4">
            <a:extLst>
              <a:ext uri="{FF2B5EF4-FFF2-40B4-BE49-F238E27FC236}">
                <a16:creationId xmlns:a16="http://schemas.microsoft.com/office/drawing/2014/main" id="{48F612F8-9F2A-4EFA-AA15-CBD88BDAD4AA}"/>
              </a:ext>
            </a:extLst>
          </p:cNvPr>
          <p:cNvSpPr/>
          <p:nvPr/>
        </p:nvSpPr>
        <p:spPr>
          <a:xfrm flipH="1">
            <a:off x="429209" y="4809384"/>
            <a:ext cx="1314170" cy="715856"/>
          </a:xfrm>
          <a:prstGeom prst="callout2">
            <a:avLst>
              <a:gd name="adj1" fmla="val 52750"/>
              <a:gd name="adj2" fmla="val -2245"/>
              <a:gd name="adj3" fmla="val 52157"/>
              <a:gd name="adj4" fmla="val -33079"/>
              <a:gd name="adj5" fmla="val -73454"/>
              <a:gd name="adj6" fmla="val -44247"/>
            </a:avLst>
          </a:prstGeom>
          <a:noFill/>
          <a:ln w="38100">
            <a:solidFill>
              <a:srgbClr val="FF0000"/>
            </a:solidFill>
            <a:headEnd type="none" w="lg" len="lg"/>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Foreign</a:t>
            </a:r>
          </a:p>
          <a:p>
            <a:pPr algn="r"/>
            <a:r>
              <a:rPr lang="en-GB" sz="2800" b="1" dirty="0">
                <a:solidFill>
                  <a:srgbClr val="7030A0"/>
                </a:solidFill>
              </a:rPr>
              <a:t>Key</a:t>
            </a:r>
          </a:p>
        </p:txBody>
      </p:sp>
      <p:sp>
        <p:nvSpPr>
          <p:cNvPr id="10" name="Callout: Bent Line with No Border 4">
            <a:extLst>
              <a:ext uri="{FF2B5EF4-FFF2-40B4-BE49-F238E27FC236}">
                <a16:creationId xmlns:a16="http://schemas.microsoft.com/office/drawing/2014/main" id="{C20A1731-D8A1-4116-BD03-89A2BCB40AF8}"/>
              </a:ext>
            </a:extLst>
          </p:cNvPr>
          <p:cNvSpPr/>
          <p:nvPr/>
        </p:nvSpPr>
        <p:spPr>
          <a:xfrm>
            <a:off x="10418957" y="2169000"/>
            <a:ext cx="1353014" cy="882602"/>
          </a:xfrm>
          <a:prstGeom prst="callout2">
            <a:avLst>
              <a:gd name="adj1" fmla="val 52750"/>
              <a:gd name="adj2" fmla="val -2245"/>
              <a:gd name="adj3" fmla="val 109624"/>
              <a:gd name="adj4" fmla="val -35707"/>
              <a:gd name="adj5" fmla="val 111034"/>
              <a:gd name="adj6" fmla="val -117742"/>
            </a:avLst>
          </a:prstGeom>
          <a:noFill/>
          <a:ln w="38100">
            <a:solidFill>
              <a:srgbClr val="FF0000"/>
            </a:solidFill>
            <a:headEnd type="none" w="lg" len="lg"/>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Primary</a:t>
            </a:r>
          </a:p>
          <a:p>
            <a:r>
              <a:rPr lang="en-GB" sz="2800" b="1" dirty="0">
                <a:solidFill>
                  <a:srgbClr val="7030A0"/>
                </a:solidFill>
              </a:rPr>
              <a:t>Key</a:t>
            </a:r>
          </a:p>
        </p:txBody>
      </p:sp>
    </p:spTree>
    <p:extLst>
      <p:ext uri="{BB962C8B-B14F-4D97-AF65-F5344CB8AC3E}">
        <p14:creationId xmlns:p14="http://schemas.microsoft.com/office/powerpoint/2010/main" val="225696054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wipe(left)">
                                      <p:cBhvr>
                                        <p:cTn id="7" dur="1500"/>
                                        <p:tgtEl>
                                          <p:spTgt spid="7"/>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8"/>
                                        </p:tgtEl>
                                        <p:attrNameLst>
                                          <p:attrName>style.visibility</p:attrName>
                                        </p:attrNameLst>
                                      </p:cBhvr>
                                      <p:to>
                                        <p:strVal val="visible"/>
                                      </p:to>
                                    </p:set>
                                    <p:animEffect transition="in" filter="wipe(left)">
                                      <p:cBhvr>
                                        <p:cTn id="12" dur="2000"/>
                                        <p:tgtEl>
                                          <p:spTgt spid="8"/>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10"/>
                                        </p:tgtEl>
                                        <p:attrNameLst>
                                          <p:attrName>style.visibility</p:attrName>
                                        </p:attrNameLst>
                                      </p:cBhvr>
                                      <p:to>
                                        <p:strVal val="visible"/>
                                      </p:to>
                                    </p:set>
                                    <p:animEffect transition="in" filter="wipe(left)">
                                      <p:cBhvr>
                                        <p:cTn id="17" dur="1500"/>
                                        <p:tgtEl>
                                          <p:spTgt spid="10"/>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15"/>
                                        </p:tgtEl>
                                        <p:attrNameLst>
                                          <p:attrName>style.visibility</p:attrName>
                                        </p:attrNameLst>
                                      </p:cBhvr>
                                      <p:to>
                                        <p:strVal val="visible"/>
                                      </p:to>
                                    </p:set>
                                    <p:animEffect transition="in" filter="wipe(left)">
                                      <p:cBhvr>
                                        <p:cTn id="22" dur="2000"/>
                                        <p:tgtEl>
                                          <p:spTgt spid="1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5" grpId="0"/>
      <p:bldP spid="7" grpId="0" animBg="1"/>
      <p:bldP spid="8" grpId="0" animBg="1"/>
      <p:bldP spid="10" grpId="0" animBg="1"/>
    </p:bldLst>
  </p:timing>
</p:sld>
</file>

<file path=ppt/slides/slide178.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ERD M:1</a:t>
            </a:r>
          </a:p>
        </p:txBody>
      </p:sp>
      <p:pic>
        <p:nvPicPr>
          <p:cNvPr id="3" name="Picture 2">
            <a:extLst>
              <a:ext uri="{FF2B5EF4-FFF2-40B4-BE49-F238E27FC236}">
                <a16:creationId xmlns:a16="http://schemas.microsoft.com/office/drawing/2014/main" id="{68F51F76-979B-9811-03A6-02A99C002627}"/>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874999" y="2168999"/>
            <a:ext cx="8441997" cy="2519999"/>
          </a:xfrm>
          <a:prstGeom prst="rect">
            <a:avLst/>
          </a:prstGeom>
        </p:spPr>
      </p:pic>
    </p:spTree>
    <p:extLst>
      <p:ext uri="{BB962C8B-B14F-4D97-AF65-F5344CB8AC3E}">
        <p14:creationId xmlns:p14="http://schemas.microsoft.com/office/powerpoint/2010/main" val="3840316138"/>
      </p:ext>
    </p:extLst>
  </p:cSld>
  <p:clrMapOvr>
    <a:masterClrMapping/>
  </p:clrMapOvr>
</p:sld>
</file>

<file path=ppt/slides/slide1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EDF98C3-902A-499C-8A4D-D2F4A8D7AAA9}"/>
              </a:ext>
            </a:extLst>
          </p:cNvPr>
          <p:cNvSpPr>
            <a:spLocks noGrp="1"/>
          </p:cNvSpPr>
          <p:nvPr>
            <p:ph type="title"/>
          </p:nvPr>
        </p:nvSpPr>
        <p:spPr/>
        <p:txBody>
          <a:bodyPr/>
          <a:lstStyle/>
          <a:p>
            <a:r>
              <a:rPr lang="en-GB" dirty="0"/>
              <a:t>Analysis and Design</a:t>
            </a:r>
          </a:p>
        </p:txBody>
      </p:sp>
      <p:sp>
        <p:nvSpPr>
          <p:cNvPr id="3" name="Content Placeholder 2">
            <a:extLst>
              <a:ext uri="{FF2B5EF4-FFF2-40B4-BE49-F238E27FC236}">
                <a16:creationId xmlns:a16="http://schemas.microsoft.com/office/drawing/2014/main" id="{6715D380-2C52-46D9-A4CE-62FDED32379C}"/>
              </a:ext>
            </a:extLst>
          </p:cNvPr>
          <p:cNvSpPr>
            <a:spLocks noGrp="1"/>
          </p:cNvSpPr>
          <p:nvPr>
            <p:ph sz="half" idx="1"/>
          </p:nvPr>
        </p:nvSpPr>
        <p:spPr>
          <a:xfrm>
            <a:off x="838200" y="1825625"/>
            <a:ext cx="3466171" cy="4351338"/>
          </a:xfrm>
        </p:spPr>
        <p:txBody>
          <a:bodyPr>
            <a:normAutofit/>
          </a:bodyPr>
          <a:lstStyle/>
          <a:p>
            <a:r>
              <a:rPr lang="en-GB" b="1" dirty="0">
                <a:solidFill>
                  <a:srgbClr val="7030A0"/>
                </a:solidFill>
              </a:rPr>
              <a:t>What is the purpose of the database?</a:t>
            </a:r>
          </a:p>
          <a:p>
            <a:r>
              <a:rPr lang="en-GB" b="1" dirty="0">
                <a:solidFill>
                  <a:srgbClr val="7030A0"/>
                </a:solidFill>
              </a:rPr>
              <a:t>How will this be achieved?</a:t>
            </a:r>
          </a:p>
        </p:txBody>
      </p:sp>
      <p:sp>
        <p:nvSpPr>
          <p:cNvPr id="5" name="Content Placeholder 4">
            <a:extLst>
              <a:ext uri="{FF2B5EF4-FFF2-40B4-BE49-F238E27FC236}">
                <a16:creationId xmlns:a16="http://schemas.microsoft.com/office/drawing/2014/main" id="{E6515FC1-61F9-4D67-A5B2-633AFBD54911}"/>
              </a:ext>
            </a:extLst>
          </p:cNvPr>
          <p:cNvSpPr>
            <a:spLocks noGrp="1"/>
          </p:cNvSpPr>
          <p:nvPr>
            <p:ph sz="half" idx="2"/>
          </p:nvPr>
        </p:nvSpPr>
        <p:spPr>
          <a:xfrm>
            <a:off x="5341434" y="1825625"/>
            <a:ext cx="6012366" cy="4351338"/>
          </a:xfrm>
        </p:spPr>
        <p:txBody>
          <a:bodyPr>
            <a:normAutofit/>
          </a:bodyPr>
          <a:lstStyle/>
          <a:p>
            <a:r>
              <a:rPr lang="en-GB" dirty="0"/>
              <a:t>End-user requirements</a:t>
            </a:r>
          </a:p>
          <a:p>
            <a:r>
              <a:rPr lang="en-GB" dirty="0"/>
              <a:t>Functional requirements</a:t>
            </a:r>
          </a:p>
          <a:p>
            <a:r>
              <a:rPr lang="en-GB" dirty="0"/>
              <a:t>Entities and attributes</a:t>
            </a:r>
          </a:p>
          <a:p>
            <a:r>
              <a:rPr lang="en-GB" dirty="0"/>
              <a:t>Primary keys</a:t>
            </a:r>
          </a:p>
          <a:p>
            <a:r>
              <a:rPr lang="en-GB" dirty="0"/>
              <a:t>Entity Relationship Diagram (ERD)</a:t>
            </a:r>
          </a:p>
          <a:p>
            <a:r>
              <a:rPr lang="en-GB" dirty="0"/>
              <a:t>Relationships </a:t>
            </a:r>
            <a:r>
              <a:rPr lang="en-GB"/>
              <a:t>and foreign </a:t>
            </a:r>
            <a:r>
              <a:rPr lang="en-GB" dirty="0"/>
              <a:t>keys</a:t>
            </a:r>
          </a:p>
          <a:p>
            <a:r>
              <a:rPr lang="en-GB" dirty="0"/>
              <a:t>Data dictionary and validation</a:t>
            </a:r>
          </a:p>
          <a:p>
            <a:r>
              <a:rPr lang="en-GB" dirty="0"/>
              <a:t>Queries</a:t>
            </a:r>
          </a:p>
          <a:p>
            <a:endParaRPr lang="en-GB" dirty="0"/>
          </a:p>
        </p:txBody>
      </p:sp>
      <p:cxnSp>
        <p:nvCxnSpPr>
          <p:cNvPr id="7" name="Straight Connector 6">
            <a:extLst>
              <a:ext uri="{FF2B5EF4-FFF2-40B4-BE49-F238E27FC236}">
                <a16:creationId xmlns:a16="http://schemas.microsoft.com/office/drawing/2014/main" id="{6E853A1C-0D23-4AC4-87CA-7819E0A902E4}"/>
              </a:ext>
            </a:extLst>
          </p:cNvPr>
          <p:cNvCxnSpPr>
            <a:cxnSpLocks/>
          </p:cNvCxnSpPr>
          <p:nvPr/>
        </p:nvCxnSpPr>
        <p:spPr>
          <a:xfrm flipV="1">
            <a:off x="512956" y="2899315"/>
            <a:ext cx="10800000" cy="0"/>
          </a:xfrm>
          <a:prstGeom prst="line">
            <a:avLst/>
          </a:prstGeom>
          <a:ln w="28575">
            <a:solidFill>
              <a:srgbClr val="FF0000"/>
            </a:solidFill>
            <a:prstDash val="dash"/>
          </a:ln>
        </p:spPr>
        <p:style>
          <a:lnRef idx="1">
            <a:schemeClr val="accent1"/>
          </a:lnRef>
          <a:fillRef idx="0">
            <a:schemeClr val="accent1"/>
          </a:fillRef>
          <a:effectRef idx="0">
            <a:schemeClr val="accent1"/>
          </a:effectRef>
          <a:fontRef idx="minor">
            <a:schemeClr val="tx1"/>
          </a:fontRef>
        </p:style>
      </p:cxnSp>
      <p:sp>
        <p:nvSpPr>
          <p:cNvPr id="10" name="TextBox 9">
            <a:extLst>
              <a:ext uri="{FF2B5EF4-FFF2-40B4-BE49-F238E27FC236}">
                <a16:creationId xmlns:a16="http://schemas.microsoft.com/office/drawing/2014/main" id="{927B0EBB-8777-4395-9D72-7F77B933E75B}"/>
              </a:ext>
            </a:extLst>
          </p:cNvPr>
          <p:cNvSpPr txBox="1"/>
          <p:nvPr/>
        </p:nvSpPr>
        <p:spPr>
          <a:xfrm>
            <a:off x="10276801" y="2422261"/>
            <a:ext cx="1402243" cy="954107"/>
          </a:xfrm>
          <a:prstGeom prst="rect">
            <a:avLst/>
          </a:prstGeom>
          <a:noFill/>
        </p:spPr>
        <p:txBody>
          <a:bodyPr wrap="none" rtlCol="0">
            <a:spAutoFit/>
          </a:bodyPr>
          <a:lstStyle/>
          <a:p>
            <a:r>
              <a:rPr lang="en-GB" sz="2800" b="1" dirty="0">
                <a:solidFill>
                  <a:srgbClr val="7030A0"/>
                </a:solidFill>
              </a:rPr>
              <a:t>Analysis</a:t>
            </a:r>
          </a:p>
          <a:p>
            <a:r>
              <a:rPr lang="en-GB" sz="2800" b="1" dirty="0">
                <a:solidFill>
                  <a:srgbClr val="7030A0"/>
                </a:solidFill>
              </a:rPr>
              <a:t>Design</a:t>
            </a:r>
          </a:p>
        </p:txBody>
      </p:sp>
    </p:spTree>
    <p:extLst>
      <p:ext uri="{BB962C8B-B14F-4D97-AF65-F5344CB8AC3E}">
        <p14:creationId xmlns:p14="http://schemas.microsoft.com/office/powerpoint/2010/main" val="395098758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5">
                                            <p:txEl>
                                              <p:pRg st="0" end="0"/>
                                            </p:txEl>
                                          </p:spTgt>
                                        </p:tgtEl>
                                        <p:attrNameLst>
                                          <p:attrName>style.visibility</p:attrName>
                                        </p:attrNameLst>
                                      </p:cBhvr>
                                      <p:to>
                                        <p:strVal val="visible"/>
                                      </p:to>
                                    </p:set>
                                    <p:animEffect transition="in" filter="wipe(left)">
                                      <p:cBhvr>
                                        <p:cTn id="12" dur="1500"/>
                                        <p:tgtEl>
                                          <p:spTgt spid="5">
                                            <p:txEl>
                                              <p:pRg st="0" end="0"/>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5">
                                            <p:txEl>
                                              <p:pRg st="1" end="1"/>
                                            </p:txEl>
                                          </p:spTgt>
                                        </p:tgtEl>
                                        <p:attrNameLst>
                                          <p:attrName>style.visibility</p:attrName>
                                        </p:attrNameLst>
                                      </p:cBhvr>
                                      <p:to>
                                        <p:strVal val="visible"/>
                                      </p:to>
                                    </p:set>
                                    <p:animEffect transition="in" filter="wipe(left)">
                                      <p:cBhvr>
                                        <p:cTn id="17" dur="1500"/>
                                        <p:tgtEl>
                                          <p:spTgt spid="5">
                                            <p:txEl>
                                              <p:pRg st="1" end="1"/>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3">
                                            <p:txEl>
                                              <p:pRg st="1" end="1"/>
                                            </p:txEl>
                                          </p:spTgt>
                                        </p:tgtEl>
                                        <p:attrNameLst>
                                          <p:attrName>style.visibility</p:attrName>
                                        </p:attrNameLst>
                                      </p:cBhvr>
                                      <p:to>
                                        <p:strVal val="visible"/>
                                      </p:to>
                                    </p:set>
                                    <p:animEffect transition="in" filter="wipe(left)">
                                      <p:cBhvr>
                                        <p:cTn id="22" dur="1500"/>
                                        <p:tgtEl>
                                          <p:spTgt spid="3">
                                            <p:txEl>
                                              <p:pRg st="1" end="1"/>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5">
                                            <p:txEl>
                                              <p:pRg st="2" end="2"/>
                                            </p:txEl>
                                          </p:spTgt>
                                        </p:tgtEl>
                                        <p:attrNameLst>
                                          <p:attrName>style.visibility</p:attrName>
                                        </p:attrNameLst>
                                      </p:cBhvr>
                                      <p:to>
                                        <p:strVal val="visible"/>
                                      </p:to>
                                    </p:set>
                                    <p:animEffect transition="in" filter="wipe(left)">
                                      <p:cBhvr>
                                        <p:cTn id="27" dur="1500"/>
                                        <p:tgtEl>
                                          <p:spTgt spid="5">
                                            <p:txEl>
                                              <p:pRg st="2" end="2"/>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5">
                                            <p:txEl>
                                              <p:pRg st="3" end="3"/>
                                            </p:txEl>
                                          </p:spTgt>
                                        </p:tgtEl>
                                        <p:attrNameLst>
                                          <p:attrName>style.visibility</p:attrName>
                                        </p:attrNameLst>
                                      </p:cBhvr>
                                      <p:to>
                                        <p:strVal val="visible"/>
                                      </p:to>
                                    </p:set>
                                    <p:animEffect transition="in" filter="wipe(left)">
                                      <p:cBhvr>
                                        <p:cTn id="32" dur="1000"/>
                                        <p:tgtEl>
                                          <p:spTgt spid="5">
                                            <p:txEl>
                                              <p:pRg st="3" end="3"/>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5">
                                            <p:txEl>
                                              <p:pRg st="4" end="4"/>
                                            </p:txEl>
                                          </p:spTgt>
                                        </p:tgtEl>
                                        <p:attrNameLst>
                                          <p:attrName>style.visibility</p:attrName>
                                        </p:attrNameLst>
                                      </p:cBhvr>
                                      <p:to>
                                        <p:strVal val="visible"/>
                                      </p:to>
                                    </p:set>
                                    <p:animEffect transition="in" filter="wipe(left)">
                                      <p:cBhvr>
                                        <p:cTn id="37" dur="2750"/>
                                        <p:tgtEl>
                                          <p:spTgt spid="5">
                                            <p:txEl>
                                              <p:pRg st="4" end="4"/>
                                            </p:txEl>
                                          </p:spTgt>
                                        </p:tgtEl>
                                      </p:cBhvr>
                                    </p:animEffect>
                                  </p:childTnLst>
                                </p:cTn>
                              </p:par>
                            </p:childTnLst>
                          </p:cTn>
                        </p:par>
                      </p:childTnLst>
                    </p:cTn>
                  </p:par>
                  <p:par>
                    <p:cTn id="38" fill="hold">
                      <p:stCondLst>
                        <p:cond delay="indefinite"/>
                      </p:stCondLst>
                      <p:childTnLst>
                        <p:par>
                          <p:cTn id="39" fill="hold">
                            <p:stCondLst>
                              <p:cond delay="0"/>
                            </p:stCondLst>
                            <p:childTnLst>
                              <p:par>
                                <p:cTn id="40" presetID="22" presetClass="entr" presetSubtype="8" fill="hold" grpId="0" nodeType="clickEffect">
                                  <p:stCondLst>
                                    <p:cond delay="0"/>
                                  </p:stCondLst>
                                  <p:childTnLst>
                                    <p:set>
                                      <p:cBhvr>
                                        <p:cTn id="41" dur="1" fill="hold">
                                          <p:stCondLst>
                                            <p:cond delay="0"/>
                                          </p:stCondLst>
                                        </p:cTn>
                                        <p:tgtEl>
                                          <p:spTgt spid="5">
                                            <p:txEl>
                                              <p:pRg st="5" end="5"/>
                                            </p:txEl>
                                          </p:spTgt>
                                        </p:tgtEl>
                                        <p:attrNameLst>
                                          <p:attrName>style.visibility</p:attrName>
                                        </p:attrNameLst>
                                      </p:cBhvr>
                                      <p:to>
                                        <p:strVal val="visible"/>
                                      </p:to>
                                    </p:set>
                                    <p:animEffect transition="in" filter="wipe(left)">
                                      <p:cBhvr>
                                        <p:cTn id="42" dur="2500"/>
                                        <p:tgtEl>
                                          <p:spTgt spid="5">
                                            <p:txEl>
                                              <p:pRg st="5" end="5"/>
                                            </p:txEl>
                                          </p:spTgt>
                                        </p:tgtEl>
                                      </p:cBhvr>
                                    </p:animEffect>
                                  </p:childTnLst>
                                </p:cTn>
                              </p:par>
                            </p:childTnLst>
                          </p:cTn>
                        </p:par>
                      </p:childTnLst>
                    </p:cTn>
                  </p:par>
                  <p:par>
                    <p:cTn id="43" fill="hold">
                      <p:stCondLst>
                        <p:cond delay="indefinite"/>
                      </p:stCondLst>
                      <p:childTnLst>
                        <p:par>
                          <p:cTn id="44" fill="hold">
                            <p:stCondLst>
                              <p:cond delay="0"/>
                            </p:stCondLst>
                            <p:childTnLst>
                              <p:par>
                                <p:cTn id="45" presetID="22" presetClass="entr" presetSubtype="8" fill="hold" grpId="0" nodeType="clickEffect">
                                  <p:stCondLst>
                                    <p:cond delay="0"/>
                                  </p:stCondLst>
                                  <p:childTnLst>
                                    <p:set>
                                      <p:cBhvr>
                                        <p:cTn id="46" dur="1" fill="hold">
                                          <p:stCondLst>
                                            <p:cond delay="0"/>
                                          </p:stCondLst>
                                        </p:cTn>
                                        <p:tgtEl>
                                          <p:spTgt spid="5">
                                            <p:txEl>
                                              <p:pRg st="6" end="6"/>
                                            </p:txEl>
                                          </p:spTgt>
                                        </p:tgtEl>
                                        <p:attrNameLst>
                                          <p:attrName>style.visibility</p:attrName>
                                        </p:attrNameLst>
                                      </p:cBhvr>
                                      <p:to>
                                        <p:strVal val="visible"/>
                                      </p:to>
                                    </p:set>
                                    <p:animEffect transition="in" filter="wipe(left)">
                                      <p:cBhvr>
                                        <p:cTn id="47" dur="1000"/>
                                        <p:tgtEl>
                                          <p:spTgt spid="5">
                                            <p:txEl>
                                              <p:pRg st="6" end="6"/>
                                            </p:txEl>
                                          </p:spTgt>
                                        </p:tgtEl>
                                      </p:cBhvr>
                                    </p:animEffect>
                                  </p:childTnLst>
                                </p:cTn>
                              </p:par>
                            </p:childTnLst>
                          </p:cTn>
                        </p:par>
                      </p:childTnLst>
                    </p:cTn>
                  </p:par>
                  <p:par>
                    <p:cTn id="48" fill="hold">
                      <p:stCondLst>
                        <p:cond delay="indefinite"/>
                      </p:stCondLst>
                      <p:childTnLst>
                        <p:par>
                          <p:cTn id="49" fill="hold">
                            <p:stCondLst>
                              <p:cond delay="0"/>
                            </p:stCondLst>
                            <p:childTnLst>
                              <p:par>
                                <p:cTn id="50" presetID="22" presetClass="entr" presetSubtype="8" fill="hold" grpId="0" nodeType="clickEffect">
                                  <p:stCondLst>
                                    <p:cond delay="0"/>
                                  </p:stCondLst>
                                  <p:childTnLst>
                                    <p:set>
                                      <p:cBhvr>
                                        <p:cTn id="51" dur="1" fill="hold">
                                          <p:stCondLst>
                                            <p:cond delay="0"/>
                                          </p:stCondLst>
                                        </p:cTn>
                                        <p:tgtEl>
                                          <p:spTgt spid="5">
                                            <p:txEl>
                                              <p:pRg st="7" end="7"/>
                                            </p:txEl>
                                          </p:spTgt>
                                        </p:tgtEl>
                                        <p:attrNameLst>
                                          <p:attrName>style.visibility</p:attrName>
                                        </p:attrNameLst>
                                      </p:cBhvr>
                                      <p:to>
                                        <p:strVal val="visible"/>
                                      </p:to>
                                    </p:set>
                                    <p:animEffect transition="in" filter="wipe(left)">
                                      <p:cBhvr>
                                        <p:cTn id="52" dur="750"/>
                                        <p:tgtEl>
                                          <p:spTgt spid="5">
                                            <p:txEl>
                                              <p:pRg st="7" end="7"/>
                                            </p:txEl>
                                          </p:spTgt>
                                        </p:tgtEl>
                                      </p:cBhvr>
                                    </p:animEffect>
                                  </p:childTnLst>
                                </p:cTn>
                              </p:par>
                            </p:childTnLst>
                          </p:cTn>
                        </p:par>
                      </p:childTnLst>
                    </p:cTn>
                  </p:par>
                  <p:par>
                    <p:cTn id="53" fill="hold">
                      <p:stCondLst>
                        <p:cond delay="indefinite"/>
                      </p:stCondLst>
                      <p:childTnLst>
                        <p:par>
                          <p:cTn id="54" fill="hold">
                            <p:stCondLst>
                              <p:cond delay="0"/>
                            </p:stCondLst>
                            <p:childTnLst>
                              <p:par>
                                <p:cTn id="55" presetID="22" presetClass="entr" presetSubtype="8" fill="hold" nodeType="clickEffect">
                                  <p:stCondLst>
                                    <p:cond delay="0"/>
                                  </p:stCondLst>
                                  <p:childTnLst>
                                    <p:set>
                                      <p:cBhvr>
                                        <p:cTn id="56" dur="1" fill="hold">
                                          <p:stCondLst>
                                            <p:cond delay="0"/>
                                          </p:stCondLst>
                                        </p:cTn>
                                        <p:tgtEl>
                                          <p:spTgt spid="7"/>
                                        </p:tgtEl>
                                        <p:attrNameLst>
                                          <p:attrName>style.visibility</p:attrName>
                                        </p:attrNameLst>
                                      </p:cBhvr>
                                      <p:to>
                                        <p:strVal val="visible"/>
                                      </p:to>
                                    </p:set>
                                    <p:animEffect transition="in" filter="wipe(left)">
                                      <p:cBhvr>
                                        <p:cTn id="57" dur="3000"/>
                                        <p:tgtEl>
                                          <p:spTgt spid="7"/>
                                        </p:tgtEl>
                                      </p:cBhvr>
                                    </p:animEffect>
                                  </p:childTnLst>
                                </p:cTn>
                              </p:par>
                            </p:childTnLst>
                          </p:cTn>
                        </p:par>
                        <p:par>
                          <p:cTn id="58" fill="hold">
                            <p:stCondLst>
                              <p:cond delay="3000"/>
                            </p:stCondLst>
                            <p:childTnLst>
                              <p:par>
                                <p:cTn id="59" presetID="22" presetClass="entr" presetSubtype="8" fill="hold" grpId="0" nodeType="afterEffect">
                                  <p:stCondLst>
                                    <p:cond delay="0"/>
                                  </p:stCondLst>
                                  <p:childTnLst>
                                    <p:set>
                                      <p:cBhvr>
                                        <p:cTn id="60" dur="1" fill="hold">
                                          <p:stCondLst>
                                            <p:cond delay="0"/>
                                          </p:stCondLst>
                                        </p:cTn>
                                        <p:tgtEl>
                                          <p:spTgt spid="10">
                                            <p:txEl>
                                              <p:pRg st="0" end="0"/>
                                            </p:txEl>
                                          </p:spTgt>
                                        </p:tgtEl>
                                        <p:attrNameLst>
                                          <p:attrName>style.visibility</p:attrName>
                                        </p:attrNameLst>
                                      </p:cBhvr>
                                      <p:to>
                                        <p:strVal val="visible"/>
                                      </p:to>
                                    </p:set>
                                    <p:animEffect transition="in" filter="wipe(left)">
                                      <p:cBhvr>
                                        <p:cTn id="61" dur="1000"/>
                                        <p:tgtEl>
                                          <p:spTgt spid="10">
                                            <p:txEl>
                                              <p:pRg st="0" end="0"/>
                                            </p:txEl>
                                          </p:spTgt>
                                        </p:tgtEl>
                                      </p:cBhvr>
                                    </p:animEffect>
                                  </p:childTnLst>
                                </p:cTn>
                              </p:par>
                            </p:childTnLst>
                          </p:cTn>
                        </p:par>
                        <p:par>
                          <p:cTn id="62" fill="hold">
                            <p:stCondLst>
                              <p:cond delay="4000"/>
                            </p:stCondLst>
                            <p:childTnLst>
                              <p:par>
                                <p:cTn id="63" presetID="22" presetClass="entr" presetSubtype="8" fill="hold" grpId="0" nodeType="afterEffect">
                                  <p:stCondLst>
                                    <p:cond delay="0"/>
                                  </p:stCondLst>
                                  <p:childTnLst>
                                    <p:set>
                                      <p:cBhvr>
                                        <p:cTn id="64" dur="1" fill="hold">
                                          <p:stCondLst>
                                            <p:cond delay="0"/>
                                          </p:stCondLst>
                                        </p:cTn>
                                        <p:tgtEl>
                                          <p:spTgt spid="10">
                                            <p:txEl>
                                              <p:pRg st="1" end="1"/>
                                            </p:txEl>
                                          </p:spTgt>
                                        </p:tgtEl>
                                        <p:attrNameLst>
                                          <p:attrName>style.visibility</p:attrName>
                                        </p:attrNameLst>
                                      </p:cBhvr>
                                      <p:to>
                                        <p:strVal val="visible"/>
                                      </p:to>
                                    </p:set>
                                    <p:animEffect transition="in" filter="wipe(left)">
                                      <p:cBhvr>
                                        <p:cTn id="65" dur="1000"/>
                                        <p:tgtEl>
                                          <p:spTgt spid="10">
                                            <p:txEl>
                                              <p:pRg st="1" end="1"/>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5" grpId="0" uiExpand="1" build="p"/>
      <p:bldP spid="10" grpId="0" uiExpand="1" build="p"/>
    </p:bldLst>
  </p:timing>
</p:sld>
</file>

<file path=ppt/slides/slide180.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EDF98C3-902A-499C-8A4D-D2F4A8D7AAA9}"/>
              </a:ext>
            </a:extLst>
          </p:cNvPr>
          <p:cNvSpPr>
            <a:spLocks noGrp="1"/>
          </p:cNvSpPr>
          <p:nvPr>
            <p:ph type="title"/>
          </p:nvPr>
        </p:nvSpPr>
        <p:spPr/>
        <p:txBody>
          <a:bodyPr/>
          <a:lstStyle/>
          <a:p>
            <a:r>
              <a:rPr lang="en-GB" dirty="0"/>
              <a:t>Analysis and Design</a:t>
            </a:r>
          </a:p>
        </p:txBody>
      </p:sp>
      <p:sp>
        <p:nvSpPr>
          <p:cNvPr id="3" name="Content Placeholder 2">
            <a:extLst>
              <a:ext uri="{FF2B5EF4-FFF2-40B4-BE49-F238E27FC236}">
                <a16:creationId xmlns:a16="http://schemas.microsoft.com/office/drawing/2014/main" id="{6715D380-2C52-46D9-A4CE-62FDED32379C}"/>
              </a:ext>
            </a:extLst>
          </p:cNvPr>
          <p:cNvSpPr>
            <a:spLocks noGrp="1"/>
          </p:cNvSpPr>
          <p:nvPr>
            <p:ph sz="half" idx="1"/>
          </p:nvPr>
        </p:nvSpPr>
        <p:spPr>
          <a:xfrm>
            <a:off x="838200" y="1825625"/>
            <a:ext cx="3466171" cy="4351338"/>
          </a:xfrm>
        </p:spPr>
        <p:txBody>
          <a:bodyPr>
            <a:normAutofit/>
          </a:bodyPr>
          <a:lstStyle/>
          <a:p>
            <a:r>
              <a:rPr lang="en-GB" b="1" dirty="0">
                <a:solidFill>
                  <a:srgbClr val="7030A0"/>
                </a:solidFill>
              </a:rPr>
              <a:t>What is the purpose of the database?</a:t>
            </a:r>
          </a:p>
          <a:p>
            <a:r>
              <a:rPr lang="en-GB" b="1" dirty="0">
                <a:solidFill>
                  <a:srgbClr val="7030A0"/>
                </a:solidFill>
              </a:rPr>
              <a:t>How will this be achieved?</a:t>
            </a:r>
          </a:p>
        </p:txBody>
      </p:sp>
      <p:sp>
        <p:nvSpPr>
          <p:cNvPr id="5" name="Content Placeholder 4">
            <a:extLst>
              <a:ext uri="{FF2B5EF4-FFF2-40B4-BE49-F238E27FC236}">
                <a16:creationId xmlns:a16="http://schemas.microsoft.com/office/drawing/2014/main" id="{E6515FC1-61F9-4D67-A5B2-633AFBD54911}"/>
              </a:ext>
            </a:extLst>
          </p:cNvPr>
          <p:cNvSpPr>
            <a:spLocks noGrp="1"/>
          </p:cNvSpPr>
          <p:nvPr>
            <p:ph sz="half" idx="2"/>
          </p:nvPr>
        </p:nvSpPr>
        <p:spPr>
          <a:xfrm>
            <a:off x="5341434" y="1825625"/>
            <a:ext cx="6012366" cy="4351338"/>
          </a:xfrm>
        </p:spPr>
        <p:txBody>
          <a:bodyPr>
            <a:normAutofit/>
          </a:bodyPr>
          <a:lstStyle/>
          <a:p>
            <a:r>
              <a:rPr lang="en-GB" dirty="0"/>
              <a:t> </a:t>
            </a:r>
          </a:p>
          <a:p>
            <a:r>
              <a:rPr lang="en-GB" dirty="0"/>
              <a:t> </a:t>
            </a:r>
          </a:p>
          <a:p>
            <a:r>
              <a:rPr lang="en-GB" dirty="0"/>
              <a:t> </a:t>
            </a:r>
          </a:p>
          <a:p>
            <a:r>
              <a:rPr lang="en-GB" dirty="0"/>
              <a:t> </a:t>
            </a:r>
          </a:p>
          <a:p>
            <a:r>
              <a:rPr lang="en-GB" dirty="0"/>
              <a:t> </a:t>
            </a:r>
          </a:p>
          <a:p>
            <a:r>
              <a:rPr lang="en-GB" dirty="0"/>
              <a:t> </a:t>
            </a:r>
          </a:p>
          <a:p>
            <a:r>
              <a:rPr lang="en-GB" dirty="0"/>
              <a:t> </a:t>
            </a:r>
          </a:p>
          <a:p>
            <a:r>
              <a:rPr lang="en-GB" dirty="0"/>
              <a:t> </a:t>
            </a:r>
          </a:p>
          <a:p>
            <a:endParaRPr lang="en-GB" dirty="0"/>
          </a:p>
        </p:txBody>
      </p:sp>
      <p:cxnSp>
        <p:nvCxnSpPr>
          <p:cNvPr id="7" name="Straight Connector 6">
            <a:extLst>
              <a:ext uri="{FF2B5EF4-FFF2-40B4-BE49-F238E27FC236}">
                <a16:creationId xmlns:a16="http://schemas.microsoft.com/office/drawing/2014/main" id="{6E853A1C-0D23-4AC4-87CA-7819E0A902E4}"/>
              </a:ext>
            </a:extLst>
          </p:cNvPr>
          <p:cNvCxnSpPr>
            <a:cxnSpLocks/>
          </p:cNvCxnSpPr>
          <p:nvPr/>
        </p:nvCxnSpPr>
        <p:spPr>
          <a:xfrm flipV="1">
            <a:off x="512956" y="2899315"/>
            <a:ext cx="10800000" cy="0"/>
          </a:xfrm>
          <a:prstGeom prst="line">
            <a:avLst/>
          </a:prstGeom>
          <a:ln w="28575">
            <a:solidFill>
              <a:srgbClr val="FF0000"/>
            </a:solidFill>
            <a:prstDash val="dash"/>
          </a:ln>
        </p:spPr>
        <p:style>
          <a:lnRef idx="1">
            <a:schemeClr val="accent1"/>
          </a:lnRef>
          <a:fillRef idx="0">
            <a:schemeClr val="accent1"/>
          </a:fillRef>
          <a:effectRef idx="0">
            <a:schemeClr val="accent1"/>
          </a:effectRef>
          <a:fontRef idx="minor">
            <a:schemeClr val="tx1"/>
          </a:fontRef>
        </p:style>
      </p:cxnSp>
      <p:sp>
        <p:nvSpPr>
          <p:cNvPr id="10" name="TextBox 9">
            <a:extLst>
              <a:ext uri="{FF2B5EF4-FFF2-40B4-BE49-F238E27FC236}">
                <a16:creationId xmlns:a16="http://schemas.microsoft.com/office/drawing/2014/main" id="{927B0EBB-8777-4395-9D72-7F77B933E75B}"/>
              </a:ext>
            </a:extLst>
          </p:cNvPr>
          <p:cNvSpPr txBox="1"/>
          <p:nvPr/>
        </p:nvSpPr>
        <p:spPr>
          <a:xfrm>
            <a:off x="10276801" y="2422261"/>
            <a:ext cx="1402243" cy="954107"/>
          </a:xfrm>
          <a:prstGeom prst="rect">
            <a:avLst/>
          </a:prstGeom>
          <a:noFill/>
        </p:spPr>
        <p:txBody>
          <a:bodyPr wrap="none" rtlCol="0">
            <a:spAutoFit/>
          </a:bodyPr>
          <a:lstStyle/>
          <a:p>
            <a:r>
              <a:rPr lang="en-GB" sz="2800" b="1" dirty="0">
                <a:solidFill>
                  <a:srgbClr val="7030A0"/>
                </a:solidFill>
              </a:rPr>
              <a:t>Analysis</a:t>
            </a:r>
          </a:p>
          <a:p>
            <a:r>
              <a:rPr lang="en-GB" sz="2800" b="1" dirty="0">
                <a:solidFill>
                  <a:srgbClr val="7030A0"/>
                </a:solidFill>
              </a:rPr>
              <a:t>Design</a:t>
            </a:r>
          </a:p>
        </p:txBody>
      </p:sp>
    </p:spTree>
    <p:extLst>
      <p:ext uri="{BB962C8B-B14F-4D97-AF65-F5344CB8AC3E}">
        <p14:creationId xmlns:p14="http://schemas.microsoft.com/office/powerpoint/2010/main" val="3605423829"/>
      </p:ext>
    </p:extLst>
  </p:cSld>
  <p:clrMapOvr>
    <a:masterClrMapping/>
  </p:clrMapOvr>
</p:sld>
</file>

<file path=ppt/slides/slide1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D2A5E70E-9B9A-49CD-AE44-27C9401CFF22}"/>
              </a:ext>
            </a:extLst>
          </p:cNvPr>
          <p:cNvSpPr>
            <a:spLocks noGrp="1"/>
          </p:cNvSpPr>
          <p:nvPr>
            <p:ph type="title"/>
          </p:nvPr>
        </p:nvSpPr>
        <p:spPr/>
        <p:txBody>
          <a:bodyPr/>
          <a:lstStyle/>
          <a:p>
            <a:r>
              <a:rPr lang="en-GB" dirty="0"/>
              <a:t>Learning Intentions</a:t>
            </a:r>
          </a:p>
        </p:txBody>
      </p:sp>
      <p:sp>
        <p:nvSpPr>
          <p:cNvPr id="4" name="Content Placeholder 3">
            <a:extLst>
              <a:ext uri="{FF2B5EF4-FFF2-40B4-BE49-F238E27FC236}">
                <a16:creationId xmlns:a16="http://schemas.microsoft.com/office/drawing/2014/main" id="{9C545162-1B52-4B20-A9A9-D066B29D4EDD}"/>
              </a:ext>
            </a:extLst>
          </p:cNvPr>
          <p:cNvSpPr>
            <a:spLocks noGrp="1"/>
          </p:cNvSpPr>
          <p:nvPr>
            <p:ph idx="1"/>
          </p:nvPr>
        </p:nvSpPr>
        <p:spPr/>
        <p:txBody>
          <a:bodyPr/>
          <a:lstStyle/>
          <a:p>
            <a:r>
              <a:rPr lang="en-GB" dirty="0"/>
              <a:t>D</a:t>
            </a:r>
            <a:r>
              <a:rPr lang="en-GB" sz="3200" dirty="0"/>
              <a:t>escribe and exemplify entity-relationship diagrams with two entities indicating:</a:t>
            </a:r>
          </a:p>
          <a:p>
            <a:pPr lvl="1"/>
            <a:r>
              <a:rPr lang="en-GB" sz="2800" dirty="0"/>
              <a:t>entity name</a:t>
            </a:r>
          </a:p>
          <a:p>
            <a:pPr lvl="1"/>
            <a:r>
              <a:rPr lang="en-GB" sz="2800" dirty="0"/>
              <a:t>attributes</a:t>
            </a:r>
          </a:p>
          <a:p>
            <a:pPr lvl="1"/>
            <a:r>
              <a:rPr lang="en-GB" sz="2800" dirty="0"/>
              <a:t>relationship (one-to-many)</a:t>
            </a:r>
          </a:p>
        </p:txBody>
      </p:sp>
    </p:spTree>
    <p:extLst>
      <p:ext uri="{BB962C8B-B14F-4D97-AF65-F5344CB8AC3E}">
        <p14:creationId xmlns:p14="http://schemas.microsoft.com/office/powerpoint/2010/main" val="4251137618"/>
      </p:ext>
    </p:extLst>
  </p:cSld>
  <p:clrMapOvr>
    <a:masterClrMapping/>
  </p:clrMapOvr>
</p:sld>
</file>

<file path=ppt/slides/slide1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2630251-0176-4E08-9A40-5821ACD1944C}"/>
              </a:ext>
            </a:extLst>
          </p:cNvPr>
          <p:cNvSpPr>
            <a:spLocks noGrp="1"/>
          </p:cNvSpPr>
          <p:nvPr>
            <p:ph type="title"/>
          </p:nvPr>
        </p:nvSpPr>
        <p:spPr/>
        <p:txBody>
          <a:bodyPr/>
          <a:lstStyle/>
          <a:p>
            <a:r>
              <a:rPr lang="en-GB" dirty="0"/>
              <a:t>Entities and Attributes</a:t>
            </a:r>
          </a:p>
        </p:txBody>
      </p:sp>
      <p:grpSp>
        <p:nvGrpSpPr>
          <p:cNvPr id="3" name="Group 2">
            <a:extLst>
              <a:ext uri="{FF2B5EF4-FFF2-40B4-BE49-F238E27FC236}">
                <a16:creationId xmlns:a16="http://schemas.microsoft.com/office/drawing/2014/main" id="{A0BF8D62-1D13-0E2F-C7D7-D66EB29E90BB}"/>
              </a:ext>
            </a:extLst>
          </p:cNvPr>
          <p:cNvGrpSpPr/>
          <p:nvPr/>
        </p:nvGrpSpPr>
        <p:grpSpPr>
          <a:xfrm>
            <a:off x="1701046" y="4908230"/>
            <a:ext cx="1330418" cy="1455715"/>
            <a:chOff x="1701046" y="4908230"/>
            <a:chExt cx="1330418" cy="1455715"/>
          </a:xfrm>
        </p:grpSpPr>
        <p:sp>
          <p:nvSpPr>
            <p:cNvPr id="21" name="Right Arrow 9">
              <a:extLst>
                <a:ext uri="{FF2B5EF4-FFF2-40B4-BE49-F238E27FC236}">
                  <a16:creationId xmlns:a16="http://schemas.microsoft.com/office/drawing/2014/main" id="{C94ED22F-8452-163D-85D5-A3ED48A8F6FC}"/>
                </a:ext>
              </a:extLst>
            </p:cNvPr>
            <p:cNvSpPr/>
            <p:nvPr/>
          </p:nvSpPr>
          <p:spPr>
            <a:xfrm rot="16200000">
              <a:off x="1930785" y="5089117"/>
              <a:ext cx="870940" cy="509165"/>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3200"/>
            </a:p>
          </p:txBody>
        </p:sp>
        <p:sp>
          <p:nvSpPr>
            <p:cNvPr id="23" name="TextBox 22">
              <a:extLst>
                <a:ext uri="{FF2B5EF4-FFF2-40B4-BE49-F238E27FC236}">
                  <a16:creationId xmlns:a16="http://schemas.microsoft.com/office/drawing/2014/main" id="{B7B19BF9-6E34-5C97-3810-B94C6343DDAC}"/>
                </a:ext>
              </a:extLst>
            </p:cNvPr>
            <p:cNvSpPr txBox="1"/>
            <p:nvPr/>
          </p:nvSpPr>
          <p:spPr>
            <a:xfrm>
              <a:off x="1701046" y="5779170"/>
              <a:ext cx="1330418" cy="584775"/>
            </a:xfrm>
            <a:prstGeom prst="rect">
              <a:avLst/>
            </a:prstGeom>
            <a:noFill/>
          </p:spPr>
          <p:txBody>
            <a:bodyPr wrap="square" rtlCol="0">
              <a:spAutoFit/>
            </a:bodyPr>
            <a:lstStyle/>
            <a:p>
              <a:pPr algn="ctr"/>
              <a:r>
                <a:rPr lang="en-GB" sz="3200" dirty="0">
                  <a:solidFill>
                    <a:srgbClr val="7030A0"/>
                  </a:solidFill>
                </a:rPr>
                <a:t>Entity</a:t>
              </a:r>
            </a:p>
          </p:txBody>
        </p:sp>
      </p:grpSp>
      <p:grpSp>
        <p:nvGrpSpPr>
          <p:cNvPr id="26" name="Group 25">
            <a:extLst>
              <a:ext uri="{FF2B5EF4-FFF2-40B4-BE49-F238E27FC236}">
                <a16:creationId xmlns:a16="http://schemas.microsoft.com/office/drawing/2014/main" id="{8F357257-88EB-76DF-DD3A-B3C4F289DEBA}"/>
              </a:ext>
            </a:extLst>
          </p:cNvPr>
          <p:cNvGrpSpPr/>
          <p:nvPr/>
        </p:nvGrpSpPr>
        <p:grpSpPr>
          <a:xfrm>
            <a:off x="7090851" y="1896388"/>
            <a:ext cx="1800000" cy="1248764"/>
            <a:chOff x="1959902" y="1624062"/>
            <a:chExt cx="1800000" cy="1248764"/>
          </a:xfrm>
        </p:grpSpPr>
        <p:sp>
          <p:nvSpPr>
            <p:cNvPr id="27" name="Oval 26">
              <a:extLst>
                <a:ext uri="{FF2B5EF4-FFF2-40B4-BE49-F238E27FC236}">
                  <a16:creationId xmlns:a16="http://schemas.microsoft.com/office/drawing/2014/main" id="{5C79223C-F87D-9D4A-2FC0-1D0A4E23A7E8}"/>
                </a:ext>
              </a:extLst>
            </p:cNvPr>
            <p:cNvSpPr/>
            <p:nvPr/>
          </p:nvSpPr>
          <p:spPr>
            <a:xfrm>
              <a:off x="1959902" y="1624062"/>
              <a:ext cx="1800000" cy="914400"/>
            </a:xfrm>
            <a:prstGeom prst="ellipse">
              <a:avLst/>
            </a:prstGeom>
            <a:solidFill>
              <a:schemeClr val="accent3">
                <a:lumMod val="20000"/>
                <a:lumOff val="80000"/>
              </a:schemeClr>
            </a:solidFill>
            <a:ln>
              <a:solidFill>
                <a:schemeClr val="tx1"/>
              </a:solidFill>
            </a:ln>
          </p:spPr>
          <p:txBody>
            <a:bodyPr wrap="none" rtlCol="0" anchor="ctr" anchorCtr="0">
              <a:noAutofit/>
            </a:bodyPr>
            <a:lstStyle/>
            <a:p>
              <a:pPr algn="ctr"/>
              <a:r>
                <a:rPr lang="en-GB" sz="2800" dirty="0" err="1">
                  <a:solidFill>
                    <a:schemeClr val="tx1"/>
                  </a:solidFill>
                </a:rPr>
                <a:t>school</a:t>
              </a:r>
              <a:r>
                <a:rPr lang="en-GB" sz="2800" dirty="0" err="1"/>
                <a:t>ID</a:t>
              </a:r>
              <a:endParaRPr lang="en-GB" sz="2800" dirty="0">
                <a:solidFill>
                  <a:schemeClr val="tx1"/>
                </a:solidFill>
              </a:endParaRPr>
            </a:p>
          </p:txBody>
        </p:sp>
        <p:cxnSp>
          <p:nvCxnSpPr>
            <p:cNvPr id="28" name="Straight Connector 27">
              <a:extLst>
                <a:ext uri="{FF2B5EF4-FFF2-40B4-BE49-F238E27FC236}">
                  <a16:creationId xmlns:a16="http://schemas.microsoft.com/office/drawing/2014/main" id="{BB71B7D6-0EAF-DC80-A0F6-0A401BD8C7F1}"/>
                </a:ext>
              </a:extLst>
            </p:cNvPr>
            <p:cNvCxnSpPr>
              <a:cxnSpLocks/>
              <a:stCxn id="27" idx="4"/>
            </p:cNvCxnSpPr>
            <p:nvPr/>
          </p:nvCxnSpPr>
          <p:spPr>
            <a:xfrm>
              <a:off x="2859902" y="2538462"/>
              <a:ext cx="476083" cy="334364"/>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29" name="Group 28">
            <a:extLst>
              <a:ext uri="{FF2B5EF4-FFF2-40B4-BE49-F238E27FC236}">
                <a16:creationId xmlns:a16="http://schemas.microsoft.com/office/drawing/2014/main" id="{03538675-1675-4963-C3B2-283EEC646117}"/>
              </a:ext>
            </a:extLst>
          </p:cNvPr>
          <p:cNvGrpSpPr/>
          <p:nvPr/>
        </p:nvGrpSpPr>
        <p:grpSpPr>
          <a:xfrm>
            <a:off x="7090852" y="3865152"/>
            <a:ext cx="1800000" cy="1311685"/>
            <a:chOff x="785495" y="3206012"/>
            <a:chExt cx="1800000" cy="1311685"/>
          </a:xfrm>
        </p:grpSpPr>
        <p:sp>
          <p:nvSpPr>
            <p:cNvPr id="30" name="Oval 29">
              <a:extLst>
                <a:ext uri="{FF2B5EF4-FFF2-40B4-BE49-F238E27FC236}">
                  <a16:creationId xmlns:a16="http://schemas.microsoft.com/office/drawing/2014/main" id="{26ABCA27-83CF-C618-EF84-D7BA1DD089B0}"/>
                </a:ext>
              </a:extLst>
            </p:cNvPr>
            <p:cNvSpPr/>
            <p:nvPr/>
          </p:nvSpPr>
          <p:spPr>
            <a:xfrm>
              <a:off x="785495" y="3603297"/>
              <a:ext cx="1800000" cy="914400"/>
            </a:xfrm>
            <a:prstGeom prst="ellipse">
              <a:avLst/>
            </a:prstGeom>
            <a:solidFill>
              <a:schemeClr val="accent3">
                <a:lumMod val="20000"/>
                <a:lumOff val="80000"/>
              </a:schemeClr>
            </a:solidFill>
            <a:ln>
              <a:solidFill>
                <a:schemeClr val="tx1"/>
              </a:solidFill>
            </a:ln>
          </p:spPr>
          <p:txBody>
            <a:bodyPr wrap="none" rtlCol="0" anchor="ctr" anchorCtr="0">
              <a:noAutofit/>
            </a:bodyPr>
            <a:lstStyle/>
            <a:p>
              <a:pPr algn="ctr"/>
              <a:r>
                <a:rPr lang="en-GB" sz="2800" dirty="0">
                  <a:solidFill>
                    <a:schemeClr val="tx1"/>
                  </a:solidFill>
                </a:rPr>
                <a:t>address</a:t>
              </a:r>
            </a:p>
          </p:txBody>
        </p:sp>
        <p:cxnSp>
          <p:nvCxnSpPr>
            <p:cNvPr id="31" name="Straight Connector 30">
              <a:extLst>
                <a:ext uri="{FF2B5EF4-FFF2-40B4-BE49-F238E27FC236}">
                  <a16:creationId xmlns:a16="http://schemas.microsoft.com/office/drawing/2014/main" id="{7BDE9141-4474-D423-22AF-3AE396A639DC}"/>
                </a:ext>
              </a:extLst>
            </p:cNvPr>
            <p:cNvCxnSpPr>
              <a:cxnSpLocks/>
              <a:stCxn id="30" idx="0"/>
            </p:cNvCxnSpPr>
            <p:nvPr/>
          </p:nvCxnSpPr>
          <p:spPr>
            <a:xfrm flipV="1">
              <a:off x="1685495" y="3206012"/>
              <a:ext cx="476082" cy="397285"/>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32" name="Group 31">
            <a:extLst>
              <a:ext uri="{FF2B5EF4-FFF2-40B4-BE49-F238E27FC236}">
                <a16:creationId xmlns:a16="http://schemas.microsoft.com/office/drawing/2014/main" id="{E72321CB-ED7D-1846-1BDC-EB201C4754CD}"/>
              </a:ext>
            </a:extLst>
          </p:cNvPr>
          <p:cNvGrpSpPr/>
          <p:nvPr/>
        </p:nvGrpSpPr>
        <p:grpSpPr>
          <a:xfrm>
            <a:off x="9048015" y="1868282"/>
            <a:ext cx="1800000" cy="1276870"/>
            <a:chOff x="370708" y="2350432"/>
            <a:chExt cx="1800000" cy="1276870"/>
          </a:xfrm>
        </p:grpSpPr>
        <p:sp>
          <p:nvSpPr>
            <p:cNvPr id="33" name="Oval 32">
              <a:extLst>
                <a:ext uri="{FF2B5EF4-FFF2-40B4-BE49-F238E27FC236}">
                  <a16:creationId xmlns:a16="http://schemas.microsoft.com/office/drawing/2014/main" id="{AD6265B6-77C5-E966-0025-E0F8C13CB1C3}"/>
                </a:ext>
              </a:extLst>
            </p:cNvPr>
            <p:cNvSpPr/>
            <p:nvPr/>
          </p:nvSpPr>
          <p:spPr>
            <a:xfrm>
              <a:off x="370708" y="2350432"/>
              <a:ext cx="1800000" cy="914400"/>
            </a:xfrm>
            <a:prstGeom prst="ellipse">
              <a:avLst/>
            </a:prstGeom>
            <a:solidFill>
              <a:schemeClr val="accent3">
                <a:lumMod val="20000"/>
                <a:lumOff val="80000"/>
              </a:schemeClr>
            </a:solidFill>
            <a:ln>
              <a:solidFill>
                <a:schemeClr val="tx1"/>
              </a:solidFill>
            </a:ln>
          </p:spPr>
          <p:txBody>
            <a:bodyPr wrap="none" rtlCol="0" anchor="ctr" anchorCtr="0">
              <a:noAutofit/>
            </a:bodyPr>
            <a:lstStyle/>
            <a:p>
              <a:pPr algn="ctr"/>
              <a:r>
                <a:rPr lang="en-GB" sz="2800" dirty="0">
                  <a:solidFill>
                    <a:schemeClr val="tx1"/>
                  </a:solidFill>
                </a:rPr>
                <a:t>name</a:t>
              </a:r>
            </a:p>
          </p:txBody>
        </p:sp>
        <p:cxnSp>
          <p:nvCxnSpPr>
            <p:cNvPr id="34" name="Straight Connector 33">
              <a:extLst>
                <a:ext uri="{FF2B5EF4-FFF2-40B4-BE49-F238E27FC236}">
                  <a16:creationId xmlns:a16="http://schemas.microsoft.com/office/drawing/2014/main" id="{5831A48A-A67B-AABF-5E00-CE37532B25CB}"/>
                </a:ext>
              </a:extLst>
            </p:cNvPr>
            <p:cNvCxnSpPr>
              <a:cxnSpLocks/>
              <a:stCxn id="33" idx="4"/>
            </p:cNvCxnSpPr>
            <p:nvPr/>
          </p:nvCxnSpPr>
          <p:spPr>
            <a:xfrm flipH="1">
              <a:off x="627995" y="3264832"/>
              <a:ext cx="642713" cy="362470"/>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35" name="Group 34">
            <a:extLst>
              <a:ext uri="{FF2B5EF4-FFF2-40B4-BE49-F238E27FC236}">
                <a16:creationId xmlns:a16="http://schemas.microsoft.com/office/drawing/2014/main" id="{43685DE5-782A-9089-F067-6CD7304E9700}"/>
              </a:ext>
            </a:extLst>
          </p:cNvPr>
          <p:cNvGrpSpPr/>
          <p:nvPr/>
        </p:nvGrpSpPr>
        <p:grpSpPr>
          <a:xfrm>
            <a:off x="9048352" y="3865152"/>
            <a:ext cx="1800000" cy="1311685"/>
            <a:chOff x="3642995" y="3789001"/>
            <a:chExt cx="1800000" cy="1311685"/>
          </a:xfrm>
        </p:grpSpPr>
        <p:sp>
          <p:nvSpPr>
            <p:cNvPr id="36" name="Oval 35">
              <a:extLst>
                <a:ext uri="{FF2B5EF4-FFF2-40B4-BE49-F238E27FC236}">
                  <a16:creationId xmlns:a16="http://schemas.microsoft.com/office/drawing/2014/main" id="{5895D21C-3B11-DD94-529C-A0BF6B790A5B}"/>
                </a:ext>
              </a:extLst>
            </p:cNvPr>
            <p:cNvSpPr/>
            <p:nvPr/>
          </p:nvSpPr>
          <p:spPr>
            <a:xfrm>
              <a:off x="3642995" y="4186286"/>
              <a:ext cx="1800000" cy="914400"/>
            </a:xfrm>
            <a:prstGeom prst="ellipse">
              <a:avLst/>
            </a:prstGeom>
            <a:solidFill>
              <a:schemeClr val="accent3">
                <a:lumMod val="20000"/>
                <a:lumOff val="80000"/>
              </a:schemeClr>
            </a:solidFill>
            <a:ln>
              <a:solidFill>
                <a:schemeClr val="tx1"/>
              </a:solidFill>
            </a:ln>
          </p:spPr>
          <p:txBody>
            <a:bodyPr wrap="none" rtlCol="0" anchor="ctr" anchorCtr="0">
              <a:noAutofit/>
            </a:bodyPr>
            <a:lstStyle/>
            <a:p>
              <a:pPr algn="ctr"/>
              <a:r>
                <a:rPr lang="en-GB" sz="2800" dirty="0">
                  <a:solidFill>
                    <a:schemeClr val="tx1"/>
                  </a:solidFill>
                </a:rPr>
                <a:t>phone</a:t>
              </a:r>
            </a:p>
          </p:txBody>
        </p:sp>
        <p:cxnSp>
          <p:nvCxnSpPr>
            <p:cNvPr id="37" name="Straight Connector 36">
              <a:extLst>
                <a:ext uri="{FF2B5EF4-FFF2-40B4-BE49-F238E27FC236}">
                  <a16:creationId xmlns:a16="http://schemas.microsoft.com/office/drawing/2014/main" id="{D0440EF5-2DA9-B41D-774C-1FD67737F6EB}"/>
                </a:ext>
              </a:extLst>
            </p:cNvPr>
            <p:cNvCxnSpPr>
              <a:cxnSpLocks/>
              <a:stCxn id="36" idx="0"/>
            </p:cNvCxnSpPr>
            <p:nvPr/>
          </p:nvCxnSpPr>
          <p:spPr>
            <a:xfrm flipH="1" flipV="1">
              <a:off x="4121891" y="3789001"/>
              <a:ext cx="421104" cy="397285"/>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sp>
        <p:nvSpPr>
          <p:cNvPr id="39" name="Entity 1">
            <a:extLst>
              <a:ext uri="{FF2B5EF4-FFF2-40B4-BE49-F238E27FC236}">
                <a16:creationId xmlns:a16="http://schemas.microsoft.com/office/drawing/2014/main" id="{E77C9CB4-7480-34AE-F005-18C10AB34DD6}"/>
              </a:ext>
            </a:extLst>
          </p:cNvPr>
          <p:cNvSpPr txBox="1"/>
          <p:nvPr/>
        </p:nvSpPr>
        <p:spPr>
          <a:xfrm>
            <a:off x="7990852" y="3145152"/>
            <a:ext cx="1800000" cy="720000"/>
          </a:xfrm>
          <a:prstGeom prst="rect">
            <a:avLst/>
          </a:prstGeom>
          <a:solidFill>
            <a:schemeClr val="accent3">
              <a:lumMod val="20000"/>
              <a:lumOff val="80000"/>
            </a:schemeClr>
          </a:solidFill>
          <a:ln>
            <a:solidFill>
              <a:schemeClr val="tx1"/>
            </a:solidFill>
          </a:ln>
        </p:spPr>
        <p:txBody>
          <a:bodyPr wrap="none" rtlCol="0" anchor="ctr" anchorCtr="0">
            <a:noAutofit/>
          </a:bodyPr>
          <a:lstStyle/>
          <a:p>
            <a:pPr algn="ctr"/>
            <a:r>
              <a:rPr lang="en-GB" sz="3600" dirty="0"/>
              <a:t>school</a:t>
            </a:r>
          </a:p>
        </p:txBody>
      </p:sp>
      <p:grpSp>
        <p:nvGrpSpPr>
          <p:cNvPr id="2" name="Group 1">
            <a:extLst>
              <a:ext uri="{FF2B5EF4-FFF2-40B4-BE49-F238E27FC236}">
                <a16:creationId xmlns:a16="http://schemas.microsoft.com/office/drawing/2014/main" id="{A3C74B9B-3BAB-6BA3-1F88-6DBACABC7D75}"/>
              </a:ext>
            </a:extLst>
          </p:cNvPr>
          <p:cNvGrpSpPr/>
          <p:nvPr/>
        </p:nvGrpSpPr>
        <p:grpSpPr>
          <a:xfrm>
            <a:off x="3511089" y="1993040"/>
            <a:ext cx="2242290" cy="595105"/>
            <a:chOff x="3511089" y="1993040"/>
            <a:chExt cx="2242290" cy="595105"/>
          </a:xfrm>
        </p:grpSpPr>
        <p:sp>
          <p:nvSpPr>
            <p:cNvPr id="53" name="Right Arrow 9">
              <a:extLst>
                <a:ext uri="{FF2B5EF4-FFF2-40B4-BE49-F238E27FC236}">
                  <a16:creationId xmlns:a16="http://schemas.microsoft.com/office/drawing/2014/main" id="{32ED144E-D951-D848-30E0-9ADE636CED3C}"/>
                </a:ext>
              </a:extLst>
            </p:cNvPr>
            <p:cNvSpPr/>
            <p:nvPr/>
          </p:nvSpPr>
          <p:spPr>
            <a:xfrm rot="10800000">
              <a:off x="3511089" y="2078980"/>
              <a:ext cx="870940" cy="509165"/>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3200"/>
            </a:p>
          </p:txBody>
        </p:sp>
        <p:sp>
          <p:nvSpPr>
            <p:cNvPr id="54" name="TextBox 53">
              <a:extLst>
                <a:ext uri="{FF2B5EF4-FFF2-40B4-BE49-F238E27FC236}">
                  <a16:creationId xmlns:a16="http://schemas.microsoft.com/office/drawing/2014/main" id="{EB7C4233-532A-127C-8E21-38C7DEB9EA18}"/>
                </a:ext>
              </a:extLst>
            </p:cNvPr>
            <p:cNvSpPr txBox="1"/>
            <p:nvPr/>
          </p:nvSpPr>
          <p:spPr>
            <a:xfrm>
              <a:off x="4422961" y="1993040"/>
              <a:ext cx="1330418" cy="584775"/>
            </a:xfrm>
            <a:prstGeom prst="rect">
              <a:avLst/>
            </a:prstGeom>
            <a:noFill/>
          </p:spPr>
          <p:txBody>
            <a:bodyPr wrap="square" rtlCol="0">
              <a:spAutoFit/>
            </a:bodyPr>
            <a:lstStyle/>
            <a:p>
              <a:r>
                <a:rPr lang="en-GB" sz="3200" dirty="0">
                  <a:solidFill>
                    <a:srgbClr val="7030A0"/>
                  </a:solidFill>
                </a:rPr>
                <a:t>Name</a:t>
              </a:r>
            </a:p>
          </p:txBody>
        </p:sp>
      </p:grpSp>
      <p:grpSp>
        <p:nvGrpSpPr>
          <p:cNvPr id="5" name="Group 4">
            <a:extLst>
              <a:ext uri="{FF2B5EF4-FFF2-40B4-BE49-F238E27FC236}">
                <a16:creationId xmlns:a16="http://schemas.microsoft.com/office/drawing/2014/main" id="{5C083DB6-3057-54C9-AC03-19D525314A07}"/>
              </a:ext>
            </a:extLst>
          </p:cNvPr>
          <p:cNvGrpSpPr/>
          <p:nvPr/>
        </p:nvGrpSpPr>
        <p:grpSpPr>
          <a:xfrm>
            <a:off x="3504882" y="3388181"/>
            <a:ext cx="2959761" cy="584775"/>
            <a:chOff x="3504882" y="3388181"/>
            <a:chExt cx="2959761" cy="584775"/>
          </a:xfrm>
        </p:grpSpPr>
        <p:sp>
          <p:nvSpPr>
            <p:cNvPr id="55" name="Right Arrow 9">
              <a:extLst>
                <a:ext uri="{FF2B5EF4-FFF2-40B4-BE49-F238E27FC236}">
                  <a16:creationId xmlns:a16="http://schemas.microsoft.com/office/drawing/2014/main" id="{1A037B0F-AEF9-CA89-EADF-09BB62D8E211}"/>
                </a:ext>
              </a:extLst>
            </p:cNvPr>
            <p:cNvSpPr/>
            <p:nvPr/>
          </p:nvSpPr>
          <p:spPr>
            <a:xfrm rot="10800000">
              <a:off x="3504882" y="3456764"/>
              <a:ext cx="870940" cy="509165"/>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3200"/>
            </a:p>
          </p:txBody>
        </p:sp>
        <p:sp>
          <p:nvSpPr>
            <p:cNvPr id="57" name="TextBox 56">
              <a:extLst>
                <a:ext uri="{FF2B5EF4-FFF2-40B4-BE49-F238E27FC236}">
                  <a16:creationId xmlns:a16="http://schemas.microsoft.com/office/drawing/2014/main" id="{076158D0-449E-331E-02B8-6187272187CD}"/>
                </a:ext>
              </a:extLst>
            </p:cNvPr>
            <p:cNvSpPr txBox="1"/>
            <p:nvPr/>
          </p:nvSpPr>
          <p:spPr>
            <a:xfrm>
              <a:off x="4422961" y="3388181"/>
              <a:ext cx="2041682" cy="584775"/>
            </a:xfrm>
            <a:prstGeom prst="rect">
              <a:avLst/>
            </a:prstGeom>
            <a:noFill/>
          </p:spPr>
          <p:txBody>
            <a:bodyPr wrap="square" rtlCol="0">
              <a:spAutoFit/>
            </a:bodyPr>
            <a:lstStyle/>
            <a:p>
              <a:r>
                <a:rPr lang="en-GB" sz="3200" dirty="0">
                  <a:solidFill>
                    <a:srgbClr val="7030A0"/>
                  </a:solidFill>
                </a:rPr>
                <a:t>Attributes</a:t>
              </a:r>
            </a:p>
          </p:txBody>
        </p:sp>
      </p:grpSp>
      <p:grpSp>
        <p:nvGrpSpPr>
          <p:cNvPr id="59" name="Group 58">
            <a:extLst>
              <a:ext uri="{FF2B5EF4-FFF2-40B4-BE49-F238E27FC236}">
                <a16:creationId xmlns:a16="http://schemas.microsoft.com/office/drawing/2014/main" id="{6075F69E-C1EC-0376-D32A-442345F8B341}"/>
              </a:ext>
            </a:extLst>
          </p:cNvPr>
          <p:cNvGrpSpPr/>
          <p:nvPr/>
        </p:nvGrpSpPr>
        <p:grpSpPr>
          <a:xfrm>
            <a:off x="1456099" y="1978068"/>
            <a:ext cx="1797287" cy="2862322"/>
            <a:chOff x="2197100" y="1720840"/>
            <a:chExt cx="1797287" cy="2862322"/>
          </a:xfrm>
        </p:grpSpPr>
        <p:sp>
          <p:nvSpPr>
            <p:cNvPr id="60" name="TextBox 59">
              <a:extLst>
                <a:ext uri="{FF2B5EF4-FFF2-40B4-BE49-F238E27FC236}">
                  <a16:creationId xmlns:a16="http://schemas.microsoft.com/office/drawing/2014/main" id="{FF3C45D0-632D-F7B1-F94D-C175CEB6FC87}"/>
                </a:ext>
              </a:extLst>
            </p:cNvPr>
            <p:cNvSpPr txBox="1"/>
            <p:nvPr/>
          </p:nvSpPr>
          <p:spPr>
            <a:xfrm>
              <a:off x="2197100" y="1720840"/>
              <a:ext cx="1797287" cy="2862322"/>
            </a:xfrm>
            <a:prstGeom prst="rect">
              <a:avLst/>
            </a:prstGeom>
            <a:solidFill>
              <a:schemeClr val="accent3">
                <a:lumMod val="20000"/>
                <a:lumOff val="80000"/>
              </a:schemeClr>
            </a:solidFill>
            <a:ln>
              <a:solidFill>
                <a:schemeClr val="tx1"/>
              </a:solidFill>
            </a:ln>
          </p:spPr>
          <p:txBody>
            <a:bodyPr wrap="none" rtlCol="0">
              <a:spAutoFit/>
            </a:bodyPr>
            <a:lstStyle/>
            <a:p>
              <a:r>
                <a:rPr lang="en-GB" sz="3600" b="1" dirty="0">
                  <a:highlight>
                    <a:srgbClr val="C0C0C0"/>
                  </a:highlight>
                </a:rPr>
                <a:t>   </a:t>
              </a:r>
            </a:p>
            <a:p>
              <a:r>
                <a:rPr lang="en-GB" sz="3600" dirty="0" err="1"/>
                <a:t>schoolID</a:t>
              </a:r>
              <a:endParaRPr lang="en-GB" sz="3600" dirty="0"/>
            </a:p>
            <a:p>
              <a:r>
                <a:rPr lang="en-GB" sz="3600" dirty="0"/>
                <a:t>name</a:t>
              </a:r>
            </a:p>
            <a:p>
              <a:r>
                <a:rPr lang="en-GB" sz="3600" dirty="0"/>
                <a:t>address</a:t>
              </a:r>
            </a:p>
            <a:p>
              <a:r>
                <a:rPr lang="en-GB" sz="3600" dirty="0"/>
                <a:t>phone</a:t>
              </a:r>
            </a:p>
          </p:txBody>
        </p:sp>
        <p:sp>
          <p:nvSpPr>
            <p:cNvPr id="61" name="TextBox 60">
              <a:extLst>
                <a:ext uri="{FF2B5EF4-FFF2-40B4-BE49-F238E27FC236}">
                  <a16:creationId xmlns:a16="http://schemas.microsoft.com/office/drawing/2014/main" id="{D8A2A582-A5F5-2F9C-A3D3-8B64D0792D1A}"/>
                </a:ext>
              </a:extLst>
            </p:cNvPr>
            <p:cNvSpPr txBox="1"/>
            <p:nvPr/>
          </p:nvSpPr>
          <p:spPr>
            <a:xfrm>
              <a:off x="2197100" y="1720840"/>
              <a:ext cx="1797287" cy="646331"/>
            </a:xfrm>
            <a:prstGeom prst="rect">
              <a:avLst/>
            </a:prstGeom>
            <a:solidFill>
              <a:schemeClr val="bg2">
                <a:lumMod val="90000"/>
              </a:schemeClr>
            </a:solidFill>
            <a:ln>
              <a:solidFill>
                <a:schemeClr val="tx1"/>
              </a:solidFill>
            </a:ln>
          </p:spPr>
          <p:txBody>
            <a:bodyPr wrap="square" rtlCol="0">
              <a:spAutoFit/>
            </a:bodyPr>
            <a:lstStyle/>
            <a:p>
              <a:r>
                <a:rPr lang="en-GB" sz="3600" b="1" dirty="0"/>
                <a:t>school</a:t>
              </a:r>
            </a:p>
          </p:txBody>
        </p:sp>
      </p:grpSp>
      <p:grpSp>
        <p:nvGrpSpPr>
          <p:cNvPr id="6" name="Group 5">
            <a:extLst>
              <a:ext uri="{FF2B5EF4-FFF2-40B4-BE49-F238E27FC236}">
                <a16:creationId xmlns:a16="http://schemas.microsoft.com/office/drawing/2014/main" id="{D042AC0D-1015-3A7D-1484-E042DE37F799}"/>
              </a:ext>
            </a:extLst>
          </p:cNvPr>
          <p:cNvGrpSpPr/>
          <p:nvPr/>
        </p:nvGrpSpPr>
        <p:grpSpPr>
          <a:xfrm>
            <a:off x="9895121" y="3179967"/>
            <a:ext cx="2087343" cy="595105"/>
            <a:chOff x="3511089" y="1993040"/>
            <a:chExt cx="2087343" cy="595105"/>
          </a:xfrm>
        </p:grpSpPr>
        <p:sp>
          <p:nvSpPr>
            <p:cNvPr id="7" name="Right Arrow 9">
              <a:extLst>
                <a:ext uri="{FF2B5EF4-FFF2-40B4-BE49-F238E27FC236}">
                  <a16:creationId xmlns:a16="http://schemas.microsoft.com/office/drawing/2014/main" id="{F8B8EFF9-543D-3932-D393-6902EF15D561}"/>
                </a:ext>
              </a:extLst>
            </p:cNvPr>
            <p:cNvSpPr/>
            <p:nvPr/>
          </p:nvSpPr>
          <p:spPr>
            <a:xfrm rot="10800000">
              <a:off x="3511089" y="2078980"/>
              <a:ext cx="870940" cy="509165"/>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3200"/>
            </a:p>
          </p:txBody>
        </p:sp>
        <p:sp>
          <p:nvSpPr>
            <p:cNvPr id="8" name="TextBox 7">
              <a:extLst>
                <a:ext uri="{FF2B5EF4-FFF2-40B4-BE49-F238E27FC236}">
                  <a16:creationId xmlns:a16="http://schemas.microsoft.com/office/drawing/2014/main" id="{AABE7F4F-31A2-99F3-8DE6-B6E7C9D4A7BA}"/>
                </a:ext>
              </a:extLst>
            </p:cNvPr>
            <p:cNvSpPr txBox="1"/>
            <p:nvPr/>
          </p:nvSpPr>
          <p:spPr>
            <a:xfrm>
              <a:off x="4422961" y="1993040"/>
              <a:ext cx="1175471" cy="584775"/>
            </a:xfrm>
            <a:prstGeom prst="rect">
              <a:avLst/>
            </a:prstGeom>
            <a:noFill/>
          </p:spPr>
          <p:txBody>
            <a:bodyPr wrap="square" rtlCol="0">
              <a:spAutoFit/>
            </a:bodyPr>
            <a:lstStyle/>
            <a:p>
              <a:r>
                <a:rPr lang="en-GB" sz="3200" dirty="0">
                  <a:solidFill>
                    <a:srgbClr val="7030A0"/>
                  </a:solidFill>
                </a:rPr>
                <a:t>Name</a:t>
              </a:r>
            </a:p>
          </p:txBody>
        </p:sp>
      </p:grpSp>
      <p:grpSp>
        <p:nvGrpSpPr>
          <p:cNvPr id="9" name="Group 8">
            <a:extLst>
              <a:ext uri="{FF2B5EF4-FFF2-40B4-BE49-F238E27FC236}">
                <a16:creationId xmlns:a16="http://schemas.microsoft.com/office/drawing/2014/main" id="{D07182A0-4D7C-0BEC-4FD4-043B53375ED5}"/>
              </a:ext>
            </a:extLst>
          </p:cNvPr>
          <p:cNvGrpSpPr/>
          <p:nvPr/>
        </p:nvGrpSpPr>
        <p:grpSpPr>
          <a:xfrm>
            <a:off x="7090851" y="5233282"/>
            <a:ext cx="1800000" cy="1456331"/>
            <a:chOff x="1466255" y="4908230"/>
            <a:chExt cx="1800000" cy="1471208"/>
          </a:xfrm>
        </p:grpSpPr>
        <p:sp>
          <p:nvSpPr>
            <p:cNvPr id="10" name="Right Arrow 9">
              <a:extLst>
                <a:ext uri="{FF2B5EF4-FFF2-40B4-BE49-F238E27FC236}">
                  <a16:creationId xmlns:a16="http://schemas.microsoft.com/office/drawing/2014/main" id="{92901AFD-7DA9-E3E1-5F7D-60761172648D}"/>
                </a:ext>
              </a:extLst>
            </p:cNvPr>
            <p:cNvSpPr/>
            <p:nvPr/>
          </p:nvSpPr>
          <p:spPr>
            <a:xfrm rot="16200000">
              <a:off x="1930785" y="5089117"/>
              <a:ext cx="870940" cy="509165"/>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3200"/>
            </a:p>
          </p:txBody>
        </p:sp>
        <p:sp>
          <p:nvSpPr>
            <p:cNvPr id="11" name="TextBox 10">
              <a:extLst>
                <a:ext uri="{FF2B5EF4-FFF2-40B4-BE49-F238E27FC236}">
                  <a16:creationId xmlns:a16="http://schemas.microsoft.com/office/drawing/2014/main" id="{4768A0A6-A514-97D6-DDE9-65BB3970B6E1}"/>
                </a:ext>
              </a:extLst>
            </p:cNvPr>
            <p:cNvSpPr txBox="1"/>
            <p:nvPr/>
          </p:nvSpPr>
          <p:spPr>
            <a:xfrm>
              <a:off x="1466255" y="5788689"/>
              <a:ext cx="1800000" cy="590749"/>
            </a:xfrm>
            <a:prstGeom prst="rect">
              <a:avLst/>
            </a:prstGeom>
            <a:noFill/>
          </p:spPr>
          <p:txBody>
            <a:bodyPr wrap="square" rtlCol="0">
              <a:spAutoFit/>
            </a:bodyPr>
            <a:lstStyle/>
            <a:p>
              <a:pPr algn="ctr"/>
              <a:r>
                <a:rPr lang="en-GB" sz="3200" dirty="0">
                  <a:solidFill>
                    <a:srgbClr val="7030A0"/>
                  </a:solidFill>
                </a:rPr>
                <a:t>Attribute</a:t>
              </a:r>
            </a:p>
          </p:txBody>
        </p:sp>
      </p:grpSp>
    </p:spTree>
    <p:extLst>
      <p:ext uri="{BB962C8B-B14F-4D97-AF65-F5344CB8AC3E}">
        <p14:creationId xmlns:p14="http://schemas.microsoft.com/office/powerpoint/2010/main" val="419821816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59"/>
                                        </p:tgtEl>
                                        <p:attrNameLst>
                                          <p:attrName>style.visibility</p:attrName>
                                        </p:attrNameLst>
                                      </p:cBhvr>
                                      <p:to>
                                        <p:strVal val="visible"/>
                                      </p:to>
                                    </p:set>
                                    <p:animEffect transition="in" filter="fade">
                                      <p:cBhvr>
                                        <p:cTn id="7" dur="1000"/>
                                        <p:tgtEl>
                                          <p:spTgt spid="59"/>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1" fill="hold" nodeType="clickEffect">
                                  <p:stCondLst>
                                    <p:cond delay="0"/>
                                  </p:stCondLst>
                                  <p:childTnLst>
                                    <p:set>
                                      <p:cBhvr>
                                        <p:cTn id="11" dur="1" fill="hold">
                                          <p:stCondLst>
                                            <p:cond delay="0"/>
                                          </p:stCondLst>
                                        </p:cTn>
                                        <p:tgtEl>
                                          <p:spTgt spid="3"/>
                                        </p:tgtEl>
                                        <p:attrNameLst>
                                          <p:attrName>style.visibility</p:attrName>
                                        </p:attrNameLst>
                                      </p:cBhvr>
                                      <p:to>
                                        <p:strVal val="visible"/>
                                      </p:to>
                                    </p:set>
                                    <p:animEffect transition="in" filter="wipe(up)">
                                      <p:cBhvr>
                                        <p:cTn id="12" dur="1500"/>
                                        <p:tgtEl>
                                          <p:spTgt spid="3"/>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nodeType="clickEffect">
                                  <p:stCondLst>
                                    <p:cond delay="0"/>
                                  </p:stCondLst>
                                  <p:childTnLst>
                                    <p:set>
                                      <p:cBhvr>
                                        <p:cTn id="16" dur="1" fill="hold">
                                          <p:stCondLst>
                                            <p:cond delay="0"/>
                                          </p:stCondLst>
                                        </p:cTn>
                                        <p:tgtEl>
                                          <p:spTgt spid="2"/>
                                        </p:tgtEl>
                                        <p:attrNameLst>
                                          <p:attrName>style.visibility</p:attrName>
                                        </p:attrNameLst>
                                      </p:cBhvr>
                                      <p:to>
                                        <p:strVal val="visible"/>
                                      </p:to>
                                    </p:set>
                                    <p:animEffect transition="in" filter="wipe(left)">
                                      <p:cBhvr>
                                        <p:cTn id="17" dur="1500"/>
                                        <p:tgtEl>
                                          <p:spTgt spid="2"/>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nodeType="clickEffect">
                                  <p:stCondLst>
                                    <p:cond delay="0"/>
                                  </p:stCondLst>
                                  <p:childTnLst>
                                    <p:set>
                                      <p:cBhvr>
                                        <p:cTn id="21" dur="1" fill="hold">
                                          <p:stCondLst>
                                            <p:cond delay="0"/>
                                          </p:stCondLst>
                                        </p:cTn>
                                        <p:tgtEl>
                                          <p:spTgt spid="5"/>
                                        </p:tgtEl>
                                        <p:attrNameLst>
                                          <p:attrName>style.visibility</p:attrName>
                                        </p:attrNameLst>
                                      </p:cBhvr>
                                      <p:to>
                                        <p:strVal val="visible"/>
                                      </p:to>
                                    </p:set>
                                    <p:animEffect transition="in" filter="wipe(left)">
                                      <p:cBhvr>
                                        <p:cTn id="22" dur="1500"/>
                                        <p:tgtEl>
                                          <p:spTgt spid="5"/>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39"/>
                                        </p:tgtEl>
                                        <p:attrNameLst>
                                          <p:attrName>style.visibility</p:attrName>
                                        </p:attrNameLst>
                                      </p:cBhvr>
                                      <p:to>
                                        <p:strVal val="visible"/>
                                      </p:to>
                                    </p:set>
                                    <p:animEffect transition="in" filter="fade">
                                      <p:cBhvr>
                                        <p:cTn id="27" dur="500"/>
                                        <p:tgtEl>
                                          <p:spTgt spid="39"/>
                                        </p:tgtEl>
                                      </p:cBhvr>
                                    </p:animEffect>
                                  </p:childTnLst>
                                </p:cTn>
                              </p:par>
                            </p:childTnLst>
                          </p:cTn>
                        </p:par>
                        <p:par>
                          <p:cTn id="28" fill="hold">
                            <p:stCondLst>
                              <p:cond delay="500"/>
                            </p:stCondLst>
                            <p:childTnLst>
                              <p:par>
                                <p:cTn id="29" presetID="10" presetClass="entr" presetSubtype="0" fill="hold" nodeType="afterEffect">
                                  <p:stCondLst>
                                    <p:cond delay="0"/>
                                  </p:stCondLst>
                                  <p:childTnLst>
                                    <p:set>
                                      <p:cBhvr>
                                        <p:cTn id="30" dur="1" fill="hold">
                                          <p:stCondLst>
                                            <p:cond delay="0"/>
                                          </p:stCondLst>
                                        </p:cTn>
                                        <p:tgtEl>
                                          <p:spTgt spid="26"/>
                                        </p:tgtEl>
                                        <p:attrNameLst>
                                          <p:attrName>style.visibility</p:attrName>
                                        </p:attrNameLst>
                                      </p:cBhvr>
                                      <p:to>
                                        <p:strVal val="visible"/>
                                      </p:to>
                                    </p:set>
                                    <p:animEffect transition="in" filter="fade">
                                      <p:cBhvr>
                                        <p:cTn id="31" dur="1000"/>
                                        <p:tgtEl>
                                          <p:spTgt spid="26"/>
                                        </p:tgtEl>
                                      </p:cBhvr>
                                    </p:animEffect>
                                  </p:childTnLst>
                                </p:cTn>
                              </p:par>
                            </p:childTnLst>
                          </p:cTn>
                        </p:par>
                        <p:par>
                          <p:cTn id="32" fill="hold">
                            <p:stCondLst>
                              <p:cond delay="1500"/>
                            </p:stCondLst>
                            <p:childTnLst>
                              <p:par>
                                <p:cTn id="33" presetID="10" presetClass="entr" presetSubtype="0" fill="hold" nodeType="afterEffect">
                                  <p:stCondLst>
                                    <p:cond delay="0"/>
                                  </p:stCondLst>
                                  <p:childTnLst>
                                    <p:set>
                                      <p:cBhvr>
                                        <p:cTn id="34" dur="1" fill="hold">
                                          <p:stCondLst>
                                            <p:cond delay="0"/>
                                          </p:stCondLst>
                                        </p:cTn>
                                        <p:tgtEl>
                                          <p:spTgt spid="32"/>
                                        </p:tgtEl>
                                        <p:attrNameLst>
                                          <p:attrName>style.visibility</p:attrName>
                                        </p:attrNameLst>
                                      </p:cBhvr>
                                      <p:to>
                                        <p:strVal val="visible"/>
                                      </p:to>
                                    </p:set>
                                    <p:animEffect transition="in" filter="fade">
                                      <p:cBhvr>
                                        <p:cTn id="35" dur="1000"/>
                                        <p:tgtEl>
                                          <p:spTgt spid="32"/>
                                        </p:tgtEl>
                                      </p:cBhvr>
                                    </p:animEffect>
                                  </p:childTnLst>
                                </p:cTn>
                              </p:par>
                            </p:childTnLst>
                          </p:cTn>
                        </p:par>
                        <p:par>
                          <p:cTn id="36" fill="hold">
                            <p:stCondLst>
                              <p:cond delay="2500"/>
                            </p:stCondLst>
                            <p:childTnLst>
                              <p:par>
                                <p:cTn id="37" presetID="10" presetClass="entr" presetSubtype="0" fill="hold" nodeType="afterEffect">
                                  <p:stCondLst>
                                    <p:cond delay="0"/>
                                  </p:stCondLst>
                                  <p:childTnLst>
                                    <p:set>
                                      <p:cBhvr>
                                        <p:cTn id="38" dur="1" fill="hold">
                                          <p:stCondLst>
                                            <p:cond delay="0"/>
                                          </p:stCondLst>
                                        </p:cTn>
                                        <p:tgtEl>
                                          <p:spTgt spid="35"/>
                                        </p:tgtEl>
                                        <p:attrNameLst>
                                          <p:attrName>style.visibility</p:attrName>
                                        </p:attrNameLst>
                                      </p:cBhvr>
                                      <p:to>
                                        <p:strVal val="visible"/>
                                      </p:to>
                                    </p:set>
                                    <p:animEffect transition="in" filter="fade">
                                      <p:cBhvr>
                                        <p:cTn id="39" dur="1000"/>
                                        <p:tgtEl>
                                          <p:spTgt spid="35"/>
                                        </p:tgtEl>
                                      </p:cBhvr>
                                    </p:animEffect>
                                  </p:childTnLst>
                                </p:cTn>
                              </p:par>
                            </p:childTnLst>
                          </p:cTn>
                        </p:par>
                        <p:par>
                          <p:cTn id="40" fill="hold">
                            <p:stCondLst>
                              <p:cond delay="3500"/>
                            </p:stCondLst>
                            <p:childTnLst>
                              <p:par>
                                <p:cTn id="41" presetID="10" presetClass="entr" presetSubtype="0" fill="hold" nodeType="afterEffect">
                                  <p:stCondLst>
                                    <p:cond delay="0"/>
                                  </p:stCondLst>
                                  <p:childTnLst>
                                    <p:set>
                                      <p:cBhvr>
                                        <p:cTn id="42" dur="1" fill="hold">
                                          <p:stCondLst>
                                            <p:cond delay="0"/>
                                          </p:stCondLst>
                                        </p:cTn>
                                        <p:tgtEl>
                                          <p:spTgt spid="29"/>
                                        </p:tgtEl>
                                        <p:attrNameLst>
                                          <p:attrName>style.visibility</p:attrName>
                                        </p:attrNameLst>
                                      </p:cBhvr>
                                      <p:to>
                                        <p:strVal val="visible"/>
                                      </p:to>
                                    </p:set>
                                    <p:animEffect transition="in" filter="fade">
                                      <p:cBhvr>
                                        <p:cTn id="43" dur="1000"/>
                                        <p:tgtEl>
                                          <p:spTgt spid="29"/>
                                        </p:tgtEl>
                                      </p:cBhvr>
                                    </p:animEffect>
                                  </p:childTnLst>
                                </p:cTn>
                              </p:par>
                            </p:childTnLst>
                          </p:cTn>
                        </p:par>
                      </p:childTnLst>
                    </p:cTn>
                  </p:par>
                  <p:par>
                    <p:cTn id="44" fill="hold">
                      <p:stCondLst>
                        <p:cond delay="indefinite"/>
                      </p:stCondLst>
                      <p:childTnLst>
                        <p:par>
                          <p:cTn id="45" fill="hold">
                            <p:stCondLst>
                              <p:cond delay="0"/>
                            </p:stCondLst>
                            <p:childTnLst>
                              <p:par>
                                <p:cTn id="46" presetID="22" presetClass="entr" presetSubtype="8" fill="hold" nodeType="clickEffect">
                                  <p:stCondLst>
                                    <p:cond delay="0"/>
                                  </p:stCondLst>
                                  <p:childTnLst>
                                    <p:set>
                                      <p:cBhvr>
                                        <p:cTn id="47" dur="1" fill="hold">
                                          <p:stCondLst>
                                            <p:cond delay="0"/>
                                          </p:stCondLst>
                                        </p:cTn>
                                        <p:tgtEl>
                                          <p:spTgt spid="6"/>
                                        </p:tgtEl>
                                        <p:attrNameLst>
                                          <p:attrName>style.visibility</p:attrName>
                                        </p:attrNameLst>
                                      </p:cBhvr>
                                      <p:to>
                                        <p:strVal val="visible"/>
                                      </p:to>
                                    </p:set>
                                    <p:animEffect transition="in" filter="wipe(left)">
                                      <p:cBhvr>
                                        <p:cTn id="48" dur="1500"/>
                                        <p:tgtEl>
                                          <p:spTgt spid="6"/>
                                        </p:tgtEl>
                                      </p:cBhvr>
                                    </p:animEffect>
                                  </p:childTnLst>
                                </p:cTn>
                              </p:par>
                            </p:childTnLst>
                          </p:cTn>
                        </p:par>
                      </p:childTnLst>
                    </p:cTn>
                  </p:par>
                  <p:par>
                    <p:cTn id="49" fill="hold">
                      <p:stCondLst>
                        <p:cond delay="indefinite"/>
                      </p:stCondLst>
                      <p:childTnLst>
                        <p:par>
                          <p:cTn id="50" fill="hold">
                            <p:stCondLst>
                              <p:cond delay="0"/>
                            </p:stCondLst>
                            <p:childTnLst>
                              <p:par>
                                <p:cTn id="51" presetID="22" presetClass="entr" presetSubtype="1" fill="hold" nodeType="clickEffect">
                                  <p:stCondLst>
                                    <p:cond delay="0"/>
                                  </p:stCondLst>
                                  <p:childTnLst>
                                    <p:set>
                                      <p:cBhvr>
                                        <p:cTn id="52" dur="1" fill="hold">
                                          <p:stCondLst>
                                            <p:cond delay="0"/>
                                          </p:stCondLst>
                                        </p:cTn>
                                        <p:tgtEl>
                                          <p:spTgt spid="9"/>
                                        </p:tgtEl>
                                        <p:attrNameLst>
                                          <p:attrName>style.visibility</p:attrName>
                                        </p:attrNameLst>
                                      </p:cBhvr>
                                      <p:to>
                                        <p:strVal val="visible"/>
                                      </p:to>
                                    </p:set>
                                    <p:animEffect transition="in" filter="wipe(up)">
                                      <p:cBhvr>
                                        <p:cTn id="53" dur="1500"/>
                                        <p:tgtEl>
                                          <p:spTgt spid="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9" grpId="0" animBg="1"/>
    </p:bldLst>
  </p:timing>
</p:sld>
</file>

<file path=ppt/slides/slide18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2630251-0176-4E08-9A40-5821ACD1944C}"/>
              </a:ext>
            </a:extLst>
          </p:cNvPr>
          <p:cNvSpPr>
            <a:spLocks noGrp="1"/>
          </p:cNvSpPr>
          <p:nvPr>
            <p:ph type="title"/>
          </p:nvPr>
        </p:nvSpPr>
        <p:spPr/>
        <p:txBody>
          <a:bodyPr/>
          <a:lstStyle/>
          <a:p>
            <a:r>
              <a:rPr lang="en-GB" dirty="0"/>
              <a:t>Entities and Attributes</a:t>
            </a:r>
          </a:p>
        </p:txBody>
      </p:sp>
      <p:grpSp>
        <p:nvGrpSpPr>
          <p:cNvPr id="26" name="Group 25">
            <a:extLst>
              <a:ext uri="{FF2B5EF4-FFF2-40B4-BE49-F238E27FC236}">
                <a16:creationId xmlns:a16="http://schemas.microsoft.com/office/drawing/2014/main" id="{8F357257-88EB-76DF-DD3A-B3C4F289DEBA}"/>
              </a:ext>
            </a:extLst>
          </p:cNvPr>
          <p:cNvGrpSpPr/>
          <p:nvPr/>
        </p:nvGrpSpPr>
        <p:grpSpPr>
          <a:xfrm>
            <a:off x="7090851" y="1896388"/>
            <a:ext cx="1800000" cy="1248764"/>
            <a:chOff x="1959902" y="1624062"/>
            <a:chExt cx="1800000" cy="1248764"/>
          </a:xfrm>
        </p:grpSpPr>
        <p:sp>
          <p:nvSpPr>
            <p:cNvPr id="27" name="Oval 26">
              <a:extLst>
                <a:ext uri="{FF2B5EF4-FFF2-40B4-BE49-F238E27FC236}">
                  <a16:creationId xmlns:a16="http://schemas.microsoft.com/office/drawing/2014/main" id="{5C79223C-F87D-9D4A-2FC0-1D0A4E23A7E8}"/>
                </a:ext>
              </a:extLst>
            </p:cNvPr>
            <p:cNvSpPr/>
            <p:nvPr/>
          </p:nvSpPr>
          <p:spPr>
            <a:xfrm>
              <a:off x="1959902" y="1624062"/>
              <a:ext cx="1800000" cy="914400"/>
            </a:xfrm>
            <a:prstGeom prst="ellipse">
              <a:avLst/>
            </a:prstGeom>
            <a:solidFill>
              <a:schemeClr val="accent3">
                <a:lumMod val="20000"/>
                <a:lumOff val="80000"/>
              </a:schemeClr>
            </a:solidFill>
            <a:ln>
              <a:solidFill>
                <a:schemeClr val="tx1"/>
              </a:solidFill>
            </a:ln>
          </p:spPr>
          <p:txBody>
            <a:bodyPr wrap="none" rtlCol="0" anchor="ctr" anchorCtr="0">
              <a:noAutofit/>
            </a:bodyPr>
            <a:lstStyle/>
            <a:p>
              <a:pPr algn="ctr"/>
              <a:r>
                <a:rPr lang="en-GB" sz="2800" dirty="0" err="1">
                  <a:solidFill>
                    <a:schemeClr val="tx1"/>
                  </a:solidFill>
                </a:rPr>
                <a:t>school</a:t>
              </a:r>
              <a:r>
                <a:rPr lang="en-GB" sz="2800" dirty="0" err="1"/>
                <a:t>ID</a:t>
              </a:r>
              <a:endParaRPr lang="en-GB" sz="2800" dirty="0">
                <a:solidFill>
                  <a:schemeClr val="tx1"/>
                </a:solidFill>
              </a:endParaRPr>
            </a:p>
          </p:txBody>
        </p:sp>
        <p:cxnSp>
          <p:nvCxnSpPr>
            <p:cNvPr id="28" name="Straight Connector 27">
              <a:extLst>
                <a:ext uri="{FF2B5EF4-FFF2-40B4-BE49-F238E27FC236}">
                  <a16:creationId xmlns:a16="http://schemas.microsoft.com/office/drawing/2014/main" id="{BB71B7D6-0EAF-DC80-A0F6-0A401BD8C7F1}"/>
                </a:ext>
              </a:extLst>
            </p:cNvPr>
            <p:cNvCxnSpPr>
              <a:cxnSpLocks/>
              <a:stCxn id="27" idx="4"/>
            </p:cNvCxnSpPr>
            <p:nvPr/>
          </p:nvCxnSpPr>
          <p:spPr>
            <a:xfrm>
              <a:off x="2859902" y="2538462"/>
              <a:ext cx="476083" cy="334364"/>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29" name="Group 28">
            <a:extLst>
              <a:ext uri="{FF2B5EF4-FFF2-40B4-BE49-F238E27FC236}">
                <a16:creationId xmlns:a16="http://schemas.microsoft.com/office/drawing/2014/main" id="{03538675-1675-4963-C3B2-283EEC646117}"/>
              </a:ext>
            </a:extLst>
          </p:cNvPr>
          <p:cNvGrpSpPr/>
          <p:nvPr/>
        </p:nvGrpSpPr>
        <p:grpSpPr>
          <a:xfrm>
            <a:off x="7090852" y="3865152"/>
            <a:ext cx="1800000" cy="1311685"/>
            <a:chOff x="785495" y="3206012"/>
            <a:chExt cx="1800000" cy="1311685"/>
          </a:xfrm>
        </p:grpSpPr>
        <p:sp>
          <p:nvSpPr>
            <p:cNvPr id="30" name="Oval 29">
              <a:extLst>
                <a:ext uri="{FF2B5EF4-FFF2-40B4-BE49-F238E27FC236}">
                  <a16:creationId xmlns:a16="http://schemas.microsoft.com/office/drawing/2014/main" id="{26ABCA27-83CF-C618-EF84-D7BA1DD089B0}"/>
                </a:ext>
              </a:extLst>
            </p:cNvPr>
            <p:cNvSpPr/>
            <p:nvPr/>
          </p:nvSpPr>
          <p:spPr>
            <a:xfrm>
              <a:off x="785495" y="3603297"/>
              <a:ext cx="1800000" cy="914400"/>
            </a:xfrm>
            <a:prstGeom prst="ellipse">
              <a:avLst/>
            </a:prstGeom>
            <a:solidFill>
              <a:schemeClr val="accent3">
                <a:lumMod val="20000"/>
                <a:lumOff val="80000"/>
              </a:schemeClr>
            </a:solidFill>
            <a:ln>
              <a:solidFill>
                <a:schemeClr val="tx1"/>
              </a:solidFill>
            </a:ln>
          </p:spPr>
          <p:txBody>
            <a:bodyPr wrap="none" rtlCol="0" anchor="ctr" anchorCtr="0">
              <a:noAutofit/>
            </a:bodyPr>
            <a:lstStyle/>
            <a:p>
              <a:pPr algn="ctr"/>
              <a:r>
                <a:rPr lang="en-GB" sz="2800" dirty="0">
                  <a:solidFill>
                    <a:schemeClr val="tx1"/>
                  </a:solidFill>
                </a:rPr>
                <a:t>address</a:t>
              </a:r>
            </a:p>
          </p:txBody>
        </p:sp>
        <p:cxnSp>
          <p:nvCxnSpPr>
            <p:cNvPr id="31" name="Straight Connector 30">
              <a:extLst>
                <a:ext uri="{FF2B5EF4-FFF2-40B4-BE49-F238E27FC236}">
                  <a16:creationId xmlns:a16="http://schemas.microsoft.com/office/drawing/2014/main" id="{7BDE9141-4474-D423-22AF-3AE396A639DC}"/>
                </a:ext>
              </a:extLst>
            </p:cNvPr>
            <p:cNvCxnSpPr>
              <a:cxnSpLocks/>
              <a:stCxn id="30" idx="0"/>
            </p:cNvCxnSpPr>
            <p:nvPr/>
          </p:nvCxnSpPr>
          <p:spPr>
            <a:xfrm flipV="1">
              <a:off x="1685495" y="3206012"/>
              <a:ext cx="476082" cy="397285"/>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32" name="Group 31">
            <a:extLst>
              <a:ext uri="{FF2B5EF4-FFF2-40B4-BE49-F238E27FC236}">
                <a16:creationId xmlns:a16="http://schemas.microsoft.com/office/drawing/2014/main" id="{E72321CB-ED7D-1846-1BDC-EB201C4754CD}"/>
              </a:ext>
            </a:extLst>
          </p:cNvPr>
          <p:cNvGrpSpPr/>
          <p:nvPr/>
        </p:nvGrpSpPr>
        <p:grpSpPr>
          <a:xfrm>
            <a:off x="9048015" y="1868282"/>
            <a:ext cx="1800000" cy="1276870"/>
            <a:chOff x="370708" y="2350432"/>
            <a:chExt cx="1800000" cy="1276870"/>
          </a:xfrm>
        </p:grpSpPr>
        <p:sp>
          <p:nvSpPr>
            <p:cNvPr id="33" name="Oval 32">
              <a:extLst>
                <a:ext uri="{FF2B5EF4-FFF2-40B4-BE49-F238E27FC236}">
                  <a16:creationId xmlns:a16="http://schemas.microsoft.com/office/drawing/2014/main" id="{AD6265B6-77C5-E966-0025-E0F8C13CB1C3}"/>
                </a:ext>
              </a:extLst>
            </p:cNvPr>
            <p:cNvSpPr/>
            <p:nvPr/>
          </p:nvSpPr>
          <p:spPr>
            <a:xfrm>
              <a:off x="370708" y="2350432"/>
              <a:ext cx="1800000" cy="914400"/>
            </a:xfrm>
            <a:prstGeom prst="ellipse">
              <a:avLst/>
            </a:prstGeom>
            <a:solidFill>
              <a:schemeClr val="accent3">
                <a:lumMod val="20000"/>
                <a:lumOff val="80000"/>
              </a:schemeClr>
            </a:solidFill>
            <a:ln>
              <a:solidFill>
                <a:schemeClr val="tx1"/>
              </a:solidFill>
            </a:ln>
          </p:spPr>
          <p:txBody>
            <a:bodyPr wrap="none" rtlCol="0" anchor="ctr" anchorCtr="0">
              <a:noAutofit/>
            </a:bodyPr>
            <a:lstStyle/>
            <a:p>
              <a:pPr algn="ctr"/>
              <a:r>
                <a:rPr lang="en-GB" sz="2800" dirty="0">
                  <a:solidFill>
                    <a:schemeClr val="tx1"/>
                  </a:solidFill>
                </a:rPr>
                <a:t>name</a:t>
              </a:r>
            </a:p>
          </p:txBody>
        </p:sp>
        <p:cxnSp>
          <p:nvCxnSpPr>
            <p:cNvPr id="34" name="Straight Connector 33">
              <a:extLst>
                <a:ext uri="{FF2B5EF4-FFF2-40B4-BE49-F238E27FC236}">
                  <a16:creationId xmlns:a16="http://schemas.microsoft.com/office/drawing/2014/main" id="{5831A48A-A67B-AABF-5E00-CE37532B25CB}"/>
                </a:ext>
              </a:extLst>
            </p:cNvPr>
            <p:cNvCxnSpPr>
              <a:cxnSpLocks/>
              <a:stCxn id="33" idx="4"/>
            </p:cNvCxnSpPr>
            <p:nvPr/>
          </p:nvCxnSpPr>
          <p:spPr>
            <a:xfrm flipH="1">
              <a:off x="627995" y="3264832"/>
              <a:ext cx="642713" cy="362470"/>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35" name="Group 34">
            <a:extLst>
              <a:ext uri="{FF2B5EF4-FFF2-40B4-BE49-F238E27FC236}">
                <a16:creationId xmlns:a16="http://schemas.microsoft.com/office/drawing/2014/main" id="{43685DE5-782A-9089-F067-6CD7304E9700}"/>
              </a:ext>
            </a:extLst>
          </p:cNvPr>
          <p:cNvGrpSpPr/>
          <p:nvPr/>
        </p:nvGrpSpPr>
        <p:grpSpPr>
          <a:xfrm>
            <a:off x="9048352" y="3865152"/>
            <a:ext cx="1800000" cy="1311685"/>
            <a:chOff x="3642995" y="3789001"/>
            <a:chExt cx="1800000" cy="1311685"/>
          </a:xfrm>
        </p:grpSpPr>
        <p:sp>
          <p:nvSpPr>
            <p:cNvPr id="36" name="Oval 35">
              <a:extLst>
                <a:ext uri="{FF2B5EF4-FFF2-40B4-BE49-F238E27FC236}">
                  <a16:creationId xmlns:a16="http://schemas.microsoft.com/office/drawing/2014/main" id="{5895D21C-3B11-DD94-529C-A0BF6B790A5B}"/>
                </a:ext>
              </a:extLst>
            </p:cNvPr>
            <p:cNvSpPr/>
            <p:nvPr/>
          </p:nvSpPr>
          <p:spPr>
            <a:xfrm>
              <a:off x="3642995" y="4186286"/>
              <a:ext cx="1800000" cy="914400"/>
            </a:xfrm>
            <a:prstGeom prst="ellipse">
              <a:avLst/>
            </a:prstGeom>
            <a:solidFill>
              <a:schemeClr val="accent3">
                <a:lumMod val="20000"/>
                <a:lumOff val="80000"/>
              </a:schemeClr>
            </a:solidFill>
            <a:ln>
              <a:solidFill>
                <a:schemeClr val="tx1"/>
              </a:solidFill>
            </a:ln>
          </p:spPr>
          <p:txBody>
            <a:bodyPr wrap="none" rtlCol="0" anchor="ctr" anchorCtr="0">
              <a:noAutofit/>
            </a:bodyPr>
            <a:lstStyle/>
            <a:p>
              <a:pPr algn="ctr"/>
              <a:r>
                <a:rPr lang="en-GB" sz="2800" dirty="0">
                  <a:solidFill>
                    <a:schemeClr val="tx1"/>
                  </a:solidFill>
                </a:rPr>
                <a:t>phone</a:t>
              </a:r>
            </a:p>
          </p:txBody>
        </p:sp>
        <p:cxnSp>
          <p:nvCxnSpPr>
            <p:cNvPr id="37" name="Straight Connector 36">
              <a:extLst>
                <a:ext uri="{FF2B5EF4-FFF2-40B4-BE49-F238E27FC236}">
                  <a16:creationId xmlns:a16="http://schemas.microsoft.com/office/drawing/2014/main" id="{D0440EF5-2DA9-B41D-774C-1FD67737F6EB}"/>
                </a:ext>
              </a:extLst>
            </p:cNvPr>
            <p:cNvCxnSpPr>
              <a:cxnSpLocks/>
              <a:stCxn id="36" idx="0"/>
            </p:cNvCxnSpPr>
            <p:nvPr/>
          </p:nvCxnSpPr>
          <p:spPr>
            <a:xfrm flipH="1" flipV="1">
              <a:off x="4121891" y="3789001"/>
              <a:ext cx="421104" cy="397285"/>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sp>
        <p:nvSpPr>
          <p:cNvPr id="39" name="Entity 1">
            <a:extLst>
              <a:ext uri="{FF2B5EF4-FFF2-40B4-BE49-F238E27FC236}">
                <a16:creationId xmlns:a16="http://schemas.microsoft.com/office/drawing/2014/main" id="{E77C9CB4-7480-34AE-F005-18C10AB34DD6}"/>
              </a:ext>
            </a:extLst>
          </p:cNvPr>
          <p:cNvSpPr txBox="1"/>
          <p:nvPr/>
        </p:nvSpPr>
        <p:spPr>
          <a:xfrm>
            <a:off x="7990852" y="3145152"/>
            <a:ext cx="1800000" cy="720000"/>
          </a:xfrm>
          <a:prstGeom prst="rect">
            <a:avLst/>
          </a:prstGeom>
          <a:solidFill>
            <a:schemeClr val="accent3">
              <a:lumMod val="20000"/>
              <a:lumOff val="80000"/>
            </a:schemeClr>
          </a:solidFill>
          <a:ln>
            <a:solidFill>
              <a:schemeClr val="tx1"/>
            </a:solidFill>
          </a:ln>
        </p:spPr>
        <p:txBody>
          <a:bodyPr wrap="none" rtlCol="0" anchor="ctr" anchorCtr="0">
            <a:noAutofit/>
          </a:bodyPr>
          <a:lstStyle/>
          <a:p>
            <a:pPr algn="ctr"/>
            <a:r>
              <a:rPr lang="en-GB" sz="3600" dirty="0"/>
              <a:t>school</a:t>
            </a:r>
          </a:p>
        </p:txBody>
      </p:sp>
      <p:grpSp>
        <p:nvGrpSpPr>
          <p:cNvPr id="59" name="Group 58">
            <a:extLst>
              <a:ext uri="{FF2B5EF4-FFF2-40B4-BE49-F238E27FC236}">
                <a16:creationId xmlns:a16="http://schemas.microsoft.com/office/drawing/2014/main" id="{6075F69E-C1EC-0376-D32A-442345F8B341}"/>
              </a:ext>
            </a:extLst>
          </p:cNvPr>
          <p:cNvGrpSpPr/>
          <p:nvPr/>
        </p:nvGrpSpPr>
        <p:grpSpPr>
          <a:xfrm>
            <a:off x="1456099" y="1978068"/>
            <a:ext cx="1797287" cy="2862322"/>
            <a:chOff x="2197100" y="1720840"/>
            <a:chExt cx="1797287" cy="2862322"/>
          </a:xfrm>
        </p:grpSpPr>
        <p:sp>
          <p:nvSpPr>
            <p:cNvPr id="60" name="TextBox 59">
              <a:extLst>
                <a:ext uri="{FF2B5EF4-FFF2-40B4-BE49-F238E27FC236}">
                  <a16:creationId xmlns:a16="http://schemas.microsoft.com/office/drawing/2014/main" id="{FF3C45D0-632D-F7B1-F94D-C175CEB6FC87}"/>
                </a:ext>
              </a:extLst>
            </p:cNvPr>
            <p:cNvSpPr txBox="1"/>
            <p:nvPr/>
          </p:nvSpPr>
          <p:spPr>
            <a:xfrm>
              <a:off x="2197100" y="1720840"/>
              <a:ext cx="1797287" cy="2862322"/>
            </a:xfrm>
            <a:prstGeom prst="rect">
              <a:avLst/>
            </a:prstGeom>
            <a:solidFill>
              <a:schemeClr val="accent3">
                <a:lumMod val="20000"/>
                <a:lumOff val="80000"/>
              </a:schemeClr>
            </a:solidFill>
            <a:ln>
              <a:solidFill>
                <a:schemeClr val="tx1"/>
              </a:solidFill>
            </a:ln>
          </p:spPr>
          <p:txBody>
            <a:bodyPr wrap="none" rtlCol="0">
              <a:spAutoFit/>
            </a:bodyPr>
            <a:lstStyle/>
            <a:p>
              <a:r>
                <a:rPr lang="en-GB" sz="3600" b="1" dirty="0">
                  <a:highlight>
                    <a:srgbClr val="C0C0C0"/>
                  </a:highlight>
                </a:rPr>
                <a:t>   </a:t>
              </a:r>
            </a:p>
            <a:p>
              <a:r>
                <a:rPr lang="en-GB" sz="3600" dirty="0" err="1"/>
                <a:t>schoolID</a:t>
              </a:r>
              <a:endParaRPr lang="en-GB" sz="3600" dirty="0"/>
            </a:p>
            <a:p>
              <a:r>
                <a:rPr lang="en-GB" sz="3600" dirty="0"/>
                <a:t>name</a:t>
              </a:r>
            </a:p>
            <a:p>
              <a:r>
                <a:rPr lang="en-GB" sz="3600" dirty="0"/>
                <a:t>address</a:t>
              </a:r>
            </a:p>
            <a:p>
              <a:r>
                <a:rPr lang="en-GB" sz="3600" dirty="0"/>
                <a:t>phone</a:t>
              </a:r>
            </a:p>
          </p:txBody>
        </p:sp>
        <p:sp>
          <p:nvSpPr>
            <p:cNvPr id="61" name="TextBox 60">
              <a:extLst>
                <a:ext uri="{FF2B5EF4-FFF2-40B4-BE49-F238E27FC236}">
                  <a16:creationId xmlns:a16="http://schemas.microsoft.com/office/drawing/2014/main" id="{D8A2A582-A5F5-2F9C-A3D3-8B64D0792D1A}"/>
                </a:ext>
              </a:extLst>
            </p:cNvPr>
            <p:cNvSpPr txBox="1"/>
            <p:nvPr/>
          </p:nvSpPr>
          <p:spPr>
            <a:xfrm>
              <a:off x="2197100" y="1720840"/>
              <a:ext cx="1797287" cy="646331"/>
            </a:xfrm>
            <a:prstGeom prst="rect">
              <a:avLst/>
            </a:prstGeom>
            <a:solidFill>
              <a:schemeClr val="bg2">
                <a:lumMod val="90000"/>
              </a:schemeClr>
            </a:solidFill>
            <a:ln>
              <a:solidFill>
                <a:schemeClr val="tx1"/>
              </a:solidFill>
            </a:ln>
          </p:spPr>
          <p:txBody>
            <a:bodyPr wrap="square" rtlCol="0">
              <a:spAutoFit/>
            </a:bodyPr>
            <a:lstStyle/>
            <a:p>
              <a:r>
                <a:rPr lang="en-GB" sz="3600" b="1" dirty="0"/>
                <a:t>school</a:t>
              </a:r>
            </a:p>
          </p:txBody>
        </p:sp>
      </p:grpSp>
    </p:spTree>
    <p:extLst>
      <p:ext uri="{BB962C8B-B14F-4D97-AF65-F5344CB8AC3E}">
        <p14:creationId xmlns:p14="http://schemas.microsoft.com/office/powerpoint/2010/main" val="669716453"/>
      </p:ext>
    </p:extLst>
  </p:cSld>
  <p:clrMapOvr>
    <a:masterClrMapping/>
  </p:clrMapOvr>
</p:sld>
</file>

<file path=ppt/slides/slide1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2630251-0176-4E08-9A40-5821ACD1944C}"/>
              </a:ext>
            </a:extLst>
          </p:cNvPr>
          <p:cNvSpPr>
            <a:spLocks noGrp="1"/>
          </p:cNvSpPr>
          <p:nvPr>
            <p:ph type="title"/>
          </p:nvPr>
        </p:nvSpPr>
        <p:spPr/>
        <p:txBody>
          <a:bodyPr/>
          <a:lstStyle/>
          <a:p>
            <a:r>
              <a:rPr lang="en-GB" dirty="0"/>
              <a:t>Primary Key</a:t>
            </a:r>
          </a:p>
        </p:txBody>
      </p:sp>
      <p:grpSp>
        <p:nvGrpSpPr>
          <p:cNvPr id="18" name="Group 17">
            <a:extLst>
              <a:ext uri="{FF2B5EF4-FFF2-40B4-BE49-F238E27FC236}">
                <a16:creationId xmlns:a16="http://schemas.microsoft.com/office/drawing/2014/main" id="{9B0A13DE-1279-4C56-8488-32B10C503456}"/>
              </a:ext>
            </a:extLst>
          </p:cNvPr>
          <p:cNvGrpSpPr/>
          <p:nvPr/>
        </p:nvGrpSpPr>
        <p:grpSpPr>
          <a:xfrm>
            <a:off x="1456099" y="1978068"/>
            <a:ext cx="1797287" cy="2862322"/>
            <a:chOff x="2197100" y="1720840"/>
            <a:chExt cx="1797287" cy="2862322"/>
          </a:xfrm>
        </p:grpSpPr>
        <p:sp>
          <p:nvSpPr>
            <p:cNvPr id="5" name="TextBox 4">
              <a:extLst>
                <a:ext uri="{FF2B5EF4-FFF2-40B4-BE49-F238E27FC236}">
                  <a16:creationId xmlns:a16="http://schemas.microsoft.com/office/drawing/2014/main" id="{9E8D577D-F9B0-4C26-95CB-954FFDF61DBD}"/>
                </a:ext>
              </a:extLst>
            </p:cNvPr>
            <p:cNvSpPr txBox="1"/>
            <p:nvPr/>
          </p:nvSpPr>
          <p:spPr>
            <a:xfrm>
              <a:off x="2197100" y="1720840"/>
              <a:ext cx="1797287" cy="2862322"/>
            </a:xfrm>
            <a:prstGeom prst="rect">
              <a:avLst/>
            </a:prstGeom>
            <a:solidFill>
              <a:schemeClr val="accent3">
                <a:lumMod val="20000"/>
                <a:lumOff val="80000"/>
              </a:schemeClr>
            </a:solidFill>
            <a:ln>
              <a:solidFill>
                <a:schemeClr val="tx1"/>
              </a:solidFill>
            </a:ln>
          </p:spPr>
          <p:txBody>
            <a:bodyPr wrap="none" rtlCol="0">
              <a:spAutoFit/>
            </a:bodyPr>
            <a:lstStyle/>
            <a:p>
              <a:r>
                <a:rPr lang="en-GB" sz="3600" b="1" dirty="0">
                  <a:highlight>
                    <a:srgbClr val="C0C0C0"/>
                  </a:highlight>
                </a:rPr>
                <a:t>   </a:t>
              </a:r>
            </a:p>
            <a:p>
              <a:r>
                <a:rPr lang="en-GB" sz="3600" dirty="0" err="1"/>
                <a:t>schoolID</a:t>
              </a:r>
              <a:endParaRPr lang="en-GB" sz="3600" dirty="0"/>
            </a:p>
            <a:p>
              <a:r>
                <a:rPr lang="en-GB" sz="3600" dirty="0"/>
                <a:t>name</a:t>
              </a:r>
            </a:p>
            <a:p>
              <a:r>
                <a:rPr lang="en-GB" sz="3600" dirty="0"/>
                <a:t>address</a:t>
              </a:r>
            </a:p>
            <a:p>
              <a:r>
                <a:rPr lang="en-GB" sz="3600" dirty="0"/>
                <a:t>phone</a:t>
              </a:r>
            </a:p>
          </p:txBody>
        </p:sp>
        <p:sp>
          <p:nvSpPr>
            <p:cNvPr id="16" name="TextBox 15">
              <a:extLst>
                <a:ext uri="{FF2B5EF4-FFF2-40B4-BE49-F238E27FC236}">
                  <a16:creationId xmlns:a16="http://schemas.microsoft.com/office/drawing/2014/main" id="{376D26D0-231A-4B18-94C4-B630246DF9C8}"/>
                </a:ext>
              </a:extLst>
            </p:cNvPr>
            <p:cNvSpPr txBox="1"/>
            <p:nvPr/>
          </p:nvSpPr>
          <p:spPr>
            <a:xfrm>
              <a:off x="2197100" y="1720840"/>
              <a:ext cx="1797287" cy="646331"/>
            </a:xfrm>
            <a:prstGeom prst="rect">
              <a:avLst/>
            </a:prstGeom>
            <a:solidFill>
              <a:schemeClr val="bg2">
                <a:lumMod val="90000"/>
              </a:schemeClr>
            </a:solidFill>
            <a:ln>
              <a:solidFill>
                <a:schemeClr val="tx1"/>
              </a:solidFill>
            </a:ln>
          </p:spPr>
          <p:txBody>
            <a:bodyPr wrap="square" rtlCol="0">
              <a:spAutoFit/>
            </a:bodyPr>
            <a:lstStyle/>
            <a:p>
              <a:r>
                <a:rPr lang="en-GB" sz="3600" b="1" dirty="0"/>
                <a:t>school</a:t>
              </a:r>
            </a:p>
          </p:txBody>
        </p:sp>
      </p:grpSp>
      <p:grpSp>
        <p:nvGrpSpPr>
          <p:cNvPr id="19" name="Group 18">
            <a:extLst>
              <a:ext uri="{FF2B5EF4-FFF2-40B4-BE49-F238E27FC236}">
                <a16:creationId xmlns:a16="http://schemas.microsoft.com/office/drawing/2014/main" id="{1F565CB8-10B5-434D-9118-818C6E69EDA5}"/>
              </a:ext>
            </a:extLst>
          </p:cNvPr>
          <p:cNvGrpSpPr/>
          <p:nvPr/>
        </p:nvGrpSpPr>
        <p:grpSpPr>
          <a:xfrm>
            <a:off x="8762167" y="1978068"/>
            <a:ext cx="1933672" cy="2862322"/>
            <a:chOff x="7175029" y="1690688"/>
            <a:chExt cx="1933672" cy="2862322"/>
          </a:xfrm>
        </p:grpSpPr>
        <p:sp>
          <p:nvSpPr>
            <p:cNvPr id="6" name="TextBox 5">
              <a:extLst>
                <a:ext uri="{FF2B5EF4-FFF2-40B4-BE49-F238E27FC236}">
                  <a16:creationId xmlns:a16="http://schemas.microsoft.com/office/drawing/2014/main" id="{06B8E8D6-C037-4571-B1CB-E4BD14A48ED7}"/>
                </a:ext>
              </a:extLst>
            </p:cNvPr>
            <p:cNvSpPr txBox="1"/>
            <p:nvPr/>
          </p:nvSpPr>
          <p:spPr>
            <a:xfrm>
              <a:off x="7175030" y="1690688"/>
              <a:ext cx="1933671" cy="2862322"/>
            </a:xfrm>
            <a:prstGeom prst="rect">
              <a:avLst/>
            </a:prstGeom>
            <a:solidFill>
              <a:schemeClr val="accent3">
                <a:lumMod val="20000"/>
                <a:lumOff val="80000"/>
              </a:schemeClr>
            </a:solidFill>
            <a:ln>
              <a:solidFill>
                <a:schemeClr val="tx1"/>
              </a:solidFill>
            </a:ln>
          </p:spPr>
          <p:txBody>
            <a:bodyPr wrap="none" rtlCol="0">
              <a:spAutoFit/>
            </a:bodyPr>
            <a:lstStyle/>
            <a:p>
              <a:endParaRPr lang="en-GB" sz="3600" b="1" dirty="0"/>
            </a:p>
            <a:p>
              <a:r>
                <a:rPr lang="en-GB" sz="3600" dirty="0" err="1"/>
                <a:t>pupilID</a:t>
              </a:r>
              <a:endParaRPr lang="en-GB" sz="3600" dirty="0"/>
            </a:p>
            <a:p>
              <a:r>
                <a:rPr lang="en-GB" sz="3600" dirty="0"/>
                <a:t>name</a:t>
              </a:r>
            </a:p>
            <a:p>
              <a:r>
                <a:rPr lang="en-GB" sz="3600" dirty="0"/>
                <a:t>dob</a:t>
              </a:r>
            </a:p>
            <a:p>
              <a:r>
                <a:rPr lang="en-GB" sz="3600" dirty="0"/>
                <a:t>transport</a:t>
              </a:r>
            </a:p>
          </p:txBody>
        </p:sp>
        <p:sp>
          <p:nvSpPr>
            <p:cNvPr id="17" name="TextBox 16">
              <a:extLst>
                <a:ext uri="{FF2B5EF4-FFF2-40B4-BE49-F238E27FC236}">
                  <a16:creationId xmlns:a16="http://schemas.microsoft.com/office/drawing/2014/main" id="{F7586BB6-2057-4CF7-A670-A8A12468AEB7}"/>
                </a:ext>
              </a:extLst>
            </p:cNvPr>
            <p:cNvSpPr txBox="1"/>
            <p:nvPr/>
          </p:nvSpPr>
          <p:spPr>
            <a:xfrm>
              <a:off x="7175029" y="1690688"/>
              <a:ext cx="1933672" cy="646331"/>
            </a:xfrm>
            <a:prstGeom prst="rect">
              <a:avLst/>
            </a:prstGeom>
            <a:solidFill>
              <a:schemeClr val="bg2">
                <a:lumMod val="90000"/>
              </a:schemeClr>
            </a:solidFill>
            <a:ln>
              <a:solidFill>
                <a:schemeClr val="tx1"/>
              </a:solidFill>
            </a:ln>
          </p:spPr>
          <p:txBody>
            <a:bodyPr wrap="square" rtlCol="0">
              <a:spAutoFit/>
            </a:bodyPr>
            <a:lstStyle/>
            <a:p>
              <a:r>
                <a:rPr lang="en-GB" sz="3600" b="1" dirty="0"/>
                <a:t>pupil</a:t>
              </a:r>
            </a:p>
          </p:txBody>
        </p:sp>
      </p:grpSp>
      <p:sp>
        <p:nvSpPr>
          <p:cNvPr id="10" name="TextBox 9">
            <a:extLst>
              <a:ext uri="{FF2B5EF4-FFF2-40B4-BE49-F238E27FC236}">
                <a16:creationId xmlns:a16="http://schemas.microsoft.com/office/drawing/2014/main" id="{36222909-F7FE-1DBD-B46D-B8FE16846092}"/>
              </a:ext>
            </a:extLst>
          </p:cNvPr>
          <p:cNvSpPr txBox="1"/>
          <p:nvPr/>
        </p:nvSpPr>
        <p:spPr>
          <a:xfrm>
            <a:off x="4639104" y="3508837"/>
            <a:ext cx="2913792" cy="646331"/>
          </a:xfrm>
          <a:prstGeom prst="rect">
            <a:avLst/>
          </a:prstGeom>
          <a:noFill/>
        </p:spPr>
        <p:txBody>
          <a:bodyPr wrap="square" rtlCol="0" anchor="ctr" anchorCtr="0">
            <a:spAutoFit/>
          </a:bodyPr>
          <a:lstStyle/>
          <a:p>
            <a:r>
              <a:rPr lang="en-GB" sz="3600" b="1" dirty="0">
                <a:solidFill>
                  <a:srgbClr val="7030A0"/>
                </a:solidFill>
              </a:rPr>
              <a:t>PK underlined</a:t>
            </a:r>
          </a:p>
        </p:txBody>
      </p:sp>
      <p:cxnSp>
        <p:nvCxnSpPr>
          <p:cNvPr id="13" name="Straight Connector 12">
            <a:extLst>
              <a:ext uri="{FF2B5EF4-FFF2-40B4-BE49-F238E27FC236}">
                <a16:creationId xmlns:a16="http://schemas.microsoft.com/office/drawing/2014/main" id="{0320D1A5-A702-82E6-DE29-45343BB8E315}"/>
              </a:ext>
            </a:extLst>
          </p:cNvPr>
          <p:cNvCxnSpPr>
            <a:cxnSpLocks/>
          </p:cNvCxnSpPr>
          <p:nvPr/>
        </p:nvCxnSpPr>
        <p:spPr>
          <a:xfrm>
            <a:off x="1533525" y="3101333"/>
            <a:ext cx="1656000" cy="0"/>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20" name="Straight Connector 19">
            <a:extLst>
              <a:ext uri="{FF2B5EF4-FFF2-40B4-BE49-F238E27FC236}">
                <a16:creationId xmlns:a16="http://schemas.microsoft.com/office/drawing/2014/main" id="{300331DE-A66D-F169-CE39-D19F3C0DE700}"/>
              </a:ext>
            </a:extLst>
          </p:cNvPr>
          <p:cNvCxnSpPr>
            <a:cxnSpLocks/>
          </p:cNvCxnSpPr>
          <p:nvPr/>
        </p:nvCxnSpPr>
        <p:spPr>
          <a:xfrm>
            <a:off x="8847003" y="3101333"/>
            <a:ext cx="1512000" cy="0"/>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sp>
        <p:nvSpPr>
          <p:cNvPr id="21" name="Right Arrow 9">
            <a:extLst>
              <a:ext uri="{FF2B5EF4-FFF2-40B4-BE49-F238E27FC236}">
                <a16:creationId xmlns:a16="http://schemas.microsoft.com/office/drawing/2014/main" id="{C94ED22F-8452-163D-85D5-A3ED48A8F6FC}"/>
              </a:ext>
            </a:extLst>
          </p:cNvPr>
          <p:cNvSpPr/>
          <p:nvPr/>
        </p:nvSpPr>
        <p:spPr>
          <a:xfrm rot="16200000">
            <a:off x="1869203" y="5132169"/>
            <a:ext cx="870940" cy="509165"/>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3" name="TextBox 22">
            <a:extLst>
              <a:ext uri="{FF2B5EF4-FFF2-40B4-BE49-F238E27FC236}">
                <a16:creationId xmlns:a16="http://schemas.microsoft.com/office/drawing/2014/main" id="{B7B19BF9-6E34-5C97-3810-B94C6343DDAC}"/>
              </a:ext>
            </a:extLst>
          </p:cNvPr>
          <p:cNvSpPr txBox="1"/>
          <p:nvPr/>
        </p:nvSpPr>
        <p:spPr>
          <a:xfrm>
            <a:off x="1639464" y="5822222"/>
            <a:ext cx="1330418" cy="646331"/>
          </a:xfrm>
          <a:prstGeom prst="rect">
            <a:avLst/>
          </a:prstGeom>
          <a:noFill/>
        </p:spPr>
        <p:txBody>
          <a:bodyPr wrap="square" rtlCol="0">
            <a:spAutoFit/>
          </a:bodyPr>
          <a:lstStyle/>
          <a:p>
            <a:pPr algn="ctr"/>
            <a:r>
              <a:rPr lang="en-GB" sz="3600" dirty="0">
                <a:solidFill>
                  <a:srgbClr val="7030A0"/>
                </a:solidFill>
              </a:rPr>
              <a:t>Entity</a:t>
            </a:r>
          </a:p>
        </p:txBody>
      </p:sp>
    </p:spTree>
    <p:extLst>
      <p:ext uri="{BB962C8B-B14F-4D97-AF65-F5344CB8AC3E}">
        <p14:creationId xmlns:p14="http://schemas.microsoft.com/office/powerpoint/2010/main" val="91479380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8"/>
                                        </p:tgtEl>
                                        <p:attrNameLst>
                                          <p:attrName>style.visibility</p:attrName>
                                        </p:attrNameLst>
                                      </p:cBhvr>
                                      <p:to>
                                        <p:strVal val="visible"/>
                                      </p:to>
                                    </p:set>
                                    <p:animEffect transition="in" filter="fade">
                                      <p:cBhvr>
                                        <p:cTn id="7" dur="1000"/>
                                        <p:tgtEl>
                                          <p:spTgt spid="18"/>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19"/>
                                        </p:tgtEl>
                                        <p:attrNameLst>
                                          <p:attrName>style.visibility</p:attrName>
                                        </p:attrNameLst>
                                      </p:cBhvr>
                                      <p:to>
                                        <p:strVal val="visible"/>
                                      </p:to>
                                    </p:set>
                                    <p:animEffect transition="in" filter="fade">
                                      <p:cBhvr>
                                        <p:cTn id="12" dur="1000"/>
                                        <p:tgtEl>
                                          <p:spTgt spid="19"/>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10">
                                            <p:txEl>
                                              <p:pRg st="0" end="0"/>
                                            </p:txEl>
                                          </p:spTgt>
                                        </p:tgtEl>
                                        <p:attrNameLst>
                                          <p:attrName>style.visibility</p:attrName>
                                        </p:attrNameLst>
                                      </p:cBhvr>
                                      <p:to>
                                        <p:strVal val="visible"/>
                                      </p:to>
                                    </p:set>
                                    <p:animEffect transition="in" filter="wipe(left)">
                                      <p:cBhvr>
                                        <p:cTn id="17" dur="2000"/>
                                        <p:tgtEl>
                                          <p:spTgt spid="10">
                                            <p:txEl>
                                              <p:pRg st="0" end="0"/>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nodeType="clickEffect">
                                  <p:stCondLst>
                                    <p:cond delay="0"/>
                                  </p:stCondLst>
                                  <p:childTnLst>
                                    <p:set>
                                      <p:cBhvr>
                                        <p:cTn id="21" dur="1" fill="hold">
                                          <p:stCondLst>
                                            <p:cond delay="0"/>
                                          </p:stCondLst>
                                        </p:cTn>
                                        <p:tgtEl>
                                          <p:spTgt spid="13"/>
                                        </p:tgtEl>
                                        <p:attrNameLst>
                                          <p:attrName>style.visibility</p:attrName>
                                        </p:attrNameLst>
                                      </p:cBhvr>
                                      <p:to>
                                        <p:strVal val="visible"/>
                                      </p:to>
                                    </p:set>
                                    <p:animEffect transition="in" filter="wipe(left)">
                                      <p:cBhvr>
                                        <p:cTn id="22" dur="1000"/>
                                        <p:tgtEl>
                                          <p:spTgt spid="13"/>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nodeType="clickEffect">
                                  <p:stCondLst>
                                    <p:cond delay="0"/>
                                  </p:stCondLst>
                                  <p:childTnLst>
                                    <p:set>
                                      <p:cBhvr>
                                        <p:cTn id="26" dur="1" fill="hold">
                                          <p:stCondLst>
                                            <p:cond delay="0"/>
                                          </p:stCondLst>
                                        </p:cTn>
                                        <p:tgtEl>
                                          <p:spTgt spid="20"/>
                                        </p:tgtEl>
                                        <p:attrNameLst>
                                          <p:attrName>style.visibility</p:attrName>
                                        </p:attrNameLst>
                                      </p:cBhvr>
                                      <p:to>
                                        <p:strVal val="visible"/>
                                      </p:to>
                                    </p:set>
                                    <p:animEffect transition="in" filter="wipe(left)">
                                      <p:cBhvr>
                                        <p:cTn id="27" dur="1000"/>
                                        <p:tgtEl>
                                          <p:spTgt spid="20"/>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4" fill="hold" grpId="0" nodeType="clickEffect">
                                  <p:stCondLst>
                                    <p:cond delay="0"/>
                                  </p:stCondLst>
                                  <p:childTnLst>
                                    <p:set>
                                      <p:cBhvr>
                                        <p:cTn id="31" dur="1" fill="hold">
                                          <p:stCondLst>
                                            <p:cond delay="0"/>
                                          </p:stCondLst>
                                        </p:cTn>
                                        <p:tgtEl>
                                          <p:spTgt spid="21"/>
                                        </p:tgtEl>
                                        <p:attrNameLst>
                                          <p:attrName>style.visibility</p:attrName>
                                        </p:attrNameLst>
                                      </p:cBhvr>
                                      <p:to>
                                        <p:strVal val="visible"/>
                                      </p:to>
                                    </p:set>
                                    <p:animEffect transition="in" filter="wipe(down)">
                                      <p:cBhvr>
                                        <p:cTn id="32" dur="1000"/>
                                        <p:tgtEl>
                                          <p:spTgt spid="21"/>
                                        </p:tgtEl>
                                      </p:cBhvr>
                                    </p:animEffect>
                                  </p:childTnLst>
                                </p:cTn>
                              </p:par>
                            </p:childTnLst>
                          </p:cTn>
                        </p:par>
                        <p:par>
                          <p:cTn id="33" fill="hold">
                            <p:stCondLst>
                              <p:cond delay="1000"/>
                            </p:stCondLst>
                            <p:childTnLst>
                              <p:par>
                                <p:cTn id="34" presetID="22" presetClass="entr" presetSubtype="8" fill="hold" grpId="0" nodeType="afterEffect">
                                  <p:stCondLst>
                                    <p:cond delay="0"/>
                                  </p:stCondLst>
                                  <p:childTnLst>
                                    <p:set>
                                      <p:cBhvr>
                                        <p:cTn id="35" dur="1" fill="hold">
                                          <p:stCondLst>
                                            <p:cond delay="0"/>
                                          </p:stCondLst>
                                        </p:cTn>
                                        <p:tgtEl>
                                          <p:spTgt spid="23">
                                            <p:txEl>
                                              <p:pRg st="0" end="0"/>
                                            </p:txEl>
                                          </p:spTgt>
                                        </p:tgtEl>
                                        <p:attrNameLst>
                                          <p:attrName>style.visibility</p:attrName>
                                        </p:attrNameLst>
                                      </p:cBhvr>
                                      <p:to>
                                        <p:strVal val="visible"/>
                                      </p:to>
                                    </p:set>
                                    <p:animEffect transition="in" filter="wipe(left)">
                                      <p:cBhvr>
                                        <p:cTn id="36" dur="1000"/>
                                        <p:tgtEl>
                                          <p:spTgt spid="23">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uiExpand="1" build="p"/>
      <p:bldP spid="21" grpId="0" animBg="1"/>
      <p:bldP spid="23" grpId="0" uiExpand="1" build="p"/>
    </p:bldLst>
  </p:timing>
</p:sld>
</file>

<file path=ppt/slides/slide185.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2630251-0176-4E08-9A40-5821ACD1944C}"/>
              </a:ext>
            </a:extLst>
          </p:cNvPr>
          <p:cNvSpPr>
            <a:spLocks noGrp="1"/>
          </p:cNvSpPr>
          <p:nvPr>
            <p:ph type="title"/>
          </p:nvPr>
        </p:nvSpPr>
        <p:spPr/>
        <p:txBody>
          <a:bodyPr/>
          <a:lstStyle/>
          <a:p>
            <a:r>
              <a:rPr lang="en-GB" dirty="0"/>
              <a:t>Primary Key</a:t>
            </a:r>
          </a:p>
        </p:txBody>
      </p:sp>
      <p:grpSp>
        <p:nvGrpSpPr>
          <p:cNvPr id="18" name="Group 17">
            <a:extLst>
              <a:ext uri="{FF2B5EF4-FFF2-40B4-BE49-F238E27FC236}">
                <a16:creationId xmlns:a16="http://schemas.microsoft.com/office/drawing/2014/main" id="{9B0A13DE-1279-4C56-8488-32B10C503456}"/>
              </a:ext>
            </a:extLst>
          </p:cNvPr>
          <p:cNvGrpSpPr/>
          <p:nvPr/>
        </p:nvGrpSpPr>
        <p:grpSpPr>
          <a:xfrm>
            <a:off x="1456099" y="1978068"/>
            <a:ext cx="1797287" cy="2862322"/>
            <a:chOff x="2197100" y="1720840"/>
            <a:chExt cx="1797287" cy="2862322"/>
          </a:xfrm>
        </p:grpSpPr>
        <p:sp>
          <p:nvSpPr>
            <p:cNvPr id="5" name="TextBox 4">
              <a:extLst>
                <a:ext uri="{FF2B5EF4-FFF2-40B4-BE49-F238E27FC236}">
                  <a16:creationId xmlns:a16="http://schemas.microsoft.com/office/drawing/2014/main" id="{9E8D577D-F9B0-4C26-95CB-954FFDF61DBD}"/>
                </a:ext>
              </a:extLst>
            </p:cNvPr>
            <p:cNvSpPr txBox="1"/>
            <p:nvPr/>
          </p:nvSpPr>
          <p:spPr>
            <a:xfrm>
              <a:off x="2197100" y="1720840"/>
              <a:ext cx="1797287" cy="2862322"/>
            </a:xfrm>
            <a:prstGeom prst="rect">
              <a:avLst/>
            </a:prstGeom>
            <a:solidFill>
              <a:schemeClr val="accent3">
                <a:lumMod val="20000"/>
                <a:lumOff val="80000"/>
              </a:schemeClr>
            </a:solidFill>
            <a:ln>
              <a:solidFill>
                <a:schemeClr val="tx1"/>
              </a:solidFill>
            </a:ln>
          </p:spPr>
          <p:txBody>
            <a:bodyPr wrap="none" rtlCol="0">
              <a:spAutoFit/>
            </a:bodyPr>
            <a:lstStyle/>
            <a:p>
              <a:r>
                <a:rPr lang="en-GB" sz="3600" b="1" dirty="0">
                  <a:highlight>
                    <a:srgbClr val="C0C0C0"/>
                  </a:highlight>
                </a:rPr>
                <a:t>   </a:t>
              </a:r>
            </a:p>
            <a:p>
              <a:r>
                <a:rPr lang="en-GB" sz="3600" u="sng" dirty="0" err="1"/>
                <a:t>schoolID</a:t>
              </a:r>
              <a:endParaRPr lang="en-GB" sz="3600" u="sng" dirty="0"/>
            </a:p>
            <a:p>
              <a:r>
                <a:rPr lang="en-GB" sz="3600" dirty="0"/>
                <a:t>name</a:t>
              </a:r>
            </a:p>
            <a:p>
              <a:r>
                <a:rPr lang="en-GB" sz="3600" dirty="0"/>
                <a:t>address</a:t>
              </a:r>
            </a:p>
            <a:p>
              <a:r>
                <a:rPr lang="en-GB" sz="3600" dirty="0"/>
                <a:t>phone</a:t>
              </a:r>
            </a:p>
          </p:txBody>
        </p:sp>
        <p:sp>
          <p:nvSpPr>
            <p:cNvPr id="16" name="TextBox 15">
              <a:extLst>
                <a:ext uri="{FF2B5EF4-FFF2-40B4-BE49-F238E27FC236}">
                  <a16:creationId xmlns:a16="http://schemas.microsoft.com/office/drawing/2014/main" id="{376D26D0-231A-4B18-94C4-B630246DF9C8}"/>
                </a:ext>
              </a:extLst>
            </p:cNvPr>
            <p:cNvSpPr txBox="1"/>
            <p:nvPr/>
          </p:nvSpPr>
          <p:spPr>
            <a:xfrm>
              <a:off x="2197100" y="1720840"/>
              <a:ext cx="1797287" cy="646331"/>
            </a:xfrm>
            <a:prstGeom prst="rect">
              <a:avLst/>
            </a:prstGeom>
            <a:solidFill>
              <a:schemeClr val="bg2">
                <a:lumMod val="90000"/>
              </a:schemeClr>
            </a:solidFill>
            <a:ln>
              <a:solidFill>
                <a:schemeClr val="tx1"/>
              </a:solidFill>
            </a:ln>
          </p:spPr>
          <p:txBody>
            <a:bodyPr wrap="square" rtlCol="0">
              <a:spAutoFit/>
            </a:bodyPr>
            <a:lstStyle/>
            <a:p>
              <a:r>
                <a:rPr lang="en-GB" sz="3600" b="1" dirty="0"/>
                <a:t>school</a:t>
              </a:r>
            </a:p>
          </p:txBody>
        </p:sp>
      </p:grpSp>
      <p:grpSp>
        <p:nvGrpSpPr>
          <p:cNvPr id="19" name="Group 18">
            <a:extLst>
              <a:ext uri="{FF2B5EF4-FFF2-40B4-BE49-F238E27FC236}">
                <a16:creationId xmlns:a16="http://schemas.microsoft.com/office/drawing/2014/main" id="{1F565CB8-10B5-434D-9118-818C6E69EDA5}"/>
              </a:ext>
            </a:extLst>
          </p:cNvPr>
          <p:cNvGrpSpPr/>
          <p:nvPr/>
        </p:nvGrpSpPr>
        <p:grpSpPr>
          <a:xfrm>
            <a:off x="8762167" y="1978068"/>
            <a:ext cx="1933672" cy="2862322"/>
            <a:chOff x="7175029" y="1690688"/>
            <a:chExt cx="1933672" cy="2862322"/>
          </a:xfrm>
        </p:grpSpPr>
        <p:sp>
          <p:nvSpPr>
            <p:cNvPr id="6" name="TextBox 5">
              <a:extLst>
                <a:ext uri="{FF2B5EF4-FFF2-40B4-BE49-F238E27FC236}">
                  <a16:creationId xmlns:a16="http://schemas.microsoft.com/office/drawing/2014/main" id="{06B8E8D6-C037-4571-B1CB-E4BD14A48ED7}"/>
                </a:ext>
              </a:extLst>
            </p:cNvPr>
            <p:cNvSpPr txBox="1"/>
            <p:nvPr/>
          </p:nvSpPr>
          <p:spPr>
            <a:xfrm>
              <a:off x="7175030" y="1690688"/>
              <a:ext cx="1933671" cy="2862322"/>
            </a:xfrm>
            <a:prstGeom prst="rect">
              <a:avLst/>
            </a:prstGeom>
            <a:solidFill>
              <a:schemeClr val="accent3">
                <a:lumMod val="20000"/>
                <a:lumOff val="80000"/>
              </a:schemeClr>
            </a:solidFill>
            <a:ln>
              <a:solidFill>
                <a:schemeClr val="tx1"/>
              </a:solidFill>
            </a:ln>
          </p:spPr>
          <p:txBody>
            <a:bodyPr wrap="none" rtlCol="0">
              <a:spAutoFit/>
            </a:bodyPr>
            <a:lstStyle/>
            <a:p>
              <a:endParaRPr lang="en-GB" sz="3600" b="1" dirty="0"/>
            </a:p>
            <a:p>
              <a:r>
                <a:rPr lang="en-GB" sz="3600" u="sng" dirty="0" err="1"/>
                <a:t>pupilID</a:t>
              </a:r>
              <a:endParaRPr lang="en-GB" sz="3600" u="sng" dirty="0"/>
            </a:p>
            <a:p>
              <a:r>
                <a:rPr lang="en-GB" sz="3600" dirty="0"/>
                <a:t>name</a:t>
              </a:r>
            </a:p>
            <a:p>
              <a:r>
                <a:rPr lang="en-GB" sz="3600" dirty="0"/>
                <a:t>dob</a:t>
              </a:r>
            </a:p>
            <a:p>
              <a:r>
                <a:rPr lang="en-GB" sz="3600" dirty="0"/>
                <a:t>transport</a:t>
              </a:r>
            </a:p>
          </p:txBody>
        </p:sp>
        <p:sp>
          <p:nvSpPr>
            <p:cNvPr id="17" name="TextBox 16">
              <a:extLst>
                <a:ext uri="{FF2B5EF4-FFF2-40B4-BE49-F238E27FC236}">
                  <a16:creationId xmlns:a16="http://schemas.microsoft.com/office/drawing/2014/main" id="{F7586BB6-2057-4CF7-A670-A8A12468AEB7}"/>
                </a:ext>
              </a:extLst>
            </p:cNvPr>
            <p:cNvSpPr txBox="1"/>
            <p:nvPr/>
          </p:nvSpPr>
          <p:spPr>
            <a:xfrm>
              <a:off x="7175029" y="1690688"/>
              <a:ext cx="1933672" cy="646331"/>
            </a:xfrm>
            <a:prstGeom prst="rect">
              <a:avLst/>
            </a:prstGeom>
            <a:solidFill>
              <a:schemeClr val="bg2">
                <a:lumMod val="90000"/>
              </a:schemeClr>
            </a:solidFill>
            <a:ln>
              <a:solidFill>
                <a:schemeClr val="tx1"/>
              </a:solidFill>
            </a:ln>
          </p:spPr>
          <p:txBody>
            <a:bodyPr wrap="square" rtlCol="0">
              <a:spAutoFit/>
            </a:bodyPr>
            <a:lstStyle/>
            <a:p>
              <a:r>
                <a:rPr lang="en-GB" sz="3600" b="1" dirty="0"/>
                <a:t>pupil</a:t>
              </a:r>
            </a:p>
          </p:txBody>
        </p:sp>
      </p:grpSp>
    </p:spTree>
    <p:extLst>
      <p:ext uri="{BB962C8B-B14F-4D97-AF65-F5344CB8AC3E}">
        <p14:creationId xmlns:p14="http://schemas.microsoft.com/office/powerpoint/2010/main" val="3808520573"/>
      </p:ext>
    </p:extLst>
  </p:cSld>
  <p:clrMapOvr>
    <a:masterClrMapping/>
  </p:clrMapOvr>
</p:sld>
</file>

<file path=ppt/slides/slide1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2630251-0176-4E08-9A40-5821ACD1944C}"/>
              </a:ext>
            </a:extLst>
          </p:cNvPr>
          <p:cNvSpPr>
            <a:spLocks noGrp="1"/>
          </p:cNvSpPr>
          <p:nvPr>
            <p:ph type="title"/>
          </p:nvPr>
        </p:nvSpPr>
        <p:spPr/>
        <p:txBody>
          <a:bodyPr/>
          <a:lstStyle/>
          <a:p>
            <a:r>
              <a:rPr lang="en-GB" dirty="0"/>
              <a:t>Foreign Key</a:t>
            </a:r>
          </a:p>
        </p:txBody>
      </p:sp>
      <p:sp>
        <p:nvSpPr>
          <p:cNvPr id="12" name="TextBox 11">
            <a:extLst>
              <a:ext uri="{FF2B5EF4-FFF2-40B4-BE49-F238E27FC236}">
                <a16:creationId xmlns:a16="http://schemas.microsoft.com/office/drawing/2014/main" id="{04922DB4-E3E8-4CF4-A4E2-621E15D7DA29}"/>
              </a:ext>
            </a:extLst>
          </p:cNvPr>
          <p:cNvSpPr txBox="1"/>
          <p:nvPr/>
        </p:nvSpPr>
        <p:spPr>
          <a:xfrm>
            <a:off x="2592925" y="5846691"/>
            <a:ext cx="6996383" cy="646331"/>
          </a:xfrm>
          <a:prstGeom prst="rect">
            <a:avLst/>
          </a:prstGeom>
          <a:noFill/>
        </p:spPr>
        <p:txBody>
          <a:bodyPr wrap="square" rtlCol="0" anchor="ctr" anchorCtr="0">
            <a:spAutoFit/>
          </a:bodyPr>
          <a:lstStyle/>
          <a:p>
            <a:pPr algn="ctr"/>
            <a:r>
              <a:rPr lang="en-GB" sz="3600" b="1" dirty="0">
                <a:solidFill>
                  <a:srgbClr val="7030A0"/>
                </a:solidFill>
              </a:rPr>
              <a:t>At the many end of the relationship</a:t>
            </a:r>
          </a:p>
        </p:txBody>
      </p:sp>
      <p:sp>
        <p:nvSpPr>
          <p:cNvPr id="14" name="TextBox 13">
            <a:extLst>
              <a:ext uri="{FF2B5EF4-FFF2-40B4-BE49-F238E27FC236}">
                <a16:creationId xmlns:a16="http://schemas.microsoft.com/office/drawing/2014/main" id="{365A4904-DD2F-4FE6-BACB-463E7D0213EC}"/>
              </a:ext>
            </a:extLst>
          </p:cNvPr>
          <p:cNvSpPr txBox="1"/>
          <p:nvPr/>
        </p:nvSpPr>
        <p:spPr>
          <a:xfrm>
            <a:off x="5349097" y="1805477"/>
            <a:ext cx="1493807" cy="523220"/>
          </a:xfrm>
          <a:prstGeom prst="rect">
            <a:avLst/>
          </a:prstGeom>
          <a:noFill/>
        </p:spPr>
        <p:txBody>
          <a:bodyPr wrap="none" rtlCol="0">
            <a:spAutoFit/>
          </a:bodyPr>
          <a:lstStyle/>
          <a:p>
            <a:r>
              <a:rPr lang="en-GB" sz="2800" dirty="0"/>
              <a:t>educates</a:t>
            </a:r>
          </a:p>
        </p:txBody>
      </p:sp>
      <p:grpSp>
        <p:nvGrpSpPr>
          <p:cNvPr id="18" name="Group 17">
            <a:extLst>
              <a:ext uri="{FF2B5EF4-FFF2-40B4-BE49-F238E27FC236}">
                <a16:creationId xmlns:a16="http://schemas.microsoft.com/office/drawing/2014/main" id="{9B0A13DE-1279-4C56-8488-32B10C503456}"/>
              </a:ext>
            </a:extLst>
          </p:cNvPr>
          <p:cNvGrpSpPr/>
          <p:nvPr/>
        </p:nvGrpSpPr>
        <p:grpSpPr>
          <a:xfrm>
            <a:off x="1456099" y="1978068"/>
            <a:ext cx="1797287" cy="2862322"/>
            <a:chOff x="2197100" y="1720840"/>
            <a:chExt cx="1797287" cy="2862322"/>
          </a:xfrm>
        </p:grpSpPr>
        <p:sp>
          <p:nvSpPr>
            <p:cNvPr id="5" name="TextBox 4">
              <a:extLst>
                <a:ext uri="{FF2B5EF4-FFF2-40B4-BE49-F238E27FC236}">
                  <a16:creationId xmlns:a16="http://schemas.microsoft.com/office/drawing/2014/main" id="{9E8D577D-F9B0-4C26-95CB-954FFDF61DBD}"/>
                </a:ext>
              </a:extLst>
            </p:cNvPr>
            <p:cNvSpPr txBox="1"/>
            <p:nvPr/>
          </p:nvSpPr>
          <p:spPr>
            <a:xfrm>
              <a:off x="2197100" y="1720840"/>
              <a:ext cx="1797287" cy="2862322"/>
            </a:xfrm>
            <a:prstGeom prst="rect">
              <a:avLst/>
            </a:prstGeom>
            <a:solidFill>
              <a:schemeClr val="accent3">
                <a:lumMod val="20000"/>
                <a:lumOff val="80000"/>
              </a:schemeClr>
            </a:solidFill>
            <a:ln>
              <a:solidFill>
                <a:schemeClr val="tx1"/>
              </a:solidFill>
            </a:ln>
          </p:spPr>
          <p:txBody>
            <a:bodyPr wrap="none" rtlCol="0">
              <a:spAutoFit/>
            </a:bodyPr>
            <a:lstStyle/>
            <a:p>
              <a:r>
                <a:rPr lang="en-GB" sz="3600" b="1" dirty="0">
                  <a:highlight>
                    <a:srgbClr val="C0C0C0"/>
                  </a:highlight>
                </a:rPr>
                <a:t>   </a:t>
              </a:r>
            </a:p>
            <a:p>
              <a:r>
                <a:rPr lang="en-GB" sz="3600" u="sng" dirty="0" err="1"/>
                <a:t>schoolID</a:t>
              </a:r>
              <a:endParaRPr lang="en-GB" sz="3600" u="sng" dirty="0"/>
            </a:p>
            <a:p>
              <a:r>
                <a:rPr lang="en-GB" sz="3600" dirty="0"/>
                <a:t>name</a:t>
              </a:r>
            </a:p>
            <a:p>
              <a:r>
                <a:rPr lang="en-GB" sz="3600" dirty="0"/>
                <a:t>address</a:t>
              </a:r>
            </a:p>
            <a:p>
              <a:r>
                <a:rPr lang="en-GB" sz="3600" dirty="0"/>
                <a:t>phone</a:t>
              </a:r>
            </a:p>
          </p:txBody>
        </p:sp>
        <p:sp>
          <p:nvSpPr>
            <p:cNvPr id="16" name="TextBox 15">
              <a:extLst>
                <a:ext uri="{FF2B5EF4-FFF2-40B4-BE49-F238E27FC236}">
                  <a16:creationId xmlns:a16="http://schemas.microsoft.com/office/drawing/2014/main" id="{376D26D0-231A-4B18-94C4-B630246DF9C8}"/>
                </a:ext>
              </a:extLst>
            </p:cNvPr>
            <p:cNvSpPr txBox="1"/>
            <p:nvPr/>
          </p:nvSpPr>
          <p:spPr>
            <a:xfrm>
              <a:off x="2197100" y="1720840"/>
              <a:ext cx="1797287" cy="646331"/>
            </a:xfrm>
            <a:prstGeom prst="rect">
              <a:avLst/>
            </a:prstGeom>
            <a:solidFill>
              <a:schemeClr val="bg2">
                <a:lumMod val="90000"/>
              </a:schemeClr>
            </a:solidFill>
            <a:ln>
              <a:solidFill>
                <a:schemeClr val="tx1"/>
              </a:solidFill>
            </a:ln>
          </p:spPr>
          <p:txBody>
            <a:bodyPr wrap="square" rtlCol="0">
              <a:spAutoFit/>
            </a:bodyPr>
            <a:lstStyle/>
            <a:p>
              <a:r>
                <a:rPr lang="en-GB" sz="3600" b="1" dirty="0"/>
                <a:t>school</a:t>
              </a:r>
            </a:p>
          </p:txBody>
        </p:sp>
      </p:grpSp>
      <p:grpSp>
        <p:nvGrpSpPr>
          <p:cNvPr id="19" name="Group 18">
            <a:extLst>
              <a:ext uri="{FF2B5EF4-FFF2-40B4-BE49-F238E27FC236}">
                <a16:creationId xmlns:a16="http://schemas.microsoft.com/office/drawing/2014/main" id="{1F565CB8-10B5-434D-9118-818C6E69EDA5}"/>
              </a:ext>
            </a:extLst>
          </p:cNvPr>
          <p:cNvGrpSpPr/>
          <p:nvPr/>
        </p:nvGrpSpPr>
        <p:grpSpPr>
          <a:xfrm>
            <a:off x="8762167" y="1978068"/>
            <a:ext cx="1933672" cy="2862322"/>
            <a:chOff x="7175029" y="1690688"/>
            <a:chExt cx="1933672" cy="2862322"/>
          </a:xfrm>
        </p:grpSpPr>
        <p:sp>
          <p:nvSpPr>
            <p:cNvPr id="6" name="TextBox 5">
              <a:extLst>
                <a:ext uri="{FF2B5EF4-FFF2-40B4-BE49-F238E27FC236}">
                  <a16:creationId xmlns:a16="http://schemas.microsoft.com/office/drawing/2014/main" id="{06B8E8D6-C037-4571-B1CB-E4BD14A48ED7}"/>
                </a:ext>
              </a:extLst>
            </p:cNvPr>
            <p:cNvSpPr txBox="1"/>
            <p:nvPr/>
          </p:nvSpPr>
          <p:spPr>
            <a:xfrm>
              <a:off x="7175030" y="1690688"/>
              <a:ext cx="1933671" cy="2862322"/>
            </a:xfrm>
            <a:prstGeom prst="rect">
              <a:avLst/>
            </a:prstGeom>
            <a:solidFill>
              <a:schemeClr val="accent3">
                <a:lumMod val="20000"/>
                <a:lumOff val="80000"/>
              </a:schemeClr>
            </a:solidFill>
            <a:ln>
              <a:solidFill>
                <a:schemeClr val="tx1"/>
              </a:solidFill>
            </a:ln>
          </p:spPr>
          <p:txBody>
            <a:bodyPr wrap="none" rtlCol="0">
              <a:spAutoFit/>
            </a:bodyPr>
            <a:lstStyle/>
            <a:p>
              <a:endParaRPr lang="en-GB" sz="3600" b="1" dirty="0"/>
            </a:p>
            <a:p>
              <a:r>
                <a:rPr lang="en-GB" sz="3600" u="sng" dirty="0" err="1"/>
                <a:t>pupilID</a:t>
              </a:r>
              <a:endParaRPr lang="en-GB" sz="3600" u="sng" dirty="0"/>
            </a:p>
            <a:p>
              <a:r>
                <a:rPr lang="en-GB" sz="3600" dirty="0"/>
                <a:t>name</a:t>
              </a:r>
            </a:p>
            <a:p>
              <a:r>
                <a:rPr lang="en-GB" sz="3600" dirty="0"/>
                <a:t>dob</a:t>
              </a:r>
            </a:p>
            <a:p>
              <a:r>
                <a:rPr lang="en-GB" sz="3600" dirty="0"/>
                <a:t>transport</a:t>
              </a:r>
            </a:p>
          </p:txBody>
        </p:sp>
        <p:sp>
          <p:nvSpPr>
            <p:cNvPr id="17" name="TextBox 16">
              <a:extLst>
                <a:ext uri="{FF2B5EF4-FFF2-40B4-BE49-F238E27FC236}">
                  <a16:creationId xmlns:a16="http://schemas.microsoft.com/office/drawing/2014/main" id="{F7586BB6-2057-4CF7-A670-A8A12468AEB7}"/>
                </a:ext>
              </a:extLst>
            </p:cNvPr>
            <p:cNvSpPr txBox="1"/>
            <p:nvPr/>
          </p:nvSpPr>
          <p:spPr>
            <a:xfrm>
              <a:off x="7175029" y="1690688"/>
              <a:ext cx="1933672" cy="646331"/>
            </a:xfrm>
            <a:prstGeom prst="rect">
              <a:avLst/>
            </a:prstGeom>
            <a:solidFill>
              <a:schemeClr val="bg2">
                <a:lumMod val="90000"/>
              </a:schemeClr>
            </a:solidFill>
            <a:ln>
              <a:solidFill>
                <a:schemeClr val="tx1"/>
              </a:solidFill>
            </a:ln>
          </p:spPr>
          <p:txBody>
            <a:bodyPr wrap="square" rtlCol="0">
              <a:spAutoFit/>
            </a:bodyPr>
            <a:lstStyle/>
            <a:p>
              <a:r>
                <a:rPr lang="en-GB" sz="3600" b="1" dirty="0"/>
                <a:t>pupil</a:t>
              </a:r>
            </a:p>
          </p:txBody>
        </p:sp>
      </p:grpSp>
      <p:grpSp>
        <p:nvGrpSpPr>
          <p:cNvPr id="2" name="Many to Many">
            <a:extLst>
              <a:ext uri="{FF2B5EF4-FFF2-40B4-BE49-F238E27FC236}">
                <a16:creationId xmlns:a16="http://schemas.microsoft.com/office/drawing/2014/main" id="{8DEFC1F2-EF4B-C1D0-C9B8-431797FDB08F}"/>
              </a:ext>
            </a:extLst>
          </p:cNvPr>
          <p:cNvGrpSpPr/>
          <p:nvPr/>
        </p:nvGrpSpPr>
        <p:grpSpPr>
          <a:xfrm>
            <a:off x="3253386" y="2148697"/>
            <a:ext cx="5518182" cy="359999"/>
            <a:chOff x="4406141" y="5300546"/>
            <a:chExt cx="3303558" cy="359999"/>
          </a:xfrm>
        </p:grpSpPr>
        <p:cxnSp>
          <p:nvCxnSpPr>
            <p:cNvPr id="3" name="Straight Connector 2">
              <a:extLst>
                <a:ext uri="{FF2B5EF4-FFF2-40B4-BE49-F238E27FC236}">
                  <a16:creationId xmlns:a16="http://schemas.microsoft.com/office/drawing/2014/main" id="{CCB18A4B-1901-DFFD-D4FC-44FF35D4DB13}"/>
                </a:ext>
              </a:extLst>
            </p:cNvPr>
            <p:cNvCxnSpPr>
              <a:cxnSpLocks/>
            </p:cNvCxnSpPr>
            <p:nvPr/>
          </p:nvCxnSpPr>
          <p:spPr>
            <a:xfrm flipV="1">
              <a:off x="4406141" y="5489248"/>
              <a:ext cx="3303558" cy="0"/>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7" name="Straight Connector 6">
              <a:extLst>
                <a:ext uri="{FF2B5EF4-FFF2-40B4-BE49-F238E27FC236}">
                  <a16:creationId xmlns:a16="http://schemas.microsoft.com/office/drawing/2014/main" id="{0A060E52-8238-E772-AF2F-EE65A370EACF}"/>
                </a:ext>
              </a:extLst>
            </p:cNvPr>
            <p:cNvCxnSpPr/>
            <p:nvPr/>
          </p:nvCxnSpPr>
          <p:spPr>
            <a:xfrm flipV="1">
              <a:off x="7391400" y="5300546"/>
              <a:ext cx="318299" cy="18870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8" name="Straight Connector 7">
              <a:extLst>
                <a:ext uri="{FF2B5EF4-FFF2-40B4-BE49-F238E27FC236}">
                  <a16:creationId xmlns:a16="http://schemas.microsoft.com/office/drawing/2014/main" id="{F6D044C9-B8E6-F69D-2BA5-A44AF409FD14}"/>
                </a:ext>
              </a:extLst>
            </p:cNvPr>
            <p:cNvCxnSpPr/>
            <p:nvPr/>
          </p:nvCxnSpPr>
          <p:spPr>
            <a:xfrm>
              <a:off x="7391400" y="5489247"/>
              <a:ext cx="318299" cy="171298"/>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grpSp>
      <p:sp>
        <p:nvSpPr>
          <p:cNvPr id="22" name="TextBox 21">
            <a:extLst>
              <a:ext uri="{FF2B5EF4-FFF2-40B4-BE49-F238E27FC236}">
                <a16:creationId xmlns:a16="http://schemas.microsoft.com/office/drawing/2014/main" id="{42F83827-384D-43B4-AAE0-51B1DF4B7C1B}"/>
              </a:ext>
            </a:extLst>
          </p:cNvPr>
          <p:cNvSpPr txBox="1"/>
          <p:nvPr/>
        </p:nvSpPr>
        <p:spPr>
          <a:xfrm>
            <a:off x="4192105" y="3653464"/>
            <a:ext cx="3798025" cy="1200329"/>
          </a:xfrm>
          <a:prstGeom prst="rect">
            <a:avLst/>
          </a:prstGeom>
          <a:noFill/>
        </p:spPr>
        <p:txBody>
          <a:bodyPr wrap="square" rtlCol="0">
            <a:spAutoFit/>
          </a:bodyPr>
          <a:lstStyle/>
          <a:p>
            <a:pPr algn="ctr"/>
            <a:r>
              <a:rPr lang="en-GB" sz="3600" dirty="0">
                <a:solidFill>
                  <a:srgbClr val="7030A0"/>
                </a:solidFill>
              </a:rPr>
              <a:t>Where should the Foreign Key go?</a:t>
            </a:r>
          </a:p>
        </p:txBody>
      </p:sp>
      <p:grpSp>
        <p:nvGrpSpPr>
          <p:cNvPr id="24" name="Group 23">
            <a:extLst>
              <a:ext uri="{FF2B5EF4-FFF2-40B4-BE49-F238E27FC236}">
                <a16:creationId xmlns:a16="http://schemas.microsoft.com/office/drawing/2014/main" id="{B3DF221B-C6A2-6FA7-48E2-C0A032EFC0E0}"/>
              </a:ext>
            </a:extLst>
          </p:cNvPr>
          <p:cNvGrpSpPr/>
          <p:nvPr/>
        </p:nvGrpSpPr>
        <p:grpSpPr>
          <a:xfrm>
            <a:off x="8752519" y="1978068"/>
            <a:ext cx="2026518" cy="3416320"/>
            <a:chOff x="7175029" y="1690688"/>
            <a:chExt cx="2026518" cy="3416320"/>
          </a:xfrm>
        </p:grpSpPr>
        <p:sp>
          <p:nvSpPr>
            <p:cNvPr id="25" name="TextBox 24">
              <a:extLst>
                <a:ext uri="{FF2B5EF4-FFF2-40B4-BE49-F238E27FC236}">
                  <a16:creationId xmlns:a16="http://schemas.microsoft.com/office/drawing/2014/main" id="{1AFBB813-144C-D1E5-6A0E-2EE81C1E5136}"/>
                </a:ext>
              </a:extLst>
            </p:cNvPr>
            <p:cNvSpPr txBox="1"/>
            <p:nvPr/>
          </p:nvSpPr>
          <p:spPr>
            <a:xfrm>
              <a:off x="7175030" y="1690688"/>
              <a:ext cx="2026517" cy="3416320"/>
            </a:xfrm>
            <a:prstGeom prst="rect">
              <a:avLst/>
            </a:prstGeom>
            <a:solidFill>
              <a:schemeClr val="accent3">
                <a:lumMod val="20000"/>
                <a:lumOff val="80000"/>
              </a:schemeClr>
            </a:solidFill>
            <a:ln>
              <a:solidFill>
                <a:schemeClr val="tx1"/>
              </a:solidFill>
            </a:ln>
          </p:spPr>
          <p:txBody>
            <a:bodyPr wrap="none" rtlCol="0">
              <a:spAutoFit/>
            </a:bodyPr>
            <a:lstStyle/>
            <a:p>
              <a:endParaRPr lang="en-GB" sz="3600" b="1" dirty="0"/>
            </a:p>
            <a:p>
              <a:r>
                <a:rPr lang="en-GB" sz="3600" u="sng" dirty="0" err="1"/>
                <a:t>pupilID</a:t>
              </a:r>
              <a:endParaRPr lang="en-GB" sz="3600" u="sng" dirty="0"/>
            </a:p>
            <a:p>
              <a:r>
                <a:rPr lang="en-GB" sz="3600" dirty="0"/>
                <a:t>name</a:t>
              </a:r>
            </a:p>
            <a:p>
              <a:r>
                <a:rPr lang="en-GB" sz="3600" dirty="0"/>
                <a:t>dob</a:t>
              </a:r>
            </a:p>
            <a:p>
              <a:r>
                <a:rPr lang="en-GB" sz="3600" dirty="0"/>
                <a:t>transport</a:t>
              </a:r>
            </a:p>
            <a:p>
              <a:r>
                <a:rPr lang="en-GB" sz="3600" dirty="0" err="1">
                  <a:solidFill>
                    <a:srgbClr val="FF0000"/>
                  </a:solidFill>
                </a:rPr>
                <a:t>schoolID</a:t>
              </a:r>
              <a:r>
                <a:rPr lang="en-GB" sz="3600" dirty="0">
                  <a:solidFill>
                    <a:srgbClr val="FF0000"/>
                  </a:solidFill>
                </a:rPr>
                <a:t>*</a:t>
              </a:r>
            </a:p>
          </p:txBody>
        </p:sp>
        <p:sp>
          <p:nvSpPr>
            <p:cNvPr id="26" name="TextBox 25">
              <a:extLst>
                <a:ext uri="{FF2B5EF4-FFF2-40B4-BE49-F238E27FC236}">
                  <a16:creationId xmlns:a16="http://schemas.microsoft.com/office/drawing/2014/main" id="{7C4E9CC6-AB7C-D903-FDFB-0C1AD87715C6}"/>
                </a:ext>
              </a:extLst>
            </p:cNvPr>
            <p:cNvSpPr txBox="1"/>
            <p:nvPr/>
          </p:nvSpPr>
          <p:spPr>
            <a:xfrm>
              <a:off x="7175029" y="1690688"/>
              <a:ext cx="2026517" cy="646331"/>
            </a:xfrm>
            <a:prstGeom prst="rect">
              <a:avLst/>
            </a:prstGeom>
            <a:solidFill>
              <a:schemeClr val="bg2">
                <a:lumMod val="90000"/>
              </a:schemeClr>
            </a:solidFill>
            <a:ln>
              <a:solidFill>
                <a:schemeClr val="tx1"/>
              </a:solidFill>
            </a:ln>
          </p:spPr>
          <p:txBody>
            <a:bodyPr wrap="square" rtlCol="0">
              <a:spAutoFit/>
            </a:bodyPr>
            <a:lstStyle/>
            <a:p>
              <a:r>
                <a:rPr lang="en-GB" sz="3600" b="1" dirty="0"/>
                <a:t>pupil</a:t>
              </a:r>
            </a:p>
          </p:txBody>
        </p:sp>
      </p:grpSp>
    </p:spTree>
    <p:extLst>
      <p:ext uri="{BB962C8B-B14F-4D97-AF65-F5344CB8AC3E}">
        <p14:creationId xmlns:p14="http://schemas.microsoft.com/office/powerpoint/2010/main" val="202125920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8"/>
                                        </p:tgtEl>
                                        <p:attrNameLst>
                                          <p:attrName>style.visibility</p:attrName>
                                        </p:attrNameLst>
                                      </p:cBhvr>
                                      <p:to>
                                        <p:strVal val="visible"/>
                                      </p:to>
                                    </p:set>
                                    <p:animEffect transition="in" filter="fade">
                                      <p:cBhvr>
                                        <p:cTn id="7" dur="1000"/>
                                        <p:tgtEl>
                                          <p:spTgt spid="18"/>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19"/>
                                        </p:tgtEl>
                                        <p:attrNameLst>
                                          <p:attrName>style.visibility</p:attrName>
                                        </p:attrNameLst>
                                      </p:cBhvr>
                                      <p:to>
                                        <p:strVal val="visible"/>
                                      </p:to>
                                    </p:set>
                                    <p:animEffect transition="in" filter="fade">
                                      <p:cBhvr>
                                        <p:cTn id="12" dur="1000"/>
                                        <p:tgtEl>
                                          <p:spTgt spid="19"/>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14"/>
                                        </p:tgtEl>
                                        <p:attrNameLst>
                                          <p:attrName>style.visibility</p:attrName>
                                        </p:attrNameLst>
                                      </p:cBhvr>
                                      <p:to>
                                        <p:strVal val="visible"/>
                                      </p:to>
                                    </p:set>
                                    <p:animEffect transition="in" filter="wipe(left)">
                                      <p:cBhvr>
                                        <p:cTn id="17" dur="1000"/>
                                        <p:tgtEl>
                                          <p:spTgt spid="14"/>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nodeType="clickEffect">
                                  <p:stCondLst>
                                    <p:cond delay="0"/>
                                  </p:stCondLst>
                                  <p:childTnLst>
                                    <p:set>
                                      <p:cBhvr>
                                        <p:cTn id="21" dur="1" fill="hold">
                                          <p:stCondLst>
                                            <p:cond delay="0"/>
                                          </p:stCondLst>
                                        </p:cTn>
                                        <p:tgtEl>
                                          <p:spTgt spid="2"/>
                                        </p:tgtEl>
                                        <p:attrNameLst>
                                          <p:attrName>style.visibility</p:attrName>
                                        </p:attrNameLst>
                                      </p:cBhvr>
                                      <p:to>
                                        <p:strVal val="visible"/>
                                      </p:to>
                                    </p:set>
                                    <p:animEffect transition="in" filter="wipe(left)">
                                      <p:cBhvr>
                                        <p:cTn id="22" dur="1500"/>
                                        <p:tgtEl>
                                          <p:spTgt spid="2"/>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22">
                                            <p:txEl>
                                              <p:pRg st="0" end="0"/>
                                            </p:txEl>
                                          </p:spTgt>
                                        </p:tgtEl>
                                        <p:attrNameLst>
                                          <p:attrName>style.visibility</p:attrName>
                                        </p:attrNameLst>
                                      </p:cBhvr>
                                      <p:to>
                                        <p:strVal val="visible"/>
                                      </p:to>
                                    </p:set>
                                    <p:animEffect transition="in" filter="wipe(left)">
                                      <p:cBhvr>
                                        <p:cTn id="27" dur="2000"/>
                                        <p:tgtEl>
                                          <p:spTgt spid="22">
                                            <p:txEl>
                                              <p:pRg st="0" end="0"/>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12">
                                            <p:txEl>
                                              <p:pRg st="0" end="0"/>
                                            </p:txEl>
                                          </p:spTgt>
                                        </p:tgtEl>
                                        <p:attrNameLst>
                                          <p:attrName>style.visibility</p:attrName>
                                        </p:attrNameLst>
                                      </p:cBhvr>
                                      <p:to>
                                        <p:strVal val="visible"/>
                                      </p:to>
                                    </p:set>
                                    <p:animEffect transition="in" filter="wipe(left)">
                                      <p:cBhvr>
                                        <p:cTn id="32" dur="2000"/>
                                        <p:tgtEl>
                                          <p:spTgt spid="12">
                                            <p:txEl>
                                              <p:pRg st="0" end="0"/>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nodeType="clickEffect">
                                  <p:stCondLst>
                                    <p:cond delay="0"/>
                                  </p:stCondLst>
                                  <p:childTnLst>
                                    <p:set>
                                      <p:cBhvr>
                                        <p:cTn id="36" dur="1" fill="hold">
                                          <p:stCondLst>
                                            <p:cond delay="0"/>
                                          </p:stCondLst>
                                        </p:cTn>
                                        <p:tgtEl>
                                          <p:spTgt spid="24"/>
                                        </p:tgtEl>
                                        <p:attrNameLst>
                                          <p:attrName>style.visibility</p:attrName>
                                        </p:attrNameLst>
                                      </p:cBhvr>
                                      <p:to>
                                        <p:strVal val="visible"/>
                                      </p:to>
                                    </p:set>
                                    <p:animEffect transition="in" filter="fade">
                                      <p:cBhvr>
                                        <p:cTn id="37" dur="1000"/>
                                        <p:tgtEl>
                                          <p:spTgt spid="2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 grpId="0" uiExpand="1" build="p"/>
      <p:bldP spid="14" grpId="0"/>
      <p:bldP spid="22" grpId="0" uiExpand="1" build="p"/>
    </p:bldLst>
  </p:timing>
</p:sld>
</file>

<file path=ppt/slides/slide187.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2630251-0176-4E08-9A40-5821ACD1944C}"/>
              </a:ext>
            </a:extLst>
          </p:cNvPr>
          <p:cNvSpPr>
            <a:spLocks noGrp="1"/>
          </p:cNvSpPr>
          <p:nvPr>
            <p:ph type="title"/>
          </p:nvPr>
        </p:nvSpPr>
        <p:spPr/>
        <p:txBody>
          <a:bodyPr/>
          <a:lstStyle/>
          <a:p>
            <a:r>
              <a:rPr lang="en-GB" dirty="0"/>
              <a:t>Foreign Key</a:t>
            </a:r>
          </a:p>
        </p:txBody>
      </p:sp>
      <p:grpSp>
        <p:nvGrpSpPr>
          <p:cNvPr id="18" name="Group 17">
            <a:extLst>
              <a:ext uri="{FF2B5EF4-FFF2-40B4-BE49-F238E27FC236}">
                <a16:creationId xmlns:a16="http://schemas.microsoft.com/office/drawing/2014/main" id="{9B0A13DE-1279-4C56-8488-32B10C503456}"/>
              </a:ext>
            </a:extLst>
          </p:cNvPr>
          <p:cNvGrpSpPr/>
          <p:nvPr/>
        </p:nvGrpSpPr>
        <p:grpSpPr>
          <a:xfrm>
            <a:off x="1456099" y="1978068"/>
            <a:ext cx="1797287" cy="2862322"/>
            <a:chOff x="2197100" y="1720840"/>
            <a:chExt cx="1797287" cy="2862322"/>
          </a:xfrm>
        </p:grpSpPr>
        <p:sp>
          <p:nvSpPr>
            <p:cNvPr id="5" name="TextBox 4">
              <a:extLst>
                <a:ext uri="{FF2B5EF4-FFF2-40B4-BE49-F238E27FC236}">
                  <a16:creationId xmlns:a16="http://schemas.microsoft.com/office/drawing/2014/main" id="{9E8D577D-F9B0-4C26-95CB-954FFDF61DBD}"/>
                </a:ext>
              </a:extLst>
            </p:cNvPr>
            <p:cNvSpPr txBox="1"/>
            <p:nvPr/>
          </p:nvSpPr>
          <p:spPr>
            <a:xfrm>
              <a:off x="2197100" y="1720840"/>
              <a:ext cx="1797287" cy="2862322"/>
            </a:xfrm>
            <a:prstGeom prst="rect">
              <a:avLst/>
            </a:prstGeom>
            <a:solidFill>
              <a:schemeClr val="accent3">
                <a:lumMod val="20000"/>
                <a:lumOff val="80000"/>
              </a:schemeClr>
            </a:solidFill>
            <a:ln>
              <a:solidFill>
                <a:schemeClr val="tx1"/>
              </a:solidFill>
            </a:ln>
          </p:spPr>
          <p:txBody>
            <a:bodyPr wrap="none" rtlCol="0">
              <a:spAutoFit/>
            </a:bodyPr>
            <a:lstStyle/>
            <a:p>
              <a:r>
                <a:rPr lang="en-GB" sz="3600" b="1" dirty="0">
                  <a:highlight>
                    <a:srgbClr val="C0C0C0"/>
                  </a:highlight>
                </a:rPr>
                <a:t>   </a:t>
              </a:r>
            </a:p>
            <a:p>
              <a:r>
                <a:rPr lang="en-GB" sz="3600" u="sng" dirty="0" err="1"/>
                <a:t>schoolID</a:t>
              </a:r>
              <a:endParaRPr lang="en-GB" sz="3600" u="sng" dirty="0"/>
            </a:p>
            <a:p>
              <a:r>
                <a:rPr lang="en-GB" sz="3600" dirty="0"/>
                <a:t>name</a:t>
              </a:r>
            </a:p>
            <a:p>
              <a:r>
                <a:rPr lang="en-GB" sz="3600" dirty="0"/>
                <a:t>address</a:t>
              </a:r>
            </a:p>
            <a:p>
              <a:r>
                <a:rPr lang="en-GB" sz="3600" dirty="0"/>
                <a:t>phone</a:t>
              </a:r>
            </a:p>
          </p:txBody>
        </p:sp>
        <p:sp>
          <p:nvSpPr>
            <p:cNvPr id="16" name="TextBox 15">
              <a:extLst>
                <a:ext uri="{FF2B5EF4-FFF2-40B4-BE49-F238E27FC236}">
                  <a16:creationId xmlns:a16="http://schemas.microsoft.com/office/drawing/2014/main" id="{376D26D0-231A-4B18-94C4-B630246DF9C8}"/>
                </a:ext>
              </a:extLst>
            </p:cNvPr>
            <p:cNvSpPr txBox="1"/>
            <p:nvPr/>
          </p:nvSpPr>
          <p:spPr>
            <a:xfrm>
              <a:off x="2197100" y="1720840"/>
              <a:ext cx="1797287" cy="646331"/>
            </a:xfrm>
            <a:prstGeom prst="rect">
              <a:avLst/>
            </a:prstGeom>
            <a:solidFill>
              <a:schemeClr val="bg2">
                <a:lumMod val="90000"/>
              </a:schemeClr>
            </a:solidFill>
            <a:ln>
              <a:solidFill>
                <a:schemeClr val="tx1"/>
              </a:solidFill>
            </a:ln>
          </p:spPr>
          <p:txBody>
            <a:bodyPr wrap="square" rtlCol="0">
              <a:spAutoFit/>
            </a:bodyPr>
            <a:lstStyle/>
            <a:p>
              <a:r>
                <a:rPr lang="en-GB" sz="3600" b="1" dirty="0"/>
                <a:t>school</a:t>
              </a:r>
            </a:p>
          </p:txBody>
        </p:sp>
      </p:grpSp>
      <p:grpSp>
        <p:nvGrpSpPr>
          <p:cNvPr id="19" name="Group 18">
            <a:extLst>
              <a:ext uri="{FF2B5EF4-FFF2-40B4-BE49-F238E27FC236}">
                <a16:creationId xmlns:a16="http://schemas.microsoft.com/office/drawing/2014/main" id="{1F565CB8-10B5-434D-9118-818C6E69EDA5}"/>
              </a:ext>
            </a:extLst>
          </p:cNvPr>
          <p:cNvGrpSpPr/>
          <p:nvPr/>
        </p:nvGrpSpPr>
        <p:grpSpPr>
          <a:xfrm>
            <a:off x="8762167" y="1978068"/>
            <a:ext cx="1933672" cy="2862322"/>
            <a:chOff x="7175029" y="1690688"/>
            <a:chExt cx="1933672" cy="2862322"/>
          </a:xfrm>
        </p:grpSpPr>
        <p:sp>
          <p:nvSpPr>
            <p:cNvPr id="6" name="TextBox 5">
              <a:extLst>
                <a:ext uri="{FF2B5EF4-FFF2-40B4-BE49-F238E27FC236}">
                  <a16:creationId xmlns:a16="http://schemas.microsoft.com/office/drawing/2014/main" id="{06B8E8D6-C037-4571-B1CB-E4BD14A48ED7}"/>
                </a:ext>
              </a:extLst>
            </p:cNvPr>
            <p:cNvSpPr txBox="1"/>
            <p:nvPr/>
          </p:nvSpPr>
          <p:spPr>
            <a:xfrm>
              <a:off x="7175030" y="1690688"/>
              <a:ext cx="1933671" cy="2862322"/>
            </a:xfrm>
            <a:prstGeom prst="rect">
              <a:avLst/>
            </a:prstGeom>
            <a:solidFill>
              <a:schemeClr val="accent3">
                <a:lumMod val="20000"/>
                <a:lumOff val="80000"/>
              </a:schemeClr>
            </a:solidFill>
            <a:ln>
              <a:solidFill>
                <a:schemeClr val="tx1"/>
              </a:solidFill>
            </a:ln>
          </p:spPr>
          <p:txBody>
            <a:bodyPr wrap="none" rtlCol="0">
              <a:spAutoFit/>
            </a:bodyPr>
            <a:lstStyle/>
            <a:p>
              <a:endParaRPr lang="en-GB" sz="3600" b="1" dirty="0"/>
            </a:p>
            <a:p>
              <a:r>
                <a:rPr lang="en-GB" sz="3600" u="sng" dirty="0" err="1"/>
                <a:t>pupilID</a:t>
              </a:r>
              <a:endParaRPr lang="en-GB" sz="3600" u="sng" dirty="0"/>
            </a:p>
            <a:p>
              <a:r>
                <a:rPr lang="en-GB" sz="3600" dirty="0"/>
                <a:t>name</a:t>
              </a:r>
            </a:p>
            <a:p>
              <a:r>
                <a:rPr lang="en-GB" sz="3600" dirty="0"/>
                <a:t>dob</a:t>
              </a:r>
            </a:p>
            <a:p>
              <a:r>
                <a:rPr lang="en-GB" sz="3600" dirty="0"/>
                <a:t>transport</a:t>
              </a:r>
            </a:p>
          </p:txBody>
        </p:sp>
        <p:sp>
          <p:nvSpPr>
            <p:cNvPr id="17" name="TextBox 16">
              <a:extLst>
                <a:ext uri="{FF2B5EF4-FFF2-40B4-BE49-F238E27FC236}">
                  <a16:creationId xmlns:a16="http://schemas.microsoft.com/office/drawing/2014/main" id="{F7586BB6-2057-4CF7-A670-A8A12468AEB7}"/>
                </a:ext>
              </a:extLst>
            </p:cNvPr>
            <p:cNvSpPr txBox="1"/>
            <p:nvPr/>
          </p:nvSpPr>
          <p:spPr>
            <a:xfrm>
              <a:off x="7175029" y="1690688"/>
              <a:ext cx="1933672" cy="646331"/>
            </a:xfrm>
            <a:prstGeom prst="rect">
              <a:avLst/>
            </a:prstGeom>
            <a:solidFill>
              <a:schemeClr val="bg2">
                <a:lumMod val="90000"/>
              </a:schemeClr>
            </a:solidFill>
            <a:ln>
              <a:solidFill>
                <a:schemeClr val="tx1"/>
              </a:solidFill>
            </a:ln>
          </p:spPr>
          <p:txBody>
            <a:bodyPr wrap="square" rtlCol="0">
              <a:spAutoFit/>
            </a:bodyPr>
            <a:lstStyle/>
            <a:p>
              <a:r>
                <a:rPr lang="en-GB" sz="3600" b="1" dirty="0"/>
                <a:t>pupil</a:t>
              </a:r>
            </a:p>
          </p:txBody>
        </p:sp>
      </p:grpSp>
    </p:spTree>
    <p:extLst>
      <p:ext uri="{BB962C8B-B14F-4D97-AF65-F5344CB8AC3E}">
        <p14:creationId xmlns:p14="http://schemas.microsoft.com/office/powerpoint/2010/main" val="317975627"/>
      </p:ext>
    </p:extLst>
  </p:cSld>
  <p:clrMapOvr>
    <a:masterClrMapping/>
  </p:clrMapOvr>
</p:sld>
</file>

<file path=ppt/slides/slide1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2630251-0176-4E08-9A40-5821ACD1944C}"/>
              </a:ext>
            </a:extLst>
          </p:cNvPr>
          <p:cNvSpPr>
            <a:spLocks noGrp="1"/>
          </p:cNvSpPr>
          <p:nvPr>
            <p:ph type="title"/>
          </p:nvPr>
        </p:nvSpPr>
        <p:spPr>
          <a:xfrm>
            <a:off x="838200" y="327025"/>
            <a:ext cx="10515600" cy="1325563"/>
          </a:xfrm>
        </p:spPr>
        <p:txBody>
          <a:bodyPr/>
          <a:lstStyle/>
          <a:p>
            <a:r>
              <a:rPr lang="en-GB" dirty="0"/>
              <a:t>ER Diagram – Attributes (1)</a:t>
            </a:r>
          </a:p>
        </p:txBody>
      </p:sp>
      <p:grpSp>
        <p:nvGrpSpPr>
          <p:cNvPr id="55" name="Group 54">
            <a:extLst>
              <a:ext uri="{FF2B5EF4-FFF2-40B4-BE49-F238E27FC236}">
                <a16:creationId xmlns:a16="http://schemas.microsoft.com/office/drawing/2014/main" id="{149B0774-C7D1-4C4C-99C9-9631A3216CDF}"/>
              </a:ext>
            </a:extLst>
          </p:cNvPr>
          <p:cNvGrpSpPr/>
          <p:nvPr/>
        </p:nvGrpSpPr>
        <p:grpSpPr>
          <a:xfrm>
            <a:off x="1959902" y="1624062"/>
            <a:ext cx="1800000" cy="1444938"/>
            <a:chOff x="1959902" y="1624062"/>
            <a:chExt cx="1800000" cy="1444938"/>
          </a:xfrm>
        </p:grpSpPr>
        <p:sp>
          <p:nvSpPr>
            <p:cNvPr id="2" name="Oval 1">
              <a:extLst>
                <a:ext uri="{FF2B5EF4-FFF2-40B4-BE49-F238E27FC236}">
                  <a16:creationId xmlns:a16="http://schemas.microsoft.com/office/drawing/2014/main" id="{21A43677-27D9-48A8-975B-DEB27D9BB20F}"/>
                </a:ext>
              </a:extLst>
            </p:cNvPr>
            <p:cNvSpPr/>
            <p:nvPr/>
          </p:nvSpPr>
          <p:spPr>
            <a:xfrm>
              <a:off x="1959902" y="1624062"/>
              <a:ext cx="1800000" cy="914400"/>
            </a:xfrm>
            <a:prstGeom prst="ellipse">
              <a:avLst/>
            </a:prstGeom>
            <a:solidFill>
              <a:schemeClr val="accent3">
                <a:lumMod val="20000"/>
                <a:lumOff val="80000"/>
              </a:schemeClr>
            </a:solidFill>
            <a:ln>
              <a:solidFill>
                <a:schemeClr val="tx1"/>
              </a:solidFill>
            </a:ln>
          </p:spPr>
          <p:txBody>
            <a:bodyPr wrap="none" rtlCol="0" anchor="ctr" anchorCtr="0">
              <a:noAutofit/>
            </a:bodyPr>
            <a:lstStyle/>
            <a:p>
              <a:pPr algn="ctr"/>
              <a:r>
                <a:rPr lang="en-GB" sz="2800" u="sng" dirty="0" err="1">
                  <a:solidFill>
                    <a:schemeClr val="tx1"/>
                  </a:solidFill>
                </a:rPr>
                <a:t>school</a:t>
              </a:r>
              <a:r>
                <a:rPr lang="en-GB" sz="2800" u="sng" dirty="0" err="1"/>
                <a:t>ID</a:t>
              </a:r>
              <a:endParaRPr lang="en-GB" sz="2800" u="sng" dirty="0">
                <a:solidFill>
                  <a:schemeClr val="tx1"/>
                </a:solidFill>
              </a:endParaRPr>
            </a:p>
          </p:txBody>
        </p:sp>
        <p:cxnSp>
          <p:nvCxnSpPr>
            <p:cNvPr id="6" name="Straight Connector 5">
              <a:extLst>
                <a:ext uri="{FF2B5EF4-FFF2-40B4-BE49-F238E27FC236}">
                  <a16:creationId xmlns:a16="http://schemas.microsoft.com/office/drawing/2014/main" id="{51E61048-4DC4-40F3-94CC-C5CD653D9600}"/>
                </a:ext>
              </a:extLst>
            </p:cNvPr>
            <p:cNvCxnSpPr>
              <a:cxnSpLocks/>
              <a:stCxn id="2" idx="4"/>
            </p:cNvCxnSpPr>
            <p:nvPr/>
          </p:nvCxnSpPr>
          <p:spPr>
            <a:xfrm>
              <a:off x="2859902" y="2538462"/>
              <a:ext cx="56952" cy="530538"/>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53" name="Group 52">
            <a:extLst>
              <a:ext uri="{FF2B5EF4-FFF2-40B4-BE49-F238E27FC236}">
                <a16:creationId xmlns:a16="http://schemas.microsoft.com/office/drawing/2014/main" id="{7C9D8FE7-F5B1-460F-8DBD-A896B3C16BC9}"/>
              </a:ext>
            </a:extLst>
          </p:cNvPr>
          <p:cNvGrpSpPr/>
          <p:nvPr/>
        </p:nvGrpSpPr>
        <p:grpSpPr>
          <a:xfrm>
            <a:off x="370708" y="3603297"/>
            <a:ext cx="2214787" cy="914400"/>
            <a:chOff x="370708" y="3603297"/>
            <a:chExt cx="2214787" cy="914400"/>
          </a:xfrm>
        </p:grpSpPr>
        <p:sp>
          <p:nvSpPr>
            <p:cNvPr id="11" name="Oval 10">
              <a:extLst>
                <a:ext uri="{FF2B5EF4-FFF2-40B4-BE49-F238E27FC236}">
                  <a16:creationId xmlns:a16="http://schemas.microsoft.com/office/drawing/2014/main" id="{DAFD7BF3-36FA-4B1E-8F1D-C6AF4CD5A0AE}"/>
                </a:ext>
              </a:extLst>
            </p:cNvPr>
            <p:cNvSpPr/>
            <p:nvPr/>
          </p:nvSpPr>
          <p:spPr>
            <a:xfrm>
              <a:off x="370708" y="3603297"/>
              <a:ext cx="1800000" cy="914400"/>
            </a:xfrm>
            <a:prstGeom prst="ellipse">
              <a:avLst/>
            </a:prstGeom>
            <a:solidFill>
              <a:schemeClr val="accent3">
                <a:lumMod val="20000"/>
                <a:lumOff val="80000"/>
              </a:schemeClr>
            </a:solidFill>
            <a:ln>
              <a:solidFill>
                <a:schemeClr val="tx1"/>
              </a:solidFill>
            </a:ln>
          </p:spPr>
          <p:txBody>
            <a:bodyPr wrap="none" rtlCol="0" anchor="ctr" anchorCtr="0">
              <a:noAutofit/>
            </a:bodyPr>
            <a:lstStyle/>
            <a:p>
              <a:pPr algn="ctr"/>
              <a:r>
                <a:rPr lang="en-GB" sz="2800" dirty="0">
                  <a:solidFill>
                    <a:schemeClr val="tx1"/>
                  </a:solidFill>
                </a:rPr>
                <a:t>address</a:t>
              </a:r>
            </a:p>
          </p:txBody>
        </p:sp>
        <p:cxnSp>
          <p:nvCxnSpPr>
            <p:cNvPr id="19" name="Straight Connector 18">
              <a:extLst>
                <a:ext uri="{FF2B5EF4-FFF2-40B4-BE49-F238E27FC236}">
                  <a16:creationId xmlns:a16="http://schemas.microsoft.com/office/drawing/2014/main" id="{4BEE2F6F-A353-4351-A91F-3D3FFE42A696}"/>
                </a:ext>
              </a:extLst>
            </p:cNvPr>
            <p:cNvCxnSpPr>
              <a:cxnSpLocks/>
              <a:stCxn id="11" idx="7"/>
            </p:cNvCxnSpPr>
            <p:nvPr/>
          </p:nvCxnSpPr>
          <p:spPr>
            <a:xfrm flipV="1">
              <a:off x="1907104" y="3648452"/>
              <a:ext cx="678391" cy="88756"/>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54" name="Group 53">
            <a:extLst>
              <a:ext uri="{FF2B5EF4-FFF2-40B4-BE49-F238E27FC236}">
                <a16:creationId xmlns:a16="http://schemas.microsoft.com/office/drawing/2014/main" id="{DEF9C7EE-8BC6-4E2E-9FA2-BB0C270678AD}"/>
              </a:ext>
            </a:extLst>
          </p:cNvPr>
          <p:cNvGrpSpPr/>
          <p:nvPr/>
        </p:nvGrpSpPr>
        <p:grpSpPr>
          <a:xfrm>
            <a:off x="370708" y="2350432"/>
            <a:ext cx="2214787" cy="914400"/>
            <a:chOff x="370708" y="2350432"/>
            <a:chExt cx="2214787" cy="914400"/>
          </a:xfrm>
        </p:grpSpPr>
        <p:sp>
          <p:nvSpPr>
            <p:cNvPr id="9" name="Oval 8">
              <a:extLst>
                <a:ext uri="{FF2B5EF4-FFF2-40B4-BE49-F238E27FC236}">
                  <a16:creationId xmlns:a16="http://schemas.microsoft.com/office/drawing/2014/main" id="{CE907ECB-1838-4B1E-B074-07F7F120418E}"/>
                </a:ext>
              </a:extLst>
            </p:cNvPr>
            <p:cNvSpPr/>
            <p:nvPr/>
          </p:nvSpPr>
          <p:spPr>
            <a:xfrm>
              <a:off x="370708" y="2350432"/>
              <a:ext cx="1800000" cy="914400"/>
            </a:xfrm>
            <a:prstGeom prst="ellipse">
              <a:avLst/>
            </a:prstGeom>
            <a:solidFill>
              <a:schemeClr val="accent3">
                <a:lumMod val="20000"/>
                <a:lumOff val="80000"/>
              </a:schemeClr>
            </a:solidFill>
            <a:ln>
              <a:solidFill>
                <a:schemeClr val="tx1"/>
              </a:solidFill>
            </a:ln>
          </p:spPr>
          <p:txBody>
            <a:bodyPr wrap="none" rtlCol="0" anchor="ctr" anchorCtr="0">
              <a:noAutofit/>
            </a:bodyPr>
            <a:lstStyle/>
            <a:p>
              <a:pPr algn="ctr"/>
              <a:r>
                <a:rPr lang="en-GB" sz="2800" dirty="0">
                  <a:solidFill>
                    <a:schemeClr val="tx1"/>
                  </a:solidFill>
                </a:rPr>
                <a:t>name</a:t>
              </a:r>
            </a:p>
          </p:txBody>
        </p:sp>
        <p:cxnSp>
          <p:nvCxnSpPr>
            <p:cNvPr id="20" name="Straight Connector 19">
              <a:extLst>
                <a:ext uri="{FF2B5EF4-FFF2-40B4-BE49-F238E27FC236}">
                  <a16:creationId xmlns:a16="http://schemas.microsoft.com/office/drawing/2014/main" id="{10485A6B-5783-4743-A00C-E6176485D922}"/>
                </a:ext>
              </a:extLst>
            </p:cNvPr>
            <p:cNvCxnSpPr>
              <a:cxnSpLocks/>
              <a:stCxn id="9" idx="5"/>
            </p:cNvCxnSpPr>
            <p:nvPr/>
          </p:nvCxnSpPr>
          <p:spPr>
            <a:xfrm>
              <a:off x="1907104" y="3130921"/>
              <a:ext cx="678391" cy="105385"/>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52" name="Group 51">
            <a:extLst>
              <a:ext uri="{FF2B5EF4-FFF2-40B4-BE49-F238E27FC236}">
                <a16:creationId xmlns:a16="http://schemas.microsoft.com/office/drawing/2014/main" id="{0D56BD77-1CD0-4FC0-ABC4-7F3D3C7E2EE3}"/>
              </a:ext>
            </a:extLst>
          </p:cNvPr>
          <p:cNvGrpSpPr/>
          <p:nvPr/>
        </p:nvGrpSpPr>
        <p:grpSpPr>
          <a:xfrm>
            <a:off x="1937384" y="3789000"/>
            <a:ext cx="1800000" cy="1444940"/>
            <a:chOff x="1937384" y="3789000"/>
            <a:chExt cx="1800000" cy="1444940"/>
          </a:xfrm>
        </p:grpSpPr>
        <p:sp>
          <p:nvSpPr>
            <p:cNvPr id="12" name="Oval 11">
              <a:extLst>
                <a:ext uri="{FF2B5EF4-FFF2-40B4-BE49-F238E27FC236}">
                  <a16:creationId xmlns:a16="http://schemas.microsoft.com/office/drawing/2014/main" id="{D277E8C4-3390-4899-A660-D6DD32735ABD}"/>
                </a:ext>
              </a:extLst>
            </p:cNvPr>
            <p:cNvSpPr/>
            <p:nvPr/>
          </p:nvSpPr>
          <p:spPr>
            <a:xfrm>
              <a:off x="1937384" y="4319540"/>
              <a:ext cx="1800000" cy="914400"/>
            </a:xfrm>
            <a:prstGeom prst="ellipse">
              <a:avLst/>
            </a:prstGeom>
            <a:solidFill>
              <a:schemeClr val="accent3">
                <a:lumMod val="20000"/>
                <a:lumOff val="80000"/>
              </a:schemeClr>
            </a:solidFill>
            <a:ln>
              <a:solidFill>
                <a:schemeClr val="tx1"/>
              </a:solidFill>
            </a:ln>
          </p:spPr>
          <p:txBody>
            <a:bodyPr wrap="none" rtlCol="0" anchor="ctr" anchorCtr="0">
              <a:noAutofit/>
            </a:bodyPr>
            <a:lstStyle/>
            <a:p>
              <a:pPr algn="ctr"/>
              <a:r>
                <a:rPr lang="en-GB" sz="2800" dirty="0">
                  <a:solidFill>
                    <a:schemeClr val="tx1"/>
                  </a:solidFill>
                </a:rPr>
                <a:t>phone</a:t>
              </a:r>
            </a:p>
          </p:txBody>
        </p:sp>
        <p:cxnSp>
          <p:nvCxnSpPr>
            <p:cNvPr id="21" name="Straight Connector 20">
              <a:extLst>
                <a:ext uri="{FF2B5EF4-FFF2-40B4-BE49-F238E27FC236}">
                  <a16:creationId xmlns:a16="http://schemas.microsoft.com/office/drawing/2014/main" id="{ADC2E588-24FF-46C2-88F3-2BB1082C5EA1}"/>
                </a:ext>
              </a:extLst>
            </p:cNvPr>
            <p:cNvCxnSpPr>
              <a:cxnSpLocks/>
              <a:stCxn id="12" idx="0"/>
            </p:cNvCxnSpPr>
            <p:nvPr/>
          </p:nvCxnSpPr>
          <p:spPr>
            <a:xfrm flipV="1">
              <a:off x="2837384" y="3789000"/>
              <a:ext cx="112191" cy="530540"/>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61" name="Group 60">
            <a:extLst>
              <a:ext uri="{FF2B5EF4-FFF2-40B4-BE49-F238E27FC236}">
                <a16:creationId xmlns:a16="http://schemas.microsoft.com/office/drawing/2014/main" id="{D4D0F10F-2F03-4B9D-8665-A18C5C7A9963}"/>
              </a:ext>
            </a:extLst>
          </p:cNvPr>
          <p:cNvGrpSpPr/>
          <p:nvPr/>
        </p:nvGrpSpPr>
        <p:grpSpPr>
          <a:xfrm>
            <a:off x="7423595" y="1568778"/>
            <a:ext cx="1800000" cy="1498987"/>
            <a:chOff x="7423595" y="1568778"/>
            <a:chExt cx="1800000" cy="1498987"/>
          </a:xfrm>
        </p:grpSpPr>
        <p:sp>
          <p:nvSpPr>
            <p:cNvPr id="14" name="Oval 13">
              <a:extLst>
                <a:ext uri="{FF2B5EF4-FFF2-40B4-BE49-F238E27FC236}">
                  <a16:creationId xmlns:a16="http://schemas.microsoft.com/office/drawing/2014/main" id="{9AF3FD5B-61AD-4B2C-ACAE-0EAC02263C21}"/>
                </a:ext>
              </a:extLst>
            </p:cNvPr>
            <p:cNvSpPr/>
            <p:nvPr/>
          </p:nvSpPr>
          <p:spPr>
            <a:xfrm>
              <a:off x="7423595" y="1568778"/>
              <a:ext cx="1800000" cy="914400"/>
            </a:xfrm>
            <a:prstGeom prst="ellipse">
              <a:avLst/>
            </a:prstGeom>
            <a:solidFill>
              <a:schemeClr val="accent3">
                <a:lumMod val="20000"/>
                <a:lumOff val="80000"/>
              </a:schemeClr>
            </a:solidFill>
            <a:ln>
              <a:solidFill>
                <a:schemeClr val="tx1"/>
              </a:solidFill>
            </a:ln>
          </p:spPr>
          <p:txBody>
            <a:bodyPr wrap="none" rtlCol="0" anchor="ctr" anchorCtr="0">
              <a:noAutofit/>
            </a:bodyPr>
            <a:lstStyle/>
            <a:p>
              <a:pPr algn="ctr"/>
              <a:r>
                <a:rPr lang="en-GB" sz="2800" u="sng" dirty="0" err="1">
                  <a:solidFill>
                    <a:schemeClr val="tx1"/>
                  </a:solidFill>
                </a:rPr>
                <a:t>pupil</a:t>
              </a:r>
              <a:r>
                <a:rPr lang="en-GB" sz="2800" u="sng" dirty="0" err="1"/>
                <a:t>ID</a:t>
              </a:r>
              <a:endParaRPr lang="en-GB" sz="2800" u="sng" dirty="0">
                <a:solidFill>
                  <a:schemeClr val="tx1"/>
                </a:solidFill>
              </a:endParaRPr>
            </a:p>
          </p:txBody>
        </p:sp>
        <p:cxnSp>
          <p:nvCxnSpPr>
            <p:cNvPr id="32" name="Straight Connector 31">
              <a:extLst>
                <a:ext uri="{FF2B5EF4-FFF2-40B4-BE49-F238E27FC236}">
                  <a16:creationId xmlns:a16="http://schemas.microsoft.com/office/drawing/2014/main" id="{1C339672-81BB-466A-8D80-A0425B807778}"/>
                </a:ext>
              </a:extLst>
            </p:cNvPr>
            <p:cNvCxnSpPr>
              <a:cxnSpLocks/>
              <a:endCxn id="14" idx="4"/>
            </p:cNvCxnSpPr>
            <p:nvPr/>
          </p:nvCxnSpPr>
          <p:spPr>
            <a:xfrm flipV="1">
              <a:off x="8323595" y="2483178"/>
              <a:ext cx="0" cy="584587"/>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58" name="Group 57">
            <a:extLst>
              <a:ext uri="{FF2B5EF4-FFF2-40B4-BE49-F238E27FC236}">
                <a16:creationId xmlns:a16="http://schemas.microsoft.com/office/drawing/2014/main" id="{B9D9B078-0E5B-4A7C-B821-AEE4EDC6A411}"/>
              </a:ext>
            </a:extLst>
          </p:cNvPr>
          <p:cNvGrpSpPr/>
          <p:nvPr/>
        </p:nvGrpSpPr>
        <p:grpSpPr>
          <a:xfrm>
            <a:off x="9371833" y="3764723"/>
            <a:ext cx="1981967" cy="1257396"/>
            <a:chOff x="9371833" y="3764723"/>
            <a:chExt cx="1981967" cy="1257396"/>
          </a:xfrm>
        </p:grpSpPr>
        <p:sp>
          <p:nvSpPr>
            <p:cNvPr id="16" name="Oval 15">
              <a:extLst>
                <a:ext uri="{FF2B5EF4-FFF2-40B4-BE49-F238E27FC236}">
                  <a16:creationId xmlns:a16="http://schemas.microsoft.com/office/drawing/2014/main" id="{D1FDE5C1-F0FA-4D72-8D84-9B12BC8535DC}"/>
                </a:ext>
              </a:extLst>
            </p:cNvPr>
            <p:cNvSpPr/>
            <p:nvPr/>
          </p:nvSpPr>
          <p:spPr>
            <a:xfrm>
              <a:off x="9553800" y="4107719"/>
              <a:ext cx="1800000" cy="914400"/>
            </a:xfrm>
            <a:prstGeom prst="ellipse">
              <a:avLst/>
            </a:prstGeom>
            <a:solidFill>
              <a:schemeClr val="accent3">
                <a:lumMod val="20000"/>
                <a:lumOff val="80000"/>
              </a:schemeClr>
            </a:solidFill>
            <a:ln>
              <a:solidFill>
                <a:schemeClr val="tx1"/>
              </a:solidFill>
            </a:ln>
          </p:spPr>
          <p:txBody>
            <a:bodyPr wrap="none" rtlCol="0" anchor="ctr" anchorCtr="0">
              <a:noAutofit/>
            </a:bodyPr>
            <a:lstStyle/>
            <a:p>
              <a:pPr algn="ctr"/>
              <a:r>
                <a:rPr lang="en-GB" sz="2800" dirty="0">
                  <a:solidFill>
                    <a:schemeClr val="tx1"/>
                  </a:solidFill>
                </a:rPr>
                <a:t>dob</a:t>
              </a:r>
            </a:p>
          </p:txBody>
        </p:sp>
        <p:cxnSp>
          <p:nvCxnSpPr>
            <p:cNvPr id="33" name="Straight Connector 32">
              <a:extLst>
                <a:ext uri="{FF2B5EF4-FFF2-40B4-BE49-F238E27FC236}">
                  <a16:creationId xmlns:a16="http://schemas.microsoft.com/office/drawing/2014/main" id="{D363502B-47D9-44D9-98D3-FB62BCFDB8EE}"/>
                </a:ext>
              </a:extLst>
            </p:cNvPr>
            <p:cNvCxnSpPr>
              <a:cxnSpLocks/>
              <a:stCxn id="16" idx="1"/>
            </p:cNvCxnSpPr>
            <p:nvPr/>
          </p:nvCxnSpPr>
          <p:spPr>
            <a:xfrm flipH="1" flipV="1">
              <a:off x="9371833" y="3764723"/>
              <a:ext cx="445571" cy="476907"/>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59" name="Group 58">
            <a:extLst>
              <a:ext uri="{FF2B5EF4-FFF2-40B4-BE49-F238E27FC236}">
                <a16:creationId xmlns:a16="http://schemas.microsoft.com/office/drawing/2014/main" id="{A58CAA27-35E8-42DD-A934-D79DD09E2242}"/>
              </a:ext>
            </a:extLst>
          </p:cNvPr>
          <p:cNvGrpSpPr/>
          <p:nvPr/>
        </p:nvGrpSpPr>
        <p:grpSpPr>
          <a:xfrm>
            <a:off x="9389049" y="2961191"/>
            <a:ext cx="2368868" cy="914400"/>
            <a:chOff x="9389049" y="2961191"/>
            <a:chExt cx="2368868" cy="914400"/>
          </a:xfrm>
        </p:grpSpPr>
        <p:sp>
          <p:nvSpPr>
            <p:cNvPr id="13" name="Oval 12">
              <a:extLst>
                <a:ext uri="{FF2B5EF4-FFF2-40B4-BE49-F238E27FC236}">
                  <a16:creationId xmlns:a16="http://schemas.microsoft.com/office/drawing/2014/main" id="{075A89E4-4A1D-485C-B9EC-DEBBC86D7E89}"/>
                </a:ext>
              </a:extLst>
            </p:cNvPr>
            <p:cNvSpPr/>
            <p:nvPr/>
          </p:nvSpPr>
          <p:spPr>
            <a:xfrm>
              <a:off x="9957917" y="2961191"/>
              <a:ext cx="1800000" cy="914400"/>
            </a:xfrm>
            <a:prstGeom prst="ellipse">
              <a:avLst/>
            </a:prstGeom>
            <a:solidFill>
              <a:schemeClr val="accent3">
                <a:lumMod val="20000"/>
                <a:lumOff val="80000"/>
              </a:schemeClr>
            </a:solidFill>
            <a:ln>
              <a:solidFill>
                <a:schemeClr val="tx1"/>
              </a:solidFill>
            </a:ln>
          </p:spPr>
          <p:txBody>
            <a:bodyPr wrap="none" rtlCol="0" anchor="ctr" anchorCtr="0">
              <a:noAutofit/>
            </a:bodyPr>
            <a:lstStyle/>
            <a:p>
              <a:pPr algn="ctr"/>
              <a:r>
                <a:rPr lang="en-GB" sz="2800" dirty="0">
                  <a:solidFill>
                    <a:schemeClr val="tx1"/>
                  </a:solidFill>
                </a:rPr>
                <a:t>name</a:t>
              </a:r>
            </a:p>
          </p:txBody>
        </p:sp>
        <p:cxnSp>
          <p:nvCxnSpPr>
            <p:cNvPr id="34" name="Straight Connector 33">
              <a:extLst>
                <a:ext uri="{FF2B5EF4-FFF2-40B4-BE49-F238E27FC236}">
                  <a16:creationId xmlns:a16="http://schemas.microsoft.com/office/drawing/2014/main" id="{E4180CCD-EF44-47B3-A007-9881C129610A}"/>
                </a:ext>
              </a:extLst>
            </p:cNvPr>
            <p:cNvCxnSpPr>
              <a:cxnSpLocks/>
              <a:stCxn id="10" idx="3"/>
              <a:endCxn id="13" idx="2"/>
            </p:cNvCxnSpPr>
            <p:nvPr/>
          </p:nvCxnSpPr>
          <p:spPr>
            <a:xfrm flipV="1">
              <a:off x="9389049" y="3418391"/>
              <a:ext cx="568868" cy="10609"/>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60" name="Group 59">
            <a:extLst>
              <a:ext uri="{FF2B5EF4-FFF2-40B4-BE49-F238E27FC236}">
                <a16:creationId xmlns:a16="http://schemas.microsoft.com/office/drawing/2014/main" id="{2B857C8D-3A4A-4729-BF09-F3B8F3AECD87}"/>
              </a:ext>
            </a:extLst>
          </p:cNvPr>
          <p:cNvGrpSpPr/>
          <p:nvPr/>
        </p:nvGrpSpPr>
        <p:grpSpPr>
          <a:xfrm>
            <a:off x="9389049" y="1884716"/>
            <a:ext cx="1964751" cy="1183049"/>
            <a:chOff x="9389049" y="1884716"/>
            <a:chExt cx="1964751" cy="1183049"/>
          </a:xfrm>
        </p:grpSpPr>
        <p:sp>
          <p:nvSpPr>
            <p:cNvPr id="15" name="Oval 14">
              <a:extLst>
                <a:ext uri="{FF2B5EF4-FFF2-40B4-BE49-F238E27FC236}">
                  <a16:creationId xmlns:a16="http://schemas.microsoft.com/office/drawing/2014/main" id="{FB225561-2443-4256-A1A6-B54AF7114BF3}"/>
                </a:ext>
              </a:extLst>
            </p:cNvPr>
            <p:cNvSpPr/>
            <p:nvPr/>
          </p:nvSpPr>
          <p:spPr>
            <a:xfrm>
              <a:off x="9553800" y="1884716"/>
              <a:ext cx="1800000" cy="914400"/>
            </a:xfrm>
            <a:prstGeom prst="ellipse">
              <a:avLst/>
            </a:prstGeom>
            <a:solidFill>
              <a:schemeClr val="accent3">
                <a:lumMod val="20000"/>
                <a:lumOff val="80000"/>
              </a:schemeClr>
            </a:solidFill>
            <a:ln>
              <a:solidFill>
                <a:schemeClr val="tx1"/>
              </a:solidFill>
            </a:ln>
          </p:spPr>
          <p:txBody>
            <a:bodyPr wrap="none" rtlCol="0" anchor="ctr" anchorCtr="0">
              <a:noAutofit/>
            </a:bodyPr>
            <a:lstStyle/>
            <a:p>
              <a:pPr algn="ctr"/>
              <a:r>
                <a:rPr lang="en-GB" sz="2800" dirty="0" err="1">
                  <a:solidFill>
                    <a:schemeClr val="tx1"/>
                  </a:solidFill>
                </a:rPr>
                <a:t>school</a:t>
              </a:r>
              <a:r>
                <a:rPr lang="en-GB" sz="2800" dirty="0" err="1"/>
                <a:t>ID</a:t>
              </a:r>
              <a:r>
                <a:rPr lang="en-GB" sz="2800" dirty="0">
                  <a:solidFill>
                    <a:schemeClr val="tx1"/>
                  </a:solidFill>
                </a:rPr>
                <a:t>*</a:t>
              </a:r>
            </a:p>
          </p:txBody>
        </p:sp>
        <p:cxnSp>
          <p:nvCxnSpPr>
            <p:cNvPr id="35" name="Straight Connector 34">
              <a:extLst>
                <a:ext uri="{FF2B5EF4-FFF2-40B4-BE49-F238E27FC236}">
                  <a16:creationId xmlns:a16="http://schemas.microsoft.com/office/drawing/2014/main" id="{952C327B-DEFE-4B68-AE0C-18ABA0BD6DCE}"/>
                </a:ext>
              </a:extLst>
            </p:cNvPr>
            <p:cNvCxnSpPr>
              <a:cxnSpLocks/>
              <a:endCxn id="15" idx="3"/>
            </p:cNvCxnSpPr>
            <p:nvPr/>
          </p:nvCxnSpPr>
          <p:spPr>
            <a:xfrm flipV="1">
              <a:off x="9389049" y="2665205"/>
              <a:ext cx="428355" cy="402560"/>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56" name="Group 55">
            <a:extLst>
              <a:ext uri="{FF2B5EF4-FFF2-40B4-BE49-F238E27FC236}">
                <a16:creationId xmlns:a16="http://schemas.microsoft.com/office/drawing/2014/main" id="{A9A41A5E-4CE1-4C76-8182-F8DDB80E5C3B}"/>
              </a:ext>
            </a:extLst>
          </p:cNvPr>
          <p:cNvGrpSpPr/>
          <p:nvPr/>
        </p:nvGrpSpPr>
        <p:grpSpPr>
          <a:xfrm>
            <a:off x="7423595" y="3789000"/>
            <a:ext cx="1800000" cy="1498987"/>
            <a:chOff x="7423595" y="3789000"/>
            <a:chExt cx="1800000" cy="1498987"/>
          </a:xfrm>
        </p:grpSpPr>
        <p:sp>
          <p:nvSpPr>
            <p:cNvPr id="17" name="Oval 16">
              <a:extLst>
                <a:ext uri="{FF2B5EF4-FFF2-40B4-BE49-F238E27FC236}">
                  <a16:creationId xmlns:a16="http://schemas.microsoft.com/office/drawing/2014/main" id="{439C57A0-2966-4A9D-BCF4-8F8A1CD12F93}"/>
                </a:ext>
              </a:extLst>
            </p:cNvPr>
            <p:cNvSpPr/>
            <p:nvPr/>
          </p:nvSpPr>
          <p:spPr>
            <a:xfrm>
              <a:off x="7423595" y="4373587"/>
              <a:ext cx="1800000" cy="914400"/>
            </a:xfrm>
            <a:prstGeom prst="ellipse">
              <a:avLst/>
            </a:prstGeom>
            <a:solidFill>
              <a:schemeClr val="accent3">
                <a:lumMod val="20000"/>
                <a:lumOff val="80000"/>
              </a:schemeClr>
            </a:solidFill>
            <a:ln>
              <a:solidFill>
                <a:schemeClr val="tx1"/>
              </a:solidFill>
            </a:ln>
          </p:spPr>
          <p:txBody>
            <a:bodyPr wrap="none" rtlCol="0" anchor="ctr" anchorCtr="0">
              <a:noAutofit/>
            </a:bodyPr>
            <a:lstStyle/>
            <a:p>
              <a:pPr algn="ctr"/>
              <a:r>
                <a:rPr lang="en-GB" sz="2800" dirty="0">
                  <a:solidFill>
                    <a:schemeClr val="tx1"/>
                  </a:solidFill>
                </a:rPr>
                <a:t>transport</a:t>
              </a:r>
            </a:p>
          </p:txBody>
        </p:sp>
        <p:cxnSp>
          <p:nvCxnSpPr>
            <p:cNvPr id="36" name="Straight Connector 35">
              <a:extLst>
                <a:ext uri="{FF2B5EF4-FFF2-40B4-BE49-F238E27FC236}">
                  <a16:creationId xmlns:a16="http://schemas.microsoft.com/office/drawing/2014/main" id="{23979788-EC2A-4E0D-AB13-38AAB266D02F}"/>
                </a:ext>
              </a:extLst>
            </p:cNvPr>
            <p:cNvCxnSpPr>
              <a:cxnSpLocks/>
              <a:stCxn id="17" idx="0"/>
            </p:cNvCxnSpPr>
            <p:nvPr/>
          </p:nvCxnSpPr>
          <p:spPr>
            <a:xfrm flipV="1">
              <a:off x="8323595" y="3789000"/>
              <a:ext cx="0" cy="584587"/>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sp>
        <p:nvSpPr>
          <p:cNvPr id="49" name="TextBox 48">
            <a:extLst>
              <a:ext uri="{FF2B5EF4-FFF2-40B4-BE49-F238E27FC236}">
                <a16:creationId xmlns:a16="http://schemas.microsoft.com/office/drawing/2014/main" id="{3E2043B9-FD80-4841-9113-F312E768322B}"/>
              </a:ext>
            </a:extLst>
          </p:cNvPr>
          <p:cNvSpPr txBox="1"/>
          <p:nvPr/>
        </p:nvSpPr>
        <p:spPr>
          <a:xfrm>
            <a:off x="1562958" y="6080587"/>
            <a:ext cx="9066084" cy="646331"/>
          </a:xfrm>
          <a:prstGeom prst="rect">
            <a:avLst/>
          </a:prstGeom>
          <a:noFill/>
        </p:spPr>
        <p:txBody>
          <a:bodyPr wrap="square" rtlCol="0" anchor="ctr" anchorCtr="0">
            <a:spAutoFit/>
          </a:bodyPr>
          <a:lstStyle/>
          <a:p>
            <a:r>
              <a:rPr lang="en-GB" sz="3600" b="1" dirty="0">
                <a:solidFill>
                  <a:srgbClr val="7030A0"/>
                </a:solidFill>
              </a:rPr>
              <a:t>PK underlined				FK suffixed with *</a:t>
            </a:r>
          </a:p>
        </p:txBody>
      </p:sp>
      <p:grpSp>
        <p:nvGrpSpPr>
          <p:cNvPr id="62" name="Group 61">
            <a:extLst>
              <a:ext uri="{FF2B5EF4-FFF2-40B4-BE49-F238E27FC236}">
                <a16:creationId xmlns:a16="http://schemas.microsoft.com/office/drawing/2014/main" id="{916F9611-39AE-4C5E-B95D-26153EC73ACB}"/>
              </a:ext>
            </a:extLst>
          </p:cNvPr>
          <p:cNvGrpSpPr/>
          <p:nvPr/>
        </p:nvGrpSpPr>
        <p:grpSpPr>
          <a:xfrm>
            <a:off x="2585495" y="2961191"/>
            <a:ext cx="6803554" cy="827810"/>
            <a:chOff x="2585495" y="2961191"/>
            <a:chExt cx="6803554" cy="827810"/>
          </a:xfrm>
        </p:grpSpPr>
        <p:sp>
          <p:nvSpPr>
            <p:cNvPr id="8" name="Entity 1">
              <a:extLst>
                <a:ext uri="{FF2B5EF4-FFF2-40B4-BE49-F238E27FC236}">
                  <a16:creationId xmlns:a16="http://schemas.microsoft.com/office/drawing/2014/main" id="{9E8D577D-F9B0-4C26-95CB-954FFDF61DBD}"/>
                </a:ext>
              </a:extLst>
            </p:cNvPr>
            <p:cNvSpPr txBox="1"/>
            <p:nvPr/>
          </p:nvSpPr>
          <p:spPr>
            <a:xfrm>
              <a:off x="2585495" y="3069001"/>
              <a:ext cx="1800000" cy="720000"/>
            </a:xfrm>
            <a:prstGeom prst="rect">
              <a:avLst/>
            </a:prstGeom>
            <a:solidFill>
              <a:schemeClr val="accent3">
                <a:lumMod val="20000"/>
                <a:lumOff val="80000"/>
              </a:schemeClr>
            </a:solidFill>
            <a:ln>
              <a:solidFill>
                <a:schemeClr val="tx1"/>
              </a:solidFill>
            </a:ln>
          </p:spPr>
          <p:txBody>
            <a:bodyPr wrap="none" rtlCol="0" anchor="ctr" anchorCtr="0">
              <a:noAutofit/>
            </a:bodyPr>
            <a:lstStyle/>
            <a:p>
              <a:pPr algn="ctr"/>
              <a:r>
                <a:rPr lang="en-GB" sz="3600" dirty="0"/>
                <a:t>school</a:t>
              </a:r>
            </a:p>
          </p:txBody>
        </p:sp>
        <p:sp>
          <p:nvSpPr>
            <p:cNvPr id="10" name="Entity 2">
              <a:extLst>
                <a:ext uri="{FF2B5EF4-FFF2-40B4-BE49-F238E27FC236}">
                  <a16:creationId xmlns:a16="http://schemas.microsoft.com/office/drawing/2014/main" id="{06B8E8D6-C037-4571-B1CB-E4BD14A48ED7}"/>
                </a:ext>
              </a:extLst>
            </p:cNvPr>
            <p:cNvSpPr txBox="1"/>
            <p:nvPr/>
          </p:nvSpPr>
          <p:spPr>
            <a:xfrm>
              <a:off x="7589049" y="3069000"/>
              <a:ext cx="1800000" cy="720000"/>
            </a:xfrm>
            <a:prstGeom prst="rect">
              <a:avLst/>
            </a:prstGeom>
            <a:solidFill>
              <a:schemeClr val="accent3">
                <a:lumMod val="20000"/>
                <a:lumOff val="80000"/>
              </a:schemeClr>
            </a:solidFill>
            <a:ln>
              <a:solidFill>
                <a:schemeClr val="tx1"/>
              </a:solidFill>
            </a:ln>
          </p:spPr>
          <p:txBody>
            <a:bodyPr wrap="none" rtlCol="0" anchor="ctr" anchorCtr="0">
              <a:noAutofit/>
            </a:bodyPr>
            <a:lstStyle/>
            <a:p>
              <a:pPr algn="ctr"/>
              <a:r>
                <a:rPr lang="en-GB" sz="3600" dirty="0"/>
                <a:t>pupil</a:t>
              </a:r>
            </a:p>
          </p:txBody>
        </p:sp>
        <p:grpSp>
          <p:nvGrpSpPr>
            <p:cNvPr id="57" name="Group 56">
              <a:extLst>
                <a:ext uri="{FF2B5EF4-FFF2-40B4-BE49-F238E27FC236}">
                  <a16:creationId xmlns:a16="http://schemas.microsoft.com/office/drawing/2014/main" id="{BE144F85-3270-4860-9FDE-8FAB5774D520}"/>
                </a:ext>
              </a:extLst>
            </p:cNvPr>
            <p:cNvGrpSpPr/>
            <p:nvPr/>
          </p:nvGrpSpPr>
          <p:grpSpPr>
            <a:xfrm>
              <a:off x="4385495" y="2961191"/>
              <a:ext cx="3211009" cy="639107"/>
              <a:chOff x="4385495" y="2961191"/>
              <a:chExt cx="3211009" cy="639107"/>
            </a:xfrm>
          </p:grpSpPr>
          <p:cxnSp>
            <p:nvCxnSpPr>
              <p:cNvPr id="3" name="1 to 1"/>
              <p:cNvCxnSpPr>
                <a:stCxn id="8" idx="3"/>
                <a:endCxn id="10" idx="1"/>
              </p:cNvCxnSpPr>
              <p:nvPr/>
            </p:nvCxnSpPr>
            <p:spPr>
              <a:xfrm flipV="1">
                <a:off x="4385495" y="3429000"/>
                <a:ext cx="3203554" cy="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sp>
            <p:nvSpPr>
              <p:cNvPr id="38" name="TextBox 37">
                <a:extLst>
                  <a:ext uri="{FF2B5EF4-FFF2-40B4-BE49-F238E27FC236}">
                    <a16:creationId xmlns:a16="http://schemas.microsoft.com/office/drawing/2014/main" id="{663E3461-DC5D-48CF-AE13-69B629EAA16E}"/>
                  </a:ext>
                </a:extLst>
              </p:cNvPr>
              <p:cNvSpPr txBox="1"/>
              <p:nvPr/>
            </p:nvSpPr>
            <p:spPr>
              <a:xfrm>
                <a:off x="5349096" y="2961191"/>
                <a:ext cx="1493807" cy="523220"/>
              </a:xfrm>
              <a:prstGeom prst="rect">
                <a:avLst/>
              </a:prstGeom>
              <a:noFill/>
            </p:spPr>
            <p:txBody>
              <a:bodyPr wrap="none" rtlCol="0">
                <a:spAutoFit/>
              </a:bodyPr>
              <a:lstStyle/>
              <a:p>
                <a:r>
                  <a:rPr lang="en-GB" sz="2800" dirty="0"/>
                  <a:t>educates</a:t>
                </a:r>
              </a:p>
            </p:txBody>
          </p:sp>
          <p:cxnSp>
            <p:nvCxnSpPr>
              <p:cNvPr id="50" name="Straight Connector 49">
                <a:extLst>
                  <a:ext uri="{FF2B5EF4-FFF2-40B4-BE49-F238E27FC236}">
                    <a16:creationId xmlns:a16="http://schemas.microsoft.com/office/drawing/2014/main" id="{0942A0ED-EE34-40C7-BC3A-22B3368A4DB2}"/>
                  </a:ext>
                </a:extLst>
              </p:cNvPr>
              <p:cNvCxnSpPr/>
              <p:nvPr/>
            </p:nvCxnSpPr>
            <p:spPr>
              <a:xfrm flipV="1">
                <a:off x="7278205" y="3240299"/>
                <a:ext cx="318299" cy="18870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51" name="Straight Connector 50">
                <a:extLst>
                  <a:ext uri="{FF2B5EF4-FFF2-40B4-BE49-F238E27FC236}">
                    <a16:creationId xmlns:a16="http://schemas.microsoft.com/office/drawing/2014/main" id="{8076E79F-09BA-43A8-8DE2-D8086B539920}"/>
                  </a:ext>
                </a:extLst>
              </p:cNvPr>
              <p:cNvCxnSpPr/>
              <p:nvPr/>
            </p:nvCxnSpPr>
            <p:spPr>
              <a:xfrm>
                <a:off x="7278205" y="3429000"/>
                <a:ext cx="318299" cy="171298"/>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grpSp>
      </p:grpSp>
    </p:spTree>
    <p:extLst>
      <p:ext uri="{BB962C8B-B14F-4D97-AF65-F5344CB8AC3E}">
        <p14:creationId xmlns:p14="http://schemas.microsoft.com/office/powerpoint/2010/main" val="47191048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62"/>
                                        </p:tgtEl>
                                        <p:attrNameLst>
                                          <p:attrName>style.visibility</p:attrName>
                                        </p:attrNameLst>
                                      </p:cBhvr>
                                      <p:to>
                                        <p:strVal val="visible"/>
                                      </p:to>
                                    </p:set>
                                    <p:animEffect transition="in" filter="fade">
                                      <p:cBhvr>
                                        <p:cTn id="7" dur="1000"/>
                                        <p:tgtEl>
                                          <p:spTgt spid="62"/>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55"/>
                                        </p:tgtEl>
                                        <p:attrNameLst>
                                          <p:attrName>style.visibility</p:attrName>
                                        </p:attrNameLst>
                                      </p:cBhvr>
                                      <p:to>
                                        <p:strVal val="visible"/>
                                      </p:to>
                                    </p:set>
                                    <p:animEffect transition="in" filter="fade">
                                      <p:cBhvr>
                                        <p:cTn id="12" dur="1000"/>
                                        <p:tgtEl>
                                          <p:spTgt spid="55"/>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54"/>
                                        </p:tgtEl>
                                        <p:attrNameLst>
                                          <p:attrName>style.visibility</p:attrName>
                                        </p:attrNameLst>
                                      </p:cBhvr>
                                      <p:to>
                                        <p:strVal val="visible"/>
                                      </p:to>
                                    </p:set>
                                    <p:animEffect transition="in" filter="fade">
                                      <p:cBhvr>
                                        <p:cTn id="17" dur="1000"/>
                                        <p:tgtEl>
                                          <p:spTgt spid="54"/>
                                        </p:tgtEl>
                                      </p:cBhvr>
                                    </p:animEffect>
                                  </p:childTnLst>
                                </p:cTn>
                              </p:par>
                            </p:childTnLst>
                          </p:cTn>
                        </p:par>
                        <p:par>
                          <p:cTn id="18" fill="hold">
                            <p:stCondLst>
                              <p:cond delay="1000"/>
                            </p:stCondLst>
                            <p:childTnLst>
                              <p:par>
                                <p:cTn id="19" presetID="10" presetClass="entr" presetSubtype="0" fill="hold" nodeType="afterEffect">
                                  <p:stCondLst>
                                    <p:cond delay="0"/>
                                  </p:stCondLst>
                                  <p:childTnLst>
                                    <p:set>
                                      <p:cBhvr>
                                        <p:cTn id="20" dur="1" fill="hold">
                                          <p:stCondLst>
                                            <p:cond delay="0"/>
                                          </p:stCondLst>
                                        </p:cTn>
                                        <p:tgtEl>
                                          <p:spTgt spid="53"/>
                                        </p:tgtEl>
                                        <p:attrNameLst>
                                          <p:attrName>style.visibility</p:attrName>
                                        </p:attrNameLst>
                                      </p:cBhvr>
                                      <p:to>
                                        <p:strVal val="visible"/>
                                      </p:to>
                                    </p:set>
                                    <p:animEffect transition="in" filter="fade">
                                      <p:cBhvr>
                                        <p:cTn id="21" dur="1000"/>
                                        <p:tgtEl>
                                          <p:spTgt spid="53"/>
                                        </p:tgtEl>
                                      </p:cBhvr>
                                    </p:animEffect>
                                  </p:childTnLst>
                                </p:cTn>
                              </p:par>
                            </p:childTnLst>
                          </p:cTn>
                        </p:par>
                        <p:par>
                          <p:cTn id="22" fill="hold">
                            <p:stCondLst>
                              <p:cond delay="2000"/>
                            </p:stCondLst>
                            <p:childTnLst>
                              <p:par>
                                <p:cTn id="23" presetID="10" presetClass="entr" presetSubtype="0" fill="hold" nodeType="afterEffect">
                                  <p:stCondLst>
                                    <p:cond delay="0"/>
                                  </p:stCondLst>
                                  <p:childTnLst>
                                    <p:set>
                                      <p:cBhvr>
                                        <p:cTn id="24" dur="1" fill="hold">
                                          <p:stCondLst>
                                            <p:cond delay="0"/>
                                          </p:stCondLst>
                                        </p:cTn>
                                        <p:tgtEl>
                                          <p:spTgt spid="52"/>
                                        </p:tgtEl>
                                        <p:attrNameLst>
                                          <p:attrName>style.visibility</p:attrName>
                                        </p:attrNameLst>
                                      </p:cBhvr>
                                      <p:to>
                                        <p:strVal val="visible"/>
                                      </p:to>
                                    </p:set>
                                    <p:animEffect transition="in" filter="fade">
                                      <p:cBhvr>
                                        <p:cTn id="25" dur="1000"/>
                                        <p:tgtEl>
                                          <p:spTgt spid="52"/>
                                        </p:tgtEl>
                                      </p:cBhvr>
                                    </p:animEffect>
                                  </p:childTnLst>
                                </p:cTn>
                              </p:par>
                            </p:childTnLst>
                          </p:cTn>
                        </p:par>
                      </p:childTnLst>
                    </p:cTn>
                  </p:par>
                  <p:par>
                    <p:cTn id="26" fill="hold">
                      <p:stCondLst>
                        <p:cond delay="indefinite"/>
                      </p:stCondLst>
                      <p:childTnLst>
                        <p:par>
                          <p:cTn id="27" fill="hold">
                            <p:stCondLst>
                              <p:cond delay="0"/>
                            </p:stCondLst>
                            <p:childTnLst>
                              <p:par>
                                <p:cTn id="28" presetID="10" presetClass="entr" presetSubtype="0" fill="hold" nodeType="clickEffect">
                                  <p:stCondLst>
                                    <p:cond delay="0"/>
                                  </p:stCondLst>
                                  <p:childTnLst>
                                    <p:set>
                                      <p:cBhvr>
                                        <p:cTn id="29" dur="1" fill="hold">
                                          <p:stCondLst>
                                            <p:cond delay="0"/>
                                          </p:stCondLst>
                                        </p:cTn>
                                        <p:tgtEl>
                                          <p:spTgt spid="61"/>
                                        </p:tgtEl>
                                        <p:attrNameLst>
                                          <p:attrName>style.visibility</p:attrName>
                                        </p:attrNameLst>
                                      </p:cBhvr>
                                      <p:to>
                                        <p:strVal val="visible"/>
                                      </p:to>
                                    </p:set>
                                    <p:animEffect transition="in" filter="fade">
                                      <p:cBhvr>
                                        <p:cTn id="30" dur="1000"/>
                                        <p:tgtEl>
                                          <p:spTgt spid="61"/>
                                        </p:tgtEl>
                                      </p:cBhvr>
                                    </p:animEffect>
                                  </p:childTnLst>
                                </p:cTn>
                              </p:par>
                            </p:childTnLst>
                          </p:cTn>
                        </p:par>
                      </p:childTnLst>
                    </p:cTn>
                  </p:par>
                  <p:par>
                    <p:cTn id="31" fill="hold">
                      <p:stCondLst>
                        <p:cond delay="indefinite"/>
                      </p:stCondLst>
                      <p:childTnLst>
                        <p:par>
                          <p:cTn id="32" fill="hold">
                            <p:stCondLst>
                              <p:cond delay="0"/>
                            </p:stCondLst>
                            <p:childTnLst>
                              <p:par>
                                <p:cTn id="33" presetID="10" presetClass="entr" presetSubtype="0" fill="hold" nodeType="clickEffect">
                                  <p:stCondLst>
                                    <p:cond delay="0"/>
                                  </p:stCondLst>
                                  <p:childTnLst>
                                    <p:set>
                                      <p:cBhvr>
                                        <p:cTn id="34" dur="1" fill="hold">
                                          <p:stCondLst>
                                            <p:cond delay="0"/>
                                          </p:stCondLst>
                                        </p:cTn>
                                        <p:tgtEl>
                                          <p:spTgt spid="60"/>
                                        </p:tgtEl>
                                        <p:attrNameLst>
                                          <p:attrName>style.visibility</p:attrName>
                                        </p:attrNameLst>
                                      </p:cBhvr>
                                      <p:to>
                                        <p:strVal val="visible"/>
                                      </p:to>
                                    </p:set>
                                    <p:animEffect transition="in" filter="fade">
                                      <p:cBhvr>
                                        <p:cTn id="35" dur="1000"/>
                                        <p:tgtEl>
                                          <p:spTgt spid="60"/>
                                        </p:tgtEl>
                                      </p:cBhvr>
                                    </p:animEffect>
                                  </p:childTnLst>
                                </p:cTn>
                              </p:par>
                            </p:childTnLst>
                          </p:cTn>
                        </p:par>
                      </p:childTnLst>
                    </p:cTn>
                  </p:par>
                  <p:par>
                    <p:cTn id="36" fill="hold">
                      <p:stCondLst>
                        <p:cond delay="indefinite"/>
                      </p:stCondLst>
                      <p:childTnLst>
                        <p:par>
                          <p:cTn id="37" fill="hold">
                            <p:stCondLst>
                              <p:cond delay="0"/>
                            </p:stCondLst>
                            <p:childTnLst>
                              <p:par>
                                <p:cTn id="38" presetID="10" presetClass="entr" presetSubtype="0" fill="hold" nodeType="clickEffect">
                                  <p:stCondLst>
                                    <p:cond delay="0"/>
                                  </p:stCondLst>
                                  <p:childTnLst>
                                    <p:set>
                                      <p:cBhvr>
                                        <p:cTn id="39" dur="1" fill="hold">
                                          <p:stCondLst>
                                            <p:cond delay="0"/>
                                          </p:stCondLst>
                                        </p:cTn>
                                        <p:tgtEl>
                                          <p:spTgt spid="59"/>
                                        </p:tgtEl>
                                        <p:attrNameLst>
                                          <p:attrName>style.visibility</p:attrName>
                                        </p:attrNameLst>
                                      </p:cBhvr>
                                      <p:to>
                                        <p:strVal val="visible"/>
                                      </p:to>
                                    </p:set>
                                    <p:animEffect transition="in" filter="fade">
                                      <p:cBhvr>
                                        <p:cTn id="40" dur="1000"/>
                                        <p:tgtEl>
                                          <p:spTgt spid="59"/>
                                        </p:tgtEl>
                                      </p:cBhvr>
                                    </p:animEffect>
                                  </p:childTnLst>
                                </p:cTn>
                              </p:par>
                            </p:childTnLst>
                          </p:cTn>
                        </p:par>
                        <p:par>
                          <p:cTn id="41" fill="hold">
                            <p:stCondLst>
                              <p:cond delay="1000"/>
                            </p:stCondLst>
                            <p:childTnLst>
                              <p:par>
                                <p:cTn id="42" presetID="10" presetClass="entr" presetSubtype="0" fill="hold" nodeType="afterEffect">
                                  <p:stCondLst>
                                    <p:cond delay="0"/>
                                  </p:stCondLst>
                                  <p:childTnLst>
                                    <p:set>
                                      <p:cBhvr>
                                        <p:cTn id="43" dur="1" fill="hold">
                                          <p:stCondLst>
                                            <p:cond delay="0"/>
                                          </p:stCondLst>
                                        </p:cTn>
                                        <p:tgtEl>
                                          <p:spTgt spid="58"/>
                                        </p:tgtEl>
                                        <p:attrNameLst>
                                          <p:attrName>style.visibility</p:attrName>
                                        </p:attrNameLst>
                                      </p:cBhvr>
                                      <p:to>
                                        <p:strVal val="visible"/>
                                      </p:to>
                                    </p:set>
                                    <p:animEffect transition="in" filter="fade">
                                      <p:cBhvr>
                                        <p:cTn id="44" dur="1000"/>
                                        <p:tgtEl>
                                          <p:spTgt spid="58"/>
                                        </p:tgtEl>
                                      </p:cBhvr>
                                    </p:animEffect>
                                  </p:childTnLst>
                                </p:cTn>
                              </p:par>
                            </p:childTnLst>
                          </p:cTn>
                        </p:par>
                        <p:par>
                          <p:cTn id="45" fill="hold">
                            <p:stCondLst>
                              <p:cond delay="2000"/>
                            </p:stCondLst>
                            <p:childTnLst>
                              <p:par>
                                <p:cTn id="46" presetID="10" presetClass="entr" presetSubtype="0" fill="hold" nodeType="afterEffect">
                                  <p:stCondLst>
                                    <p:cond delay="0"/>
                                  </p:stCondLst>
                                  <p:childTnLst>
                                    <p:set>
                                      <p:cBhvr>
                                        <p:cTn id="47" dur="1" fill="hold">
                                          <p:stCondLst>
                                            <p:cond delay="0"/>
                                          </p:stCondLst>
                                        </p:cTn>
                                        <p:tgtEl>
                                          <p:spTgt spid="56"/>
                                        </p:tgtEl>
                                        <p:attrNameLst>
                                          <p:attrName>style.visibility</p:attrName>
                                        </p:attrNameLst>
                                      </p:cBhvr>
                                      <p:to>
                                        <p:strVal val="visible"/>
                                      </p:to>
                                    </p:set>
                                    <p:animEffect transition="in" filter="fade">
                                      <p:cBhvr>
                                        <p:cTn id="48" dur="1000"/>
                                        <p:tgtEl>
                                          <p:spTgt spid="56"/>
                                        </p:tgtEl>
                                      </p:cBhvr>
                                    </p:animEffect>
                                  </p:childTnLst>
                                </p:cTn>
                              </p:par>
                            </p:childTnLst>
                          </p:cTn>
                        </p:par>
                      </p:childTnLst>
                    </p:cTn>
                  </p:par>
                  <p:par>
                    <p:cTn id="49" fill="hold">
                      <p:stCondLst>
                        <p:cond delay="indefinite"/>
                      </p:stCondLst>
                      <p:childTnLst>
                        <p:par>
                          <p:cTn id="50" fill="hold">
                            <p:stCondLst>
                              <p:cond delay="0"/>
                            </p:stCondLst>
                            <p:childTnLst>
                              <p:par>
                                <p:cTn id="51" presetID="22" presetClass="entr" presetSubtype="8" fill="hold" grpId="0" nodeType="clickEffect">
                                  <p:stCondLst>
                                    <p:cond delay="0"/>
                                  </p:stCondLst>
                                  <p:childTnLst>
                                    <p:set>
                                      <p:cBhvr>
                                        <p:cTn id="52" dur="1" fill="hold">
                                          <p:stCondLst>
                                            <p:cond delay="0"/>
                                          </p:stCondLst>
                                        </p:cTn>
                                        <p:tgtEl>
                                          <p:spTgt spid="49">
                                            <p:txEl>
                                              <p:pRg st="0" end="0"/>
                                            </p:txEl>
                                          </p:spTgt>
                                        </p:tgtEl>
                                        <p:attrNameLst>
                                          <p:attrName>style.visibility</p:attrName>
                                        </p:attrNameLst>
                                      </p:cBhvr>
                                      <p:to>
                                        <p:strVal val="visible"/>
                                      </p:to>
                                    </p:set>
                                    <p:animEffect transition="in" filter="wipe(left)">
                                      <p:cBhvr>
                                        <p:cTn id="53" dur="2000"/>
                                        <p:tgtEl>
                                          <p:spTgt spid="49">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9" grpId="0" uiExpand="1" build="p"/>
    </p:bldLst>
  </p:timing>
</p:sld>
</file>

<file path=ppt/slides/slide189.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2630251-0176-4E08-9A40-5821ACD1944C}"/>
              </a:ext>
            </a:extLst>
          </p:cNvPr>
          <p:cNvSpPr>
            <a:spLocks noGrp="1"/>
          </p:cNvSpPr>
          <p:nvPr>
            <p:ph type="title"/>
          </p:nvPr>
        </p:nvSpPr>
        <p:spPr>
          <a:xfrm>
            <a:off x="838200" y="327025"/>
            <a:ext cx="10515600" cy="1325563"/>
          </a:xfrm>
        </p:spPr>
        <p:txBody>
          <a:bodyPr/>
          <a:lstStyle/>
          <a:p>
            <a:r>
              <a:rPr lang="en-GB" dirty="0"/>
              <a:t>ER Diagram – Attributes (1)</a:t>
            </a:r>
          </a:p>
        </p:txBody>
      </p:sp>
      <p:grpSp>
        <p:nvGrpSpPr>
          <p:cNvPr id="55" name="Group 54">
            <a:extLst>
              <a:ext uri="{FF2B5EF4-FFF2-40B4-BE49-F238E27FC236}">
                <a16:creationId xmlns:a16="http://schemas.microsoft.com/office/drawing/2014/main" id="{149B0774-C7D1-4C4C-99C9-9631A3216CDF}"/>
              </a:ext>
            </a:extLst>
          </p:cNvPr>
          <p:cNvGrpSpPr/>
          <p:nvPr/>
        </p:nvGrpSpPr>
        <p:grpSpPr>
          <a:xfrm>
            <a:off x="1959902" y="1624062"/>
            <a:ext cx="1800000" cy="1444938"/>
            <a:chOff x="1959902" y="1624062"/>
            <a:chExt cx="1800000" cy="1444938"/>
          </a:xfrm>
        </p:grpSpPr>
        <p:sp>
          <p:nvSpPr>
            <p:cNvPr id="2" name="Oval 1">
              <a:extLst>
                <a:ext uri="{FF2B5EF4-FFF2-40B4-BE49-F238E27FC236}">
                  <a16:creationId xmlns:a16="http://schemas.microsoft.com/office/drawing/2014/main" id="{21A43677-27D9-48A8-975B-DEB27D9BB20F}"/>
                </a:ext>
              </a:extLst>
            </p:cNvPr>
            <p:cNvSpPr/>
            <p:nvPr/>
          </p:nvSpPr>
          <p:spPr>
            <a:xfrm>
              <a:off x="1959902" y="1624062"/>
              <a:ext cx="1800000" cy="914400"/>
            </a:xfrm>
            <a:prstGeom prst="ellipse">
              <a:avLst/>
            </a:prstGeom>
            <a:solidFill>
              <a:schemeClr val="accent3">
                <a:lumMod val="20000"/>
                <a:lumOff val="80000"/>
              </a:schemeClr>
            </a:solidFill>
            <a:ln>
              <a:solidFill>
                <a:schemeClr val="tx1"/>
              </a:solidFill>
            </a:ln>
          </p:spPr>
          <p:txBody>
            <a:bodyPr wrap="none" rtlCol="0" anchor="ctr" anchorCtr="0">
              <a:noAutofit/>
            </a:bodyPr>
            <a:lstStyle/>
            <a:p>
              <a:pPr algn="ctr"/>
              <a:r>
                <a:rPr lang="en-GB" sz="2800" u="sng" dirty="0" err="1">
                  <a:solidFill>
                    <a:schemeClr val="tx1"/>
                  </a:solidFill>
                </a:rPr>
                <a:t>school</a:t>
              </a:r>
              <a:r>
                <a:rPr lang="en-GB" sz="2800" u="sng" dirty="0" err="1"/>
                <a:t>ID</a:t>
              </a:r>
              <a:endParaRPr lang="en-GB" sz="2800" u="sng" dirty="0">
                <a:solidFill>
                  <a:schemeClr val="tx1"/>
                </a:solidFill>
              </a:endParaRPr>
            </a:p>
          </p:txBody>
        </p:sp>
        <p:cxnSp>
          <p:nvCxnSpPr>
            <p:cNvPr id="6" name="Straight Connector 5">
              <a:extLst>
                <a:ext uri="{FF2B5EF4-FFF2-40B4-BE49-F238E27FC236}">
                  <a16:creationId xmlns:a16="http://schemas.microsoft.com/office/drawing/2014/main" id="{51E61048-4DC4-40F3-94CC-C5CD653D9600}"/>
                </a:ext>
              </a:extLst>
            </p:cNvPr>
            <p:cNvCxnSpPr>
              <a:cxnSpLocks/>
              <a:stCxn id="2" idx="4"/>
            </p:cNvCxnSpPr>
            <p:nvPr/>
          </p:nvCxnSpPr>
          <p:spPr>
            <a:xfrm>
              <a:off x="2859902" y="2538462"/>
              <a:ext cx="56952" cy="530538"/>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53" name="Group 52">
            <a:extLst>
              <a:ext uri="{FF2B5EF4-FFF2-40B4-BE49-F238E27FC236}">
                <a16:creationId xmlns:a16="http://schemas.microsoft.com/office/drawing/2014/main" id="{7C9D8FE7-F5B1-460F-8DBD-A896B3C16BC9}"/>
              </a:ext>
            </a:extLst>
          </p:cNvPr>
          <p:cNvGrpSpPr/>
          <p:nvPr/>
        </p:nvGrpSpPr>
        <p:grpSpPr>
          <a:xfrm>
            <a:off x="370708" y="3603297"/>
            <a:ext cx="2214787" cy="914400"/>
            <a:chOff x="370708" y="3603297"/>
            <a:chExt cx="2214787" cy="914400"/>
          </a:xfrm>
        </p:grpSpPr>
        <p:sp>
          <p:nvSpPr>
            <p:cNvPr id="11" name="Oval 10">
              <a:extLst>
                <a:ext uri="{FF2B5EF4-FFF2-40B4-BE49-F238E27FC236}">
                  <a16:creationId xmlns:a16="http://schemas.microsoft.com/office/drawing/2014/main" id="{DAFD7BF3-36FA-4B1E-8F1D-C6AF4CD5A0AE}"/>
                </a:ext>
              </a:extLst>
            </p:cNvPr>
            <p:cNvSpPr/>
            <p:nvPr/>
          </p:nvSpPr>
          <p:spPr>
            <a:xfrm>
              <a:off x="370708" y="3603297"/>
              <a:ext cx="1800000" cy="914400"/>
            </a:xfrm>
            <a:prstGeom prst="ellipse">
              <a:avLst/>
            </a:prstGeom>
            <a:solidFill>
              <a:schemeClr val="accent3">
                <a:lumMod val="20000"/>
                <a:lumOff val="80000"/>
              </a:schemeClr>
            </a:solidFill>
            <a:ln>
              <a:solidFill>
                <a:schemeClr val="tx1"/>
              </a:solidFill>
            </a:ln>
          </p:spPr>
          <p:txBody>
            <a:bodyPr wrap="none" rtlCol="0" anchor="ctr" anchorCtr="0">
              <a:noAutofit/>
            </a:bodyPr>
            <a:lstStyle/>
            <a:p>
              <a:pPr algn="ctr"/>
              <a:r>
                <a:rPr lang="en-GB" sz="2800" dirty="0">
                  <a:solidFill>
                    <a:schemeClr val="tx1"/>
                  </a:solidFill>
                </a:rPr>
                <a:t>address</a:t>
              </a:r>
            </a:p>
          </p:txBody>
        </p:sp>
        <p:cxnSp>
          <p:nvCxnSpPr>
            <p:cNvPr id="19" name="Straight Connector 18">
              <a:extLst>
                <a:ext uri="{FF2B5EF4-FFF2-40B4-BE49-F238E27FC236}">
                  <a16:creationId xmlns:a16="http://schemas.microsoft.com/office/drawing/2014/main" id="{4BEE2F6F-A353-4351-A91F-3D3FFE42A696}"/>
                </a:ext>
              </a:extLst>
            </p:cNvPr>
            <p:cNvCxnSpPr>
              <a:cxnSpLocks/>
              <a:stCxn id="11" idx="7"/>
            </p:cNvCxnSpPr>
            <p:nvPr/>
          </p:nvCxnSpPr>
          <p:spPr>
            <a:xfrm flipV="1">
              <a:off x="1907104" y="3648452"/>
              <a:ext cx="678391" cy="88756"/>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54" name="Group 53">
            <a:extLst>
              <a:ext uri="{FF2B5EF4-FFF2-40B4-BE49-F238E27FC236}">
                <a16:creationId xmlns:a16="http://schemas.microsoft.com/office/drawing/2014/main" id="{DEF9C7EE-8BC6-4E2E-9FA2-BB0C270678AD}"/>
              </a:ext>
            </a:extLst>
          </p:cNvPr>
          <p:cNvGrpSpPr/>
          <p:nvPr/>
        </p:nvGrpSpPr>
        <p:grpSpPr>
          <a:xfrm>
            <a:off x="370708" y="2350432"/>
            <a:ext cx="2214787" cy="914400"/>
            <a:chOff x="370708" y="2350432"/>
            <a:chExt cx="2214787" cy="914400"/>
          </a:xfrm>
        </p:grpSpPr>
        <p:sp>
          <p:nvSpPr>
            <p:cNvPr id="9" name="Oval 8">
              <a:extLst>
                <a:ext uri="{FF2B5EF4-FFF2-40B4-BE49-F238E27FC236}">
                  <a16:creationId xmlns:a16="http://schemas.microsoft.com/office/drawing/2014/main" id="{CE907ECB-1838-4B1E-B074-07F7F120418E}"/>
                </a:ext>
              </a:extLst>
            </p:cNvPr>
            <p:cNvSpPr/>
            <p:nvPr/>
          </p:nvSpPr>
          <p:spPr>
            <a:xfrm>
              <a:off x="370708" y="2350432"/>
              <a:ext cx="1800000" cy="914400"/>
            </a:xfrm>
            <a:prstGeom prst="ellipse">
              <a:avLst/>
            </a:prstGeom>
            <a:solidFill>
              <a:schemeClr val="accent3">
                <a:lumMod val="20000"/>
                <a:lumOff val="80000"/>
              </a:schemeClr>
            </a:solidFill>
            <a:ln>
              <a:solidFill>
                <a:schemeClr val="tx1"/>
              </a:solidFill>
            </a:ln>
          </p:spPr>
          <p:txBody>
            <a:bodyPr wrap="none" rtlCol="0" anchor="ctr" anchorCtr="0">
              <a:noAutofit/>
            </a:bodyPr>
            <a:lstStyle/>
            <a:p>
              <a:pPr algn="ctr"/>
              <a:r>
                <a:rPr lang="en-GB" sz="2800" dirty="0">
                  <a:solidFill>
                    <a:schemeClr val="tx1"/>
                  </a:solidFill>
                </a:rPr>
                <a:t>name</a:t>
              </a:r>
            </a:p>
          </p:txBody>
        </p:sp>
        <p:cxnSp>
          <p:nvCxnSpPr>
            <p:cNvPr id="20" name="Straight Connector 19">
              <a:extLst>
                <a:ext uri="{FF2B5EF4-FFF2-40B4-BE49-F238E27FC236}">
                  <a16:creationId xmlns:a16="http://schemas.microsoft.com/office/drawing/2014/main" id="{10485A6B-5783-4743-A00C-E6176485D922}"/>
                </a:ext>
              </a:extLst>
            </p:cNvPr>
            <p:cNvCxnSpPr>
              <a:cxnSpLocks/>
              <a:stCxn id="9" idx="5"/>
            </p:cNvCxnSpPr>
            <p:nvPr/>
          </p:nvCxnSpPr>
          <p:spPr>
            <a:xfrm>
              <a:off x="1907104" y="3130921"/>
              <a:ext cx="678391" cy="105385"/>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52" name="Group 51">
            <a:extLst>
              <a:ext uri="{FF2B5EF4-FFF2-40B4-BE49-F238E27FC236}">
                <a16:creationId xmlns:a16="http://schemas.microsoft.com/office/drawing/2014/main" id="{0D56BD77-1CD0-4FC0-ABC4-7F3D3C7E2EE3}"/>
              </a:ext>
            </a:extLst>
          </p:cNvPr>
          <p:cNvGrpSpPr/>
          <p:nvPr/>
        </p:nvGrpSpPr>
        <p:grpSpPr>
          <a:xfrm>
            <a:off x="1937384" y="3789000"/>
            <a:ext cx="1800000" cy="1444940"/>
            <a:chOff x="1937384" y="3789000"/>
            <a:chExt cx="1800000" cy="1444940"/>
          </a:xfrm>
        </p:grpSpPr>
        <p:sp>
          <p:nvSpPr>
            <p:cNvPr id="12" name="Oval 11">
              <a:extLst>
                <a:ext uri="{FF2B5EF4-FFF2-40B4-BE49-F238E27FC236}">
                  <a16:creationId xmlns:a16="http://schemas.microsoft.com/office/drawing/2014/main" id="{D277E8C4-3390-4899-A660-D6DD32735ABD}"/>
                </a:ext>
              </a:extLst>
            </p:cNvPr>
            <p:cNvSpPr/>
            <p:nvPr/>
          </p:nvSpPr>
          <p:spPr>
            <a:xfrm>
              <a:off x="1937384" y="4319540"/>
              <a:ext cx="1800000" cy="914400"/>
            </a:xfrm>
            <a:prstGeom prst="ellipse">
              <a:avLst/>
            </a:prstGeom>
            <a:solidFill>
              <a:schemeClr val="accent3">
                <a:lumMod val="20000"/>
                <a:lumOff val="80000"/>
              </a:schemeClr>
            </a:solidFill>
            <a:ln>
              <a:solidFill>
                <a:schemeClr val="tx1"/>
              </a:solidFill>
            </a:ln>
          </p:spPr>
          <p:txBody>
            <a:bodyPr wrap="none" rtlCol="0" anchor="ctr" anchorCtr="0">
              <a:noAutofit/>
            </a:bodyPr>
            <a:lstStyle/>
            <a:p>
              <a:pPr algn="ctr"/>
              <a:r>
                <a:rPr lang="en-GB" sz="2800" dirty="0">
                  <a:solidFill>
                    <a:schemeClr val="tx1"/>
                  </a:solidFill>
                </a:rPr>
                <a:t>phone</a:t>
              </a:r>
            </a:p>
          </p:txBody>
        </p:sp>
        <p:cxnSp>
          <p:nvCxnSpPr>
            <p:cNvPr id="21" name="Straight Connector 20">
              <a:extLst>
                <a:ext uri="{FF2B5EF4-FFF2-40B4-BE49-F238E27FC236}">
                  <a16:creationId xmlns:a16="http://schemas.microsoft.com/office/drawing/2014/main" id="{ADC2E588-24FF-46C2-88F3-2BB1082C5EA1}"/>
                </a:ext>
              </a:extLst>
            </p:cNvPr>
            <p:cNvCxnSpPr>
              <a:cxnSpLocks/>
              <a:stCxn id="12" idx="0"/>
            </p:cNvCxnSpPr>
            <p:nvPr/>
          </p:nvCxnSpPr>
          <p:spPr>
            <a:xfrm flipV="1">
              <a:off x="2837384" y="3789000"/>
              <a:ext cx="112191" cy="530540"/>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61" name="Group 60">
            <a:extLst>
              <a:ext uri="{FF2B5EF4-FFF2-40B4-BE49-F238E27FC236}">
                <a16:creationId xmlns:a16="http://schemas.microsoft.com/office/drawing/2014/main" id="{D4D0F10F-2F03-4B9D-8665-A18C5C7A9963}"/>
              </a:ext>
            </a:extLst>
          </p:cNvPr>
          <p:cNvGrpSpPr/>
          <p:nvPr/>
        </p:nvGrpSpPr>
        <p:grpSpPr>
          <a:xfrm>
            <a:off x="7423595" y="1568778"/>
            <a:ext cx="1800000" cy="1498987"/>
            <a:chOff x="7423595" y="1568778"/>
            <a:chExt cx="1800000" cy="1498987"/>
          </a:xfrm>
        </p:grpSpPr>
        <p:sp>
          <p:nvSpPr>
            <p:cNvPr id="14" name="Oval 13">
              <a:extLst>
                <a:ext uri="{FF2B5EF4-FFF2-40B4-BE49-F238E27FC236}">
                  <a16:creationId xmlns:a16="http://schemas.microsoft.com/office/drawing/2014/main" id="{9AF3FD5B-61AD-4B2C-ACAE-0EAC02263C21}"/>
                </a:ext>
              </a:extLst>
            </p:cNvPr>
            <p:cNvSpPr/>
            <p:nvPr/>
          </p:nvSpPr>
          <p:spPr>
            <a:xfrm>
              <a:off x="7423595" y="1568778"/>
              <a:ext cx="1800000" cy="914400"/>
            </a:xfrm>
            <a:prstGeom prst="ellipse">
              <a:avLst/>
            </a:prstGeom>
            <a:solidFill>
              <a:schemeClr val="accent3">
                <a:lumMod val="20000"/>
                <a:lumOff val="80000"/>
              </a:schemeClr>
            </a:solidFill>
            <a:ln>
              <a:solidFill>
                <a:schemeClr val="tx1"/>
              </a:solidFill>
            </a:ln>
          </p:spPr>
          <p:txBody>
            <a:bodyPr wrap="none" rtlCol="0" anchor="ctr" anchorCtr="0">
              <a:noAutofit/>
            </a:bodyPr>
            <a:lstStyle/>
            <a:p>
              <a:pPr algn="ctr"/>
              <a:r>
                <a:rPr lang="en-GB" sz="2800" u="sng" dirty="0" err="1">
                  <a:solidFill>
                    <a:schemeClr val="tx1"/>
                  </a:solidFill>
                </a:rPr>
                <a:t>pupil</a:t>
              </a:r>
              <a:r>
                <a:rPr lang="en-GB" sz="2800" u="sng" dirty="0" err="1"/>
                <a:t>ID</a:t>
              </a:r>
              <a:endParaRPr lang="en-GB" sz="2800" u="sng" dirty="0">
                <a:solidFill>
                  <a:schemeClr val="tx1"/>
                </a:solidFill>
              </a:endParaRPr>
            </a:p>
          </p:txBody>
        </p:sp>
        <p:cxnSp>
          <p:nvCxnSpPr>
            <p:cNvPr id="32" name="Straight Connector 31">
              <a:extLst>
                <a:ext uri="{FF2B5EF4-FFF2-40B4-BE49-F238E27FC236}">
                  <a16:creationId xmlns:a16="http://schemas.microsoft.com/office/drawing/2014/main" id="{1C339672-81BB-466A-8D80-A0425B807778}"/>
                </a:ext>
              </a:extLst>
            </p:cNvPr>
            <p:cNvCxnSpPr>
              <a:cxnSpLocks/>
              <a:endCxn id="14" idx="4"/>
            </p:cNvCxnSpPr>
            <p:nvPr/>
          </p:nvCxnSpPr>
          <p:spPr>
            <a:xfrm flipV="1">
              <a:off x="8323595" y="2483178"/>
              <a:ext cx="0" cy="584587"/>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58" name="Group 57">
            <a:extLst>
              <a:ext uri="{FF2B5EF4-FFF2-40B4-BE49-F238E27FC236}">
                <a16:creationId xmlns:a16="http://schemas.microsoft.com/office/drawing/2014/main" id="{B9D9B078-0E5B-4A7C-B821-AEE4EDC6A411}"/>
              </a:ext>
            </a:extLst>
          </p:cNvPr>
          <p:cNvGrpSpPr/>
          <p:nvPr/>
        </p:nvGrpSpPr>
        <p:grpSpPr>
          <a:xfrm>
            <a:off x="9371833" y="3764723"/>
            <a:ext cx="1981967" cy="1257396"/>
            <a:chOff x="9371833" y="3764723"/>
            <a:chExt cx="1981967" cy="1257396"/>
          </a:xfrm>
        </p:grpSpPr>
        <p:sp>
          <p:nvSpPr>
            <p:cNvPr id="16" name="Oval 15">
              <a:extLst>
                <a:ext uri="{FF2B5EF4-FFF2-40B4-BE49-F238E27FC236}">
                  <a16:creationId xmlns:a16="http://schemas.microsoft.com/office/drawing/2014/main" id="{D1FDE5C1-F0FA-4D72-8D84-9B12BC8535DC}"/>
                </a:ext>
              </a:extLst>
            </p:cNvPr>
            <p:cNvSpPr/>
            <p:nvPr/>
          </p:nvSpPr>
          <p:spPr>
            <a:xfrm>
              <a:off x="9553800" y="4107719"/>
              <a:ext cx="1800000" cy="914400"/>
            </a:xfrm>
            <a:prstGeom prst="ellipse">
              <a:avLst/>
            </a:prstGeom>
            <a:solidFill>
              <a:schemeClr val="accent3">
                <a:lumMod val="20000"/>
                <a:lumOff val="80000"/>
              </a:schemeClr>
            </a:solidFill>
            <a:ln>
              <a:solidFill>
                <a:schemeClr val="tx1"/>
              </a:solidFill>
            </a:ln>
          </p:spPr>
          <p:txBody>
            <a:bodyPr wrap="none" rtlCol="0" anchor="ctr" anchorCtr="0">
              <a:noAutofit/>
            </a:bodyPr>
            <a:lstStyle/>
            <a:p>
              <a:pPr algn="ctr"/>
              <a:r>
                <a:rPr lang="en-GB" sz="2800" dirty="0">
                  <a:solidFill>
                    <a:schemeClr val="tx1"/>
                  </a:solidFill>
                </a:rPr>
                <a:t>dob</a:t>
              </a:r>
            </a:p>
          </p:txBody>
        </p:sp>
        <p:cxnSp>
          <p:nvCxnSpPr>
            <p:cNvPr id="33" name="Straight Connector 32">
              <a:extLst>
                <a:ext uri="{FF2B5EF4-FFF2-40B4-BE49-F238E27FC236}">
                  <a16:creationId xmlns:a16="http://schemas.microsoft.com/office/drawing/2014/main" id="{D363502B-47D9-44D9-98D3-FB62BCFDB8EE}"/>
                </a:ext>
              </a:extLst>
            </p:cNvPr>
            <p:cNvCxnSpPr>
              <a:cxnSpLocks/>
              <a:stCxn id="16" idx="1"/>
            </p:cNvCxnSpPr>
            <p:nvPr/>
          </p:nvCxnSpPr>
          <p:spPr>
            <a:xfrm flipH="1" flipV="1">
              <a:off x="9371833" y="3764723"/>
              <a:ext cx="445571" cy="476907"/>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59" name="Group 58">
            <a:extLst>
              <a:ext uri="{FF2B5EF4-FFF2-40B4-BE49-F238E27FC236}">
                <a16:creationId xmlns:a16="http://schemas.microsoft.com/office/drawing/2014/main" id="{A58CAA27-35E8-42DD-A934-D79DD09E2242}"/>
              </a:ext>
            </a:extLst>
          </p:cNvPr>
          <p:cNvGrpSpPr/>
          <p:nvPr/>
        </p:nvGrpSpPr>
        <p:grpSpPr>
          <a:xfrm>
            <a:off x="9389049" y="2961191"/>
            <a:ext cx="2368868" cy="914400"/>
            <a:chOff x="9389049" y="2961191"/>
            <a:chExt cx="2368868" cy="914400"/>
          </a:xfrm>
        </p:grpSpPr>
        <p:sp>
          <p:nvSpPr>
            <p:cNvPr id="13" name="Oval 12">
              <a:extLst>
                <a:ext uri="{FF2B5EF4-FFF2-40B4-BE49-F238E27FC236}">
                  <a16:creationId xmlns:a16="http://schemas.microsoft.com/office/drawing/2014/main" id="{075A89E4-4A1D-485C-B9EC-DEBBC86D7E89}"/>
                </a:ext>
              </a:extLst>
            </p:cNvPr>
            <p:cNvSpPr/>
            <p:nvPr/>
          </p:nvSpPr>
          <p:spPr>
            <a:xfrm>
              <a:off x="9957917" y="2961191"/>
              <a:ext cx="1800000" cy="914400"/>
            </a:xfrm>
            <a:prstGeom prst="ellipse">
              <a:avLst/>
            </a:prstGeom>
            <a:solidFill>
              <a:schemeClr val="accent3">
                <a:lumMod val="20000"/>
                <a:lumOff val="80000"/>
              </a:schemeClr>
            </a:solidFill>
            <a:ln>
              <a:solidFill>
                <a:schemeClr val="tx1"/>
              </a:solidFill>
            </a:ln>
          </p:spPr>
          <p:txBody>
            <a:bodyPr wrap="none" rtlCol="0" anchor="ctr" anchorCtr="0">
              <a:noAutofit/>
            </a:bodyPr>
            <a:lstStyle/>
            <a:p>
              <a:pPr algn="ctr"/>
              <a:r>
                <a:rPr lang="en-GB" sz="2800" dirty="0">
                  <a:solidFill>
                    <a:schemeClr val="tx1"/>
                  </a:solidFill>
                </a:rPr>
                <a:t>name</a:t>
              </a:r>
            </a:p>
          </p:txBody>
        </p:sp>
        <p:cxnSp>
          <p:nvCxnSpPr>
            <p:cNvPr id="34" name="Straight Connector 33">
              <a:extLst>
                <a:ext uri="{FF2B5EF4-FFF2-40B4-BE49-F238E27FC236}">
                  <a16:creationId xmlns:a16="http://schemas.microsoft.com/office/drawing/2014/main" id="{E4180CCD-EF44-47B3-A007-9881C129610A}"/>
                </a:ext>
              </a:extLst>
            </p:cNvPr>
            <p:cNvCxnSpPr>
              <a:cxnSpLocks/>
              <a:stCxn id="10" idx="3"/>
              <a:endCxn id="13" idx="2"/>
            </p:cNvCxnSpPr>
            <p:nvPr/>
          </p:nvCxnSpPr>
          <p:spPr>
            <a:xfrm flipV="1">
              <a:off x="9389049" y="3418391"/>
              <a:ext cx="568868" cy="10609"/>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60" name="Group 59">
            <a:extLst>
              <a:ext uri="{FF2B5EF4-FFF2-40B4-BE49-F238E27FC236}">
                <a16:creationId xmlns:a16="http://schemas.microsoft.com/office/drawing/2014/main" id="{2B857C8D-3A4A-4729-BF09-F3B8F3AECD87}"/>
              </a:ext>
            </a:extLst>
          </p:cNvPr>
          <p:cNvGrpSpPr/>
          <p:nvPr/>
        </p:nvGrpSpPr>
        <p:grpSpPr>
          <a:xfrm>
            <a:off x="9389049" y="1884716"/>
            <a:ext cx="1964751" cy="1183049"/>
            <a:chOff x="9389049" y="1884716"/>
            <a:chExt cx="1964751" cy="1183049"/>
          </a:xfrm>
        </p:grpSpPr>
        <p:sp>
          <p:nvSpPr>
            <p:cNvPr id="15" name="Oval 14">
              <a:extLst>
                <a:ext uri="{FF2B5EF4-FFF2-40B4-BE49-F238E27FC236}">
                  <a16:creationId xmlns:a16="http://schemas.microsoft.com/office/drawing/2014/main" id="{FB225561-2443-4256-A1A6-B54AF7114BF3}"/>
                </a:ext>
              </a:extLst>
            </p:cNvPr>
            <p:cNvSpPr/>
            <p:nvPr/>
          </p:nvSpPr>
          <p:spPr>
            <a:xfrm>
              <a:off x="9553800" y="1884716"/>
              <a:ext cx="1800000" cy="914400"/>
            </a:xfrm>
            <a:prstGeom prst="ellipse">
              <a:avLst/>
            </a:prstGeom>
            <a:solidFill>
              <a:schemeClr val="accent3">
                <a:lumMod val="20000"/>
                <a:lumOff val="80000"/>
              </a:schemeClr>
            </a:solidFill>
            <a:ln>
              <a:solidFill>
                <a:schemeClr val="tx1"/>
              </a:solidFill>
            </a:ln>
          </p:spPr>
          <p:txBody>
            <a:bodyPr wrap="none" rtlCol="0" anchor="ctr" anchorCtr="0">
              <a:noAutofit/>
            </a:bodyPr>
            <a:lstStyle/>
            <a:p>
              <a:pPr algn="ctr"/>
              <a:r>
                <a:rPr lang="en-GB" sz="2800" dirty="0" err="1">
                  <a:solidFill>
                    <a:schemeClr val="tx1"/>
                  </a:solidFill>
                </a:rPr>
                <a:t>school</a:t>
              </a:r>
              <a:r>
                <a:rPr lang="en-GB" sz="2800" dirty="0" err="1"/>
                <a:t>ID</a:t>
              </a:r>
              <a:r>
                <a:rPr lang="en-GB" sz="2800" dirty="0">
                  <a:solidFill>
                    <a:schemeClr val="tx1"/>
                  </a:solidFill>
                </a:rPr>
                <a:t>*</a:t>
              </a:r>
            </a:p>
          </p:txBody>
        </p:sp>
        <p:cxnSp>
          <p:nvCxnSpPr>
            <p:cNvPr id="35" name="Straight Connector 34">
              <a:extLst>
                <a:ext uri="{FF2B5EF4-FFF2-40B4-BE49-F238E27FC236}">
                  <a16:creationId xmlns:a16="http://schemas.microsoft.com/office/drawing/2014/main" id="{952C327B-DEFE-4B68-AE0C-18ABA0BD6DCE}"/>
                </a:ext>
              </a:extLst>
            </p:cNvPr>
            <p:cNvCxnSpPr>
              <a:cxnSpLocks/>
              <a:endCxn id="15" idx="3"/>
            </p:cNvCxnSpPr>
            <p:nvPr/>
          </p:nvCxnSpPr>
          <p:spPr>
            <a:xfrm flipV="1">
              <a:off x="9389049" y="2665205"/>
              <a:ext cx="428355" cy="402560"/>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56" name="Group 55">
            <a:extLst>
              <a:ext uri="{FF2B5EF4-FFF2-40B4-BE49-F238E27FC236}">
                <a16:creationId xmlns:a16="http://schemas.microsoft.com/office/drawing/2014/main" id="{A9A41A5E-4CE1-4C76-8182-F8DDB80E5C3B}"/>
              </a:ext>
            </a:extLst>
          </p:cNvPr>
          <p:cNvGrpSpPr/>
          <p:nvPr/>
        </p:nvGrpSpPr>
        <p:grpSpPr>
          <a:xfrm>
            <a:off x="7423595" y="3789000"/>
            <a:ext cx="1800000" cy="1498987"/>
            <a:chOff x="7423595" y="3789000"/>
            <a:chExt cx="1800000" cy="1498987"/>
          </a:xfrm>
        </p:grpSpPr>
        <p:sp>
          <p:nvSpPr>
            <p:cNvPr id="17" name="Oval 16">
              <a:extLst>
                <a:ext uri="{FF2B5EF4-FFF2-40B4-BE49-F238E27FC236}">
                  <a16:creationId xmlns:a16="http://schemas.microsoft.com/office/drawing/2014/main" id="{439C57A0-2966-4A9D-BCF4-8F8A1CD12F93}"/>
                </a:ext>
              </a:extLst>
            </p:cNvPr>
            <p:cNvSpPr/>
            <p:nvPr/>
          </p:nvSpPr>
          <p:spPr>
            <a:xfrm>
              <a:off x="7423595" y="4373587"/>
              <a:ext cx="1800000" cy="914400"/>
            </a:xfrm>
            <a:prstGeom prst="ellipse">
              <a:avLst/>
            </a:prstGeom>
            <a:solidFill>
              <a:schemeClr val="accent3">
                <a:lumMod val="20000"/>
                <a:lumOff val="80000"/>
              </a:schemeClr>
            </a:solidFill>
            <a:ln>
              <a:solidFill>
                <a:schemeClr val="tx1"/>
              </a:solidFill>
            </a:ln>
          </p:spPr>
          <p:txBody>
            <a:bodyPr wrap="none" rtlCol="0" anchor="ctr" anchorCtr="0">
              <a:noAutofit/>
            </a:bodyPr>
            <a:lstStyle/>
            <a:p>
              <a:pPr algn="ctr"/>
              <a:r>
                <a:rPr lang="en-GB" sz="2800" dirty="0">
                  <a:solidFill>
                    <a:schemeClr val="tx1"/>
                  </a:solidFill>
                </a:rPr>
                <a:t>transport</a:t>
              </a:r>
            </a:p>
          </p:txBody>
        </p:sp>
        <p:cxnSp>
          <p:nvCxnSpPr>
            <p:cNvPr id="36" name="Straight Connector 35">
              <a:extLst>
                <a:ext uri="{FF2B5EF4-FFF2-40B4-BE49-F238E27FC236}">
                  <a16:creationId xmlns:a16="http://schemas.microsoft.com/office/drawing/2014/main" id="{23979788-EC2A-4E0D-AB13-38AAB266D02F}"/>
                </a:ext>
              </a:extLst>
            </p:cNvPr>
            <p:cNvCxnSpPr>
              <a:cxnSpLocks/>
              <a:stCxn id="17" idx="0"/>
            </p:cNvCxnSpPr>
            <p:nvPr/>
          </p:nvCxnSpPr>
          <p:spPr>
            <a:xfrm flipV="1">
              <a:off x="8323595" y="3789000"/>
              <a:ext cx="0" cy="584587"/>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62" name="Group 61">
            <a:extLst>
              <a:ext uri="{FF2B5EF4-FFF2-40B4-BE49-F238E27FC236}">
                <a16:creationId xmlns:a16="http://schemas.microsoft.com/office/drawing/2014/main" id="{916F9611-39AE-4C5E-B95D-26153EC73ACB}"/>
              </a:ext>
            </a:extLst>
          </p:cNvPr>
          <p:cNvGrpSpPr/>
          <p:nvPr/>
        </p:nvGrpSpPr>
        <p:grpSpPr>
          <a:xfrm>
            <a:off x="2585495" y="3069000"/>
            <a:ext cx="6803554" cy="720001"/>
            <a:chOff x="2585495" y="3069000"/>
            <a:chExt cx="6803554" cy="720001"/>
          </a:xfrm>
        </p:grpSpPr>
        <p:sp>
          <p:nvSpPr>
            <p:cNvPr id="8" name="Entity 1">
              <a:extLst>
                <a:ext uri="{FF2B5EF4-FFF2-40B4-BE49-F238E27FC236}">
                  <a16:creationId xmlns:a16="http://schemas.microsoft.com/office/drawing/2014/main" id="{9E8D577D-F9B0-4C26-95CB-954FFDF61DBD}"/>
                </a:ext>
              </a:extLst>
            </p:cNvPr>
            <p:cNvSpPr txBox="1"/>
            <p:nvPr/>
          </p:nvSpPr>
          <p:spPr>
            <a:xfrm>
              <a:off x="2585495" y="3069001"/>
              <a:ext cx="1800000" cy="720000"/>
            </a:xfrm>
            <a:prstGeom prst="rect">
              <a:avLst/>
            </a:prstGeom>
            <a:solidFill>
              <a:schemeClr val="accent3">
                <a:lumMod val="20000"/>
                <a:lumOff val="80000"/>
              </a:schemeClr>
            </a:solidFill>
            <a:ln>
              <a:solidFill>
                <a:schemeClr val="tx1"/>
              </a:solidFill>
            </a:ln>
          </p:spPr>
          <p:txBody>
            <a:bodyPr wrap="none" rtlCol="0" anchor="ctr" anchorCtr="0">
              <a:noAutofit/>
            </a:bodyPr>
            <a:lstStyle/>
            <a:p>
              <a:pPr algn="ctr"/>
              <a:r>
                <a:rPr lang="en-GB" sz="3600" dirty="0"/>
                <a:t>school</a:t>
              </a:r>
            </a:p>
          </p:txBody>
        </p:sp>
        <p:sp>
          <p:nvSpPr>
            <p:cNvPr id="10" name="Entity 2">
              <a:extLst>
                <a:ext uri="{FF2B5EF4-FFF2-40B4-BE49-F238E27FC236}">
                  <a16:creationId xmlns:a16="http://schemas.microsoft.com/office/drawing/2014/main" id="{06B8E8D6-C037-4571-B1CB-E4BD14A48ED7}"/>
                </a:ext>
              </a:extLst>
            </p:cNvPr>
            <p:cNvSpPr txBox="1"/>
            <p:nvPr/>
          </p:nvSpPr>
          <p:spPr>
            <a:xfrm>
              <a:off x="7589049" y="3069000"/>
              <a:ext cx="1800000" cy="720000"/>
            </a:xfrm>
            <a:prstGeom prst="rect">
              <a:avLst/>
            </a:prstGeom>
            <a:solidFill>
              <a:schemeClr val="accent3">
                <a:lumMod val="20000"/>
                <a:lumOff val="80000"/>
              </a:schemeClr>
            </a:solidFill>
            <a:ln>
              <a:solidFill>
                <a:schemeClr val="tx1"/>
              </a:solidFill>
            </a:ln>
          </p:spPr>
          <p:txBody>
            <a:bodyPr wrap="none" rtlCol="0" anchor="ctr" anchorCtr="0">
              <a:noAutofit/>
            </a:bodyPr>
            <a:lstStyle/>
            <a:p>
              <a:pPr algn="ctr"/>
              <a:r>
                <a:rPr lang="en-GB" sz="3600" dirty="0"/>
                <a:t>pupil</a:t>
              </a:r>
            </a:p>
          </p:txBody>
        </p:sp>
        <p:grpSp>
          <p:nvGrpSpPr>
            <p:cNvPr id="57" name="Group 56">
              <a:extLst>
                <a:ext uri="{FF2B5EF4-FFF2-40B4-BE49-F238E27FC236}">
                  <a16:creationId xmlns:a16="http://schemas.microsoft.com/office/drawing/2014/main" id="{BE144F85-3270-4860-9FDE-8FAB5774D520}"/>
                </a:ext>
              </a:extLst>
            </p:cNvPr>
            <p:cNvGrpSpPr/>
            <p:nvPr/>
          </p:nvGrpSpPr>
          <p:grpSpPr>
            <a:xfrm>
              <a:off x="4385495" y="3240299"/>
              <a:ext cx="3211009" cy="359999"/>
              <a:chOff x="4385495" y="3240299"/>
              <a:chExt cx="3211009" cy="359999"/>
            </a:xfrm>
          </p:grpSpPr>
          <p:cxnSp>
            <p:nvCxnSpPr>
              <p:cNvPr id="3" name="1 to 1"/>
              <p:cNvCxnSpPr>
                <a:stCxn id="8" idx="3"/>
                <a:endCxn id="10" idx="1"/>
              </p:cNvCxnSpPr>
              <p:nvPr/>
            </p:nvCxnSpPr>
            <p:spPr>
              <a:xfrm flipV="1">
                <a:off x="4385495" y="3429000"/>
                <a:ext cx="3203554" cy="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50" name="Straight Connector 49">
                <a:extLst>
                  <a:ext uri="{FF2B5EF4-FFF2-40B4-BE49-F238E27FC236}">
                    <a16:creationId xmlns:a16="http://schemas.microsoft.com/office/drawing/2014/main" id="{0942A0ED-EE34-40C7-BC3A-22B3368A4DB2}"/>
                  </a:ext>
                </a:extLst>
              </p:cNvPr>
              <p:cNvCxnSpPr/>
              <p:nvPr/>
            </p:nvCxnSpPr>
            <p:spPr>
              <a:xfrm flipV="1">
                <a:off x="7278205" y="3240299"/>
                <a:ext cx="318299" cy="18870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51" name="Straight Connector 50">
                <a:extLst>
                  <a:ext uri="{FF2B5EF4-FFF2-40B4-BE49-F238E27FC236}">
                    <a16:creationId xmlns:a16="http://schemas.microsoft.com/office/drawing/2014/main" id="{8076E79F-09BA-43A8-8DE2-D8086B539920}"/>
                  </a:ext>
                </a:extLst>
              </p:cNvPr>
              <p:cNvCxnSpPr/>
              <p:nvPr/>
            </p:nvCxnSpPr>
            <p:spPr>
              <a:xfrm>
                <a:off x="7278205" y="3429000"/>
                <a:ext cx="318299" cy="171298"/>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grpSp>
      </p:grpSp>
    </p:spTree>
    <p:extLst>
      <p:ext uri="{BB962C8B-B14F-4D97-AF65-F5344CB8AC3E}">
        <p14:creationId xmlns:p14="http://schemas.microsoft.com/office/powerpoint/2010/main" val="4039992985"/>
      </p:ext>
    </p:extLst>
  </p:cSld>
  <p:clrMapOvr>
    <a:masterClrMapping/>
  </p:clrMapOvr>
</p:sld>
</file>

<file path=ppt/slides/slide1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2630251-0176-4E08-9A40-5821ACD1944C}"/>
              </a:ext>
            </a:extLst>
          </p:cNvPr>
          <p:cNvSpPr>
            <a:spLocks noGrp="1"/>
          </p:cNvSpPr>
          <p:nvPr>
            <p:ph type="title"/>
          </p:nvPr>
        </p:nvSpPr>
        <p:spPr/>
        <p:txBody>
          <a:bodyPr/>
          <a:lstStyle/>
          <a:p>
            <a:r>
              <a:rPr lang="en-GB" dirty="0"/>
              <a:t>ER Diagram – Attributes (2)</a:t>
            </a:r>
          </a:p>
        </p:txBody>
      </p:sp>
      <p:sp>
        <p:nvSpPr>
          <p:cNvPr id="12" name="TextBox 11">
            <a:extLst>
              <a:ext uri="{FF2B5EF4-FFF2-40B4-BE49-F238E27FC236}">
                <a16:creationId xmlns:a16="http://schemas.microsoft.com/office/drawing/2014/main" id="{04922DB4-E3E8-4CF4-A4E2-621E15D7DA29}"/>
              </a:ext>
            </a:extLst>
          </p:cNvPr>
          <p:cNvSpPr txBox="1"/>
          <p:nvPr/>
        </p:nvSpPr>
        <p:spPr>
          <a:xfrm>
            <a:off x="1566320" y="6080587"/>
            <a:ext cx="9059361" cy="646331"/>
          </a:xfrm>
          <a:prstGeom prst="rect">
            <a:avLst/>
          </a:prstGeom>
          <a:noFill/>
        </p:spPr>
        <p:txBody>
          <a:bodyPr wrap="square" rtlCol="0" anchor="ctr" anchorCtr="0">
            <a:spAutoFit/>
          </a:bodyPr>
          <a:lstStyle/>
          <a:p>
            <a:r>
              <a:rPr lang="en-GB" sz="3600" b="1" dirty="0">
                <a:solidFill>
                  <a:srgbClr val="7030A0"/>
                </a:solidFill>
              </a:rPr>
              <a:t>PK underlined				FK suffixed with *</a:t>
            </a:r>
          </a:p>
        </p:txBody>
      </p:sp>
      <p:grpSp>
        <p:nvGrpSpPr>
          <p:cNvPr id="15" name="Group 14">
            <a:extLst>
              <a:ext uri="{FF2B5EF4-FFF2-40B4-BE49-F238E27FC236}">
                <a16:creationId xmlns:a16="http://schemas.microsoft.com/office/drawing/2014/main" id="{779110AE-3899-4EB1-88A8-02F79F11D5AB}"/>
              </a:ext>
            </a:extLst>
          </p:cNvPr>
          <p:cNvGrpSpPr/>
          <p:nvPr/>
        </p:nvGrpSpPr>
        <p:grpSpPr>
          <a:xfrm>
            <a:off x="4794797" y="2141047"/>
            <a:ext cx="2380233" cy="1209220"/>
            <a:chOff x="4971129" y="2141047"/>
            <a:chExt cx="2203901" cy="1209220"/>
          </a:xfrm>
        </p:grpSpPr>
        <p:grpSp>
          <p:nvGrpSpPr>
            <p:cNvPr id="13" name="Group 12">
              <a:extLst>
                <a:ext uri="{FF2B5EF4-FFF2-40B4-BE49-F238E27FC236}">
                  <a16:creationId xmlns:a16="http://schemas.microsoft.com/office/drawing/2014/main" id="{EC8DFF32-96F2-4571-BBF3-A5D2E50DF81A}"/>
                </a:ext>
              </a:extLst>
            </p:cNvPr>
            <p:cNvGrpSpPr/>
            <p:nvPr/>
          </p:nvGrpSpPr>
          <p:grpSpPr>
            <a:xfrm>
              <a:off x="4971129" y="2643188"/>
              <a:ext cx="2203901" cy="707079"/>
              <a:chOff x="4971129" y="2643188"/>
              <a:chExt cx="2203901" cy="707079"/>
            </a:xfrm>
          </p:grpSpPr>
          <p:cxnSp>
            <p:nvCxnSpPr>
              <p:cNvPr id="9" name="Connector: Elbow 8">
                <a:extLst>
                  <a:ext uri="{FF2B5EF4-FFF2-40B4-BE49-F238E27FC236}">
                    <a16:creationId xmlns:a16="http://schemas.microsoft.com/office/drawing/2014/main" id="{DE6C70CF-28C5-4A35-AB1C-6B47F69960AF}"/>
                  </a:ext>
                </a:extLst>
              </p:cNvPr>
              <p:cNvCxnSpPr>
                <a:cxnSpLocks/>
              </p:cNvCxnSpPr>
              <p:nvPr/>
            </p:nvCxnSpPr>
            <p:spPr>
              <a:xfrm>
                <a:off x="4971129" y="2643188"/>
                <a:ext cx="2203901" cy="535781"/>
              </a:xfrm>
              <a:prstGeom prst="bentConnector3">
                <a:avLst>
                  <a:gd name="adj1" fmla="val 50000"/>
                </a:avLst>
              </a:prstGeom>
              <a:ln w="5715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10" name="Straight Connector 9">
                <a:extLst>
                  <a:ext uri="{FF2B5EF4-FFF2-40B4-BE49-F238E27FC236}">
                    <a16:creationId xmlns:a16="http://schemas.microsoft.com/office/drawing/2014/main" id="{38910025-4C69-4A6E-BF1C-9555FC0FD11D}"/>
                  </a:ext>
                </a:extLst>
              </p:cNvPr>
              <p:cNvCxnSpPr/>
              <p:nvPr/>
            </p:nvCxnSpPr>
            <p:spPr>
              <a:xfrm flipV="1">
                <a:off x="6856731" y="2990268"/>
                <a:ext cx="318299" cy="188701"/>
              </a:xfrm>
              <a:prstGeom prst="line">
                <a:avLst/>
              </a:prstGeom>
              <a:ln w="5715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11" name="Straight Connector 10">
                <a:extLst>
                  <a:ext uri="{FF2B5EF4-FFF2-40B4-BE49-F238E27FC236}">
                    <a16:creationId xmlns:a16="http://schemas.microsoft.com/office/drawing/2014/main" id="{A62F2AB8-D422-4D9C-B9B3-DC00BA244F9E}"/>
                  </a:ext>
                </a:extLst>
              </p:cNvPr>
              <p:cNvCxnSpPr/>
              <p:nvPr/>
            </p:nvCxnSpPr>
            <p:spPr>
              <a:xfrm>
                <a:off x="6856731" y="3178969"/>
                <a:ext cx="318299" cy="171298"/>
              </a:xfrm>
              <a:prstGeom prst="line">
                <a:avLst/>
              </a:prstGeom>
              <a:ln w="57150">
                <a:solidFill>
                  <a:srgbClr val="FF0000"/>
                </a:solidFill>
              </a:ln>
            </p:spPr>
            <p:style>
              <a:lnRef idx="1">
                <a:schemeClr val="accent1"/>
              </a:lnRef>
              <a:fillRef idx="0">
                <a:schemeClr val="accent1"/>
              </a:fillRef>
              <a:effectRef idx="0">
                <a:schemeClr val="accent1"/>
              </a:effectRef>
              <a:fontRef idx="minor">
                <a:schemeClr val="tx1"/>
              </a:fontRef>
            </p:style>
          </p:cxnSp>
        </p:grpSp>
        <p:sp>
          <p:nvSpPr>
            <p:cNvPr id="14" name="TextBox 13">
              <a:extLst>
                <a:ext uri="{FF2B5EF4-FFF2-40B4-BE49-F238E27FC236}">
                  <a16:creationId xmlns:a16="http://schemas.microsoft.com/office/drawing/2014/main" id="{365A4904-DD2F-4FE6-BACB-463E7D0213EC}"/>
                </a:ext>
              </a:extLst>
            </p:cNvPr>
            <p:cNvSpPr txBox="1"/>
            <p:nvPr/>
          </p:nvSpPr>
          <p:spPr>
            <a:xfrm>
              <a:off x="5326176" y="2141047"/>
              <a:ext cx="1493807" cy="523220"/>
            </a:xfrm>
            <a:prstGeom prst="rect">
              <a:avLst/>
            </a:prstGeom>
            <a:noFill/>
          </p:spPr>
          <p:txBody>
            <a:bodyPr wrap="none" rtlCol="0">
              <a:spAutoFit/>
            </a:bodyPr>
            <a:lstStyle/>
            <a:p>
              <a:r>
                <a:rPr lang="en-GB" sz="2800" dirty="0"/>
                <a:t>educates</a:t>
              </a:r>
            </a:p>
          </p:txBody>
        </p:sp>
      </p:grpSp>
      <p:grpSp>
        <p:nvGrpSpPr>
          <p:cNvPr id="18" name="Group 17">
            <a:extLst>
              <a:ext uri="{FF2B5EF4-FFF2-40B4-BE49-F238E27FC236}">
                <a16:creationId xmlns:a16="http://schemas.microsoft.com/office/drawing/2014/main" id="{9B0A13DE-1279-4C56-8488-32B10C503456}"/>
              </a:ext>
            </a:extLst>
          </p:cNvPr>
          <p:cNvGrpSpPr/>
          <p:nvPr/>
        </p:nvGrpSpPr>
        <p:grpSpPr>
          <a:xfrm>
            <a:off x="2997510" y="1690688"/>
            <a:ext cx="1797287" cy="2862322"/>
            <a:chOff x="2197100" y="1720840"/>
            <a:chExt cx="1797287" cy="2862322"/>
          </a:xfrm>
        </p:grpSpPr>
        <p:sp>
          <p:nvSpPr>
            <p:cNvPr id="5" name="TextBox 4">
              <a:extLst>
                <a:ext uri="{FF2B5EF4-FFF2-40B4-BE49-F238E27FC236}">
                  <a16:creationId xmlns:a16="http://schemas.microsoft.com/office/drawing/2014/main" id="{9E8D577D-F9B0-4C26-95CB-954FFDF61DBD}"/>
                </a:ext>
              </a:extLst>
            </p:cNvPr>
            <p:cNvSpPr txBox="1"/>
            <p:nvPr/>
          </p:nvSpPr>
          <p:spPr>
            <a:xfrm>
              <a:off x="2197100" y="1720840"/>
              <a:ext cx="1797287" cy="2862322"/>
            </a:xfrm>
            <a:prstGeom prst="rect">
              <a:avLst/>
            </a:prstGeom>
            <a:solidFill>
              <a:schemeClr val="accent3">
                <a:lumMod val="20000"/>
                <a:lumOff val="80000"/>
              </a:schemeClr>
            </a:solidFill>
            <a:ln>
              <a:solidFill>
                <a:schemeClr val="tx1"/>
              </a:solidFill>
            </a:ln>
          </p:spPr>
          <p:txBody>
            <a:bodyPr wrap="none" rtlCol="0">
              <a:spAutoFit/>
            </a:bodyPr>
            <a:lstStyle/>
            <a:p>
              <a:r>
                <a:rPr lang="en-GB" sz="3600" b="1" dirty="0">
                  <a:highlight>
                    <a:srgbClr val="C0C0C0"/>
                  </a:highlight>
                </a:rPr>
                <a:t>   </a:t>
              </a:r>
            </a:p>
            <a:p>
              <a:r>
                <a:rPr lang="en-GB" sz="3600" u="sng" dirty="0" err="1"/>
                <a:t>schoolID</a:t>
              </a:r>
              <a:endParaRPr lang="en-GB" sz="3600" u="sng" dirty="0"/>
            </a:p>
            <a:p>
              <a:r>
                <a:rPr lang="en-GB" sz="3600" dirty="0"/>
                <a:t>name</a:t>
              </a:r>
            </a:p>
            <a:p>
              <a:r>
                <a:rPr lang="en-GB" sz="3600" dirty="0"/>
                <a:t>address</a:t>
              </a:r>
            </a:p>
            <a:p>
              <a:r>
                <a:rPr lang="en-GB" sz="3600" dirty="0"/>
                <a:t>phone</a:t>
              </a:r>
            </a:p>
          </p:txBody>
        </p:sp>
        <p:sp>
          <p:nvSpPr>
            <p:cNvPr id="16" name="TextBox 15">
              <a:extLst>
                <a:ext uri="{FF2B5EF4-FFF2-40B4-BE49-F238E27FC236}">
                  <a16:creationId xmlns:a16="http://schemas.microsoft.com/office/drawing/2014/main" id="{376D26D0-231A-4B18-94C4-B630246DF9C8}"/>
                </a:ext>
              </a:extLst>
            </p:cNvPr>
            <p:cNvSpPr txBox="1"/>
            <p:nvPr/>
          </p:nvSpPr>
          <p:spPr>
            <a:xfrm>
              <a:off x="2197100" y="1720840"/>
              <a:ext cx="1797287" cy="646331"/>
            </a:xfrm>
            <a:prstGeom prst="rect">
              <a:avLst/>
            </a:prstGeom>
            <a:solidFill>
              <a:schemeClr val="bg2">
                <a:lumMod val="90000"/>
              </a:schemeClr>
            </a:solidFill>
            <a:ln>
              <a:solidFill>
                <a:schemeClr val="tx1"/>
              </a:solidFill>
            </a:ln>
          </p:spPr>
          <p:txBody>
            <a:bodyPr wrap="square" rtlCol="0">
              <a:spAutoFit/>
            </a:bodyPr>
            <a:lstStyle/>
            <a:p>
              <a:r>
                <a:rPr lang="en-GB" sz="3600" b="1" dirty="0"/>
                <a:t>school</a:t>
              </a:r>
            </a:p>
          </p:txBody>
        </p:sp>
      </p:grpSp>
      <p:grpSp>
        <p:nvGrpSpPr>
          <p:cNvPr id="19" name="Group 18">
            <a:extLst>
              <a:ext uri="{FF2B5EF4-FFF2-40B4-BE49-F238E27FC236}">
                <a16:creationId xmlns:a16="http://schemas.microsoft.com/office/drawing/2014/main" id="{1F565CB8-10B5-434D-9118-818C6E69EDA5}"/>
              </a:ext>
            </a:extLst>
          </p:cNvPr>
          <p:cNvGrpSpPr/>
          <p:nvPr/>
        </p:nvGrpSpPr>
        <p:grpSpPr>
          <a:xfrm>
            <a:off x="7175029" y="1690688"/>
            <a:ext cx="2026518" cy="3416320"/>
            <a:chOff x="7175029" y="1690688"/>
            <a:chExt cx="2026518" cy="3416320"/>
          </a:xfrm>
        </p:grpSpPr>
        <p:sp>
          <p:nvSpPr>
            <p:cNvPr id="6" name="TextBox 5">
              <a:extLst>
                <a:ext uri="{FF2B5EF4-FFF2-40B4-BE49-F238E27FC236}">
                  <a16:creationId xmlns:a16="http://schemas.microsoft.com/office/drawing/2014/main" id="{06B8E8D6-C037-4571-B1CB-E4BD14A48ED7}"/>
                </a:ext>
              </a:extLst>
            </p:cNvPr>
            <p:cNvSpPr txBox="1"/>
            <p:nvPr/>
          </p:nvSpPr>
          <p:spPr>
            <a:xfrm>
              <a:off x="7175030" y="1690688"/>
              <a:ext cx="2026517" cy="3416320"/>
            </a:xfrm>
            <a:prstGeom prst="rect">
              <a:avLst/>
            </a:prstGeom>
            <a:solidFill>
              <a:schemeClr val="accent3">
                <a:lumMod val="20000"/>
                <a:lumOff val="80000"/>
              </a:schemeClr>
            </a:solidFill>
            <a:ln>
              <a:solidFill>
                <a:schemeClr val="tx1"/>
              </a:solidFill>
            </a:ln>
          </p:spPr>
          <p:txBody>
            <a:bodyPr wrap="none" rtlCol="0">
              <a:spAutoFit/>
            </a:bodyPr>
            <a:lstStyle/>
            <a:p>
              <a:endParaRPr lang="en-GB" sz="3600" b="1" dirty="0"/>
            </a:p>
            <a:p>
              <a:r>
                <a:rPr lang="en-GB" sz="3600" u="sng" dirty="0" err="1"/>
                <a:t>pupilID</a:t>
              </a:r>
              <a:endParaRPr lang="en-GB" sz="3600" u="sng" dirty="0"/>
            </a:p>
            <a:p>
              <a:r>
                <a:rPr lang="en-GB" sz="3600" dirty="0" err="1"/>
                <a:t>schoolID</a:t>
              </a:r>
              <a:r>
                <a:rPr lang="en-GB" sz="3600" dirty="0"/>
                <a:t>*</a:t>
              </a:r>
            </a:p>
            <a:p>
              <a:r>
                <a:rPr lang="en-GB" sz="3600" dirty="0"/>
                <a:t>name</a:t>
              </a:r>
            </a:p>
            <a:p>
              <a:r>
                <a:rPr lang="en-GB" sz="3600" dirty="0"/>
                <a:t>dob</a:t>
              </a:r>
            </a:p>
            <a:p>
              <a:r>
                <a:rPr lang="en-GB" sz="3600" dirty="0"/>
                <a:t>transport</a:t>
              </a:r>
            </a:p>
          </p:txBody>
        </p:sp>
        <p:sp>
          <p:nvSpPr>
            <p:cNvPr id="17" name="TextBox 16">
              <a:extLst>
                <a:ext uri="{FF2B5EF4-FFF2-40B4-BE49-F238E27FC236}">
                  <a16:creationId xmlns:a16="http://schemas.microsoft.com/office/drawing/2014/main" id="{F7586BB6-2057-4CF7-A670-A8A12468AEB7}"/>
                </a:ext>
              </a:extLst>
            </p:cNvPr>
            <p:cNvSpPr txBox="1"/>
            <p:nvPr/>
          </p:nvSpPr>
          <p:spPr>
            <a:xfrm>
              <a:off x="7175029" y="1690688"/>
              <a:ext cx="2026518" cy="646331"/>
            </a:xfrm>
            <a:prstGeom prst="rect">
              <a:avLst/>
            </a:prstGeom>
            <a:solidFill>
              <a:schemeClr val="bg2">
                <a:lumMod val="90000"/>
              </a:schemeClr>
            </a:solidFill>
            <a:ln>
              <a:solidFill>
                <a:schemeClr val="tx1"/>
              </a:solidFill>
            </a:ln>
          </p:spPr>
          <p:txBody>
            <a:bodyPr wrap="square" rtlCol="0">
              <a:spAutoFit/>
            </a:bodyPr>
            <a:lstStyle/>
            <a:p>
              <a:r>
                <a:rPr lang="en-GB" sz="3600" b="1" dirty="0"/>
                <a:t>pupil</a:t>
              </a:r>
            </a:p>
          </p:txBody>
        </p:sp>
      </p:grpSp>
    </p:spTree>
    <p:extLst>
      <p:ext uri="{BB962C8B-B14F-4D97-AF65-F5344CB8AC3E}">
        <p14:creationId xmlns:p14="http://schemas.microsoft.com/office/powerpoint/2010/main" val="59210035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8"/>
                                        </p:tgtEl>
                                        <p:attrNameLst>
                                          <p:attrName>style.visibility</p:attrName>
                                        </p:attrNameLst>
                                      </p:cBhvr>
                                      <p:to>
                                        <p:strVal val="visible"/>
                                      </p:to>
                                    </p:set>
                                    <p:animEffect transition="in" filter="fade">
                                      <p:cBhvr>
                                        <p:cTn id="7" dur="1000"/>
                                        <p:tgtEl>
                                          <p:spTgt spid="18"/>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19"/>
                                        </p:tgtEl>
                                        <p:attrNameLst>
                                          <p:attrName>style.visibility</p:attrName>
                                        </p:attrNameLst>
                                      </p:cBhvr>
                                      <p:to>
                                        <p:strVal val="visible"/>
                                      </p:to>
                                    </p:set>
                                    <p:animEffect transition="in" filter="fade">
                                      <p:cBhvr>
                                        <p:cTn id="12" dur="1000"/>
                                        <p:tgtEl>
                                          <p:spTgt spid="19"/>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15"/>
                                        </p:tgtEl>
                                        <p:attrNameLst>
                                          <p:attrName>style.visibility</p:attrName>
                                        </p:attrNameLst>
                                      </p:cBhvr>
                                      <p:to>
                                        <p:strVal val="visible"/>
                                      </p:to>
                                    </p:set>
                                    <p:animEffect transition="in" filter="fade">
                                      <p:cBhvr>
                                        <p:cTn id="17" dur="1000"/>
                                        <p:tgtEl>
                                          <p:spTgt spid="15"/>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12">
                                            <p:txEl>
                                              <p:pRg st="0" end="0"/>
                                            </p:txEl>
                                          </p:spTgt>
                                        </p:tgtEl>
                                        <p:attrNameLst>
                                          <p:attrName>style.visibility</p:attrName>
                                        </p:attrNameLst>
                                      </p:cBhvr>
                                      <p:to>
                                        <p:strVal val="visible"/>
                                      </p:to>
                                    </p:set>
                                    <p:animEffect transition="in" filter="wipe(left)">
                                      <p:cBhvr>
                                        <p:cTn id="22" dur="2000"/>
                                        <p:tgtEl>
                                          <p:spTgt spid="12">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 grpId="0" uiExpand="1" build="p"/>
    </p:bldLst>
  </p:timing>
</p:sld>
</file>

<file path=ppt/slides/slide19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2630251-0176-4E08-9A40-5821ACD1944C}"/>
              </a:ext>
            </a:extLst>
          </p:cNvPr>
          <p:cNvSpPr>
            <a:spLocks noGrp="1"/>
          </p:cNvSpPr>
          <p:nvPr>
            <p:ph type="title"/>
          </p:nvPr>
        </p:nvSpPr>
        <p:spPr/>
        <p:txBody>
          <a:bodyPr/>
          <a:lstStyle/>
          <a:p>
            <a:r>
              <a:rPr lang="en-GB" dirty="0"/>
              <a:t>ER Diagram – Attributes (2)</a:t>
            </a:r>
          </a:p>
        </p:txBody>
      </p:sp>
      <p:grpSp>
        <p:nvGrpSpPr>
          <p:cNvPr id="13" name="Group 12">
            <a:extLst>
              <a:ext uri="{FF2B5EF4-FFF2-40B4-BE49-F238E27FC236}">
                <a16:creationId xmlns:a16="http://schemas.microsoft.com/office/drawing/2014/main" id="{EC8DFF32-96F2-4571-BBF3-A5D2E50DF81A}"/>
              </a:ext>
            </a:extLst>
          </p:cNvPr>
          <p:cNvGrpSpPr/>
          <p:nvPr/>
        </p:nvGrpSpPr>
        <p:grpSpPr>
          <a:xfrm>
            <a:off x="4794797" y="2643188"/>
            <a:ext cx="2380233" cy="707079"/>
            <a:chOff x="4971129" y="2643188"/>
            <a:chExt cx="2203901" cy="707079"/>
          </a:xfrm>
        </p:grpSpPr>
        <p:cxnSp>
          <p:nvCxnSpPr>
            <p:cNvPr id="9" name="Connector: Elbow 8">
              <a:extLst>
                <a:ext uri="{FF2B5EF4-FFF2-40B4-BE49-F238E27FC236}">
                  <a16:creationId xmlns:a16="http://schemas.microsoft.com/office/drawing/2014/main" id="{DE6C70CF-28C5-4A35-AB1C-6B47F69960AF}"/>
                </a:ext>
              </a:extLst>
            </p:cNvPr>
            <p:cNvCxnSpPr>
              <a:cxnSpLocks/>
            </p:cNvCxnSpPr>
            <p:nvPr/>
          </p:nvCxnSpPr>
          <p:spPr>
            <a:xfrm>
              <a:off x="4971129" y="2643188"/>
              <a:ext cx="2203901" cy="535781"/>
            </a:xfrm>
            <a:prstGeom prst="bentConnector3">
              <a:avLst>
                <a:gd name="adj1" fmla="val 50000"/>
              </a:avLst>
            </a:prstGeom>
            <a:ln w="5715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10" name="Straight Connector 9">
              <a:extLst>
                <a:ext uri="{FF2B5EF4-FFF2-40B4-BE49-F238E27FC236}">
                  <a16:creationId xmlns:a16="http://schemas.microsoft.com/office/drawing/2014/main" id="{38910025-4C69-4A6E-BF1C-9555FC0FD11D}"/>
                </a:ext>
              </a:extLst>
            </p:cNvPr>
            <p:cNvCxnSpPr/>
            <p:nvPr/>
          </p:nvCxnSpPr>
          <p:spPr>
            <a:xfrm flipV="1">
              <a:off x="6856731" y="2990268"/>
              <a:ext cx="318299" cy="188701"/>
            </a:xfrm>
            <a:prstGeom prst="line">
              <a:avLst/>
            </a:prstGeom>
            <a:ln w="5715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11" name="Straight Connector 10">
              <a:extLst>
                <a:ext uri="{FF2B5EF4-FFF2-40B4-BE49-F238E27FC236}">
                  <a16:creationId xmlns:a16="http://schemas.microsoft.com/office/drawing/2014/main" id="{A62F2AB8-D422-4D9C-B9B3-DC00BA244F9E}"/>
                </a:ext>
              </a:extLst>
            </p:cNvPr>
            <p:cNvCxnSpPr/>
            <p:nvPr/>
          </p:nvCxnSpPr>
          <p:spPr>
            <a:xfrm>
              <a:off x="6856731" y="3178969"/>
              <a:ext cx="318299" cy="171298"/>
            </a:xfrm>
            <a:prstGeom prst="line">
              <a:avLst/>
            </a:prstGeom>
            <a:ln w="57150">
              <a:solidFill>
                <a:srgbClr val="FF0000"/>
              </a:solidFill>
            </a:ln>
          </p:spPr>
          <p:style>
            <a:lnRef idx="1">
              <a:schemeClr val="accent1"/>
            </a:lnRef>
            <a:fillRef idx="0">
              <a:schemeClr val="accent1"/>
            </a:fillRef>
            <a:effectRef idx="0">
              <a:schemeClr val="accent1"/>
            </a:effectRef>
            <a:fontRef idx="minor">
              <a:schemeClr val="tx1"/>
            </a:fontRef>
          </p:style>
        </p:cxnSp>
      </p:grpSp>
      <p:grpSp>
        <p:nvGrpSpPr>
          <p:cNvPr id="18" name="Group 17">
            <a:extLst>
              <a:ext uri="{FF2B5EF4-FFF2-40B4-BE49-F238E27FC236}">
                <a16:creationId xmlns:a16="http://schemas.microsoft.com/office/drawing/2014/main" id="{9B0A13DE-1279-4C56-8488-32B10C503456}"/>
              </a:ext>
            </a:extLst>
          </p:cNvPr>
          <p:cNvGrpSpPr/>
          <p:nvPr/>
        </p:nvGrpSpPr>
        <p:grpSpPr>
          <a:xfrm>
            <a:off x="2997510" y="1690688"/>
            <a:ext cx="1797287" cy="2862322"/>
            <a:chOff x="2197100" y="1720840"/>
            <a:chExt cx="1797287" cy="2862322"/>
          </a:xfrm>
        </p:grpSpPr>
        <p:sp>
          <p:nvSpPr>
            <p:cNvPr id="5" name="TextBox 4">
              <a:extLst>
                <a:ext uri="{FF2B5EF4-FFF2-40B4-BE49-F238E27FC236}">
                  <a16:creationId xmlns:a16="http://schemas.microsoft.com/office/drawing/2014/main" id="{9E8D577D-F9B0-4C26-95CB-954FFDF61DBD}"/>
                </a:ext>
              </a:extLst>
            </p:cNvPr>
            <p:cNvSpPr txBox="1"/>
            <p:nvPr/>
          </p:nvSpPr>
          <p:spPr>
            <a:xfrm>
              <a:off x="2197100" y="1720840"/>
              <a:ext cx="1797287" cy="2862322"/>
            </a:xfrm>
            <a:prstGeom prst="rect">
              <a:avLst/>
            </a:prstGeom>
            <a:solidFill>
              <a:schemeClr val="accent3">
                <a:lumMod val="20000"/>
                <a:lumOff val="80000"/>
              </a:schemeClr>
            </a:solidFill>
            <a:ln>
              <a:solidFill>
                <a:schemeClr val="tx1"/>
              </a:solidFill>
            </a:ln>
          </p:spPr>
          <p:txBody>
            <a:bodyPr wrap="none" rtlCol="0">
              <a:spAutoFit/>
            </a:bodyPr>
            <a:lstStyle/>
            <a:p>
              <a:r>
                <a:rPr lang="en-GB" sz="3600" b="1" dirty="0">
                  <a:highlight>
                    <a:srgbClr val="C0C0C0"/>
                  </a:highlight>
                </a:rPr>
                <a:t>   </a:t>
              </a:r>
            </a:p>
            <a:p>
              <a:r>
                <a:rPr lang="en-GB" sz="3600" u="sng" dirty="0" err="1"/>
                <a:t>schoolID</a:t>
              </a:r>
              <a:endParaRPr lang="en-GB" sz="3600" u="sng" dirty="0"/>
            </a:p>
            <a:p>
              <a:r>
                <a:rPr lang="en-GB" sz="3600" dirty="0"/>
                <a:t>name</a:t>
              </a:r>
            </a:p>
            <a:p>
              <a:r>
                <a:rPr lang="en-GB" sz="3600" dirty="0"/>
                <a:t>address</a:t>
              </a:r>
            </a:p>
            <a:p>
              <a:r>
                <a:rPr lang="en-GB" sz="3600" dirty="0"/>
                <a:t>phone</a:t>
              </a:r>
            </a:p>
          </p:txBody>
        </p:sp>
        <p:sp>
          <p:nvSpPr>
            <p:cNvPr id="16" name="TextBox 15">
              <a:extLst>
                <a:ext uri="{FF2B5EF4-FFF2-40B4-BE49-F238E27FC236}">
                  <a16:creationId xmlns:a16="http://schemas.microsoft.com/office/drawing/2014/main" id="{376D26D0-231A-4B18-94C4-B630246DF9C8}"/>
                </a:ext>
              </a:extLst>
            </p:cNvPr>
            <p:cNvSpPr txBox="1"/>
            <p:nvPr/>
          </p:nvSpPr>
          <p:spPr>
            <a:xfrm>
              <a:off x="2197100" y="1720840"/>
              <a:ext cx="1797287" cy="646331"/>
            </a:xfrm>
            <a:prstGeom prst="rect">
              <a:avLst/>
            </a:prstGeom>
            <a:solidFill>
              <a:schemeClr val="bg2">
                <a:lumMod val="90000"/>
              </a:schemeClr>
            </a:solidFill>
            <a:ln>
              <a:solidFill>
                <a:schemeClr val="tx1"/>
              </a:solidFill>
            </a:ln>
          </p:spPr>
          <p:txBody>
            <a:bodyPr wrap="square" rtlCol="0">
              <a:spAutoFit/>
            </a:bodyPr>
            <a:lstStyle/>
            <a:p>
              <a:r>
                <a:rPr lang="en-GB" sz="3600" b="1" dirty="0"/>
                <a:t>school</a:t>
              </a:r>
            </a:p>
          </p:txBody>
        </p:sp>
      </p:grpSp>
      <p:grpSp>
        <p:nvGrpSpPr>
          <p:cNvPr id="19" name="Group 18">
            <a:extLst>
              <a:ext uri="{FF2B5EF4-FFF2-40B4-BE49-F238E27FC236}">
                <a16:creationId xmlns:a16="http://schemas.microsoft.com/office/drawing/2014/main" id="{1F565CB8-10B5-434D-9118-818C6E69EDA5}"/>
              </a:ext>
            </a:extLst>
          </p:cNvPr>
          <p:cNvGrpSpPr/>
          <p:nvPr/>
        </p:nvGrpSpPr>
        <p:grpSpPr>
          <a:xfrm>
            <a:off x="7175029" y="1690688"/>
            <a:ext cx="2026518" cy="3416320"/>
            <a:chOff x="7175029" y="1690688"/>
            <a:chExt cx="2026518" cy="3416320"/>
          </a:xfrm>
        </p:grpSpPr>
        <p:sp>
          <p:nvSpPr>
            <p:cNvPr id="6" name="TextBox 5">
              <a:extLst>
                <a:ext uri="{FF2B5EF4-FFF2-40B4-BE49-F238E27FC236}">
                  <a16:creationId xmlns:a16="http://schemas.microsoft.com/office/drawing/2014/main" id="{06B8E8D6-C037-4571-B1CB-E4BD14A48ED7}"/>
                </a:ext>
              </a:extLst>
            </p:cNvPr>
            <p:cNvSpPr txBox="1"/>
            <p:nvPr/>
          </p:nvSpPr>
          <p:spPr>
            <a:xfrm>
              <a:off x="7175030" y="1690688"/>
              <a:ext cx="2026517" cy="3416320"/>
            </a:xfrm>
            <a:prstGeom prst="rect">
              <a:avLst/>
            </a:prstGeom>
            <a:solidFill>
              <a:schemeClr val="accent3">
                <a:lumMod val="20000"/>
                <a:lumOff val="80000"/>
              </a:schemeClr>
            </a:solidFill>
            <a:ln>
              <a:solidFill>
                <a:schemeClr val="tx1"/>
              </a:solidFill>
            </a:ln>
          </p:spPr>
          <p:txBody>
            <a:bodyPr wrap="none" rtlCol="0">
              <a:spAutoFit/>
            </a:bodyPr>
            <a:lstStyle/>
            <a:p>
              <a:endParaRPr lang="en-GB" sz="3600" b="1" dirty="0"/>
            </a:p>
            <a:p>
              <a:r>
                <a:rPr lang="en-GB" sz="3600" u="sng" dirty="0" err="1"/>
                <a:t>pupilID</a:t>
              </a:r>
              <a:endParaRPr lang="en-GB" sz="3600" u="sng" dirty="0"/>
            </a:p>
            <a:p>
              <a:r>
                <a:rPr lang="en-GB" sz="3600" dirty="0" err="1"/>
                <a:t>schoolID</a:t>
              </a:r>
              <a:r>
                <a:rPr lang="en-GB" sz="3600" dirty="0"/>
                <a:t>*</a:t>
              </a:r>
            </a:p>
            <a:p>
              <a:r>
                <a:rPr lang="en-GB" sz="3600" dirty="0"/>
                <a:t>name</a:t>
              </a:r>
            </a:p>
            <a:p>
              <a:r>
                <a:rPr lang="en-GB" sz="3600" dirty="0"/>
                <a:t>dob</a:t>
              </a:r>
            </a:p>
            <a:p>
              <a:r>
                <a:rPr lang="en-GB" sz="3600" dirty="0"/>
                <a:t>transport</a:t>
              </a:r>
            </a:p>
          </p:txBody>
        </p:sp>
        <p:sp>
          <p:nvSpPr>
            <p:cNvPr id="17" name="TextBox 16">
              <a:extLst>
                <a:ext uri="{FF2B5EF4-FFF2-40B4-BE49-F238E27FC236}">
                  <a16:creationId xmlns:a16="http://schemas.microsoft.com/office/drawing/2014/main" id="{F7586BB6-2057-4CF7-A670-A8A12468AEB7}"/>
                </a:ext>
              </a:extLst>
            </p:cNvPr>
            <p:cNvSpPr txBox="1"/>
            <p:nvPr/>
          </p:nvSpPr>
          <p:spPr>
            <a:xfrm>
              <a:off x="7175029" y="1690688"/>
              <a:ext cx="2026518" cy="646331"/>
            </a:xfrm>
            <a:prstGeom prst="rect">
              <a:avLst/>
            </a:prstGeom>
            <a:solidFill>
              <a:schemeClr val="bg2">
                <a:lumMod val="90000"/>
              </a:schemeClr>
            </a:solidFill>
            <a:ln>
              <a:solidFill>
                <a:schemeClr val="tx1"/>
              </a:solidFill>
            </a:ln>
          </p:spPr>
          <p:txBody>
            <a:bodyPr wrap="square" rtlCol="0">
              <a:spAutoFit/>
            </a:bodyPr>
            <a:lstStyle/>
            <a:p>
              <a:r>
                <a:rPr lang="en-GB" sz="3600" b="1" dirty="0"/>
                <a:t>pupil</a:t>
              </a:r>
            </a:p>
          </p:txBody>
        </p:sp>
      </p:grpSp>
    </p:spTree>
    <p:extLst>
      <p:ext uri="{BB962C8B-B14F-4D97-AF65-F5344CB8AC3E}">
        <p14:creationId xmlns:p14="http://schemas.microsoft.com/office/powerpoint/2010/main" val="1918048754"/>
      </p:ext>
    </p:extLst>
  </p:cSld>
  <p:clrMapOvr>
    <a:masterClrMapping/>
  </p:clrMapOvr>
</p:sld>
</file>

<file path=ppt/slides/slide1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2630251-0176-4E08-9A40-5821ACD1944C}"/>
              </a:ext>
            </a:extLst>
          </p:cNvPr>
          <p:cNvSpPr>
            <a:spLocks noGrp="1"/>
          </p:cNvSpPr>
          <p:nvPr>
            <p:ph type="title"/>
          </p:nvPr>
        </p:nvSpPr>
        <p:spPr>
          <a:xfrm>
            <a:off x="838200" y="327025"/>
            <a:ext cx="10515600" cy="1325563"/>
          </a:xfrm>
        </p:spPr>
        <p:txBody>
          <a:bodyPr/>
          <a:lstStyle/>
          <a:p>
            <a:r>
              <a:rPr lang="en-GB" dirty="0"/>
              <a:t>Entity Relationship Diagram</a:t>
            </a:r>
          </a:p>
        </p:txBody>
      </p:sp>
      <p:sp>
        <p:nvSpPr>
          <p:cNvPr id="8" name="Entity 1">
            <a:extLst>
              <a:ext uri="{FF2B5EF4-FFF2-40B4-BE49-F238E27FC236}">
                <a16:creationId xmlns:a16="http://schemas.microsoft.com/office/drawing/2014/main" id="{9E8D577D-F9B0-4C26-95CB-954FFDF61DBD}"/>
              </a:ext>
            </a:extLst>
          </p:cNvPr>
          <p:cNvSpPr txBox="1"/>
          <p:nvPr/>
        </p:nvSpPr>
        <p:spPr>
          <a:xfrm>
            <a:off x="2585495" y="3069001"/>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entity</a:t>
            </a:r>
          </a:p>
        </p:txBody>
      </p:sp>
      <p:sp>
        <p:nvSpPr>
          <p:cNvPr id="10" name="Entity 2">
            <a:extLst>
              <a:ext uri="{FF2B5EF4-FFF2-40B4-BE49-F238E27FC236}">
                <a16:creationId xmlns:a16="http://schemas.microsoft.com/office/drawing/2014/main" id="{06B8E8D6-C037-4571-B1CB-E4BD14A48ED7}"/>
              </a:ext>
            </a:extLst>
          </p:cNvPr>
          <p:cNvSpPr txBox="1"/>
          <p:nvPr/>
        </p:nvSpPr>
        <p:spPr>
          <a:xfrm>
            <a:off x="7589049" y="3069000"/>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entity</a:t>
            </a:r>
          </a:p>
        </p:txBody>
      </p:sp>
      <p:cxnSp>
        <p:nvCxnSpPr>
          <p:cNvPr id="3" name="1 to 1"/>
          <p:cNvCxnSpPr>
            <a:stCxn id="8" idx="3"/>
            <a:endCxn id="10" idx="1"/>
          </p:cNvCxnSpPr>
          <p:nvPr/>
        </p:nvCxnSpPr>
        <p:spPr>
          <a:xfrm flipV="1">
            <a:off x="4385495" y="3429000"/>
            <a:ext cx="3203554" cy="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sp>
        <p:nvSpPr>
          <p:cNvPr id="38" name="TextBox 37">
            <a:extLst>
              <a:ext uri="{FF2B5EF4-FFF2-40B4-BE49-F238E27FC236}">
                <a16:creationId xmlns:a16="http://schemas.microsoft.com/office/drawing/2014/main" id="{663E3461-DC5D-48CF-AE13-69B629EAA16E}"/>
              </a:ext>
            </a:extLst>
          </p:cNvPr>
          <p:cNvSpPr txBox="1"/>
          <p:nvPr/>
        </p:nvSpPr>
        <p:spPr>
          <a:xfrm>
            <a:off x="4845196" y="2817613"/>
            <a:ext cx="2284151" cy="646331"/>
          </a:xfrm>
          <a:prstGeom prst="rect">
            <a:avLst/>
          </a:prstGeom>
          <a:noFill/>
        </p:spPr>
        <p:txBody>
          <a:bodyPr wrap="none" rtlCol="0">
            <a:spAutoFit/>
          </a:bodyPr>
          <a:lstStyle/>
          <a:p>
            <a:pPr algn="ctr"/>
            <a:r>
              <a:rPr lang="en-GB" sz="3600" dirty="0"/>
              <a:t>description</a:t>
            </a:r>
            <a:endParaRPr lang="en-GB" sz="2800" dirty="0"/>
          </a:p>
        </p:txBody>
      </p:sp>
      <p:sp>
        <p:nvSpPr>
          <p:cNvPr id="27" name="Callout: Bent Line with No Border 4">
            <a:extLst>
              <a:ext uri="{FF2B5EF4-FFF2-40B4-BE49-F238E27FC236}">
                <a16:creationId xmlns:a16="http://schemas.microsoft.com/office/drawing/2014/main" id="{46F76525-63F7-433C-B5AB-86D8EDEDE006}"/>
              </a:ext>
            </a:extLst>
          </p:cNvPr>
          <p:cNvSpPr/>
          <p:nvPr/>
        </p:nvSpPr>
        <p:spPr>
          <a:xfrm>
            <a:off x="7129347" y="1991535"/>
            <a:ext cx="2049930" cy="492070"/>
          </a:xfrm>
          <a:prstGeom prst="callout2">
            <a:avLst>
              <a:gd name="adj1" fmla="val 49201"/>
              <a:gd name="adj2" fmla="val -108"/>
              <a:gd name="adj3" fmla="val 49928"/>
              <a:gd name="adj4" fmla="val -57312"/>
              <a:gd name="adj5" fmla="val 187803"/>
              <a:gd name="adj6" fmla="val -57665"/>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Relationship</a:t>
            </a:r>
          </a:p>
        </p:txBody>
      </p:sp>
      <p:sp>
        <p:nvSpPr>
          <p:cNvPr id="9" name="Entity 1">
            <a:extLst>
              <a:ext uri="{FF2B5EF4-FFF2-40B4-BE49-F238E27FC236}">
                <a16:creationId xmlns:a16="http://schemas.microsoft.com/office/drawing/2014/main" id="{C1324649-E6EB-4AD4-AFC0-F8EC4373A5F6}"/>
              </a:ext>
            </a:extLst>
          </p:cNvPr>
          <p:cNvSpPr txBox="1"/>
          <p:nvPr/>
        </p:nvSpPr>
        <p:spPr>
          <a:xfrm>
            <a:off x="2585495" y="4917193"/>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noun</a:t>
            </a:r>
          </a:p>
        </p:txBody>
      </p:sp>
      <p:sp>
        <p:nvSpPr>
          <p:cNvPr id="11" name="Entity 2">
            <a:extLst>
              <a:ext uri="{FF2B5EF4-FFF2-40B4-BE49-F238E27FC236}">
                <a16:creationId xmlns:a16="http://schemas.microsoft.com/office/drawing/2014/main" id="{8F808A6D-EE9E-46EA-98D3-768AD9FB9352}"/>
              </a:ext>
            </a:extLst>
          </p:cNvPr>
          <p:cNvSpPr txBox="1"/>
          <p:nvPr/>
        </p:nvSpPr>
        <p:spPr>
          <a:xfrm>
            <a:off x="7589049" y="4917192"/>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noun</a:t>
            </a:r>
          </a:p>
        </p:txBody>
      </p:sp>
      <p:cxnSp>
        <p:nvCxnSpPr>
          <p:cNvPr id="12" name="1 to 1">
            <a:extLst>
              <a:ext uri="{FF2B5EF4-FFF2-40B4-BE49-F238E27FC236}">
                <a16:creationId xmlns:a16="http://schemas.microsoft.com/office/drawing/2014/main" id="{33419EE8-B100-4602-A09A-5C50C22B889F}"/>
              </a:ext>
            </a:extLst>
          </p:cNvPr>
          <p:cNvCxnSpPr>
            <a:stCxn id="9" idx="3"/>
            <a:endCxn id="11" idx="1"/>
          </p:cNvCxnSpPr>
          <p:nvPr/>
        </p:nvCxnSpPr>
        <p:spPr>
          <a:xfrm flipV="1">
            <a:off x="4385495" y="5277192"/>
            <a:ext cx="3203554" cy="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sp>
        <p:nvSpPr>
          <p:cNvPr id="13" name="TextBox 12">
            <a:extLst>
              <a:ext uri="{FF2B5EF4-FFF2-40B4-BE49-F238E27FC236}">
                <a16:creationId xmlns:a16="http://schemas.microsoft.com/office/drawing/2014/main" id="{55DC47B9-3D2E-4E16-9AC3-CBB2180D962E}"/>
              </a:ext>
            </a:extLst>
          </p:cNvPr>
          <p:cNvSpPr txBox="1"/>
          <p:nvPr/>
        </p:nvSpPr>
        <p:spPr>
          <a:xfrm>
            <a:off x="5477196" y="4700315"/>
            <a:ext cx="1020151" cy="646331"/>
          </a:xfrm>
          <a:prstGeom prst="rect">
            <a:avLst/>
          </a:prstGeom>
          <a:noFill/>
        </p:spPr>
        <p:txBody>
          <a:bodyPr wrap="none" rtlCol="0">
            <a:spAutoFit/>
          </a:bodyPr>
          <a:lstStyle/>
          <a:p>
            <a:pPr algn="ctr"/>
            <a:r>
              <a:rPr lang="en-GB" sz="3600" dirty="0"/>
              <a:t>verb</a:t>
            </a:r>
          </a:p>
        </p:txBody>
      </p:sp>
      <p:sp>
        <p:nvSpPr>
          <p:cNvPr id="14" name="TextBox 13">
            <a:extLst>
              <a:ext uri="{FF2B5EF4-FFF2-40B4-BE49-F238E27FC236}">
                <a16:creationId xmlns:a16="http://schemas.microsoft.com/office/drawing/2014/main" id="{CDF67095-1826-46BB-BF76-59AEAED3364C}"/>
              </a:ext>
            </a:extLst>
          </p:cNvPr>
          <p:cNvSpPr txBox="1"/>
          <p:nvPr/>
        </p:nvSpPr>
        <p:spPr>
          <a:xfrm>
            <a:off x="2597808" y="6086892"/>
            <a:ext cx="6996383" cy="584775"/>
          </a:xfrm>
          <a:prstGeom prst="rect">
            <a:avLst/>
          </a:prstGeom>
          <a:noFill/>
        </p:spPr>
        <p:txBody>
          <a:bodyPr wrap="square" rtlCol="0" anchor="ctr" anchorCtr="0">
            <a:spAutoFit/>
          </a:bodyPr>
          <a:lstStyle/>
          <a:p>
            <a:pPr algn="ctr"/>
            <a:r>
              <a:rPr lang="en-GB" sz="3200" b="1" dirty="0">
                <a:solidFill>
                  <a:srgbClr val="7030A0"/>
                </a:solidFill>
              </a:rPr>
              <a:t>Attributes not always shown</a:t>
            </a:r>
          </a:p>
        </p:txBody>
      </p:sp>
    </p:spTree>
    <p:extLst>
      <p:ext uri="{BB962C8B-B14F-4D97-AF65-F5344CB8AC3E}">
        <p14:creationId xmlns:p14="http://schemas.microsoft.com/office/powerpoint/2010/main" val="246736361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animEffect transition="in" filter="fade">
                                      <p:cBhvr>
                                        <p:cTn id="7" dur="1000"/>
                                        <p:tgtEl>
                                          <p:spTgt spid="8"/>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10"/>
                                        </p:tgtEl>
                                        <p:attrNameLst>
                                          <p:attrName>style.visibility</p:attrName>
                                        </p:attrNameLst>
                                      </p:cBhvr>
                                      <p:to>
                                        <p:strVal val="visible"/>
                                      </p:to>
                                    </p:set>
                                    <p:animEffect transition="in" filter="fade">
                                      <p:cBhvr>
                                        <p:cTn id="12" dur="1000"/>
                                        <p:tgtEl>
                                          <p:spTgt spid="10"/>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nodeType="clickEffect">
                                  <p:stCondLst>
                                    <p:cond delay="0"/>
                                  </p:stCondLst>
                                  <p:childTnLst>
                                    <p:set>
                                      <p:cBhvr>
                                        <p:cTn id="16" dur="1" fill="hold">
                                          <p:stCondLst>
                                            <p:cond delay="0"/>
                                          </p:stCondLst>
                                        </p:cTn>
                                        <p:tgtEl>
                                          <p:spTgt spid="3"/>
                                        </p:tgtEl>
                                        <p:attrNameLst>
                                          <p:attrName>style.visibility</p:attrName>
                                        </p:attrNameLst>
                                      </p:cBhvr>
                                      <p:to>
                                        <p:strVal val="visible"/>
                                      </p:to>
                                    </p:set>
                                    <p:animEffect transition="in" filter="wipe(left)">
                                      <p:cBhvr>
                                        <p:cTn id="17" dur="1000"/>
                                        <p:tgtEl>
                                          <p:spTgt spid="3"/>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38"/>
                                        </p:tgtEl>
                                        <p:attrNameLst>
                                          <p:attrName>style.visibility</p:attrName>
                                        </p:attrNameLst>
                                      </p:cBhvr>
                                      <p:to>
                                        <p:strVal val="visible"/>
                                      </p:to>
                                    </p:set>
                                    <p:animEffect transition="in" filter="fade">
                                      <p:cBhvr>
                                        <p:cTn id="22" dur="1000"/>
                                        <p:tgtEl>
                                          <p:spTgt spid="38"/>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27"/>
                                        </p:tgtEl>
                                        <p:attrNameLst>
                                          <p:attrName>style.visibility</p:attrName>
                                        </p:attrNameLst>
                                      </p:cBhvr>
                                      <p:to>
                                        <p:strVal val="visible"/>
                                      </p:to>
                                    </p:set>
                                    <p:animEffect transition="in" filter="wipe(left)">
                                      <p:cBhvr>
                                        <p:cTn id="27" dur="1000"/>
                                        <p:tgtEl>
                                          <p:spTgt spid="27"/>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grpId="0" nodeType="clickEffect">
                                  <p:stCondLst>
                                    <p:cond delay="0"/>
                                  </p:stCondLst>
                                  <p:childTnLst>
                                    <p:set>
                                      <p:cBhvr>
                                        <p:cTn id="31" dur="1" fill="hold">
                                          <p:stCondLst>
                                            <p:cond delay="0"/>
                                          </p:stCondLst>
                                        </p:cTn>
                                        <p:tgtEl>
                                          <p:spTgt spid="9"/>
                                        </p:tgtEl>
                                        <p:attrNameLst>
                                          <p:attrName>style.visibility</p:attrName>
                                        </p:attrNameLst>
                                      </p:cBhvr>
                                      <p:to>
                                        <p:strVal val="visible"/>
                                      </p:to>
                                    </p:set>
                                    <p:animEffect transition="in" filter="fade">
                                      <p:cBhvr>
                                        <p:cTn id="32" dur="1000"/>
                                        <p:tgtEl>
                                          <p:spTgt spid="9"/>
                                        </p:tgtEl>
                                      </p:cBhvr>
                                    </p:animEffect>
                                  </p:childTnLst>
                                </p:cTn>
                              </p:par>
                            </p:childTnLst>
                          </p:cTn>
                        </p:par>
                        <p:par>
                          <p:cTn id="33" fill="hold">
                            <p:stCondLst>
                              <p:cond delay="1000"/>
                            </p:stCondLst>
                            <p:childTnLst>
                              <p:par>
                                <p:cTn id="34" presetID="10" presetClass="entr" presetSubtype="0" fill="hold" grpId="0" nodeType="afterEffect">
                                  <p:stCondLst>
                                    <p:cond delay="0"/>
                                  </p:stCondLst>
                                  <p:childTnLst>
                                    <p:set>
                                      <p:cBhvr>
                                        <p:cTn id="35" dur="1" fill="hold">
                                          <p:stCondLst>
                                            <p:cond delay="0"/>
                                          </p:stCondLst>
                                        </p:cTn>
                                        <p:tgtEl>
                                          <p:spTgt spid="11"/>
                                        </p:tgtEl>
                                        <p:attrNameLst>
                                          <p:attrName>style.visibility</p:attrName>
                                        </p:attrNameLst>
                                      </p:cBhvr>
                                      <p:to>
                                        <p:strVal val="visible"/>
                                      </p:to>
                                    </p:set>
                                    <p:animEffect transition="in" filter="fade">
                                      <p:cBhvr>
                                        <p:cTn id="36" dur="1000"/>
                                        <p:tgtEl>
                                          <p:spTgt spid="11"/>
                                        </p:tgtEl>
                                      </p:cBhvr>
                                    </p:animEffect>
                                  </p:childTnLst>
                                </p:cTn>
                              </p:par>
                            </p:childTnLst>
                          </p:cTn>
                        </p:par>
                      </p:childTnLst>
                    </p:cTn>
                  </p:par>
                  <p:par>
                    <p:cTn id="37" fill="hold">
                      <p:stCondLst>
                        <p:cond delay="indefinite"/>
                      </p:stCondLst>
                      <p:childTnLst>
                        <p:par>
                          <p:cTn id="38" fill="hold">
                            <p:stCondLst>
                              <p:cond delay="0"/>
                            </p:stCondLst>
                            <p:childTnLst>
                              <p:par>
                                <p:cTn id="39" presetID="22" presetClass="entr" presetSubtype="8" fill="hold" nodeType="clickEffect">
                                  <p:stCondLst>
                                    <p:cond delay="0"/>
                                  </p:stCondLst>
                                  <p:childTnLst>
                                    <p:set>
                                      <p:cBhvr>
                                        <p:cTn id="40" dur="1" fill="hold">
                                          <p:stCondLst>
                                            <p:cond delay="0"/>
                                          </p:stCondLst>
                                        </p:cTn>
                                        <p:tgtEl>
                                          <p:spTgt spid="12"/>
                                        </p:tgtEl>
                                        <p:attrNameLst>
                                          <p:attrName>style.visibility</p:attrName>
                                        </p:attrNameLst>
                                      </p:cBhvr>
                                      <p:to>
                                        <p:strVal val="visible"/>
                                      </p:to>
                                    </p:set>
                                    <p:animEffect transition="in" filter="wipe(left)">
                                      <p:cBhvr>
                                        <p:cTn id="41" dur="1000"/>
                                        <p:tgtEl>
                                          <p:spTgt spid="12"/>
                                        </p:tgtEl>
                                      </p:cBhvr>
                                    </p:animEffect>
                                  </p:childTnLst>
                                </p:cTn>
                              </p:par>
                            </p:childTnLst>
                          </p:cTn>
                        </p:par>
                        <p:par>
                          <p:cTn id="42" fill="hold">
                            <p:stCondLst>
                              <p:cond delay="1000"/>
                            </p:stCondLst>
                            <p:childTnLst>
                              <p:par>
                                <p:cTn id="43" presetID="10" presetClass="entr" presetSubtype="0" fill="hold" grpId="0" nodeType="afterEffect">
                                  <p:stCondLst>
                                    <p:cond delay="0"/>
                                  </p:stCondLst>
                                  <p:childTnLst>
                                    <p:set>
                                      <p:cBhvr>
                                        <p:cTn id="44" dur="1" fill="hold">
                                          <p:stCondLst>
                                            <p:cond delay="0"/>
                                          </p:stCondLst>
                                        </p:cTn>
                                        <p:tgtEl>
                                          <p:spTgt spid="13"/>
                                        </p:tgtEl>
                                        <p:attrNameLst>
                                          <p:attrName>style.visibility</p:attrName>
                                        </p:attrNameLst>
                                      </p:cBhvr>
                                      <p:to>
                                        <p:strVal val="visible"/>
                                      </p:to>
                                    </p:set>
                                    <p:animEffect transition="in" filter="fade">
                                      <p:cBhvr>
                                        <p:cTn id="45" dur="1000"/>
                                        <p:tgtEl>
                                          <p:spTgt spid="13"/>
                                        </p:tgtEl>
                                      </p:cBhvr>
                                    </p:animEffect>
                                  </p:childTnLst>
                                </p:cTn>
                              </p:par>
                            </p:childTnLst>
                          </p:cTn>
                        </p:par>
                      </p:childTnLst>
                    </p:cTn>
                  </p:par>
                  <p:par>
                    <p:cTn id="46" fill="hold">
                      <p:stCondLst>
                        <p:cond delay="indefinite"/>
                      </p:stCondLst>
                      <p:childTnLst>
                        <p:par>
                          <p:cTn id="47" fill="hold">
                            <p:stCondLst>
                              <p:cond delay="0"/>
                            </p:stCondLst>
                            <p:childTnLst>
                              <p:par>
                                <p:cTn id="48" presetID="22" presetClass="entr" presetSubtype="8" fill="hold" grpId="0" nodeType="clickEffect">
                                  <p:stCondLst>
                                    <p:cond delay="0"/>
                                  </p:stCondLst>
                                  <p:childTnLst>
                                    <p:set>
                                      <p:cBhvr>
                                        <p:cTn id="49" dur="1" fill="hold">
                                          <p:stCondLst>
                                            <p:cond delay="0"/>
                                          </p:stCondLst>
                                        </p:cTn>
                                        <p:tgtEl>
                                          <p:spTgt spid="14">
                                            <p:txEl>
                                              <p:pRg st="0" end="0"/>
                                            </p:txEl>
                                          </p:spTgt>
                                        </p:tgtEl>
                                        <p:attrNameLst>
                                          <p:attrName>style.visibility</p:attrName>
                                        </p:attrNameLst>
                                      </p:cBhvr>
                                      <p:to>
                                        <p:strVal val="visible"/>
                                      </p:to>
                                    </p:set>
                                    <p:animEffect transition="in" filter="wipe(left)">
                                      <p:cBhvr>
                                        <p:cTn id="50" dur="2000"/>
                                        <p:tgtEl>
                                          <p:spTgt spid="14">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P spid="10" grpId="0" animBg="1"/>
      <p:bldP spid="38" grpId="0"/>
      <p:bldP spid="27" grpId="0" animBg="1"/>
      <p:bldP spid="9" grpId="0" animBg="1"/>
      <p:bldP spid="11" grpId="0" animBg="1"/>
      <p:bldP spid="13" grpId="0"/>
      <p:bldP spid="14" grpId="0" uiExpand="1" build="p"/>
    </p:bldLst>
  </p:timing>
</p:sld>
</file>

<file path=ppt/slides/slide19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2630251-0176-4E08-9A40-5821ACD1944C}"/>
              </a:ext>
            </a:extLst>
          </p:cNvPr>
          <p:cNvSpPr>
            <a:spLocks noGrp="1"/>
          </p:cNvSpPr>
          <p:nvPr>
            <p:ph type="title"/>
          </p:nvPr>
        </p:nvSpPr>
        <p:spPr>
          <a:xfrm>
            <a:off x="838200" y="327025"/>
            <a:ext cx="10515600" cy="1325563"/>
          </a:xfrm>
        </p:spPr>
        <p:txBody>
          <a:bodyPr/>
          <a:lstStyle/>
          <a:p>
            <a:r>
              <a:rPr lang="en-GB" dirty="0"/>
              <a:t>Entity Relationship Diagram</a:t>
            </a:r>
          </a:p>
        </p:txBody>
      </p:sp>
      <p:sp>
        <p:nvSpPr>
          <p:cNvPr id="8" name="Entity 1">
            <a:extLst>
              <a:ext uri="{FF2B5EF4-FFF2-40B4-BE49-F238E27FC236}">
                <a16:creationId xmlns:a16="http://schemas.microsoft.com/office/drawing/2014/main" id="{9E8D577D-F9B0-4C26-95CB-954FFDF61DBD}"/>
              </a:ext>
            </a:extLst>
          </p:cNvPr>
          <p:cNvSpPr txBox="1"/>
          <p:nvPr/>
        </p:nvSpPr>
        <p:spPr>
          <a:xfrm>
            <a:off x="2585495" y="3069001"/>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endParaRPr lang="en-GB" sz="3600" dirty="0"/>
          </a:p>
        </p:txBody>
      </p:sp>
      <p:sp>
        <p:nvSpPr>
          <p:cNvPr id="10" name="Entity 2">
            <a:extLst>
              <a:ext uri="{FF2B5EF4-FFF2-40B4-BE49-F238E27FC236}">
                <a16:creationId xmlns:a16="http://schemas.microsoft.com/office/drawing/2014/main" id="{06B8E8D6-C037-4571-B1CB-E4BD14A48ED7}"/>
              </a:ext>
            </a:extLst>
          </p:cNvPr>
          <p:cNvSpPr txBox="1"/>
          <p:nvPr/>
        </p:nvSpPr>
        <p:spPr>
          <a:xfrm>
            <a:off x="7589049" y="3069000"/>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endParaRPr lang="en-GB" sz="3600" dirty="0"/>
          </a:p>
        </p:txBody>
      </p:sp>
      <p:cxnSp>
        <p:nvCxnSpPr>
          <p:cNvPr id="3" name="1 to 1"/>
          <p:cNvCxnSpPr>
            <a:stCxn id="8" idx="3"/>
            <a:endCxn id="10" idx="1"/>
          </p:cNvCxnSpPr>
          <p:nvPr/>
        </p:nvCxnSpPr>
        <p:spPr>
          <a:xfrm flipV="1">
            <a:off x="4385495" y="3429000"/>
            <a:ext cx="3203554" cy="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sp>
        <p:nvSpPr>
          <p:cNvPr id="9" name="Entity 1">
            <a:extLst>
              <a:ext uri="{FF2B5EF4-FFF2-40B4-BE49-F238E27FC236}">
                <a16:creationId xmlns:a16="http://schemas.microsoft.com/office/drawing/2014/main" id="{C1324649-E6EB-4AD4-AFC0-F8EC4373A5F6}"/>
              </a:ext>
            </a:extLst>
          </p:cNvPr>
          <p:cNvSpPr txBox="1"/>
          <p:nvPr/>
        </p:nvSpPr>
        <p:spPr>
          <a:xfrm>
            <a:off x="2585495" y="4917193"/>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endParaRPr lang="en-GB" sz="3600" dirty="0"/>
          </a:p>
        </p:txBody>
      </p:sp>
      <p:sp>
        <p:nvSpPr>
          <p:cNvPr id="11" name="Entity 2">
            <a:extLst>
              <a:ext uri="{FF2B5EF4-FFF2-40B4-BE49-F238E27FC236}">
                <a16:creationId xmlns:a16="http://schemas.microsoft.com/office/drawing/2014/main" id="{8F808A6D-EE9E-46EA-98D3-768AD9FB9352}"/>
              </a:ext>
            </a:extLst>
          </p:cNvPr>
          <p:cNvSpPr txBox="1"/>
          <p:nvPr/>
        </p:nvSpPr>
        <p:spPr>
          <a:xfrm>
            <a:off x="7589049" y="4917192"/>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endParaRPr lang="en-GB" sz="3600" dirty="0"/>
          </a:p>
        </p:txBody>
      </p:sp>
      <p:cxnSp>
        <p:nvCxnSpPr>
          <p:cNvPr id="12" name="1 to 1">
            <a:extLst>
              <a:ext uri="{FF2B5EF4-FFF2-40B4-BE49-F238E27FC236}">
                <a16:creationId xmlns:a16="http://schemas.microsoft.com/office/drawing/2014/main" id="{33419EE8-B100-4602-A09A-5C50C22B889F}"/>
              </a:ext>
            </a:extLst>
          </p:cNvPr>
          <p:cNvCxnSpPr>
            <a:stCxn id="9" idx="3"/>
            <a:endCxn id="11" idx="1"/>
          </p:cNvCxnSpPr>
          <p:nvPr/>
        </p:nvCxnSpPr>
        <p:spPr>
          <a:xfrm flipV="1">
            <a:off x="4385495" y="5277192"/>
            <a:ext cx="3203554" cy="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929010465"/>
      </p:ext>
    </p:extLst>
  </p:cSld>
  <p:clrMapOvr>
    <a:masterClrMapping/>
  </p:clrMapOvr>
</p:sld>
</file>

<file path=ppt/slides/slide19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2630251-0176-4E08-9A40-5821ACD1944C}"/>
              </a:ext>
            </a:extLst>
          </p:cNvPr>
          <p:cNvSpPr>
            <a:spLocks noGrp="1"/>
          </p:cNvSpPr>
          <p:nvPr>
            <p:ph type="title"/>
          </p:nvPr>
        </p:nvSpPr>
        <p:spPr>
          <a:xfrm>
            <a:off x="838200" y="327025"/>
            <a:ext cx="10515600" cy="1325563"/>
          </a:xfrm>
        </p:spPr>
        <p:txBody>
          <a:bodyPr/>
          <a:lstStyle/>
          <a:p>
            <a:r>
              <a:rPr lang="en-GB" dirty="0"/>
              <a:t>Cardinality: 1 to 1</a:t>
            </a:r>
          </a:p>
        </p:txBody>
      </p:sp>
      <p:sp>
        <p:nvSpPr>
          <p:cNvPr id="11" name="Entity 3">
            <a:extLst>
              <a:ext uri="{FF2B5EF4-FFF2-40B4-BE49-F238E27FC236}">
                <a16:creationId xmlns:a16="http://schemas.microsoft.com/office/drawing/2014/main" id="{9E8D577D-F9B0-4C26-95CB-954FFDF61DBD}"/>
              </a:ext>
            </a:extLst>
          </p:cNvPr>
          <p:cNvSpPr txBox="1"/>
          <p:nvPr/>
        </p:nvSpPr>
        <p:spPr>
          <a:xfrm>
            <a:off x="1831595" y="3959608"/>
            <a:ext cx="2592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headteacher</a:t>
            </a:r>
          </a:p>
        </p:txBody>
      </p:sp>
      <p:sp>
        <p:nvSpPr>
          <p:cNvPr id="12" name="Entity 4">
            <a:extLst>
              <a:ext uri="{FF2B5EF4-FFF2-40B4-BE49-F238E27FC236}">
                <a16:creationId xmlns:a16="http://schemas.microsoft.com/office/drawing/2014/main" id="{06B8E8D6-C037-4571-B1CB-E4BD14A48ED7}"/>
              </a:ext>
            </a:extLst>
          </p:cNvPr>
          <p:cNvSpPr txBox="1"/>
          <p:nvPr/>
        </p:nvSpPr>
        <p:spPr>
          <a:xfrm>
            <a:off x="7627149" y="3959608"/>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school</a:t>
            </a:r>
          </a:p>
        </p:txBody>
      </p:sp>
      <p:grpSp>
        <p:nvGrpSpPr>
          <p:cNvPr id="5" name="Group 4">
            <a:extLst>
              <a:ext uri="{FF2B5EF4-FFF2-40B4-BE49-F238E27FC236}">
                <a16:creationId xmlns:a16="http://schemas.microsoft.com/office/drawing/2014/main" id="{79E56CDC-EC91-4DB6-AADD-C0BDCAA78CE4}"/>
              </a:ext>
            </a:extLst>
          </p:cNvPr>
          <p:cNvGrpSpPr/>
          <p:nvPr/>
        </p:nvGrpSpPr>
        <p:grpSpPr>
          <a:xfrm>
            <a:off x="2623595" y="2159766"/>
            <a:ext cx="6803554" cy="978698"/>
            <a:chOff x="2623595" y="2159766"/>
            <a:chExt cx="6803554" cy="978698"/>
          </a:xfrm>
        </p:grpSpPr>
        <p:sp>
          <p:nvSpPr>
            <p:cNvPr id="8" name="Entity 1">
              <a:extLst>
                <a:ext uri="{FF2B5EF4-FFF2-40B4-BE49-F238E27FC236}">
                  <a16:creationId xmlns:a16="http://schemas.microsoft.com/office/drawing/2014/main" id="{9E8D577D-F9B0-4C26-95CB-954FFDF61DBD}"/>
                </a:ext>
              </a:extLst>
            </p:cNvPr>
            <p:cNvSpPr txBox="1"/>
            <p:nvPr/>
          </p:nvSpPr>
          <p:spPr>
            <a:xfrm>
              <a:off x="2623595" y="2418464"/>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entity</a:t>
              </a:r>
            </a:p>
          </p:txBody>
        </p:sp>
        <p:sp>
          <p:nvSpPr>
            <p:cNvPr id="10" name="Entity 2">
              <a:extLst>
                <a:ext uri="{FF2B5EF4-FFF2-40B4-BE49-F238E27FC236}">
                  <a16:creationId xmlns:a16="http://schemas.microsoft.com/office/drawing/2014/main" id="{06B8E8D6-C037-4571-B1CB-E4BD14A48ED7}"/>
                </a:ext>
              </a:extLst>
            </p:cNvPr>
            <p:cNvSpPr txBox="1"/>
            <p:nvPr/>
          </p:nvSpPr>
          <p:spPr>
            <a:xfrm>
              <a:off x="7627149" y="2418463"/>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entity</a:t>
              </a:r>
            </a:p>
          </p:txBody>
        </p:sp>
        <p:cxnSp>
          <p:nvCxnSpPr>
            <p:cNvPr id="3" name="1 to 1"/>
            <p:cNvCxnSpPr>
              <a:cxnSpLocks/>
              <a:stCxn id="8" idx="3"/>
              <a:endCxn id="10" idx="1"/>
            </p:cNvCxnSpPr>
            <p:nvPr/>
          </p:nvCxnSpPr>
          <p:spPr>
            <a:xfrm flipV="1">
              <a:off x="4423595" y="2778463"/>
              <a:ext cx="3203554" cy="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sp>
          <p:nvSpPr>
            <p:cNvPr id="38" name="TextBox 37">
              <a:extLst>
                <a:ext uri="{FF2B5EF4-FFF2-40B4-BE49-F238E27FC236}">
                  <a16:creationId xmlns:a16="http://schemas.microsoft.com/office/drawing/2014/main" id="{663E3461-DC5D-48CF-AE13-69B629EAA16E}"/>
                </a:ext>
              </a:extLst>
            </p:cNvPr>
            <p:cNvSpPr txBox="1"/>
            <p:nvPr/>
          </p:nvSpPr>
          <p:spPr>
            <a:xfrm>
              <a:off x="5402444" y="2159766"/>
              <a:ext cx="1245854" cy="646331"/>
            </a:xfrm>
            <a:prstGeom prst="rect">
              <a:avLst/>
            </a:prstGeom>
            <a:noFill/>
          </p:spPr>
          <p:txBody>
            <a:bodyPr wrap="none" rtlCol="0">
              <a:spAutoFit/>
            </a:bodyPr>
            <a:lstStyle/>
            <a:p>
              <a:pPr algn="ctr"/>
              <a:r>
                <a:rPr lang="en-GB" sz="3600" dirty="0"/>
                <a:t>name</a:t>
              </a:r>
            </a:p>
          </p:txBody>
        </p:sp>
      </p:grpSp>
      <p:cxnSp>
        <p:nvCxnSpPr>
          <p:cNvPr id="23" name="1 to 1">
            <a:extLst>
              <a:ext uri="{FF2B5EF4-FFF2-40B4-BE49-F238E27FC236}">
                <a16:creationId xmlns:a16="http://schemas.microsoft.com/office/drawing/2014/main" id="{6C2DFB1C-1EEA-4374-89BA-38A6DEAD8CB2}"/>
              </a:ext>
            </a:extLst>
          </p:cNvPr>
          <p:cNvCxnSpPr>
            <a:cxnSpLocks/>
            <a:stCxn id="11" idx="3"/>
            <a:endCxn id="12" idx="1"/>
          </p:cNvCxnSpPr>
          <p:nvPr/>
        </p:nvCxnSpPr>
        <p:spPr>
          <a:xfrm>
            <a:off x="4423595" y="4319608"/>
            <a:ext cx="3203554" cy="0"/>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sp>
        <p:nvSpPr>
          <p:cNvPr id="26" name="TextBox 25">
            <a:extLst>
              <a:ext uri="{FF2B5EF4-FFF2-40B4-BE49-F238E27FC236}">
                <a16:creationId xmlns:a16="http://schemas.microsoft.com/office/drawing/2014/main" id="{8DA6A6EF-3CBA-4A05-A07C-FC50A86F6760}"/>
              </a:ext>
            </a:extLst>
          </p:cNvPr>
          <p:cNvSpPr txBox="1"/>
          <p:nvPr/>
        </p:nvSpPr>
        <p:spPr>
          <a:xfrm>
            <a:off x="5443321" y="3728738"/>
            <a:ext cx="1164101" cy="646331"/>
          </a:xfrm>
          <a:prstGeom prst="rect">
            <a:avLst/>
          </a:prstGeom>
          <a:noFill/>
        </p:spPr>
        <p:txBody>
          <a:bodyPr wrap="none" rtlCol="0">
            <a:spAutoFit/>
          </a:bodyPr>
          <a:lstStyle/>
          <a:p>
            <a:r>
              <a:rPr lang="en-GB" sz="3600" dirty="0"/>
              <a:t>leads</a:t>
            </a:r>
            <a:endParaRPr lang="en-GB" sz="2800" dirty="0"/>
          </a:p>
        </p:txBody>
      </p:sp>
      <p:sp>
        <p:nvSpPr>
          <p:cNvPr id="27" name="Callout: Bent Line with No Border 4">
            <a:extLst>
              <a:ext uri="{FF2B5EF4-FFF2-40B4-BE49-F238E27FC236}">
                <a16:creationId xmlns:a16="http://schemas.microsoft.com/office/drawing/2014/main" id="{46F76525-63F7-433C-B5AB-86D8EDEDE006}"/>
              </a:ext>
            </a:extLst>
          </p:cNvPr>
          <p:cNvSpPr/>
          <p:nvPr/>
        </p:nvSpPr>
        <p:spPr>
          <a:xfrm>
            <a:off x="8181984" y="1624966"/>
            <a:ext cx="1083249" cy="487680"/>
          </a:xfrm>
          <a:prstGeom prst="callout2">
            <a:avLst>
              <a:gd name="adj1" fmla="val 50309"/>
              <a:gd name="adj2" fmla="val 63"/>
              <a:gd name="adj3" fmla="val 49320"/>
              <a:gd name="adj4" fmla="val -68507"/>
              <a:gd name="adj5" fmla="val 201933"/>
              <a:gd name="adj6" fmla="val -69301"/>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1</a:t>
            </a:r>
          </a:p>
        </p:txBody>
      </p:sp>
      <p:sp>
        <p:nvSpPr>
          <p:cNvPr id="16" name="Callout: Bent Line with No Border 4">
            <a:extLst>
              <a:ext uri="{FF2B5EF4-FFF2-40B4-BE49-F238E27FC236}">
                <a16:creationId xmlns:a16="http://schemas.microsoft.com/office/drawing/2014/main" id="{3F69C500-F565-491D-AB71-83B51F06FDA1}"/>
              </a:ext>
            </a:extLst>
          </p:cNvPr>
          <p:cNvSpPr/>
          <p:nvPr/>
        </p:nvSpPr>
        <p:spPr>
          <a:xfrm flipH="1">
            <a:off x="2804170" y="1624966"/>
            <a:ext cx="1083249" cy="487680"/>
          </a:xfrm>
          <a:prstGeom prst="callout2">
            <a:avLst>
              <a:gd name="adj1" fmla="val 50309"/>
              <a:gd name="adj2" fmla="val 63"/>
              <a:gd name="adj3" fmla="val 49320"/>
              <a:gd name="adj4" fmla="val -68507"/>
              <a:gd name="adj5" fmla="val 201933"/>
              <a:gd name="adj6" fmla="val -69301"/>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1</a:t>
            </a:r>
          </a:p>
        </p:txBody>
      </p:sp>
    </p:spTree>
    <p:extLst>
      <p:ext uri="{BB962C8B-B14F-4D97-AF65-F5344CB8AC3E}">
        <p14:creationId xmlns:p14="http://schemas.microsoft.com/office/powerpoint/2010/main" val="74971241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1000"/>
                                        <p:tgtEl>
                                          <p:spTgt spid="5"/>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16"/>
                                        </p:tgtEl>
                                        <p:attrNameLst>
                                          <p:attrName>style.visibility</p:attrName>
                                        </p:attrNameLst>
                                      </p:cBhvr>
                                      <p:to>
                                        <p:strVal val="visible"/>
                                      </p:to>
                                    </p:set>
                                    <p:animEffect transition="in" filter="fade">
                                      <p:cBhvr>
                                        <p:cTn id="12" dur="1000"/>
                                        <p:tgtEl>
                                          <p:spTgt spid="16"/>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27"/>
                                        </p:tgtEl>
                                        <p:attrNameLst>
                                          <p:attrName>style.visibility</p:attrName>
                                        </p:attrNameLst>
                                      </p:cBhvr>
                                      <p:to>
                                        <p:strVal val="visible"/>
                                      </p:to>
                                    </p:set>
                                    <p:animEffect transition="in" filter="fade">
                                      <p:cBhvr>
                                        <p:cTn id="17" dur="1000"/>
                                        <p:tgtEl>
                                          <p:spTgt spid="27"/>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11"/>
                                        </p:tgtEl>
                                        <p:attrNameLst>
                                          <p:attrName>style.visibility</p:attrName>
                                        </p:attrNameLst>
                                      </p:cBhvr>
                                      <p:to>
                                        <p:strVal val="visible"/>
                                      </p:to>
                                    </p:set>
                                    <p:animEffect transition="in" filter="fade">
                                      <p:cBhvr>
                                        <p:cTn id="22" dur="1000"/>
                                        <p:tgtEl>
                                          <p:spTgt spid="11"/>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12"/>
                                        </p:tgtEl>
                                        <p:attrNameLst>
                                          <p:attrName>style.visibility</p:attrName>
                                        </p:attrNameLst>
                                      </p:cBhvr>
                                      <p:to>
                                        <p:strVal val="visible"/>
                                      </p:to>
                                    </p:set>
                                    <p:animEffect transition="in" filter="fade">
                                      <p:cBhvr>
                                        <p:cTn id="27" dur="1000"/>
                                        <p:tgtEl>
                                          <p:spTgt spid="12"/>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nodeType="clickEffect">
                                  <p:stCondLst>
                                    <p:cond delay="0"/>
                                  </p:stCondLst>
                                  <p:childTnLst>
                                    <p:set>
                                      <p:cBhvr>
                                        <p:cTn id="31" dur="1" fill="hold">
                                          <p:stCondLst>
                                            <p:cond delay="0"/>
                                          </p:stCondLst>
                                        </p:cTn>
                                        <p:tgtEl>
                                          <p:spTgt spid="23"/>
                                        </p:tgtEl>
                                        <p:attrNameLst>
                                          <p:attrName>style.visibility</p:attrName>
                                        </p:attrNameLst>
                                      </p:cBhvr>
                                      <p:to>
                                        <p:strVal val="visible"/>
                                      </p:to>
                                    </p:set>
                                    <p:animEffect transition="in" filter="wipe(left)">
                                      <p:cBhvr>
                                        <p:cTn id="32" dur="1000"/>
                                        <p:tgtEl>
                                          <p:spTgt spid="23"/>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grpId="0" nodeType="clickEffect">
                                  <p:stCondLst>
                                    <p:cond delay="0"/>
                                  </p:stCondLst>
                                  <p:childTnLst>
                                    <p:set>
                                      <p:cBhvr>
                                        <p:cTn id="36" dur="1" fill="hold">
                                          <p:stCondLst>
                                            <p:cond delay="0"/>
                                          </p:stCondLst>
                                        </p:cTn>
                                        <p:tgtEl>
                                          <p:spTgt spid="26"/>
                                        </p:tgtEl>
                                        <p:attrNameLst>
                                          <p:attrName>style.visibility</p:attrName>
                                        </p:attrNameLst>
                                      </p:cBhvr>
                                      <p:to>
                                        <p:strVal val="visible"/>
                                      </p:to>
                                    </p:set>
                                    <p:animEffect transition="in" filter="fade">
                                      <p:cBhvr>
                                        <p:cTn id="37" dur="500"/>
                                        <p:tgtEl>
                                          <p:spTgt spid="2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animBg="1"/>
      <p:bldP spid="12" grpId="0" animBg="1"/>
      <p:bldP spid="26" grpId="0"/>
      <p:bldP spid="27" grpId="0" animBg="1"/>
      <p:bldP spid="16" grpId="0" animBg="1"/>
    </p:bldLst>
  </p:timing>
</p:sld>
</file>

<file path=ppt/slides/slide195.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2630251-0176-4E08-9A40-5821ACD1944C}"/>
              </a:ext>
            </a:extLst>
          </p:cNvPr>
          <p:cNvSpPr>
            <a:spLocks noGrp="1"/>
          </p:cNvSpPr>
          <p:nvPr>
            <p:ph type="title"/>
          </p:nvPr>
        </p:nvSpPr>
        <p:spPr>
          <a:xfrm>
            <a:off x="838200" y="327025"/>
            <a:ext cx="10515600" cy="1325563"/>
          </a:xfrm>
        </p:spPr>
        <p:txBody>
          <a:bodyPr/>
          <a:lstStyle/>
          <a:p>
            <a:r>
              <a:rPr lang="en-GB" dirty="0"/>
              <a:t>Cardinality: 1 to 1</a:t>
            </a:r>
          </a:p>
        </p:txBody>
      </p:sp>
      <p:sp>
        <p:nvSpPr>
          <p:cNvPr id="11" name="Entity 3">
            <a:extLst>
              <a:ext uri="{FF2B5EF4-FFF2-40B4-BE49-F238E27FC236}">
                <a16:creationId xmlns:a16="http://schemas.microsoft.com/office/drawing/2014/main" id="{9E8D577D-F9B0-4C26-95CB-954FFDF61DBD}"/>
              </a:ext>
            </a:extLst>
          </p:cNvPr>
          <p:cNvSpPr txBox="1"/>
          <p:nvPr/>
        </p:nvSpPr>
        <p:spPr>
          <a:xfrm>
            <a:off x="1831595" y="3959608"/>
            <a:ext cx="2592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headteacher</a:t>
            </a:r>
          </a:p>
        </p:txBody>
      </p:sp>
      <p:sp>
        <p:nvSpPr>
          <p:cNvPr id="12" name="Entity 4">
            <a:extLst>
              <a:ext uri="{FF2B5EF4-FFF2-40B4-BE49-F238E27FC236}">
                <a16:creationId xmlns:a16="http://schemas.microsoft.com/office/drawing/2014/main" id="{06B8E8D6-C037-4571-B1CB-E4BD14A48ED7}"/>
              </a:ext>
            </a:extLst>
          </p:cNvPr>
          <p:cNvSpPr txBox="1"/>
          <p:nvPr/>
        </p:nvSpPr>
        <p:spPr>
          <a:xfrm>
            <a:off x="7627149" y="3959608"/>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school</a:t>
            </a:r>
          </a:p>
        </p:txBody>
      </p:sp>
      <p:grpSp>
        <p:nvGrpSpPr>
          <p:cNvPr id="5" name="Group 4">
            <a:extLst>
              <a:ext uri="{FF2B5EF4-FFF2-40B4-BE49-F238E27FC236}">
                <a16:creationId xmlns:a16="http://schemas.microsoft.com/office/drawing/2014/main" id="{79E56CDC-EC91-4DB6-AADD-C0BDCAA78CE4}"/>
              </a:ext>
            </a:extLst>
          </p:cNvPr>
          <p:cNvGrpSpPr/>
          <p:nvPr/>
        </p:nvGrpSpPr>
        <p:grpSpPr>
          <a:xfrm>
            <a:off x="2623595" y="2159766"/>
            <a:ext cx="6803554" cy="978698"/>
            <a:chOff x="2623595" y="2159766"/>
            <a:chExt cx="6803554" cy="978698"/>
          </a:xfrm>
        </p:grpSpPr>
        <p:sp>
          <p:nvSpPr>
            <p:cNvPr id="8" name="Entity 1">
              <a:extLst>
                <a:ext uri="{FF2B5EF4-FFF2-40B4-BE49-F238E27FC236}">
                  <a16:creationId xmlns:a16="http://schemas.microsoft.com/office/drawing/2014/main" id="{9E8D577D-F9B0-4C26-95CB-954FFDF61DBD}"/>
                </a:ext>
              </a:extLst>
            </p:cNvPr>
            <p:cNvSpPr txBox="1"/>
            <p:nvPr/>
          </p:nvSpPr>
          <p:spPr>
            <a:xfrm>
              <a:off x="2623595" y="2418464"/>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entity</a:t>
              </a:r>
            </a:p>
          </p:txBody>
        </p:sp>
        <p:sp>
          <p:nvSpPr>
            <p:cNvPr id="10" name="Entity 2">
              <a:extLst>
                <a:ext uri="{FF2B5EF4-FFF2-40B4-BE49-F238E27FC236}">
                  <a16:creationId xmlns:a16="http://schemas.microsoft.com/office/drawing/2014/main" id="{06B8E8D6-C037-4571-B1CB-E4BD14A48ED7}"/>
                </a:ext>
              </a:extLst>
            </p:cNvPr>
            <p:cNvSpPr txBox="1"/>
            <p:nvPr/>
          </p:nvSpPr>
          <p:spPr>
            <a:xfrm>
              <a:off x="7627149" y="2418463"/>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entity</a:t>
              </a:r>
            </a:p>
          </p:txBody>
        </p:sp>
        <p:cxnSp>
          <p:nvCxnSpPr>
            <p:cNvPr id="3" name="1 to 1"/>
            <p:cNvCxnSpPr>
              <a:cxnSpLocks/>
              <a:stCxn id="8" idx="3"/>
              <a:endCxn id="10" idx="1"/>
            </p:cNvCxnSpPr>
            <p:nvPr/>
          </p:nvCxnSpPr>
          <p:spPr>
            <a:xfrm flipV="1">
              <a:off x="4423595" y="2778463"/>
              <a:ext cx="3203554" cy="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sp>
          <p:nvSpPr>
            <p:cNvPr id="38" name="TextBox 37">
              <a:extLst>
                <a:ext uri="{FF2B5EF4-FFF2-40B4-BE49-F238E27FC236}">
                  <a16:creationId xmlns:a16="http://schemas.microsoft.com/office/drawing/2014/main" id="{663E3461-DC5D-48CF-AE13-69B629EAA16E}"/>
                </a:ext>
              </a:extLst>
            </p:cNvPr>
            <p:cNvSpPr txBox="1"/>
            <p:nvPr/>
          </p:nvSpPr>
          <p:spPr>
            <a:xfrm>
              <a:off x="5402445" y="2159766"/>
              <a:ext cx="1245854" cy="646331"/>
            </a:xfrm>
            <a:prstGeom prst="rect">
              <a:avLst/>
            </a:prstGeom>
            <a:noFill/>
          </p:spPr>
          <p:txBody>
            <a:bodyPr wrap="none" rtlCol="0">
              <a:spAutoFit/>
            </a:bodyPr>
            <a:lstStyle/>
            <a:p>
              <a:pPr algn="ctr"/>
              <a:r>
                <a:rPr lang="en-GB" sz="3600" dirty="0"/>
                <a:t>name</a:t>
              </a:r>
              <a:endParaRPr lang="en-GB" sz="2800" dirty="0"/>
            </a:p>
          </p:txBody>
        </p:sp>
      </p:grpSp>
      <p:cxnSp>
        <p:nvCxnSpPr>
          <p:cNvPr id="23" name="1 to 1">
            <a:extLst>
              <a:ext uri="{FF2B5EF4-FFF2-40B4-BE49-F238E27FC236}">
                <a16:creationId xmlns:a16="http://schemas.microsoft.com/office/drawing/2014/main" id="{6C2DFB1C-1EEA-4374-89BA-38A6DEAD8CB2}"/>
              </a:ext>
            </a:extLst>
          </p:cNvPr>
          <p:cNvCxnSpPr>
            <a:cxnSpLocks/>
            <a:stCxn id="11" idx="3"/>
            <a:endCxn id="12" idx="1"/>
          </p:cNvCxnSpPr>
          <p:nvPr/>
        </p:nvCxnSpPr>
        <p:spPr>
          <a:xfrm>
            <a:off x="4423595" y="4319608"/>
            <a:ext cx="3203554" cy="0"/>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819555592"/>
      </p:ext>
    </p:extLst>
  </p:cSld>
  <p:clrMapOvr>
    <a:masterClrMapping/>
  </p:clrMapOvr>
</p:sld>
</file>

<file path=ppt/slides/slide19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2630251-0176-4E08-9A40-5821ACD1944C}"/>
              </a:ext>
            </a:extLst>
          </p:cNvPr>
          <p:cNvSpPr>
            <a:spLocks noGrp="1"/>
          </p:cNvSpPr>
          <p:nvPr>
            <p:ph type="title"/>
          </p:nvPr>
        </p:nvSpPr>
        <p:spPr>
          <a:xfrm>
            <a:off x="838200" y="327025"/>
            <a:ext cx="10515600" cy="1325563"/>
          </a:xfrm>
        </p:spPr>
        <p:txBody>
          <a:bodyPr/>
          <a:lstStyle/>
          <a:p>
            <a:r>
              <a:rPr lang="en-GB" dirty="0"/>
              <a:t>Cardinality: 1 to Many</a:t>
            </a:r>
          </a:p>
        </p:txBody>
      </p:sp>
      <p:sp>
        <p:nvSpPr>
          <p:cNvPr id="27" name="Callout: Bent Line with No Border 4">
            <a:extLst>
              <a:ext uri="{FF2B5EF4-FFF2-40B4-BE49-F238E27FC236}">
                <a16:creationId xmlns:a16="http://schemas.microsoft.com/office/drawing/2014/main" id="{46F76525-63F7-433C-B5AB-86D8EDEDE006}"/>
              </a:ext>
            </a:extLst>
          </p:cNvPr>
          <p:cNvSpPr/>
          <p:nvPr/>
        </p:nvSpPr>
        <p:spPr>
          <a:xfrm>
            <a:off x="8181984" y="1624966"/>
            <a:ext cx="1083249" cy="487680"/>
          </a:xfrm>
          <a:prstGeom prst="callout2">
            <a:avLst>
              <a:gd name="adj1" fmla="val 50309"/>
              <a:gd name="adj2" fmla="val 63"/>
              <a:gd name="adj3" fmla="val 49320"/>
              <a:gd name="adj4" fmla="val -68507"/>
              <a:gd name="adj5" fmla="val 201933"/>
              <a:gd name="adj6" fmla="val -69301"/>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Many</a:t>
            </a:r>
          </a:p>
        </p:txBody>
      </p:sp>
      <p:sp>
        <p:nvSpPr>
          <p:cNvPr id="16" name="Callout: Bent Line with No Border 4">
            <a:extLst>
              <a:ext uri="{FF2B5EF4-FFF2-40B4-BE49-F238E27FC236}">
                <a16:creationId xmlns:a16="http://schemas.microsoft.com/office/drawing/2014/main" id="{3F69C500-F565-491D-AB71-83B51F06FDA1}"/>
              </a:ext>
            </a:extLst>
          </p:cNvPr>
          <p:cNvSpPr/>
          <p:nvPr/>
        </p:nvSpPr>
        <p:spPr>
          <a:xfrm flipH="1">
            <a:off x="2804170" y="1624966"/>
            <a:ext cx="1083249" cy="487680"/>
          </a:xfrm>
          <a:prstGeom prst="callout2">
            <a:avLst>
              <a:gd name="adj1" fmla="val 50309"/>
              <a:gd name="adj2" fmla="val 63"/>
              <a:gd name="adj3" fmla="val 49320"/>
              <a:gd name="adj4" fmla="val -68507"/>
              <a:gd name="adj5" fmla="val 201933"/>
              <a:gd name="adj6" fmla="val -69301"/>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1</a:t>
            </a:r>
          </a:p>
        </p:txBody>
      </p:sp>
      <p:grpSp>
        <p:nvGrpSpPr>
          <p:cNvPr id="24" name="Group 23">
            <a:extLst>
              <a:ext uri="{FF2B5EF4-FFF2-40B4-BE49-F238E27FC236}">
                <a16:creationId xmlns:a16="http://schemas.microsoft.com/office/drawing/2014/main" id="{31D2FA32-D154-46BD-9391-89996670DC30}"/>
              </a:ext>
            </a:extLst>
          </p:cNvPr>
          <p:cNvGrpSpPr/>
          <p:nvPr/>
        </p:nvGrpSpPr>
        <p:grpSpPr>
          <a:xfrm>
            <a:off x="2623595" y="2181834"/>
            <a:ext cx="6803554" cy="962197"/>
            <a:chOff x="2706145" y="3399680"/>
            <a:chExt cx="6803554" cy="962197"/>
          </a:xfrm>
        </p:grpSpPr>
        <p:sp>
          <p:nvSpPr>
            <p:cNvPr id="25" name="Entity 3">
              <a:extLst>
                <a:ext uri="{FF2B5EF4-FFF2-40B4-BE49-F238E27FC236}">
                  <a16:creationId xmlns:a16="http://schemas.microsoft.com/office/drawing/2014/main" id="{8F93F865-6004-4D78-B838-89AFD7C7D83F}"/>
                </a:ext>
              </a:extLst>
            </p:cNvPr>
            <p:cNvSpPr txBox="1"/>
            <p:nvPr/>
          </p:nvSpPr>
          <p:spPr>
            <a:xfrm>
              <a:off x="2706145" y="3641877"/>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entity</a:t>
              </a:r>
            </a:p>
          </p:txBody>
        </p:sp>
        <p:sp>
          <p:nvSpPr>
            <p:cNvPr id="28" name="Entity 4">
              <a:extLst>
                <a:ext uri="{FF2B5EF4-FFF2-40B4-BE49-F238E27FC236}">
                  <a16:creationId xmlns:a16="http://schemas.microsoft.com/office/drawing/2014/main" id="{EC40E123-61A5-467A-A076-316B28D4B0EA}"/>
                </a:ext>
              </a:extLst>
            </p:cNvPr>
            <p:cNvSpPr txBox="1"/>
            <p:nvPr/>
          </p:nvSpPr>
          <p:spPr>
            <a:xfrm>
              <a:off x="7709699" y="3641877"/>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entity</a:t>
              </a:r>
            </a:p>
          </p:txBody>
        </p:sp>
        <p:grpSp>
          <p:nvGrpSpPr>
            <p:cNvPr id="29" name="1 to Many">
              <a:extLst>
                <a:ext uri="{FF2B5EF4-FFF2-40B4-BE49-F238E27FC236}">
                  <a16:creationId xmlns:a16="http://schemas.microsoft.com/office/drawing/2014/main" id="{CE50A091-EFC1-4B83-8897-1A586E64CAD7}"/>
                </a:ext>
              </a:extLst>
            </p:cNvPr>
            <p:cNvGrpSpPr/>
            <p:nvPr/>
          </p:nvGrpSpPr>
          <p:grpSpPr>
            <a:xfrm>
              <a:off x="4506145" y="3813175"/>
              <a:ext cx="3203554" cy="359999"/>
              <a:chOff x="4506145" y="3813175"/>
              <a:chExt cx="3203554" cy="359999"/>
            </a:xfrm>
          </p:grpSpPr>
          <p:cxnSp>
            <p:nvCxnSpPr>
              <p:cNvPr id="31" name="Straight Connector 30">
                <a:extLst>
                  <a:ext uri="{FF2B5EF4-FFF2-40B4-BE49-F238E27FC236}">
                    <a16:creationId xmlns:a16="http://schemas.microsoft.com/office/drawing/2014/main" id="{4134B92E-8AE4-4ED8-8F87-44902328C0D7}"/>
                  </a:ext>
                </a:extLst>
              </p:cNvPr>
              <p:cNvCxnSpPr>
                <a:stCxn id="25" idx="3"/>
                <a:endCxn id="28" idx="1"/>
              </p:cNvCxnSpPr>
              <p:nvPr/>
            </p:nvCxnSpPr>
            <p:spPr>
              <a:xfrm>
                <a:off x="4506145" y="4001877"/>
                <a:ext cx="3203554" cy="0"/>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32" name="Straight Connector 31">
                <a:extLst>
                  <a:ext uri="{FF2B5EF4-FFF2-40B4-BE49-F238E27FC236}">
                    <a16:creationId xmlns:a16="http://schemas.microsoft.com/office/drawing/2014/main" id="{0B43FACB-F37B-4EF5-84A1-CB8204CE3451}"/>
                  </a:ext>
                </a:extLst>
              </p:cNvPr>
              <p:cNvCxnSpPr/>
              <p:nvPr/>
            </p:nvCxnSpPr>
            <p:spPr>
              <a:xfrm flipV="1">
                <a:off x="7391400" y="3813175"/>
                <a:ext cx="318299" cy="18870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33" name="Straight Connector 32">
                <a:extLst>
                  <a:ext uri="{FF2B5EF4-FFF2-40B4-BE49-F238E27FC236}">
                    <a16:creationId xmlns:a16="http://schemas.microsoft.com/office/drawing/2014/main" id="{6953D9A6-C305-4AAC-BCA6-542E984C1CA1}"/>
                  </a:ext>
                </a:extLst>
              </p:cNvPr>
              <p:cNvCxnSpPr/>
              <p:nvPr/>
            </p:nvCxnSpPr>
            <p:spPr>
              <a:xfrm>
                <a:off x="7391400" y="4001876"/>
                <a:ext cx="318299" cy="171298"/>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grpSp>
        <p:sp>
          <p:nvSpPr>
            <p:cNvPr id="30" name="TextBox 29">
              <a:extLst>
                <a:ext uri="{FF2B5EF4-FFF2-40B4-BE49-F238E27FC236}">
                  <a16:creationId xmlns:a16="http://schemas.microsoft.com/office/drawing/2014/main" id="{38FDF8BB-0126-4237-8383-DB35B0B3EE27}"/>
                </a:ext>
              </a:extLst>
            </p:cNvPr>
            <p:cNvSpPr txBox="1"/>
            <p:nvPr/>
          </p:nvSpPr>
          <p:spPr>
            <a:xfrm>
              <a:off x="5484995" y="3399680"/>
              <a:ext cx="1245854" cy="646331"/>
            </a:xfrm>
            <a:prstGeom prst="rect">
              <a:avLst/>
            </a:prstGeom>
            <a:noFill/>
          </p:spPr>
          <p:txBody>
            <a:bodyPr wrap="none" rtlCol="0">
              <a:spAutoFit/>
            </a:bodyPr>
            <a:lstStyle/>
            <a:p>
              <a:pPr algn="ctr"/>
              <a:r>
                <a:rPr lang="en-GB" sz="3600" dirty="0"/>
                <a:t>name</a:t>
              </a:r>
              <a:endParaRPr lang="en-GB" sz="2800" dirty="0"/>
            </a:p>
          </p:txBody>
        </p:sp>
      </p:grpSp>
      <p:sp>
        <p:nvSpPr>
          <p:cNvPr id="35" name="Entity 3">
            <a:extLst>
              <a:ext uri="{FF2B5EF4-FFF2-40B4-BE49-F238E27FC236}">
                <a16:creationId xmlns:a16="http://schemas.microsoft.com/office/drawing/2014/main" id="{CC3EC6A7-FC8F-4404-A8EE-E5CD37A09269}"/>
              </a:ext>
            </a:extLst>
          </p:cNvPr>
          <p:cNvSpPr txBox="1"/>
          <p:nvPr/>
        </p:nvSpPr>
        <p:spPr>
          <a:xfrm>
            <a:off x="2623595" y="3959608"/>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school</a:t>
            </a:r>
          </a:p>
        </p:txBody>
      </p:sp>
      <p:sp>
        <p:nvSpPr>
          <p:cNvPr id="36" name="Entity 4">
            <a:extLst>
              <a:ext uri="{FF2B5EF4-FFF2-40B4-BE49-F238E27FC236}">
                <a16:creationId xmlns:a16="http://schemas.microsoft.com/office/drawing/2014/main" id="{08E37E29-0D20-4075-B25E-0526813E8C8E}"/>
              </a:ext>
            </a:extLst>
          </p:cNvPr>
          <p:cNvSpPr txBox="1"/>
          <p:nvPr/>
        </p:nvSpPr>
        <p:spPr>
          <a:xfrm>
            <a:off x="7627149" y="3959608"/>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pupil</a:t>
            </a:r>
          </a:p>
        </p:txBody>
      </p:sp>
      <p:grpSp>
        <p:nvGrpSpPr>
          <p:cNvPr id="37" name="1 to Many">
            <a:extLst>
              <a:ext uri="{FF2B5EF4-FFF2-40B4-BE49-F238E27FC236}">
                <a16:creationId xmlns:a16="http://schemas.microsoft.com/office/drawing/2014/main" id="{1A6286F3-A45C-4E0F-972A-D637064667D5}"/>
              </a:ext>
            </a:extLst>
          </p:cNvPr>
          <p:cNvGrpSpPr/>
          <p:nvPr/>
        </p:nvGrpSpPr>
        <p:grpSpPr>
          <a:xfrm>
            <a:off x="4423595" y="4130906"/>
            <a:ext cx="3203554" cy="359999"/>
            <a:chOff x="4506145" y="3813175"/>
            <a:chExt cx="3203554" cy="359999"/>
          </a:xfrm>
        </p:grpSpPr>
        <p:cxnSp>
          <p:nvCxnSpPr>
            <p:cNvPr id="40" name="Straight Connector 39">
              <a:extLst>
                <a:ext uri="{FF2B5EF4-FFF2-40B4-BE49-F238E27FC236}">
                  <a16:creationId xmlns:a16="http://schemas.microsoft.com/office/drawing/2014/main" id="{42F9BEA2-FAA4-4C9A-AC72-C7AB758AC3D1}"/>
                </a:ext>
              </a:extLst>
            </p:cNvPr>
            <p:cNvCxnSpPr>
              <a:stCxn id="35" idx="3"/>
              <a:endCxn id="36" idx="1"/>
            </p:cNvCxnSpPr>
            <p:nvPr/>
          </p:nvCxnSpPr>
          <p:spPr>
            <a:xfrm>
              <a:off x="4506145" y="4001877"/>
              <a:ext cx="3203554" cy="0"/>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41" name="Straight Connector 40">
              <a:extLst>
                <a:ext uri="{FF2B5EF4-FFF2-40B4-BE49-F238E27FC236}">
                  <a16:creationId xmlns:a16="http://schemas.microsoft.com/office/drawing/2014/main" id="{831A8479-05C0-435B-A325-10D60B624CB9}"/>
                </a:ext>
              </a:extLst>
            </p:cNvPr>
            <p:cNvCxnSpPr/>
            <p:nvPr/>
          </p:nvCxnSpPr>
          <p:spPr>
            <a:xfrm flipV="1">
              <a:off x="7391400" y="3813175"/>
              <a:ext cx="318299" cy="18870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42" name="Straight Connector 41">
              <a:extLst>
                <a:ext uri="{FF2B5EF4-FFF2-40B4-BE49-F238E27FC236}">
                  <a16:creationId xmlns:a16="http://schemas.microsoft.com/office/drawing/2014/main" id="{BDFB1415-79CD-4736-B18F-06C1771E0E03}"/>
                </a:ext>
              </a:extLst>
            </p:cNvPr>
            <p:cNvCxnSpPr/>
            <p:nvPr/>
          </p:nvCxnSpPr>
          <p:spPr>
            <a:xfrm>
              <a:off x="7391400" y="4001876"/>
              <a:ext cx="318299" cy="171298"/>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grpSp>
      <p:sp>
        <p:nvSpPr>
          <p:cNvPr id="39" name="TextBox 38">
            <a:extLst>
              <a:ext uri="{FF2B5EF4-FFF2-40B4-BE49-F238E27FC236}">
                <a16:creationId xmlns:a16="http://schemas.microsoft.com/office/drawing/2014/main" id="{9A331333-6526-4CF3-B84D-93950069E577}"/>
              </a:ext>
            </a:extLst>
          </p:cNvPr>
          <p:cNvSpPr txBox="1"/>
          <p:nvPr/>
        </p:nvSpPr>
        <p:spPr>
          <a:xfrm>
            <a:off x="5092392" y="3706670"/>
            <a:ext cx="1865960" cy="646331"/>
          </a:xfrm>
          <a:prstGeom prst="rect">
            <a:avLst/>
          </a:prstGeom>
          <a:noFill/>
        </p:spPr>
        <p:txBody>
          <a:bodyPr wrap="none" rtlCol="0">
            <a:spAutoFit/>
          </a:bodyPr>
          <a:lstStyle/>
          <a:p>
            <a:pPr algn="ctr"/>
            <a:r>
              <a:rPr lang="en-GB" sz="3600" dirty="0"/>
              <a:t>educates</a:t>
            </a:r>
          </a:p>
        </p:txBody>
      </p:sp>
    </p:spTree>
    <p:extLst>
      <p:ext uri="{BB962C8B-B14F-4D97-AF65-F5344CB8AC3E}">
        <p14:creationId xmlns:p14="http://schemas.microsoft.com/office/powerpoint/2010/main" val="355281101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4"/>
                                        </p:tgtEl>
                                        <p:attrNameLst>
                                          <p:attrName>style.visibility</p:attrName>
                                        </p:attrNameLst>
                                      </p:cBhvr>
                                      <p:to>
                                        <p:strVal val="visible"/>
                                      </p:to>
                                    </p:set>
                                    <p:animEffect transition="in" filter="fade">
                                      <p:cBhvr>
                                        <p:cTn id="7" dur="1000"/>
                                        <p:tgtEl>
                                          <p:spTgt spid="24"/>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16"/>
                                        </p:tgtEl>
                                        <p:attrNameLst>
                                          <p:attrName>style.visibility</p:attrName>
                                        </p:attrNameLst>
                                      </p:cBhvr>
                                      <p:to>
                                        <p:strVal val="visible"/>
                                      </p:to>
                                    </p:set>
                                    <p:animEffect transition="in" filter="fade">
                                      <p:cBhvr>
                                        <p:cTn id="12" dur="1000"/>
                                        <p:tgtEl>
                                          <p:spTgt spid="16"/>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27"/>
                                        </p:tgtEl>
                                        <p:attrNameLst>
                                          <p:attrName>style.visibility</p:attrName>
                                        </p:attrNameLst>
                                      </p:cBhvr>
                                      <p:to>
                                        <p:strVal val="visible"/>
                                      </p:to>
                                    </p:set>
                                    <p:animEffect transition="in" filter="fade">
                                      <p:cBhvr>
                                        <p:cTn id="17" dur="1000"/>
                                        <p:tgtEl>
                                          <p:spTgt spid="27"/>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35"/>
                                        </p:tgtEl>
                                        <p:attrNameLst>
                                          <p:attrName>style.visibility</p:attrName>
                                        </p:attrNameLst>
                                      </p:cBhvr>
                                      <p:to>
                                        <p:strVal val="visible"/>
                                      </p:to>
                                    </p:set>
                                    <p:animEffect transition="in" filter="fade">
                                      <p:cBhvr>
                                        <p:cTn id="22" dur="1000"/>
                                        <p:tgtEl>
                                          <p:spTgt spid="35"/>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36"/>
                                        </p:tgtEl>
                                        <p:attrNameLst>
                                          <p:attrName>style.visibility</p:attrName>
                                        </p:attrNameLst>
                                      </p:cBhvr>
                                      <p:to>
                                        <p:strVal val="visible"/>
                                      </p:to>
                                    </p:set>
                                    <p:animEffect transition="in" filter="fade">
                                      <p:cBhvr>
                                        <p:cTn id="27" dur="1000"/>
                                        <p:tgtEl>
                                          <p:spTgt spid="36"/>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nodeType="clickEffect">
                                  <p:stCondLst>
                                    <p:cond delay="0"/>
                                  </p:stCondLst>
                                  <p:childTnLst>
                                    <p:set>
                                      <p:cBhvr>
                                        <p:cTn id="31" dur="1" fill="hold">
                                          <p:stCondLst>
                                            <p:cond delay="0"/>
                                          </p:stCondLst>
                                        </p:cTn>
                                        <p:tgtEl>
                                          <p:spTgt spid="37"/>
                                        </p:tgtEl>
                                        <p:attrNameLst>
                                          <p:attrName>style.visibility</p:attrName>
                                        </p:attrNameLst>
                                      </p:cBhvr>
                                      <p:to>
                                        <p:strVal val="visible"/>
                                      </p:to>
                                    </p:set>
                                    <p:animEffect transition="in" filter="wipe(left)">
                                      <p:cBhvr>
                                        <p:cTn id="32" dur="1000"/>
                                        <p:tgtEl>
                                          <p:spTgt spid="37"/>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grpId="0" nodeType="clickEffect">
                                  <p:stCondLst>
                                    <p:cond delay="0"/>
                                  </p:stCondLst>
                                  <p:childTnLst>
                                    <p:set>
                                      <p:cBhvr>
                                        <p:cTn id="36" dur="1" fill="hold">
                                          <p:stCondLst>
                                            <p:cond delay="0"/>
                                          </p:stCondLst>
                                        </p:cTn>
                                        <p:tgtEl>
                                          <p:spTgt spid="39"/>
                                        </p:tgtEl>
                                        <p:attrNameLst>
                                          <p:attrName>style.visibility</p:attrName>
                                        </p:attrNameLst>
                                      </p:cBhvr>
                                      <p:to>
                                        <p:strVal val="visible"/>
                                      </p:to>
                                    </p:set>
                                    <p:animEffect transition="in" filter="fade">
                                      <p:cBhvr>
                                        <p:cTn id="37" dur="1000"/>
                                        <p:tgtEl>
                                          <p:spTgt spid="3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7" grpId="0" animBg="1"/>
      <p:bldP spid="16" grpId="0" animBg="1"/>
      <p:bldP spid="35" grpId="0" animBg="1"/>
      <p:bldP spid="36" grpId="0" animBg="1"/>
      <p:bldP spid="39" grpId="0"/>
    </p:bldLst>
  </p:timing>
</p:sld>
</file>

<file path=ppt/slides/slide197.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2630251-0176-4E08-9A40-5821ACD1944C}"/>
              </a:ext>
            </a:extLst>
          </p:cNvPr>
          <p:cNvSpPr>
            <a:spLocks noGrp="1"/>
          </p:cNvSpPr>
          <p:nvPr>
            <p:ph type="title"/>
          </p:nvPr>
        </p:nvSpPr>
        <p:spPr>
          <a:xfrm>
            <a:off x="838200" y="327025"/>
            <a:ext cx="10515600" cy="1325563"/>
          </a:xfrm>
        </p:spPr>
        <p:txBody>
          <a:bodyPr/>
          <a:lstStyle/>
          <a:p>
            <a:r>
              <a:rPr lang="en-GB" dirty="0"/>
              <a:t>Cardinality: 1 to Many</a:t>
            </a:r>
          </a:p>
        </p:txBody>
      </p:sp>
      <p:grpSp>
        <p:nvGrpSpPr>
          <p:cNvPr id="24" name="Group 23">
            <a:extLst>
              <a:ext uri="{FF2B5EF4-FFF2-40B4-BE49-F238E27FC236}">
                <a16:creationId xmlns:a16="http://schemas.microsoft.com/office/drawing/2014/main" id="{31D2FA32-D154-46BD-9391-89996670DC30}"/>
              </a:ext>
            </a:extLst>
          </p:cNvPr>
          <p:cNvGrpSpPr/>
          <p:nvPr/>
        </p:nvGrpSpPr>
        <p:grpSpPr>
          <a:xfrm>
            <a:off x="2623595" y="2215226"/>
            <a:ext cx="6803554" cy="928805"/>
            <a:chOff x="2706145" y="3433072"/>
            <a:chExt cx="6803554" cy="928805"/>
          </a:xfrm>
        </p:grpSpPr>
        <p:sp>
          <p:nvSpPr>
            <p:cNvPr id="25" name="Entity 3">
              <a:extLst>
                <a:ext uri="{FF2B5EF4-FFF2-40B4-BE49-F238E27FC236}">
                  <a16:creationId xmlns:a16="http://schemas.microsoft.com/office/drawing/2014/main" id="{8F93F865-6004-4D78-B838-89AFD7C7D83F}"/>
                </a:ext>
              </a:extLst>
            </p:cNvPr>
            <p:cNvSpPr txBox="1"/>
            <p:nvPr/>
          </p:nvSpPr>
          <p:spPr>
            <a:xfrm>
              <a:off x="2706145" y="3641877"/>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entity</a:t>
              </a:r>
            </a:p>
          </p:txBody>
        </p:sp>
        <p:sp>
          <p:nvSpPr>
            <p:cNvPr id="28" name="Entity 4">
              <a:extLst>
                <a:ext uri="{FF2B5EF4-FFF2-40B4-BE49-F238E27FC236}">
                  <a16:creationId xmlns:a16="http://schemas.microsoft.com/office/drawing/2014/main" id="{EC40E123-61A5-467A-A076-316B28D4B0EA}"/>
                </a:ext>
              </a:extLst>
            </p:cNvPr>
            <p:cNvSpPr txBox="1"/>
            <p:nvPr/>
          </p:nvSpPr>
          <p:spPr>
            <a:xfrm>
              <a:off x="7709699" y="3641877"/>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entity</a:t>
              </a:r>
            </a:p>
          </p:txBody>
        </p:sp>
        <p:cxnSp>
          <p:nvCxnSpPr>
            <p:cNvPr id="31" name="Straight Connector 30">
              <a:extLst>
                <a:ext uri="{FF2B5EF4-FFF2-40B4-BE49-F238E27FC236}">
                  <a16:creationId xmlns:a16="http://schemas.microsoft.com/office/drawing/2014/main" id="{4134B92E-8AE4-4ED8-8F87-44902328C0D7}"/>
                </a:ext>
              </a:extLst>
            </p:cNvPr>
            <p:cNvCxnSpPr>
              <a:stCxn id="25" idx="3"/>
              <a:endCxn id="28" idx="1"/>
            </p:cNvCxnSpPr>
            <p:nvPr/>
          </p:nvCxnSpPr>
          <p:spPr>
            <a:xfrm>
              <a:off x="4506145" y="4001877"/>
              <a:ext cx="3203554" cy="0"/>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sp>
          <p:nvSpPr>
            <p:cNvPr id="30" name="TextBox 29">
              <a:extLst>
                <a:ext uri="{FF2B5EF4-FFF2-40B4-BE49-F238E27FC236}">
                  <a16:creationId xmlns:a16="http://schemas.microsoft.com/office/drawing/2014/main" id="{38FDF8BB-0126-4237-8383-DB35B0B3EE27}"/>
                </a:ext>
              </a:extLst>
            </p:cNvPr>
            <p:cNvSpPr txBox="1"/>
            <p:nvPr/>
          </p:nvSpPr>
          <p:spPr>
            <a:xfrm>
              <a:off x="5484995" y="3433072"/>
              <a:ext cx="1245854" cy="646331"/>
            </a:xfrm>
            <a:prstGeom prst="rect">
              <a:avLst/>
            </a:prstGeom>
            <a:noFill/>
          </p:spPr>
          <p:txBody>
            <a:bodyPr wrap="none" rtlCol="0">
              <a:spAutoFit/>
            </a:bodyPr>
            <a:lstStyle/>
            <a:p>
              <a:pPr algn="ctr"/>
              <a:r>
                <a:rPr lang="en-GB" sz="3600" dirty="0"/>
                <a:t>name</a:t>
              </a:r>
              <a:endParaRPr lang="en-GB" sz="2800" dirty="0"/>
            </a:p>
          </p:txBody>
        </p:sp>
      </p:grpSp>
      <p:sp>
        <p:nvSpPr>
          <p:cNvPr id="35" name="Entity 3">
            <a:extLst>
              <a:ext uri="{FF2B5EF4-FFF2-40B4-BE49-F238E27FC236}">
                <a16:creationId xmlns:a16="http://schemas.microsoft.com/office/drawing/2014/main" id="{CC3EC6A7-FC8F-4404-A8EE-E5CD37A09269}"/>
              </a:ext>
            </a:extLst>
          </p:cNvPr>
          <p:cNvSpPr txBox="1"/>
          <p:nvPr/>
        </p:nvSpPr>
        <p:spPr>
          <a:xfrm>
            <a:off x="2623595" y="3959608"/>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school</a:t>
            </a:r>
          </a:p>
        </p:txBody>
      </p:sp>
      <p:sp>
        <p:nvSpPr>
          <p:cNvPr id="36" name="Entity 4">
            <a:extLst>
              <a:ext uri="{FF2B5EF4-FFF2-40B4-BE49-F238E27FC236}">
                <a16:creationId xmlns:a16="http://schemas.microsoft.com/office/drawing/2014/main" id="{08E37E29-0D20-4075-B25E-0526813E8C8E}"/>
              </a:ext>
            </a:extLst>
          </p:cNvPr>
          <p:cNvSpPr txBox="1"/>
          <p:nvPr/>
        </p:nvSpPr>
        <p:spPr>
          <a:xfrm>
            <a:off x="7627149" y="3959608"/>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pupil</a:t>
            </a:r>
          </a:p>
        </p:txBody>
      </p:sp>
      <p:cxnSp>
        <p:nvCxnSpPr>
          <p:cNvPr id="40" name="Straight Connector 39">
            <a:extLst>
              <a:ext uri="{FF2B5EF4-FFF2-40B4-BE49-F238E27FC236}">
                <a16:creationId xmlns:a16="http://schemas.microsoft.com/office/drawing/2014/main" id="{42F9BEA2-FAA4-4C9A-AC72-C7AB758AC3D1}"/>
              </a:ext>
            </a:extLst>
          </p:cNvPr>
          <p:cNvCxnSpPr>
            <a:cxnSpLocks/>
            <a:stCxn id="35" idx="3"/>
            <a:endCxn id="36" idx="1"/>
          </p:cNvCxnSpPr>
          <p:nvPr/>
        </p:nvCxnSpPr>
        <p:spPr>
          <a:xfrm>
            <a:off x="4423595" y="4319608"/>
            <a:ext cx="3203554" cy="0"/>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311849371"/>
      </p:ext>
    </p:extLst>
  </p:cSld>
  <p:clrMapOvr>
    <a:masterClrMapping/>
  </p:clrMapOvr>
</p:sld>
</file>

<file path=ppt/slides/slide19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2630251-0176-4E08-9A40-5821ACD1944C}"/>
              </a:ext>
            </a:extLst>
          </p:cNvPr>
          <p:cNvSpPr>
            <a:spLocks noGrp="1"/>
          </p:cNvSpPr>
          <p:nvPr>
            <p:ph type="title"/>
          </p:nvPr>
        </p:nvSpPr>
        <p:spPr>
          <a:xfrm>
            <a:off x="838200" y="327025"/>
            <a:ext cx="10515600" cy="1325563"/>
          </a:xfrm>
        </p:spPr>
        <p:txBody>
          <a:bodyPr/>
          <a:lstStyle/>
          <a:p>
            <a:r>
              <a:rPr lang="en-GB" dirty="0"/>
              <a:t>Cardinality: Many to Many</a:t>
            </a:r>
          </a:p>
        </p:txBody>
      </p:sp>
      <p:sp>
        <p:nvSpPr>
          <p:cNvPr id="27" name="Callout: Bent Line with No Border 4">
            <a:extLst>
              <a:ext uri="{FF2B5EF4-FFF2-40B4-BE49-F238E27FC236}">
                <a16:creationId xmlns:a16="http://schemas.microsoft.com/office/drawing/2014/main" id="{46F76525-63F7-433C-B5AB-86D8EDEDE006}"/>
              </a:ext>
            </a:extLst>
          </p:cNvPr>
          <p:cNvSpPr/>
          <p:nvPr/>
        </p:nvSpPr>
        <p:spPr>
          <a:xfrm>
            <a:off x="8181984" y="1624966"/>
            <a:ext cx="1083249" cy="487680"/>
          </a:xfrm>
          <a:prstGeom prst="callout2">
            <a:avLst>
              <a:gd name="adj1" fmla="val 50309"/>
              <a:gd name="adj2" fmla="val 63"/>
              <a:gd name="adj3" fmla="val 49320"/>
              <a:gd name="adj4" fmla="val -68507"/>
              <a:gd name="adj5" fmla="val 201933"/>
              <a:gd name="adj6" fmla="val -69301"/>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Many</a:t>
            </a:r>
          </a:p>
        </p:txBody>
      </p:sp>
      <p:sp>
        <p:nvSpPr>
          <p:cNvPr id="16" name="Callout: Bent Line with No Border 4">
            <a:extLst>
              <a:ext uri="{FF2B5EF4-FFF2-40B4-BE49-F238E27FC236}">
                <a16:creationId xmlns:a16="http://schemas.microsoft.com/office/drawing/2014/main" id="{3F69C500-F565-491D-AB71-83B51F06FDA1}"/>
              </a:ext>
            </a:extLst>
          </p:cNvPr>
          <p:cNvSpPr/>
          <p:nvPr/>
        </p:nvSpPr>
        <p:spPr>
          <a:xfrm flipH="1">
            <a:off x="2804170" y="1624966"/>
            <a:ext cx="1083249" cy="487680"/>
          </a:xfrm>
          <a:prstGeom prst="callout2">
            <a:avLst>
              <a:gd name="adj1" fmla="val 50309"/>
              <a:gd name="adj2" fmla="val 63"/>
              <a:gd name="adj3" fmla="val 49320"/>
              <a:gd name="adj4" fmla="val -68507"/>
              <a:gd name="adj5" fmla="val 201933"/>
              <a:gd name="adj6" fmla="val -69301"/>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Many</a:t>
            </a:r>
          </a:p>
        </p:txBody>
      </p:sp>
      <p:grpSp>
        <p:nvGrpSpPr>
          <p:cNvPr id="20" name="Group 19">
            <a:extLst>
              <a:ext uri="{FF2B5EF4-FFF2-40B4-BE49-F238E27FC236}">
                <a16:creationId xmlns:a16="http://schemas.microsoft.com/office/drawing/2014/main" id="{8447922B-056F-4E6A-8B38-A74E9DDF3E9F}"/>
              </a:ext>
            </a:extLst>
          </p:cNvPr>
          <p:cNvGrpSpPr/>
          <p:nvPr/>
        </p:nvGrpSpPr>
        <p:grpSpPr>
          <a:xfrm>
            <a:off x="2623595" y="2201778"/>
            <a:ext cx="6803554" cy="936183"/>
            <a:chOff x="2706145" y="4913065"/>
            <a:chExt cx="6803554" cy="936183"/>
          </a:xfrm>
        </p:grpSpPr>
        <p:sp>
          <p:nvSpPr>
            <p:cNvPr id="21" name="Entity 5">
              <a:extLst>
                <a:ext uri="{FF2B5EF4-FFF2-40B4-BE49-F238E27FC236}">
                  <a16:creationId xmlns:a16="http://schemas.microsoft.com/office/drawing/2014/main" id="{6467068A-2277-4AB9-927B-3762F8490F40}"/>
                </a:ext>
              </a:extLst>
            </p:cNvPr>
            <p:cNvSpPr txBox="1"/>
            <p:nvPr/>
          </p:nvSpPr>
          <p:spPr>
            <a:xfrm>
              <a:off x="2706145" y="5129248"/>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entity</a:t>
              </a:r>
            </a:p>
          </p:txBody>
        </p:sp>
        <p:sp>
          <p:nvSpPr>
            <p:cNvPr id="22" name="Entity 6">
              <a:extLst>
                <a:ext uri="{FF2B5EF4-FFF2-40B4-BE49-F238E27FC236}">
                  <a16:creationId xmlns:a16="http://schemas.microsoft.com/office/drawing/2014/main" id="{195BFA4E-4382-4021-9998-072E4DF26718}"/>
                </a:ext>
              </a:extLst>
            </p:cNvPr>
            <p:cNvSpPr txBox="1"/>
            <p:nvPr/>
          </p:nvSpPr>
          <p:spPr>
            <a:xfrm>
              <a:off x="7709699" y="5129248"/>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entity</a:t>
              </a:r>
            </a:p>
          </p:txBody>
        </p:sp>
        <p:grpSp>
          <p:nvGrpSpPr>
            <p:cNvPr id="23" name="Mant yo Many">
              <a:extLst>
                <a:ext uri="{FF2B5EF4-FFF2-40B4-BE49-F238E27FC236}">
                  <a16:creationId xmlns:a16="http://schemas.microsoft.com/office/drawing/2014/main" id="{5F002C5B-C027-484C-96EA-1789841F5FB0}"/>
                </a:ext>
              </a:extLst>
            </p:cNvPr>
            <p:cNvGrpSpPr/>
            <p:nvPr/>
          </p:nvGrpSpPr>
          <p:grpSpPr>
            <a:xfrm>
              <a:off x="4506145" y="5300546"/>
              <a:ext cx="3203554" cy="359999"/>
              <a:chOff x="4506145" y="5300546"/>
              <a:chExt cx="3203554" cy="359999"/>
            </a:xfrm>
          </p:grpSpPr>
          <p:cxnSp>
            <p:nvCxnSpPr>
              <p:cNvPr id="34" name="Straight Connector 33">
                <a:extLst>
                  <a:ext uri="{FF2B5EF4-FFF2-40B4-BE49-F238E27FC236}">
                    <a16:creationId xmlns:a16="http://schemas.microsoft.com/office/drawing/2014/main" id="{06C12C31-E962-4721-BF86-B3B4FCE4B0BE}"/>
                  </a:ext>
                </a:extLst>
              </p:cNvPr>
              <p:cNvCxnSpPr>
                <a:stCxn id="21" idx="3"/>
                <a:endCxn id="22" idx="1"/>
              </p:cNvCxnSpPr>
              <p:nvPr/>
            </p:nvCxnSpPr>
            <p:spPr>
              <a:xfrm>
                <a:off x="4506145" y="5489248"/>
                <a:ext cx="3203554" cy="0"/>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38" name="Straight Connector 37">
                <a:extLst>
                  <a:ext uri="{FF2B5EF4-FFF2-40B4-BE49-F238E27FC236}">
                    <a16:creationId xmlns:a16="http://schemas.microsoft.com/office/drawing/2014/main" id="{3D09C2A7-4203-4239-A031-7F6404BE38C5}"/>
                  </a:ext>
                </a:extLst>
              </p:cNvPr>
              <p:cNvCxnSpPr/>
              <p:nvPr/>
            </p:nvCxnSpPr>
            <p:spPr>
              <a:xfrm flipV="1">
                <a:off x="7391400" y="5300546"/>
                <a:ext cx="318299" cy="18870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43" name="Straight Connector 42">
                <a:extLst>
                  <a:ext uri="{FF2B5EF4-FFF2-40B4-BE49-F238E27FC236}">
                    <a16:creationId xmlns:a16="http://schemas.microsoft.com/office/drawing/2014/main" id="{4382379F-A587-4B39-A55E-32E29A4DA8A7}"/>
                  </a:ext>
                </a:extLst>
              </p:cNvPr>
              <p:cNvCxnSpPr/>
              <p:nvPr/>
            </p:nvCxnSpPr>
            <p:spPr>
              <a:xfrm>
                <a:off x="7391400" y="5489247"/>
                <a:ext cx="318299" cy="171298"/>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44" name="Straight Connector 43">
                <a:extLst>
                  <a:ext uri="{FF2B5EF4-FFF2-40B4-BE49-F238E27FC236}">
                    <a16:creationId xmlns:a16="http://schemas.microsoft.com/office/drawing/2014/main" id="{2EDFF1A8-3360-4892-84A0-06A925C720AF}"/>
                  </a:ext>
                </a:extLst>
              </p:cNvPr>
              <p:cNvCxnSpPr/>
              <p:nvPr/>
            </p:nvCxnSpPr>
            <p:spPr>
              <a:xfrm flipH="1" flipV="1">
                <a:off x="4506145" y="5300546"/>
                <a:ext cx="318299" cy="18870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45" name="Straight Connector 44">
                <a:extLst>
                  <a:ext uri="{FF2B5EF4-FFF2-40B4-BE49-F238E27FC236}">
                    <a16:creationId xmlns:a16="http://schemas.microsoft.com/office/drawing/2014/main" id="{9692404C-3BEE-48CF-818D-6844326E5D8C}"/>
                  </a:ext>
                </a:extLst>
              </p:cNvPr>
              <p:cNvCxnSpPr/>
              <p:nvPr/>
            </p:nvCxnSpPr>
            <p:spPr>
              <a:xfrm flipH="1">
                <a:off x="4506145" y="5489247"/>
                <a:ext cx="318299" cy="171298"/>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grpSp>
        <p:sp>
          <p:nvSpPr>
            <p:cNvPr id="26" name="TextBox 25">
              <a:extLst>
                <a:ext uri="{FF2B5EF4-FFF2-40B4-BE49-F238E27FC236}">
                  <a16:creationId xmlns:a16="http://schemas.microsoft.com/office/drawing/2014/main" id="{4F052754-CF53-4CC5-81E2-201FFCF1ADEF}"/>
                </a:ext>
              </a:extLst>
            </p:cNvPr>
            <p:cNvSpPr txBox="1"/>
            <p:nvPr/>
          </p:nvSpPr>
          <p:spPr>
            <a:xfrm>
              <a:off x="5484995" y="4913065"/>
              <a:ext cx="1245854" cy="646331"/>
            </a:xfrm>
            <a:prstGeom prst="rect">
              <a:avLst/>
            </a:prstGeom>
            <a:noFill/>
          </p:spPr>
          <p:txBody>
            <a:bodyPr wrap="none" rtlCol="0">
              <a:spAutoFit/>
            </a:bodyPr>
            <a:lstStyle/>
            <a:p>
              <a:pPr algn="ctr"/>
              <a:r>
                <a:rPr lang="en-GB" sz="3600" dirty="0"/>
                <a:t>name</a:t>
              </a:r>
              <a:endParaRPr lang="en-GB" sz="2800" dirty="0"/>
            </a:p>
          </p:txBody>
        </p:sp>
      </p:grpSp>
      <p:sp>
        <p:nvSpPr>
          <p:cNvPr id="47" name="Entity 5">
            <a:extLst>
              <a:ext uri="{FF2B5EF4-FFF2-40B4-BE49-F238E27FC236}">
                <a16:creationId xmlns:a16="http://schemas.microsoft.com/office/drawing/2014/main" id="{0C63B20E-9FDF-4898-BD04-878DC12660FD}"/>
              </a:ext>
            </a:extLst>
          </p:cNvPr>
          <p:cNvSpPr txBox="1"/>
          <p:nvPr/>
        </p:nvSpPr>
        <p:spPr>
          <a:xfrm>
            <a:off x="2623595" y="3959608"/>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pupil</a:t>
            </a:r>
          </a:p>
        </p:txBody>
      </p:sp>
      <p:sp>
        <p:nvSpPr>
          <p:cNvPr id="48" name="Entity 6">
            <a:extLst>
              <a:ext uri="{FF2B5EF4-FFF2-40B4-BE49-F238E27FC236}">
                <a16:creationId xmlns:a16="http://schemas.microsoft.com/office/drawing/2014/main" id="{A55B2123-C239-48AF-B807-663504FBD5DB}"/>
              </a:ext>
            </a:extLst>
          </p:cNvPr>
          <p:cNvSpPr txBox="1"/>
          <p:nvPr/>
        </p:nvSpPr>
        <p:spPr>
          <a:xfrm>
            <a:off x="7627149" y="3959608"/>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subject</a:t>
            </a:r>
          </a:p>
        </p:txBody>
      </p:sp>
      <p:grpSp>
        <p:nvGrpSpPr>
          <p:cNvPr id="49" name="Many to Many">
            <a:extLst>
              <a:ext uri="{FF2B5EF4-FFF2-40B4-BE49-F238E27FC236}">
                <a16:creationId xmlns:a16="http://schemas.microsoft.com/office/drawing/2014/main" id="{73ECD6FA-A67B-453C-85EA-D204C24E2C7A}"/>
              </a:ext>
            </a:extLst>
          </p:cNvPr>
          <p:cNvGrpSpPr/>
          <p:nvPr/>
        </p:nvGrpSpPr>
        <p:grpSpPr>
          <a:xfrm>
            <a:off x="4423595" y="4130906"/>
            <a:ext cx="3203554" cy="359999"/>
            <a:chOff x="4506145" y="5300546"/>
            <a:chExt cx="3203554" cy="359999"/>
          </a:xfrm>
        </p:grpSpPr>
        <p:cxnSp>
          <p:nvCxnSpPr>
            <p:cNvPr id="51" name="Straight Connector 50">
              <a:extLst>
                <a:ext uri="{FF2B5EF4-FFF2-40B4-BE49-F238E27FC236}">
                  <a16:creationId xmlns:a16="http://schemas.microsoft.com/office/drawing/2014/main" id="{184C5A4D-6198-497E-BE3B-BCB8D24C0E98}"/>
                </a:ext>
              </a:extLst>
            </p:cNvPr>
            <p:cNvCxnSpPr>
              <a:stCxn id="47" idx="3"/>
              <a:endCxn id="48" idx="1"/>
            </p:cNvCxnSpPr>
            <p:nvPr/>
          </p:nvCxnSpPr>
          <p:spPr>
            <a:xfrm>
              <a:off x="4506145" y="5489248"/>
              <a:ext cx="3203554" cy="0"/>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52" name="Straight Connector 51">
              <a:extLst>
                <a:ext uri="{FF2B5EF4-FFF2-40B4-BE49-F238E27FC236}">
                  <a16:creationId xmlns:a16="http://schemas.microsoft.com/office/drawing/2014/main" id="{EE9D46E9-4E8E-4717-9456-F239E043F11F}"/>
                </a:ext>
              </a:extLst>
            </p:cNvPr>
            <p:cNvCxnSpPr/>
            <p:nvPr/>
          </p:nvCxnSpPr>
          <p:spPr>
            <a:xfrm flipV="1">
              <a:off x="7391400" y="5300546"/>
              <a:ext cx="318299" cy="18870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53" name="Straight Connector 52">
              <a:extLst>
                <a:ext uri="{FF2B5EF4-FFF2-40B4-BE49-F238E27FC236}">
                  <a16:creationId xmlns:a16="http://schemas.microsoft.com/office/drawing/2014/main" id="{3B2255B5-E5CC-4508-935C-135BE6748857}"/>
                </a:ext>
              </a:extLst>
            </p:cNvPr>
            <p:cNvCxnSpPr/>
            <p:nvPr/>
          </p:nvCxnSpPr>
          <p:spPr>
            <a:xfrm>
              <a:off x="7391400" y="5489247"/>
              <a:ext cx="318299" cy="171298"/>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54" name="Straight Connector 53">
              <a:extLst>
                <a:ext uri="{FF2B5EF4-FFF2-40B4-BE49-F238E27FC236}">
                  <a16:creationId xmlns:a16="http://schemas.microsoft.com/office/drawing/2014/main" id="{2A6F60BF-38F6-4A6A-90CB-218DC269E685}"/>
                </a:ext>
              </a:extLst>
            </p:cNvPr>
            <p:cNvCxnSpPr/>
            <p:nvPr/>
          </p:nvCxnSpPr>
          <p:spPr>
            <a:xfrm flipH="1" flipV="1">
              <a:off x="4506145" y="5300546"/>
              <a:ext cx="318299" cy="18870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55" name="Straight Connector 54">
              <a:extLst>
                <a:ext uri="{FF2B5EF4-FFF2-40B4-BE49-F238E27FC236}">
                  <a16:creationId xmlns:a16="http://schemas.microsoft.com/office/drawing/2014/main" id="{F5F1230A-6464-4DF9-9B3A-266A838665F7}"/>
                </a:ext>
              </a:extLst>
            </p:cNvPr>
            <p:cNvCxnSpPr/>
            <p:nvPr/>
          </p:nvCxnSpPr>
          <p:spPr>
            <a:xfrm flipH="1">
              <a:off x="4506145" y="5489247"/>
              <a:ext cx="318299" cy="171298"/>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grpSp>
      <p:sp>
        <p:nvSpPr>
          <p:cNvPr id="50" name="TextBox 49">
            <a:extLst>
              <a:ext uri="{FF2B5EF4-FFF2-40B4-BE49-F238E27FC236}">
                <a16:creationId xmlns:a16="http://schemas.microsoft.com/office/drawing/2014/main" id="{B6B84172-F9B4-4F21-B3B5-E22731A18339}"/>
              </a:ext>
            </a:extLst>
          </p:cNvPr>
          <p:cNvSpPr txBox="1"/>
          <p:nvPr/>
        </p:nvSpPr>
        <p:spPr>
          <a:xfrm>
            <a:off x="5338613" y="3738753"/>
            <a:ext cx="1514774" cy="646331"/>
          </a:xfrm>
          <a:prstGeom prst="rect">
            <a:avLst/>
          </a:prstGeom>
          <a:noFill/>
        </p:spPr>
        <p:txBody>
          <a:bodyPr wrap="none" rtlCol="0">
            <a:spAutoFit/>
          </a:bodyPr>
          <a:lstStyle/>
          <a:p>
            <a:pPr algn="ctr"/>
            <a:r>
              <a:rPr lang="en-GB" sz="3600" dirty="0"/>
              <a:t>studies</a:t>
            </a:r>
            <a:endParaRPr lang="en-GB" sz="2800" dirty="0"/>
          </a:p>
        </p:txBody>
      </p:sp>
    </p:spTree>
    <p:extLst>
      <p:ext uri="{BB962C8B-B14F-4D97-AF65-F5344CB8AC3E}">
        <p14:creationId xmlns:p14="http://schemas.microsoft.com/office/powerpoint/2010/main" val="305309592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6"/>
                                        </p:tgtEl>
                                        <p:attrNameLst>
                                          <p:attrName>style.visibility</p:attrName>
                                        </p:attrNameLst>
                                      </p:cBhvr>
                                      <p:to>
                                        <p:strVal val="visible"/>
                                      </p:to>
                                    </p:set>
                                    <p:animEffect transition="in" filter="fade">
                                      <p:cBhvr>
                                        <p:cTn id="7" dur="1000"/>
                                        <p:tgtEl>
                                          <p:spTgt spid="16"/>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27"/>
                                        </p:tgtEl>
                                        <p:attrNameLst>
                                          <p:attrName>style.visibility</p:attrName>
                                        </p:attrNameLst>
                                      </p:cBhvr>
                                      <p:to>
                                        <p:strVal val="visible"/>
                                      </p:to>
                                    </p:set>
                                    <p:animEffect transition="in" filter="fade">
                                      <p:cBhvr>
                                        <p:cTn id="12" dur="1000"/>
                                        <p:tgtEl>
                                          <p:spTgt spid="27"/>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47"/>
                                        </p:tgtEl>
                                        <p:attrNameLst>
                                          <p:attrName>style.visibility</p:attrName>
                                        </p:attrNameLst>
                                      </p:cBhvr>
                                      <p:to>
                                        <p:strVal val="visible"/>
                                      </p:to>
                                    </p:set>
                                    <p:animEffect transition="in" filter="fade">
                                      <p:cBhvr>
                                        <p:cTn id="17" dur="1000"/>
                                        <p:tgtEl>
                                          <p:spTgt spid="47"/>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48"/>
                                        </p:tgtEl>
                                        <p:attrNameLst>
                                          <p:attrName>style.visibility</p:attrName>
                                        </p:attrNameLst>
                                      </p:cBhvr>
                                      <p:to>
                                        <p:strVal val="visible"/>
                                      </p:to>
                                    </p:set>
                                    <p:animEffect transition="in" filter="fade">
                                      <p:cBhvr>
                                        <p:cTn id="22" dur="1000"/>
                                        <p:tgtEl>
                                          <p:spTgt spid="48"/>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nodeType="clickEffect">
                                  <p:stCondLst>
                                    <p:cond delay="0"/>
                                  </p:stCondLst>
                                  <p:childTnLst>
                                    <p:set>
                                      <p:cBhvr>
                                        <p:cTn id="26" dur="1" fill="hold">
                                          <p:stCondLst>
                                            <p:cond delay="0"/>
                                          </p:stCondLst>
                                        </p:cTn>
                                        <p:tgtEl>
                                          <p:spTgt spid="49"/>
                                        </p:tgtEl>
                                        <p:attrNameLst>
                                          <p:attrName>style.visibility</p:attrName>
                                        </p:attrNameLst>
                                      </p:cBhvr>
                                      <p:to>
                                        <p:strVal val="visible"/>
                                      </p:to>
                                    </p:set>
                                    <p:animEffect transition="in" filter="wipe(left)">
                                      <p:cBhvr>
                                        <p:cTn id="27" dur="1000"/>
                                        <p:tgtEl>
                                          <p:spTgt spid="49"/>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grpId="0" nodeType="clickEffect">
                                  <p:stCondLst>
                                    <p:cond delay="0"/>
                                  </p:stCondLst>
                                  <p:childTnLst>
                                    <p:set>
                                      <p:cBhvr>
                                        <p:cTn id="31" dur="1" fill="hold">
                                          <p:stCondLst>
                                            <p:cond delay="0"/>
                                          </p:stCondLst>
                                        </p:cTn>
                                        <p:tgtEl>
                                          <p:spTgt spid="50"/>
                                        </p:tgtEl>
                                        <p:attrNameLst>
                                          <p:attrName>style.visibility</p:attrName>
                                        </p:attrNameLst>
                                      </p:cBhvr>
                                      <p:to>
                                        <p:strVal val="visible"/>
                                      </p:to>
                                    </p:set>
                                    <p:animEffect transition="in" filter="fade">
                                      <p:cBhvr>
                                        <p:cTn id="32" dur="1000"/>
                                        <p:tgtEl>
                                          <p:spTgt spid="5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7" grpId="0" animBg="1"/>
      <p:bldP spid="16" grpId="0" animBg="1"/>
      <p:bldP spid="47" grpId="0" animBg="1"/>
      <p:bldP spid="48" grpId="0" animBg="1"/>
      <p:bldP spid="50" grpId="0"/>
    </p:bldLst>
  </p:timing>
</p:sld>
</file>

<file path=ppt/slides/slide199.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2630251-0176-4E08-9A40-5821ACD1944C}"/>
              </a:ext>
            </a:extLst>
          </p:cNvPr>
          <p:cNvSpPr>
            <a:spLocks noGrp="1"/>
          </p:cNvSpPr>
          <p:nvPr>
            <p:ph type="title"/>
          </p:nvPr>
        </p:nvSpPr>
        <p:spPr>
          <a:xfrm>
            <a:off x="838200" y="327025"/>
            <a:ext cx="10515600" cy="1325563"/>
          </a:xfrm>
        </p:spPr>
        <p:txBody>
          <a:bodyPr/>
          <a:lstStyle/>
          <a:p>
            <a:r>
              <a:rPr lang="en-GB" dirty="0"/>
              <a:t>Cardinality: Many to Many</a:t>
            </a:r>
          </a:p>
        </p:txBody>
      </p:sp>
      <p:grpSp>
        <p:nvGrpSpPr>
          <p:cNvPr id="20" name="Group 19">
            <a:extLst>
              <a:ext uri="{FF2B5EF4-FFF2-40B4-BE49-F238E27FC236}">
                <a16:creationId xmlns:a16="http://schemas.microsoft.com/office/drawing/2014/main" id="{8447922B-056F-4E6A-8B38-A74E9DDF3E9F}"/>
              </a:ext>
            </a:extLst>
          </p:cNvPr>
          <p:cNvGrpSpPr/>
          <p:nvPr/>
        </p:nvGrpSpPr>
        <p:grpSpPr>
          <a:xfrm>
            <a:off x="2623595" y="2215226"/>
            <a:ext cx="6803554" cy="922735"/>
            <a:chOff x="2706145" y="4926513"/>
            <a:chExt cx="6803554" cy="922735"/>
          </a:xfrm>
        </p:grpSpPr>
        <p:sp>
          <p:nvSpPr>
            <p:cNvPr id="21" name="Entity 5">
              <a:extLst>
                <a:ext uri="{FF2B5EF4-FFF2-40B4-BE49-F238E27FC236}">
                  <a16:creationId xmlns:a16="http://schemas.microsoft.com/office/drawing/2014/main" id="{6467068A-2277-4AB9-927B-3762F8490F40}"/>
                </a:ext>
              </a:extLst>
            </p:cNvPr>
            <p:cNvSpPr txBox="1"/>
            <p:nvPr/>
          </p:nvSpPr>
          <p:spPr>
            <a:xfrm>
              <a:off x="2706145" y="5129248"/>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entity</a:t>
              </a:r>
            </a:p>
          </p:txBody>
        </p:sp>
        <p:sp>
          <p:nvSpPr>
            <p:cNvPr id="22" name="Entity 6">
              <a:extLst>
                <a:ext uri="{FF2B5EF4-FFF2-40B4-BE49-F238E27FC236}">
                  <a16:creationId xmlns:a16="http://schemas.microsoft.com/office/drawing/2014/main" id="{195BFA4E-4382-4021-9998-072E4DF26718}"/>
                </a:ext>
              </a:extLst>
            </p:cNvPr>
            <p:cNvSpPr txBox="1"/>
            <p:nvPr/>
          </p:nvSpPr>
          <p:spPr>
            <a:xfrm>
              <a:off x="7709699" y="5129248"/>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entity</a:t>
              </a:r>
            </a:p>
          </p:txBody>
        </p:sp>
        <p:cxnSp>
          <p:nvCxnSpPr>
            <p:cNvPr id="34" name="Straight Connector 33">
              <a:extLst>
                <a:ext uri="{FF2B5EF4-FFF2-40B4-BE49-F238E27FC236}">
                  <a16:creationId xmlns:a16="http://schemas.microsoft.com/office/drawing/2014/main" id="{06C12C31-E962-4721-BF86-B3B4FCE4B0BE}"/>
                </a:ext>
              </a:extLst>
            </p:cNvPr>
            <p:cNvCxnSpPr>
              <a:stCxn id="21" idx="3"/>
              <a:endCxn id="22" idx="1"/>
            </p:cNvCxnSpPr>
            <p:nvPr/>
          </p:nvCxnSpPr>
          <p:spPr>
            <a:xfrm>
              <a:off x="4506145" y="5489248"/>
              <a:ext cx="3203554" cy="0"/>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sp>
          <p:nvSpPr>
            <p:cNvPr id="26" name="TextBox 25">
              <a:extLst>
                <a:ext uri="{FF2B5EF4-FFF2-40B4-BE49-F238E27FC236}">
                  <a16:creationId xmlns:a16="http://schemas.microsoft.com/office/drawing/2014/main" id="{4F052754-CF53-4CC5-81E2-201FFCF1ADEF}"/>
                </a:ext>
              </a:extLst>
            </p:cNvPr>
            <p:cNvSpPr txBox="1"/>
            <p:nvPr/>
          </p:nvSpPr>
          <p:spPr>
            <a:xfrm>
              <a:off x="5484995" y="4926513"/>
              <a:ext cx="1245854" cy="646331"/>
            </a:xfrm>
            <a:prstGeom prst="rect">
              <a:avLst/>
            </a:prstGeom>
            <a:noFill/>
          </p:spPr>
          <p:txBody>
            <a:bodyPr wrap="none" rtlCol="0">
              <a:spAutoFit/>
            </a:bodyPr>
            <a:lstStyle/>
            <a:p>
              <a:pPr algn="ctr"/>
              <a:r>
                <a:rPr lang="en-GB" sz="3600" dirty="0"/>
                <a:t>name</a:t>
              </a:r>
              <a:endParaRPr lang="en-GB" sz="2800" dirty="0"/>
            </a:p>
          </p:txBody>
        </p:sp>
      </p:grpSp>
      <p:grpSp>
        <p:nvGrpSpPr>
          <p:cNvPr id="46" name="Group 45">
            <a:extLst>
              <a:ext uri="{FF2B5EF4-FFF2-40B4-BE49-F238E27FC236}">
                <a16:creationId xmlns:a16="http://schemas.microsoft.com/office/drawing/2014/main" id="{602BC1CE-A6F5-4697-A5B6-84740B19B096}"/>
              </a:ext>
            </a:extLst>
          </p:cNvPr>
          <p:cNvGrpSpPr/>
          <p:nvPr/>
        </p:nvGrpSpPr>
        <p:grpSpPr>
          <a:xfrm>
            <a:off x="2623595" y="3959608"/>
            <a:ext cx="6803554" cy="720000"/>
            <a:chOff x="2706145" y="5129248"/>
            <a:chExt cx="6803554" cy="720000"/>
          </a:xfrm>
        </p:grpSpPr>
        <p:sp>
          <p:nvSpPr>
            <p:cNvPr id="47" name="Entity 5">
              <a:extLst>
                <a:ext uri="{FF2B5EF4-FFF2-40B4-BE49-F238E27FC236}">
                  <a16:creationId xmlns:a16="http://schemas.microsoft.com/office/drawing/2014/main" id="{0C63B20E-9FDF-4898-BD04-878DC12660FD}"/>
                </a:ext>
              </a:extLst>
            </p:cNvPr>
            <p:cNvSpPr txBox="1"/>
            <p:nvPr/>
          </p:nvSpPr>
          <p:spPr>
            <a:xfrm>
              <a:off x="2706145" y="5129248"/>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pupil</a:t>
              </a:r>
            </a:p>
          </p:txBody>
        </p:sp>
        <p:sp>
          <p:nvSpPr>
            <p:cNvPr id="48" name="Entity 6">
              <a:extLst>
                <a:ext uri="{FF2B5EF4-FFF2-40B4-BE49-F238E27FC236}">
                  <a16:creationId xmlns:a16="http://schemas.microsoft.com/office/drawing/2014/main" id="{A55B2123-C239-48AF-B807-663504FBD5DB}"/>
                </a:ext>
              </a:extLst>
            </p:cNvPr>
            <p:cNvSpPr txBox="1"/>
            <p:nvPr/>
          </p:nvSpPr>
          <p:spPr>
            <a:xfrm>
              <a:off x="7709699" y="5129248"/>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subject</a:t>
              </a:r>
            </a:p>
          </p:txBody>
        </p:sp>
        <p:cxnSp>
          <p:nvCxnSpPr>
            <p:cNvPr id="51" name="Straight Connector 50">
              <a:extLst>
                <a:ext uri="{FF2B5EF4-FFF2-40B4-BE49-F238E27FC236}">
                  <a16:creationId xmlns:a16="http://schemas.microsoft.com/office/drawing/2014/main" id="{184C5A4D-6198-497E-BE3B-BCB8D24C0E98}"/>
                </a:ext>
              </a:extLst>
            </p:cNvPr>
            <p:cNvCxnSpPr>
              <a:stCxn id="47" idx="3"/>
              <a:endCxn id="48" idx="1"/>
            </p:cNvCxnSpPr>
            <p:nvPr/>
          </p:nvCxnSpPr>
          <p:spPr>
            <a:xfrm>
              <a:off x="4506145" y="5489248"/>
              <a:ext cx="3203554" cy="0"/>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1991034504"/>
      </p:ext>
    </p:extLst>
  </p:cSld>
  <p:clrMapOvr>
    <a:masterClrMapping/>
  </p:clrMapOvr>
</p:sld>
</file>

<file path=ppt/slides/slide20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2630251-0176-4E08-9A40-5821ACD1944C}"/>
              </a:ext>
            </a:extLst>
          </p:cNvPr>
          <p:cNvSpPr>
            <a:spLocks noGrp="1"/>
          </p:cNvSpPr>
          <p:nvPr>
            <p:ph type="title"/>
          </p:nvPr>
        </p:nvSpPr>
        <p:spPr/>
        <p:txBody>
          <a:bodyPr/>
          <a:lstStyle/>
          <a:p>
            <a:r>
              <a:rPr lang="en-GB" dirty="0"/>
              <a:t>Cardinality</a:t>
            </a:r>
          </a:p>
        </p:txBody>
      </p:sp>
      <p:grpSp>
        <p:nvGrpSpPr>
          <p:cNvPr id="7" name="Group 6">
            <a:extLst>
              <a:ext uri="{FF2B5EF4-FFF2-40B4-BE49-F238E27FC236}">
                <a16:creationId xmlns:a16="http://schemas.microsoft.com/office/drawing/2014/main" id="{93BF6E71-68AD-46BA-BC30-0C5B24D2161F}"/>
              </a:ext>
            </a:extLst>
          </p:cNvPr>
          <p:cNvGrpSpPr/>
          <p:nvPr/>
        </p:nvGrpSpPr>
        <p:grpSpPr>
          <a:xfrm>
            <a:off x="2706145" y="1931207"/>
            <a:ext cx="6803554" cy="943299"/>
            <a:chOff x="2706145" y="1931207"/>
            <a:chExt cx="6803554" cy="943299"/>
          </a:xfrm>
        </p:grpSpPr>
        <p:sp>
          <p:nvSpPr>
            <p:cNvPr id="8" name="Entity 1">
              <a:extLst>
                <a:ext uri="{FF2B5EF4-FFF2-40B4-BE49-F238E27FC236}">
                  <a16:creationId xmlns:a16="http://schemas.microsoft.com/office/drawing/2014/main" id="{9E8D577D-F9B0-4C26-95CB-954FFDF61DBD}"/>
                </a:ext>
              </a:extLst>
            </p:cNvPr>
            <p:cNvSpPr txBox="1"/>
            <p:nvPr/>
          </p:nvSpPr>
          <p:spPr>
            <a:xfrm>
              <a:off x="2706145" y="2154506"/>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entity</a:t>
              </a:r>
            </a:p>
          </p:txBody>
        </p:sp>
        <p:sp>
          <p:nvSpPr>
            <p:cNvPr id="10" name="Entity 2">
              <a:extLst>
                <a:ext uri="{FF2B5EF4-FFF2-40B4-BE49-F238E27FC236}">
                  <a16:creationId xmlns:a16="http://schemas.microsoft.com/office/drawing/2014/main" id="{06B8E8D6-C037-4571-B1CB-E4BD14A48ED7}"/>
                </a:ext>
              </a:extLst>
            </p:cNvPr>
            <p:cNvSpPr txBox="1"/>
            <p:nvPr/>
          </p:nvSpPr>
          <p:spPr>
            <a:xfrm>
              <a:off x="7709699" y="2154505"/>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entity</a:t>
              </a:r>
            </a:p>
          </p:txBody>
        </p:sp>
        <p:cxnSp>
          <p:nvCxnSpPr>
            <p:cNvPr id="3" name="1 to 1"/>
            <p:cNvCxnSpPr>
              <a:stCxn id="8" idx="3"/>
              <a:endCxn id="10" idx="1"/>
            </p:cNvCxnSpPr>
            <p:nvPr/>
          </p:nvCxnSpPr>
          <p:spPr>
            <a:xfrm flipV="1">
              <a:off x="4506145" y="2514505"/>
              <a:ext cx="3203554" cy="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sp>
          <p:nvSpPr>
            <p:cNvPr id="38" name="TextBox 37">
              <a:extLst>
                <a:ext uri="{FF2B5EF4-FFF2-40B4-BE49-F238E27FC236}">
                  <a16:creationId xmlns:a16="http://schemas.microsoft.com/office/drawing/2014/main" id="{663E3461-DC5D-48CF-AE13-69B629EAA16E}"/>
                </a:ext>
              </a:extLst>
            </p:cNvPr>
            <p:cNvSpPr txBox="1"/>
            <p:nvPr/>
          </p:nvSpPr>
          <p:spPr>
            <a:xfrm>
              <a:off x="5480827" y="1931207"/>
              <a:ext cx="1254189" cy="646331"/>
            </a:xfrm>
            <a:prstGeom prst="rect">
              <a:avLst/>
            </a:prstGeom>
            <a:noFill/>
          </p:spPr>
          <p:txBody>
            <a:bodyPr wrap="none" rtlCol="0">
              <a:spAutoFit/>
            </a:bodyPr>
            <a:lstStyle/>
            <a:p>
              <a:pPr algn="ctr"/>
              <a:r>
                <a:rPr lang="en-GB" sz="3600" dirty="0"/>
                <a:t>1 to 1</a:t>
              </a:r>
            </a:p>
          </p:txBody>
        </p:sp>
      </p:grpSp>
      <p:grpSp>
        <p:nvGrpSpPr>
          <p:cNvPr id="2" name="Group 1">
            <a:extLst>
              <a:ext uri="{FF2B5EF4-FFF2-40B4-BE49-F238E27FC236}">
                <a16:creationId xmlns:a16="http://schemas.microsoft.com/office/drawing/2014/main" id="{E3B63835-D85A-42E4-A049-D44FAD5CD4AD}"/>
              </a:ext>
            </a:extLst>
          </p:cNvPr>
          <p:cNvGrpSpPr/>
          <p:nvPr/>
        </p:nvGrpSpPr>
        <p:grpSpPr>
          <a:xfrm>
            <a:off x="2706145" y="3429000"/>
            <a:ext cx="6803554" cy="932877"/>
            <a:chOff x="2706145" y="3429000"/>
            <a:chExt cx="6803554" cy="932877"/>
          </a:xfrm>
        </p:grpSpPr>
        <p:sp>
          <p:nvSpPr>
            <p:cNvPr id="11" name="Entity 3">
              <a:extLst>
                <a:ext uri="{FF2B5EF4-FFF2-40B4-BE49-F238E27FC236}">
                  <a16:creationId xmlns:a16="http://schemas.microsoft.com/office/drawing/2014/main" id="{9E8D577D-F9B0-4C26-95CB-954FFDF61DBD}"/>
                </a:ext>
              </a:extLst>
            </p:cNvPr>
            <p:cNvSpPr txBox="1"/>
            <p:nvPr/>
          </p:nvSpPr>
          <p:spPr>
            <a:xfrm>
              <a:off x="2706145" y="3641877"/>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entity</a:t>
              </a:r>
            </a:p>
          </p:txBody>
        </p:sp>
        <p:sp>
          <p:nvSpPr>
            <p:cNvPr id="12" name="Entity 4">
              <a:extLst>
                <a:ext uri="{FF2B5EF4-FFF2-40B4-BE49-F238E27FC236}">
                  <a16:creationId xmlns:a16="http://schemas.microsoft.com/office/drawing/2014/main" id="{06B8E8D6-C037-4571-B1CB-E4BD14A48ED7}"/>
                </a:ext>
              </a:extLst>
            </p:cNvPr>
            <p:cNvSpPr txBox="1"/>
            <p:nvPr/>
          </p:nvSpPr>
          <p:spPr>
            <a:xfrm>
              <a:off x="7709699" y="3641877"/>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entity</a:t>
              </a:r>
            </a:p>
          </p:txBody>
        </p:sp>
        <p:grpSp>
          <p:nvGrpSpPr>
            <p:cNvPr id="28" name="1 to Many"/>
            <p:cNvGrpSpPr/>
            <p:nvPr/>
          </p:nvGrpSpPr>
          <p:grpSpPr>
            <a:xfrm>
              <a:off x="4506145" y="3813175"/>
              <a:ext cx="3203554" cy="359999"/>
              <a:chOff x="4506145" y="3813175"/>
              <a:chExt cx="3203554" cy="359999"/>
            </a:xfrm>
          </p:grpSpPr>
          <p:cxnSp>
            <p:nvCxnSpPr>
              <p:cNvPr id="15" name="Straight Connector 14"/>
              <p:cNvCxnSpPr>
                <a:stCxn id="11" idx="3"/>
                <a:endCxn id="12" idx="1"/>
              </p:cNvCxnSpPr>
              <p:nvPr/>
            </p:nvCxnSpPr>
            <p:spPr>
              <a:xfrm>
                <a:off x="4506145" y="4001877"/>
                <a:ext cx="3203554" cy="0"/>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21" name="Straight Connector 20"/>
              <p:cNvCxnSpPr/>
              <p:nvPr/>
            </p:nvCxnSpPr>
            <p:spPr>
              <a:xfrm flipV="1">
                <a:off x="7391400" y="3813175"/>
                <a:ext cx="318299" cy="18870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25" name="Straight Connector 24"/>
              <p:cNvCxnSpPr/>
              <p:nvPr/>
            </p:nvCxnSpPr>
            <p:spPr>
              <a:xfrm>
                <a:off x="7391400" y="4001876"/>
                <a:ext cx="318299" cy="171298"/>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grpSp>
        <p:sp>
          <p:nvSpPr>
            <p:cNvPr id="39" name="TextBox 38">
              <a:extLst>
                <a:ext uri="{FF2B5EF4-FFF2-40B4-BE49-F238E27FC236}">
                  <a16:creationId xmlns:a16="http://schemas.microsoft.com/office/drawing/2014/main" id="{663E3461-DC5D-48CF-AE13-69B629EAA16E}"/>
                </a:ext>
              </a:extLst>
            </p:cNvPr>
            <p:cNvSpPr txBox="1"/>
            <p:nvPr/>
          </p:nvSpPr>
          <p:spPr>
            <a:xfrm>
              <a:off x="5069144" y="3429000"/>
              <a:ext cx="2077556" cy="646331"/>
            </a:xfrm>
            <a:prstGeom prst="rect">
              <a:avLst/>
            </a:prstGeom>
            <a:noFill/>
          </p:spPr>
          <p:txBody>
            <a:bodyPr wrap="none" rtlCol="0">
              <a:spAutoFit/>
            </a:bodyPr>
            <a:lstStyle/>
            <a:p>
              <a:pPr algn="ctr"/>
              <a:r>
                <a:rPr lang="en-GB" sz="3600" dirty="0"/>
                <a:t>1 to Many</a:t>
              </a:r>
            </a:p>
          </p:txBody>
        </p:sp>
      </p:grpSp>
      <p:grpSp>
        <p:nvGrpSpPr>
          <p:cNvPr id="5" name="Group 4">
            <a:extLst>
              <a:ext uri="{FF2B5EF4-FFF2-40B4-BE49-F238E27FC236}">
                <a16:creationId xmlns:a16="http://schemas.microsoft.com/office/drawing/2014/main" id="{DA85B904-E480-48C3-9BF4-6DC242BF4182}"/>
              </a:ext>
            </a:extLst>
          </p:cNvPr>
          <p:cNvGrpSpPr/>
          <p:nvPr/>
        </p:nvGrpSpPr>
        <p:grpSpPr>
          <a:xfrm>
            <a:off x="2706145" y="4946603"/>
            <a:ext cx="6803554" cy="902645"/>
            <a:chOff x="2706145" y="4946603"/>
            <a:chExt cx="6803554" cy="902645"/>
          </a:xfrm>
        </p:grpSpPr>
        <p:sp>
          <p:nvSpPr>
            <p:cNvPr id="13" name="Entity 5">
              <a:extLst>
                <a:ext uri="{FF2B5EF4-FFF2-40B4-BE49-F238E27FC236}">
                  <a16:creationId xmlns:a16="http://schemas.microsoft.com/office/drawing/2014/main" id="{9E8D577D-F9B0-4C26-95CB-954FFDF61DBD}"/>
                </a:ext>
              </a:extLst>
            </p:cNvPr>
            <p:cNvSpPr txBox="1"/>
            <p:nvPr/>
          </p:nvSpPr>
          <p:spPr>
            <a:xfrm>
              <a:off x="2706145" y="5129248"/>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entity</a:t>
              </a:r>
            </a:p>
          </p:txBody>
        </p:sp>
        <p:sp>
          <p:nvSpPr>
            <p:cNvPr id="14" name="Entity 6">
              <a:extLst>
                <a:ext uri="{FF2B5EF4-FFF2-40B4-BE49-F238E27FC236}">
                  <a16:creationId xmlns:a16="http://schemas.microsoft.com/office/drawing/2014/main" id="{06B8E8D6-C037-4571-B1CB-E4BD14A48ED7}"/>
                </a:ext>
              </a:extLst>
            </p:cNvPr>
            <p:cNvSpPr txBox="1"/>
            <p:nvPr/>
          </p:nvSpPr>
          <p:spPr>
            <a:xfrm>
              <a:off x="7709699" y="5129248"/>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entity</a:t>
              </a:r>
            </a:p>
          </p:txBody>
        </p:sp>
        <p:grpSp>
          <p:nvGrpSpPr>
            <p:cNvPr id="37" name="Mant yo Many"/>
            <p:cNvGrpSpPr/>
            <p:nvPr/>
          </p:nvGrpSpPr>
          <p:grpSpPr>
            <a:xfrm>
              <a:off x="4506145" y="5300546"/>
              <a:ext cx="3203554" cy="359999"/>
              <a:chOff x="4506145" y="5300546"/>
              <a:chExt cx="3203554" cy="359999"/>
            </a:xfrm>
          </p:grpSpPr>
          <p:cxnSp>
            <p:nvCxnSpPr>
              <p:cNvPr id="30" name="Straight Connector 29"/>
              <p:cNvCxnSpPr>
                <a:stCxn id="13" idx="3"/>
                <a:endCxn id="14" idx="1"/>
              </p:cNvCxnSpPr>
              <p:nvPr/>
            </p:nvCxnSpPr>
            <p:spPr>
              <a:xfrm>
                <a:off x="4506145" y="5489248"/>
                <a:ext cx="3203554" cy="0"/>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31" name="Straight Connector 30"/>
              <p:cNvCxnSpPr/>
              <p:nvPr/>
            </p:nvCxnSpPr>
            <p:spPr>
              <a:xfrm flipV="1">
                <a:off x="7391400" y="5300546"/>
                <a:ext cx="318299" cy="18870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32" name="Straight Connector 31"/>
              <p:cNvCxnSpPr/>
              <p:nvPr/>
            </p:nvCxnSpPr>
            <p:spPr>
              <a:xfrm>
                <a:off x="7391400" y="5489247"/>
                <a:ext cx="318299" cy="171298"/>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35" name="Straight Connector 34"/>
              <p:cNvCxnSpPr/>
              <p:nvPr/>
            </p:nvCxnSpPr>
            <p:spPr>
              <a:xfrm flipH="1" flipV="1">
                <a:off x="4506145" y="5300546"/>
                <a:ext cx="318299" cy="18870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36" name="Straight Connector 35"/>
              <p:cNvCxnSpPr/>
              <p:nvPr/>
            </p:nvCxnSpPr>
            <p:spPr>
              <a:xfrm flipH="1">
                <a:off x="4506145" y="5489247"/>
                <a:ext cx="318299" cy="171298"/>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grpSp>
        <p:sp>
          <p:nvSpPr>
            <p:cNvPr id="40" name="TextBox 39">
              <a:extLst>
                <a:ext uri="{FF2B5EF4-FFF2-40B4-BE49-F238E27FC236}">
                  <a16:creationId xmlns:a16="http://schemas.microsoft.com/office/drawing/2014/main" id="{663E3461-DC5D-48CF-AE13-69B629EAA16E}"/>
                </a:ext>
              </a:extLst>
            </p:cNvPr>
            <p:cNvSpPr txBox="1"/>
            <p:nvPr/>
          </p:nvSpPr>
          <p:spPr>
            <a:xfrm>
              <a:off x="4804551" y="4946603"/>
              <a:ext cx="2606739" cy="584775"/>
            </a:xfrm>
            <a:prstGeom prst="rect">
              <a:avLst/>
            </a:prstGeom>
            <a:noFill/>
          </p:spPr>
          <p:txBody>
            <a:bodyPr wrap="none" rtlCol="0">
              <a:spAutoFit/>
            </a:bodyPr>
            <a:lstStyle/>
            <a:p>
              <a:pPr algn="ctr"/>
              <a:r>
                <a:rPr lang="en-GB" sz="3200" dirty="0"/>
                <a:t>Many to Many</a:t>
              </a:r>
            </a:p>
          </p:txBody>
        </p:sp>
      </p:grpSp>
      <p:grpSp>
        <p:nvGrpSpPr>
          <p:cNvPr id="9" name="Group 8">
            <a:extLst>
              <a:ext uri="{FF2B5EF4-FFF2-40B4-BE49-F238E27FC236}">
                <a16:creationId xmlns:a16="http://schemas.microsoft.com/office/drawing/2014/main" id="{F411AE8E-9FA4-4F79-99B3-3A9BFCFBDC3D}"/>
              </a:ext>
            </a:extLst>
          </p:cNvPr>
          <p:cNvGrpSpPr/>
          <p:nvPr/>
        </p:nvGrpSpPr>
        <p:grpSpPr>
          <a:xfrm>
            <a:off x="730851" y="3678710"/>
            <a:ext cx="1802620" cy="646331"/>
            <a:chOff x="730851" y="3678710"/>
            <a:chExt cx="1802620" cy="646331"/>
          </a:xfrm>
        </p:grpSpPr>
        <p:sp>
          <p:nvSpPr>
            <p:cNvPr id="6" name="Arrow: Right 5">
              <a:extLst>
                <a:ext uri="{FF2B5EF4-FFF2-40B4-BE49-F238E27FC236}">
                  <a16:creationId xmlns:a16="http://schemas.microsoft.com/office/drawing/2014/main" id="{AAC89FBF-8490-41FE-A4C0-D1F117A36AE4}"/>
                </a:ext>
              </a:extLst>
            </p:cNvPr>
            <p:cNvSpPr/>
            <p:nvPr/>
          </p:nvSpPr>
          <p:spPr>
            <a:xfrm>
              <a:off x="1555063" y="3759560"/>
              <a:ext cx="978408" cy="484632"/>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6" name="TextBox 25">
              <a:extLst>
                <a:ext uri="{FF2B5EF4-FFF2-40B4-BE49-F238E27FC236}">
                  <a16:creationId xmlns:a16="http://schemas.microsoft.com/office/drawing/2014/main" id="{E4E906EA-1683-47CE-92F3-7C1069BCAC19}"/>
                </a:ext>
              </a:extLst>
            </p:cNvPr>
            <p:cNvSpPr txBox="1"/>
            <p:nvPr/>
          </p:nvSpPr>
          <p:spPr>
            <a:xfrm>
              <a:off x="730851" y="3678710"/>
              <a:ext cx="716863" cy="646331"/>
            </a:xfrm>
            <a:prstGeom prst="rect">
              <a:avLst/>
            </a:prstGeom>
            <a:noFill/>
          </p:spPr>
          <p:txBody>
            <a:bodyPr wrap="none" rtlCol="0">
              <a:spAutoFit/>
            </a:bodyPr>
            <a:lstStyle/>
            <a:p>
              <a:r>
                <a:rPr lang="en-GB" sz="3600" dirty="0">
                  <a:solidFill>
                    <a:srgbClr val="7030A0"/>
                  </a:solidFill>
                </a:rPr>
                <a:t>N5</a:t>
              </a:r>
            </a:p>
          </p:txBody>
        </p:sp>
      </p:grpSp>
    </p:spTree>
    <p:extLst>
      <p:ext uri="{BB962C8B-B14F-4D97-AF65-F5344CB8AC3E}">
        <p14:creationId xmlns:p14="http://schemas.microsoft.com/office/powerpoint/2010/main" val="108919426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1000"/>
                                        <p:tgtEl>
                                          <p:spTgt spid="7"/>
                                        </p:tgtEl>
                                      </p:cBhvr>
                                    </p:animEffect>
                                  </p:childTnLst>
                                </p:cTn>
                              </p:par>
                            </p:childTnLst>
                          </p:cTn>
                        </p:par>
                        <p:par>
                          <p:cTn id="8" fill="hold">
                            <p:stCondLst>
                              <p:cond delay="1000"/>
                            </p:stCondLst>
                            <p:childTnLst>
                              <p:par>
                                <p:cTn id="9" presetID="10" presetClass="entr" presetSubtype="0" fill="hold" nodeType="afterEffect">
                                  <p:stCondLst>
                                    <p:cond delay="0"/>
                                  </p:stCondLst>
                                  <p:childTnLst>
                                    <p:set>
                                      <p:cBhvr>
                                        <p:cTn id="10" dur="1" fill="hold">
                                          <p:stCondLst>
                                            <p:cond delay="0"/>
                                          </p:stCondLst>
                                        </p:cTn>
                                        <p:tgtEl>
                                          <p:spTgt spid="2"/>
                                        </p:tgtEl>
                                        <p:attrNameLst>
                                          <p:attrName>style.visibility</p:attrName>
                                        </p:attrNameLst>
                                      </p:cBhvr>
                                      <p:to>
                                        <p:strVal val="visible"/>
                                      </p:to>
                                    </p:set>
                                    <p:animEffect transition="in" filter="fade">
                                      <p:cBhvr>
                                        <p:cTn id="11" dur="1000"/>
                                        <p:tgtEl>
                                          <p:spTgt spid="2"/>
                                        </p:tgtEl>
                                      </p:cBhvr>
                                    </p:animEffect>
                                  </p:childTnLst>
                                </p:cTn>
                              </p:par>
                            </p:childTnLst>
                          </p:cTn>
                        </p:par>
                        <p:par>
                          <p:cTn id="12" fill="hold">
                            <p:stCondLst>
                              <p:cond delay="2000"/>
                            </p:stCondLst>
                            <p:childTnLst>
                              <p:par>
                                <p:cTn id="13" presetID="10" presetClass="entr" presetSubtype="0" fill="hold" nodeType="afterEffect">
                                  <p:stCondLst>
                                    <p:cond delay="0"/>
                                  </p:stCondLst>
                                  <p:childTnLst>
                                    <p:set>
                                      <p:cBhvr>
                                        <p:cTn id="14" dur="1" fill="hold">
                                          <p:stCondLst>
                                            <p:cond delay="0"/>
                                          </p:stCondLst>
                                        </p:cTn>
                                        <p:tgtEl>
                                          <p:spTgt spid="5"/>
                                        </p:tgtEl>
                                        <p:attrNameLst>
                                          <p:attrName>style.visibility</p:attrName>
                                        </p:attrNameLst>
                                      </p:cBhvr>
                                      <p:to>
                                        <p:strVal val="visible"/>
                                      </p:to>
                                    </p:set>
                                    <p:animEffect transition="in" filter="fade">
                                      <p:cBhvr>
                                        <p:cTn id="15" dur="1000"/>
                                        <p:tgtEl>
                                          <p:spTgt spid="5"/>
                                        </p:tgtEl>
                                      </p:cBhvr>
                                    </p:animEffect>
                                  </p:childTnLst>
                                </p:cTn>
                              </p:par>
                            </p:childTnLst>
                          </p:cTn>
                        </p:par>
                      </p:childTnLst>
                    </p:cTn>
                  </p:par>
                  <p:par>
                    <p:cTn id="16" fill="hold">
                      <p:stCondLst>
                        <p:cond delay="indefinite"/>
                      </p:stCondLst>
                      <p:childTnLst>
                        <p:par>
                          <p:cTn id="17" fill="hold">
                            <p:stCondLst>
                              <p:cond delay="0"/>
                            </p:stCondLst>
                            <p:childTnLst>
                              <p:par>
                                <p:cTn id="18" presetID="22" presetClass="entr" presetSubtype="8" fill="hold" nodeType="clickEffect">
                                  <p:stCondLst>
                                    <p:cond delay="0"/>
                                  </p:stCondLst>
                                  <p:childTnLst>
                                    <p:set>
                                      <p:cBhvr>
                                        <p:cTn id="19" dur="1" fill="hold">
                                          <p:stCondLst>
                                            <p:cond delay="0"/>
                                          </p:stCondLst>
                                        </p:cTn>
                                        <p:tgtEl>
                                          <p:spTgt spid="9"/>
                                        </p:tgtEl>
                                        <p:attrNameLst>
                                          <p:attrName>style.visibility</p:attrName>
                                        </p:attrNameLst>
                                      </p:cBhvr>
                                      <p:to>
                                        <p:strVal val="visible"/>
                                      </p:to>
                                    </p:set>
                                    <p:animEffect transition="in" filter="wipe(left)">
                                      <p:cBhvr>
                                        <p:cTn id="20" dur="1000"/>
                                        <p:tgtEl>
                                          <p:spTgt spid="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0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lstStyle/>
          <a:p>
            <a:r>
              <a:rPr lang="en-GB" dirty="0"/>
              <a:t>Validation</a:t>
            </a:r>
          </a:p>
        </p:txBody>
      </p:sp>
      <p:sp>
        <p:nvSpPr>
          <p:cNvPr id="5" name="Text Placeholder 4">
            <a:extLst>
              <a:ext uri="{FF2B5EF4-FFF2-40B4-BE49-F238E27FC236}">
                <a16:creationId xmlns:a16="http://schemas.microsoft.com/office/drawing/2014/main" id="{CFA8032E-517D-44A5-9B67-FE3C84FAB189}"/>
              </a:ext>
            </a:extLst>
          </p:cNvPr>
          <p:cNvSpPr>
            <a:spLocks noGrp="1"/>
          </p:cNvSpPr>
          <p:nvPr>
            <p:ph type="body" idx="1"/>
          </p:nvPr>
        </p:nvSpPr>
        <p:spPr>
          <a:xfrm>
            <a:off x="839789" y="1681163"/>
            <a:ext cx="4032000" cy="823912"/>
          </a:xfrm>
        </p:spPr>
        <p:txBody>
          <a:bodyPr/>
          <a:lstStyle/>
          <a:p>
            <a:r>
              <a:rPr lang="en-GB" sz="3600" dirty="0">
                <a:solidFill>
                  <a:srgbClr val="7030A0"/>
                </a:solidFill>
              </a:rPr>
              <a:t>Type</a:t>
            </a:r>
            <a:endParaRPr lang="en-GB" dirty="0">
              <a:solidFill>
                <a:srgbClr val="7030A0"/>
              </a:solidFill>
            </a:endParaRPr>
          </a:p>
        </p:txBody>
      </p:sp>
      <p:sp>
        <p:nvSpPr>
          <p:cNvPr id="4" name="Content Placeholder 3"/>
          <p:cNvSpPr>
            <a:spLocks noGrp="1"/>
          </p:cNvSpPr>
          <p:nvPr>
            <p:ph sz="half" idx="2"/>
          </p:nvPr>
        </p:nvSpPr>
        <p:spPr>
          <a:xfrm>
            <a:off x="839789" y="2505075"/>
            <a:ext cx="4032000" cy="3684588"/>
          </a:xfrm>
        </p:spPr>
        <p:txBody>
          <a:bodyPr>
            <a:normAutofit/>
          </a:bodyPr>
          <a:lstStyle/>
          <a:p>
            <a:r>
              <a:rPr lang="en-GB" sz="4000" dirty="0"/>
              <a:t>Presence check	</a:t>
            </a:r>
          </a:p>
          <a:p>
            <a:r>
              <a:rPr lang="en-GB" sz="4000" dirty="0"/>
              <a:t>Restricted choice</a:t>
            </a:r>
          </a:p>
          <a:p>
            <a:r>
              <a:rPr lang="en-GB" sz="4000" dirty="0"/>
              <a:t>Length (text)</a:t>
            </a:r>
          </a:p>
          <a:p>
            <a:r>
              <a:rPr lang="en-GB" sz="4000" dirty="0"/>
              <a:t>Range (numeric)</a:t>
            </a:r>
          </a:p>
        </p:txBody>
      </p:sp>
      <p:sp>
        <p:nvSpPr>
          <p:cNvPr id="6" name="Text Placeholder 5">
            <a:extLst>
              <a:ext uri="{FF2B5EF4-FFF2-40B4-BE49-F238E27FC236}">
                <a16:creationId xmlns:a16="http://schemas.microsoft.com/office/drawing/2014/main" id="{898CA89C-886D-4BAF-8C20-0DDB87972937}"/>
              </a:ext>
            </a:extLst>
          </p:cNvPr>
          <p:cNvSpPr>
            <a:spLocks noGrp="1"/>
          </p:cNvSpPr>
          <p:nvPr>
            <p:ph type="body" sz="quarter" idx="3"/>
          </p:nvPr>
        </p:nvSpPr>
        <p:spPr>
          <a:xfrm>
            <a:off x="5421086" y="1681163"/>
            <a:ext cx="6192000" cy="823912"/>
          </a:xfrm>
        </p:spPr>
        <p:txBody>
          <a:bodyPr/>
          <a:lstStyle/>
          <a:p>
            <a:r>
              <a:rPr lang="en-GB" sz="3600" dirty="0">
                <a:solidFill>
                  <a:srgbClr val="7030A0"/>
                </a:solidFill>
              </a:rPr>
              <a:t>Comment</a:t>
            </a:r>
            <a:endParaRPr lang="en-GB" dirty="0">
              <a:solidFill>
                <a:srgbClr val="7030A0"/>
              </a:solidFill>
            </a:endParaRPr>
          </a:p>
        </p:txBody>
      </p:sp>
      <p:sp>
        <p:nvSpPr>
          <p:cNvPr id="2" name="Content Placeholder 1">
            <a:extLst>
              <a:ext uri="{FF2B5EF4-FFF2-40B4-BE49-F238E27FC236}">
                <a16:creationId xmlns:a16="http://schemas.microsoft.com/office/drawing/2014/main" id="{3598B75A-0FB3-4171-AD3B-F1E4DF79AE5E}"/>
              </a:ext>
            </a:extLst>
          </p:cNvPr>
          <p:cNvSpPr>
            <a:spLocks noGrp="1"/>
          </p:cNvSpPr>
          <p:nvPr>
            <p:ph sz="quarter" idx="4"/>
          </p:nvPr>
        </p:nvSpPr>
        <p:spPr>
          <a:xfrm>
            <a:off x="5421086" y="2505075"/>
            <a:ext cx="6192000" cy="3684588"/>
          </a:xfrm>
        </p:spPr>
        <p:txBody>
          <a:bodyPr>
            <a:normAutofit/>
          </a:bodyPr>
          <a:lstStyle/>
          <a:p>
            <a:pPr>
              <a:tabLst>
                <a:tab pos="4320000" algn="l"/>
              </a:tabLst>
            </a:pPr>
            <a:r>
              <a:rPr lang="en-GB" sz="4000" dirty="0"/>
              <a:t>Must not be left blank</a:t>
            </a:r>
          </a:p>
          <a:p>
            <a:pPr>
              <a:tabLst>
                <a:tab pos="4320000" algn="l"/>
              </a:tabLst>
            </a:pPr>
            <a:r>
              <a:rPr lang="en-GB" sz="4000" dirty="0"/>
              <a:t>List of acceptable values</a:t>
            </a:r>
          </a:p>
          <a:p>
            <a:pPr>
              <a:tabLst>
                <a:tab pos="4320000" algn="l"/>
              </a:tabLst>
            </a:pPr>
            <a:r>
              <a:rPr lang="en-GB" sz="4000" dirty="0"/>
              <a:t>Minimum or exact value</a:t>
            </a:r>
          </a:p>
          <a:p>
            <a:pPr>
              <a:tabLst>
                <a:tab pos="4320000" algn="l"/>
              </a:tabLst>
            </a:pPr>
            <a:r>
              <a:rPr lang="en-GB" sz="4000" dirty="0"/>
              <a:t>Minimum and/or maximum</a:t>
            </a:r>
          </a:p>
        </p:txBody>
      </p:sp>
    </p:spTree>
    <p:extLst>
      <p:ext uri="{BB962C8B-B14F-4D97-AF65-F5344CB8AC3E}">
        <p14:creationId xmlns:p14="http://schemas.microsoft.com/office/powerpoint/2010/main" val="321065082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5">
                                            <p:txEl>
                                              <p:pRg st="0" end="0"/>
                                            </p:txEl>
                                          </p:spTgt>
                                        </p:tgtEl>
                                        <p:attrNameLst>
                                          <p:attrName>style.visibility</p:attrName>
                                        </p:attrNameLst>
                                      </p:cBhvr>
                                      <p:to>
                                        <p:strVal val="visible"/>
                                      </p:to>
                                    </p:set>
                                    <p:animEffect transition="in" filter="wipe(left)">
                                      <p:cBhvr>
                                        <p:cTn id="7" dur="500"/>
                                        <p:tgtEl>
                                          <p:spTgt spid="5">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4">
                                            <p:txEl>
                                              <p:pRg st="0" end="0"/>
                                            </p:txEl>
                                          </p:spTgt>
                                        </p:tgtEl>
                                        <p:attrNameLst>
                                          <p:attrName>style.visibility</p:attrName>
                                        </p:attrNameLst>
                                      </p:cBhvr>
                                      <p:to>
                                        <p:strVal val="visible"/>
                                      </p:to>
                                    </p:set>
                                    <p:animEffect transition="in" filter="wipe(left)">
                                      <p:cBhvr>
                                        <p:cTn id="12" dur="1500"/>
                                        <p:tgtEl>
                                          <p:spTgt spid="4">
                                            <p:txEl>
                                              <p:pRg st="0" end="0"/>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4">
                                            <p:txEl>
                                              <p:pRg st="1" end="1"/>
                                            </p:txEl>
                                          </p:spTgt>
                                        </p:tgtEl>
                                        <p:attrNameLst>
                                          <p:attrName>style.visibility</p:attrName>
                                        </p:attrNameLst>
                                      </p:cBhvr>
                                      <p:to>
                                        <p:strVal val="visible"/>
                                      </p:to>
                                    </p:set>
                                    <p:animEffect transition="in" filter="wipe(left)">
                                      <p:cBhvr>
                                        <p:cTn id="17" dur="1500"/>
                                        <p:tgtEl>
                                          <p:spTgt spid="4">
                                            <p:txEl>
                                              <p:pRg st="1" end="1"/>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4">
                                            <p:txEl>
                                              <p:pRg st="2" end="2"/>
                                            </p:txEl>
                                          </p:spTgt>
                                        </p:tgtEl>
                                        <p:attrNameLst>
                                          <p:attrName>style.visibility</p:attrName>
                                        </p:attrNameLst>
                                      </p:cBhvr>
                                      <p:to>
                                        <p:strVal val="visible"/>
                                      </p:to>
                                    </p:set>
                                    <p:animEffect transition="in" filter="wipe(left)">
                                      <p:cBhvr>
                                        <p:cTn id="22" dur="1500"/>
                                        <p:tgtEl>
                                          <p:spTgt spid="4">
                                            <p:txEl>
                                              <p:pRg st="2" end="2"/>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4">
                                            <p:txEl>
                                              <p:pRg st="3" end="3"/>
                                            </p:txEl>
                                          </p:spTgt>
                                        </p:tgtEl>
                                        <p:attrNameLst>
                                          <p:attrName>style.visibility</p:attrName>
                                        </p:attrNameLst>
                                      </p:cBhvr>
                                      <p:to>
                                        <p:strVal val="visible"/>
                                      </p:to>
                                    </p:set>
                                    <p:animEffect transition="in" filter="wipe(left)">
                                      <p:cBhvr>
                                        <p:cTn id="27" dur="1500"/>
                                        <p:tgtEl>
                                          <p:spTgt spid="4">
                                            <p:txEl>
                                              <p:pRg st="3" end="3"/>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6">
                                            <p:txEl>
                                              <p:pRg st="0" end="0"/>
                                            </p:txEl>
                                          </p:spTgt>
                                        </p:tgtEl>
                                        <p:attrNameLst>
                                          <p:attrName>style.visibility</p:attrName>
                                        </p:attrNameLst>
                                      </p:cBhvr>
                                      <p:to>
                                        <p:strVal val="visible"/>
                                      </p:to>
                                    </p:set>
                                    <p:animEffect transition="in" filter="wipe(left)">
                                      <p:cBhvr>
                                        <p:cTn id="32" dur="1000"/>
                                        <p:tgtEl>
                                          <p:spTgt spid="6">
                                            <p:txEl>
                                              <p:pRg st="0" end="0"/>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nodeType="clickEffect">
                                  <p:stCondLst>
                                    <p:cond delay="0"/>
                                  </p:stCondLst>
                                  <p:childTnLst>
                                    <p:set>
                                      <p:cBhvr>
                                        <p:cTn id="36" dur="1" fill="hold">
                                          <p:stCondLst>
                                            <p:cond delay="0"/>
                                          </p:stCondLst>
                                        </p:cTn>
                                        <p:tgtEl>
                                          <p:spTgt spid="2">
                                            <p:txEl>
                                              <p:pRg st="0" end="0"/>
                                            </p:txEl>
                                          </p:spTgt>
                                        </p:tgtEl>
                                        <p:attrNameLst>
                                          <p:attrName>style.visibility</p:attrName>
                                        </p:attrNameLst>
                                      </p:cBhvr>
                                      <p:to>
                                        <p:strVal val="visible"/>
                                      </p:to>
                                    </p:set>
                                    <p:animEffect transition="in" filter="wipe(left)">
                                      <p:cBhvr>
                                        <p:cTn id="37" dur="2000"/>
                                        <p:tgtEl>
                                          <p:spTgt spid="2">
                                            <p:txEl>
                                              <p:pRg st="0" end="0"/>
                                            </p:txEl>
                                          </p:spTgt>
                                        </p:tgtEl>
                                      </p:cBhvr>
                                    </p:animEffect>
                                  </p:childTnLst>
                                </p:cTn>
                              </p:par>
                            </p:childTnLst>
                          </p:cTn>
                        </p:par>
                      </p:childTnLst>
                    </p:cTn>
                  </p:par>
                  <p:par>
                    <p:cTn id="38" fill="hold">
                      <p:stCondLst>
                        <p:cond delay="indefinite"/>
                      </p:stCondLst>
                      <p:childTnLst>
                        <p:par>
                          <p:cTn id="39" fill="hold">
                            <p:stCondLst>
                              <p:cond delay="0"/>
                            </p:stCondLst>
                            <p:childTnLst>
                              <p:par>
                                <p:cTn id="40" presetID="22" presetClass="entr" presetSubtype="8" fill="hold" nodeType="clickEffect">
                                  <p:stCondLst>
                                    <p:cond delay="0"/>
                                  </p:stCondLst>
                                  <p:childTnLst>
                                    <p:set>
                                      <p:cBhvr>
                                        <p:cTn id="41" dur="1" fill="hold">
                                          <p:stCondLst>
                                            <p:cond delay="0"/>
                                          </p:stCondLst>
                                        </p:cTn>
                                        <p:tgtEl>
                                          <p:spTgt spid="2">
                                            <p:txEl>
                                              <p:pRg st="1" end="1"/>
                                            </p:txEl>
                                          </p:spTgt>
                                        </p:tgtEl>
                                        <p:attrNameLst>
                                          <p:attrName>style.visibility</p:attrName>
                                        </p:attrNameLst>
                                      </p:cBhvr>
                                      <p:to>
                                        <p:strVal val="visible"/>
                                      </p:to>
                                    </p:set>
                                    <p:animEffect transition="in" filter="wipe(left)">
                                      <p:cBhvr>
                                        <p:cTn id="42" dur="2000"/>
                                        <p:tgtEl>
                                          <p:spTgt spid="2">
                                            <p:txEl>
                                              <p:pRg st="1" end="1"/>
                                            </p:txEl>
                                          </p:spTgt>
                                        </p:tgtEl>
                                      </p:cBhvr>
                                    </p:animEffect>
                                  </p:childTnLst>
                                </p:cTn>
                              </p:par>
                            </p:childTnLst>
                          </p:cTn>
                        </p:par>
                      </p:childTnLst>
                    </p:cTn>
                  </p:par>
                  <p:par>
                    <p:cTn id="43" fill="hold">
                      <p:stCondLst>
                        <p:cond delay="indefinite"/>
                      </p:stCondLst>
                      <p:childTnLst>
                        <p:par>
                          <p:cTn id="44" fill="hold">
                            <p:stCondLst>
                              <p:cond delay="0"/>
                            </p:stCondLst>
                            <p:childTnLst>
                              <p:par>
                                <p:cTn id="45" presetID="22" presetClass="entr" presetSubtype="8" fill="hold" nodeType="clickEffect">
                                  <p:stCondLst>
                                    <p:cond delay="0"/>
                                  </p:stCondLst>
                                  <p:childTnLst>
                                    <p:set>
                                      <p:cBhvr>
                                        <p:cTn id="46" dur="1" fill="hold">
                                          <p:stCondLst>
                                            <p:cond delay="0"/>
                                          </p:stCondLst>
                                        </p:cTn>
                                        <p:tgtEl>
                                          <p:spTgt spid="2">
                                            <p:txEl>
                                              <p:pRg st="2" end="2"/>
                                            </p:txEl>
                                          </p:spTgt>
                                        </p:tgtEl>
                                        <p:attrNameLst>
                                          <p:attrName>style.visibility</p:attrName>
                                        </p:attrNameLst>
                                      </p:cBhvr>
                                      <p:to>
                                        <p:strVal val="visible"/>
                                      </p:to>
                                    </p:set>
                                    <p:animEffect transition="in" filter="wipe(left)">
                                      <p:cBhvr>
                                        <p:cTn id="47" dur="2000"/>
                                        <p:tgtEl>
                                          <p:spTgt spid="2">
                                            <p:txEl>
                                              <p:pRg st="2" end="2"/>
                                            </p:txEl>
                                          </p:spTgt>
                                        </p:tgtEl>
                                      </p:cBhvr>
                                    </p:animEffect>
                                  </p:childTnLst>
                                </p:cTn>
                              </p:par>
                            </p:childTnLst>
                          </p:cTn>
                        </p:par>
                      </p:childTnLst>
                    </p:cTn>
                  </p:par>
                  <p:par>
                    <p:cTn id="48" fill="hold">
                      <p:stCondLst>
                        <p:cond delay="indefinite"/>
                      </p:stCondLst>
                      <p:childTnLst>
                        <p:par>
                          <p:cTn id="49" fill="hold">
                            <p:stCondLst>
                              <p:cond delay="0"/>
                            </p:stCondLst>
                            <p:childTnLst>
                              <p:par>
                                <p:cTn id="50" presetID="22" presetClass="entr" presetSubtype="8" fill="hold" nodeType="clickEffect">
                                  <p:stCondLst>
                                    <p:cond delay="0"/>
                                  </p:stCondLst>
                                  <p:childTnLst>
                                    <p:set>
                                      <p:cBhvr>
                                        <p:cTn id="51" dur="1" fill="hold">
                                          <p:stCondLst>
                                            <p:cond delay="0"/>
                                          </p:stCondLst>
                                        </p:cTn>
                                        <p:tgtEl>
                                          <p:spTgt spid="2">
                                            <p:txEl>
                                              <p:pRg st="3" end="3"/>
                                            </p:txEl>
                                          </p:spTgt>
                                        </p:tgtEl>
                                        <p:attrNameLst>
                                          <p:attrName>style.visibility</p:attrName>
                                        </p:attrNameLst>
                                      </p:cBhvr>
                                      <p:to>
                                        <p:strVal val="visible"/>
                                      </p:to>
                                    </p:set>
                                    <p:animEffect transition="in" filter="wipe(left)">
                                      <p:cBhvr>
                                        <p:cTn id="52" dur="2000"/>
                                        <p:tgtEl>
                                          <p:spTgt spid="2">
                                            <p:txEl>
                                              <p:pRg st="3" end="3"/>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build="p"/>
      <p:bldP spid="4" grpId="0" uiExpand="1" build="p"/>
      <p:bldP spid="6" grpId="0" build="p"/>
    </p:bldLst>
  </p:timing>
</p:sld>
</file>

<file path=ppt/slides/slide202.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3" name="Title 2"/>
          <p:cNvSpPr>
            <a:spLocks noGrp="1"/>
          </p:cNvSpPr>
          <p:nvPr>
            <p:ph type="title"/>
          </p:nvPr>
        </p:nvSpPr>
        <p:spPr/>
        <p:txBody>
          <a:bodyPr/>
          <a:lstStyle/>
          <a:p>
            <a:r>
              <a:rPr lang="en-GB" dirty="0"/>
              <a:t>Validation</a:t>
            </a:r>
          </a:p>
        </p:txBody>
      </p:sp>
      <p:sp>
        <p:nvSpPr>
          <p:cNvPr id="5" name="Text Placeholder 4">
            <a:extLst>
              <a:ext uri="{FF2B5EF4-FFF2-40B4-BE49-F238E27FC236}">
                <a16:creationId xmlns:a16="http://schemas.microsoft.com/office/drawing/2014/main" id="{CFA8032E-517D-44A5-9B67-FE3C84FAB189}"/>
              </a:ext>
            </a:extLst>
          </p:cNvPr>
          <p:cNvSpPr>
            <a:spLocks noGrp="1"/>
          </p:cNvSpPr>
          <p:nvPr>
            <p:ph type="body" idx="1"/>
          </p:nvPr>
        </p:nvSpPr>
        <p:spPr>
          <a:xfrm>
            <a:off x="839789" y="1681163"/>
            <a:ext cx="4032000" cy="823912"/>
          </a:xfrm>
        </p:spPr>
        <p:txBody>
          <a:bodyPr/>
          <a:lstStyle/>
          <a:p>
            <a:endParaRPr lang="en-GB" dirty="0">
              <a:solidFill>
                <a:srgbClr val="7030A0"/>
              </a:solidFill>
            </a:endParaRPr>
          </a:p>
        </p:txBody>
      </p:sp>
      <p:sp>
        <p:nvSpPr>
          <p:cNvPr id="4" name="Content Placeholder 3"/>
          <p:cNvSpPr>
            <a:spLocks noGrp="1"/>
          </p:cNvSpPr>
          <p:nvPr>
            <p:ph sz="half" idx="2"/>
          </p:nvPr>
        </p:nvSpPr>
        <p:spPr>
          <a:xfrm>
            <a:off x="839789" y="2505075"/>
            <a:ext cx="4032000" cy="3684588"/>
          </a:xfrm>
        </p:spPr>
        <p:txBody>
          <a:bodyPr>
            <a:normAutofit/>
          </a:bodyPr>
          <a:lstStyle/>
          <a:p>
            <a:r>
              <a:rPr lang="en-GB" sz="4000" dirty="0"/>
              <a:t>Presence check	</a:t>
            </a:r>
          </a:p>
          <a:p>
            <a:r>
              <a:rPr lang="en-GB" sz="4000" dirty="0"/>
              <a:t>Restricted choice</a:t>
            </a:r>
          </a:p>
          <a:p>
            <a:r>
              <a:rPr lang="en-GB" sz="4000" dirty="0"/>
              <a:t>Length (text)</a:t>
            </a:r>
          </a:p>
          <a:p>
            <a:r>
              <a:rPr lang="en-GB" sz="4000" dirty="0"/>
              <a:t>Range (numeric)</a:t>
            </a:r>
          </a:p>
        </p:txBody>
      </p:sp>
      <p:sp>
        <p:nvSpPr>
          <p:cNvPr id="6" name="Text Placeholder 5">
            <a:extLst>
              <a:ext uri="{FF2B5EF4-FFF2-40B4-BE49-F238E27FC236}">
                <a16:creationId xmlns:a16="http://schemas.microsoft.com/office/drawing/2014/main" id="{898CA89C-886D-4BAF-8C20-0DDB87972937}"/>
              </a:ext>
            </a:extLst>
          </p:cNvPr>
          <p:cNvSpPr>
            <a:spLocks noGrp="1"/>
          </p:cNvSpPr>
          <p:nvPr>
            <p:ph type="body" sz="quarter" idx="3"/>
          </p:nvPr>
        </p:nvSpPr>
        <p:spPr>
          <a:xfrm>
            <a:off x="5421086" y="1681163"/>
            <a:ext cx="6192000" cy="823912"/>
          </a:xfrm>
        </p:spPr>
        <p:txBody>
          <a:bodyPr/>
          <a:lstStyle/>
          <a:p>
            <a:endParaRPr lang="en-GB" dirty="0">
              <a:solidFill>
                <a:srgbClr val="7030A0"/>
              </a:solidFill>
            </a:endParaRPr>
          </a:p>
        </p:txBody>
      </p:sp>
      <p:sp>
        <p:nvSpPr>
          <p:cNvPr id="2" name="Content Placeholder 1">
            <a:extLst>
              <a:ext uri="{FF2B5EF4-FFF2-40B4-BE49-F238E27FC236}">
                <a16:creationId xmlns:a16="http://schemas.microsoft.com/office/drawing/2014/main" id="{3598B75A-0FB3-4171-AD3B-F1E4DF79AE5E}"/>
              </a:ext>
            </a:extLst>
          </p:cNvPr>
          <p:cNvSpPr>
            <a:spLocks noGrp="1"/>
          </p:cNvSpPr>
          <p:nvPr>
            <p:ph sz="quarter" idx="4"/>
          </p:nvPr>
        </p:nvSpPr>
        <p:spPr>
          <a:xfrm>
            <a:off x="5421086" y="2505075"/>
            <a:ext cx="6192000" cy="3684588"/>
          </a:xfrm>
        </p:spPr>
        <p:txBody>
          <a:bodyPr>
            <a:normAutofit/>
          </a:bodyPr>
          <a:lstStyle/>
          <a:p>
            <a:pPr>
              <a:tabLst>
                <a:tab pos="4320000" algn="l"/>
              </a:tabLst>
            </a:pPr>
            <a:r>
              <a:rPr lang="en-GB" sz="4000" dirty="0"/>
              <a:t> </a:t>
            </a:r>
          </a:p>
          <a:p>
            <a:pPr>
              <a:tabLst>
                <a:tab pos="4320000" algn="l"/>
              </a:tabLst>
            </a:pPr>
            <a:r>
              <a:rPr lang="en-GB" sz="4000" dirty="0"/>
              <a:t> </a:t>
            </a:r>
          </a:p>
          <a:p>
            <a:pPr>
              <a:tabLst>
                <a:tab pos="4320000" algn="l"/>
              </a:tabLst>
            </a:pPr>
            <a:r>
              <a:rPr lang="en-GB" sz="4000" dirty="0"/>
              <a:t> </a:t>
            </a:r>
          </a:p>
          <a:p>
            <a:pPr>
              <a:tabLst>
                <a:tab pos="4320000" algn="l"/>
              </a:tabLst>
            </a:pPr>
            <a:r>
              <a:rPr lang="en-GB" sz="4000" dirty="0"/>
              <a:t> </a:t>
            </a:r>
          </a:p>
        </p:txBody>
      </p:sp>
    </p:spTree>
    <p:extLst>
      <p:ext uri="{BB962C8B-B14F-4D97-AF65-F5344CB8AC3E}">
        <p14:creationId xmlns:p14="http://schemas.microsoft.com/office/powerpoint/2010/main" val="1589275623"/>
      </p:ext>
    </p:extLst>
  </p:cSld>
  <p:clrMapOvr>
    <a:masterClrMapping/>
  </p:clrMapOvr>
</p:sld>
</file>

<file path=ppt/slides/slide20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lstStyle/>
          <a:p>
            <a:r>
              <a:rPr lang="en-GB" dirty="0"/>
              <a:t>Validation - Examples</a:t>
            </a:r>
          </a:p>
        </p:txBody>
      </p:sp>
      <p:sp>
        <p:nvSpPr>
          <p:cNvPr id="5" name="Text Placeholder 4">
            <a:extLst>
              <a:ext uri="{FF2B5EF4-FFF2-40B4-BE49-F238E27FC236}">
                <a16:creationId xmlns:a16="http://schemas.microsoft.com/office/drawing/2014/main" id="{B8EE203A-47B4-42D6-BEB5-D25DAE18148F}"/>
              </a:ext>
            </a:extLst>
          </p:cNvPr>
          <p:cNvSpPr>
            <a:spLocks noGrp="1"/>
          </p:cNvSpPr>
          <p:nvPr>
            <p:ph type="body" idx="1"/>
          </p:nvPr>
        </p:nvSpPr>
        <p:spPr>
          <a:xfrm>
            <a:off x="839788" y="1681163"/>
            <a:ext cx="4032000" cy="823912"/>
          </a:xfrm>
        </p:spPr>
        <p:txBody>
          <a:bodyPr/>
          <a:lstStyle/>
          <a:p>
            <a:r>
              <a:rPr lang="en-GB" sz="3600" dirty="0">
                <a:solidFill>
                  <a:srgbClr val="7030A0"/>
                </a:solidFill>
              </a:rPr>
              <a:t>Type</a:t>
            </a:r>
            <a:endParaRPr lang="en-GB" dirty="0">
              <a:solidFill>
                <a:srgbClr val="7030A0"/>
              </a:solidFill>
            </a:endParaRPr>
          </a:p>
        </p:txBody>
      </p:sp>
      <p:sp>
        <p:nvSpPr>
          <p:cNvPr id="4" name="Content Placeholder 3"/>
          <p:cNvSpPr>
            <a:spLocks noGrp="1"/>
          </p:cNvSpPr>
          <p:nvPr>
            <p:ph sz="half" idx="2"/>
          </p:nvPr>
        </p:nvSpPr>
        <p:spPr>
          <a:xfrm>
            <a:off x="839788" y="2505075"/>
            <a:ext cx="4032000" cy="3684588"/>
          </a:xfrm>
        </p:spPr>
        <p:txBody>
          <a:bodyPr>
            <a:normAutofit/>
          </a:bodyPr>
          <a:lstStyle/>
          <a:p>
            <a:r>
              <a:rPr lang="en-GB" sz="4000" dirty="0"/>
              <a:t>Presence check	</a:t>
            </a:r>
          </a:p>
          <a:p>
            <a:r>
              <a:rPr lang="en-GB" sz="4000" dirty="0"/>
              <a:t>Restricted choice</a:t>
            </a:r>
          </a:p>
          <a:p>
            <a:r>
              <a:rPr lang="en-GB" sz="4000" dirty="0"/>
              <a:t>Length (text)</a:t>
            </a:r>
          </a:p>
          <a:p>
            <a:r>
              <a:rPr lang="en-GB" sz="4000" dirty="0"/>
              <a:t>Range (numeric)</a:t>
            </a:r>
          </a:p>
        </p:txBody>
      </p:sp>
      <p:sp>
        <p:nvSpPr>
          <p:cNvPr id="6" name="Text Placeholder 5">
            <a:extLst>
              <a:ext uri="{FF2B5EF4-FFF2-40B4-BE49-F238E27FC236}">
                <a16:creationId xmlns:a16="http://schemas.microsoft.com/office/drawing/2014/main" id="{EC38012C-8AF8-4C9F-8E17-E8EC8BF598DB}"/>
              </a:ext>
            </a:extLst>
          </p:cNvPr>
          <p:cNvSpPr>
            <a:spLocks noGrp="1"/>
          </p:cNvSpPr>
          <p:nvPr>
            <p:ph type="body" sz="quarter" idx="3"/>
          </p:nvPr>
        </p:nvSpPr>
        <p:spPr>
          <a:xfrm>
            <a:off x="5562600" y="1681163"/>
            <a:ext cx="6192000" cy="823912"/>
          </a:xfrm>
        </p:spPr>
        <p:txBody>
          <a:bodyPr>
            <a:normAutofit/>
          </a:bodyPr>
          <a:lstStyle/>
          <a:p>
            <a:r>
              <a:rPr lang="en-GB" sz="3600" dirty="0">
                <a:solidFill>
                  <a:srgbClr val="7030A0"/>
                </a:solidFill>
              </a:rPr>
              <a:t>Examples</a:t>
            </a:r>
            <a:endParaRPr lang="en-GB" sz="3200" dirty="0">
              <a:solidFill>
                <a:srgbClr val="7030A0"/>
              </a:solidFill>
            </a:endParaRPr>
          </a:p>
        </p:txBody>
      </p:sp>
      <p:sp>
        <p:nvSpPr>
          <p:cNvPr id="2" name="Content Placeholder 1">
            <a:extLst>
              <a:ext uri="{FF2B5EF4-FFF2-40B4-BE49-F238E27FC236}">
                <a16:creationId xmlns:a16="http://schemas.microsoft.com/office/drawing/2014/main" id="{3598B75A-0FB3-4171-AD3B-F1E4DF79AE5E}"/>
              </a:ext>
            </a:extLst>
          </p:cNvPr>
          <p:cNvSpPr>
            <a:spLocks noGrp="1"/>
          </p:cNvSpPr>
          <p:nvPr>
            <p:ph sz="quarter" idx="4"/>
          </p:nvPr>
        </p:nvSpPr>
        <p:spPr>
          <a:xfrm>
            <a:off x="5562600" y="2505075"/>
            <a:ext cx="6192000" cy="3684588"/>
          </a:xfrm>
        </p:spPr>
        <p:txBody>
          <a:bodyPr>
            <a:normAutofit/>
          </a:bodyPr>
          <a:lstStyle/>
          <a:p>
            <a:pPr>
              <a:tabLst>
                <a:tab pos="4320000" algn="l"/>
              </a:tabLst>
            </a:pPr>
            <a:r>
              <a:rPr lang="en-GB" sz="4000" dirty="0"/>
              <a:t>Required</a:t>
            </a:r>
            <a:endParaRPr lang="en-GB" sz="4000" dirty="0">
              <a:solidFill>
                <a:srgbClr val="FF0000"/>
              </a:solidFill>
            </a:endParaRPr>
          </a:p>
          <a:p>
            <a:pPr>
              <a:tabLst>
                <a:tab pos="4320000" algn="l"/>
              </a:tabLst>
            </a:pPr>
            <a:r>
              <a:rPr lang="en-GB" sz="4000" dirty="0"/>
              <a:t>Restricted choice: Big, Small</a:t>
            </a:r>
          </a:p>
          <a:p>
            <a:pPr>
              <a:tabLst>
                <a:tab pos="4320000" algn="l"/>
              </a:tabLst>
            </a:pPr>
            <a:r>
              <a:rPr lang="en-GB" sz="4000" dirty="0"/>
              <a:t>Length &gt;= 4</a:t>
            </a:r>
          </a:p>
          <a:p>
            <a:pPr>
              <a:tabLst>
                <a:tab pos="4320000" algn="l"/>
              </a:tabLst>
            </a:pPr>
            <a:r>
              <a:rPr lang="en-GB" sz="4000" dirty="0"/>
              <a:t>Range &gt;= 0 and &lt;= 100</a:t>
            </a:r>
          </a:p>
        </p:txBody>
      </p:sp>
    </p:spTree>
    <p:extLst>
      <p:ext uri="{BB962C8B-B14F-4D97-AF65-F5344CB8AC3E}">
        <p14:creationId xmlns:p14="http://schemas.microsoft.com/office/powerpoint/2010/main" val="72623160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5">
                                            <p:txEl>
                                              <p:pRg st="0" end="0"/>
                                            </p:txEl>
                                          </p:spTgt>
                                        </p:tgtEl>
                                        <p:attrNameLst>
                                          <p:attrName>style.visibility</p:attrName>
                                        </p:attrNameLst>
                                      </p:cBhvr>
                                      <p:to>
                                        <p:strVal val="visible"/>
                                      </p:to>
                                    </p:set>
                                    <p:animEffect transition="in" filter="wipe(left)">
                                      <p:cBhvr>
                                        <p:cTn id="7" dur="500"/>
                                        <p:tgtEl>
                                          <p:spTgt spid="5">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4">
                                            <p:txEl>
                                              <p:pRg st="0" end="0"/>
                                            </p:txEl>
                                          </p:spTgt>
                                        </p:tgtEl>
                                        <p:attrNameLst>
                                          <p:attrName>style.visibility</p:attrName>
                                        </p:attrNameLst>
                                      </p:cBhvr>
                                      <p:to>
                                        <p:strVal val="visible"/>
                                      </p:to>
                                    </p:set>
                                    <p:animEffect transition="in" filter="wipe(left)">
                                      <p:cBhvr>
                                        <p:cTn id="12" dur="1500"/>
                                        <p:tgtEl>
                                          <p:spTgt spid="4">
                                            <p:txEl>
                                              <p:pRg st="0" end="0"/>
                                            </p:txEl>
                                          </p:spTgt>
                                        </p:tgtEl>
                                      </p:cBhvr>
                                    </p:animEffect>
                                  </p:childTnLst>
                                </p:cTn>
                              </p:par>
                            </p:childTnLst>
                          </p:cTn>
                        </p:par>
                        <p:par>
                          <p:cTn id="13" fill="hold">
                            <p:stCondLst>
                              <p:cond delay="1500"/>
                            </p:stCondLst>
                            <p:childTnLst>
                              <p:par>
                                <p:cTn id="14" presetID="22" presetClass="entr" presetSubtype="8" fill="hold" grpId="0" nodeType="afterEffect">
                                  <p:stCondLst>
                                    <p:cond delay="0"/>
                                  </p:stCondLst>
                                  <p:childTnLst>
                                    <p:set>
                                      <p:cBhvr>
                                        <p:cTn id="15" dur="1" fill="hold">
                                          <p:stCondLst>
                                            <p:cond delay="0"/>
                                          </p:stCondLst>
                                        </p:cTn>
                                        <p:tgtEl>
                                          <p:spTgt spid="4">
                                            <p:txEl>
                                              <p:pRg st="1" end="1"/>
                                            </p:txEl>
                                          </p:spTgt>
                                        </p:tgtEl>
                                        <p:attrNameLst>
                                          <p:attrName>style.visibility</p:attrName>
                                        </p:attrNameLst>
                                      </p:cBhvr>
                                      <p:to>
                                        <p:strVal val="visible"/>
                                      </p:to>
                                    </p:set>
                                    <p:animEffect transition="in" filter="wipe(left)">
                                      <p:cBhvr>
                                        <p:cTn id="16" dur="1500"/>
                                        <p:tgtEl>
                                          <p:spTgt spid="4">
                                            <p:txEl>
                                              <p:pRg st="1" end="1"/>
                                            </p:txEl>
                                          </p:spTgt>
                                        </p:tgtEl>
                                      </p:cBhvr>
                                    </p:animEffect>
                                  </p:childTnLst>
                                </p:cTn>
                              </p:par>
                            </p:childTnLst>
                          </p:cTn>
                        </p:par>
                        <p:par>
                          <p:cTn id="17" fill="hold">
                            <p:stCondLst>
                              <p:cond delay="3000"/>
                            </p:stCondLst>
                            <p:childTnLst>
                              <p:par>
                                <p:cTn id="18" presetID="22" presetClass="entr" presetSubtype="8" fill="hold" grpId="0" nodeType="afterEffect">
                                  <p:stCondLst>
                                    <p:cond delay="0"/>
                                  </p:stCondLst>
                                  <p:childTnLst>
                                    <p:set>
                                      <p:cBhvr>
                                        <p:cTn id="19" dur="1" fill="hold">
                                          <p:stCondLst>
                                            <p:cond delay="0"/>
                                          </p:stCondLst>
                                        </p:cTn>
                                        <p:tgtEl>
                                          <p:spTgt spid="4">
                                            <p:txEl>
                                              <p:pRg st="2" end="2"/>
                                            </p:txEl>
                                          </p:spTgt>
                                        </p:tgtEl>
                                        <p:attrNameLst>
                                          <p:attrName>style.visibility</p:attrName>
                                        </p:attrNameLst>
                                      </p:cBhvr>
                                      <p:to>
                                        <p:strVal val="visible"/>
                                      </p:to>
                                    </p:set>
                                    <p:animEffect transition="in" filter="wipe(left)">
                                      <p:cBhvr>
                                        <p:cTn id="20" dur="1500"/>
                                        <p:tgtEl>
                                          <p:spTgt spid="4">
                                            <p:txEl>
                                              <p:pRg st="2" end="2"/>
                                            </p:txEl>
                                          </p:spTgt>
                                        </p:tgtEl>
                                      </p:cBhvr>
                                    </p:animEffect>
                                  </p:childTnLst>
                                </p:cTn>
                              </p:par>
                            </p:childTnLst>
                          </p:cTn>
                        </p:par>
                        <p:par>
                          <p:cTn id="21" fill="hold">
                            <p:stCondLst>
                              <p:cond delay="4500"/>
                            </p:stCondLst>
                            <p:childTnLst>
                              <p:par>
                                <p:cTn id="22" presetID="22" presetClass="entr" presetSubtype="8" fill="hold" grpId="0" nodeType="afterEffect">
                                  <p:stCondLst>
                                    <p:cond delay="0"/>
                                  </p:stCondLst>
                                  <p:childTnLst>
                                    <p:set>
                                      <p:cBhvr>
                                        <p:cTn id="23" dur="1" fill="hold">
                                          <p:stCondLst>
                                            <p:cond delay="0"/>
                                          </p:stCondLst>
                                        </p:cTn>
                                        <p:tgtEl>
                                          <p:spTgt spid="4">
                                            <p:txEl>
                                              <p:pRg st="3" end="3"/>
                                            </p:txEl>
                                          </p:spTgt>
                                        </p:tgtEl>
                                        <p:attrNameLst>
                                          <p:attrName>style.visibility</p:attrName>
                                        </p:attrNameLst>
                                      </p:cBhvr>
                                      <p:to>
                                        <p:strVal val="visible"/>
                                      </p:to>
                                    </p:set>
                                    <p:animEffect transition="in" filter="wipe(left)">
                                      <p:cBhvr>
                                        <p:cTn id="24" dur="1500"/>
                                        <p:tgtEl>
                                          <p:spTgt spid="4">
                                            <p:txEl>
                                              <p:pRg st="3" end="3"/>
                                            </p:txEl>
                                          </p:spTgt>
                                        </p:tgtEl>
                                      </p:cBhvr>
                                    </p:animEffect>
                                  </p:childTnLst>
                                </p:cTn>
                              </p:par>
                            </p:childTnLst>
                          </p:cTn>
                        </p:par>
                      </p:childTnLst>
                    </p:cTn>
                  </p:par>
                  <p:par>
                    <p:cTn id="25" fill="hold">
                      <p:stCondLst>
                        <p:cond delay="indefinite"/>
                      </p:stCondLst>
                      <p:childTnLst>
                        <p:par>
                          <p:cTn id="26" fill="hold">
                            <p:stCondLst>
                              <p:cond delay="0"/>
                            </p:stCondLst>
                            <p:childTnLst>
                              <p:par>
                                <p:cTn id="27" presetID="22" presetClass="entr" presetSubtype="8" fill="hold" grpId="0" nodeType="clickEffect">
                                  <p:stCondLst>
                                    <p:cond delay="0"/>
                                  </p:stCondLst>
                                  <p:childTnLst>
                                    <p:set>
                                      <p:cBhvr>
                                        <p:cTn id="28" dur="1" fill="hold">
                                          <p:stCondLst>
                                            <p:cond delay="0"/>
                                          </p:stCondLst>
                                        </p:cTn>
                                        <p:tgtEl>
                                          <p:spTgt spid="6">
                                            <p:txEl>
                                              <p:pRg st="0" end="0"/>
                                            </p:txEl>
                                          </p:spTgt>
                                        </p:tgtEl>
                                        <p:attrNameLst>
                                          <p:attrName>style.visibility</p:attrName>
                                        </p:attrNameLst>
                                      </p:cBhvr>
                                      <p:to>
                                        <p:strVal val="visible"/>
                                      </p:to>
                                    </p:set>
                                    <p:animEffect transition="in" filter="wipe(left)">
                                      <p:cBhvr>
                                        <p:cTn id="29" dur="1000"/>
                                        <p:tgtEl>
                                          <p:spTgt spid="6">
                                            <p:txEl>
                                              <p:pRg st="0" end="0"/>
                                            </p:txEl>
                                          </p:spTgt>
                                        </p:tgtEl>
                                      </p:cBhvr>
                                    </p:animEffect>
                                  </p:childTnLst>
                                </p:cTn>
                              </p:par>
                            </p:childTnLst>
                          </p:cTn>
                        </p:par>
                      </p:childTnLst>
                    </p:cTn>
                  </p:par>
                  <p:par>
                    <p:cTn id="30" fill="hold">
                      <p:stCondLst>
                        <p:cond delay="indefinite"/>
                      </p:stCondLst>
                      <p:childTnLst>
                        <p:par>
                          <p:cTn id="31" fill="hold">
                            <p:stCondLst>
                              <p:cond delay="0"/>
                            </p:stCondLst>
                            <p:childTnLst>
                              <p:par>
                                <p:cTn id="32" presetID="22" presetClass="entr" presetSubtype="8" fill="hold" nodeType="clickEffect">
                                  <p:stCondLst>
                                    <p:cond delay="0"/>
                                  </p:stCondLst>
                                  <p:childTnLst>
                                    <p:set>
                                      <p:cBhvr>
                                        <p:cTn id="33" dur="1" fill="hold">
                                          <p:stCondLst>
                                            <p:cond delay="0"/>
                                          </p:stCondLst>
                                        </p:cTn>
                                        <p:tgtEl>
                                          <p:spTgt spid="2">
                                            <p:txEl>
                                              <p:pRg st="0" end="0"/>
                                            </p:txEl>
                                          </p:spTgt>
                                        </p:tgtEl>
                                        <p:attrNameLst>
                                          <p:attrName>style.visibility</p:attrName>
                                        </p:attrNameLst>
                                      </p:cBhvr>
                                      <p:to>
                                        <p:strVal val="visible"/>
                                      </p:to>
                                    </p:set>
                                    <p:animEffect transition="in" filter="wipe(left)">
                                      <p:cBhvr>
                                        <p:cTn id="34" dur="1500"/>
                                        <p:tgtEl>
                                          <p:spTgt spid="2">
                                            <p:txEl>
                                              <p:pRg st="0" end="0"/>
                                            </p:txEl>
                                          </p:spTgt>
                                        </p:tgtEl>
                                      </p:cBhvr>
                                    </p:animEffect>
                                  </p:childTnLst>
                                </p:cTn>
                              </p:par>
                            </p:childTnLst>
                          </p:cTn>
                        </p:par>
                      </p:childTnLst>
                    </p:cTn>
                  </p:par>
                  <p:par>
                    <p:cTn id="35" fill="hold">
                      <p:stCondLst>
                        <p:cond delay="indefinite"/>
                      </p:stCondLst>
                      <p:childTnLst>
                        <p:par>
                          <p:cTn id="36" fill="hold">
                            <p:stCondLst>
                              <p:cond delay="0"/>
                            </p:stCondLst>
                            <p:childTnLst>
                              <p:par>
                                <p:cTn id="37" presetID="22" presetClass="entr" presetSubtype="8" fill="hold" nodeType="clickEffect">
                                  <p:stCondLst>
                                    <p:cond delay="0"/>
                                  </p:stCondLst>
                                  <p:childTnLst>
                                    <p:set>
                                      <p:cBhvr>
                                        <p:cTn id="38" dur="1" fill="hold">
                                          <p:stCondLst>
                                            <p:cond delay="0"/>
                                          </p:stCondLst>
                                        </p:cTn>
                                        <p:tgtEl>
                                          <p:spTgt spid="2">
                                            <p:txEl>
                                              <p:pRg st="1" end="1"/>
                                            </p:txEl>
                                          </p:spTgt>
                                        </p:tgtEl>
                                        <p:attrNameLst>
                                          <p:attrName>style.visibility</p:attrName>
                                        </p:attrNameLst>
                                      </p:cBhvr>
                                      <p:to>
                                        <p:strVal val="visible"/>
                                      </p:to>
                                    </p:set>
                                    <p:animEffect transition="in" filter="wipe(left)">
                                      <p:cBhvr>
                                        <p:cTn id="39" dur="3000"/>
                                        <p:tgtEl>
                                          <p:spTgt spid="2">
                                            <p:txEl>
                                              <p:pRg st="1" end="1"/>
                                            </p:txEl>
                                          </p:spTgt>
                                        </p:tgtEl>
                                      </p:cBhvr>
                                    </p:animEffect>
                                  </p:childTnLst>
                                </p:cTn>
                              </p:par>
                            </p:childTnLst>
                          </p:cTn>
                        </p:par>
                      </p:childTnLst>
                    </p:cTn>
                  </p:par>
                  <p:par>
                    <p:cTn id="40" fill="hold">
                      <p:stCondLst>
                        <p:cond delay="indefinite"/>
                      </p:stCondLst>
                      <p:childTnLst>
                        <p:par>
                          <p:cTn id="41" fill="hold">
                            <p:stCondLst>
                              <p:cond delay="0"/>
                            </p:stCondLst>
                            <p:childTnLst>
                              <p:par>
                                <p:cTn id="42" presetID="22" presetClass="entr" presetSubtype="8" fill="hold" nodeType="clickEffect">
                                  <p:stCondLst>
                                    <p:cond delay="0"/>
                                  </p:stCondLst>
                                  <p:childTnLst>
                                    <p:set>
                                      <p:cBhvr>
                                        <p:cTn id="43" dur="1" fill="hold">
                                          <p:stCondLst>
                                            <p:cond delay="0"/>
                                          </p:stCondLst>
                                        </p:cTn>
                                        <p:tgtEl>
                                          <p:spTgt spid="2">
                                            <p:txEl>
                                              <p:pRg st="2" end="2"/>
                                            </p:txEl>
                                          </p:spTgt>
                                        </p:tgtEl>
                                        <p:attrNameLst>
                                          <p:attrName>style.visibility</p:attrName>
                                        </p:attrNameLst>
                                      </p:cBhvr>
                                      <p:to>
                                        <p:strVal val="visible"/>
                                      </p:to>
                                    </p:set>
                                    <p:animEffect transition="in" filter="wipe(left)">
                                      <p:cBhvr>
                                        <p:cTn id="44" dur="1500"/>
                                        <p:tgtEl>
                                          <p:spTgt spid="2">
                                            <p:txEl>
                                              <p:pRg st="2" end="2"/>
                                            </p:txEl>
                                          </p:spTgt>
                                        </p:tgtEl>
                                      </p:cBhvr>
                                    </p:animEffect>
                                  </p:childTnLst>
                                </p:cTn>
                              </p:par>
                            </p:childTnLst>
                          </p:cTn>
                        </p:par>
                      </p:childTnLst>
                    </p:cTn>
                  </p:par>
                  <p:par>
                    <p:cTn id="45" fill="hold">
                      <p:stCondLst>
                        <p:cond delay="indefinite"/>
                      </p:stCondLst>
                      <p:childTnLst>
                        <p:par>
                          <p:cTn id="46" fill="hold">
                            <p:stCondLst>
                              <p:cond delay="0"/>
                            </p:stCondLst>
                            <p:childTnLst>
                              <p:par>
                                <p:cTn id="47" presetID="22" presetClass="entr" presetSubtype="8" fill="hold" nodeType="clickEffect">
                                  <p:stCondLst>
                                    <p:cond delay="0"/>
                                  </p:stCondLst>
                                  <p:childTnLst>
                                    <p:set>
                                      <p:cBhvr>
                                        <p:cTn id="48" dur="1" fill="hold">
                                          <p:stCondLst>
                                            <p:cond delay="0"/>
                                          </p:stCondLst>
                                        </p:cTn>
                                        <p:tgtEl>
                                          <p:spTgt spid="2">
                                            <p:txEl>
                                              <p:pRg st="3" end="3"/>
                                            </p:txEl>
                                          </p:spTgt>
                                        </p:tgtEl>
                                        <p:attrNameLst>
                                          <p:attrName>style.visibility</p:attrName>
                                        </p:attrNameLst>
                                      </p:cBhvr>
                                      <p:to>
                                        <p:strVal val="visible"/>
                                      </p:to>
                                    </p:set>
                                    <p:animEffect transition="in" filter="wipe(left)">
                                      <p:cBhvr>
                                        <p:cTn id="49" dur="3000"/>
                                        <p:tgtEl>
                                          <p:spTgt spid="2">
                                            <p:txEl>
                                              <p:pRg st="3" end="3"/>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build="p"/>
      <p:bldP spid="4" grpId="0" uiExpand="1" build="p"/>
      <p:bldP spid="6" grpId="0" build="p"/>
    </p:bldLst>
  </p:timing>
</p:sld>
</file>

<file path=ppt/slides/slide204.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3" name="Title 2"/>
          <p:cNvSpPr>
            <a:spLocks noGrp="1"/>
          </p:cNvSpPr>
          <p:nvPr>
            <p:ph type="title"/>
          </p:nvPr>
        </p:nvSpPr>
        <p:spPr/>
        <p:txBody>
          <a:bodyPr/>
          <a:lstStyle/>
          <a:p>
            <a:r>
              <a:rPr lang="en-GB" dirty="0"/>
              <a:t>Validation - Examples</a:t>
            </a:r>
          </a:p>
        </p:txBody>
      </p:sp>
      <p:sp>
        <p:nvSpPr>
          <p:cNvPr id="5" name="Text Placeholder 4">
            <a:extLst>
              <a:ext uri="{FF2B5EF4-FFF2-40B4-BE49-F238E27FC236}">
                <a16:creationId xmlns:a16="http://schemas.microsoft.com/office/drawing/2014/main" id="{B8EE203A-47B4-42D6-BEB5-D25DAE18148F}"/>
              </a:ext>
            </a:extLst>
          </p:cNvPr>
          <p:cNvSpPr>
            <a:spLocks noGrp="1"/>
          </p:cNvSpPr>
          <p:nvPr>
            <p:ph type="body" idx="1"/>
          </p:nvPr>
        </p:nvSpPr>
        <p:spPr>
          <a:xfrm>
            <a:off x="839788" y="1681163"/>
            <a:ext cx="4032000" cy="823912"/>
          </a:xfrm>
        </p:spPr>
        <p:txBody>
          <a:bodyPr/>
          <a:lstStyle/>
          <a:p>
            <a:r>
              <a:rPr lang="en-GB" sz="3600" dirty="0">
                <a:solidFill>
                  <a:srgbClr val="7030A0"/>
                </a:solidFill>
              </a:rPr>
              <a:t>Type</a:t>
            </a:r>
            <a:endParaRPr lang="en-GB" dirty="0">
              <a:solidFill>
                <a:srgbClr val="7030A0"/>
              </a:solidFill>
            </a:endParaRPr>
          </a:p>
        </p:txBody>
      </p:sp>
      <p:sp>
        <p:nvSpPr>
          <p:cNvPr id="4" name="Content Placeholder 3"/>
          <p:cNvSpPr>
            <a:spLocks noGrp="1"/>
          </p:cNvSpPr>
          <p:nvPr>
            <p:ph sz="half" idx="2"/>
          </p:nvPr>
        </p:nvSpPr>
        <p:spPr>
          <a:xfrm>
            <a:off x="839788" y="2505075"/>
            <a:ext cx="4032000" cy="3684588"/>
          </a:xfrm>
        </p:spPr>
        <p:txBody>
          <a:bodyPr>
            <a:normAutofit/>
          </a:bodyPr>
          <a:lstStyle/>
          <a:p>
            <a:r>
              <a:rPr lang="en-GB" sz="4000" dirty="0"/>
              <a:t>Presence check	</a:t>
            </a:r>
          </a:p>
          <a:p>
            <a:r>
              <a:rPr lang="en-GB" sz="4000" dirty="0"/>
              <a:t>Restricted choice</a:t>
            </a:r>
          </a:p>
          <a:p>
            <a:r>
              <a:rPr lang="en-GB" sz="4000" dirty="0"/>
              <a:t>Length (text)</a:t>
            </a:r>
          </a:p>
          <a:p>
            <a:r>
              <a:rPr lang="en-GB" sz="4000" dirty="0"/>
              <a:t>Range (numeric)</a:t>
            </a:r>
          </a:p>
        </p:txBody>
      </p:sp>
      <p:sp>
        <p:nvSpPr>
          <p:cNvPr id="6" name="Text Placeholder 5">
            <a:extLst>
              <a:ext uri="{FF2B5EF4-FFF2-40B4-BE49-F238E27FC236}">
                <a16:creationId xmlns:a16="http://schemas.microsoft.com/office/drawing/2014/main" id="{EC38012C-8AF8-4C9F-8E17-E8EC8BF598DB}"/>
              </a:ext>
            </a:extLst>
          </p:cNvPr>
          <p:cNvSpPr>
            <a:spLocks noGrp="1"/>
          </p:cNvSpPr>
          <p:nvPr>
            <p:ph type="body" sz="quarter" idx="3"/>
          </p:nvPr>
        </p:nvSpPr>
        <p:spPr>
          <a:xfrm>
            <a:off x="5562600" y="1681163"/>
            <a:ext cx="6192000" cy="823912"/>
          </a:xfrm>
        </p:spPr>
        <p:txBody>
          <a:bodyPr>
            <a:normAutofit/>
          </a:bodyPr>
          <a:lstStyle/>
          <a:p>
            <a:endParaRPr lang="en-GB" sz="3200" dirty="0">
              <a:solidFill>
                <a:srgbClr val="7030A0"/>
              </a:solidFill>
            </a:endParaRPr>
          </a:p>
        </p:txBody>
      </p:sp>
      <p:sp>
        <p:nvSpPr>
          <p:cNvPr id="2" name="Content Placeholder 1">
            <a:extLst>
              <a:ext uri="{FF2B5EF4-FFF2-40B4-BE49-F238E27FC236}">
                <a16:creationId xmlns:a16="http://schemas.microsoft.com/office/drawing/2014/main" id="{3598B75A-0FB3-4171-AD3B-F1E4DF79AE5E}"/>
              </a:ext>
            </a:extLst>
          </p:cNvPr>
          <p:cNvSpPr>
            <a:spLocks noGrp="1"/>
          </p:cNvSpPr>
          <p:nvPr>
            <p:ph sz="quarter" idx="4"/>
          </p:nvPr>
        </p:nvSpPr>
        <p:spPr>
          <a:xfrm>
            <a:off x="5562600" y="2505075"/>
            <a:ext cx="6192000" cy="3684588"/>
          </a:xfrm>
        </p:spPr>
        <p:txBody>
          <a:bodyPr>
            <a:normAutofit/>
          </a:bodyPr>
          <a:lstStyle/>
          <a:p>
            <a:pPr>
              <a:tabLst>
                <a:tab pos="4320000" algn="l"/>
              </a:tabLst>
            </a:pPr>
            <a:r>
              <a:rPr lang="en-GB" sz="4000" dirty="0"/>
              <a:t> </a:t>
            </a:r>
          </a:p>
          <a:p>
            <a:pPr>
              <a:tabLst>
                <a:tab pos="4320000" algn="l"/>
              </a:tabLst>
            </a:pPr>
            <a:r>
              <a:rPr lang="en-GB" sz="4000" dirty="0"/>
              <a:t> </a:t>
            </a:r>
          </a:p>
          <a:p>
            <a:pPr>
              <a:tabLst>
                <a:tab pos="4320000" algn="l"/>
              </a:tabLst>
            </a:pPr>
            <a:r>
              <a:rPr lang="en-GB" sz="4000" dirty="0"/>
              <a:t> </a:t>
            </a:r>
          </a:p>
          <a:p>
            <a:pPr>
              <a:tabLst>
                <a:tab pos="4320000" algn="l"/>
              </a:tabLst>
            </a:pPr>
            <a:r>
              <a:rPr lang="en-GB" sz="4000" dirty="0"/>
              <a:t> </a:t>
            </a:r>
          </a:p>
        </p:txBody>
      </p:sp>
    </p:spTree>
    <p:extLst>
      <p:ext uri="{BB962C8B-B14F-4D97-AF65-F5344CB8AC3E}">
        <p14:creationId xmlns:p14="http://schemas.microsoft.com/office/powerpoint/2010/main" val="3212653991"/>
      </p:ext>
    </p:extLst>
  </p:cSld>
  <p:clrMapOvr>
    <a:masterClrMapping/>
  </p:clrMapOvr>
</p:sld>
</file>

<file path=ppt/slides/slide20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7322074-36FD-4C75-8FA3-8990548CB177}"/>
              </a:ext>
            </a:extLst>
          </p:cNvPr>
          <p:cNvSpPr>
            <a:spLocks noGrp="1"/>
          </p:cNvSpPr>
          <p:nvPr>
            <p:ph type="title"/>
          </p:nvPr>
        </p:nvSpPr>
        <p:spPr/>
        <p:txBody>
          <a:bodyPr/>
          <a:lstStyle/>
          <a:p>
            <a:r>
              <a:rPr lang="en-GB" dirty="0"/>
              <a:t>Learning Intentions</a:t>
            </a:r>
          </a:p>
        </p:txBody>
      </p:sp>
      <p:sp>
        <p:nvSpPr>
          <p:cNvPr id="3" name="Content Placeholder 2">
            <a:extLst>
              <a:ext uri="{FF2B5EF4-FFF2-40B4-BE49-F238E27FC236}">
                <a16:creationId xmlns:a16="http://schemas.microsoft.com/office/drawing/2014/main" id="{8F001589-01A8-453F-8E86-A87C58675ED2}"/>
              </a:ext>
            </a:extLst>
          </p:cNvPr>
          <p:cNvSpPr>
            <a:spLocks noGrp="1"/>
          </p:cNvSpPr>
          <p:nvPr>
            <p:ph idx="1"/>
          </p:nvPr>
        </p:nvSpPr>
        <p:spPr/>
        <p:txBody>
          <a:bodyPr>
            <a:normAutofit/>
          </a:bodyPr>
          <a:lstStyle/>
          <a:p>
            <a:r>
              <a:rPr lang="en-GB" sz="3200" dirty="0"/>
              <a:t>Describe and exemplify a data dictionary:</a:t>
            </a:r>
          </a:p>
          <a:p>
            <a:pPr lvl="1"/>
            <a:r>
              <a:rPr lang="en-GB" sz="3200" dirty="0"/>
              <a:t>entity name</a:t>
            </a:r>
          </a:p>
          <a:p>
            <a:pPr lvl="1"/>
            <a:r>
              <a:rPr lang="en-GB" sz="3200" dirty="0"/>
              <a:t>attribute name</a:t>
            </a:r>
          </a:p>
          <a:p>
            <a:pPr lvl="1"/>
            <a:r>
              <a:rPr lang="en-GB" sz="3200" dirty="0"/>
              <a:t>primary and foreign key</a:t>
            </a:r>
          </a:p>
          <a:p>
            <a:pPr lvl="1"/>
            <a:r>
              <a:rPr lang="en-GB" sz="3200" dirty="0"/>
              <a:t>attribute type</a:t>
            </a:r>
          </a:p>
          <a:p>
            <a:pPr lvl="1"/>
            <a:r>
              <a:rPr lang="en-GB" sz="3200" dirty="0"/>
              <a:t>attribute size</a:t>
            </a:r>
          </a:p>
          <a:p>
            <a:pPr lvl="1"/>
            <a:r>
              <a:rPr lang="en-GB" sz="3200" dirty="0"/>
              <a:t>validation</a:t>
            </a:r>
          </a:p>
          <a:p>
            <a:endParaRPr lang="en-GB" dirty="0"/>
          </a:p>
        </p:txBody>
      </p:sp>
    </p:spTree>
    <p:extLst>
      <p:ext uri="{BB962C8B-B14F-4D97-AF65-F5344CB8AC3E}">
        <p14:creationId xmlns:p14="http://schemas.microsoft.com/office/powerpoint/2010/main" val="1044966576"/>
      </p:ext>
    </p:extLst>
  </p:cSld>
  <p:clrMapOvr>
    <a:masterClrMapping/>
  </p:clrMapOvr>
</p:sld>
</file>

<file path=ppt/slides/slide20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Data Dictionary (1)</a:t>
            </a:r>
          </a:p>
        </p:txBody>
      </p:sp>
      <p:graphicFrame>
        <p:nvGraphicFramePr>
          <p:cNvPr id="5" name="Table 5">
            <a:extLst>
              <a:ext uri="{FF2B5EF4-FFF2-40B4-BE49-F238E27FC236}">
                <a16:creationId xmlns:a16="http://schemas.microsoft.com/office/drawing/2014/main" id="{38A8414E-6490-4AD8-90BD-DF0216F61C69}"/>
              </a:ext>
            </a:extLst>
          </p:cNvPr>
          <p:cNvGraphicFramePr>
            <a:graphicFrameLocks noGrp="1"/>
          </p:cNvGraphicFramePr>
          <p:nvPr>
            <p:ph idx="1"/>
            <p:extLst>
              <p:ext uri="{D42A27DB-BD31-4B8C-83A1-F6EECF244321}">
                <p14:modId xmlns:p14="http://schemas.microsoft.com/office/powerpoint/2010/main" val="442858961"/>
              </p:ext>
            </p:extLst>
          </p:nvPr>
        </p:nvGraphicFramePr>
        <p:xfrm>
          <a:off x="838200" y="1825625"/>
          <a:ext cx="10337800" cy="3962400"/>
        </p:xfrm>
        <a:graphic>
          <a:graphicData uri="http://schemas.openxmlformats.org/drawingml/2006/table">
            <a:tbl>
              <a:tblPr firstRow="1" bandRow="1">
                <a:tableStyleId>{5C22544A-7EE6-4342-B048-85BDC9FD1C3A}</a:tableStyleId>
              </a:tblPr>
              <a:tblGrid>
                <a:gridCol w="2056986">
                  <a:extLst>
                    <a:ext uri="{9D8B030D-6E8A-4147-A177-3AD203B41FA5}">
                      <a16:colId xmlns:a16="http://schemas.microsoft.com/office/drawing/2014/main" val="1632358923"/>
                    </a:ext>
                  </a:extLst>
                </a:gridCol>
                <a:gridCol w="829807">
                  <a:extLst>
                    <a:ext uri="{9D8B030D-6E8A-4147-A177-3AD203B41FA5}">
                      <a16:colId xmlns:a16="http://schemas.microsoft.com/office/drawing/2014/main" val="3505833113"/>
                    </a:ext>
                  </a:extLst>
                </a:gridCol>
                <a:gridCol w="1586230">
                  <a:extLst>
                    <a:ext uri="{9D8B030D-6E8A-4147-A177-3AD203B41FA5}">
                      <a16:colId xmlns:a16="http://schemas.microsoft.com/office/drawing/2014/main" val="2732100902"/>
                    </a:ext>
                  </a:extLst>
                </a:gridCol>
                <a:gridCol w="926211">
                  <a:extLst>
                    <a:ext uri="{9D8B030D-6E8A-4147-A177-3AD203B41FA5}">
                      <a16:colId xmlns:a16="http://schemas.microsoft.com/office/drawing/2014/main" val="315362434"/>
                    </a:ext>
                  </a:extLst>
                </a:gridCol>
                <a:gridCol w="1297304">
                  <a:extLst>
                    <a:ext uri="{9D8B030D-6E8A-4147-A177-3AD203B41FA5}">
                      <a16:colId xmlns:a16="http://schemas.microsoft.com/office/drawing/2014/main" val="2971574360"/>
                    </a:ext>
                  </a:extLst>
                </a:gridCol>
                <a:gridCol w="3641262">
                  <a:extLst>
                    <a:ext uri="{9D8B030D-6E8A-4147-A177-3AD203B41FA5}">
                      <a16:colId xmlns:a16="http://schemas.microsoft.com/office/drawing/2014/main" val="2515431282"/>
                    </a:ext>
                  </a:extLst>
                </a:gridCol>
              </a:tblGrid>
              <a:tr h="370840">
                <a:tc>
                  <a:txBody>
                    <a:bodyPr/>
                    <a:lstStyle/>
                    <a:p>
                      <a:pPr algn="ctr"/>
                      <a:r>
                        <a:rPr lang="en-GB" sz="3200" dirty="0"/>
                        <a:t>Attribute</a:t>
                      </a:r>
                    </a:p>
                  </a:txBody>
                  <a:tcPr/>
                </a:tc>
                <a:tc>
                  <a:txBody>
                    <a:bodyPr/>
                    <a:lstStyle/>
                    <a:p>
                      <a:pPr algn="ctr"/>
                      <a:r>
                        <a:rPr lang="en-GB" sz="3200" dirty="0"/>
                        <a:t>Key</a:t>
                      </a:r>
                    </a:p>
                  </a:txBody>
                  <a:tcPr/>
                </a:tc>
                <a:tc>
                  <a:txBody>
                    <a:bodyPr/>
                    <a:lstStyle/>
                    <a:p>
                      <a:pPr algn="ctr"/>
                      <a:r>
                        <a:rPr lang="en-GB" sz="3200" dirty="0"/>
                        <a:t>Type</a:t>
                      </a:r>
                    </a:p>
                  </a:txBody>
                  <a:tcPr/>
                </a:tc>
                <a:tc>
                  <a:txBody>
                    <a:bodyPr/>
                    <a:lstStyle/>
                    <a:p>
                      <a:pPr algn="ctr"/>
                      <a:r>
                        <a:rPr lang="en-GB" sz="3200" dirty="0"/>
                        <a:t>Size</a:t>
                      </a:r>
                    </a:p>
                  </a:txBody>
                  <a:tcPr/>
                </a:tc>
                <a:tc>
                  <a:txBody>
                    <a:bodyPr/>
                    <a:lstStyle/>
                    <a:p>
                      <a:pPr algn="ctr"/>
                      <a:r>
                        <a:rPr lang="en-GB" sz="3200" dirty="0" err="1"/>
                        <a:t>Req'd</a:t>
                      </a:r>
                      <a:endParaRPr lang="en-GB" sz="3200" dirty="0"/>
                    </a:p>
                  </a:txBody>
                  <a:tcPr/>
                </a:tc>
                <a:tc>
                  <a:txBody>
                    <a:bodyPr/>
                    <a:lstStyle/>
                    <a:p>
                      <a:pPr algn="ctr"/>
                      <a:r>
                        <a:rPr lang="en-GB" sz="3200" dirty="0"/>
                        <a:t>Validation</a:t>
                      </a:r>
                    </a:p>
                  </a:txBody>
                  <a:tcPr/>
                </a:tc>
                <a:extLst>
                  <a:ext uri="{0D108BD9-81ED-4DB2-BD59-A6C34878D82A}">
                    <a16:rowId xmlns:a16="http://schemas.microsoft.com/office/drawing/2014/main" val="3459615676"/>
                  </a:ext>
                </a:extLst>
              </a:tr>
              <a:tr h="370840">
                <a:tc>
                  <a:txBody>
                    <a:bodyPr/>
                    <a:lstStyle/>
                    <a:p>
                      <a:r>
                        <a:rPr lang="en-GB" sz="3200" dirty="0" err="1"/>
                        <a:t>pupilID</a:t>
                      </a:r>
                      <a:endParaRPr lang="en-GB" sz="3200" dirty="0"/>
                    </a:p>
                  </a:txBody>
                  <a:tcPr/>
                </a:tc>
                <a:tc>
                  <a:txBody>
                    <a:bodyPr/>
                    <a:lstStyle/>
                    <a:p>
                      <a:pPr algn="ctr"/>
                      <a:r>
                        <a:rPr lang="en-GB" sz="3200" dirty="0"/>
                        <a:t>PK</a:t>
                      </a:r>
                    </a:p>
                  </a:txBody>
                  <a:tcPr/>
                </a:tc>
                <a:tc>
                  <a:txBody>
                    <a:bodyPr/>
                    <a:lstStyle/>
                    <a:p>
                      <a:r>
                        <a:rPr lang="en-GB" sz="3200" dirty="0"/>
                        <a:t>number</a:t>
                      </a:r>
                    </a:p>
                  </a:txBody>
                  <a:tcPr/>
                </a:tc>
                <a:tc>
                  <a:txBody>
                    <a:bodyPr/>
                    <a:lstStyle/>
                    <a:p>
                      <a:pPr algn="ctr"/>
                      <a:endParaRPr lang="en-GB" sz="3200" dirty="0"/>
                    </a:p>
                  </a:txBody>
                  <a:tcPr/>
                </a:tc>
                <a:tc>
                  <a:txBody>
                    <a:bodyPr/>
                    <a:lstStyle/>
                    <a:p>
                      <a:pPr algn="ctr"/>
                      <a:r>
                        <a:rPr lang="en-GB" sz="3200" dirty="0"/>
                        <a:t>Y</a:t>
                      </a:r>
                    </a:p>
                  </a:txBody>
                  <a:tcPr/>
                </a:tc>
                <a:tc>
                  <a:txBody>
                    <a:bodyPr/>
                    <a:lstStyle/>
                    <a:p>
                      <a:endParaRPr lang="en-GB" sz="3200" dirty="0"/>
                    </a:p>
                  </a:txBody>
                  <a:tcPr/>
                </a:tc>
                <a:extLst>
                  <a:ext uri="{0D108BD9-81ED-4DB2-BD59-A6C34878D82A}">
                    <a16:rowId xmlns:a16="http://schemas.microsoft.com/office/drawing/2014/main" val="1127765656"/>
                  </a:ext>
                </a:extLst>
              </a:tr>
              <a:tr h="370840">
                <a:tc>
                  <a:txBody>
                    <a:bodyPr/>
                    <a:lstStyle/>
                    <a:p>
                      <a:r>
                        <a:rPr lang="en-GB" sz="3200" dirty="0" err="1"/>
                        <a:t>schoolID</a:t>
                      </a:r>
                      <a:endParaRPr lang="en-GB" sz="3200" dirty="0"/>
                    </a:p>
                  </a:txBody>
                  <a:tcPr/>
                </a:tc>
                <a:tc>
                  <a:txBody>
                    <a:bodyPr/>
                    <a:lstStyle/>
                    <a:p>
                      <a:pPr algn="ctr"/>
                      <a:r>
                        <a:rPr lang="en-GB" sz="3200" dirty="0"/>
                        <a:t>FK</a:t>
                      </a:r>
                    </a:p>
                  </a:txBody>
                  <a:tcPr/>
                </a:tc>
                <a:tc>
                  <a:txBody>
                    <a:bodyPr/>
                    <a:lstStyle/>
                    <a:p>
                      <a:r>
                        <a:rPr lang="en-GB" sz="3200" dirty="0"/>
                        <a:t>number</a:t>
                      </a:r>
                    </a:p>
                  </a:txBody>
                  <a:tcPr/>
                </a:tc>
                <a:tc>
                  <a:txBody>
                    <a:bodyPr/>
                    <a:lstStyle/>
                    <a:p>
                      <a:pPr algn="ctr"/>
                      <a:endParaRPr lang="en-GB" sz="3200" dirty="0"/>
                    </a:p>
                  </a:txBody>
                  <a:tcPr/>
                </a:tc>
                <a:tc>
                  <a:txBody>
                    <a:bodyPr/>
                    <a:lstStyle/>
                    <a:p>
                      <a:pPr algn="ctr"/>
                      <a:r>
                        <a:rPr lang="en-GB" sz="3200" dirty="0"/>
                        <a:t>Y</a:t>
                      </a:r>
                    </a:p>
                  </a:txBody>
                  <a:tcPr/>
                </a:tc>
                <a:tc>
                  <a:txBody>
                    <a:bodyPr/>
                    <a:lstStyle/>
                    <a:p>
                      <a:endParaRPr lang="en-GB" sz="3200" dirty="0"/>
                    </a:p>
                    <a:p>
                      <a:endParaRPr lang="en-GB" sz="3200" dirty="0"/>
                    </a:p>
                  </a:txBody>
                  <a:tcPr/>
                </a:tc>
                <a:extLst>
                  <a:ext uri="{0D108BD9-81ED-4DB2-BD59-A6C34878D82A}">
                    <a16:rowId xmlns:a16="http://schemas.microsoft.com/office/drawing/2014/main" val="2924661129"/>
                  </a:ext>
                </a:extLst>
              </a:tr>
              <a:tr h="370840">
                <a:tc>
                  <a:txBody>
                    <a:bodyPr/>
                    <a:lstStyle/>
                    <a:p>
                      <a:r>
                        <a:rPr lang="en-GB" sz="3200" dirty="0"/>
                        <a:t>name</a:t>
                      </a:r>
                    </a:p>
                  </a:txBody>
                  <a:tcPr/>
                </a:tc>
                <a:tc>
                  <a:txBody>
                    <a:bodyPr/>
                    <a:lstStyle/>
                    <a:p>
                      <a:pPr algn="ctr"/>
                      <a:endParaRPr lang="en-GB" sz="3200" dirty="0"/>
                    </a:p>
                  </a:txBody>
                  <a:tcPr/>
                </a:tc>
                <a:tc>
                  <a:txBody>
                    <a:bodyPr/>
                    <a:lstStyle/>
                    <a:p>
                      <a:r>
                        <a:rPr lang="en-GB" sz="3200" dirty="0"/>
                        <a:t>text</a:t>
                      </a:r>
                    </a:p>
                  </a:txBody>
                  <a:tcPr/>
                </a:tc>
                <a:tc>
                  <a:txBody>
                    <a:bodyPr/>
                    <a:lstStyle/>
                    <a:p>
                      <a:pPr algn="ctr"/>
                      <a:r>
                        <a:rPr lang="en-GB" sz="3200" dirty="0"/>
                        <a:t>30</a:t>
                      </a:r>
                    </a:p>
                  </a:txBody>
                  <a:tcPr/>
                </a:tc>
                <a:tc>
                  <a:txBody>
                    <a:bodyPr/>
                    <a:lstStyle/>
                    <a:p>
                      <a:pPr algn="ctr"/>
                      <a:r>
                        <a:rPr lang="en-GB" sz="3200" dirty="0"/>
                        <a:t>Y</a:t>
                      </a:r>
                    </a:p>
                  </a:txBody>
                  <a:tcPr/>
                </a:tc>
                <a:tc>
                  <a:txBody>
                    <a:bodyPr/>
                    <a:lstStyle/>
                    <a:p>
                      <a:endParaRPr lang="en-GB" sz="3200" dirty="0"/>
                    </a:p>
                  </a:txBody>
                  <a:tcPr/>
                </a:tc>
                <a:extLst>
                  <a:ext uri="{0D108BD9-81ED-4DB2-BD59-A6C34878D82A}">
                    <a16:rowId xmlns:a16="http://schemas.microsoft.com/office/drawing/2014/main" val="3885493841"/>
                  </a:ext>
                </a:extLst>
              </a:tr>
              <a:tr h="370840">
                <a:tc>
                  <a:txBody>
                    <a:bodyPr/>
                    <a:lstStyle/>
                    <a:p>
                      <a:r>
                        <a:rPr lang="en-GB" sz="3200" dirty="0"/>
                        <a:t>dob</a:t>
                      </a:r>
                    </a:p>
                  </a:txBody>
                  <a:tcPr/>
                </a:tc>
                <a:tc>
                  <a:txBody>
                    <a:bodyPr/>
                    <a:lstStyle/>
                    <a:p>
                      <a:pPr algn="ctr"/>
                      <a:endParaRPr lang="en-GB" sz="3200" dirty="0"/>
                    </a:p>
                  </a:txBody>
                  <a:tcPr/>
                </a:tc>
                <a:tc>
                  <a:txBody>
                    <a:bodyPr/>
                    <a:lstStyle/>
                    <a:p>
                      <a:r>
                        <a:rPr lang="en-GB" sz="3200" dirty="0"/>
                        <a:t>date</a:t>
                      </a:r>
                    </a:p>
                  </a:txBody>
                  <a:tcPr/>
                </a:tc>
                <a:tc>
                  <a:txBody>
                    <a:bodyPr/>
                    <a:lstStyle/>
                    <a:p>
                      <a:pPr algn="ctr"/>
                      <a:endParaRPr lang="en-GB" sz="3200" dirty="0"/>
                    </a:p>
                  </a:txBody>
                  <a:tcPr/>
                </a:tc>
                <a:tc>
                  <a:txBody>
                    <a:bodyPr/>
                    <a:lstStyle/>
                    <a:p>
                      <a:pPr algn="ctr"/>
                      <a:r>
                        <a:rPr lang="en-GB" sz="3200" dirty="0"/>
                        <a:t>Y</a:t>
                      </a:r>
                    </a:p>
                  </a:txBody>
                  <a:tcPr/>
                </a:tc>
                <a:tc>
                  <a:txBody>
                    <a:bodyPr/>
                    <a:lstStyle/>
                    <a:p>
                      <a:endParaRPr lang="en-GB" sz="3200" dirty="0"/>
                    </a:p>
                  </a:txBody>
                  <a:tcPr/>
                </a:tc>
                <a:extLst>
                  <a:ext uri="{0D108BD9-81ED-4DB2-BD59-A6C34878D82A}">
                    <a16:rowId xmlns:a16="http://schemas.microsoft.com/office/drawing/2014/main" val="1487565366"/>
                  </a:ext>
                </a:extLst>
              </a:tr>
              <a:tr h="370840">
                <a:tc>
                  <a:txBody>
                    <a:bodyPr/>
                    <a:lstStyle/>
                    <a:p>
                      <a:r>
                        <a:rPr lang="en-GB" sz="3200" dirty="0"/>
                        <a:t>transport</a:t>
                      </a:r>
                    </a:p>
                  </a:txBody>
                  <a:tcPr/>
                </a:tc>
                <a:tc>
                  <a:txBody>
                    <a:bodyPr/>
                    <a:lstStyle/>
                    <a:p>
                      <a:pPr algn="ctr"/>
                      <a:endParaRPr lang="en-GB" sz="3200" dirty="0"/>
                    </a:p>
                  </a:txBody>
                  <a:tcPr/>
                </a:tc>
                <a:tc>
                  <a:txBody>
                    <a:bodyPr/>
                    <a:lstStyle/>
                    <a:p>
                      <a:r>
                        <a:rPr lang="en-GB" sz="3200" dirty="0" err="1"/>
                        <a:t>boolean</a:t>
                      </a:r>
                      <a:endParaRPr lang="en-GB" sz="3200" dirty="0"/>
                    </a:p>
                  </a:txBody>
                  <a:tcPr/>
                </a:tc>
                <a:tc>
                  <a:txBody>
                    <a:bodyPr/>
                    <a:lstStyle/>
                    <a:p>
                      <a:pPr algn="ctr"/>
                      <a:endParaRPr lang="en-GB" sz="3200" dirty="0"/>
                    </a:p>
                  </a:txBody>
                  <a:tcPr/>
                </a:tc>
                <a:tc>
                  <a:txBody>
                    <a:bodyPr/>
                    <a:lstStyle/>
                    <a:p>
                      <a:pPr algn="ctr"/>
                      <a:r>
                        <a:rPr lang="en-GB" sz="3200" dirty="0"/>
                        <a:t>Y</a:t>
                      </a:r>
                    </a:p>
                  </a:txBody>
                  <a:tcPr/>
                </a:tc>
                <a:tc>
                  <a:txBody>
                    <a:bodyPr/>
                    <a:lstStyle/>
                    <a:p>
                      <a:endParaRPr lang="en-GB" sz="3200" dirty="0"/>
                    </a:p>
                  </a:txBody>
                  <a:tcPr/>
                </a:tc>
                <a:extLst>
                  <a:ext uri="{0D108BD9-81ED-4DB2-BD59-A6C34878D82A}">
                    <a16:rowId xmlns:a16="http://schemas.microsoft.com/office/drawing/2014/main" val="3947728551"/>
                  </a:ext>
                </a:extLst>
              </a:tr>
            </a:tbl>
          </a:graphicData>
        </a:graphic>
      </p:graphicFrame>
      <p:sp>
        <p:nvSpPr>
          <p:cNvPr id="7" name="TextBox 6">
            <a:extLst>
              <a:ext uri="{FF2B5EF4-FFF2-40B4-BE49-F238E27FC236}">
                <a16:creationId xmlns:a16="http://schemas.microsoft.com/office/drawing/2014/main" id="{A1BFC853-8304-4B36-ABE6-4EFE5EDE6F3D}"/>
              </a:ext>
            </a:extLst>
          </p:cNvPr>
          <p:cNvSpPr txBox="1"/>
          <p:nvPr/>
        </p:nvSpPr>
        <p:spPr>
          <a:xfrm>
            <a:off x="3110970" y="5840648"/>
            <a:ext cx="5970059" cy="646331"/>
          </a:xfrm>
          <a:prstGeom prst="rect">
            <a:avLst/>
          </a:prstGeom>
          <a:noFill/>
        </p:spPr>
        <p:txBody>
          <a:bodyPr wrap="square" rtlCol="0" anchor="ctr" anchorCtr="0">
            <a:spAutoFit/>
          </a:bodyPr>
          <a:lstStyle/>
          <a:p>
            <a:pPr algn="ctr"/>
            <a:r>
              <a:rPr lang="en-GB" sz="3600" dirty="0">
                <a:solidFill>
                  <a:srgbClr val="7030A0"/>
                </a:solidFill>
              </a:rPr>
              <a:t>Only text attributes have a size</a:t>
            </a:r>
          </a:p>
        </p:txBody>
      </p:sp>
      <p:sp>
        <p:nvSpPr>
          <p:cNvPr id="8" name="Rectangle: Rounded Corners 7">
            <a:extLst>
              <a:ext uri="{FF2B5EF4-FFF2-40B4-BE49-F238E27FC236}">
                <a16:creationId xmlns:a16="http://schemas.microsoft.com/office/drawing/2014/main" id="{831F97E7-1E0F-4C0A-B09F-844929766824}"/>
              </a:ext>
            </a:extLst>
          </p:cNvPr>
          <p:cNvSpPr/>
          <p:nvPr/>
        </p:nvSpPr>
        <p:spPr>
          <a:xfrm>
            <a:off x="5486855" y="4061141"/>
            <a:ext cx="576000" cy="576000"/>
          </a:xfrm>
          <a:prstGeom prst="roundRect">
            <a:avLst/>
          </a:prstGeom>
          <a:noFill/>
          <a:ln w="571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Tree>
    <p:extLst>
      <p:ext uri="{BB962C8B-B14F-4D97-AF65-F5344CB8AC3E}">
        <p14:creationId xmlns:p14="http://schemas.microsoft.com/office/powerpoint/2010/main" val="39393449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1000"/>
                                        <p:tgtEl>
                                          <p:spTgt spid="5"/>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8"/>
                                        </p:tgtEl>
                                        <p:attrNameLst>
                                          <p:attrName>style.visibility</p:attrName>
                                        </p:attrNameLst>
                                      </p:cBhvr>
                                      <p:to>
                                        <p:strVal val="visible"/>
                                      </p:to>
                                    </p:set>
                                    <p:animEffect transition="in" filter="fade">
                                      <p:cBhvr>
                                        <p:cTn id="12" dur="1000"/>
                                        <p:tgtEl>
                                          <p:spTgt spid="8"/>
                                        </p:tgtEl>
                                      </p:cBhvr>
                                    </p:animEffect>
                                  </p:childTnLst>
                                </p:cTn>
                              </p:par>
                              <p:par>
                                <p:cTn id="13" presetID="22" presetClass="entr" presetSubtype="8" fill="hold" grpId="0" nodeType="withEffect">
                                  <p:stCondLst>
                                    <p:cond delay="0"/>
                                  </p:stCondLst>
                                  <p:childTnLst>
                                    <p:set>
                                      <p:cBhvr>
                                        <p:cTn id="14" dur="1" fill="hold">
                                          <p:stCondLst>
                                            <p:cond delay="0"/>
                                          </p:stCondLst>
                                        </p:cTn>
                                        <p:tgtEl>
                                          <p:spTgt spid="7">
                                            <p:txEl>
                                              <p:pRg st="0" end="0"/>
                                            </p:txEl>
                                          </p:spTgt>
                                        </p:tgtEl>
                                        <p:attrNameLst>
                                          <p:attrName>style.visibility</p:attrName>
                                        </p:attrNameLst>
                                      </p:cBhvr>
                                      <p:to>
                                        <p:strVal val="visible"/>
                                      </p:to>
                                    </p:set>
                                    <p:animEffect transition="in" filter="wipe(left)">
                                      <p:cBhvr>
                                        <p:cTn id="15" dur="2000"/>
                                        <p:tgtEl>
                                          <p:spTgt spid="7">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uiExpand="1" build="p"/>
      <p:bldP spid="8" grpId="0" animBg="1"/>
    </p:bldLst>
  </p:timing>
</p:sld>
</file>

<file path=ppt/slides/slide207.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Data Dictionary (1)</a:t>
            </a:r>
          </a:p>
        </p:txBody>
      </p:sp>
      <p:graphicFrame>
        <p:nvGraphicFramePr>
          <p:cNvPr id="5" name="Table 5">
            <a:extLst>
              <a:ext uri="{FF2B5EF4-FFF2-40B4-BE49-F238E27FC236}">
                <a16:creationId xmlns:a16="http://schemas.microsoft.com/office/drawing/2014/main" id="{38A8414E-6490-4AD8-90BD-DF0216F61C69}"/>
              </a:ext>
            </a:extLst>
          </p:cNvPr>
          <p:cNvGraphicFramePr>
            <a:graphicFrameLocks noGrp="1"/>
          </p:cNvGraphicFramePr>
          <p:nvPr>
            <p:ph idx="1"/>
            <p:extLst>
              <p:ext uri="{D42A27DB-BD31-4B8C-83A1-F6EECF244321}">
                <p14:modId xmlns:p14="http://schemas.microsoft.com/office/powerpoint/2010/main" val="3672618590"/>
              </p:ext>
            </p:extLst>
          </p:nvPr>
        </p:nvGraphicFramePr>
        <p:xfrm>
          <a:off x="838200" y="1825625"/>
          <a:ext cx="10369062" cy="3962400"/>
        </p:xfrm>
        <a:graphic>
          <a:graphicData uri="http://schemas.openxmlformats.org/drawingml/2006/table">
            <a:tbl>
              <a:tblPr firstRow="1" bandRow="1">
                <a:tableStyleId>{5C22544A-7EE6-4342-B048-85BDC9FD1C3A}</a:tableStyleId>
              </a:tblPr>
              <a:tblGrid>
                <a:gridCol w="2056986">
                  <a:extLst>
                    <a:ext uri="{9D8B030D-6E8A-4147-A177-3AD203B41FA5}">
                      <a16:colId xmlns:a16="http://schemas.microsoft.com/office/drawing/2014/main" val="1632358923"/>
                    </a:ext>
                  </a:extLst>
                </a:gridCol>
                <a:gridCol w="829807">
                  <a:extLst>
                    <a:ext uri="{9D8B030D-6E8A-4147-A177-3AD203B41FA5}">
                      <a16:colId xmlns:a16="http://schemas.microsoft.com/office/drawing/2014/main" val="3505833113"/>
                    </a:ext>
                  </a:extLst>
                </a:gridCol>
                <a:gridCol w="1586230">
                  <a:extLst>
                    <a:ext uri="{9D8B030D-6E8A-4147-A177-3AD203B41FA5}">
                      <a16:colId xmlns:a16="http://schemas.microsoft.com/office/drawing/2014/main" val="2732100902"/>
                    </a:ext>
                  </a:extLst>
                </a:gridCol>
                <a:gridCol w="926211">
                  <a:extLst>
                    <a:ext uri="{9D8B030D-6E8A-4147-A177-3AD203B41FA5}">
                      <a16:colId xmlns:a16="http://schemas.microsoft.com/office/drawing/2014/main" val="315362434"/>
                    </a:ext>
                  </a:extLst>
                </a:gridCol>
                <a:gridCol w="1297304">
                  <a:extLst>
                    <a:ext uri="{9D8B030D-6E8A-4147-A177-3AD203B41FA5}">
                      <a16:colId xmlns:a16="http://schemas.microsoft.com/office/drawing/2014/main" val="2971574360"/>
                    </a:ext>
                  </a:extLst>
                </a:gridCol>
                <a:gridCol w="3672524">
                  <a:extLst>
                    <a:ext uri="{9D8B030D-6E8A-4147-A177-3AD203B41FA5}">
                      <a16:colId xmlns:a16="http://schemas.microsoft.com/office/drawing/2014/main" val="2515431282"/>
                    </a:ext>
                  </a:extLst>
                </a:gridCol>
              </a:tblGrid>
              <a:tr h="370840">
                <a:tc>
                  <a:txBody>
                    <a:bodyPr/>
                    <a:lstStyle/>
                    <a:p>
                      <a:pPr algn="ctr"/>
                      <a:r>
                        <a:rPr lang="en-GB" sz="3200" dirty="0"/>
                        <a:t>Attribute</a:t>
                      </a:r>
                    </a:p>
                  </a:txBody>
                  <a:tcPr/>
                </a:tc>
                <a:tc>
                  <a:txBody>
                    <a:bodyPr/>
                    <a:lstStyle/>
                    <a:p>
                      <a:pPr algn="ctr"/>
                      <a:r>
                        <a:rPr lang="en-GB" sz="3200" dirty="0"/>
                        <a:t>Key</a:t>
                      </a:r>
                    </a:p>
                  </a:txBody>
                  <a:tcPr/>
                </a:tc>
                <a:tc>
                  <a:txBody>
                    <a:bodyPr/>
                    <a:lstStyle/>
                    <a:p>
                      <a:pPr algn="ctr"/>
                      <a:r>
                        <a:rPr lang="en-GB" sz="3200" dirty="0"/>
                        <a:t>Type</a:t>
                      </a:r>
                    </a:p>
                  </a:txBody>
                  <a:tcPr/>
                </a:tc>
                <a:tc>
                  <a:txBody>
                    <a:bodyPr/>
                    <a:lstStyle/>
                    <a:p>
                      <a:pPr algn="ctr"/>
                      <a:r>
                        <a:rPr lang="en-GB" sz="3200" dirty="0"/>
                        <a:t>Size</a:t>
                      </a:r>
                    </a:p>
                  </a:txBody>
                  <a:tcPr/>
                </a:tc>
                <a:tc>
                  <a:txBody>
                    <a:bodyPr/>
                    <a:lstStyle/>
                    <a:p>
                      <a:pPr algn="ctr"/>
                      <a:r>
                        <a:rPr lang="en-GB" sz="3200" dirty="0" err="1"/>
                        <a:t>Req'd</a:t>
                      </a:r>
                      <a:endParaRPr lang="en-GB" sz="3200" dirty="0"/>
                    </a:p>
                  </a:txBody>
                  <a:tcPr/>
                </a:tc>
                <a:tc>
                  <a:txBody>
                    <a:bodyPr/>
                    <a:lstStyle/>
                    <a:p>
                      <a:pPr algn="ctr"/>
                      <a:r>
                        <a:rPr lang="en-GB" sz="3200" dirty="0"/>
                        <a:t>Validation</a:t>
                      </a:r>
                    </a:p>
                  </a:txBody>
                  <a:tcPr/>
                </a:tc>
                <a:extLst>
                  <a:ext uri="{0D108BD9-81ED-4DB2-BD59-A6C34878D82A}">
                    <a16:rowId xmlns:a16="http://schemas.microsoft.com/office/drawing/2014/main" val="3459615676"/>
                  </a:ext>
                </a:extLst>
              </a:tr>
              <a:tr h="370840">
                <a:tc>
                  <a:txBody>
                    <a:bodyPr/>
                    <a:lstStyle/>
                    <a:p>
                      <a:r>
                        <a:rPr lang="en-GB" sz="3200" dirty="0" err="1"/>
                        <a:t>pupilID</a:t>
                      </a:r>
                      <a:endParaRPr lang="en-GB" sz="3200" dirty="0"/>
                    </a:p>
                  </a:txBody>
                  <a:tcPr/>
                </a:tc>
                <a:tc>
                  <a:txBody>
                    <a:bodyPr/>
                    <a:lstStyle/>
                    <a:p>
                      <a:pPr algn="ctr"/>
                      <a:r>
                        <a:rPr lang="en-GB" sz="3200" dirty="0"/>
                        <a:t>PK</a:t>
                      </a:r>
                    </a:p>
                  </a:txBody>
                  <a:tcPr/>
                </a:tc>
                <a:tc>
                  <a:txBody>
                    <a:bodyPr/>
                    <a:lstStyle/>
                    <a:p>
                      <a:r>
                        <a:rPr lang="en-GB" sz="3200" dirty="0"/>
                        <a:t>number</a:t>
                      </a:r>
                    </a:p>
                  </a:txBody>
                  <a:tcPr/>
                </a:tc>
                <a:tc>
                  <a:txBody>
                    <a:bodyPr/>
                    <a:lstStyle/>
                    <a:p>
                      <a:pPr algn="ctr"/>
                      <a:endParaRPr lang="en-GB" sz="3200" dirty="0"/>
                    </a:p>
                  </a:txBody>
                  <a:tcPr/>
                </a:tc>
                <a:tc>
                  <a:txBody>
                    <a:bodyPr/>
                    <a:lstStyle/>
                    <a:p>
                      <a:pPr algn="ctr"/>
                      <a:r>
                        <a:rPr lang="en-GB" sz="3200" dirty="0"/>
                        <a:t>Y</a:t>
                      </a:r>
                    </a:p>
                  </a:txBody>
                  <a:tcPr/>
                </a:tc>
                <a:tc>
                  <a:txBody>
                    <a:bodyPr/>
                    <a:lstStyle/>
                    <a:p>
                      <a:endParaRPr lang="en-GB" sz="3200" dirty="0"/>
                    </a:p>
                  </a:txBody>
                  <a:tcPr/>
                </a:tc>
                <a:extLst>
                  <a:ext uri="{0D108BD9-81ED-4DB2-BD59-A6C34878D82A}">
                    <a16:rowId xmlns:a16="http://schemas.microsoft.com/office/drawing/2014/main" val="1127765656"/>
                  </a:ext>
                </a:extLst>
              </a:tr>
              <a:tr h="0">
                <a:tc>
                  <a:txBody>
                    <a:bodyPr/>
                    <a:lstStyle/>
                    <a:p>
                      <a:r>
                        <a:rPr lang="en-GB" sz="3200" dirty="0" err="1"/>
                        <a:t>schoolID</a:t>
                      </a:r>
                      <a:endParaRPr lang="en-GB" sz="3200" dirty="0"/>
                    </a:p>
                  </a:txBody>
                  <a:tcPr/>
                </a:tc>
                <a:tc>
                  <a:txBody>
                    <a:bodyPr/>
                    <a:lstStyle/>
                    <a:p>
                      <a:pPr algn="ctr"/>
                      <a:r>
                        <a:rPr lang="en-GB" sz="3200" dirty="0"/>
                        <a:t>FK</a:t>
                      </a:r>
                    </a:p>
                  </a:txBody>
                  <a:tcPr/>
                </a:tc>
                <a:tc>
                  <a:txBody>
                    <a:bodyPr/>
                    <a:lstStyle/>
                    <a:p>
                      <a:r>
                        <a:rPr lang="en-GB" sz="3200" dirty="0"/>
                        <a:t>number</a:t>
                      </a:r>
                    </a:p>
                  </a:txBody>
                  <a:tcPr/>
                </a:tc>
                <a:tc>
                  <a:txBody>
                    <a:bodyPr/>
                    <a:lstStyle/>
                    <a:p>
                      <a:pPr algn="ctr"/>
                      <a:endParaRPr lang="en-GB" sz="3200" dirty="0"/>
                    </a:p>
                  </a:txBody>
                  <a:tcPr/>
                </a:tc>
                <a:tc>
                  <a:txBody>
                    <a:bodyPr/>
                    <a:lstStyle/>
                    <a:p>
                      <a:pPr algn="ctr"/>
                      <a:r>
                        <a:rPr lang="en-GB" sz="3200" dirty="0"/>
                        <a:t>Y</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sz="3200"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en-GB" sz="3200" dirty="0"/>
                    </a:p>
                  </a:txBody>
                  <a:tcPr/>
                </a:tc>
                <a:extLst>
                  <a:ext uri="{0D108BD9-81ED-4DB2-BD59-A6C34878D82A}">
                    <a16:rowId xmlns:a16="http://schemas.microsoft.com/office/drawing/2014/main" val="2924661129"/>
                  </a:ext>
                </a:extLst>
              </a:tr>
              <a:tr h="370840">
                <a:tc>
                  <a:txBody>
                    <a:bodyPr/>
                    <a:lstStyle/>
                    <a:p>
                      <a:r>
                        <a:rPr lang="en-GB" sz="3200" dirty="0"/>
                        <a:t>name</a:t>
                      </a:r>
                    </a:p>
                  </a:txBody>
                  <a:tcPr/>
                </a:tc>
                <a:tc>
                  <a:txBody>
                    <a:bodyPr/>
                    <a:lstStyle/>
                    <a:p>
                      <a:pPr algn="ctr"/>
                      <a:endParaRPr lang="en-GB" sz="3200" dirty="0"/>
                    </a:p>
                  </a:txBody>
                  <a:tcPr/>
                </a:tc>
                <a:tc>
                  <a:txBody>
                    <a:bodyPr/>
                    <a:lstStyle/>
                    <a:p>
                      <a:r>
                        <a:rPr lang="en-GB" sz="3200" dirty="0"/>
                        <a:t>text</a:t>
                      </a:r>
                    </a:p>
                  </a:txBody>
                  <a:tcPr/>
                </a:tc>
                <a:tc>
                  <a:txBody>
                    <a:bodyPr/>
                    <a:lstStyle/>
                    <a:p>
                      <a:pPr algn="ctr"/>
                      <a:endParaRPr lang="en-GB" sz="3200" dirty="0"/>
                    </a:p>
                  </a:txBody>
                  <a:tcPr/>
                </a:tc>
                <a:tc>
                  <a:txBody>
                    <a:bodyPr/>
                    <a:lstStyle/>
                    <a:p>
                      <a:pPr algn="ctr"/>
                      <a:r>
                        <a:rPr lang="en-GB" sz="3200" dirty="0"/>
                        <a:t>Y</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sz="3200" dirty="0"/>
                    </a:p>
                  </a:txBody>
                  <a:tcPr/>
                </a:tc>
                <a:extLst>
                  <a:ext uri="{0D108BD9-81ED-4DB2-BD59-A6C34878D82A}">
                    <a16:rowId xmlns:a16="http://schemas.microsoft.com/office/drawing/2014/main" val="3885493841"/>
                  </a:ext>
                </a:extLst>
              </a:tr>
              <a:tr h="370840">
                <a:tc>
                  <a:txBody>
                    <a:bodyPr/>
                    <a:lstStyle/>
                    <a:p>
                      <a:r>
                        <a:rPr lang="en-GB" sz="3200" dirty="0"/>
                        <a:t>dob</a:t>
                      </a:r>
                    </a:p>
                  </a:txBody>
                  <a:tcPr/>
                </a:tc>
                <a:tc>
                  <a:txBody>
                    <a:bodyPr/>
                    <a:lstStyle/>
                    <a:p>
                      <a:pPr algn="ctr"/>
                      <a:endParaRPr lang="en-GB" sz="3200" dirty="0"/>
                    </a:p>
                  </a:txBody>
                  <a:tcPr/>
                </a:tc>
                <a:tc>
                  <a:txBody>
                    <a:bodyPr/>
                    <a:lstStyle/>
                    <a:p>
                      <a:r>
                        <a:rPr lang="en-GB" sz="3200" dirty="0"/>
                        <a:t>date</a:t>
                      </a:r>
                    </a:p>
                  </a:txBody>
                  <a:tcPr/>
                </a:tc>
                <a:tc>
                  <a:txBody>
                    <a:bodyPr/>
                    <a:lstStyle/>
                    <a:p>
                      <a:pPr algn="ctr"/>
                      <a:endParaRPr lang="en-GB" sz="3200" dirty="0"/>
                    </a:p>
                  </a:txBody>
                  <a:tcPr/>
                </a:tc>
                <a:tc>
                  <a:txBody>
                    <a:bodyPr/>
                    <a:lstStyle/>
                    <a:p>
                      <a:pPr algn="ctr"/>
                      <a:r>
                        <a:rPr lang="en-GB" sz="3200" dirty="0"/>
                        <a:t>Y</a:t>
                      </a:r>
                    </a:p>
                  </a:txBody>
                  <a:tcPr/>
                </a:tc>
                <a:tc>
                  <a:txBody>
                    <a:bodyPr/>
                    <a:lstStyle/>
                    <a:p>
                      <a:endParaRPr lang="en-GB" sz="3200" dirty="0"/>
                    </a:p>
                  </a:txBody>
                  <a:tcPr/>
                </a:tc>
                <a:extLst>
                  <a:ext uri="{0D108BD9-81ED-4DB2-BD59-A6C34878D82A}">
                    <a16:rowId xmlns:a16="http://schemas.microsoft.com/office/drawing/2014/main" val="1487565366"/>
                  </a:ext>
                </a:extLst>
              </a:tr>
              <a:tr h="370840">
                <a:tc>
                  <a:txBody>
                    <a:bodyPr/>
                    <a:lstStyle/>
                    <a:p>
                      <a:r>
                        <a:rPr lang="en-GB" sz="3200" dirty="0"/>
                        <a:t>transport</a:t>
                      </a:r>
                    </a:p>
                  </a:txBody>
                  <a:tcPr/>
                </a:tc>
                <a:tc>
                  <a:txBody>
                    <a:bodyPr/>
                    <a:lstStyle/>
                    <a:p>
                      <a:pPr algn="ctr"/>
                      <a:endParaRPr lang="en-GB" sz="3200" dirty="0"/>
                    </a:p>
                  </a:txBody>
                  <a:tcPr/>
                </a:tc>
                <a:tc>
                  <a:txBody>
                    <a:bodyPr/>
                    <a:lstStyle/>
                    <a:p>
                      <a:r>
                        <a:rPr lang="en-GB" sz="3200" dirty="0" err="1"/>
                        <a:t>boolean</a:t>
                      </a:r>
                      <a:endParaRPr lang="en-GB" sz="3200" dirty="0"/>
                    </a:p>
                  </a:txBody>
                  <a:tcPr/>
                </a:tc>
                <a:tc>
                  <a:txBody>
                    <a:bodyPr/>
                    <a:lstStyle/>
                    <a:p>
                      <a:pPr algn="ctr"/>
                      <a:endParaRPr lang="en-GB" sz="3200" dirty="0"/>
                    </a:p>
                  </a:txBody>
                  <a:tcPr/>
                </a:tc>
                <a:tc>
                  <a:txBody>
                    <a:bodyPr/>
                    <a:lstStyle/>
                    <a:p>
                      <a:pPr algn="ctr"/>
                      <a:r>
                        <a:rPr lang="en-GB" sz="3200" dirty="0"/>
                        <a:t>Y</a:t>
                      </a:r>
                    </a:p>
                  </a:txBody>
                  <a:tcPr/>
                </a:tc>
                <a:tc>
                  <a:txBody>
                    <a:bodyPr/>
                    <a:lstStyle/>
                    <a:p>
                      <a:endParaRPr lang="en-GB" sz="3200" dirty="0"/>
                    </a:p>
                  </a:txBody>
                  <a:tcPr/>
                </a:tc>
                <a:extLst>
                  <a:ext uri="{0D108BD9-81ED-4DB2-BD59-A6C34878D82A}">
                    <a16:rowId xmlns:a16="http://schemas.microsoft.com/office/drawing/2014/main" val="3947728551"/>
                  </a:ext>
                </a:extLst>
              </a:tr>
            </a:tbl>
          </a:graphicData>
        </a:graphic>
      </p:graphicFrame>
    </p:spTree>
    <p:extLst>
      <p:ext uri="{BB962C8B-B14F-4D97-AF65-F5344CB8AC3E}">
        <p14:creationId xmlns:p14="http://schemas.microsoft.com/office/powerpoint/2010/main" val="3834322360"/>
      </p:ext>
    </p:extLst>
  </p:cSld>
  <p:clrMapOvr>
    <a:masterClrMapping/>
  </p:clrMapOvr>
</p:sld>
</file>

<file path=ppt/slides/slide20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0345ED4-D373-45C0-92CE-6E81DFC9E702}"/>
              </a:ext>
            </a:extLst>
          </p:cNvPr>
          <p:cNvSpPr>
            <a:spLocks noGrp="1"/>
          </p:cNvSpPr>
          <p:nvPr>
            <p:ph type="title"/>
          </p:nvPr>
        </p:nvSpPr>
        <p:spPr/>
        <p:txBody>
          <a:bodyPr/>
          <a:lstStyle/>
          <a:p>
            <a:r>
              <a:rPr lang="en-GB" dirty="0"/>
              <a:t>Text Attribute</a:t>
            </a:r>
          </a:p>
        </p:txBody>
      </p:sp>
      <p:sp>
        <p:nvSpPr>
          <p:cNvPr id="3" name="Content Placeholder 2">
            <a:extLst>
              <a:ext uri="{FF2B5EF4-FFF2-40B4-BE49-F238E27FC236}">
                <a16:creationId xmlns:a16="http://schemas.microsoft.com/office/drawing/2014/main" id="{B0C5F901-9EB2-4102-8032-D50AEEE7E924}"/>
              </a:ext>
            </a:extLst>
          </p:cNvPr>
          <p:cNvSpPr>
            <a:spLocks noGrp="1"/>
          </p:cNvSpPr>
          <p:nvPr>
            <p:ph idx="1"/>
          </p:nvPr>
        </p:nvSpPr>
        <p:spPr/>
        <p:txBody>
          <a:bodyPr>
            <a:normAutofit/>
          </a:bodyPr>
          <a:lstStyle/>
          <a:p>
            <a:r>
              <a:rPr lang="en-GB" sz="8800" dirty="0"/>
              <a:t> Text has </a:t>
            </a:r>
            <a:r>
              <a:rPr lang="en-GB" sz="8800" b="1" dirty="0">
                <a:solidFill>
                  <a:srgbClr val="FF0000"/>
                </a:solidFill>
              </a:rPr>
              <a:t>size</a:t>
            </a:r>
            <a:r>
              <a:rPr lang="en-GB" sz="8800" dirty="0"/>
              <a:t>!</a:t>
            </a:r>
          </a:p>
          <a:p>
            <a:pPr marL="0" indent="0">
              <a:buNone/>
            </a:pPr>
            <a:endParaRPr lang="en-GB" sz="4400" dirty="0"/>
          </a:p>
          <a:p>
            <a:r>
              <a:rPr lang="en-GB" sz="8800" dirty="0"/>
              <a:t> </a:t>
            </a:r>
            <a:r>
              <a:rPr lang="en-GB" sz="8800" b="1" dirty="0">
                <a:solidFill>
                  <a:srgbClr val="FF0000"/>
                </a:solidFill>
              </a:rPr>
              <a:t>Only</a:t>
            </a:r>
            <a:r>
              <a:rPr lang="en-GB" sz="8800" dirty="0"/>
              <a:t> text has size!</a:t>
            </a:r>
          </a:p>
        </p:txBody>
      </p:sp>
    </p:spTree>
    <p:extLst>
      <p:ext uri="{BB962C8B-B14F-4D97-AF65-F5344CB8AC3E}">
        <p14:creationId xmlns:p14="http://schemas.microsoft.com/office/powerpoint/2010/main" val="319904444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20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2" end="2"/>
                                            </p:txEl>
                                          </p:spTgt>
                                        </p:tgtEl>
                                        <p:attrNameLst>
                                          <p:attrName>style.visibility</p:attrName>
                                        </p:attrNameLst>
                                      </p:cBhvr>
                                      <p:to>
                                        <p:strVal val="visible"/>
                                      </p:to>
                                    </p:set>
                                    <p:animEffect transition="in" filter="wipe(left)">
                                      <p:cBhvr>
                                        <p:cTn id="12" dur="2500"/>
                                        <p:tgtEl>
                                          <p:spTgt spid="3">
                                            <p:txEl>
                                              <p:pRg st="2" end="2"/>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09.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0345ED4-D373-45C0-92CE-6E81DFC9E702}"/>
              </a:ext>
            </a:extLst>
          </p:cNvPr>
          <p:cNvSpPr>
            <a:spLocks noGrp="1"/>
          </p:cNvSpPr>
          <p:nvPr>
            <p:ph type="title"/>
          </p:nvPr>
        </p:nvSpPr>
        <p:spPr/>
        <p:txBody>
          <a:bodyPr/>
          <a:lstStyle/>
          <a:p>
            <a:r>
              <a:rPr lang="en-GB" dirty="0"/>
              <a:t>Text Attribute</a:t>
            </a:r>
          </a:p>
        </p:txBody>
      </p:sp>
      <p:sp>
        <p:nvSpPr>
          <p:cNvPr id="3" name="Content Placeholder 2">
            <a:extLst>
              <a:ext uri="{FF2B5EF4-FFF2-40B4-BE49-F238E27FC236}">
                <a16:creationId xmlns:a16="http://schemas.microsoft.com/office/drawing/2014/main" id="{B0C5F901-9EB2-4102-8032-D50AEEE7E924}"/>
              </a:ext>
            </a:extLst>
          </p:cNvPr>
          <p:cNvSpPr>
            <a:spLocks noGrp="1"/>
          </p:cNvSpPr>
          <p:nvPr>
            <p:ph idx="1"/>
          </p:nvPr>
        </p:nvSpPr>
        <p:spPr/>
        <p:txBody>
          <a:bodyPr>
            <a:normAutofit/>
          </a:bodyPr>
          <a:lstStyle/>
          <a:p>
            <a:r>
              <a:rPr lang="en-GB" sz="8800" dirty="0"/>
              <a:t> Text has</a:t>
            </a:r>
          </a:p>
          <a:p>
            <a:pPr marL="0" indent="0">
              <a:buNone/>
            </a:pPr>
            <a:endParaRPr lang="en-GB" sz="4400" dirty="0"/>
          </a:p>
          <a:p>
            <a:r>
              <a:rPr lang="en-GB" sz="8800" dirty="0"/>
              <a:t> </a:t>
            </a:r>
            <a:r>
              <a:rPr lang="en-GB" sz="8800" b="1" dirty="0">
                <a:solidFill>
                  <a:srgbClr val="FF0000"/>
                </a:solidFill>
              </a:rPr>
              <a:t>          </a:t>
            </a:r>
            <a:r>
              <a:rPr lang="en-GB" sz="8800" dirty="0"/>
              <a:t> text has</a:t>
            </a:r>
          </a:p>
        </p:txBody>
      </p:sp>
    </p:spTree>
    <p:extLst>
      <p:ext uri="{BB962C8B-B14F-4D97-AF65-F5344CB8AC3E}">
        <p14:creationId xmlns:p14="http://schemas.microsoft.com/office/powerpoint/2010/main" val="1752936158"/>
      </p:ext>
    </p:extLst>
  </p:cSld>
  <p:clrMapOvr>
    <a:masterClrMapping/>
  </p:clrMapOvr>
</p:sld>
</file>

<file path=ppt/slides/slide2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Data Dictionary (2)</a:t>
            </a:r>
          </a:p>
        </p:txBody>
      </p:sp>
      <p:graphicFrame>
        <p:nvGraphicFramePr>
          <p:cNvPr id="5" name="Table 5">
            <a:extLst>
              <a:ext uri="{FF2B5EF4-FFF2-40B4-BE49-F238E27FC236}">
                <a16:creationId xmlns:a16="http://schemas.microsoft.com/office/drawing/2014/main" id="{38A8414E-6490-4AD8-90BD-DF0216F61C69}"/>
              </a:ext>
            </a:extLst>
          </p:cNvPr>
          <p:cNvGraphicFramePr>
            <a:graphicFrameLocks noGrp="1"/>
          </p:cNvGraphicFramePr>
          <p:nvPr>
            <p:ph idx="1"/>
            <p:extLst>
              <p:ext uri="{D42A27DB-BD31-4B8C-83A1-F6EECF244321}">
                <p14:modId xmlns:p14="http://schemas.microsoft.com/office/powerpoint/2010/main" val="932789717"/>
              </p:ext>
            </p:extLst>
          </p:nvPr>
        </p:nvGraphicFramePr>
        <p:xfrm>
          <a:off x="838200" y="1825625"/>
          <a:ext cx="10989623" cy="3962400"/>
        </p:xfrm>
        <a:graphic>
          <a:graphicData uri="http://schemas.openxmlformats.org/drawingml/2006/table">
            <a:tbl>
              <a:tblPr firstRow="1" bandRow="1">
                <a:tableStyleId>{5C22544A-7EE6-4342-B048-85BDC9FD1C3A}</a:tableStyleId>
              </a:tblPr>
              <a:tblGrid>
                <a:gridCol w="2180092">
                  <a:extLst>
                    <a:ext uri="{9D8B030D-6E8A-4147-A177-3AD203B41FA5}">
                      <a16:colId xmlns:a16="http://schemas.microsoft.com/office/drawing/2014/main" val="1632358923"/>
                    </a:ext>
                  </a:extLst>
                </a:gridCol>
                <a:gridCol w="879468">
                  <a:extLst>
                    <a:ext uri="{9D8B030D-6E8A-4147-A177-3AD203B41FA5}">
                      <a16:colId xmlns:a16="http://schemas.microsoft.com/office/drawing/2014/main" val="3505833113"/>
                    </a:ext>
                  </a:extLst>
                </a:gridCol>
                <a:gridCol w="1681162">
                  <a:extLst>
                    <a:ext uri="{9D8B030D-6E8A-4147-A177-3AD203B41FA5}">
                      <a16:colId xmlns:a16="http://schemas.microsoft.com/office/drawing/2014/main" val="2732100902"/>
                    </a:ext>
                  </a:extLst>
                </a:gridCol>
                <a:gridCol w="981642">
                  <a:extLst>
                    <a:ext uri="{9D8B030D-6E8A-4147-A177-3AD203B41FA5}">
                      <a16:colId xmlns:a16="http://schemas.microsoft.com/office/drawing/2014/main" val="315362434"/>
                    </a:ext>
                  </a:extLst>
                </a:gridCol>
                <a:gridCol w="1374944">
                  <a:extLst>
                    <a:ext uri="{9D8B030D-6E8A-4147-A177-3AD203B41FA5}">
                      <a16:colId xmlns:a16="http://schemas.microsoft.com/office/drawing/2014/main" val="2971574360"/>
                    </a:ext>
                  </a:extLst>
                </a:gridCol>
                <a:gridCol w="3892315">
                  <a:extLst>
                    <a:ext uri="{9D8B030D-6E8A-4147-A177-3AD203B41FA5}">
                      <a16:colId xmlns:a16="http://schemas.microsoft.com/office/drawing/2014/main" val="2515431282"/>
                    </a:ext>
                  </a:extLst>
                </a:gridCol>
              </a:tblGrid>
              <a:tr h="370840">
                <a:tc>
                  <a:txBody>
                    <a:bodyPr/>
                    <a:lstStyle/>
                    <a:p>
                      <a:pPr algn="ctr"/>
                      <a:r>
                        <a:rPr lang="en-GB" sz="3200" dirty="0"/>
                        <a:t>Attribute</a:t>
                      </a:r>
                    </a:p>
                  </a:txBody>
                  <a:tcPr/>
                </a:tc>
                <a:tc>
                  <a:txBody>
                    <a:bodyPr/>
                    <a:lstStyle/>
                    <a:p>
                      <a:pPr algn="ctr"/>
                      <a:r>
                        <a:rPr lang="en-GB" sz="3200" dirty="0"/>
                        <a:t>Key</a:t>
                      </a:r>
                    </a:p>
                  </a:txBody>
                  <a:tcPr/>
                </a:tc>
                <a:tc>
                  <a:txBody>
                    <a:bodyPr/>
                    <a:lstStyle/>
                    <a:p>
                      <a:pPr algn="ctr"/>
                      <a:r>
                        <a:rPr lang="en-GB" sz="3200" dirty="0"/>
                        <a:t>Type</a:t>
                      </a:r>
                    </a:p>
                  </a:txBody>
                  <a:tcPr/>
                </a:tc>
                <a:tc>
                  <a:txBody>
                    <a:bodyPr/>
                    <a:lstStyle/>
                    <a:p>
                      <a:pPr algn="ctr"/>
                      <a:r>
                        <a:rPr lang="en-GB" sz="3200" dirty="0"/>
                        <a:t>Size</a:t>
                      </a:r>
                    </a:p>
                  </a:txBody>
                  <a:tcPr/>
                </a:tc>
                <a:tc>
                  <a:txBody>
                    <a:bodyPr/>
                    <a:lstStyle/>
                    <a:p>
                      <a:pPr algn="ctr"/>
                      <a:r>
                        <a:rPr lang="en-GB" sz="3200" dirty="0" err="1"/>
                        <a:t>Req'd</a:t>
                      </a:r>
                      <a:endParaRPr lang="en-GB" sz="3200" dirty="0"/>
                    </a:p>
                  </a:txBody>
                  <a:tcPr/>
                </a:tc>
                <a:tc>
                  <a:txBody>
                    <a:bodyPr/>
                    <a:lstStyle/>
                    <a:p>
                      <a:pPr algn="ctr"/>
                      <a:r>
                        <a:rPr lang="en-GB" sz="3200" dirty="0"/>
                        <a:t>Validation</a:t>
                      </a:r>
                    </a:p>
                  </a:txBody>
                  <a:tcPr/>
                </a:tc>
                <a:extLst>
                  <a:ext uri="{0D108BD9-81ED-4DB2-BD59-A6C34878D82A}">
                    <a16:rowId xmlns:a16="http://schemas.microsoft.com/office/drawing/2014/main" val="3459615676"/>
                  </a:ext>
                </a:extLst>
              </a:tr>
              <a:tr h="370840">
                <a:tc>
                  <a:txBody>
                    <a:bodyPr/>
                    <a:lstStyle/>
                    <a:p>
                      <a:r>
                        <a:rPr lang="en-GB" sz="3200" dirty="0" err="1"/>
                        <a:t>pupilID</a:t>
                      </a:r>
                      <a:endParaRPr lang="en-GB" sz="3200" dirty="0"/>
                    </a:p>
                  </a:txBody>
                  <a:tcPr/>
                </a:tc>
                <a:tc>
                  <a:txBody>
                    <a:bodyPr/>
                    <a:lstStyle/>
                    <a:p>
                      <a:pPr algn="ctr"/>
                      <a:r>
                        <a:rPr lang="en-GB" sz="3200" dirty="0"/>
                        <a:t>PK</a:t>
                      </a:r>
                    </a:p>
                  </a:txBody>
                  <a:tcPr/>
                </a:tc>
                <a:tc>
                  <a:txBody>
                    <a:bodyPr/>
                    <a:lstStyle/>
                    <a:p>
                      <a:r>
                        <a:rPr lang="en-GB" sz="3200" dirty="0"/>
                        <a:t>number</a:t>
                      </a:r>
                    </a:p>
                  </a:txBody>
                  <a:tcPr/>
                </a:tc>
                <a:tc>
                  <a:txBody>
                    <a:bodyPr/>
                    <a:lstStyle/>
                    <a:p>
                      <a:pPr algn="ctr"/>
                      <a:endParaRPr lang="en-GB" sz="3200" dirty="0"/>
                    </a:p>
                  </a:txBody>
                  <a:tcPr/>
                </a:tc>
                <a:tc>
                  <a:txBody>
                    <a:bodyPr/>
                    <a:lstStyle/>
                    <a:p>
                      <a:pPr algn="ctr"/>
                      <a:r>
                        <a:rPr lang="en-GB" sz="3200" dirty="0"/>
                        <a:t>Y</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3200" dirty="0"/>
                        <a:t>Range: &gt;= 0</a:t>
                      </a:r>
                    </a:p>
                  </a:txBody>
                  <a:tcPr/>
                </a:tc>
                <a:extLst>
                  <a:ext uri="{0D108BD9-81ED-4DB2-BD59-A6C34878D82A}">
                    <a16:rowId xmlns:a16="http://schemas.microsoft.com/office/drawing/2014/main" val="1127765656"/>
                  </a:ext>
                </a:extLst>
              </a:tr>
              <a:tr h="370840">
                <a:tc>
                  <a:txBody>
                    <a:bodyPr/>
                    <a:lstStyle/>
                    <a:p>
                      <a:r>
                        <a:rPr lang="en-GB" sz="3200" dirty="0" err="1"/>
                        <a:t>schoolID</a:t>
                      </a:r>
                      <a:endParaRPr lang="en-GB" sz="3200" dirty="0"/>
                    </a:p>
                  </a:txBody>
                  <a:tcPr/>
                </a:tc>
                <a:tc>
                  <a:txBody>
                    <a:bodyPr/>
                    <a:lstStyle/>
                    <a:p>
                      <a:pPr algn="ctr"/>
                      <a:r>
                        <a:rPr lang="en-GB" sz="3200" dirty="0"/>
                        <a:t>FK</a:t>
                      </a:r>
                    </a:p>
                  </a:txBody>
                  <a:tcPr/>
                </a:tc>
                <a:tc>
                  <a:txBody>
                    <a:bodyPr/>
                    <a:lstStyle/>
                    <a:p>
                      <a:r>
                        <a:rPr lang="en-GB" sz="3200" dirty="0"/>
                        <a:t>number</a:t>
                      </a:r>
                    </a:p>
                  </a:txBody>
                  <a:tcPr/>
                </a:tc>
                <a:tc>
                  <a:txBody>
                    <a:bodyPr/>
                    <a:lstStyle/>
                    <a:p>
                      <a:pPr algn="ctr"/>
                      <a:endParaRPr lang="en-GB" sz="3200" dirty="0"/>
                    </a:p>
                  </a:txBody>
                  <a:tcPr/>
                </a:tc>
                <a:tc>
                  <a:txBody>
                    <a:bodyPr/>
                    <a:lstStyle/>
                    <a:p>
                      <a:pPr algn="ctr"/>
                      <a:r>
                        <a:rPr lang="en-GB" sz="3200" dirty="0"/>
                        <a:t>Y</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sz="3200"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en-GB" sz="3200" dirty="0"/>
                    </a:p>
                  </a:txBody>
                  <a:tcPr/>
                </a:tc>
                <a:extLst>
                  <a:ext uri="{0D108BD9-81ED-4DB2-BD59-A6C34878D82A}">
                    <a16:rowId xmlns:a16="http://schemas.microsoft.com/office/drawing/2014/main" val="2924661129"/>
                  </a:ext>
                </a:extLst>
              </a:tr>
              <a:tr h="370840">
                <a:tc>
                  <a:txBody>
                    <a:bodyPr/>
                    <a:lstStyle/>
                    <a:p>
                      <a:r>
                        <a:rPr lang="en-GB" sz="3200" dirty="0"/>
                        <a:t>name</a:t>
                      </a:r>
                    </a:p>
                  </a:txBody>
                  <a:tcPr/>
                </a:tc>
                <a:tc>
                  <a:txBody>
                    <a:bodyPr/>
                    <a:lstStyle/>
                    <a:p>
                      <a:pPr algn="ctr"/>
                      <a:endParaRPr lang="en-GB" sz="3200" dirty="0"/>
                    </a:p>
                  </a:txBody>
                  <a:tcPr/>
                </a:tc>
                <a:tc>
                  <a:txBody>
                    <a:bodyPr/>
                    <a:lstStyle/>
                    <a:p>
                      <a:r>
                        <a:rPr lang="en-GB" sz="3200" dirty="0"/>
                        <a:t>text</a:t>
                      </a:r>
                    </a:p>
                  </a:txBody>
                  <a:tcPr/>
                </a:tc>
                <a:tc>
                  <a:txBody>
                    <a:bodyPr/>
                    <a:lstStyle/>
                    <a:p>
                      <a:pPr algn="ctr"/>
                      <a:r>
                        <a:rPr lang="en-GB" sz="3200" dirty="0"/>
                        <a:t>30</a:t>
                      </a:r>
                    </a:p>
                  </a:txBody>
                  <a:tcPr/>
                </a:tc>
                <a:tc>
                  <a:txBody>
                    <a:bodyPr/>
                    <a:lstStyle/>
                    <a:p>
                      <a:pPr algn="ctr"/>
                      <a:r>
                        <a:rPr lang="en-GB" sz="3200" dirty="0"/>
                        <a:t>Y</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3200" dirty="0"/>
                        <a:t>Length: &gt;= 3</a:t>
                      </a:r>
                    </a:p>
                  </a:txBody>
                  <a:tcPr/>
                </a:tc>
                <a:extLst>
                  <a:ext uri="{0D108BD9-81ED-4DB2-BD59-A6C34878D82A}">
                    <a16:rowId xmlns:a16="http://schemas.microsoft.com/office/drawing/2014/main" val="3885493841"/>
                  </a:ext>
                </a:extLst>
              </a:tr>
              <a:tr h="370840">
                <a:tc>
                  <a:txBody>
                    <a:bodyPr/>
                    <a:lstStyle/>
                    <a:p>
                      <a:r>
                        <a:rPr lang="en-GB" sz="3200" dirty="0"/>
                        <a:t>dob</a:t>
                      </a:r>
                    </a:p>
                  </a:txBody>
                  <a:tcPr/>
                </a:tc>
                <a:tc>
                  <a:txBody>
                    <a:bodyPr/>
                    <a:lstStyle/>
                    <a:p>
                      <a:pPr algn="ctr"/>
                      <a:endParaRPr lang="en-GB" sz="3200" dirty="0"/>
                    </a:p>
                  </a:txBody>
                  <a:tcPr/>
                </a:tc>
                <a:tc>
                  <a:txBody>
                    <a:bodyPr/>
                    <a:lstStyle/>
                    <a:p>
                      <a:r>
                        <a:rPr lang="en-GB" sz="3200" dirty="0"/>
                        <a:t>date</a:t>
                      </a:r>
                    </a:p>
                  </a:txBody>
                  <a:tcPr/>
                </a:tc>
                <a:tc>
                  <a:txBody>
                    <a:bodyPr/>
                    <a:lstStyle/>
                    <a:p>
                      <a:pPr algn="ctr"/>
                      <a:endParaRPr lang="en-GB" sz="3200" dirty="0"/>
                    </a:p>
                  </a:txBody>
                  <a:tcPr/>
                </a:tc>
                <a:tc>
                  <a:txBody>
                    <a:bodyPr/>
                    <a:lstStyle/>
                    <a:p>
                      <a:pPr algn="ctr"/>
                      <a:r>
                        <a:rPr lang="en-GB" sz="3200" dirty="0"/>
                        <a:t>Y</a:t>
                      </a:r>
                    </a:p>
                  </a:txBody>
                  <a:tcPr/>
                </a:tc>
                <a:tc>
                  <a:txBody>
                    <a:bodyPr/>
                    <a:lstStyle/>
                    <a:p>
                      <a:r>
                        <a:rPr lang="en-GB" sz="3200" dirty="0"/>
                        <a:t>Range: &gt;= 1</a:t>
                      </a:r>
                      <a:r>
                        <a:rPr lang="en-GB" sz="3200" baseline="30000" dirty="0"/>
                        <a:t>st</a:t>
                      </a:r>
                      <a:r>
                        <a:rPr lang="en-GB" sz="3200" dirty="0"/>
                        <a:t> Jan 2000</a:t>
                      </a:r>
                    </a:p>
                  </a:txBody>
                  <a:tcPr/>
                </a:tc>
                <a:extLst>
                  <a:ext uri="{0D108BD9-81ED-4DB2-BD59-A6C34878D82A}">
                    <a16:rowId xmlns:a16="http://schemas.microsoft.com/office/drawing/2014/main" val="1487565366"/>
                  </a:ext>
                </a:extLst>
              </a:tr>
              <a:tr h="370840">
                <a:tc>
                  <a:txBody>
                    <a:bodyPr/>
                    <a:lstStyle/>
                    <a:p>
                      <a:r>
                        <a:rPr lang="en-GB" sz="3200" dirty="0"/>
                        <a:t>transport</a:t>
                      </a:r>
                    </a:p>
                  </a:txBody>
                  <a:tcPr/>
                </a:tc>
                <a:tc>
                  <a:txBody>
                    <a:bodyPr/>
                    <a:lstStyle/>
                    <a:p>
                      <a:pPr algn="ctr"/>
                      <a:endParaRPr lang="en-GB" sz="3200" dirty="0"/>
                    </a:p>
                  </a:txBody>
                  <a:tcPr/>
                </a:tc>
                <a:tc>
                  <a:txBody>
                    <a:bodyPr/>
                    <a:lstStyle/>
                    <a:p>
                      <a:r>
                        <a:rPr lang="en-GB" sz="3200" dirty="0" err="1"/>
                        <a:t>boolean</a:t>
                      </a:r>
                      <a:endParaRPr lang="en-GB" sz="3200" dirty="0"/>
                    </a:p>
                  </a:txBody>
                  <a:tcPr/>
                </a:tc>
                <a:tc>
                  <a:txBody>
                    <a:bodyPr/>
                    <a:lstStyle/>
                    <a:p>
                      <a:pPr algn="ctr"/>
                      <a:endParaRPr lang="en-GB" sz="3200" dirty="0"/>
                    </a:p>
                  </a:txBody>
                  <a:tcPr/>
                </a:tc>
                <a:tc>
                  <a:txBody>
                    <a:bodyPr/>
                    <a:lstStyle/>
                    <a:p>
                      <a:pPr algn="ctr"/>
                      <a:r>
                        <a:rPr lang="en-GB" sz="3200" dirty="0"/>
                        <a:t>Y</a:t>
                      </a:r>
                    </a:p>
                  </a:txBody>
                  <a:tcPr/>
                </a:tc>
                <a:tc>
                  <a:txBody>
                    <a:bodyPr/>
                    <a:lstStyle/>
                    <a:p>
                      <a:endParaRPr lang="en-GB" sz="3200" dirty="0"/>
                    </a:p>
                  </a:txBody>
                  <a:tcPr/>
                </a:tc>
                <a:extLst>
                  <a:ext uri="{0D108BD9-81ED-4DB2-BD59-A6C34878D82A}">
                    <a16:rowId xmlns:a16="http://schemas.microsoft.com/office/drawing/2014/main" val="3947728551"/>
                  </a:ext>
                </a:extLst>
              </a:tr>
            </a:tbl>
          </a:graphicData>
        </a:graphic>
      </p:graphicFrame>
      <p:sp>
        <p:nvSpPr>
          <p:cNvPr id="4" name="TextBox 3">
            <a:extLst>
              <a:ext uri="{FF2B5EF4-FFF2-40B4-BE49-F238E27FC236}">
                <a16:creationId xmlns:a16="http://schemas.microsoft.com/office/drawing/2014/main" id="{67454E7D-77FB-4F27-AA28-4E981ACA17F5}"/>
              </a:ext>
            </a:extLst>
          </p:cNvPr>
          <p:cNvSpPr txBox="1"/>
          <p:nvPr/>
        </p:nvSpPr>
        <p:spPr>
          <a:xfrm>
            <a:off x="838200" y="5846542"/>
            <a:ext cx="4365171" cy="646331"/>
          </a:xfrm>
          <a:prstGeom prst="rect">
            <a:avLst/>
          </a:prstGeom>
          <a:noFill/>
        </p:spPr>
        <p:txBody>
          <a:bodyPr wrap="square" rtlCol="0" anchor="ctr" anchorCtr="0">
            <a:spAutoFit/>
          </a:bodyPr>
          <a:lstStyle/>
          <a:p>
            <a:r>
              <a:rPr lang="en-GB" sz="3600" dirty="0">
                <a:solidFill>
                  <a:srgbClr val="7030A0"/>
                </a:solidFill>
              </a:rPr>
              <a:t>Range: numeric values</a:t>
            </a:r>
          </a:p>
        </p:txBody>
      </p:sp>
      <p:sp>
        <p:nvSpPr>
          <p:cNvPr id="6" name="TextBox 5">
            <a:extLst>
              <a:ext uri="{FF2B5EF4-FFF2-40B4-BE49-F238E27FC236}">
                <a16:creationId xmlns:a16="http://schemas.microsoft.com/office/drawing/2014/main" id="{7DDF2941-3C4C-467F-A8C7-FF53B5B65FCA}"/>
              </a:ext>
            </a:extLst>
          </p:cNvPr>
          <p:cNvSpPr txBox="1"/>
          <p:nvPr/>
        </p:nvSpPr>
        <p:spPr>
          <a:xfrm>
            <a:off x="7402286" y="5846542"/>
            <a:ext cx="3804976" cy="646331"/>
          </a:xfrm>
          <a:prstGeom prst="rect">
            <a:avLst/>
          </a:prstGeom>
          <a:noFill/>
        </p:spPr>
        <p:txBody>
          <a:bodyPr wrap="square" rtlCol="0" anchor="ctr" anchorCtr="0">
            <a:spAutoFit/>
          </a:bodyPr>
          <a:lstStyle/>
          <a:p>
            <a:pPr algn="r"/>
            <a:r>
              <a:rPr lang="en-GB" sz="3600" dirty="0">
                <a:solidFill>
                  <a:srgbClr val="7030A0"/>
                </a:solidFill>
              </a:rPr>
              <a:t>Length: text values</a:t>
            </a:r>
          </a:p>
        </p:txBody>
      </p:sp>
      <p:sp>
        <p:nvSpPr>
          <p:cNvPr id="7" name="Rectangle: Rounded Corners 7">
            <a:extLst>
              <a:ext uri="{FF2B5EF4-FFF2-40B4-BE49-F238E27FC236}">
                <a16:creationId xmlns:a16="http://schemas.microsoft.com/office/drawing/2014/main" id="{3878A425-45B3-4D45-B4C1-649D86383360}"/>
              </a:ext>
            </a:extLst>
          </p:cNvPr>
          <p:cNvSpPr/>
          <p:nvPr/>
        </p:nvSpPr>
        <p:spPr>
          <a:xfrm>
            <a:off x="7918071" y="2405742"/>
            <a:ext cx="2251166" cy="598715"/>
          </a:xfrm>
          <a:prstGeom prst="roundRect">
            <a:avLst/>
          </a:prstGeom>
          <a:noFill/>
          <a:ln w="571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8" name="Rectangle: Rounded Corners 7">
            <a:extLst>
              <a:ext uri="{FF2B5EF4-FFF2-40B4-BE49-F238E27FC236}">
                <a16:creationId xmlns:a16="http://schemas.microsoft.com/office/drawing/2014/main" id="{0DF75699-ED9B-4937-B53F-0B793F6F2C6B}"/>
              </a:ext>
            </a:extLst>
          </p:cNvPr>
          <p:cNvSpPr/>
          <p:nvPr/>
        </p:nvSpPr>
        <p:spPr>
          <a:xfrm>
            <a:off x="7918071" y="4015839"/>
            <a:ext cx="2251166" cy="598715"/>
          </a:xfrm>
          <a:prstGeom prst="roundRect">
            <a:avLst/>
          </a:prstGeom>
          <a:noFill/>
          <a:ln w="57150">
            <a:solidFill>
              <a:srgbClr val="FF0000"/>
            </a:solidFill>
            <a:prstDash val="sys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0" name="Rectangle: Rounded Corners 9">
            <a:extLst>
              <a:ext uri="{FF2B5EF4-FFF2-40B4-BE49-F238E27FC236}">
                <a16:creationId xmlns:a16="http://schemas.microsoft.com/office/drawing/2014/main" id="{6B3DC080-D394-466D-BD34-006820B854D4}"/>
              </a:ext>
            </a:extLst>
          </p:cNvPr>
          <p:cNvSpPr/>
          <p:nvPr/>
        </p:nvSpPr>
        <p:spPr>
          <a:xfrm>
            <a:off x="7918071" y="4650179"/>
            <a:ext cx="3909752" cy="598715"/>
          </a:xfrm>
          <a:prstGeom prst="roundRect">
            <a:avLst/>
          </a:prstGeom>
          <a:noFill/>
          <a:ln w="571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Tree>
    <p:extLst>
      <p:ext uri="{BB962C8B-B14F-4D97-AF65-F5344CB8AC3E}">
        <p14:creationId xmlns:p14="http://schemas.microsoft.com/office/powerpoint/2010/main" val="78837907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1000"/>
                                        <p:tgtEl>
                                          <p:spTgt spid="5"/>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7"/>
                                        </p:tgtEl>
                                        <p:attrNameLst>
                                          <p:attrName>style.visibility</p:attrName>
                                        </p:attrNameLst>
                                      </p:cBhvr>
                                      <p:to>
                                        <p:strVal val="visible"/>
                                      </p:to>
                                    </p:set>
                                    <p:animEffect transition="in" filter="fade">
                                      <p:cBhvr>
                                        <p:cTn id="12" dur="1000"/>
                                        <p:tgtEl>
                                          <p:spTgt spid="7"/>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10"/>
                                        </p:tgtEl>
                                        <p:attrNameLst>
                                          <p:attrName>style.visibility</p:attrName>
                                        </p:attrNameLst>
                                      </p:cBhvr>
                                      <p:to>
                                        <p:strVal val="visible"/>
                                      </p:to>
                                    </p:set>
                                    <p:animEffect transition="in" filter="fade">
                                      <p:cBhvr>
                                        <p:cTn id="17" dur="1000"/>
                                        <p:tgtEl>
                                          <p:spTgt spid="10"/>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4">
                                            <p:txEl>
                                              <p:pRg st="0" end="0"/>
                                            </p:txEl>
                                          </p:spTgt>
                                        </p:tgtEl>
                                        <p:attrNameLst>
                                          <p:attrName>style.visibility</p:attrName>
                                        </p:attrNameLst>
                                      </p:cBhvr>
                                      <p:to>
                                        <p:strVal val="visible"/>
                                      </p:to>
                                    </p:set>
                                    <p:animEffect transition="in" filter="wipe(left)">
                                      <p:cBhvr>
                                        <p:cTn id="22" dur="2000"/>
                                        <p:tgtEl>
                                          <p:spTgt spid="4">
                                            <p:txEl>
                                              <p:pRg st="0" end="0"/>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8"/>
                                        </p:tgtEl>
                                        <p:attrNameLst>
                                          <p:attrName>style.visibility</p:attrName>
                                        </p:attrNameLst>
                                      </p:cBhvr>
                                      <p:to>
                                        <p:strVal val="visible"/>
                                      </p:to>
                                    </p:set>
                                    <p:animEffect transition="in" filter="fade">
                                      <p:cBhvr>
                                        <p:cTn id="27" dur="1000"/>
                                        <p:tgtEl>
                                          <p:spTgt spid="8"/>
                                        </p:tgtEl>
                                      </p:cBhvr>
                                    </p:animEffect>
                                  </p:childTnLst>
                                </p:cTn>
                              </p:par>
                            </p:childTnLst>
                          </p:cTn>
                        </p:par>
                        <p:par>
                          <p:cTn id="28" fill="hold">
                            <p:stCondLst>
                              <p:cond delay="1000"/>
                            </p:stCondLst>
                            <p:childTnLst>
                              <p:par>
                                <p:cTn id="29" presetID="22" presetClass="entr" presetSubtype="8" fill="hold" grpId="0" nodeType="afterEffect">
                                  <p:stCondLst>
                                    <p:cond delay="0"/>
                                  </p:stCondLst>
                                  <p:childTnLst>
                                    <p:set>
                                      <p:cBhvr>
                                        <p:cTn id="30" dur="1" fill="hold">
                                          <p:stCondLst>
                                            <p:cond delay="0"/>
                                          </p:stCondLst>
                                        </p:cTn>
                                        <p:tgtEl>
                                          <p:spTgt spid="6">
                                            <p:txEl>
                                              <p:pRg st="0" end="0"/>
                                            </p:txEl>
                                          </p:spTgt>
                                        </p:tgtEl>
                                        <p:attrNameLst>
                                          <p:attrName>style.visibility</p:attrName>
                                        </p:attrNameLst>
                                      </p:cBhvr>
                                      <p:to>
                                        <p:strVal val="visible"/>
                                      </p:to>
                                    </p:set>
                                    <p:animEffect transition="in" filter="wipe(left)">
                                      <p:cBhvr>
                                        <p:cTn id="31" dur="1750"/>
                                        <p:tgtEl>
                                          <p:spTgt spid="6">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uiExpand="1" build="p"/>
      <p:bldP spid="6" grpId="0" uiExpand="1" build="p"/>
      <p:bldP spid="7" grpId="0" animBg="1"/>
      <p:bldP spid="8" grpId="0" animBg="1"/>
      <p:bldP spid="10" grpId="0" animBg="1"/>
    </p:bldLst>
  </p:timing>
</p:sld>
</file>

<file path=ppt/slides/slide21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Data Dictionary (2)</a:t>
            </a:r>
          </a:p>
        </p:txBody>
      </p:sp>
      <p:graphicFrame>
        <p:nvGraphicFramePr>
          <p:cNvPr id="5" name="Table 5">
            <a:extLst>
              <a:ext uri="{FF2B5EF4-FFF2-40B4-BE49-F238E27FC236}">
                <a16:creationId xmlns:a16="http://schemas.microsoft.com/office/drawing/2014/main" id="{38A8414E-6490-4AD8-90BD-DF0216F61C69}"/>
              </a:ext>
            </a:extLst>
          </p:cNvPr>
          <p:cNvGraphicFramePr>
            <a:graphicFrameLocks noGrp="1"/>
          </p:cNvGraphicFramePr>
          <p:nvPr>
            <p:ph idx="1"/>
            <p:extLst>
              <p:ext uri="{D42A27DB-BD31-4B8C-83A1-F6EECF244321}">
                <p14:modId xmlns:p14="http://schemas.microsoft.com/office/powerpoint/2010/main" val="1513232713"/>
              </p:ext>
            </p:extLst>
          </p:nvPr>
        </p:nvGraphicFramePr>
        <p:xfrm>
          <a:off x="838200" y="1825625"/>
          <a:ext cx="10369062" cy="3962400"/>
        </p:xfrm>
        <a:graphic>
          <a:graphicData uri="http://schemas.openxmlformats.org/drawingml/2006/table">
            <a:tbl>
              <a:tblPr firstRow="1" bandRow="1">
                <a:tableStyleId>{5C22544A-7EE6-4342-B048-85BDC9FD1C3A}</a:tableStyleId>
              </a:tblPr>
              <a:tblGrid>
                <a:gridCol w="2056986">
                  <a:extLst>
                    <a:ext uri="{9D8B030D-6E8A-4147-A177-3AD203B41FA5}">
                      <a16:colId xmlns:a16="http://schemas.microsoft.com/office/drawing/2014/main" val="1632358923"/>
                    </a:ext>
                  </a:extLst>
                </a:gridCol>
                <a:gridCol w="829807">
                  <a:extLst>
                    <a:ext uri="{9D8B030D-6E8A-4147-A177-3AD203B41FA5}">
                      <a16:colId xmlns:a16="http://schemas.microsoft.com/office/drawing/2014/main" val="3505833113"/>
                    </a:ext>
                  </a:extLst>
                </a:gridCol>
                <a:gridCol w="1586230">
                  <a:extLst>
                    <a:ext uri="{9D8B030D-6E8A-4147-A177-3AD203B41FA5}">
                      <a16:colId xmlns:a16="http://schemas.microsoft.com/office/drawing/2014/main" val="2732100902"/>
                    </a:ext>
                  </a:extLst>
                </a:gridCol>
                <a:gridCol w="926211">
                  <a:extLst>
                    <a:ext uri="{9D8B030D-6E8A-4147-A177-3AD203B41FA5}">
                      <a16:colId xmlns:a16="http://schemas.microsoft.com/office/drawing/2014/main" val="315362434"/>
                    </a:ext>
                  </a:extLst>
                </a:gridCol>
                <a:gridCol w="1297304">
                  <a:extLst>
                    <a:ext uri="{9D8B030D-6E8A-4147-A177-3AD203B41FA5}">
                      <a16:colId xmlns:a16="http://schemas.microsoft.com/office/drawing/2014/main" val="2971574360"/>
                    </a:ext>
                  </a:extLst>
                </a:gridCol>
                <a:gridCol w="3672524">
                  <a:extLst>
                    <a:ext uri="{9D8B030D-6E8A-4147-A177-3AD203B41FA5}">
                      <a16:colId xmlns:a16="http://schemas.microsoft.com/office/drawing/2014/main" val="2515431282"/>
                    </a:ext>
                  </a:extLst>
                </a:gridCol>
              </a:tblGrid>
              <a:tr h="370840">
                <a:tc>
                  <a:txBody>
                    <a:bodyPr/>
                    <a:lstStyle/>
                    <a:p>
                      <a:pPr algn="ctr"/>
                      <a:r>
                        <a:rPr lang="en-GB" sz="3200" dirty="0"/>
                        <a:t>Attribute</a:t>
                      </a:r>
                    </a:p>
                  </a:txBody>
                  <a:tcPr/>
                </a:tc>
                <a:tc>
                  <a:txBody>
                    <a:bodyPr/>
                    <a:lstStyle/>
                    <a:p>
                      <a:pPr algn="ctr"/>
                      <a:r>
                        <a:rPr lang="en-GB" sz="3200" dirty="0"/>
                        <a:t>Key</a:t>
                      </a:r>
                    </a:p>
                  </a:txBody>
                  <a:tcPr/>
                </a:tc>
                <a:tc>
                  <a:txBody>
                    <a:bodyPr/>
                    <a:lstStyle/>
                    <a:p>
                      <a:pPr algn="ctr"/>
                      <a:r>
                        <a:rPr lang="en-GB" sz="3200" dirty="0"/>
                        <a:t>Type</a:t>
                      </a:r>
                    </a:p>
                  </a:txBody>
                  <a:tcPr/>
                </a:tc>
                <a:tc>
                  <a:txBody>
                    <a:bodyPr/>
                    <a:lstStyle/>
                    <a:p>
                      <a:pPr algn="ctr"/>
                      <a:r>
                        <a:rPr lang="en-GB" sz="3200" dirty="0"/>
                        <a:t>Size</a:t>
                      </a:r>
                    </a:p>
                  </a:txBody>
                  <a:tcPr/>
                </a:tc>
                <a:tc>
                  <a:txBody>
                    <a:bodyPr/>
                    <a:lstStyle/>
                    <a:p>
                      <a:pPr algn="ctr"/>
                      <a:r>
                        <a:rPr lang="en-GB" sz="3200" dirty="0" err="1"/>
                        <a:t>Req'd</a:t>
                      </a:r>
                      <a:endParaRPr lang="en-GB" sz="3200" dirty="0"/>
                    </a:p>
                  </a:txBody>
                  <a:tcPr/>
                </a:tc>
                <a:tc>
                  <a:txBody>
                    <a:bodyPr/>
                    <a:lstStyle/>
                    <a:p>
                      <a:pPr algn="ctr"/>
                      <a:r>
                        <a:rPr lang="en-GB" sz="3200" dirty="0"/>
                        <a:t>Validation</a:t>
                      </a:r>
                    </a:p>
                  </a:txBody>
                  <a:tcPr/>
                </a:tc>
                <a:extLst>
                  <a:ext uri="{0D108BD9-81ED-4DB2-BD59-A6C34878D82A}">
                    <a16:rowId xmlns:a16="http://schemas.microsoft.com/office/drawing/2014/main" val="3459615676"/>
                  </a:ext>
                </a:extLst>
              </a:tr>
              <a:tr h="370840">
                <a:tc>
                  <a:txBody>
                    <a:bodyPr/>
                    <a:lstStyle/>
                    <a:p>
                      <a:r>
                        <a:rPr lang="en-GB" sz="3200" dirty="0" err="1"/>
                        <a:t>pupilID</a:t>
                      </a:r>
                      <a:endParaRPr lang="en-GB" sz="3200" dirty="0"/>
                    </a:p>
                  </a:txBody>
                  <a:tcPr/>
                </a:tc>
                <a:tc>
                  <a:txBody>
                    <a:bodyPr/>
                    <a:lstStyle/>
                    <a:p>
                      <a:pPr algn="ctr"/>
                      <a:r>
                        <a:rPr lang="en-GB" sz="3200" dirty="0"/>
                        <a:t>PK</a:t>
                      </a:r>
                    </a:p>
                  </a:txBody>
                  <a:tcPr/>
                </a:tc>
                <a:tc>
                  <a:txBody>
                    <a:bodyPr/>
                    <a:lstStyle/>
                    <a:p>
                      <a:r>
                        <a:rPr lang="en-GB" sz="3200" dirty="0"/>
                        <a:t>number</a:t>
                      </a:r>
                    </a:p>
                  </a:txBody>
                  <a:tcPr/>
                </a:tc>
                <a:tc>
                  <a:txBody>
                    <a:bodyPr/>
                    <a:lstStyle/>
                    <a:p>
                      <a:pPr algn="ctr"/>
                      <a:endParaRPr lang="en-GB" sz="3200" dirty="0"/>
                    </a:p>
                  </a:txBody>
                  <a:tcPr/>
                </a:tc>
                <a:tc>
                  <a:txBody>
                    <a:bodyPr/>
                    <a:lstStyle/>
                    <a:p>
                      <a:pPr algn="ctr"/>
                      <a:r>
                        <a:rPr lang="en-GB" sz="3200" dirty="0"/>
                        <a:t>Y</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sz="3200" dirty="0"/>
                    </a:p>
                  </a:txBody>
                  <a:tcPr/>
                </a:tc>
                <a:extLst>
                  <a:ext uri="{0D108BD9-81ED-4DB2-BD59-A6C34878D82A}">
                    <a16:rowId xmlns:a16="http://schemas.microsoft.com/office/drawing/2014/main" val="1127765656"/>
                  </a:ext>
                </a:extLst>
              </a:tr>
              <a:tr h="370840">
                <a:tc>
                  <a:txBody>
                    <a:bodyPr/>
                    <a:lstStyle/>
                    <a:p>
                      <a:r>
                        <a:rPr lang="en-GB" sz="3200" dirty="0" err="1"/>
                        <a:t>schoolID</a:t>
                      </a:r>
                      <a:endParaRPr lang="en-GB" sz="3200" dirty="0"/>
                    </a:p>
                  </a:txBody>
                  <a:tcPr/>
                </a:tc>
                <a:tc>
                  <a:txBody>
                    <a:bodyPr/>
                    <a:lstStyle/>
                    <a:p>
                      <a:pPr algn="ctr"/>
                      <a:r>
                        <a:rPr lang="en-GB" sz="3200" dirty="0"/>
                        <a:t>FK</a:t>
                      </a:r>
                    </a:p>
                  </a:txBody>
                  <a:tcPr/>
                </a:tc>
                <a:tc>
                  <a:txBody>
                    <a:bodyPr/>
                    <a:lstStyle/>
                    <a:p>
                      <a:r>
                        <a:rPr lang="en-GB" sz="3200" dirty="0"/>
                        <a:t>number</a:t>
                      </a:r>
                    </a:p>
                  </a:txBody>
                  <a:tcPr/>
                </a:tc>
                <a:tc>
                  <a:txBody>
                    <a:bodyPr/>
                    <a:lstStyle/>
                    <a:p>
                      <a:pPr algn="ctr"/>
                      <a:endParaRPr lang="en-GB" sz="3200" dirty="0"/>
                    </a:p>
                  </a:txBody>
                  <a:tcPr/>
                </a:tc>
                <a:tc>
                  <a:txBody>
                    <a:bodyPr/>
                    <a:lstStyle/>
                    <a:p>
                      <a:pPr algn="ctr"/>
                      <a:r>
                        <a:rPr lang="en-GB" sz="3200" dirty="0"/>
                        <a:t>Y</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sz="3200"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en-GB" sz="3200" dirty="0"/>
                    </a:p>
                  </a:txBody>
                  <a:tcPr/>
                </a:tc>
                <a:extLst>
                  <a:ext uri="{0D108BD9-81ED-4DB2-BD59-A6C34878D82A}">
                    <a16:rowId xmlns:a16="http://schemas.microsoft.com/office/drawing/2014/main" val="2924661129"/>
                  </a:ext>
                </a:extLst>
              </a:tr>
              <a:tr h="370840">
                <a:tc>
                  <a:txBody>
                    <a:bodyPr/>
                    <a:lstStyle/>
                    <a:p>
                      <a:r>
                        <a:rPr lang="en-GB" sz="3200" dirty="0"/>
                        <a:t>name</a:t>
                      </a:r>
                    </a:p>
                  </a:txBody>
                  <a:tcPr/>
                </a:tc>
                <a:tc>
                  <a:txBody>
                    <a:bodyPr/>
                    <a:lstStyle/>
                    <a:p>
                      <a:pPr algn="ctr"/>
                      <a:endParaRPr lang="en-GB" sz="3200" dirty="0"/>
                    </a:p>
                  </a:txBody>
                  <a:tcPr/>
                </a:tc>
                <a:tc>
                  <a:txBody>
                    <a:bodyPr/>
                    <a:lstStyle/>
                    <a:p>
                      <a:r>
                        <a:rPr lang="en-GB" sz="3200" dirty="0"/>
                        <a:t>text</a:t>
                      </a:r>
                    </a:p>
                  </a:txBody>
                  <a:tcPr/>
                </a:tc>
                <a:tc>
                  <a:txBody>
                    <a:bodyPr/>
                    <a:lstStyle/>
                    <a:p>
                      <a:pPr algn="ctr"/>
                      <a:r>
                        <a:rPr lang="en-GB" sz="3200" dirty="0"/>
                        <a:t>30</a:t>
                      </a:r>
                    </a:p>
                  </a:txBody>
                  <a:tcPr/>
                </a:tc>
                <a:tc>
                  <a:txBody>
                    <a:bodyPr/>
                    <a:lstStyle/>
                    <a:p>
                      <a:pPr algn="ctr"/>
                      <a:r>
                        <a:rPr lang="en-GB" sz="3200" dirty="0"/>
                        <a:t>Y</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sz="3200" dirty="0"/>
                    </a:p>
                  </a:txBody>
                  <a:tcPr/>
                </a:tc>
                <a:extLst>
                  <a:ext uri="{0D108BD9-81ED-4DB2-BD59-A6C34878D82A}">
                    <a16:rowId xmlns:a16="http://schemas.microsoft.com/office/drawing/2014/main" val="3885493841"/>
                  </a:ext>
                </a:extLst>
              </a:tr>
              <a:tr h="370840">
                <a:tc>
                  <a:txBody>
                    <a:bodyPr/>
                    <a:lstStyle/>
                    <a:p>
                      <a:r>
                        <a:rPr lang="en-GB" sz="3200" dirty="0"/>
                        <a:t>dob</a:t>
                      </a:r>
                    </a:p>
                  </a:txBody>
                  <a:tcPr/>
                </a:tc>
                <a:tc>
                  <a:txBody>
                    <a:bodyPr/>
                    <a:lstStyle/>
                    <a:p>
                      <a:pPr algn="ctr"/>
                      <a:endParaRPr lang="en-GB" sz="3200" dirty="0"/>
                    </a:p>
                  </a:txBody>
                  <a:tcPr/>
                </a:tc>
                <a:tc>
                  <a:txBody>
                    <a:bodyPr/>
                    <a:lstStyle/>
                    <a:p>
                      <a:r>
                        <a:rPr lang="en-GB" sz="3200" dirty="0"/>
                        <a:t>date</a:t>
                      </a:r>
                    </a:p>
                  </a:txBody>
                  <a:tcPr/>
                </a:tc>
                <a:tc>
                  <a:txBody>
                    <a:bodyPr/>
                    <a:lstStyle/>
                    <a:p>
                      <a:pPr algn="ctr"/>
                      <a:endParaRPr lang="en-GB" sz="3200" dirty="0"/>
                    </a:p>
                  </a:txBody>
                  <a:tcPr/>
                </a:tc>
                <a:tc>
                  <a:txBody>
                    <a:bodyPr/>
                    <a:lstStyle/>
                    <a:p>
                      <a:pPr algn="ctr"/>
                      <a:r>
                        <a:rPr lang="en-GB" sz="3200" dirty="0"/>
                        <a:t>Y</a:t>
                      </a:r>
                    </a:p>
                  </a:txBody>
                  <a:tcPr/>
                </a:tc>
                <a:tc>
                  <a:txBody>
                    <a:bodyPr/>
                    <a:lstStyle/>
                    <a:p>
                      <a:endParaRPr lang="en-GB" sz="3200" dirty="0"/>
                    </a:p>
                  </a:txBody>
                  <a:tcPr/>
                </a:tc>
                <a:extLst>
                  <a:ext uri="{0D108BD9-81ED-4DB2-BD59-A6C34878D82A}">
                    <a16:rowId xmlns:a16="http://schemas.microsoft.com/office/drawing/2014/main" val="1487565366"/>
                  </a:ext>
                </a:extLst>
              </a:tr>
              <a:tr h="370840">
                <a:tc>
                  <a:txBody>
                    <a:bodyPr/>
                    <a:lstStyle/>
                    <a:p>
                      <a:r>
                        <a:rPr lang="en-GB" sz="3200" dirty="0"/>
                        <a:t>transport</a:t>
                      </a:r>
                    </a:p>
                  </a:txBody>
                  <a:tcPr/>
                </a:tc>
                <a:tc>
                  <a:txBody>
                    <a:bodyPr/>
                    <a:lstStyle/>
                    <a:p>
                      <a:pPr algn="ctr"/>
                      <a:endParaRPr lang="en-GB" sz="3200" dirty="0"/>
                    </a:p>
                  </a:txBody>
                  <a:tcPr/>
                </a:tc>
                <a:tc>
                  <a:txBody>
                    <a:bodyPr/>
                    <a:lstStyle/>
                    <a:p>
                      <a:r>
                        <a:rPr lang="en-GB" sz="3200" dirty="0" err="1"/>
                        <a:t>boolean</a:t>
                      </a:r>
                      <a:endParaRPr lang="en-GB" sz="3200" dirty="0"/>
                    </a:p>
                  </a:txBody>
                  <a:tcPr/>
                </a:tc>
                <a:tc>
                  <a:txBody>
                    <a:bodyPr/>
                    <a:lstStyle/>
                    <a:p>
                      <a:pPr algn="ctr"/>
                      <a:endParaRPr lang="en-GB" sz="3200" dirty="0"/>
                    </a:p>
                  </a:txBody>
                  <a:tcPr/>
                </a:tc>
                <a:tc>
                  <a:txBody>
                    <a:bodyPr/>
                    <a:lstStyle/>
                    <a:p>
                      <a:pPr algn="ctr"/>
                      <a:r>
                        <a:rPr lang="en-GB" sz="3200" dirty="0"/>
                        <a:t>Y</a:t>
                      </a:r>
                    </a:p>
                  </a:txBody>
                  <a:tcPr/>
                </a:tc>
                <a:tc>
                  <a:txBody>
                    <a:bodyPr/>
                    <a:lstStyle/>
                    <a:p>
                      <a:endParaRPr lang="en-GB" sz="3200" dirty="0"/>
                    </a:p>
                  </a:txBody>
                  <a:tcPr/>
                </a:tc>
                <a:extLst>
                  <a:ext uri="{0D108BD9-81ED-4DB2-BD59-A6C34878D82A}">
                    <a16:rowId xmlns:a16="http://schemas.microsoft.com/office/drawing/2014/main" val="3947728551"/>
                  </a:ext>
                </a:extLst>
              </a:tr>
            </a:tbl>
          </a:graphicData>
        </a:graphic>
      </p:graphicFrame>
    </p:spTree>
    <p:extLst>
      <p:ext uri="{BB962C8B-B14F-4D97-AF65-F5344CB8AC3E}">
        <p14:creationId xmlns:p14="http://schemas.microsoft.com/office/powerpoint/2010/main" val="1339607947"/>
      </p:ext>
    </p:extLst>
  </p:cSld>
  <p:clrMapOvr>
    <a:masterClrMapping/>
  </p:clrMapOvr>
</p:sld>
</file>

<file path=ppt/slides/slide2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Referential integrity</a:t>
            </a:r>
          </a:p>
        </p:txBody>
      </p:sp>
      <p:graphicFrame>
        <p:nvGraphicFramePr>
          <p:cNvPr id="14" name="Dept table">
            <a:extLst>
              <a:ext uri="{FF2B5EF4-FFF2-40B4-BE49-F238E27FC236}">
                <a16:creationId xmlns:a16="http://schemas.microsoft.com/office/drawing/2014/main" id="{844D8AF2-45F4-4D3A-A16B-FDE72F88C3EB}"/>
              </a:ext>
            </a:extLst>
          </p:cNvPr>
          <p:cNvGraphicFramePr>
            <a:graphicFrameLocks/>
          </p:cNvGraphicFramePr>
          <p:nvPr/>
        </p:nvGraphicFramePr>
        <p:xfrm>
          <a:off x="7669848" y="2193925"/>
          <a:ext cx="3683952" cy="1777656"/>
        </p:xfrm>
        <a:graphic>
          <a:graphicData uri="http://schemas.openxmlformats.org/drawingml/2006/table">
            <a:tbl>
              <a:tblPr firstRow="1" bandRow="1">
                <a:tableStyleId>{5C22544A-7EE6-4342-B048-85BDC9FD1C3A}</a:tableStyleId>
              </a:tblPr>
              <a:tblGrid>
                <a:gridCol w="894080">
                  <a:extLst>
                    <a:ext uri="{9D8B030D-6E8A-4147-A177-3AD203B41FA5}">
                      <a16:colId xmlns:a16="http://schemas.microsoft.com/office/drawing/2014/main" val="415971381"/>
                    </a:ext>
                  </a:extLst>
                </a:gridCol>
                <a:gridCol w="1440180">
                  <a:extLst>
                    <a:ext uri="{9D8B030D-6E8A-4147-A177-3AD203B41FA5}">
                      <a16:colId xmlns:a16="http://schemas.microsoft.com/office/drawing/2014/main" val="4013636719"/>
                    </a:ext>
                  </a:extLst>
                </a:gridCol>
                <a:gridCol w="1349692">
                  <a:extLst>
                    <a:ext uri="{9D8B030D-6E8A-4147-A177-3AD203B41FA5}">
                      <a16:colId xmlns:a16="http://schemas.microsoft.com/office/drawing/2014/main" val="3467447067"/>
                    </a:ext>
                  </a:extLst>
                </a:gridCol>
              </a:tblGrid>
              <a:tr h="592552">
                <a:tc>
                  <a:txBody>
                    <a:bodyPr/>
                    <a:lstStyle/>
                    <a:p>
                      <a:pPr algn="ctr"/>
                      <a:r>
                        <a:rPr lang="en-GB" sz="3200" dirty="0"/>
                        <a:t>ID</a:t>
                      </a:r>
                    </a:p>
                  </a:txBody>
                  <a:tcPr/>
                </a:tc>
                <a:tc>
                  <a:txBody>
                    <a:bodyPr/>
                    <a:lstStyle/>
                    <a:p>
                      <a:pPr algn="ctr"/>
                      <a:r>
                        <a:rPr lang="en-GB" sz="3200" dirty="0"/>
                        <a:t>Dept</a:t>
                      </a:r>
                    </a:p>
                  </a:txBody>
                  <a:tcPr/>
                </a:tc>
                <a:tc>
                  <a:txBody>
                    <a:bodyPr/>
                    <a:lstStyle/>
                    <a:p>
                      <a:pPr algn="ctr"/>
                      <a:r>
                        <a:rPr lang="en-GB" sz="3200" dirty="0"/>
                        <a:t>Phone</a:t>
                      </a:r>
                    </a:p>
                  </a:txBody>
                  <a:tcPr/>
                </a:tc>
                <a:extLst>
                  <a:ext uri="{0D108BD9-81ED-4DB2-BD59-A6C34878D82A}">
                    <a16:rowId xmlns:a16="http://schemas.microsoft.com/office/drawing/2014/main" val="3459615676"/>
                  </a:ext>
                </a:extLst>
              </a:tr>
              <a:tr h="592552">
                <a:tc>
                  <a:txBody>
                    <a:bodyPr/>
                    <a:lstStyle/>
                    <a:p>
                      <a:pPr lvl="0"/>
                      <a:r>
                        <a:rPr lang="en-GB" sz="3200" dirty="0"/>
                        <a:t>001</a:t>
                      </a:r>
                    </a:p>
                  </a:txBody>
                  <a:tcPr/>
                </a:tc>
                <a:tc>
                  <a:txBody>
                    <a:bodyPr/>
                    <a:lstStyle/>
                    <a:p>
                      <a:pPr lvl="0"/>
                      <a:r>
                        <a:rPr lang="en-GB" sz="3200" dirty="0"/>
                        <a:t>ICT</a:t>
                      </a:r>
                    </a:p>
                  </a:txBody>
                  <a:tcPr/>
                </a:tc>
                <a:tc>
                  <a:txBody>
                    <a:bodyPr/>
                    <a:lstStyle/>
                    <a:p>
                      <a:pPr lvl="0"/>
                      <a:r>
                        <a:rPr lang="en-GB" sz="3200" dirty="0"/>
                        <a:t>300</a:t>
                      </a:r>
                    </a:p>
                  </a:txBody>
                  <a:tcPr/>
                </a:tc>
                <a:extLst>
                  <a:ext uri="{0D108BD9-81ED-4DB2-BD59-A6C34878D82A}">
                    <a16:rowId xmlns:a16="http://schemas.microsoft.com/office/drawing/2014/main" val="1127765656"/>
                  </a:ext>
                </a:extLst>
              </a:tr>
              <a:tr h="592552">
                <a:tc>
                  <a:txBody>
                    <a:bodyPr/>
                    <a:lstStyle/>
                    <a:p>
                      <a:pPr lvl="0"/>
                      <a:r>
                        <a:rPr lang="en-GB" sz="3200" dirty="0"/>
                        <a:t>002</a:t>
                      </a:r>
                    </a:p>
                  </a:txBody>
                  <a:tcPr/>
                </a:tc>
                <a:tc>
                  <a:txBody>
                    <a:bodyPr/>
                    <a:lstStyle/>
                    <a:p>
                      <a:pPr lvl="0"/>
                      <a:r>
                        <a:rPr lang="en-GB" sz="3200" dirty="0"/>
                        <a:t>English</a:t>
                      </a:r>
                    </a:p>
                  </a:txBody>
                  <a:tcPr/>
                </a:tc>
                <a:tc>
                  <a:txBody>
                    <a:bodyPr/>
                    <a:lstStyle/>
                    <a:p>
                      <a:pPr lvl="0"/>
                      <a:r>
                        <a:rPr lang="en-GB" sz="3200" dirty="0"/>
                        <a:t>301</a:t>
                      </a:r>
                    </a:p>
                  </a:txBody>
                  <a:tcPr/>
                </a:tc>
                <a:extLst>
                  <a:ext uri="{0D108BD9-81ED-4DB2-BD59-A6C34878D82A}">
                    <a16:rowId xmlns:a16="http://schemas.microsoft.com/office/drawing/2014/main" val="81894544"/>
                  </a:ext>
                </a:extLst>
              </a:tr>
            </a:tbl>
          </a:graphicData>
        </a:graphic>
      </p:graphicFrame>
      <p:graphicFrame>
        <p:nvGraphicFramePr>
          <p:cNvPr id="5" name="Staff table">
            <a:extLst>
              <a:ext uri="{FF2B5EF4-FFF2-40B4-BE49-F238E27FC236}">
                <a16:creationId xmlns:a16="http://schemas.microsoft.com/office/drawing/2014/main" id="{38A8414E-6490-4AD8-90BD-DF0216F61C69}"/>
              </a:ext>
            </a:extLst>
          </p:cNvPr>
          <p:cNvGraphicFramePr>
            <a:graphicFrameLocks noGrp="1"/>
          </p:cNvGraphicFramePr>
          <p:nvPr>
            <p:ph idx="1"/>
          </p:nvPr>
        </p:nvGraphicFramePr>
        <p:xfrm>
          <a:off x="838200" y="2193925"/>
          <a:ext cx="5951220" cy="3555312"/>
        </p:xfrm>
        <a:graphic>
          <a:graphicData uri="http://schemas.openxmlformats.org/drawingml/2006/table">
            <a:tbl>
              <a:tblPr firstRow="1" bandRow="1">
                <a:tableStyleId>{5C22544A-7EE6-4342-B048-85BDC9FD1C3A}</a:tableStyleId>
              </a:tblPr>
              <a:tblGrid>
                <a:gridCol w="638492">
                  <a:extLst>
                    <a:ext uri="{9D8B030D-6E8A-4147-A177-3AD203B41FA5}">
                      <a16:colId xmlns:a16="http://schemas.microsoft.com/office/drawing/2014/main" val="1632358923"/>
                    </a:ext>
                  </a:extLst>
                </a:gridCol>
                <a:gridCol w="1973580">
                  <a:extLst>
                    <a:ext uri="{9D8B030D-6E8A-4147-A177-3AD203B41FA5}">
                      <a16:colId xmlns:a16="http://schemas.microsoft.com/office/drawing/2014/main" val="3505833113"/>
                    </a:ext>
                  </a:extLst>
                </a:gridCol>
                <a:gridCol w="1791018">
                  <a:extLst>
                    <a:ext uri="{9D8B030D-6E8A-4147-A177-3AD203B41FA5}">
                      <a16:colId xmlns:a16="http://schemas.microsoft.com/office/drawing/2014/main" val="3401749839"/>
                    </a:ext>
                  </a:extLst>
                </a:gridCol>
                <a:gridCol w="1548130">
                  <a:extLst>
                    <a:ext uri="{9D8B030D-6E8A-4147-A177-3AD203B41FA5}">
                      <a16:colId xmlns:a16="http://schemas.microsoft.com/office/drawing/2014/main" val="415971381"/>
                    </a:ext>
                  </a:extLst>
                </a:gridCol>
              </a:tblGrid>
              <a:tr h="592552">
                <a:tc>
                  <a:txBody>
                    <a:bodyPr/>
                    <a:lstStyle/>
                    <a:p>
                      <a:pPr algn="ctr"/>
                      <a:r>
                        <a:rPr lang="en-GB" sz="3200" dirty="0"/>
                        <a:t>ID</a:t>
                      </a:r>
                    </a:p>
                  </a:txBody>
                  <a:tcPr/>
                </a:tc>
                <a:tc>
                  <a:txBody>
                    <a:bodyPr/>
                    <a:lstStyle/>
                    <a:p>
                      <a:pPr algn="ctr"/>
                      <a:r>
                        <a:rPr lang="en-GB" sz="3200" dirty="0"/>
                        <a:t>Forename</a:t>
                      </a:r>
                    </a:p>
                  </a:txBody>
                  <a:tcPr/>
                </a:tc>
                <a:tc>
                  <a:txBody>
                    <a:bodyPr/>
                    <a:lstStyle/>
                    <a:p>
                      <a:pPr algn="ctr"/>
                      <a:r>
                        <a:rPr lang="en-GB" sz="3200" dirty="0"/>
                        <a:t>Surname</a:t>
                      </a:r>
                    </a:p>
                  </a:txBody>
                  <a:tcPr/>
                </a:tc>
                <a:tc>
                  <a:txBody>
                    <a:bodyPr/>
                    <a:lstStyle/>
                    <a:p>
                      <a:pPr algn="ctr"/>
                      <a:r>
                        <a:rPr lang="en-GB" sz="3200" dirty="0"/>
                        <a:t>Dept ID</a:t>
                      </a:r>
                    </a:p>
                  </a:txBody>
                  <a:tcPr/>
                </a:tc>
                <a:extLst>
                  <a:ext uri="{0D108BD9-81ED-4DB2-BD59-A6C34878D82A}">
                    <a16:rowId xmlns:a16="http://schemas.microsoft.com/office/drawing/2014/main" val="3459615676"/>
                  </a:ext>
                </a:extLst>
              </a:tr>
              <a:tr h="592552">
                <a:tc>
                  <a:txBody>
                    <a:bodyPr/>
                    <a:lstStyle/>
                    <a:p>
                      <a:pPr lvl="0"/>
                      <a:r>
                        <a:rPr lang="en-GB" sz="3200" dirty="0"/>
                        <a:t>1</a:t>
                      </a:r>
                    </a:p>
                  </a:txBody>
                  <a:tcPr/>
                </a:tc>
                <a:tc>
                  <a:txBody>
                    <a:bodyPr/>
                    <a:lstStyle/>
                    <a:p>
                      <a:pPr lvl="0" algn="l"/>
                      <a:r>
                        <a:rPr lang="en-GB" sz="3200" dirty="0"/>
                        <a:t>Colin</a:t>
                      </a:r>
                    </a:p>
                  </a:txBody>
                  <a:tcPr/>
                </a:tc>
                <a:tc>
                  <a:txBody>
                    <a:bodyPr/>
                    <a:lstStyle/>
                    <a:p>
                      <a:pPr lvl="0" algn="l"/>
                      <a:r>
                        <a:rPr lang="en-GB" sz="3200" dirty="0"/>
                        <a:t>Arthur</a:t>
                      </a:r>
                    </a:p>
                  </a:txBody>
                  <a:tcPr/>
                </a:tc>
                <a:tc>
                  <a:txBody>
                    <a:bodyPr/>
                    <a:lstStyle/>
                    <a:p>
                      <a:pPr lvl="0"/>
                      <a:r>
                        <a:rPr lang="en-GB" sz="3200" dirty="0"/>
                        <a:t>001</a:t>
                      </a:r>
                    </a:p>
                  </a:txBody>
                  <a:tcPr/>
                </a:tc>
                <a:extLst>
                  <a:ext uri="{0D108BD9-81ED-4DB2-BD59-A6C34878D82A}">
                    <a16:rowId xmlns:a16="http://schemas.microsoft.com/office/drawing/2014/main" val="1127765656"/>
                  </a:ext>
                </a:extLst>
              </a:tr>
              <a:tr h="592552">
                <a:tc>
                  <a:txBody>
                    <a:bodyPr/>
                    <a:lstStyle/>
                    <a:p>
                      <a:pPr lvl="0"/>
                      <a:r>
                        <a:rPr lang="en-GB" sz="3200" dirty="0"/>
                        <a:t>2</a:t>
                      </a:r>
                    </a:p>
                  </a:txBody>
                  <a:tcPr/>
                </a:tc>
                <a:tc>
                  <a:txBody>
                    <a:bodyPr/>
                    <a:lstStyle/>
                    <a:p>
                      <a:pPr lvl="0" algn="l"/>
                      <a:r>
                        <a:rPr lang="en-GB" sz="3200" dirty="0"/>
                        <a:t>Laura</a:t>
                      </a:r>
                    </a:p>
                  </a:txBody>
                  <a:tcPr/>
                </a:tc>
                <a:tc>
                  <a:txBody>
                    <a:bodyPr/>
                    <a:lstStyle/>
                    <a:p>
                      <a:pPr lvl="0" algn="l"/>
                      <a:r>
                        <a:rPr lang="en-GB" sz="3200" dirty="0"/>
                        <a:t>Brown</a:t>
                      </a:r>
                    </a:p>
                  </a:txBody>
                  <a:tcPr/>
                </a:tc>
                <a:tc>
                  <a:txBody>
                    <a:bodyPr/>
                    <a:lstStyle/>
                    <a:p>
                      <a:pPr lvl="0"/>
                      <a:r>
                        <a:rPr lang="en-GB" sz="3200" dirty="0"/>
                        <a:t>001</a:t>
                      </a:r>
                    </a:p>
                  </a:txBody>
                  <a:tcPr/>
                </a:tc>
                <a:extLst>
                  <a:ext uri="{0D108BD9-81ED-4DB2-BD59-A6C34878D82A}">
                    <a16:rowId xmlns:a16="http://schemas.microsoft.com/office/drawing/2014/main" val="2924661129"/>
                  </a:ext>
                </a:extLst>
              </a:tr>
              <a:tr h="592552">
                <a:tc>
                  <a:txBody>
                    <a:bodyPr/>
                    <a:lstStyle/>
                    <a:p>
                      <a:pPr lvl="0"/>
                      <a:r>
                        <a:rPr lang="en-GB" sz="3200" dirty="0"/>
                        <a:t>3</a:t>
                      </a:r>
                    </a:p>
                  </a:txBody>
                  <a:tcPr/>
                </a:tc>
                <a:tc>
                  <a:txBody>
                    <a:bodyPr/>
                    <a:lstStyle/>
                    <a:p>
                      <a:pPr lvl="0" algn="l"/>
                      <a:r>
                        <a:rPr lang="en-GB" sz="3200" dirty="0"/>
                        <a:t>Stephen</a:t>
                      </a:r>
                    </a:p>
                  </a:txBody>
                  <a:tcPr/>
                </a:tc>
                <a:tc>
                  <a:txBody>
                    <a:bodyPr/>
                    <a:lstStyle/>
                    <a:p>
                      <a:pPr lvl="0" algn="l"/>
                      <a:r>
                        <a:rPr lang="en-GB" sz="3200" dirty="0"/>
                        <a:t>MacLeod</a:t>
                      </a:r>
                    </a:p>
                  </a:txBody>
                  <a:tcPr/>
                </a:tc>
                <a:tc>
                  <a:txBody>
                    <a:bodyPr/>
                    <a:lstStyle/>
                    <a:p>
                      <a:pPr lvl="0"/>
                      <a:r>
                        <a:rPr lang="en-GB" sz="3200" dirty="0"/>
                        <a:t>001</a:t>
                      </a:r>
                    </a:p>
                  </a:txBody>
                  <a:tcPr/>
                </a:tc>
                <a:extLst>
                  <a:ext uri="{0D108BD9-81ED-4DB2-BD59-A6C34878D82A}">
                    <a16:rowId xmlns:a16="http://schemas.microsoft.com/office/drawing/2014/main" val="3885493841"/>
                  </a:ext>
                </a:extLst>
              </a:tr>
              <a:tr h="592552">
                <a:tc>
                  <a:txBody>
                    <a:bodyPr/>
                    <a:lstStyle/>
                    <a:p>
                      <a:pPr lvl="0"/>
                      <a:r>
                        <a:rPr lang="en-GB" sz="3200" dirty="0"/>
                        <a:t>4</a:t>
                      </a:r>
                    </a:p>
                  </a:txBody>
                  <a:tcPr/>
                </a:tc>
                <a:tc>
                  <a:txBody>
                    <a:bodyPr/>
                    <a:lstStyle/>
                    <a:p>
                      <a:pPr lvl="0" algn="l"/>
                      <a:r>
                        <a:rPr lang="en-GB" sz="3200" dirty="0"/>
                        <a:t>Scott</a:t>
                      </a:r>
                    </a:p>
                  </a:txBody>
                  <a:tcPr/>
                </a:tc>
                <a:tc>
                  <a:txBody>
                    <a:bodyPr/>
                    <a:lstStyle/>
                    <a:p>
                      <a:pPr lvl="0" algn="l"/>
                      <a:r>
                        <a:rPr lang="en-GB" sz="3200" dirty="0"/>
                        <a:t>Sinclair</a:t>
                      </a:r>
                    </a:p>
                  </a:txBody>
                  <a:tcPr/>
                </a:tc>
                <a:tc>
                  <a:txBody>
                    <a:bodyPr/>
                    <a:lstStyle/>
                    <a:p>
                      <a:pPr lvl="0"/>
                      <a:r>
                        <a:rPr lang="en-GB" sz="3200" dirty="0"/>
                        <a:t>002</a:t>
                      </a:r>
                    </a:p>
                  </a:txBody>
                  <a:tcPr/>
                </a:tc>
                <a:extLst>
                  <a:ext uri="{0D108BD9-81ED-4DB2-BD59-A6C34878D82A}">
                    <a16:rowId xmlns:a16="http://schemas.microsoft.com/office/drawing/2014/main" val="1487565366"/>
                  </a:ext>
                </a:extLst>
              </a:tr>
              <a:tr h="592552">
                <a:tc>
                  <a:txBody>
                    <a:bodyPr/>
                    <a:lstStyle/>
                    <a:p>
                      <a:pPr lvl="0"/>
                      <a:r>
                        <a:rPr lang="en-GB" sz="3200" dirty="0"/>
                        <a:t>5</a:t>
                      </a:r>
                    </a:p>
                  </a:txBody>
                  <a:tcPr/>
                </a:tc>
                <a:tc>
                  <a:txBody>
                    <a:bodyPr/>
                    <a:lstStyle/>
                    <a:p>
                      <a:pPr lvl="0" algn="l"/>
                      <a:r>
                        <a:rPr lang="en-GB" sz="3200" dirty="0"/>
                        <a:t>Michelle</a:t>
                      </a:r>
                    </a:p>
                  </a:txBody>
                  <a:tcPr/>
                </a:tc>
                <a:tc>
                  <a:txBody>
                    <a:bodyPr/>
                    <a:lstStyle/>
                    <a:p>
                      <a:pPr lvl="0" algn="l"/>
                      <a:r>
                        <a:rPr lang="en-GB" sz="3200" dirty="0"/>
                        <a:t>Wie</a:t>
                      </a:r>
                    </a:p>
                  </a:txBody>
                  <a:tcPr/>
                </a:tc>
                <a:tc>
                  <a:txBody>
                    <a:bodyPr/>
                    <a:lstStyle/>
                    <a:p>
                      <a:pPr lvl="0"/>
                      <a:r>
                        <a:rPr lang="en-GB" sz="3200" dirty="0"/>
                        <a:t>002</a:t>
                      </a:r>
                    </a:p>
                  </a:txBody>
                  <a:tcPr/>
                </a:tc>
                <a:extLst>
                  <a:ext uri="{0D108BD9-81ED-4DB2-BD59-A6C34878D82A}">
                    <a16:rowId xmlns:a16="http://schemas.microsoft.com/office/drawing/2014/main" val="81894544"/>
                  </a:ext>
                </a:extLst>
              </a:tr>
            </a:tbl>
          </a:graphicData>
        </a:graphic>
      </p:graphicFrame>
      <p:sp>
        <p:nvSpPr>
          <p:cNvPr id="9" name="Callout: Bent Line with No Border 4">
            <a:extLst>
              <a:ext uri="{FF2B5EF4-FFF2-40B4-BE49-F238E27FC236}">
                <a16:creationId xmlns:a16="http://schemas.microsoft.com/office/drawing/2014/main" id="{924404A3-ED4C-4699-9CA9-EFEB23F51AA9}"/>
              </a:ext>
            </a:extLst>
          </p:cNvPr>
          <p:cNvSpPr/>
          <p:nvPr/>
        </p:nvSpPr>
        <p:spPr>
          <a:xfrm>
            <a:off x="8731902" y="4266858"/>
            <a:ext cx="2228816" cy="487680"/>
          </a:xfrm>
          <a:prstGeom prst="callout2">
            <a:avLst>
              <a:gd name="adj1" fmla="val 52750"/>
              <a:gd name="adj2" fmla="val -2245"/>
              <a:gd name="adj3" fmla="val 53715"/>
              <a:gd name="adj4" fmla="val -18685"/>
              <a:gd name="adj5" fmla="val -58483"/>
              <a:gd name="adj6" fmla="val -26295"/>
            </a:avLst>
          </a:prstGeom>
          <a:noFill/>
          <a:ln w="38100">
            <a:solidFill>
              <a:srgbClr val="FF0000"/>
            </a:solidFill>
            <a:headEnd type="none" w="lg" len="lg"/>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chemeClr val="tx1"/>
                </a:solidFill>
              </a:rPr>
              <a:t>Primary Key</a:t>
            </a:r>
          </a:p>
        </p:txBody>
      </p:sp>
      <p:sp>
        <p:nvSpPr>
          <p:cNvPr id="12" name="Callout: Bent Line with No Border 4">
            <a:extLst>
              <a:ext uri="{FF2B5EF4-FFF2-40B4-BE49-F238E27FC236}">
                <a16:creationId xmlns:a16="http://schemas.microsoft.com/office/drawing/2014/main" id="{924404A3-ED4C-4699-9CA9-EFEB23F51AA9}"/>
              </a:ext>
            </a:extLst>
          </p:cNvPr>
          <p:cNvSpPr/>
          <p:nvPr/>
        </p:nvSpPr>
        <p:spPr>
          <a:xfrm>
            <a:off x="6224767" y="6084834"/>
            <a:ext cx="1942482" cy="487680"/>
          </a:xfrm>
          <a:prstGeom prst="callout2">
            <a:avLst>
              <a:gd name="adj1" fmla="val 52750"/>
              <a:gd name="adj2" fmla="val -2245"/>
              <a:gd name="adj3" fmla="val 53715"/>
              <a:gd name="adj4" fmla="val -16108"/>
              <a:gd name="adj5" fmla="val -53275"/>
              <a:gd name="adj6" fmla="val -22751"/>
            </a:avLst>
          </a:prstGeom>
          <a:noFill/>
          <a:ln w="38100">
            <a:solidFill>
              <a:srgbClr val="FF0000"/>
            </a:solidFill>
            <a:headEnd type="none" w="lg" len="lg"/>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chemeClr val="tx1"/>
                </a:solidFill>
              </a:rPr>
              <a:t>Foreign Key</a:t>
            </a:r>
          </a:p>
        </p:txBody>
      </p:sp>
      <p:sp>
        <p:nvSpPr>
          <p:cNvPr id="3" name="TextBox 2">
            <a:extLst>
              <a:ext uri="{FF2B5EF4-FFF2-40B4-BE49-F238E27FC236}">
                <a16:creationId xmlns:a16="http://schemas.microsoft.com/office/drawing/2014/main" id="{90265A99-404E-4BBB-940A-BBE407BE1CF0}"/>
              </a:ext>
            </a:extLst>
          </p:cNvPr>
          <p:cNvSpPr txBox="1"/>
          <p:nvPr/>
        </p:nvSpPr>
        <p:spPr>
          <a:xfrm>
            <a:off x="8641853" y="5275885"/>
            <a:ext cx="3022687" cy="523220"/>
          </a:xfrm>
          <a:prstGeom prst="rect">
            <a:avLst/>
          </a:prstGeom>
          <a:noFill/>
        </p:spPr>
        <p:txBody>
          <a:bodyPr wrap="none" rtlCol="0">
            <a:spAutoFit/>
          </a:bodyPr>
          <a:lstStyle/>
          <a:p>
            <a:r>
              <a:rPr lang="en-GB" sz="2800" b="1" dirty="0">
                <a:solidFill>
                  <a:srgbClr val="7030A0"/>
                </a:solidFill>
              </a:rPr>
              <a:t>FK must exist as PK</a:t>
            </a:r>
          </a:p>
        </p:txBody>
      </p:sp>
      <p:cxnSp>
        <p:nvCxnSpPr>
          <p:cNvPr id="7" name="Straight Arrow Connector 6">
            <a:extLst>
              <a:ext uri="{FF2B5EF4-FFF2-40B4-BE49-F238E27FC236}">
                <a16:creationId xmlns:a16="http://schemas.microsoft.com/office/drawing/2014/main" id="{8B19F821-1630-4A82-9343-B45712962E89}"/>
              </a:ext>
            </a:extLst>
          </p:cNvPr>
          <p:cNvCxnSpPr>
            <a:cxnSpLocks/>
          </p:cNvCxnSpPr>
          <p:nvPr/>
        </p:nvCxnSpPr>
        <p:spPr>
          <a:xfrm flipV="1">
            <a:off x="8077200" y="4754538"/>
            <a:ext cx="654702" cy="1461205"/>
          </a:xfrm>
          <a:prstGeom prst="straightConnector1">
            <a:avLst/>
          </a:prstGeom>
          <a:ln w="57150">
            <a:solidFill>
              <a:schemeClr val="accent6">
                <a:lumMod val="75000"/>
              </a:schemeClr>
            </a:solidFill>
            <a:headEnd w="lg" len="lg"/>
            <a:tailEnd type="triangle" w="lg" len="lg"/>
          </a:ln>
        </p:spPr>
        <p:style>
          <a:lnRef idx="1">
            <a:schemeClr val="accent1"/>
          </a:lnRef>
          <a:fillRef idx="0">
            <a:schemeClr val="accent1"/>
          </a:fillRef>
          <a:effectRef idx="0">
            <a:schemeClr val="accent1"/>
          </a:effectRef>
          <a:fontRef idx="minor">
            <a:schemeClr val="tx1"/>
          </a:fontRef>
        </p:style>
      </p:cxnSp>
      <p:sp>
        <p:nvSpPr>
          <p:cNvPr id="11" name="TextBox 10">
            <a:extLst>
              <a:ext uri="{FF2B5EF4-FFF2-40B4-BE49-F238E27FC236}">
                <a16:creationId xmlns:a16="http://schemas.microsoft.com/office/drawing/2014/main" id="{1AE06D28-11F6-4B00-9143-0A331BA0EA0C}"/>
              </a:ext>
            </a:extLst>
          </p:cNvPr>
          <p:cNvSpPr txBox="1"/>
          <p:nvPr/>
        </p:nvSpPr>
        <p:spPr>
          <a:xfrm>
            <a:off x="765336" y="1690688"/>
            <a:ext cx="2314544" cy="523220"/>
          </a:xfrm>
          <a:prstGeom prst="rect">
            <a:avLst/>
          </a:prstGeom>
          <a:noFill/>
        </p:spPr>
        <p:txBody>
          <a:bodyPr wrap="none" rtlCol="0">
            <a:spAutoFit/>
          </a:bodyPr>
          <a:lstStyle/>
          <a:p>
            <a:r>
              <a:rPr lang="en-GB" sz="2800" b="1" dirty="0"/>
              <a:t>Table: Teacher</a:t>
            </a:r>
          </a:p>
        </p:txBody>
      </p:sp>
      <p:sp>
        <p:nvSpPr>
          <p:cNvPr id="13" name="TextBox 12">
            <a:extLst>
              <a:ext uri="{FF2B5EF4-FFF2-40B4-BE49-F238E27FC236}">
                <a16:creationId xmlns:a16="http://schemas.microsoft.com/office/drawing/2014/main" id="{BF5ACEA5-5A64-494C-866E-0DBDECA33BE1}"/>
              </a:ext>
            </a:extLst>
          </p:cNvPr>
          <p:cNvSpPr txBox="1"/>
          <p:nvPr/>
        </p:nvSpPr>
        <p:spPr>
          <a:xfrm>
            <a:off x="7625208" y="1695786"/>
            <a:ext cx="2973827" cy="523220"/>
          </a:xfrm>
          <a:prstGeom prst="rect">
            <a:avLst/>
          </a:prstGeom>
          <a:noFill/>
        </p:spPr>
        <p:txBody>
          <a:bodyPr wrap="none" rtlCol="0">
            <a:spAutoFit/>
          </a:bodyPr>
          <a:lstStyle/>
          <a:p>
            <a:r>
              <a:rPr lang="en-GB" sz="2800" b="1" dirty="0"/>
              <a:t>Table: Department</a:t>
            </a:r>
          </a:p>
        </p:txBody>
      </p:sp>
    </p:spTree>
    <p:extLst>
      <p:ext uri="{BB962C8B-B14F-4D97-AF65-F5344CB8AC3E}">
        <p14:creationId xmlns:p14="http://schemas.microsoft.com/office/powerpoint/2010/main" val="108666150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animEffect transition="in" filter="fade">
                                      <p:cBhvr>
                                        <p:cTn id="7" dur="1000"/>
                                        <p:tgtEl>
                                          <p:spTgt spid="9"/>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12"/>
                                        </p:tgtEl>
                                        <p:attrNameLst>
                                          <p:attrName>style.visibility</p:attrName>
                                        </p:attrNameLst>
                                      </p:cBhvr>
                                      <p:to>
                                        <p:strVal val="visible"/>
                                      </p:to>
                                    </p:set>
                                    <p:animEffect transition="in" filter="fade">
                                      <p:cBhvr>
                                        <p:cTn id="12" dur="1000"/>
                                        <p:tgtEl>
                                          <p:spTgt spid="12"/>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4" fill="hold" nodeType="clickEffect">
                                  <p:stCondLst>
                                    <p:cond delay="0"/>
                                  </p:stCondLst>
                                  <p:childTnLst>
                                    <p:set>
                                      <p:cBhvr>
                                        <p:cTn id="16" dur="1" fill="hold">
                                          <p:stCondLst>
                                            <p:cond delay="0"/>
                                          </p:stCondLst>
                                        </p:cTn>
                                        <p:tgtEl>
                                          <p:spTgt spid="7"/>
                                        </p:tgtEl>
                                        <p:attrNameLst>
                                          <p:attrName>style.visibility</p:attrName>
                                        </p:attrNameLst>
                                      </p:cBhvr>
                                      <p:to>
                                        <p:strVal val="visible"/>
                                      </p:to>
                                    </p:set>
                                    <p:animEffect transition="in" filter="wipe(down)">
                                      <p:cBhvr>
                                        <p:cTn id="17" dur="1000"/>
                                        <p:tgtEl>
                                          <p:spTgt spid="7"/>
                                        </p:tgtEl>
                                      </p:cBhvr>
                                    </p:animEffect>
                                  </p:childTnLst>
                                </p:cTn>
                              </p:par>
                              <p:par>
                                <p:cTn id="18" presetID="22" presetClass="entr" presetSubtype="8" fill="hold" grpId="0" nodeType="withEffect">
                                  <p:stCondLst>
                                    <p:cond delay="0"/>
                                  </p:stCondLst>
                                  <p:childTnLst>
                                    <p:set>
                                      <p:cBhvr>
                                        <p:cTn id="19" dur="1" fill="hold">
                                          <p:stCondLst>
                                            <p:cond delay="0"/>
                                          </p:stCondLst>
                                        </p:cTn>
                                        <p:tgtEl>
                                          <p:spTgt spid="3"/>
                                        </p:tgtEl>
                                        <p:attrNameLst>
                                          <p:attrName>style.visibility</p:attrName>
                                        </p:attrNameLst>
                                      </p:cBhvr>
                                      <p:to>
                                        <p:strVal val="visible"/>
                                      </p:to>
                                    </p:set>
                                    <p:animEffect transition="in" filter="wipe(left)">
                                      <p:cBhvr>
                                        <p:cTn id="20" dur="1000"/>
                                        <p:tgtEl>
                                          <p:spTgt spid="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animBg="1"/>
      <p:bldP spid="12" grpId="0" animBg="1"/>
      <p:bldP spid="3" grpId="0"/>
    </p:bldLst>
  </p:timing>
</p:sld>
</file>

<file path=ppt/slides/slide21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Referential integrity</a:t>
            </a:r>
          </a:p>
        </p:txBody>
      </p:sp>
      <p:graphicFrame>
        <p:nvGraphicFramePr>
          <p:cNvPr id="14" name="Dept table">
            <a:extLst>
              <a:ext uri="{FF2B5EF4-FFF2-40B4-BE49-F238E27FC236}">
                <a16:creationId xmlns:a16="http://schemas.microsoft.com/office/drawing/2014/main" id="{844D8AF2-45F4-4D3A-A16B-FDE72F88C3EB}"/>
              </a:ext>
            </a:extLst>
          </p:cNvPr>
          <p:cNvGraphicFramePr>
            <a:graphicFrameLocks/>
          </p:cNvGraphicFramePr>
          <p:nvPr/>
        </p:nvGraphicFramePr>
        <p:xfrm>
          <a:off x="7669848" y="2193925"/>
          <a:ext cx="3683952" cy="1777656"/>
        </p:xfrm>
        <a:graphic>
          <a:graphicData uri="http://schemas.openxmlformats.org/drawingml/2006/table">
            <a:tbl>
              <a:tblPr firstRow="1" bandRow="1">
                <a:tableStyleId>{5C22544A-7EE6-4342-B048-85BDC9FD1C3A}</a:tableStyleId>
              </a:tblPr>
              <a:tblGrid>
                <a:gridCol w="894080">
                  <a:extLst>
                    <a:ext uri="{9D8B030D-6E8A-4147-A177-3AD203B41FA5}">
                      <a16:colId xmlns:a16="http://schemas.microsoft.com/office/drawing/2014/main" val="415971381"/>
                    </a:ext>
                  </a:extLst>
                </a:gridCol>
                <a:gridCol w="1440180">
                  <a:extLst>
                    <a:ext uri="{9D8B030D-6E8A-4147-A177-3AD203B41FA5}">
                      <a16:colId xmlns:a16="http://schemas.microsoft.com/office/drawing/2014/main" val="4013636719"/>
                    </a:ext>
                  </a:extLst>
                </a:gridCol>
                <a:gridCol w="1349692">
                  <a:extLst>
                    <a:ext uri="{9D8B030D-6E8A-4147-A177-3AD203B41FA5}">
                      <a16:colId xmlns:a16="http://schemas.microsoft.com/office/drawing/2014/main" val="3467447067"/>
                    </a:ext>
                  </a:extLst>
                </a:gridCol>
              </a:tblGrid>
              <a:tr h="592552">
                <a:tc>
                  <a:txBody>
                    <a:bodyPr/>
                    <a:lstStyle/>
                    <a:p>
                      <a:pPr algn="ctr"/>
                      <a:r>
                        <a:rPr lang="en-GB" sz="3200" dirty="0"/>
                        <a:t>ID</a:t>
                      </a:r>
                    </a:p>
                  </a:txBody>
                  <a:tcPr/>
                </a:tc>
                <a:tc>
                  <a:txBody>
                    <a:bodyPr/>
                    <a:lstStyle/>
                    <a:p>
                      <a:pPr algn="ctr"/>
                      <a:r>
                        <a:rPr lang="en-GB" sz="3200" dirty="0"/>
                        <a:t>Dept</a:t>
                      </a:r>
                    </a:p>
                  </a:txBody>
                  <a:tcPr/>
                </a:tc>
                <a:tc>
                  <a:txBody>
                    <a:bodyPr/>
                    <a:lstStyle/>
                    <a:p>
                      <a:pPr algn="ctr"/>
                      <a:r>
                        <a:rPr lang="en-GB" sz="3200" dirty="0"/>
                        <a:t>Phone</a:t>
                      </a:r>
                    </a:p>
                  </a:txBody>
                  <a:tcPr/>
                </a:tc>
                <a:extLst>
                  <a:ext uri="{0D108BD9-81ED-4DB2-BD59-A6C34878D82A}">
                    <a16:rowId xmlns:a16="http://schemas.microsoft.com/office/drawing/2014/main" val="3459615676"/>
                  </a:ext>
                </a:extLst>
              </a:tr>
              <a:tr h="592552">
                <a:tc>
                  <a:txBody>
                    <a:bodyPr/>
                    <a:lstStyle/>
                    <a:p>
                      <a:pPr lvl="0"/>
                      <a:r>
                        <a:rPr lang="en-GB" sz="3200" dirty="0"/>
                        <a:t>001</a:t>
                      </a:r>
                    </a:p>
                  </a:txBody>
                  <a:tcPr/>
                </a:tc>
                <a:tc>
                  <a:txBody>
                    <a:bodyPr/>
                    <a:lstStyle/>
                    <a:p>
                      <a:pPr lvl="0"/>
                      <a:r>
                        <a:rPr lang="en-GB" sz="3200" dirty="0"/>
                        <a:t>ICT</a:t>
                      </a:r>
                    </a:p>
                  </a:txBody>
                  <a:tcPr/>
                </a:tc>
                <a:tc>
                  <a:txBody>
                    <a:bodyPr/>
                    <a:lstStyle/>
                    <a:p>
                      <a:pPr lvl="0"/>
                      <a:r>
                        <a:rPr lang="en-GB" sz="3200" dirty="0"/>
                        <a:t>300</a:t>
                      </a:r>
                    </a:p>
                  </a:txBody>
                  <a:tcPr/>
                </a:tc>
                <a:extLst>
                  <a:ext uri="{0D108BD9-81ED-4DB2-BD59-A6C34878D82A}">
                    <a16:rowId xmlns:a16="http://schemas.microsoft.com/office/drawing/2014/main" val="1127765656"/>
                  </a:ext>
                </a:extLst>
              </a:tr>
              <a:tr h="592552">
                <a:tc>
                  <a:txBody>
                    <a:bodyPr/>
                    <a:lstStyle/>
                    <a:p>
                      <a:pPr lvl="0"/>
                      <a:r>
                        <a:rPr lang="en-GB" sz="3200" dirty="0"/>
                        <a:t>002</a:t>
                      </a:r>
                    </a:p>
                  </a:txBody>
                  <a:tcPr/>
                </a:tc>
                <a:tc>
                  <a:txBody>
                    <a:bodyPr/>
                    <a:lstStyle/>
                    <a:p>
                      <a:pPr lvl="0"/>
                      <a:r>
                        <a:rPr lang="en-GB" sz="3200" dirty="0"/>
                        <a:t>English</a:t>
                      </a:r>
                    </a:p>
                  </a:txBody>
                  <a:tcPr/>
                </a:tc>
                <a:tc>
                  <a:txBody>
                    <a:bodyPr/>
                    <a:lstStyle/>
                    <a:p>
                      <a:pPr lvl="0"/>
                      <a:r>
                        <a:rPr lang="en-GB" sz="3200" dirty="0"/>
                        <a:t>301</a:t>
                      </a:r>
                    </a:p>
                  </a:txBody>
                  <a:tcPr/>
                </a:tc>
                <a:extLst>
                  <a:ext uri="{0D108BD9-81ED-4DB2-BD59-A6C34878D82A}">
                    <a16:rowId xmlns:a16="http://schemas.microsoft.com/office/drawing/2014/main" val="81894544"/>
                  </a:ext>
                </a:extLst>
              </a:tr>
            </a:tbl>
          </a:graphicData>
        </a:graphic>
      </p:graphicFrame>
      <p:graphicFrame>
        <p:nvGraphicFramePr>
          <p:cNvPr id="5" name="Staff table">
            <a:extLst>
              <a:ext uri="{FF2B5EF4-FFF2-40B4-BE49-F238E27FC236}">
                <a16:creationId xmlns:a16="http://schemas.microsoft.com/office/drawing/2014/main" id="{38A8414E-6490-4AD8-90BD-DF0216F61C69}"/>
              </a:ext>
            </a:extLst>
          </p:cNvPr>
          <p:cNvGraphicFramePr>
            <a:graphicFrameLocks noGrp="1"/>
          </p:cNvGraphicFramePr>
          <p:nvPr>
            <p:ph idx="1"/>
          </p:nvPr>
        </p:nvGraphicFramePr>
        <p:xfrm>
          <a:off x="838200" y="2193925"/>
          <a:ext cx="5951220" cy="3555312"/>
        </p:xfrm>
        <a:graphic>
          <a:graphicData uri="http://schemas.openxmlformats.org/drawingml/2006/table">
            <a:tbl>
              <a:tblPr firstRow="1" bandRow="1">
                <a:tableStyleId>{5C22544A-7EE6-4342-B048-85BDC9FD1C3A}</a:tableStyleId>
              </a:tblPr>
              <a:tblGrid>
                <a:gridCol w="638492">
                  <a:extLst>
                    <a:ext uri="{9D8B030D-6E8A-4147-A177-3AD203B41FA5}">
                      <a16:colId xmlns:a16="http://schemas.microsoft.com/office/drawing/2014/main" val="1632358923"/>
                    </a:ext>
                  </a:extLst>
                </a:gridCol>
                <a:gridCol w="1973580">
                  <a:extLst>
                    <a:ext uri="{9D8B030D-6E8A-4147-A177-3AD203B41FA5}">
                      <a16:colId xmlns:a16="http://schemas.microsoft.com/office/drawing/2014/main" val="3505833113"/>
                    </a:ext>
                  </a:extLst>
                </a:gridCol>
                <a:gridCol w="1791018">
                  <a:extLst>
                    <a:ext uri="{9D8B030D-6E8A-4147-A177-3AD203B41FA5}">
                      <a16:colId xmlns:a16="http://schemas.microsoft.com/office/drawing/2014/main" val="3401749839"/>
                    </a:ext>
                  </a:extLst>
                </a:gridCol>
                <a:gridCol w="1548130">
                  <a:extLst>
                    <a:ext uri="{9D8B030D-6E8A-4147-A177-3AD203B41FA5}">
                      <a16:colId xmlns:a16="http://schemas.microsoft.com/office/drawing/2014/main" val="415971381"/>
                    </a:ext>
                  </a:extLst>
                </a:gridCol>
              </a:tblGrid>
              <a:tr h="592552">
                <a:tc>
                  <a:txBody>
                    <a:bodyPr/>
                    <a:lstStyle/>
                    <a:p>
                      <a:pPr algn="ctr"/>
                      <a:r>
                        <a:rPr lang="en-GB" sz="3200" dirty="0"/>
                        <a:t>ID</a:t>
                      </a:r>
                    </a:p>
                  </a:txBody>
                  <a:tcPr/>
                </a:tc>
                <a:tc>
                  <a:txBody>
                    <a:bodyPr/>
                    <a:lstStyle/>
                    <a:p>
                      <a:pPr algn="ctr"/>
                      <a:r>
                        <a:rPr lang="en-GB" sz="3200" dirty="0"/>
                        <a:t>Forename</a:t>
                      </a:r>
                    </a:p>
                  </a:txBody>
                  <a:tcPr/>
                </a:tc>
                <a:tc>
                  <a:txBody>
                    <a:bodyPr/>
                    <a:lstStyle/>
                    <a:p>
                      <a:pPr algn="ctr"/>
                      <a:r>
                        <a:rPr lang="en-GB" sz="3200" dirty="0"/>
                        <a:t>Surname</a:t>
                      </a:r>
                    </a:p>
                  </a:txBody>
                  <a:tcPr/>
                </a:tc>
                <a:tc>
                  <a:txBody>
                    <a:bodyPr/>
                    <a:lstStyle/>
                    <a:p>
                      <a:pPr algn="ctr"/>
                      <a:r>
                        <a:rPr lang="en-GB" sz="3200" dirty="0"/>
                        <a:t>Dept ID</a:t>
                      </a:r>
                    </a:p>
                  </a:txBody>
                  <a:tcPr/>
                </a:tc>
                <a:extLst>
                  <a:ext uri="{0D108BD9-81ED-4DB2-BD59-A6C34878D82A}">
                    <a16:rowId xmlns:a16="http://schemas.microsoft.com/office/drawing/2014/main" val="3459615676"/>
                  </a:ext>
                </a:extLst>
              </a:tr>
              <a:tr h="592552">
                <a:tc>
                  <a:txBody>
                    <a:bodyPr/>
                    <a:lstStyle/>
                    <a:p>
                      <a:pPr lvl="0"/>
                      <a:r>
                        <a:rPr lang="en-GB" sz="3200" dirty="0"/>
                        <a:t>1</a:t>
                      </a:r>
                    </a:p>
                  </a:txBody>
                  <a:tcPr/>
                </a:tc>
                <a:tc>
                  <a:txBody>
                    <a:bodyPr/>
                    <a:lstStyle/>
                    <a:p>
                      <a:pPr lvl="0" algn="l"/>
                      <a:r>
                        <a:rPr lang="en-GB" sz="3200" dirty="0"/>
                        <a:t>Colin</a:t>
                      </a:r>
                    </a:p>
                  </a:txBody>
                  <a:tcPr/>
                </a:tc>
                <a:tc>
                  <a:txBody>
                    <a:bodyPr/>
                    <a:lstStyle/>
                    <a:p>
                      <a:pPr lvl="0" algn="l"/>
                      <a:r>
                        <a:rPr lang="en-GB" sz="3200" dirty="0"/>
                        <a:t>Arthur</a:t>
                      </a:r>
                    </a:p>
                  </a:txBody>
                  <a:tcPr/>
                </a:tc>
                <a:tc>
                  <a:txBody>
                    <a:bodyPr/>
                    <a:lstStyle/>
                    <a:p>
                      <a:pPr lvl="0"/>
                      <a:r>
                        <a:rPr lang="en-GB" sz="3200" dirty="0"/>
                        <a:t>001</a:t>
                      </a:r>
                    </a:p>
                  </a:txBody>
                  <a:tcPr/>
                </a:tc>
                <a:extLst>
                  <a:ext uri="{0D108BD9-81ED-4DB2-BD59-A6C34878D82A}">
                    <a16:rowId xmlns:a16="http://schemas.microsoft.com/office/drawing/2014/main" val="1127765656"/>
                  </a:ext>
                </a:extLst>
              </a:tr>
              <a:tr h="592552">
                <a:tc>
                  <a:txBody>
                    <a:bodyPr/>
                    <a:lstStyle/>
                    <a:p>
                      <a:pPr lvl="0"/>
                      <a:r>
                        <a:rPr lang="en-GB" sz="3200" dirty="0"/>
                        <a:t>2</a:t>
                      </a:r>
                    </a:p>
                  </a:txBody>
                  <a:tcPr/>
                </a:tc>
                <a:tc>
                  <a:txBody>
                    <a:bodyPr/>
                    <a:lstStyle/>
                    <a:p>
                      <a:pPr lvl="0" algn="l"/>
                      <a:r>
                        <a:rPr lang="en-GB" sz="3200" dirty="0"/>
                        <a:t>Laura</a:t>
                      </a:r>
                    </a:p>
                  </a:txBody>
                  <a:tcPr/>
                </a:tc>
                <a:tc>
                  <a:txBody>
                    <a:bodyPr/>
                    <a:lstStyle/>
                    <a:p>
                      <a:pPr lvl="0" algn="l"/>
                      <a:r>
                        <a:rPr lang="en-GB" sz="3200" dirty="0"/>
                        <a:t>Brown</a:t>
                      </a:r>
                    </a:p>
                  </a:txBody>
                  <a:tcPr/>
                </a:tc>
                <a:tc>
                  <a:txBody>
                    <a:bodyPr/>
                    <a:lstStyle/>
                    <a:p>
                      <a:pPr lvl="0"/>
                      <a:r>
                        <a:rPr lang="en-GB" sz="3200" dirty="0"/>
                        <a:t>001</a:t>
                      </a:r>
                    </a:p>
                  </a:txBody>
                  <a:tcPr/>
                </a:tc>
                <a:extLst>
                  <a:ext uri="{0D108BD9-81ED-4DB2-BD59-A6C34878D82A}">
                    <a16:rowId xmlns:a16="http://schemas.microsoft.com/office/drawing/2014/main" val="2924661129"/>
                  </a:ext>
                </a:extLst>
              </a:tr>
              <a:tr h="592552">
                <a:tc>
                  <a:txBody>
                    <a:bodyPr/>
                    <a:lstStyle/>
                    <a:p>
                      <a:pPr lvl="0"/>
                      <a:r>
                        <a:rPr lang="en-GB" sz="3200" dirty="0"/>
                        <a:t>3</a:t>
                      </a:r>
                    </a:p>
                  </a:txBody>
                  <a:tcPr/>
                </a:tc>
                <a:tc>
                  <a:txBody>
                    <a:bodyPr/>
                    <a:lstStyle/>
                    <a:p>
                      <a:pPr lvl="0" algn="l"/>
                      <a:r>
                        <a:rPr lang="en-GB" sz="3200" dirty="0"/>
                        <a:t>Stephen</a:t>
                      </a:r>
                    </a:p>
                  </a:txBody>
                  <a:tcPr/>
                </a:tc>
                <a:tc>
                  <a:txBody>
                    <a:bodyPr/>
                    <a:lstStyle/>
                    <a:p>
                      <a:pPr lvl="0" algn="l"/>
                      <a:r>
                        <a:rPr lang="en-GB" sz="3200" dirty="0"/>
                        <a:t>MacLeod</a:t>
                      </a:r>
                    </a:p>
                  </a:txBody>
                  <a:tcPr/>
                </a:tc>
                <a:tc>
                  <a:txBody>
                    <a:bodyPr/>
                    <a:lstStyle/>
                    <a:p>
                      <a:pPr lvl="0"/>
                      <a:r>
                        <a:rPr lang="en-GB" sz="3200" dirty="0"/>
                        <a:t>001</a:t>
                      </a:r>
                    </a:p>
                  </a:txBody>
                  <a:tcPr/>
                </a:tc>
                <a:extLst>
                  <a:ext uri="{0D108BD9-81ED-4DB2-BD59-A6C34878D82A}">
                    <a16:rowId xmlns:a16="http://schemas.microsoft.com/office/drawing/2014/main" val="3885493841"/>
                  </a:ext>
                </a:extLst>
              </a:tr>
              <a:tr h="592552">
                <a:tc>
                  <a:txBody>
                    <a:bodyPr/>
                    <a:lstStyle/>
                    <a:p>
                      <a:pPr lvl="0"/>
                      <a:r>
                        <a:rPr lang="en-GB" sz="3200" dirty="0"/>
                        <a:t>4</a:t>
                      </a:r>
                    </a:p>
                  </a:txBody>
                  <a:tcPr/>
                </a:tc>
                <a:tc>
                  <a:txBody>
                    <a:bodyPr/>
                    <a:lstStyle/>
                    <a:p>
                      <a:pPr lvl="0" algn="l"/>
                      <a:r>
                        <a:rPr lang="en-GB" sz="3200" dirty="0"/>
                        <a:t>Scott</a:t>
                      </a:r>
                    </a:p>
                  </a:txBody>
                  <a:tcPr/>
                </a:tc>
                <a:tc>
                  <a:txBody>
                    <a:bodyPr/>
                    <a:lstStyle/>
                    <a:p>
                      <a:pPr lvl="0" algn="l"/>
                      <a:r>
                        <a:rPr lang="en-GB" sz="3200" dirty="0"/>
                        <a:t>Sinclair</a:t>
                      </a:r>
                    </a:p>
                  </a:txBody>
                  <a:tcPr/>
                </a:tc>
                <a:tc>
                  <a:txBody>
                    <a:bodyPr/>
                    <a:lstStyle/>
                    <a:p>
                      <a:pPr lvl="0"/>
                      <a:r>
                        <a:rPr lang="en-GB" sz="3200" dirty="0"/>
                        <a:t>002</a:t>
                      </a:r>
                    </a:p>
                  </a:txBody>
                  <a:tcPr/>
                </a:tc>
                <a:extLst>
                  <a:ext uri="{0D108BD9-81ED-4DB2-BD59-A6C34878D82A}">
                    <a16:rowId xmlns:a16="http://schemas.microsoft.com/office/drawing/2014/main" val="1487565366"/>
                  </a:ext>
                </a:extLst>
              </a:tr>
              <a:tr h="592552">
                <a:tc>
                  <a:txBody>
                    <a:bodyPr/>
                    <a:lstStyle/>
                    <a:p>
                      <a:pPr lvl="0"/>
                      <a:r>
                        <a:rPr lang="en-GB" sz="3200" dirty="0"/>
                        <a:t>5</a:t>
                      </a:r>
                    </a:p>
                  </a:txBody>
                  <a:tcPr/>
                </a:tc>
                <a:tc>
                  <a:txBody>
                    <a:bodyPr/>
                    <a:lstStyle/>
                    <a:p>
                      <a:pPr lvl="0" algn="l"/>
                      <a:r>
                        <a:rPr lang="en-GB" sz="3200" dirty="0"/>
                        <a:t>Michelle</a:t>
                      </a:r>
                    </a:p>
                  </a:txBody>
                  <a:tcPr/>
                </a:tc>
                <a:tc>
                  <a:txBody>
                    <a:bodyPr/>
                    <a:lstStyle/>
                    <a:p>
                      <a:pPr lvl="0" algn="l"/>
                      <a:r>
                        <a:rPr lang="en-GB" sz="3200" dirty="0"/>
                        <a:t>Wie</a:t>
                      </a:r>
                    </a:p>
                  </a:txBody>
                  <a:tcPr/>
                </a:tc>
                <a:tc>
                  <a:txBody>
                    <a:bodyPr/>
                    <a:lstStyle/>
                    <a:p>
                      <a:pPr lvl="0"/>
                      <a:r>
                        <a:rPr lang="en-GB" sz="3200" dirty="0"/>
                        <a:t>002</a:t>
                      </a:r>
                    </a:p>
                  </a:txBody>
                  <a:tcPr/>
                </a:tc>
                <a:extLst>
                  <a:ext uri="{0D108BD9-81ED-4DB2-BD59-A6C34878D82A}">
                    <a16:rowId xmlns:a16="http://schemas.microsoft.com/office/drawing/2014/main" val="81894544"/>
                  </a:ext>
                </a:extLst>
              </a:tr>
            </a:tbl>
          </a:graphicData>
        </a:graphic>
      </p:graphicFrame>
      <p:sp>
        <p:nvSpPr>
          <p:cNvPr id="10" name="TextBox 9">
            <a:extLst>
              <a:ext uri="{FF2B5EF4-FFF2-40B4-BE49-F238E27FC236}">
                <a16:creationId xmlns:a16="http://schemas.microsoft.com/office/drawing/2014/main" id="{5F14D380-616D-45A7-84B7-EE7C07DD7F42}"/>
              </a:ext>
            </a:extLst>
          </p:cNvPr>
          <p:cNvSpPr txBox="1"/>
          <p:nvPr/>
        </p:nvSpPr>
        <p:spPr>
          <a:xfrm>
            <a:off x="765336" y="1690688"/>
            <a:ext cx="2314544" cy="523220"/>
          </a:xfrm>
          <a:prstGeom prst="rect">
            <a:avLst/>
          </a:prstGeom>
          <a:noFill/>
        </p:spPr>
        <p:txBody>
          <a:bodyPr wrap="none" rtlCol="0">
            <a:spAutoFit/>
          </a:bodyPr>
          <a:lstStyle/>
          <a:p>
            <a:r>
              <a:rPr lang="en-GB" sz="2800" b="1" dirty="0"/>
              <a:t>Table: Teacher</a:t>
            </a:r>
          </a:p>
        </p:txBody>
      </p:sp>
      <p:sp>
        <p:nvSpPr>
          <p:cNvPr id="11" name="TextBox 10">
            <a:extLst>
              <a:ext uri="{FF2B5EF4-FFF2-40B4-BE49-F238E27FC236}">
                <a16:creationId xmlns:a16="http://schemas.microsoft.com/office/drawing/2014/main" id="{783B55CB-C0B3-440A-9A05-B9D9F1EA62FB}"/>
              </a:ext>
            </a:extLst>
          </p:cNvPr>
          <p:cNvSpPr txBox="1"/>
          <p:nvPr/>
        </p:nvSpPr>
        <p:spPr>
          <a:xfrm>
            <a:off x="7625208" y="1695786"/>
            <a:ext cx="2973827" cy="523220"/>
          </a:xfrm>
          <a:prstGeom prst="rect">
            <a:avLst/>
          </a:prstGeom>
          <a:noFill/>
        </p:spPr>
        <p:txBody>
          <a:bodyPr wrap="none" rtlCol="0">
            <a:spAutoFit/>
          </a:bodyPr>
          <a:lstStyle/>
          <a:p>
            <a:r>
              <a:rPr lang="en-GB" sz="2800" b="1" dirty="0"/>
              <a:t>Table: Department</a:t>
            </a:r>
          </a:p>
        </p:txBody>
      </p:sp>
    </p:spTree>
    <p:extLst>
      <p:ext uri="{BB962C8B-B14F-4D97-AF65-F5344CB8AC3E}">
        <p14:creationId xmlns:p14="http://schemas.microsoft.com/office/powerpoint/2010/main" val="2488951236"/>
      </p:ext>
    </p:extLst>
  </p:cSld>
  <p:clrMapOvr>
    <a:masterClrMapping/>
  </p:clrMapOvr>
</p:sld>
</file>

<file path=ppt/slides/slide2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Data Dictionary (3)</a:t>
            </a:r>
          </a:p>
        </p:txBody>
      </p:sp>
      <p:graphicFrame>
        <p:nvGraphicFramePr>
          <p:cNvPr id="5" name="Table 5">
            <a:extLst>
              <a:ext uri="{FF2B5EF4-FFF2-40B4-BE49-F238E27FC236}">
                <a16:creationId xmlns:a16="http://schemas.microsoft.com/office/drawing/2014/main" id="{38A8414E-6490-4AD8-90BD-DF0216F61C69}"/>
              </a:ext>
            </a:extLst>
          </p:cNvPr>
          <p:cNvGraphicFramePr>
            <a:graphicFrameLocks noGrp="1"/>
          </p:cNvGraphicFramePr>
          <p:nvPr>
            <p:ph idx="1"/>
            <p:extLst>
              <p:ext uri="{D42A27DB-BD31-4B8C-83A1-F6EECF244321}">
                <p14:modId xmlns:p14="http://schemas.microsoft.com/office/powerpoint/2010/main" val="1496386805"/>
              </p:ext>
            </p:extLst>
          </p:nvPr>
        </p:nvGraphicFramePr>
        <p:xfrm>
          <a:off x="838200" y="1825625"/>
          <a:ext cx="10369062" cy="3962400"/>
        </p:xfrm>
        <a:graphic>
          <a:graphicData uri="http://schemas.openxmlformats.org/drawingml/2006/table">
            <a:tbl>
              <a:tblPr firstRow="1" bandRow="1">
                <a:tableStyleId>{5C22544A-7EE6-4342-B048-85BDC9FD1C3A}</a:tableStyleId>
              </a:tblPr>
              <a:tblGrid>
                <a:gridCol w="2056986">
                  <a:extLst>
                    <a:ext uri="{9D8B030D-6E8A-4147-A177-3AD203B41FA5}">
                      <a16:colId xmlns:a16="http://schemas.microsoft.com/office/drawing/2014/main" val="1632358923"/>
                    </a:ext>
                  </a:extLst>
                </a:gridCol>
                <a:gridCol w="829807">
                  <a:extLst>
                    <a:ext uri="{9D8B030D-6E8A-4147-A177-3AD203B41FA5}">
                      <a16:colId xmlns:a16="http://schemas.microsoft.com/office/drawing/2014/main" val="3505833113"/>
                    </a:ext>
                  </a:extLst>
                </a:gridCol>
                <a:gridCol w="1586230">
                  <a:extLst>
                    <a:ext uri="{9D8B030D-6E8A-4147-A177-3AD203B41FA5}">
                      <a16:colId xmlns:a16="http://schemas.microsoft.com/office/drawing/2014/main" val="2732100902"/>
                    </a:ext>
                  </a:extLst>
                </a:gridCol>
                <a:gridCol w="926211">
                  <a:extLst>
                    <a:ext uri="{9D8B030D-6E8A-4147-A177-3AD203B41FA5}">
                      <a16:colId xmlns:a16="http://schemas.microsoft.com/office/drawing/2014/main" val="315362434"/>
                    </a:ext>
                  </a:extLst>
                </a:gridCol>
                <a:gridCol w="1297304">
                  <a:extLst>
                    <a:ext uri="{9D8B030D-6E8A-4147-A177-3AD203B41FA5}">
                      <a16:colId xmlns:a16="http://schemas.microsoft.com/office/drawing/2014/main" val="2971574360"/>
                    </a:ext>
                  </a:extLst>
                </a:gridCol>
                <a:gridCol w="3672524">
                  <a:extLst>
                    <a:ext uri="{9D8B030D-6E8A-4147-A177-3AD203B41FA5}">
                      <a16:colId xmlns:a16="http://schemas.microsoft.com/office/drawing/2014/main" val="2515431282"/>
                    </a:ext>
                  </a:extLst>
                </a:gridCol>
              </a:tblGrid>
              <a:tr h="370840">
                <a:tc>
                  <a:txBody>
                    <a:bodyPr/>
                    <a:lstStyle/>
                    <a:p>
                      <a:pPr algn="ctr"/>
                      <a:r>
                        <a:rPr lang="en-GB" sz="3200" dirty="0"/>
                        <a:t>Attribute</a:t>
                      </a:r>
                    </a:p>
                  </a:txBody>
                  <a:tcPr/>
                </a:tc>
                <a:tc>
                  <a:txBody>
                    <a:bodyPr/>
                    <a:lstStyle/>
                    <a:p>
                      <a:pPr algn="ctr"/>
                      <a:r>
                        <a:rPr lang="en-GB" sz="3200" dirty="0"/>
                        <a:t>Key</a:t>
                      </a:r>
                    </a:p>
                  </a:txBody>
                  <a:tcPr/>
                </a:tc>
                <a:tc>
                  <a:txBody>
                    <a:bodyPr/>
                    <a:lstStyle/>
                    <a:p>
                      <a:pPr algn="ctr"/>
                      <a:r>
                        <a:rPr lang="en-GB" sz="3200" dirty="0"/>
                        <a:t>Type</a:t>
                      </a:r>
                    </a:p>
                  </a:txBody>
                  <a:tcPr/>
                </a:tc>
                <a:tc>
                  <a:txBody>
                    <a:bodyPr/>
                    <a:lstStyle/>
                    <a:p>
                      <a:pPr algn="ctr"/>
                      <a:r>
                        <a:rPr lang="en-GB" sz="3200" dirty="0"/>
                        <a:t>Size</a:t>
                      </a:r>
                    </a:p>
                  </a:txBody>
                  <a:tcPr/>
                </a:tc>
                <a:tc>
                  <a:txBody>
                    <a:bodyPr/>
                    <a:lstStyle/>
                    <a:p>
                      <a:pPr algn="ctr"/>
                      <a:r>
                        <a:rPr lang="en-GB" sz="3200" dirty="0" err="1"/>
                        <a:t>Req'd</a:t>
                      </a:r>
                      <a:endParaRPr lang="en-GB" sz="3200" dirty="0"/>
                    </a:p>
                  </a:txBody>
                  <a:tcPr/>
                </a:tc>
                <a:tc>
                  <a:txBody>
                    <a:bodyPr/>
                    <a:lstStyle/>
                    <a:p>
                      <a:pPr algn="ctr"/>
                      <a:r>
                        <a:rPr lang="en-GB" sz="3200" dirty="0"/>
                        <a:t>Validation</a:t>
                      </a:r>
                    </a:p>
                  </a:txBody>
                  <a:tcPr/>
                </a:tc>
                <a:extLst>
                  <a:ext uri="{0D108BD9-81ED-4DB2-BD59-A6C34878D82A}">
                    <a16:rowId xmlns:a16="http://schemas.microsoft.com/office/drawing/2014/main" val="3459615676"/>
                  </a:ext>
                </a:extLst>
              </a:tr>
              <a:tr h="370840">
                <a:tc>
                  <a:txBody>
                    <a:bodyPr/>
                    <a:lstStyle/>
                    <a:p>
                      <a:r>
                        <a:rPr lang="en-GB" sz="3200" dirty="0" err="1"/>
                        <a:t>pupilID</a:t>
                      </a:r>
                      <a:endParaRPr lang="en-GB" sz="3200" dirty="0"/>
                    </a:p>
                  </a:txBody>
                  <a:tcPr/>
                </a:tc>
                <a:tc>
                  <a:txBody>
                    <a:bodyPr/>
                    <a:lstStyle/>
                    <a:p>
                      <a:pPr algn="ctr"/>
                      <a:r>
                        <a:rPr lang="en-GB" sz="3200" dirty="0"/>
                        <a:t>PK</a:t>
                      </a:r>
                    </a:p>
                  </a:txBody>
                  <a:tcPr/>
                </a:tc>
                <a:tc>
                  <a:txBody>
                    <a:bodyPr/>
                    <a:lstStyle/>
                    <a:p>
                      <a:r>
                        <a:rPr lang="en-GB" sz="3200" dirty="0"/>
                        <a:t>number</a:t>
                      </a:r>
                    </a:p>
                  </a:txBody>
                  <a:tcPr/>
                </a:tc>
                <a:tc>
                  <a:txBody>
                    <a:bodyPr/>
                    <a:lstStyle/>
                    <a:p>
                      <a:pPr algn="ctr"/>
                      <a:endParaRPr lang="en-GB" sz="3200" dirty="0"/>
                    </a:p>
                  </a:txBody>
                  <a:tcPr/>
                </a:tc>
                <a:tc>
                  <a:txBody>
                    <a:bodyPr/>
                    <a:lstStyle/>
                    <a:p>
                      <a:pPr algn="ctr"/>
                      <a:r>
                        <a:rPr lang="en-GB" sz="3200" dirty="0"/>
                        <a:t>Y</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3200" dirty="0"/>
                        <a:t>Range: &gt;= 0</a:t>
                      </a:r>
                    </a:p>
                  </a:txBody>
                  <a:tcPr/>
                </a:tc>
                <a:extLst>
                  <a:ext uri="{0D108BD9-81ED-4DB2-BD59-A6C34878D82A}">
                    <a16:rowId xmlns:a16="http://schemas.microsoft.com/office/drawing/2014/main" val="1127765656"/>
                  </a:ext>
                </a:extLst>
              </a:tr>
              <a:tr h="370840">
                <a:tc>
                  <a:txBody>
                    <a:bodyPr/>
                    <a:lstStyle/>
                    <a:p>
                      <a:r>
                        <a:rPr lang="en-GB" sz="3200" dirty="0" err="1"/>
                        <a:t>schoolID</a:t>
                      </a:r>
                      <a:endParaRPr lang="en-GB" sz="3200" dirty="0"/>
                    </a:p>
                  </a:txBody>
                  <a:tcPr/>
                </a:tc>
                <a:tc>
                  <a:txBody>
                    <a:bodyPr/>
                    <a:lstStyle/>
                    <a:p>
                      <a:pPr algn="ctr"/>
                      <a:r>
                        <a:rPr lang="en-GB" sz="3200" dirty="0"/>
                        <a:t>FK</a:t>
                      </a:r>
                    </a:p>
                  </a:txBody>
                  <a:tcPr/>
                </a:tc>
                <a:tc>
                  <a:txBody>
                    <a:bodyPr/>
                    <a:lstStyle/>
                    <a:p>
                      <a:r>
                        <a:rPr lang="en-GB" sz="3200" dirty="0"/>
                        <a:t>number</a:t>
                      </a:r>
                    </a:p>
                  </a:txBody>
                  <a:tcPr/>
                </a:tc>
                <a:tc>
                  <a:txBody>
                    <a:bodyPr/>
                    <a:lstStyle/>
                    <a:p>
                      <a:pPr algn="ctr"/>
                      <a:endParaRPr lang="en-GB" sz="3200" dirty="0"/>
                    </a:p>
                  </a:txBody>
                  <a:tcPr/>
                </a:tc>
                <a:tc>
                  <a:txBody>
                    <a:bodyPr/>
                    <a:lstStyle/>
                    <a:p>
                      <a:pPr algn="ctr"/>
                      <a:r>
                        <a:rPr lang="en-GB" sz="3200" dirty="0"/>
                        <a:t>Y</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3200" dirty="0"/>
                        <a:t>Existing </a:t>
                      </a:r>
                      <a:r>
                        <a:rPr lang="en-GB" sz="3200" dirty="0" err="1"/>
                        <a:t>schoolID</a:t>
                      </a:r>
                      <a:r>
                        <a:rPr lang="en-GB" sz="3200" dirty="0"/>
                        <a:t> from School table</a:t>
                      </a:r>
                    </a:p>
                  </a:txBody>
                  <a:tcPr/>
                </a:tc>
                <a:extLst>
                  <a:ext uri="{0D108BD9-81ED-4DB2-BD59-A6C34878D82A}">
                    <a16:rowId xmlns:a16="http://schemas.microsoft.com/office/drawing/2014/main" val="2924661129"/>
                  </a:ext>
                </a:extLst>
              </a:tr>
              <a:tr h="370840">
                <a:tc>
                  <a:txBody>
                    <a:bodyPr/>
                    <a:lstStyle/>
                    <a:p>
                      <a:r>
                        <a:rPr lang="en-GB" sz="3200" dirty="0"/>
                        <a:t>name</a:t>
                      </a:r>
                    </a:p>
                  </a:txBody>
                  <a:tcPr/>
                </a:tc>
                <a:tc>
                  <a:txBody>
                    <a:bodyPr/>
                    <a:lstStyle/>
                    <a:p>
                      <a:pPr algn="ctr"/>
                      <a:endParaRPr lang="en-GB" sz="3200" dirty="0"/>
                    </a:p>
                  </a:txBody>
                  <a:tcPr/>
                </a:tc>
                <a:tc>
                  <a:txBody>
                    <a:bodyPr/>
                    <a:lstStyle/>
                    <a:p>
                      <a:r>
                        <a:rPr lang="en-GB" sz="3200" dirty="0"/>
                        <a:t>text</a:t>
                      </a:r>
                    </a:p>
                  </a:txBody>
                  <a:tcPr/>
                </a:tc>
                <a:tc>
                  <a:txBody>
                    <a:bodyPr/>
                    <a:lstStyle/>
                    <a:p>
                      <a:pPr algn="ctr"/>
                      <a:r>
                        <a:rPr lang="en-GB" sz="3200" dirty="0"/>
                        <a:t>30</a:t>
                      </a:r>
                    </a:p>
                  </a:txBody>
                  <a:tcPr/>
                </a:tc>
                <a:tc>
                  <a:txBody>
                    <a:bodyPr/>
                    <a:lstStyle/>
                    <a:p>
                      <a:pPr algn="ctr"/>
                      <a:r>
                        <a:rPr lang="en-GB" sz="3200" dirty="0"/>
                        <a:t>Y</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3200" dirty="0"/>
                        <a:t>Length: &gt;= 3</a:t>
                      </a:r>
                    </a:p>
                  </a:txBody>
                  <a:tcPr/>
                </a:tc>
                <a:extLst>
                  <a:ext uri="{0D108BD9-81ED-4DB2-BD59-A6C34878D82A}">
                    <a16:rowId xmlns:a16="http://schemas.microsoft.com/office/drawing/2014/main" val="3885493841"/>
                  </a:ext>
                </a:extLst>
              </a:tr>
              <a:tr h="370840">
                <a:tc>
                  <a:txBody>
                    <a:bodyPr/>
                    <a:lstStyle/>
                    <a:p>
                      <a:r>
                        <a:rPr lang="en-GB" sz="3200" dirty="0"/>
                        <a:t>dob</a:t>
                      </a:r>
                    </a:p>
                  </a:txBody>
                  <a:tcPr/>
                </a:tc>
                <a:tc>
                  <a:txBody>
                    <a:bodyPr/>
                    <a:lstStyle/>
                    <a:p>
                      <a:pPr algn="ctr"/>
                      <a:endParaRPr lang="en-GB" sz="3200" dirty="0"/>
                    </a:p>
                  </a:txBody>
                  <a:tcPr/>
                </a:tc>
                <a:tc>
                  <a:txBody>
                    <a:bodyPr/>
                    <a:lstStyle/>
                    <a:p>
                      <a:r>
                        <a:rPr lang="en-GB" sz="3200" dirty="0"/>
                        <a:t>date</a:t>
                      </a:r>
                    </a:p>
                  </a:txBody>
                  <a:tcPr/>
                </a:tc>
                <a:tc>
                  <a:txBody>
                    <a:bodyPr/>
                    <a:lstStyle/>
                    <a:p>
                      <a:pPr algn="ctr"/>
                      <a:endParaRPr lang="en-GB" sz="3200" dirty="0"/>
                    </a:p>
                  </a:txBody>
                  <a:tcPr/>
                </a:tc>
                <a:tc>
                  <a:txBody>
                    <a:bodyPr/>
                    <a:lstStyle/>
                    <a:p>
                      <a:pPr algn="ctr"/>
                      <a:r>
                        <a:rPr lang="en-GB" sz="3200" dirty="0"/>
                        <a:t>Y</a:t>
                      </a:r>
                    </a:p>
                  </a:txBody>
                  <a:tcPr/>
                </a:tc>
                <a:tc>
                  <a:txBody>
                    <a:bodyPr/>
                    <a:lstStyle/>
                    <a:p>
                      <a:endParaRPr lang="en-GB" sz="3200" dirty="0"/>
                    </a:p>
                  </a:txBody>
                  <a:tcPr/>
                </a:tc>
                <a:extLst>
                  <a:ext uri="{0D108BD9-81ED-4DB2-BD59-A6C34878D82A}">
                    <a16:rowId xmlns:a16="http://schemas.microsoft.com/office/drawing/2014/main" val="1487565366"/>
                  </a:ext>
                </a:extLst>
              </a:tr>
              <a:tr h="370840">
                <a:tc>
                  <a:txBody>
                    <a:bodyPr/>
                    <a:lstStyle/>
                    <a:p>
                      <a:r>
                        <a:rPr lang="en-GB" sz="3200" dirty="0"/>
                        <a:t>transport</a:t>
                      </a:r>
                    </a:p>
                  </a:txBody>
                  <a:tcPr/>
                </a:tc>
                <a:tc>
                  <a:txBody>
                    <a:bodyPr/>
                    <a:lstStyle/>
                    <a:p>
                      <a:pPr algn="ctr"/>
                      <a:endParaRPr lang="en-GB" sz="3200" dirty="0"/>
                    </a:p>
                  </a:txBody>
                  <a:tcPr/>
                </a:tc>
                <a:tc>
                  <a:txBody>
                    <a:bodyPr/>
                    <a:lstStyle/>
                    <a:p>
                      <a:r>
                        <a:rPr lang="en-GB" sz="3200" dirty="0" err="1"/>
                        <a:t>boolean</a:t>
                      </a:r>
                      <a:endParaRPr lang="en-GB" sz="3200" dirty="0"/>
                    </a:p>
                  </a:txBody>
                  <a:tcPr/>
                </a:tc>
                <a:tc>
                  <a:txBody>
                    <a:bodyPr/>
                    <a:lstStyle/>
                    <a:p>
                      <a:pPr algn="ctr"/>
                      <a:endParaRPr lang="en-GB" sz="3200" dirty="0"/>
                    </a:p>
                  </a:txBody>
                  <a:tcPr/>
                </a:tc>
                <a:tc>
                  <a:txBody>
                    <a:bodyPr/>
                    <a:lstStyle/>
                    <a:p>
                      <a:pPr algn="ctr"/>
                      <a:r>
                        <a:rPr lang="en-GB" sz="3200" dirty="0"/>
                        <a:t>Y</a:t>
                      </a:r>
                    </a:p>
                  </a:txBody>
                  <a:tcPr/>
                </a:tc>
                <a:tc>
                  <a:txBody>
                    <a:bodyPr/>
                    <a:lstStyle/>
                    <a:p>
                      <a:endParaRPr lang="en-GB" sz="3200" dirty="0"/>
                    </a:p>
                  </a:txBody>
                  <a:tcPr/>
                </a:tc>
                <a:extLst>
                  <a:ext uri="{0D108BD9-81ED-4DB2-BD59-A6C34878D82A}">
                    <a16:rowId xmlns:a16="http://schemas.microsoft.com/office/drawing/2014/main" val="3947728551"/>
                  </a:ext>
                </a:extLst>
              </a:tr>
            </a:tbl>
          </a:graphicData>
        </a:graphic>
      </p:graphicFrame>
      <p:sp>
        <p:nvSpPr>
          <p:cNvPr id="4" name="TextBox 3">
            <a:extLst>
              <a:ext uri="{FF2B5EF4-FFF2-40B4-BE49-F238E27FC236}">
                <a16:creationId xmlns:a16="http://schemas.microsoft.com/office/drawing/2014/main" id="{A1BFC853-8304-4B36-ABE6-4EFE5EDE6F3D}"/>
              </a:ext>
            </a:extLst>
          </p:cNvPr>
          <p:cNvSpPr txBox="1"/>
          <p:nvPr/>
        </p:nvSpPr>
        <p:spPr>
          <a:xfrm>
            <a:off x="1606398" y="5846544"/>
            <a:ext cx="8979204" cy="646331"/>
          </a:xfrm>
          <a:prstGeom prst="rect">
            <a:avLst/>
          </a:prstGeom>
          <a:noFill/>
        </p:spPr>
        <p:txBody>
          <a:bodyPr wrap="square" rtlCol="0" anchor="ctr" anchorCtr="0">
            <a:spAutoFit/>
          </a:bodyPr>
          <a:lstStyle/>
          <a:p>
            <a:pPr algn="ctr"/>
            <a:r>
              <a:rPr lang="en-GB" sz="3600" dirty="0">
                <a:solidFill>
                  <a:srgbClr val="7030A0"/>
                </a:solidFill>
              </a:rPr>
              <a:t>FK linked to PK: Referential Integrity</a:t>
            </a:r>
          </a:p>
        </p:txBody>
      </p:sp>
      <p:sp>
        <p:nvSpPr>
          <p:cNvPr id="6" name="Rectangle: Rounded Corners 7">
            <a:extLst>
              <a:ext uri="{FF2B5EF4-FFF2-40B4-BE49-F238E27FC236}">
                <a16:creationId xmlns:a16="http://schemas.microsoft.com/office/drawing/2014/main" id="{831F97E7-1E0F-4C0A-B09F-844929766824}"/>
              </a:ext>
            </a:extLst>
          </p:cNvPr>
          <p:cNvSpPr/>
          <p:nvPr/>
        </p:nvSpPr>
        <p:spPr>
          <a:xfrm>
            <a:off x="7559040" y="2971800"/>
            <a:ext cx="3648222" cy="1112521"/>
          </a:xfrm>
          <a:prstGeom prst="roundRect">
            <a:avLst/>
          </a:prstGeom>
          <a:noFill/>
          <a:ln w="571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Tree>
    <p:extLst>
      <p:ext uri="{BB962C8B-B14F-4D97-AF65-F5344CB8AC3E}">
        <p14:creationId xmlns:p14="http://schemas.microsoft.com/office/powerpoint/2010/main" val="197304109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1000"/>
                                        <p:tgtEl>
                                          <p:spTgt spid="5"/>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6"/>
                                        </p:tgtEl>
                                        <p:attrNameLst>
                                          <p:attrName>style.visibility</p:attrName>
                                        </p:attrNameLst>
                                      </p:cBhvr>
                                      <p:to>
                                        <p:strVal val="visible"/>
                                      </p:to>
                                    </p:set>
                                    <p:animEffect transition="in" filter="fade">
                                      <p:cBhvr>
                                        <p:cTn id="12" dur="1000"/>
                                        <p:tgtEl>
                                          <p:spTgt spid="6"/>
                                        </p:tgtEl>
                                      </p:cBhvr>
                                    </p:animEffect>
                                  </p:childTnLst>
                                </p:cTn>
                              </p:par>
                            </p:childTnLst>
                          </p:cTn>
                        </p:par>
                        <p:par>
                          <p:cTn id="13" fill="hold">
                            <p:stCondLst>
                              <p:cond delay="1000"/>
                            </p:stCondLst>
                            <p:childTnLst>
                              <p:par>
                                <p:cTn id="14" presetID="22" presetClass="entr" presetSubtype="8" fill="hold" grpId="0" nodeType="afterEffect">
                                  <p:stCondLst>
                                    <p:cond delay="0"/>
                                  </p:stCondLst>
                                  <p:childTnLst>
                                    <p:set>
                                      <p:cBhvr>
                                        <p:cTn id="15" dur="1" fill="hold">
                                          <p:stCondLst>
                                            <p:cond delay="0"/>
                                          </p:stCondLst>
                                        </p:cTn>
                                        <p:tgtEl>
                                          <p:spTgt spid="4">
                                            <p:txEl>
                                              <p:pRg st="0" end="0"/>
                                            </p:txEl>
                                          </p:spTgt>
                                        </p:tgtEl>
                                        <p:attrNameLst>
                                          <p:attrName>style.visibility</p:attrName>
                                        </p:attrNameLst>
                                      </p:cBhvr>
                                      <p:to>
                                        <p:strVal val="visible"/>
                                      </p:to>
                                    </p:set>
                                    <p:animEffect transition="in" filter="wipe(left)">
                                      <p:cBhvr>
                                        <p:cTn id="16" dur="2500"/>
                                        <p:tgtEl>
                                          <p:spTgt spid="4">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uiExpand="1" build="p"/>
      <p:bldP spid="6" grpId="0" animBg="1"/>
    </p:bldLst>
  </p:timing>
</p:sld>
</file>

<file path=ppt/slides/slide215.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Data Dictionary (3)</a:t>
            </a:r>
          </a:p>
        </p:txBody>
      </p:sp>
      <p:graphicFrame>
        <p:nvGraphicFramePr>
          <p:cNvPr id="5" name="Table 5">
            <a:extLst>
              <a:ext uri="{FF2B5EF4-FFF2-40B4-BE49-F238E27FC236}">
                <a16:creationId xmlns:a16="http://schemas.microsoft.com/office/drawing/2014/main" id="{38A8414E-6490-4AD8-90BD-DF0216F61C69}"/>
              </a:ext>
            </a:extLst>
          </p:cNvPr>
          <p:cNvGraphicFramePr>
            <a:graphicFrameLocks noGrp="1"/>
          </p:cNvGraphicFramePr>
          <p:nvPr>
            <p:ph idx="1"/>
            <p:extLst>
              <p:ext uri="{D42A27DB-BD31-4B8C-83A1-F6EECF244321}">
                <p14:modId xmlns:p14="http://schemas.microsoft.com/office/powerpoint/2010/main" val="3946015435"/>
              </p:ext>
            </p:extLst>
          </p:nvPr>
        </p:nvGraphicFramePr>
        <p:xfrm>
          <a:off x="838200" y="1825625"/>
          <a:ext cx="10369062" cy="3962400"/>
        </p:xfrm>
        <a:graphic>
          <a:graphicData uri="http://schemas.openxmlformats.org/drawingml/2006/table">
            <a:tbl>
              <a:tblPr firstRow="1" bandRow="1">
                <a:tableStyleId>{5C22544A-7EE6-4342-B048-85BDC9FD1C3A}</a:tableStyleId>
              </a:tblPr>
              <a:tblGrid>
                <a:gridCol w="2056986">
                  <a:extLst>
                    <a:ext uri="{9D8B030D-6E8A-4147-A177-3AD203B41FA5}">
                      <a16:colId xmlns:a16="http://schemas.microsoft.com/office/drawing/2014/main" val="1632358923"/>
                    </a:ext>
                  </a:extLst>
                </a:gridCol>
                <a:gridCol w="829807">
                  <a:extLst>
                    <a:ext uri="{9D8B030D-6E8A-4147-A177-3AD203B41FA5}">
                      <a16:colId xmlns:a16="http://schemas.microsoft.com/office/drawing/2014/main" val="3505833113"/>
                    </a:ext>
                  </a:extLst>
                </a:gridCol>
                <a:gridCol w="1586230">
                  <a:extLst>
                    <a:ext uri="{9D8B030D-6E8A-4147-A177-3AD203B41FA5}">
                      <a16:colId xmlns:a16="http://schemas.microsoft.com/office/drawing/2014/main" val="2732100902"/>
                    </a:ext>
                  </a:extLst>
                </a:gridCol>
                <a:gridCol w="926211">
                  <a:extLst>
                    <a:ext uri="{9D8B030D-6E8A-4147-A177-3AD203B41FA5}">
                      <a16:colId xmlns:a16="http://schemas.microsoft.com/office/drawing/2014/main" val="315362434"/>
                    </a:ext>
                  </a:extLst>
                </a:gridCol>
                <a:gridCol w="1297304">
                  <a:extLst>
                    <a:ext uri="{9D8B030D-6E8A-4147-A177-3AD203B41FA5}">
                      <a16:colId xmlns:a16="http://schemas.microsoft.com/office/drawing/2014/main" val="2971574360"/>
                    </a:ext>
                  </a:extLst>
                </a:gridCol>
                <a:gridCol w="3672524">
                  <a:extLst>
                    <a:ext uri="{9D8B030D-6E8A-4147-A177-3AD203B41FA5}">
                      <a16:colId xmlns:a16="http://schemas.microsoft.com/office/drawing/2014/main" val="2515431282"/>
                    </a:ext>
                  </a:extLst>
                </a:gridCol>
              </a:tblGrid>
              <a:tr h="370840">
                <a:tc>
                  <a:txBody>
                    <a:bodyPr/>
                    <a:lstStyle/>
                    <a:p>
                      <a:pPr algn="ctr"/>
                      <a:r>
                        <a:rPr lang="en-GB" sz="3200" dirty="0"/>
                        <a:t>Attribute</a:t>
                      </a:r>
                    </a:p>
                  </a:txBody>
                  <a:tcPr/>
                </a:tc>
                <a:tc>
                  <a:txBody>
                    <a:bodyPr/>
                    <a:lstStyle/>
                    <a:p>
                      <a:pPr algn="ctr"/>
                      <a:r>
                        <a:rPr lang="en-GB" sz="3200" dirty="0"/>
                        <a:t>Key</a:t>
                      </a:r>
                    </a:p>
                  </a:txBody>
                  <a:tcPr/>
                </a:tc>
                <a:tc>
                  <a:txBody>
                    <a:bodyPr/>
                    <a:lstStyle/>
                    <a:p>
                      <a:pPr algn="ctr"/>
                      <a:r>
                        <a:rPr lang="en-GB" sz="3200" dirty="0"/>
                        <a:t>Type</a:t>
                      </a:r>
                    </a:p>
                  </a:txBody>
                  <a:tcPr/>
                </a:tc>
                <a:tc>
                  <a:txBody>
                    <a:bodyPr/>
                    <a:lstStyle/>
                    <a:p>
                      <a:pPr algn="ctr"/>
                      <a:r>
                        <a:rPr lang="en-GB" sz="3200" dirty="0"/>
                        <a:t>Size</a:t>
                      </a:r>
                    </a:p>
                  </a:txBody>
                  <a:tcPr/>
                </a:tc>
                <a:tc>
                  <a:txBody>
                    <a:bodyPr/>
                    <a:lstStyle/>
                    <a:p>
                      <a:pPr algn="ctr"/>
                      <a:r>
                        <a:rPr lang="en-GB" sz="3200" dirty="0" err="1"/>
                        <a:t>Req'd</a:t>
                      </a:r>
                      <a:endParaRPr lang="en-GB" sz="3200" dirty="0"/>
                    </a:p>
                  </a:txBody>
                  <a:tcPr/>
                </a:tc>
                <a:tc>
                  <a:txBody>
                    <a:bodyPr/>
                    <a:lstStyle/>
                    <a:p>
                      <a:pPr algn="ctr"/>
                      <a:r>
                        <a:rPr lang="en-GB" sz="3200" dirty="0"/>
                        <a:t>Validation</a:t>
                      </a:r>
                    </a:p>
                  </a:txBody>
                  <a:tcPr/>
                </a:tc>
                <a:extLst>
                  <a:ext uri="{0D108BD9-81ED-4DB2-BD59-A6C34878D82A}">
                    <a16:rowId xmlns:a16="http://schemas.microsoft.com/office/drawing/2014/main" val="3459615676"/>
                  </a:ext>
                </a:extLst>
              </a:tr>
              <a:tr h="370840">
                <a:tc>
                  <a:txBody>
                    <a:bodyPr/>
                    <a:lstStyle/>
                    <a:p>
                      <a:r>
                        <a:rPr lang="en-GB" sz="3200" dirty="0" err="1"/>
                        <a:t>pupilID</a:t>
                      </a:r>
                      <a:endParaRPr lang="en-GB" sz="3200" dirty="0"/>
                    </a:p>
                  </a:txBody>
                  <a:tcPr/>
                </a:tc>
                <a:tc>
                  <a:txBody>
                    <a:bodyPr/>
                    <a:lstStyle/>
                    <a:p>
                      <a:pPr algn="ctr"/>
                      <a:r>
                        <a:rPr lang="en-GB" sz="3200" dirty="0"/>
                        <a:t>PK</a:t>
                      </a:r>
                    </a:p>
                  </a:txBody>
                  <a:tcPr/>
                </a:tc>
                <a:tc>
                  <a:txBody>
                    <a:bodyPr/>
                    <a:lstStyle/>
                    <a:p>
                      <a:r>
                        <a:rPr lang="en-GB" sz="3200" dirty="0"/>
                        <a:t>number</a:t>
                      </a:r>
                    </a:p>
                  </a:txBody>
                  <a:tcPr/>
                </a:tc>
                <a:tc>
                  <a:txBody>
                    <a:bodyPr/>
                    <a:lstStyle/>
                    <a:p>
                      <a:pPr algn="ctr"/>
                      <a:endParaRPr lang="en-GB" sz="3200" dirty="0"/>
                    </a:p>
                  </a:txBody>
                  <a:tcPr/>
                </a:tc>
                <a:tc>
                  <a:txBody>
                    <a:bodyPr/>
                    <a:lstStyle/>
                    <a:p>
                      <a:pPr algn="ctr"/>
                      <a:r>
                        <a:rPr lang="en-GB" sz="3200" dirty="0"/>
                        <a:t>Y</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3200" dirty="0"/>
                        <a:t>Range: &gt;= 0</a:t>
                      </a:r>
                    </a:p>
                  </a:txBody>
                  <a:tcPr/>
                </a:tc>
                <a:extLst>
                  <a:ext uri="{0D108BD9-81ED-4DB2-BD59-A6C34878D82A}">
                    <a16:rowId xmlns:a16="http://schemas.microsoft.com/office/drawing/2014/main" val="1127765656"/>
                  </a:ext>
                </a:extLst>
              </a:tr>
              <a:tr h="370840">
                <a:tc>
                  <a:txBody>
                    <a:bodyPr/>
                    <a:lstStyle/>
                    <a:p>
                      <a:r>
                        <a:rPr lang="en-GB" sz="3200" dirty="0" err="1"/>
                        <a:t>schoolID</a:t>
                      </a:r>
                      <a:endParaRPr lang="en-GB" sz="3200" dirty="0"/>
                    </a:p>
                  </a:txBody>
                  <a:tcPr/>
                </a:tc>
                <a:tc>
                  <a:txBody>
                    <a:bodyPr/>
                    <a:lstStyle/>
                    <a:p>
                      <a:pPr algn="ctr"/>
                      <a:r>
                        <a:rPr lang="en-GB" sz="3200" dirty="0"/>
                        <a:t>FK</a:t>
                      </a:r>
                    </a:p>
                  </a:txBody>
                  <a:tcPr/>
                </a:tc>
                <a:tc>
                  <a:txBody>
                    <a:bodyPr/>
                    <a:lstStyle/>
                    <a:p>
                      <a:r>
                        <a:rPr lang="en-GB" sz="3200" dirty="0"/>
                        <a:t>number</a:t>
                      </a:r>
                    </a:p>
                  </a:txBody>
                  <a:tcPr/>
                </a:tc>
                <a:tc>
                  <a:txBody>
                    <a:bodyPr/>
                    <a:lstStyle/>
                    <a:p>
                      <a:pPr algn="ctr"/>
                      <a:endParaRPr lang="en-GB" sz="3200" dirty="0"/>
                    </a:p>
                  </a:txBody>
                  <a:tcPr/>
                </a:tc>
                <a:tc>
                  <a:txBody>
                    <a:bodyPr/>
                    <a:lstStyle/>
                    <a:p>
                      <a:pPr algn="ctr"/>
                      <a:r>
                        <a:rPr lang="en-GB" sz="3200" dirty="0"/>
                        <a:t>Y</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sz="3200"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en-GB" sz="3200" dirty="0"/>
                    </a:p>
                  </a:txBody>
                  <a:tcPr/>
                </a:tc>
                <a:extLst>
                  <a:ext uri="{0D108BD9-81ED-4DB2-BD59-A6C34878D82A}">
                    <a16:rowId xmlns:a16="http://schemas.microsoft.com/office/drawing/2014/main" val="2924661129"/>
                  </a:ext>
                </a:extLst>
              </a:tr>
              <a:tr h="370840">
                <a:tc>
                  <a:txBody>
                    <a:bodyPr/>
                    <a:lstStyle/>
                    <a:p>
                      <a:r>
                        <a:rPr lang="en-GB" sz="3200" dirty="0"/>
                        <a:t>name</a:t>
                      </a:r>
                    </a:p>
                  </a:txBody>
                  <a:tcPr/>
                </a:tc>
                <a:tc>
                  <a:txBody>
                    <a:bodyPr/>
                    <a:lstStyle/>
                    <a:p>
                      <a:pPr algn="ctr"/>
                      <a:endParaRPr lang="en-GB" sz="3200" dirty="0"/>
                    </a:p>
                  </a:txBody>
                  <a:tcPr/>
                </a:tc>
                <a:tc>
                  <a:txBody>
                    <a:bodyPr/>
                    <a:lstStyle/>
                    <a:p>
                      <a:r>
                        <a:rPr lang="en-GB" sz="3200" dirty="0"/>
                        <a:t>text</a:t>
                      </a:r>
                    </a:p>
                  </a:txBody>
                  <a:tcPr/>
                </a:tc>
                <a:tc>
                  <a:txBody>
                    <a:bodyPr/>
                    <a:lstStyle/>
                    <a:p>
                      <a:pPr algn="ctr"/>
                      <a:r>
                        <a:rPr lang="en-GB" sz="3200" dirty="0"/>
                        <a:t>30</a:t>
                      </a:r>
                    </a:p>
                  </a:txBody>
                  <a:tcPr/>
                </a:tc>
                <a:tc>
                  <a:txBody>
                    <a:bodyPr/>
                    <a:lstStyle/>
                    <a:p>
                      <a:pPr algn="ctr"/>
                      <a:r>
                        <a:rPr lang="en-GB" sz="3200" dirty="0"/>
                        <a:t>Y</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3200" dirty="0"/>
                        <a:t>Length: &gt;= 3</a:t>
                      </a:r>
                    </a:p>
                  </a:txBody>
                  <a:tcPr/>
                </a:tc>
                <a:extLst>
                  <a:ext uri="{0D108BD9-81ED-4DB2-BD59-A6C34878D82A}">
                    <a16:rowId xmlns:a16="http://schemas.microsoft.com/office/drawing/2014/main" val="3885493841"/>
                  </a:ext>
                </a:extLst>
              </a:tr>
              <a:tr h="370840">
                <a:tc>
                  <a:txBody>
                    <a:bodyPr/>
                    <a:lstStyle/>
                    <a:p>
                      <a:r>
                        <a:rPr lang="en-GB" sz="3200" dirty="0"/>
                        <a:t>dob</a:t>
                      </a:r>
                    </a:p>
                  </a:txBody>
                  <a:tcPr/>
                </a:tc>
                <a:tc>
                  <a:txBody>
                    <a:bodyPr/>
                    <a:lstStyle/>
                    <a:p>
                      <a:pPr algn="ctr"/>
                      <a:endParaRPr lang="en-GB" sz="3200" dirty="0"/>
                    </a:p>
                  </a:txBody>
                  <a:tcPr/>
                </a:tc>
                <a:tc>
                  <a:txBody>
                    <a:bodyPr/>
                    <a:lstStyle/>
                    <a:p>
                      <a:r>
                        <a:rPr lang="en-GB" sz="3200" dirty="0"/>
                        <a:t>date</a:t>
                      </a:r>
                    </a:p>
                  </a:txBody>
                  <a:tcPr/>
                </a:tc>
                <a:tc>
                  <a:txBody>
                    <a:bodyPr/>
                    <a:lstStyle/>
                    <a:p>
                      <a:pPr algn="ctr"/>
                      <a:endParaRPr lang="en-GB" sz="3200" dirty="0"/>
                    </a:p>
                  </a:txBody>
                  <a:tcPr/>
                </a:tc>
                <a:tc>
                  <a:txBody>
                    <a:bodyPr/>
                    <a:lstStyle/>
                    <a:p>
                      <a:pPr algn="ctr"/>
                      <a:r>
                        <a:rPr lang="en-GB" sz="3200" dirty="0"/>
                        <a:t>Y</a:t>
                      </a:r>
                    </a:p>
                  </a:txBody>
                  <a:tcPr/>
                </a:tc>
                <a:tc>
                  <a:txBody>
                    <a:bodyPr/>
                    <a:lstStyle/>
                    <a:p>
                      <a:endParaRPr lang="en-GB" sz="3200" dirty="0"/>
                    </a:p>
                  </a:txBody>
                  <a:tcPr/>
                </a:tc>
                <a:extLst>
                  <a:ext uri="{0D108BD9-81ED-4DB2-BD59-A6C34878D82A}">
                    <a16:rowId xmlns:a16="http://schemas.microsoft.com/office/drawing/2014/main" val="1487565366"/>
                  </a:ext>
                </a:extLst>
              </a:tr>
              <a:tr h="370840">
                <a:tc>
                  <a:txBody>
                    <a:bodyPr/>
                    <a:lstStyle/>
                    <a:p>
                      <a:r>
                        <a:rPr lang="en-GB" sz="3200" dirty="0"/>
                        <a:t>transport</a:t>
                      </a:r>
                    </a:p>
                  </a:txBody>
                  <a:tcPr/>
                </a:tc>
                <a:tc>
                  <a:txBody>
                    <a:bodyPr/>
                    <a:lstStyle/>
                    <a:p>
                      <a:pPr algn="ctr"/>
                      <a:endParaRPr lang="en-GB" sz="3200" dirty="0"/>
                    </a:p>
                  </a:txBody>
                  <a:tcPr/>
                </a:tc>
                <a:tc>
                  <a:txBody>
                    <a:bodyPr/>
                    <a:lstStyle/>
                    <a:p>
                      <a:r>
                        <a:rPr lang="en-GB" sz="3200" dirty="0" err="1"/>
                        <a:t>boolean</a:t>
                      </a:r>
                      <a:endParaRPr lang="en-GB" sz="3200" dirty="0"/>
                    </a:p>
                  </a:txBody>
                  <a:tcPr/>
                </a:tc>
                <a:tc>
                  <a:txBody>
                    <a:bodyPr/>
                    <a:lstStyle/>
                    <a:p>
                      <a:pPr algn="ctr"/>
                      <a:endParaRPr lang="en-GB" sz="3200" dirty="0"/>
                    </a:p>
                  </a:txBody>
                  <a:tcPr/>
                </a:tc>
                <a:tc>
                  <a:txBody>
                    <a:bodyPr/>
                    <a:lstStyle/>
                    <a:p>
                      <a:pPr algn="ctr"/>
                      <a:r>
                        <a:rPr lang="en-GB" sz="3200" dirty="0"/>
                        <a:t>Y</a:t>
                      </a:r>
                    </a:p>
                  </a:txBody>
                  <a:tcPr/>
                </a:tc>
                <a:tc>
                  <a:txBody>
                    <a:bodyPr/>
                    <a:lstStyle/>
                    <a:p>
                      <a:endParaRPr lang="en-GB" sz="3200" dirty="0"/>
                    </a:p>
                  </a:txBody>
                  <a:tcPr/>
                </a:tc>
                <a:extLst>
                  <a:ext uri="{0D108BD9-81ED-4DB2-BD59-A6C34878D82A}">
                    <a16:rowId xmlns:a16="http://schemas.microsoft.com/office/drawing/2014/main" val="3947728551"/>
                  </a:ext>
                </a:extLst>
              </a:tr>
            </a:tbl>
          </a:graphicData>
        </a:graphic>
      </p:graphicFrame>
    </p:spTree>
    <p:extLst>
      <p:ext uri="{BB962C8B-B14F-4D97-AF65-F5344CB8AC3E}">
        <p14:creationId xmlns:p14="http://schemas.microsoft.com/office/powerpoint/2010/main" val="171366189"/>
      </p:ext>
    </p:extLst>
  </p:cSld>
  <p:clrMapOvr>
    <a:masterClrMapping/>
  </p:clrMapOvr>
</p:sld>
</file>

<file path=ppt/slides/slide2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Analysis &amp; Design</a:t>
            </a:r>
          </a:p>
        </p:txBody>
      </p:sp>
      <p:sp>
        <p:nvSpPr>
          <p:cNvPr id="3" name="Content Placeholder 2"/>
          <p:cNvSpPr>
            <a:spLocks noGrp="1"/>
          </p:cNvSpPr>
          <p:nvPr>
            <p:ph idx="1"/>
          </p:nvPr>
        </p:nvSpPr>
        <p:spPr/>
        <p:txBody>
          <a:bodyPr>
            <a:normAutofit fontScale="92500" lnSpcReduction="20000"/>
          </a:bodyPr>
          <a:lstStyle/>
          <a:p>
            <a:pPr marL="0" indent="0">
              <a:buNone/>
            </a:pPr>
            <a:r>
              <a:rPr lang="en-GB" b="1" dirty="0"/>
              <a:t>Analysis</a:t>
            </a:r>
          </a:p>
          <a:p>
            <a:r>
              <a:rPr lang="en-GB" dirty="0"/>
              <a:t>What do the end-users need to be able to do?</a:t>
            </a:r>
          </a:p>
          <a:p>
            <a:r>
              <a:rPr lang="en-GB" dirty="0"/>
              <a:t>What does the database need to store / do?</a:t>
            </a:r>
          </a:p>
          <a:p>
            <a:pPr marL="0" indent="0">
              <a:buNone/>
            </a:pPr>
            <a:r>
              <a:rPr lang="en-GB" b="1" dirty="0"/>
              <a:t>Design</a:t>
            </a:r>
          </a:p>
          <a:p>
            <a:r>
              <a:rPr lang="en-GB" dirty="0"/>
              <a:t>What are the entities, relationships, cardinality? (ERD)</a:t>
            </a:r>
          </a:p>
          <a:p>
            <a:r>
              <a:rPr lang="en-GB" dirty="0"/>
              <a:t>What are the attributes?</a:t>
            </a:r>
          </a:p>
          <a:p>
            <a:r>
              <a:rPr lang="en-GB" dirty="0"/>
              <a:t>What are the data types?</a:t>
            </a:r>
          </a:p>
          <a:p>
            <a:r>
              <a:rPr lang="en-GB" dirty="0"/>
              <a:t>What is the validation?</a:t>
            </a:r>
          </a:p>
          <a:p>
            <a:r>
              <a:rPr lang="en-GB" dirty="0"/>
              <a:t>What is the referential integrity?</a:t>
            </a:r>
          </a:p>
        </p:txBody>
      </p:sp>
    </p:spTree>
    <p:extLst>
      <p:ext uri="{BB962C8B-B14F-4D97-AF65-F5344CB8AC3E}">
        <p14:creationId xmlns:p14="http://schemas.microsoft.com/office/powerpoint/2010/main" val="1645342312"/>
      </p:ext>
    </p:extLst>
  </p:cSld>
  <p:clrMapOvr>
    <a:masterClrMapping/>
  </p:clrMapOvr>
</p:sld>
</file>

<file path=ppt/slides/slide2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3E57AA2-8D68-4E79-B796-5A158F2BF3EE}"/>
              </a:ext>
            </a:extLst>
          </p:cNvPr>
          <p:cNvSpPr>
            <a:spLocks noGrp="1"/>
          </p:cNvSpPr>
          <p:nvPr>
            <p:ph type="title"/>
          </p:nvPr>
        </p:nvSpPr>
        <p:spPr/>
        <p:txBody>
          <a:bodyPr/>
          <a:lstStyle/>
          <a:p>
            <a:endParaRPr lang="en-GB"/>
          </a:p>
        </p:txBody>
      </p:sp>
      <p:sp>
        <p:nvSpPr>
          <p:cNvPr id="3" name="Content Placeholder 2">
            <a:extLst>
              <a:ext uri="{FF2B5EF4-FFF2-40B4-BE49-F238E27FC236}">
                <a16:creationId xmlns:a16="http://schemas.microsoft.com/office/drawing/2014/main" id="{FEC0890D-EAF7-4717-8910-FCE2D49C02FB}"/>
              </a:ext>
            </a:extLst>
          </p:cNvPr>
          <p:cNvSpPr>
            <a:spLocks noGrp="1"/>
          </p:cNvSpPr>
          <p:nvPr>
            <p:ph idx="1"/>
          </p:nvPr>
        </p:nvSpPr>
        <p:spPr/>
        <p:txBody>
          <a:bodyPr/>
          <a:lstStyle/>
          <a:p>
            <a:r>
              <a:rPr lang="en-GB" sz="3200" dirty="0"/>
              <a:t>Exemplify a design of a solution to the query: </a:t>
            </a:r>
          </a:p>
          <a:p>
            <a:pPr lvl="1"/>
            <a:r>
              <a:rPr lang="en-GB" sz="2800" dirty="0"/>
              <a:t>fields</a:t>
            </a:r>
          </a:p>
          <a:p>
            <a:pPr lvl="1"/>
            <a:r>
              <a:rPr lang="en-GB" sz="2800" dirty="0"/>
              <a:t>multiple tables</a:t>
            </a:r>
          </a:p>
          <a:p>
            <a:pPr lvl="1"/>
            <a:r>
              <a:rPr lang="en-GB" sz="2800" dirty="0"/>
              <a:t>search criteria</a:t>
            </a:r>
          </a:p>
          <a:p>
            <a:pPr lvl="1"/>
            <a:r>
              <a:rPr lang="en-GB" sz="2800" dirty="0"/>
              <a:t>sort order</a:t>
            </a:r>
          </a:p>
          <a:p>
            <a:pPr marL="0" indent="0">
              <a:buNone/>
            </a:pPr>
            <a:endParaRPr lang="en-GB" dirty="0"/>
          </a:p>
        </p:txBody>
      </p:sp>
    </p:spTree>
    <p:extLst>
      <p:ext uri="{BB962C8B-B14F-4D97-AF65-F5344CB8AC3E}">
        <p14:creationId xmlns:p14="http://schemas.microsoft.com/office/powerpoint/2010/main" val="3196124473"/>
      </p:ext>
    </p:extLst>
  </p:cSld>
  <p:clrMapOvr>
    <a:masterClrMapping/>
  </p:clrMapOvr>
</p:sld>
</file>

<file path=ppt/slides/slide2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Query Design (SELECT)</a:t>
            </a:r>
          </a:p>
        </p:txBody>
      </p:sp>
      <p:graphicFrame>
        <p:nvGraphicFramePr>
          <p:cNvPr id="4" name="Content Placeholder 3"/>
          <p:cNvGraphicFramePr>
            <a:graphicFrameLocks noGrp="1"/>
          </p:cNvGraphicFramePr>
          <p:nvPr>
            <p:ph idx="1"/>
            <p:extLst>
              <p:ext uri="{D42A27DB-BD31-4B8C-83A1-F6EECF244321}">
                <p14:modId xmlns:p14="http://schemas.microsoft.com/office/powerpoint/2010/main" val="1062379745"/>
              </p:ext>
            </p:extLst>
          </p:nvPr>
        </p:nvGraphicFramePr>
        <p:xfrm>
          <a:off x="838200" y="1825625"/>
          <a:ext cx="10515600" cy="2804160"/>
        </p:xfrm>
        <a:graphic>
          <a:graphicData uri="http://schemas.openxmlformats.org/drawingml/2006/table">
            <a:tbl>
              <a:tblPr bandRow="1">
                <a:tableStyleId>{5C22544A-7EE6-4342-B048-85BDC9FD1C3A}</a:tableStyleId>
              </a:tblPr>
              <a:tblGrid>
                <a:gridCol w="3200400">
                  <a:extLst>
                    <a:ext uri="{9D8B030D-6E8A-4147-A177-3AD203B41FA5}">
                      <a16:colId xmlns:a16="http://schemas.microsoft.com/office/drawing/2014/main" val="1440578478"/>
                    </a:ext>
                  </a:extLst>
                </a:gridCol>
                <a:gridCol w="7315200">
                  <a:extLst>
                    <a:ext uri="{9D8B030D-6E8A-4147-A177-3AD203B41FA5}">
                      <a16:colId xmlns:a16="http://schemas.microsoft.com/office/drawing/2014/main" val="4238155148"/>
                    </a:ext>
                  </a:extLst>
                </a:gridCol>
              </a:tblGrid>
              <a:tr h="370840">
                <a:tc>
                  <a:txBody>
                    <a:bodyPr/>
                    <a:lstStyle/>
                    <a:p>
                      <a:r>
                        <a:rPr lang="en-GB" sz="4000" dirty="0"/>
                        <a:t>Field(s)</a:t>
                      </a:r>
                    </a:p>
                  </a:txBody>
                  <a:tcPr/>
                </a:tc>
                <a:tc>
                  <a:txBody>
                    <a:bodyPr/>
                    <a:lstStyle/>
                    <a:p>
                      <a:endParaRPr lang="en-GB" sz="4000"/>
                    </a:p>
                  </a:txBody>
                  <a:tcPr/>
                </a:tc>
                <a:extLst>
                  <a:ext uri="{0D108BD9-81ED-4DB2-BD59-A6C34878D82A}">
                    <a16:rowId xmlns:a16="http://schemas.microsoft.com/office/drawing/2014/main" val="1001484436"/>
                  </a:ext>
                </a:extLst>
              </a:tr>
              <a:tr h="370840">
                <a:tc>
                  <a:txBody>
                    <a:bodyPr/>
                    <a:lstStyle/>
                    <a:p>
                      <a:r>
                        <a:rPr lang="en-GB" sz="4000" dirty="0"/>
                        <a:t>Table(s)</a:t>
                      </a:r>
                    </a:p>
                  </a:txBody>
                  <a:tcPr/>
                </a:tc>
                <a:tc>
                  <a:txBody>
                    <a:bodyPr/>
                    <a:lstStyle/>
                    <a:p>
                      <a:endParaRPr lang="en-GB" sz="4000"/>
                    </a:p>
                  </a:txBody>
                  <a:tcPr/>
                </a:tc>
                <a:extLst>
                  <a:ext uri="{0D108BD9-81ED-4DB2-BD59-A6C34878D82A}">
                    <a16:rowId xmlns:a16="http://schemas.microsoft.com/office/drawing/2014/main" val="2648906904"/>
                  </a:ext>
                </a:extLst>
              </a:tr>
              <a:tr h="370840">
                <a:tc>
                  <a:txBody>
                    <a:bodyPr/>
                    <a:lstStyle/>
                    <a:p>
                      <a:r>
                        <a:rPr lang="en-GB" sz="4000" dirty="0"/>
                        <a:t>Search criteria</a:t>
                      </a:r>
                    </a:p>
                  </a:txBody>
                  <a:tcPr/>
                </a:tc>
                <a:tc>
                  <a:txBody>
                    <a:bodyPr/>
                    <a:lstStyle/>
                    <a:p>
                      <a:endParaRPr lang="en-GB" sz="4000"/>
                    </a:p>
                  </a:txBody>
                  <a:tcPr/>
                </a:tc>
                <a:extLst>
                  <a:ext uri="{0D108BD9-81ED-4DB2-BD59-A6C34878D82A}">
                    <a16:rowId xmlns:a16="http://schemas.microsoft.com/office/drawing/2014/main" val="7278273"/>
                  </a:ext>
                </a:extLst>
              </a:tr>
              <a:tr h="370840">
                <a:tc>
                  <a:txBody>
                    <a:bodyPr/>
                    <a:lstStyle/>
                    <a:p>
                      <a:r>
                        <a:rPr lang="en-GB" sz="4000" dirty="0"/>
                        <a:t>Sort order</a:t>
                      </a:r>
                    </a:p>
                  </a:txBody>
                  <a:tcPr/>
                </a:tc>
                <a:tc>
                  <a:txBody>
                    <a:bodyPr/>
                    <a:lstStyle/>
                    <a:p>
                      <a:endParaRPr lang="en-GB" sz="4000" dirty="0"/>
                    </a:p>
                  </a:txBody>
                  <a:tcPr/>
                </a:tc>
                <a:extLst>
                  <a:ext uri="{0D108BD9-81ED-4DB2-BD59-A6C34878D82A}">
                    <a16:rowId xmlns:a16="http://schemas.microsoft.com/office/drawing/2014/main" val="163770991"/>
                  </a:ext>
                </a:extLst>
              </a:tr>
            </a:tbl>
          </a:graphicData>
        </a:graphic>
      </p:graphicFrame>
      <p:sp>
        <p:nvSpPr>
          <p:cNvPr id="5" name="TextBox 4">
            <a:extLst>
              <a:ext uri="{FF2B5EF4-FFF2-40B4-BE49-F238E27FC236}">
                <a16:creationId xmlns:a16="http://schemas.microsoft.com/office/drawing/2014/main" id="{2E080607-7F49-4880-84B0-EC36CA907A6A}"/>
              </a:ext>
            </a:extLst>
          </p:cNvPr>
          <p:cNvSpPr txBox="1"/>
          <p:nvPr/>
        </p:nvSpPr>
        <p:spPr>
          <a:xfrm>
            <a:off x="3110970" y="5840648"/>
            <a:ext cx="5970059" cy="646331"/>
          </a:xfrm>
          <a:prstGeom prst="rect">
            <a:avLst/>
          </a:prstGeom>
          <a:noFill/>
        </p:spPr>
        <p:txBody>
          <a:bodyPr wrap="square" rtlCol="0" anchor="ctr" anchorCtr="0">
            <a:spAutoFit/>
          </a:bodyPr>
          <a:lstStyle/>
          <a:p>
            <a:pPr algn="ctr"/>
            <a:r>
              <a:rPr lang="en-GB" sz="3600" dirty="0">
                <a:solidFill>
                  <a:srgbClr val="7030A0"/>
                </a:solidFill>
              </a:rPr>
              <a:t>All can be used</a:t>
            </a:r>
          </a:p>
        </p:txBody>
      </p:sp>
    </p:spTree>
    <p:extLst>
      <p:ext uri="{BB962C8B-B14F-4D97-AF65-F5344CB8AC3E}">
        <p14:creationId xmlns:p14="http://schemas.microsoft.com/office/powerpoint/2010/main" val="354352199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grpId="0" nodeType="withEffect">
                                  <p:stCondLst>
                                    <p:cond delay="0"/>
                                  </p:stCondLst>
                                  <p:childTnLst>
                                    <p:set>
                                      <p:cBhvr>
                                        <p:cTn id="6" dur="1" fill="hold">
                                          <p:stCondLst>
                                            <p:cond delay="0"/>
                                          </p:stCondLst>
                                        </p:cTn>
                                        <p:tgtEl>
                                          <p:spTgt spid="5">
                                            <p:txEl>
                                              <p:pRg st="0" end="0"/>
                                            </p:txEl>
                                          </p:spTgt>
                                        </p:tgtEl>
                                        <p:attrNameLst>
                                          <p:attrName>style.visibility</p:attrName>
                                        </p:attrNameLst>
                                      </p:cBhvr>
                                      <p:to>
                                        <p:strVal val="visible"/>
                                      </p:to>
                                    </p:set>
                                    <p:animEffect transition="in" filter="wipe(left)">
                                      <p:cBhvr>
                                        <p:cTn id="7" dur="2000"/>
                                        <p:tgtEl>
                                          <p:spTgt spid="5">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uiExpand="1" build="p"/>
    </p:bldLst>
  </p:timing>
</p:sld>
</file>

<file path=ppt/slides/slide219.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Query Design (SELECT)</a:t>
            </a:r>
          </a:p>
        </p:txBody>
      </p:sp>
      <p:graphicFrame>
        <p:nvGraphicFramePr>
          <p:cNvPr id="4" name="Content Placeholder 3"/>
          <p:cNvGraphicFramePr>
            <a:graphicFrameLocks noGrp="1"/>
          </p:cNvGraphicFramePr>
          <p:nvPr>
            <p:ph idx="1"/>
          </p:nvPr>
        </p:nvGraphicFramePr>
        <p:xfrm>
          <a:off x="838200" y="1825625"/>
          <a:ext cx="10515600" cy="2804160"/>
        </p:xfrm>
        <a:graphic>
          <a:graphicData uri="http://schemas.openxmlformats.org/drawingml/2006/table">
            <a:tbl>
              <a:tblPr bandRow="1">
                <a:tableStyleId>{5C22544A-7EE6-4342-B048-85BDC9FD1C3A}</a:tableStyleId>
              </a:tblPr>
              <a:tblGrid>
                <a:gridCol w="3200400">
                  <a:extLst>
                    <a:ext uri="{9D8B030D-6E8A-4147-A177-3AD203B41FA5}">
                      <a16:colId xmlns:a16="http://schemas.microsoft.com/office/drawing/2014/main" val="1440578478"/>
                    </a:ext>
                  </a:extLst>
                </a:gridCol>
                <a:gridCol w="7315200">
                  <a:extLst>
                    <a:ext uri="{9D8B030D-6E8A-4147-A177-3AD203B41FA5}">
                      <a16:colId xmlns:a16="http://schemas.microsoft.com/office/drawing/2014/main" val="4238155148"/>
                    </a:ext>
                  </a:extLst>
                </a:gridCol>
              </a:tblGrid>
              <a:tr h="370840">
                <a:tc>
                  <a:txBody>
                    <a:bodyPr/>
                    <a:lstStyle/>
                    <a:p>
                      <a:r>
                        <a:rPr lang="en-GB" sz="4000" dirty="0"/>
                        <a:t>Field(s)</a:t>
                      </a:r>
                    </a:p>
                  </a:txBody>
                  <a:tcPr/>
                </a:tc>
                <a:tc>
                  <a:txBody>
                    <a:bodyPr/>
                    <a:lstStyle/>
                    <a:p>
                      <a:endParaRPr lang="en-GB" sz="4000"/>
                    </a:p>
                  </a:txBody>
                  <a:tcPr/>
                </a:tc>
                <a:extLst>
                  <a:ext uri="{0D108BD9-81ED-4DB2-BD59-A6C34878D82A}">
                    <a16:rowId xmlns:a16="http://schemas.microsoft.com/office/drawing/2014/main" val="1001484436"/>
                  </a:ext>
                </a:extLst>
              </a:tr>
              <a:tr h="370840">
                <a:tc>
                  <a:txBody>
                    <a:bodyPr/>
                    <a:lstStyle/>
                    <a:p>
                      <a:r>
                        <a:rPr lang="en-GB" sz="4000" dirty="0"/>
                        <a:t>Table(s)</a:t>
                      </a:r>
                    </a:p>
                  </a:txBody>
                  <a:tcPr/>
                </a:tc>
                <a:tc>
                  <a:txBody>
                    <a:bodyPr/>
                    <a:lstStyle/>
                    <a:p>
                      <a:endParaRPr lang="en-GB" sz="4000"/>
                    </a:p>
                  </a:txBody>
                  <a:tcPr/>
                </a:tc>
                <a:extLst>
                  <a:ext uri="{0D108BD9-81ED-4DB2-BD59-A6C34878D82A}">
                    <a16:rowId xmlns:a16="http://schemas.microsoft.com/office/drawing/2014/main" val="2648906904"/>
                  </a:ext>
                </a:extLst>
              </a:tr>
              <a:tr h="370840">
                <a:tc>
                  <a:txBody>
                    <a:bodyPr/>
                    <a:lstStyle/>
                    <a:p>
                      <a:r>
                        <a:rPr lang="en-GB" sz="4000" dirty="0"/>
                        <a:t>Search criteria</a:t>
                      </a:r>
                    </a:p>
                  </a:txBody>
                  <a:tcPr/>
                </a:tc>
                <a:tc>
                  <a:txBody>
                    <a:bodyPr/>
                    <a:lstStyle/>
                    <a:p>
                      <a:endParaRPr lang="en-GB" sz="4000"/>
                    </a:p>
                  </a:txBody>
                  <a:tcPr/>
                </a:tc>
                <a:extLst>
                  <a:ext uri="{0D108BD9-81ED-4DB2-BD59-A6C34878D82A}">
                    <a16:rowId xmlns:a16="http://schemas.microsoft.com/office/drawing/2014/main" val="7278273"/>
                  </a:ext>
                </a:extLst>
              </a:tr>
              <a:tr h="370840">
                <a:tc>
                  <a:txBody>
                    <a:bodyPr/>
                    <a:lstStyle/>
                    <a:p>
                      <a:r>
                        <a:rPr lang="en-GB" sz="4000" dirty="0"/>
                        <a:t>Sort order</a:t>
                      </a:r>
                    </a:p>
                  </a:txBody>
                  <a:tcPr/>
                </a:tc>
                <a:tc>
                  <a:txBody>
                    <a:bodyPr/>
                    <a:lstStyle/>
                    <a:p>
                      <a:endParaRPr lang="en-GB" sz="4000" dirty="0"/>
                    </a:p>
                  </a:txBody>
                  <a:tcPr/>
                </a:tc>
                <a:extLst>
                  <a:ext uri="{0D108BD9-81ED-4DB2-BD59-A6C34878D82A}">
                    <a16:rowId xmlns:a16="http://schemas.microsoft.com/office/drawing/2014/main" val="163770991"/>
                  </a:ext>
                </a:extLst>
              </a:tr>
            </a:tbl>
          </a:graphicData>
        </a:graphic>
      </p:graphicFrame>
    </p:spTree>
    <p:extLst>
      <p:ext uri="{BB962C8B-B14F-4D97-AF65-F5344CB8AC3E}">
        <p14:creationId xmlns:p14="http://schemas.microsoft.com/office/powerpoint/2010/main" val="1077107779"/>
      </p:ext>
    </p:extLst>
  </p:cSld>
  <p:clrMapOvr>
    <a:masterClrMapping/>
  </p:clrMapOvr>
</p:sld>
</file>

<file path=ppt/slides/slide2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Query Design (INSERT)</a:t>
            </a:r>
          </a:p>
        </p:txBody>
      </p:sp>
      <p:graphicFrame>
        <p:nvGraphicFramePr>
          <p:cNvPr id="4" name="Content Placeholder 3"/>
          <p:cNvGraphicFramePr>
            <a:graphicFrameLocks noGrp="1"/>
          </p:cNvGraphicFramePr>
          <p:nvPr>
            <p:ph idx="1"/>
            <p:extLst>
              <p:ext uri="{D42A27DB-BD31-4B8C-83A1-F6EECF244321}">
                <p14:modId xmlns:p14="http://schemas.microsoft.com/office/powerpoint/2010/main" val="2808601786"/>
              </p:ext>
            </p:extLst>
          </p:nvPr>
        </p:nvGraphicFramePr>
        <p:xfrm>
          <a:off x="838200" y="1825625"/>
          <a:ext cx="10515600" cy="2804160"/>
        </p:xfrm>
        <a:graphic>
          <a:graphicData uri="http://schemas.openxmlformats.org/drawingml/2006/table">
            <a:tbl>
              <a:tblPr bandRow="1">
                <a:tableStyleId>{5C22544A-7EE6-4342-B048-85BDC9FD1C3A}</a:tableStyleId>
              </a:tblPr>
              <a:tblGrid>
                <a:gridCol w="3368040">
                  <a:extLst>
                    <a:ext uri="{9D8B030D-6E8A-4147-A177-3AD203B41FA5}">
                      <a16:colId xmlns:a16="http://schemas.microsoft.com/office/drawing/2014/main" val="1440578478"/>
                    </a:ext>
                  </a:extLst>
                </a:gridCol>
                <a:gridCol w="7147560">
                  <a:extLst>
                    <a:ext uri="{9D8B030D-6E8A-4147-A177-3AD203B41FA5}">
                      <a16:colId xmlns:a16="http://schemas.microsoft.com/office/drawing/2014/main" val="4238155148"/>
                    </a:ext>
                  </a:extLst>
                </a:gridCol>
              </a:tblGrid>
              <a:tr h="370840">
                <a:tc>
                  <a:txBody>
                    <a:bodyPr/>
                    <a:lstStyle/>
                    <a:p>
                      <a:r>
                        <a:rPr lang="en-GB" sz="4000" dirty="0"/>
                        <a:t>Type</a:t>
                      </a:r>
                      <a:r>
                        <a:rPr lang="en-GB" sz="4000" baseline="0" dirty="0"/>
                        <a:t> of query</a:t>
                      </a:r>
                      <a:endParaRPr lang="en-GB" sz="4000" dirty="0"/>
                    </a:p>
                  </a:txBody>
                  <a:tcPr/>
                </a:tc>
                <a:tc>
                  <a:txBody>
                    <a:bodyPr/>
                    <a:lstStyle/>
                    <a:p>
                      <a:r>
                        <a:rPr lang="en-GB" sz="4000" dirty="0"/>
                        <a:t>INSERT</a:t>
                      </a:r>
                    </a:p>
                  </a:txBody>
                  <a:tcPr/>
                </a:tc>
                <a:extLst>
                  <a:ext uri="{0D108BD9-81ED-4DB2-BD59-A6C34878D82A}">
                    <a16:rowId xmlns:a16="http://schemas.microsoft.com/office/drawing/2014/main" val="1001484436"/>
                  </a:ext>
                </a:extLst>
              </a:tr>
              <a:tr h="370840">
                <a:tc>
                  <a:txBody>
                    <a:bodyPr/>
                    <a:lstStyle/>
                    <a:p>
                      <a:r>
                        <a:rPr lang="en-GB" sz="4000" dirty="0"/>
                        <a:t>Table</a:t>
                      </a:r>
                    </a:p>
                  </a:txBody>
                  <a:tcPr/>
                </a:tc>
                <a:tc>
                  <a:txBody>
                    <a:bodyPr/>
                    <a:lstStyle/>
                    <a:p>
                      <a:endParaRPr lang="en-GB" sz="4000"/>
                    </a:p>
                  </a:txBody>
                  <a:tcPr/>
                </a:tc>
                <a:extLst>
                  <a:ext uri="{0D108BD9-81ED-4DB2-BD59-A6C34878D82A}">
                    <a16:rowId xmlns:a16="http://schemas.microsoft.com/office/drawing/2014/main" val="2648906904"/>
                  </a:ext>
                </a:extLst>
              </a:tr>
              <a:tr h="370840">
                <a:tc>
                  <a:txBody>
                    <a:bodyPr/>
                    <a:lstStyle/>
                    <a:p>
                      <a:r>
                        <a:rPr lang="en-GB" sz="4000" dirty="0"/>
                        <a:t>Value(s)</a:t>
                      </a:r>
                    </a:p>
                  </a:txBody>
                  <a:tcPr/>
                </a:tc>
                <a:tc>
                  <a:txBody>
                    <a:bodyPr/>
                    <a:lstStyle/>
                    <a:p>
                      <a:endParaRPr lang="en-GB" sz="4000"/>
                    </a:p>
                  </a:txBody>
                  <a:tcPr/>
                </a:tc>
                <a:extLst>
                  <a:ext uri="{0D108BD9-81ED-4DB2-BD59-A6C34878D82A}">
                    <a16:rowId xmlns:a16="http://schemas.microsoft.com/office/drawing/2014/main" val="7278273"/>
                  </a:ext>
                </a:extLst>
              </a:tr>
              <a:tr h="370840">
                <a:tc>
                  <a:txBody>
                    <a:bodyPr/>
                    <a:lstStyle/>
                    <a:p>
                      <a:r>
                        <a:rPr lang="en-GB" sz="4000" dirty="0"/>
                        <a:t>Criteria</a:t>
                      </a:r>
                    </a:p>
                  </a:txBody>
                  <a:tcPr/>
                </a:tc>
                <a:tc>
                  <a:txBody>
                    <a:bodyPr/>
                    <a:lstStyle/>
                    <a:p>
                      <a:r>
                        <a:rPr lang="en-GB" sz="4000" dirty="0">
                          <a:solidFill>
                            <a:srgbClr val="FF0000"/>
                          </a:solidFill>
                        </a:rPr>
                        <a:t>Not used</a:t>
                      </a:r>
                    </a:p>
                  </a:txBody>
                  <a:tcPr/>
                </a:tc>
                <a:extLst>
                  <a:ext uri="{0D108BD9-81ED-4DB2-BD59-A6C34878D82A}">
                    <a16:rowId xmlns:a16="http://schemas.microsoft.com/office/drawing/2014/main" val="163770991"/>
                  </a:ext>
                </a:extLst>
              </a:tr>
            </a:tbl>
          </a:graphicData>
        </a:graphic>
      </p:graphicFrame>
    </p:spTree>
    <p:extLst>
      <p:ext uri="{BB962C8B-B14F-4D97-AF65-F5344CB8AC3E}">
        <p14:creationId xmlns:p14="http://schemas.microsoft.com/office/powerpoint/2010/main" val="764657735"/>
      </p:ext>
    </p:extLst>
  </p:cSld>
  <p:clrMapOvr>
    <a:masterClrMapping/>
  </p:clrMapOvr>
</p:sld>
</file>

<file path=ppt/slides/slide22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Query Design (INSERT)</a:t>
            </a:r>
          </a:p>
        </p:txBody>
      </p:sp>
      <p:graphicFrame>
        <p:nvGraphicFramePr>
          <p:cNvPr id="4" name="Content Placeholder 3"/>
          <p:cNvGraphicFramePr>
            <a:graphicFrameLocks noGrp="1"/>
          </p:cNvGraphicFramePr>
          <p:nvPr>
            <p:ph idx="1"/>
            <p:extLst>
              <p:ext uri="{D42A27DB-BD31-4B8C-83A1-F6EECF244321}">
                <p14:modId xmlns:p14="http://schemas.microsoft.com/office/powerpoint/2010/main" val="335629651"/>
              </p:ext>
            </p:extLst>
          </p:nvPr>
        </p:nvGraphicFramePr>
        <p:xfrm>
          <a:off x="838200" y="1825625"/>
          <a:ext cx="10515600" cy="2804160"/>
        </p:xfrm>
        <a:graphic>
          <a:graphicData uri="http://schemas.openxmlformats.org/drawingml/2006/table">
            <a:tbl>
              <a:tblPr bandRow="1">
                <a:tableStyleId>{5C22544A-7EE6-4342-B048-85BDC9FD1C3A}</a:tableStyleId>
              </a:tblPr>
              <a:tblGrid>
                <a:gridCol w="3368040">
                  <a:extLst>
                    <a:ext uri="{9D8B030D-6E8A-4147-A177-3AD203B41FA5}">
                      <a16:colId xmlns:a16="http://schemas.microsoft.com/office/drawing/2014/main" val="1440578478"/>
                    </a:ext>
                  </a:extLst>
                </a:gridCol>
                <a:gridCol w="7147560">
                  <a:extLst>
                    <a:ext uri="{9D8B030D-6E8A-4147-A177-3AD203B41FA5}">
                      <a16:colId xmlns:a16="http://schemas.microsoft.com/office/drawing/2014/main" val="4238155148"/>
                    </a:ext>
                  </a:extLst>
                </a:gridCol>
              </a:tblGrid>
              <a:tr h="370840">
                <a:tc>
                  <a:txBody>
                    <a:bodyPr/>
                    <a:lstStyle/>
                    <a:p>
                      <a:r>
                        <a:rPr lang="en-GB" sz="4000" dirty="0"/>
                        <a:t>Type</a:t>
                      </a:r>
                      <a:r>
                        <a:rPr lang="en-GB" sz="4000" baseline="0" dirty="0"/>
                        <a:t> of query</a:t>
                      </a:r>
                      <a:endParaRPr lang="en-GB" sz="4000" dirty="0"/>
                    </a:p>
                  </a:txBody>
                  <a:tcPr/>
                </a:tc>
                <a:tc>
                  <a:txBody>
                    <a:bodyPr/>
                    <a:lstStyle/>
                    <a:p>
                      <a:endParaRPr lang="en-GB" sz="4000" dirty="0"/>
                    </a:p>
                  </a:txBody>
                  <a:tcPr/>
                </a:tc>
                <a:extLst>
                  <a:ext uri="{0D108BD9-81ED-4DB2-BD59-A6C34878D82A}">
                    <a16:rowId xmlns:a16="http://schemas.microsoft.com/office/drawing/2014/main" val="1001484436"/>
                  </a:ext>
                </a:extLst>
              </a:tr>
              <a:tr h="370840">
                <a:tc>
                  <a:txBody>
                    <a:bodyPr/>
                    <a:lstStyle/>
                    <a:p>
                      <a:r>
                        <a:rPr lang="en-GB" sz="4000" dirty="0"/>
                        <a:t>Table</a:t>
                      </a:r>
                    </a:p>
                  </a:txBody>
                  <a:tcPr/>
                </a:tc>
                <a:tc>
                  <a:txBody>
                    <a:bodyPr/>
                    <a:lstStyle/>
                    <a:p>
                      <a:endParaRPr lang="en-GB" sz="4000"/>
                    </a:p>
                  </a:txBody>
                  <a:tcPr/>
                </a:tc>
                <a:extLst>
                  <a:ext uri="{0D108BD9-81ED-4DB2-BD59-A6C34878D82A}">
                    <a16:rowId xmlns:a16="http://schemas.microsoft.com/office/drawing/2014/main" val="2648906904"/>
                  </a:ext>
                </a:extLst>
              </a:tr>
              <a:tr h="370840">
                <a:tc>
                  <a:txBody>
                    <a:bodyPr/>
                    <a:lstStyle/>
                    <a:p>
                      <a:r>
                        <a:rPr lang="en-GB" sz="4000" dirty="0"/>
                        <a:t>Value(s)</a:t>
                      </a:r>
                    </a:p>
                  </a:txBody>
                  <a:tcPr/>
                </a:tc>
                <a:tc>
                  <a:txBody>
                    <a:bodyPr/>
                    <a:lstStyle/>
                    <a:p>
                      <a:endParaRPr lang="en-GB" sz="4000" dirty="0"/>
                    </a:p>
                  </a:txBody>
                  <a:tcPr/>
                </a:tc>
                <a:extLst>
                  <a:ext uri="{0D108BD9-81ED-4DB2-BD59-A6C34878D82A}">
                    <a16:rowId xmlns:a16="http://schemas.microsoft.com/office/drawing/2014/main" val="7278273"/>
                  </a:ext>
                </a:extLst>
              </a:tr>
              <a:tr h="370840">
                <a:tc>
                  <a:txBody>
                    <a:bodyPr/>
                    <a:lstStyle/>
                    <a:p>
                      <a:r>
                        <a:rPr lang="en-GB" sz="4000" dirty="0"/>
                        <a:t>Criteria</a:t>
                      </a:r>
                    </a:p>
                  </a:txBody>
                  <a:tcPr/>
                </a:tc>
                <a:tc>
                  <a:txBody>
                    <a:bodyPr/>
                    <a:lstStyle/>
                    <a:p>
                      <a:endParaRPr lang="en-GB" sz="4000" dirty="0">
                        <a:solidFill>
                          <a:srgbClr val="FF0000"/>
                        </a:solidFill>
                      </a:endParaRPr>
                    </a:p>
                  </a:txBody>
                  <a:tcPr/>
                </a:tc>
                <a:extLst>
                  <a:ext uri="{0D108BD9-81ED-4DB2-BD59-A6C34878D82A}">
                    <a16:rowId xmlns:a16="http://schemas.microsoft.com/office/drawing/2014/main" val="163770991"/>
                  </a:ext>
                </a:extLst>
              </a:tr>
            </a:tbl>
          </a:graphicData>
        </a:graphic>
      </p:graphicFrame>
    </p:spTree>
    <p:extLst>
      <p:ext uri="{BB962C8B-B14F-4D97-AF65-F5344CB8AC3E}">
        <p14:creationId xmlns:p14="http://schemas.microsoft.com/office/powerpoint/2010/main" val="3145385377"/>
      </p:ext>
    </p:extLst>
  </p:cSld>
  <p:clrMapOvr>
    <a:masterClrMapping/>
  </p:clrMapOvr>
</p:sld>
</file>

<file path=ppt/slides/slide2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Query Design (UPDATE)</a:t>
            </a:r>
          </a:p>
        </p:txBody>
      </p:sp>
      <p:graphicFrame>
        <p:nvGraphicFramePr>
          <p:cNvPr id="4" name="Content Placeholder 3"/>
          <p:cNvGraphicFramePr>
            <a:graphicFrameLocks noGrp="1"/>
          </p:cNvGraphicFramePr>
          <p:nvPr>
            <p:ph idx="1"/>
            <p:extLst>
              <p:ext uri="{D42A27DB-BD31-4B8C-83A1-F6EECF244321}">
                <p14:modId xmlns:p14="http://schemas.microsoft.com/office/powerpoint/2010/main" val="1700195048"/>
              </p:ext>
            </p:extLst>
          </p:nvPr>
        </p:nvGraphicFramePr>
        <p:xfrm>
          <a:off x="838200" y="1825625"/>
          <a:ext cx="10515600" cy="2804160"/>
        </p:xfrm>
        <a:graphic>
          <a:graphicData uri="http://schemas.openxmlformats.org/drawingml/2006/table">
            <a:tbl>
              <a:tblPr bandRow="1">
                <a:tableStyleId>{5C22544A-7EE6-4342-B048-85BDC9FD1C3A}</a:tableStyleId>
              </a:tblPr>
              <a:tblGrid>
                <a:gridCol w="3368040">
                  <a:extLst>
                    <a:ext uri="{9D8B030D-6E8A-4147-A177-3AD203B41FA5}">
                      <a16:colId xmlns:a16="http://schemas.microsoft.com/office/drawing/2014/main" val="1440578478"/>
                    </a:ext>
                  </a:extLst>
                </a:gridCol>
                <a:gridCol w="7147560">
                  <a:extLst>
                    <a:ext uri="{9D8B030D-6E8A-4147-A177-3AD203B41FA5}">
                      <a16:colId xmlns:a16="http://schemas.microsoft.com/office/drawing/2014/main" val="4238155148"/>
                    </a:ext>
                  </a:extLst>
                </a:gridCol>
              </a:tblGrid>
              <a:tr h="370840">
                <a:tc>
                  <a:txBody>
                    <a:bodyPr/>
                    <a:lstStyle/>
                    <a:p>
                      <a:r>
                        <a:rPr lang="en-GB" sz="4000" dirty="0"/>
                        <a:t>Type</a:t>
                      </a:r>
                      <a:r>
                        <a:rPr lang="en-GB" sz="4000" baseline="0" dirty="0"/>
                        <a:t> of query</a:t>
                      </a:r>
                      <a:endParaRPr lang="en-GB" sz="4000" dirty="0"/>
                    </a:p>
                  </a:txBody>
                  <a:tcPr/>
                </a:tc>
                <a:tc>
                  <a:txBody>
                    <a:bodyPr/>
                    <a:lstStyle/>
                    <a:p>
                      <a:r>
                        <a:rPr lang="en-GB" sz="4000" dirty="0"/>
                        <a:t>UPDATE</a:t>
                      </a:r>
                    </a:p>
                  </a:txBody>
                  <a:tcPr/>
                </a:tc>
                <a:extLst>
                  <a:ext uri="{0D108BD9-81ED-4DB2-BD59-A6C34878D82A}">
                    <a16:rowId xmlns:a16="http://schemas.microsoft.com/office/drawing/2014/main" val="1001484436"/>
                  </a:ext>
                </a:extLst>
              </a:tr>
              <a:tr h="370840">
                <a:tc>
                  <a:txBody>
                    <a:bodyPr/>
                    <a:lstStyle/>
                    <a:p>
                      <a:r>
                        <a:rPr lang="en-GB" sz="4000" dirty="0"/>
                        <a:t>Table</a:t>
                      </a:r>
                    </a:p>
                  </a:txBody>
                  <a:tcPr/>
                </a:tc>
                <a:tc>
                  <a:txBody>
                    <a:bodyPr/>
                    <a:lstStyle/>
                    <a:p>
                      <a:endParaRPr lang="en-GB" sz="4000"/>
                    </a:p>
                  </a:txBody>
                  <a:tcPr/>
                </a:tc>
                <a:extLst>
                  <a:ext uri="{0D108BD9-81ED-4DB2-BD59-A6C34878D82A}">
                    <a16:rowId xmlns:a16="http://schemas.microsoft.com/office/drawing/2014/main" val="2648906904"/>
                  </a:ext>
                </a:extLst>
              </a:tr>
              <a:tr h="370840">
                <a:tc>
                  <a:txBody>
                    <a:bodyPr/>
                    <a:lstStyle/>
                    <a:p>
                      <a:r>
                        <a:rPr lang="en-GB" sz="4000" dirty="0"/>
                        <a:t>Value(s)</a:t>
                      </a:r>
                    </a:p>
                  </a:txBody>
                  <a:tcPr/>
                </a:tc>
                <a:tc>
                  <a:txBody>
                    <a:bodyPr/>
                    <a:lstStyle/>
                    <a:p>
                      <a:endParaRPr lang="en-GB" sz="4000"/>
                    </a:p>
                  </a:txBody>
                  <a:tcPr/>
                </a:tc>
                <a:extLst>
                  <a:ext uri="{0D108BD9-81ED-4DB2-BD59-A6C34878D82A}">
                    <a16:rowId xmlns:a16="http://schemas.microsoft.com/office/drawing/2014/main" val="7278273"/>
                  </a:ext>
                </a:extLst>
              </a:tr>
              <a:tr h="370840">
                <a:tc>
                  <a:txBody>
                    <a:bodyPr/>
                    <a:lstStyle/>
                    <a:p>
                      <a:r>
                        <a:rPr lang="en-GB" sz="4000" dirty="0"/>
                        <a:t>Criteria</a:t>
                      </a:r>
                    </a:p>
                  </a:txBody>
                  <a:tcPr/>
                </a:tc>
                <a:tc>
                  <a:txBody>
                    <a:bodyPr/>
                    <a:lstStyle/>
                    <a:p>
                      <a:endParaRPr lang="en-GB" sz="4000" dirty="0"/>
                    </a:p>
                  </a:txBody>
                  <a:tcPr/>
                </a:tc>
                <a:extLst>
                  <a:ext uri="{0D108BD9-81ED-4DB2-BD59-A6C34878D82A}">
                    <a16:rowId xmlns:a16="http://schemas.microsoft.com/office/drawing/2014/main" val="163770991"/>
                  </a:ext>
                </a:extLst>
              </a:tr>
            </a:tbl>
          </a:graphicData>
        </a:graphic>
      </p:graphicFrame>
    </p:spTree>
    <p:extLst>
      <p:ext uri="{BB962C8B-B14F-4D97-AF65-F5344CB8AC3E}">
        <p14:creationId xmlns:p14="http://schemas.microsoft.com/office/powerpoint/2010/main" val="520357845"/>
      </p:ext>
    </p:extLst>
  </p:cSld>
  <p:clrMapOvr>
    <a:masterClrMapping/>
  </p:clrMapOvr>
</p:sld>
</file>

<file path=ppt/slides/slide22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Query Design (UPDATE)</a:t>
            </a:r>
          </a:p>
        </p:txBody>
      </p:sp>
      <p:graphicFrame>
        <p:nvGraphicFramePr>
          <p:cNvPr id="4" name="Content Placeholder 3"/>
          <p:cNvGraphicFramePr>
            <a:graphicFrameLocks noGrp="1"/>
          </p:cNvGraphicFramePr>
          <p:nvPr>
            <p:ph idx="1"/>
            <p:extLst>
              <p:ext uri="{D42A27DB-BD31-4B8C-83A1-F6EECF244321}">
                <p14:modId xmlns:p14="http://schemas.microsoft.com/office/powerpoint/2010/main" val="265435468"/>
              </p:ext>
            </p:extLst>
          </p:nvPr>
        </p:nvGraphicFramePr>
        <p:xfrm>
          <a:off x="838200" y="1825625"/>
          <a:ext cx="10515600" cy="2804160"/>
        </p:xfrm>
        <a:graphic>
          <a:graphicData uri="http://schemas.openxmlformats.org/drawingml/2006/table">
            <a:tbl>
              <a:tblPr bandRow="1">
                <a:tableStyleId>{5C22544A-7EE6-4342-B048-85BDC9FD1C3A}</a:tableStyleId>
              </a:tblPr>
              <a:tblGrid>
                <a:gridCol w="3368040">
                  <a:extLst>
                    <a:ext uri="{9D8B030D-6E8A-4147-A177-3AD203B41FA5}">
                      <a16:colId xmlns:a16="http://schemas.microsoft.com/office/drawing/2014/main" val="1440578478"/>
                    </a:ext>
                  </a:extLst>
                </a:gridCol>
                <a:gridCol w="7147560">
                  <a:extLst>
                    <a:ext uri="{9D8B030D-6E8A-4147-A177-3AD203B41FA5}">
                      <a16:colId xmlns:a16="http://schemas.microsoft.com/office/drawing/2014/main" val="4238155148"/>
                    </a:ext>
                  </a:extLst>
                </a:gridCol>
              </a:tblGrid>
              <a:tr h="370840">
                <a:tc>
                  <a:txBody>
                    <a:bodyPr/>
                    <a:lstStyle/>
                    <a:p>
                      <a:r>
                        <a:rPr lang="en-GB" sz="4000" dirty="0"/>
                        <a:t>Type</a:t>
                      </a:r>
                      <a:r>
                        <a:rPr lang="en-GB" sz="4000" baseline="0" dirty="0"/>
                        <a:t> of query</a:t>
                      </a:r>
                      <a:endParaRPr lang="en-GB" sz="4000" dirty="0"/>
                    </a:p>
                  </a:txBody>
                  <a:tcPr/>
                </a:tc>
                <a:tc>
                  <a:txBody>
                    <a:bodyPr/>
                    <a:lstStyle/>
                    <a:p>
                      <a:endParaRPr lang="en-GB" sz="4000" dirty="0"/>
                    </a:p>
                  </a:txBody>
                  <a:tcPr/>
                </a:tc>
                <a:extLst>
                  <a:ext uri="{0D108BD9-81ED-4DB2-BD59-A6C34878D82A}">
                    <a16:rowId xmlns:a16="http://schemas.microsoft.com/office/drawing/2014/main" val="1001484436"/>
                  </a:ext>
                </a:extLst>
              </a:tr>
              <a:tr h="370840">
                <a:tc>
                  <a:txBody>
                    <a:bodyPr/>
                    <a:lstStyle/>
                    <a:p>
                      <a:r>
                        <a:rPr lang="en-GB" sz="4000" dirty="0"/>
                        <a:t>Table</a:t>
                      </a:r>
                    </a:p>
                  </a:txBody>
                  <a:tcPr/>
                </a:tc>
                <a:tc>
                  <a:txBody>
                    <a:bodyPr/>
                    <a:lstStyle/>
                    <a:p>
                      <a:endParaRPr lang="en-GB" sz="4000"/>
                    </a:p>
                  </a:txBody>
                  <a:tcPr/>
                </a:tc>
                <a:extLst>
                  <a:ext uri="{0D108BD9-81ED-4DB2-BD59-A6C34878D82A}">
                    <a16:rowId xmlns:a16="http://schemas.microsoft.com/office/drawing/2014/main" val="2648906904"/>
                  </a:ext>
                </a:extLst>
              </a:tr>
              <a:tr h="370840">
                <a:tc>
                  <a:txBody>
                    <a:bodyPr/>
                    <a:lstStyle/>
                    <a:p>
                      <a:r>
                        <a:rPr lang="en-GB" sz="4000" dirty="0"/>
                        <a:t>Value(s)</a:t>
                      </a:r>
                    </a:p>
                  </a:txBody>
                  <a:tcPr/>
                </a:tc>
                <a:tc>
                  <a:txBody>
                    <a:bodyPr/>
                    <a:lstStyle/>
                    <a:p>
                      <a:endParaRPr lang="en-GB" sz="4000"/>
                    </a:p>
                  </a:txBody>
                  <a:tcPr/>
                </a:tc>
                <a:extLst>
                  <a:ext uri="{0D108BD9-81ED-4DB2-BD59-A6C34878D82A}">
                    <a16:rowId xmlns:a16="http://schemas.microsoft.com/office/drawing/2014/main" val="7278273"/>
                  </a:ext>
                </a:extLst>
              </a:tr>
              <a:tr h="370840">
                <a:tc>
                  <a:txBody>
                    <a:bodyPr/>
                    <a:lstStyle/>
                    <a:p>
                      <a:r>
                        <a:rPr lang="en-GB" sz="4000" dirty="0"/>
                        <a:t>Criteria</a:t>
                      </a:r>
                    </a:p>
                  </a:txBody>
                  <a:tcPr/>
                </a:tc>
                <a:tc>
                  <a:txBody>
                    <a:bodyPr/>
                    <a:lstStyle/>
                    <a:p>
                      <a:endParaRPr lang="en-GB" sz="4000" dirty="0"/>
                    </a:p>
                  </a:txBody>
                  <a:tcPr/>
                </a:tc>
                <a:extLst>
                  <a:ext uri="{0D108BD9-81ED-4DB2-BD59-A6C34878D82A}">
                    <a16:rowId xmlns:a16="http://schemas.microsoft.com/office/drawing/2014/main" val="163770991"/>
                  </a:ext>
                </a:extLst>
              </a:tr>
            </a:tbl>
          </a:graphicData>
        </a:graphic>
      </p:graphicFrame>
    </p:spTree>
    <p:extLst>
      <p:ext uri="{BB962C8B-B14F-4D97-AF65-F5344CB8AC3E}">
        <p14:creationId xmlns:p14="http://schemas.microsoft.com/office/powerpoint/2010/main" val="1355594162"/>
      </p:ext>
    </p:extLst>
  </p:cSld>
  <p:clrMapOvr>
    <a:masterClrMapping/>
  </p:clrMapOvr>
</p:sld>
</file>

<file path=ppt/slides/slide2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Query Design (DELETE)</a:t>
            </a:r>
          </a:p>
        </p:txBody>
      </p:sp>
      <p:graphicFrame>
        <p:nvGraphicFramePr>
          <p:cNvPr id="4" name="Content Placeholder 3"/>
          <p:cNvGraphicFramePr>
            <a:graphicFrameLocks noGrp="1"/>
          </p:cNvGraphicFramePr>
          <p:nvPr>
            <p:ph idx="1"/>
            <p:extLst>
              <p:ext uri="{D42A27DB-BD31-4B8C-83A1-F6EECF244321}">
                <p14:modId xmlns:p14="http://schemas.microsoft.com/office/powerpoint/2010/main" val="2088527796"/>
              </p:ext>
            </p:extLst>
          </p:nvPr>
        </p:nvGraphicFramePr>
        <p:xfrm>
          <a:off x="838200" y="1825625"/>
          <a:ext cx="10515600" cy="2804160"/>
        </p:xfrm>
        <a:graphic>
          <a:graphicData uri="http://schemas.openxmlformats.org/drawingml/2006/table">
            <a:tbl>
              <a:tblPr bandRow="1">
                <a:tableStyleId>{5C22544A-7EE6-4342-B048-85BDC9FD1C3A}</a:tableStyleId>
              </a:tblPr>
              <a:tblGrid>
                <a:gridCol w="3368040">
                  <a:extLst>
                    <a:ext uri="{9D8B030D-6E8A-4147-A177-3AD203B41FA5}">
                      <a16:colId xmlns:a16="http://schemas.microsoft.com/office/drawing/2014/main" val="1440578478"/>
                    </a:ext>
                  </a:extLst>
                </a:gridCol>
                <a:gridCol w="7147560">
                  <a:extLst>
                    <a:ext uri="{9D8B030D-6E8A-4147-A177-3AD203B41FA5}">
                      <a16:colId xmlns:a16="http://schemas.microsoft.com/office/drawing/2014/main" val="4238155148"/>
                    </a:ext>
                  </a:extLst>
                </a:gridCol>
              </a:tblGrid>
              <a:tr h="370840">
                <a:tc>
                  <a:txBody>
                    <a:bodyPr/>
                    <a:lstStyle/>
                    <a:p>
                      <a:r>
                        <a:rPr lang="en-GB" sz="4000" dirty="0"/>
                        <a:t>Type</a:t>
                      </a:r>
                      <a:r>
                        <a:rPr lang="en-GB" sz="4000" baseline="0" dirty="0"/>
                        <a:t> of query</a:t>
                      </a:r>
                      <a:endParaRPr lang="en-GB" sz="4000" dirty="0"/>
                    </a:p>
                  </a:txBody>
                  <a:tcPr/>
                </a:tc>
                <a:tc>
                  <a:txBody>
                    <a:bodyPr/>
                    <a:lstStyle/>
                    <a:p>
                      <a:r>
                        <a:rPr lang="en-GB" sz="4000" dirty="0"/>
                        <a:t>DELETE</a:t>
                      </a:r>
                    </a:p>
                  </a:txBody>
                  <a:tcPr/>
                </a:tc>
                <a:extLst>
                  <a:ext uri="{0D108BD9-81ED-4DB2-BD59-A6C34878D82A}">
                    <a16:rowId xmlns:a16="http://schemas.microsoft.com/office/drawing/2014/main" val="1001484436"/>
                  </a:ext>
                </a:extLst>
              </a:tr>
              <a:tr h="370840">
                <a:tc>
                  <a:txBody>
                    <a:bodyPr/>
                    <a:lstStyle/>
                    <a:p>
                      <a:r>
                        <a:rPr lang="en-GB" sz="4000" dirty="0"/>
                        <a:t>Table</a:t>
                      </a:r>
                    </a:p>
                  </a:txBody>
                  <a:tcPr/>
                </a:tc>
                <a:tc>
                  <a:txBody>
                    <a:bodyPr/>
                    <a:lstStyle/>
                    <a:p>
                      <a:endParaRPr lang="en-GB" sz="4000" dirty="0"/>
                    </a:p>
                  </a:txBody>
                  <a:tcPr/>
                </a:tc>
                <a:extLst>
                  <a:ext uri="{0D108BD9-81ED-4DB2-BD59-A6C34878D82A}">
                    <a16:rowId xmlns:a16="http://schemas.microsoft.com/office/drawing/2014/main" val="2648906904"/>
                  </a:ext>
                </a:extLst>
              </a:tr>
              <a:tr h="370840">
                <a:tc>
                  <a:txBody>
                    <a:bodyPr/>
                    <a:lstStyle/>
                    <a:p>
                      <a:r>
                        <a:rPr lang="en-GB" sz="4000" dirty="0"/>
                        <a:t>Value(s)</a:t>
                      </a:r>
                    </a:p>
                  </a:txBody>
                  <a:tcPr/>
                </a:tc>
                <a:tc>
                  <a:txBody>
                    <a:bodyPr/>
                    <a:lstStyle/>
                    <a:p>
                      <a:r>
                        <a:rPr lang="en-GB" sz="4000" dirty="0">
                          <a:solidFill>
                            <a:srgbClr val="FF0000"/>
                          </a:solidFill>
                        </a:rPr>
                        <a:t>Not used</a:t>
                      </a:r>
                    </a:p>
                  </a:txBody>
                  <a:tcPr/>
                </a:tc>
                <a:extLst>
                  <a:ext uri="{0D108BD9-81ED-4DB2-BD59-A6C34878D82A}">
                    <a16:rowId xmlns:a16="http://schemas.microsoft.com/office/drawing/2014/main" val="7278273"/>
                  </a:ext>
                </a:extLst>
              </a:tr>
              <a:tr h="370840">
                <a:tc>
                  <a:txBody>
                    <a:bodyPr/>
                    <a:lstStyle/>
                    <a:p>
                      <a:r>
                        <a:rPr lang="en-GB" sz="4000" dirty="0"/>
                        <a:t>Criteria</a:t>
                      </a:r>
                    </a:p>
                  </a:txBody>
                  <a:tcPr/>
                </a:tc>
                <a:tc>
                  <a:txBody>
                    <a:bodyPr/>
                    <a:lstStyle/>
                    <a:p>
                      <a:endParaRPr lang="en-GB" sz="4000" dirty="0"/>
                    </a:p>
                  </a:txBody>
                  <a:tcPr/>
                </a:tc>
                <a:extLst>
                  <a:ext uri="{0D108BD9-81ED-4DB2-BD59-A6C34878D82A}">
                    <a16:rowId xmlns:a16="http://schemas.microsoft.com/office/drawing/2014/main" val="163770991"/>
                  </a:ext>
                </a:extLst>
              </a:tr>
            </a:tbl>
          </a:graphicData>
        </a:graphic>
      </p:graphicFrame>
    </p:spTree>
    <p:extLst>
      <p:ext uri="{BB962C8B-B14F-4D97-AF65-F5344CB8AC3E}">
        <p14:creationId xmlns:p14="http://schemas.microsoft.com/office/powerpoint/2010/main" val="2968985016"/>
      </p:ext>
    </p:extLst>
  </p:cSld>
  <p:clrMapOvr>
    <a:masterClrMapping/>
  </p:clrMapOvr>
</p:sld>
</file>

<file path=ppt/slides/slide225.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Query Design (DELETE)</a:t>
            </a:r>
          </a:p>
        </p:txBody>
      </p:sp>
      <p:graphicFrame>
        <p:nvGraphicFramePr>
          <p:cNvPr id="4" name="Content Placeholder 3"/>
          <p:cNvGraphicFramePr>
            <a:graphicFrameLocks noGrp="1"/>
          </p:cNvGraphicFramePr>
          <p:nvPr>
            <p:ph idx="1"/>
            <p:extLst>
              <p:ext uri="{D42A27DB-BD31-4B8C-83A1-F6EECF244321}">
                <p14:modId xmlns:p14="http://schemas.microsoft.com/office/powerpoint/2010/main" val="1946218872"/>
              </p:ext>
            </p:extLst>
          </p:nvPr>
        </p:nvGraphicFramePr>
        <p:xfrm>
          <a:off x="838200" y="1825625"/>
          <a:ext cx="10515600" cy="2804160"/>
        </p:xfrm>
        <a:graphic>
          <a:graphicData uri="http://schemas.openxmlformats.org/drawingml/2006/table">
            <a:tbl>
              <a:tblPr bandRow="1">
                <a:tableStyleId>{5C22544A-7EE6-4342-B048-85BDC9FD1C3A}</a:tableStyleId>
              </a:tblPr>
              <a:tblGrid>
                <a:gridCol w="3368040">
                  <a:extLst>
                    <a:ext uri="{9D8B030D-6E8A-4147-A177-3AD203B41FA5}">
                      <a16:colId xmlns:a16="http://schemas.microsoft.com/office/drawing/2014/main" val="1440578478"/>
                    </a:ext>
                  </a:extLst>
                </a:gridCol>
                <a:gridCol w="7147560">
                  <a:extLst>
                    <a:ext uri="{9D8B030D-6E8A-4147-A177-3AD203B41FA5}">
                      <a16:colId xmlns:a16="http://schemas.microsoft.com/office/drawing/2014/main" val="4238155148"/>
                    </a:ext>
                  </a:extLst>
                </a:gridCol>
              </a:tblGrid>
              <a:tr h="370840">
                <a:tc>
                  <a:txBody>
                    <a:bodyPr/>
                    <a:lstStyle/>
                    <a:p>
                      <a:r>
                        <a:rPr lang="en-GB" sz="4000" dirty="0"/>
                        <a:t>Type</a:t>
                      </a:r>
                      <a:r>
                        <a:rPr lang="en-GB" sz="4000" baseline="0" dirty="0"/>
                        <a:t> of query</a:t>
                      </a:r>
                      <a:endParaRPr lang="en-GB" sz="4000" dirty="0"/>
                    </a:p>
                  </a:txBody>
                  <a:tcPr/>
                </a:tc>
                <a:tc>
                  <a:txBody>
                    <a:bodyPr/>
                    <a:lstStyle/>
                    <a:p>
                      <a:endParaRPr lang="en-GB" sz="4000" dirty="0"/>
                    </a:p>
                  </a:txBody>
                  <a:tcPr/>
                </a:tc>
                <a:extLst>
                  <a:ext uri="{0D108BD9-81ED-4DB2-BD59-A6C34878D82A}">
                    <a16:rowId xmlns:a16="http://schemas.microsoft.com/office/drawing/2014/main" val="1001484436"/>
                  </a:ext>
                </a:extLst>
              </a:tr>
              <a:tr h="370840">
                <a:tc>
                  <a:txBody>
                    <a:bodyPr/>
                    <a:lstStyle/>
                    <a:p>
                      <a:r>
                        <a:rPr lang="en-GB" sz="4000" dirty="0"/>
                        <a:t>Table</a:t>
                      </a:r>
                    </a:p>
                  </a:txBody>
                  <a:tcPr/>
                </a:tc>
                <a:tc>
                  <a:txBody>
                    <a:bodyPr/>
                    <a:lstStyle/>
                    <a:p>
                      <a:endParaRPr lang="en-GB" sz="4000" dirty="0"/>
                    </a:p>
                  </a:txBody>
                  <a:tcPr/>
                </a:tc>
                <a:extLst>
                  <a:ext uri="{0D108BD9-81ED-4DB2-BD59-A6C34878D82A}">
                    <a16:rowId xmlns:a16="http://schemas.microsoft.com/office/drawing/2014/main" val="2648906904"/>
                  </a:ext>
                </a:extLst>
              </a:tr>
              <a:tr h="370840">
                <a:tc>
                  <a:txBody>
                    <a:bodyPr/>
                    <a:lstStyle/>
                    <a:p>
                      <a:r>
                        <a:rPr lang="en-GB" sz="4000" dirty="0"/>
                        <a:t>Value(s)</a:t>
                      </a:r>
                    </a:p>
                  </a:txBody>
                  <a:tcPr/>
                </a:tc>
                <a:tc>
                  <a:txBody>
                    <a:bodyPr/>
                    <a:lstStyle/>
                    <a:p>
                      <a:endParaRPr lang="en-GB" sz="4000" dirty="0">
                        <a:solidFill>
                          <a:srgbClr val="FF0000"/>
                        </a:solidFill>
                      </a:endParaRPr>
                    </a:p>
                  </a:txBody>
                  <a:tcPr/>
                </a:tc>
                <a:extLst>
                  <a:ext uri="{0D108BD9-81ED-4DB2-BD59-A6C34878D82A}">
                    <a16:rowId xmlns:a16="http://schemas.microsoft.com/office/drawing/2014/main" val="7278273"/>
                  </a:ext>
                </a:extLst>
              </a:tr>
              <a:tr h="370840">
                <a:tc>
                  <a:txBody>
                    <a:bodyPr/>
                    <a:lstStyle/>
                    <a:p>
                      <a:r>
                        <a:rPr lang="en-GB" sz="4000" dirty="0"/>
                        <a:t>Criteria</a:t>
                      </a:r>
                    </a:p>
                  </a:txBody>
                  <a:tcPr/>
                </a:tc>
                <a:tc>
                  <a:txBody>
                    <a:bodyPr/>
                    <a:lstStyle/>
                    <a:p>
                      <a:endParaRPr lang="en-GB" sz="4000" dirty="0"/>
                    </a:p>
                  </a:txBody>
                  <a:tcPr/>
                </a:tc>
                <a:extLst>
                  <a:ext uri="{0D108BD9-81ED-4DB2-BD59-A6C34878D82A}">
                    <a16:rowId xmlns:a16="http://schemas.microsoft.com/office/drawing/2014/main" val="163770991"/>
                  </a:ext>
                </a:extLst>
              </a:tr>
            </a:tbl>
          </a:graphicData>
        </a:graphic>
      </p:graphicFrame>
    </p:spTree>
    <p:extLst>
      <p:ext uri="{BB962C8B-B14F-4D97-AF65-F5344CB8AC3E}">
        <p14:creationId xmlns:p14="http://schemas.microsoft.com/office/powerpoint/2010/main" val="423321490"/>
      </p:ext>
    </p:extLst>
  </p:cSld>
  <p:clrMapOvr>
    <a:masterClrMapping/>
  </p:clrMapOvr>
</p:sld>
</file>

<file path=ppt/slides/slide2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704E745-10CE-4DCA-964A-D2D9EC6AC194}"/>
              </a:ext>
            </a:extLst>
          </p:cNvPr>
          <p:cNvSpPr>
            <a:spLocks noGrp="1"/>
          </p:cNvSpPr>
          <p:nvPr>
            <p:ph type="title"/>
          </p:nvPr>
        </p:nvSpPr>
        <p:spPr/>
        <p:txBody>
          <a:bodyPr/>
          <a:lstStyle/>
          <a:p>
            <a:r>
              <a:rPr lang="en-GB" dirty="0"/>
              <a:t>Learning Intentions</a:t>
            </a:r>
          </a:p>
        </p:txBody>
      </p:sp>
      <p:sp>
        <p:nvSpPr>
          <p:cNvPr id="3" name="Content Placeholder 2">
            <a:extLst>
              <a:ext uri="{FF2B5EF4-FFF2-40B4-BE49-F238E27FC236}">
                <a16:creationId xmlns:a16="http://schemas.microsoft.com/office/drawing/2014/main" id="{ABB964B2-0CC2-489B-8E1F-1BC040B76915}"/>
              </a:ext>
            </a:extLst>
          </p:cNvPr>
          <p:cNvSpPr>
            <a:spLocks noGrp="1"/>
          </p:cNvSpPr>
          <p:nvPr>
            <p:ph idx="1"/>
          </p:nvPr>
        </p:nvSpPr>
        <p:spPr/>
        <p:txBody>
          <a:bodyPr>
            <a:normAutofit/>
          </a:bodyPr>
          <a:lstStyle/>
          <a:p>
            <a:r>
              <a:rPr lang="en-GB" sz="3200" dirty="0"/>
              <a:t>Describe and exemplify testing:</a:t>
            </a:r>
          </a:p>
          <a:p>
            <a:pPr lvl="1"/>
            <a:r>
              <a:rPr lang="en-GB" sz="3200" dirty="0"/>
              <a:t>SQL operations work correctly at this level</a:t>
            </a:r>
          </a:p>
          <a:p>
            <a:pPr>
              <a:spcBef>
                <a:spcPts val="1200"/>
              </a:spcBef>
            </a:pPr>
            <a:r>
              <a:rPr lang="en-GB" sz="3200" dirty="0"/>
              <a:t>Evaluate solution in terms of:</a:t>
            </a:r>
          </a:p>
          <a:p>
            <a:pPr lvl="1"/>
            <a:r>
              <a:rPr lang="en-GB" sz="3200" dirty="0"/>
              <a:t>fitness for purpose</a:t>
            </a:r>
          </a:p>
          <a:p>
            <a:pPr lvl="1"/>
            <a:r>
              <a:rPr lang="en-GB" sz="3200" dirty="0"/>
              <a:t>accuracy of output</a:t>
            </a:r>
          </a:p>
        </p:txBody>
      </p:sp>
    </p:spTree>
    <p:extLst>
      <p:ext uri="{BB962C8B-B14F-4D97-AF65-F5344CB8AC3E}">
        <p14:creationId xmlns:p14="http://schemas.microsoft.com/office/powerpoint/2010/main" val="780501331"/>
      </p:ext>
    </p:extLst>
  </p:cSld>
  <p:clrMapOvr>
    <a:masterClrMapping/>
  </p:clrMapOvr>
</p:sld>
</file>

<file path=ppt/slides/slide2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54BA070-2C10-4880-9E17-C099725CF02B}"/>
              </a:ext>
            </a:extLst>
          </p:cNvPr>
          <p:cNvSpPr>
            <a:spLocks noGrp="1"/>
          </p:cNvSpPr>
          <p:nvPr>
            <p:ph type="title"/>
          </p:nvPr>
        </p:nvSpPr>
        <p:spPr/>
        <p:txBody>
          <a:bodyPr/>
          <a:lstStyle/>
          <a:p>
            <a:r>
              <a:rPr lang="en-GB" dirty="0"/>
              <a:t>Testing</a:t>
            </a:r>
          </a:p>
        </p:txBody>
      </p:sp>
      <p:sp>
        <p:nvSpPr>
          <p:cNvPr id="3" name="Content Placeholder 2">
            <a:extLst>
              <a:ext uri="{FF2B5EF4-FFF2-40B4-BE49-F238E27FC236}">
                <a16:creationId xmlns:a16="http://schemas.microsoft.com/office/drawing/2014/main" id="{DBA10379-742D-4968-A43A-99F7383FD78F}"/>
              </a:ext>
            </a:extLst>
          </p:cNvPr>
          <p:cNvSpPr>
            <a:spLocks noGrp="1"/>
          </p:cNvSpPr>
          <p:nvPr>
            <p:ph idx="1"/>
          </p:nvPr>
        </p:nvSpPr>
        <p:spPr/>
        <p:txBody>
          <a:bodyPr>
            <a:normAutofit/>
          </a:bodyPr>
          <a:lstStyle/>
          <a:p>
            <a:r>
              <a:rPr lang="en-GB" sz="3200" dirty="0"/>
              <a:t>Compare actual output with expected output</a:t>
            </a:r>
          </a:p>
        </p:txBody>
      </p:sp>
    </p:spTree>
    <p:extLst>
      <p:ext uri="{BB962C8B-B14F-4D97-AF65-F5344CB8AC3E}">
        <p14:creationId xmlns:p14="http://schemas.microsoft.com/office/powerpoint/2010/main" val="887359266"/>
      </p:ext>
    </p:extLst>
  </p:cSld>
  <p:clrMapOvr>
    <a:masterClrMapping/>
  </p:clrMapOvr>
</p:sld>
</file>

<file path=ppt/slides/slide2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333451D-0114-4DF6-AABC-755019BC213E}"/>
              </a:ext>
            </a:extLst>
          </p:cNvPr>
          <p:cNvSpPr>
            <a:spLocks noGrp="1"/>
          </p:cNvSpPr>
          <p:nvPr>
            <p:ph type="title"/>
          </p:nvPr>
        </p:nvSpPr>
        <p:spPr/>
        <p:txBody>
          <a:bodyPr/>
          <a:lstStyle/>
          <a:p>
            <a:r>
              <a:rPr lang="en-GB" dirty="0"/>
              <a:t>Fit for Purpose</a:t>
            </a:r>
          </a:p>
        </p:txBody>
      </p:sp>
      <p:sp>
        <p:nvSpPr>
          <p:cNvPr id="3" name="Content Placeholder 2">
            <a:extLst>
              <a:ext uri="{FF2B5EF4-FFF2-40B4-BE49-F238E27FC236}">
                <a16:creationId xmlns:a16="http://schemas.microsoft.com/office/drawing/2014/main" id="{BFCD6E65-E1E8-4D4D-8116-9135D4F98C8D}"/>
              </a:ext>
            </a:extLst>
          </p:cNvPr>
          <p:cNvSpPr>
            <a:spLocks noGrp="1"/>
          </p:cNvSpPr>
          <p:nvPr>
            <p:ph idx="1"/>
          </p:nvPr>
        </p:nvSpPr>
        <p:spPr/>
        <p:txBody>
          <a:bodyPr>
            <a:normAutofit/>
          </a:bodyPr>
          <a:lstStyle/>
          <a:p>
            <a:r>
              <a:rPr lang="en-GB" sz="3200" dirty="0"/>
              <a:t>Correct records:</a:t>
            </a:r>
          </a:p>
          <a:p>
            <a:pPr lvl="1"/>
            <a:r>
              <a:rPr lang="en-GB" sz="3200" dirty="0"/>
              <a:t>Selected</a:t>
            </a:r>
          </a:p>
          <a:p>
            <a:pPr lvl="1"/>
            <a:r>
              <a:rPr lang="en-GB" sz="3200" dirty="0"/>
              <a:t>Inserted</a:t>
            </a:r>
          </a:p>
          <a:p>
            <a:pPr lvl="1"/>
            <a:r>
              <a:rPr lang="en-GB" sz="3200" dirty="0"/>
              <a:t>Updated</a:t>
            </a:r>
          </a:p>
          <a:p>
            <a:pPr lvl="1"/>
            <a:r>
              <a:rPr lang="en-GB" sz="3200" dirty="0"/>
              <a:t>Deleted</a:t>
            </a:r>
          </a:p>
          <a:p>
            <a:r>
              <a:rPr lang="en-GB" sz="3200" dirty="0"/>
              <a:t>Referential integrity enforced</a:t>
            </a:r>
          </a:p>
        </p:txBody>
      </p:sp>
    </p:spTree>
    <p:extLst>
      <p:ext uri="{BB962C8B-B14F-4D97-AF65-F5344CB8AC3E}">
        <p14:creationId xmlns:p14="http://schemas.microsoft.com/office/powerpoint/2010/main" val="1093687535"/>
      </p:ext>
    </p:extLst>
  </p:cSld>
  <p:clrMapOvr>
    <a:masterClrMapping/>
  </p:clrMapOvr>
</p:sld>
</file>

<file path=ppt/slides/slide2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67738DC-44E3-415F-846C-13186E7135B2}"/>
              </a:ext>
            </a:extLst>
          </p:cNvPr>
          <p:cNvSpPr>
            <a:spLocks noGrp="1"/>
          </p:cNvSpPr>
          <p:nvPr>
            <p:ph type="title"/>
          </p:nvPr>
        </p:nvSpPr>
        <p:spPr/>
        <p:txBody>
          <a:bodyPr/>
          <a:lstStyle/>
          <a:p>
            <a:r>
              <a:rPr lang="en-GB" dirty="0"/>
              <a:t>Evaluation</a:t>
            </a:r>
          </a:p>
        </p:txBody>
      </p:sp>
      <p:sp>
        <p:nvSpPr>
          <p:cNvPr id="3" name="Text Placeholder 2">
            <a:extLst>
              <a:ext uri="{FF2B5EF4-FFF2-40B4-BE49-F238E27FC236}">
                <a16:creationId xmlns:a16="http://schemas.microsoft.com/office/drawing/2014/main" id="{3B180056-DE92-4068-A9C9-06CC4271B315}"/>
              </a:ext>
            </a:extLst>
          </p:cNvPr>
          <p:cNvSpPr>
            <a:spLocks noGrp="1"/>
          </p:cNvSpPr>
          <p:nvPr>
            <p:ph type="body" idx="1"/>
          </p:nvPr>
        </p:nvSpPr>
        <p:spPr/>
        <p:txBody>
          <a:bodyPr/>
          <a:lstStyle/>
          <a:p>
            <a:r>
              <a:rPr lang="en-GB" dirty="0"/>
              <a:t>Fitness for purpose</a:t>
            </a:r>
          </a:p>
        </p:txBody>
      </p:sp>
      <p:sp>
        <p:nvSpPr>
          <p:cNvPr id="4" name="Content Placeholder 3">
            <a:extLst>
              <a:ext uri="{FF2B5EF4-FFF2-40B4-BE49-F238E27FC236}">
                <a16:creationId xmlns:a16="http://schemas.microsoft.com/office/drawing/2014/main" id="{ECF8A258-5D7E-4EE3-814B-67DD52E72862}"/>
              </a:ext>
            </a:extLst>
          </p:cNvPr>
          <p:cNvSpPr>
            <a:spLocks noGrp="1"/>
          </p:cNvSpPr>
          <p:nvPr>
            <p:ph sz="half" idx="2"/>
          </p:nvPr>
        </p:nvSpPr>
        <p:spPr/>
        <p:txBody>
          <a:bodyPr/>
          <a:lstStyle/>
          <a:p>
            <a:r>
              <a:rPr lang="en-GB" dirty="0"/>
              <a:t>Functional requirements met:</a:t>
            </a:r>
          </a:p>
          <a:p>
            <a:pPr lvl="1"/>
            <a:r>
              <a:rPr lang="en-GB" sz="2800" dirty="0"/>
              <a:t>Correct search criteria</a:t>
            </a:r>
          </a:p>
          <a:p>
            <a:pPr lvl="1"/>
            <a:r>
              <a:rPr lang="en-GB" sz="2800" dirty="0"/>
              <a:t>Correct sort order</a:t>
            </a:r>
          </a:p>
        </p:txBody>
      </p:sp>
      <p:sp>
        <p:nvSpPr>
          <p:cNvPr id="5" name="Text Placeholder 4">
            <a:extLst>
              <a:ext uri="{FF2B5EF4-FFF2-40B4-BE49-F238E27FC236}">
                <a16:creationId xmlns:a16="http://schemas.microsoft.com/office/drawing/2014/main" id="{2E9184F7-13D0-4D6E-BAF2-5BFD618D3125}"/>
              </a:ext>
            </a:extLst>
          </p:cNvPr>
          <p:cNvSpPr>
            <a:spLocks noGrp="1"/>
          </p:cNvSpPr>
          <p:nvPr>
            <p:ph type="body" sz="quarter" idx="3"/>
          </p:nvPr>
        </p:nvSpPr>
        <p:spPr/>
        <p:txBody>
          <a:bodyPr/>
          <a:lstStyle/>
          <a:p>
            <a:r>
              <a:rPr lang="en-GB" dirty="0"/>
              <a:t>Accuracy of output</a:t>
            </a:r>
          </a:p>
        </p:txBody>
      </p:sp>
      <p:sp>
        <p:nvSpPr>
          <p:cNvPr id="6" name="Content Placeholder 5">
            <a:extLst>
              <a:ext uri="{FF2B5EF4-FFF2-40B4-BE49-F238E27FC236}">
                <a16:creationId xmlns:a16="http://schemas.microsoft.com/office/drawing/2014/main" id="{27C68512-622F-419D-B6CF-F8FEA16C3C08}"/>
              </a:ext>
            </a:extLst>
          </p:cNvPr>
          <p:cNvSpPr>
            <a:spLocks noGrp="1"/>
          </p:cNvSpPr>
          <p:nvPr>
            <p:ph sz="quarter" idx="4"/>
          </p:nvPr>
        </p:nvSpPr>
        <p:spPr/>
        <p:txBody>
          <a:bodyPr/>
          <a:lstStyle/>
          <a:p>
            <a:r>
              <a:rPr lang="en-GB" dirty="0"/>
              <a:t>Required fields displayed</a:t>
            </a:r>
          </a:p>
          <a:p>
            <a:r>
              <a:rPr lang="en-GB" dirty="0"/>
              <a:t>No extra fields displayed</a:t>
            </a:r>
          </a:p>
        </p:txBody>
      </p:sp>
    </p:spTree>
    <p:extLst>
      <p:ext uri="{BB962C8B-B14F-4D97-AF65-F5344CB8AC3E}">
        <p14:creationId xmlns:p14="http://schemas.microsoft.com/office/powerpoint/2010/main" val="46921099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0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4">
                                            <p:txEl>
                                              <p:pRg st="0" end="0"/>
                                            </p:txEl>
                                          </p:spTgt>
                                        </p:tgtEl>
                                        <p:attrNameLst>
                                          <p:attrName>style.visibility</p:attrName>
                                        </p:attrNameLst>
                                      </p:cBhvr>
                                      <p:to>
                                        <p:strVal val="visible"/>
                                      </p:to>
                                    </p:set>
                                    <p:animEffect transition="in" filter="wipe(left)">
                                      <p:cBhvr>
                                        <p:cTn id="12" dur="2000"/>
                                        <p:tgtEl>
                                          <p:spTgt spid="4">
                                            <p:txEl>
                                              <p:pRg st="0" end="0"/>
                                            </p:txEl>
                                          </p:spTgt>
                                        </p:tgtEl>
                                      </p:cBhvr>
                                    </p:animEffect>
                                  </p:childTnLst>
                                </p:cTn>
                              </p:par>
                              <p:par>
                                <p:cTn id="13" presetID="22" presetClass="entr" presetSubtype="8" fill="hold" grpId="0" nodeType="withEffect">
                                  <p:stCondLst>
                                    <p:cond delay="0"/>
                                  </p:stCondLst>
                                  <p:childTnLst>
                                    <p:set>
                                      <p:cBhvr>
                                        <p:cTn id="14" dur="1" fill="hold">
                                          <p:stCondLst>
                                            <p:cond delay="0"/>
                                          </p:stCondLst>
                                        </p:cTn>
                                        <p:tgtEl>
                                          <p:spTgt spid="4">
                                            <p:txEl>
                                              <p:pRg st="1" end="1"/>
                                            </p:txEl>
                                          </p:spTgt>
                                        </p:tgtEl>
                                        <p:attrNameLst>
                                          <p:attrName>style.visibility</p:attrName>
                                        </p:attrNameLst>
                                      </p:cBhvr>
                                      <p:to>
                                        <p:strVal val="visible"/>
                                      </p:to>
                                    </p:set>
                                    <p:animEffect transition="in" filter="wipe(left)">
                                      <p:cBhvr>
                                        <p:cTn id="15" dur="1500"/>
                                        <p:tgtEl>
                                          <p:spTgt spid="4">
                                            <p:txEl>
                                              <p:pRg st="1" end="1"/>
                                            </p:txEl>
                                          </p:spTgt>
                                        </p:tgtEl>
                                      </p:cBhvr>
                                    </p:animEffect>
                                  </p:childTnLst>
                                </p:cTn>
                              </p:par>
                              <p:par>
                                <p:cTn id="16" presetID="22" presetClass="entr" presetSubtype="8" fill="hold" grpId="0" nodeType="withEffect">
                                  <p:stCondLst>
                                    <p:cond delay="0"/>
                                  </p:stCondLst>
                                  <p:childTnLst>
                                    <p:set>
                                      <p:cBhvr>
                                        <p:cTn id="17" dur="1" fill="hold">
                                          <p:stCondLst>
                                            <p:cond delay="0"/>
                                          </p:stCondLst>
                                        </p:cTn>
                                        <p:tgtEl>
                                          <p:spTgt spid="4">
                                            <p:txEl>
                                              <p:pRg st="2" end="2"/>
                                            </p:txEl>
                                          </p:spTgt>
                                        </p:tgtEl>
                                        <p:attrNameLst>
                                          <p:attrName>style.visibility</p:attrName>
                                        </p:attrNameLst>
                                      </p:cBhvr>
                                      <p:to>
                                        <p:strVal val="visible"/>
                                      </p:to>
                                    </p:set>
                                    <p:animEffect transition="in" filter="wipe(left)">
                                      <p:cBhvr>
                                        <p:cTn id="18" dur="1000"/>
                                        <p:tgtEl>
                                          <p:spTgt spid="4">
                                            <p:txEl>
                                              <p:pRg st="2" end="2"/>
                                            </p:txEl>
                                          </p:spTgt>
                                        </p:tgtEl>
                                      </p:cBhvr>
                                    </p:animEffect>
                                  </p:childTnLst>
                                </p:cTn>
                              </p:par>
                            </p:childTnLst>
                          </p:cTn>
                        </p:par>
                      </p:childTnLst>
                    </p:cTn>
                  </p:par>
                  <p:par>
                    <p:cTn id="19" fill="hold">
                      <p:stCondLst>
                        <p:cond delay="indefinite"/>
                      </p:stCondLst>
                      <p:childTnLst>
                        <p:par>
                          <p:cTn id="20" fill="hold">
                            <p:stCondLst>
                              <p:cond delay="0"/>
                            </p:stCondLst>
                            <p:childTnLst>
                              <p:par>
                                <p:cTn id="21" presetID="22" presetClass="entr" presetSubtype="8" fill="hold" grpId="0" nodeType="clickEffect">
                                  <p:stCondLst>
                                    <p:cond delay="0"/>
                                  </p:stCondLst>
                                  <p:childTnLst>
                                    <p:set>
                                      <p:cBhvr>
                                        <p:cTn id="22" dur="1" fill="hold">
                                          <p:stCondLst>
                                            <p:cond delay="0"/>
                                          </p:stCondLst>
                                        </p:cTn>
                                        <p:tgtEl>
                                          <p:spTgt spid="5">
                                            <p:txEl>
                                              <p:pRg st="0" end="0"/>
                                            </p:txEl>
                                          </p:spTgt>
                                        </p:tgtEl>
                                        <p:attrNameLst>
                                          <p:attrName>style.visibility</p:attrName>
                                        </p:attrNameLst>
                                      </p:cBhvr>
                                      <p:to>
                                        <p:strVal val="visible"/>
                                      </p:to>
                                    </p:set>
                                    <p:animEffect transition="in" filter="wipe(left)">
                                      <p:cBhvr>
                                        <p:cTn id="23" dur="1000"/>
                                        <p:tgtEl>
                                          <p:spTgt spid="5">
                                            <p:txEl>
                                              <p:pRg st="0" end="0"/>
                                            </p:txEl>
                                          </p:spTgt>
                                        </p:tgtEl>
                                      </p:cBhvr>
                                    </p:animEffect>
                                  </p:childTnLst>
                                </p:cTn>
                              </p:par>
                            </p:childTnLst>
                          </p:cTn>
                        </p:par>
                      </p:childTnLst>
                    </p:cTn>
                  </p:par>
                  <p:par>
                    <p:cTn id="24" fill="hold">
                      <p:stCondLst>
                        <p:cond delay="indefinite"/>
                      </p:stCondLst>
                      <p:childTnLst>
                        <p:par>
                          <p:cTn id="25" fill="hold">
                            <p:stCondLst>
                              <p:cond delay="0"/>
                            </p:stCondLst>
                            <p:childTnLst>
                              <p:par>
                                <p:cTn id="26" presetID="22" presetClass="entr" presetSubtype="8" fill="hold" grpId="0" nodeType="clickEffect">
                                  <p:stCondLst>
                                    <p:cond delay="0"/>
                                  </p:stCondLst>
                                  <p:childTnLst>
                                    <p:set>
                                      <p:cBhvr>
                                        <p:cTn id="27" dur="1" fill="hold">
                                          <p:stCondLst>
                                            <p:cond delay="0"/>
                                          </p:stCondLst>
                                        </p:cTn>
                                        <p:tgtEl>
                                          <p:spTgt spid="6">
                                            <p:txEl>
                                              <p:pRg st="0" end="0"/>
                                            </p:txEl>
                                          </p:spTgt>
                                        </p:tgtEl>
                                        <p:attrNameLst>
                                          <p:attrName>style.visibility</p:attrName>
                                        </p:attrNameLst>
                                      </p:cBhvr>
                                      <p:to>
                                        <p:strVal val="visible"/>
                                      </p:to>
                                    </p:set>
                                    <p:animEffect transition="in" filter="wipe(left)">
                                      <p:cBhvr>
                                        <p:cTn id="28" dur="1750"/>
                                        <p:tgtEl>
                                          <p:spTgt spid="6">
                                            <p:txEl>
                                              <p:pRg st="0" end="0"/>
                                            </p:txEl>
                                          </p:spTgt>
                                        </p:tgtEl>
                                      </p:cBhvr>
                                    </p:animEffect>
                                  </p:childTnLst>
                                </p:cTn>
                              </p:par>
                            </p:childTnLst>
                          </p:cTn>
                        </p:par>
                      </p:childTnLst>
                    </p:cTn>
                  </p:par>
                  <p:par>
                    <p:cTn id="29" fill="hold">
                      <p:stCondLst>
                        <p:cond delay="indefinite"/>
                      </p:stCondLst>
                      <p:childTnLst>
                        <p:par>
                          <p:cTn id="30" fill="hold">
                            <p:stCondLst>
                              <p:cond delay="0"/>
                            </p:stCondLst>
                            <p:childTnLst>
                              <p:par>
                                <p:cTn id="31" presetID="22" presetClass="entr" presetSubtype="8" fill="hold" grpId="0" nodeType="clickEffect">
                                  <p:stCondLst>
                                    <p:cond delay="0"/>
                                  </p:stCondLst>
                                  <p:childTnLst>
                                    <p:set>
                                      <p:cBhvr>
                                        <p:cTn id="32" dur="1" fill="hold">
                                          <p:stCondLst>
                                            <p:cond delay="0"/>
                                          </p:stCondLst>
                                        </p:cTn>
                                        <p:tgtEl>
                                          <p:spTgt spid="6">
                                            <p:txEl>
                                              <p:pRg st="1" end="1"/>
                                            </p:txEl>
                                          </p:spTgt>
                                        </p:tgtEl>
                                        <p:attrNameLst>
                                          <p:attrName>style.visibility</p:attrName>
                                        </p:attrNameLst>
                                      </p:cBhvr>
                                      <p:to>
                                        <p:strVal val="visible"/>
                                      </p:to>
                                    </p:set>
                                    <p:animEffect transition="in" filter="wipe(left)">
                                      <p:cBhvr>
                                        <p:cTn id="33" dur="1750"/>
                                        <p:tgtEl>
                                          <p:spTgt spid="6">
                                            <p:txEl>
                                              <p:pRg st="1" end="1"/>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P spid="4" grpId="0" uiExpand="1" build="p"/>
      <p:bldP spid="5" grpId="0" build="p"/>
      <p:bldP spid="6" grpId="0" build="p"/>
    </p:bldLst>
  </p:timing>
</p:sld>
</file>

<file path=ppt/slides/slide230.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67738DC-44E3-415F-846C-13186E7135B2}"/>
              </a:ext>
            </a:extLst>
          </p:cNvPr>
          <p:cNvSpPr>
            <a:spLocks noGrp="1"/>
          </p:cNvSpPr>
          <p:nvPr>
            <p:ph type="title"/>
          </p:nvPr>
        </p:nvSpPr>
        <p:spPr/>
        <p:txBody>
          <a:bodyPr/>
          <a:lstStyle/>
          <a:p>
            <a:r>
              <a:rPr lang="en-GB" dirty="0"/>
              <a:t>Evaluation</a:t>
            </a:r>
          </a:p>
        </p:txBody>
      </p:sp>
      <p:sp>
        <p:nvSpPr>
          <p:cNvPr id="3" name="Text Placeholder 2">
            <a:extLst>
              <a:ext uri="{FF2B5EF4-FFF2-40B4-BE49-F238E27FC236}">
                <a16:creationId xmlns:a16="http://schemas.microsoft.com/office/drawing/2014/main" id="{3B180056-DE92-4068-A9C9-06CC4271B315}"/>
              </a:ext>
            </a:extLst>
          </p:cNvPr>
          <p:cNvSpPr>
            <a:spLocks noGrp="1"/>
          </p:cNvSpPr>
          <p:nvPr>
            <p:ph type="body" idx="1"/>
          </p:nvPr>
        </p:nvSpPr>
        <p:spPr/>
        <p:txBody>
          <a:bodyPr/>
          <a:lstStyle/>
          <a:p>
            <a:r>
              <a:rPr lang="en-GB" dirty="0"/>
              <a:t>Fitness for purpose</a:t>
            </a:r>
          </a:p>
        </p:txBody>
      </p:sp>
      <p:sp>
        <p:nvSpPr>
          <p:cNvPr id="4" name="Content Placeholder 3">
            <a:extLst>
              <a:ext uri="{FF2B5EF4-FFF2-40B4-BE49-F238E27FC236}">
                <a16:creationId xmlns:a16="http://schemas.microsoft.com/office/drawing/2014/main" id="{ECF8A258-5D7E-4EE3-814B-67DD52E72862}"/>
              </a:ext>
            </a:extLst>
          </p:cNvPr>
          <p:cNvSpPr>
            <a:spLocks noGrp="1"/>
          </p:cNvSpPr>
          <p:nvPr>
            <p:ph sz="half" idx="2"/>
          </p:nvPr>
        </p:nvSpPr>
        <p:spPr/>
        <p:txBody>
          <a:bodyPr>
            <a:normAutofit/>
          </a:bodyPr>
          <a:lstStyle/>
          <a:p>
            <a:r>
              <a:rPr lang="en-GB" sz="3600" dirty="0"/>
              <a:t> </a:t>
            </a:r>
          </a:p>
          <a:p>
            <a:pPr lvl="1"/>
            <a:r>
              <a:rPr lang="en-GB" sz="3600" dirty="0"/>
              <a:t> </a:t>
            </a:r>
          </a:p>
          <a:p>
            <a:pPr lvl="1"/>
            <a:r>
              <a:rPr lang="en-GB" sz="3600" dirty="0"/>
              <a:t> </a:t>
            </a:r>
            <a:endParaRPr lang="en-GB" sz="3200" dirty="0"/>
          </a:p>
        </p:txBody>
      </p:sp>
      <p:sp>
        <p:nvSpPr>
          <p:cNvPr id="5" name="Text Placeholder 4">
            <a:extLst>
              <a:ext uri="{FF2B5EF4-FFF2-40B4-BE49-F238E27FC236}">
                <a16:creationId xmlns:a16="http://schemas.microsoft.com/office/drawing/2014/main" id="{2E9184F7-13D0-4D6E-BAF2-5BFD618D3125}"/>
              </a:ext>
            </a:extLst>
          </p:cNvPr>
          <p:cNvSpPr>
            <a:spLocks noGrp="1"/>
          </p:cNvSpPr>
          <p:nvPr>
            <p:ph type="body" sz="quarter" idx="3"/>
          </p:nvPr>
        </p:nvSpPr>
        <p:spPr/>
        <p:txBody>
          <a:bodyPr/>
          <a:lstStyle/>
          <a:p>
            <a:r>
              <a:rPr lang="en-GB" dirty="0"/>
              <a:t>Accuracy of output</a:t>
            </a:r>
          </a:p>
        </p:txBody>
      </p:sp>
      <p:sp>
        <p:nvSpPr>
          <p:cNvPr id="6" name="Content Placeholder 5">
            <a:extLst>
              <a:ext uri="{FF2B5EF4-FFF2-40B4-BE49-F238E27FC236}">
                <a16:creationId xmlns:a16="http://schemas.microsoft.com/office/drawing/2014/main" id="{27C68512-622F-419D-B6CF-F8FEA16C3C08}"/>
              </a:ext>
            </a:extLst>
          </p:cNvPr>
          <p:cNvSpPr>
            <a:spLocks noGrp="1"/>
          </p:cNvSpPr>
          <p:nvPr>
            <p:ph sz="quarter" idx="4"/>
          </p:nvPr>
        </p:nvSpPr>
        <p:spPr/>
        <p:txBody>
          <a:bodyPr>
            <a:normAutofit/>
          </a:bodyPr>
          <a:lstStyle/>
          <a:p>
            <a:r>
              <a:rPr lang="en-GB" sz="3600" dirty="0"/>
              <a:t> </a:t>
            </a:r>
          </a:p>
          <a:p>
            <a:r>
              <a:rPr lang="en-GB" sz="3600" dirty="0"/>
              <a:t> </a:t>
            </a:r>
          </a:p>
        </p:txBody>
      </p:sp>
    </p:spTree>
    <p:extLst>
      <p:ext uri="{BB962C8B-B14F-4D97-AF65-F5344CB8AC3E}">
        <p14:creationId xmlns:p14="http://schemas.microsoft.com/office/powerpoint/2010/main" val="3750724401"/>
      </p:ext>
    </p:extLst>
  </p:cSld>
  <p:clrMapOvr>
    <a:masterClrMapping/>
  </p:clrMapOvr>
</p:sld>
</file>

<file path=ppt/slides/slide2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26B4CC6-6E56-B86A-B5AD-4E6A2C198265}"/>
            </a:ext>
          </a:extLst>
        </p:cNvPr>
        <p:cNvGrpSpPr/>
        <p:nvPr/>
      </p:nvGrpSpPr>
      <p:grpSpPr>
        <a:xfrm>
          <a:off x="0" y="0"/>
          <a:ext cx="0" cy="0"/>
          <a:chOff x="0" y="0"/>
          <a:chExt cx="0" cy="0"/>
        </a:xfrm>
      </p:grpSpPr>
      <p:sp>
        <p:nvSpPr>
          <p:cNvPr id="2" name="Requirement">
            <a:extLst>
              <a:ext uri="{FF2B5EF4-FFF2-40B4-BE49-F238E27FC236}">
                <a16:creationId xmlns:a16="http://schemas.microsoft.com/office/drawing/2014/main" id="{D2B29E7C-45F3-540D-CF4D-E270304FE431}"/>
              </a:ext>
            </a:extLst>
          </p:cNvPr>
          <p:cNvSpPr txBox="1"/>
          <p:nvPr/>
        </p:nvSpPr>
        <p:spPr>
          <a:xfrm>
            <a:off x="341674" y="497506"/>
            <a:ext cx="11508664" cy="400110"/>
          </a:xfrm>
          <a:prstGeom prst="rect">
            <a:avLst/>
          </a:prstGeom>
          <a:noFill/>
        </p:spPr>
        <p:txBody>
          <a:bodyPr wrap="none" rtlCol="0">
            <a:spAutoFit/>
          </a:bodyPr>
          <a:lstStyle/>
          <a:p>
            <a:pPr algn="ctr"/>
            <a:r>
              <a:rPr lang="en-GB" sz="2000" dirty="0"/>
              <a:t>Requirement: select the full name and town of all customers who live in Gourock, alphabetically by surname.</a:t>
            </a:r>
          </a:p>
        </p:txBody>
      </p:sp>
      <p:cxnSp>
        <p:nvCxnSpPr>
          <p:cNvPr id="9" name="Straight Connector 8">
            <a:extLst>
              <a:ext uri="{FF2B5EF4-FFF2-40B4-BE49-F238E27FC236}">
                <a16:creationId xmlns:a16="http://schemas.microsoft.com/office/drawing/2014/main" id="{99F7101C-CF3A-C341-91DD-BB50E622D03A}"/>
              </a:ext>
            </a:extLst>
          </p:cNvPr>
          <p:cNvCxnSpPr>
            <a:cxnSpLocks/>
          </p:cNvCxnSpPr>
          <p:nvPr/>
        </p:nvCxnSpPr>
        <p:spPr>
          <a:xfrm flipH="1">
            <a:off x="6096000" y="1232106"/>
            <a:ext cx="0" cy="5040000"/>
          </a:xfrm>
          <a:prstGeom prst="line">
            <a:avLst/>
          </a:prstGeom>
        </p:spPr>
        <p:style>
          <a:lnRef idx="2">
            <a:schemeClr val="accent1"/>
          </a:lnRef>
          <a:fillRef idx="0">
            <a:schemeClr val="accent1"/>
          </a:fillRef>
          <a:effectRef idx="1">
            <a:schemeClr val="accent1"/>
          </a:effectRef>
          <a:fontRef idx="minor">
            <a:schemeClr val="tx1"/>
          </a:fontRef>
        </p:style>
      </p:cxnSp>
      <p:cxnSp>
        <p:nvCxnSpPr>
          <p:cNvPr id="11" name="Straight Connector 10">
            <a:extLst>
              <a:ext uri="{FF2B5EF4-FFF2-40B4-BE49-F238E27FC236}">
                <a16:creationId xmlns:a16="http://schemas.microsoft.com/office/drawing/2014/main" id="{9ACEC5D8-1CFF-F748-AAD7-ADCD7B332DC8}"/>
              </a:ext>
            </a:extLst>
          </p:cNvPr>
          <p:cNvCxnSpPr>
            <a:cxnSpLocks/>
          </p:cNvCxnSpPr>
          <p:nvPr/>
        </p:nvCxnSpPr>
        <p:spPr>
          <a:xfrm flipH="1">
            <a:off x="904281" y="3758938"/>
            <a:ext cx="10440000" cy="0"/>
          </a:xfrm>
          <a:prstGeom prst="line">
            <a:avLst/>
          </a:prstGeom>
        </p:spPr>
        <p:style>
          <a:lnRef idx="2">
            <a:schemeClr val="accent1"/>
          </a:lnRef>
          <a:fillRef idx="0">
            <a:schemeClr val="accent1"/>
          </a:fillRef>
          <a:effectRef idx="1">
            <a:schemeClr val="accent1"/>
          </a:effectRef>
          <a:fontRef idx="minor">
            <a:schemeClr val="tx1"/>
          </a:fontRef>
        </p:style>
      </p:cxnSp>
      <p:sp>
        <p:nvSpPr>
          <p:cNvPr id="3" name="1">
            <a:extLst>
              <a:ext uri="{FF2B5EF4-FFF2-40B4-BE49-F238E27FC236}">
                <a16:creationId xmlns:a16="http://schemas.microsoft.com/office/drawing/2014/main" id="{D089C6CF-CD40-2FBF-B191-A2E216243790}"/>
              </a:ext>
            </a:extLst>
          </p:cNvPr>
          <p:cNvSpPr txBox="1"/>
          <p:nvPr/>
        </p:nvSpPr>
        <p:spPr>
          <a:xfrm>
            <a:off x="5664290" y="3324753"/>
            <a:ext cx="432000" cy="432000"/>
          </a:xfrm>
          <a:prstGeom prst="rect">
            <a:avLst/>
          </a:prstGeom>
          <a:noFill/>
        </p:spPr>
        <p:txBody>
          <a:bodyPr wrap="none" rtlCol="0">
            <a:spAutoFit/>
          </a:bodyPr>
          <a:lstStyle/>
          <a:p>
            <a:pPr algn="ctr"/>
            <a:r>
              <a:rPr lang="en-GB" sz="2400" b="1" dirty="0">
                <a:solidFill>
                  <a:srgbClr val="FF0000"/>
                </a:solidFill>
              </a:rPr>
              <a:t>1</a:t>
            </a:r>
          </a:p>
        </p:txBody>
      </p:sp>
      <p:sp>
        <p:nvSpPr>
          <p:cNvPr id="8" name="2">
            <a:extLst>
              <a:ext uri="{FF2B5EF4-FFF2-40B4-BE49-F238E27FC236}">
                <a16:creationId xmlns:a16="http://schemas.microsoft.com/office/drawing/2014/main" id="{55500A3A-FE1F-F377-521B-AD405C068CBF}"/>
              </a:ext>
            </a:extLst>
          </p:cNvPr>
          <p:cNvSpPr txBox="1"/>
          <p:nvPr/>
        </p:nvSpPr>
        <p:spPr>
          <a:xfrm>
            <a:off x="6105695" y="3324711"/>
            <a:ext cx="432000" cy="432000"/>
          </a:xfrm>
          <a:prstGeom prst="rect">
            <a:avLst/>
          </a:prstGeom>
          <a:noFill/>
        </p:spPr>
        <p:txBody>
          <a:bodyPr wrap="none" rtlCol="0">
            <a:spAutoFit/>
          </a:bodyPr>
          <a:lstStyle/>
          <a:p>
            <a:pPr algn="ctr"/>
            <a:r>
              <a:rPr lang="en-GB" sz="2400" b="1" dirty="0">
                <a:solidFill>
                  <a:srgbClr val="FF0000"/>
                </a:solidFill>
              </a:rPr>
              <a:t>2</a:t>
            </a:r>
          </a:p>
        </p:txBody>
      </p:sp>
      <p:sp>
        <p:nvSpPr>
          <p:cNvPr id="10" name="3">
            <a:extLst>
              <a:ext uri="{FF2B5EF4-FFF2-40B4-BE49-F238E27FC236}">
                <a16:creationId xmlns:a16="http://schemas.microsoft.com/office/drawing/2014/main" id="{EC8B7B36-F48C-AAD6-55C1-8B1A089DBEDA}"/>
              </a:ext>
            </a:extLst>
          </p:cNvPr>
          <p:cNvSpPr txBox="1"/>
          <p:nvPr/>
        </p:nvSpPr>
        <p:spPr>
          <a:xfrm>
            <a:off x="6104542" y="3770510"/>
            <a:ext cx="432000" cy="432000"/>
          </a:xfrm>
          <a:prstGeom prst="rect">
            <a:avLst/>
          </a:prstGeom>
          <a:noFill/>
        </p:spPr>
        <p:txBody>
          <a:bodyPr wrap="none" rtlCol="0">
            <a:spAutoFit/>
          </a:bodyPr>
          <a:lstStyle/>
          <a:p>
            <a:pPr algn="ctr"/>
            <a:r>
              <a:rPr lang="en-GB" sz="2400" b="1" dirty="0">
                <a:solidFill>
                  <a:srgbClr val="FF0000"/>
                </a:solidFill>
              </a:rPr>
              <a:t>3</a:t>
            </a:r>
          </a:p>
        </p:txBody>
      </p:sp>
      <p:sp>
        <p:nvSpPr>
          <p:cNvPr id="12" name="4">
            <a:extLst>
              <a:ext uri="{FF2B5EF4-FFF2-40B4-BE49-F238E27FC236}">
                <a16:creationId xmlns:a16="http://schemas.microsoft.com/office/drawing/2014/main" id="{2A523A75-C4ED-266C-D111-6E20B72C2E33}"/>
              </a:ext>
            </a:extLst>
          </p:cNvPr>
          <p:cNvSpPr txBox="1"/>
          <p:nvPr/>
        </p:nvSpPr>
        <p:spPr>
          <a:xfrm>
            <a:off x="5663849" y="3769365"/>
            <a:ext cx="432000" cy="432000"/>
          </a:xfrm>
          <a:prstGeom prst="rect">
            <a:avLst/>
          </a:prstGeom>
          <a:noFill/>
        </p:spPr>
        <p:txBody>
          <a:bodyPr wrap="none" rtlCol="0">
            <a:spAutoFit/>
          </a:bodyPr>
          <a:lstStyle/>
          <a:p>
            <a:pPr algn="ctr"/>
            <a:r>
              <a:rPr lang="en-GB" sz="2400" b="1" dirty="0">
                <a:solidFill>
                  <a:srgbClr val="FF0000"/>
                </a:solidFill>
              </a:rPr>
              <a:t>4</a:t>
            </a:r>
          </a:p>
        </p:txBody>
      </p:sp>
      <p:sp>
        <p:nvSpPr>
          <p:cNvPr id="13" name="Oval 12">
            <a:extLst>
              <a:ext uri="{FF2B5EF4-FFF2-40B4-BE49-F238E27FC236}">
                <a16:creationId xmlns:a16="http://schemas.microsoft.com/office/drawing/2014/main" id="{28A6FF22-024A-046F-E816-F58997D0927F}"/>
              </a:ext>
            </a:extLst>
          </p:cNvPr>
          <p:cNvSpPr/>
          <p:nvPr/>
        </p:nvSpPr>
        <p:spPr>
          <a:xfrm>
            <a:off x="5556644" y="3213367"/>
            <a:ext cx="1080000" cy="1080000"/>
          </a:xfrm>
          <a:prstGeom prst="ellipse">
            <a:avLst/>
          </a:prstGeom>
        </p:spPr>
        <p:style>
          <a:lnRef idx="2">
            <a:schemeClr val="accent1"/>
          </a:lnRef>
          <a:fillRef idx="0">
            <a:schemeClr val="accent1"/>
          </a:fillRef>
          <a:effectRef idx="1">
            <a:schemeClr val="accent1"/>
          </a:effectRef>
          <a:fontRef idx="minor">
            <a:schemeClr val="tx1"/>
          </a:fontRef>
        </p:style>
        <p:txBody>
          <a:bodyPr rtlCol="0" anchor="ctr"/>
          <a:lstStyle/>
          <a:p>
            <a:pPr algn="ctr"/>
            <a:endParaRPr lang="en-GB"/>
          </a:p>
        </p:txBody>
      </p:sp>
      <p:sp>
        <p:nvSpPr>
          <p:cNvPr id="18" name="SQL 4">
            <a:extLst>
              <a:ext uri="{FF2B5EF4-FFF2-40B4-BE49-F238E27FC236}">
                <a16:creationId xmlns:a16="http://schemas.microsoft.com/office/drawing/2014/main" id="{40095B0C-7ADC-4EC6-9C0C-452644888F39}"/>
              </a:ext>
            </a:extLst>
          </p:cNvPr>
          <p:cNvSpPr>
            <a:spLocks noChangeArrowheads="1"/>
          </p:cNvSpPr>
          <p:nvPr/>
        </p:nvSpPr>
        <p:spPr bwMode="auto">
          <a:xfrm>
            <a:off x="1105274" y="4957953"/>
            <a:ext cx="4680364" cy="132343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spAutoFit/>
          </a:bodyPr>
          <a:lstStyle/>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surname</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town</a:t>
            </a:r>
            <a:br>
              <a:rPr kumimoji="0" lang="en-US" altLang="en-US" sz="2000" b="0" i="0" u="none" strike="noStrike" cap="none" normalizeH="0" baseline="0" dirty="0">
                <a:ln>
                  <a:noFill/>
                </a:ln>
                <a:solidFill>
                  <a:srgbClr val="000000"/>
                </a:solidFill>
                <a:effectLst/>
                <a:latin typeface="Consolas" panose="020B0609020204030204" pitchFamily="49" charset="0"/>
              </a:rPr>
            </a:br>
            <a:r>
              <a:rPr kumimoji="0" lang="en-US" altLang="en-US" sz="2000" b="0" i="0" u="none" strike="noStrike" cap="none" normalizeH="0" baseline="0" dirty="0">
                <a:ln>
                  <a:noFill/>
                </a:ln>
                <a:solidFill>
                  <a:srgbClr val="B2B2B2"/>
                </a:solidFill>
                <a:effectLst/>
                <a:latin typeface="Consolas" panose="020B0609020204030204" pitchFamily="49" charset="0"/>
              </a:rPr>
              <a:t>2     </a:t>
            </a:r>
            <a:r>
              <a:rPr kumimoji="0" lang="en-US" altLang="en-US" sz="2000" b="0" i="0" u="none" strike="noStrike" cap="none" normalizeH="0" baseline="0" dirty="0">
                <a:ln>
                  <a:noFill/>
                </a:ln>
                <a:solidFill>
                  <a:srgbClr val="A71D5D"/>
                </a:solidFill>
                <a:effectLst/>
                <a:latin typeface="Consolas" panose="020B0609020204030204" pitchFamily="49" charset="0"/>
              </a:rPr>
              <a:t>FROM</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Customer</a:t>
            </a:r>
            <a:br>
              <a:rPr lang="en-US" altLang="en-US" sz="2000" dirty="0">
                <a:solidFill>
                  <a:srgbClr val="000000"/>
                </a:solidFill>
                <a:latin typeface="Consolas" panose="020B0609020204030204" pitchFamily="49" charset="0"/>
              </a:rPr>
            </a:br>
            <a:r>
              <a:rPr lang="en-US" altLang="en-US" sz="2000" dirty="0">
                <a:solidFill>
                  <a:srgbClr val="B2B2B2"/>
                </a:solidFill>
                <a:latin typeface="Consolas" panose="020B0609020204030204" pitchFamily="49" charset="0"/>
              </a:rPr>
              <a:t>3     </a:t>
            </a:r>
            <a:r>
              <a:rPr lang="en-US" altLang="en-US" sz="2000" dirty="0">
                <a:solidFill>
                  <a:srgbClr val="A71D5D"/>
                </a:solidFill>
                <a:latin typeface="Consolas" panose="020B0609020204030204" pitchFamily="49" charset="0"/>
              </a:rPr>
              <a:t>WHERE </a:t>
            </a:r>
            <a:r>
              <a:rPr lang="en-US" altLang="en-US" sz="2000" dirty="0">
                <a:solidFill>
                  <a:srgbClr val="000000"/>
                </a:solidFill>
                <a:latin typeface="Consolas" panose="020B0609020204030204" pitchFamily="49" charset="0"/>
              </a:rPr>
              <a:t>town = </a:t>
            </a:r>
            <a:r>
              <a:rPr lang="en-US" altLang="en-US" sz="2000" dirty="0">
                <a:solidFill>
                  <a:srgbClr val="183691"/>
                </a:solidFill>
                <a:latin typeface="Consolas" panose="020B0609020204030204" pitchFamily="49" charset="0"/>
              </a:rPr>
              <a:t>"Gourock"</a:t>
            </a:r>
            <a:br>
              <a:rPr lang="en-US" altLang="en-US" sz="2000" dirty="0">
                <a:solidFill>
                  <a:srgbClr val="000000"/>
                </a:solidFill>
                <a:latin typeface="Consolas" panose="020B0609020204030204" pitchFamily="49" charset="0"/>
              </a:rPr>
            </a:br>
            <a:r>
              <a:rPr lang="en-US" altLang="en-US" sz="2000" dirty="0">
                <a:solidFill>
                  <a:srgbClr val="B2B2B2"/>
                </a:solidFill>
                <a:latin typeface="Consolas" panose="020B0609020204030204" pitchFamily="49" charset="0"/>
              </a:rPr>
              <a:t>4     </a:t>
            </a:r>
            <a:r>
              <a:rPr lang="en-US" altLang="en-US" sz="2000" dirty="0">
                <a:solidFill>
                  <a:srgbClr val="A71D5D"/>
                </a:solidFill>
                <a:latin typeface="Consolas" panose="020B0609020204030204" pitchFamily="49" charset="0"/>
              </a:rPr>
              <a:t>ORDER BY</a:t>
            </a:r>
            <a:r>
              <a:rPr lang="en-US" altLang="en-US" sz="2000" dirty="0">
                <a:solidFill>
                  <a:srgbClr val="000000"/>
                </a:solidFill>
                <a:latin typeface="Consolas" panose="020B0609020204030204" pitchFamily="49" charset="0"/>
              </a:rPr>
              <a:t> surname </a:t>
            </a:r>
            <a:r>
              <a:rPr lang="en-US" altLang="en-US" sz="2000" dirty="0">
                <a:solidFill>
                  <a:srgbClr val="A71D5D"/>
                </a:solidFill>
                <a:latin typeface="Consolas" panose="020B0609020204030204" pitchFamily="49" charset="0"/>
              </a:rPr>
              <a:t>ASC</a:t>
            </a:r>
            <a:r>
              <a:rPr lang="en-US" altLang="en-US" sz="2000" dirty="0">
                <a:solidFill>
                  <a:srgbClr val="000000"/>
                </a:solidFill>
                <a:latin typeface="Consolas" panose="020B0609020204030204" pitchFamily="49" charset="0"/>
              </a:rPr>
              <a:t>;</a:t>
            </a:r>
            <a:endParaRPr kumimoji="0" lang="en-US" altLang="en-US" sz="3200" b="0" i="0" u="none" strike="noStrike" cap="none" normalizeH="0" baseline="0" dirty="0">
              <a:ln>
                <a:noFill/>
              </a:ln>
              <a:solidFill>
                <a:schemeClr val="tx1"/>
              </a:solidFill>
              <a:effectLst/>
              <a:latin typeface="Arial" panose="020B0604020202020204" pitchFamily="34" charset="0"/>
            </a:endParaRPr>
          </a:p>
        </p:txBody>
      </p:sp>
      <p:sp>
        <p:nvSpPr>
          <p:cNvPr id="6" name="Result 4">
            <a:extLst>
              <a:ext uri="{FF2B5EF4-FFF2-40B4-BE49-F238E27FC236}">
                <a16:creationId xmlns:a16="http://schemas.microsoft.com/office/drawing/2014/main" id="{F59E996A-1250-C409-9FD8-DA2DDEB6EF22}"/>
              </a:ext>
            </a:extLst>
          </p:cNvPr>
          <p:cNvSpPr>
            <a:spLocks noChangeArrowheads="1"/>
          </p:cNvSpPr>
          <p:nvPr/>
        </p:nvSpPr>
        <p:spPr bwMode="auto">
          <a:xfrm>
            <a:off x="1105274" y="4043553"/>
            <a:ext cx="4680364" cy="70788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2000" b="0" i="0" u="none" strike="noStrike" cap="none" normalizeH="0" baseline="0" dirty="0">
                <a:ln>
                  <a:noFill/>
                </a:ln>
                <a:effectLst/>
                <a:latin typeface="Calibri" panose="020F0502020204030204" pitchFamily="34" charset="0"/>
                <a:cs typeface="Calibri" panose="020F0502020204030204" pitchFamily="34" charset="0"/>
              </a:rPr>
              <a:t>Fit for purpose: Yes</a:t>
            </a:r>
          </a:p>
          <a:p>
            <a:pPr marL="0" marR="0" lvl="0" indent="0" algn="l" defTabSz="914400" rtl="0" eaLnBrk="0" fontAlgn="base" latinLnBrk="0" hangingPunct="0">
              <a:lnSpc>
                <a:spcPct val="100000"/>
              </a:lnSpc>
              <a:spcBef>
                <a:spcPct val="0"/>
              </a:spcBef>
              <a:spcAft>
                <a:spcPct val="0"/>
              </a:spcAft>
              <a:buClrTx/>
              <a:buSzTx/>
              <a:buFontTx/>
              <a:buNone/>
              <a:tabLst/>
            </a:pPr>
            <a:r>
              <a:rPr lang="en-US" altLang="en-US" sz="2000" dirty="0">
                <a:latin typeface="Calibri" panose="020F0502020204030204" pitchFamily="34" charset="0"/>
                <a:cs typeface="Calibri" panose="020F0502020204030204" pitchFamily="34" charset="0"/>
              </a:rPr>
              <a:t>Accuracy of output: No</a:t>
            </a:r>
          </a:p>
        </p:txBody>
      </p:sp>
      <p:sp>
        <p:nvSpPr>
          <p:cNvPr id="17" name="SQL 3">
            <a:extLst>
              <a:ext uri="{FF2B5EF4-FFF2-40B4-BE49-F238E27FC236}">
                <a16:creationId xmlns:a16="http://schemas.microsoft.com/office/drawing/2014/main" id="{0D71452E-0D77-478C-A19C-ECF33FA17695}"/>
              </a:ext>
            </a:extLst>
          </p:cNvPr>
          <p:cNvSpPr>
            <a:spLocks noChangeArrowheads="1"/>
          </p:cNvSpPr>
          <p:nvPr/>
        </p:nvSpPr>
        <p:spPr bwMode="auto">
          <a:xfrm>
            <a:off x="6712817" y="4961521"/>
            <a:ext cx="4680371" cy="132343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spAutoFit/>
          </a:bodyPr>
          <a:lstStyle/>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surname, town</a:t>
            </a:r>
            <a:br>
              <a:rPr kumimoji="0" lang="en-US" altLang="en-US" sz="2000" b="0" i="0" u="none" strike="noStrike" cap="none" normalizeH="0" baseline="0" dirty="0">
                <a:ln>
                  <a:noFill/>
                </a:ln>
                <a:solidFill>
                  <a:srgbClr val="000000"/>
                </a:solidFill>
                <a:effectLst/>
                <a:latin typeface="Consolas" panose="020B0609020204030204" pitchFamily="49" charset="0"/>
              </a:rPr>
            </a:br>
            <a:r>
              <a:rPr kumimoji="0" lang="en-US" altLang="en-US" sz="2000" b="0" i="0" u="none" strike="noStrike" cap="none" normalizeH="0" baseline="0" dirty="0">
                <a:ln>
                  <a:noFill/>
                </a:ln>
                <a:solidFill>
                  <a:srgbClr val="B2B2B2"/>
                </a:solidFill>
                <a:effectLst/>
                <a:latin typeface="Consolas" panose="020B0609020204030204" pitchFamily="49" charset="0"/>
              </a:rPr>
              <a:t>2     </a:t>
            </a:r>
            <a:r>
              <a:rPr kumimoji="0" lang="en-US" altLang="en-US" sz="2000" b="0" i="0" u="none" strike="noStrike" cap="none" normalizeH="0" baseline="0" dirty="0">
                <a:ln>
                  <a:noFill/>
                </a:ln>
                <a:solidFill>
                  <a:srgbClr val="A71D5D"/>
                </a:solidFill>
                <a:effectLst/>
                <a:latin typeface="Consolas" panose="020B0609020204030204" pitchFamily="49" charset="0"/>
              </a:rPr>
              <a:t>FROM</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Customer</a:t>
            </a:r>
            <a:br>
              <a:rPr lang="en-US" altLang="en-US" sz="2000" dirty="0">
                <a:solidFill>
                  <a:srgbClr val="000000"/>
                </a:solidFill>
                <a:latin typeface="Consolas" panose="020B0609020204030204" pitchFamily="49" charset="0"/>
              </a:rPr>
            </a:br>
            <a:r>
              <a:rPr lang="en-US" altLang="en-US" sz="2000" dirty="0">
                <a:solidFill>
                  <a:srgbClr val="B2B2B2"/>
                </a:solidFill>
                <a:latin typeface="Consolas" panose="020B0609020204030204" pitchFamily="49" charset="0"/>
              </a:rPr>
              <a:t>3     </a:t>
            </a:r>
            <a:r>
              <a:rPr lang="en-US" altLang="en-US" sz="2000" dirty="0">
                <a:solidFill>
                  <a:srgbClr val="A71D5D"/>
                </a:solidFill>
                <a:latin typeface="Consolas" panose="020B0609020204030204" pitchFamily="49" charset="0"/>
              </a:rPr>
              <a:t>WHERE </a:t>
            </a:r>
            <a:r>
              <a:rPr lang="en-US" altLang="en-US" sz="2000" dirty="0">
                <a:solidFill>
                  <a:srgbClr val="000000"/>
                </a:solidFill>
                <a:latin typeface="Consolas" panose="020B0609020204030204" pitchFamily="49" charset="0"/>
              </a:rPr>
              <a:t>town = </a:t>
            </a:r>
            <a:r>
              <a:rPr lang="en-US" altLang="en-US" sz="2000" dirty="0">
                <a:solidFill>
                  <a:srgbClr val="183691"/>
                </a:solidFill>
                <a:latin typeface="Consolas" panose="020B0609020204030204" pitchFamily="49" charset="0"/>
              </a:rPr>
              <a:t>"Glasgow"</a:t>
            </a:r>
            <a:br>
              <a:rPr kumimoji="0" lang="en-US" altLang="en-US" sz="2000" b="0" i="0" u="none" strike="noStrike" cap="none" normalizeH="0" baseline="0" dirty="0">
                <a:ln>
                  <a:noFill/>
                </a:ln>
                <a:solidFill>
                  <a:srgbClr val="000000"/>
                </a:solidFill>
                <a:effectLst/>
                <a:latin typeface="Consolas" panose="020B0609020204030204" pitchFamily="49" charset="0"/>
              </a:rPr>
            </a:br>
            <a:r>
              <a:rPr kumimoji="0" lang="en-US" altLang="en-US" sz="2000" b="0" i="0" u="none" strike="noStrike" cap="none" normalizeH="0" baseline="0" dirty="0">
                <a:ln>
                  <a:noFill/>
                </a:ln>
                <a:solidFill>
                  <a:srgbClr val="B2B2B2"/>
                </a:solidFill>
                <a:effectLst/>
                <a:latin typeface="Consolas" panose="020B0609020204030204" pitchFamily="49" charset="0"/>
              </a:rPr>
              <a:t>4     </a:t>
            </a:r>
            <a:r>
              <a:rPr kumimoji="0" lang="en-US" altLang="en-US" sz="2000" b="0" i="0" u="none" strike="noStrike" cap="none" normalizeH="0" baseline="0" dirty="0">
                <a:ln>
                  <a:noFill/>
                </a:ln>
                <a:solidFill>
                  <a:srgbClr val="A71D5D"/>
                </a:solidFill>
                <a:effectLst/>
                <a:latin typeface="Consolas" panose="020B0609020204030204" pitchFamily="49" charset="0"/>
              </a:rPr>
              <a:t>ORDER BY</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surname </a:t>
            </a:r>
            <a:r>
              <a:rPr lang="en-US" altLang="en-US" sz="2000" dirty="0">
                <a:solidFill>
                  <a:srgbClr val="A71D5D"/>
                </a:solidFill>
                <a:latin typeface="Consolas" panose="020B0609020204030204" pitchFamily="49" charset="0"/>
              </a:rPr>
              <a:t>ASC</a:t>
            </a:r>
            <a:r>
              <a:rPr lang="en-US" altLang="en-US" sz="2000" dirty="0">
                <a:solidFill>
                  <a:srgbClr val="000000"/>
                </a:solidFill>
                <a:latin typeface="Consolas" panose="020B0609020204030204" pitchFamily="49" charset="0"/>
              </a:rPr>
              <a:t>;</a:t>
            </a:r>
            <a:endParaRPr kumimoji="0" lang="en-US" altLang="en-US" sz="3200" b="0" i="0" u="none" strike="noStrike" cap="none" normalizeH="0" baseline="0" dirty="0">
              <a:ln>
                <a:noFill/>
              </a:ln>
              <a:solidFill>
                <a:schemeClr val="tx1"/>
              </a:solidFill>
              <a:effectLst/>
              <a:latin typeface="Arial" panose="020B0604020202020204" pitchFamily="34" charset="0"/>
            </a:endParaRPr>
          </a:p>
        </p:txBody>
      </p:sp>
      <p:sp>
        <p:nvSpPr>
          <p:cNvPr id="5" name="Result 3">
            <a:extLst>
              <a:ext uri="{FF2B5EF4-FFF2-40B4-BE49-F238E27FC236}">
                <a16:creationId xmlns:a16="http://schemas.microsoft.com/office/drawing/2014/main" id="{ED1DB20E-1101-8E35-71D5-F6608F1564F5}"/>
              </a:ext>
            </a:extLst>
          </p:cNvPr>
          <p:cNvSpPr>
            <a:spLocks noChangeArrowheads="1"/>
          </p:cNvSpPr>
          <p:nvPr/>
        </p:nvSpPr>
        <p:spPr bwMode="auto">
          <a:xfrm>
            <a:off x="6712817" y="4047121"/>
            <a:ext cx="4680371" cy="70788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2000" b="0" i="0" u="none" strike="noStrike" cap="none" normalizeH="0" baseline="0" dirty="0">
                <a:ln>
                  <a:noFill/>
                </a:ln>
                <a:effectLst/>
                <a:latin typeface="Calibri" panose="020F0502020204030204" pitchFamily="34" charset="0"/>
                <a:cs typeface="Calibri" panose="020F0502020204030204" pitchFamily="34" charset="0"/>
              </a:rPr>
              <a:t>Fit for purpose: No</a:t>
            </a:r>
          </a:p>
          <a:p>
            <a:pPr marL="0" marR="0" lvl="0" indent="0" algn="l" defTabSz="914400" rtl="0" eaLnBrk="0" fontAlgn="base" latinLnBrk="0" hangingPunct="0">
              <a:lnSpc>
                <a:spcPct val="100000"/>
              </a:lnSpc>
              <a:spcBef>
                <a:spcPct val="0"/>
              </a:spcBef>
              <a:spcAft>
                <a:spcPct val="0"/>
              </a:spcAft>
              <a:buClrTx/>
              <a:buSzTx/>
              <a:buFontTx/>
              <a:buNone/>
              <a:tabLst/>
            </a:pPr>
            <a:r>
              <a:rPr lang="en-US" altLang="en-US" sz="2000" dirty="0">
                <a:latin typeface="Calibri" panose="020F0502020204030204" pitchFamily="34" charset="0"/>
                <a:cs typeface="Calibri" panose="020F0502020204030204" pitchFamily="34" charset="0"/>
              </a:rPr>
              <a:t>Accuracy of output: No</a:t>
            </a:r>
          </a:p>
        </p:txBody>
      </p:sp>
      <p:sp>
        <p:nvSpPr>
          <p:cNvPr id="16" name="SQL 2">
            <a:extLst>
              <a:ext uri="{FF2B5EF4-FFF2-40B4-BE49-F238E27FC236}">
                <a16:creationId xmlns:a16="http://schemas.microsoft.com/office/drawing/2014/main" id="{ED42CE84-7DCB-4264-AA46-6C90335BA14F}"/>
              </a:ext>
            </a:extLst>
          </p:cNvPr>
          <p:cNvSpPr>
            <a:spLocks noChangeArrowheads="1"/>
          </p:cNvSpPr>
          <p:nvPr/>
        </p:nvSpPr>
        <p:spPr bwMode="auto">
          <a:xfrm>
            <a:off x="6712809" y="2096630"/>
            <a:ext cx="4680379" cy="132343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spAutoFit/>
          </a:bodyPr>
          <a:lstStyle/>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 </a:t>
            </a:r>
            <a:r>
              <a:rPr lang="en-US" altLang="en-US" sz="2000" dirty="0">
                <a:solidFill>
                  <a:srgbClr val="000000"/>
                </a:solidFill>
                <a:latin typeface="Consolas" panose="020B0609020204030204" pitchFamily="49" charset="0"/>
              </a:rPr>
              <a:t>forename</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surname</a:t>
            </a:r>
            <a:r>
              <a:rPr kumimoji="0" lang="en-US" altLang="en-US" sz="2000" b="0" i="0" u="none" strike="noStrike" cap="none" normalizeH="0" baseline="0" dirty="0">
                <a:ln>
                  <a:noFill/>
                </a:ln>
                <a:solidFill>
                  <a:srgbClr val="000000"/>
                </a:solidFill>
                <a:effectLst/>
                <a:latin typeface="Consolas" panose="020B0609020204030204" pitchFamily="49" charset="0"/>
              </a:rPr>
              <a:t>, town</a:t>
            </a:r>
            <a:br>
              <a:rPr kumimoji="0" lang="en-US" altLang="en-US" sz="2000" b="0" i="0" u="none" strike="noStrike" cap="none" normalizeH="0" baseline="0" dirty="0">
                <a:ln>
                  <a:noFill/>
                </a:ln>
                <a:solidFill>
                  <a:srgbClr val="000000"/>
                </a:solidFill>
                <a:effectLst/>
                <a:latin typeface="Consolas" panose="020B0609020204030204" pitchFamily="49" charset="0"/>
              </a:rPr>
            </a:br>
            <a:r>
              <a:rPr kumimoji="0" lang="en-US" altLang="en-US" sz="2000" b="0" i="0" u="none" strike="noStrike" cap="none" normalizeH="0" baseline="0" dirty="0">
                <a:ln>
                  <a:noFill/>
                </a:ln>
                <a:solidFill>
                  <a:srgbClr val="B2B2B2"/>
                </a:solidFill>
                <a:effectLst/>
                <a:latin typeface="Consolas" panose="020B0609020204030204" pitchFamily="49" charset="0"/>
              </a:rPr>
              <a:t>2     </a:t>
            </a:r>
            <a:r>
              <a:rPr kumimoji="0" lang="en-US" altLang="en-US" sz="2000" b="0" i="0" u="none" strike="noStrike" cap="none" normalizeH="0" baseline="0" dirty="0">
                <a:ln>
                  <a:noFill/>
                </a:ln>
                <a:solidFill>
                  <a:srgbClr val="A71D5D"/>
                </a:solidFill>
                <a:effectLst/>
                <a:latin typeface="Consolas" panose="020B0609020204030204" pitchFamily="49" charset="0"/>
              </a:rPr>
              <a:t>FROM</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Customer</a:t>
            </a:r>
            <a:br>
              <a:rPr lang="en-US" altLang="en-US" sz="2000" dirty="0">
                <a:solidFill>
                  <a:srgbClr val="000000"/>
                </a:solidFill>
                <a:latin typeface="Consolas" panose="020B0609020204030204" pitchFamily="49" charset="0"/>
              </a:rPr>
            </a:br>
            <a:r>
              <a:rPr lang="en-US" altLang="en-US" sz="2000" dirty="0">
                <a:solidFill>
                  <a:srgbClr val="B2B2B2"/>
                </a:solidFill>
                <a:latin typeface="Consolas" panose="020B0609020204030204" pitchFamily="49" charset="0"/>
              </a:rPr>
              <a:t>3     </a:t>
            </a:r>
            <a:r>
              <a:rPr lang="en-US" altLang="en-US" sz="2000" dirty="0">
                <a:solidFill>
                  <a:srgbClr val="A71D5D"/>
                </a:solidFill>
                <a:latin typeface="Consolas" panose="020B0609020204030204" pitchFamily="49" charset="0"/>
              </a:rPr>
              <a:t>WHERE </a:t>
            </a:r>
            <a:r>
              <a:rPr lang="en-US" altLang="en-US" sz="2000" dirty="0">
                <a:solidFill>
                  <a:srgbClr val="000000"/>
                </a:solidFill>
                <a:latin typeface="Consolas" panose="020B0609020204030204" pitchFamily="49" charset="0"/>
              </a:rPr>
              <a:t>town = </a:t>
            </a:r>
            <a:r>
              <a:rPr lang="en-US" altLang="en-US" sz="2000" dirty="0">
                <a:solidFill>
                  <a:srgbClr val="183691"/>
                </a:solidFill>
                <a:latin typeface="Consolas" panose="020B0609020204030204" pitchFamily="49" charset="0"/>
              </a:rPr>
              <a:t>"Gourock"</a:t>
            </a:r>
            <a:br>
              <a:rPr kumimoji="0" lang="en-US" altLang="en-US" sz="2000" b="0" i="0" u="none" strike="noStrike" cap="none" normalizeH="0" baseline="0" dirty="0">
                <a:ln>
                  <a:noFill/>
                </a:ln>
                <a:solidFill>
                  <a:srgbClr val="000000"/>
                </a:solidFill>
                <a:effectLst/>
                <a:latin typeface="Consolas" panose="020B0609020204030204" pitchFamily="49" charset="0"/>
              </a:rPr>
            </a:br>
            <a:r>
              <a:rPr kumimoji="0" lang="en-US" altLang="en-US" sz="2000" b="0" i="0" u="none" strike="noStrike" cap="none" normalizeH="0" baseline="0" dirty="0">
                <a:ln>
                  <a:noFill/>
                </a:ln>
                <a:solidFill>
                  <a:srgbClr val="B2B2B2"/>
                </a:solidFill>
                <a:effectLst/>
                <a:latin typeface="Consolas" panose="020B0609020204030204" pitchFamily="49" charset="0"/>
              </a:rPr>
              <a:t>4     </a:t>
            </a:r>
            <a:r>
              <a:rPr kumimoji="0" lang="en-US" altLang="en-US" sz="2000" b="0" i="0" u="none" strike="noStrike" cap="none" normalizeH="0" baseline="0" dirty="0">
                <a:ln>
                  <a:noFill/>
                </a:ln>
                <a:solidFill>
                  <a:srgbClr val="A71D5D"/>
                </a:solidFill>
                <a:effectLst/>
                <a:latin typeface="Consolas" panose="020B0609020204030204" pitchFamily="49" charset="0"/>
              </a:rPr>
              <a:t>ORDER BY</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surname </a:t>
            </a:r>
            <a:r>
              <a:rPr lang="en-US" altLang="en-US" sz="2000" dirty="0">
                <a:solidFill>
                  <a:srgbClr val="A71D5D"/>
                </a:solidFill>
                <a:latin typeface="Consolas" panose="020B0609020204030204" pitchFamily="49" charset="0"/>
              </a:rPr>
              <a:t>DESC</a:t>
            </a:r>
            <a:r>
              <a:rPr lang="en-US" altLang="en-US" sz="2000" dirty="0">
                <a:solidFill>
                  <a:srgbClr val="000000"/>
                </a:solidFill>
                <a:latin typeface="Consolas" panose="020B0609020204030204" pitchFamily="49" charset="0"/>
              </a:rPr>
              <a:t>;</a:t>
            </a:r>
            <a:endParaRPr kumimoji="0" lang="en-US" altLang="en-US" sz="3200" b="0" i="0" u="none" strike="noStrike" cap="none" normalizeH="0" baseline="0" dirty="0">
              <a:ln>
                <a:noFill/>
              </a:ln>
              <a:solidFill>
                <a:schemeClr val="tx1"/>
              </a:solidFill>
              <a:effectLst/>
              <a:latin typeface="Arial" panose="020B0604020202020204" pitchFamily="34" charset="0"/>
            </a:endParaRPr>
          </a:p>
        </p:txBody>
      </p:sp>
      <p:sp>
        <p:nvSpPr>
          <p:cNvPr id="7" name="Result 2">
            <a:extLst>
              <a:ext uri="{FF2B5EF4-FFF2-40B4-BE49-F238E27FC236}">
                <a16:creationId xmlns:a16="http://schemas.microsoft.com/office/drawing/2014/main" id="{94109815-3832-2453-0AC6-5359CBADAAE9}"/>
              </a:ext>
            </a:extLst>
          </p:cNvPr>
          <p:cNvSpPr>
            <a:spLocks noChangeArrowheads="1"/>
          </p:cNvSpPr>
          <p:nvPr/>
        </p:nvSpPr>
        <p:spPr bwMode="auto">
          <a:xfrm>
            <a:off x="6712809" y="1182230"/>
            <a:ext cx="4680379" cy="70788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2000" b="0" i="0" u="none" strike="noStrike" cap="none" normalizeH="0" baseline="0" dirty="0">
                <a:ln>
                  <a:noFill/>
                </a:ln>
                <a:effectLst/>
                <a:latin typeface="Calibri" panose="020F0502020204030204" pitchFamily="34" charset="0"/>
                <a:cs typeface="Calibri" panose="020F0502020204030204" pitchFamily="34" charset="0"/>
              </a:rPr>
              <a:t>Fit for purpose: No</a:t>
            </a:r>
          </a:p>
          <a:p>
            <a:pPr marL="0" marR="0" lvl="0" indent="0" algn="l" defTabSz="914400" rtl="0" eaLnBrk="0" fontAlgn="base" latinLnBrk="0" hangingPunct="0">
              <a:lnSpc>
                <a:spcPct val="100000"/>
              </a:lnSpc>
              <a:spcBef>
                <a:spcPct val="0"/>
              </a:spcBef>
              <a:spcAft>
                <a:spcPct val="0"/>
              </a:spcAft>
              <a:buClrTx/>
              <a:buSzTx/>
              <a:buFontTx/>
              <a:buNone/>
              <a:tabLst/>
            </a:pPr>
            <a:r>
              <a:rPr lang="en-US" altLang="en-US" sz="2000" dirty="0">
                <a:latin typeface="Calibri" panose="020F0502020204030204" pitchFamily="34" charset="0"/>
                <a:cs typeface="Calibri" panose="020F0502020204030204" pitchFamily="34" charset="0"/>
              </a:rPr>
              <a:t>Accuracy of output: Yes</a:t>
            </a:r>
          </a:p>
        </p:txBody>
      </p:sp>
      <p:sp>
        <p:nvSpPr>
          <p:cNvPr id="15" name="SQL 1">
            <a:extLst>
              <a:ext uri="{FF2B5EF4-FFF2-40B4-BE49-F238E27FC236}">
                <a16:creationId xmlns:a16="http://schemas.microsoft.com/office/drawing/2014/main" id="{A0C9E759-9E8E-4752-B040-B3FBC911D267}"/>
              </a:ext>
            </a:extLst>
          </p:cNvPr>
          <p:cNvSpPr>
            <a:spLocks noChangeArrowheads="1"/>
          </p:cNvSpPr>
          <p:nvPr/>
        </p:nvSpPr>
        <p:spPr bwMode="auto">
          <a:xfrm>
            <a:off x="1105740" y="2099120"/>
            <a:ext cx="4680381" cy="132343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spAutoFit/>
          </a:bodyPr>
          <a:lstStyle/>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 </a:t>
            </a:r>
            <a:r>
              <a:rPr lang="en-US" altLang="en-US" sz="2000" dirty="0">
                <a:solidFill>
                  <a:srgbClr val="000000"/>
                </a:solidFill>
                <a:latin typeface="Consolas" panose="020B0609020204030204" pitchFamily="49" charset="0"/>
              </a:rPr>
              <a:t>forename</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surname</a:t>
            </a:r>
            <a:r>
              <a:rPr kumimoji="0" lang="en-US" altLang="en-US" sz="2000" b="0" i="0" u="none" strike="noStrike" cap="none" normalizeH="0" baseline="0" dirty="0">
                <a:ln>
                  <a:noFill/>
                </a:ln>
                <a:solidFill>
                  <a:srgbClr val="000000"/>
                </a:solidFill>
                <a:effectLst/>
                <a:latin typeface="Consolas" panose="020B0609020204030204" pitchFamily="49" charset="0"/>
              </a:rPr>
              <a:t>, town</a:t>
            </a:r>
            <a:br>
              <a:rPr kumimoji="0" lang="en-US" altLang="en-US" sz="2000" b="0" i="0" u="none" strike="noStrike" cap="none" normalizeH="0" baseline="0" dirty="0">
                <a:ln>
                  <a:noFill/>
                </a:ln>
                <a:solidFill>
                  <a:srgbClr val="000000"/>
                </a:solidFill>
                <a:effectLst/>
                <a:latin typeface="Consolas" panose="020B0609020204030204" pitchFamily="49" charset="0"/>
              </a:rPr>
            </a:br>
            <a:r>
              <a:rPr kumimoji="0" lang="en-US" altLang="en-US" sz="2000" b="0" i="0" u="none" strike="noStrike" cap="none" normalizeH="0" baseline="0" dirty="0">
                <a:ln>
                  <a:noFill/>
                </a:ln>
                <a:solidFill>
                  <a:srgbClr val="B2B2B2"/>
                </a:solidFill>
                <a:effectLst/>
                <a:latin typeface="Consolas" panose="020B0609020204030204" pitchFamily="49" charset="0"/>
              </a:rPr>
              <a:t>2     </a:t>
            </a:r>
            <a:r>
              <a:rPr kumimoji="0" lang="en-US" altLang="en-US" sz="2000" b="0" i="0" u="none" strike="noStrike" cap="none" normalizeH="0" baseline="0" dirty="0">
                <a:ln>
                  <a:noFill/>
                </a:ln>
                <a:solidFill>
                  <a:srgbClr val="A71D5D"/>
                </a:solidFill>
                <a:effectLst/>
                <a:latin typeface="Consolas" panose="020B0609020204030204" pitchFamily="49" charset="0"/>
              </a:rPr>
              <a:t>FROM</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C</a:t>
            </a:r>
            <a:r>
              <a:rPr kumimoji="0" lang="en-US" altLang="en-US" sz="2000" b="0" i="0" u="none" strike="noStrike" cap="none" normalizeH="0" baseline="0" dirty="0">
                <a:ln>
                  <a:noFill/>
                </a:ln>
                <a:solidFill>
                  <a:srgbClr val="000000"/>
                </a:solidFill>
                <a:effectLst/>
                <a:latin typeface="Consolas" panose="020B0609020204030204" pitchFamily="49" charset="0"/>
              </a:rPr>
              <a:t>ustomer</a:t>
            </a:r>
            <a:br>
              <a:rPr kumimoji="0" lang="en-US" altLang="en-US" sz="2000" b="0" i="0" u="none" strike="noStrike" cap="none" normalizeH="0" baseline="0" dirty="0">
                <a:ln>
                  <a:noFill/>
                </a:ln>
                <a:solidFill>
                  <a:srgbClr val="000000"/>
                </a:solidFill>
                <a:effectLst/>
                <a:latin typeface="Consolas" panose="020B0609020204030204" pitchFamily="49" charset="0"/>
              </a:rPr>
            </a:br>
            <a:r>
              <a:rPr kumimoji="0" lang="en-US" altLang="en-US" sz="2000" b="0" i="0" u="none" strike="noStrike" cap="none" normalizeH="0" baseline="0" dirty="0">
                <a:ln>
                  <a:noFill/>
                </a:ln>
                <a:solidFill>
                  <a:srgbClr val="B2B2B2"/>
                </a:solidFill>
                <a:effectLst/>
                <a:latin typeface="Consolas" panose="020B0609020204030204" pitchFamily="49" charset="0"/>
              </a:rPr>
              <a:t>3     </a:t>
            </a:r>
            <a:r>
              <a:rPr kumimoji="0" lang="en-US" altLang="en-US" sz="2000" b="0" i="0" u="none" strike="noStrike" cap="none" normalizeH="0" baseline="0" dirty="0">
                <a:ln>
                  <a:noFill/>
                </a:ln>
                <a:solidFill>
                  <a:srgbClr val="A71D5D"/>
                </a:solidFill>
                <a:effectLst/>
                <a:latin typeface="Consolas" panose="020B0609020204030204" pitchFamily="49" charset="0"/>
              </a:rPr>
              <a:t>WHERE </a:t>
            </a:r>
            <a:r>
              <a:rPr lang="en-US" altLang="en-US" sz="2000" dirty="0">
                <a:solidFill>
                  <a:srgbClr val="000000"/>
                </a:solidFill>
                <a:latin typeface="Consolas" panose="020B0609020204030204" pitchFamily="49" charset="0"/>
              </a:rPr>
              <a:t>town </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kumimoji="0" lang="en-US" altLang="en-US" sz="2000" b="0" i="0" u="none" strike="noStrike" cap="none" normalizeH="0" baseline="0" dirty="0">
                <a:ln>
                  <a:noFill/>
                </a:ln>
                <a:solidFill>
                  <a:srgbClr val="183691"/>
                </a:solidFill>
                <a:effectLst/>
                <a:latin typeface="Consolas" panose="020B0609020204030204" pitchFamily="49" charset="0"/>
              </a:rPr>
              <a:t>"</a:t>
            </a:r>
            <a:r>
              <a:rPr lang="en-US" altLang="en-US" sz="2000" dirty="0">
                <a:solidFill>
                  <a:srgbClr val="183691"/>
                </a:solidFill>
                <a:latin typeface="Consolas" panose="020B0609020204030204" pitchFamily="49" charset="0"/>
              </a:rPr>
              <a:t>Gourock</a:t>
            </a:r>
            <a:r>
              <a:rPr kumimoji="0" lang="en-US" altLang="en-US" sz="2000" b="0" i="0" u="none" strike="noStrike" cap="none" normalizeH="0" baseline="0" dirty="0">
                <a:ln>
                  <a:noFill/>
                </a:ln>
                <a:solidFill>
                  <a:srgbClr val="183691"/>
                </a:solidFill>
                <a:effectLst/>
                <a:latin typeface="Consolas" panose="020B0609020204030204" pitchFamily="49" charset="0"/>
              </a:rPr>
              <a:t>"</a:t>
            </a:r>
            <a:br>
              <a:rPr kumimoji="0" lang="en-US" altLang="en-US" sz="2000" b="0" i="0" u="none" strike="noStrike" cap="none" normalizeH="0" baseline="0" dirty="0">
                <a:ln>
                  <a:noFill/>
                </a:ln>
                <a:solidFill>
                  <a:srgbClr val="000000"/>
                </a:solidFill>
                <a:effectLst/>
                <a:latin typeface="Consolas" panose="020B0609020204030204" pitchFamily="49" charset="0"/>
              </a:rPr>
            </a:br>
            <a:r>
              <a:rPr kumimoji="0" lang="en-US" altLang="en-US" sz="2000" b="0" i="0" u="none" strike="noStrike" cap="none" normalizeH="0" baseline="0" dirty="0">
                <a:ln>
                  <a:noFill/>
                </a:ln>
                <a:solidFill>
                  <a:srgbClr val="B2B2B2"/>
                </a:solidFill>
                <a:effectLst/>
                <a:latin typeface="Consolas" panose="020B0609020204030204" pitchFamily="49" charset="0"/>
              </a:rPr>
              <a:t>4     </a:t>
            </a:r>
            <a:r>
              <a:rPr kumimoji="0" lang="en-US" altLang="en-US" sz="2000" b="0" i="0" u="none" strike="noStrike" cap="none" normalizeH="0" baseline="0" dirty="0">
                <a:ln>
                  <a:noFill/>
                </a:ln>
                <a:solidFill>
                  <a:srgbClr val="A71D5D"/>
                </a:solidFill>
                <a:effectLst/>
                <a:latin typeface="Consolas" panose="020B0609020204030204" pitchFamily="49" charset="0"/>
              </a:rPr>
              <a:t>ORDER BY</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surname</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A71D5D"/>
                </a:solidFill>
                <a:latin typeface="Consolas" panose="020B0609020204030204" pitchFamily="49" charset="0"/>
              </a:rPr>
              <a:t>A</a:t>
            </a:r>
            <a:r>
              <a:rPr kumimoji="0" lang="en-US" altLang="en-US" sz="2000" b="0" i="0" u="none" strike="noStrike" cap="none" normalizeH="0" baseline="0" dirty="0">
                <a:ln>
                  <a:noFill/>
                </a:ln>
                <a:solidFill>
                  <a:srgbClr val="A71D5D"/>
                </a:solidFill>
                <a:effectLst/>
                <a:latin typeface="Consolas" panose="020B0609020204030204" pitchFamily="49" charset="0"/>
              </a:rPr>
              <a:t>SC</a:t>
            </a:r>
            <a:r>
              <a:rPr kumimoji="0" lang="en-US" altLang="en-US" sz="2000" b="0" i="0" u="none" strike="noStrike" cap="none" normalizeH="0" baseline="0" dirty="0">
                <a:ln>
                  <a:noFill/>
                </a:ln>
                <a:solidFill>
                  <a:srgbClr val="000000"/>
                </a:solidFill>
                <a:effectLst/>
                <a:latin typeface="Consolas" panose="020B0609020204030204" pitchFamily="49" charset="0"/>
              </a:rPr>
              <a:t>;</a:t>
            </a:r>
            <a:endParaRPr kumimoji="0" lang="en-US" altLang="en-US" sz="3200" b="0" i="0" u="none" strike="noStrike" cap="none" normalizeH="0" baseline="0" dirty="0">
              <a:ln>
                <a:noFill/>
              </a:ln>
              <a:solidFill>
                <a:schemeClr val="tx1"/>
              </a:solidFill>
              <a:effectLst/>
              <a:latin typeface="Arial" panose="020B0604020202020204" pitchFamily="34" charset="0"/>
            </a:endParaRPr>
          </a:p>
        </p:txBody>
      </p:sp>
      <p:sp>
        <p:nvSpPr>
          <p:cNvPr id="4" name="Result 1">
            <a:extLst>
              <a:ext uri="{FF2B5EF4-FFF2-40B4-BE49-F238E27FC236}">
                <a16:creationId xmlns:a16="http://schemas.microsoft.com/office/drawing/2014/main" id="{7FEE9E88-6A1A-DF2B-6422-FF70A9624CC8}"/>
              </a:ext>
            </a:extLst>
          </p:cNvPr>
          <p:cNvSpPr>
            <a:spLocks noChangeArrowheads="1"/>
          </p:cNvSpPr>
          <p:nvPr/>
        </p:nvSpPr>
        <p:spPr bwMode="auto">
          <a:xfrm>
            <a:off x="1105274" y="1182231"/>
            <a:ext cx="4680381" cy="70788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2000" b="0" i="0" u="none" strike="noStrike" cap="none" normalizeH="0" baseline="0" dirty="0">
                <a:ln>
                  <a:noFill/>
                </a:ln>
                <a:effectLst/>
                <a:latin typeface="Calibri" panose="020F0502020204030204" pitchFamily="34" charset="0"/>
                <a:cs typeface="Calibri" panose="020F0502020204030204" pitchFamily="34" charset="0"/>
              </a:rPr>
              <a:t>Fit for purpose: Yes</a:t>
            </a:r>
          </a:p>
          <a:p>
            <a:pPr marL="0" marR="0" lvl="0" indent="0" algn="l" defTabSz="914400" rtl="0" eaLnBrk="0" fontAlgn="base" latinLnBrk="0" hangingPunct="0">
              <a:lnSpc>
                <a:spcPct val="100000"/>
              </a:lnSpc>
              <a:spcBef>
                <a:spcPct val="0"/>
              </a:spcBef>
              <a:spcAft>
                <a:spcPct val="0"/>
              </a:spcAft>
              <a:buClrTx/>
              <a:buSzTx/>
              <a:buFontTx/>
              <a:buNone/>
              <a:tabLst/>
            </a:pPr>
            <a:r>
              <a:rPr lang="en-US" altLang="en-US" sz="2000" dirty="0">
                <a:latin typeface="Calibri" panose="020F0502020204030204" pitchFamily="34" charset="0"/>
                <a:cs typeface="Calibri" panose="020F0502020204030204" pitchFamily="34" charset="0"/>
              </a:rPr>
              <a:t>Accuracy of output: Yes</a:t>
            </a:r>
          </a:p>
        </p:txBody>
      </p:sp>
    </p:spTree>
    <p:extLst>
      <p:ext uri="{BB962C8B-B14F-4D97-AF65-F5344CB8AC3E}">
        <p14:creationId xmlns:p14="http://schemas.microsoft.com/office/powerpoint/2010/main" val="317320744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15"/>
                                        </p:tgtEl>
                                        <p:attrNameLst>
                                          <p:attrName>style.visibility</p:attrName>
                                        </p:attrNameLst>
                                      </p:cBhvr>
                                      <p:to>
                                        <p:strVal val="visible"/>
                                      </p:to>
                                    </p:set>
                                    <p:animEffect transition="in" filter="wipe(left)">
                                      <p:cBhvr>
                                        <p:cTn id="7" dur="2500"/>
                                        <p:tgtEl>
                                          <p:spTgt spid="15"/>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16"/>
                                        </p:tgtEl>
                                        <p:attrNameLst>
                                          <p:attrName>style.visibility</p:attrName>
                                        </p:attrNameLst>
                                      </p:cBhvr>
                                      <p:to>
                                        <p:strVal val="visible"/>
                                      </p:to>
                                    </p:set>
                                    <p:animEffect transition="in" filter="wipe(left)">
                                      <p:cBhvr>
                                        <p:cTn id="12" dur="2500"/>
                                        <p:tgtEl>
                                          <p:spTgt spid="16"/>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17"/>
                                        </p:tgtEl>
                                        <p:attrNameLst>
                                          <p:attrName>style.visibility</p:attrName>
                                        </p:attrNameLst>
                                      </p:cBhvr>
                                      <p:to>
                                        <p:strVal val="visible"/>
                                      </p:to>
                                    </p:set>
                                    <p:animEffect transition="in" filter="wipe(left)">
                                      <p:cBhvr>
                                        <p:cTn id="17" dur="2500"/>
                                        <p:tgtEl>
                                          <p:spTgt spid="17"/>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18"/>
                                        </p:tgtEl>
                                        <p:attrNameLst>
                                          <p:attrName>style.visibility</p:attrName>
                                        </p:attrNameLst>
                                      </p:cBhvr>
                                      <p:to>
                                        <p:strVal val="visible"/>
                                      </p:to>
                                    </p:set>
                                    <p:animEffect transition="in" filter="wipe(left)">
                                      <p:cBhvr>
                                        <p:cTn id="22" dur="2500"/>
                                        <p:tgtEl>
                                          <p:spTgt spid="18"/>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4"/>
                                        </p:tgtEl>
                                        <p:attrNameLst>
                                          <p:attrName>style.visibility</p:attrName>
                                        </p:attrNameLst>
                                      </p:cBhvr>
                                      <p:to>
                                        <p:strVal val="visible"/>
                                      </p:to>
                                    </p:set>
                                    <p:animEffect transition="in" filter="wipe(left)">
                                      <p:cBhvr>
                                        <p:cTn id="27" dur="1500"/>
                                        <p:tgtEl>
                                          <p:spTgt spid="4"/>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7"/>
                                        </p:tgtEl>
                                        <p:attrNameLst>
                                          <p:attrName>style.visibility</p:attrName>
                                        </p:attrNameLst>
                                      </p:cBhvr>
                                      <p:to>
                                        <p:strVal val="visible"/>
                                      </p:to>
                                    </p:set>
                                    <p:animEffect transition="in" filter="wipe(left)">
                                      <p:cBhvr>
                                        <p:cTn id="32" dur="1500"/>
                                        <p:tgtEl>
                                          <p:spTgt spid="7"/>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5"/>
                                        </p:tgtEl>
                                        <p:attrNameLst>
                                          <p:attrName>style.visibility</p:attrName>
                                        </p:attrNameLst>
                                      </p:cBhvr>
                                      <p:to>
                                        <p:strVal val="visible"/>
                                      </p:to>
                                    </p:set>
                                    <p:animEffect transition="in" filter="wipe(left)">
                                      <p:cBhvr>
                                        <p:cTn id="37" dur="1500"/>
                                        <p:tgtEl>
                                          <p:spTgt spid="5"/>
                                        </p:tgtEl>
                                      </p:cBhvr>
                                    </p:animEffect>
                                  </p:childTnLst>
                                </p:cTn>
                              </p:par>
                            </p:childTnLst>
                          </p:cTn>
                        </p:par>
                      </p:childTnLst>
                    </p:cTn>
                  </p:par>
                  <p:par>
                    <p:cTn id="38" fill="hold">
                      <p:stCondLst>
                        <p:cond delay="indefinite"/>
                      </p:stCondLst>
                      <p:childTnLst>
                        <p:par>
                          <p:cTn id="39" fill="hold">
                            <p:stCondLst>
                              <p:cond delay="0"/>
                            </p:stCondLst>
                            <p:childTnLst>
                              <p:par>
                                <p:cTn id="40" presetID="22" presetClass="entr" presetSubtype="8" fill="hold" grpId="0" nodeType="clickEffect">
                                  <p:stCondLst>
                                    <p:cond delay="0"/>
                                  </p:stCondLst>
                                  <p:childTnLst>
                                    <p:set>
                                      <p:cBhvr>
                                        <p:cTn id="41" dur="1" fill="hold">
                                          <p:stCondLst>
                                            <p:cond delay="0"/>
                                          </p:stCondLst>
                                        </p:cTn>
                                        <p:tgtEl>
                                          <p:spTgt spid="6"/>
                                        </p:tgtEl>
                                        <p:attrNameLst>
                                          <p:attrName>style.visibility</p:attrName>
                                        </p:attrNameLst>
                                      </p:cBhvr>
                                      <p:to>
                                        <p:strVal val="visible"/>
                                      </p:to>
                                    </p:set>
                                    <p:animEffect transition="in" filter="wipe(left)">
                                      <p:cBhvr>
                                        <p:cTn id="42" dur="15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8" grpId="0"/>
      <p:bldP spid="6" grpId="0"/>
      <p:bldP spid="17" grpId="0"/>
      <p:bldP spid="5" grpId="0"/>
      <p:bldP spid="16" grpId="0"/>
      <p:bldP spid="7" grpId="0"/>
      <p:bldP spid="15" grpId="0"/>
      <p:bldP spid="4" grpId="0"/>
    </p:bldLst>
  </p:timing>
</p:sld>
</file>

<file path=ppt/slides/slide232.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A26B4CC6-6E56-B86A-B5AD-4E6A2C198265}"/>
            </a:ext>
          </a:extLst>
        </p:cNvPr>
        <p:cNvGrpSpPr/>
        <p:nvPr/>
      </p:nvGrpSpPr>
      <p:grpSpPr>
        <a:xfrm>
          <a:off x="0" y="0"/>
          <a:ext cx="0" cy="0"/>
          <a:chOff x="0" y="0"/>
          <a:chExt cx="0" cy="0"/>
        </a:xfrm>
      </p:grpSpPr>
      <p:sp>
        <p:nvSpPr>
          <p:cNvPr id="2" name="Requirement">
            <a:extLst>
              <a:ext uri="{FF2B5EF4-FFF2-40B4-BE49-F238E27FC236}">
                <a16:creationId xmlns:a16="http://schemas.microsoft.com/office/drawing/2014/main" id="{D2B29E7C-45F3-540D-CF4D-E270304FE431}"/>
              </a:ext>
            </a:extLst>
          </p:cNvPr>
          <p:cNvSpPr txBox="1"/>
          <p:nvPr/>
        </p:nvSpPr>
        <p:spPr>
          <a:xfrm>
            <a:off x="341674" y="497506"/>
            <a:ext cx="11508664" cy="400110"/>
          </a:xfrm>
          <a:prstGeom prst="rect">
            <a:avLst/>
          </a:prstGeom>
          <a:noFill/>
        </p:spPr>
        <p:txBody>
          <a:bodyPr wrap="none" rtlCol="0">
            <a:spAutoFit/>
          </a:bodyPr>
          <a:lstStyle/>
          <a:p>
            <a:pPr algn="ctr"/>
            <a:r>
              <a:rPr lang="en-GB" sz="2000" dirty="0"/>
              <a:t>Requirement: select the full name and town of all customers who live in Gourock, alphabetically by surname.</a:t>
            </a:r>
          </a:p>
        </p:txBody>
      </p:sp>
      <p:cxnSp>
        <p:nvCxnSpPr>
          <p:cNvPr id="9" name="Straight Connector 8">
            <a:extLst>
              <a:ext uri="{FF2B5EF4-FFF2-40B4-BE49-F238E27FC236}">
                <a16:creationId xmlns:a16="http://schemas.microsoft.com/office/drawing/2014/main" id="{99F7101C-CF3A-C341-91DD-BB50E622D03A}"/>
              </a:ext>
            </a:extLst>
          </p:cNvPr>
          <p:cNvCxnSpPr>
            <a:cxnSpLocks/>
          </p:cNvCxnSpPr>
          <p:nvPr/>
        </p:nvCxnSpPr>
        <p:spPr>
          <a:xfrm flipH="1">
            <a:off x="6096000" y="1232106"/>
            <a:ext cx="0" cy="5040000"/>
          </a:xfrm>
          <a:prstGeom prst="line">
            <a:avLst/>
          </a:prstGeom>
        </p:spPr>
        <p:style>
          <a:lnRef idx="2">
            <a:schemeClr val="accent1"/>
          </a:lnRef>
          <a:fillRef idx="0">
            <a:schemeClr val="accent1"/>
          </a:fillRef>
          <a:effectRef idx="1">
            <a:schemeClr val="accent1"/>
          </a:effectRef>
          <a:fontRef idx="minor">
            <a:schemeClr val="tx1"/>
          </a:fontRef>
        </p:style>
      </p:cxnSp>
      <p:cxnSp>
        <p:nvCxnSpPr>
          <p:cNvPr id="11" name="Straight Connector 10">
            <a:extLst>
              <a:ext uri="{FF2B5EF4-FFF2-40B4-BE49-F238E27FC236}">
                <a16:creationId xmlns:a16="http://schemas.microsoft.com/office/drawing/2014/main" id="{9ACEC5D8-1CFF-F748-AAD7-ADCD7B332DC8}"/>
              </a:ext>
            </a:extLst>
          </p:cNvPr>
          <p:cNvCxnSpPr>
            <a:cxnSpLocks/>
          </p:cNvCxnSpPr>
          <p:nvPr/>
        </p:nvCxnSpPr>
        <p:spPr>
          <a:xfrm flipH="1">
            <a:off x="904281" y="3758938"/>
            <a:ext cx="10440000" cy="0"/>
          </a:xfrm>
          <a:prstGeom prst="line">
            <a:avLst/>
          </a:prstGeom>
        </p:spPr>
        <p:style>
          <a:lnRef idx="2">
            <a:schemeClr val="accent1"/>
          </a:lnRef>
          <a:fillRef idx="0">
            <a:schemeClr val="accent1"/>
          </a:fillRef>
          <a:effectRef idx="1">
            <a:schemeClr val="accent1"/>
          </a:effectRef>
          <a:fontRef idx="minor">
            <a:schemeClr val="tx1"/>
          </a:fontRef>
        </p:style>
      </p:cxnSp>
      <p:sp>
        <p:nvSpPr>
          <p:cNvPr id="3" name="1">
            <a:extLst>
              <a:ext uri="{FF2B5EF4-FFF2-40B4-BE49-F238E27FC236}">
                <a16:creationId xmlns:a16="http://schemas.microsoft.com/office/drawing/2014/main" id="{D089C6CF-CD40-2FBF-B191-A2E216243790}"/>
              </a:ext>
            </a:extLst>
          </p:cNvPr>
          <p:cNvSpPr txBox="1"/>
          <p:nvPr/>
        </p:nvSpPr>
        <p:spPr>
          <a:xfrm>
            <a:off x="5664290" y="3324753"/>
            <a:ext cx="432000" cy="432000"/>
          </a:xfrm>
          <a:prstGeom prst="rect">
            <a:avLst/>
          </a:prstGeom>
          <a:noFill/>
        </p:spPr>
        <p:txBody>
          <a:bodyPr wrap="none" rtlCol="0">
            <a:spAutoFit/>
          </a:bodyPr>
          <a:lstStyle/>
          <a:p>
            <a:pPr algn="ctr"/>
            <a:r>
              <a:rPr lang="en-GB" sz="2400" b="1" dirty="0">
                <a:solidFill>
                  <a:srgbClr val="FF0000"/>
                </a:solidFill>
              </a:rPr>
              <a:t>1</a:t>
            </a:r>
          </a:p>
        </p:txBody>
      </p:sp>
      <p:sp>
        <p:nvSpPr>
          <p:cNvPr id="8" name="2">
            <a:extLst>
              <a:ext uri="{FF2B5EF4-FFF2-40B4-BE49-F238E27FC236}">
                <a16:creationId xmlns:a16="http://schemas.microsoft.com/office/drawing/2014/main" id="{55500A3A-FE1F-F377-521B-AD405C068CBF}"/>
              </a:ext>
            </a:extLst>
          </p:cNvPr>
          <p:cNvSpPr txBox="1"/>
          <p:nvPr/>
        </p:nvSpPr>
        <p:spPr>
          <a:xfrm>
            <a:off x="6105695" y="3324711"/>
            <a:ext cx="432000" cy="432000"/>
          </a:xfrm>
          <a:prstGeom prst="rect">
            <a:avLst/>
          </a:prstGeom>
          <a:noFill/>
        </p:spPr>
        <p:txBody>
          <a:bodyPr wrap="none" rtlCol="0">
            <a:spAutoFit/>
          </a:bodyPr>
          <a:lstStyle/>
          <a:p>
            <a:pPr algn="ctr"/>
            <a:r>
              <a:rPr lang="en-GB" sz="2400" b="1" dirty="0">
                <a:solidFill>
                  <a:srgbClr val="FF0000"/>
                </a:solidFill>
              </a:rPr>
              <a:t>2</a:t>
            </a:r>
          </a:p>
        </p:txBody>
      </p:sp>
      <p:sp>
        <p:nvSpPr>
          <p:cNvPr id="10" name="3">
            <a:extLst>
              <a:ext uri="{FF2B5EF4-FFF2-40B4-BE49-F238E27FC236}">
                <a16:creationId xmlns:a16="http://schemas.microsoft.com/office/drawing/2014/main" id="{EC8B7B36-F48C-AAD6-55C1-8B1A089DBEDA}"/>
              </a:ext>
            </a:extLst>
          </p:cNvPr>
          <p:cNvSpPr txBox="1"/>
          <p:nvPr/>
        </p:nvSpPr>
        <p:spPr>
          <a:xfrm>
            <a:off x="6104542" y="3770510"/>
            <a:ext cx="432000" cy="432000"/>
          </a:xfrm>
          <a:prstGeom prst="rect">
            <a:avLst/>
          </a:prstGeom>
          <a:noFill/>
        </p:spPr>
        <p:txBody>
          <a:bodyPr wrap="none" rtlCol="0">
            <a:spAutoFit/>
          </a:bodyPr>
          <a:lstStyle/>
          <a:p>
            <a:pPr algn="ctr"/>
            <a:r>
              <a:rPr lang="en-GB" sz="2400" b="1" dirty="0">
                <a:solidFill>
                  <a:srgbClr val="FF0000"/>
                </a:solidFill>
              </a:rPr>
              <a:t>3</a:t>
            </a:r>
          </a:p>
        </p:txBody>
      </p:sp>
      <p:sp>
        <p:nvSpPr>
          <p:cNvPr id="12" name="4">
            <a:extLst>
              <a:ext uri="{FF2B5EF4-FFF2-40B4-BE49-F238E27FC236}">
                <a16:creationId xmlns:a16="http://schemas.microsoft.com/office/drawing/2014/main" id="{2A523A75-C4ED-266C-D111-6E20B72C2E33}"/>
              </a:ext>
            </a:extLst>
          </p:cNvPr>
          <p:cNvSpPr txBox="1"/>
          <p:nvPr/>
        </p:nvSpPr>
        <p:spPr>
          <a:xfrm>
            <a:off x="5663849" y="3769365"/>
            <a:ext cx="432000" cy="432000"/>
          </a:xfrm>
          <a:prstGeom prst="rect">
            <a:avLst/>
          </a:prstGeom>
          <a:noFill/>
        </p:spPr>
        <p:txBody>
          <a:bodyPr wrap="none" rtlCol="0">
            <a:spAutoFit/>
          </a:bodyPr>
          <a:lstStyle/>
          <a:p>
            <a:pPr algn="ctr"/>
            <a:r>
              <a:rPr lang="en-GB" sz="2400" b="1" dirty="0">
                <a:solidFill>
                  <a:srgbClr val="FF0000"/>
                </a:solidFill>
              </a:rPr>
              <a:t>4</a:t>
            </a:r>
          </a:p>
        </p:txBody>
      </p:sp>
      <p:sp>
        <p:nvSpPr>
          <p:cNvPr id="13" name="Oval 12">
            <a:extLst>
              <a:ext uri="{FF2B5EF4-FFF2-40B4-BE49-F238E27FC236}">
                <a16:creationId xmlns:a16="http://schemas.microsoft.com/office/drawing/2014/main" id="{28A6FF22-024A-046F-E816-F58997D0927F}"/>
              </a:ext>
            </a:extLst>
          </p:cNvPr>
          <p:cNvSpPr/>
          <p:nvPr/>
        </p:nvSpPr>
        <p:spPr>
          <a:xfrm>
            <a:off x="5556644" y="3213367"/>
            <a:ext cx="1080000" cy="1080000"/>
          </a:xfrm>
          <a:prstGeom prst="ellipse">
            <a:avLst/>
          </a:prstGeom>
        </p:spPr>
        <p:style>
          <a:lnRef idx="2">
            <a:schemeClr val="accent1"/>
          </a:lnRef>
          <a:fillRef idx="0">
            <a:schemeClr val="accent1"/>
          </a:fillRef>
          <a:effectRef idx="1">
            <a:schemeClr val="accent1"/>
          </a:effectRef>
          <a:fontRef idx="minor">
            <a:schemeClr val="tx1"/>
          </a:fontRef>
        </p:style>
        <p:txBody>
          <a:bodyPr rtlCol="0" anchor="ctr"/>
          <a:lstStyle/>
          <a:p>
            <a:pPr algn="ctr"/>
            <a:endParaRPr lang="en-GB"/>
          </a:p>
        </p:txBody>
      </p:sp>
      <p:sp>
        <p:nvSpPr>
          <p:cNvPr id="18" name="SQL 4">
            <a:extLst>
              <a:ext uri="{FF2B5EF4-FFF2-40B4-BE49-F238E27FC236}">
                <a16:creationId xmlns:a16="http://schemas.microsoft.com/office/drawing/2014/main" id="{40095B0C-7ADC-4EC6-9C0C-452644888F39}"/>
              </a:ext>
            </a:extLst>
          </p:cNvPr>
          <p:cNvSpPr>
            <a:spLocks noChangeArrowheads="1"/>
          </p:cNvSpPr>
          <p:nvPr/>
        </p:nvSpPr>
        <p:spPr bwMode="auto">
          <a:xfrm>
            <a:off x="1105274" y="4957953"/>
            <a:ext cx="4680364" cy="132343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spAutoFit/>
          </a:bodyPr>
          <a:lstStyle/>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surname</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town</a:t>
            </a:r>
            <a:br>
              <a:rPr kumimoji="0" lang="en-US" altLang="en-US" sz="2000" b="0" i="0" u="none" strike="noStrike" cap="none" normalizeH="0" baseline="0" dirty="0">
                <a:ln>
                  <a:noFill/>
                </a:ln>
                <a:solidFill>
                  <a:srgbClr val="000000"/>
                </a:solidFill>
                <a:effectLst/>
                <a:latin typeface="Consolas" panose="020B0609020204030204" pitchFamily="49" charset="0"/>
              </a:rPr>
            </a:br>
            <a:r>
              <a:rPr kumimoji="0" lang="en-US" altLang="en-US" sz="2000" b="0" i="0" u="none" strike="noStrike" cap="none" normalizeH="0" baseline="0" dirty="0">
                <a:ln>
                  <a:noFill/>
                </a:ln>
                <a:solidFill>
                  <a:srgbClr val="B2B2B2"/>
                </a:solidFill>
                <a:effectLst/>
                <a:latin typeface="Consolas" panose="020B0609020204030204" pitchFamily="49" charset="0"/>
              </a:rPr>
              <a:t>2     </a:t>
            </a:r>
            <a:r>
              <a:rPr kumimoji="0" lang="en-US" altLang="en-US" sz="2000" b="0" i="0" u="none" strike="noStrike" cap="none" normalizeH="0" baseline="0" dirty="0">
                <a:ln>
                  <a:noFill/>
                </a:ln>
                <a:solidFill>
                  <a:srgbClr val="A71D5D"/>
                </a:solidFill>
                <a:effectLst/>
                <a:latin typeface="Consolas" panose="020B0609020204030204" pitchFamily="49" charset="0"/>
              </a:rPr>
              <a:t>FROM</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Customer</a:t>
            </a:r>
            <a:br>
              <a:rPr lang="en-US" altLang="en-US" sz="2000" dirty="0">
                <a:solidFill>
                  <a:srgbClr val="000000"/>
                </a:solidFill>
                <a:latin typeface="Consolas" panose="020B0609020204030204" pitchFamily="49" charset="0"/>
              </a:rPr>
            </a:br>
            <a:r>
              <a:rPr lang="en-US" altLang="en-US" sz="2000" dirty="0">
                <a:solidFill>
                  <a:srgbClr val="B2B2B2"/>
                </a:solidFill>
                <a:latin typeface="Consolas" panose="020B0609020204030204" pitchFamily="49" charset="0"/>
              </a:rPr>
              <a:t>3     </a:t>
            </a:r>
            <a:r>
              <a:rPr lang="en-US" altLang="en-US" sz="2000" dirty="0">
                <a:solidFill>
                  <a:srgbClr val="A71D5D"/>
                </a:solidFill>
                <a:latin typeface="Consolas" panose="020B0609020204030204" pitchFamily="49" charset="0"/>
              </a:rPr>
              <a:t>WHERE </a:t>
            </a:r>
            <a:r>
              <a:rPr lang="en-US" altLang="en-US" sz="2000" dirty="0">
                <a:solidFill>
                  <a:srgbClr val="000000"/>
                </a:solidFill>
                <a:latin typeface="Consolas" panose="020B0609020204030204" pitchFamily="49" charset="0"/>
              </a:rPr>
              <a:t>town = </a:t>
            </a:r>
            <a:r>
              <a:rPr lang="en-US" altLang="en-US" sz="2000" dirty="0">
                <a:solidFill>
                  <a:srgbClr val="183691"/>
                </a:solidFill>
                <a:latin typeface="Consolas" panose="020B0609020204030204" pitchFamily="49" charset="0"/>
              </a:rPr>
              <a:t>"Gourock"</a:t>
            </a:r>
            <a:br>
              <a:rPr lang="en-US" altLang="en-US" sz="2000" dirty="0">
                <a:solidFill>
                  <a:srgbClr val="000000"/>
                </a:solidFill>
                <a:latin typeface="Consolas" panose="020B0609020204030204" pitchFamily="49" charset="0"/>
              </a:rPr>
            </a:br>
            <a:r>
              <a:rPr lang="en-US" altLang="en-US" sz="2000" dirty="0">
                <a:solidFill>
                  <a:srgbClr val="B2B2B2"/>
                </a:solidFill>
                <a:latin typeface="Consolas" panose="020B0609020204030204" pitchFamily="49" charset="0"/>
              </a:rPr>
              <a:t>4     </a:t>
            </a:r>
            <a:r>
              <a:rPr lang="en-US" altLang="en-US" sz="2000" dirty="0">
                <a:solidFill>
                  <a:srgbClr val="A71D5D"/>
                </a:solidFill>
                <a:latin typeface="Consolas" panose="020B0609020204030204" pitchFamily="49" charset="0"/>
              </a:rPr>
              <a:t>ORDER BY</a:t>
            </a:r>
            <a:r>
              <a:rPr lang="en-US" altLang="en-US" sz="2000" dirty="0">
                <a:solidFill>
                  <a:srgbClr val="000000"/>
                </a:solidFill>
                <a:latin typeface="Consolas" panose="020B0609020204030204" pitchFamily="49" charset="0"/>
              </a:rPr>
              <a:t> surname </a:t>
            </a:r>
            <a:r>
              <a:rPr lang="en-US" altLang="en-US" sz="2000" dirty="0">
                <a:solidFill>
                  <a:srgbClr val="A71D5D"/>
                </a:solidFill>
                <a:latin typeface="Consolas" panose="020B0609020204030204" pitchFamily="49" charset="0"/>
              </a:rPr>
              <a:t>ASC</a:t>
            </a:r>
            <a:r>
              <a:rPr lang="en-US" altLang="en-US" sz="2000" dirty="0">
                <a:solidFill>
                  <a:srgbClr val="000000"/>
                </a:solidFill>
                <a:latin typeface="Consolas" panose="020B0609020204030204" pitchFamily="49" charset="0"/>
              </a:rPr>
              <a:t>;</a:t>
            </a:r>
            <a:endParaRPr kumimoji="0" lang="en-US" altLang="en-US" sz="3200" b="0" i="0" u="none" strike="noStrike" cap="none" normalizeH="0" baseline="0" dirty="0">
              <a:ln>
                <a:noFill/>
              </a:ln>
              <a:solidFill>
                <a:schemeClr val="tx1"/>
              </a:solidFill>
              <a:effectLst/>
              <a:latin typeface="Arial" panose="020B0604020202020204" pitchFamily="34" charset="0"/>
            </a:endParaRPr>
          </a:p>
        </p:txBody>
      </p:sp>
      <p:sp>
        <p:nvSpPr>
          <p:cNvPr id="6" name="Result 4">
            <a:extLst>
              <a:ext uri="{FF2B5EF4-FFF2-40B4-BE49-F238E27FC236}">
                <a16:creationId xmlns:a16="http://schemas.microsoft.com/office/drawing/2014/main" id="{F59E996A-1250-C409-9FD8-DA2DDEB6EF22}"/>
              </a:ext>
            </a:extLst>
          </p:cNvPr>
          <p:cNvSpPr>
            <a:spLocks noChangeArrowheads="1"/>
          </p:cNvSpPr>
          <p:nvPr/>
        </p:nvSpPr>
        <p:spPr bwMode="auto">
          <a:xfrm>
            <a:off x="1105274" y="4043553"/>
            <a:ext cx="4680364" cy="70788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2000" b="0" i="0" u="none" strike="noStrike" cap="none" normalizeH="0" baseline="0" dirty="0">
                <a:ln>
                  <a:noFill/>
                </a:ln>
                <a:effectLst/>
                <a:latin typeface="Calibri" panose="020F0502020204030204" pitchFamily="34" charset="0"/>
                <a:cs typeface="Calibri" panose="020F0502020204030204" pitchFamily="34" charset="0"/>
              </a:rPr>
              <a:t>Fit for purpose:  </a:t>
            </a:r>
          </a:p>
          <a:p>
            <a:pPr marL="0" marR="0" lvl="0" indent="0" algn="l" defTabSz="914400" rtl="0" eaLnBrk="0" fontAlgn="base" latinLnBrk="0" hangingPunct="0">
              <a:lnSpc>
                <a:spcPct val="100000"/>
              </a:lnSpc>
              <a:spcBef>
                <a:spcPct val="0"/>
              </a:spcBef>
              <a:spcAft>
                <a:spcPct val="0"/>
              </a:spcAft>
              <a:buClrTx/>
              <a:buSzTx/>
              <a:buFontTx/>
              <a:buNone/>
              <a:tabLst/>
            </a:pPr>
            <a:r>
              <a:rPr lang="en-US" altLang="en-US" sz="2000" dirty="0">
                <a:latin typeface="Calibri" panose="020F0502020204030204" pitchFamily="34" charset="0"/>
                <a:cs typeface="Calibri" panose="020F0502020204030204" pitchFamily="34" charset="0"/>
              </a:rPr>
              <a:t>Accuracy of output:  </a:t>
            </a:r>
          </a:p>
        </p:txBody>
      </p:sp>
      <p:sp>
        <p:nvSpPr>
          <p:cNvPr id="17" name="SQL 3">
            <a:extLst>
              <a:ext uri="{FF2B5EF4-FFF2-40B4-BE49-F238E27FC236}">
                <a16:creationId xmlns:a16="http://schemas.microsoft.com/office/drawing/2014/main" id="{0D71452E-0D77-478C-A19C-ECF33FA17695}"/>
              </a:ext>
            </a:extLst>
          </p:cNvPr>
          <p:cNvSpPr>
            <a:spLocks noChangeArrowheads="1"/>
          </p:cNvSpPr>
          <p:nvPr/>
        </p:nvSpPr>
        <p:spPr bwMode="auto">
          <a:xfrm>
            <a:off x="6712817" y="4961521"/>
            <a:ext cx="4680371" cy="132343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spAutoFit/>
          </a:bodyPr>
          <a:lstStyle/>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 </a:t>
            </a:r>
            <a:r>
              <a:rPr kumimoji="0" lang="en-US" altLang="en-US" sz="2000" b="0" i="0" u="none" strike="noStrike" cap="none" normalizeH="0" baseline="0" dirty="0">
                <a:ln>
                  <a:noFill/>
                </a:ln>
                <a:solidFill>
                  <a:srgbClr val="000000"/>
                </a:solidFill>
                <a:effectLst/>
                <a:latin typeface="Consolas" panose="020B0609020204030204" pitchFamily="49" charset="0"/>
              </a:rPr>
              <a:t>surname, town</a:t>
            </a:r>
            <a:br>
              <a:rPr kumimoji="0" lang="en-US" altLang="en-US" sz="2000" b="0" i="0" u="none" strike="noStrike" cap="none" normalizeH="0" baseline="0" dirty="0">
                <a:ln>
                  <a:noFill/>
                </a:ln>
                <a:solidFill>
                  <a:srgbClr val="000000"/>
                </a:solidFill>
                <a:effectLst/>
                <a:latin typeface="Consolas" panose="020B0609020204030204" pitchFamily="49" charset="0"/>
              </a:rPr>
            </a:br>
            <a:r>
              <a:rPr kumimoji="0" lang="en-US" altLang="en-US" sz="2000" b="0" i="0" u="none" strike="noStrike" cap="none" normalizeH="0" baseline="0" dirty="0">
                <a:ln>
                  <a:noFill/>
                </a:ln>
                <a:solidFill>
                  <a:srgbClr val="B2B2B2"/>
                </a:solidFill>
                <a:effectLst/>
                <a:latin typeface="Consolas" panose="020B0609020204030204" pitchFamily="49" charset="0"/>
              </a:rPr>
              <a:t>2     </a:t>
            </a:r>
            <a:r>
              <a:rPr kumimoji="0" lang="en-US" altLang="en-US" sz="2000" b="0" i="0" u="none" strike="noStrike" cap="none" normalizeH="0" baseline="0" dirty="0">
                <a:ln>
                  <a:noFill/>
                </a:ln>
                <a:solidFill>
                  <a:srgbClr val="A71D5D"/>
                </a:solidFill>
                <a:effectLst/>
                <a:latin typeface="Consolas" panose="020B0609020204030204" pitchFamily="49" charset="0"/>
              </a:rPr>
              <a:t>FROM</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Customer</a:t>
            </a:r>
            <a:br>
              <a:rPr lang="en-US" altLang="en-US" sz="2000" dirty="0">
                <a:solidFill>
                  <a:srgbClr val="000000"/>
                </a:solidFill>
                <a:latin typeface="Consolas" panose="020B0609020204030204" pitchFamily="49" charset="0"/>
              </a:rPr>
            </a:br>
            <a:r>
              <a:rPr lang="en-US" altLang="en-US" sz="2000" dirty="0">
                <a:solidFill>
                  <a:srgbClr val="B2B2B2"/>
                </a:solidFill>
                <a:latin typeface="Consolas" panose="020B0609020204030204" pitchFamily="49" charset="0"/>
              </a:rPr>
              <a:t>3     </a:t>
            </a:r>
            <a:r>
              <a:rPr lang="en-US" altLang="en-US" sz="2000" dirty="0">
                <a:solidFill>
                  <a:srgbClr val="A71D5D"/>
                </a:solidFill>
                <a:latin typeface="Consolas" panose="020B0609020204030204" pitchFamily="49" charset="0"/>
              </a:rPr>
              <a:t>WHERE </a:t>
            </a:r>
            <a:r>
              <a:rPr lang="en-US" altLang="en-US" sz="2000" dirty="0">
                <a:solidFill>
                  <a:srgbClr val="000000"/>
                </a:solidFill>
                <a:latin typeface="Consolas" panose="020B0609020204030204" pitchFamily="49" charset="0"/>
              </a:rPr>
              <a:t>town = </a:t>
            </a:r>
            <a:r>
              <a:rPr lang="en-US" altLang="en-US" sz="2000" dirty="0">
                <a:solidFill>
                  <a:srgbClr val="183691"/>
                </a:solidFill>
                <a:latin typeface="Consolas" panose="020B0609020204030204" pitchFamily="49" charset="0"/>
              </a:rPr>
              <a:t>"Glasgow"</a:t>
            </a:r>
            <a:br>
              <a:rPr kumimoji="0" lang="en-US" altLang="en-US" sz="2000" b="0" i="0" u="none" strike="noStrike" cap="none" normalizeH="0" baseline="0" dirty="0">
                <a:ln>
                  <a:noFill/>
                </a:ln>
                <a:solidFill>
                  <a:srgbClr val="000000"/>
                </a:solidFill>
                <a:effectLst/>
                <a:latin typeface="Consolas" panose="020B0609020204030204" pitchFamily="49" charset="0"/>
              </a:rPr>
            </a:br>
            <a:r>
              <a:rPr kumimoji="0" lang="en-US" altLang="en-US" sz="2000" b="0" i="0" u="none" strike="noStrike" cap="none" normalizeH="0" baseline="0" dirty="0">
                <a:ln>
                  <a:noFill/>
                </a:ln>
                <a:solidFill>
                  <a:srgbClr val="B2B2B2"/>
                </a:solidFill>
                <a:effectLst/>
                <a:latin typeface="Consolas" panose="020B0609020204030204" pitchFamily="49" charset="0"/>
              </a:rPr>
              <a:t>4     </a:t>
            </a:r>
            <a:r>
              <a:rPr kumimoji="0" lang="en-US" altLang="en-US" sz="2000" b="0" i="0" u="none" strike="noStrike" cap="none" normalizeH="0" baseline="0" dirty="0">
                <a:ln>
                  <a:noFill/>
                </a:ln>
                <a:solidFill>
                  <a:srgbClr val="A71D5D"/>
                </a:solidFill>
                <a:effectLst/>
                <a:latin typeface="Consolas" panose="020B0609020204030204" pitchFamily="49" charset="0"/>
              </a:rPr>
              <a:t>ORDER BY</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surname </a:t>
            </a:r>
            <a:r>
              <a:rPr lang="en-US" altLang="en-US" sz="2000" dirty="0">
                <a:solidFill>
                  <a:srgbClr val="A71D5D"/>
                </a:solidFill>
                <a:latin typeface="Consolas" panose="020B0609020204030204" pitchFamily="49" charset="0"/>
              </a:rPr>
              <a:t>ASC</a:t>
            </a:r>
            <a:r>
              <a:rPr lang="en-US" altLang="en-US" sz="2000" dirty="0">
                <a:solidFill>
                  <a:srgbClr val="000000"/>
                </a:solidFill>
                <a:latin typeface="Consolas" panose="020B0609020204030204" pitchFamily="49" charset="0"/>
              </a:rPr>
              <a:t>;</a:t>
            </a:r>
            <a:endParaRPr kumimoji="0" lang="en-US" altLang="en-US" sz="3200" b="0" i="0" u="none" strike="noStrike" cap="none" normalizeH="0" baseline="0" dirty="0">
              <a:ln>
                <a:noFill/>
              </a:ln>
              <a:solidFill>
                <a:schemeClr val="tx1"/>
              </a:solidFill>
              <a:effectLst/>
              <a:latin typeface="Arial" panose="020B0604020202020204" pitchFamily="34" charset="0"/>
            </a:endParaRPr>
          </a:p>
        </p:txBody>
      </p:sp>
      <p:sp>
        <p:nvSpPr>
          <p:cNvPr id="5" name="Result 3">
            <a:extLst>
              <a:ext uri="{FF2B5EF4-FFF2-40B4-BE49-F238E27FC236}">
                <a16:creationId xmlns:a16="http://schemas.microsoft.com/office/drawing/2014/main" id="{ED1DB20E-1101-8E35-71D5-F6608F1564F5}"/>
              </a:ext>
            </a:extLst>
          </p:cNvPr>
          <p:cNvSpPr>
            <a:spLocks noChangeArrowheads="1"/>
          </p:cNvSpPr>
          <p:nvPr/>
        </p:nvSpPr>
        <p:spPr bwMode="auto">
          <a:xfrm>
            <a:off x="6712817" y="4047121"/>
            <a:ext cx="4680371" cy="70788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2000" b="0" i="0" u="none" strike="noStrike" cap="none" normalizeH="0" baseline="0" dirty="0">
                <a:ln>
                  <a:noFill/>
                </a:ln>
                <a:effectLst/>
                <a:latin typeface="Calibri" panose="020F0502020204030204" pitchFamily="34" charset="0"/>
                <a:cs typeface="Calibri" panose="020F0502020204030204" pitchFamily="34" charset="0"/>
              </a:rPr>
              <a:t>Fit for purpose:  </a:t>
            </a:r>
          </a:p>
          <a:p>
            <a:pPr marL="0" marR="0" lvl="0" indent="0" algn="l" defTabSz="914400" rtl="0" eaLnBrk="0" fontAlgn="base" latinLnBrk="0" hangingPunct="0">
              <a:lnSpc>
                <a:spcPct val="100000"/>
              </a:lnSpc>
              <a:spcBef>
                <a:spcPct val="0"/>
              </a:spcBef>
              <a:spcAft>
                <a:spcPct val="0"/>
              </a:spcAft>
              <a:buClrTx/>
              <a:buSzTx/>
              <a:buFontTx/>
              <a:buNone/>
              <a:tabLst/>
            </a:pPr>
            <a:r>
              <a:rPr lang="en-US" altLang="en-US" sz="2000" dirty="0">
                <a:latin typeface="Calibri" panose="020F0502020204030204" pitchFamily="34" charset="0"/>
                <a:cs typeface="Calibri" panose="020F0502020204030204" pitchFamily="34" charset="0"/>
              </a:rPr>
              <a:t>Accuracy of output:  </a:t>
            </a:r>
          </a:p>
        </p:txBody>
      </p:sp>
      <p:sp>
        <p:nvSpPr>
          <p:cNvPr id="16" name="SQL 2">
            <a:extLst>
              <a:ext uri="{FF2B5EF4-FFF2-40B4-BE49-F238E27FC236}">
                <a16:creationId xmlns:a16="http://schemas.microsoft.com/office/drawing/2014/main" id="{ED42CE84-7DCB-4264-AA46-6C90335BA14F}"/>
              </a:ext>
            </a:extLst>
          </p:cNvPr>
          <p:cNvSpPr>
            <a:spLocks noChangeArrowheads="1"/>
          </p:cNvSpPr>
          <p:nvPr/>
        </p:nvSpPr>
        <p:spPr bwMode="auto">
          <a:xfrm>
            <a:off x="6712809" y="2096630"/>
            <a:ext cx="4680379" cy="132343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spAutoFit/>
          </a:bodyPr>
          <a:lstStyle/>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 </a:t>
            </a:r>
            <a:r>
              <a:rPr lang="en-US" altLang="en-US" sz="2000" dirty="0">
                <a:solidFill>
                  <a:srgbClr val="000000"/>
                </a:solidFill>
                <a:latin typeface="Consolas" panose="020B0609020204030204" pitchFamily="49" charset="0"/>
              </a:rPr>
              <a:t>forename</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surname</a:t>
            </a:r>
            <a:r>
              <a:rPr kumimoji="0" lang="en-US" altLang="en-US" sz="2000" b="0" i="0" u="none" strike="noStrike" cap="none" normalizeH="0" baseline="0" dirty="0">
                <a:ln>
                  <a:noFill/>
                </a:ln>
                <a:solidFill>
                  <a:srgbClr val="000000"/>
                </a:solidFill>
                <a:effectLst/>
                <a:latin typeface="Consolas" panose="020B0609020204030204" pitchFamily="49" charset="0"/>
              </a:rPr>
              <a:t>, town</a:t>
            </a:r>
            <a:br>
              <a:rPr kumimoji="0" lang="en-US" altLang="en-US" sz="2000" b="0" i="0" u="none" strike="noStrike" cap="none" normalizeH="0" baseline="0" dirty="0">
                <a:ln>
                  <a:noFill/>
                </a:ln>
                <a:solidFill>
                  <a:srgbClr val="000000"/>
                </a:solidFill>
                <a:effectLst/>
                <a:latin typeface="Consolas" panose="020B0609020204030204" pitchFamily="49" charset="0"/>
              </a:rPr>
            </a:br>
            <a:r>
              <a:rPr kumimoji="0" lang="en-US" altLang="en-US" sz="2000" b="0" i="0" u="none" strike="noStrike" cap="none" normalizeH="0" baseline="0" dirty="0">
                <a:ln>
                  <a:noFill/>
                </a:ln>
                <a:solidFill>
                  <a:srgbClr val="B2B2B2"/>
                </a:solidFill>
                <a:effectLst/>
                <a:latin typeface="Consolas" panose="020B0609020204030204" pitchFamily="49" charset="0"/>
              </a:rPr>
              <a:t>2     </a:t>
            </a:r>
            <a:r>
              <a:rPr kumimoji="0" lang="en-US" altLang="en-US" sz="2000" b="0" i="0" u="none" strike="noStrike" cap="none" normalizeH="0" baseline="0" dirty="0">
                <a:ln>
                  <a:noFill/>
                </a:ln>
                <a:solidFill>
                  <a:srgbClr val="A71D5D"/>
                </a:solidFill>
                <a:effectLst/>
                <a:latin typeface="Consolas" panose="020B0609020204030204" pitchFamily="49" charset="0"/>
              </a:rPr>
              <a:t>FROM</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Customer</a:t>
            </a:r>
            <a:br>
              <a:rPr lang="en-US" altLang="en-US" sz="2000" dirty="0">
                <a:solidFill>
                  <a:srgbClr val="000000"/>
                </a:solidFill>
                <a:latin typeface="Consolas" panose="020B0609020204030204" pitchFamily="49" charset="0"/>
              </a:rPr>
            </a:br>
            <a:r>
              <a:rPr lang="en-US" altLang="en-US" sz="2000" dirty="0">
                <a:solidFill>
                  <a:srgbClr val="B2B2B2"/>
                </a:solidFill>
                <a:latin typeface="Consolas" panose="020B0609020204030204" pitchFamily="49" charset="0"/>
              </a:rPr>
              <a:t>3     </a:t>
            </a:r>
            <a:r>
              <a:rPr lang="en-US" altLang="en-US" sz="2000" dirty="0">
                <a:solidFill>
                  <a:srgbClr val="A71D5D"/>
                </a:solidFill>
                <a:latin typeface="Consolas" panose="020B0609020204030204" pitchFamily="49" charset="0"/>
              </a:rPr>
              <a:t>WHERE </a:t>
            </a:r>
            <a:r>
              <a:rPr lang="en-US" altLang="en-US" sz="2000" dirty="0">
                <a:solidFill>
                  <a:srgbClr val="000000"/>
                </a:solidFill>
                <a:latin typeface="Consolas" panose="020B0609020204030204" pitchFamily="49" charset="0"/>
              </a:rPr>
              <a:t>town = </a:t>
            </a:r>
            <a:r>
              <a:rPr lang="en-US" altLang="en-US" sz="2000" dirty="0">
                <a:solidFill>
                  <a:srgbClr val="183691"/>
                </a:solidFill>
                <a:latin typeface="Consolas" panose="020B0609020204030204" pitchFamily="49" charset="0"/>
              </a:rPr>
              <a:t>"Gourock"</a:t>
            </a:r>
            <a:br>
              <a:rPr kumimoji="0" lang="en-US" altLang="en-US" sz="2000" b="0" i="0" u="none" strike="noStrike" cap="none" normalizeH="0" baseline="0" dirty="0">
                <a:ln>
                  <a:noFill/>
                </a:ln>
                <a:solidFill>
                  <a:srgbClr val="000000"/>
                </a:solidFill>
                <a:effectLst/>
                <a:latin typeface="Consolas" panose="020B0609020204030204" pitchFamily="49" charset="0"/>
              </a:rPr>
            </a:br>
            <a:r>
              <a:rPr kumimoji="0" lang="en-US" altLang="en-US" sz="2000" b="0" i="0" u="none" strike="noStrike" cap="none" normalizeH="0" baseline="0" dirty="0">
                <a:ln>
                  <a:noFill/>
                </a:ln>
                <a:solidFill>
                  <a:srgbClr val="B2B2B2"/>
                </a:solidFill>
                <a:effectLst/>
                <a:latin typeface="Consolas" panose="020B0609020204030204" pitchFamily="49" charset="0"/>
              </a:rPr>
              <a:t>4     </a:t>
            </a:r>
            <a:r>
              <a:rPr kumimoji="0" lang="en-US" altLang="en-US" sz="2000" b="0" i="0" u="none" strike="noStrike" cap="none" normalizeH="0" baseline="0" dirty="0">
                <a:ln>
                  <a:noFill/>
                </a:ln>
                <a:solidFill>
                  <a:srgbClr val="A71D5D"/>
                </a:solidFill>
                <a:effectLst/>
                <a:latin typeface="Consolas" panose="020B0609020204030204" pitchFamily="49" charset="0"/>
              </a:rPr>
              <a:t>ORDER BY</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surname </a:t>
            </a:r>
            <a:r>
              <a:rPr lang="en-US" altLang="en-US" sz="2000" dirty="0">
                <a:solidFill>
                  <a:srgbClr val="A71D5D"/>
                </a:solidFill>
                <a:latin typeface="Consolas" panose="020B0609020204030204" pitchFamily="49" charset="0"/>
              </a:rPr>
              <a:t>DESC</a:t>
            </a:r>
            <a:r>
              <a:rPr lang="en-US" altLang="en-US" sz="2000" dirty="0">
                <a:solidFill>
                  <a:srgbClr val="000000"/>
                </a:solidFill>
                <a:latin typeface="Consolas" panose="020B0609020204030204" pitchFamily="49" charset="0"/>
              </a:rPr>
              <a:t>;</a:t>
            </a:r>
            <a:endParaRPr kumimoji="0" lang="en-US" altLang="en-US" sz="3200" b="0" i="0" u="none" strike="noStrike" cap="none" normalizeH="0" baseline="0" dirty="0">
              <a:ln>
                <a:noFill/>
              </a:ln>
              <a:solidFill>
                <a:schemeClr val="tx1"/>
              </a:solidFill>
              <a:effectLst/>
              <a:latin typeface="Arial" panose="020B0604020202020204" pitchFamily="34" charset="0"/>
            </a:endParaRPr>
          </a:p>
        </p:txBody>
      </p:sp>
      <p:sp>
        <p:nvSpPr>
          <p:cNvPr id="7" name="Result 2">
            <a:extLst>
              <a:ext uri="{FF2B5EF4-FFF2-40B4-BE49-F238E27FC236}">
                <a16:creationId xmlns:a16="http://schemas.microsoft.com/office/drawing/2014/main" id="{94109815-3832-2453-0AC6-5359CBADAAE9}"/>
              </a:ext>
            </a:extLst>
          </p:cNvPr>
          <p:cNvSpPr>
            <a:spLocks noChangeArrowheads="1"/>
          </p:cNvSpPr>
          <p:nvPr/>
        </p:nvSpPr>
        <p:spPr bwMode="auto">
          <a:xfrm>
            <a:off x="6712809" y="1182230"/>
            <a:ext cx="4680379" cy="70788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2000" b="0" i="0" u="none" strike="noStrike" cap="none" normalizeH="0" baseline="0" dirty="0">
                <a:ln>
                  <a:noFill/>
                </a:ln>
                <a:effectLst/>
                <a:latin typeface="Calibri" panose="020F0502020204030204" pitchFamily="34" charset="0"/>
                <a:cs typeface="Calibri" panose="020F0502020204030204" pitchFamily="34" charset="0"/>
              </a:rPr>
              <a:t>Fit for purpose:  </a:t>
            </a:r>
          </a:p>
          <a:p>
            <a:pPr marL="0" marR="0" lvl="0" indent="0" algn="l" defTabSz="914400" rtl="0" eaLnBrk="0" fontAlgn="base" latinLnBrk="0" hangingPunct="0">
              <a:lnSpc>
                <a:spcPct val="100000"/>
              </a:lnSpc>
              <a:spcBef>
                <a:spcPct val="0"/>
              </a:spcBef>
              <a:spcAft>
                <a:spcPct val="0"/>
              </a:spcAft>
              <a:buClrTx/>
              <a:buSzTx/>
              <a:buFontTx/>
              <a:buNone/>
              <a:tabLst/>
            </a:pPr>
            <a:r>
              <a:rPr lang="en-US" altLang="en-US" sz="2000" dirty="0">
                <a:latin typeface="Calibri" panose="020F0502020204030204" pitchFamily="34" charset="0"/>
                <a:cs typeface="Calibri" panose="020F0502020204030204" pitchFamily="34" charset="0"/>
              </a:rPr>
              <a:t>Accuracy of output:  </a:t>
            </a:r>
          </a:p>
        </p:txBody>
      </p:sp>
      <p:sp>
        <p:nvSpPr>
          <p:cNvPr id="15" name="SQL 1">
            <a:extLst>
              <a:ext uri="{FF2B5EF4-FFF2-40B4-BE49-F238E27FC236}">
                <a16:creationId xmlns:a16="http://schemas.microsoft.com/office/drawing/2014/main" id="{A0C9E759-9E8E-4752-B040-B3FBC911D267}"/>
              </a:ext>
            </a:extLst>
          </p:cNvPr>
          <p:cNvSpPr>
            <a:spLocks noChangeArrowheads="1"/>
          </p:cNvSpPr>
          <p:nvPr/>
        </p:nvSpPr>
        <p:spPr bwMode="auto">
          <a:xfrm>
            <a:off x="1105740" y="2099120"/>
            <a:ext cx="4680381" cy="132343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spAutoFit/>
          </a:bodyPr>
          <a:lstStyle/>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 </a:t>
            </a:r>
            <a:r>
              <a:rPr lang="en-US" altLang="en-US" sz="2000" dirty="0">
                <a:solidFill>
                  <a:srgbClr val="000000"/>
                </a:solidFill>
                <a:latin typeface="Consolas" panose="020B0609020204030204" pitchFamily="49" charset="0"/>
              </a:rPr>
              <a:t>forename</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surname</a:t>
            </a:r>
            <a:r>
              <a:rPr kumimoji="0" lang="en-US" altLang="en-US" sz="2000" b="0" i="0" u="none" strike="noStrike" cap="none" normalizeH="0" baseline="0" dirty="0">
                <a:ln>
                  <a:noFill/>
                </a:ln>
                <a:solidFill>
                  <a:srgbClr val="000000"/>
                </a:solidFill>
                <a:effectLst/>
                <a:latin typeface="Consolas" panose="020B0609020204030204" pitchFamily="49" charset="0"/>
              </a:rPr>
              <a:t>, town</a:t>
            </a:r>
            <a:br>
              <a:rPr kumimoji="0" lang="en-US" altLang="en-US" sz="2000" b="0" i="0" u="none" strike="noStrike" cap="none" normalizeH="0" baseline="0" dirty="0">
                <a:ln>
                  <a:noFill/>
                </a:ln>
                <a:solidFill>
                  <a:srgbClr val="000000"/>
                </a:solidFill>
                <a:effectLst/>
                <a:latin typeface="Consolas" panose="020B0609020204030204" pitchFamily="49" charset="0"/>
              </a:rPr>
            </a:br>
            <a:r>
              <a:rPr kumimoji="0" lang="en-US" altLang="en-US" sz="2000" b="0" i="0" u="none" strike="noStrike" cap="none" normalizeH="0" baseline="0" dirty="0">
                <a:ln>
                  <a:noFill/>
                </a:ln>
                <a:solidFill>
                  <a:srgbClr val="B2B2B2"/>
                </a:solidFill>
                <a:effectLst/>
                <a:latin typeface="Consolas" panose="020B0609020204030204" pitchFamily="49" charset="0"/>
              </a:rPr>
              <a:t>2     </a:t>
            </a:r>
            <a:r>
              <a:rPr kumimoji="0" lang="en-US" altLang="en-US" sz="2000" b="0" i="0" u="none" strike="noStrike" cap="none" normalizeH="0" baseline="0" dirty="0">
                <a:ln>
                  <a:noFill/>
                </a:ln>
                <a:solidFill>
                  <a:srgbClr val="A71D5D"/>
                </a:solidFill>
                <a:effectLst/>
                <a:latin typeface="Consolas" panose="020B0609020204030204" pitchFamily="49" charset="0"/>
              </a:rPr>
              <a:t>FROM</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C</a:t>
            </a:r>
            <a:r>
              <a:rPr kumimoji="0" lang="en-US" altLang="en-US" sz="2000" b="0" i="0" u="none" strike="noStrike" cap="none" normalizeH="0" baseline="0" dirty="0">
                <a:ln>
                  <a:noFill/>
                </a:ln>
                <a:solidFill>
                  <a:srgbClr val="000000"/>
                </a:solidFill>
                <a:effectLst/>
                <a:latin typeface="Consolas" panose="020B0609020204030204" pitchFamily="49" charset="0"/>
              </a:rPr>
              <a:t>ustomer</a:t>
            </a:r>
            <a:br>
              <a:rPr kumimoji="0" lang="en-US" altLang="en-US" sz="2000" b="0" i="0" u="none" strike="noStrike" cap="none" normalizeH="0" baseline="0" dirty="0">
                <a:ln>
                  <a:noFill/>
                </a:ln>
                <a:solidFill>
                  <a:srgbClr val="000000"/>
                </a:solidFill>
                <a:effectLst/>
                <a:latin typeface="Consolas" panose="020B0609020204030204" pitchFamily="49" charset="0"/>
              </a:rPr>
            </a:br>
            <a:r>
              <a:rPr kumimoji="0" lang="en-US" altLang="en-US" sz="2000" b="0" i="0" u="none" strike="noStrike" cap="none" normalizeH="0" baseline="0" dirty="0">
                <a:ln>
                  <a:noFill/>
                </a:ln>
                <a:solidFill>
                  <a:srgbClr val="B2B2B2"/>
                </a:solidFill>
                <a:effectLst/>
                <a:latin typeface="Consolas" panose="020B0609020204030204" pitchFamily="49" charset="0"/>
              </a:rPr>
              <a:t>3     </a:t>
            </a:r>
            <a:r>
              <a:rPr kumimoji="0" lang="en-US" altLang="en-US" sz="2000" b="0" i="0" u="none" strike="noStrike" cap="none" normalizeH="0" baseline="0" dirty="0">
                <a:ln>
                  <a:noFill/>
                </a:ln>
                <a:solidFill>
                  <a:srgbClr val="A71D5D"/>
                </a:solidFill>
                <a:effectLst/>
                <a:latin typeface="Consolas" panose="020B0609020204030204" pitchFamily="49" charset="0"/>
              </a:rPr>
              <a:t>WHERE </a:t>
            </a:r>
            <a:r>
              <a:rPr lang="en-US" altLang="en-US" sz="2000" dirty="0">
                <a:solidFill>
                  <a:srgbClr val="000000"/>
                </a:solidFill>
                <a:latin typeface="Consolas" panose="020B0609020204030204" pitchFamily="49" charset="0"/>
              </a:rPr>
              <a:t>town </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kumimoji="0" lang="en-US" altLang="en-US" sz="2000" b="0" i="0" u="none" strike="noStrike" cap="none" normalizeH="0" baseline="0" dirty="0">
                <a:ln>
                  <a:noFill/>
                </a:ln>
                <a:solidFill>
                  <a:srgbClr val="183691"/>
                </a:solidFill>
                <a:effectLst/>
                <a:latin typeface="Consolas" panose="020B0609020204030204" pitchFamily="49" charset="0"/>
              </a:rPr>
              <a:t>"</a:t>
            </a:r>
            <a:r>
              <a:rPr lang="en-US" altLang="en-US" sz="2000" dirty="0">
                <a:solidFill>
                  <a:srgbClr val="183691"/>
                </a:solidFill>
                <a:latin typeface="Consolas" panose="020B0609020204030204" pitchFamily="49" charset="0"/>
              </a:rPr>
              <a:t>Gourock</a:t>
            </a:r>
            <a:r>
              <a:rPr kumimoji="0" lang="en-US" altLang="en-US" sz="2000" b="0" i="0" u="none" strike="noStrike" cap="none" normalizeH="0" baseline="0" dirty="0">
                <a:ln>
                  <a:noFill/>
                </a:ln>
                <a:solidFill>
                  <a:srgbClr val="183691"/>
                </a:solidFill>
                <a:effectLst/>
                <a:latin typeface="Consolas" panose="020B0609020204030204" pitchFamily="49" charset="0"/>
              </a:rPr>
              <a:t>"</a:t>
            </a:r>
            <a:br>
              <a:rPr kumimoji="0" lang="en-US" altLang="en-US" sz="2000" b="0" i="0" u="none" strike="noStrike" cap="none" normalizeH="0" baseline="0" dirty="0">
                <a:ln>
                  <a:noFill/>
                </a:ln>
                <a:solidFill>
                  <a:srgbClr val="000000"/>
                </a:solidFill>
                <a:effectLst/>
                <a:latin typeface="Consolas" panose="020B0609020204030204" pitchFamily="49" charset="0"/>
              </a:rPr>
            </a:br>
            <a:r>
              <a:rPr kumimoji="0" lang="en-US" altLang="en-US" sz="2000" b="0" i="0" u="none" strike="noStrike" cap="none" normalizeH="0" baseline="0" dirty="0">
                <a:ln>
                  <a:noFill/>
                </a:ln>
                <a:solidFill>
                  <a:srgbClr val="B2B2B2"/>
                </a:solidFill>
                <a:effectLst/>
                <a:latin typeface="Consolas" panose="020B0609020204030204" pitchFamily="49" charset="0"/>
              </a:rPr>
              <a:t>4     </a:t>
            </a:r>
            <a:r>
              <a:rPr kumimoji="0" lang="en-US" altLang="en-US" sz="2000" b="0" i="0" u="none" strike="noStrike" cap="none" normalizeH="0" baseline="0" dirty="0">
                <a:ln>
                  <a:noFill/>
                </a:ln>
                <a:solidFill>
                  <a:srgbClr val="A71D5D"/>
                </a:solidFill>
                <a:effectLst/>
                <a:latin typeface="Consolas" panose="020B0609020204030204" pitchFamily="49" charset="0"/>
              </a:rPr>
              <a:t>ORDER BY</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surname</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A71D5D"/>
                </a:solidFill>
                <a:latin typeface="Consolas" panose="020B0609020204030204" pitchFamily="49" charset="0"/>
              </a:rPr>
              <a:t>A</a:t>
            </a:r>
            <a:r>
              <a:rPr kumimoji="0" lang="en-US" altLang="en-US" sz="2000" b="0" i="0" u="none" strike="noStrike" cap="none" normalizeH="0" baseline="0" dirty="0">
                <a:ln>
                  <a:noFill/>
                </a:ln>
                <a:solidFill>
                  <a:srgbClr val="A71D5D"/>
                </a:solidFill>
                <a:effectLst/>
                <a:latin typeface="Consolas" panose="020B0609020204030204" pitchFamily="49" charset="0"/>
              </a:rPr>
              <a:t>SC</a:t>
            </a:r>
            <a:r>
              <a:rPr kumimoji="0" lang="en-US" altLang="en-US" sz="2000" b="0" i="0" u="none" strike="noStrike" cap="none" normalizeH="0" baseline="0" dirty="0">
                <a:ln>
                  <a:noFill/>
                </a:ln>
                <a:solidFill>
                  <a:srgbClr val="000000"/>
                </a:solidFill>
                <a:effectLst/>
                <a:latin typeface="Consolas" panose="020B0609020204030204" pitchFamily="49" charset="0"/>
              </a:rPr>
              <a:t>;</a:t>
            </a:r>
            <a:endParaRPr kumimoji="0" lang="en-US" altLang="en-US" sz="3200" b="0" i="0" u="none" strike="noStrike" cap="none" normalizeH="0" baseline="0" dirty="0">
              <a:ln>
                <a:noFill/>
              </a:ln>
              <a:solidFill>
                <a:schemeClr val="tx1"/>
              </a:solidFill>
              <a:effectLst/>
              <a:latin typeface="Arial" panose="020B0604020202020204" pitchFamily="34" charset="0"/>
            </a:endParaRPr>
          </a:p>
        </p:txBody>
      </p:sp>
      <p:sp>
        <p:nvSpPr>
          <p:cNvPr id="4" name="Result 1">
            <a:extLst>
              <a:ext uri="{FF2B5EF4-FFF2-40B4-BE49-F238E27FC236}">
                <a16:creationId xmlns:a16="http://schemas.microsoft.com/office/drawing/2014/main" id="{7FEE9E88-6A1A-DF2B-6422-FF70A9624CC8}"/>
              </a:ext>
            </a:extLst>
          </p:cNvPr>
          <p:cNvSpPr>
            <a:spLocks noChangeArrowheads="1"/>
          </p:cNvSpPr>
          <p:nvPr/>
        </p:nvSpPr>
        <p:spPr bwMode="auto">
          <a:xfrm>
            <a:off x="1105274" y="1182231"/>
            <a:ext cx="4680381" cy="70788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2000" b="0" i="0" u="none" strike="noStrike" cap="none" normalizeH="0" baseline="0" dirty="0">
                <a:ln>
                  <a:noFill/>
                </a:ln>
                <a:effectLst/>
                <a:latin typeface="Calibri" panose="020F0502020204030204" pitchFamily="34" charset="0"/>
                <a:cs typeface="Calibri" panose="020F0502020204030204" pitchFamily="34" charset="0"/>
              </a:rPr>
              <a:t>Fit for purpose:  </a:t>
            </a:r>
          </a:p>
          <a:p>
            <a:pPr marL="0" marR="0" lvl="0" indent="0" algn="l" defTabSz="914400" rtl="0" eaLnBrk="0" fontAlgn="base" latinLnBrk="0" hangingPunct="0">
              <a:lnSpc>
                <a:spcPct val="100000"/>
              </a:lnSpc>
              <a:spcBef>
                <a:spcPct val="0"/>
              </a:spcBef>
              <a:spcAft>
                <a:spcPct val="0"/>
              </a:spcAft>
              <a:buClrTx/>
              <a:buSzTx/>
              <a:buFontTx/>
              <a:buNone/>
              <a:tabLst/>
            </a:pPr>
            <a:r>
              <a:rPr lang="en-US" altLang="en-US" sz="2000" dirty="0">
                <a:latin typeface="Calibri" panose="020F0502020204030204" pitchFamily="34" charset="0"/>
                <a:cs typeface="Calibri" panose="020F0502020204030204" pitchFamily="34" charset="0"/>
              </a:rPr>
              <a:t>Accuracy of output:  </a:t>
            </a:r>
          </a:p>
        </p:txBody>
      </p:sp>
    </p:spTree>
    <p:extLst>
      <p:ext uri="{BB962C8B-B14F-4D97-AF65-F5344CB8AC3E}">
        <p14:creationId xmlns:p14="http://schemas.microsoft.com/office/powerpoint/2010/main" val="201667809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15"/>
                                        </p:tgtEl>
                                        <p:attrNameLst>
                                          <p:attrName>style.visibility</p:attrName>
                                        </p:attrNameLst>
                                      </p:cBhvr>
                                      <p:to>
                                        <p:strVal val="visible"/>
                                      </p:to>
                                    </p:set>
                                    <p:animEffect transition="in" filter="wipe(left)">
                                      <p:cBhvr>
                                        <p:cTn id="7" dur="2500"/>
                                        <p:tgtEl>
                                          <p:spTgt spid="15"/>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16"/>
                                        </p:tgtEl>
                                        <p:attrNameLst>
                                          <p:attrName>style.visibility</p:attrName>
                                        </p:attrNameLst>
                                      </p:cBhvr>
                                      <p:to>
                                        <p:strVal val="visible"/>
                                      </p:to>
                                    </p:set>
                                    <p:animEffect transition="in" filter="wipe(left)">
                                      <p:cBhvr>
                                        <p:cTn id="12" dur="2500"/>
                                        <p:tgtEl>
                                          <p:spTgt spid="16"/>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17"/>
                                        </p:tgtEl>
                                        <p:attrNameLst>
                                          <p:attrName>style.visibility</p:attrName>
                                        </p:attrNameLst>
                                      </p:cBhvr>
                                      <p:to>
                                        <p:strVal val="visible"/>
                                      </p:to>
                                    </p:set>
                                    <p:animEffect transition="in" filter="wipe(left)">
                                      <p:cBhvr>
                                        <p:cTn id="17" dur="2500"/>
                                        <p:tgtEl>
                                          <p:spTgt spid="17"/>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18"/>
                                        </p:tgtEl>
                                        <p:attrNameLst>
                                          <p:attrName>style.visibility</p:attrName>
                                        </p:attrNameLst>
                                      </p:cBhvr>
                                      <p:to>
                                        <p:strVal val="visible"/>
                                      </p:to>
                                    </p:set>
                                    <p:animEffect transition="in" filter="wipe(left)">
                                      <p:cBhvr>
                                        <p:cTn id="22" dur="2500"/>
                                        <p:tgtEl>
                                          <p:spTgt spid="18"/>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4"/>
                                        </p:tgtEl>
                                        <p:attrNameLst>
                                          <p:attrName>style.visibility</p:attrName>
                                        </p:attrNameLst>
                                      </p:cBhvr>
                                      <p:to>
                                        <p:strVal val="visible"/>
                                      </p:to>
                                    </p:set>
                                    <p:animEffect transition="in" filter="wipe(left)">
                                      <p:cBhvr>
                                        <p:cTn id="27" dur="1500"/>
                                        <p:tgtEl>
                                          <p:spTgt spid="4"/>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7"/>
                                        </p:tgtEl>
                                        <p:attrNameLst>
                                          <p:attrName>style.visibility</p:attrName>
                                        </p:attrNameLst>
                                      </p:cBhvr>
                                      <p:to>
                                        <p:strVal val="visible"/>
                                      </p:to>
                                    </p:set>
                                    <p:animEffect transition="in" filter="wipe(left)">
                                      <p:cBhvr>
                                        <p:cTn id="32" dur="1500"/>
                                        <p:tgtEl>
                                          <p:spTgt spid="7"/>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5"/>
                                        </p:tgtEl>
                                        <p:attrNameLst>
                                          <p:attrName>style.visibility</p:attrName>
                                        </p:attrNameLst>
                                      </p:cBhvr>
                                      <p:to>
                                        <p:strVal val="visible"/>
                                      </p:to>
                                    </p:set>
                                    <p:animEffect transition="in" filter="wipe(left)">
                                      <p:cBhvr>
                                        <p:cTn id="37" dur="1500"/>
                                        <p:tgtEl>
                                          <p:spTgt spid="5"/>
                                        </p:tgtEl>
                                      </p:cBhvr>
                                    </p:animEffect>
                                  </p:childTnLst>
                                </p:cTn>
                              </p:par>
                            </p:childTnLst>
                          </p:cTn>
                        </p:par>
                      </p:childTnLst>
                    </p:cTn>
                  </p:par>
                  <p:par>
                    <p:cTn id="38" fill="hold">
                      <p:stCondLst>
                        <p:cond delay="indefinite"/>
                      </p:stCondLst>
                      <p:childTnLst>
                        <p:par>
                          <p:cTn id="39" fill="hold">
                            <p:stCondLst>
                              <p:cond delay="0"/>
                            </p:stCondLst>
                            <p:childTnLst>
                              <p:par>
                                <p:cTn id="40" presetID="22" presetClass="entr" presetSubtype="8" fill="hold" grpId="0" nodeType="clickEffect">
                                  <p:stCondLst>
                                    <p:cond delay="0"/>
                                  </p:stCondLst>
                                  <p:childTnLst>
                                    <p:set>
                                      <p:cBhvr>
                                        <p:cTn id="41" dur="1" fill="hold">
                                          <p:stCondLst>
                                            <p:cond delay="0"/>
                                          </p:stCondLst>
                                        </p:cTn>
                                        <p:tgtEl>
                                          <p:spTgt spid="6"/>
                                        </p:tgtEl>
                                        <p:attrNameLst>
                                          <p:attrName>style.visibility</p:attrName>
                                        </p:attrNameLst>
                                      </p:cBhvr>
                                      <p:to>
                                        <p:strVal val="visible"/>
                                      </p:to>
                                    </p:set>
                                    <p:animEffect transition="in" filter="wipe(left)">
                                      <p:cBhvr>
                                        <p:cTn id="42" dur="15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8" grpId="0"/>
      <p:bldP spid="6" grpId="0"/>
      <p:bldP spid="17" grpId="0"/>
      <p:bldP spid="5" grpId="0"/>
      <p:bldP spid="16" grpId="0"/>
      <p:bldP spid="7" grpId="0"/>
      <p:bldP spid="15" grpId="0"/>
      <p:bldP spid="4" grpId="0"/>
    </p:bldLst>
  </p:timing>
</p:sld>
</file>

<file path=ppt/slides/slide2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7337BFC-C672-44BB-816C-DE539758DCA3}"/>
              </a:ext>
            </a:extLst>
          </p:cNvPr>
          <p:cNvSpPr>
            <a:spLocks noGrp="1"/>
          </p:cNvSpPr>
          <p:nvPr>
            <p:ph type="title"/>
          </p:nvPr>
        </p:nvSpPr>
        <p:spPr/>
        <p:txBody>
          <a:bodyPr/>
          <a:lstStyle/>
          <a:p>
            <a:r>
              <a:rPr lang="en-GB" dirty="0"/>
              <a:t>Evaluation - Overview</a:t>
            </a:r>
          </a:p>
        </p:txBody>
      </p:sp>
      <p:graphicFrame>
        <p:nvGraphicFramePr>
          <p:cNvPr id="4" name="Content Placeholder 3">
            <a:extLst>
              <a:ext uri="{FF2B5EF4-FFF2-40B4-BE49-F238E27FC236}">
                <a16:creationId xmlns:a16="http://schemas.microsoft.com/office/drawing/2014/main" id="{7E36F3D9-1972-4168-9042-BB50C2E7C385}"/>
              </a:ext>
            </a:extLst>
          </p:cNvPr>
          <p:cNvGraphicFramePr>
            <a:graphicFrameLocks noGrp="1"/>
          </p:cNvGraphicFramePr>
          <p:nvPr>
            <p:ph idx="1"/>
            <p:extLst>
              <p:ext uri="{D42A27DB-BD31-4B8C-83A1-F6EECF244321}">
                <p14:modId xmlns:p14="http://schemas.microsoft.com/office/powerpoint/2010/main" val="1487835517"/>
              </p:ext>
            </p:extLst>
          </p:nvPr>
        </p:nvGraphicFramePr>
        <p:xfrm>
          <a:off x="838201" y="1825625"/>
          <a:ext cx="10512000" cy="4846320"/>
        </p:xfrm>
        <a:graphic>
          <a:graphicData uri="http://schemas.openxmlformats.org/drawingml/2006/table">
            <a:tbl>
              <a:tblPr firstRow="1" bandRow="1">
                <a:tableStyleId>{5C22544A-7EE6-4342-B048-85BDC9FD1C3A}</a:tableStyleId>
              </a:tblPr>
              <a:tblGrid>
                <a:gridCol w="1368000">
                  <a:extLst>
                    <a:ext uri="{9D8B030D-6E8A-4147-A177-3AD203B41FA5}">
                      <a16:colId xmlns:a16="http://schemas.microsoft.com/office/drawing/2014/main" val="2050263893"/>
                    </a:ext>
                  </a:extLst>
                </a:gridCol>
                <a:gridCol w="1584000">
                  <a:extLst>
                    <a:ext uri="{9D8B030D-6E8A-4147-A177-3AD203B41FA5}">
                      <a16:colId xmlns:a16="http://schemas.microsoft.com/office/drawing/2014/main" val="3315067239"/>
                    </a:ext>
                  </a:extLst>
                </a:gridCol>
                <a:gridCol w="1836000">
                  <a:extLst>
                    <a:ext uri="{9D8B030D-6E8A-4147-A177-3AD203B41FA5}">
                      <a16:colId xmlns:a16="http://schemas.microsoft.com/office/drawing/2014/main" val="1769506239"/>
                    </a:ext>
                  </a:extLst>
                </a:gridCol>
                <a:gridCol w="5724000">
                  <a:extLst>
                    <a:ext uri="{9D8B030D-6E8A-4147-A177-3AD203B41FA5}">
                      <a16:colId xmlns:a16="http://schemas.microsoft.com/office/drawing/2014/main" val="999377891"/>
                    </a:ext>
                  </a:extLst>
                </a:gridCol>
              </a:tblGrid>
              <a:tr h="370840">
                <a:tc>
                  <a:txBody>
                    <a:bodyPr/>
                    <a:lstStyle/>
                    <a:p>
                      <a:pPr algn="ctr"/>
                      <a:r>
                        <a:rPr lang="en-GB" sz="3200" b="1" kern="1200" dirty="0">
                          <a:solidFill>
                            <a:schemeClr val="lt1"/>
                          </a:solidFill>
                          <a:latin typeface="+mn-lt"/>
                          <a:ea typeface="+mn-ea"/>
                          <a:cs typeface="+mn-cs"/>
                        </a:rPr>
                        <a:t>Option</a:t>
                      </a:r>
                    </a:p>
                  </a:txBody>
                  <a:tcPr anchor="ctr">
                    <a:solidFill>
                      <a:schemeClr val="accent1"/>
                    </a:solidFill>
                  </a:tcPr>
                </a:tc>
                <a:tc>
                  <a:txBody>
                    <a:bodyPr/>
                    <a:lstStyle/>
                    <a:p>
                      <a:pPr algn="ctr"/>
                      <a:r>
                        <a:rPr lang="en-GB" sz="3200" dirty="0"/>
                        <a:t>Fit for Purpose</a:t>
                      </a:r>
                    </a:p>
                  </a:txBody>
                  <a:tcPr anchor="ctr"/>
                </a:tc>
                <a:tc>
                  <a:txBody>
                    <a:bodyPr/>
                    <a:lstStyle/>
                    <a:p>
                      <a:pPr algn="ctr"/>
                      <a:r>
                        <a:rPr lang="en-GB" sz="3200" dirty="0"/>
                        <a:t>Accuracy of Output</a:t>
                      </a:r>
                    </a:p>
                  </a:txBody>
                  <a:tcPr anchor="ctr"/>
                </a:tc>
                <a:tc>
                  <a:txBody>
                    <a:bodyPr/>
                    <a:lstStyle/>
                    <a:p>
                      <a:pPr algn="ctr"/>
                      <a:r>
                        <a:rPr lang="en-GB" sz="3200" dirty="0"/>
                        <a:t>Comment</a:t>
                      </a:r>
                    </a:p>
                  </a:txBody>
                  <a:tcPr anchor="ctr"/>
                </a:tc>
                <a:extLst>
                  <a:ext uri="{0D108BD9-81ED-4DB2-BD59-A6C34878D82A}">
                    <a16:rowId xmlns:a16="http://schemas.microsoft.com/office/drawing/2014/main" val="51545793"/>
                  </a:ext>
                </a:extLst>
              </a:tr>
              <a:tr h="370840">
                <a:tc>
                  <a:txBody>
                    <a:bodyPr/>
                    <a:lstStyle/>
                    <a:p>
                      <a:pPr algn="ctr"/>
                      <a:r>
                        <a:rPr lang="en-GB" sz="3200" dirty="0"/>
                        <a:t>1</a:t>
                      </a:r>
                    </a:p>
                  </a:txBody>
                  <a:tcPr anchor="ctr"/>
                </a:tc>
                <a:tc>
                  <a:txBody>
                    <a:bodyPr/>
                    <a:lstStyle/>
                    <a:p>
                      <a:pPr algn="ctr"/>
                      <a:r>
                        <a:rPr lang="en-GB" sz="3200" dirty="0"/>
                        <a:t>Yes</a:t>
                      </a:r>
                    </a:p>
                  </a:txBody>
                  <a:tcPr anchor="ctr"/>
                </a:tc>
                <a:tc>
                  <a:txBody>
                    <a:bodyPr/>
                    <a:lstStyle/>
                    <a:p>
                      <a:pPr algn="ctr"/>
                      <a:r>
                        <a:rPr lang="en-GB" sz="3200" dirty="0"/>
                        <a:t>Yes</a:t>
                      </a:r>
                    </a:p>
                  </a:txBody>
                  <a:tcPr anchor="ctr"/>
                </a:tc>
                <a:tc>
                  <a:txBody>
                    <a:bodyPr/>
                    <a:lstStyle/>
                    <a:p>
                      <a:pPr marL="457200" indent="-457200">
                        <a:buFont typeface="Arial" panose="020B0604020202020204" pitchFamily="34" charset="0"/>
                        <a:buChar char="•"/>
                      </a:pPr>
                      <a:r>
                        <a:rPr lang="en-GB" sz="3200" dirty="0"/>
                        <a:t>Predicted records and fields</a:t>
                      </a:r>
                    </a:p>
                  </a:txBody>
                  <a:tcPr anchor="ctr"/>
                </a:tc>
                <a:extLst>
                  <a:ext uri="{0D108BD9-81ED-4DB2-BD59-A6C34878D82A}">
                    <a16:rowId xmlns:a16="http://schemas.microsoft.com/office/drawing/2014/main" val="1203211181"/>
                  </a:ext>
                </a:extLst>
              </a:tr>
              <a:tr h="370840">
                <a:tc>
                  <a:txBody>
                    <a:bodyPr/>
                    <a:lstStyle/>
                    <a:p>
                      <a:pPr algn="ctr"/>
                      <a:r>
                        <a:rPr lang="en-GB" sz="3200" dirty="0"/>
                        <a:t>2</a:t>
                      </a:r>
                    </a:p>
                  </a:txBody>
                  <a:tcPr anchor="ctr"/>
                </a:tc>
                <a:tc>
                  <a:txBody>
                    <a:bodyPr/>
                    <a:lstStyle/>
                    <a:p>
                      <a:pPr algn="ctr"/>
                      <a:r>
                        <a:rPr lang="en-GB" sz="3200" dirty="0"/>
                        <a:t>No</a:t>
                      </a:r>
                    </a:p>
                  </a:txBody>
                  <a:tcPr anchor="ctr"/>
                </a:tc>
                <a:tc>
                  <a:txBody>
                    <a:bodyPr/>
                    <a:lstStyle/>
                    <a:p>
                      <a:pPr algn="ctr"/>
                      <a:r>
                        <a:rPr lang="en-GB" sz="3200" dirty="0"/>
                        <a:t>Yes</a:t>
                      </a:r>
                    </a:p>
                  </a:txBody>
                  <a:tcPr anchor="ctr"/>
                </a:tc>
                <a:tc>
                  <a:txBody>
                    <a:bodyPr/>
                    <a:lstStyle/>
                    <a:p>
                      <a:pPr marL="457200" indent="-457200">
                        <a:buFont typeface="Arial" panose="020B0604020202020204" pitchFamily="34" charset="0"/>
                        <a:buChar char="•"/>
                      </a:pPr>
                      <a:r>
                        <a:rPr lang="en-GB" sz="3200" dirty="0"/>
                        <a:t>Wrong criteria or sort</a:t>
                      </a:r>
                    </a:p>
                    <a:p>
                      <a:pPr marL="457200" indent="-457200">
                        <a:buFont typeface="Arial" panose="020B0604020202020204" pitchFamily="34" charset="0"/>
                        <a:buChar char="•"/>
                      </a:pPr>
                      <a:r>
                        <a:rPr lang="en-GB" sz="3200" dirty="0"/>
                        <a:t>Correct fields</a:t>
                      </a:r>
                    </a:p>
                  </a:txBody>
                  <a:tcPr anchor="ctr"/>
                </a:tc>
                <a:extLst>
                  <a:ext uri="{0D108BD9-81ED-4DB2-BD59-A6C34878D82A}">
                    <a16:rowId xmlns:a16="http://schemas.microsoft.com/office/drawing/2014/main" val="2063207591"/>
                  </a:ext>
                </a:extLst>
              </a:tr>
              <a:tr h="370840">
                <a:tc>
                  <a:txBody>
                    <a:bodyPr/>
                    <a:lstStyle/>
                    <a:p>
                      <a:pPr algn="ctr"/>
                      <a:r>
                        <a:rPr lang="en-GB" sz="3200" dirty="0"/>
                        <a:t>3</a:t>
                      </a:r>
                    </a:p>
                  </a:txBody>
                  <a:tcPr anchor="ctr"/>
                </a:tc>
                <a:tc>
                  <a:txBody>
                    <a:bodyPr/>
                    <a:lstStyle/>
                    <a:p>
                      <a:pPr algn="ctr"/>
                      <a:r>
                        <a:rPr lang="en-GB" sz="3200" dirty="0">
                          <a:solidFill>
                            <a:schemeClr val="tx1"/>
                          </a:solidFill>
                        </a:rPr>
                        <a:t>No</a:t>
                      </a:r>
                    </a:p>
                  </a:txBody>
                  <a:tcPr anchor="ctr"/>
                </a:tc>
                <a:tc>
                  <a:txBody>
                    <a:bodyPr/>
                    <a:lstStyle/>
                    <a:p>
                      <a:pPr algn="ctr"/>
                      <a:r>
                        <a:rPr lang="en-GB" sz="3200" dirty="0">
                          <a:solidFill>
                            <a:schemeClr val="tx1"/>
                          </a:solidFill>
                        </a:rPr>
                        <a:t>No</a:t>
                      </a:r>
                    </a:p>
                  </a:txBody>
                  <a:tcPr anchor="ctr"/>
                </a:tc>
                <a:tc>
                  <a:txBody>
                    <a:bodyPr/>
                    <a:lstStyle/>
                    <a:p>
                      <a:pPr marL="457200" marR="0" lvl="0" indent="-45720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GB" sz="3200" dirty="0"/>
                        <a:t>Wrong criteria or sort</a:t>
                      </a:r>
                    </a:p>
                    <a:p>
                      <a:pPr marL="457200" indent="-457200">
                        <a:buFont typeface="Arial" panose="020B0604020202020204" pitchFamily="34" charset="0"/>
                        <a:buChar char="•"/>
                      </a:pPr>
                      <a:r>
                        <a:rPr lang="en-GB" sz="3200" dirty="0"/>
                        <a:t>Missing or extra field(s)</a:t>
                      </a:r>
                    </a:p>
                  </a:txBody>
                  <a:tcPr anchor="ctr"/>
                </a:tc>
                <a:extLst>
                  <a:ext uri="{0D108BD9-81ED-4DB2-BD59-A6C34878D82A}">
                    <a16:rowId xmlns:a16="http://schemas.microsoft.com/office/drawing/2014/main" val="660886561"/>
                  </a:ext>
                </a:extLst>
              </a:tr>
              <a:tr h="310825">
                <a:tc>
                  <a:txBody>
                    <a:bodyPr/>
                    <a:lstStyle/>
                    <a:p>
                      <a:pPr algn="ctr"/>
                      <a:r>
                        <a:rPr lang="en-GB" sz="3200" dirty="0"/>
                        <a:t>4</a:t>
                      </a:r>
                    </a:p>
                  </a:txBody>
                  <a:tcPr anchor="ctr"/>
                </a:tc>
                <a:tc>
                  <a:txBody>
                    <a:bodyPr/>
                    <a:lstStyle/>
                    <a:p>
                      <a:pPr algn="ctr"/>
                      <a:r>
                        <a:rPr lang="en-GB" sz="3200" dirty="0"/>
                        <a:t>Yes</a:t>
                      </a:r>
                    </a:p>
                  </a:txBody>
                  <a:tcPr anchor="ctr"/>
                </a:tc>
                <a:tc>
                  <a:txBody>
                    <a:bodyPr/>
                    <a:lstStyle/>
                    <a:p>
                      <a:pPr algn="ctr"/>
                      <a:r>
                        <a:rPr lang="en-GB" sz="3200" dirty="0"/>
                        <a:t>No</a:t>
                      </a:r>
                    </a:p>
                  </a:txBody>
                  <a:tcPr anchor="ctr"/>
                </a:tc>
                <a:tc>
                  <a:txBody>
                    <a:bodyPr/>
                    <a:lstStyle/>
                    <a:p>
                      <a:pPr marL="457200" marR="0" lvl="0" indent="-45720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GB" sz="3200" dirty="0"/>
                        <a:t>Correct criteria, correct sort</a:t>
                      </a:r>
                    </a:p>
                    <a:p>
                      <a:pPr marL="457200" indent="-457200">
                        <a:buFont typeface="Arial" panose="020B0604020202020204" pitchFamily="34" charset="0"/>
                        <a:buChar char="•"/>
                      </a:pPr>
                      <a:r>
                        <a:rPr lang="en-GB" sz="3200" dirty="0"/>
                        <a:t>Missing or extra field(s)</a:t>
                      </a:r>
                    </a:p>
                  </a:txBody>
                  <a:tcPr anchor="ctr"/>
                </a:tc>
                <a:extLst>
                  <a:ext uri="{0D108BD9-81ED-4DB2-BD59-A6C34878D82A}">
                    <a16:rowId xmlns:a16="http://schemas.microsoft.com/office/drawing/2014/main" val="1307361227"/>
                  </a:ext>
                </a:extLst>
              </a:tr>
            </a:tbl>
          </a:graphicData>
        </a:graphic>
      </p:graphicFrame>
    </p:spTree>
    <p:extLst>
      <p:ext uri="{BB962C8B-B14F-4D97-AF65-F5344CB8AC3E}">
        <p14:creationId xmlns:p14="http://schemas.microsoft.com/office/powerpoint/2010/main" val="2176379997"/>
      </p:ext>
    </p:extLst>
  </p:cSld>
  <p:clrMapOvr>
    <a:masterClrMapping/>
  </p:clrMapOvr>
</p:sld>
</file>

<file path=ppt/slides/slide234.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7337BFC-C672-44BB-816C-DE539758DCA3}"/>
              </a:ext>
            </a:extLst>
          </p:cNvPr>
          <p:cNvSpPr>
            <a:spLocks noGrp="1"/>
          </p:cNvSpPr>
          <p:nvPr>
            <p:ph type="title"/>
          </p:nvPr>
        </p:nvSpPr>
        <p:spPr/>
        <p:txBody>
          <a:bodyPr/>
          <a:lstStyle/>
          <a:p>
            <a:r>
              <a:rPr lang="en-GB" dirty="0"/>
              <a:t>Evaluation - Overview</a:t>
            </a:r>
          </a:p>
        </p:txBody>
      </p:sp>
      <p:graphicFrame>
        <p:nvGraphicFramePr>
          <p:cNvPr id="4" name="Content Placeholder 3">
            <a:extLst>
              <a:ext uri="{FF2B5EF4-FFF2-40B4-BE49-F238E27FC236}">
                <a16:creationId xmlns:a16="http://schemas.microsoft.com/office/drawing/2014/main" id="{7E36F3D9-1972-4168-9042-BB50C2E7C385}"/>
              </a:ext>
            </a:extLst>
          </p:cNvPr>
          <p:cNvGraphicFramePr>
            <a:graphicFrameLocks noGrp="1"/>
          </p:cNvGraphicFramePr>
          <p:nvPr>
            <p:ph idx="1"/>
            <p:extLst>
              <p:ext uri="{D42A27DB-BD31-4B8C-83A1-F6EECF244321}">
                <p14:modId xmlns:p14="http://schemas.microsoft.com/office/powerpoint/2010/main" val="761531189"/>
              </p:ext>
            </p:extLst>
          </p:nvPr>
        </p:nvGraphicFramePr>
        <p:xfrm>
          <a:off x="838201" y="1825625"/>
          <a:ext cx="10512000" cy="4846320"/>
        </p:xfrm>
        <a:graphic>
          <a:graphicData uri="http://schemas.openxmlformats.org/drawingml/2006/table">
            <a:tbl>
              <a:tblPr firstRow="1" bandRow="1">
                <a:tableStyleId>{5C22544A-7EE6-4342-B048-85BDC9FD1C3A}</a:tableStyleId>
              </a:tblPr>
              <a:tblGrid>
                <a:gridCol w="1368000">
                  <a:extLst>
                    <a:ext uri="{9D8B030D-6E8A-4147-A177-3AD203B41FA5}">
                      <a16:colId xmlns:a16="http://schemas.microsoft.com/office/drawing/2014/main" val="2050263893"/>
                    </a:ext>
                  </a:extLst>
                </a:gridCol>
                <a:gridCol w="1584000">
                  <a:extLst>
                    <a:ext uri="{9D8B030D-6E8A-4147-A177-3AD203B41FA5}">
                      <a16:colId xmlns:a16="http://schemas.microsoft.com/office/drawing/2014/main" val="3315067239"/>
                    </a:ext>
                  </a:extLst>
                </a:gridCol>
                <a:gridCol w="1836000">
                  <a:extLst>
                    <a:ext uri="{9D8B030D-6E8A-4147-A177-3AD203B41FA5}">
                      <a16:colId xmlns:a16="http://schemas.microsoft.com/office/drawing/2014/main" val="1769506239"/>
                    </a:ext>
                  </a:extLst>
                </a:gridCol>
                <a:gridCol w="5724000">
                  <a:extLst>
                    <a:ext uri="{9D8B030D-6E8A-4147-A177-3AD203B41FA5}">
                      <a16:colId xmlns:a16="http://schemas.microsoft.com/office/drawing/2014/main" val="999377891"/>
                    </a:ext>
                  </a:extLst>
                </a:gridCol>
              </a:tblGrid>
              <a:tr h="370840">
                <a:tc>
                  <a:txBody>
                    <a:bodyPr/>
                    <a:lstStyle/>
                    <a:p>
                      <a:pPr algn="ctr"/>
                      <a:r>
                        <a:rPr lang="en-GB" sz="3200" b="1" kern="1200" dirty="0">
                          <a:solidFill>
                            <a:schemeClr val="lt1"/>
                          </a:solidFill>
                          <a:latin typeface="+mn-lt"/>
                          <a:ea typeface="+mn-ea"/>
                          <a:cs typeface="+mn-cs"/>
                        </a:rPr>
                        <a:t>Option</a:t>
                      </a:r>
                    </a:p>
                  </a:txBody>
                  <a:tcPr anchor="ctr">
                    <a:solidFill>
                      <a:schemeClr val="accent1"/>
                    </a:solidFill>
                  </a:tcPr>
                </a:tc>
                <a:tc>
                  <a:txBody>
                    <a:bodyPr/>
                    <a:lstStyle/>
                    <a:p>
                      <a:pPr algn="ctr"/>
                      <a:r>
                        <a:rPr lang="en-GB" sz="3200" dirty="0"/>
                        <a:t>Fit for Purpose</a:t>
                      </a:r>
                    </a:p>
                  </a:txBody>
                  <a:tcPr anchor="ctr"/>
                </a:tc>
                <a:tc>
                  <a:txBody>
                    <a:bodyPr/>
                    <a:lstStyle/>
                    <a:p>
                      <a:pPr algn="ctr"/>
                      <a:r>
                        <a:rPr lang="en-GB" sz="3200" dirty="0"/>
                        <a:t>Accuracy of Output</a:t>
                      </a:r>
                    </a:p>
                  </a:txBody>
                  <a:tcPr anchor="ctr"/>
                </a:tc>
                <a:tc>
                  <a:txBody>
                    <a:bodyPr/>
                    <a:lstStyle/>
                    <a:p>
                      <a:pPr algn="ctr"/>
                      <a:r>
                        <a:rPr lang="en-GB" sz="3200" dirty="0"/>
                        <a:t>Comment</a:t>
                      </a:r>
                    </a:p>
                  </a:txBody>
                  <a:tcPr anchor="ctr"/>
                </a:tc>
                <a:extLst>
                  <a:ext uri="{0D108BD9-81ED-4DB2-BD59-A6C34878D82A}">
                    <a16:rowId xmlns:a16="http://schemas.microsoft.com/office/drawing/2014/main" val="51545793"/>
                  </a:ext>
                </a:extLst>
              </a:tr>
              <a:tr h="370840">
                <a:tc>
                  <a:txBody>
                    <a:bodyPr/>
                    <a:lstStyle/>
                    <a:p>
                      <a:pPr algn="ctr"/>
                      <a:r>
                        <a:rPr lang="en-GB" sz="3200" dirty="0"/>
                        <a:t>1</a:t>
                      </a:r>
                    </a:p>
                  </a:txBody>
                  <a:tcPr anchor="ctr"/>
                </a:tc>
                <a:tc>
                  <a:txBody>
                    <a:bodyPr/>
                    <a:lstStyle/>
                    <a:p>
                      <a:pPr algn="ctr"/>
                      <a:r>
                        <a:rPr lang="en-GB" sz="3200" dirty="0"/>
                        <a:t>Yes</a:t>
                      </a:r>
                    </a:p>
                  </a:txBody>
                  <a:tcPr anchor="ctr"/>
                </a:tc>
                <a:tc>
                  <a:txBody>
                    <a:bodyPr/>
                    <a:lstStyle/>
                    <a:p>
                      <a:pPr algn="ctr"/>
                      <a:r>
                        <a:rPr lang="en-GB" sz="3200" dirty="0"/>
                        <a:t>Yes</a:t>
                      </a:r>
                    </a:p>
                  </a:txBody>
                  <a:tcPr anchor="ctr"/>
                </a:tc>
                <a:tc>
                  <a:txBody>
                    <a:bodyPr/>
                    <a:lstStyle/>
                    <a:p>
                      <a:pPr marL="457200" indent="-457200">
                        <a:buFont typeface="Arial" panose="020B0604020202020204" pitchFamily="34" charset="0"/>
                        <a:buChar char="•"/>
                      </a:pPr>
                      <a:r>
                        <a:rPr lang="en-GB" sz="3200" dirty="0"/>
                        <a:t> </a:t>
                      </a:r>
                    </a:p>
                  </a:txBody>
                  <a:tcPr anchor="ctr"/>
                </a:tc>
                <a:extLst>
                  <a:ext uri="{0D108BD9-81ED-4DB2-BD59-A6C34878D82A}">
                    <a16:rowId xmlns:a16="http://schemas.microsoft.com/office/drawing/2014/main" val="1203211181"/>
                  </a:ext>
                </a:extLst>
              </a:tr>
              <a:tr h="370840">
                <a:tc>
                  <a:txBody>
                    <a:bodyPr/>
                    <a:lstStyle/>
                    <a:p>
                      <a:pPr algn="ctr"/>
                      <a:r>
                        <a:rPr lang="en-GB" sz="3200" dirty="0"/>
                        <a:t>2</a:t>
                      </a:r>
                    </a:p>
                  </a:txBody>
                  <a:tcPr anchor="ctr"/>
                </a:tc>
                <a:tc>
                  <a:txBody>
                    <a:bodyPr/>
                    <a:lstStyle/>
                    <a:p>
                      <a:pPr algn="ctr"/>
                      <a:r>
                        <a:rPr lang="en-GB" sz="3200" dirty="0"/>
                        <a:t>No</a:t>
                      </a:r>
                    </a:p>
                  </a:txBody>
                  <a:tcPr anchor="ctr"/>
                </a:tc>
                <a:tc>
                  <a:txBody>
                    <a:bodyPr/>
                    <a:lstStyle/>
                    <a:p>
                      <a:pPr algn="ctr"/>
                      <a:r>
                        <a:rPr lang="en-GB" sz="3200" dirty="0"/>
                        <a:t>Yes</a:t>
                      </a:r>
                    </a:p>
                  </a:txBody>
                  <a:tcPr anchor="ctr"/>
                </a:tc>
                <a:tc>
                  <a:txBody>
                    <a:bodyPr/>
                    <a:lstStyle/>
                    <a:p>
                      <a:pPr marL="457200" indent="-457200">
                        <a:buFont typeface="Arial" panose="020B0604020202020204" pitchFamily="34" charset="0"/>
                        <a:buChar char="•"/>
                      </a:pPr>
                      <a:r>
                        <a:rPr lang="en-GB" sz="3200" dirty="0"/>
                        <a:t> </a:t>
                      </a:r>
                    </a:p>
                    <a:p>
                      <a:pPr marL="457200" indent="-457200">
                        <a:buFont typeface="Arial" panose="020B0604020202020204" pitchFamily="34" charset="0"/>
                        <a:buChar char="•"/>
                      </a:pPr>
                      <a:r>
                        <a:rPr lang="en-GB" sz="3200" dirty="0"/>
                        <a:t> </a:t>
                      </a:r>
                    </a:p>
                  </a:txBody>
                  <a:tcPr anchor="ctr"/>
                </a:tc>
                <a:extLst>
                  <a:ext uri="{0D108BD9-81ED-4DB2-BD59-A6C34878D82A}">
                    <a16:rowId xmlns:a16="http://schemas.microsoft.com/office/drawing/2014/main" val="2063207591"/>
                  </a:ext>
                </a:extLst>
              </a:tr>
              <a:tr h="370840">
                <a:tc>
                  <a:txBody>
                    <a:bodyPr/>
                    <a:lstStyle/>
                    <a:p>
                      <a:pPr algn="ctr"/>
                      <a:r>
                        <a:rPr lang="en-GB" sz="3200" dirty="0"/>
                        <a:t>3</a:t>
                      </a:r>
                    </a:p>
                  </a:txBody>
                  <a:tcPr anchor="ctr"/>
                </a:tc>
                <a:tc>
                  <a:txBody>
                    <a:bodyPr/>
                    <a:lstStyle/>
                    <a:p>
                      <a:pPr algn="ctr"/>
                      <a:r>
                        <a:rPr lang="en-GB" sz="3200" dirty="0">
                          <a:solidFill>
                            <a:schemeClr val="tx1"/>
                          </a:solidFill>
                        </a:rPr>
                        <a:t>No</a:t>
                      </a:r>
                    </a:p>
                  </a:txBody>
                  <a:tcPr anchor="ctr"/>
                </a:tc>
                <a:tc>
                  <a:txBody>
                    <a:bodyPr/>
                    <a:lstStyle/>
                    <a:p>
                      <a:pPr algn="ctr"/>
                      <a:r>
                        <a:rPr lang="en-GB" sz="3200" dirty="0">
                          <a:solidFill>
                            <a:schemeClr val="tx1"/>
                          </a:solidFill>
                        </a:rPr>
                        <a:t>No</a:t>
                      </a:r>
                    </a:p>
                  </a:txBody>
                  <a:tcPr anchor="ctr"/>
                </a:tc>
                <a:tc>
                  <a:txBody>
                    <a:bodyPr/>
                    <a:lstStyle/>
                    <a:p>
                      <a:pPr marL="457200" indent="-457200">
                        <a:buFont typeface="Arial" panose="020B0604020202020204" pitchFamily="34" charset="0"/>
                        <a:buChar char="•"/>
                      </a:pPr>
                      <a:r>
                        <a:rPr lang="en-GB" sz="3200" dirty="0"/>
                        <a:t> </a:t>
                      </a:r>
                    </a:p>
                    <a:p>
                      <a:pPr marL="457200" indent="-457200">
                        <a:buFont typeface="Arial" panose="020B0604020202020204" pitchFamily="34" charset="0"/>
                        <a:buChar char="•"/>
                      </a:pPr>
                      <a:r>
                        <a:rPr lang="en-GB" sz="3200" dirty="0"/>
                        <a:t> </a:t>
                      </a:r>
                    </a:p>
                  </a:txBody>
                  <a:tcPr anchor="ctr"/>
                </a:tc>
                <a:extLst>
                  <a:ext uri="{0D108BD9-81ED-4DB2-BD59-A6C34878D82A}">
                    <a16:rowId xmlns:a16="http://schemas.microsoft.com/office/drawing/2014/main" val="660886561"/>
                  </a:ext>
                </a:extLst>
              </a:tr>
              <a:tr h="310825">
                <a:tc>
                  <a:txBody>
                    <a:bodyPr/>
                    <a:lstStyle/>
                    <a:p>
                      <a:pPr algn="ctr"/>
                      <a:r>
                        <a:rPr lang="en-GB" sz="3200" dirty="0"/>
                        <a:t>4</a:t>
                      </a:r>
                    </a:p>
                  </a:txBody>
                  <a:tcPr anchor="ctr"/>
                </a:tc>
                <a:tc>
                  <a:txBody>
                    <a:bodyPr/>
                    <a:lstStyle/>
                    <a:p>
                      <a:pPr algn="ctr"/>
                      <a:r>
                        <a:rPr lang="en-GB" sz="3200" dirty="0"/>
                        <a:t>Yes</a:t>
                      </a:r>
                    </a:p>
                  </a:txBody>
                  <a:tcPr anchor="ctr"/>
                </a:tc>
                <a:tc>
                  <a:txBody>
                    <a:bodyPr/>
                    <a:lstStyle/>
                    <a:p>
                      <a:pPr algn="ctr"/>
                      <a:r>
                        <a:rPr lang="en-GB" sz="3200" dirty="0"/>
                        <a:t>No</a:t>
                      </a:r>
                    </a:p>
                  </a:txBody>
                  <a:tcPr anchor="ctr"/>
                </a:tc>
                <a:tc>
                  <a:txBody>
                    <a:bodyPr/>
                    <a:lstStyle/>
                    <a:p>
                      <a:pPr marL="457200" marR="0" lvl="0" indent="-45720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GB" sz="3200" dirty="0"/>
                        <a:t> </a:t>
                      </a:r>
                    </a:p>
                    <a:p>
                      <a:pPr marL="457200" marR="0" lvl="0" indent="-45720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GB" sz="3200" dirty="0"/>
                        <a:t> </a:t>
                      </a:r>
                    </a:p>
                  </a:txBody>
                  <a:tcPr anchor="ctr"/>
                </a:tc>
                <a:extLst>
                  <a:ext uri="{0D108BD9-81ED-4DB2-BD59-A6C34878D82A}">
                    <a16:rowId xmlns:a16="http://schemas.microsoft.com/office/drawing/2014/main" val="1307361227"/>
                  </a:ext>
                </a:extLst>
              </a:tr>
            </a:tbl>
          </a:graphicData>
        </a:graphic>
      </p:graphicFrame>
    </p:spTree>
    <p:extLst>
      <p:ext uri="{BB962C8B-B14F-4D97-AF65-F5344CB8AC3E}">
        <p14:creationId xmlns:p14="http://schemas.microsoft.com/office/powerpoint/2010/main" val="484106035"/>
      </p:ext>
    </p:extLst>
  </p:cSld>
  <p:clrMapOvr>
    <a:masterClrMapping/>
  </p:clrMapOvr>
</p:sld>
</file>

<file path=ppt/slides/slide2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30F5C75-4440-45EA-B288-B1C336048C5E}"/>
              </a:ext>
            </a:extLst>
          </p:cNvPr>
          <p:cNvSpPr>
            <a:spLocks noGrp="1"/>
          </p:cNvSpPr>
          <p:nvPr>
            <p:ph type="title"/>
          </p:nvPr>
        </p:nvSpPr>
        <p:spPr/>
        <p:txBody>
          <a:bodyPr/>
          <a:lstStyle/>
          <a:p>
            <a:r>
              <a:rPr lang="en-GB" dirty="0"/>
              <a:t>Fit for Purpose</a:t>
            </a:r>
          </a:p>
        </p:txBody>
      </p:sp>
      <p:sp>
        <p:nvSpPr>
          <p:cNvPr id="3" name="Content Placeholder 2">
            <a:extLst>
              <a:ext uri="{FF2B5EF4-FFF2-40B4-BE49-F238E27FC236}">
                <a16:creationId xmlns:a16="http://schemas.microsoft.com/office/drawing/2014/main" id="{06B8E349-DC6D-4A5B-8DA3-98695E00841D}"/>
              </a:ext>
            </a:extLst>
          </p:cNvPr>
          <p:cNvSpPr>
            <a:spLocks noGrp="1"/>
          </p:cNvSpPr>
          <p:nvPr>
            <p:ph idx="1"/>
          </p:nvPr>
        </p:nvSpPr>
        <p:spPr/>
        <p:txBody>
          <a:bodyPr>
            <a:normAutofit/>
          </a:bodyPr>
          <a:lstStyle/>
          <a:p>
            <a:pPr marL="0" indent="0">
              <a:spcAft>
                <a:spcPts val="1800"/>
              </a:spcAft>
              <a:buNone/>
            </a:pPr>
            <a:r>
              <a:rPr lang="en-GB" sz="3200" dirty="0"/>
              <a:t>"The query </a:t>
            </a:r>
            <a:r>
              <a:rPr lang="en-GB" sz="3200" dirty="0">
                <a:solidFill>
                  <a:srgbClr val="FF0000"/>
                </a:solidFill>
              </a:rPr>
              <a:t>is </a:t>
            </a:r>
            <a:r>
              <a:rPr lang="en-GB" sz="3200" dirty="0">
                <a:solidFill>
                  <a:srgbClr val="7030A0"/>
                </a:solidFill>
              </a:rPr>
              <a:t>/</a:t>
            </a:r>
            <a:r>
              <a:rPr lang="en-GB" sz="3200" dirty="0">
                <a:solidFill>
                  <a:srgbClr val="FF0000"/>
                </a:solidFill>
              </a:rPr>
              <a:t> is not </a:t>
            </a:r>
            <a:r>
              <a:rPr lang="en-GB" sz="3200" dirty="0"/>
              <a:t>fit for purpose because … "</a:t>
            </a:r>
          </a:p>
          <a:p>
            <a:pPr lvl="1">
              <a:spcAft>
                <a:spcPts val="1800"/>
              </a:spcAft>
            </a:pPr>
            <a:r>
              <a:rPr lang="en-GB" sz="3200" dirty="0"/>
              <a:t>State what is </a:t>
            </a:r>
            <a:r>
              <a:rPr lang="en-GB" sz="3200" dirty="0">
                <a:solidFill>
                  <a:srgbClr val="FF0000"/>
                </a:solidFill>
              </a:rPr>
              <a:t>correct</a:t>
            </a:r>
            <a:r>
              <a:rPr lang="en-GB" sz="3200" dirty="0"/>
              <a:t> / </a:t>
            </a:r>
            <a:r>
              <a:rPr lang="en-GB" sz="3200" dirty="0">
                <a:solidFill>
                  <a:srgbClr val="FF0000"/>
                </a:solidFill>
              </a:rPr>
              <a:t>incorrect</a:t>
            </a:r>
          </a:p>
          <a:p>
            <a:pPr lvl="1">
              <a:spcAft>
                <a:spcPts val="1800"/>
              </a:spcAft>
            </a:pPr>
            <a:r>
              <a:rPr lang="en-GB" sz="3200" dirty="0"/>
              <a:t>State search criteria that </a:t>
            </a:r>
            <a:r>
              <a:rPr lang="en-GB" sz="3200" dirty="0">
                <a:solidFill>
                  <a:srgbClr val="FF0000"/>
                </a:solidFill>
              </a:rPr>
              <a:t>is </a:t>
            </a:r>
            <a:r>
              <a:rPr lang="en-GB" sz="3200" dirty="0">
                <a:solidFill>
                  <a:srgbClr val="7030A0"/>
                </a:solidFill>
              </a:rPr>
              <a:t>/</a:t>
            </a:r>
            <a:r>
              <a:rPr lang="en-GB" sz="3200" dirty="0">
                <a:solidFill>
                  <a:srgbClr val="FF0000"/>
                </a:solidFill>
              </a:rPr>
              <a:t> is not </a:t>
            </a:r>
            <a:r>
              <a:rPr lang="en-GB" sz="3200" dirty="0"/>
              <a:t>met</a:t>
            </a:r>
          </a:p>
          <a:p>
            <a:pPr lvl="1">
              <a:spcAft>
                <a:spcPts val="1800"/>
              </a:spcAft>
            </a:pPr>
            <a:r>
              <a:rPr lang="en-GB" sz="3200" dirty="0"/>
              <a:t>State sort order that </a:t>
            </a:r>
            <a:r>
              <a:rPr lang="en-GB" sz="3200" dirty="0">
                <a:solidFill>
                  <a:srgbClr val="FF0000"/>
                </a:solidFill>
              </a:rPr>
              <a:t>is </a:t>
            </a:r>
            <a:r>
              <a:rPr lang="en-GB" sz="3200" dirty="0">
                <a:solidFill>
                  <a:srgbClr val="7030A0"/>
                </a:solidFill>
              </a:rPr>
              <a:t>/</a:t>
            </a:r>
            <a:r>
              <a:rPr lang="en-GB" sz="3200" dirty="0">
                <a:solidFill>
                  <a:srgbClr val="FF0000"/>
                </a:solidFill>
              </a:rPr>
              <a:t> is not </a:t>
            </a:r>
            <a:r>
              <a:rPr lang="en-GB" sz="3200" dirty="0"/>
              <a:t>met </a:t>
            </a:r>
          </a:p>
          <a:p>
            <a:pPr marL="0" indent="0">
              <a:buNone/>
            </a:pPr>
            <a:endParaRPr lang="en-GB" sz="3200" dirty="0"/>
          </a:p>
        </p:txBody>
      </p:sp>
    </p:spTree>
    <p:extLst>
      <p:ext uri="{BB962C8B-B14F-4D97-AF65-F5344CB8AC3E}">
        <p14:creationId xmlns:p14="http://schemas.microsoft.com/office/powerpoint/2010/main" val="261094024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20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20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20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3">
                                            <p:txEl>
                                              <p:pRg st="3" end="3"/>
                                            </p:txEl>
                                          </p:spTgt>
                                        </p:tgtEl>
                                        <p:attrNameLst>
                                          <p:attrName>style.visibility</p:attrName>
                                        </p:attrNameLst>
                                      </p:cBhvr>
                                      <p:to>
                                        <p:strVal val="visible"/>
                                      </p:to>
                                    </p:set>
                                    <p:animEffect transition="in" filter="wipe(left)">
                                      <p:cBhvr>
                                        <p:cTn id="22" dur="2000"/>
                                        <p:tgtEl>
                                          <p:spTgt spid="3">
                                            <p:txEl>
                                              <p:pRg st="3" end="3"/>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236.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30F5C75-4440-45EA-B288-B1C336048C5E}"/>
              </a:ext>
            </a:extLst>
          </p:cNvPr>
          <p:cNvSpPr>
            <a:spLocks noGrp="1"/>
          </p:cNvSpPr>
          <p:nvPr>
            <p:ph type="title"/>
          </p:nvPr>
        </p:nvSpPr>
        <p:spPr/>
        <p:txBody>
          <a:bodyPr/>
          <a:lstStyle/>
          <a:p>
            <a:r>
              <a:rPr lang="en-GB" dirty="0"/>
              <a:t>Fit for Purpose</a:t>
            </a:r>
          </a:p>
        </p:txBody>
      </p:sp>
      <p:sp>
        <p:nvSpPr>
          <p:cNvPr id="3" name="Content Placeholder 2">
            <a:extLst>
              <a:ext uri="{FF2B5EF4-FFF2-40B4-BE49-F238E27FC236}">
                <a16:creationId xmlns:a16="http://schemas.microsoft.com/office/drawing/2014/main" id="{06B8E349-DC6D-4A5B-8DA3-98695E00841D}"/>
              </a:ext>
            </a:extLst>
          </p:cNvPr>
          <p:cNvSpPr>
            <a:spLocks noGrp="1"/>
          </p:cNvSpPr>
          <p:nvPr>
            <p:ph idx="1"/>
          </p:nvPr>
        </p:nvSpPr>
        <p:spPr/>
        <p:txBody>
          <a:bodyPr>
            <a:normAutofit/>
          </a:bodyPr>
          <a:lstStyle/>
          <a:p>
            <a:pPr marL="0" indent="0">
              <a:spcAft>
                <a:spcPts val="1800"/>
              </a:spcAft>
              <a:buNone/>
            </a:pPr>
            <a:r>
              <a:rPr lang="en-GB" sz="3200" dirty="0"/>
              <a:t>"The query </a:t>
            </a:r>
            <a:r>
              <a:rPr lang="en-GB" sz="3200" dirty="0">
                <a:solidFill>
                  <a:srgbClr val="FF0000"/>
                </a:solidFill>
              </a:rPr>
              <a:t>is </a:t>
            </a:r>
            <a:r>
              <a:rPr lang="en-GB" sz="3200" dirty="0">
                <a:solidFill>
                  <a:srgbClr val="7030A0"/>
                </a:solidFill>
              </a:rPr>
              <a:t>/</a:t>
            </a:r>
            <a:r>
              <a:rPr lang="en-GB" sz="3200" dirty="0">
                <a:solidFill>
                  <a:srgbClr val="FF0000"/>
                </a:solidFill>
              </a:rPr>
              <a:t> is not </a:t>
            </a:r>
            <a:r>
              <a:rPr lang="en-GB" sz="3200" dirty="0"/>
              <a:t>fit for purpose because … "</a:t>
            </a:r>
          </a:p>
          <a:p>
            <a:pPr lvl="1">
              <a:spcAft>
                <a:spcPts val="1800"/>
              </a:spcAft>
            </a:pPr>
            <a:r>
              <a:rPr lang="en-GB" sz="3200" dirty="0"/>
              <a:t> </a:t>
            </a:r>
          </a:p>
          <a:p>
            <a:pPr lvl="1">
              <a:spcAft>
                <a:spcPts val="1800"/>
              </a:spcAft>
            </a:pPr>
            <a:r>
              <a:rPr lang="en-GB" sz="3200" dirty="0"/>
              <a:t> </a:t>
            </a:r>
          </a:p>
          <a:p>
            <a:pPr lvl="1">
              <a:spcAft>
                <a:spcPts val="1800"/>
              </a:spcAft>
            </a:pPr>
            <a:r>
              <a:rPr lang="en-GB" sz="3200" dirty="0"/>
              <a:t> </a:t>
            </a:r>
          </a:p>
          <a:p>
            <a:pPr marL="0" indent="0">
              <a:buNone/>
            </a:pPr>
            <a:endParaRPr lang="en-GB" sz="3200" dirty="0"/>
          </a:p>
        </p:txBody>
      </p:sp>
    </p:spTree>
    <p:extLst>
      <p:ext uri="{BB962C8B-B14F-4D97-AF65-F5344CB8AC3E}">
        <p14:creationId xmlns:p14="http://schemas.microsoft.com/office/powerpoint/2010/main" val="4067987028"/>
      </p:ext>
    </p:extLst>
  </p:cSld>
  <p:clrMapOvr>
    <a:masterClrMapping/>
  </p:clrMapOvr>
</p:sld>
</file>

<file path=ppt/slides/slide2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30F5C75-4440-45EA-B288-B1C336048C5E}"/>
              </a:ext>
            </a:extLst>
          </p:cNvPr>
          <p:cNvSpPr>
            <a:spLocks noGrp="1"/>
          </p:cNvSpPr>
          <p:nvPr>
            <p:ph type="title"/>
          </p:nvPr>
        </p:nvSpPr>
        <p:spPr/>
        <p:txBody>
          <a:bodyPr/>
          <a:lstStyle/>
          <a:p>
            <a:r>
              <a:rPr lang="en-GB" dirty="0"/>
              <a:t>Accuracy of Output</a:t>
            </a:r>
          </a:p>
        </p:txBody>
      </p:sp>
      <p:sp>
        <p:nvSpPr>
          <p:cNvPr id="3" name="Content Placeholder 2">
            <a:extLst>
              <a:ext uri="{FF2B5EF4-FFF2-40B4-BE49-F238E27FC236}">
                <a16:creationId xmlns:a16="http://schemas.microsoft.com/office/drawing/2014/main" id="{06B8E349-DC6D-4A5B-8DA3-98695E00841D}"/>
              </a:ext>
            </a:extLst>
          </p:cNvPr>
          <p:cNvSpPr>
            <a:spLocks noGrp="1"/>
          </p:cNvSpPr>
          <p:nvPr>
            <p:ph idx="1"/>
          </p:nvPr>
        </p:nvSpPr>
        <p:spPr/>
        <p:txBody>
          <a:bodyPr>
            <a:normAutofit/>
          </a:bodyPr>
          <a:lstStyle/>
          <a:p>
            <a:pPr marL="0" indent="0">
              <a:spcAft>
                <a:spcPts val="1800"/>
              </a:spcAft>
              <a:buNone/>
            </a:pPr>
            <a:r>
              <a:rPr lang="en-GB" sz="3200" dirty="0"/>
              <a:t>"The output of the query </a:t>
            </a:r>
            <a:r>
              <a:rPr lang="en-GB" sz="3200" dirty="0">
                <a:solidFill>
                  <a:srgbClr val="FF0000"/>
                </a:solidFill>
              </a:rPr>
              <a:t>is </a:t>
            </a:r>
            <a:r>
              <a:rPr lang="en-GB" sz="3200" dirty="0">
                <a:solidFill>
                  <a:srgbClr val="7030A0"/>
                </a:solidFill>
              </a:rPr>
              <a:t>/</a:t>
            </a:r>
            <a:r>
              <a:rPr lang="en-GB" sz="3200" dirty="0">
                <a:solidFill>
                  <a:srgbClr val="FF0000"/>
                </a:solidFill>
              </a:rPr>
              <a:t> is not </a:t>
            </a:r>
            <a:r>
              <a:rPr lang="en-GB" sz="3200" dirty="0"/>
              <a:t>accurate because … "</a:t>
            </a:r>
          </a:p>
          <a:p>
            <a:pPr lvl="1">
              <a:spcAft>
                <a:spcPts val="1800"/>
              </a:spcAft>
            </a:pPr>
            <a:r>
              <a:rPr lang="en-GB" sz="3200" dirty="0"/>
              <a:t>State what is </a:t>
            </a:r>
            <a:r>
              <a:rPr lang="en-GB" sz="3200" dirty="0">
                <a:solidFill>
                  <a:srgbClr val="FF0000"/>
                </a:solidFill>
              </a:rPr>
              <a:t>correct</a:t>
            </a:r>
            <a:r>
              <a:rPr lang="en-GB" sz="3200" dirty="0"/>
              <a:t> / </a:t>
            </a:r>
            <a:r>
              <a:rPr lang="en-GB" sz="3200" dirty="0">
                <a:solidFill>
                  <a:srgbClr val="FF0000"/>
                </a:solidFill>
              </a:rPr>
              <a:t>incorrect</a:t>
            </a:r>
          </a:p>
          <a:p>
            <a:pPr lvl="1">
              <a:spcAft>
                <a:spcPts val="1800"/>
              </a:spcAft>
            </a:pPr>
            <a:r>
              <a:rPr lang="en-GB" sz="3200" dirty="0"/>
              <a:t>State the required fields that </a:t>
            </a:r>
            <a:r>
              <a:rPr lang="en-GB" sz="3200" dirty="0">
                <a:solidFill>
                  <a:srgbClr val="FF0000"/>
                </a:solidFill>
              </a:rPr>
              <a:t>are </a:t>
            </a:r>
            <a:r>
              <a:rPr lang="en-GB" sz="3200" dirty="0">
                <a:solidFill>
                  <a:srgbClr val="7030A0"/>
                </a:solidFill>
              </a:rPr>
              <a:t>/</a:t>
            </a:r>
            <a:r>
              <a:rPr lang="en-GB" sz="3200" dirty="0">
                <a:solidFill>
                  <a:srgbClr val="FF0000"/>
                </a:solidFill>
              </a:rPr>
              <a:t> are not</a:t>
            </a:r>
            <a:r>
              <a:rPr lang="en-GB" sz="3200" dirty="0"/>
              <a:t> displayed</a:t>
            </a:r>
          </a:p>
          <a:p>
            <a:pPr lvl="1">
              <a:spcAft>
                <a:spcPts val="1800"/>
              </a:spcAft>
            </a:pPr>
            <a:r>
              <a:rPr lang="en-GB" sz="3200" dirty="0"/>
              <a:t>State any extra fields that are displayed</a:t>
            </a:r>
          </a:p>
          <a:p>
            <a:pPr marL="0" indent="0">
              <a:buNone/>
            </a:pPr>
            <a:endParaRPr lang="en-GB" sz="3200" dirty="0"/>
          </a:p>
          <a:p>
            <a:pPr marL="0" indent="0">
              <a:buNone/>
            </a:pPr>
            <a:endParaRPr lang="en-GB" sz="3200" dirty="0"/>
          </a:p>
        </p:txBody>
      </p:sp>
    </p:spTree>
    <p:extLst>
      <p:ext uri="{BB962C8B-B14F-4D97-AF65-F5344CB8AC3E}">
        <p14:creationId xmlns:p14="http://schemas.microsoft.com/office/powerpoint/2010/main" val="117532070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20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20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20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3">
                                            <p:txEl>
                                              <p:pRg st="3" end="3"/>
                                            </p:txEl>
                                          </p:spTgt>
                                        </p:tgtEl>
                                        <p:attrNameLst>
                                          <p:attrName>style.visibility</p:attrName>
                                        </p:attrNameLst>
                                      </p:cBhvr>
                                      <p:to>
                                        <p:strVal val="visible"/>
                                      </p:to>
                                    </p:set>
                                    <p:animEffect transition="in" filter="wipe(left)">
                                      <p:cBhvr>
                                        <p:cTn id="22" dur="2000"/>
                                        <p:tgtEl>
                                          <p:spTgt spid="3">
                                            <p:txEl>
                                              <p:pRg st="3" end="3"/>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238.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30F5C75-4440-45EA-B288-B1C336048C5E}"/>
              </a:ext>
            </a:extLst>
          </p:cNvPr>
          <p:cNvSpPr>
            <a:spLocks noGrp="1"/>
          </p:cNvSpPr>
          <p:nvPr>
            <p:ph type="title"/>
          </p:nvPr>
        </p:nvSpPr>
        <p:spPr/>
        <p:txBody>
          <a:bodyPr/>
          <a:lstStyle/>
          <a:p>
            <a:r>
              <a:rPr lang="en-GB" dirty="0"/>
              <a:t>Accuracy of Output</a:t>
            </a:r>
          </a:p>
        </p:txBody>
      </p:sp>
      <p:sp>
        <p:nvSpPr>
          <p:cNvPr id="3" name="Content Placeholder 2">
            <a:extLst>
              <a:ext uri="{FF2B5EF4-FFF2-40B4-BE49-F238E27FC236}">
                <a16:creationId xmlns:a16="http://schemas.microsoft.com/office/drawing/2014/main" id="{06B8E349-DC6D-4A5B-8DA3-98695E00841D}"/>
              </a:ext>
            </a:extLst>
          </p:cNvPr>
          <p:cNvSpPr>
            <a:spLocks noGrp="1"/>
          </p:cNvSpPr>
          <p:nvPr>
            <p:ph idx="1"/>
          </p:nvPr>
        </p:nvSpPr>
        <p:spPr/>
        <p:txBody>
          <a:bodyPr>
            <a:normAutofit/>
          </a:bodyPr>
          <a:lstStyle/>
          <a:p>
            <a:pPr marL="0" indent="0">
              <a:spcAft>
                <a:spcPts val="1800"/>
              </a:spcAft>
              <a:buNone/>
            </a:pPr>
            <a:r>
              <a:rPr lang="en-GB" sz="3200" dirty="0"/>
              <a:t>"The output of the query </a:t>
            </a:r>
            <a:r>
              <a:rPr lang="en-GB" sz="3200" dirty="0">
                <a:solidFill>
                  <a:srgbClr val="FF0000"/>
                </a:solidFill>
              </a:rPr>
              <a:t>is </a:t>
            </a:r>
            <a:r>
              <a:rPr lang="en-GB" sz="3200" dirty="0">
                <a:solidFill>
                  <a:srgbClr val="7030A0"/>
                </a:solidFill>
              </a:rPr>
              <a:t>/</a:t>
            </a:r>
            <a:r>
              <a:rPr lang="en-GB" sz="3200" dirty="0">
                <a:solidFill>
                  <a:srgbClr val="FF0000"/>
                </a:solidFill>
              </a:rPr>
              <a:t> is not </a:t>
            </a:r>
            <a:r>
              <a:rPr lang="en-GB" sz="3200" dirty="0"/>
              <a:t>accurate because … "</a:t>
            </a:r>
          </a:p>
          <a:p>
            <a:pPr lvl="1">
              <a:spcAft>
                <a:spcPts val="1800"/>
              </a:spcAft>
            </a:pPr>
            <a:r>
              <a:rPr lang="en-GB" sz="3200" dirty="0"/>
              <a:t> </a:t>
            </a:r>
          </a:p>
          <a:p>
            <a:pPr lvl="1">
              <a:spcAft>
                <a:spcPts val="1800"/>
              </a:spcAft>
            </a:pPr>
            <a:r>
              <a:rPr lang="en-GB" sz="3200" dirty="0"/>
              <a:t> </a:t>
            </a:r>
          </a:p>
          <a:p>
            <a:pPr lvl="1">
              <a:spcAft>
                <a:spcPts val="1800"/>
              </a:spcAft>
            </a:pPr>
            <a:r>
              <a:rPr lang="en-GB" sz="3200" dirty="0"/>
              <a:t> </a:t>
            </a:r>
          </a:p>
          <a:p>
            <a:pPr marL="0" indent="0">
              <a:buNone/>
            </a:pPr>
            <a:endParaRPr lang="en-GB" sz="3200" dirty="0"/>
          </a:p>
          <a:p>
            <a:pPr marL="0" indent="0">
              <a:buNone/>
            </a:pPr>
            <a:endParaRPr lang="en-GB" sz="3200" dirty="0"/>
          </a:p>
        </p:txBody>
      </p:sp>
    </p:spTree>
    <p:extLst>
      <p:ext uri="{BB962C8B-B14F-4D97-AF65-F5344CB8AC3E}">
        <p14:creationId xmlns:p14="http://schemas.microsoft.com/office/powerpoint/2010/main" val="4233072005"/>
      </p:ext>
    </p:extLst>
  </p:cSld>
  <p:clrMapOvr>
    <a:masterClrMapping/>
  </p:clrMapOvr>
</p:sld>
</file>

<file path=ppt/slides/slide239.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Collection of Information</a:t>
            </a:r>
          </a:p>
        </p:txBody>
      </p:sp>
      <p:sp>
        <p:nvSpPr>
          <p:cNvPr id="3" name="Content Placeholder 2"/>
          <p:cNvSpPr>
            <a:spLocks noGrp="1"/>
          </p:cNvSpPr>
          <p:nvPr>
            <p:ph idx="1"/>
          </p:nvPr>
        </p:nvSpPr>
        <p:spPr>
          <a:xfrm>
            <a:off x="2495600" y="1535952"/>
            <a:ext cx="3749040" cy="3840540"/>
          </a:xfrm>
        </p:spPr>
        <p:txBody>
          <a:bodyPr>
            <a:normAutofit/>
          </a:bodyPr>
          <a:lstStyle/>
          <a:p>
            <a:r>
              <a:rPr lang="en-GB" sz="2400" dirty="0"/>
              <a:t>Physical Database</a:t>
            </a:r>
          </a:p>
          <a:p>
            <a:pPr>
              <a:buFontTx/>
              <a:buChar char="-"/>
            </a:pPr>
            <a:r>
              <a:rPr lang="en-GB" sz="2400" dirty="0"/>
              <a:t>Searching can be slow</a:t>
            </a:r>
          </a:p>
          <a:p>
            <a:pPr>
              <a:buFontTx/>
              <a:buChar char="-"/>
            </a:pPr>
            <a:r>
              <a:rPr lang="en-GB" sz="2400" dirty="0"/>
              <a:t>Editing is difficult</a:t>
            </a:r>
          </a:p>
          <a:p>
            <a:pPr>
              <a:buFontTx/>
              <a:buChar char="-"/>
            </a:pPr>
            <a:endParaRPr lang="en-GB" sz="2400" dirty="0"/>
          </a:p>
          <a:p>
            <a:r>
              <a:rPr lang="en-GB" sz="2400" dirty="0"/>
              <a:t>Electronic Database</a:t>
            </a:r>
          </a:p>
          <a:p>
            <a:r>
              <a:rPr lang="en-GB" sz="2400" dirty="0"/>
              <a:t>+ Searching is very fast</a:t>
            </a:r>
          </a:p>
          <a:p>
            <a:r>
              <a:rPr lang="en-GB" sz="2400" dirty="0"/>
              <a:t>+ Editing is easy</a:t>
            </a:r>
          </a:p>
        </p:txBody>
      </p:sp>
      <p:pic>
        <p:nvPicPr>
          <p:cNvPr id="1027" name="Picture 3" descr="C:\Users\cb1935d\AppData\Local\Microsoft\Windows\Temporary Internet Files\Content.IE5\CK4AA76W\MP900409031[1].jpg"/>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7896200" y="980728"/>
            <a:ext cx="2348880" cy="2348880"/>
          </a:xfrm>
          <a:prstGeom prst="rect">
            <a:avLst/>
          </a:prstGeom>
          <a:noFill/>
          <a:extLst>
            <a:ext uri="{909E8E84-426E-40DD-AFC4-6F175D3DCCD1}">
              <a14:hiddenFill xmlns:a14="http://schemas.microsoft.com/office/drawing/2010/main">
                <a:solidFill>
                  <a:srgbClr val="FFFFFF"/>
                </a:solidFill>
              </a14:hiddenFill>
            </a:ext>
          </a:extLst>
        </p:spPr>
      </p:pic>
      <p:pic>
        <p:nvPicPr>
          <p:cNvPr id="1028" name="Picture 4" descr="C:\Users\cb1935d\AppData\Local\Microsoft\Windows\Temporary Internet Files\Content.IE5\JYGE0KC2\MC900441466[1].png"/>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8204906" y="3645024"/>
            <a:ext cx="1731468" cy="1731468"/>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375829400"/>
      </p:ext>
    </p:extLst>
  </p:cSld>
  <p:clrMapOvr>
    <a:masterClrMapping/>
  </p:clrMapOvr>
</p:sld>
</file>

<file path=ppt/slides/slide240.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Advantages &amp; Disadvantages</a:t>
            </a:r>
          </a:p>
        </p:txBody>
      </p:sp>
      <p:sp>
        <p:nvSpPr>
          <p:cNvPr id="5" name="Content Placeholder 2"/>
          <p:cNvSpPr txBox="1">
            <a:spLocks/>
          </p:cNvSpPr>
          <p:nvPr/>
        </p:nvSpPr>
        <p:spPr>
          <a:xfrm>
            <a:off x="2495600" y="1535952"/>
            <a:ext cx="7200800" cy="3549232"/>
          </a:xfrm>
          <a:prstGeom prst="rect">
            <a:avLst/>
          </a:prstGeom>
        </p:spPr>
        <p:txBody>
          <a:bodyPr vert="horz" lIns="91440" tIns="45720" rIns="91440" bIns="45720" rtlCol="0">
            <a:normAutofit/>
          </a:bodyPr>
          <a:lstStyle>
            <a:lvl1pPr marL="342900" indent="-342900" algn="l" defTabSz="914400" rtl="0" eaLnBrk="1" latinLnBrk="0" hangingPunct="1">
              <a:spcBef>
                <a:spcPts val="800"/>
              </a:spcBef>
              <a:buFont typeface="Arial" pitchFamily="34" charset="0"/>
              <a:buNone/>
              <a:defRPr sz="1600" b="1" kern="1200">
                <a:solidFill>
                  <a:schemeClr val="tx1"/>
                </a:solidFill>
                <a:latin typeface="+mn-lt"/>
                <a:ea typeface="+mn-ea"/>
                <a:cs typeface="+mn-cs"/>
              </a:defRPr>
            </a:lvl1pPr>
            <a:lvl2pPr marL="173736" indent="-173736" algn="l" defTabSz="914400" rtl="0" eaLnBrk="1" latinLnBrk="0" hangingPunct="1">
              <a:spcBef>
                <a:spcPts val="300"/>
              </a:spcBef>
              <a:buClr>
                <a:schemeClr val="accent2"/>
              </a:buClr>
              <a:buFont typeface="Wingdings" pitchFamily="2" charset="2"/>
              <a:buChar char="§"/>
              <a:defRPr sz="1600" kern="1200">
                <a:solidFill>
                  <a:schemeClr val="tx1"/>
                </a:solidFill>
                <a:latin typeface="+mn-lt"/>
                <a:ea typeface="+mn-ea"/>
                <a:cs typeface="+mn-cs"/>
              </a:defRPr>
            </a:lvl2pPr>
            <a:lvl3pPr marL="402336" indent="-164592" algn="l" defTabSz="914400" rtl="0" eaLnBrk="1" latinLnBrk="0" hangingPunct="1">
              <a:spcBef>
                <a:spcPts val="300"/>
              </a:spcBef>
              <a:buClr>
                <a:schemeClr val="accent2"/>
              </a:buClr>
              <a:buFont typeface="Wingdings" pitchFamily="2" charset="2"/>
              <a:buChar char="§"/>
              <a:defRPr sz="1600" kern="1200">
                <a:solidFill>
                  <a:schemeClr val="tx1"/>
                </a:solidFill>
                <a:latin typeface="+mn-lt"/>
                <a:ea typeface="+mn-ea"/>
                <a:cs typeface="+mn-cs"/>
              </a:defRPr>
            </a:lvl3pPr>
            <a:lvl4pPr marL="630936" indent="-164592" algn="l" defTabSz="914400" rtl="0" eaLnBrk="1" latinLnBrk="0" hangingPunct="1">
              <a:spcBef>
                <a:spcPts val="300"/>
              </a:spcBef>
              <a:buClr>
                <a:schemeClr val="accent2"/>
              </a:buClr>
              <a:buFont typeface="Wingdings" pitchFamily="2" charset="2"/>
              <a:buChar char="§"/>
              <a:defRPr sz="1600" kern="1200">
                <a:solidFill>
                  <a:schemeClr val="tx1"/>
                </a:solidFill>
                <a:latin typeface="+mn-lt"/>
                <a:ea typeface="+mn-ea"/>
                <a:cs typeface="+mn-cs"/>
              </a:defRPr>
            </a:lvl4pPr>
            <a:lvl5pPr marL="859536" indent="-173736" algn="l" defTabSz="914400" rtl="0" eaLnBrk="1" latinLnBrk="0" hangingPunct="1">
              <a:spcBef>
                <a:spcPts val="300"/>
              </a:spcBef>
              <a:buClr>
                <a:schemeClr val="accent2"/>
              </a:buClr>
              <a:buFont typeface="Wingdings" pitchFamily="2" charset="2"/>
              <a:buChar char="§"/>
              <a:defRPr sz="1600" kern="1200">
                <a:solidFill>
                  <a:schemeClr val="tx1"/>
                </a:solidFill>
                <a:latin typeface="+mn-lt"/>
                <a:ea typeface="+mn-ea"/>
                <a:cs typeface="+mn-cs"/>
              </a:defRPr>
            </a:lvl5pPr>
            <a:lvl6pPr marL="1097280" indent="-173736" algn="l" defTabSz="914400" rtl="0" eaLnBrk="1" latinLnBrk="0" hangingPunct="1">
              <a:spcBef>
                <a:spcPts val="300"/>
              </a:spcBef>
              <a:buClr>
                <a:schemeClr val="accent2"/>
              </a:buClr>
              <a:buFont typeface="Wingdings" pitchFamily="2" charset="2"/>
              <a:buChar char="§"/>
              <a:defRPr sz="1400" kern="1200">
                <a:solidFill>
                  <a:schemeClr val="tx1"/>
                </a:solidFill>
                <a:latin typeface="+mn-lt"/>
                <a:ea typeface="+mn-ea"/>
                <a:cs typeface="+mn-cs"/>
              </a:defRPr>
            </a:lvl6pPr>
            <a:lvl7pPr marL="1353312" indent="-164592" algn="l" defTabSz="914400" rtl="0" eaLnBrk="1" latinLnBrk="0" hangingPunct="1">
              <a:spcBef>
                <a:spcPts val="300"/>
              </a:spcBef>
              <a:buClr>
                <a:schemeClr val="accent2"/>
              </a:buClr>
              <a:buFont typeface="Wingdings" pitchFamily="2" charset="2"/>
              <a:buChar char="§"/>
              <a:defRPr sz="1400" kern="1200">
                <a:solidFill>
                  <a:schemeClr val="tx1"/>
                </a:solidFill>
                <a:latin typeface="+mn-lt"/>
                <a:ea typeface="+mn-ea"/>
                <a:cs typeface="+mn-cs"/>
              </a:defRPr>
            </a:lvl7pPr>
            <a:lvl8pPr marL="1581912" indent="-164592" algn="l" defTabSz="914400" rtl="0" eaLnBrk="1" latinLnBrk="0" hangingPunct="1">
              <a:spcBef>
                <a:spcPts val="300"/>
              </a:spcBef>
              <a:buClr>
                <a:schemeClr val="accent2"/>
              </a:buClr>
              <a:buFont typeface="Wingdings" pitchFamily="2" charset="2"/>
              <a:buChar char="§"/>
              <a:defRPr sz="1400" kern="1200">
                <a:solidFill>
                  <a:schemeClr val="tx1"/>
                </a:solidFill>
                <a:latin typeface="+mn-lt"/>
                <a:ea typeface="+mn-ea"/>
                <a:cs typeface="+mn-cs"/>
              </a:defRPr>
            </a:lvl8pPr>
            <a:lvl9pPr marL="1792224" indent="-164592" algn="l" defTabSz="914400" rtl="0" eaLnBrk="1" latinLnBrk="0" hangingPunct="1">
              <a:spcBef>
                <a:spcPts val="300"/>
              </a:spcBef>
              <a:buClr>
                <a:schemeClr val="accent2"/>
              </a:buClr>
              <a:buFont typeface="Wingdings" pitchFamily="2" charset="2"/>
              <a:buChar char="§"/>
              <a:defRPr sz="1400" kern="1200">
                <a:solidFill>
                  <a:schemeClr val="tx1"/>
                </a:solidFill>
                <a:latin typeface="+mn-lt"/>
                <a:ea typeface="+mn-ea"/>
                <a:cs typeface="+mn-cs"/>
              </a:defRPr>
            </a:lvl9pPr>
          </a:lstStyle>
          <a:p>
            <a:r>
              <a:rPr lang="en-GB" sz="2400" dirty="0"/>
              <a:t>Physical Database</a:t>
            </a:r>
          </a:p>
          <a:p>
            <a:pPr>
              <a:buFontTx/>
              <a:buChar char="-"/>
            </a:pPr>
            <a:r>
              <a:rPr lang="en-GB" sz="2400" dirty="0"/>
              <a:t>Searching can be slow</a:t>
            </a:r>
          </a:p>
          <a:p>
            <a:pPr>
              <a:buFontTx/>
              <a:buChar char="-"/>
            </a:pPr>
            <a:r>
              <a:rPr lang="en-GB" sz="2400" dirty="0"/>
              <a:t>Editing is difficult</a:t>
            </a:r>
          </a:p>
          <a:p>
            <a:pPr>
              <a:buFontTx/>
              <a:buChar char="-"/>
            </a:pPr>
            <a:endParaRPr lang="en-GB" sz="2400" dirty="0"/>
          </a:p>
          <a:p>
            <a:r>
              <a:rPr lang="en-GB" sz="2400" dirty="0"/>
              <a:t>Electronic Database</a:t>
            </a:r>
          </a:p>
          <a:p>
            <a:r>
              <a:rPr lang="en-GB" sz="2400" dirty="0"/>
              <a:t>+  Searching is very fast</a:t>
            </a:r>
          </a:p>
          <a:p>
            <a:r>
              <a:rPr lang="en-GB" sz="2400" dirty="0"/>
              <a:t>+  Editing is very easy</a:t>
            </a:r>
          </a:p>
        </p:txBody>
      </p:sp>
      <p:pic>
        <p:nvPicPr>
          <p:cNvPr id="2050" name="Picture 2" descr="C:\Users\cb1935d\AppData\Local\Microsoft\Windows\Temporary Internet Files\Content.IE5\JYGE0KC2\MP900442356[1].jpg"/>
          <p:cNvPicPr>
            <a:picLocks noGrp="1" noChangeAspect="1" noChangeArrowheads="1"/>
          </p:cNvPicPr>
          <p:nvPr>
            <p:ph idx="1"/>
          </p:nvPr>
        </p:nvPicPr>
        <p:blipFill>
          <a:blip r:embed="rId2" cstate="print">
            <a:extLst>
              <a:ext uri="{28A0092B-C50C-407E-A947-70E740481C1C}">
                <a14:useLocalDpi xmlns:a14="http://schemas.microsoft.com/office/drawing/2010/main" val="0"/>
              </a:ext>
            </a:extLst>
          </a:blip>
          <a:srcRect/>
          <a:stretch>
            <a:fillRect/>
          </a:stretch>
        </p:blipFill>
        <p:spPr bwMode="auto">
          <a:xfrm>
            <a:off x="8184232" y="1268760"/>
            <a:ext cx="2213504" cy="1660128"/>
          </a:xfrm>
          <a:prstGeom prst="rect">
            <a:avLst/>
          </a:prstGeom>
          <a:noFill/>
          <a:extLst>
            <a:ext uri="{909E8E84-426E-40DD-AFC4-6F175D3DCCD1}">
              <a14:hiddenFill xmlns:a14="http://schemas.microsoft.com/office/drawing/2010/main">
                <a:solidFill>
                  <a:srgbClr val="FFFFFF"/>
                </a:solidFill>
              </a14:hiddenFill>
            </a:ext>
          </a:extLst>
        </p:spPr>
      </p:pic>
      <p:pic>
        <p:nvPicPr>
          <p:cNvPr id="2051" name="Picture 3" descr="C:\Users\cb1935d\AppData\Local\Microsoft\Windows\Temporary Internet Files\Content.IE5\CK4AA76W\MP900422497[1].jpg"/>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456040" y="2974000"/>
            <a:ext cx="2627784" cy="1749119"/>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618537864"/>
      </p:ext>
    </p:extLst>
  </p:cSld>
  <p:clrMapOvr>
    <a:masterClrMapping/>
  </p:clrMapOvr>
</p:sld>
</file>

<file path=ppt/slides/slide2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Flat File Database</a:t>
            </a:r>
          </a:p>
        </p:txBody>
      </p:sp>
      <p:graphicFrame>
        <p:nvGraphicFramePr>
          <p:cNvPr id="5" name="Table 5">
            <a:extLst>
              <a:ext uri="{FF2B5EF4-FFF2-40B4-BE49-F238E27FC236}">
                <a16:creationId xmlns:a16="http://schemas.microsoft.com/office/drawing/2014/main" id="{38A8414E-6490-4AD8-90BD-DF0216F61C69}"/>
              </a:ext>
            </a:extLst>
          </p:cNvPr>
          <p:cNvGraphicFramePr>
            <a:graphicFrameLocks noGrp="1"/>
          </p:cNvGraphicFramePr>
          <p:nvPr>
            <p:ph idx="1"/>
          </p:nvPr>
        </p:nvGraphicFramePr>
        <p:xfrm>
          <a:off x="838200" y="2193925"/>
          <a:ext cx="10515600" cy="3555312"/>
        </p:xfrm>
        <a:graphic>
          <a:graphicData uri="http://schemas.openxmlformats.org/drawingml/2006/table">
            <a:tbl>
              <a:tblPr firstRow="1" bandRow="1">
                <a:tableStyleId>{5C22544A-7EE6-4342-B048-85BDC9FD1C3A}</a:tableStyleId>
              </a:tblPr>
              <a:tblGrid>
                <a:gridCol w="785386">
                  <a:extLst>
                    <a:ext uri="{9D8B030D-6E8A-4147-A177-3AD203B41FA5}">
                      <a16:colId xmlns:a16="http://schemas.microsoft.com/office/drawing/2014/main" val="1632358923"/>
                    </a:ext>
                  </a:extLst>
                </a:gridCol>
                <a:gridCol w="2399790">
                  <a:extLst>
                    <a:ext uri="{9D8B030D-6E8A-4147-A177-3AD203B41FA5}">
                      <a16:colId xmlns:a16="http://schemas.microsoft.com/office/drawing/2014/main" val="3505833113"/>
                    </a:ext>
                  </a:extLst>
                </a:gridCol>
                <a:gridCol w="2181627">
                  <a:extLst>
                    <a:ext uri="{9D8B030D-6E8A-4147-A177-3AD203B41FA5}">
                      <a16:colId xmlns:a16="http://schemas.microsoft.com/office/drawing/2014/main" val="3401749839"/>
                    </a:ext>
                  </a:extLst>
                </a:gridCol>
                <a:gridCol w="1745301">
                  <a:extLst>
                    <a:ext uri="{9D8B030D-6E8A-4147-A177-3AD203B41FA5}">
                      <a16:colId xmlns:a16="http://schemas.microsoft.com/office/drawing/2014/main" val="315362434"/>
                    </a:ext>
                  </a:extLst>
                </a:gridCol>
                <a:gridCol w="1876357">
                  <a:extLst>
                    <a:ext uri="{9D8B030D-6E8A-4147-A177-3AD203B41FA5}">
                      <a16:colId xmlns:a16="http://schemas.microsoft.com/office/drawing/2014/main" val="415971381"/>
                    </a:ext>
                  </a:extLst>
                </a:gridCol>
                <a:gridCol w="1527139">
                  <a:extLst>
                    <a:ext uri="{9D8B030D-6E8A-4147-A177-3AD203B41FA5}">
                      <a16:colId xmlns:a16="http://schemas.microsoft.com/office/drawing/2014/main" val="3467447067"/>
                    </a:ext>
                  </a:extLst>
                </a:gridCol>
              </a:tblGrid>
              <a:tr h="592552">
                <a:tc>
                  <a:txBody>
                    <a:bodyPr/>
                    <a:lstStyle/>
                    <a:p>
                      <a:pPr algn="ctr"/>
                      <a:r>
                        <a:rPr lang="en-GB" sz="3200" dirty="0"/>
                        <a:t>ID</a:t>
                      </a:r>
                    </a:p>
                  </a:txBody>
                  <a:tcPr/>
                </a:tc>
                <a:tc>
                  <a:txBody>
                    <a:bodyPr/>
                    <a:lstStyle/>
                    <a:p>
                      <a:pPr algn="ctr"/>
                      <a:r>
                        <a:rPr lang="en-GB" sz="3200" dirty="0"/>
                        <a:t>Forename</a:t>
                      </a:r>
                    </a:p>
                  </a:txBody>
                  <a:tcPr/>
                </a:tc>
                <a:tc>
                  <a:txBody>
                    <a:bodyPr/>
                    <a:lstStyle/>
                    <a:p>
                      <a:pPr algn="ctr"/>
                      <a:r>
                        <a:rPr lang="en-GB" sz="3200" dirty="0"/>
                        <a:t>Surname</a:t>
                      </a:r>
                    </a:p>
                  </a:txBody>
                  <a:tcPr/>
                </a:tc>
                <a:tc>
                  <a:txBody>
                    <a:bodyPr/>
                    <a:lstStyle/>
                    <a:p>
                      <a:pPr algn="ctr"/>
                      <a:r>
                        <a:rPr lang="en-GB" sz="3200" dirty="0"/>
                        <a:t>Dept</a:t>
                      </a:r>
                    </a:p>
                  </a:txBody>
                  <a:tcPr/>
                </a:tc>
                <a:tc>
                  <a:txBody>
                    <a:bodyPr/>
                    <a:lstStyle/>
                    <a:p>
                      <a:pPr algn="ctr"/>
                      <a:r>
                        <a:rPr lang="en-GB" sz="3200" dirty="0"/>
                        <a:t>Dept ID</a:t>
                      </a:r>
                    </a:p>
                  </a:txBody>
                  <a:tcPr/>
                </a:tc>
                <a:tc>
                  <a:txBody>
                    <a:bodyPr/>
                    <a:lstStyle/>
                    <a:p>
                      <a:pPr algn="ctr"/>
                      <a:r>
                        <a:rPr lang="en-GB" sz="3200" dirty="0"/>
                        <a:t>Phone</a:t>
                      </a:r>
                    </a:p>
                  </a:txBody>
                  <a:tcPr/>
                </a:tc>
                <a:extLst>
                  <a:ext uri="{0D108BD9-81ED-4DB2-BD59-A6C34878D82A}">
                    <a16:rowId xmlns:a16="http://schemas.microsoft.com/office/drawing/2014/main" val="3459615676"/>
                  </a:ext>
                </a:extLst>
              </a:tr>
              <a:tr h="592552">
                <a:tc>
                  <a:txBody>
                    <a:bodyPr/>
                    <a:lstStyle/>
                    <a:p>
                      <a:pPr lvl="0"/>
                      <a:r>
                        <a:rPr lang="en-GB" sz="3200" dirty="0"/>
                        <a:t>1</a:t>
                      </a:r>
                    </a:p>
                  </a:txBody>
                  <a:tcPr/>
                </a:tc>
                <a:tc>
                  <a:txBody>
                    <a:bodyPr/>
                    <a:lstStyle/>
                    <a:p>
                      <a:pPr lvl="0" algn="l"/>
                      <a:r>
                        <a:rPr lang="en-GB" sz="3200" dirty="0"/>
                        <a:t>Colin</a:t>
                      </a:r>
                    </a:p>
                  </a:txBody>
                  <a:tcPr/>
                </a:tc>
                <a:tc>
                  <a:txBody>
                    <a:bodyPr/>
                    <a:lstStyle/>
                    <a:p>
                      <a:pPr lvl="0" algn="l"/>
                      <a:r>
                        <a:rPr lang="en-GB" sz="3200" dirty="0"/>
                        <a:t>Arthur</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300</a:t>
                      </a:r>
                    </a:p>
                  </a:txBody>
                  <a:tcPr/>
                </a:tc>
                <a:extLst>
                  <a:ext uri="{0D108BD9-81ED-4DB2-BD59-A6C34878D82A}">
                    <a16:rowId xmlns:a16="http://schemas.microsoft.com/office/drawing/2014/main" val="1127765656"/>
                  </a:ext>
                </a:extLst>
              </a:tr>
              <a:tr h="592552">
                <a:tc>
                  <a:txBody>
                    <a:bodyPr/>
                    <a:lstStyle/>
                    <a:p>
                      <a:pPr lvl="0"/>
                      <a:r>
                        <a:rPr lang="en-GB" sz="3200" dirty="0"/>
                        <a:t>2</a:t>
                      </a:r>
                    </a:p>
                  </a:txBody>
                  <a:tcPr/>
                </a:tc>
                <a:tc>
                  <a:txBody>
                    <a:bodyPr/>
                    <a:lstStyle/>
                    <a:p>
                      <a:pPr lvl="0" algn="l"/>
                      <a:r>
                        <a:rPr lang="en-GB" sz="3200" dirty="0"/>
                        <a:t>Laura</a:t>
                      </a:r>
                    </a:p>
                  </a:txBody>
                  <a:tcPr/>
                </a:tc>
                <a:tc>
                  <a:txBody>
                    <a:bodyPr/>
                    <a:lstStyle/>
                    <a:p>
                      <a:pPr lvl="0" algn="l"/>
                      <a:r>
                        <a:rPr lang="en-GB" sz="3200" dirty="0"/>
                        <a:t>Brown</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300</a:t>
                      </a:r>
                    </a:p>
                  </a:txBody>
                  <a:tcPr/>
                </a:tc>
                <a:extLst>
                  <a:ext uri="{0D108BD9-81ED-4DB2-BD59-A6C34878D82A}">
                    <a16:rowId xmlns:a16="http://schemas.microsoft.com/office/drawing/2014/main" val="2924661129"/>
                  </a:ext>
                </a:extLst>
              </a:tr>
              <a:tr h="592552">
                <a:tc>
                  <a:txBody>
                    <a:bodyPr/>
                    <a:lstStyle/>
                    <a:p>
                      <a:pPr lvl="0"/>
                      <a:r>
                        <a:rPr lang="en-GB" sz="3200" dirty="0"/>
                        <a:t>3</a:t>
                      </a:r>
                    </a:p>
                  </a:txBody>
                  <a:tcPr/>
                </a:tc>
                <a:tc>
                  <a:txBody>
                    <a:bodyPr/>
                    <a:lstStyle/>
                    <a:p>
                      <a:pPr lvl="0" algn="l"/>
                      <a:r>
                        <a:rPr lang="en-GB" sz="3200" dirty="0"/>
                        <a:t>Stephen</a:t>
                      </a:r>
                    </a:p>
                  </a:txBody>
                  <a:tcPr/>
                </a:tc>
                <a:tc>
                  <a:txBody>
                    <a:bodyPr/>
                    <a:lstStyle/>
                    <a:p>
                      <a:pPr lvl="0" algn="l"/>
                      <a:r>
                        <a:rPr lang="en-GB" sz="3200" dirty="0"/>
                        <a:t>MacLeod</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300</a:t>
                      </a:r>
                    </a:p>
                  </a:txBody>
                  <a:tcPr/>
                </a:tc>
                <a:extLst>
                  <a:ext uri="{0D108BD9-81ED-4DB2-BD59-A6C34878D82A}">
                    <a16:rowId xmlns:a16="http://schemas.microsoft.com/office/drawing/2014/main" val="3885493841"/>
                  </a:ext>
                </a:extLst>
              </a:tr>
              <a:tr h="592552">
                <a:tc>
                  <a:txBody>
                    <a:bodyPr/>
                    <a:lstStyle/>
                    <a:p>
                      <a:pPr lvl="0"/>
                      <a:r>
                        <a:rPr lang="en-GB" sz="3200" dirty="0"/>
                        <a:t>4</a:t>
                      </a:r>
                    </a:p>
                  </a:txBody>
                  <a:tcPr/>
                </a:tc>
                <a:tc>
                  <a:txBody>
                    <a:bodyPr/>
                    <a:lstStyle/>
                    <a:p>
                      <a:pPr lvl="0" algn="l"/>
                      <a:r>
                        <a:rPr lang="en-GB" sz="3200" dirty="0"/>
                        <a:t>Scott</a:t>
                      </a:r>
                    </a:p>
                  </a:txBody>
                  <a:tcPr/>
                </a:tc>
                <a:tc>
                  <a:txBody>
                    <a:bodyPr/>
                    <a:lstStyle/>
                    <a:p>
                      <a:pPr lvl="0" algn="l"/>
                      <a:r>
                        <a:rPr lang="en-GB" sz="3200" dirty="0"/>
                        <a:t>Sinclair</a:t>
                      </a:r>
                    </a:p>
                  </a:txBody>
                  <a:tcPr/>
                </a:tc>
                <a:tc>
                  <a:txBody>
                    <a:bodyPr/>
                    <a:lstStyle/>
                    <a:p>
                      <a:pPr lvl="0" algn="l"/>
                      <a:r>
                        <a:rPr lang="en-GB" sz="3200" dirty="0"/>
                        <a:t>English</a:t>
                      </a:r>
                    </a:p>
                  </a:txBody>
                  <a:tcPr/>
                </a:tc>
                <a:tc>
                  <a:txBody>
                    <a:bodyPr/>
                    <a:lstStyle/>
                    <a:p>
                      <a:pPr lvl="0"/>
                      <a:r>
                        <a:rPr lang="en-GB" sz="3200" dirty="0"/>
                        <a:t>002</a:t>
                      </a:r>
                    </a:p>
                  </a:txBody>
                  <a:tcPr/>
                </a:tc>
                <a:tc>
                  <a:txBody>
                    <a:bodyPr/>
                    <a:lstStyle/>
                    <a:p>
                      <a:pPr lvl="0"/>
                      <a:r>
                        <a:rPr lang="en-GB" sz="3200" dirty="0"/>
                        <a:t>301</a:t>
                      </a:r>
                    </a:p>
                  </a:txBody>
                  <a:tcPr/>
                </a:tc>
                <a:extLst>
                  <a:ext uri="{0D108BD9-81ED-4DB2-BD59-A6C34878D82A}">
                    <a16:rowId xmlns:a16="http://schemas.microsoft.com/office/drawing/2014/main" val="1487565366"/>
                  </a:ext>
                </a:extLst>
              </a:tr>
              <a:tr h="592552">
                <a:tc>
                  <a:txBody>
                    <a:bodyPr/>
                    <a:lstStyle/>
                    <a:p>
                      <a:pPr lvl="0"/>
                      <a:r>
                        <a:rPr lang="en-GB" sz="3200" dirty="0"/>
                        <a:t>5</a:t>
                      </a:r>
                    </a:p>
                  </a:txBody>
                  <a:tcPr/>
                </a:tc>
                <a:tc>
                  <a:txBody>
                    <a:bodyPr/>
                    <a:lstStyle/>
                    <a:p>
                      <a:pPr lvl="0" algn="l"/>
                      <a:r>
                        <a:rPr lang="en-GB" sz="3200" dirty="0"/>
                        <a:t>Michelle</a:t>
                      </a:r>
                    </a:p>
                  </a:txBody>
                  <a:tcPr/>
                </a:tc>
                <a:tc>
                  <a:txBody>
                    <a:bodyPr/>
                    <a:lstStyle/>
                    <a:p>
                      <a:pPr lvl="0" algn="l"/>
                      <a:r>
                        <a:rPr lang="en-GB" sz="3200" dirty="0"/>
                        <a:t>Wie</a:t>
                      </a:r>
                    </a:p>
                  </a:txBody>
                  <a:tcPr/>
                </a:tc>
                <a:tc>
                  <a:txBody>
                    <a:bodyPr/>
                    <a:lstStyle/>
                    <a:p>
                      <a:pPr lvl="0" algn="l"/>
                      <a:r>
                        <a:rPr lang="en-GB" sz="3200" dirty="0"/>
                        <a:t>English</a:t>
                      </a:r>
                    </a:p>
                  </a:txBody>
                  <a:tcPr/>
                </a:tc>
                <a:tc>
                  <a:txBody>
                    <a:bodyPr/>
                    <a:lstStyle/>
                    <a:p>
                      <a:pPr lvl="0"/>
                      <a:r>
                        <a:rPr lang="en-GB" sz="3200" dirty="0"/>
                        <a:t>002</a:t>
                      </a:r>
                    </a:p>
                  </a:txBody>
                  <a:tcPr/>
                </a:tc>
                <a:tc>
                  <a:txBody>
                    <a:bodyPr/>
                    <a:lstStyle/>
                    <a:p>
                      <a:pPr lvl="0"/>
                      <a:r>
                        <a:rPr lang="en-GB" sz="3200" dirty="0"/>
                        <a:t>301</a:t>
                      </a:r>
                    </a:p>
                  </a:txBody>
                  <a:tcPr/>
                </a:tc>
                <a:extLst>
                  <a:ext uri="{0D108BD9-81ED-4DB2-BD59-A6C34878D82A}">
                    <a16:rowId xmlns:a16="http://schemas.microsoft.com/office/drawing/2014/main" val="81894544"/>
                  </a:ext>
                </a:extLst>
              </a:tr>
            </a:tbl>
          </a:graphicData>
        </a:graphic>
      </p:graphicFrame>
      <p:sp>
        <p:nvSpPr>
          <p:cNvPr id="10" name="Rectangle: Rounded Corners 9">
            <a:extLst>
              <a:ext uri="{FF2B5EF4-FFF2-40B4-BE49-F238E27FC236}">
                <a16:creationId xmlns:a16="http://schemas.microsoft.com/office/drawing/2014/main" id="{5D773087-09BD-45AD-89A6-29025E9351DE}"/>
              </a:ext>
            </a:extLst>
          </p:cNvPr>
          <p:cNvSpPr/>
          <p:nvPr/>
        </p:nvSpPr>
        <p:spPr>
          <a:xfrm>
            <a:off x="6209546" y="4589265"/>
            <a:ext cx="4409870" cy="1152000"/>
          </a:xfrm>
          <a:prstGeom prst="roundRect">
            <a:avLst/>
          </a:prstGeom>
          <a:noFill/>
          <a:ln w="3810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1" name="Rectangle: Rounded Corners 10">
            <a:extLst>
              <a:ext uri="{FF2B5EF4-FFF2-40B4-BE49-F238E27FC236}">
                <a16:creationId xmlns:a16="http://schemas.microsoft.com/office/drawing/2014/main" id="{B0EC4FDE-CFBC-4CBE-ADDB-EBEBADD6452A}"/>
              </a:ext>
            </a:extLst>
          </p:cNvPr>
          <p:cNvSpPr/>
          <p:nvPr/>
        </p:nvSpPr>
        <p:spPr>
          <a:xfrm>
            <a:off x="6208390" y="2823206"/>
            <a:ext cx="4409870" cy="1692000"/>
          </a:xfrm>
          <a:prstGeom prst="roundRect">
            <a:avLst/>
          </a:prstGeom>
          <a:noFill/>
          <a:ln w="38100">
            <a:solidFill>
              <a:srgbClr val="00B050"/>
            </a:solidFill>
            <a:prstDash val="soli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5" name="TextBox 14">
            <a:extLst>
              <a:ext uri="{FF2B5EF4-FFF2-40B4-BE49-F238E27FC236}">
                <a16:creationId xmlns:a16="http://schemas.microsoft.com/office/drawing/2014/main" id="{B935E981-B7C6-4BDF-ADC2-EFF2B075D3D8}"/>
              </a:ext>
            </a:extLst>
          </p:cNvPr>
          <p:cNvSpPr txBox="1"/>
          <p:nvPr/>
        </p:nvSpPr>
        <p:spPr>
          <a:xfrm>
            <a:off x="838200" y="1559731"/>
            <a:ext cx="7169207" cy="584775"/>
          </a:xfrm>
          <a:prstGeom prst="rect">
            <a:avLst/>
          </a:prstGeom>
          <a:noFill/>
        </p:spPr>
        <p:txBody>
          <a:bodyPr wrap="none" rtlCol="0">
            <a:spAutoFit/>
          </a:bodyPr>
          <a:lstStyle/>
          <a:p>
            <a:r>
              <a:rPr lang="en-GB" sz="3200" dirty="0"/>
              <a:t>Data is duplicated – this can lead to errors</a:t>
            </a:r>
          </a:p>
        </p:txBody>
      </p:sp>
    </p:spTree>
    <p:extLst>
      <p:ext uri="{BB962C8B-B14F-4D97-AF65-F5344CB8AC3E}">
        <p14:creationId xmlns:p14="http://schemas.microsoft.com/office/powerpoint/2010/main" val="401844357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15"/>
                                        </p:tgtEl>
                                        <p:attrNameLst>
                                          <p:attrName>style.visibility</p:attrName>
                                        </p:attrNameLst>
                                      </p:cBhvr>
                                      <p:to>
                                        <p:strVal val="visible"/>
                                      </p:to>
                                    </p:set>
                                    <p:animEffect transition="in" filter="wipe(left)">
                                      <p:cBhvr>
                                        <p:cTn id="7" dur="1500"/>
                                        <p:tgtEl>
                                          <p:spTgt spid="15"/>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1" fill="hold" grpId="0" nodeType="clickEffect">
                                  <p:stCondLst>
                                    <p:cond delay="0"/>
                                  </p:stCondLst>
                                  <p:childTnLst>
                                    <p:set>
                                      <p:cBhvr>
                                        <p:cTn id="11" dur="1" fill="hold">
                                          <p:stCondLst>
                                            <p:cond delay="0"/>
                                          </p:stCondLst>
                                        </p:cTn>
                                        <p:tgtEl>
                                          <p:spTgt spid="11"/>
                                        </p:tgtEl>
                                        <p:attrNameLst>
                                          <p:attrName>style.visibility</p:attrName>
                                        </p:attrNameLst>
                                      </p:cBhvr>
                                      <p:to>
                                        <p:strVal val="visible"/>
                                      </p:to>
                                    </p:set>
                                    <p:animEffect transition="in" filter="wipe(up)">
                                      <p:cBhvr>
                                        <p:cTn id="12" dur="1000"/>
                                        <p:tgtEl>
                                          <p:spTgt spid="11"/>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1" fill="hold" grpId="0" nodeType="clickEffect">
                                  <p:stCondLst>
                                    <p:cond delay="0"/>
                                  </p:stCondLst>
                                  <p:childTnLst>
                                    <p:set>
                                      <p:cBhvr>
                                        <p:cTn id="16" dur="1" fill="hold">
                                          <p:stCondLst>
                                            <p:cond delay="0"/>
                                          </p:stCondLst>
                                        </p:cTn>
                                        <p:tgtEl>
                                          <p:spTgt spid="10"/>
                                        </p:tgtEl>
                                        <p:attrNameLst>
                                          <p:attrName>style.visibility</p:attrName>
                                        </p:attrNameLst>
                                      </p:cBhvr>
                                      <p:to>
                                        <p:strVal val="visible"/>
                                      </p:to>
                                    </p:set>
                                    <p:animEffect transition="in" filter="wipe(up)">
                                      <p:cBhvr>
                                        <p:cTn id="17" dur="10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animBg="1"/>
      <p:bldP spid="11" grpId="0" animBg="1"/>
      <p:bldP spid="15" grpId="0"/>
    </p:bldLst>
  </p:timing>
</p:sld>
</file>

<file path=ppt/slides/slide242.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Flat File Database</a:t>
            </a:r>
          </a:p>
        </p:txBody>
      </p:sp>
      <p:graphicFrame>
        <p:nvGraphicFramePr>
          <p:cNvPr id="5" name="Table 5">
            <a:extLst>
              <a:ext uri="{FF2B5EF4-FFF2-40B4-BE49-F238E27FC236}">
                <a16:creationId xmlns:a16="http://schemas.microsoft.com/office/drawing/2014/main" id="{38A8414E-6490-4AD8-90BD-DF0216F61C69}"/>
              </a:ext>
            </a:extLst>
          </p:cNvPr>
          <p:cNvGraphicFramePr>
            <a:graphicFrameLocks noGrp="1"/>
          </p:cNvGraphicFramePr>
          <p:nvPr>
            <p:ph idx="1"/>
          </p:nvPr>
        </p:nvGraphicFramePr>
        <p:xfrm>
          <a:off x="838200" y="2193925"/>
          <a:ext cx="10515600" cy="3555312"/>
        </p:xfrm>
        <a:graphic>
          <a:graphicData uri="http://schemas.openxmlformats.org/drawingml/2006/table">
            <a:tbl>
              <a:tblPr firstRow="1" bandRow="1">
                <a:tableStyleId>{5C22544A-7EE6-4342-B048-85BDC9FD1C3A}</a:tableStyleId>
              </a:tblPr>
              <a:tblGrid>
                <a:gridCol w="785386">
                  <a:extLst>
                    <a:ext uri="{9D8B030D-6E8A-4147-A177-3AD203B41FA5}">
                      <a16:colId xmlns:a16="http://schemas.microsoft.com/office/drawing/2014/main" val="1632358923"/>
                    </a:ext>
                  </a:extLst>
                </a:gridCol>
                <a:gridCol w="2399790">
                  <a:extLst>
                    <a:ext uri="{9D8B030D-6E8A-4147-A177-3AD203B41FA5}">
                      <a16:colId xmlns:a16="http://schemas.microsoft.com/office/drawing/2014/main" val="3505833113"/>
                    </a:ext>
                  </a:extLst>
                </a:gridCol>
                <a:gridCol w="2181627">
                  <a:extLst>
                    <a:ext uri="{9D8B030D-6E8A-4147-A177-3AD203B41FA5}">
                      <a16:colId xmlns:a16="http://schemas.microsoft.com/office/drawing/2014/main" val="3401749839"/>
                    </a:ext>
                  </a:extLst>
                </a:gridCol>
                <a:gridCol w="1745301">
                  <a:extLst>
                    <a:ext uri="{9D8B030D-6E8A-4147-A177-3AD203B41FA5}">
                      <a16:colId xmlns:a16="http://schemas.microsoft.com/office/drawing/2014/main" val="315362434"/>
                    </a:ext>
                  </a:extLst>
                </a:gridCol>
                <a:gridCol w="1876357">
                  <a:extLst>
                    <a:ext uri="{9D8B030D-6E8A-4147-A177-3AD203B41FA5}">
                      <a16:colId xmlns:a16="http://schemas.microsoft.com/office/drawing/2014/main" val="415971381"/>
                    </a:ext>
                  </a:extLst>
                </a:gridCol>
                <a:gridCol w="1527139">
                  <a:extLst>
                    <a:ext uri="{9D8B030D-6E8A-4147-A177-3AD203B41FA5}">
                      <a16:colId xmlns:a16="http://schemas.microsoft.com/office/drawing/2014/main" val="3467447067"/>
                    </a:ext>
                  </a:extLst>
                </a:gridCol>
              </a:tblGrid>
              <a:tr h="592552">
                <a:tc>
                  <a:txBody>
                    <a:bodyPr/>
                    <a:lstStyle/>
                    <a:p>
                      <a:pPr algn="ctr"/>
                      <a:r>
                        <a:rPr lang="en-GB" sz="3200" dirty="0"/>
                        <a:t>ID</a:t>
                      </a:r>
                    </a:p>
                  </a:txBody>
                  <a:tcPr/>
                </a:tc>
                <a:tc>
                  <a:txBody>
                    <a:bodyPr/>
                    <a:lstStyle/>
                    <a:p>
                      <a:pPr algn="ctr"/>
                      <a:r>
                        <a:rPr lang="en-GB" sz="3200" dirty="0"/>
                        <a:t>Forename</a:t>
                      </a:r>
                    </a:p>
                  </a:txBody>
                  <a:tcPr/>
                </a:tc>
                <a:tc>
                  <a:txBody>
                    <a:bodyPr/>
                    <a:lstStyle/>
                    <a:p>
                      <a:pPr algn="ctr"/>
                      <a:r>
                        <a:rPr lang="en-GB" sz="3200" dirty="0"/>
                        <a:t>Surname</a:t>
                      </a:r>
                    </a:p>
                  </a:txBody>
                  <a:tcPr/>
                </a:tc>
                <a:tc>
                  <a:txBody>
                    <a:bodyPr/>
                    <a:lstStyle/>
                    <a:p>
                      <a:pPr algn="ctr"/>
                      <a:r>
                        <a:rPr lang="en-GB" sz="3200" dirty="0"/>
                        <a:t>Dept</a:t>
                      </a:r>
                    </a:p>
                  </a:txBody>
                  <a:tcPr/>
                </a:tc>
                <a:tc>
                  <a:txBody>
                    <a:bodyPr/>
                    <a:lstStyle/>
                    <a:p>
                      <a:pPr algn="ctr"/>
                      <a:r>
                        <a:rPr lang="en-GB" sz="3200" dirty="0"/>
                        <a:t>Dept ID</a:t>
                      </a:r>
                    </a:p>
                  </a:txBody>
                  <a:tcPr/>
                </a:tc>
                <a:tc>
                  <a:txBody>
                    <a:bodyPr/>
                    <a:lstStyle/>
                    <a:p>
                      <a:pPr algn="ctr"/>
                      <a:r>
                        <a:rPr lang="en-GB" sz="3200" dirty="0"/>
                        <a:t>Phone</a:t>
                      </a:r>
                    </a:p>
                  </a:txBody>
                  <a:tcPr/>
                </a:tc>
                <a:extLst>
                  <a:ext uri="{0D108BD9-81ED-4DB2-BD59-A6C34878D82A}">
                    <a16:rowId xmlns:a16="http://schemas.microsoft.com/office/drawing/2014/main" val="3459615676"/>
                  </a:ext>
                </a:extLst>
              </a:tr>
              <a:tr h="592552">
                <a:tc>
                  <a:txBody>
                    <a:bodyPr/>
                    <a:lstStyle/>
                    <a:p>
                      <a:pPr lvl="0"/>
                      <a:r>
                        <a:rPr lang="en-GB" sz="3200" dirty="0"/>
                        <a:t>1</a:t>
                      </a:r>
                    </a:p>
                  </a:txBody>
                  <a:tcPr/>
                </a:tc>
                <a:tc>
                  <a:txBody>
                    <a:bodyPr/>
                    <a:lstStyle/>
                    <a:p>
                      <a:pPr lvl="0" algn="l"/>
                      <a:r>
                        <a:rPr lang="en-GB" sz="3200" dirty="0"/>
                        <a:t>Colin</a:t>
                      </a:r>
                    </a:p>
                  </a:txBody>
                  <a:tcPr/>
                </a:tc>
                <a:tc>
                  <a:txBody>
                    <a:bodyPr/>
                    <a:lstStyle/>
                    <a:p>
                      <a:pPr lvl="0" algn="l"/>
                      <a:r>
                        <a:rPr lang="en-GB" sz="3200" dirty="0"/>
                        <a:t>Arthur</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300</a:t>
                      </a:r>
                    </a:p>
                  </a:txBody>
                  <a:tcPr/>
                </a:tc>
                <a:extLst>
                  <a:ext uri="{0D108BD9-81ED-4DB2-BD59-A6C34878D82A}">
                    <a16:rowId xmlns:a16="http://schemas.microsoft.com/office/drawing/2014/main" val="1127765656"/>
                  </a:ext>
                </a:extLst>
              </a:tr>
              <a:tr h="592552">
                <a:tc>
                  <a:txBody>
                    <a:bodyPr/>
                    <a:lstStyle/>
                    <a:p>
                      <a:pPr lvl="0"/>
                      <a:r>
                        <a:rPr lang="en-GB" sz="3200" dirty="0"/>
                        <a:t>2</a:t>
                      </a:r>
                    </a:p>
                  </a:txBody>
                  <a:tcPr/>
                </a:tc>
                <a:tc>
                  <a:txBody>
                    <a:bodyPr/>
                    <a:lstStyle/>
                    <a:p>
                      <a:pPr lvl="0" algn="l"/>
                      <a:r>
                        <a:rPr lang="en-GB" sz="3200" dirty="0"/>
                        <a:t>Laura</a:t>
                      </a:r>
                    </a:p>
                  </a:txBody>
                  <a:tcPr/>
                </a:tc>
                <a:tc>
                  <a:txBody>
                    <a:bodyPr/>
                    <a:lstStyle/>
                    <a:p>
                      <a:pPr lvl="0" algn="l"/>
                      <a:r>
                        <a:rPr lang="en-GB" sz="3200" dirty="0"/>
                        <a:t>Brown</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300</a:t>
                      </a:r>
                    </a:p>
                  </a:txBody>
                  <a:tcPr/>
                </a:tc>
                <a:extLst>
                  <a:ext uri="{0D108BD9-81ED-4DB2-BD59-A6C34878D82A}">
                    <a16:rowId xmlns:a16="http://schemas.microsoft.com/office/drawing/2014/main" val="2924661129"/>
                  </a:ext>
                </a:extLst>
              </a:tr>
              <a:tr h="592552">
                <a:tc>
                  <a:txBody>
                    <a:bodyPr/>
                    <a:lstStyle/>
                    <a:p>
                      <a:pPr lvl="0"/>
                      <a:r>
                        <a:rPr lang="en-GB" sz="3200" dirty="0"/>
                        <a:t>3</a:t>
                      </a:r>
                    </a:p>
                  </a:txBody>
                  <a:tcPr/>
                </a:tc>
                <a:tc>
                  <a:txBody>
                    <a:bodyPr/>
                    <a:lstStyle/>
                    <a:p>
                      <a:pPr lvl="0" algn="l"/>
                      <a:r>
                        <a:rPr lang="en-GB" sz="3200" dirty="0"/>
                        <a:t>Stephen</a:t>
                      </a:r>
                    </a:p>
                  </a:txBody>
                  <a:tcPr/>
                </a:tc>
                <a:tc>
                  <a:txBody>
                    <a:bodyPr/>
                    <a:lstStyle/>
                    <a:p>
                      <a:pPr lvl="0" algn="l"/>
                      <a:r>
                        <a:rPr lang="en-GB" sz="3200" dirty="0"/>
                        <a:t>MacLeod</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300</a:t>
                      </a:r>
                    </a:p>
                  </a:txBody>
                  <a:tcPr/>
                </a:tc>
                <a:extLst>
                  <a:ext uri="{0D108BD9-81ED-4DB2-BD59-A6C34878D82A}">
                    <a16:rowId xmlns:a16="http://schemas.microsoft.com/office/drawing/2014/main" val="3885493841"/>
                  </a:ext>
                </a:extLst>
              </a:tr>
              <a:tr h="592552">
                <a:tc>
                  <a:txBody>
                    <a:bodyPr/>
                    <a:lstStyle/>
                    <a:p>
                      <a:pPr lvl="0"/>
                      <a:r>
                        <a:rPr lang="en-GB" sz="3200" dirty="0"/>
                        <a:t>4</a:t>
                      </a:r>
                    </a:p>
                  </a:txBody>
                  <a:tcPr/>
                </a:tc>
                <a:tc>
                  <a:txBody>
                    <a:bodyPr/>
                    <a:lstStyle/>
                    <a:p>
                      <a:pPr lvl="0" algn="l"/>
                      <a:r>
                        <a:rPr lang="en-GB" sz="3200" dirty="0"/>
                        <a:t>Scott</a:t>
                      </a:r>
                    </a:p>
                  </a:txBody>
                  <a:tcPr/>
                </a:tc>
                <a:tc>
                  <a:txBody>
                    <a:bodyPr/>
                    <a:lstStyle/>
                    <a:p>
                      <a:pPr lvl="0" algn="l"/>
                      <a:r>
                        <a:rPr lang="en-GB" sz="3200" dirty="0"/>
                        <a:t>Sinclair</a:t>
                      </a:r>
                    </a:p>
                  </a:txBody>
                  <a:tcPr/>
                </a:tc>
                <a:tc>
                  <a:txBody>
                    <a:bodyPr/>
                    <a:lstStyle/>
                    <a:p>
                      <a:pPr lvl="0" algn="l"/>
                      <a:r>
                        <a:rPr lang="en-GB" sz="3200" dirty="0"/>
                        <a:t>English</a:t>
                      </a:r>
                    </a:p>
                  </a:txBody>
                  <a:tcPr/>
                </a:tc>
                <a:tc>
                  <a:txBody>
                    <a:bodyPr/>
                    <a:lstStyle/>
                    <a:p>
                      <a:pPr lvl="0"/>
                      <a:r>
                        <a:rPr lang="en-GB" sz="3200" dirty="0"/>
                        <a:t>002</a:t>
                      </a:r>
                    </a:p>
                  </a:txBody>
                  <a:tcPr/>
                </a:tc>
                <a:tc>
                  <a:txBody>
                    <a:bodyPr/>
                    <a:lstStyle/>
                    <a:p>
                      <a:pPr lvl="0"/>
                      <a:r>
                        <a:rPr lang="en-GB" sz="3200" dirty="0"/>
                        <a:t>301</a:t>
                      </a:r>
                    </a:p>
                  </a:txBody>
                  <a:tcPr/>
                </a:tc>
                <a:extLst>
                  <a:ext uri="{0D108BD9-81ED-4DB2-BD59-A6C34878D82A}">
                    <a16:rowId xmlns:a16="http://schemas.microsoft.com/office/drawing/2014/main" val="1487565366"/>
                  </a:ext>
                </a:extLst>
              </a:tr>
              <a:tr h="592552">
                <a:tc>
                  <a:txBody>
                    <a:bodyPr/>
                    <a:lstStyle/>
                    <a:p>
                      <a:pPr lvl="0"/>
                      <a:r>
                        <a:rPr lang="en-GB" sz="3200" dirty="0"/>
                        <a:t>5</a:t>
                      </a:r>
                    </a:p>
                  </a:txBody>
                  <a:tcPr/>
                </a:tc>
                <a:tc>
                  <a:txBody>
                    <a:bodyPr/>
                    <a:lstStyle/>
                    <a:p>
                      <a:pPr lvl="0" algn="l"/>
                      <a:r>
                        <a:rPr lang="en-GB" sz="3200" dirty="0"/>
                        <a:t>Michelle</a:t>
                      </a:r>
                    </a:p>
                  </a:txBody>
                  <a:tcPr/>
                </a:tc>
                <a:tc>
                  <a:txBody>
                    <a:bodyPr/>
                    <a:lstStyle/>
                    <a:p>
                      <a:pPr lvl="0" algn="l"/>
                      <a:r>
                        <a:rPr lang="en-GB" sz="3200" dirty="0"/>
                        <a:t>Wie</a:t>
                      </a:r>
                    </a:p>
                  </a:txBody>
                  <a:tcPr/>
                </a:tc>
                <a:tc>
                  <a:txBody>
                    <a:bodyPr/>
                    <a:lstStyle/>
                    <a:p>
                      <a:pPr lvl="0" algn="l"/>
                      <a:r>
                        <a:rPr lang="en-GB" sz="3200" dirty="0"/>
                        <a:t>English</a:t>
                      </a:r>
                    </a:p>
                  </a:txBody>
                  <a:tcPr/>
                </a:tc>
                <a:tc>
                  <a:txBody>
                    <a:bodyPr/>
                    <a:lstStyle/>
                    <a:p>
                      <a:pPr lvl="0"/>
                      <a:r>
                        <a:rPr lang="en-GB" sz="3200" dirty="0"/>
                        <a:t>002</a:t>
                      </a:r>
                    </a:p>
                  </a:txBody>
                  <a:tcPr/>
                </a:tc>
                <a:tc>
                  <a:txBody>
                    <a:bodyPr/>
                    <a:lstStyle/>
                    <a:p>
                      <a:pPr lvl="0"/>
                      <a:r>
                        <a:rPr lang="en-GB" sz="3200" dirty="0"/>
                        <a:t>301</a:t>
                      </a:r>
                    </a:p>
                  </a:txBody>
                  <a:tcPr/>
                </a:tc>
                <a:extLst>
                  <a:ext uri="{0D108BD9-81ED-4DB2-BD59-A6C34878D82A}">
                    <a16:rowId xmlns:a16="http://schemas.microsoft.com/office/drawing/2014/main" val="81894544"/>
                  </a:ext>
                </a:extLst>
              </a:tr>
            </a:tbl>
          </a:graphicData>
        </a:graphic>
      </p:graphicFrame>
    </p:spTree>
    <p:extLst>
      <p:ext uri="{BB962C8B-B14F-4D97-AF65-F5344CB8AC3E}">
        <p14:creationId xmlns:p14="http://schemas.microsoft.com/office/powerpoint/2010/main" val="205046543"/>
      </p:ext>
    </p:extLst>
  </p:cSld>
  <p:clrMapOvr>
    <a:masterClrMapping/>
  </p:clrMapOvr>
</p:sld>
</file>

<file path=ppt/slides/slide2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Insert Anomaly</a:t>
            </a:r>
          </a:p>
        </p:txBody>
      </p:sp>
      <p:graphicFrame>
        <p:nvGraphicFramePr>
          <p:cNvPr id="5" name="Table 5">
            <a:extLst>
              <a:ext uri="{FF2B5EF4-FFF2-40B4-BE49-F238E27FC236}">
                <a16:creationId xmlns:a16="http://schemas.microsoft.com/office/drawing/2014/main" id="{38A8414E-6490-4AD8-90BD-DF0216F61C69}"/>
              </a:ext>
            </a:extLst>
          </p:cNvPr>
          <p:cNvGraphicFramePr>
            <a:graphicFrameLocks noGrp="1"/>
          </p:cNvGraphicFramePr>
          <p:nvPr>
            <p:ph idx="1"/>
          </p:nvPr>
        </p:nvGraphicFramePr>
        <p:xfrm>
          <a:off x="838200" y="2193925"/>
          <a:ext cx="10515600" cy="2962760"/>
        </p:xfrm>
        <a:graphic>
          <a:graphicData uri="http://schemas.openxmlformats.org/drawingml/2006/table">
            <a:tbl>
              <a:tblPr firstRow="1" bandRow="1">
                <a:tableStyleId>{5C22544A-7EE6-4342-B048-85BDC9FD1C3A}</a:tableStyleId>
              </a:tblPr>
              <a:tblGrid>
                <a:gridCol w="785386">
                  <a:extLst>
                    <a:ext uri="{9D8B030D-6E8A-4147-A177-3AD203B41FA5}">
                      <a16:colId xmlns:a16="http://schemas.microsoft.com/office/drawing/2014/main" val="1632358923"/>
                    </a:ext>
                  </a:extLst>
                </a:gridCol>
                <a:gridCol w="2399790">
                  <a:extLst>
                    <a:ext uri="{9D8B030D-6E8A-4147-A177-3AD203B41FA5}">
                      <a16:colId xmlns:a16="http://schemas.microsoft.com/office/drawing/2014/main" val="3505833113"/>
                    </a:ext>
                  </a:extLst>
                </a:gridCol>
                <a:gridCol w="2181627">
                  <a:extLst>
                    <a:ext uri="{9D8B030D-6E8A-4147-A177-3AD203B41FA5}">
                      <a16:colId xmlns:a16="http://schemas.microsoft.com/office/drawing/2014/main" val="3401749839"/>
                    </a:ext>
                  </a:extLst>
                </a:gridCol>
                <a:gridCol w="1745301">
                  <a:extLst>
                    <a:ext uri="{9D8B030D-6E8A-4147-A177-3AD203B41FA5}">
                      <a16:colId xmlns:a16="http://schemas.microsoft.com/office/drawing/2014/main" val="315362434"/>
                    </a:ext>
                  </a:extLst>
                </a:gridCol>
                <a:gridCol w="1876357">
                  <a:extLst>
                    <a:ext uri="{9D8B030D-6E8A-4147-A177-3AD203B41FA5}">
                      <a16:colId xmlns:a16="http://schemas.microsoft.com/office/drawing/2014/main" val="415971381"/>
                    </a:ext>
                  </a:extLst>
                </a:gridCol>
                <a:gridCol w="1527139">
                  <a:extLst>
                    <a:ext uri="{9D8B030D-6E8A-4147-A177-3AD203B41FA5}">
                      <a16:colId xmlns:a16="http://schemas.microsoft.com/office/drawing/2014/main" val="3467447067"/>
                    </a:ext>
                  </a:extLst>
                </a:gridCol>
              </a:tblGrid>
              <a:tr h="592552">
                <a:tc>
                  <a:txBody>
                    <a:bodyPr/>
                    <a:lstStyle/>
                    <a:p>
                      <a:pPr algn="ctr"/>
                      <a:r>
                        <a:rPr lang="en-GB" sz="3200" dirty="0"/>
                        <a:t>ID</a:t>
                      </a:r>
                    </a:p>
                  </a:txBody>
                  <a:tcPr/>
                </a:tc>
                <a:tc>
                  <a:txBody>
                    <a:bodyPr/>
                    <a:lstStyle/>
                    <a:p>
                      <a:pPr algn="ctr"/>
                      <a:r>
                        <a:rPr lang="en-GB" sz="3200" dirty="0"/>
                        <a:t>Forename</a:t>
                      </a:r>
                    </a:p>
                  </a:txBody>
                  <a:tcPr/>
                </a:tc>
                <a:tc>
                  <a:txBody>
                    <a:bodyPr/>
                    <a:lstStyle/>
                    <a:p>
                      <a:pPr algn="ctr"/>
                      <a:r>
                        <a:rPr lang="en-GB" sz="3200" dirty="0"/>
                        <a:t>Surname</a:t>
                      </a:r>
                    </a:p>
                  </a:txBody>
                  <a:tcPr/>
                </a:tc>
                <a:tc>
                  <a:txBody>
                    <a:bodyPr/>
                    <a:lstStyle/>
                    <a:p>
                      <a:pPr algn="ctr"/>
                      <a:r>
                        <a:rPr lang="en-GB" sz="3200" dirty="0"/>
                        <a:t>Dept</a:t>
                      </a:r>
                    </a:p>
                  </a:txBody>
                  <a:tcPr/>
                </a:tc>
                <a:tc>
                  <a:txBody>
                    <a:bodyPr/>
                    <a:lstStyle/>
                    <a:p>
                      <a:pPr algn="ctr"/>
                      <a:r>
                        <a:rPr lang="en-GB" sz="3200" dirty="0"/>
                        <a:t>Dept ID</a:t>
                      </a:r>
                    </a:p>
                  </a:txBody>
                  <a:tcPr/>
                </a:tc>
                <a:tc>
                  <a:txBody>
                    <a:bodyPr/>
                    <a:lstStyle/>
                    <a:p>
                      <a:pPr algn="ctr"/>
                      <a:r>
                        <a:rPr lang="en-GB" sz="3200" dirty="0"/>
                        <a:t>Phone</a:t>
                      </a:r>
                    </a:p>
                  </a:txBody>
                  <a:tcPr/>
                </a:tc>
                <a:extLst>
                  <a:ext uri="{0D108BD9-81ED-4DB2-BD59-A6C34878D82A}">
                    <a16:rowId xmlns:a16="http://schemas.microsoft.com/office/drawing/2014/main" val="3459615676"/>
                  </a:ext>
                </a:extLst>
              </a:tr>
              <a:tr h="592552">
                <a:tc>
                  <a:txBody>
                    <a:bodyPr/>
                    <a:lstStyle/>
                    <a:p>
                      <a:pPr lvl="0"/>
                      <a:r>
                        <a:rPr lang="en-GB" sz="3200" dirty="0"/>
                        <a:t>1</a:t>
                      </a:r>
                    </a:p>
                  </a:txBody>
                  <a:tcPr/>
                </a:tc>
                <a:tc>
                  <a:txBody>
                    <a:bodyPr/>
                    <a:lstStyle/>
                    <a:p>
                      <a:pPr lvl="0" algn="l"/>
                      <a:r>
                        <a:rPr lang="en-GB" sz="3200" dirty="0"/>
                        <a:t>Colin</a:t>
                      </a:r>
                    </a:p>
                  </a:txBody>
                  <a:tcPr/>
                </a:tc>
                <a:tc>
                  <a:txBody>
                    <a:bodyPr/>
                    <a:lstStyle/>
                    <a:p>
                      <a:pPr lvl="0" algn="l"/>
                      <a:r>
                        <a:rPr lang="en-GB" sz="3200" dirty="0"/>
                        <a:t>Arthur</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300</a:t>
                      </a:r>
                    </a:p>
                  </a:txBody>
                  <a:tcPr/>
                </a:tc>
                <a:extLst>
                  <a:ext uri="{0D108BD9-81ED-4DB2-BD59-A6C34878D82A}">
                    <a16:rowId xmlns:a16="http://schemas.microsoft.com/office/drawing/2014/main" val="1127765656"/>
                  </a:ext>
                </a:extLst>
              </a:tr>
              <a:tr h="592552">
                <a:tc>
                  <a:txBody>
                    <a:bodyPr/>
                    <a:lstStyle/>
                    <a:p>
                      <a:pPr lvl="0"/>
                      <a:r>
                        <a:rPr lang="en-GB" sz="3200" dirty="0"/>
                        <a:t>2</a:t>
                      </a:r>
                    </a:p>
                  </a:txBody>
                  <a:tcPr/>
                </a:tc>
                <a:tc>
                  <a:txBody>
                    <a:bodyPr/>
                    <a:lstStyle/>
                    <a:p>
                      <a:pPr lvl="0" algn="l"/>
                      <a:r>
                        <a:rPr lang="en-GB" sz="3200" dirty="0"/>
                        <a:t>Laura</a:t>
                      </a:r>
                    </a:p>
                  </a:txBody>
                  <a:tcPr/>
                </a:tc>
                <a:tc>
                  <a:txBody>
                    <a:bodyPr/>
                    <a:lstStyle/>
                    <a:p>
                      <a:pPr lvl="0" algn="l"/>
                      <a:r>
                        <a:rPr lang="en-GB" sz="3200" dirty="0"/>
                        <a:t>Brown</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300</a:t>
                      </a:r>
                    </a:p>
                  </a:txBody>
                  <a:tcPr/>
                </a:tc>
                <a:extLst>
                  <a:ext uri="{0D108BD9-81ED-4DB2-BD59-A6C34878D82A}">
                    <a16:rowId xmlns:a16="http://schemas.microsoft.com/office/drawing/2014/main" val="2924661129"/>
                  </a:ext>
                </a:extLst>
              </a:tr>
              <a:tr h="592552">
                <a:tc>
                  <a:txBody>
                    <a:bodyPr/>
                    <a:lstStyle/>
                    <a:p>
                      <a:pPr lvl="0"/>
                      <a:r>
                        <a:rPr lang="en-GB" sz="3200" dirty="0"/>
                        <a:t>3</a:t>
                      </a:r>
                    </a:p>
                  </a:txBody>
                  <a:tcPr/>
                </a:tc>
                <a:tc>
                  <a:txBody>
                    <a:bodyPr/>
                    <a:lstStyle/>
                    <a:p>
                      <a:pPr lvl="0" algn="l"/>
                      <a:r>
                        <a:rPr lang="en-GB" sz="3200" dirty="0"/>
                        <a:t>Stephen</a:t>
                      </a:r>
                    </a:p>
                  </a:txBody>
                  <a:tcPr/>
                </a:tc>
                <a:tc>
                  <a:txBody>
                    <a:bodyPr/>
                    <a:lstStyle/>
                    <a:p>
                      <a:pPr lvl="0" algn="l"/>
                      <a:r>
                        <a:rPr lang="en-GB" sz="3200" dirty="0"/>
                        <a:t>MacLeod</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300</a:t>
                      </a:r>
                    </a:p>
                  </a:txBody>
                  <a:tcPr/>
                </a:tc>
                <a:extLst>
                  <a:ext uri="{0D108BD9-81ED-4DB2-BD59-A6C34878D82A}">
                    <a16:rowId xmlns:a16="http://schemas.microsoft.com/office/drawing/2014/main" val="3885493841"/>
                  </a:ext>
                </a:extLst>
              </a:tr>
              <a:tr h="592552">
                <a:tc>
                  <a:txBody>
                    <a:bodyPr/>
                    <a:lstStyle/>
                    <a:p>
                      <a:pPr lvl="0"/>
                      <a:r>
                        <a:rPr lang="en-GB" sz="3200" dirty="0"/>
                        <a:t>4</a:t>
                      </a:r>
                    </a:p>
                  </a:txBody>
                  <a:tcPr/>
                </a:tc>
                <a:tc>
                  <a:txBody>
                    <a:bodyPr/>
                    <a:lstStyle/>
                    <a:p>
                      <a:pPr lvl="0" algn="l"/>
                      <a:r>
                        <a:rPr lang="en-GB" sz="3200" dirty="0"/>
                        <a:t>Scott</a:t>
                      </a:r>
                    </a:p>
                  </a:txBody>
                  <a:tcPr/>
                </a:tc>
                <a:tc>
                  <a:txBody>
                    <a:bodyPr/>
                    <a:lstStyle/>
                    <a:p>
                      <a:pPr lvl="0" algn="l"/>
                      <a:r>
                        <a:rPr lang="en-GB" sz="3200" dirty="0"/>
                        <a:t>Sinclair</a:t>
                      </a:r>
                    </a:p>
                  </a:txBody>
                  <a:tcPr/>
                </a:tc>
                <a:tc>
                  <a:txBody>
                    <a:bodyPr/>
                    <a:lstStyle/>
                    <a:p>
                      <a:pPr lvl="0" algn="l"/>
                      <a:r>
                        <a:rPr lang="en-GB" sz="3200" dirty="0"/>
                        <a:t>English</a:t>
                      </a:r>
                    </a:p>
                  </a:txBody>
                  <a:tcPr/>
                </a:tc>
                <a:tc>
                  <a:txBody>
                    <a:bodyPr/>
                    <a:lstStyle/>
                    <a:p>
                      <a:pPr lvl="0"/>
                      <a:r>
                        <a:rPr lang="en-GB" sz="3200" dirty="0"/>
                        <a:t>002</a:t>
                      </a:r>
                    </a:p>
                  </a:txBody>
                  <a:tcPr/>
                </a:tc>
                <a:tc>
                  <a:txBody>
                    <a:bodyPr/>
                    <a:lstStyle/>
                    <a:p>
                      <a:pPr lvl="0"/>
                      <a:r>
                        <a:rPr lang="en-GB" sz="3200" dirty="0"/>
                        <a:t>301</a:t>
                      </a:r>
                    </a:p>
                  </a:txBody>
                  <a:tcPr/>
                </a:tc>
                <a:extLst>
                  <a:ext uri="{0D108BD9-81ED-4DB2-BD59-A6C34878D82A}">
                    <a16:rowId xmlns:a16="http://schemas.microsoft.com/office/drawing/2014/main" val="1487565366"/>
                  </a:ext>
                </a:extLst>
              </a:tr>
            </a:tbl>
          </a:graphicData>
        </a:graphic>
      </p:graphicFrame>
      <p:sp>
        <p:nvSpPr>
          <p:cNvPr id="6" name="Callout: Bent Line with No Border 4">
            <a:extLst>
              <a:ext uri="{FF2B5EF4-FFF2-40B4-BE49-F238E27FC236}">
                <a16:creationId xmlns:a16="http://schemas.microsoft.com/office/drawing/2014/main" id="{924404A3-ED4C-4699-9CA9-EFEB23F51AA9}"/>
              </a:ext>
            </a:extLst>
          </p:cNvPr>
          <p:cNvSpPr/>
          <p:nvPr/>
        </p:nvSpPr>
        <p:spPr>
          <a:xfrm>
            <a:off x="6023295" y="5918200"/>
            <a:ext cx="2400300" cy="882650"/>
          </a:xfrm>
          <a:prstGeom prst="callout2">
            <a:avLst>
              <a:gd name="adj1" fmla="val 49806"/>
              <a:gd name="adj2" fmla="val 101751"/>
              <a:gd name="adj3" fmla="val 50035"/>
              <a:gd name="adj4" fmla="val 135548"/>
              <a:gd name="adj5" fmla="val -19500"/>
              <a:gd name="adj6" fmla="val 156714"/>
            </a:avLst>
          </a:prstGeom>
          <a:noFill/>
          <a:ln w="38100">
            <a:solidFill>
              <a:srgbClr val="FF0000"/>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chemeClr val="tx1"/>
                </a:solidFill>
              </a:rPr>
              <a:t>Insert anomaly</a:t>
            </a:r>
          </a:p>
        </p:txBody>
      </p:sp>
      <p:graphicFrame>
        <p:nvGraphicFramePr>
          <p:cNvPr id="3" name="Table 2">
            <a:extLst>
              <a:ext uri="{FF2B5EF4-FFF2-40B4-BE49-F238E27FC236}">
                <a16:creationId xmlns:a16="http://schemas.microsoft.com/office/drawing/2014/main" id="{E5FB5CC0-6D81-48CA-8C78-BBC6CEB9D8ED}"/>
              </a:ext>
            </a:extLst>
          </p:cNvPr>
          <p:cNvGraphicFramePr>
            <a:graphicFrameLocks noGrp="1"/>
          </p:cNvGraphicFramePr>
          <p:nvPr/>
        </p:nvGraphicFramePr>
        <p:xfrm>
          <a:off x="838200" y="5089525"/>
          <a:ext cx="10515600" cy="592552"/>
        </p:xfrm>
        <a:graphic>
          <a:graphicData uri="http://schemas.openxmlformats.org/drawingml/2006/table">
            <a:tbl>
              <a:tblPr bandRow="1">
                <a:tableStyleId>{5C22544A-7EE6-4342-B048-85BDC9FD1C3A}</a:tableStyleId>
              </a:tblPr>
              <a:tblGrid>
                <a:gridCol w="785386">
                  <a:extLst>
                    <a:ext uri="{9D8B030D-6E8A-4147-A177-3AD203B41FA5}">
                      <a16:colId xmlns:a16="http://schemas.microsoft.com/office/drawing/2014/main" val="2684301988"/>
                    </a:ext>
                  </a:extLst>
                </a:gridCol>
                <a:gridCol w="2399790">
                  <a:extLst>
                    <a:ext uri="{9D8B030D-6E8A-4147-A177-3AD203B41FA5}">
                      <a16:colId xmlns:a16="http://schemas.microsoft.com/office/drawing/2014/main" val="3554510891"/>
                    </a:ext>
                  </a:extLst>
                </a:gridCol>
                <a:gridCol w="2181627">
                  <a:extLst>
                    <a:ext uri="{9D8B030D-6E8A-4147-A177-3AD203B41FA5}">
                      <a16:colId xmlns:a16="http://schemas.microsoft.com/office/drawing/2014/main" val="76118969"/>
                    </a:ext>
                  </a:extLst>
                </a:gridCol>
                <a:gridCol w="1745301">
                  <a:extLst>
                    <a:ext uri="{9D8B030D-6E8A-4147-A177-3AD203B41FA5}">
                      <a16:colId xmlns:a16="http://schemas.microsoft.com/office/drawing/2014/main" val="2256709060"/>
                    </a:ext>
                  </a:extLst>
                </a:gridCol>
                <a:gridCol w="1876357">
                  <a:extLst>
                    <a:ext uri="{9D8B030D-6E8A-4147-A177-3AD203B41FA5}">
                      <a16:colId xmlns:a16="http://schemas.microsoft.com/office/drawing/2014/main" val="2333792100"/>
                    </a:ext>
                  </a:extLst>
                </a:gridCol>
                <a:gridCol w="1527139">
                  <a:extLst>
                    <a:ext uri="{9D8B030D-6E8A-4147-A177-3AD203B41FA5}">
                      <a16:colId xmlns:a16="http://schemas.microsoft.com/office/drawing/2014/main" val="705863989"/>
                    </a:ext>
                  </a:extLst>
                </a:gridCol>
              </a:tblGrid>
              <a:tr h="592552">
                <a:tc>
                  <a:txBody>
                    <a:bodyPr/>
                    <a:lstStyle/>
                    <a:p>
                      <a:pPr lvl="0"/>
                      <a:r>
                        <a:rPr lang="en-GB" sz="3200" dirty="0"/>
                        <a:t>5</a:t>
                      </a:r>
                    </a:p>
                  </a:txBody>
                  <a:tcPr/>
                </a:tc>
                <a:tc>
                  <a:txBody>
                    <a:bodyPr/>
                    <a:lstStyle/>
                    <a:p>
                      <a:pPr lvl="0" algn="l"/>
                      <a:r>
                        <a:rPr lang="en-GB" sz="3200" dirty="0"/>
                        <a:t>Michelle</a:t>
                      </a:r>
                    </a:p>
                  </a:txBody>
                  <a:tcPr/>
                </a:tc>
                <a:tc>
                  <a:txBody>
                    <a:bodyPr/>
                    <a:lstStyle/>
                    <a:p>
                      <a:pPr lvl="0" algn="l"/>
                      <a:r>
                        <a:rPr lang="en-GB" sz="3200" dirty="0"/>
                        <a:t>Wie</a:t>
                      </a:r>
                    </a:p>
                  </a:txBody>
                  <a:tcPr/>
                </a:tc>
                <a:tc>
                  <a:txBody>
                    <a:bodyPr/>
                    <a:lstStyle/>
                    <a:p>
                      <a:pPr lvl="0" algn="l"/>
                      <a:r>
                        <a:rPr lang="en-GB" sz="3200" dirty="0"/>
                        <a:t>English</a:t>
                      </a:r>
                    </a:p>
                  </a:txBody>
                  <a:tcPr/>
                </a:tc>
                <a:tc>
                  <a:txBody>
                    <a:bodyPr/>
                    <a:lstStyle/>
                    <a:p>
                      <a:pPr lvl="0"/>
                      <a:r>
                        <a:rPr lang="en-GB" sz="3200" dirty="0"/>
                        <a:t>002</a:t>
                      </a:r>
                    </a:p>
                  </a:txBody>
                  <a:tcPr/>
                </a:tc>
                <a:tc>
                  <a:txBody>
                    <a:bodyPr/>
                    <a:lstStyle/>
                    <a:p>
                      <a:pPr lvl="0"/>
                      <a:r>
                        <a:rPr lang="en-GB" sz="3200" dirty="0"/>
                        <a:t>302</a:t>
                      </a:r>
                    </a:p>
                  </a:txBody>
                  <a:tcPr/>
                </a:tc>
                <a:extLst>
                  <a:ext uri="{0D108BD9-81ED-4DB2-BD59-A6C34878D82A}">
                    <a16:rowId xmlns:a16="http://schemas.microsoft.com/office/drawing/2014/main" val="2098199609"/>
                  </a:ext>
                </a:extLst>
              </a:tr>
            </a:tbl>
          </a:graphicData>
        </a:graphic>
      </p:graphicFrame>
      <p:sp>
        <p:nvSpPr>
          <p:cNvPr id="7" name="Rectangle: Rounded Corners 6">
            <a:extLst>
              <a:ext uri="{FF2B5EF4-FFF2-40B4-BE49-F238E27FC236}">
                <a16:creationId xmlns:a16="http://schemas.microsoft.com/office/drawing/2014/main" id="{1CCC2A12-DF5C-496B-B881-6647A8EC7DEF}"/>
              </a:ext>
            </a:extLst>
          </p:cNvPr>
          <p:cNvSpPr/>
          <p:nvPr/>
        </p:nvSpPr>
        <p:spPr>
          <a:xfrm>
            <a:off x="9826465" y="5113336"/>
            <a:ext cx="864000" cy="552525"/>
          </a:xfrm>
          <a:prstGeom prst="roundRect">
            <a:avLst/>
          </a:prstGeom>
          <a:noFill/>
          <a:ln w="3810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8" name="Rectangle: Rounded Corners 7">
            <a:extLst>
              <a:ext uri="{FF2B5EF4-FFF2-40B4-BE49-F238E27FC236}">
                <a16:creationId xmlns:a16="http://schemas.microsoft.com/office/drawing/2014/main" id="{202D0A3C-5F32-45A6-8AB9-883EC44A8D85}"/>
              </a:ext>
            </a:extLst>
          </p:cNvPr>
          <p:cNvSpPr/>
          <p:nvPr/>
        </p:nvSpPr>
        <p:spPr>
          <a:xfrm>
            <a:off x="6206964" y="5113336"/>
            <a:ext cx="2578895" cy="552525"/>
          </a:xfrm>
          <a:prstGeom prst="roundRect">
            <a:avLst/>
          </a:prstGeom>
          <a:noFill/>
          <a:ln w="38100">
            <a:solidFill>
              <a:srgbClr val="00B050"/>
            </a:solidFill>
            <a:prstDash val="soli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9" name="TextBox 8">
            <a:extLst>
              <a:ext uri="{FF2B5EF4-FFF2-40B4-BE49-F238E27FC236}">
                <a16:creationId xmlns:a16="http://schemas.microsoft.com/office/drawing/2014/main" id="{985E7E1A-C387-4773-BF69-BFCB8B0D718F}"/>
              </a:ext>
            </a:extLst>
          </p:cNvPr>
          <p:cNvSpPr txBox="1"/>
          <p:nvPr/>
        </p:nvSpPr>
        <p:spPr>
          <a:xfrm>
            <a:off x="838200" y="1559731"/>
            <a:ext cx="7765459" cy="584775"/>
          </a:xfrm>
          <a:prstGeom prst="rect">
            <a:avLst/>
          </a:prstGeom>
          <a:noFill/>
        </p:spPr>
        <p:txBody>
          <a:bodyPr wrap="none" rtlCol="0">
            <a:spAutoFit/>
          </a:bodyPr>
          <a:lstStyle/>
          <a:p>
            <a:r>
              <a:rPr lang="en-GB" sz="3200" dirty="0"/>
              <a:t>Add a new teacher to the English department</a:t>
            </a:r>
          </a:p>
        </p:txBody>
      </p:sp>
    </p:spTree>
    <p:extLst>
      <p:ext uri="{BB962C8B-B14F-4D97-AF65-F5344CB8AC3E}">
        <p14:creationId xmlns:p14="http://schemas.microsoft.com/office/powerpoint/2010/main" val="39583183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animEffect transition="in" filter="wipe(left)">
                                      <p:cBhvr>
                                        <p:cTn id="7" dur="1000"/>
                                        <p:tgtEl>
                                          <p:spTgt spid="9"/>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nodeType="clickEffect">
                                  <p:stCondLst>
                                    <p:cond delay="0"/>
                                  </p:stCondLst>
                                  <p:childTnLst>
                                    <p:set>
                                      <p:cBhvr>
                                        <p:cTn id="11" dur="1" fill="hold">
                                          <p:stCondLst>
                                            <p:cond delay="0"/>
                                          </p:stCondLst>
                                        </p:cTn>
                                        <p:tgtEl>
                                          <p:spTgt spid="3"/>
                                        </p:tgtEl>
                                        <p:attrNameLst>
                                          <p:attrName>style.visibility</p:attrName>
                                        </p:attrNameLst>
                                      </p:cBhvr>
                                      <p:to>
                                        <p:strVal val="visible"/>
                                      </p:to>
                                    </p:set>
                                    <p:animEffect transition="in" filter="wipe(left)">
                                      <p:cBhvr>
                                        <p:cTn id="12" dur="1000"/>
                                        <p:tgtEl>
                                          <p:spTgt spid="3"/>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8"/>
                                        </p:tgtEl>
                                        <p:attrNameLst>
                                          <p:attrName>style.visibility</p:attrName>
                                        </p:attrNameLst>
                                      </p:cBhvr>
                                      <p:to>
                                        <p:strVal val="visible"/>
                                      </p:to>
                                    </p:set>
                                    <p:animEffect transition="in" filter="wipe(left)">
                                      <p:cBhvr>
                                        <p:cTn id="17" dur="2000"/>
                                        <p:tgtEl>
                                          <p:spTgt spid="8"/>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7"/>
                                        </p:tgtEl>
                                        <p:attrNameLst>
                                          <p:attrName>style.visibility</p:attrName>
                                        </p:attrNameLst>
                                      </p:cBhvr>
                                      <p:to>
                                        <p:strVal val="visible"/>
                                      </p:to>
                                    </p:set>
                                    <p:animEffect transition="in" filter="wipe(left)">
                                      <p:cBhvr>
                                        <p:cTn id="22" dur="1000"/>
                                        <p:tgtEl>
                                          <p:spTgt spid="7"/>
                                        </p:tgtEl>
                                      </p:cBhvr>
                                    </p:animEffect>
                                  </p:childTnLst>
                                </p:cTn>
                              </p:par>
                            </p:childTnLst>
                          </p:cTn>
                        </p:par>
                        <p:par>
                          <p:cTn id="23" fill="hold">
                            <p:stCondLst>
                              <p:cond delay="1000"/>
                            </p:stCondLst>
                            <p:childTnLst>
                              <p:par>
                                <p:cTn id="24" presetID="10" presetClass="entr" presetSubtype="0" fill="hold" grpId="0" nodeType="afterEffect">
                                  <p:stCondLst>
                                    <p:cond delay="0"/>
                                  </p:stCondLst>
                                  <p:childTnLst>
                                    <p:set>
                                      <p:cBhvr>
                                        <p:cTn id="25" dur="1" fill="hold">
                                          <p:stCondLst>
                                            <p:cond delay="0"/>
                                          </p:stCondLst>
                                        </p:cTn>
                                        <p:tgtEl>
                                          <p:spTgt spid="6"/>
                                        </p:tgtEl>
                                        <p:attrNameLst>
                                          <p:attrName>style.visibility</p:attrName>
                                        </p:attrNameLst>
                                      </p:cBhvr>
                                      <p:to>
                                        <p:strVal val="visible"/>
                                      </p:to>
                                    </p:set>
                                    <p:animEffect transition="in" filter="fade">
                                      <p:cBhvr>
                                        <p:cTn id="26" dur="10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7" grpId="0" animBg="1"/>
      <p:bldP spid="8" grpId="0" animBg="1"/>
      <p:bldP spid="9" grpId="0"/>
    </p:bldLst>
  </p:timing>
</p:sld>
</file>

<file path=ppt/slides/slide244.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Insert Anomaly</a:t>
            </a:r>
          </a:p>
        </p:txBody>
      </p:sp>
      <p:graphicFrame>
        <p:nvGraphicFramePr>
          <p:cNvPr id="5" name="Table 5">
            <a:extLst>
              <a:ext uri="{FF2B5EF4-FFF2-40B4-BE49-F238E27FC236}">
                <a16:creationId xmlns:a16="http://schemas.microsoft.com/office/drawing/2014/main" id="{38A8414E-6490-4AD8-90BD-DF0216F61C69}"/>
              </a:ext>
            </a:extLst>
          </p:cNvPr>
          <p:cNvGraphicFramePr>
            <a:graphicFrameLocks noGrp="1"/>
          </p:cNvGraphicFramePr>
          <p:nvPr>
            <p:ph idx="1"/>
          </p:nvPr>
        </p:nvGraphicFramePr>
        <p:xfrm>
          <a:off x="838200" y="2193925"/>
          <a:ext cx="10515600" cy="2962760"/>
        </p:xfrm>
        <a:graphic>
          <a:graphicData uri="http://schemas.openxmlformats.org/drawingml/2006/table">
            <a:tbl>
              <a:tblPr firstRow="1" bandRow="1">
                <a:tableStyleId>{5C22544A-7EE6-4342-B048-85BDC9FD1C3A}</a:tableStyleId>
              </a:tblPr>
              <a:tblGrid>
                <a:gridCol w="785386">
                  <a:extLst>
                    <a:ext uri="{9D8B030D-6E8A-4147-A177-3AD203B41FA5}">
                      <a16:colId xmlns:a16="http://schemas.microsoft.com/office/drawing/2014/main" val="1632358923"/>
                    </a:ext>
                  </a:extLst>
                </a:gridCol>
                <a:gridCol w="2399790">
                  <a:extLst>
                    <a:ext uri="{9D8B030D-6E8A-4147-A177-3AD203B41FA5}">
                      <a16:colId xmlns:a16="http://schemas.microsoft.com/office/drawing/2014/main" val="3505833113"/>
                    </a:ext>
                  </a:extLst>
                </a:gridCol>
                <a:gridCol w="2181627">
                  <a:extLst>
                    <a:ext uri="{9D8B030D-6E8A-4147-A177-3AD203B41FA5}">
                      <a16:colId xmlns:a16="http://schemas.microsoft.com/office/drawing/2014/main" val="3401749839"/>
                    </a:ext>
                  </a:extLst>
                </a:gridCol>
                <a:gridCol w="1745301">
                  <a:extLst>
                    <a:ext uri="{9D8B030D-6E8A-4147-A177-3AD203B41FA5}">
                      <a16:colId xmlns:a16="http://schemas.microsoft.com/office/drawing/2014/main" val="315362434"/>
                    </a:ext>
                  </a:extLst>
                </a:gridCol>
                <a:gridCol w="1876357">
                  <a:extLst>
                    <a:ext uri="{9D8B030D-6E8A-4147-A177-3AD203B41FA5}">
                      <a16:colId xmlns:a16="http://schemas.microsoft.com/office/drawing/2014/main" val="415971381"/>
                    </a:ext>
                  </a:extLst>
                </a:gridCol>
                <a:gridCol w="1527139">
                  <a:extLst>
                    <a:ext uri="{9D8B030D-6E8A-4147-A177-3AD203B41FA5}">
                      <a16:colId xmlns:a16="http://schemas.microsoft.com/office/drawing/2014/main" val="3467447067"/>
                    </a:ext>
                  </a:extLst>
                </a:gridCol>
              </a:tblGrid>
              <a:tr h="592552">
                <a:tc>
                  <a:txBody>
                    <a:bodyPr/>
                    <a:lstStyle/>
                    <a:p>
                      <a:pPr algn="ctr"/>
                      <a:r>
                        <a:rPr lang="en-GB" sz="3200" dirty="0"/>
                        <a:t>ID</a:t>
                      </a:r>
                    </a:p>
                  </a:txBody>
                  <a:tcPr/>
                </a:tc>
                <a:tc>
                  <a:txBody>
                    <a:bodyPr/>
                    <a:lstStyle/>
                    <a:p>
                      <a:pPr algn="ctr"/>
                      <a:r>
                        <a:rPr lang="en-GB" sz="3200" dirty="0"/>
                        <a:t>Forename</a:t>
                      </a:r>
                    </a:p>
                  </a:txBody>
                  <a:tcPr/>
                </a:tc>
                <a:tc>
                  <a:txBody>
                    <a:bodyPr/>
                    <a:lstStyle/>
                    <a:p>
                      <a:pPr algn="ctr"/>
                      <a:r>
                        <a:rPr lang="en-GB" sz="3200" dirty="0"/>
                        <a:t>Surname</a:t>
                      </a:r>
                    </a:p>
                  </a:txBody>
                  <a:tcPr/>
                </a:tc>
                <a:tc>
                  <a:txBody>
                    <a:bodyPr/>
                    <a:lstStyle/>
                    <a:p>
                      <a:pPr algn="ctr"/>
                      <a:r>
                        <a:rPr lang="en-GB" sz="3200" dirty="0"/>
                        <a:t>Dept</a:t>
                      </a:r>
                    </a:p>
                  </a:txBody>
                  <a:tcPr/>
                </a:tc>
                <a:tc>
                  <a:txBody>
                    <a:bodyPr/>
                    <a:lstStyle/>
                    <a:p>
                      <a:pPr algn="ctr"/>
                      <a:r>
                        <a:rPr lang="en-GB" sz="3200" dirty="0"/>
                        <a:t>Dept ID</a:t>
                      </a:r>
                    </a:p>
                  </a:txBody>
                  <a:tcPr/>
                </a:tc>
                <a:tc>
                  <a:txBody>
                    <a:bodyPr/>
                    <a:lstStyle/>
                    <a:p>
                      <a:pPr algn="ctr"/>
                      <a:r>
                        <a:rPr lang="en-GB" sz="3200" dirty="0"/>
                        <a:t>Phone</a:t>
                      </a:r>
                    </a:p>
                  </a:txBody>
                  <a:tcPr/>
                </a:tc>
                <a:extLst>
                  <a:ext uri="{0D108BD9-81ED-4DB2-BD59-A6C34878D82A}">
                    <a16:rowId xmlns:a16="http://schemas.microsoft.com/office/drawing/2014/main" val="3459615676"/>
                  </a:ext>
                </a:extLst>
              </a:tr>
              <a:tr h="592552">
                <a:tc>
                  <a:txBody>
                    <a:bodyPr/>
                    <a:lstStyle/>
                    <a:p>
                      <a:pPr lvl="0"/>
                      <a:r>
                        <a:rPr lang="en-GB" sz="3200" dirty="0"/>
                        <a:t>1</a:t>
                      </a:r>
                    </a:p>
                  </a:txBody>
                  <a:tcPr/>
                </a:tc>
                <a:tc>
                  <a:txBody>
                    <a:bodyPr/>
                    <a:lstStyle/>
                    <a:p>
                      <a:pPr lvl="0" algn="l"/>
                      <a:r>
                        <a:rPr lang="en-GB" sz="3200" dirty="0"/>
                        <a:t>Colin</a:t>
                      </a:r>
                    </a:p>
                  </a:txBody>
                  <a:tcPr/>
                </a:tc>
                <a:tc>
                  <a:txBody>
                    <a:bodyPr/>
                    <a:lstStyle/>
                    <a:p>
                      <a:pPr lvl="0" algn="l"/>
                      <a:r>
                        <a:rPr lang="en-GB" sz="3200" dirty="0"/>
                        <a:t>Arthur</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300</a:t>
                      </a:r>
                    </a:p>
                  </a:txBody>
                  <a:tcPr/>
                </a:tc>
                <a:extLst>
                  <a:ext uri="{0D108BD9-81ED-4DB2-BD59-A6C34878D82A}">
                    <a16:rowId xmlns:a16="http://schemas.microsoft.com/office/drawing/2014/main" val="1127765656"/>
                  </a:ext>
                </a:extLst>
              </a:tr>
              <a:tr h="592552">
                <a:tc>
                  <a:txBody>
                    <a:bodyPr/>
                    <a:lstStyle/>
                    <a:p>
                      <a:pPr lvl="0"/>
                      <a:r>
                        <a:rPr lang="en-GB" sz="3200" dirty="0"/>
                        <a:t>2</a:t>
                      </a:r>
                    </a:p>
                  </a:txBody>
                  <a:tcPr/>
                </a:tc>
                <a:tc>
                  <a:txBody>
                    <a:bodyPr/>
                    <a:lstStyle/>
                    <a:p>
                      <a:pPr lvl="0" algn="l"/>
                      <a:r>
                        <a:rPr lang="en-GB" sz="3200" dirty="0"/>
                        <a:t>Laura</a:t>
                      </a:r>
                    </a:p>
                  </a:txBody>
                  <a:tcPr/>
                </a:tc>
                <a:tc>
                  <a:txBody>
                    <a:bodyPr/>
                    <a:lstStyle/>
                    <a:p>
                      <a:pPr lvl="0" algn="l"/>
                      <a:r>
                        <a:rPr lang="en-GB" sz="3200" dirty="0"/>
                        <a:t>Brown</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300</a:t>
                      </a:r>
                    </a:p>
                  </a:txBody>
                  <a:tcPr/>
                </a:tc>
                <a:extLst>
                  <a:ext uri="{0D108BD9-81ED-4DB2-BD59-A6C34878D82A}">
                    <a16:rowId xmlns:a16="http://schemas.microsoft.com/office/drawing/2014/main" val="2924661129"/>
                  </a:ext>
                </a:extLst>
              </a:tr>
              <a:tr h="592552">
                <a:tc>
                  <a:txBody>
                    <a:bodyPr/>
                    <a:lstStyle/>
                    <a:p>
                      <a:pPr lvl="0"/>
                      <a:r>
                        <a:rPr lang="en-GB" sz="3200" dirty="0"/>
                        <a:t>3</a:t>
                      </a:r>
                    </a:p>
                  </a:txBody>
                  <a:tcPr/>
                </a:tc>
                <a:tc>
                  <a:txBody>
                    <a:bodyPr/>
                    <a:lstStyle/>
                    <a:p>
                      <a:pPr lvl="0" algn="l"/>
                      <a:r>
                        <a:rPr lang="en-GB" sz="3200" dirty="0"/>
                        <a:t>Stephen</a:t>
                      </a:r>
                    </a:p>
                  </a:txBody>
                  <a:tcPr/>
                </a:tc>
                <a:tc>
                  <a:txBody>
                    <a:bodyPr/>
                    <a:lstStyle/>
                    <a:p>
                      <a:pPr lvl="0" algn="l"/>
                      <a:r>
                        <a:rPr lang="en-GB" sz="3200" dirty="0"/>
                        <a:t>MacLeod</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300</a:t>
                      </a:r>
                    </a:p>
                  </a:txBody>
                  <a:tcPr/>
                </a:tc>
                <a:extLst>
                  <a:ext uri="{0D108BD9-81ED-4DB2-BD59-A6C34878D82A}">
                    <a16:rowId xmlns:a16="http://schemas.microsoft.com/office/drawing/2014/main" val="3885493841"/>
                  </a:ext>
                </a:extLst>
              </a:tr>
              <a:tr h="592552">
                <a:tc>
                  <a:txBody>
                    <a:bodyPr/>
                    <a:lstStyle/>
                    <a:p>
                      <a:pPr lvl="0"/>
                      <a:r>
                        <a:rPr lang="en-GB" sz="3200" dirty="0"/>
                        <a:t>4</a:t>
                      </a:r>
                    </a:p>
                  </a:txBody>
                  <a:tcPr/>
                </a:tc>
                <a:tc>
                  <a:txBody>
                    <a:bodyPr/>
                    <a:lstStyle/>
                    <a:p>
                      <a:pPr lvl="0" algn="l"/>
                      <a:r>
                        <a:rPr lang="en-GB" sz="3200" dirty="0"/>
                        <a:t>Scott</a:t>
                      </a:r>
                    </a:p>
                  </a:txBody>
                  <a:tcPr/>
                </a:tc>
                <a:tc>
                  <a:txBody>
                    <a:bodyPr/>
                    <a:lstStyle/>
                    <a:p>
                      <a:pPr lvl="0" algn="l"/>
                      <a:r>
                        <a:rPr lang="en-GB" sz="3200" dirty="0"/>
                        <a:t>Sinclair</a:t>
                      </a:r>
                    </a:p>
                  </a:txBody>
                  <a:tcPr/>
                </a:tc>
                <a:tc>
                  <a:txBody>
                    <a:bodyPr/>
                    <a:lstStyle/>
                    <a:p>
                      <a:pPr lvl="0" algn="l"/>
                      <a:r>
                        <a:rPr lang="en-GB" sz="3200" dirty="0"/>
                        <a:t>English</a:t>
                      </a:r>
                    </a:p>
                  </a:txBody>
                  <a:tcPr/>
                </a:tc>
                <a:tc>
                  <a:txBody>
                    <a:bodyPr/>
                    <a:lstStyle/>
                    <a:p>
                      <a:pPr lvl="0"/>
                      <a:r>
                        <a:rPr lang="en-GB" sz="3200" dirty="0"/>
                        <a:t>002</a:t>
                      </a:r>
                    </a:p>
                  </a:txBody>
                  <a:tcPr/>
                </a:tc>
                <a:tc>
                  <a:txBody>
                    <a:bodyPr/>
                    <a:lstStyle/>
                    <a:p>
                      <a:pPr lvl="0"/>
                      <a:r>
                        <a:rPr lang="en-GB" sz="3200" dirty="0"/>
                        <a:t>301</a:t>
                      </a:r>
                    </a:p>
                  </a:txBody>
                  <a:tcPr/>
                </a:tc>
                <a:extLst>
                  <a:ext uri="{0D108BD9-81ED-4DB2-BD59-A6C34878D82A}">
                    <a16:rowId xmlns:a16="http://schemas.microsoft.com/office/drawing/2014/main" val="1487565366"/>
                  </a:ext>
                </a:extLst>
              </a:tr>
            </a:tbl>
          </a:graphicData>
        </a:graphic>
      </p:graphicFrame>
    </p:spTree>
    <p:extLst>
      <p:ext uri="{BB962C8B-B14F-4D97-AF65-F5344CB8AC3E}">
        <p14:creationId xmlns:p14="http://schemas.microsoft.com/office/powerpoint/2010/main" val="3219669152"/>
      </p:ext>
    </p:extLst>
  </p:cSld>
  <p:clrMapOvr>
    <a:masterClrMapping/>
  </p:clrMapOvr>
</p:sld>
</file>

<file path=ppt/slides/slide2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Delete Anomaly</a:t>
            </a:r>
          </a:p>
        </p:txBody>
      </p:sp>
      <p:graphicFrame>
        <p:nvGraphicFramePr>
          <p:cNvPr id="5" name="Table 5">
            <a:extLst>
              <a:ext uri="{FF2B5EF4-FFF2-40B4-BE49-F238E27FC236}">
                <a16:creationId xmlns:a16="http://schemas.microsoft.com/office/drawing/2014/main" id="{38A8414E-6490-4AD8-90BD-DF0216F61C69}"/>
              </a:ext>
            </a:extLst>
          </p:cNvPr>
          <p:cNvGraphicFramePr>
            <a:graphicFrameLocks noGrp="1"/>
          </p:cNvGraphicFramePr>
          <p:nvPr>
            <p:ph idx="1"/>
          </p:nvPr>
        </p:nvGraphicFramePr>
        <p:xfrm>
          <a:off x="838200" y="2193925"/>
          <a:ext cx="10515600" cy="2962760"/>
        </p:xfrm>
        <a:graphic>
          <a:graphicData uri="http://schemas.openxmlformats.org/drawingml/2006/table">
            <a:tbl>
              <a:tblPr firstRow="1" bandRow="1">
                <a:tableStyleId>{5C22544A-7EE6-4342-B048-85BDC9FD1C3A}</a:tableStyleId>
              </a:tblPr>
              <a:tblGrid>
                <a:gridCol w="785386">
                  <a:extLst>
                    <a:ext uri="{9D8B030D-6E8A-4147-A177-3AD203B41FA5}">
                      <a16:colId xmlns:a16="http://schemas.microsoft.com/office/drawing/2014/main" val="1632358923"/>
                    </a:ext>
                  </a:extLst>
                </a:gridCol>
                <a:gridCol w="2399790">
                  <a:extLst>
                    <a:ext uri="{9D8B030D-6E8A-4147-A177-3AD203B41FA5}">
                      <a16:colId xmlns:a16="http://schemas.microsoft.com/office/drawing/2014/main" val="3505833113"/>
                    </a:ext>
                  </a:extLst>
                </a:gridCol>
                <a:gridCol w="2181627">
                  <a:extLst>
                    <a:ext uri="{9D8B030D-6E8A-4147-A177-3AD203B41FA5}">
                      <a16:colId xmlns:a16="http://schemas.microsoft.com/office/drawing/2014/main" val="3401749839"/>
                    </a:ext>
                  </a:extLst>
                </a:gridCol>
                <a:gridCol w="1745301">
                  <a:extLst>
                    <a:ext uri="{9D8B030D-6E8A-4147-A177-3AD203B41FA5}">
                      <a16:colId xmlns:a16="http://schemas.microsoft.com/office/drawing/2014/main" val="315362434"/>
                    </a:ext>
                  </a:extLst>
                </a:gridCol>
                <a:gridCol w="1876357">
                  <a:extLst>
                    <a:ext uri="{9D8B030D-6E8A-4147-A177-3AD203B41FA5}">
                      <a16:colId xmlns:a16="http://schemas.microsoft.com/office/drawing/2014/main" val="415971381"/>
                    </a:ext>
                  </a:extLst>
                </a:gridCol>
                <a:gridCol w="1527139">
                  <a:extLst>
                    <a:ext uri="{9D8B030D-6E8A-4147-A177-3AD203B41FA5}">
                      <a16:colId xmlns:a16="http://schemas.microsoft.com/office/drawing/2014/main" val="3467447067"/>
                    </a:ext>
                  </a:extLst>
                </a:gridCol>
              </a:tblGrid>
              <a:tr h="592552">
                <a:tc>
                  <a:txBody>
                    <a:bodyPr/>
                    <a:lstStyle/>
                    <a:p>
                      <a:pPr algn="ctr"/>
                      <a:r>
                        <a:rPr lang="en-GB" sz="3200" dirty="0"/>
                        <a:t>ID</a:t>
                      </a:r>
                    </a:p>
                  </a:txBody>
                  <a:tcPr/>
                </a:tc>
                <a:tc>
                  <a:txBody>
                    <a:bodyPr/>
                    <a:lstStyle/>
                    <a:p>
                      <a:pPr algn="ctr"/>
                      <a:r>
                        <a:rPr lang="en-GB" sz="3200" dirty="0"/>
                        <a:t>Forename</a:t>
                      </a:r>
                    </a:p>
                  </a:txBody>
                  <a:tcPr/>
                </a:tc>
                <a:tc>
                  <a:txBody>
                    <a:bodyPr/>
                    <a:lstStyle/>
                    <a:p>
                      <a:pPr algn="ctr"/>
                      <a:r>
                        <a:rPr lang="en-GB" sz="3200" dirty="0"/>
                        <a:t>Surname</a:t>
                      </a:r>
                    </a:p>
                  </a:txBody>
                  <a:tcPr/>
                </a:tc>
                <a:tc>
                  <a:txBody>
                    <a:bodyPr/>
                    <a:lstStyle/>
                    <a:p>
                      <a:pPr algn="ctr"/>
                      <a:r>
                        <a:rPr lang="en-GB" sz="3200" dirty="0"/>
                        <a:t>Dept</a:t>
                      </a:r>
                    </a:p>
                  </a:txBody>
                  <a:tcPr/>
                </a:tc>
                <a:tc>
                  <a:txBody>
                    <a:bodyPr/>
                    <a:lstStyle/>
                    <a:p>
                      <a:pPr algn="ctr"/>
                      <a:r>
                        <a:rPr lang="en-GB" sz="3200" dirty="0"/>
                        <a:t>Dept ID</a:t>
                      </a:r>
                    </a:p>
                  </a:txBody>
                  <a:tcPr/>
                </a:tc>
                <a:tc>
                  <a:txBody>
                    <a:bodyPr/>
                    <a:lstStyle/>
                    <a:p>
                      <a:pPr algn="ctr"/>
                      <a:r>
                        <a:rPr lang="en-GB" sz="3200" dirty="0"/>
                        <a:t>Phone</a:t>
                      </a:r>
                    </a:p>
                  </a:txBody>
                  <a:tcPr/>
                </a:tc>
                <a:extLst>
                  <a:ext uri="{0D108BD9-81ED-4DB2-BD59-A6C34878D82A}">
                    <a16:rowId xmlns:a16="http://schemas.microsoft.com/office/drawing/2014/main" val="3459615676"/>
                  </a:ext>
                </a:extLst>
              </a:tr>
              <a:tr h="592552">
                <a:tc>
                  <a:txBody>
                    <a:bodyPr/>
                    <a:lstStyle/>
                    <a:p>
                      <a:pPr lvl="0"/>
                      <a:r>
                        <a:rPr lang="en-GB" sz="3200" dirty="0"/>
                        <a:t>1</a:t>
                      </a:r>
                    </a:p>
                  </a:txBody>
                  <a:tcPr/>
                </a:tc>
                <a:tc>
                  <a:txBody>
                    <a:bodyPr/>
                    <a:lstStyle/>
                    <a:p>
                      <a:pPr lvl="0" algn="l"/>
                      <a:r>
                        <a:rPr lang="en-GB" sz="3200" dirty="0"/>
                        <a:t>Colin</a:t>
                      </a:r>
                    </a:p>
                  </a:txBody>
                  <a:tcPr/>
                </a:tc>
                <a:tc>
                  <a:txBody>
                    <a:bodyPr/>
                    <a:lstStyle/>
                    <a:p>
                      <a:pPr lvl="0" algn="l"/>
                      <a:r>
                        <a:rPr lang="en-GB" sz="3200" dirty="0"/>
                        <a:t>Arthur</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300</a:t>
                      </a:r>
                    </a:p>
                  </a:txBody>
                  <a:tcPr/>
                </a:tc>
                <a:extLst>
                  <a:ext uri="{0D108BD9-81ED-4DB2-BD59-A6C34878D82A}">
                    <a16:rowId xmlns:a16="http://schemas.microsoft.com/office/drawing/2014/main" val="1127765656"/>
                  </a:ext>
                </a:extLst>
              </a:tr>
              <a:tr h="592552">
                <a:tc>
                  <a:txBody>
                    <a:bodyPr/>
                    <a:lstStyle/>
                    <a:p>
                      <a:pPr lvl="0"/>
                      <a:r>
                        <a:rPr lang="en-GB" sz="3200" dirty="0"/>
                        <a:t>2</a:t>
                      </a:r>
                    </a:p>
                  </a:txBody>
                  <a:tcPr/>
                </a:tc>
                <a:tc>
                  <a:txBody>
                    <a:bodyPr/>
                    <a:lstStyle/>
                    <a:p>
                      <a:pPr lvl="0" algn="l"/>
                      <a:r>
                        <a:rPr lang="en-GB" sz="3200" dirty="0"/>
                        <a:t>Laura</a:t>
                      </a:r>
                    </a:p>
                  </a:txBody>
                  <a:tcPr/>
                </a:tc>
                <a:tc>
                  <a:txBody>
                    <a:bodyPr/>
                    <a:lstStyle/>
                    <a:p>
                      <a:pPr lvl="0" algn="l"/>
                      <a:r>
                        <a:rPr lang="en-GB" sz="3200" dirty="0"/>
                        <a:t>Brown</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300</a:t>
                      </a:r>
                    </a:p>
                  </a:txBody>
                  <a:tcPr/>
                </a:tc>
                <a:extLst>
                  <a:ext uri="{0D108BD9-81ED-4DB2-BD59-A6C34878D82A}">
                    <a16:rowId xmlns:a16="http://schemas.microsoft.com/office/drawing/2014/main" val="2924661129"/>
                  </a:ext>
                </a:extLst>
              </a:tr>
              <a:tr h="592552">
                <a:tc>
                  <a:txBody>
                    <a:bodyPr/>
                    <a:lstStyle/>
                    <a:p>
                      <a:pPr lvl="0"/>
                      <a:r>
                        <a:rPr lang="en-GB" sz="3200" dirty="0"/>
                        <a:t>3</a:t>
                      </a:r>
                    </a:p>
                  </a:txBody>
                  <a:tcPr/>
                </a:tc>
                <a:tc>
                  <a:txBody>
                    <a:bodyPr/>
                    <a:lstStyle/>
                    <a:p>
                      <a:pPr lvl="0" algn="l"/>
                      <a:r>
                        <a:rPr lang="en-GB" sz="3200" dirty="0"/>
                        <a:t>Stephen</a:t>
                      </a:r>
                    </a:p>
                  </a:txBody>
                  <a:tcPr/>
                </a:tc>
                <a:tc>
                  <a:txBody>
                    <a:bodyPr/>
                    <a:lstStyle/>
                    <a:p>
                      <a:pPr lvl="0" algn="l"/>
                      <a:r>
                        <a:rPr lang="en-GB" sz="3200" dirty="0"/>
                        <a:t>MacLeod</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300</a:t>
                      </a:r>
                    </a:p>
                  </a:txBody>
                  <a:tcPr/>
                </a:tc>
                <a:extLst>
                  <a:ext uri="{0D108BD9-81ED-4DB2-BD59-A6C34878D82A}">
                    <a16:rowId xmlns:a16="http://schemas.microsoft.com/office/drawing/2014/main" val="3885493841"/>
                  </a:ext>
                </a:extLst>
              </a:tr>
              <a:tr h="592552">
                <a:tc>
                  <a:txBody>
                    <a:bodyPr/>
                    <a:lstStyle/>
                    <a:p>
                      <a:pPr lvl="0"/>
                      <a:r>
                        <a:rPr lang="en-GB" sz="3200" dirty="0"/>
                        <a:t>4</a:t>
                      </a:r>
                    </a:p>
                  </a:txBody>
                  <a:tcPr/>
                </a:tc>
                <a:tc>
                  <a:txBody>
                    <a:bodyPr/>
                    <a:lstStyle/>
                    <a:p>
                      <a:pPr lvl="0" algn="l"/>
                      <a:r>
                        <a:rPr lang="en-GB" sz="3200" dirty="0"/>
                        <a:t>Scott</a:t>
                      </a:r>
                    </a:p>
                  </a:txBody>
                  <a:tcPr/>
                </a:tc>
                <a:tc>
                  <a:txBody>
                    <a:bodyPr/>
                    <a:lstStyle/>
                    <a:p>
                      <a:pPr lvl="0" algn="l"/>
                      <a:r>
                        <a:rPr lang="en-GB" sz="3200" dirty="0"/>
                        <a:t>Sinclair</a:t>
                      </a:r>
                    </a:p>
                  </a:txBody>
                  <a:tcPr/>
                </a:tc>
                <a:tc>
                  <a:txBody>
                    <a:bodyPr/>
                    <a:lstStyle/>
                    <a:p>
                      <a:pPr lvl="0" algn="l"/>
                      <a:r>
                        <a:rPr lang="en-GB" sz="3200" dirty="0"/>
                        <a:t>English</a:t>
                      </a:r>
                    </a:p>
                  </a:txBody>
                  <a:tcPr/>
                </a:tc>
                <a:tc>
                  <a:txBody>
                    <a:bodyPr/>
                    <a:lstStyle/>
                    <a:p>
                      <a:pPr lvl="0"/>
                      <a:r>
                        <a:rPr lang="en-GB" sz="3200" dirty="0"/>
                        <a:t>002</a:t>
                      </a:r>
                    </a:p>
                  </a:txBody>
                  <a:tcPr/>
                </a:tc>
                <a:tc>
                  <a:txBody>
                    <a:bodyPr/>
                    <a:lstStyle/>
                    <a:p>
                      <a:pPr lvl="0"/>
                      <a:r>
                        <a:rPr lang="en-GB" sz="3200" dirty="0"/>
                        <a:t>301</a:t>
                      </a:r>
                    </a:p>
                  </a:txBody>
                  <a:tcPr/>
                </a:tc>
                <a:extLst>
                  <a:ext uri="{0D108BD9-81ED-4DB2-BD59-A6C34878D82A}">
                    <a16:rowId xmlns:a16="http://schemas.microsoft.com/office/drawing/2014/main" val="1487565366"/>
                  </a:ext>
                </a:extLst>
              </a:tr>
            </a:tbl>
          </a:graphicData>
        </a:graphic>
      </p:graphicFrame>
      <p:graphicFrame>
        <p:nvGraphicFramePr>
          <p:cNvPr id="3" name="Table 2">
            <a:extLst>
              <a:ext uri="{FF2B5EF4-FFF2-40B4-BE49-F238E27FC236}">
                <a16:creationId xmlns:a16="http://schemas.microsoft.com/office/drawing/2014/main" id="{E5FB5CC0-6D81-48CA-8C78-BBC6CEB9D8ED}"/>
              </a:ext>
            </a:extLst>
          </p:cNvPr>
          <p:cNvGraphicFramePr>
            <a:graphicFrameLocks noGrp="1"/>
          </p:cNvGraphicFramePr>
          <p:nvPr/>
        </p:nvGraphicFramePr>
        <p:xfrm>
          <a:off x="838200" y="5089525"/>
          <a:ext cx="10515600" cy="592552"/>
        </p:xfrm>
        <a:graphic>
          <a:graphicData uri="http://schemas.openxmlformats.org/drawingml/2006/table">
            <a:tbl>
              <a:tblPr bandRow="1">
                <a:tableStyleId>{5C22544A-7EE6-4342-B048-85BDC9FD1C3A}</a:tableStyleId>
              </a:tblPr>
              <a:tblGrid>
                <a:gridCol w="785386">
                  <a:extLst>
                    <a:ext uri="{9D8B030D-6E8A-4147-A177-3AD203B41FA5}">
                      <a16:colId xmlns:a16="http://schemas.microsoft.com/office/drawing/2014/main" val="2684301988"/>
                    </a:ext>
                  </a:extLst>
                </a:gridCol>
                <a:gridCol w="2399790">
                  <a:extLst>
                    <a:ext uri="{9D8B030D-6E8A-4147-A177-3AD203B41FA5}">
                      <a16:colId xmlns:a16="http://schemas.microsoft.com/office/drawing/2014/main" val="3554510891"/>
                    </a:ext>
                  </a:extLst>
                </a:gridCol>
                <a:gridCol w="2181627">
                  <a:extLst>
                    <a:ext uri="{9D8B030D-6E8A-4147-A177-3AD203B41FA5}">
                      <a16:colId xmlns:a16="http://schemas.microsoft.com/office/drawing/2014/main" val="76118969"/>
                    </a:ext>
                  </a:extLst>
                </a:gridCol>
                <a:gridCol w="1745301">
                  <a:extLst>
                    <a:ext uri="{9D8B030D-6E8A-4147-A177-3AD203B41FA5}">
                      <a16:colId xmlns:a16="http://schemas.microsoft.com/office/drawing/2014/main" val="2256709060"/>
                    </a:ext>
                  </a:extLst>
                </a:gridCol>
                <a:gridCol w="1876357">
                  <a:extLst>
                    <a:ext uri="{9D8B030D-6E8A-4147-A177-3AD203B41FA5}">
                      <a16:colId xmlns:a16="http://schemas.microsoft.com/office/drawing/2014/main" val="2333792100"/>
                    </a:ext>
                  </a:extLst>
                </a:gridCol>
                <a:gridCol w="1527139">
                  <a:extLst>
                    <a:ext uri="{9D8B030D-6E8A-4147-A177-3AD203B41FA5}">
                      <a16:colId xmlns:a16="http://schemas.microsoft.com/office/drawing/2014/main" val="705863989"/>
                    </a:ext>
                  </a:extLst>
                </a:gridCol>
              </a:tblGrid>
              <a:tr h="592552">
                <a:tc>
                  <a:txBody>
                    <a:bodyPr/>
                    <a:lstStyle/>
                    <a:p>
                      <a:pPr lvl="0"/>
                      <a:r>
                        <a:rPr lang="en-GB" sz="3200" dirty="0"/>
                        <a:t>5</a:t>
                      </a:r>
                    </a:p>
                  </a:txBody>
                  <a:tcPr/>
                </a:tc>
                <a:tc>
                  <a:txBody>
                    <a:bodyPr/>
                    <a:lstStyle/>
                    <a:p>
                      <a:pPr lvl="0" algn="l"/>
                      <a:r>
                        <a:rPr lang="en-GB" sz="3200" dirty="0"/>
                        <a:t>Michelle</a:t>
                      </a:r>
                    </a:p>
                  </a:txBody>
                  <a:tcPr/>
                </a:tc>
                <a:tc>
                  <a:txBody>
                    <a:bodyPr/>
                    <a:lstStyle/>
                    <a:p>
                      <a:pPr lvl="0" algn="l"/>
                      <a:r>
                        <a:rPr lang="en-GB" sz="3200" dirty="0"/>
                        <a:t>Wie</a:t>
                      </a:r>
                    </a:p>
                  </a:txBody>
                  <a:tcPr/>
                </a:tc>
                <a:tc>
                  <a:txBody>
                    <a:bodyPr/>
                    <a:lstStyle/>
                    <a:p>
                      <a:pPr lvl="0" algn="l"/>
                      <a:r>
                        <a:rPr lang="en-GB" sz="3200" dirty="0"/>
                        <a:t>English</a:t>
                      </a:r>
                    </a:p>
                  </a:txBody>
                  <a:tcPr/>
                </a:tc>
                <a:tc>
                  <a:txBody>
                    <a:bodyPr/>
                    <a:lstStyle/>
                    <a:p>
                      <a:pPr lvl="0"/>
                      <a:r>
                        <a:rPr lang="en-GB" sz="3200" dirty="0"/>
                        <a:t>002</a:t>
                      </a:r>
                    </a:p>
                  </a:txBody>
                  <a:tcPr/>
                </a:tc>
                <a:tc>
                  <a:txBody>
                    <a:bodyPr/>
                    <a:lstStyle/>
                    <a:p>
                      <a:pPr lvl="0"/>
                      <a:r>
                        <a:rPr lang="en-GB" sz="3200" dirty="0"/>
                        <a:t>301</a:t>
                      </a:r>
                    </a:p>
                  </a:txBody>
                  <a:tcPr/>
                </a:tc>
                <a:extLst>
                  <a:ext uri="{0D108BD9-81ED-4DB2-BD59-A6C34878D82A}">
                    <a16:rowId xmlns:a16="http://schemas.microsoft.com/office/drawing/2014/main" val="2098199609"/>
                  </a:ext>
                </a:extLst>
              </a:tr>
            </a:tbl>
          </a:graphicData>
        </a:graphic>
      </p:graphicFrame>
      <p:sp>
        <p:nvSpPr>
          <p:cNvPr id="6" name="Callout: Bent Line with No Border 4">
            <a:extLst>
              <a:ext uri="{FF2B5EF4-FFF2-40B4-BE49-F238E27FC236}">
                <a16:creationId xmlns:a16="http://schemas.microsoft.com/office/drawing/2014/main" id="{924404A3-ED4C-4699-9CA9-EFEB23F51AA9}"/>
              </a:ext>
            </a:extLst>
          </p:cNvPr>
          <p:cNvSpPr/>
          <p:nvPr/>
        </p:nvSpPr>
        <p:spPr>
          <a:xfrm>
            <a:off x="2928614" y="5337907"/>
            <a:ext cx="2548575" cy="882650"/>
          </a:xfrm>
          <a:prstGeom prst="callout2">
            <a:avLst>
              <a:gd name="adj1" fmla="val 49806"/>
              <a:gd name="adj2" fmla="val 101751"/>
              <a:gd name="adj3" fmla="val 49172"/>
              <a:gd name="adj4" fmla="val 131362"/>
              <a:gd name="adj5" fmla="val -18637"/>
              <a:gd name="adj6" fmla="val 149538"/>
            </a:avLst>
          </a:prstGeom>
          <a:noFill/>
          <a:ln w="38100">
            <a:solidFill>
              <a:srgbClr val="FF0000"/>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chemeClr val="tx1"/>
                </a:solidFill>
              </a:rPr>
              <a:t>Delete anomaly</a:t>
            </a:r>
          </a:p>
        </p:txBody>
      </p:sp>
      <p:sp>
        <p:nvSpPr>
          <p:cNvPr id="7" name="Rectangle: Rounded Corners 6">
            <a:extLst>
              <a:ext uri="{FF2B5EF4-FFF2-40B4-BE49-F238E27FC236}">
                <a16:creationId xmlns:a16="http://schemas.microsoft.com/office/drawing/2014/main" id="{1CCC2A12-DF5C-496B-B881-6647A8EC7DEF}"/>
              </a:ext>
            </a:extLst>
          </p:cNvPr>
          <p:cNvSpPr/>
          <p:nvPr/>
        </p:nvSpPr>
        <p:spPr>
          <a:xfrm>
            <a:off x="838200" y="4561836"/>
            <a:ext cx="9875520" cy="552525"/>
          </a:xfrm>
          <a:prstGeom prst="roundRect">
            <a:avLst/>
          </a:prstGeom>
          <a:noFill/>
          <a:ln w="3810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9" name="TextBox 8">
            <a:extLst>
              <a:ext uri="{FF2B5EF4-FFF2-40B4-BE49-F238E27FC236}">
                <a16:creationId xmlns:a16="http://schemas.microsoft.com/office/drawing/2014/main" id="{985E7E1A-C387-4773-BF69-BFCB8B0D718F}"/>
              </a:ext>
            </a:extLst>
          </p:cNvPr>
          <p:cNvSpPr txBox="1"/>
          <p:nvPr/>
        </p:nvSpPr>
        <p:spPr>
          <a:xfrm>
            <a:off x="838200" y="1559731"/>
            <a:ext cx="9523376" cy="584775"/>
          </a:xfrm>
          <a:prstGeom prst="rect">
            <a:avLst/>
          </a:prstGeom>
          <a:noFill/>
        </p:spPr>
        <p:txBody>
          <a:bodyPr wrap="none" rtlCol="0">
            <a:spAutoFit/>
          </a:bodyPr>
          <a:lstStyle/>
          <a:p>
            <a:r>
              <a:rPr lang="en-GB" sz="3200" dirty="0"/>
              <a:t>Remove all teachers who are in the English department</a:t>
            </a:r>
          </a:p>
        </p:txBody>
      </p:sp>
    </p:spTree>
    <p:extLst>
      <p:ext uri="{BB962C8B-B14F-4D97-AF65-F5344CB8AC3E}">
        <p14:creationId xmlns:p14="http://schemas.microsoft.com/office/powerpoint/2010/main" val="70200636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animEffect transition="in" filter="wipe(left)">
                                      <p:cBhvr>
                                        <p:cTn id="7" dur="1000"/>
                                        <p:tgtEl>
                                          <p:spTgt spid="9"/>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xit" presetSubtype="2" fill="hold" nodeType="clickEffect">
                                  <p:stCondLst>
                                    <p:cond delay="0"/>
                                  </p:stCondLst>
                                  <p:childTnLst>
                                    <p:animEffect transition="out" filter="wipe(right)">
                                      <p:cBhvr>
                                        <p:cTn id="11" dur="1000"/>
                                        <p:tgtEl>
                                          <p:spTgt spid="3"/>
                                        </p:tgtEl>
                                      </p:cBhvr>
                                    </p:animEffect>
                                    <p:set>
                                      <p:cBhvr>
                                        <p:cTn id="12" dur="1" fill="hold">
                                          <p:stCondLst>
                                            <p:cond delay="999"/>
                                          </p:stCondLst>
                                        </p:cTn>
                                        <p:tgtEl>
                                          <p:spTgt spid="3"/>
                                        </p:tgtEl>
                                        <p:attrNameLst>
                                          <p:attrName>style.visibility</p:attrName>
                                        </p:attrNameLst>
                                      </p:cBhvr>
                                      <p:to>
                                        <p:strVal val="hidden"/>
                                      </p:to>
                                    </p:se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7"/>
                                        </p:tgtEl>
                                        <p:attrNameLst>
                                          <p:attrName>style.visibility</p:attrName>
                                        </p:attrNameLst>
                                      </p:cBhvr>
                                      <p:to>
                                        <p:strVal val="visible"/>
                                      </p:to>
                                    </p:set>
                                    <p:animEffect transition="in" filter="wipe(left)">
                                      <p:cBhvr>
                                        <p:cTn id="17" dur="1000"/>
                                        <p:tgtEl>
                                          <p:spTgt spid="7"/>
                                        </p:tgtEl>
                                      </p:cBhvr>
                                    </p:animEffect>
                                  </p:childTnLst>
                                </p:cTn>
                              </p:par>
                            </p:childTnLst>
                          </p:cTn>
                        </p:par>
                        <p:par>
                          <p:cTn id="18" fill="hold">
                            <p:stCondLst>
                              <p:cond delay="1000"/>
                            </p:stCondLst>
                            <p:childTnLst>
                              <p:par>
                                <p:cTn id="19" presetID="10" presetClass="entr" presetSubtype="0" fill="hold" grpId="0" nodeType="afterEffect">
                                  <p:stCondLst>
                                    <p:cond delay="0"/>
                                  </p:stCondLst>
                                  <p:childTnLst>
                                    <p:set>
                                      <p:cBhvr>
                                        <p:cTn id="20" dur="1" fill="hold">
                                          <p:stCondLst>
                                            <p:cond delay="0"/>
                                          </p:stCondLst>
                                        </p:cTn>
                                        <p:tgtEl>
                                          <p:spTgt spid="6"/>
                                        </p:tgtEl>
                                        <p:attrNameLst>
                                          <p:attrName>style.visibility</p:attrName>
                                        </p:attrNameLst>
                                      </p:cBhvr>
                                      <p:to>
                                        <p:strVal val="visible"/>
                                      </p:to>
                                    </p:set>
                                    <p:animEffect transition="in" filter="fade">
                                      <p:cBhvr>
                                        <p:cTn id="21" dur="10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7" grpId="0" animBg="1"/>
      <p:bldP spid="9" grpId="0"/>
    </p:bldLst>
  </p:timing>
</p:sld>
</file>

<file path=ppt/slides/slide246.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Delete Anomaly</a:t>
            </a:r>
          </a:p>
        </p:txBody>
      </p:sp>
      <p:graphicFrame>
        <p:nvGraphicFramePr>
          <p:cNvPr id="5" name="Table 5">
            <a:extLst>
              <a:ext uri="{FF2B5EF4-FFF2-40B4-BE49-F238E27FC236}">
                <a16:creationId xmlns:a16="http://schemas.microsoft.com/office/drawing/2014/main" id="{38A8414E-6490-4AD8-90BD-DF0216F61C69}"/>
              </a:ext>
            </a:extLst>
          </p:cNvPr>
          <p:cNvGraphicFramePr>
            <a:graphicFrameLocks noGrp="1"/>
          </p:cNvGraphicFramePr>
          <p:nvPr>
            <p:ph idx="1"/>
          </p:nvPr>
        </p:nvGraphicFramePr>
        <p:xfrm>
          <a:off x="838200" y="2193925"/>
          <a:ext cx="10515600" cy="2962760"/>
        </p:xfrm>
        <a:graphic>
          <a:graphicData uri="http://schemas.openxmlformats.org/drawingml/2006/table">
            <a:tbl>
              <a:tblPr firstRow="1" bandRow="1">
                <a:tableStyleId>{5C22544A-7EE6-4342-B048-85BDC9FD1C3A}</a:tableStyleId>
              </a:tblPr>
              <a:tblGrid>
                <a:gridCol w="785386">
                  <a:extLst>
                    <a:ext uri="{9D8B030D-6E8A-4147-A177-3AD203B41FA5}">
                      <a16:colId xmlns:a16="http://schemas.microsoft.com/office/drawing/2014/main" val="1632358923"/>
                    </a:ext>
                  </a:extLst>
                </a:gridCol>
                <a:gridCol w="2399790">
                  <a:extLst>
                    <a:ext uri="{9D8B030D-6E8A-4147-A177-3AD203B41FA5}">
                      <a16:colId xmlns:a16="http://schemas.microsoft.com/office/drawing/2014/main" val="3505833113"/>
                    </a:ext>
                  </a:extLst>
                </a:gridCol>
                <a:gridCol w="2181627">
                  <a:extLst>
                    <a:ext uri="{9D8B030D-6E8A-4147-A177-3AD203B41FA5}">
                      <a16:colId xmlns:a16="http://schemas.microsoft.com/office/drawing/2014/main" val="3401749839"/>
                    </a:ext>
                  </a:extLst>
                </a:gridCol>
                <a:gridCol w="1745301">
                  <a:extLst>
                    <a:ext uri="{9D8B030D-6E8A-4147-A177-3AD203B41FA5}">
                      <a16:colId xmlns:a16="http://schemas.microsoft.com/office/drawing/2014/main" val="315362434"/>
                    </a:ext>
                  </a:extLst>
                </a:gridCol>
                <a:gridCol w="1876357">
                  <a:extLst>
                    <a:ext uri="{9D8B030D-6E8A-4147-A177-3AD203B41FA5}">
                      <a16:colId xmlns:a16="http://schemas.microsoft.com/office/drawing/2014/main" val="415971381"/>
                    </a:ext>
                  </a:extLst>
                </a:gridCol>
                <a:gridCol w="1527139">
                  <a:extLst>
                    <a:ext uri="{9D8B030D-6E8A-4147-A177-3AD203B41FA5}">
                      <a16:colId xmlns:a16="http://schemas.microsoft.com/office/drawing/2014/main" val="3467447067"/>
                    </a:ext>
                  </a:extLst>
                </a:gridCol>
              </a:tblGrid>
              <a:tr h="592552">
                <a:tc>
                  <a:txBody>
                    <a:bodyPr/>
                    <a:lstStyle/>
                    <a:p>
                      <a:pPr algn="ctr"/>
                      <a:r>
                        <a:rPr lang="en-GB" sz="3200" dirty="0"/>
                        <a:t>ID</a:t>
                      </a:r>
                    </a:p>
                  </a:txBody>
                  <a:tcPr/>
                </a:tc>
                <a:tc>
                  <a:txBody>
                    <a:bodyPr/>
                    <a:lstStyle/>
                    <a:p>
                      <a:pPr algn="ctr"/>
                      <a:r>
                        <a:rPr lang="en-GB" sz="3200" dirty="0"/>
                        <a:t>Forename</a:t>
                      </a:r>
                    </a:p>
                  </a:txBody>
                  <a:tcPr/>
                </a:tc>
                <a:tc>
                  <a:txBody>
                    <a:bodyPr/>
                    <a:lstStyle/>
                    <a:p>
                      <a:pPr algn="ctr"/>
                      <a:r>
                        <a:rPr lang="en-GB" sz="3200" dirty="0"/>
                        <a:t>Surname</a:t>
                      </a:r>
                    </a:p>
                  </a:txBody>
                  <a:tcPr/>
                </a:tc>
                <a:tc>
                  <a:txBody>
                    <a:bodyPr/>
                    <a:lstStyle/>
                    <a:p>
                      <a:pPr algn="ctr"/>
                      <a:r>
                        <a:rPr lang="en-GB" sz="3200" dirty="0"/>
                        <a:t>Dept</a:t>
                      </a:r>
                    </a:p>
                  </a:txBody>
                  <a:tcPr/>
                </a:tc>
                <a:tc>
                  <a:txBody>
                    <a:bodyPr/>
                    <a:lstStyle/>
                    <a:p>
                      <a:pPr algn="ctr"/>
                      <a:r>
                        <a:rPr lang="en-GB" sz="3200" dirty="0"/>
                        <a:t>Dept ID</a:t>
                      </a:r>
                    </a:p>
                  </a:txBody>
                  <a:tcPr/>
                </a:tc>
                <a:tc>
                  <a:txBody>
                    <a:bodyPr/>
                    <a:lstStyle/>
                    <a:p>
                      <a:pPr algn="ctr"/>
                      <a:r>
                        <a:rPr lang="en-GB" sz="3200" dirty="0"/>
                        <a:t>Phone</a:t>
                      </a:r>
                    </a:p>
                  </a:txBody>
                  <a:tcPr/>
                </a:tc>
                <a:extLst>
                  <a:ext uri="{0D108BD9-81ED-4DB2-BD59-A6C34878D82A}">
                    <a16:rowId xmlns:a16="http://schemas.microsoft.com/office/drawing/2014/main" val="3459615676"/>
                  </a:ext>
                </a:extLst>
              </a:tr>
              <a:tr h="592552">
                <a:tc>
                  <a:txBody>
                    <a:bodyPr/>
                    <a:lstStyle/>
                    <a:p>
                      <a:pPr lvl="0"/>
                      <a:r>
                        <a:rPr lang="en-GB" sz="3200" dirty="0"/>
                        <a:t>1</a:t>
                      </a:r>
                    </a:p>
                  </a:txBody>
                  <a:tcPr/>
                </a:tc>
                <a:tc>
                  <a:txBody>
                    <a:bodyPr/>
                    <a:lstStyle/>
                    <a:p>
                      <a:pPr lvl="0" algn="l"/>
                      <a:r>
                        <a:rPr lang="en-GB" sz="3200" dirty="0"/>
                        <a:t>Colin</a:t>
                      </a:r>
                    </a:p>
                  </a:txBody>
                  <a:tcPr/>
                </a:tc>
                <a:tc>
                  <a:txBody>
                    <a:bodyPr/>
                    <a:lstStyle/>
                    <a:p>
                      <a:pPr lvl="0" algn="l"/>
                      <a:r>
                        <a:rPr lang="en-GB" sz="3200" dirty="0"/>
                        <a:t>Arthur</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300</a:t>
                      </a:r>
                    </a:p>
                  </a:txBody>
                  <a:tcPr/>
                </a:tc>
                <a:extLst>
                  <a:ext uri="{0D108BD9-81ED-4DB2-BD59-A6C34878D82A}">
                    <a16:rowId xmlns:a16="http://schemas.microsoft.com/office/drawing/2014/main" val="1127765656"/>
                  </a:ext>
                </a:extLst>
              </a:tr>
              <a:tr h="592552">
                <a:tc>
                  <a:txBody>
                    <a:bodyPr/>
                    <a:lstStyle/>
                    <a:p>
                      <a:pPr lvl="0"/>
                      <a:r>
                        <a:rPr lang="en-GB" sz="3200" dirty="0"/>
                        <a:t>2</a:t>
                      </a:r>
                    </a:p>
                  </a:txBody>
                  <a:tcPr/>
                </a:tc>
                <a:tc>
                  <a:txBody>
                    <a:bodyPr/>
                    <a:lstStyle/>
                    <a:p>
                      <a:pPr lvl="0" algn="l"/>
                      <a:r>
                        <a:rPr lang="en-GB" sz="3200" dirty="0"/>
                        <a:t>Laura</a:t>
                      </a:r>
                    </a:p>
                  </a:txBody>
                  <a:tcPr/>
                </a:tc>
                <a:tc>
                  <a:txBody>
                    <a:bodyPr/>
                    <a:lstStyle/>
                    <a:p>
                      <a:pPr lvl="0" algn="l"/>
                      <a:r>
                        <a:rPr lang="en-GB" sz="3200" dirty="0"/>
                        <a:t>Brown</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300</a:t>
                      </a:r>
                    </a:p>
                  </a:txBody>
                  <a:tcPr/>
                </a:tc>
                <a:extLst>
                  <a:ext uri="{0D108BD9-81ED-4DB2-BD59-A6C34878D82A}">
                    <a16:rowId xmlns:a16="http://schemas.microsoft.com/office/drawing/2014/main" val="2924661129"/>
                  </a:ext>
                </a:extLst>
              </a:tr>
              <a:tr h="592552">
                <a:tc>
                  <a:txBody>
                    <a:bodyPr/>
                    <a:lstStyle/>
                    <a:p>
                      <a:pPr lvl="0"/>
                      <a:r>
                        <a:rPr lang="en-GB" sz="3200" dirty="0"/>
                        <a:t>3</a:t>
                      </a:r>
                    </a:p>
                  </a:txBody>
                  <a:tcPr/>
                </a:tc>
                <a:tc>
                  <a:txBody>
                    <a:bodyPr/>
                    <a:lstStyle/>
                    <a:p>
                      <a:pPr lvl="0" algn="l"/>
                      <a:r>
                        <a:rPr lang="en-GB" sz="3200" dirty="0"/>
                        <a:t>Stephen</a:t>
                      </a:r>
                    </a:p>
                  </a:txBody>
                  <a:tcPr/>
                </a:tc>
                <a:tc>
                  <a:txBody>
                    <a:bodyPr/>
                    <a:lstStyle/>
                    <a:p>
                      <a:pPr lvl="0" algn="l"/>
                      <a:r>
                        <a:rPr lang="en-GB" sz="3200" dirty="0"/>
                        <a:t>MacLeod</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300</a:t>
                      </a:r>
                    </a:p>
                  </a:txBody>
                  <a:tcPr/>
                </a:tc>
                <a:extLst>
                  <a:ext uri="{0D108BD9-81ED-4DB2-BD59-A6C34878D82A}">
                    <a16:rowId xmlns:a16="http://schemas.microsoft.com/office/drawing/2014/main" val="3885493841"/>
                  </a:ext>
                </a:extLst>
              </a:tr>
              <a:tr h="592552">
                <a:tc>
                  <a:txBody>
                    <a:bodyPr/>
                    <a:lstStyle/>
                    <a:p>
                      <a:pPr lvl="0"/>
                      <a:r>
                        <a:rPr lang="en-GB" sz="3200" dirty="0"/>
                        <a:t>4</a:t>
                      </a:r>
                    </a:p>
                  </a:txBody>
                  <a:tcPr/>
                </a:tc>
                <a:tc>
                  <a:txBody>
                    <a:bodyPr/>
                    <a:lstStyle/>
                    <a:p>
                      <a:pPr lvl="0" algn="l"/>
                      <a:r>
                        <a:rPr lang="en-GB" sz="3200" dirty="0"/>
                        <a:t>Scott</a:t>
                      </a:r>
                    </a:p>
                  </a:txBody>
                  <a:tcPr/>
                </a:tc>
                <a:tc>
                  <a:txBody>
                    <a:bodyPr/>
                    <a:lstStyle/>
                    <a:p>
                      <a:pPr lvl="0" algn="l"/>
                      <a:r>
                        <a:rPr lang="en-GB" sz="3200" dirty="0"/>
                        <a:t>Sinclair</a:t>
                      </a:r>
                    </a:p>
                  </a:txBody>
                  <a:tcPr/>
                </a:tc>
                <a:tc>
                  <a:txBody>
                    <a:bodyPr/>
                    <a:lstStyle/>
                    <a:p>
                      <a:pPr lvl="0" algn="l"/>
                      <a:r>
                        <a:rPr lang="en-GB" sz="3200" dirty="0"/>
                        <a:t>English</a:t>
                      </a:r>
                    </a:p>
                  </a:txBody>
                  <a:tcPr/>
                </a:tc>
                <a:tc>
                  <a:txBody>
                    <a:bodyPr/>
                    <a:lstStyle/>
                    <a:p>
                      <a:pPr lvl="0"/>
                      <a:r>
                        <a:rPr lang="en-GB" sz="3200" dirty="0"/>
                        <a:t>002</a:t>
                      </a:r>
                    </a:p>
                  </a:txBody>
                  <a:tcPr/>
                </a:tc>
                <a:tc>
                  <a:txBody>
                    <a:bodyPr/>
                    <a:lstStyle/>
                    <a:p>
                      <a:pPr lvl="0"/>
                      <a:r>
                        <a:rPr lang="en-GB" sz="3200" dirty="0"/>
                        <a:t>301</a:t>
                      </a:r>
                    </a:p>
                  </a:txBody>
                  <a:tcPr/>
                </a:tc>
                <a:extLst>
                  <a:ext uri="{0D108BD9-81ED-4DB2-BD59-A6C34878D82A}">
                    <a16:rowId xmlns:a16="http://schemas.microsoft.com/office/drawing/2014/main" val="1487565366"/>
                  </a:ext>
                </a:extLst>
              </a:tr>
            </a:tbl>
          </a:graphicData>
        </a:graphic>
      </p:graphicFrame>
    </p:spTree>
    <p:extLst>
      <p:ext uri="{BB962C8B-B14F-4D97-AF65-F5344CB8AC3E}">
        <p14:creationId xmlns:p14="http://schemas.microsoft.com/office/powerpoint/2010/main" val="3166796811"/>
      </p:ext>
    </p:extLst>
  </p:cSld>
  <p:clrMapOvr>
    <a:masterClrMapping/>
  </p:clrMapOvr>
</p:sld>
</file>

<file path=ppt/slides/slide2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Update Anomaly</a:t>
            </a:r>
          </a:p>
        </p:txBody>
      </p:sp>
      <p:graphicFrame>
        <p:nvGraphicFramePr>
          <p:cNvPr id="5" name="Table 5">
            <a:extLst>
              <a:ext uri="{FF2B5EF4-FFF2-40B4-BE49-F238E27FC236}">
                <a16:creationId xmlns:a16="http://schemas.microsoft.com/office/drawing/2014/main" id="{38A8414E-6490-4AD8-90BD-DF0216F61C69}"/>
              </a:ext>
            </a:extLst>
          </p:cNvPr>
          <p:cNvGraphicFramePr>
            <a:graphicFrameLocks noGrp="1"/>
          </p:cNvGraphicFramePr>
          <p:nvPr>
            <p:ph idx="1"/>
          </p:nvPr>
        </p:nvGraphicFramePr>
        <p:xfrm>
          <a:off x="838200" y="2193925"/>
          <a:ext cx="10515600" cy="3555312"/>
        </p:xfrm>
        <a:graphic>
          <a:graphicData uri="http://schemas.openxmlformats.org/drawingml/2006/table">
            <a:tbl>
              <a:tblPr firstRow="1" bandRow="1">
                <a:tableStyleId>{5C22544A-7EE6-4342-B048-85BDC9FD1C3A}</a:tableStyleId>
              </a:tblPr>
              <a:tblGrid>
                <a:gridCol w="785386">
                  <a:extLst>
                    <a:ext uri="{9D8B030D-6E8A-4147-A177-3AD203B41FA5}">
                      <a16:colId xmlns:a16="http://schemas.microsoft.com/office/drawing/2014/main" val="1632358923"/>
                    </a:ext>
                  </a:extLst>
                </a:gridCol>
                <a:gridCol w="2399790">
                  <a:extLst>
                    <a:ext uri="{9D8B030D-6E8A-4147-A177-3AD203B41FA5}">
                      <a16:colId xmlns:a16="http://schemas.microsoft.com/office/drawing/2014/main" val="3505833113"/>
                    </a:ext>
                  </a:extLst>
                </a:gridCol>
                <a:gridCol w="2181627">
                  <a:extLst>
                    <a:ext uri="{9D8B030D-6E8A-4147-A177-3AD203B41FA5}">
                      <a16:colId xmlns:a16="http://schemas.microsoft.com/office/drawing/2014/main" val="3401749839"/>
                    </a:ext>
                  </a:extLst>
                </a:gridCol>
                <a:gridCol w="1745301">
                  <a:extLst>
                    <a:ext uri="{9D8B030D-6E8A-4147-A177-3AD203B41FA5}">
                      <a16:colId xmlns:a16="http://schemas.microsoft.com/office/drawing/2014/main" val="315362434"/>
                    </a:ext>
                  </a:extLst>
                </a:gridCol>
                <a:gridCol w="1876357">
                  <a:extLst>
                    <a:ext uri="{9D8B030D-6E8A-4147-A177-3AD203B41FA5}">
                      <a16:colId xmlns:a16="http://schemas.microsoft.com/office/drawing/2014/main" val="415971381"/>
                    </a:ext>
                  </a:extLst>
                </a:gridCol>
                <a:gridCol w="1527139">
                  <a:extLst>
                    <a:ext uri="{9D8B030D-6E8A-4147-A177-3AD203B41FA5}">
                      <a16:colId xmlns:a16="http://schemas.microsoft.com/office/drawing/2014/main" val="3467447067"/>
                    </a:ext>
                  </a:extLst>
                </a:gridCol>
              </a:tblGrid>
              <a:tr h="592552">
                <a:tc>
                  <a:txBody>
                    <a:bodyPr/>
                    <a:lstStyle/>
                    <a:p>
                      <a:pPr algn="ctr"/>
                      <a:r>
                        <a:rPr lang="en-GB" sz="3200" dirty="0"/>
                        <a:t>ID</a:t>
                      </a:r>
                    </a:p>
                  </a:txBody>
                  <a:tcPr/>
                </a:tc>
                <a:tc>
                  <a:txBody>
                    <a:bodyPr/>
                    <a:lstStyle/>
                    <a:p>
                      <a:pPr algn="ctr"/>
                      <a:r>
                        <a:rPr lang="en-GB" sz="3200" dirty="0"/>
                        <a:t>Forename</a:t>
                      </a:r>
                    </a:p>
                  </a:txBody>
                  <a:tcPr/>
                </a:tc>
                <a:tc>
                  <a:txBody>
                    <a:bodyPr/>
                    <a:lstStyle/>
                    <a:p>
                      <a:pPr algn="ctr"/>
                      <a:r>
                        <a:rPr lang="en-GB" sz="3200" dirty="0"/>
                        <a:t>Surname</a:t>
                      </a:r>
                    </a:p>
                  </a:txBody>
                  <a:tcPr/>
                </a:tc>
                <a:tc>
                  <a:txBody>
                    <a:bodyPr/>
                    <a:lstStyle/>
                    <a:p>
                      <a:pPr algn="ctr"/>
                      <a:r>
                        <a:rPr lang="en-GB" sz="3200" dirty="0"/>
                        <a:t>Dept</a:t>
                      </a:r>
                    </a:p>
                  </a:txBody>
                  <a:tcPr/>
                </a:tc>
                <a:tc>
                  <a:txBody>
                    <a:bodyPr/>
                    <a:lstStyle/>
                    <a:p>
                      <a:pPr algn="ctr"/>
                      <a:r>
                        <a:rPr lang="en-GB" sz="3200" dirty="0"/>
                        <a:t>Dept ID</a:t>
                      </a:r>
                    </a:p>
                  </a:txBody>
                  <a:tcPr/>
                </a:tc>
                <a:tc>
                  <a:txBody>
                    <a:bodyPr/>
                    <a:lstStyle/>
                    <a:p>
                      <a:pPr algn="ctr"/>
                      <a:r>
                        <a:rPr lang="en-GB" sz="3200" dirty="0"/>
                        <a:t>Phone</a:t>
                      </a:r>
                    </a:p>
                  </a:txBody>
                  <a:tcPr/>
                </a:tc>
                <a:extLst>
                  <a:ext uri="{0D108BD9-81ED-4DB2-BD59-A6C34878D82A}">
                    <a16:rowId xmlns:a16="http://schemas.microsoft.com/office/drawing/2014/main" val="3459615676"/>
                  </a:ext>
                </a:extLst>
              </a:tr>
              <a:tr h="592552">
                <a:tc>
                  <a:txBody>
                    <a:bodyPr/>
                    <a:lstStyle/>
                    <a:p>
                      <a:pPr lvl="0"/>
                      <a:r>
                        <a:rPr lang="en-GB" sz="3200" dirty="0"/>
                        <a:t>1</a:t>
                      </a:r>
                    </a:p>
                  </a:txBody>
                  <a:tcPr/>
                </a:tc>
                <a:tc>
                  <a:txBody>
                    <a:bodyPr/>
                    <a:lstStyle/>
                    <a:p>
                      <a:pPr lvl="0" algn="l"/>
                      <a:r>
                        <a:rPr lang="en-GB" sz="3200" dirty="0"/>
                        <a:t>Colin</a:t>
                      </a:r>
                    </a:p>
                  </a:txBody>
                  <a:tcPr/>
                </a:tc>
                <a:tc>
                  <a:txBody>
                    <a:bodyPr/>
                    <a:lstStyle/>
                    <a:p>
                      <a:pPr lvl="0" algn="l"/>
                      <a:r>
                        <a:rPr lang="en-GB" sz="3200" dirty="0"/>
                        <a:t>Arthur</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300</a:t>
                      </a:r>
                    </a:p>
                  </a:txBody>
                  <a:tcPr/>
                </a:tc>
                <a:extLst>
                  <a:ext uri="{0D108BD9-81ED-4DB2-BD59-A6C34878D82A}">
                    <a16:rowId xmlns:a16="http://schemas.microsoft.com/office/drawing/2014/main" val="1127765656"/>
                  </a:ext>
                </a:extLst>
              </a:tr>
              <a:tr h="592552">
                <a:tc>
                  <a:txBody>
                    <a:bodyPr/>
                    <a:lstStyle/>
                    <a:p>
                      <a:pPr lvl="0"/>
                      <a:r>
                        <a:rPr lang="en-GB" sz="3200" dirty="0"/>
                        <a:t>2</a:t>
                      </a:r>
                    </a:p>
                  </a:txBody>
                  <a:tcPr/>
                </a:tc>
                <a:tc>
                  <a:txBody>
                    <a:bodyPr/>
                    <a:lstStyle/>
                    <a:p>
                      <a:pPr lvl="0" algn="l"/>
                      <a:r>
                        <a:rPr lang="en-GB" sz="3200" dirty="0"/>
                        <a:t>Laura</a:t>
                      </a:r>
                    </a:p>
                  </a:txBody>
                  <a:tcPr/>
                </a:tc>
                <a:tc>
                  <a:txBody>
                    <a:bodyPr/>
                    <a:lstStyle/>
                    <a:p>
                      <a:pPr lvl="0" algn="l"/>
                      <a:r>
                        <a:rPr lang="en-GB" sz="3200" dirty="0"/>
                        <a:t>Brown</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300</a:t>
                      </a:r>
                    </a:p>
                  </a:txBody>
                  <a:tcPr/>
                </a:tc>
                <a:extLst>
                  <a:ext uri="{0D108BD9-81ED-4DB2-BD59-A6C34878D82A}">
                    <a16:rowId xmlns:a16="http://schemas.microsoft.com/office/drawing/2014/main" val="2924661129"/>
                  </a:ext>
                </a:extLst>
              </a:tr>
              <a:tr h="592552">
                <a:tc>
                  <a:txBody>
                    <a:bodyPr/>
                    <a:lstStyle/>
                    <a:p>
                      <a:pPr lvl="0"/>
                      <a:r>
                        <a:rPr lang="en-GB" sz="3200" dirty="0"/>
                        <a:t>3</a:t>
                      </a:r>
                    </a:p>
                  </a:txBody>
                  <a:tcPr/>
                </a:tc>
                <a:tc>
                  <a:txBody>
                    <a:bodyPr/>
                    <a:lstStyle/>
                    <a:p>
                      <a:pPr lvl="0" algn="l"/>
                      <a:r>
                        <a:rPr lang="en-GB" sz="3200" dirty="0"/>
                        <a:t>Stephen</a:t>
                      </a:r>
                    </a:p>
                  </a:txBody>
                  <a:tcPr/>
                </a:tc>
                <a:tc>
                  <a:txBody>
                    <a:bodyPr/>
                    <a:lstStyle/>
                    <a:p>
                      <a:pPr lvl="0" algn="l"/>
                      <a:r>
                        <a:rPr lang="en-GB" sz="3200" dirty="0"/>
                        <a:t>MacLeod</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300</a:t>
                      </a:r>
                    </a:p>
                  </a:txBody>
                  <a:tcPr/>
                </a:tc>
                <a:extLst>
                  <a:ext uri="{0D108BD9-81ED-4DB2-BD59-A6C34878D82A}">
                    <a16:rowId xmlns:a16="http://schemas.microsoft.com/office/drawing/2014/main" val="3885493841"/>
                  </a:ext>
                </a:extLst>
              </a:tr>
              <a:tr h="592552">
                <a:tc>
                  <a:txBody>
                    <a:bodyPr/>
                    <a:lstStyle/>
                    <a:p>
                      <a:pPr lvl="0"/>
                      <a:r>
                        <a:rPr lang="en-GB" sz="3200" dirty="0"/>
                        <a:t>4</a:t>
                      </a:r>
                    </a:p>
                  </a:txBody>
                  <a:tcPr/>
                </a:tc>
                <a:tc>
                  <a:txBody>
                    <a:bodyPr/>
                    <a:lstStyle/>
                    <a:p>
                      <a:pPr lvl="0" algn="l"/>
                      <a:r>
                        <a:rPr lang="en-GB" sz="3200" dirty="0"/>
                        <a:t>Scott</a:t>
                      </a:r>
                    </a:p>
                  </a:txBody>
                  <a:tcPr/>
                </a:tc>
                <a:tc>
                  <a:txBody>
                    <a:bodyPr/>
                    <a:lstStyle/>
                    <a:p>
                      <a:pPr lvl="0" algn="l"/>
                      <a:r>
                        <a:rPr lang="en-GB" sz="3200" dirty="0"/>
                        <a:t>Sinclair</a:t>
                      </a:r>
                    </a:p>
                  </a:txBody>
                  <a:tcPr/>
                </a:tc>
                <a:tc>
                  <a:txBody>
                    <a:bodyPr/>
                    <a:lstStyle/>
                    <a:p>
                      <a:pPr lvl="0" algn="l"/>
                      <a:r>
                        <a:rPr lang="en-GB" sz="3200" dirty="0"/>
                        <a:t>English</a:t>
                      </a:r>
                    </a:p>
                  </a:txBody>
                  <a:tcPr/>
                </a:tc>
                <a:tc>
                  <a:txBody>
                    <a:bodyPr/>
                    <a:lstStyle/>
                    <a:p>
                      <a:pPr lvl="0"/>
                      <a:r>
                        <a:rPr lang="en-GB" sz="3200" dirty="0"/>
                        <a:t>002</a:t>
                      </a:r>
                    </a:p>
                  </a:txBody>
                  <a:tcPr/>
                </a:tc>
                <a:tc>
                  <a:txBody>
                    <a:bodyPr/>
                    <a:lstStyle/>
                    <a:p>
                      <a:pPr lvl="0"/>
                      <a:r>
                        <a:rPr lang="en-GB" sz="3200" dirty="0"/>
                        <a:t>301</a:t>
                      </a:r>
                    </a:p>
                  </a:txBody>
                  <a:tcPr/>
                </a:tc>
                <a:extLst>
                  <a:ext uri="{0D108BD9-81ED-4DB2-BD59-A6C34878D82A}">
                    <a16:rowId xmlns:a16="http://schemas.microsoft.com/office/drawing/2014/main" val="1487565366"/>
                  </a:ext>
                </a:extLst>
              </a:tr>
              <a:tr h="592552">
                <a:tc>
                  <a:txBody>
                    <a:bodyPr/>
                    <a:lstStyle/>
                    <a:p>
                      <a:pPr lvl="0"/>
                      <a:r>
                        <a:rPr lang="en-GB" sz="3200" dirty="0"/>
                        <a:t>5</a:t>
                      </a:r>
                    </a:p>
                  </a:txBody>
                  <a:tcPr/>
                </a:tc>
                <a:tc>
                  <a:txBody>
                    <a:bodyPr/>
                    <a:lstStyle/>
                    <a:p>
                      <a:pPr lvl="0" algn="l"/>
                      <a:r>
                        <a:rPr lang="en-GB" sz="3200" dirty="0"/>
                        <a:t>Michelle</a:t>
                      </a:r>
                    </a:p>
                  </a:txBody>
                  <a:tcPr/>
                </a:tc>
                <a:tc>
                  <a:txBody>
                    <a:bodyPr/>
                    <a:lstStyle/>
                    <a:p>
                      <a:pPr lvl="0" algn="l"/>
                      <a:r>
                        <a:rPr lang="en-GB" sz="3200" dirty="0"/>
                        <a:t>Wie</a:t>
                      </a:r>
                    </a:p>
                  </a:txBody>
                  <a:tcPr/>
                </a:tc>
                <a:tc>
                  <a:txBody>
                    <a:bodyPr/>
                    <a:lstStyle/>
                    <a:p>
                      <a:pPr lvl="0" algn="l"/>
                      <a:r>
                        <a:rPr lang="en-GB" sz="3200" dirty="0"/>
                        <a:t>English</a:t>
                      </a:r>
                    </a:p>
                  </a:txBody>
                  <a:tcPr/>
                </a:tc>
                <a:tc>
                  <a:txBody>
                    <a:bodyPr/>
                    <a:lstStyle/>
                    <a:p>
                      <a:pPr lvl="0"/>
                      <a:r>
                        <a:rPr lang="en-GB" sz="3200" dirty="0"/>
                        <a:t>002</a:t>
                      </a:r>
                    </a:p>
                  </a:txBody>
                  <a:tcPr/>
                </a:tc>
                <a:tc>
                  <a:txBody>
                    <a:bodyPr/>
                    <a:lstStyle/>
                    <a:p>
                      <a:pPr lvl="0"/>
                      <a:r>
                        <a:rPr lang="en-GB" sz="3200" dirty="0"/>
                        <a:t>301</a:t>
                      </a:r>
                    </a:p>
                  </a:txBody>
                  <a:tcPr/>
                </a:tc>
                <a:extLst>
                  <a:ext uri="{0D108BD9-81ED-4DB2-BD59-A6C34878D82A}">
                    <a16:rowId xmlns:a16="http://schemas.microsoft.com/office/drawing/2014/main" val="81894544"/>
                  </a:ext>
                </a:extLst>
              </a:tr>
            </a:tbl>
          </a:graphicData>
        </a:graphic>
      </p:graphicFrame>
      <p:graphicFrame>
        <p:nvGraphicFramePr>
          <p:cNvPr id="3" name="Table 2">
            <a:extLst>
              <a:ext uri="{FF2B5EF4-FFF2-40B4-BE49-F238E27FC236}">
                <a16:creationId xmlns:a16="http://schemas.microsoft.com/office/drawing/2014/main" id="{E5FB5CC0-6D81-48CA-8C78-BBC6CEB9D8ED}"/>
              </a:ext>
            </a:extLst>
          </p:cNvPr>
          <p:cNvGraphicFramePr>
            <a:graphicFrameLocks noGrp="1"/>
          </p:cNvGraphicFramePr>
          <p:nvPr/>
        </p:nvGraphicFramePr>
        <p:xfrm>
          <a:off x="838200" y="2783896"/>
          <a:ext cx="10515600" cy="1185104"/>
        </p:xfrm>
        <a:graphic>
          <a:graphicData uri="http://schemas.openxmlformats.org/drawingml/2006/table">
            <a:tbl>
              <a:tblPr bandRow="1">
                <a:tableStyleId>{5C22544A-7EE6-4342-B048-85BDC9FD1C3A}</a:tableStyleId>
              </a:tblPr>
              <a:tblGrid>
                <a:gridCol w="785386">
                  <a:extLst>
                    <a:ext uri="{9D8B030D-6E8A-4147-A177-3AD203B41FA5}">
                      <a16:colId xmlns:a16="http://schemas.microsoft.com/office/drawing/2014/main" val="2684301988"/>
                    </a:ext>
                  </a:extLst>
                </a:gridCol>
                <a:gridCol w="2399790">
                  <a:extLst>
                    <a:ext uri="{9D8B030D-6E8A-4147-A177-3AD203B41FA5}">
                      <a16:colId xmlns:a16="http://schemas.microsoft.com/office/drawing/2014/main" val="3554510891"/>
                    </a:ext>
                  </a:extLst>
                </a:gridCol>
                <a:gridCol w="2181627">
                  <a:extLst>
                    <a:ext uri="{9D8B030D-6E8A-4147-A177-3AD203B41FA5}">
                      <a16:colId xmlns:a16="http://schemas.microsoft.com/office/drawing/2014/main" val="76118969"/>
                    </a:ext>
                  </a:extLst>
                </a:gridCol>
                <a:gridCol w="1745301">
                  <a:extLst>
                    <a:ext uri="{9D8B030D-6E8A-4147-A177-3AD203B41FA5}">
                      <a16:colId xmlns:a16="http://schemas.microsoft.com/office/drawing/2014/main" val="2256709060"/>
                    </a:ext>
                  </a:extLst>
                </a:gridCol>
                <a:gridCol w="1876357">
                  <a:extLst>
                    <a:ext uri="{9D8B030D-6E8A-4147-A177-3AD203B41FA5}">
                      <a16:colId xmlns:a16="http://schemas.microsoft.com/office/drawing/2014/main" val="2333792100"/>
                    </a:ext>
                  </a:extLst>
                </a:gridCol>
                <a:gridCol w="1527139">
                  <a:extLst>
                    <a:ext uri="{9D8B030D-6E8A-4147-A177-3AD203B41FA5}">
                      <a16:colId xmlns:a16="http://schemas.microsoft.com/office/drawing/2014/main" val="705863989"/>
                    </a:ext>
                  </a:extLst>
                </a:gridCol>
              </a:tblGrid>
              <a:tr h="592552">
                <a:tc>
                  <a:txBody>
                    <a:bodyPr/>
                    <a:lstStyle/>
                    <a:p>
                      <a:pPr lvl="0"/>
                      <a:r>
                        <a:rPr lang="en-GB" sz="3200" dirty="0"/>
                        <a:t>1</a:t>
                      </a:r>
                    </a:p>
                  </a:txBody>
                  <a:tcPr/>
                </a:tc>
                <a:tc>
                  <a:txBody>
                    <a:bodyPr/>
                    <a:lstStyle/>
                    <a:p>
                      <a:pPr lvl="0" algn="l"/>
                      <a:r>
                        <a:rPr lang="en-GB" sz="3200" dirty="0"/>
                        <a:t>Colin</a:t>
                      </a:r>
                    </a:p>
                  </a:txBody>
                  <a:tcPr/>
                </a:tc>
                <a:tc>
                  <a:txBody>
                    <a:bodyPr/>
                    <a:lstStyle/>
                    <a:p>
                      <a:pPr lvl="0" algn="l"/>
                      <a:r>
                        <a:rPr lang="en-GB" sz="3200" dirty="0"/>
                        <a:t>Arthur</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400</a:t>
                      </a:r>
                    </a:p>
                  </a:txBody>
                  <a:tcPr/>
                </a:tc>
                <a:extLst>
                  <a:ext uri="{0D108BD9-81ED-4DB2-BD59-A6C34878D82A}">
                    <a16:rowId xmlns:a16="http://schemas.microsoft.com/office/drawing/2014/main" val="2098199609"/>
                  </a:ext>
                </a:extLst>
              </a:tr>
              <a:tr h="592552">
                <a:tc>
                  <a:txBody>
                    <a:bodyPr/>
                    <a:lstStyle/>
                    <a:p>
                      <a:pPr lvl="0"/>
                      <a:r>
                        <a:rPr lang="en-GB" sz="3200" dirty="0"/>
                        <a:t>2</a:t>
                      </a:r>
                    </a:p>
                  </a:txBody>
                  <a:tcPr/>
                </a:tc>
                <a:tc>
                  <a:txBody>
                    <a:bodyPr/>
                    <a:lstStyle/>
                    <a:p>
                      <a:pPr lvl="0" algn="l"/>
                      <a:r>
                        <a:rPr lang="en-GB" sz="3200" dirty="0"/>
                        <a:t>Laura</a:t>
                      </a:r>
                    </a:p>
                  </a:txBody>
                  <a:tcPr/>
                </a:tc>
                <a:tc>
                  <a:txBody>
                    <a:bodyPr/>
                    <a:lstStyle/>
                    <a:p>
                      <a:pPr lvl="0" algn="l"/>
                      <a:r>
                        <a:rPr lang="en-GB" sz="3200" dirty="0"/>
                        <a:t>Brown</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400</a:t>
                      </a:r>
                    </a:p>
                  </a:txBody>
                  <a:tcPr/>
                </a:tc>
                <a:extLst>
                  <a:ext uri="{0D108BD9-81ED-4DB2-BD59-A6C34878D82A}">
                    <a16:rowId xmlns:a16="http://schemas.microsoft.com/office/drawing/2014/main" val="3854276890"/>
                  </a:ext>
                </a:extLst>
              </a:tr>
            </a:tbl>
          </a:graphicData>
        </a:graphic>
      </p:graphicFrame>
      <p:sp>
        <p:nvSpPr>
          <p:cNvPr id="6" name="Callout: Bent Line with No Border 4">
            <a:extLst>
              <a:ext uri="{FF2B5EF4-FFF2-40B4-BE49-F238E27FC236}">
                <a16:creationId xmlns:a16="http://schemas.microsoft.com/office/drawing/2014/main" id="{924404A3-ED4C-4699-9CA9-EFEB23F51AA9}"/>
              </a:ext>
            </a:extLst>
          </p:cNvPr>
          <p:cNvSpPr/>
          <p:nvPr/>
        </p:nvSpPr>
        <p:spPr>
          <a:xfrm>
            <a:off x="5353050" y="5599527"/>
            <a:ext cx="2651439" cy="882650"/>
          </a:xfrm>
          <a:prstGeom prst="callout2">
            <a:avLst>
              <a:gd name="adj1" fmla="val 49806"/>
              <a:gd name="adj2" fmla="val 101751"/>
              <a:gd name="adj3" fmla="val 49172"/>
              <a:gd name="adj4" fmla="val 131362"/>
              <a:gd name="adj5" fmla="val -109285"/>
              <a:gd name="adj6" fmla="val 168410"/>
            </a:avLst>
          </a:prstGeom>
          <a:noFill/>
          <a:ln w="38100">
            <a:solidFill>
              <a:srgbClr val="FF0000"/>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chemeClr val="tx1"/>
                </a:solidFill>
              </a:rPr>
              <a:t>Update anomaly</a:t>
            </a:r>
          </a:p>
        </p:txBody>
      </p:sp>
      <p:sp>
        <p:nvSpPr>
          <p:cNvPr id="7" name="Rectangle: Rounded Corners 6">
            <a:extLst>
              <a:ext uri="{FF2B5EF4-FFF2-40B4-BE49-F238E27FC236}">
                <a16:creationId xmlns:a16="http://schemas.microsoft.com/office/drawing/2014/main" id="{1CCC2A12-DF5C-496B-B881-6647A8EC7DEF}"/>
              </a:ext>
            </a:extLst>
          </p:cNvPr>
          <p:cNvSpPr/>
          <p:nvPr/>
        </p:nvSpPr>
        <p:spPr>
          <a:xfrm>
            <a:off x="9817100" y="4009118"/>
            <a:ext cx="900000" cy="540000"/>
          </a:xfrm>
          <a:prstGeom prst="roundRect">
            <a:avLst/>
          </a:prstGeom>
          <a:noFill/>
          <a:ln w="3810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9" name="TextBox 8">
            <a:extLst>
              <a:ext uri="{FF2B5EF4-FFF2-40B4-BE49-F238E27FC236}">
                <a16:creationId xmlns:a16="http://schemas.microsoft.com/office/drawing/2014/main" id="{985E7E1A-C387-4773-BF69-BFCB8B0D718F}"/>
              </a:ext>
            </a:extLst>
          </p:cNvPr>
          <p:cNvSpPr txBox="1"/>
          <p:nvPr/>
        </p:nvSpPr>
        <p:spPr>
          <a:xfrm>
            <a:off x="838200" y="1559731"/>
            <a:ext cx="7363298" cy="584775"/>
          </a:xfrm>
          <a:prstGeom prst="rect">
            <a:avLst/>
          </a:prstGeom>
          <a:noFill/>
        </p:spPr>
        <p:txBody>
          <a:bodyPr wrap="none" rtlCol="0">
            <a:spAutoFit/>
          </a:bodyPr>
          <a:lstStyle/>
          <a:p>
            <a:r>
              <a:rPr lang="en-GB" sz="3200" dirty="0"/>
              <a:t>Change the ICT department's phone to 400</a:t>
            </a:r>
          </a:p>
        </p:txBody>
      </p:sp>
      <p:sp>
        <p:nvSpPr>
          <p:cNvPr id="8" name="Rectangle: Rounded Corners 7">
            <a:extLst>
              <a:ext uri="{FF2B5EF4-FFF2-40B4-BE49-F238E27FC236}">
                <a16:creationId xmlns:a16="http://schemas.microsoft.com/office/drawing/2014/main" id="{56023B96-802F-402B-B2CE-5DE5DE4C6FB1}"/>
              </a:ext>
            </a:extLst>
          </p:cNvPr>
          <p:cNvSpPr/>
          <p:nvPr/>
        </p:nvSpPr>
        <p:spPr>
          <a:xfrm>
            <a:off x="9817100" y="2781296"/>
            <a:ext cx="900000" cy="1188000"/>
          </a:xfrm>
          <a:prstGeom prst="roundRect">
            <a:avLst/>
          </a:prstGeom>
          <a:noFill/>
          <a:ln w="38100">
            <a:solidFill>
              <a:srgbClr val="00B050"/>
            </a:solidFill>
            <a:prstDash val="soli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Tree>
    <p:extLst>
      <p:ext uri="{BB962C8B-B14F-4D97-AF65-F5344CB8AC3E}">
        <p14:creationId xmlns:p14="http://schemas.microsoft.com/office/powerpoint/2010/main" val="386954348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animEffect transition="in" filter="wipe(left)">
                                      <p:cBhvr>
                                        <p:cTn id="7" dur="1000"/>
                                        <p:tgtEl>
                                          <p:spTgt spid="9"/>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1" fill="hold" nodeType="clickEffect">
                                  <p:stCondLst>
                                    <p:cond delay="0"/>
                                  </p:stCondLst>
                                  <p:childTnLst>
                                    <p:set>
                                      <p:cBhvr>
                                        <p:cTn id="11" dur="1" fill="hold">
                                          <p:stCondLst>
                                            <p:cond delay="0"/>
                                          </p:stCondLst>
                                        </p:cTn>
                                        <p:tgtEl>
                                          <p:spTgt spid="3"/>
                                        </p:tgtEl>
                                        <p:attrNameLst>
                                          <p:attrName>style.visibility</p:attrName>
                                        </p:attrNameLst>
                                      </p:cBhvr>
                                      <p:to>
                                        <p:strVal val="visible"/>
                                      </p:to>
                                    </p:set>
                                    <p:animEffect transition="in" filter="wipe(up)">
                                      <p:cBhvr>
                                        <p:cTn id="12" dur="1000"/>
                                        <p:tgtEl>
                                          <p:spTgt spid="3"/>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8"/>
                                        </p:tgtEl>
                                        <p:attrNameLst>
                                          <p:attrName>style.visibility</p:attrName>
                                        </p:attrNameLst>
                                      </p:cBhvr>
                                      <p:to>
                                        <p:strVal val="visible"/>
                                      </p:to>
                                    </p:set>
                                    <p:animEffect transition="in" filter="wipe(left)">
                                      <p:cBhvr>
                                        <p:cTn id="17" dur="1000"/>
                                        <p:tgtEl>
                                          <p:spTgt spid="8"/>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7"/>
                                        </p:tgtEl>
                                        <p:attrNameLst>
                                          <p:attrName>style.visibility</p:attrName>
                                        </p:attrNameLst>
                                      </p:cBhvr>
                                      <p:to>
                                        <p:strVal val="visible"/>
                                      </p:to>
                                    </p:set>
                                    <p:animEffect transition="in" filter="wipe(left)">
                                      <p:cBhvr>
                                        <p:cTn id="22" dur="1000"/>
                                        <p:tgtEl>
                                          <p:spTgt spid="7"/>
                                        </p:tgtEl>
                                      </p:cBhvr>
                                    </p:animEffect>
                                  </p:childTnLst>
                                </p:cTn>
                              </p:par>
                            </p:childTnLst>
                          </p:cTn>
                        </p:par>
                        <p:par>
                          <p:cTn id="23" fill="hold">
                            <p:stCondLst>
                              <p:cond delay="1000"/>
                            </p:stCondLst>
                            <p:childTnLst>
                              <p:par>
                                <p:cTn id="24" presetID="10" presetClass="entr" presetSubtype="0" fill="hold" grpId="0" nodeType="afterEffect">
                                  <p:stCondLst>
                                    <p:cond delay="0"/>
                                  </p:stCondLst>
                                  <p:childTnLst>
                                    <p:set>
                                      <p:cBhvr>
                                        <p:cTn id="25" dur="1" fill="hold">
                                          <p:stCondLst>
                                            <p:cond delay="0"/>
                                          </p:stCondLst>
                                        </p:cTn>
                                        <p:tgtEl>
                                          <p:spTgt spid="6"/>
                                        </p:tgtEl>
                                        <p:attrNameLst>
                                          <p:attrName>style.visibility</p:attrName>
                                        </p:attrNameLst>
                                      </p:cBhvr>
                                      <p:to>
                                        <p:strVal val="visible"/>
                                      </p:to>
                                    </p:set>
                                    <p:animEffect transition="in" filter="fade">
                                      <p:cBhvr>
                                        <p:cTn id="26" dur="10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7" grpId="0" animBg="1"/>
      <p:bldP spid="9" grpId="0"/>
      <p:bldP spid="8" grpId="0" animBg="1"/>
    </p:bldLst>
  </p:timing>
</p:sld>
</file>

<file path=ppt/slides/slide248.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Update Anomaly</a:t>
            </a:r>
          </a:p>
        </p:txBody>
      </p:sp>
      <p:graphicFrame>
        <p:nvGraphicFramePr>
          <p:cNvPr id="5" name="Table 5">
            <a:extLst>
              <a:ext uri="{FF2B5EF4-FFF2-40B4-BE49-F238E27FC236}">
                <a16:creationId xmlns:a16="http://schemas.microsoft.com/office/drawing/2014/main" id="{38A8414E-6490-4AD8-90BD-DF0216F61C69}"/>
              </a:ext>
            </a:extLst>
          </p:cNvPr>
          <p:cNvGraphicFramePr>
            <a:graphicFrameLocks noGrp="1"/>
          </p:cNvGraphicFramePr>
          <p:nvPr>
            <p:ph idx="1"/>
          </p:nvPr>
        </p:nvGraphicFramePr>
        <p:xfrm>
          <a:off x="838200" y="2193925"/>
          <a:ext cx="10515600" cy="3555312"/>
        </p:xfrm>
        <a:graphic>
          <a:graphicData uri="http://schemas.openxmlformats.org/drawingml/2006/table">
            <a:tbl>
              <a:tblPr firstRow="1" bandRow="1">
                <a:tableStyleId>{5C22544A-7EE6-4342-B048-85BDC9FD1C3A}</a:tableStyleId>
              </a:tblPr>
              <a:tblGrid>
                <a:gridCol w="785386">
                  <a:extLst>
                    <a:ext uri="{9D8B030D-6E8A-4147-A177-3AD203B41FA5}">
                      <a16:colId xmlns:a16="http://schemas.microsoft.com/office/drawing/2014/main" val="1632358923"/>
                    </a:ext>
                  </a:extLst>
                </a:gridCol>
                <a:gridCol w="2399790">
                  <a:extLst>
                    <a:ext uri="{9D8B030D-6E8A-4147-A177-3AD203B41FA5}">
                      <a16:colId xmlns:a16="http://schemas.microsoft.com/office/drawing/2014/main" val="3505833113"/>
                    </a:ext>
                  </a:extLst>
                </a:gridCol>
                <a:gridCol w="2181627">
                  <a:extLst>
                    <a:ext uri="{9D8B030D-6E8A-4147-A177-3AD203B41FA5}">
                      <a16:colId xmlns:a16="http://schemas.microsoft.com/office/drawing/2014/main" val="3401749839"/>
                    </a:ext>
                  </a:extLst>
                </a:gridCol>
                <a:gridCol w="1745301">
                  <a:extLst>
                    <a:ext uri="{9D8B030D-6E8A-4147-A177-3AD203B41FA5}">
                      <a16:colId xmlns:a16="http://schemas.microsoft.com/office/drawing/2014/main" val="315362434"/>
                    </a:ext>
                  </a:extLst>
                </a:gridCol>
                <a:gridCol w="1876357">
                  <a:extLst>
                    <a:ext uri="{9D8B030D-6E8A-4147-A177-3AD203B41FA5}">
                      <a16:colId xmlns:a16="http://schemas.microsoft.com/office/drawing/2014/main" val="415971381"/>
                    </a:ext>
                  </a:extLst>
                </a:gridCol>
                <a:gridCol w="1527139">
                  <a:extLst>
                    <a:ext uri="{9D8B030D-6E8A-4147-A177-3AD203B41FA5}">
                      <a16:colId xmlns:a16="http://schemas.microsoft.com/office/drawing/2014/main" val="3467447067"/>
                    </a:ext>
                  </a:extLst>
                </a:gridCol>
              </a:tblGrid>
              <a:tr h="592552">
                <a:tc>
                  <a:txBody>
                    <a:bodyPr/>
                    <a:lstStyle/>
                    <a:p>
                      <a:pPr algn="ctr"/>
                      <a:r>
                        <a:rPr lang="en-GB" sz="3200" dirty="0"/>
                        <a:t>ID</a:t>
                      </a:r>
                    </a:p>
                  </a:txBody>
                  <a:tcPr/>
                </a:tc>
                <a:tc>
                  <a:txBody>
                    <a:bodyPr/>
                    <a:lstStyle/>
                    <a:p>
                      <a:pPr algn="ctr"/>
                      <a:r>
                        <a:rPr lang="en-GB" sz="3200" dirty="0"/>
                        <a:t>Forename</a:t>
                      </a:r>
                    </a:p>
                  </a:txBody>
                  <a:tcPr/>
                </a:tc>
                <a:tc>
                  <a:txBody>
                    <a:bodyPr/>
                    <a:lstStyle/>
                    <a:p>
                      <a:pPr algn="ctr"/>
                      <a:r>
                        <a:rPr lang="en-GB" sz="3200" dirty="0"/>
                        <a:t>Surname</a:t>
                      </a:r>
                    </a:p>
                  </a:txBody>
                  <a:tcPr/>
                </a:tc>
                <a:tc>
                  <a:txBody>
                    <a:bodyPr/>
                    <a:lstStyle/>
                    <a:p>
                      <a:pPr algn="ctr"/>
                      <a:r>
                        <a:rPr lang="en-GB" sz="3200" dirty="0"/>
                        <a:t>Dept</a:t>
                      </a:r>
                    </a:p>
                  </a:txBody>
                  <a:tcPr/>
                </a:tc>
                <a:tc>
                  <a:txBody>
                    <a:bodyPr/>
                    <a:lstStyle/>
                    <a:p>
                      <a:pPr algn="ctr"/>
                      <a:r>
                        <a:rPr lang="en-GB" sz="3200" dirty="0"/>
                        <a:t>Dept ID</a:t>
                      </a:r>
                    </a:p>
                  </a:txBody>
                  <a:tcPr/>
                </a:tc>
                <a:tc>
                  <a:txBody>
                    <a:bodyPr/>
                    <a:lstStyle/>
                    <a:p>
                      <a:pPr algn="ctr"/>
                      <a:r>
                        <a:rPr lang="en-GB" sz="3200" dirty="0"/>
                        <a:t>Phone</a:t>
                      </a:r>
                    </a:p>
                  </a:txBody>
                  <a:tcPr/>
                </a:tc>
                <a:extLst>
                  <a:ext uri="{0D108BD9-81ED-4DB2-BD59-A6C34878D82A}">
                    <a16:rowId xmlns:a16="http://schemas.microsoft.com/office/drawing/2014/main" val="3459615676"/>
                  </a:ext>
                </a:extLst>
              </a:tr>
              <a:tr h="592552">
                <a:tc>
                  <a:txBody>
                    <a:bodyPr/>
                    <a:lstStyle/>
                    <a:p>
                      <a:pPr lvl="0"/>
                      <a:r>
                        <a:rPr lang="en-GB" sz="3200" dirty="0"/>
                        <a:t>1</a:t>
                      </a:r>
                    </a:p>
                  </a:txBody>
                  <a:tcPr/>
                </a:tc>
                <a:tc>
                  <a:txBody>
                    <a:bodyPr/>
                    <a:lstStyle/>
                    <a:p>
                      <a:pPr lvl="0" algn="l"/>
                      <a:r>
                        <a:rPr lang="en-GB" sz="3200" dirty="0"/>
                        <a:t>Colin</a:t>
                      </a:r>
                    </a:p>
                  </a:txBody>
                  <a:tcPr/>
                </a:tc>
                <a:tc>
                  <a:txBody>
                    <a:bodyPr/>
                    <a:lstStyle/>
                    <a:p>
                      <a:pPr lvl="0" algn="l"/>
                      <a:r>
                        <a:rPr lang="en-GB" sz="3200" dirty="0"/>
                        <a:t>Arthur</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300</a:t>
                      </a:r>
                    </a:p>
                  </a:txBody>
                  <a:tcPr/>
                </a:tc>
                <a:extLst>
                  <a:ext uri="{0D108BD9-81ED-4DB2-BD59-A6C34878D82A}">
                    <a16:rowId xmlns:a16="http://schemas.microsoft.com/office/drawing/2014/main" val="1127765656"/>
                  </a:ext>
                </a:extLst>
              </a:tr>
              <a:tr h="592552">
                <a:tc>
                  <a:txBody>
                    <a:bodyPr/>
                    <a:lstStyle/>
                    <a:p>
                      <a:pPr lvl="0"/>
                      <a:r>
                        <a:rPr lang="en-GB" sz="3200" dirty="0"/>
                        <a:t>2</a:t>
                      </a:r>
                    </a:p>
                  </a:txBody>
                  <a:tcPr/>
                </a:tc>
                <a:tc>
                  <a:txBody>
                    <a:bodyPr/>
                    <a:lstStyle/>
                    <a:p>
                      <a:pPr lvl="0" algn="l"/>
                      <a:r>
                        <a:rPr lang="en-GB" sz="3200" dirty="0"/>
                        <a:t>Laura</a:t>
                      </a:r>
                    </a:p>
                  </a:txBody>
                  <a:tcPr/>
                </a:tc>
                <a:tc>
                  <a:txBody>
                    <a:bodyPr/>
                    <a:lstStyle/>
                    <a:p>
                      <a:pPr lvl="0" algn="l"/>
                      <a:r>
                        <a:rPr lang="en-GB" sz="3200" dirty="0"/>
                        <a:t>Brown</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300</a:t>
                      </a:r>
                    </a:p>
                  </a:txBody>
                  <a:tcPr/>
                </a:tc>
                <a:extLst>
                  <a:ext uri="{0D108BD9-81ED-4DB2-BD59-A6C34878D82A}">
                    <a16:rowId xmlns:a16="http://schemas.microsoft.com/office/drawing/2014/main" val="2924661129"/>
                  </a:ext>
                </a:extLst>
              </a:tr>
              <a:tr h="592552">
                <a:tc>
                  <a:txBody>
                    <a:bodyPr/>
                    <a:lstStyle/>
                    <a:p>
                      <a:pPr lvl="0"/>
                      <a:r>
                        <a:rPr lang="en-GB" sz="3200" dirty="0"/>
                        <a:t>3</a:t>
                      </a:r>
                    </a:p>
                  </a:txBody>
                  <a:tcPr/>
                </a:tc>
                <a:tc>
                  <a:txBody>
                    <a:bodyPr/>
                    <a:lstStyle/>
                    <a:p>
                      <a:pPr lvl="0" algn="l"/>
                      <a:r>
                        <a:rPr lang="en-GB" sz="3200" dirty="0"/>
                        <a:t>Stephen</a:t>
                      </a:r>
                    </a:p>
                  </a:txBody>
                  <a:tcPr/>
                </a:tc>
                <a:tc>
                  <a:txBody>
                    <a:bodyPr/>
                    <a:lstStyle/>
                    <a:p>
                      <a:pPr lvl="0" algn="l"/>
                      <a:r>
                        <a:rPr lang="en-GB" sz="3200" dirty="0"/>
                        <a:t>MacLeod</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300</a:t>
                      </a:r>
                    </a:p>
                  </a:txBody>
                  <a:tcPr/>
                </a:tc>
                <a:extLst>
                  <a:ext uri="{0D108BD9-81ED-4DB2-BD59-A6C34878D82A}">
                    <a16:rowId xmlns:a16="http://schemas.microsoft.com/office/drawing/2014/main" val="3885493841"/>
                  </a:ext>
                </a:extLst>
              </a:tr>
              <a:tr h="592552">
                <a:tc>
                  <a:txBody>
                    <a:bodyPr/>
                    <a:lstStyle/>
                    <a:p>
                      <a:pPr lvl="0"/>
                      <a:r>
                        <a:rPr lang="en-GB" sz="3200" dirty="0"/>
                        <a:t>4</a:t>
                      </a:r>
                    </a:p>
                  </a:txBody>
                  <a:tcPr/>
                </a:tc>
                <a:tc>
                  <a:txBody>
                    <a:bodyPr/>
                    <a:lstStyle/>
                    <a:p>
                      <a:pPr lvl="0" algn="l"/>
                      <a:r>
                        <a:rPr lang="en-GB" sz="3200" dirty="0"/>
                        <a:t>Scott</a:t>
                      </a:r>
                    </a:p>
                  </a:txBody>
                  <a:tcPr/>
                </a:tc>
                <a:tc>
                  <a:txBody>
                    <a:bodyPr/>
                    <a:lstStyle/>
                    <a:p>
                      <a:pPr lvl="0" algn="l"/>
                      <a:r>
                        <a:rPr lang="en-GB" sz="3200" dirty="0"/>
                        <a:t>Sinclair</a:t>
                      </a:r>
                    </a:p>
                  </a:txBody>
                  <a:tcPr/>
                </a:tc>
                <a:tc>
                  <a:txBody>
                    <a:bodyPr/>
                    <a:lstStyle/>
                    <a:p>
                      <a:pPr lvl="0" algn="l"/>
                      <a:r>
                        <a:rPr lang="en-GB" sz="3200" dirty="0"/>
                        <a:t>English</a:t>
                      </a:r>
                    </a:p>
                  </a:txBody>
                  <a:tcPr/>
                </a:tc>
                <a:tc>
                  <a:txBody>
                    <a:bodyPr/>
                    <a:lstStyle/>
                    <a:p>
                      <a:pPr lvl="0"/>
                      <a:r>
                        <a:rPr lang="en-GB" sz="3200" dirty="0"/>
                        <a:t>002</a:t>
                      </a:r>
                    </a:p>
                  </a:txBody>
                  <a:tcPr/>
                </a:tc>
                <a:tc>
                  <a:txBody>
                    <a:bodyPr/>
                    <a:lstStyle/>
                    <a:p>
                      <a:pPr lvl="0"/>
                      <a:r>
                        <a:rPr lang="en-GB" sz="3200" dirty="0"/>
                        <a:t>301</a:t>
                      </a:r>
                    </a:p>
                  </a:txBody>
                  <a:tcPr/>
                </a:tc>
                <a:extLst>
                  <a:ext uri="{0D108BD9-81ED-4DB2-BD59-A6C34878D82A}">
                    <a16:rowId xmlns:a16="http://schemas.microsoft.com/office/drawing/2014/main" val="1487565366"/>
                  </a:ext>
                </a:extLst>
              </a:tr>
              <a:tr h="592552">
                <a:tc>
                  <a:txBody>
                    <a:bodyPr/>
                    <a:lstStyle/>
                    <a:p>
                      <a:pPr lvl="0"/>
                      <a:r>
                        <a:rPr lang="en-GB" sz="3200" dirty="0"/>
                        <a:t>5</a:t>
                      </a:r>
                    </a:p>
                  </a:txBody>
                  <a:tcPr/>
                </a:tc>
                <a:tc>
                  <a:txBody>
                    <a:bodyPr/>
                    <a:lstStyle/>
                    <a:p>
                      <a:pPr lvl="0" algn="l"/>
                      <a:r>
                        <a:rPr lang="en-GB" sz="3200" dirty="0"/>
                        <a:t>Michelle</a:t>
                      </a:r>
                    </a:p>
                  </a:txBody>
                  <a:tcPr/>
                </a:tc>
                <a:tc>
                  <a:txBody>
                    <a:bodyPr/>
                    <a:lstStyle/>
                    <a:p>
                      <a:pPr lvl="0" algn="l"/>
                      <a:r>
                        <a:rPr lang="en-GB" sz="3200" dirty="0"/>
                        <a:t>Wie</a:t>
                      </a:r>
                    </a:p>
                  </a:txBody>
                  <a:tcPr/>
                </a:tc>
                <a:tc>
                  <a:txBody>
                    <a:bodyPr/>
                    <a:lstStyle/>
                    <a:p>
                      <a:pPr lvl="0" algn="l"/>
                      <a:r>
                        <a:rPr lang="en-GB" sz="3200" dirty="0"/>
                        <a:t>English</a:t>
                      </a:r>
                    </a:p>
                  </a:txBody>
                  <a:tcPr/>
                </a:tc>
                <a:tc>
                  <a:txBody>
                    <a:bodyPr/>
                    <a:lstStyle/>
                    <a:p>
                      <a:pPr lvl="0"/>
                      <a:r>
                        <a:rPr lang="en-GB" sz="3200" dirty="0"/>
                        <a:t>002</a:t>
                      </a:r>
                    </a:p>
                  </a:txBody>
                  <a:tcPr/>
                </a:tc>
                <a:tc>
                  <a:txBody>
                    <a:bodyPr/>
                    <a:lstStyle/>
                    <a:p>
                      <a:pPr lvl="0"/>
                      <a:r>
                        <a:rPr lang="en-GB" sz="3200" dirty="0"/>
                        <a:t>301</a:t>
                      </a:r>
                    </a:p>
                  </a:txBody>
                  <a:tcPr/>
                </a:tc>
                <a:extLst>
                  <a:ext uri="{0D108BD9-81ED-4DB2-BD59-A6C34878D82A}">
                    <a16:rowId xmlns:a16="http://schemas.microsoft.com/office/drawing/2014/main" val="81894544"/>
                  </a:ext>
                </a:extLst>
              </a:tr>
            </a:tbl>
          </a:graphicData>
        </a:graphic>
      </p:graphicFrame>
      <p:graphicFrame>
        <p:nvGraphicFramePr>
          <p:cNvPr id="3" name="Table 2">
            <a:extLst>
              <a:ext uri="{FF2B5EF4-FFF2-40B4-BE49-F238E27FC236}">
                <a16:creationId xmlns:a16="http://schemas.microsoft.com/office/drawing/2014/main" id="{E5FB5CC0-6D81-48CA-8C78-BBC6CEB9D8ED}"/>
              </a:ext>
            </a:extLst>
          </p:cNvPr>
          <p:cNvGraphicFramePr>
            <a:graphicFrameLocks noGrp="1"/>
          </p:cNvGraphicFramePr>
          <p:nvPr/>
        </p:nvGraphicFramePr>
        <p:xfrm>
          <a:off x="838200" y="2783896"/>
          <a:ext cx="10515600" cy="1185104"/>
        </p:xfrm>
        <a:graphic>
          <a:graphicData uri="http://schemas.openxmlformats.org/drawingml/2006/table">
            <a:tbl>
              <a:tblPr bandRow="1">
                <a:tableStyleId>{5C22544A-7EE6-4342-B048-85BDC9FD1C3A}</a:tableStyleId>
              </a:tblPr>
              <a:tblGrid>
                <a:gridCol w="785386">
                  <a:extLst>
                    <a:ext uri="{9D8B030D-6E8A-4147-A177-3AD203B41FA5}">
                      <a16:colId xmlns:a16="http://schemas.microsoft.com/office/drawing/2014/main" val="2684301988"/>
                    </a:ext>
                  </a:extLst>
                </a:gridCol>
                <a:gridCol w="2399790">
                  <a:extLst>
                    <a:ext uri="{9D8B030D-6E8A-4147-A177-3AD203B41FA5}">
                      <a16:colId xmlns:a16="http://schemas.microsoft.com/office/drawing/2014/main" val="3554510891"/>
                    </a:ext>
                  </a:extLst>
                </a:gridCol>
                <a:gridCol w="2181627">
                  <a:extLst>
                    <a:ext uri="{9D8B030D-6E8A-4147-A177-3AD203B41FA5}">
                      <a16:colId xmlns:a16="http://schemas.microsoft.com/office/drawing/2014/main" val="76118969"/>
                    </a:ext>
                  </a:extLst>
                </a:gridCol>
                <a:gridCol w="1745301">
                  <a:extLst>
                    <a:ext uri="{9D8B030D-6E8A-4147-A177-3AD203B41FA5}">
                      <a16:colId xmlns:a16="http://schemas.microsoft.com/office/drawing/2014/main" val="2256709060"/>
                    </a:ext>
                  </a:extLst>
                </a:gridCol>
                <a:gridCol w="1876357">
                  <a:extLst>
                    <a:ext uri="{9D8B030D-6E8A-4147-A177-3AD203B41FA5}">
                      <a16:colId xmlns:a16="http://schemas.microsoft.com/office/drawing/2014/main" val="2333792100"/>
                    </a:ext>
                  </a:extLst>
                </a:gridCol>
                <a:gridCol w="1527139">
                  <a:extLst>
                    <a:ext uri="{9D8B030D-6E8A-4147-A177-3AD203B41FA5}">
                      <a16:colId xmlns:a16="http://schemas.microsoft.com/office/drawing/2014/main" val="705863989"/>
                    </a:ext>
                  </a:extLst>
                </a:gridCol>
              </a:tblGrid>
              <a:tr h="592552">
                <a:tc>
                  <a:txBody>
                    <a:bodyPr/>
                    <a:lstStyle/>
                    <a:p>
                      <a:pPr lvl="0"/>
                      <a:r>
                        <a:rPr lang="en-GB" sz="3200" dirty="0"/>
                        <a:t>1</a:t>
                      </a:r>
                    </a:p>
                  </a:txBody>
                  <a:tcPr/>
                </a:tc>
                <a:tc>
                  <a:txBody>
                    <a:bodyPr/>
                    <a:lstStyle/>
                    <a:p>
                      <a:pPr lvl="0" algn="l"/>
                      <a:r>
                        <a:rPr lang="en-GB" sz="3200" dirty="0"/>
                        <a:t>Colin</a:t>
                      </a:r>
                    </a:p>
                  </a:txBody>
                  <a:tcPr/>
                </a:tc>
                <a:tc>
                  <a:txBody>
                    <a:bodyPr/>
                    <a:lstStyle/>
                    <a:p>
                      <a:pPr lvl="0" algn="l"/>
                      <a:r>
                        <a:rPr lang="en-GB" sz="3200" dirty="0"/>
                        <a:t>Arthur</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400</a:t>
                      </a:r>
                    </a:p>
                  </a:txBody>
                  <a:tcPr/>
                </a:tc>
                <a:extLst>
                  <a:ext uri="{0D108BD9-81ED-4DB2-BD59-A6C34878D82A}">
                    <a16:rowId xmlns:a16="http://schemas.microsoft.com/office/drawing/2014/main" val="2098199609"/>
                  </a:ext>
                </a:extLst>
              </a:tr>
              <a:tr h="592552">
                <a:tc>
                  <a:txBody>
                    <a:bodyPr/>
                    <a:lstStyle/>
                    <a:p>
                      <a:pPr lvl="0"/>
                      <a:r>
                        <a:rPr lang="en-GB" sz="3200" dirty="0"/>
                        <a:t>2</a:t>
                      </a:r>
                    </a:p>
                  </a:txBody>
                  <a:tcPr/>
                </a:tc>
                <a:tc>
                  <a:txBody>
                    <a:bodyPr/>
                    <a:lstStyle/>
                    <a:p>
                      <a:pPr lvl="0" algn="l"/>
                      <a:r>
                        <a:rPr lang="en-GB" sz="3200" dirty="0"/>
                        <a:t>Laura</a:t>
                      </a:r>
                    </a:p>
                  </a:txBody>
                  <a:tcPr/>
                </a:tc>
                <a:tc>
                  <a:txBody>
                    <a:bodyPr/>
                    <a:lstStyle/>
                    <a:p>
                      <a:pPr lvl="0" algn="l"/>
                      <a:r>
                        <a:rPr lang="en-GB" sz="3200" dirty="0"/>
                        <a:t>Brown</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400</a:t>
                      </a:r>
                    </a:p>
                  </a:txBody>
                  <a:tcPr/>
                </a:tc>
                <a:extLst>
                  <a:ext uri="{0D108BD9-81ED-4DB2-BD59-A6C34878D82A}">
                    <a16:rowId xmlns:a16="http://schemas.microsoft.com/office/drawing/2014/main" val="3854276890"/>
                  </a:ext>
                </a:extLst>
              </a:tr>
            </a:tbl>
          </a:graphicData>
        </a:graphic>
      </p:graphicFrame>
    </p:spTree>
    <p:extLst>
      <p:ext uri="{BB962C8B-B14F-4D97-AF65-F5344CB8AC3E}">
        <p14:creationId xmlns:p14="http://schemas.microsoft.com/office/powerpoint/2010/main" val="109803462"/>
      </p:ext>
    </p:extLst>
  </p:cSld>
  <p:clrMapOvr>
    <a:masterClrMapping/>
  </p:clrMapOvr>
</p:sld>
</file>

<file path=ppt/slides/slide249.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55ABFA4-A27B-8842-C55B-B40658509C78}"/>
              </a:ext>
            </a:extLst>
          </p:cNvPr>
          <p:cNvSpPr>
            <a:spLocks noGrp="1"/>
          </p:cNvSpPr>
          <p:nvPr>
            <p:ph type="title"/>
          </p:nvPr>
        </p:nvSpPr>
        <p:spPr/>
        <p:txBody>
          <a:bodyPr/>
          <a:lstStyle/>
          <a:p>
            <a:r>
              <a:rPr lang="en-GB" dirty="0"/>
              <a:t>SQL Order of Operations</a:t>
            </a:r>
          </a:p>
        </p:txBody>
      </p:sp>
      <p:sp>
        <p:nvSpPr>
          <p:cNvPr id="4" name="Text Placeholder 3">
            <a:extLst>
              <a:ext uri="{FF2B5EF4-FFF2-40B4-BE49-F238E27FC236}">
                <a16:creationId xmlns:a16="http://schemas.microsoft.com/office/drawing/2014/main" id="{A3EACDBF-C51C-4AFD-8F73-B9567322C278}"/>
              </a:ext>
            </a:extLst>
          </p:cNvPr>
          <p:cNvSpPr>
            <a:spLocks noGrp="1"/>
          </p:cNvSpPr>
          <p:nvPr>
            <p:ph type="body" idx="1"/>
          </p:nvPr>
        </p:nvSpPr>
        <p:spPr/>
        <p:txBody>
          <a:bodyPr/>
          <a:lstStyle/>
          <a:p>
            <a:r>
              <a:rPr lang="en-GB" dirty="0"/>
              <a:t>SQL</a:t>
            </a:r>
          </a:p>
        </p:txBody>
      </p:sp>
      <p:sp>
        <p:nvSpPr>
          <p:cNvPr id="3" name="Content Placeholder 2">
            <a:extLst>
              <a:ext uri="{FF2B5EF4-FFF2-40B4-BE49-F238E27FC236}">
                <a16:creationId xmlns:a16="http://schemas.microsoft.com/office/drawing/2014/main" id="{C0396F45-AB41-5147-8CA1-DD95C04F8120}"/>
              </a:ext>
            </a:extLst>
          </p:cNvPr>
          <p:cNvSpPr>
            <a:spLocks noGrp="1"/>
          </p:cNvSpPr>
          <p:nvPr>
            <p:ph sz="half" idx="2"/>
          </p:nvPr>
        </p:nvSpPr>
        <p:spPr/>
        <p:txBody>
          <a:bodyPr/>
          <a:lstStyle/>
          <a:p>
            <a:pPr marL="514350" indent="-514350">
              <a:buFont typeface="+mj-lt"/>
              <a:buAutoNum type="arabicPeriod"/>
            </a:pPr>
            <a:r>
              <a:rPr lang="en-GB" dirty="0"/>
              <a:t>SELECT field(s)</a:t>
            </a:r>
          </a:p>
          <a:p>
            <a:pPr marL="514350" indent="-514350">
              <a:buFont typeface="+mj-lt"/>
              <a:buAutoNum type="arabicPeriod"/>
            </a:pPr>
            <a:r>
              <a:rPr lang="en-GB" dirty="0"/>
              <a:t>FROM table(s)</a:t>
            </a:r>
          </a:p>
          <a:p>
            <a:pPr marL="514350" indent="-514350">
              <a:buFont typeface="+mj-lt"/>
              <a:buAutoNum type="arabicPeriod"/>
            </a:pPr>
            <a:r>
              <a:rPr lang="en-GB" dirty="0"/>
              <a:t>WHERE condition(s)</a:t>
            </a:r>
          </a:p>
          <a:p>
            <a:pPr marL="514350" indent="-514350">
              <a:buFont typeface="+mj-lt"/>
              <a:buAutoNum type="arabicPeriod"/>
            </a:pPr>
            <a:r>
              <a:rPr lang="en-GB" dirty="0"/>
              <a:t>ORDER BY field(s)</a:t>
            </a:r>
          </a:p>
        </p:txBody>
      </p:sp>
      <p:sp>
        <p:nvSpPr>
          <p:cNvPr id="5" name="Text Placeholder 4">
            <a:extLst>
              <a:ext uri="{FF2B5EF4-FFF2-40B4-BE49-F238E27FC236}">
                <a16:creationId xmlns:a16="http://schemas.microsoft.com/office/drawing/2014/main" id="{2D027DE3-9767-439D-BEAE-0E33D92528EA}"/>
              </a:ext>
            </a:extLst>
          </p:cNvPr>
          <p:cNvSpPr>
            <a:spLocks noGrp="1"/>
          </p:cNvSpPr>
          <p:nvPr>
            <p:ph type="body" sz="quarter" idx="3"/>
          </p:nvPr>
        </p:nvSpPr>
        <p:spPr/>
        <p:txBody>
          <a:bodyPr/>
          <a:lstStyle/>
          <a:p>
            <a:r>
              <a:rPr lang="en-GB" dirty="0"/>
              <a:t>Order</a:t>
            </a:r>
          </a:p>
        </p:txBody>
      </p:sp>
      <p:sp>
        <p:nvSpPr>
          <p:cNvPr id="6" name="Content Placeholder 5">
            <a:extLst>
              <a:ext uri="{FF2B5EF4-FFF2-40B4-BE49-F238E27FC236}">
                <a16:creationId xmlns:a16="http://schemas.microsoft.com/office/drawing/2014/main" id="{AC785971-4016-46B9-923D-AA9FA988605D}"/>
              </a:ext>
            </a:extLst>
          </p:cNvPr>
          <p:cNvSpPr>
            <a:spLocks noGrp="1"/>
          </p:cNvSpPr>
          <p:nvPr>
            <p:ph sz="quarter" idx="4"/>
          </p:nvPr>
        </p:nvSpPr>
        <p:spPr/>
        <p:txBody>
          <a:bodyPr/>
          <a:lstStyle/>
          <a:p>
            <a:pPr marL="514350" indent="-514350">
              <a:buFont typeface="+mj-lt"/>
              <a:buAutoNum type="arabicPeriod"/>
            </a:pPr>
            <a:r>
              <a:rPr lang="en-GB" dirty="0"/>
              <a:t>FROM</a:t>
            </a:r>
          </a:p>
          <a:p>
            <a:pPr marL="514350" indent="-514350">
              <a:buFont typeface="+mj-lt"/>
              <a:buAutoNum type="arabicPeriod"/>
            </a:pPr>
            <a:r>
              <a:rPr lang="en-GB" dirty="0"/>
              <a:t>WHERE</a:t>
            </a:r>
          </a:p>
          <a:p>
            <a:pPr marL="514350" indent="-514350">
              <a:buFont typeface="+mj-lt"/>
              <a:buAutoNum type="arabicPeriod"/>
            </a:pPr>
            <a:r>
              <a:rPr lang="en-GB" dirty="0"/>
              <a:t>SELECT</a:t>
            </a:r>
          </a:p>
          <a:p>
            <a:pPr marL="514350" indent="-514350">
              <a:buFont typeface="+mj-lt"/>
              <a:buAutoNum type="arabicPeriod"/>
            </a:pPr>
            <a:r>
              <a:rPr lang="en-GB" dirty="0"/>
              <a:t>ORDER BY</a:t>
            </a:r>
          </a:p>
          <a:p>
            <a:endParaRPr lang="en-GB" dirty="0"/>
          </a:p>
        </p:txBody>
      </p:sp>
    </p:spTree>
    <p:extLst>
      <p:ext uri="{BB962C8B-B14F-4D97-AF65-F5344CB8AC3E}">
        <p14:creationId xmlns:p14="http://schemas.microsoft.com/office/powerpoint/2010/main" val="33217070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animEffect transition="in" filter="wipe(left)">
                                      <p:cBhvr>
                                        <p:cTn id="7" dur="500"/>
                                        <p:tgtEl>
                                          <p:spTgt spid="4">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0" end="0"/>
                                            </p:txEl>
                                          </p:spTgt>
                                        </p:tgtEl>
                                        <p:attrNameLst>
                                          <p:attrName>style.visibility</p:attrName>
                                        </p:attrNameLst>
                                      </p:cBhvr>
                                      <p:to>
                                        <p:strVal val="visible"/>
                                      </p:to>
                                    </p:set>
                                    <p:animEffect transition="in" filter="wipe(left)">
                                      <p:cBhvr>
                                        <p:cTn id="12" dur="1250"/>
                                        <p:tgtEl>
                                          <p:spTgt spid="3">
                                            <p:txEl>
                                              <p:pRg st="0" end="0"/>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1" end="1"/>
                                            </p:txEl>
                                          </p:spTgt>
                                        </p:tgtEl>
                                        <p:attrNameLst>
                                          <p:attrName>style.visibility</p:attrName>
                                        </p:attrNameLst>
                                      </p:cBhvr>
                                      <p:to>
                                        <p:strVal val="visible"/>
                                      </p:to>
                                    </p:set>
                                    <p:animEffect transition="in" filter="wipe(left)">
                                      <p:cBhvr>
                                        <p:cTn id="17" dur="1250"/>
                                        <p:tgtEl>
                                          <p:spTgt spid="3">
                                            <p:txEl>
                                              <p:pRg st="1" end="1"/>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3">
                                            <p:txEl>
                                              <p:pRg st="2" end="2"/>
                                            </p:txEl>
                                          </p:spTgt>
                                        </p:tgtEl>
                                        <p:attrNameLst>
                                          <p:attrName>style.visibility</p:attrName>
                                        </p:attrNameLst>
                                      </p:cBhvr>
                                      <p:to>
                                        <p:strVal val="visible"/>
                                      </p:to>
                                    </p:set>
                                    <p:animEffect transition="in" filter="wipe(left)">
                                      <p:cBhvr>
                                        <p:cTn id="22" dur="1250"/>
                                        <p:tgtEl>
                                          <p:spTgt spid="3">
                                            <p:txEl>
                                              <p:pRg st="2" end="2"/>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3">
                                            <p:txEl>
                                              <p:pRg st="3" end="3"/>
                                            </p:txEl>
                                          </p:spTgt>
                                        </p:tgtEl>
                                        <p:attrNameLst>
                                          <p:attrName>style.visibility</p:attrName>
                                        </p:attrNameLst>
                                      </p:cBhvr>
                                      <p:to>
                                        <p:strVal val="visible"/>
                                      </p:to>
                                    </p:set>
                                    <p:animEffect transition="in" filter="wipe(left)">
                                      <p:cBhvr>
                                        <p:cTn id="27" dur="1250"/>
                                        <p:tgtEl>
                                          <p:spTgt spid="3">
                                            <p:txEl>
                                              <p:pRg st="3" end="3"/>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5">
                                            <p:txEl>
                                              <p:pRg st="0" end="0"/>
                                            </p:txEl>
                                          </p:spTgt>
                                        </p:tgtEl>
                                        <p:attrNameLst>
                                          <p:attrName>style.visibility</p:attrName>
                                        </p:attrNameLst>
                                      </p:cBhvr>
                                      <p:to>
                                        <p:strVal val="visible"/>
                                      </p:to>
                                    </p:set>
                                    <p:animEffect transition="in" filter="wipe(left)">
                                      <p:cBhvr>
                                        <p:cTn id="32" dur="500"/>
                                        <p:tgtEl>
                                          <p:spTgt spid="5">
                                            <p:txEl>
                                              <p:pRg st="0" end="0"/>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6">
                                            <p:txEl>
                                              <p:pRg st="0" end="0"/>
                                            </p:txEl>
                                          </p:spTgt>
                                        </p:tgtEl>
                                        <p:attrNameLst>
                                          <p:attrName>style.visibility</p:attrName>
                                        </p:attrNameLst>
                                      </p:cBhvr>
                                      <p:to>
                                        <p:strVal val="visible"/>
                                      </p:to>
                                    </p:set>
                                    <p:animEffect transition="in" filter="wipe(left)">
                                      <p:cBhvr>
                                        <p:cTn id="37" dur="1000"/>
                                        <p:tgtEl>
                                          <p:spTgt spid="6">
                                            <p:txEl>
                                              <p:pRg st="0" end="0"/>
                                            </p:txEl>
                                          </p:spTgt>
                                        </p:tgtEl>
                                      </p:cBhvr>
                                    </p:animEffect>
                                  </p:childTnLst>
                                </p:cTn>
                              </p:par>
                            </p:childTnLst>
                          </p:cTn>
                        </p:par>
                      </p:childTnLst>
                    </p:cTn>
                  </p:par>
                  <p:par>
                    <p:cTn id="38" fill="hold">
                      <p:stCondLst>
                        <p:cond delay="indefinite"/>
                      </p:stCondLst>
                      <p:childTnLst>
                        <p:par>
                          <p:cTn id="39" fill="hold">
                            <p:stCondLst>
                              <p:cond delay="0"/>
                            </p:stCondLst>
                            <p:childTnLst>
                              <p:par>
                                <p:cTn id="40" presetID="22" presetClass="entr" presetSubtype="8" fill="hold" grpId="0" nodeType="clickEffect">
                                  <p:stCondLst>
                                    <p:cond delay="0"/>
                                  </p:stCondLst>
                                  <p:childTnLst>
                                    <p:set>
                                      <p:cBhvr>
                                        <p:cTn id="41" dur="1" fill="hold">
                                          <p:stCondLst>
                                            <p:cond delay="0"/>
                                          </p:stCondLst>
                                        </p:cTn>
                                        <p:tgtEl>
                                          <p:spTgt spid="6">
                                            <p:txEl>
                                              <p:pRg st="1" end="1"/>
                                            </p:txEl>
                                          </p:spTgt>
                                        </p:tgtEl>
                                        <p:attrNameLst>
                                          <p:attrName>style.visibility</p:attrName>
                                        </p:attrNameLst>
                                      </p:cBhvr>
                                      <p:to>
                                        <p:strVal val="visible"/>
                                      </p:to>
                                    </p:set>
                                    <p:animEffect transition="in" filter="wipe(left)">
                                      <p:cBhvr>
                                        <p:cTn id="42" dur="1000"/>
                                        <p:tgtEl>
                                          <p:spTgt spid="6">
                                            <p:txEl>
                                              <p:pRg st="1" end="1"/>
                                            </p:txEl>
                                          </p:spTgt>
                                        </p:tgtEl>
                                      </p:cBhvr>
                                    </p:animEffect>
                                  </p:childTnLst>
                                </p:cTn>
                              </p:par>
                            </p:childTnLst>
                          </p:cTn>
                        </p:par>
                      </p:childTnLst>
                    </p:cTn>
                  </p:par>
                  <p:par>
                    <p:cTn id="43" fill="hold">
                      <p:stCondLst>
                        <p:cond delay="indefinite"/>
                      </p:stCondLst>
                      <p:childTnLst>
                        <p:par>
                          <p:cTn id="44" fill="hold">
                            <p:stCondLst>
                              <p:cond delay="0"/>
                            </p:stCondLst>
                            <p:childTnLst>
                              <p:par>
                                <p:cTn id="45" presetID="22" presetClass="entr" presetSubtype="8" fill="hold" grpId="0" nodeType="clickEffect">
                                  <p:stCondLst>
                                    <p:cond delay="0"/>
                                  </p:stCondLst>
                                  <p:childTnLst>
                                    <p:set>
                                      <p:cBhvr>
                                        <p:cTn id="46" dur="1" fill="hold">
                                          <p:stCondLst>
                                            <p:cond delay="0"/>
                                          </p:stCondLst>
                                        </p:cTn>
                                        <p:tgtEl>
                                          <p:spTgt spid="6">
                                            <p:txEl>
                                              <p:pRg st="2" end="2"/>
                                            </p:txEl>
                                          </p:spTgt>
                                        </p:tgtEl>
                                        <p:attrNameLst>
                                          <p:attrName>style.visibility</p:attrName>
                                        </p:attrNameLst>
                                      </p:cBhvr>
                                      <p:to>
                                        <p:strVal val="visible"/>
                                      </p:to>
                                    </p:set>
                                    <p:animEffect transition="in" filter="wipe(left)">
                                      <p:cBhvr>
                                        <p:cTn id="47" dur="1000"/>
                                        <p:tgtEl>
                                          <p:spTgt spid="6">
                                            <p:txEl>
                                              <p:pRg st="2" end="2"/>
                                            </p:txEl>
                                          </p:spTgt>
                                        </p:tgtEl>
                                      </p:cBhvr>
                                    </p:animEffect>
                                  </p:childTnLst>
                                </p:cTn>
                              </p:par>
                            </p:childTnLst>
                          </p:cTn>
                        </p:par>
                      </p:childTnLst>
                    </p:cTn>
                  </p:par>
                  <p:par>
                    <p:cTn id="48" fill="hold">
                      <p:stCondLst>
                        <p:cond delay="indefinite"/>
                      </p:stCondLst>
                      <p:childTnLst>
                        <p:par>
                          <p:cTn id="49" fill="hold">
                            <p:stCondLst>
                              <p:cond delay="0"/>
                            </p:stCondLst>
                            <p:childTnLst>
                              <p:par>
                                <p:cTn id="50" presetID="22" presetClass="entr" presetSubtype="8" fill="hold" grpId="0" nodeType="clickEffect">
                                  <p:stCondLst>
                                    <p:cond delay="0"/>
                                  </p:stCondLst>
                                  <p:childTnLst>
                                    <p:set>
                                      <p:cBhvr>
                                        <p:cTn id="51" dur="1" fill="hold">
                                          <p:stCondLst>
                                            <p:cond delay="0"/>
                                          </p:stCondLst>
                                        </p:cTn>
                                        <p:tgtEl>
                                          <p:spTgt spid="6">
                                            <p:txEl>
                                              <p:pRg st="3" end="3"/>
                                            </p:txEl>
                                          </p:spTgt>
                                        </p:tgtEl>
                                        <p:attrNameLst>
                                          <p:attrName>style.visibility</p:attrName>
                                        </p:attrNameLst>
                                      </p:cBhvr>
                                      <p:to>
                                        <p:strVal val="visible"/>
                                      </p:to>
                                    </p:set>
                                    <p:animEffect transition="in" filter="wipe(left)">
                                      <p:cBhvr>
                                        <p:cTn id="52" dur="1000"/>
                                        <p:tgtEl>
                                          <p:spTgt spid="6">
                                            <p:txEl>
                                              <p:pRg st="3" end="3"/>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build="p"/>
      <p:bldP spid="3" grpId="0" uiExpand="1" build="p"/>
      <p:bldP spid="5" grpId="0" build="p"/>
      <p:bldP spid="6" grpId="0" build="p"/>
    </p:bldLst>
  </p:timing>
</p:sld>
</file>

<file path=ppt/slides/slide250.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55ABFA4-A27B-8842-C55B-B40658509C78}"/>
              </a:ext>
            </a:extLst>
          </p:cNvPr>
          <p:cNvSpPr>
            <a:spLocks noGrp="1"/>
          </p:cNvSpPr>
          <p:nvPr>
            <p:ph type="title"/>
          </p:nvPr>
        </p:nvSpPr>
        <p:spPr/>
        <p:txBody>
          <a:bodyPr/>
          <a:lstStyle/>
          <a:p>
            <a:r>
              <a:rPr lang="en-GB" dirty="0"/>
              <a:t>SQL Order of Operations</a:t>
            </a:r>
          </a:p>
        </p:txBody>
      </p:sp>
      <p:sp>
        <p:nvSpPr>
          <p:cNvPr id="4" name="Text Placeholder 3">
            <a:extLst>
              <a:ext uri="{FF2B5EF4-FFF2-40B4-BE49-F238E27FC236}">
                <a16:creationId xmlns:a16="http://schemas.microsoft.com/office/drawing/2014/main" id="{A3EACDBF-C51C-4AFD-8F73-B9567322C278}"/>
              </a:ext>
            </a:extLst>
          </p:cNvPr>
          <p:cNvSpPr>
            <a:spLocks noGrp="1"/>
          </p:cNvSpPr>
          <p:nvPr>
            <p:ph type="body" idx="1"/>
          </p:nvPr>
        </p:nvSpPr>
        <p:spPr/>
        <p:txBody>
          <a:bodyPr/>
          <a:lstStyle/>
          <a:p>
            <a:r>
              <a:rPr lang="en-GB" dirty="0"/>
              <a:t>SQL</a:t>
            </a:r>
          </a:p>
        </p:txBody>
      </p:sp>
      <p:sp>
        <p:nvSpPr>
          <p:cNvPr id="3" name="Content Placeholder 2">
            <a:extLst>
              <a:ext uri="{FF2B5EF4-FFF2-40B4-BE49-F238E27FC236}">
                <a16:creationId xmlns:a16="http://schemas.microsoft.com/office/drawing/2014/main" id="{C0396F45-AB41-5147-8CA1-DD95C04F8120}"/>
              </a:ext>
            </a:extLst>
          </p:cNvPr>
          <p:cNvSpPr>
            <a:spLocks noGrp="1"/>
          </p:cNvSpPr>
          <p:nvPr>
            <p:ph sz="half" idx="2"/>
          </p:nvPr>
        </p:nvSpPr>
        <p:spPr/>
        <p:txBody>
          <a:bodyPr/>
          <a:lstStyle/>
          <a:p>
            <a:pPr marL="514350" indent="-514350">
              <a:buFont typeface="+mj-lt"/>
              <a:buAutoNum type="arabicPeriod"/>
            </a:pPr>
            <a:r>
              <a:rPr lang="en-GB" dirty="0"/>
              <a:t>SELECT field(s)</a:t>
            </a:r>
          </a:p>
          <a:p>
            <a:pPr marL="514350" indent="-514350">
              <a:buFont typeface="+mj-lt"/>
              <a:buAutoNum type="arabicPeriod"/>
            </a:pPr>
            <a:r>
              <a:rPr lang="en-GB" dirty="0"/>
              <a:t>FROM table(s)</a:t>
            </a:r>
          </a:p>
          <a:p>
            <a:pPr marL="514350" indent="-514350">
              <a:buFont typeface="+mj-lt"/>
              <a:buAutoNum type="arabicPeriod"/>
            </a:pPr>
            <a:r>
              <a:rPr lang="en-GB" dirty="0"/>
              <a:t>WHERE condition(s)</a:t>
            </a:r>
          </a:p>
          <a:p>
            <a:pPr marL="514350" indent="-514350">
              <a:buFont typeface="+mj-lt"/>
              <a:buAutoNum type="arabicPeriod"/>
            </a:pPr>
            <a:r>
              <a:rPr lang="en-GB" dirty="0"/>
              <a:t>ORDER BY field(s)</a:t>
            </a:r>
          </a:p>
        </p:txBody>
      </p:sp>
      <p:sp>
        <p:nvSpPr>
          <p:cNvPr id="5" name="Text Placeholder 4">
            <a:extLst>
              <a:ext uri="{FF2B5EF4-FFF2-40B4-BE49-F238E27FC236}">
                <a16:creationId xmlns:a16="http://schemas.microsoft.com/office/drawing/2014/main" id="{2D027DE3-9767-439D-BEAE-0E33D92528EA}"/>
              </a:ext>
            </a:extLst>
          </p:cNvPr>
          <p:cNvSpPr>
            <a:spLocks noGrp="1"/>
          </p:cNvSpPr>
          <p:nvPr>
            <p:ph type="body" sz="quarter" idx="3"/>
          </p:nvPr>
        </p:nvSpPr>
        <p:spPr/>
        <p:txBody>
          <a:bodyPr/>
          <a:lstStyle/>
          <a:p>
            <a:r>
              <a:rPr lang="en-GB" dirty="0"/>
              <a:t>Order</a:t>
            </a:r>
          </a:p>
        </p:txBody>
      </p:sp>
      <p:sp>
        <p:nvSpPr>
          <p:cNvPr id="6" name="Content Placeholder 5">
            <a:extLst>
              <a:ext uri="{FF2B5EF4-FFF2-40B4-BE49-F238E27FC236}">
                <a16:creationId xmlns:a16="http://schemas.microsoft.com/office/drawing/2014/main" id="{AC785971-4016-46B9-923D-AA9FA988605D}"/>
              </a:ext>
            </a:extLst>
          </p:cNvPr>
          <p:cNvSpPr>
            <a:spLocks noGrp="1"/>
          </p:cNvSpPr>
          <p:nvPr>
            <p:ph sz="quarter" idx="4"/>
          </p:nvPr>
        </p:nvSpPr>
        <p:spPr/>
        <p:txBody>
          <a:bodyPr/>
          <a:lstStyle/>
          <a:p>
            <a:pPr marL="514350" indent="-514350">
              <a:buFont typeface="+mj-lt"/>
              <a:buAutoNum type="arabicPeriod"/>
            </a:pPr>
            <a:r>
              <a:rPr lang="en-GB" dirty="0"/>
              <a:t> </a:t>
            </a:r>
          </a:p>
          <a:p>
            <a:pPr marL="514350" indent="-514350">
              <a:buFont typeface="+mj-lt"/>
              <a:buAutoNum type="arabicPeriod"/>
            </a:pPr>
            <a:r>
              <a:rPr lang="en-GB" dirty="0"/>
              <a:t> </a:t>
            </a:r>
          </a:p>
          <a:p>
            <a:pPr marL="514350" indent="-514350">
              <a:buFont typeface="+mj-lt"/>
              <a:buAutoNum type="arabicPeriod"/>
            </a:pPr>
            <a:r>
              <a:rPr lang="en-GB" dirty="0"/>
              <a:t> </a:t>
            </a:r>
          </a:p>
          <a:p>
            <a:pPr marL="514350" indent="-514350">
              <a:buFont typeface="+mj-lt"/>
              <a:buAutoNum type="arabicPeriod"/>
            </a:pPr>
            <a:r>
              <a:rPr lang="en-GB" dirty="0"/>
              <a:t> </a:t>
            </a:r>
          </a:p>
          <a:p>
            <a:endParaRPr lang="en-GB" dirty="0"/>
          </a:p>
        </p:txBody>
      </p:sp>
    </p:spTree>
    <p:extLst>
      <p:ext uri="{BB962C8B-B14F-4D97-AF65-F5344CB8AC3E}">
        <p14:creationId xmlns:p14="http://schemas.microsoft.com/office/powerpoint/2010/main" val="1799982689"/>
      </p:ext>
    </p:extLst>
  </p:cSld>
  <p:clrMapOvr>
    <a:masterClrMapping/>
  </p:clrMapOvr>
</p:sld>
</file>

<file path=ppt/slides/slide25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4150D6E-A7AE-40F1-B520-C3C5A5B9033C}"/>
              </a:ext>
            </a:extLst>
          </p:cNvPr>
          <p:cNvSpPr>
            <a:spLocks noGrp="1"/>
          </p:cNvSpPr>
          <p:nvPr>
            <p:ph type="title"/>
          </p:nvPr>
        </p:nvSpPr>
        <p:spPr/>
        <p:txBody>
          <a:bodyPr/>
          <a:lstStyle/>
          <a:p>
            <a:r>
              <a:rPr lang="en-GB" dirty="0"/>
              <a:t>Order of Operations – Task 1</a:t>
            </a:r>
          </a:p>
        </p:txBody>
      </p:sp>
      <p:sp>
        <p:nvSpPr>
          <p:cNvPr id="5" name="Text Placeholder 4">
            <a:extLst>
              <a:ext uri="{FF2B5EF4-FFF2-40B4-BE49-F238E27FC236}">
                <a16:creationId xmlns:a16="http://schemas.microsoft.com/office/drawing/2014/main" id="{000FA1C3-5832-49DF-B768-CBF372ADFA59}"/>
              </a:ext>
            </a:extLst>
          </p:cNvPr>
          <p:cNvSpPr>
            <a:spLocks noGrp="1"/>
          </p:cNvSpPr>
          <p:nvPr>
            <p:ph type="body" idx="1"/>
          </p:nvPr>
        </p:nvSpPr>
        <p:spPr/>
        <p:txBody>
          <a:bodyPr>
            <a:normAutofit/>
          </a:bodyPr>
          <a:lstStyle/>
          <a:p>
            <a:r>
              <a:rPr lang="en-GB" sz="3600" dirty="0"/>
              <a:t>SQL</a:t>
            </a:r>
          </a:p>
        </p:txBody>
      </p:sp>
      <p:sp>
        <p:nvSpPr>
          <p:cNvPr id="3" name="Content Placeholder 2">
            <a:extLst>
              <a:ext uri="{FF2B5EF4-FFF2-40B4-BE49-F238E27FC236}">
                <a16:creationId xmlns:a16="http://schemas.microsoft.com/office/drawing/2014/main" id="{95A0844E-7BAE-4F4A-A1DA-DD7BE74B9B74}"/>
              </a:ext>
            </a:extLst>
          </p:cNvPr>
          <p:cNvSpPr>
            <a:spLocks noGrp="1"/>
          </p:cNvSpPr>
          <p:nvPr>
            <p:ph sz="half" idx="2"/>
          </p:nvPr>
        </p:nvSpPr>
        <p:spPr>
          <a:xfrm>
            <a:off x="707572" y="2505075"/>
            <a:ext cx="5290004" cy="3684588"/>
          </a:xfrm>
        </p:spPr>
        <p:txBody>
          <a:bodyPr/>
          <a:lstStyle/>
          <a:p>
            <a:pPr marL="0" lv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1 </a:t>
            </a:r>
            <a:r>
              <a:rPr lang="en-US" altLang="en-US" dirty="0">
                <a:solidFill>
                  <a:srgbClr val="A71D5D"/>
                </a:solidFill>
                <a:latin typeface="Consolas" panose="020B0609020204030204" pitchFamily="49" charset="0"/>
              </a:rPr>
              <a:t>SELECT </a:t>
            </a:r>
            <a:r>
              <a:rPr lang="en-US" altLang="en-US" dirty="0">
                <a:solidFill>
                  <a:srgbClr val="000000"/>
                </a:solidFill>
                <a:latin typeface="Consolas" panose="020B0609020204030204" pitchFamily="49" charset="0"/>
              </a:rPr>
              <a:t>name</a:t>
            </a:r>
          </a:p>
          <a:p>
            <a:pPr mar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2   </a:t>
            </a:r>
            <a:r>
              <a:rPr lang="en-US" altLang="en-US" dirty="0">
                <a:solidFill>
                  <a:srgbClr val="A71D5D"/>
                </a:solidFill>
                <a:latin typeface="Consolas" panose="020B0609020204030204" pitchFamily="49" charset="0"/>
              </a:rPr>
              <a:t>FROM</a:t>
            </a:r>
            <a:r>
              <a:rPr lang="en-US" altLang="en-US" dirty="0">
                <a:solidFill>
                  <a:srgbClr val="000000"/>
                </a:solidFill>
                <a:latin typeface="Consolas" panose="020B0609020204030204" pitchFamily="49" charset="0"/>
              </a:rPr>
              <a:t> township</a:t>
            </a:r>
          </a:p>
          <a:p>
            <a:pPr mar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3   </a:t>
            </a:r>
            <a:r>
              <a:rPr lang="en-US" altLang="en-US" dirty="0">
                <a:solidFill>
                  <a:srgbClr val="A71D5D"/>
                </a:solidFill>
                <a:latin typeface="Consolas" panose="020B0609020204030204" pitchFamily="49" charset="0"/>
              </a:rPr>
              <a:t>ORDER BY</a:t>
            </a:r>
            <a:r>
              <a:rPr lang="en-US" altLang="en-US" dirty="0">
                <a:solidFill>
                  <a:srgbClr val="000000"/>
                </a:solidFill>
                <a:latin typeface="Consolas" panose="020B0609020204030204" pitchFamily="49" charset="0"/>
              </a:rPr>
              <a:t> name </a:t>
            </a:r>
            <a:r>
              <a:rPr lang="en-US" altLang="en-US" dirty="0">
                <a:solidFill>
                  <a:srgbClr val="A71D5D"/>
                </a:solidFill>
                <a:latin typeface="Consolas" panose="020B0609020204030204" pitchFamily="49" charset="0"/>
              </a:rPr>
              <a:t>ASC</a:t>
            </a:r>
            <a:r>
              <a:rPr lang="en-US" altLang="en-US"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endParaRPr lang="en-US" altLang="en-US" sz="4000" dirty="0">
              <a:latin typeface="Arial" panose="020B0604020202020204" pitchFamily="34" charset="0"/>
            </a:endParaRPr>
          </a:p>
          <a:p>
            <a:pPr marL="0" indent="0">
              <a:buNone/>
            </a:pPr>
            <a:endParaRPr lang="en-GB" dirty="0"/>
          </a:p>
        </p:txBody>
      </p:sp>
      <p:sp>
        <p:nvSpPr>
          <p:cNvPr id="6" name="Text Placeholder 5">
            <a:extLst>
              <a:ext uri="{FF2B5EF4-FFF2-40B4-BE49-F238E27FC236}">
                <a16:creationId xmlns:a16="http://schemas.microsoft.com/office/drawing/2014/main" id="{8577C599-C84A-46C7-BB62-6C336B2F005F}"/>
              </a:ext>
            </a:extLst>
          </p:cNvPr>
          <p:cNvSpPr>
            <a:spLocks noGrp="1"/>
          </p:cNvSpPr>
          <p:nvPr>
            <p:ph type="body" sz="quarter" idx="3"/>
          </p:nvPr>
        </p:nvSpPr>
        <p:spPr/>
        <p:txBody>
          <a:bodyPr>
            <a:normAutofit/>
          </a:bodyPr>
          <a:lstStyle/>
          <a:p>
            <a:r>
              <a:rPr lang="en-GB" sz="3600" dirty="0"/>
              <a:t>Order</a:t>
            </a:r>
          </a:p>
        </p:txBody>
      </p:sp>
    </p:spTree>
    <p:extLst>
      <p:ext uri="{BB962C8B-B14F-4D97-AF65-F5344CB8AC3E}">
        <p14:creationId xmlns:p14="http://schemas.microsoft.com/office/powerpoint/2010/main" val="242594834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5">
                                            <p:txEl>
                                              <p:pRg st="0" end="0"/>
                                            </p:txEl>
                                          </p:spTgt>
                                        </p:tgtEl>
                                        <p:attrNameLst>
                                          <p:attrName>style.visibility</p:attrName>
                                        </p:attrNameLst>
                                      </p:cBhvr>
                                      <p:to>
                                        <p:strVal val="visible"/>
                                      </p:to>
                                    </p:set>
                                    <p:animEffect transition="in" filter="wipe(left)">
                                      <p:cBhvr>
                                        <p:cTn id="7" dur="500"/>
                                        <p:tgtEl>
                                          <p:spTgt spid="5">
                                            <p:txEl>
                                              <p:pRg st="0" end="0"/>
                                            </p:txEl>
                                          </p:spTgt>
                                        </p:tgtEl>
                                      </p:cBhvr>
                                    </p:animEffect>
                                  </p:childTnLst>
                                </p:cTn>
                              </p:par>
                            </p:childTnLst>
                          </p:cTn>
                        </p:par>
                        <p:par>
                          <p:cTn id="8" fill="hold">
                            <p:stCondLst>
                              <p:cond delay="500"/>
                            </p:stCondLst>
                            <p:childTnLst>
                              <p:par>
                                <p:cTn id="9" presetID="22" presetClass="entr" presetSubtype="8" fill="hold" grpId="0" nodeType="afterEffect">
                                  <p:stCondLst>
                                    <p:cond delay="0"/>
                                  </p:stCondLst>
                                  <p:childTnLst>
                                    <p:set>
                                      <p:cBhvr>
                                        <p:cTn id="10" dur="1" fill="hold">
                                          <p:stCondLst>
                                            <p:cond delay="0"/>
                                          </p:stCondLst>
                                        </p:cTn>
                                        <p:tgtEl>
                                          <p:spTgt spid="3">
                                            <p:txEl>
                                              <p:pRg st="0" end="0"/>
                                            </p:txEl>
                                          </p:spTgt>
                                        </p:tgtEl>
                                        <p:attrNameLst>
                                          <p:attrName>style.visibility</p:attrName>
                                        </p:attrNameLst>
                                      </p:cBhvr>
                                      <p:to>
                                        <p:strVal val="visible"/>
                                      </p:to>
                                    </p:set>
                                    <p:animEffect transition="in" filter="wipe(left)">
                                      <p:cBhvr>
                                        <p:cTn id="11" dur="500"/>
                                        <p:tgtEl>
                                          <p:spTgt spid="3">
                                            <p:txEl>
                                              <p:pRg st="0" end="0"/>
                                            </p:txEl>
                                          </p:spTgt>
                                        </p:tgtEl>
                                      </p:cBhvr>
                                    </p:animEffect>
                                  </p:childTnLst>
                                </p:cTn>
                              </p:par>
                            </p:childTnLst>
                          </p:cTn>
                        </p:par>
                        <p:par>
                          <p:cTn id="12" fill="hold">
                            <p:stCondLst>
                              <p:cond delay="1000"/>
                            </p:stCondLst>
                            <p:childTnLst>
                              <p:par>
                                <p:cTn id="13" presetID="22" presetClass="entr" presetSubtype="8" fill="hold" grpId="0" nodeType="afterEffect">
                                  <p:stCondLst>
                                    <p:cond delay="0"/>
                                  </p:stCondLst>
                                  <p:childTnLst>
                                    <p:set>
                                      <p:cBhvr>
                                        <p:cTn id="14" dur="1" fill="hold">
                                          <p:stCondLst>
                                            <p:cond delay="0"/>
                                          </p:stCondLst>
                                        </p:cTn>
                                        <p:tgtEl>
                                          <p:spTgt spid="3">
                                            <p:txEl>
                                              <p:pRg st="1" end="1"/>
                                            </p:txEl>
                                          </p:spTgt>
                                        </p:tgtEl>
                                        <p:attrNameLst>
                                          <p:attrName>style.visibility</p:attrName>
                                        </p:attrNameLst>
                                      </p:cBhvr>
                                      <p:to>
                                        <p:strVal val="visible"/>
                                      </p:to>
                                    </p:set>
                                    <p:animEffect transition="in" filter="wipe(left)">
                                      <p:cBhvr>
                                        <p:cTn id="15" dur="1000"/>
                                        <p:tgtEl>
                                          <p:spTgt spid="3">
                                            <p:txEl>
                                              <p:pRg st="1" end="1"/>
                                            </p:txEl>
                                          </p:spTgt>
                                        </p:tgtEl>
                                      </p:cBhvr>
                                    </p:animEffect>
                                  </p:childTnLst>
                                </p:cTn>
                              </p:par>
                            </p:childTnLst>
                          </p:cTn>
                        </p:par>
                        <p:par>
                          <p:cTn id="16" fill="hold">
                            <p:stCondLst>
                              <p:cond delay="2000"/>
                            </p:stCondLst>
                            <p:childTnLst>
                              <p:par>
                                <p:cTn id="17" presetID="22" presetClass="entr" presetSubtype="8" fill="hold" grpId="0" nodeType="afterEffect">
                                  <p:stCondLst>
                                    <p:cond delay="0"/>
                                  </p:stCondLst>
                                  <p:childTnLst>
                                    <p:set>
                                      <p:cBhvr>
                                        <p:cTn id="18" dur="1" fill="hold">
                                          <p:stCondLst>
                                            <p:cond delay="0"/>
                                          </p:stCondLst>
                                        </p:cTn>
                                        <p:tgtEl>
                                          <p:spTgt spid="3">
                                            <p:txEl>
                                              <p:pRg st="2" end="2"/>
                                            </p:txEl>
                                          </p:spTgt>
                                        </p:tgtEl>
                                        <p:attrNameLst>
                                          <p:attrName>style.visibility</p:attrName>
                                        </p:attrNameLst>
                                      </p:cBhvr>
                                      <p:to>
                                        <p:strVal val="visible"/>
                                      </p:to>
                                    </p:set>
                                    <p:animEffect transition="in" filter="wipe(left)">
                                      <p:cBhvr>
                                        <p:cTn id="19" dur="1000"/>
                                        <p:tgtEl>
                                          <p:spTgt spid="3">
                                            <p:txEl>
                                              <p:pRg st="2" end="2"/>
                                            </p:txEl>
                                          </p:spTgt>
                                        </p:tgtEl>
                                      </p:cBhvr>
                                    </p:animEffect>
                                  </p:childTnLst>
                                </p:cTn>
                              </p:par>
                            </p:childTnLst>
                          </p:cTn>
                        </p:par>
                      </p:childTnLst>
                    </p:cTn>
                  </p:par>
                  <p:par>
                    <p:cTn id="20" fill="hold">
                      <p:stCondLst>
                        <p:cond delay="indefinite"/>
                      </p:stCondLst>
                      <p:childTnLst>
                        <p:par>
                          <p:cTn id="21" fill="hold">
                            <p:stCondLst>
                              <p:cond delay="0"/>
                            </p:stCondLst>
                            <p:childTnLst>
                              <p:par>
                                <p:cTn id="22" presetID="22" presetClass="entr" presetSubtype="8" fill="hold" grpId="0" nodeType="clickEffect">
                                  <p:stCondLst>
                                    <p:cond delay="0"/>
                                  </p:stCondLst>
                                  <p:childTnLst>
                                    <p:set>
                                      <p:cBhvr>
                                        <p:cTn id="23" dur="1" fill="hold">
                                          <p:stCondLst>
                                            <p:cond delay="0"/>
                                          </p:stCondLst>
                                        </p:cTn>
                                        <p:tgtEl>
                                          <p:spTgt spid="6">
                                            <p:txEl>
                                              <p:pRg st="0" end="0"/>
                                            </p:txEl>
                                          </p:spTgt>
                                        </p:tgtEl>
                                        <p:attrNameLst>
                                          <p:attrName>style.visibility</p:attrName>
                                        </p:attrNameLst>
                                      </p:cBhvr>
                                      <p:to>
                                        <p:strVal val="visible"/>
                                      </p:to>
                                    </p:set>
                                    <p:animEffect transition="in" filter="wipe(left)">
                                      <p:cBhvr>
                                        <p:cTn id="24" dur="500"/>
                                        <p:tgtEl>
                                          <p:spTgt spid="6">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build="p"/>
      <p:bldP spid="3" grpId="0" uiExpand="1" build="p"/>
      <p:bldP spid="6" grpId="0" build="p"/>
    </p:bldLst>
  </p:timing>
</p:sld>
</file>

<file path=ppt/slides/slide252.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4150D6E-A7AE-40F1-B520-C3C5A5B9033C}"/>
              </a:ext>
            </a:extLst>
          </p:cNvPr>
          <p:cNvSpPr>
            <a:spLocks noGrp="1"/>
          </p:cNvSpPr>
          <p:nvPr>
            <p:ph type="title"/>
          </p:nvPr>
        </p:nvSpPr>
        <p:spPr/>
        <p:txBody>
          <a:bodyPr/>
          <a:lstStyle/>
          <a:p>
            <a:r>
              <a:rPr lang="en-GB" dirty="0"/>
              <a:t>Order of Operations – Task 2</a:t>
            </a:r>
          </a:p>
        </p:txBody>
      </p:sp>
      <p:sp>
        <p:nvSpPr>
          <p:cNvPr id="5" name="Text Placeholder 4">
            <a:extLst>
              <a:ext uri="{FF2B5EF4-FFF2-40B4-BE49-F238E27FC236}">
                <a16:creationId xmlns:a16="http://schemas.microsoft.com/office/drawing/2014/main" id="{000FA1C3-5832-49DF-B768-CBF372ADFA59}"/>
              </a:ext>
            </a:extLst>
          </p:cNvPr>
          <p:cNvSpPr>
            <a:spLocks noGrp="1"/>
          </p:cNvSpPr>
          <p:nvPr>
            <p:ph type="body" idx="1"/>
          </p:nvPr>
        </p:nvSpPr>
        <p:spPr/>
        <p:txBody>
          <a:bodyPr>
            <a:normAutofit/>
          </a:bodyPr>
          <a:lstStyle/>
          <a:p>
            <a:r>
              <a:rPr lang="en-GB" sz="3600" dirty="0"/>
              <a:t>SQL</a:t>
            </a:r>
          </a:p>
        </p:txBody>
      </p:sp>
      <p:sp>
        <p:nvSpPr>
          <p:cNvPr id="3" name="Content Placeholder 2">
            <a:extLst>
              <a:ext uri="{FF2B5EF4-FFF2-40B4-BE49-F238E27FC236}">
                <a16:creationId xmlns:a16="http://schemas.microsoft.com/office/drawing/2014/main" id="{95A0844E-7BAE-4F4A-A1DA-DD7BE74B9B74}"/>
              </a:ext>
            </a:extLst>
          </p:cNvPr>
          <p:cNvSpPr>
            <a:spLocks noGrp="1"/>
          </p:cNvSpPr>
          <p:nvPr>
            <p:ph sz="half" idx="2"/>
          </p:nvPr>
        </p:nvSpPr>
        <p:spPr>
          <a:xfrm>
            <a:off x="707572" y="2505075"/>
            <a:ext cx="5290004" cy="3684588"/>
          </a:xfrm>
        </p:spPr>
        <p:txBody>
          <a:bodyPr/>
          <a:lstStyle/>
          <a:p>
            <a:pPr marL="0" lv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1 </a:t>
            </a:r>
            <a:r>
              <a:rPr lang="en-US" altLang="en-US" dirty="0">
                <a:solidFill>
                  <a:srgbClr val="A71D5D"/>
                </a:solidFill>
                <a:latin typeface="Consolas" panose="020B0609020204030204" pitchFamily="49" charset="0"/>
              </a:rPr>
              <a:t>SELECT </a:t>
            </a:r>
            <a:r>
              <a:rPr lang="en-US" altLang="en-US" dirty="0">
                <a:solidFill>
                  <a:srgbClr val="000000"/>
                </a:solidFill>
                <a:latin typeface="Consolas" panose="020B0609020204030204" pitchFamily="49" charset="0"/>
              </a:rPr>
              <a:t>name, age</a:t>
            </a:r>
          </a:p>
          <a:p>
            <a:pPr mar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2   </a:t>
            </a:r>
            <a:r>
              <a:rPr lang="en-US" altLang="en-US" dirty="0">
                <a:solidFill>
                  <a:srgbClr val="A71D5D"/>
                </a:solidFill>
                <a:latin typeface="Consolas" panose="020B0609020204030204" pitchFamily="49" charset="0"/>
              </a:rPr>
              <a:t>FROM</a:t>
            </a:r>
            <a:r>
              <a:rPr lang="en-US" altLang="en-US" dirty="0">
                <a:solidFill>
                  <a:srgbClr val="000000"/>
                </a:solidFill>
                <a:latin typeface="Consolas" panose="020B0609020204030204" pitchFamily="49" charset="0"/>
              </a:rPr>
              <a:t> pet</a:t>
            </a:r>
          </a:p>
          <a:p>
            <a:pPr mar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3   </a:t>
            </a:r>
            <a:r>
              <a:rPr lang="en-US" altLang="en-US" dirty="0">
                <a:solidFill>
                  <a:srgbClr val="A71D5D"/>
                </a:solidFill>
                <a:latin typeface="Consolas" panose="020B0609020204030204" pitchFamily="49" charset="0"/>
              </a:rPr>
              <a:t>WHERE</a:t>
            </a:r>
            <a:r>
              <a:rPr lang="en-US" altLang="en-US" dirty="0">
                <a:solidFill>
                  <a:srgbClr val="000000"/>
                </a:solidFill>
                <a:latin typeface="Consolas" panose="020B0609020204030204" pitchFamily="49" charset="0"/>
              </a:rPr>
              <a:t> type = </a:t>
            </a:r>
            <a:r>
              <a:rPr lang="en-US" altLang="en-US" dirty="0">
                <a:solidFill>
                  <a:srgbClr val="183691"/>
                </a:solidFill>
                <a:latin typeface="Consolas" panose="020B0609020204030204" pitchFamily="49" charset="0"/>
              </a:rPr>
              <a:t>"Dog"</a:t>
            </a:r>
            <a:endParaRPr lang="en-US" altLang="en-US" sz="4000" dirty="0">
              <a:latin typeface="Arial" panose="020B0604020202020204" pitchFamily="34" charset="0"/>
            </a:endParaRPr>
          </a:p>
          <a:p>
            <a:pPr marL="0" lv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4   </a:t>
            </a:r>
            <a:r>
              <a:rPr lang="en-US" altLang="en-US" dirty="0">
                <a:solidFill>
                  <a:srgbClr val="A71D5D"/>
                </a:solidFill>
                <a:latin typeface="Consolas" panose="020B0609020204030204" pitchFamily="49" charset="0"/>
              </a:rPr>
              <a:t>ORDER BY</a:t>
            </a:r>
            <a:r>
              <a:rPr lang="en-US" altLang="en-US" dirty="0">
                <a:solidFill>
                  <a:srgbClr val="000000"/>
                </a:solidFill>
                <a:latin typeface="Consolas" panose="020B0609020204030204" pitchFamily="49" charset="0"/>
              </a:rPr>
              <a:t> name </a:t>
            </a:r>
            <a:r>
              <a:rPr lang="en-US" altLang="en-US" dirty="0">
                <a:solidFill>
                  <a:srgbClr val="A71D5D"/>
                </a:solidFill>
                <a:latin typeface="Consolas" panose="020B0609020204030204" pitchFamily="49" charset="0"/>
              </a:rPr>
              <a:t>ASC</a:t>
            </a:r>
            <a:r>
              <a:rPr lang="en-US" altLang="en-US"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endParaRPr lang="en-US" altLang="en-US" sz="4000" dirty="0">
              <a:latin typeface="Arial" panose="020B0604020202020204" pitchFamily="34" charset="0"/>
            </a:endParaRPr>
          </a:p>
          <a:p>
            <a:pPr marL="0" indent="0">
              <a:buNone/>
            </a:pPr>
            <a:endParaRPr lang="en-GB" dirty="0"/>
          </a:p>
        </p:txBody>
      </p:sp>
      <p:sp>
        <p:nvSpPr>
          <p:cNvPr id="6" name="Text Placeholder 5">
            <a:extLst>
              <a:ext uri="{FF2B5EF4-FFF2-40B4-BE49-F238E27FC236}">
                <a16:creationId xmlns:a16="http://schemas.microsoft.com/office/drawing/2014/main" id="{8577C599-C84A-46C7-BB62-6C336B2F005F}"/>
              </a:ext>
            </a:extLst>
          </p:cNvPr>
          <p:cNvSpPr>
            <a:spLocks noGrp="1"/>
          </p:cNvSpPr>
          <p:nvPr>
            <p:ph type="body" sz="quarter" idx="3"/>
          </p:nvPr>
        </p:nvSpPr>
        <p:spPr/>
        <p:txBody>
          <a:bodyPr>
            <a:normAutofit/>
          </a:bodyPr>
          <a:lstStyle/>
          <a:p>
            <a:r>
              <a:rPr lang="en-GB" sz="3600" dirty="0"/>
              <a:t>Order</a:t>
            </a:r>
          </a:p>
        </p:txBody>
      </p:sp>
      <p:pic>
        <p:nvPicPr>
          <p:cNvPr id="4" name="Picture 3">
            <a:extLst>
              <a:ext uri="{FF2B5EF4-FFF2-40B4-BE49-F238E27FC236}">
                <a16:creationId xmlns:a16="http://schemas.microsoft.com/office/drawing/2014/main" id="{FAFFE658-F01D-40A9-823C-07C6E7D981AB}"/>
              </a:ext>
            </a:extLst>
          </p:cNvPr>
          <p:cNvPicPr>
            <a:picLocks noChangeAspect="1"/>
          </p:cNvPicPr>
          <p:nvPr/>
        </p:nvPicPr>
        <p:blipFill>
          <a:blip r:embed="rId3"/>
          <a:stretch>
            <a:fillRect/>
          </a:stretch>
        </p:blipFill>
        <p:spPr>
          <a:xfrm>
            <a:off x="5038163" y="3696966"/>
            <a:ext cx="6936124" cy="2959741"/>
          </a:xfrm>
          <a:prstGeom prst="rect">
            <a:avLst/>
          </a:prstGeom>
        </p:spPr>
      </p:pic>
    </p:spTree>
    <p:extLst>
      <p:ext uri="{BB962C8B-B14F-4D97-AF65-F5344CB8AC3E}">
        <p14:creationId xmlns:p14="http://schemas.microsoft.com/office/powerpoint/2010/main" val="172064350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5">
                                            <p:txEl>
                                              <p:pRg st="0" end="0"/>
                                            </p:txEl>
                                          </p:spTgt>
                                        </p:tgtEl>
                                        <p:attrNameLst>
                                          <p:attrName>style.visibility</p:attrName>
                                        </p:attrNameLst>
                                      </p:cBhvr>
                                      <p:to>
                                        <p:strVal val="visible"/>
                                      </p:to>
                                    </p:set>
                                    <p:animEffect transition="in" filter="wipe(left)">
                                      <p:cBhvr>
                                        <p:cTn id="7" dur="500"/>
                                        <p:tgtEl>
                                          <p:spTgt spid="5">
                                            <p:txEl>
                                              <p:pRg st="0" end="0"/>
                                            </p:txEl>
                                          </p:spTgt>
                                        </p:tgtEl>
                                      </p:cBhvr>
                                    </p:animEffect>
                                  </p:childTnLst>
                                </p:cTn>
                              </p:par>
                            </p:childTnLst>
                          </p:cTn>
                        </p:par>
                        <p:par>
                          <p:cTn id="8" fill="hold">
                            <p:stCondLst>
                              <p:cond delay="500"/>
                            </p:stCondLst>
                            <p:childTnLst>
                              <p:par>
                                <p:cTn id="9" presetID="22" presetClass="entr" presetSubtype="8" fill="hold" grpId="0" nodeType="afterEffect">
                                  <p:stCondLst>
                                    <p:cond delay="0"/>
                                  </p:stCondLst>
                                  <p:childTnLst>
                                    <p:set>
                                      <p:cBhvr>
                                        <p:cTn id="10" dur="1" fill="hold">
                                          <p:stCondLst>
                                            <p:cond delay="0"/>
                                          </p:stCondLst>
                                        </p:cTn>
                                        <p:tgtEl>
                                          <p:spTgt spid="3">
                                            <p:txEl>
                                              <p:pRg st="0" end="0"/>
                                            </p:txEl>
                                          </p:spTgt>
                                        </p:tgtEl>
                                        <p:attrNameLst>
                                          <p:attrName>style.visibility</p:attrName>
                                        </p:attrNameLst>
                                      </p:cBhvr>
                                      <p:to>
                                        <p:strVal val="visible"/>
                                      </p:to>
                                    </p:set>
                                    <p:animEffect transition="in" filter="wipe(left)">
                                      <p:cBhvr>
                                        <p:cTn id="11" dur="500"/>
                                        <p:tgtEl>
                                          <p:spTgt spid="3">
                                            <p:txEl>
                                              <p:pRg st="0" end="0"/>
                                            </p:txEl>
                                          </p:spTgt>
                                        </p:tgtEl>
                                      </p:cBhvr>
                                    </p:animEffect>
                                  </p:childTnLst>
                                </p:cTn>
                              </p:par>
                            </p:childTnLst>
                          </p:cTn>
                        </p:par>
                        <p:par>
                          <p:cTn id="12" fill="hold">
                            <p:stCondLst>
                              <p:cond delay="1000"/>
                            </p:stCondLst>
                            <p:childTnLst>
                              <p:par>
                                <p:cTn id="13" presetID="22" presetClass="entr" presetSubtype="8" fill="hold" grpId="0" nodeType="afterEffect">
                                  <p:stCondLst>
                                    <p:cond delay="0"/>
                                  </p:stCondLst>
                                  <p:childTnLst>
                                    <p:set>
                                      <p:cBhvr>
                                        <p:cTn id="14" dur="1" fill="hold">
                                          <p:stCondLst>
                                            <p:cond delay="0"/>
                                          </p:stCondLst>
                                        </p:cTn>
                                        <p:tgtEl>
                                          <p:spTgt spid="3">
                                            <p:txEl>
                                              <p:pRg st="1" end="1"/>
                                            </p:txEl>
                                          </p:spTgt>
                                        </p:tgtEl>
                                        <p:attrNameLst>
                                          <p:attrName>style.visibility</p:attrName>
                                        </p:attrNameLst>
                                      </p:cBhvr>
                                      <p:to>
                                        <p:strVal val="visible"/>
                                      </p:to>
                                    </p:set>
                                    <p:animEffect transition="in" filter="wipe(left)">
                                      <p:cBhvr>
                                        <p:cTn id="15" dur="1000"/>
                                        <p:tgtEl>
                                          <p:spTgt spid="3">
                                            <p:txEl>
                                              <p:pRg st="1" end="1"/>
                                            </p:txEl>
                                          </p:spTgt>
                                        </p:tgtEl>
                                      </p:cBhvr>
                                    </p:animEffect>
                                  </p:childTnLst>
                                </p:cTn>
                              </p:par>
                            </p:childTnLst>
                          </p:cTn>
                        </p:par>
                        <p:par>
                          <p:cTn id="16" fill="hold">
                            <p:stCondLst>
                              <p:cond delay="2000"/>
                            </p:stCondLst>
                            <p:childTnLst>
                              <p:par>
                                <p:cTn id="17" presetID="22" presetClass="entr" presetSubtype="8" fill="hold" grpId="0" nodeType="afterEffect">
                                  <p:stCondLst>
                                    <p:cond delay="0"/>
                                  </p:stCondLst>
                                  <p:childTnLst>
                                    <p:set>
                                      <p:cBhvr>
                                        <p:cTn id="18" dur="1" fill="hold">
                                          <p:stCondLst>
                                            <p:cond delay="0"/>
                                          </p:stCondLst>
                                        </p:cTn>
                                        <p:tgtEl>
                                          <p:spTgt spid="3">
                                            <p:txEl>
                                              <p:pRg st="2" end="2"/>
                                            </p:txEl>
                                          </p:spTgt>
                                        </p:tgtEl>
                                        <p:attrNameLst>
                                          <p:attrName>style.visibility</p:attrName>
                                        </p:attrNameLst>
                                      </p:cBhvr>
                                      <p:to>
                                        <p:strVal val="visible"/>
                                      </p:to>
                                    </p:set>
                                    <p:animEffect transition="in" filter="wipe(left)">
                                      <p:cBhvr>
                                        <p:cTn id="19" dur="1000"/>
                                        <p:tgtEl>
                                          <p:spTgt spid="3">
                                            <p:txEl>
                                              <p:pRg st="2" end="2"/>
                                            </p:txEl>
                                          </p:spTgt>
                                        </p:tgtEl>
                                      </p:cBhvr>
                                    </p:animEffect>
                                  </p:childTnLst>
                                </p:cTn>
                              </p:par>
                            </p:childTnLst>
                          </p:cTn>
                        </p:par>
                        <p:par>
                          <p:cTn id="20" fill="hold">
                            <p:stCondLst>
                              <p:cond delay="3000"/>
                            </p:stCondLst>
                            <p:childTnLst>
                              <p:par>
                                <p:cTn id="21" presetID="22" presetClass="entr" presetSubtype="8" fill="hold" grpId="0" nodeType="afterEffect">
                                  <p:stCondLst>
                                    <p:cond delay="0"/>
                                  </p:stCondLst>
                                  <p:childTnLst>
                                    <p:set>
                                      <p:cBhvr>
                                        <p:cTn id="22" dur="1" fill="hold">
                                          <p:stCondLst>
                                            <p:cond delay="0"/>
                                          </p:stCondLst>
                                        </p:cTn>
                                        <p:tgtEl>
                                          <p:spTgt spid="3">
                                            <p:txEl>
                                              <p:pRg st="3" end="3"/>
                                            </p:txEl>
                                          </p:spTgt>
                                        </p:tgtEl>
                                        <p:attrNameLst>
                                          <p:attrName>style.visibility</p:attrName>
                                        </p:attrNameLst>
                                      </p:cBhvr>
                                      <p:to>
                                        <p:strVal val="visible"/>
                                      </p:to>
                                    </p:set>
                                    <p:animEffect transition="in" filter="wipe(left)">
                                      <p:cBhvr>
                                        <p:cTn id="23" dur="1500"/>
                                        <p:tgtEl>
                                          <p:spTgt spid="3">
                                            <p:txEl>
                                              <p:pRg st="3" end="3"/>
                                            </p:txEl>
                                          </p:spTgt>
                                        </p:tgtEl>
                                      </p:cBhvr>
                                    </p:animEffect>
                                  </p:childTnLst>
                                </p:cTn>
                              </p:par>
                            </p:childTnLst>
                          </p:cTn>
                        </p:par>
                      </p:childTnLst>
                    </p:cTn>
                  </p:par>
                  <p:par>
                    <p:cTn id="24" fill="hold">
                      <p:stCondLst>
                        <p:cond delay="indefinite"/>
                      </p:stCondLst>
                      <p:childTnLst>
                        <p:par>
                          <p:cTn id="25" fill="hold">
                            <p:stCondLst>
                              <p:cond delay="0"/>
                            </p:stCondLst>
                            <p:childTnLst>
                              <p:par>
                                <p:cTn id="26" presetID="22" presetClass="entr" presetSubtype="8" fill="hold" grpId="0" nodeType="clickEffect">
                                  <p:stCondLst>
                                    <p:cond delay="0"/>
                                  </p:stCondLst>
                                  <p:childTnLst>
                                    <p:set>
                                      <p:cBhvr>
                                        <p:cTn id="27" dur="1" fill="hold">
                                          <p:stCondLst>
                                            <p:cond delay="0"/>
                                          </p:stCondLst>
                                        </p:cTn>
                                        <p:tgtEl>
                                          <p:spTgt spid="6">
                                            <p:txEl>
                                              <p:pRg st="0" end="0"/>
                                            </p:txEl>
                                          </p:spTgt>
                                        </p:tgtEl>
                                        <p:attrNameLst>
                                          <p:attrName>style.visibility</p:attrName>
                                        </p:attrNameLst>
                                      </p:cBhvr>
                                      <p:to>
                                        <p:strVal val="visible"/>
                                      </p:to>
                                    </p:set>
                                    <p:animEffect transition="in" filter="wipe(left)">
                                      <p:cBhvr>
                                        <p:cTn id="28" dur="500"/>
                                        <p:tgtEl>
                                          <p:spTgt spid="6">
                                            <p:txEl>
                                              <p:pRg st="0" end="0"/>
                                            </p:txEl>
                                          </p:spTgt>
                                        </p:tgtEl>
                                      </p:cBhvr>
                                    </p:animEffect>
                                  </p:childTnLst>
                                </p:cTn>
                              </p:par>
                            </p:childTnLst>
                          </p:cTn>
                        </p:par>
                      </p:childTnLst>
                    </p:cTn>
                  </p:par>
                  <p:par>
                    <p:cTn id="29" fill="hold">
                      <p:stCondLst>
                        <p:cond delay="indefinite"/>
                      </p:stCondLst>
                      <p:childTnLst>
                        <p:par>
                          <p:cTn id="30" fill="hold">
                            <p:stCondLst>
                              <p:cond delay="0"/>
                            </p:stCondLst>
                            <p:childTnLst>
                              <p:par>
                                <p:cTn id="31" presetID="22" presetClass="entr" presetSubtype="8" fill="hold" nodeType="clickEffect">
                                  <p:stCondLst>
                                    <p:cond delay="0"/>
                                  </p:stCondLst>
                                  <p:childTnLst>
                                    <p:set>
                                      <p:cBhvr>
                                        <p:cTn id="32" dur="1" fill="hold">
                                          <p:stCondLst>
                                            <p:cond delay="0"/>
                                          </p:stCondLst>
                                        </p:cTn>
                                        <p:tgtEl>
                                          <p:spTgt spid="4"/>
                                        </p:tgtEl>
                                        <p:attrNameLst>
                                          <p:attrName>style.visibility</p:attrName>
                                        </p:attrNameLst>
                                      </p:cBhvr>
                                      <p:to>
                                        <p:strVal val="visible"/>
                                      </p:to>
                                    </p:set>
                                    <p:animEffect transition="in" filter="wipe(left)">
                                      <p:cBhvr>
                                        <p:cTn id="33" dur="20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build="p"/>
      <p:bldP spid="3" grpId="0" uiExpand="1" build="p"/>
      <p:bldP spid="6" grpId="0" build="p"/>
    </p:bldLst>
  </p:timing>
</p:sld>
</file>

<file path=ppt/slides/slide25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4150D6E-A7AE-40F1-B520-C3C5A5B9033C}"/>
              </a:ext>
            </a:extLst>
          </p:cNvPr>
          <p:cNvSpPr>
            <a:spLocks noGrp="1"/>
          </p:cNvSpPr>
          <p:nvPr>
            <p:ph type="title"/>
          </p:nvPr>
        </p:nvSpPr>
        <p:spPr/>
        <p:txBody>
          <a:bodyPr/>
          <a:lstStyle/>
          <a:p>
            <a:r>
              <a:rPr lang="en-GB" dirty="0"/>
              <a:t>Order of Operations – Task 3</a:t>
            </a:r>
          </a:p>
        </p:txBody>
      </p:sp>
      <p:sp>
        <p:nvSpPr>
          <p:cNvPr id="5" name="Text Placeholder 4">
            <a:extLst>
              <a:ext uri="{FF2B5EF4-FFF2-40B4-BE49-F238E27FC236}">
                <a16:creationId xmlns:a16="http://schemas.microsoft.com/office/drawing/2014/main" id="{000FA1C3-5832-49DF-B768-CBF372ADFA59}"/>
              </a:ext>
            </a:extLst>
          </p:cNvPr>
          <p:cNvSpPr>
            <a:spLocks noGrp="1"/>
          </p:cNvSpPr>
          <p:nvPr>
            <p:ph type="body" idx="1"/>
          </p:nvPr>
        </p:nvSpPr>
        <p:spPr/>
        <p:txBody>
          <a:bodyPr>
            <a:normAutofit/>
          </a:bodyPr>
          <a:lstStyle/>
          <a:p>
            <a:r>
              <a:rPr lang="en-GB" sz="3600" dirty="0"/>
              <a:t>SQL</a:t>
            </a:r>
          </a:p>
        </p:txBody>
      </p:sp>
      <p:sp>
        <p:nvSpPr>
          <p:cNvPr id="3" name="Content Placeholder 2">
            <a:extLst>
              <a:ext uri="{FF2B5EF4-FFF2-40B4-BE49-F238E27FC236}">
                <a16:creationId xmlns:a16="http://schemas.microsoft.com/office/drawing/2014/main" id="{95A0844E-7BAE-4F4A-A1DA-DD7BE74B9B74}"/>
              </a:ext>
            </a:extLst>
          </p:cNvPr>
          <p:cNvSpPr>
            <a:spLocks noGrp="1"/>
          </p:cNvSpPr>
          <p:nvPr>
            <p:ph sz="half" idx="2"/>
          </p:nvPr>
        </p:nvSpPr>
        <p:spPr>
          <a:xfrm>
            <a:off x="707572" y="2505075"/>
            <a:ext cx="5290004" cy="3684588"/>
          </a:xfrm>
        </p:spPr>
        <p:txBody>
          <a:bodyPr/>
          <a:lstStyle/>
          <a:p>
            <a:pPr marL="0" lv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1 </a:t>
            </a:r>
            <a:r>
              <a:rPr lang="en-US" altLang="en-US" dirty="0">
                <a:solidFill>
                  <a:srgbClr val="A71D5D"/>
                </a:solidFill>
                <a:latin typeface="Consolas" panose="020B0609020204030204" pitchFamily="49" charset="0"/>
              </a:rPr>
              <a:t>SELECT </a:t>
            </a:r>
            <a:r>
              <a:rPr lang="en-US" altLang="en-US" dirty="0">
                <a:solidFill>
                  <a:srgbClr val="000000"/>
                </a:solidFill>
                <a:latin typeface="Consolas" panose="020B0609020204030204" pitchFamily="49" charset="0"/>
              </a:rPr>
              <a:t>*</a:t>
            </a:r>
          </a:p>
          <a:p>
            <a:pPr mar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2   </a:t>
            </a:r>
            <a:r>
              <a:rPr lang="en-US" altLang="en-US" dirty="0">
                <a:solidFill>
                  <a:srgbClr val="A71D5D"/>
                </a:solidFill>
                <a:latin typeface="Consolas" panose="020B0609020204030204" pitchFamily="49" charset="0"/>
              </a:rPr>
              <a:t>FROM</a:t>
            </a:r>
            <a:r>
              <a:rPr lang="en-US" altLang="en-US" dirty="0">
                <a:solidFill>
                  <a:srgbClr val="000000"/>
                </a:solidFill>
                <a:latin typeface="Consolas" panose="020B0609020204030204" pitchFamily="49" charset="0"/>
              </a:rPr>
              <a:t> township</a:t>
            </a:r>
          </a:p>
          <a:p>
            <a:pPr mar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3   </a:t>
            </a:r>
            <a:r>
              <a:rPr lang="en-US" altLang="en-US" dirty="0">
                <a:solidFill>
                  <a:srgbClr val="A71D5D"/>
                </a:solidFill>
                <a:latin typeface="Consolas" panose="020B0609020204030204" pitchFamily="49" charset="0"/>
              </a:rPr>
              <a:t>WHERE</a:t>
            </a:r>
            <a:r>
              <a:rPr lang="en-US" altLang="en-US" dirty="0">
                <a:solidFill>
                  <a:srgbClr val="000000"/>
                </a:solidFill>
                <a:latin typeface="Consolas" panose="020B0609020204030204" pitchFamily="49" charset="0"/>
              </a:rPr>
              <a:t> type = </a:t>
            </a:r>
            <a:r>
              <a:rPr lang="en-US" altLang="en-US" dirty="0">
                <a:solidFill>
                  <a:srgbClr val="183691"/>
                </a:solidFill>
                <a:latin typeface="Consolas" panose="020B0609020204030204" pitchFamily="49" charset="0"/>
              </a:rPr>
              <a:t>"Rural"</a:t>
            </a:r>
            <a:endParaRPr lang="en-US" altLang="en-US" sz="4000" dirty="0">
              <a:latin typeface="Arial" panose="020B0604020202020204" pitchFamily="34" charset="0"/>
            </a:endParaRPr>
          </a:p>
          <a:p>
            <a:pPr mar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3      </a:t>
            </a:r>
            <a:r>
              <a:rPr lang="en-US" altLang="en-US" dirty="0">
                <a:solidFill>
                  <a:srgbClr val="A71D5D"/>
                </a:solidFill>
                <a:latin typeface="Consolas" panose="020B0609020204030204" pitchFamily="49" charset="0"/>
              </a:rPr>
              <a:t>OR</a:t>
            </a:r>
            <a:r>
              <a:rPr lang="en-US" altLang="en-US" dirty="0">
                <a:solidFill>
                  <a:srgbClr val="000000"/>
                </a:solidFill>
                <a:latin typeface="Consolas" panose="020B0609020204030204" pitchFamily="49" charset="0"/>
              </a:rPr>
              <a:t> type = </a:t>
            </a:r>
            <a:r>
              <a:rPr lang="en-US" altLang="en-US" dirty="0">
                <a:solidFill>
                  <a:srgbClr val="183691"/>
                </a:solidFill>
                <a:latin typeface="Consolas" panose="020B0609020204030204" pitchFamily="49" charset="0"/>
              </a:rPr>
              <a:t>"Wild"</a:t>
            </a:r>
          </a:p>
          <a:p>
            <a:pPr mar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4   </a:t>
            </a:r>
            <a:r>
              <a:rPr lang="en-US" altLang="en-US" dirty="0">
                <a:solidFill>
                  <a:srgbClr val="A71D5D"/>
                </a:solidFill>
                <a:latin typeface="Consolas" panose="020B0609020204030204" pitchFamily="49" charset="0"/>
              </a:rPr>
              <a:t>ORDER BY</a:t>
            </a:r>
            <a:r>
              <a:rPr lang="en-US" altLang="en-US" dirty="0">
                <a:solidFill>
                  <a:srgbClr val="000000"/>
                </a:solidFill>
                <a:latin typeface="Consolas" panose="020B0609020204030204" pitchFamily="49" charset="0"/>
              </a:rPr>
              <a:t> type </a:t>
            </a:r>
            <a:r>
              <a:rPr lang="en-US" altLang="en-US" dirty="0">
                <a:solidFill>
                  <a:srgbClr val="A71D5D"/>
                </a:solidFill>
                <a:latin typeface="Consolas" panose="020B0609020204030204" pitchFamily="49" charset="0"/>
              </a:rPr>
              <a:t>ASC</a:t>
            </a:r>
            <a:r>
              <a:rPr lang="en-US" altLang="en-US" dirty="0">
                <a:solidFill>
                  <a:srgbClr val="000000"/>
                </a:solidFill>
                <a:latin typeface="Consolas" panose="020B0609020204030204" pitchFamily="49" charset="0"/>
              </a:rPr>
              <a:t>,</a:t>
            </a:r>
          </a:p>
          <a:p>
            <a:pPr mar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4</a:t>
            </a:r>
            <a:r>
              <a:rPr lang="en-US" altLang="en-US" dirty="0">
                <a:solidFill>
                  <a:srgbClr val="000000"/>
                </a:solidFill>
                <a:latin typeface="Consolas" panose="020B0609020204030204" pitchFamily="49" charset="0"/>
              </a:rPr>
              <a:t>            name </a:t>
            </a:r>
            <a:r>
              <a:rPr lang="en-US" altLang="en-US" dirty="0">
                <a:solidFill>
                  <a:srgbClr val="A71D5D"/>
                </a:solidFill>
                <a:latin typeface="Consolas" panose="020B0609020204030204" pitchFamily="49" charset="0"/>
              </a:rPr>
              <a:t>ASC</a:t>
            </a:r>
            <a:r>
              <a:rPr lang="en-US" altLang="en-US"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endParaRPr lang="en-US" altLang="en-US" sz="4000" dirty="0">
              <a:latin typeface="Arial" panose="020B0604020202020204" pitchFamily="34" charset="0"/>
            </a:endParaRPr>
          </a:p>
          <a:p>
            <a:pPr marL="0" indent="0">
              <a:buNone/>
            </a:pPr>
            <a:endParaRPr lang="en-GB" dirty="0"/>
          </a:p>
        </p:txBody>
      </p:sp>
      <p:sp>
        <p:nvSpPr>
          <p:cNvPr id="6" name="Text Placeholder 5">
            <a:extLst>
              <a:ext uri="{FF2B5EF4-FFF2-40B4-BE49-F238E27FC236}">
                <a16:creationId xmlns:a16="http://schemas.microsoft.com/office/drawing/2014/main" id="{8577C599-C84A-46C7-BB62-6C336B2F005F}"/>
              </a:ext>
            </a:extLst>
          </p:cNvPr>
          <p:cNvSpPr>
            <a:spLocks noGrp="1"/>
          </p:cNvSpPr>
          <p:nvPr>
            <p:ph type="body" sz="quarter" idx="3"/>
          </p:nvPr>
        </p:nvSpPr>
        <p:spPr/>
        <p:txBody>
          <a:bodyPr>
            <a:normAutofit/>
          </a:bodyPr>
          <a:lstStyle/>
          <a:p>
            <a:r>
              <a:rPr lang="en-GB" sz="3600" dirty="0"/>
              <a:t>Order</a:t>
            </a:r>
          </a:p>
        </p:txBody>
      </p:sp>
      <p:pic>
        <p:nvPicPr>
          <p:cNvPr id="4" name="Picture 3">
            <a:extLst>
              <a:ext uri="{FF2B5EF4-FFF2-40B4-BE49-F238E27FC236}">
                <a16:creationId xmlns:a16="http://schemas.microsoft.com/office/drawing/2014/main" id="{D48D323D-2129-4A8D-8C9A-44CCED85B41C}"/>
              </a:ext>
            </a:extLst>
          </p:cNvPr>
          <p:cNvPicPr>
            <a:picLocks noChangeAspect="1"/>
          </p:cNvPicPr>
          <p:nvPr/>
        </p:nvPicPr>
        <p:blipFill>
          <a:blip r:embed="rId3"/>
          <a:stretch>
            <a:fillRect/>
          </a:stretch>
        </p:blipFill>
        <p:spPr>
          <a:xfrm>
            <a:off x="5257799" y="3850076"/>
            <a:ext cx="6827897" cy="2879552"/>
          </a:xfrm>
          <a:prstGeom prst="rect">
            <a:avLst/>
          </a:prstGeom>
        </p:spPr>
      </p:pic>
    </p:spTree>
    <p:extLst>
      <p:ext uri="{BB962C8B-B14F-4D97-AF65-F5344CB8AC3E}">
        <p14:creationId xmlns:p14="http://schemas.microsoft.com/office/powerpoint/2010/main" val="137402208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5">
                                            <p:txEl>
                                              <p:pRg st="0" end="0"/>
                                            </p:txEl>
                                          </p:spTgt>
                                        </p:tgtEl>
                                        <p:attrNameLst>
                                          <p:attrName>style.visibility</p:attrName>
                                        </p:attrNameLst>
                                      </p:cBhvr>
                                      <p:to>
                                        <p:strVal val="visible"/>
                                      </p:to>
                                    </p:set>
                                    <p:animEffect transition="in" filter="wipe(left)">
                                      <p:cBhvr>
                                        <p:cTn id="7" dur="500"/>
                                        <p:tgtEl>
                                          <p:spTgt spid="5">
                                            <p:txEl>
                                              <p:pRg st="0" end="0"/>
                                            </p:txEl>
                                          </p:spTgt>
                                        </p:tgtEl>
                                      </p:cBhvr>
                                    </p:animEffect>
                                  </p:childTnLst>
                                </p:cTn>
                              </p:par>
                            </p:childTnLst>
                          </p:cTn>
                        </p:par>
                        <p:par>
                          <p:cTn id="8" fill="hold">
                            <p:stCondLst>
                              <p:cond delay="500"/>
                            </p:stCondLst>
                            <p:childTnLst>
                              <p:par>
                                <p:cTn id="9" presetID="22" presetClass="entr" presetSubtype="8" fill="hold" grpId="0" nodeType="afterEffect">
                                  <p:stCondLst>
                                    <p:cond delay="0"/>
                                  </p:stCondLst>
                                  <p:childTnLst>
                                    <p:set>
                                      <p:cBhvr>
                                        <p:cTn id="10" dur="1" fill="hold">
                                          <p:stCondLst>
                                            <p:cond delay="0"/>
                                          </p:stCondLst>
                                        </p:cTn>
                                        <p:tgtEl>
                                          <p:spTgt spid="3">
                                            <p:txEl>
                                              <p:pRg st="0" end="0"/>
                                            </p:txEl>
                                          </p:spTgt>
                                        </p:tgtEl>
                                        <p:attrNameLst>
                                          <p:attrName>style.visibility</p:attrName>
                                        </p:attrNameLst>
                                      </p:cBhvr>
                                      <p:to>
                                        <p:strVal val="visible"/>
                                      </p:to>
                                    </p:set>
                                    <p:animEffect transition="in" filter="wipe(left)">
                                      <p:cBhvr>
                                        <p:cTn id="11" dur="500"/>
                                        <p:tgtEl>
                                          <p:spTgt spid="3">
                                            <p:txEl>
                                              <p:pRg st="0" end="0"/>
                                            </p:txEl>
                                          </p:spTgt>
                                        </p:tgtEl>
                                      </p:cBhvr>
                                    </p:animEffect>
                                  </p:childTnLst>
                                </p:cTn>
                              </p:par>
                            </p:childTnLst>
                          </p:cTn>
                        </p:par>
                        <p:par>
                          <p:cTn id="12" fill="hold">
                            <p:stCondLst>
                              <p:cond delay="1000"/>
                            </p:stCondLst>
                            <p:childTnLst>
                              <p:par>
                                <p:cTn id="13" presetID="22" presetClass="entr" presetSubtype="8" fill="hold" grpId="0" nodeType="afterEffect">
                                  <p:stCondLst>
                                    <p:cond delay="0"/>
                                  </p:stCondLst>
                                  <p:childTnLst>
                                    <p:set>
                                      <p:cBhvr>
                                        <p:cTn id="14" dur="1" fill="hold">
                                          <p:stCondLst>
                                            <p:cond delay="0"/>
                                          </p:stCondLst>
                                        </p:cTn>
                                        <p:tgtEl>
                                          <p:spTgt spid="3">
                                            <p:txEl>
                                              <p:pRg st="1" end="1"/>
                                            </p:txEl>
                                          </p:spTgt>
                                        </p:tgtEl>
                                        <p:attrNameLst>
                                          <p:attrName>style.visibility</p:attrName>
                                        </p:attrNameLst>
                                      </p:cBhvr>
                                      <p:to>
                                        <p:strVal val="visible"/>
                                      </p:to>
                                    </p:set>
                                    <p:animEffect transition="in" filter="wipe(left)">
                                      <p:cBhvr>
                                        <p:cTn id="15" dur="1000"/>
                                        <p:tgtEl>
                                          <p:spTgt spid="3">
                                            <p:txEl>
                                              <p:pRg st="1" end="1"/>
                                            </p:txEl>
                                          </p:spTgt>
                                        </p:tgtEl>
                                      </p:cBhvr>
                                    </p:animEffect>
                                  </p:childTnLst>
                                </p:cTn>
                              </p:par>
                            </p:childTnLst>
                          </p:cTn>
                        </p:par>
                        <p:par>
                          <p:cTn id="16" fill="hold">
                            <p:stCondLst>
                              <p:cond delay="2000"/>
                            </p:stCondLst>
                            <p:childTnLst>
                              <p:par>
                                <p:cTn id="17" presetID="22" presetClass="entr" presetSubtype="8" fill="hold" grpId="0" nodeType="afterEffect">
                                  <p:stCondLst>
                                    <p:cond delay="0"/>
                                  </p:stCondLst>
                                  <p:childTnLst>
                                    <p:set>
                                      <p:cBhvr>
                                        <p:cTn id="18" dur="1" fill="hold">
                                          <p:stCondLst>
                                            <p:cond delay="0"/>
                                          </p:stCondLst>
                                        </p:cTn>
                                        <p:tgtEl>
                                          <p:spTgt spid="3">
                                            <p:txEl>
                                              <p:pRg st="2" end="2"/>
                                            </p:txEl>
                                          </p:spTgt>
                                        </p:tgtEl>
                                        <p:attrNameLst>
                                          <p:attrName>style.visibility</p:attrName>
                                        </p:attrNameLst>
                                      </p:cBhvr>
                                      <p:to>
                                        <p:strVal val="visible"/>
                                      </p:to>
                                    </p:set>
                                    <p:animEffect transition="in" filter="wipe(left)">
                                      <p:cBhvr>
                                        <p:cTn id="19" dur="1000"/>
                                        <p:tgtEl>
                                          <p:spTgt spid="3">
                                            <p:txEl>
                                              <p:pRg st="2" end="2"/>
                                            </p:txEl>
                                          </p:spTgt>
                                        </p:tgtEl>
                                      </p:cBhvr>
                                    </p:animEffect>
                                  </p:childTnLst>
                                </p:cTn>
                              </p:par>
                            </p:childTnLst>
                          </p:cTn>
                        </p:par>
                        <p:par>
                          <p:cTn id="20" fill="hold">
                            <p:stCondLst>
                              <p:cond delay="3000"/>
                            </p:stCondLst>
                            <p:childTnLst>
                              <p:par>
                                <p:cTn id="21" presetID="22" presetClass="entr" presetSubtype="8" fill="hold" grpId="0" nodeType="afterEffect">
                                  <p:stCondLst>
                                    <p:cond delay="0"/>
                                  </p:stCondLst>
                                  <p:childTnLst>
                                    <p:set>
                                      <p:cBhvr>
                                        <p:cTn id="22" dur="1" fill="hold">
                                          <p:stCondLst>
                                            <p:cond delay="0"/>
                                          </p:stCondLst>
                                        </p:cTn>
                                        <p:tgtEl>
                                          <p:spTgt spid="3">
                                            <p:txEl>
                                              <p:pRg st="3" end="3"/>
                                            </p:txEl>
                                          </p:spTgt>
                                        </p:tgtEl>
                                        <p:attrNameLst>
                                          <p:attrName>style.visibility</p:attrName>
                                        </p:attrNameLst>
                                      </p:cBhvr>
                                      <p:to>
                                        <p:strVal val="visible"/>
                                      </p:to>
                                    </p:set>
                                    <p:animEffect transition="in" filter="wipe(left)">
                                      <p:cBhvr>
                                        <p:cTn id="23" dur="1000"/>
                                        <p:tgtEl>
                                          <p:spTgt spid="3">
                                            <p:txEl>
                                              <p:pRg st="3" end="3"/>
                                            </p:txEl>
                                          </p:spTgt>
                                        </p:tgtEl>
                                      </p:cBhvr>
                                    </p:animEffect>
                                  </p:childTnLst>
                                </p:cTn>
                              </p:par>
                            </p:childTnLst>
                          </p:cTn>
                        </p:par>
                        <p:par>
                          <p:cTn id="24" fill="hold">
                            <p:stCondLst>
                              <p:cond delay="4000"/>
                            </p:stCondLst>
                            <p:childTnLst>
                              <p:par>
                                <p:cTn id="25" presetID="22" presetClass="entr" presetSubtype="8" fill="hold" grpId="0" nodeType="afterEffect">
                                  <p:stCondLst>
                                    <p:cond delay="0"/>
                                  </p:stCondLst>
                                  <p:childTnLst>
                                    <p:set>
                                      <p:cBhvr>
                                        <p:cTn id="26" dur="1" fill="hold">
                                          <p:stCondLst>
                                            <p:cond delay="0"/>
                                          </p:stCondLst>
                                        </p:cTn>
                                        <p:tgtEl>
                                          <p:spTgt spid="3">
                                            <p:txEl>
                                              <p:pRg st="4" end="4"/>
                                            </p:txEl>
                                          </p:spTgt>
                                        </p:tgtEl>
                                        <p:attrNameLst>
                                          <p:attrName>style.visibility</p:attrName>
                                        </p:attrNameLst>
                                      </p:cBhvr>
                                      <p:to>
                                        <p:strVal val="visible"/>
                                      </p:to>
                                    </p:set>
                                    <p:animEffect transition="in" filter="wipe(left)">
                                      <p:cBhvr>
                                        <p:cTn id="27" dur="1000"/>
                                        <p:tgtEl>
                                          <p:spTgt spid="3">
                                            <p:txEl>
                                              <p:pRg st="4" end="4"/>
                                            </p:txEl>
                                          </p:spTgt>
                                        </p:tgtEl>
                                      </p:cBhvr>
                                    </p:animEffect>
                                  </p:childTnLst>
                                </p:cTn>
                              </p:par>
                            </p:childTnLst>
                          </p:cTn>
                        </p:par>
                        <p:par>
                          <p:cTn id="28" fill="hold">
                            <p:stCondLst>
                              <p:cond delay="5000"/>
                            </p:stCondLst>
                            <p:childTnLst>
                              <p:par>
                                <p:cTn id="29" presetID="22" presetClass="entr" presetSubtype="8" fill="hold" grpId="0" nodeType="afterEffect">
                                  <p:stCondLst>
                                    <p:cond delay="0"/>
                                  </p:stCondLst>
                                  <p:childTnLst>
                                    <p:set>
                                      <p:cBhvr>
                                        <p:cTn id="30" dur="1" fill="hold">
                                          <p:stCondLst>
                                            <p:cond delay="0"/>
                                          </p:stCondLst>
                                        </p:cTn>
                                        <p:tgtEl>
                                          <p:spTgt spid="3">
                                            <p:txEl>
                                              <p:pRg st="5" end="5"/>
                                            </p:txEl>
                                          </p:spTgt>
                                        </p:tgtEl>
                                        <p:attrNameLst>
                                          <p:attrName>style.visibility</p:attrName>
                                        </p:attrNameLst>
                                      </p:cBhvr>
                                      <p:to>
                                        <p:strVal val="visible"/>
                                      </p:to>
                                    </p:set>
                                    <p:animEffect transition="in" filter="wipe(left)">
                                      <p:cBhvr>
                                        <p:cTn id="31" dur="1000"/>
                                        <p:tgtEl>
                                          <p:spTgt spid="3">
                                            <p:txEl>
                                              <p:pRg st="5" end="5"/>
                                            </p:txEl>
                                          </p:spTgt>
                                        </p:tgtEl>
                                      </p:cBhvr>
                                    </p:animEffect>
                                  </p:childTnLst>
                                </p:cTn>
                              </p:par>
                            </p:childTnLst>
                          </p:cTn>
                        </p:par>
                      </p:childTnLst>
                    </p:cTn>
                  </p:par>
                  <p:par>
                    <p:cTn id="32" fill="hold">
                      <p:stCondLst>
                        <p:cond delay="indefinite"/>
                      </p:stCondLst>
                      <p:childTnLst>
                        <p:par>
                          <p:cTn id="33" fill="hold">
                            <p:stCondLst>
                              <p:cond delay="0"/>
                            </p:stCondLst>
                            <p:childTnLst>
                              <p:par>
                                <p:cTn id="34" presetID="22" presetClass="entr" presetSubtype="8" fill="hold" grpId="0" nodeType="clickEffect">
                                  <p:stCondLst>
                                    <p:cond delay="0"/>
                                  </p:stCondLst>
                                  <p:childTnLst>
                                    <p:set>
                                      <p:cBhvr>
                                        <p:cTn id="35" dur="1" fill="hold">
                                          <p:stCondLst>
                                            <p:cond delay="0"/>
                                          </p:stCondLst>
                                        </p:cTn>
                                        <p:tgtEl>
                                          <p:spTgt spid="6">
                                            <p:txEl>
                                              <p:pRg st="0" end="0"/>
                                            </p:txEl>
                                          </p:spTgt>
                                        </p:tgtEl>
                                        <p:attrNameLst>
                                          <p:attrName>style.visibility</p:attrName>
                                        </p:attrNameLst>
                                      </p:cBhvr>
                                      <p:to>
                                        <p:strVal val="visible"/>
                                      </p:to>
                                    </p:set>
                                    <p:animEffect transition="in" filter="wipe(left)">
                                      <p:cBhvr>
                                        <p:cTn id="36" dur="500"/>
                                        <p:tgtEl>
                                          <p:spTgt spid="6">
                                            <p:txEl>
                                              <p:pRg st="0" end="0"/>
                                            </p:txEl>
                                          </p:spTgt>
                                        </p:tgtEl>
                                      </p:cBhvr>
                                    </p:animEffect>
                                  </p:childTnLst>
                                </p:cTn>
                              </p:par>
                            </p:childTnLst>
                          </p:cTn>
                        </p:par>
                      </p:childTnLst>
                    </p:cTn>
                  </p:par>
                  <p:par>
                    <p:cTn id="37" fill="hold">
                      <p:stCondLst>
                        <p:cond delay="indefinite"/>
                      </p:stCondLst>
                      <p:childTnLst>
                        <p:par>
                          <p:cTn id="38" fill="hold">
                            <p:stCondLst>
                              <p:cond delay="0"/>
                            </p:stCondLst>
                            <p:childTnLst>
                              <p:par>
                                <p:cTn id="39" presetID="22" presetClass="entr" presetSubtype="4" fill="hold" nodeType="clickEffect">
                                  <p:stCondLst>
                                    <p:cond delay="0"/>
                                  </p:stCondLst>
                                  <p:childTnLst>
                                    <p:set>
                                      <p:cBhvr>
                                        <p:cTn id="40" dur="1" fill="hold">
                                          <p:stCondLst>
                                            <p:cond delay="0"/>
                                          </p:stCondLst>
                                        </p:cTn>
                                        <p:tgtEl>
                                          <p:spTgt spid="4"/>
                                        </p:tgtEl>
                                        <p:attrNameLst>
                                          <p:attrName>style.visibility</p:attrName>
                                        </p:attrNameLst>
                                      </p:cBhvr>
                                      <p:to>
                                        <p:strVal val="visible"/>
                                      </p:to>
                                    </p:set>
                                    <p:animEffect transition="in" filter="wipe(down)">
                                      <p:cBhvr>
                                        <p:cTn id="41" dur="20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build="p"/>
      <p:bldP spid="3" grpId="0" uiExpand="1" build="p"/>
      <p:bldP spid="6" grpId="0" build="p"/>
    </p:bldLst>
  </p:timing>
</p:sld>
</file>

<file path=ppt/slides/slide254.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08C76DEA-F650-51AB-7EE7-9B3064808EC0}"/>
              </a:ext>
            </a:extLst>
          </p:cNvPr>
          <p:cNvSpPr>
            <a:spLocks noGrp="1"/>
          </p:cNvSpPr>
          <p:nvPr>
            <p:ph type="title"/>
          </p:nvPr>
        </p:nvSpPr>
        <p:spPr/>
        <p:txBody>
          <a:bodyPr/>
          <a:lstStyle/>
          <a:p>
            <a:r>
              <a:rPr lang="en-GB" dirty="0"/>
              <a:t>Order of Operations</a:t>
            </a:r>
          </a:p>
        </p:txBody>
      </p:sp>
      <p:sp>
        <p:nvSpPr>
          <p:cNvPr id="6" name="SQL">
            <a:extLst>
              <a:ext uri="{FF2B5EF4-FFF2-40B4-BE49-F238E27FC236}">
                <a16:creationId xmlns:a16="http://schemas.microsoft.com/office/drawing/2014/main" id="{C460184D-D803-F499-E82E-972FB39F9288}"/>
              </a:ext>
            </a:extLst>
          </p:cNvPr>
          <p:cNvSpPr>
            <a:spLocks noChangeArrowheads="1"/>
          </p:cNvSpPr>
          <p:nvPr/>
        </p:nvSpPr>
        <p:spPr bwMode="auto">
          <a:xfrm>
            <a:off x="619125" y="1678614"/>
            <a:ext cx="2864887" cy="70788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name, type</a:t>
            </a:r>
          </a:p>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2 </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kumimoji="0" lang="en-US" altLang="en-US" sz="2000" b="0" i="0" u="none" strike="noStrike" cap="none" normalizeH="0" baseline="0" dirty="0">
                <a:ln>
                  <a:noFill/>
                </a:ln>
                <a:solidFill>
                  <a:srgbClr val="A71D5D"/>
                </a:solidFill>
                <a:effectLst/>
                <a:latin typeface="Consolas" panose="020B0609020204030204" pitchFamily="49" charset="0"/>
              </a:rPr>
              <a:t>FROM</a:t>
            </a:r>
            <a:r>
              <a:rPr kumimoji="0" lang="en-US" altLang="en-US" sz="2000" b="0" i="0" u="none" strike="noStrike" cap="none" normalizeH="0" baseline="0" dirty="0">
                <a:ln>
                  <a:noFill/>
                </a:ln>
                <a:solidFill>
                  <a:srgbClr val="000000"/>
                </a:solidFill>
                <a:effectLst/>
                <a:latin typeface="Consolas" panose="020B0609020204030204" pitchFamily="49" charset="0"/>
              </a:rPr>
              <a:t> Pet;</a:t>
            </a:r>
            <a:endParaRPr kumimoji="0" lang="en-US" altLang="en-US" sz="3200" b="0" i="0" u="none" strike="noStrike" cap="none" normalizeH="0" baseline="0" dirty="0">
              <a:ln>
                <a:noFill/>
              </a:ln>
              <a:solidFill>
                <a:schemeClr val="tx1"/>
              </a:solidFill>
              <a:effectLst/>
              <a:latin typeface="Arial" panose="020B0604020202020204" pitchFamily="34" charset="0"/>
            </a:endParaRPr>
          </a:p>
        </p:txBody>
      </p:sp>
      <p:sp>
        <p:nvSpPr>
          <p:cNvPr id="17" name="Pet">
            <a:extLst>
              <a:ext uri="{FF2B5EF4-FFF2-40B4-BE49-F238E27FC236}">
                <a16:creationId xmlns:a16="http://schemas.microsoft.com/office/drawing/2014/main" id="{37697A85-FE4A-5F49-87D3-DF60452AD532}"/>
              </a:ext>
            </a:extLst>
          </p:cNvPr>
          <p:cNvSpPr txBox="1"/>
          <p:nvPr/>
        </p:nvSpPr>
        <p:spPr>
          <a:xfrm>
            <a:off x="533400" y="3091527"/>
            <a:ext cx="1771650" cy="369332"/>
          </a:xfrm>
          <a:prstGeom prst="rect">
            <a:avLst/>
          </a:prstGeom>
          <a:noFill/>
        </p:spPr>
        <p:txBody>
          <a:bodyPr wrap="square" rtlCol="0">
            <a:spAutoFit/>
          </a:bodyPr>
          <a:lstStyle/>
          <a:p>
            <a:r>
              <a:rPr lang="en-GB" b="1" dirty="0"/>
              <a:t>Table: Pet</a:t>
            </a:r>
          </a:p>
        </p:txBody>
      </p:sp>
      <p:sp>
        <p:nvSpPr>
          <p:cNvPr id="19" name="Order">
            <a:extLst>
              <a:ext uri="{FF2B5EF4-FFF2-40B4-BE49-F238E27FC236}">
                <a16:creationId xmlns:a16="http://schemas.microsoft.com/office/drawing/2014/main" id="{39027E70-266E-C921-B96A-180149336170}"/>
              </a:ext>
            </a:extLst>
          </p:cNvPr>
          <p:cNvSpPr txBox="1"/>
          <p:nvPr/>
        </p:nvSpPr>
        <p:spPr>
          <a:xfrm>
            <a:off x="7417818" y="1001505"/>
            <a:ext cx="2590417" cy="1384995"/>
          </a:xfrm>
          <a:prstGeom prst="rect">
            <a:avLst/>
          </a:prstGeom>
          <a:noFill/>
        </p:spPr>
        <p:txBody>
          <a:bodyPr wrap="square" rtlCol="0">
            <a:spAutoFit/>
          </a:bodyPr>
          <a:lstStyle/>
          <a:p>
            <a:r>
              <a:rPr lang="en-GB" sz="2800" b="1" dirty="0">
                <a:solidFill>
                  <a:srgbClr val="7030A0"/>
                </a:solidFill>
              </a:rPr>
              <a:t>Order</a:t>
            </a:r>
            <a:r>
              <a:rPr lang="en-GB" sz="2800" dirty="0">
                <a:solidFill>
                  <a:srgbClr val="7030A0"/>
                </a:solidFill>
              </a:rPr>
              <a:t>:</a:t>
            </a:r>
          </a:p>
          <a:p>
            <a:pPr lvl="1"/>
            <a:r>
              <a:rPr lang="en-GB" sz="2800" dirty="0">
                <a:solidFill>
                  <a:srgbClr val="7030A0"/>
                </a:solidFill>
              </a:rPr>
              <a:t>1.  FROM</a:t>
            </a:r>
          </a:p>
          <a:p>
            <a:pPr lvl="1"/>
            <a:r>
              <a:rPr lang="en-GB" sz="2800" dirty="0">
                <a:solidFill>
                  <a:srgbClr val="7030A0"/>
                </a:solidFill>
              </a:rPr>
              <a:t>2.  SELECT</a:t>
            </a:r>
          </a:p>
        </p:txBody>
      </p:sp>
      <p:sp>
        <p:nvSpPr>
          <p:cNvPr id="27" name="From - Arrow">
            <a:extLst>
              <a:ext uri="{FF2B5EF4-FFF2-40B4-BE49-F238E27FC236}">
                <a16:creationId xmlns:a16="http://schemas.microsoft.com/office/drawing/2014/main" id="{269837FC-7069-F1D9-E16A-87AF1D4A80CD}"/>
              </a:ext>
            </a:extLst>
          </p:cNvPr>
          <p:cNvSpPr/>
          <p:nvPr/>
        </p:nvSpPr>
        <p:spPr>
          <a:xfrm>
            <a:off x="154550" y="2054516"/>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0" name="From">
            <a:extLst>
              <a:ext uri="{FF2B5EF4-FFF2-40B4-BE49-F238E27FC236}">
                <a16:creationId xmlns:a16="http://schemas.microsoft.com/office/drawing/2014/main" id="{BC0A24A5-7704-6A36-CD80-4ED2C2F64BD2}"/>
              </a:ext>
            </a:extLst>
          </p:cNvPr>
          <p:cNvSpPr txBox="1"/>
          <p:nvPr/>
        </p:nvSpPr>
        <p:spPr>
          <a:xfrm>
            <a:off x="4667406" y="2911786"/>
            <a:ext cx="850960" cy="369332"/>
          </a:xfrm>
          <a:prstGeom prst="rect">
            <a:avLst/>
          </a:prstGeom>
          <a:noFill/>
        </p:spPr>
        <p:txBody>
          <a:bodyPr wrap="square" rtlCol="0">
            <a:spAutoFit/>
          </a:bodyPr>
          <a:lstStyle/>
          <a:p>
            <a:r>
              <a:rPr lang="en-GB" b="1" dirty="0"/>
              <a:t>FROM</a:t>
            </a:r>
          </a:p>
        </p:txBody>
      </p:sp>
      <p:graphicFrame>
        <p:nvGraphicFramePr>
          <p:cNvPr id="22" name="Pet - Table">
            <a:extLst>
              <a:ext uri="{FF2B5EF4-FFF2-40B4-BE49-F238E27FC236}">
                <a16:creationId xmlns:a16="http://schemas.microsoft.com/office/drawing/2014/main" id="{E1C47C29-B1FD-7991-E626-2F12DC1AFFDE}"/>
              </a:ext>
            </a:extLst>
          </p:cNvPr>
          <p:cNvGraphicFramePr>
            <a:graphicFrameLocks noGrp="1"/>
          </p:cNvGraphicFramePr>
          <p:nvPr/>
        </p:nvGraphicFramePr>
        <p:xfrm>
          <a:off x="619123" y="3412595"/>
          <a:ext cx="4155059"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gridCol w="852297">
                  <a:extLst>
                    <a:ext uri="{9D8B030D-6E8A-4147-A177-3AD203B41FA5}">
                      <a16:colId xmlns:a16="http://schemas.microsoft.com/office/drawing/2014/main" val="3431466674"/>
                    </a:ext>
                  </a:extLst>
                </a:gridCol>
                <a:gridCol w="1260475">
                  <a:extLst>
                    <a:ext uri="{9D8B030D-6E8A-4147-A177-3AD203B41FA5}">
                      <a16:colId xmlns:a16="http://schemas.microsoft.com/office/drawing/2014/main" val="774702135"/>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insured</a:t>
                      </a:r>
                    </a:p>
                  </a:txBody>
                  <a:tcPr marL="9525" marR="9525" marT="9525" marB="9525" anchor="ctr"/>
                </a:tc>
                <a:tc>
                  <a:txBody>
                    <a:bodyPr/>
                    <a:lstStyle/>
                    <a:p>
                      <a:pPr algn="l"/>
                      <a:r>
                        <a:rPr lang="en-GB" sz="2000" b="0" i="0" dirty="0" err="1">
                          <a:solidFill>
                            <a:schemeClr val="bg1"/>
                          </a:solidFill>
                          <a:effectLst/>
                          <a:latin typeface="Calibri" panose="020F0502020204030204" pitchFamily="34" charset="0"/>
                          <a:cs typeface="Calibri" panose="020F0502020204030204" pitchFamily="34" charset="0"/>
                        </a:rPr>
                        <a:t>lastVisit</a:t>
                      </a:r>
                      <a:endParaRPr lang="en-GB" sz="2000" b="0" i="0" dirty="0">
                        <a:solidFill>
                          <a:schemeClr val="bg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a:solidFill>
                            <a:schemeClr val="tx1"/>
                          </a:solidFill>
                          <a:effectLst/>
                        </a:rPr>
                        <a:t>Pepper</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16</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FALSE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2024-01-15</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TRUE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2023-02-14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7</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FALSE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2023-11-03</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a:solidFill>
                            <a:schemeClr val="tx1"/>
                          </a:solidFill>
                          <a:effectLst/>
                        </a:rPr>
                        <a:t>Micky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FALSE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2023-05-24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a:solidFill>
                            <a:schemeClr val="tx1"/>
                          </a:solidFill>
                          <a:effectLst/>
                        </a:rPr>
                        <a:t>Minnie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FALSE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2023-05-24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Cat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9</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TRUE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2023-01-06</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a:solidFill>
                            <a:schemeClr val="tx1"/>
                          </a:solidFill>
                          <a:effectLst/>
                        </a:rPr>
                        <a:t>Bonzo</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Dog</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6</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FALSE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2023-12-07</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Rabbit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3</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TRUE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2023-01-08</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graphicFrame>
        <p:nvGraphicFramePr>
          <p:cNvPr id="23" name="Temp - Table">
            <a:extLst>
              <a:ext uri="{FF2B5EF4-FFF2-40B4-BE49-F238E27FC236}">
                <a16:creationId xmlns:a16="http://schemas.microsoft.com/office/drawing/2014/main" id="{57FE39BF-DC05-E516-87E6-26364C7BBE24}"/>
              </a:ext>
            </a:extLst>
          </p:cNvPr>
          <p:cNvGraphicFramePr>
            <a:graphicFrameLocks noGrp="1"/>
          </p:cNvGraphicFramePr>
          <p:nvPr/>
        </p:nvGraphicFramePr>
        <p:xfrm>
          <a:off x="5340290" y="3412595"/>
          <a:ext cx="4155059"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gridCol w="852297">
                  <a:extLst>
                    <a:ext uri="{9D8B030D-6E8A-4147-A177-3AD203B41FA5}">
                      <a16:colId xmlns:a16="http://schemas.microsoft.com/office/drawing/2014/main" val="3431466674"/>
                    </a:ext>
                  </a:extLst>
                </a:gridCol>
                <a:gridCol w="1260475">
                  <a:extLst>
                    <a:ext uri="{9D8B030D-6E8A-4147-A177-3AD203B41FA5}">
                      <a16:colId xmlns:a16="http://schemas.microsoft.com/office/drawing/2014/main" val="774702135"/>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insured</a:t>
                      </a:r>
                    </a:p>
                  </a:txBody>
                  <a:tcPr marL="9525" marR="9525" marT="9525" marB="9525" anchor="ctr"/>
                </a:tc>
                <a:tc>
                  <a:txBody>
                    <a:bodyPr/>
                    <a:lstStyle/>
                    <a:p>
                      <a:pPr algn="l"/>
                      <a:r>
                        <a:rPr lang="en-GB" sz="2000" b="0" i="0" dirty="0" err="1">
                          <a:solidFill>
                            <a:schemeClr val="bg1"/>
                          </a:solidFill>
                          <a:effectLst/>
                          <a:latin typeface="Calibri" panose="020F0502020204030204" pitchFamily="34" charset="0"/>
                          <a:cs typeface="Calibri" panose="020F0502020204030204" pitchFamily="34" charset="0"/>
                        </a:rPr>
                        <a:t>lastVisit</a:t>
                      </a:r>
                      <a:endParaRPr lang="en-GB" sz="2000" b="0" i="0" dirty="0">
                        <a:solidFill>
                          <a:schemeClr val="bg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a:solidFill>
                            <a:schemeClr val="tx1"/>
                          </a:solidFill>
                          <a:effectLst/>
                        </a:rPr>
                        <a:t>Pepper</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16</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FALSE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2024-01-15</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TRUE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2023-02-14</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7</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TRUE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2023-11-03</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a:solidFill>
                            <a:schemeClr val="tx1"/>
                          </a:solidFill>
                          <a:effectLst/>
                        </a:rPr>
                        <a:t>Micky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FALSE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2023-05-24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a:solidFill>
                            <a:schemeClr val="tx1"/>
                          </a:solidFill>
                          <a:effectLst/>
                        </a:rPr>
                        <a:t>Minnie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FALSE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2023-05-24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Cat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9</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TRUE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2023-01-06</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a:solidFill>
                            <a:schemeClr val="tx1"/>
                          </a:solidFill>
                          <a:effectLst/>
                        </a:rPr>
                        <a:t>Bonzo</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Dog</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6</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FALSE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2023-12-07</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Rabbit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3</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TRUE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2023-01-08</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sp>
        <p:nvSpPr>
          <p:cNvPr id="25" name="Select">
            <a:extLst>
              <a:ext uri="{FF2B5EF4-FFF2-40B4-BE49-F238E27FC236}">
                <a16:creationId xmlns:a16="http://schemas.microsoft.com/office/drawing/2014/main" id="{35683CAD-1E2A-EA31-E6BB-C707B14B8F0A}"/>
              </a:ext>
            </a:extLst>
          </p:cNvPr>
          <p:cNvSpPr txBox="1"/>
          <p:nvPr/>
        </p:nvSpPr>
        <p:spPr>
          <a:xfrm>
            <a:off x="5700866" y="2386500"/>
            <a:ext cx="850960" cy="369332"/>
          </a:xfrm>
          <a:prstGeom prst="rect">
            <a:avLst/>
          </a:prstGeom>
          <a:noFill/>
        </p:spPr>
        <p:txBody>
          <a:bodyPr wrap="square" rtlCol="0">
            <a:spAutoFit/>
          </a:bodyPr>
          <a:lstStyle/>
          <a:p>
            <a:pPr algn="ctr"/>
            <a:r>
              <a:rPr lang="en-GB" b="1" dirty="0"/>
              <a:t>SELECT</a:t>
            </a:r>
          </a:p>
        </p:txBody>
      </p:sp>
      <p:sp>
        <p:nvSpPr>
          <p:cNvPr id="26" name="Temp - Arrow">
            <a:extLst>
              <a:ext uri="{FF2B5EF4-FFF2-40B4-BE49-F238E27FC236}">
                <a16:creationId xmlns:a16="http://schemas.microsoft.com/office/drawing/2014/main" id="{0812AA0D-71D1-9B9D-4AED-E09E855A4185}"/>
              </a:ext>
            </a:extLst>
          </p:cNvPr>
          <p:cNvSpPr/>
          <p:nvPr/>
        </p:nvSpPr>
        <p:spPr>
          <a:xfrm>
            <a:off x="4827403" y="4748123"/>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8" name="Output - Arrow">
            <a:extLst>
              <a:ext uri="{FF2B5EF4-FFF2-40B4-BE49-F238E27FC236}">
                <a16:creationId xmlns:a16="http://schemas.microsoft.com/office/drawing/2014/main" id="{27833E17-04CE-E6AD-804B-EB51B8F41239}"/>
              </a:ext>
            </a:extLst>
          </p:cNvPr>
          <p:cNvSpPr/>
          <p:nvPr/>
        </p:nvSpPr>
        <p:spPr>
          <a:xfrm>
            <a:off x="9518733" y="4754577"/>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9" name="Name - Column">
            <a:extLst>
              <a:ext uri="{FF2B5EF4-FFF2-40B4-BE49-F238E27FC236}">
                <a16:creationId xmlns:a16="http://schemas.microsoft.com/office/drawing/2014/main" id="{9CFD6623-90F9-8CA0-585A-959ADF79ADE1}"/>
              </a:ext>
            </a:extLst>
          </p:cNvPr>
          <p:cNvSpPr/>
          <p:nvPr/>
        </p:nvSpPr>
        <p:spPr>
          <a:xfrm>
            <a:off x="5333994" y="3349977"/>
            <a:ext cx="792000" cy="3060332"/>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0" name="Age - Column">
            <a:extLst>
              <a:ext uri="{FF2B5EF4-FFF2-40B4-BE49-F238E27FC236}">
                <a16:creationId xmlns:a16="http://schemas.microsoft.com/office/drawing/2014/main" id="{F8908677-B9D0-5945-93E8-1112E85882A9}"/>
              </a:ext>
            </a:extLst>
          </p:cNvPr>
          <p:cNvSpPr/>
          <p:nvPr/>
        </p:nvSpPr>
        <p:spPr>
          <a:xfrm>
            <a:off x="6149730" y="3349977"/>
            <a:ext cx="792000" cy="3060332"/>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1" name="Select - Arrow">
            <a:extLst>
              <a:ext uri="{FF2B5EF4-FFF2-40B4-BE49-F238E27FC236}">
                <a16:creationId xmlns:a16="http://schemas.microsoft.com/office/drawing/2014/main" id="{44EEC309-5164-E750-8A98-948F7250CF9F}"/>
              </a:ext>
            </a:extLst>
          </p:cNvPr>
          <p:cNvSpPr/>
          <p:nvPr/>
        </p:nvSpPr>
        <p:spPr>
          <a:xfrm>
            <a:off x="154550" y="1734546"/>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2" name="Output">
            <a:extLst>
              <a:ext uri="{FF2B5EF4-FFF2-40B4-BE49-F238E27FC236}">
                <a16:creationId xmlns:a16="http://schemas.microsoft.com/office/drawing/2014/main" id="{56038AF1-3FFC-CE48-15B4-04B9F7CE57D9}"/>
              </a:ext>
            </a:extLst>
          </p:cNvPr>
          <p:cNvSpPr txBox="1"/>
          <p:nvPr/>
        </p:nvSpPr>
        <p:spPr>
          <a:xfrm>
            <a:off x="9295864" y="2911786"/>
            <a:ext cx="960176" cy="369332"/>
          </a:xfrm>
          <a:prstGeom prst="rect">
            <a:avLst/>
          </a:prstGeom>
          <a:noFill/>
        </p:spPr>
        <p:txBody>
          <a:bodyPr wrap="square" rtlCol="0">
            <a:spAutoFit/>
          </a:bodyPr>
          <a:lstStyle/>
          <a:p>
            <a:pPr algn="ctr"/>
            <a:r>
              <a:rPr lang="en-GB" b="1" dirty="0"/>
              <a:t>Output</a:t>
            </a:r>
          </a:p>
        </p:txBody>
      </p:sp>
      <p:cxnSp>
        <p:nvCxnSpPr>
          <p:cNvPr id="5" name="Name - Arrow">
            <a:extLst>
              <a:ext uri="{FF2B5EF4-FFF2-40B4-BE49-F238E27FC236}">
                <a16:creationId xmlns:a16="http://schemas.microsoft.com/office/drawing/2014/main" id="{74743580-1BBD-44D1-9B4B-3FCD69A573CA}"/>
              </a:ext>
            </a:extLst>
          </p:cNvPr>
          <p:cNvCxnSpPr>
            <a:cxnSpLocks/>
            <a:stCxn id="25" idx="2"/>
            <a:endCxn id="29" idx="0"/>
          </p:cNvCxnSpPr>
          <p:nvPr/>
        </p:nvCxnSpPr>
        <p:spPr>
          <a:xfrm flipH="1">
            <a:off x="5729994" y="2755832"/>
            <a:ext cx="396352" cy="594145"/>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9" name="Age - Arrow">
            <a:extLst>
              <a:ext uri="{FF2B5EF4-FFF2-40B4-BE49-F238E27FC236}">
                <a16:creationId xmlns:a16="http://schemas.microsoft.com/office/drawing/2014/main" id="{4A59694F-BFA9-47E0-AA51-53E4E5936D1D}"/>
              </a:ext>
            </a:extLst>
          </p:cNvPr>
          <p:cNvCxnSpPr>
            <a:cxnSpLocks/>
            <a:stCxn id="25" idx="2"/>
            <a:endCxn id="30" idx="0"/>
          </p:cNvCxnSpPr>
          <p:nvPr/>
        </p:nvCxnSpPr>
        <p:spPr>
          <a:xfrm>
            <a:off x="6126346" y="2755832"/>
            <a:ext cx="419384" cy="594145"/>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graphicFrame>
        <p:nvGraphicFramePr>
          <p:cNvPr id="39" name="Output - Table">
            <a:extLst>
              <a:ext uri="{FF2B5EF4-FFF2-40B4-BE49-F238E27FC236}">
                <a16:creationId xmlns:a16="http://schemas.microsoft.com/office/drawing/2014/main" id="{FE9A9C9B-4CA8-4DC8-AA69-A07BDFBF0F34}"/>
              </a:ext>
            </a:extLst>
          </p:cNvPr>
          <p:cNvGraphicFramePr>
            <a:graphicFrameLocks noGrp="1"/>
          </p:cNvGraphicFramePr>
          <p:nvPr/>
        </p:nvGraphicFramePr>
        <p:xfrm>
          <a:off x="10008235" y="3412808"/>
          <a:ext cx="1599883"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dirty="0">
                          <a:solidFill>
                            <a:schemeClr val="tx1"/>
                          </a:solidFill>
                          <a:effectLst/>
                        </a:rPr>
                        <a:t>Pepper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a:solidFill>
                            <a:schemeClr val="tx1"/>
                          </a:solidFill>
                          <a:effectLst/>
                        </a:rPr>
                        <a:t>Micky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a:solidFill>
                            <a:schemeClr val="tx1"/>
                          </a:solidFill>
                          <a:effectLst/>
                        </a:rPr>
                        <a:t>Minnie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Cat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a:solidFill>
                            <a:schemeClr val="tx1"/>
                          </a:solidFill>
                          <a:effectLst/>
                        </a:rPr>
                        <a:t>Bonzo</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Dog</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Rabbit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spTree>
    <p:extLst>
      <p:ext uri="{BB962C8B-B14F-4D97-AF65-F5344CB8AC3E}">
        <p14:creationId xmlns:p14="http://schemas.microsoft.com/office/powerpoint/2010/main" val="263527982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17"/>
                                        </p:tgtEl>
                                        <p:attrNameLst>
                                          <p:attrName>style.visibility</p:attrName>
                                        </p:attrNameLst>
                                      </p:cBhvr>
                                      <p:to>
                                        <p:strVal val="visible"/>
                                      </p:to>
                                    </p:set>
                                    <p:animEffect transition="in" filter="wipe(left)">
                                      <p:cBhvr>
                                        <p:cTn id="7" dur="500"/>
                                        <p:tgtEl>
                                          <p:spTgt spid="17"/>
                                        </p:tgtEl>
                                      </p:cBhvr>
                                    </p:animEffect>
                                  </p:childTnLst>
                                </p:cTn>
                              </p:par>
                            </p:childTnLst>
                          </p:cTn>
                        </p:par>
                        <p:par>
                          <p:cTn id="8" fill="hold">
                            <p:stCondLst>
                              <p:cond delay="500"/>
                            </p:stCondLst>
                            <p:childTnLst>
                              <p:par>
                                <p:cTn id="9" presetID="22" presetClass="entr" presetSubtype="1" fill="hold" nodeType="afterEffect">
                                  <p:stCondLst>
                                    <p:cond delay="0"/>
                                  </p:stCondLst>
                                  <p:childTnLst>
                                    <p:set>
                                      <p:cBhvr>
                                        <p:cTn id="10" dur="1" fill="hold">
                                          <p:stCondLst>
                                            <p:cond delay="0"/>
                                          </p:stCondLst>
                                        </p:cTn>
                                        <p:tgtEl>
                                          <p:spTgt spid="22"/>
                                        </p:tgtEl>
                                        <p:attrNameLst>
                                          <p:attrName>style.visibility</p:attrName>
                                        </p:attrNameLst>
                                      </p:cBhvr>
                                      <p:to>
                                        <p:strVal val="visible"/>
                                      </p:to>
                                    </p:set>
                                    <p:animEffect transition="in" filter="wipe(up)">
                                      <p:cBhvr>
                                        <p:cTn id="11" dur="2000"/>
                                        <p:tgtEl>
                                          <p:spTgt spid="22"/>
                                        </p:tgtEl>
                                      </p:cBhvr>
                                    </p:animEffect>
                                  </p:childTnLst>
                                </p:cTn>
                              </p:par>
                            </p:childTnLst>
                          </p:cTn>
                        </p:par>
                      </p:childTnLst>
                    </p:cTn>
                  </p:par>
                  <p:par>
                    <p:cTn id="12" fill="hold">
                      <p:stCondLst>
                        <p:cond delay="indefinite"/>
                      </p:stCondLst>
                      <p:childTnLst>
                        <p:par>
                          <p:cTn id="13" fill="hold">
                            <p:stCondLst>
                              <p:cond delay="0"/>
                            </p:stCondLst>
                            <p:childTnLst>
                              <p:par>
                                <p:cTn id="14" presetID="22" presetClass="entr" presetSubtype="8" fill="hold" grpId="0" nodeType="clickEffect">
                                  <p:stCondLst>
                                    <p:cond delay="0"/>
                                  </p:stCondLst>
                                  <p:childTnLst>
                                    <p:set>
                                      <p:cBhvr>
                                        <p:cTn id="15" dur="1" fill="hold">
                                          <p:stCondLst>
                                            <p:cond delay="0"/>
                                          </p:stCondLst>
                                        </p:cTn>
                                        <p:tgtEl>
                                          <p:spTgt spid="6">
                                            <p:txEl>
                                              <p:pRg st="0" end="0"/>
                                            </p:txEl>
                                          </p:spTgt>
                                        </p:tgtEl>
                                        <p:attrNameLst>
                                          <p:attrName>style.visibility</p:attrName>
                                        </p:attrNameLst>
                                      </p:cBhvr>
                                      <p:to>
                                        <p:strVal val="visible"/>
                                      </p:to>
                                    </p:set>
                                    <p:animEffect transition="in" filter="wipe(left)">
                                      <p:cBhvr>
                                        <p:cTn id="16" dur="1500"/>
                                        <p:tgtEl>
                                          <p:spTgt spid="6">
                                            <p:txEl>
                                              <p:pRg st="0" end="0"/>
                                            </p:txEl>
                                          </p:spTgt>
                                        </p:tgtEl>
                                      </p:cBhvr>
                                    </p:animEffect>
                                  </p:childTnLst>
                                </p:cTn>
                              </p:par>
                            </p:childTnLst>
                          </p:cTn>
                        </p:par>
                      </p:childTnLst>
                    </p:cTn>
                  </p:par>
                  <p:par>
                    <p:cTn id="17" fill="hold">
                      <p:stCondLst>
                        <p:cond delay="indefinite"/>
                      </p:stCondLst>
                      <p:childTnLst>
                        <p:par>
                          <p:cTn id="18" fill="hold">
                            <p:stCondLst>
                              <p:cond delay="0"/>
                            </p:stCondLst>
                            <p:childTnLst>
                              <p:par>
                                <p:cTn id="19" presetID="22" presetClass="entr" presetSubtype="8" fill="hold" grpId="0" nodeType="clickEffect">
                                  <p:stCondLst>
                                    <p:cond delay="0"/>
                                  </p:stCondLst>
                                  <p:childTnLst>
                                    <p:set>
                                      <p:cBhvr>
                                        <p:cTn id="20" dur="1" fill="hold">
                                          <p:stCondLst>
                                            <p:cond delay="0"/>
                                          </p:stCondLst>
                                        </p:cTn>
                                        <p:tgtEl>
                                          <p:spTgt spid="6">
                                            <p:txEl>
                                              <p:pRg st="1" end="1"/>
                                            </p:txEl>
                                          </p:spTgt>
                                        </p:tgtEl>
                                        <p:attrNameLst>
                                          <p:attrName>style.visibility</p:attrName>
                                        </p:attrNameLst>
                                      </p:cBhvr>
                                      <p:to>
                                        <p:strVal val="visible"/>
                                      </p:to>
                                    </p:set>
                                    <p:animEffect transition="in" filter="wipe(left)">
                                      <p:cBhvr>
                                        <p:cTn id="21" dur="1500"/>
                                        <p:tgtEl>
                                          <p:spTgt spid="6">
                                            <p:txEl>
                                              <p:pRg st="1" end="1"/>
                                            </p:txEl>
                                          </p:spTgt>
                                        </p:tgtEl>
                                      </p:cBhvr>
                                    </p:animEffect>
                                  </p:childTnLst>
                                </p:cTn>
                              </p:par>
                            </p:childTnLst>
                          </p:cTn>
                        </p:par>
                      </p:childTnLst>
                    </p:cTn>
                  </p:par>
                  <p:par>
                    <p:cTn id="22" fill="hold">
                      <p:stCondLst>
                        <p:cond delay="indefinite"/>
                      </p:stCondLst>
                      <p:childTnLst>
                        <p:par>
                          <p:cTn id="23" fill="hold">
                            <p:stCondLst>
                              <p:cond delay="0"/>
                            </p:stCondLst>
                            <p:childTnLst>
                              <p:par>
                                <p:cTn id="24" presetID="22" presetClass="entr" presetSubtype="8" fill="hold" grpId="0" nodeType="clickEffect">
                                  <p:stCondLst>
                                    <p:cond delay="0"/>
                                  </p:stCondLst>
                                  <p:childTnLst>
                                    <p:set>
                                      <p:cBhvr>
                                        <p:cTn id="25" dur="1" fill="hold">
                                          <p:stCondLst>
                                            <p:cond delay="0"/>
                                          </p:stCondLst>
                                        </p:cTn>
                                        <p:tgtEl>
                                          <p:spTgt spid="19">
                                            <p:txEl>
                                              <p:pRg st="0" end="0"/>
                                            </p:txEl>
                                          </p:spTgt>
                                        </p:tgtEl>
                                        <p:attrNameLst>
                                          <p:attrName>style.visibility</p:attrName>
                                        </p:attrNameLst>
                                      </p:cBhvr>
                                      <p:to>
                                        <p:strVal val="visible"/>
                                      </p:to>
                                    </p:set>
                                    <p:animEffect transition="in" filter="wipe(left)">
                                      <p:cBhvr>
                                        <p:cTn id="26" dur="1000"/>
                                        <p:tgtEl>
                                          <p:spTgt spid="19">
                                            <p:txEl>
                                              <p:pRg st="0" end="0"/>
                                            </p:txEl>
                                          </p:spTgt>
                                        </p:tgtEl>
                                      </p:cBhvr>
                                    </p:animEffect>
                                  </p:childTnLst>
                                </p:cTn>
                              </p:par>
                            </p:childTnLst>
                          </p:cTn>
                        </p:par>
                      </p:childTnLst>
                    </p:cTn>
                  </p:par>
                  <p:par>
                    <p:cTn id="27" fill="hold">
                      <p:stCondLst>
                        <p:cond delay="indefinite"/>
                      </p:stCondLst>
                      <p:childTnLst>
                        <p:par>
                          <p:cTn id="28" fill="hold">
                            <p:stCondLst>
                              <p:cond delay="0"/>
                            </p:stCondLst>
                            <p:childTnLst>
                              <p:par>
                                <p:cTn id="29" presetID="22" presetClass="entr" presetSubtype="8" fill="hold" grpId="0" nodeType="clickEffect">
                                  <p:stCondLst>
                                    <p:cond delay="0"/>
                                  </p:stCondLst>
                                  <p:childTnLst>
                                    <p:set>
                                      <p:cBhvr>
                                        <p:cTn id="30" dur="1" fill="hold">
                                          <p:stCondLst>
                                            <p:cond delay="0"/>
                                          </p:stCondLst>
                                        </p:cTn>
                                        <p:tgtEl>
                                          <p:spTgt spid="19">
                                            <p:txEl>
                                              <p:pRg st="1" end="1"/>
                                            </p:txEl>
                                          </p:spTgt>
                                        </p:tgtEl>
                                        <p:attrNameLst>
                                          <p:attrName>style.visibility</p:attrName>
                                        </p:attrNameLst>
                                      </p:cBhvr>
                                      <p:to>
                                        <p:strVal val="visible"/>
                                      </p:to>
                                    </p:set>
                                    <p:animEffect transition="in" filter="wipe(left)">
                                      <p:cBhvr>
                                        <p:cTn id="31" dur="1000"/>
                                        <p:tgtEl>
                                          <p:spTgt spid="19">
                                            <p:txEl>
                                              <p:pRg st="1" end="1"/>
                                            </p:txEl>
                                          </p:spTgt>
                                        </p:tgtEl>
                                      </p:cBhvr>
                                    </p:animEffect>
                                  </p:childTnLst>
                                </p:cTn>
                              </p:par>
                            </p:childTnLst>
                          </p:cTn>
                        </p:par>
                      </p:childTnLst>
                    </p:cTn>
                  </p:par>
                  <p:par>
                    <p:cTn id="32" fill="hold">
                      <p:stCondLst>
                        <p:cond delay="indefinite"/>
                      </p:stCondLst>
                      <p:childTnLst>
                        <p:par>
                          <p:cTn id="33" fill="hold">
                            <p:stCondLst>
                              <p:cond delay="0"/>
                            </p:stCondLst>
                            <p:childTnLst>
                              <p:par>
                                <p:cTn id="34" presetID="22" presetClass="entr" presetSubtype="8" fill="hold" grpId="0" nodeType="clickEffect">
                                  <p:stCondLst>
                                    <p:cond delay="0"/>
                                  </p:stCondLst>
                                  <p:childTnLst>
                                    <p:set>
                                      <p:cBhvr>
                                        <p:cTn id="35" dur="1" fill="hold">
                                          <p:stCondLst>
                                            <p:cond delay="0"/>
                                          </p:stCondLst>
                                        </p:cTn>
                                        <p:tgtEl>
                                          <p:spTgt spid="19">
                                            <p:txEl>
                                              <p:pRg st="2" end="2"/>
                                            </p:txEl>
                                          </p:spTgt>
                                        </p:tgtEl>
                                        <p:attrNameLst>
                                          <p:attrName>style.visibility</p:attrName>
                                        </p:attrNameLst>
                                      </p:cBhvr>
                                      <p:to>
                                        <p:strVal val="visible"/>
                                      </p:to>
                                    </p:set>
                                    <p:animEffect transition="in" filter="wipe(left)">
                                      <p:cBhvr>
                                        <p:cTn id="36" dur="1000"/>
                                        <p:tgtEl>
                                          <p:spTgt spid="19">
                                            <p:txEl>
                                              <p:pRg st="2" end="2"/>
                                            </p:txEl>
                                          </p:spTgt>
                                        </p:tgtEl>
                                      </p:cBhvr>
                                    </p:animEffect>
                                  </p:childTnLst>
                                </p:cTn>
                              </p:par>
                            </p:childTnLst>
                          </p:cTn>
                        </p:par>
                      </p:childTnLst>
                    </p:cTn>
                  </p:par>
                  <p:par>
                    <p:cTn id="37" fill="hold">
                      <p:stCondLst>
                        <p:cond delay="indefinite"/>
                      </p:stCondLst>
                      <p:childTnLst>
                        <p:par>
                          <p:cTn id="38" fill="hold">
                            <p:stCondLst>
                              <p:cond delay="0"/>
                            </p:stCondLst>
                            <p:childTnLst>
                              <p:par>
                                <p:cTn id="39" presetID="22" presetClass="entr" presetSubtype="8" fill="hold" grpId="0" nodeType="clickEffect">
                                  <p:stCondLst>
                                    <p:cond delay="0"/>
                                  </p:stCondLst>
                                  <p:childTnLst>
                                    <p:set>
                                      <p:cBhvr>
                                        <p:cTn id="40" dur="1" fill="hold">
                                          <p:stCondLst>
                                            <p:cond delay="0"/>
                                          </p:stCondLst>
                                        </p:cTn>
                                        <p:tgtEl>
                                          <p:spTgt spid="27"/>
                                        </p:tgtEl>
                                        <p:attrNameLst>
                                          <p:attrName>style.visibility</p:attrName>
                                        </p:attrNameLst>
                                      </p:cBhvr>
                                      <p:to>
                                        <p:strVal val="visible"/>
                                      </p:to>
                                    </p:set>
                                    <p:animEffect transition="in" filter="wipe(left)">
                                      <p:cBhvr>
                                        <p:cTn id="41" dur="1000"/>
                                        <p:tgtEl>
                                          <p:spTgt spid="27"/>
                                        </p:tgtEl>
                                      </p:cBhvr>
                                    </p:animEffect>
                                  </p:childTnLst>
                                </p:cTn>
                              </p:par>
                            </p:childTnLst>
                          </p:cTn>
                        </p:par>
                      </p:childTnLst>
                    </p:cTn>
                  </p:par>
                  <p:par>
                    <p:cTn id="42" fill="hold">
                      <p:stCondLst>
                        <p:cond delay="indefinite"/>
                      </p:stCondLst>
                      <p:childTnLst>
                        <p:par>
                          <p:cTn id="43" fill="hold">
                            <p:stCondLst>
                              <p:cond delay="0"/>
                            </p:stCondLst>
                            <p:childTnLst>
                              <p:par>
                                <p:cTn id="44" presetID="22" presetClass="entr" presetSubtype="8" fill="hold" grpId="0" nodeType="clickEffect">
                                  <p:stCondLst>
                                    <p:cond delay="0"/>
                                  </p:stCondLst>
                                  <p:childTnLst>
                                    <p:set>
                                      <p:cBhvr>
                                        <p:cTn id="45" dur="1" fill="hold">
                                          <p:stCondLst>
                                            <p:cond delay="0"/>
                                          </p:stCondLst>
                                        </p:cTn>
                                        <p:tgtEl>
                                          <p:spTgt spid="10"/>
                                        </p:tgtEl>
                                        <p:attrNameLst>
                                          <p:attrName>style.visibility</p:attrName>
                                        </p:attrNameLst>
                                      </p:cBhvr>
                                      <p:to>
                                        <p:strVal val="visible"/>
                                      </p:to>
                                    </p:set>
                                    <p:animEffect transition="in" filter="wipe(left)">
                                      <p:cBhvr>
                                        <p:cTn id="46" dur="500"/>
                                        <p:tgtEl>
                                          <p:spTgt spid="10"/>
                                        </p:tgtEl>
                                      </p:cBhvr>
                                    </p:animEffect>
                                  </p:childTnLst>
                                </p:cTn>
                              </p:par>
                            </p:childTnLst>
                          </p:cTn>
                        </p:par>
                        <p:par>
                          <p:cTn id="47" fill="hold">
                            <p:stCondLst>
                              <p:cond delay="500"/>
                            </p:stCondLst>
                            <p:childTnLst>
                              <p:par>
                                <p:cTn id="48" presetID="22" presetClass="entr" presetSubtype="8" fill="hold" grpId="0" nodeType="afterEffect">
                                  <p:stCondLst>
                                    <p:cond delay="0"/>
                                  </p:stCondLst>
                                  <p:childTnLst>
                                    <p:set>
                                      <p:cBhvr>
                                        <p:cTn id="49" dur="1" fill="hold">
                                          <p:stCondLst>
                                            <p:cond delay="0"/>
                                          </p:stCondLst>
                                        </p:cTn>
                                        <p:tgtEl>
                                          <p:spTgt spid="26"/>
                                        </p:tgtEl>
                                        <p:attrNameLst>
                                          <p:attrName>style.visibility</p:attrName>
                                        </p:attrNameLst>
                                      </p:cBhvr>
                                      <p:to>
                                        <p:strVal val="visible"/>
                                      </p:to>
                                    </p:set>
                                    <p:animEffect transition="in" filter="wipe(left)">
                                      <p:cBhvr>
                                        <p:cTn id="50" dur="1000"/>
                                        <p:tgtEl>
                                          <p:spTgt spid="26"/>
                                        </p:tgtEl>
                                      </p:cBhvr>
                                    </p:animEffect>
                                  </p:childTnLst>
                                </p:cTn>
                              </p:par>
                            </p:childTnLst>
                          </p:cTn>
                        </p:par>
                        <p:par>
                          <p:cTn id="51" fill="hold">
                            <p:stCondLst>
                              <p:cond delay="1500"/>
                            </p:stCondLst>
                            <p:childTnLst>
                              <p:par>
                                <p:cTn id="52" presetID="22" presetClass="entr" presetSubtype="8" fill="hold" nodeType="afterEffect">
                                  <p:stCondLst>
                                    <p:cond delay="0"/>
                                  </p:stCondLst>
                                  <p:childTnLst>
                                    <p:set>
                                      <p:cBhvr>
                                        <p:cTn id="53" dur="1" fill="hold">
                                          <p:stCondLst>
                                            <p:cond delay="0"/>
                                          </p:stCondLst>
                                        </p:cTn>
                                        <p:tgtEl>
                                          <p:spTgt spid="23"/>
                                        </p:tgtEl>
                                        <p:attrNameLst>
                                          <p:attrName>style.visibility</p:attrName>
                                        </p:attrNameLst>
                                      </p:cBhvr>
                                      <p:to>
                                        <p:strVal val="visible"/>
                                      </p:to>
                                    </p:set>
                                    <p:animEffect transition="in" filter="wipe(left)">
                                      <p:cBhvr>
                                        <p:cTn id="54" dur="2000"/>
                                        <p:tgtEl>
                                          <p:spTgt spid="23"/>
                                        </p:tgtEl>
                                      </p:cBhvr>
                                    </p:animEffect>
                                  </p:childTnLst>
                                </p:cTn>
                              </p:par>
                            </p:childTnLst>
                          </p:cTn>
                        </p:par>
                      </p:childTnLst>
                    </p:cTn>
                  </p:par>
                  <p:par>
                    <p:cTn id="55" fill="hold">
                      <p:stCondLst>
                        <p:cond delay="indefinite"/>
                      </p:stCondLst>
                      <p:childTnLst>
                        <p:par>
                          <p:cTn id="56" fill="hold">
                            <p:stCondLst>
                              <p:cond delay="0"/>
                            </p:stCondLst>
                            <p:childTnLst>
                              <p:par>
                                <p:cTn id="57" presetID="22" presetClass="exit" presetSubtype="8" fill="hold" grpId="1" nodeType="clickEffect">
                                  <p:stCondLst>
                                    <p:cond delay="0"/>
                                  </p:stCondLst>
                                  <p:childTnLst>
                                    <p:animEffect transition="out" filter="wipe(left)">
                                      <p:cBhvr>
                                        <p:cTn id="58" dur="500"/>
                                        <p:tgtEl>
                                          <p:spTgt spid="27"/>
                                        </p:tgtEl>
                                      </p:cBhvr>
                                    </p:animEffect>
                                    <p:set>
                                      <p:cBhvr>
                                        <p:cTn id="59" dur="1" fill="hold">
                                          <p:stCondLst>
                                            <p:cond delay="499"/>
                                          </p:stCondLst>
                                        </p:cTn>
                                        <p:tgtEl>
                                          <p:spTgt spid="27"/>
                                        </p:tgtEl>
                                        <p:attrNameLst>
                                          <p:attrName>style.visibility</p:attrName>
                                        </p:attrNameLst>
                                      </p:cBhvr>
                                      <p:to>
                                        <p:strVal val="hidden"/>
                                      </p:to>
                                    </p:set>
                                  </p:childTnLst>
                                </p:cTn>
                              </p:par>
                            </p:childTnLst>
                          </p:cTn>
                        </p:par>
                        <p:par>
                          <p:cTn id="60" fill="hold">
                            <p:stCondLst>
                              <p:cond delay="500"/>
                            </p:stCondLst>
                            <p:childTnLst>
                              <p:par>
                                <p:cTn id="61" presetID="22" presetClass="entr" presetSubtype="8" fill="hold" grpId="0" nodeType="afterEffect">
                                  <p:stCondLst>
                                    <p:cond delay="0"/>
                                  </p:stCondLst>
                                  <p:childTnLst>
                                    <p:set>
                                      <p:cBhvr>
                                        <p:cTn id="62" dur="1" fill="hold">
                                          <p:stCondLst>
                                            <p:cond delay="0"/>
                                          </p:stCondLst>
                                        </p:cTn>
                                        <p:tgtEl>
                                          <p:spTgt spid="31"/>
                                        </p:tgtEl>
                                        <p:attrNameLst>
                                          <p:attrName>style.visibility</p:attrName>
                                        </p:attrNameLst>
                                      </p:cBhvr>
                                      <p:to>
                                        <p:strVal val="visible"/>
                                      </p:to>
                                    </p:set>
                                    <p:animEffect transition="in" filter="wipe(left)">
                                      <p:cBhvr>
                                        <p:cTn id="63" dur="1000"/>
                                        <p:tgtEl>
                                          <p:spTgt spid="31"/>
                                        </p:tgtEl>
                                      </p:cBhvr>
                                    </p:animEffect>
                                  </p:childTnLst>
                                </p:cTn>
                              </p:par>
                            </p:childTnLst>
                          </p:cTn>
                        </p:par>
                      </p:childTnLst>
                    </p:cTn>
                  </p:par>
                  <p:par>
                    <p:cTn id="64" fill="hold">
                      <p:stCondLst>
                        <p:cond delay="indefinite"/>
                      </p:stCondLst>
                      <p:childTnLst>
                        <p:par>
                          <p:cTn id="65" fill="hold">
                            <p:stCondLst>
                              <p:cond delay="0"/>
                            </p:stCondLst>
                            <p:childTnLst>
                              <p:par>
                                <p:cTn id="66" presetID="22" presetClass="entr" presetSubtype="8" fill="hold" grpId="0" nodeType="clickEffect">
                                  <p:stCondLst>
                                    <p:cond delay="0"/>
                                  </p:stCondLst>
                                  <p:childTnLst>
                                    <p:set>
                                      <p:cBhvr>
                                        <p:cTn id="67" dur="1" fill="hold">
                                          <p:stCondLst>
                                            <p:cond delay="0"/>
                                          </p:stCondLst>
                                        </p:cTn>
                                        <p:tgtEl>
                                          <p:spTgt spid="25"/>
                                        </p:tgtEl>
                                        <p:attrNameLst>
                                          <p:attrName>style.visibility</p:attrName>
                                        </p:attrNameLst>
                                      </p:cBhvr>
                                      <p:to>
                                        <p:strVal val="visible"/>
                                      </p:to>
                                    </p:set>
                                    <p:animEffect transition="in" filter="wipe(left)">
                                      <p:cBhvr>
                                        <p:cTn id="68" dur="500"/>
                                        <p:tgtEl>
                                          <p:spTgt spid="25"/>
                                        </p:tgtEl>
                                      </p:cBhvr>
                                    </p:animEffect>
                                  </p:childTnLst>
                                </p:cTn>
                              </p:par>
                            </p:childTnLst>
                          </p:cTn>
                        </p:par>
                        <p:par>
                          <p:cTn id="69" fill="hold">
                            <p:stCondLst>
                              <p:cond delay="500"/>
                            </p:stCondLst>
                            <p:childTnLst>
                              <p:par>
                                <p:cTn id="70" presetID="22" presetClass="entr" presetSubtype="1" fill="hold" nodeType="afterEffect">
                                  <p:stCondLst>
                                    <p:cond delay="0"/>
                                  </p:stCondLst>
                                  <p:childTnLst>
                                    <p:set>
                                      <p:cBhvr>
                                        <p:cTn id="71" dur="1" fill="hold">
                                          <p:stCondLst>
                                            <p:cond delay="0"/>
                                          </p:stCondLst>
                                        </p:cTn>
                                        <p:tgtEl>
                                          <p:spTgt spid="5"/>
                                        </p:tgtEl>
                                        <p:attrNameLst>
                                          <p:attrName>style.visibility</p:attrName>
                                        </p:attrNameLst>
                                      </p:cBhvr>
                                      <p:to>
                                        <p:strVal val="visible"/>
                                      </p:to>
                                    </p:set>
                                    <p:animEffect transition="in" filter="wipe(up)">
                                      <p:cBhvr>
                                        <p:cTn id="72" dur="500"/>
                                        <p:tgtEl>
                                          <p:spTgt spid="5"/>
                                        </p:tgtEl>
                                      </p:cBhvr>
                                    </p:animEffect>
                                  </p:childTnLst>
                                </p:cTn>
                              </p:par>
                            </p:childTnLst>
                          </p:cTn>
                        </p:par>
                        <p:par>
                          <p:cTn id="73" fill="hold">
                            <p:stCondLst>
                              <p:cond delay="1000"/>
                            </p:stCondLst>
                            <p:childTnLst>
                              <p:par>
                                <p:cTn id="74" presetID="22" presetClass="entr" presetSubtype="1" fill="hold" grpId="0" nodeType="afterEffect">
                                  <p:stCondLst>
                                    <p:cond delay="0"/>
                                  </p:stCondLst>
                                  <p:childTnLst>
                                    <p:set>
                                      <p:cBhvr>
                                        <p:cTn id="75" dur="1" fill="hold">
                                          <p:stCondLst>
                                            <p:cond delay="0"/>
                                          </p:stCondLst>
                                        </p:cTn>
                                        <p:tgtEl>
                                          <p:spTgt spid="29"/>
                                        </p:tgtEl>
                                        <p:attrNameLst>
                                          <p:attrName>style.visibility</p:attrName>
                                        </p:attrNameLst>
                                      </p:cBhvr>
                                      <p:to>
                                        <p:strVal val="visible"/>
                                      </p:to>
                                    </p:set>
                                    <p:animEffect transition="in" filter="wipe(up)">
                                      <p:cBhvr>
                                        <p:cTn id="76" dur="1500"/>
                                        <p:tgtEl>
                                          <p:spTgt spid="29"/>
                                        </p:tgtEl>
                                      </p:cBhvr>
                                    </p:animEffect>
                                  </p:childTnLst>
                                </p:cTn>
                              </p:par>
                            </p:childTnLst>
                          </p:cTn>
                        </p:par>
                        <p:par>
                          <p:cTn id="77" fill="hold">
                            <p:stCondLst>
                              <p:cond delay="2500"/>
                            </p:stCondLst>
                            <p:childTnLst>
                              <p:par>
                                <p:cTn id="78" presetID="22" presetClass="entr" presetSubtype="1" fill="hold" nodeType="afterEffect">
                                  <p:stCondLst>
                                    <p:cond delay="0"/>
                                  </p:stCondLst>
                                  <p:childTnLst>
                                    <p:set>
                                      <p:cBhvr>
                                        <p:cTn id="79" dur="1" fill="hold">
                                          <p:stCondLst>
                                            <p:cond delay="0"/>
                                          </p:stCondLst>
                                        </p:cTn>
                                        <p:tgtEl>
                                          <p:spTgt spid="9"/>
                                        </p:tgtEl>
                                        <p:attrNameLst>
                                          <p:attrName>style.visibility</p:attrName>
                                        </p:attrNameLst>
                                      </p:cBhvr>
                                      <p:to>
                                        <p:strVal val="visible"/>
                                      </p:to>
                                    </p:set>
                                    <p:animEffect transition="in" filter="wipe(up)">
                                      <p:cBhvr>
                                        <p:cTn id="80" dur="500"/>
                                        <p:tgtEl>
                                          <p:spTgt spid="9"/>
                                        </p:tgtEl>
                                      </p:cBhvr>
                                    </p:animEffect>
                                  </p:childTnLst>
                                </p:cTn>
                              </p:par>
                            </p:childTnLst>
                          </p:cTn>
                        </p:par>
                        <p:par>
                          <p:cTn id="81" fill="hold">
                            <p:stCondLst>
                              <p:cond delay="3000"/>
                            </p:stCondLst>
                            <p:childTnLst>
                              <p:par>
                                <p:cTn id="82" presetID="22" presetClass="entr" presetSubtype="1" fill="hold" grpId="0" nodeType="afterEffect">
                                  <p:stCondLst>
                                    <p:cond delay="0"/>
                                  </p:stCondLst>
                                  <p:childTnLst>
                                    <p:set>
                                      <p:cBhvr>
                                        <p:cTn id="83" dur="1" fill="hold">
                                          <p:stCondLst>
                                            <p:cond delay="0"/>
                                          </p:stCondLst>
                                        </p:cTn>
                                        <p:tgtEl>
                                          <p:spTgt spid="30"/>
                                        </p:tgtEl>
                                        <p:attrNameLst>
                                          <p:attrName>style.visibility</p:attrName>
                                        </p:attrNameLst>
                                      </p:cBhvr>
                                      <p:to>
                                        <p:strVal val="visible"/>
                                      </p:to>
                                    </p:set>
                                    <p:animEffect transition="in" filter="wipe(up)">
                                      <p:cBhvr>
                                        <p:cTn id="84" dur="1500"/>
                                        <p:tgtEl>
                                          <p:spTgt spid="30"/>
                                        </p:tgtEl>
                                      </p:cBhvr>
                                    </p:animEffect>
                                  </p:childTnLst>
                                </p:cTn>
                              </p:par>
                            </p:childTnLst>
                          </p:cTn>
                        </p:par>
                      </p:childTnLst>
                    </p:cTn>
                  </p:par>
                  <p:par>
                    <p:cTn id="85" fill="hold">
                      <p:stCondLst>
                        <p:cond delay="indefinite"/>
                      </p:stCondLst>
                      <p:childTnLst>
                        <p:par>
                          <p:cTn id="86" fill="hold">
                            <p:stCondLst>
                              <p:cond delay="0"/>
                            </p:stCondLst>
                            <p:childTnLst>
                              <p:par>
                                <p:cTn id="87" presetID="22" presetClass="exit" presetSubtype="8" fill="hold" grpId="1" nodeType="clickEffect">
                                  <p:stCondLst>
                                    <p:cond delay="0"/>
                                  </p:stCondLst>
                                  <p:childTnLst>
                                    <p:animEffect transition="out" filter="wipe(left)">
                                      <p:cBhvr>
                                        <p:cTn id="88" dur="500"/>
                                        <p:tgtEl>
                                          <p:spTgt spid="31"/>
                                        </p:tgtEl>
                                      </p:cBhvr>
                                    </p:animEffect>
                                    <p:set>
                                      <p:cBhvr>
                                        <p:cTn id="89" dur="1" fill="hold">
                                          <p:stCondLst>
                                            <p:cond delay="499"/>
                                          </p:stCondLst>
                                        </p:cTn>
                                        <p:tgtEl>
                                          <p:spTgt spid="31"/>
                                        </p:tgtEl>
                                        <p:attrNameLst>
                                          <p:attrName>style.visibility</p:attrName>
                                        </p:attrNameLst>
                                      </p:cBhvr>
                                      <p:to>
                                        <p:strVal val="hidden"/>
                                      </p:to>
                                    </p:set>
                                  </p:childTnLst>
                                </p:cTn>
                              </p:par>
                            </p:childTnLst>
                          </p:cTn>
                        </p:par>
                        <p:par>
                          <p:cTn id="90" fill="hold">
                            <p:stCondLst>
                              <p:cond delay="500"/>
                            </p:stCondLst>
                            <p:childTnLst>
                              <p:par>
                                <p:cTn id="91" presetID="22" presetClass="entr" presetSubtype="8" fill="hold" grpId="0" nodeType="afterEffect">
                                  <p:stCondLst>
                                    <p:cond delay="0"/>
                                  </p:stCondLst>
                                  <p:childTnLst>
                                    <p:set>
                                      <p:cBhvr>
                                        <p:cTn id="92" dur="1" fill="hold">
                                          <p:stCondLst>
                                            <p:cond delay="0"/>
                                          </p:stCondLst>
                                        </p:cTn>
                                        <p:tgtEl>
                                          <p:spTgt spid="32"/>
                                        </p:tgtEl>
                                        <p:attrNameLst>
                                          <p:attrName>style.visibility</p:attrName>
                                        </p:attrNameLst>
                                      </p:cBhvr>
                                      <p:to>
                                        <p:strVal val="visible"/>
                                      </p:to>
                                    </p:set>
                                    <p:animEffect transition="in" filter="wipe(left)">
                                      <p:cBhvr>
                                        <p:cTn id="93" dur="500"/>
                                        <p:tgtEl>
                                          <p:spTgt spid="32"/>
                                        </p:tgtEl>
                                      </p:cBhvr>
                                    </p:animEffect>
                                  </p:childTnLst>
                                </p:cTn>
                              </p:par>
                            </p:childTnLst>
                          </p:cTn>
                        </p:par>
                        <p:par>
                          <p:cTn id="94" fill="hold">
                            <p:stCondLst>
                              <p:cond delay="1000"/>
                            </p:stCondLst>
                            <p:childTnLst>
                              <p:par>
                                <p:cTn id="95" presetID="22" presetClass="entr" presetSubtype="8" fill="hold" grpId="0" nodeType="afterEffect">
                                  <p:stCondLst>
                                    <p:cond delay="0"/>
                                  </p:stCondLst>
                                  <p:childTnLst>
                                    <p:set>
                                      <p:cBhvr>
                                        <p:cTn id="96" dur="1" fill="hold">
                                          <p:stCondLst>
                                            <p:cond delay="0"/>
                                          </p:stCondLst>
                                        </p:cTn>
                                        <p:tgtEl>
                                          <p:spTgt spid="28"/>
                                        </p:tgtEl>
                                        <p:attrNameLst>
                                          <p:attrName>style.visibility</p:attrName>
                                        </p:attrNameLst>
                                      </p:cBhvr>
                                      <p:to>
                                        <p:strVal val="visible"/>
                                      </p:to>
                                    </p:set>
                                    <p:animEffect transition="in" filter="wipe(left)">
                                      <p:cBhvr>
                                        <p:cTn id="97" dur="1000"/>
                                        <p:tgtEl>
                                          <p:spTgt spid="28"/>
                                        </p:tgtEl>
                                      </p:cBhvr>
                                    </p:animEffect>
                                  </p:childTnLst>
                                </p:cTn>
                              </p:par>
                            </p:childTnLst>
                          </p:cTn>
                        </p:par>
                        <p:par>
                          <p:cTn id="98" fill="hold">
                            <p:stCondLst>
                              <p:cond delay="2000"/>
                            </p:stCondLst>
                            <p:childTnLst>
                              <p:par>
                                <p:cTn id="99" presetID="22" presetClass="entr" presetSubtype="8" fill="hold" nodeType="afterEffect">
                                  <p:stCondLst>
                                    <p:cond delay="0"/>
                                  </p:stCondLst>
                                  <p:childTnLst>
                                    <p:set>
                                      <p:cBhvr>
                                        <p:cTn id="100" dur="1" fill="hold">
                                          <p:stCondLst>
                                            <p:cond delay="0"/>
                                          </p:stCondLst>
                                        </p:cTn>
                                        <p:tgtEl>
                                          <p:spTgt spid="39"/>
                                        </p:tgtEl>
                                        <p:attrNameLst>
                                          <p:attrName>style.visibility</p:attrName>
                                        </p:attrNameLst>
                                      </p:cBhvr>
                                      <p:to>
                                        <p:strVal val="visible"/>
                                      </p:to>
                                    </p:set>
                                    <p:animEffect transition="in" filter="wipe(left)">
                                      <p:cBhvr>
                                        <p:cTn id="101" dur="2000"/>
                                        <p:tgtEl>
                                          <p:spTgt spid="3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uiExpand="1" build="p"/>
      <p:bldP spid="17" grpId="0"/>
      <p:bldP spid="19" grpId="0" uiExpand="1" build="p"/>
      <p:bldP spid="27" grpId="0" animBg="1"/>
      <p:bldP spid="27" grpId="1" animBg="1"/>
      <p:bldP spid="10" grpId="0"/>
      <p:bldP spid="25" grpId="0"/>
      <p:bldP spid="26" grpId="0" animBg="1"/>
      <p:bldP spid="28" grpId="0" animBg="1"/>
      <p:bldP spid="29" grpId="0" animBg="1"/>
      <p:bldP spid="30" grpId="0" animBg="1"/>
      <p:bldP spid="31" grpId="0" animBg="1"/>
      <p:bldP spid="31" grpId="1" animBg="1"/>
      <p:bldP spid="32" grpId="0"/>
    </p:bldLst>
  </p:timing>
</p:sld>
</file>

<file path=ppt/slides/slide255.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graphicFrame>
        <p:nvGraphicFramePr>
          <p:cNvPr id="2" name="Table 1">
            <a:extLst>
              <a:ext uri="{FF2B5EF4-FFF2-40B4-BE49-F238E27FC236}">
                <a16:creationId xmlns:a16="http://schemas.microsoft.com/office/drawing/2014/main" id="{9DC68C19-351A-3231-597F-BFCBD4B88260}"/>
              </a:ext>
            </a:extLst>
          </p:cNvPr>
          <p:cNvGraphicFramePr>
            <a:graphicFrameLocks noGrp="1"/>
          </p:cNvGraphicFramePr>
          <p:nvPr/>
        </p:nvGraphicFramePr>
        <p:xfrm>
          <a:off x="619125" y="2781028"/>
          <a:ext cx="2854834" cy="1619250"/>
        </p:xfrm>
        <a:graphic>
          <a:graphicData uri="http://schemas.openxmlformats.org/drawingml/2006/table">
            <a:tbl>
              <a:tblPr firstRow="1" bandRow="1">
                <a:tableStyleId>{5C22544A-7EE6-4342-B048-85BDC9FD1C3A}</a:tableStyleId>
              </a:tblPr>
              <a:tblGrid>
                <a:gridCol w="350838">
                  <a:extLst>
                    <a:ext uri="{9D8B030D-6E8A-4147-A177-3AD203B41FA5}">
                      <a16:colId xmlns:a16="http://schemas.microsoft.com/office/drawing/2014/main" val="2523559592"/>
                    </a:ext>
                  </a:extLst>
                </a:gridCol>
                <a:gridCol w="758825">
                  <a:extLst>
                    <a:ext uri="{9D8B030D-6E8A-4147-A177-3AD203B41FA5}">
                      <a16:colId xmlns:a16="http://schemas.microsoft.com/office/drawing/2014/main" val="1403983340"/>
                    </a:ext>
                  </a:extLst>
                </a:gridCol>
                <a:gridCol w="1220216">
                  <a:extLst>
                    <a:ext uri="{9D8B030D-6E8A-4147-A177-3AD203B41FA5}">
                      <a16:colId xmlns:a16="http://schemas.microsoft.com/office/drawing/2014/main" val="1499656012"/>
                    </a:ext>
                  </a:extLst>
                </a:gridCol>
                <a:gridCol w="524955">
                  <a:extLst>
                    <a:ext uri="{9D8B030D-6E8A-4147-A177-3AD203B41FA5}">
                      <a16:colId xmlns:a16="http://schemas.microsoft.com/office/drawing/2014/main" val="597331328"/>
                    </a:ext>
                  </a:extLst>
                </a:gridCol>
              </a:tblGrid>
              <a:tr h="0">
                <a:tc>
                  <a:txBody>
                    <a:bodyPr/>
                    <a:lstStyle/>
                    <a:p>
                      <a:pPr algn="l"/>
                      <a:r>
                        <a:rPr lang="en-GB" sz="2000" b="0" dirty="0">
                          <a:solidFill>
                            <a:srgbClr val="F0F0F0"/>
                          </a:solidFill>
                          <a:effectLst/>
                        </a:rPr>
                        <a:t>id</a:t>
                      </a:r>
                      <a:endParaRPr lang="en-GB" sz="2000" b="0" i="0" dirty="0">
                        <a:solidFill>
                          <a:srgbClr val="F0F0F0"/>
                        </a:solidFill>
                        <a:effectLst/>
                        <a:latin typeface="Consolas" panose="020B0609020204030204" pitchFamily="49" charset="0"/>
                      </a:endParaRPr>
                    </a:p>
                  </a:txBody>
                  <a:tcPr marL="9525" marR="9525" marT="9525" marB="9525" anchor="ctr"/>
                </a:tc>
                <a:tc>
                  <a:txBody>
                    <a:bodyPr/>
                    <a:lstStyle/>
                    <a:p>
                      <a:pPr algn="l"/>
                      <a:r>
                        <a:rPr lang="en-GB" sz="2000" b="0" dirty="0">
                          <a:solidFill>
                            <a:srgbClr val="F0F0F0"/>
                          </a:solidFill>
                          <a:effectLst/>
                        </a:rPr>
                        <a:t>name</a:t>
                      </a:r>
                      <a:endParaRPr lang="en-GB" sz="2000" b="0" i="0" dirty="0">
                        <a:solidFill>
                          <a:srgbClr val="F0F0F0"/>
                        </a:solidFill>
                        <a:effectLst/>
                        <a:latin typeface="Consolas" panose="020B0609020204030204" pitchFamily="49" charset="0"/>
                      </a:endParaRPr>
                    </a:p>
                  </a:txBody>
                  <a:tcPr marL="9525" marR="9525" marT="9525" marB="9525" anchor="ctr"/>
                </a:tc>
                <a:tc>
                  <a:txBody>
                    <a:bodyPr/>
                    <a:lstStyle/>
                    <a:p>
                      <a:pPr algn="l"/>
                      <a:r>
                        <a:rPr lang="en-GB" sz="2000" b="0" dirty="0">
                          <a:solidFill>
                            <a:srgbClr val="F0F0F0"/>
                          </a:solidFill>
                          <a:effectLst/>
                        </a:rPr>
                        <a:t>role</a:t>
                      </a:r>
                      <a:endParaRPr lang="en-GB" sz="2000" b="0" i="0" dirty="0">
                        <a:solidFill>
                          <a:srgbClr val="F0F0F0"/>
                        </a:solidFill>
                        <a:effectLst/>
                        <a:latin typeface="Consolas" panose="020B0609020204030204" pitchFamily="49" charset="0"/>
                      </a:endParaRPr>
                    </a:p>
                  </a:txBody>
                  <a:tcPr marL="9525" marR="9525" marT="9525" marB="9525" anchor="ctr"/>
                </a:tc>
                <a:tc>
                  <a:txBody>
                    <a:bodyPr/>
                    <a:lstStyle/>
                    <a:p>
                      <a:pPr algn="l"/>
                      <a:r>
                        <a:rPr lang="en-GB" sz="2000" b="0" dirty="0">
                          <a:solidFill>
                            <a:srgbClr val="F0F0F0"/>
                          </a:solidFill>
                          <a:effectLst/>
                        </a:rPr>
                        <a:t>age</a:t>
                      </a:r>
                      <a:endParaRPr lang="en-GB" sz="2000" b="0" i="0" dirty="0">
                        <a:solidFill>
                          <a:srgbClr val="F0F0F0"/>
                        </a:solidFill>
                        <a:effectLst/>
                        <a:latin typeface="Consolas" panose="020B0609020204030204" pitchFamily="49" charset="0"/>
                      </a:endParaRPr>
                    </a:p>
                  </a:txBody>
                  <a:tcPr marL="9525" marR="9525" marT="9525" marB="9525" anchor="ctr"/>
                </a:tc>
                <a:extLst>
                  <a:ext uri="{0D108BD9-81ED-4DB2-BD59-A6C34878D82A}">
                    <a16:rowId xmlns:a16="http://schemas.microsoft.com/office/drawing/2014/main" val="1792462098"/>
                  </a:ext>
                </a:extLst>
              </a:tr>
              <a:tr h="0">
                <a:tc>
                  <a:txBody>
                    <a:bodyPr/>
                    <a:lstStyle/>
                    <a:p>
                      <a:pPr algn="l"/>
                      <a:r>
                        <a:rPr lang="en-GB" sz="2000" b="0" dirty="0">
                          <a:solidFill>
                            <a:schemeClr val="tx1"/>
                          </a:solidFill>
                          <a:effectLst/>
                        </a:rPr>
                        <a:t>1</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Annie</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Developer</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34</a:t>
                      </a:r>
                      <a:endParaRPr lang="en-GB" sz="2000" b="0" i="0">
                        <a:solidFill>
                          <a:schemeClr val="tx1"/>
                        </a:solidFill>
                        <a:effectLst/>
                        <a:latin typeface="Consolas" panose="020B0609020204030204" pitchFamily="49" charset="0"/>
                      </a:endParaRPr>
                    </a:p>
                  </a:txBody>
                  <a:tcPr marL="9525" marR="9525" marT="9525" marB="9525" anchor="ctr"/>
                </a:tc>
                <a:extLst>
                  <a:ext uri="{0D108BD9-81ED-4DB2-BD59-A6C34878D82A}">
                    <a16:rowId xmlns:a16="http://schemas.microsoft.com/office/drawing/2014/main" val="1769612039"/>
                  </a:ext>
                </a:extLst>
              </a:tr>
              <a:tr h="0">
                <a:tc>
                  <a:txBody>
                    <a:bodyPr/>
                    <a:lstStyle/>
                    <a:p>
                      <a:pPr algn="l"/>
                      <a:r>
                        <a:rPr lang="en-GB" sz="2000" b="0" dirty="0">
                          <a:solidFill>
                            <a:schemeClr val="tx1"/>
                          </a:solidFill>
                          <a:effectLst/>
                        </a:rPr>
                        <a:t>2</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Chris</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Tester</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26</a:t>
                      </a:r>
                      <a:endParaRPr lang="en-GB" sz="2000" b="0" i="0">
                        <a:solidFill>
                          <a:schemeClr val="tx1"/>
                        </a:solidFill>
                        <a:effectLst/>
                        <a:latin typeface="Consolas" panose="020B0609020204030204" pitchFamily="49" charset="0"/>
                      </a:endParaRPr>
                    </a:p>
                  </a:txBody>
                  <a:tcPr marL="9525" marR="9525" marT="9525" marB="9525" anchor="ctr"/>
                </a:tc>
                <a:extLst>
                  <a:ext uri="{0D108BD9-81ED-4DB2-BD59-A6C34878D82A}">
                    <a16:rowId xmlns:a16="http://schemas.microsoft.com/office/drawing/2014/main" val="3232718168"/>
                  </a:ext>
                </a:extLst>
              </a:tr>
              <a:tr h="0">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Dan</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Designer</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35</a:t>
                      </a:r>
                      <a:endParaRPr lang="en-GB" sz="2000" b="0" i="0" dirty="0">
                        <a:solidFill>
                          <a:schemeClr val="tx1"/>
                        </a:solidFill>
                        <a:effectLst/>
                        <a:latin typeface="Consolas" panose="020B0609020204030204" pitchFamily="49" charset="0"/>
                      </a:endParaRPr>
                    </a:p>
                  </a:txBody>
                  <a:tcPr marL="9525" marR="9525" marT="9525" marB="9525" anchor="ctr"/>
                </a:tc>
                <a:extLst>
                  <a:ext uri="{0D108BD9-81ED-4DB2-BD59-A6C34878D82A}">
                    <a16:rowId xmlns:a16="http://schemas.microsoft.com/office/drawing/2014/main" val="63993366"/>
                  </a:ext>
                </a:extLst>
              </a:tr>
              <a:tr h="0">
                <a:tc>
                  <a:txBody>
                    <a:bodyPr/>
                    <a:lstStyle/>
                    <a:p>
                      <a:pPr algn="l"/>
                      <a:r>
                        <a:rPr lang="en-GB" sz="2000" b="0">
                          <a:solidFill>
                            <a:schemeClr val="tx1"/>
                          </a:solidFill>
                          <a:effectLst/>
                        </a:rPr>
                        <a:t>4</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Erin</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Developer</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24</a:t>
                      </a:r>
                      <a:endParaRPr lang="en-GB" sz="2000" b="0" i="0" dirty="0">
                        <a:solidFill>
                          <a:schemeClr val="tx1"/>
                        </a:solidFill>
                        <a:effectLst/>
                        <a:latin typeface="Consolas" panose="020B0609020204030204" pitchFamily="49" charset="0"/>
                      </a:endParaRPr>
                    </a:p>
                  </a:txBody>
                  <a:tcPr marL="9525" marR="9525" marT="9525" marB="9525" anchor="ctr"/>
                </a:tc>
                <a:extLst>
                  <a:ext uri="{0D108BD9-81ED-4DB2-BD59-A6C34878D82A}">
                    <a16:rowId xmlns:a16="http://schemas.microsoft.com/office/drawing/2014/main" val="4027345491"/>
                  </a:ext>
                </a:extLst>
              </a:tr>
            </a:tbl>
          </a:graphicData>
        </a:graphic>
      </p:graphicFrame>
      <p:graphicFrame>
        <p:nvGraphicFramePr>
          <p:cNvPr id="3" name="Table 2">
            <a:extLst>
              <a:ext uri="{FF2B5EF4-FFF2-40B4-BE49-F238E27FC236}">
                <a16:creationId xmlns:a16="http://schemas.microsoft.com/office/drawing/2014/main" id="{06073312-7797-7B0B-4431-5CE3C3EE5C84}"/>
              </a:ext>
            </a:extLst>
          </p:cNvPr>
          <p:cNvGraphicFramePr>
            <a:graphicFrameLocks noGrp="1"/>
          </p:cNvGraphicFramePr>
          <p:nvPr/>
        </p:nvGraphicFramePr>
        <p:xfrm>
          <a:off x="619124" y="5000353"/>
          <a:ext cx="3587370" cy="1295400"/>
        </p:xfrm>
        <a:graphic>
          <a:graphicData uri="http://schemas.openxmlformats.org/drawingml/2006/table">
            <a:tbl>
              <a:tblPr firstRow="1" bandRow="1">
                <a:tableStyleId>{5C22544A-7EE6-4342-B048-85BDC9FD1C3A}</a:tableStyleId>
              </a:tblPr>
              <a:tblGrid>
                <a:gridCol w="350838">
                  <a:extLst>
                    <a:ext uri="{9D8B030D-6E8A-4147-A177-3AD203B41FA5}">
                      <a16:colId xmlns:a16="http://schemas.microsoft.com/office/drawing/2014/main" val="3256478413"/>
                    </a:ext>
                  </a:extLst>
                </a:gridCol>
                <a:gridCol w="821881">
                  <a:extLst>
                    <a:ext uri="{9D8B030D-6E8A-4147-A177-3AD203B41FA5}">
                      <a16:colId xmlns:a16="http://schemas.microsoft.com/office/drawing/2014/main" val="1068228606"/>
                    </a:ext>
                  </a:extLst>
                </a:gridCol>
                <a:gridCol w="1343025">
                  <a:extLst>
                    <a:ext uri="{9D8B030D-6E8A-4147-A177-3AD203B41FA5}">
                      <a16:colId xmlns:a16="http://schemas.microsoft.com/office/drawing/2014/main" val="4251197381"/>
                    </a:ext>
                  </a:extLst>
                </a:gridCol>
                <a:gridCol w="1071626">
                  <a:extLst>
                    <a:ext uri="{9D8B030D-6E8A-4147-A177-3AD203B41FA5}">
                      <a16:colId xmlns:a16="http://schemas.microsoft.com/office/drawing/2014/main" val="4203844202"/>
                    </a:ext>
                  </a:extLst>
                </a:gridCol>
              </a:tblGrid>
              <a:tr h="0">
                <a:tc>
                  <a:txBody>
                    <a:bodyPr/>
                    <a:lstStyle/>
                    <a:p>
                      <a:pPr algn="l"/>
                      <a:r>
                        <a:rPr lang="en-GB" sz="2000" b="0" dirty="0">
                          <a:solidFill>
                            <a:srgbClr val="F0F0F0"/>
                          </a:solidFill>
                          <a:effectLst/>
                        </a:rPr>
                        <a:t>id</a:t>
                      </a:r>
                      <a:endParaRPr lang="en-GB" sz="2000" b="0" i="0" dirty="0">
                        <a:solidFill>
                          <a:srgbClr val="F0F0F0"/>
                        </a:solidFill>
                        <a:effectLst/>
                        <a:latin typeface="Consolas" panose="020B0609020204030204" pitchFamily="49" charset="0"/>
                      </a:endParaRPr>
                    </a:p>
                  </a:txBody>
                  <a:tcPr marL="9525" marR="9525" marT="9525" marB="9525" anchor="ctr"/>
                </a:tc>
                <a:tc>
                  <a:txBody>
                    <a:bodyPr/>
                    <a:lstStyle/>
                    <a:p>
                      <a:pPr algn="l"/>
                      <a:r>
                        <a:rPr lang="en-GB" sz="2000" b="0" dirty="0">
                          <a:solidFill>
                            <a:srgbClr val="F0F0F0"/>
                          </a:solidFill>
                          <a:effectLst/>
                        </a:rPr>
                        <a:t>laptop</a:t>
                      </a:r>
                      <a:endParaRPr lang="en-GB" sz="2000" b="0" i="0" dirty="0">
                        <a:solidFill>
                          <a:srgbClr val="F0F0F0"/>
                        </a:solidFill>
                        <a:effectLst/>
                        <a:latin typeface="Consolas" panose="020B0609020204030204" pitchFamily="49" charset="0"/>
                      </a:endParaRPr>
                    </a:p>
                  </a:txBody>
                  <a:tcPr marL="9525" marR="9525" marT="9525" marB="9525" anchor="ctr"/>
                </a:tc>
                <a:tc>
                  <a:txBody>
                    <a:bodyPr/>
                    <a:lstStyle/>
                    <a:p>
                      <a:pPr algn="l"/>
                      <a:r>
                        <a:rPr lang="en-GB" sz="2000" b="0" dirty="0">
                          <a:solidFill>
                            <a:srgbClr val="F0F0F0"/>
                          </a:solidFill>
                          <a:effectLst/>
                        </a:rPr>
                        <a:t>date</a:t>
                      </a:r>
                      <a:endParaRPr lang="en-GB" sz="2000" b="0" i="0" dirty="0">
                        <a:solidFill>
                          <a:srgbClr val="F0F0F0"/>
                        </a:solidFill>
                        <a:effectLst/>
                        <a:latin typeface="Consolas" panose="020B0609020204030204" pitchFamily="49" charset="0"/>
                      </a:endParaRPr>
                    </a:p>
                  </a:txBody>
                  <a:tcPr marL="9525" marR="9525" marT="9525" marB="9525" anchor="ctr"/>
                </a:tc>
                <a:tc>
                  <a:txBody>
                    <a:bodyPr/>
                    <a:lstStyle/>
                    <a:p>
                      <a:pPr algn="l"/>
                      <a:r>
                        <a:rPr lang="en-GB" sz="2000" b="0" dirty="0">
                          <a:solidFill>
                            <a:srgbClr val="F0F0F0"/>
                          </a:solidFill>
                          <a:effectLst/>
                        </a:rPr>
                        <a:t>returned</a:t>
                      </a:r>
                      <a:endParaRPr lang="en-GB" sz="2000" b="0" i="0" dirty="0">
                        <a:solidFill>
                          <a:srgbClr val="F0F0F0"/>
                        </a:solidFill>
                        <a:effectLst/>
                        <a:latin typeface="Consolas" panose="020B0609020204030204" pitchFamily="49" charset="0"/>
                      </a:endParaRPr>
                    </a:p>
                  </a:txBody>
                  <a:tcPr marL="9525" marR="9525" marT="9525" marB="9525" anchor="ctr"/>
                </a:tc>
                <a:extLst>
                  <a:ext uri="{0D108BD9-81ED-4DB2-BD59-A6C34878D82A}">
                    <a16:rowId xmlns:a16="http://schemas.microsoft.com/office/drawing/2014/main" val="403325007"/>
                  </a:ext>
                </a:extLst>
              </a:tr>
              <a:tr h="0">
                <a:tc>
                  <a:txBody>
                    <a:bodyPr/>
                    <a:lstStyle/>
                    <a:p>
                      <a:pPr algn="l"/>
                      <a:r>
                        <a:rPr lang="en-GB" sz="2000" b="0" dirty="0">
                          <a:solidFill>
                            <a:schemeClr val="tx1"/>
                          </a:solidFill>
                          <a:effectLst/>
                        </a:rPr>
                        <a:t>3</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2023-10-01</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i="0" dirty="0">
                          <a:solidFill>
                            <a:schemeClr val="tx1"/>
                          </a:solidFill>
                          <a:effectLst/>
                          <a:latin typeface="Consolas" panose="020B0609020204030204" pitchFamily="49" charset="0"/>
                        </a:rPr>
                        <a:t>TRUE</a:t>
                      </a:r>
                    </a:p>
                  </a:txBody>
                  <a:tcPr marL="9525" marR="9525" marT="9525" marB="9525" anchor="ctr"/>
                </a:tc>
                <a:extLst>
                  <a:ext uri="{0D108BD9-81ED-4DB2-BD59-A6C34878D82A}">
                    <a16:rowId xmlns:a16="http://schemas.microsoft.com/office/drawing/2014/main" val="3475014627"/>
                  </a:ext>
                </a:extLst>
              </a:tr>
              <a:tr h="0">
                <a:tc>
                  <a:txBody>
                    <a:bodyPr/>
                    <a:lstStyle/>
                    <a:p>
                      <a:pPr algn="l"/>
                      <a:r>
                        <a:rPr lang="en-GB" sz="2000" b="0">
                          <a:solidFill>
                            <a:schemeClr val="tx1"/>
                          </a:solidFill>
                          <a:effectLst/>
                        </a:rPr>
                        <a:t>4</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2023-11-30</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840425680"/>
                  </a:ext>
                </a:extLst>
              </a:tr>
              <a:tr h="0">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2023-12-21</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3483234437"/>
                  </a:ext>
                </a:extLst>
              </a:tr>
            </a:tbl>
          </a:graphicData>
        </a:graphic>
      </p:graphicFrame>
      <p:sp>
        <p:nvSpPr>
          <p:cNvPr id="4" name="Title 3">
            <a:extLst>
              <a:ext uri="{FF2B5EF4-FFF2-40B4-BE49-F238E27FC236}">
                <a16:creationId xmlns:a16="http://schemas.microsoft.com/office/drawing/2014/main" id="{08C76DEA-F650-51AB-7EE7-9B3064808EC0}"/>
              </a:ext>
            </a:extLst>
          </p:cNvPr>
          <p:cNvSpPr>
            <a:spLocks noGrp="1"/>
          </p:cNvSpPr>
          <p:nvPr>
            <p:ph type="title"/>
          </p:nvPr>
        </p:nvSpPr>
        <p:spPr/>
        <p:txBody>
          <a:bodyPr/>
          <a:lstStyle/>
          <a:p>
            <a:r>
              <a:rPr lang="en-GB" dirty="0"/>
              <a:t>Joining Two Tables</a:t>
            </a:r>
          </a:p>
        </p:txBody>
      </p:sp>
      <p:graphicFrame>
        <p:nvGraphicFramePr>
          <p:cNvPr id="5" name="Table 4">
            <a:extLst>
              <a:ext uri="{FF2B5EF4-FFF2-40B4-BE49-F238E27FC236}">
                <a16:creationId xmlns:a16="http://schemas.microsoft.com/office/drawing/2014/main" id="{AAE10826-EEB4-463C-A5D4-C6E96E00A12F}"/>
              </a:ext>
            </a:extLst>
          </p:cNvPr>
          <p:cNvGraphicFramePr>
            <a:graphicFrameLocks noGrp="1"/>
          </p:cNvGraphicFramePr>
          <p:nvPr/>
        </p:nvGraphicFramePr>
        <p:xfrm>
          <a:off x="5210175" y="2142906"/>
          <a:ext cx="6732017" cy="4210050"/>
        </p:xfrm>
        <a:graphic>
          <a:graphicData uri="http://schemas.openxmlformats.org/drawingml/2006/table">
            <a:tbl>
              <a:tblPr firstRow="1" bandRow="1">
                <a:tableStyleId>{5C22544A-7EE6-4342-B048-85BDC9FD1C3A}</a:tableStyleId>
              </a:tblPr>
              <a:tblGrid>
                <a:gridCol w="438150">
                  <a:extLst>
                    <a:ext uri="{9D8B030D-6E8A-4147-A177-3AD203B41FA5}">
                      <a16:colId xmlns:a16="http://schemas.microsoft.com/office/drawing/2014/main" val="2118093387"/>
                    </a:ext>
                  </a:extLst>
                </a:gridCol>
                <a:gridCol w="758825">
                  <a:extLst>
                    <a:ext uri="{9D8B030D-6E8A-4147-A177-3AD203B41FA5}">
                      <a16:colId xmlns:a16="http://schemas.microsoft.com/office/drawing/2014/main" val="2785336854"/>
                    </a:ext>
                  </a:extLst>
                </a:gridCol>
                <a:gridCol w="1220216">
                  <a:extLst>
                    <a:ext uri="{9D8B030D-6E8A-4147-A177-3AD203B41FA5}">
                      <a16:colId xmlns:a16="http://schemas.microsoft.com/office/drawing/2014/main" val="817480638"/>
                    </a:ext>
                  </a:extLst>
                </a:gridCol>
                <a:gridCol w="520700">
                  <a:extLst>
                    <a:ext uri="{9D8B030D-6E8A-4147-A177-3AD203B41FA5}">
                      <a16:colId xmlns:a16="http://schemas.microsoft.com/office/drawing/2014/main" val="3492903121"/>
                    </a:ext>
                  </a:extLst>
                </a:gridCol>
                <a:gridCol w="438150">
                  <a:extLst>
                    <a:ext uri="{9D8B030D-6E8A-4147-A177-3AD203B41FA5}">
                      <a16:colId xmlns:a16="http://schemas.microsoft.com/office/drawing/2014/main" val="2638527360"/>
                    </a:ext>
                  </a:extLst>
                </a:gridCol>
                <a:gridCol w="996950">
                  <a:extLst>
                    <a:ext uri="{9D8B030D-6E8A-4147-A177-3AD203B41FA5}">
                      <a16:colId xmlns:a16="http://schemas.microsoft.com/office/drawing/2014/main" val="2033619082"/>
                    </a:ext>
                  </a:extLst>
                </a:gridCol>
                <a:gridCol w="1211263">
                  <a:extLst>
                    <a:ext uri="{9D8B030D-6E8A-4147-A177-3AD203B41FA5}">
                      <a16:colId xmlns:a16="http://schemas.microsoft.com/office/drawing/2014/main" val="3683807378"/>
                    </a:ext>
                  </a:extLst>
                </a:gridCol>
                <a:gridCol w="1147763">
                  <a:extLst>
                    <a:ext uri="{9D8B030D-6E8A-4147-A177-3AD203B41FA5}">
                      <a16:colId xmlns:a16="http://schemas.microsoft.com/office/drawing/2014/main" val="2991623495"/>
                    </a:ext>
                  </a:extLst>
                </a:gridCol>
              </a:tblGrid>
              <a:tr h="0">
                <a:tc>
                  <a:txBody>
                    <a:bodyPr/>
                    <a:lstStyle/>
                    <a:p>
                      <a:pPr algn="l"/>
                      <a:r>
                        <a:rPr lang="en-GB" sz="2000" b="0" i="0" dirty="0">
                          <a:solidFill>
                            <a:schemeClr val="bg1"/>
                          </a:solidFill>
                          <a:effectLst/>
                          <a:latin typeface="Consolas" panose="020B0609020204030204" pitchFamily="49" charset="0"/>
                        </a:rPr>
                        <a:t>id</a:t>
                      </a:r>
                    </a:p>
                  </a:txBody>
                  <a:tcPr marL="9525" marR="9525" marT="9525" marB="9525" anchor="ctr"/>
                </a:tc>
                <a:tc>
                  <a:txBody>
                    <a:bodyPr/>
                    <a:lstStyle/>
                    <a:p>
                      <a:pPr algn="l"/>
                      <a:r>
                        <a:rPr lang="en-GB" sz="2000" b="0" i="0" dirty="0">
                          <a:solidFill>
                            <a:schemeClr val="bg1"/>
                          </a:solidFill>
                          <a:effectLst/>
                          <a:latin typeface="Consolas" panose="020B0609020204030204" pitchFamily="49" charset="0"/>
                        </a:rPr>
                        <a:t>name</a:t>
                      </a:r>
                    </a:p>
                  </a:txBody>
                  <a:tcPr marL="9525" marR="9525" marT="9525" marB="9525" anchor="ctr"/>
                </a:tc>
                <a:tc>
                  <a:txBody>
                    <a:bodyPr/>
                    <a:lstStyle/>
                    <a:p>
                      <a:pPr algn="l"/>
                      <a:r>
                        <a:rPr lang="en-GB" sz="2000" b="0" i="0" dirty="0">
                          <a:solidFill>
                            <a:schemeClr val="bg1"/>
                          </a:solidFill>
                          <a:effectLst/>
                          <a:latin typeface="Consolas" panose="020B0609020204030204" pitchFamily="49" charset="0"/>
                        </a:rPr>
                        <a:t>role</a:t>
                      </a:r>
                    </a:p>
                  </a:txBody>
                  <a:tcPr marL="9525" marR="9525" marT="9525" marB="9525" anchor="ctr"/>
                </a:tc>
                <a:tc>
                  <a:txBody>
                    <a:bodyPr/>
                    <a:lstStyle/>
                    <a:p>
                      <a:pPr algn="l"/>
                      <a:r>
                        <a:rPr lang="en-GB" sz="2000" b="0" i="0" dirty="0">
                          <a:solidFill>
                            <a:schemeClr val="bg1"/>
                          </a:solidFill>
                          <a:effectLst/>
                          <a:latin typeface="Consolas" panose="020B0609020204030204" pitchFamily="49" charset="0"/>
                        </a:rPr>
                        <a:t>age</a:t>
                      </a:r>
                    </a:p>
                  </a:txBody>
                  <a:tcPr marL="9525" marR="9525" marT="9525" marB="9525" anchor="ctr"/>
                </a:tc>
                <a:tc>
                  <a:txBody>
                    <a:bodyPr/>
                    <a:lstStyle/>
                    <a:p>
                      <a:pPr algn="l"/>
                      <a:r>
                        <a:rPr lang="en-GB" sz="2000" b="0" i="0" dirty="0">
                          <a:solidFill>
                            <a:schemeClr val="bg1"/>
                          </a:solidFill>
                          <a:effectLst/>
                          <a:latin typeface="Consolas" panose="020B0609020204030204" pitchFamily="49" charset="0"/>
                        </a:rPr>
                        <a:t>id</a:t>
                      </a:r>
                    </a:p>
                  </a:txBody>
                  <a:tcPr marL="9525" marR="9525" marT="9525" marB="9525" anchor="ctr"/>
                </a:tc>
                <a:tc>
                  <a:txBody>
                    <a:bodyPr/>
                    <a:lstStyle/>
                    <a:p>
                      <a:pPr algn="l"/>
                      <a:r>
                        <a:rPr lang="en-GB" sz="2000" b="0" i="0" dirty="0">
                          <a:solidFill>
                            <a:schemeClr val="bg1"/>
                          </a:solidFill>
                          <a:effectLst/>
                          <a:latin typeface="Consolas" panose="020B0609020204030204" pitchFamily="49" charset="0"/>
                        </a:rPr>
                        <a:t>laptop</a:t>
                      </a:r>
                    </a:p>
                  </a:txBody>
                  <a:tcPr marL="9525" marR="9525" marT="9525" marB="9525" anchor="ctr"/>
                </a:tc>
                <a:tc>
                  <a:txBody>
                    <a:bodyPr/>
                    <a:lstStyle/>
                    <a:p>
                      <a:pPr algn="l"/>
                      <a:r>
                        <a:rPr lang="en-GB" sz="2000" b="0" i="0" dirty="0">
                          <a:solidFill>
                            <a:schemeClr val="bg1"/>
                          </a:solidFill>
                          <a:effectLst/>
                          <a:latin typeface="Consolas" panose="020B0609020204030204" pitchFamily="49" charset="0"/>
                        </a:rPr>
                        <a:t>date</a:t>
                      </a:r>
                    </a:p>
                  </a:txBody>
                  <a:tcPr marL="9525" marR="9525" marT="9525" marB="9525" anchor="ctr"/>
                </a:tc>
                <a:tc>
                  <a:txBody>
                    <a:bodyPr/>
                    <a:lstStyle/>
                    <a:p>
                      <a:pPr algn="l"/>
                      <a:r>
                        <a:rPr lang="en-GB" sz="2000" b="0" i="0" dirty="0">
                          <a:solidFill>
                            <a:schemeClr val="bg1"/>
                          </a:solidFill>
                          <a:effectLst/>
                          <a:latin typeface="Consolas" panose="020B0609020204030204" pitchFamily="49" charset="0"/>
                        </a:rPr>
                        <a:t>returned</a:t>
                      </a:r>
                    </a:p>
                  </a:txBody>
                  <a:tcPr marL="9525" marR="9525" marT="9525" marB="9525" anchor="ctr"/>
                </a:tc>
                <a:extLst>
                  <a:ext uri="{0D108BD9-81ED-4DB2-BD59-A6C34878D82A}">
                    <a16:rowId xmlns:a16="http://schemas.microsoft.com/office/drawing/2014/main" val="1325679939"/>
                  </a:ext>
                </a:extLst>
              </a:tr>
              <a:tr h="0">
                <a:tc>
                  <a:txBody>
                    <a:bodyPr/>
                    <a:lstStyle/>
                    <a:p>
                      <a:pPr algn="l"/>
                      <a:r>
                        <a:rPr lang="en-GB" sz="2000" b="0" dirty="0">
                          <a:solidFill>
                            <a:schemeClr val="tx1"/>
                          </a:solidFill>
                          <a:effectLst/>
                        </a:rPr>
                        <a:t>1</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Annie</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Developer</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34</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2023-10-01</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i="0" dirty="0">
                          <a:solidFill>
                            <a:schemeClr val="tx1"/>
                          </a:solidFill>
                          <a:effectLst/>
                          <a:latin typeface="Consolas" panose="020B0609020204030204" pitchFamily="49" charset="0"/>
                        </a:rPr>
                        <a:t>TRUE</a:t>
                      </a:r>
                    </a:p>
                  </a:txBody>
                  <a:tcPr marL="9525" marR="9525" marT="9525" marB="9525" anchor="ctr"/>
                </a:tc>
                <a:extLst>
                  <a:ext uri="{0D108BD9-81ED-4DB2-BD59-A6C34878D82A}">
                    <a16:rowId xmlns:a16="http://schemas.microsoft.com/office/drawing/2014/main" val="1906814975"/>
                  </a:ext>
                </a:extLst>
              </a:tr>
              <a:tr h="0">
                <a:tc>
                  <a:txBody>
                    <a:bodyPr/>
                    <a:lstStyle/>
                    <a:p>
                      <a:pPr algn="l"/>
                      <a:r>
                        <a:rPr lang="en-GB" sz="2000" b="0">
                          <a:solidFill>
                            <a:schemeClr val="tx1"/>
                          </a:solidFill>
                          <a:effectLst/>
                        </a:rPr>
                        <a:t>1</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Annie</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Developer</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34</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4</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1</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2023-11-30</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2263906834"/>
                  </a:ext>
                </a:extLst>
              </a:tr>
              <a:tr h="0">
                <a:tc>
                  <a:txBody>
                    <a:bodyPr/>
                    <a:lstStyle/>
                    <a:p>
                      <a:pPr algn="l"/>
                      <a:r>
                        <a:rPr lang="en-GB" sz="2000" b="0">
                          <a:solidFill>
                            <a:schemeClr val="tx1"/>
                          </a:solidFill>
                          <a:effectLst/>
                        </a:rPr>
                        <a:t>1</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Annie</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Developer</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34</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2023-12-21</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2966701059"/>
                  </a:ext>
                </a:extLst>
              </a:tr>
              <a:tr h="0">
                <a:tc>
                  <a:txBody>
                    <a:bodyPr/>
                    <a:lstStyle/>
                    <a:p>
                      <a:pPr algn="l"/>
                      <a:r>
                        <a:rPr lang="en-GB" sz="2000" b="0">
                          <a:solidFill>
                            <a:schemeClr val="tx1"/>
                          </a:solidFill>
                          <a:effectLst/>
                        </a:rPr>
                        <a:t>2</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Chris</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Tester</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26</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2023-10-01</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i="0" dirty="0">
                          <a:solidFill>
                            <a:schemeClr val="tx1"/>
                          </a:solidFill>
                          <a:effectLst/>
                          <a:latin typeface="Consolas" panose="020B0609020204030204" pitchFamily="49" charset="0"/>
                        </a:rPr>
                        <a:t>TRUE</a:t>
                      </a:r>
                    </a:p>
                  </a:txBody>
                  <a:tcPr marL="9525" marR="9525" marT="9525" marB="9525" anchor="ctr"/>
                </a:tc>
                <a:extLst>
                  <a:ext uri="{0D108BD9-81ED-4DB2-BD59-A6C34878D82A}">
                    <a16:rowId xmlns:a16="http://schemas.microsoft.com/office/drawing/2014/main" val="3374873073"/>
                  </a:ext>
                </a:extLst>
              </a:tr>
              <a:tr h="0">
                <a:tc>
                  <a:txBody>
                    <a:bodyPr/>
                    <a:lstStyle/>
                    <a:p>
                      <a:pPr algn="l"/>
                      <a:r>
                        <a:rPr lang="en-GB" sz="2000" b="0">
                          <a:solidFill>
                            <a:schemeClr val="tx1"/>
                          </a:solidFill>
                          <a:effectLst/>
                        </a:rPr>
                        <a:t>2</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Chris</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Tester</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26</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4</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1</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2023-11-30</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2540229735"/>
                  </a:ext>
                </a:extLst>
              </a:tr>
              <a:tr h="0">
                <a:tc>
                  <a:txBody>
                    <a:bodyPr/>
                    <a:lstStyle/>
                    <a:p>
                      <a:pPr algn="l"/>
                      <a:r>
                        <a:rPr lang="en-GB" sz="2000" b="0">
                          <a:solidFill>
                            <a:schemeClr val="tx1"/>
                          </a:solidFill>
                          <a:effectLst/>
                        </a:rPr>
                        <a:t>2</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Chris</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Tester</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26</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3</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2023-12-21</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2110938926"/>
                  </a:ext>
                </a:extLst>
              </a:tr>
              <a:tr h="0">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Dan</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Designer</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35</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2023-10-01</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i="0" dirty="0">
                          <a:solidFill>
                            <a:schemeClr val="tx1"/>
                          </a:solidFill>
                          <a:effectLst/>
                          <a:latin typeface="Consolas" panose="020B0609020204030204" pitchFamily="49" charset="0"/>
                        </a:rPr>
                        <a:t>TRUE</a:t>
                      </a:r>
                    </a:p>
                  </a:txBody>
                  <a:tcPr marL="9525" marR="9525" marT="9525" marB="9525" anchor="ctr"/>
                </a:tc>
                <a:extLst>
                  <a:ext uri="{0D108BD9-81ED-4DB2-BD59-A6C34878D82A}">
                    <a16:rowId xmlns:a16="http://schemas.microsoft.com/office/drawing/2014/main" val="626550126"/>
                  </a:ext>
                </a:extLst>
              </a:tr>
              <a:tr h="0">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Dan</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Designer</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35</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4</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2023-11-30</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2001643763"/>
                  </a:ext>
                </a:extLst>
              </a:tr>
              <a:tr h="0">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Dan</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Designer</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35</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3</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2023-12-21</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3772723468"/>
                  </a:ext>
                </a:extLst>
              </a:tr>
              <a:tr h="0">
                <a:tc>
                  <a:txBody>
                    <a:bodyPr/>
                    <a:lstStyle/>
                    <a:p>
                      <a:pPr algn="l"/>
                      <a:r>
                        <a:rPr lang="en-GB" sz="2000" b="0">
                          <a:solidFill>
                            <a:schemeClr val="tx1"/>
                          </a:solidFill>
                          <a:effectLst/>
                        </a:rPr>
                        <a:t>4</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Erin</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Developer</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24</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2023-10-01</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i="0" dirty="0">
                          <a:solidFill>
                            <a:schemeClr val="tx1"/>
                          </a:solidFill>
                          <a:effectLst/>
                          <a:latin typeface="Consolas" panose="020B0609020204030204" pitchFamily="49" charset="0"/>
                        </a:rPr>
                        <a:t>TRUE</a:t>
                      </a:r>
                    </a:p>
                  </a:txBody>
                  <a:tcPr marL="9525" marR="9525" marT="9525" marB="9525" anchor="ctr"/>
                </a:tc>
                <a:extLst>
                  <a:ext uri="{0D108BD9-81ED-4DB2-BD59-A6C34878D82A}">
                    <a16:rowId xmlns:a16="http://schemas.microsoft.com/office/drawing/2014/main" val="552386150"/>
                  </a:ext>
                </a:extLst>
              </a:tr>
              <a:tr h="0">
                <a:tc>
                  <a:txBody>
                    <a:bodyPr/>
                    <a:lstStyle/>
                    <a:p>
                      <a:pPr algn="l"/>
                      <a:r>
                        <a:rPr lang="en-GB" sz="2000" b="0">
                          <a:solidFill>
                            <a:schemeClr val="tx1"/>
                          </a:solidFill>
                          <a:effectLst/>
                        </a:rPr>
                        <a:t>4</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Erin</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Developer</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24</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4</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1</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2023-11-30</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1057254957"/>
                  </a:ext>
                </a:extLst>
              </a:tr>
              <a:tr h="0">
                <a:tc>
                  <a:txBody>
                    <a:bodyPr/>
                    <a:lstStyle/>
                    <a:p>
                      <a:pPr algn="l"/>
                      <a:r>
                        <a:rPr lang="en-GB" sz="2000" b="0" dirty="0">
                          <a:solidFill>
                            <a:schemeClr val="tx1"/>
                          </a:solidFill>
                          <a:effectLst/>
                        </a:rPr>
                        <a:t>4</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Erin</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Developer</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24</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2023-12-21</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3292569320"/>
                  </a:ext>
                </a:extLst>
              </a:tr>
            </a:tbl>
          </a:graphicData>
        </a:graphic>
      </p:graphicFrame>
      <p:sp>
        <p:nvSpPr>
          <p:cNvPr id="6" name="Rectangle 1">
            <a:extLst>
              <a:ext uri="{FF2B5EF4-FFF2-40B4-BE49-F238E27FC236}">
                <a16:creationId xmlns:a16="http://schemas.microsoft.com/office/drawing/2014/main" id="{C460184D-D803-F499-E82E-972FB39F9288}"/>
              </a:ext>
            </a:extLst>
          </p:cNvPr>
          <p:cNvSpPr>
            <a:spLocks noChangeArrowheads="1"/>
          </p:cNvSpPr>
          <p:nvPr/>
        </p:nvSpPr>
        <p:spPr bwMode="auto">
          <a:xfrm>
            <a:off x="619125" y="1678614"/>
            <a:ext cx="4557658" cy="70788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name, laptop, returned</a:t>
            </a:r>
            <a:endParaRPr kumimoji="0" lang="en-US" altLang="en-US" sz="2000" b="0" i="0" u="none" strike="noStrike" cap="none" normalizeH="0" baseline="0" dirty="0">
              <a:ln>
                <a:noFill/>
              </a:ln>
              <a:solidFill>
                <a:srgbClr val="000000"/>
              </a:solidFill>
              <a:effectLst/>
              <a:latin typeface="Consolas" panose="020B0609020204030204" pitchFamily="49" charset="0"/>
            </a:endParaRPr>
          </a:p>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2000" b="0" i="0" u="none" strike="noStrike" cap="none" normalizeH="0" baseline="0" dirty="0">
                <a:ln>
                  <a:noFill/>
                </a:ln>
                <a:solidFill>
                  <a:srgbClr val="B2B2B2"/>
                </a:solidFill>
                <a:effectLst/>
                <a:latin typeface="Consolas" panose="020B0609020204030204" pitchFamily="49" charset="0"/>
              </a:rPr>
              <a:t>2 </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kumimoji="0" lang="en-US" altLang="en-US" sz="2000" b="0" i="0" u="none" strike="noStrike" cap="none" normalizeH="0" baseline="0" dirty="0">
                <a:ln>
                  <a:noFill/>
                </a:ln>
                <a:solidFill>
                  <a:srgbClr val="A71D5D"/>
                </a:solidFill>
                <a:effectLst/>
                <a:latin typeface="Consolas" panose="020B0609020204030204" pitchFamily="49" charset="0"/>
              </a:rPr>
              <a:t>FROM</a:t>
            </a:r>
            <a:r>
              <a:rPr kumimoji="0" lang="en-US" altLang="en-US" sz="2000" b="0" i="0" u="none" strike="noStrike" cap="none" normalizeH="0" baseline="0" dirty="0">
                <a:ln>
                  <a:noFill/>
                </a:ln>
                <a:solidFill>
                  <a:srgbClr val="000000"/>
                </a:solidFill>
                <a:effectLst/>
                <a:latin typeface="Consolas" panose="020B0609020204030204" pitchFamily="49" charset="0"/>
              </a:rPr>
              <a:t> Employee, Borrow;</a:t>
            </a:r>
            <a:endParaRPr kumimoji="0" lang="en-US" altLang="en-US" sz="3200" b="0" i="0" u="none" strike="noStrike" cap="none" normalizeH="0" baseline="0" dirty="0">
              <a:ln>
                <a:noFill/>
              </a:ln>
              <a:solidFill>
                <a:schemeClr val="tx1"/>
              </a:solidFill>
              <a:effectLst/>
              <a:latin typeface="Arial" panose="020B0604020202020204" pitchFamily="34" charset="0"/>
            </a:endParaRPr>
          </a:p>
        </p:txBody>
      </p:sp>
      <p:sp>
        <p:nvSpPr>
          <p:cNvPr id="7" name="Right Brace 6">
            <a:extLst>
              <a:ext uri="{FF2B5EF4-FFF2-40B4-BE49-F238E27FC236}">
                <a16:creationId xmlns:a16="http://schemas.microsoft.com/office/drawing/2014/main" id="{E522E4EC-A252-8051-515D-454162F41019}"/>
              </a:ext>
            </a:extLst>
          </p:cNvPr>
          <p:cNvSpPr/>
          <p:nvPr/>
        </p:nvSpPr>
        <p:spPr>
          <a:xfrm>
            <a:off x="4411304" y="3152503"/>
            <a:ext cx="594061" cy="2495550"/>
          </a:xfrm>
          <a:prstGeom prst="rightBrace">
            <a:avLst>
              <a:gd name="adj1" fmla="val 56609"/>
              <a:gd name="adj2" fmla="val 50000"/>
            </a:avLst>
          </a:prstGeom>
          <a:noFill/>
          <a:ln w="38100">
            <a:solidFill>
              <a:srgbClr val="FF000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GB"/>
          </a:p>
        </p:txBody>
      </p:sp>
      <p:sp>
        <p:nvSpPr>
          <p:cNvPr id="8" name="Rectangle 7">
            <a:extLst>
              <a:ext uri="{FF2B5EF4-FFF2-40B4-BE49-F238E27FC236}">
                <a16:creationId xmlns:a16="http://schemas.microsoft.com/office/drawing/2014/main" id="{83AD3B43-E6AB-275B-AFCD-09A1FDEC62F7}"/>
              </a:ext>
            </a:extLst>
          </p:cNvPr>
          <p:cNvSpPr/>
          <p:nvPr/>
        </p:nvSpPr>
        <p:spPr>
          <a:xfrm>
            <a:off x="5210174" y="2481803"/>
            <a:ext cx="2914652" cy="933178"/>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9" name="Rectangle 8">
            <a:extLst>
              <a:ext uri="{FF2B5EF4-FFF2-40B4-BE49-F238E27FC236}">
                <a16:creationId xmlns:a16="http://schemas.microsoft.com/office/drawing/2014/main" id="{28278FD7-E5C9-A484-3936-752A2AC5E815}"/>
              </a:ext>
            </a:extLst>
          </p:cNvPr>
          <p:cNvSpPr/>
          <p:nvPr/>
        </p:nvSpPr>
        <p:spPr>
          <a:xfrm>
            <a:off x="619125" y="3130162"/>
            <a:ext cx="2854834" cy="298838"/>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1" name="Rectangle 10">
            <a:extLst>
              <a:ext uri="{FF2B5EF4-FFF2-40B4-BE49-F238E27FC236}">
                <a16:creationId xmlns:a16="http://schemas.microsoft.com/office/drawing/2014/main" id="{EB80E3BC-6D45-90BC-5798-77A70E23EF5B}"/>
              </a:ext>
            </a:extLst>
          </p:cNvPr>
          <p:cNvSpPr/>
          <p:nvPr/>
        </p:nvSpPr>
        <p:spPr>
          <a:xfrm>
            <a:off x="619123" y="5664688"/>
            <a:ext cx="3587370" cy="294244"/>
          </a:xfrm>
          <a:prstGeom prst="rect">
            <a:avLst/>
          </a:prstGeom>
          <a:noFill/>
          <a:ln w="28575">
            <a:solidFill>
              <a:srgbClr val="00B05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2" name="Rectangle 11">
            <a:extLst>
              <a:ext uri="{FF2B5EF4-FFF2-40B4-BE49-F238E27FC236}">
                <a16:creationId xmlns:a16="http://schemas.microsoft.com/office/drawing/2014/main" id="{561BF2BD-1ECC-7FE0-20EA-17965C043EAD}"/>
              </a:ext>
            </a:extLst>
          </p:cNvPr>
          <p:cNvSpPr/>
          <p:nvPr/>
        </p:nvSpPr>
        <p:spPr>
          <a:xfrm>
            <a:off x="619123" y="5986570"/>
            <a:ext cx="3587370" cy="294244"/>
          </a:xfrm>
          <a:prstGeom prst="rect">
            <a:avLst/>
          </a:prstGeom>
          <a:noFill/>
          <a:ln w="28575">
            <a:solidFill>
              <a:srgbClr val="7030A0"/>
            </a:solidFill>
            <a:prstDash val="lgDash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3" name="Rectangle 12">
            <a:extLst>
              <a:ext uri="{FF2B5EF4-FFF2-40B4-BE49-F238E27FC236}">
                <a16:creationId xmlns:a16="http://schemas.microsoft.com/office/drawing/2014/main" id="{076B38F0-5296-D0C7-7002-B9162DAA88DE}"/>
              </a:ext>
            </a:extLst>
          </p:cNvPr>
          <p:cNvSpPr/>
          <p:nvPr/>
        </p:nvSpPr>
        <p:spPr>
          <a:xfrm>
            <a:off x="619123" y="5349487"/>
            <a:ext cx="3587370" cy="294244"/>
          </a:xfrm>
          <a:prstGeom prst="rect">
            <a:avLst/>
          </a:prstGeom>
          <a:noFill/>
          <a:ln w="28575">
            <a:solidFill>
              <a:srgbClr val="FF0000"/>
            </a:solidFill>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4" name="Rectangle 13">
            <a:extLst>
              <a:ext uri="{FF2B5EF4-FFF2-40B4-BE49-F238E27FC236}">
                <a16:creationId xmlns:a16="http://schemas.microsoft.com/office/drawing/2014/main" id="{6AB6C2FE-A92E-0089-7BCF-915F8368FF19}"/>
              </a:ext>
            </a:extLst>
          </p:cNvPr>
          <p:cNvSpPr/>
          <p:nvPr/>
        </p:nvSpPr>
        <p:spPr>
          <a:xfrm>
            <a:off x="8124826" y="2481803"/>
            <a:ext cx="3817366" cy="262890"/>
          </a:xfrm>
          <a:prstGeom prst="rect">
            <a:avLst/>
          </a:prstGeom>
          <a:noFill/>
          <a:ln w="28575">
            <a:solidFill>
              <a:srgbClr val="FF0000"/>
            </a:solidFill>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5" name="Rectangle 14">
            <a:extLst>
              <a:ext uri="{FF2B5EF4-FFF2-40B4-BE49-F238E27FC236}">
                <a16:creationId xmlns:a16="http://schemas.microsoft.com/office/drawing/2014/main" id="{F55FD949-F804-33E8-5976-0CC945D11C11}"/>
              </a:ext>
            </a:extLst>
          </p:cNvPr>
          <p:cNvSpPr/>
          <p:nvPr/>
        </p:nvSpPr>
        <p:spPr>
          <a:xfrm>
            <a:off x="8124826" y="2803011"/>
            <a:ext cx="3817366" cy="294244"/>
          </a:xfrm>
          <a:prstGeom prst="rect">
            <a:avLst/>
          </a:prstGeom>
          <a:noFill/>
          <a:ln w="28575">
            <a:solidFill>
              <a:srgbClr val="00B05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6" name="Rectangle 15">
            <a:extLst>
              <a:ext uri="{FF2B5EF4-FFF2-40B4-BE49-F238E27FC236}">
                <a16:creationId xmlns:a16="http://schemas.microsoft.com/office/drawing/2014/main" id="{68E44AAF-82EF-636B-2416-A984414620AD}"/>
              </a:ext>
            </a:extLst>
          </p:cNvPr>
          <p:cNvSpPr/>
          <p:nvPr/>
        </p:nvSpPr>
        <p:spPr>
          <a:xfrm>
            <a:off x="8124826" y="3141187"/>
            <a:ext cx="3817366" cy="273794"/>
          </a:xfrm>
          <a:prstGeom prst="rect">
            <a:avLst/>
          </a:prstGeom>
          <a:noFill/>
          <a:ln w="28575">
            <a:solidFill>
              <a:srgbClr val="7030A0"/>
            </a:solidFill>
            <a:prstDash val="lgDash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7" name="TextBox 16">
            <a:extLst>
              <a:ext uri="{FF2B5EF4-FFF2-40B4-BE49-F238E27FC236}">
                <a16:creationId xmlns:a16="http://schemas.microsoft.com/office/drawing/2014/main" id="{37697A85-FE4A-5F49-87D3-DF60452AD532}"/>
              </a:ext>
            </a:extLst>
          </p:cNvPr>
          <p:cNvSpPr txBox="1"/>
          <p:nvPr/>
        </p:nvSpPr>
        <p:spPr>
          <a:xfrm>
            <a:off x="533400" y="2481943"/>
            <a:ext cx="1771650" cy="369332"/>
          </a:xfrm>
          <a:prstGeom prst="rect">
            <a:avLst/>
          </a:prstGeom>
          <a:noFill/>
        </p:spPr>
        <p:txBody>
          <a:bodyPr wrap="square" rtlCol="0">
            <a:spAutoFit/>
          </a:bodyPr>
          <a:lstStyle/>
          <a:p>
            <a:r>
              <a:rPr lang="en-GB" b="1" dirty="0"/>
              <a:t>Table: Employee</a:t>
            </a:r>
          </a:p>
        </p:txBody>
      </p:sp>
      <p:sp>
        <p:nvSpPr>
          <p:cNvPr id="18" name="TextBox 17">
            <a:extLst>
              <a:ext uri="{FF2B5EF4-FFF2-40B4-BE49-F238E27FC236}">
                <a16:creationId xmlns:a16="http://schemas.microsoft.com/office/drawing/2014/main" id="{2BBBEDEE-6D85-8C2C-E803-4AAFF578343C}"/>
              </a:ext>
            </a:extLst>
          </p:cNvPr>
          <p:cNvSpPr txBox="1"/>
          <p:nvPr/>
        </p:nvSpPr>
        <p:spPr>
          <a:xfrm>
            <a:off x="533399" y="4679165"/>
            <a:ext cx="1533526" cy="369332"/>
          </a:xfrm>
          <a:prstGeom prst="rect">
            <a:avLst/>
          </a:prstGeom>
          <a:noFill/>
        </p:spPr>
        <p:txBody>
          <a:bodyPr wrap="square" rtlCol="0">
            <a:spAutoFit/>
          </a:bodyPr>
          <a:lstStyle/>
          <a:p>
            <a:r>
              <a:rPr lang="en-GB" b="1" dirty="0"/>
              <a:t>Table: Borrow</a:t>
            </a:r>
          </a:p>
        </p:txBody>
      </p:sp>
      <p:sp>
        <p:nvSpPr>
          <p:cNvPr id="19" name="TextBox 18">
            <a:extLst>
              <a:ext uri="{FF2B5EF4-FFF2-40B4-BE49-F238E27FC236}">
                <a16:creationId xmlns:a16="http://schemas.microsoft.com/office/drawing/2014/main" id="{39027E70-266E-C921-B96A-180149336170}"/>
              </a:ext>
            </a:extLst>
          </p:cNvPr>
          <p:cNvSpPr txBox="1"/>
          <p:nvPr/>
        </p:nvSpPr>
        <p:spPr>
          <a:xfrm>
            <a:off x="5741417" y="427741"/>
            <a:ext cx="6200775" cy="1200329"/>
          </a:xfrm>
          <a:prstGeom prst="rect">
            <a:avLst/>
          </a:prstGeom>
          <a:noFill/>
        </p:spPr>
        <p:txBody>
          <a:bodyPr wrap="square" rtlCol="0">
            <a:spAutoFit/>
          </a:bodyPr>
          <a:lstStyle/>
          <a:p>
            <a:r>
              <a:rPr lang="en-GB" sz="3600" dirty="0">
                <a:solidFill>
                  <a:srgbClr val="7030A0"/>
                </a:solidFill>
              </a:rPr>
              <a:t>Every row of second table joined to every row of first table</a:t>
            </a:r>
          </a:p>
        </p:txBody>
      </p:sp>
      <p:sp>
        <p:nvSpPr>
          <p:cNvPr id="20" name="Rectangle 19">
            <a:extLst>
              <a:ext uri="{FF2B5EF4-FFF2-40B4-BE49-F238E27FC236}">
                <a16:creationId xmlns:a16="http://schemas.microsoft.com/office/drawing/2014/main" id="{DCA65FDB-F7C3-285A-74EA-D11733D2C28E}"/>
              </a:ext>
            </a:extLst>
          </p:cNvPr>
          <p:cNvSpPr/>
          <p:nvPr/>
        </p:nvSpPr>
        <p:spPr>
          <a:xfrm>
            <a:off x="619123" y="3756360"/>
            <a:ext cx="2854834" cy="298838"/>
          </a:xfrm>
          <a:prstGeom prst="rect">
            <a:avLst/>
          </a:prstGeom>
          <a:noFill/>
          <a:ln w="28575">
            <a:solidFill>
              <a:srgbClr val="FF000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1" name="Rectangle 20">
            <a:extLst>
              <a:ext uri="{FF2B5EF4-FFF2-40B4-BE49-F238E27FC236}">
                <a16:creationId xmlns:a16="http://schemas.microsoft.com/office/drawing/2014/main" id="{8490DDA6-8DF9-C005-30B9-53B1B1461596}"/>
              </a:ext>
            </a:extLst>
          </p:cNvPr>
          <p:cNvSpPr/>
          <p:nvPr/>
        </p:nvSpPr>
        <p:spPr>
          <a:xfrm>
            <a:off x="5204129" y="4417379"/>
            <a:ext cx="2914652" cy="933178"/>
          </a:xfrm>
          <a:prstGeom prst="rect">
            <a:avLst/>
          </a:prstGeom>
          <a:noFill/>
          <a:ln w="28575">
            <a:solidFill>
              <a:srgbClr val="FF000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7" name="Right Arrow 9">
            <a:extLst>
              <a:ext uri="{FF2B5EF4-FFF2-40B4-BE49-F238E27FC236}">
                <a16:creationId xmlns:a16="http://schemas.microsoft.com/office/drawing/2014/main" id="{269837FC-7069-F1D9-E16A-87AF1D4A80CD}"/>
              </a:ext>
            </a:extLst>
          </p:cNvPr>
          <p:cNvSpPr/>
          <p:nvPr/>
        </p:nvSpPr>
        <p:spPr>
          <a:xfrm>
            <a:off x="154556" y="2038163"/>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0" name="TextBox 9">
            <a:extLst>
              <a:ext uri="{FF2B5EF4-FFF2-40B4-BE49-F238E27FC236}">
                <a16:creationId xmlns:a16="http://schemas.microsoft.com/office/drawing/2014/main" id="{BC0A24A5-7704-6A36-CD80-4ED2C2F64BD2}"/>
              </a:ext>
            </a:extLst>
          </p:cNvPr>
          <p:cNvSpPr txBox="1"/>
          <p:nvPr/>
        </p:nvSpPr>
        <p:spPr>
          <a:xfrm>
            <a:off x="5176783" y="1821620"/>
            <a:ext cx="1771650" cy="369332"/>
          </a:xfrm>
          <a:prstGeom prst="rect">
            <a:avLst/>
          </a:prstGeom>
          <a:noFill/>
        </p:spPr>
        <p:txBody>
          <a:bodyPr wrap="square" rtlCol="0">
            <a:spAutoFit/>
          </a:bodyPr>
          <a:lstStyle/>
          <a:p>
            <a:r>
              <a:rPr lang="en-GB" b="1" dirty="0"/>
              <a:t>Combined data</a:t>
            </a:r>
          </a:p>
        </p:txBody>
      </p:sp>
    </p:spTree>
    <p:extLst>
      <p:ext uri="{BB962C8B-B14F-4D97-AF65-F5344CB8AC3E}">
        <p14:creationId xmlns:p14="http://schemas.microsoft.com/office/powerpoint/2010/main" val="193240572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17"/>
                                        </p:tgtEl>
                                        <p:attrNameLst>
                                          <p:attrName>style.visibility</p:attrName>
                                        </p:attrNameLst>
                                      </p:cBhvr>
                                      <p:to>
                                        <p:strVal val="visible"/>
                                      </p:to>
                                    </p:set>
                                    <p:animEffect transition="in" filter="wipe(left)">
                                      <p:cBhvr>
                                        <p:cTn id="7" dur="500"/>
                                        <p:tgtEl>
                                          <p:spTgt spid="17"/>
                                        </p:tgtEl>
                                      </p:cBhvr>
                                    </p:animEffect>
                                  </p:childTnLst>
                                </p:cTn>
                              </p:par>
                            </p:childTnLst>
                          </p:cTn>
                        </p:par>
                        <p:par>
                          <p:cTn id="8" fill="hold">
                            <p:stCondLst>
                              <p:cond delay="500"/>
                            </p:stCondLst>
                            <p:childTnLst>
                              <p:par>
                                <p:cTn id="9" presetID="22" presetClass="entr" presetSubtype="1" fill="hold" nodeType="afterEffect">
                                  <p:stCondLst>
                                    <p:cond delay="0"/>
                                  </p:stCondLst>
                                  <p:childTnLst>
                                    <p:set>
                                      <p:cBhvr>
                                        <p:cTn id="10" dur="1" fill="hold">
                                          <p:stCondLst>
                                            <p:cond delay="0"/>
                                          </p:stCondLst>
                                        </p:cTn>
                                        <p:tgtEl>
                                          <p:spTgt spid="2"/>
                                        </p:tgtEl>
                                        <p:attrNameLst>
                                          <p:attrName>style.visibility</p:attrName>
                                        </p:attrNameLst>
                                      </p:cBhvr>
                                      <p:to>
                                        <p:strVal val="visible"/>
                                      </p:to>
                                    </p:set>
                                    <p:animEffect transition="in" filter="wipe(up)">
                                      <p:cBhvr>
                                        <p:cTn id="11" dur="2000"/>
                                        <p:tgtEl>
                                          <p:spTgt spid="2"/>
                                        </p:tgtEl>
                                      </p:cBhvr>
                                    </p:animEffect>
                                  </p:childTnLst>
                                </p:cTn>
                              </p:par>
                            </p:childTnLst>
                          </p:cTn>
                        </p:par>
                      </p:childTnLst>
                    </p:cTn>
                  </p:par>
                  <p:par>
                    <p:cTn id="12" fill="hold">
                      <p:stCondLst>
                        <p:cond delay="indefinite"/>
                      </p:stCondLst>
                      <p:childTnLst>
                        <p:par>
                          <p:cTn id="13" fill="hold">
                            <p:stCondLst>
                              <p:cond delay="0"/>
                            </p:stCondLst>
                            <p:childTnLst>
                              <p:par>
                                <p:cTn id="14" presetID="22" presetClass="entr" presetSubtype="8" fill="hold" grpId="0" nodeType="clickEffect">
                                  <p:stCondLst>
                                    <p:cond delay="0"/>
                                  </p:stCondLst>
                                  <p:childTnLst>
                                    <p:set>
                                      <p:cBhvr>
                                        <p:cTn id="15" dur="1" fill="hold">
                                          <p:stCondLst>
                                            <p:cond delay="0"/>
                                          </p:stCondLst>
                                        </p:cTn>
                                        <p:tgtEl>
                                          <p:spTgt spid="18"/>
                                        </p:tgtEl>
                                        <p:attrNameLst>
                                          <p:attrName>style.visibility</p:attrName>
                                        </p:attrNameLst>
                                      </p:cBhvr>
                                      <p:to>
                                        <p:strVal val="visible"/>
                                      </p:to>
                                    </p:set>
                                    <p:animEffect transition="in" filter="wipe(left)">
                                      <p:cBhvr>
                                        <p:cTn id="16" dur="500"/>
                                        <p:tgtEl>
                                          <p:spTgt spid="18"/>
                                        </p:tgtEl>
                                      </p:cBhvr>
                                    </p:animEffect>
                                  </p:childTnLst>
                                </p:cTn>
                              </p:par>
                            </p:childTnLst>
                          </p:cTn>
                        </p:par>
                        <p:par>
                          <p:cTn id="17" fill="hold">
                            <p:stCondLst>
                              <p:cond delay="500"/>
                            </p:stCondLst>
                            <p:childTnLst>
                              <p:par>
                                <p:cTn id="18" presetID="22" presetClass="entr" presetSubtype="1" fill="hold" nodeType="afterEffect">
                                  <p:stCondLst>
                                    <p:cond delay="0"/>
                                  </p:stCondLst>
                                  <p:childTnLst>
                                    <p:set>
                                      <p:cBhvr>
                                        <p:cTn id="19" dur="1" fill="hold">
                                          <p:stCondLst>
                                            <p:cond delay="0"/>
                                          </p:stCondLst>
                                        </p:cTn>
                                        <p:tgtEl>
                                          <p:spTgt spid="3"/>
                                        </p:tgtEl>
                                        <p:attrNameLst>
                                          <p:attrName>style.visibility</p:attrName>
                                        </p:attrNameLst>
                                      </p:cBhvr>
                                      <p:to>
                                        <p:strVal val="visible"/>
                                      </p:to>
                                    </p:set>
                                    <p:animEffect transition="in" filter="wipe(up)">
                                      <p:cBhvr>
                                        <p:cTn id="20" dur="1500"/>
                                        <p:tgtEl>
                                          <p:spTgt spid="3"/>
                                        </p:tgtEl>
                                      </p:cBhvr>
                                    </p:animEffect>
                                  </p:childTnLst>
                                </p:cTn>
                              </p:par>
                            </p:childTnLst>
                          </p:cTn>
                        </p:par>
                      </p:childTnLst>
                    </p:cTn>
                  </p:par>
                  <p:par>
                    <p:cTn id="21" fill="hold">
                      <p:stCondLst>
                        <p:cond delay="indefinite"/>
                      </p:stCondLst>
                      <p:childTnLst>
                        <p:par>
                          <p:cTn id="22" fill="hold">
                            <p:stCondLst>
                              <p:cond delay="0"/>
                            </p:stCondLst>
                            <p:childTnLst>
                              <p:par>
                                <p:cTn id="23" presetID="22" presetClass="entr" presetSubtype="8" fill="hold" grpId="0" nodeType="clickEffect">
                                  <p:stCondLst>
                                    <p:cond delay="0"/>
                                  </p:stCondLst>
                                  <p:childTnLst>
                                    <p:set>
                                      <p:cBhvr>
                                        <p:cTn id="24" dur="1" fill="hold">
                                          <p:stCondLst>
                                            <p:cond delay="0"/>
                                          </p:stCondLst>
                                        </p:cTn>
                                        <p:tgtEl>
                                          <p:spTgt spid="6"/>
                                        </p:tgtEl>
                                        <p:attrNameLst>
                                          <p:attrName>style.visibility</p:attrName>
                                        </p:attrNameLst>
                                      </p:cBhvr>
                                      <p:to>
                                        <p:strVal val="visible"/>
                                      </p:to>
                                    </p:set>
                                    <p:animEffect transition="in" filter="wipe(left)">
                                      <p:cBhvr>
                                        <p:cTn id="25" dur="2000"/>
                                        <p:tgtEl>
                                          <p:spTgt spid="6"/>
                                        </p:tgtEl>
                                      </p:cBhvr>
                                    </p:animEffect>
                                  </p:childTnLst>
                                </p:cTn>
                              </p:par>
                            </p:childTnLst>
                          </p:cTn>
                        </p:par>
                      </p:childTnLst>
                    </p:cTn>
                  </p:par>
                  <p:par>
                    <p:cTn id="26" fill="hold">
                      <p:stCondLst>
                        <p:cond delay="indefinite"/>
                      </p:stCondLst>
                      <p:childTnLst>
                        <p:par>
                          <p:cTn id="27" fill="hold">
                            <p:stCondLst>
                              <p:cond delay="0"/>
                            </p:stCondLst>
                            <p:childTnLst>
                              <p:par>
                                <p:cTn id="28" presetID="22" presetClass="entr" presetSubtype="8" fill="hold" grpId="0" nodeType="clickEffect">
                                  <p:stCondLst>
                                    <p:cond delay="0"/>
                                  </p:stCondLst>
                                  <p:childTnLst>
                                    <p:set>
                                      <p:cBhvr>
                                        <p:cTn id="29" dur="1" fill="hold">
                                          <p:stCondLst>
                                            <p:cond delay="0"/>
                                          </p:stCondLst>
                                        </p:cTn>
                                        <p:tgtEl>
                                          <p:spTgt spid="27"/>
                                        </p:tgtEl>
                                        <p:attrNameLst>
                                          <p:attrName>style.visibility</p:attrName>
                                        </p:attrNameLst>
                                      </p:cBhvr>
                                      <p:to>
                                        <p:strVal val="visible"/>
                                      </p:to>
                                    </p:set>
                                    <p:animEffect transition="in" filter="wipe(left)">
                                      <p:cBhvr>
                                        <p:cTn id="30" dur="1000"/>
                                        <p:tgtEl>
                                          <p:spTgt spid="27"/>
                                        </p:tgtEl>
                                      </p:cBhvr>
                                    </p:animEffect>
                                  </p:childTnLst>
                                </p:cTn>
                              </p:par>
                            </p:childTnLst>
                          </p:cTn>
                        </p:par>
                      </p:childTnLst>
                    </p:cTn>
                  </p:par>
                  <p:par>
                    <p:cTn id="31" fill="hold">
                      <p:stCondLst>
                        <p:cond delay="indefinite"/>
                      </p:stCondLst>
                      <p:childTnLst>
                        <p:par>
                          <p:cTn id="32" fill="hold">
                            <p:stCondLst>
                              <p:cond delay="0"/>
                            </p:stCondLst>
                            <p:childTnLst>
                              <p:par>
                                <p:cTn id="33" presetID="22" presetClass="entr" presetSubtype="8" fill="hold" grpId="0" nodeType="clickEffect">
                                  <p:stCondLst>
                                    <p:cond delay="0"/>
                                  </p:stCondLst>
                                  <p:childTnLst>
                                    <p:set>
                                      <p:cBhvr>
                                        <p:cTn id="34" dur="1" fill="hold">
                                          <p:stCondLst>
                                            <p:cond delay="0"/>
                                          </p:stCondLst>
                                        </p:cTn>
                                        <p:tgtEl>
                                          <p:spTgt spid="7"/>
                                        </p:tgtEl>
                                        <p:attrNameLst>
                                          <p:attrName>style.visibility</p:attrName>
                                        </p:attrNameLst>
                                      </p:cBhvr>
                                      <p:to>
                                        <p:strVal val="visible"/>
                                      </p:to>
                                    </p:set>
                                    <p:animEffect transition="in" filter="wipe(left)">
                                      <p:cBhvr>
                                        <p:cTn id="35" dur="1000"/>
                                        <p:tgtEl>
                                          <p:spTgt spid="7"/>
                                        </p:tgtEl>
                                      </p:cBhvr>
                                    </p:animEffect>
                                  </p:childTnLst>
                                </p:cTn>
                              </p:par>
                            </p:childTnLst>
                          </p:cTn>
                        </p:par>
                      </p:childTnLst>
                    </p:cTn>
                  </p:par>
                  <p:par>
                    <p:cTn id="36" fill="hold">
                      <p:stCondLst>
                        <p:cond delay="indefinite"/>
                      </p:stCondLst>
                      <p:childTnLst>
                        <p:par>
                          <p:cTn id="37" fill="hold">
                            <p:stCondLst>
                              <p:cond delay="0"/>
                            </p:stCondLst>
                            <p:childTnLst>
                              <p:par>
                                <p:cTn id="38" presetID="22" presetClass="entr" presetSubtype="8" fill="hold" grpId="0" nodeType="clickEffect">
                                  <p:stCondLst>
                                    <p:cond delay="0"/>
                                  </p:stCondLst>
                                  <p:childTnLst>
                                    <p:set>
                                      <p:cBhvr>
                                        <p:cTn id="39" dur="1" fill="hold">
                                          <p:stCondLst>
                                            <p:cond delay="0"/>
                                          </p:stCondLst>
                                        </p:cTn>
                                        <p:tgtEl>
                                          <p:spTgt spid="10"/>
                                        </p:tgtEl>
                                        <p:attrNameLst>
                                          <p:attrName>style.visibility</p:attrName>
                                        </p:attrNameLst>
                                      </p:cBhvr>
                                      <p:to>
                                        <p:strVal val="visible"/>
                                      </p:to>
                                    </p:set>
                                    <p:animEffect transition="in" filter="wipe(left)">
                                      <p:cBhvr>
                                        <p:cTn id="40" dur="500"/>
                                        <p:tgtEl>
                                          <p:spTgt spid="10"/>
                                        </p:tgtEl>
                                      </p:cBhvr>
                                    </p:animEffect>
                                  </p:childTnLst>
                                </p:cTn>
                              </p:par>
                            </p:childTnLst>
                          </p:cTn>
                        </p:par>
                        <p:par>
                          <p:cTn id="41" fill="hold">
                            <p:stCondLst>
                              <p:cond delay="500"/>
                            </p:stCondLst>
                            <p:childTnLst>
                              <p:par>
                                <p:cTn id="42" presetID="22" presetClass="entr" presetSubtype="8" fill="hold" nodeType="afterEffect">
                                  <p:stCondLst>
                                    <p:cond delay="0"/>
                                  </p:stCondLst>
                                  <p:childTnLst>
                                    <p:set>
                                      <p:cBhvr>
                                        <p:cTn id="43" dur="1" fill="hold">
                                          <p:stCondLst>
                                            <p:cond delay="0"/>
                                          </p:stCondLst>
                                        </p:cTn>
                                        <p:tgtEl>
                                          <p:spTgt spid="5"/>
                                        </p:tgtEl>
                                        <p:attrNameLst>
                                          <p:attrName>style.visibility</p:attrName>
                                        </p:attrNameLst>
                                      </p:cBhvr>
                                      <p:to>
                                        <p:strVal val="visible"/>
                                      </p:to>
                                    </p:set>
                                    <p:animEffect transition="in" filter="wipe(left)">
                                      <p:cBhvr>
                                        <p:cTn id="44" dur="3000"/>
                                        <p:tgtEl>
                                          <p:spTgt spid="5"/>
                                        </p:tgtEl>
                                      </p:cBhvr>
                                    </p:animEffect>
                                  </p:childTnLst>
                                </p:cTn>
                              </p:par>
                            </p:childTnLst>
                          </p:cTn>
                        </p:par>
                      </p:childTnLst>
                    </p:cTn>
                  </p:par>
                  <p:par>
                    <p:cTn id="45" fill="hold">
                      <p:stCondLst>
                        <p:cond delay="indefinite"/>
                      </p:stCondLst>
                      <p:childTnLst>
                        <p:par>
                          <p:cTn id="46" fill="hold">
                            <p:stCondLst>
                              <p:cond delay="0"/>
                            </p:stCondLst>
                            <p:childTnLst>
                              <p:par>
                                <p:cTn id="47" presetID="10" presetClass="entr" presetSubtype="0" fill="hold" grpId="0" nodeType="clickEffect">
                                  <p:stCondLst>
                                    <p:cond delay="0"/>
                                  </p:stCondLst>
                                  <p:childTnLst>
                                    <p:set>
                                      <p:cBhvr>
                                        <p:cTn id="48" dur="1" fill="hold">
                                          <p:stCondLst>
                                            <p:cond delay="0"/>
                                          </p:stCondLst>
                                        </p:cTn>
                                        <p:tgtEl>
                                          <p:spTgt spid="19"/>
                                        </p:tgtEl>
                                        <p:attrNameLst>
                                          <p:attrName>style.visibility</p:attrName>
                                        </p:attrNameLst>
                                      </p:cBhvr>
                                      <p:to>
                                        <p:strVal val="visible"/>
                                      </p:to>
                                    </p:set>
                                    <p:animEffect transition="in" filter="fade">
                                      <p:cBhvr>
                                        <p:cTn id="49" dur="2000"/>
                                        <p:tgtEl>
                                          <p:spTgt spid="19"/>
                                        </p:tgtEl>
                                      </p:cBhvr>
                                    </p:animEffect>
                                  </p:childTnLst>
                                </p:cTn>
                              </p:par>
                            </p:childTnLst>
                          </p:cTn>
                        </p:par>
                      </p:childTnLst>
                    </p:cTn>
                  </p:par>
                  <p:par>
                    <p:cTn id="50" fill="hold">
                      <p:stCondLst>
                        <p:cond delay="indefinite"/>
                      </p:stCondLst>
                      <p:childTnLst>
                        <p:par>
                          <p:cTn id="51" fill="hold">
                            <p:stCondLst>
                              <p:cond delay="0"/>
                            </p:stCondLst>
                            <p:childTnLst>
                              <p:par>
                                <p:cTn id="52" presetID="22" presetClass="entr" presetSubtype="8" fill="hold" grpId="0" nodeType="clickEffect">
                                  <p:stCondLst>
                                    <p:cond delay="0"/>
                                  </p:stCondLst>
                                  <p:childTnLst>
                                    <p:set>
                                      <p:cBhvr>
                                        <p:cTn id="53" dur="1" fill="hold">
                                          <p:stCondLst>
                                            <p:cond delay="0"/>
                                          </p:stCondLst>
                                        </p:cTn>
                                        <p:tgtEl>
                                          <p:spTgt spid="9"/>
                                        </p:tgtEl>
                                        <p:attrNameLst>
                                          <p:attrName>style.visibility</p:attrName>
                                        </p:attrNameLst>
                                      </p:cBhvr>
                                      <p:to>
                                        <p:strVal val="visible"/>
                                      </p:to>
                                    </p:set>
                                    <p:animEffect transition="in" filter="wipe(left)">
                                      <p:cBhvr>
                                        <p:cTn id="54" dur="1000"/>
                                        <p:tgtEl>
                                          <p:spTgt spid="9"/>
                                        </p:tgtEl>
                                      </p:cBhvr>
                                    </p:animEffect>
                                  </p:childTnLst>
                                </p:cTn>
                              </p:par>
                            </p:childTnLst>
                          </p:cTn>
                        </p:par>
                        <p:par>
                          <p:cTn id="55" fill="hold">
                            <p:stCondLst>
                              <p:cond delay="1000"/>
                            </p:stCondLst>
                            <p:childTnLst>
                              <p:par>
                                <p:cTn id="56" presetID="22" presetClass="entr" presetSubtype="8" fill="hold" grpId="0" nodeType="afterEffect">
                                  <p:stCondLst>
                                    <p:cond delay="0"/>
                                  </p:stCondLst>
                                  <p:childTnLst>
                                    <p:set>
                                      <p:cBhvr>
                                        <p:cTn id="57" dur="1" fill="hold">
                                          <p:stCondLst>
                                            <p:cond delay="0"/>
                                          </p:stCondLst>
                                        </p:cTn>
                                        <p:tgtEl>
                                          <p:spTgt spid="8"/>
                                        </p:tgtEl>
                                        <p:attrNameLst>
                                          <p:attrName>style.visibility</p:attrName>
                                        </p:attrNameLst>
                                      </p:cBhvr>
                                      <p:to>
                                        <p:strVal val="visible"/>
                                      </p:to>
                                    </p:set>
                                    <p:animEffect transition="in" filter="wipe(left)">
                                      <p:cBhvr>
                                        <p:cTn id="58" dur="1000"/>
                                        <p:tgtEl>
                                          <p:spTgt spid="8"/>
                                        </p:tgtEl>
                                      </p:cBhvr>
                                    </p:animEffect>
                                  </p:childTnLst>
                                </p:cTn>
                              </p:par>
                            </p:childTnLst>
                          </p:cTn>
                        </p:par>
                      </p:childTnLst>
                    </p:cTn>
                  </p:par>
                  <p:par>
                    <p:cTn id="59" fill="hold">
                      <p:stCondLst>
                        <p:cond delay="indefinite"/>
                      </p:stCondLst>
                      <p:childTnLst>
                        <p:par>
                          <p:cTn id="60" fill="hold">
                            <p:stCondLst>
                              <p:cond delay="0"/>
                            </p:stCondLst>
                            <p:childTnLst>
                              <p:par>
                                <p:cTn id="61" presetID="22" presetClass="entr" presetSubtype="8" fill="hold" grpId="0" nodeType="clickEffect">
                                  <p:stCondLst>
                                    <p:cond delay="0"/>
                                  </p:stCondLst>
                                  <p:childTnLst>
                                    <p:set>
                                      <p:cBhvr>
                                        <p:cTn id="62" dur="1" fill="hold">
                                          <p:stCondLst>
                                            <p:cond delay="0"/>
                                          </p:stCondLst>
                                        </p:cTn>
                                        <p:tgtEl>
                                          <p:spTgt spid="13"/>
                                        </p:tgtEl>
                                        <p:attrNameLst>
                                          <p:attrName>style.visibility</p:attrName>
                                        </p:attrNameLst>
                                      </p:cBhvr>
                                      <p:to>
                                        <p:strVal val="visible"/>
                                      </p:to>
                                    </p:set>
                                    <p:animEffect transition="in" filter="wipe(left)">
                                      <p:cBhvr>
                                        <p:cTn id="63" dur="1000"/>
                                        <p:tgtEl>
                                          <p:spTgt spid="13"/>
                                        </p:tgtEl>
                                      </p:cBhvr>
                                    </p:animEffect>
                                  </p:childTnLst>
                                </p:cTn>
                              </p:par>
                            </p:childTnLst>
                          </p:cTn>
                        </p:par>
                        <p:par>
                          <p:cTn id="64" fill="hold">
                            <p:stCondLst>
                              <p:cond delay="1000"/>
                            </p:stCondLst>
                            <p:childTnLst>
                              <p:par>
                                <p:cTn id="65" presetID="22" presetClass="entr" presetSubtype="8" fill="hold" grpId="0" nodeType="afterEffect">
                                  <p:stCondLst>
                                    <p:cond delay="0"/>
                                  </p:stCondLst>
                                  <p:childTnLst>
                                    <p:set>
                                      <p:cBhvr>
                                        <p:cTn id="66" dur="1" fill="hold">
                                          <p:stCondLst>
                                            <p:cond delay="0"/>
                                          </p:stCondLst>
                                        </p:cTn>
                                        <p:tgtEl>
                                          <p:spTgt spid="14"/>
                                        </p:tgtEl>
                                        <p:attrNameLst>
                                          <p:attrName>style.visibility</p:attrName>
                                        </p:attrNameLst>
                                      </p:cBhvr>
                                      <p:to>
                                        <p:strVal val="visible"/>
                                      </p:to>
                                    </p:set>
                                    <p:animEffect transition="in" filter="wipe(left)">
                                      <p:cBhvr>
                                        <p:cTn id="67" dur="1000"/>
                                        <p:tgtEl>
                                          <p:spTgt spid="14"/>
                                        </p:tgtEl>
                                      </p:cBhvr>
                                    </p:animEffect>
                                  </p:childTnLst>
                                </p:cTn>
                              </p:par>
                            </p:childTnLst>
                          </p:cTn>
                        </p:par>
                      </p:childTnLst>
                    </p:cTn>
                  </p:par>
                  <p:par>
                    <p:cTn id="68" fill="hold">
                      <p:stCondLst>
                        <p:cond delay="indefinite"/>
                      </p:stCondLst>
                      <p:childTnLst>
                        <p:par>
                          <p:cTn id="69" fill="hold">
                            <p:stCondLst>
                              <p:cond delay="0"/>
                            </p:stCondLst>
                            <p:childTnLst>
                              <p:par>
                                <p:cTn id="70" presetID="22" presetClass="entr" presetSubtype="8" fill="hold" grpId="0" nodeType="clickEffect">
                                  <p:stCondLst>
                                    <p:cond delay="0"/>
                                  </p:stCondLst>
                                  <p:childTnLst>
                                    <p:set>
                                      <p:cBhvr>
                                        <p:cTn id="71" dur="1" fill="hold">
                                          <p:stCondLst>
                                            <p:cond delay="0"/>
                                          </p:stCondLst>
                                        </p:cTn>
                                        <p:tgtEl>
                                          <p:spTgt spid="11"/>
                                        </p:tgtEl>
                                        <p:attrNameLst>
                                          <p:attrName>style.visibility</p:attrName>
                                        </p:attrNameLst>
                                      </p:cBhvr>
                                      <p:to>
                                        <p:strVal val="visible"/>
                                      </p:to>
                                    </p:set>
                                    <p:animEffect transition="in" filter="wipe(left)">
                                      <p:cBhvr>
                                        <p:cTn id="72" dur="1000"/>
                                        <p:tgtEl>
                                          <p:spTgt spid="11"/>
                                        </p:tgtEl>
                                      </p:cBhvr>
                                    </p:animEffect>
                                  </p:childTnLst>
                                </p:cTn>
                              </p:par>
                            </p:childTnLst>
                          </p:cTn>
                        </p:par>
                        <p:par>
                          <p:cTn id="73" fill="hold">
                            <p:stCondLst>
                              <p:cond delay="1000"/>
                            </p:stCondLst>
                            <p:childTnLst>
                              <p:par>
                                <p:cTn id="74" presetID="22" presetClass="entr" presetSubtype="8" fill="hold" grpId="0" nodeType="afterEffect">
                                  <p:stCondLst>
                                    <p:cond delay="0"/>
                                  </p:stCondLst>
                                  <p:childTnLst>
                                    <p:set>
                                      <p:cBhvr>
                                        <p:cTn id="75" dur="1" fill="hold">
                                          <p:stCondLst>
                                            <p:cond delay="0"/>
                                          </p:stCondLst>
                                        </p:cTn>
                                        <p:tgtEl>
                                          <p:spTgt spid="15"/>
                                        </p:tgtEl>
                                        <p:attrNameLst>
                                          <p:attrName>style.visibility</p:attrName>
                                        </p:attrNameLst>
                                      </p:cBhvr>
                                      <p:to>
                                        <p:strVal val="visible"/>
                                      </p:to>
                                    </p:set>
                                    <p:animEffect transition="in" filter="wipe(left)">
                                      <p:cBhvr>
                                        <p:cTn id="76" dur="1000"/>
                                        <p:tgtEl>
                                          <p:spTgt spid="15"/>
                                        </p:tgtEl>
                                      </p:cBhvr>
                                    </p:animEffect>
                                  </p:childTnLst>
                                </p:cTn>
                              </p:par>
                            </p:childTnLst>
                          </p:cTn>
                        </p:par>
                        <p:par>
                          <p:cTn id="77" fill="hold">
                            <p:stCondLst>
                              <p:cond delay="2000"/>
                            </p:stCondLst>
                            <p:childTnLst>
                              <p:par>
                                <p:cTn id="78" presetID="22" presetClass="entr" presetSubtype="8" fill="hold" grpId="0" nodeType="afterEffect">
                                  <p:stCondLst>
                                    <p:cond delay="0"/>
                                  </p:stCondLst>
                                  <p:childTnLst>
                                    <p:set>
                                      <p:cBhvr>
                                        <p:cTn id="79" dur="1" fill="hold">
                                          <p:stCondLst>
                                            <p:cond delay="0"/>
                                          </p:stCondLst>
                                        </p:cTn>
                                        <p:tgtEl>
                                          <p:spTgt spid="12"/>
                                        </p:tgtEl>
                                        <p:attrNameLst>
                                          <p:attrName>style.visibility</p:attrName>
                                        </p:attrNameLst>
                                      </p:cBhvr>
                                      <p:to>
                                        <p:strVal val="visible"/>
                                      </p:to>
                                    </p:set>
                                    <p:animEffect transition="in" filter="wipe(left)">
                                      <p:cBhvr>
                                        <p:cTn id="80" dur="1000"/>
                                        <p:tgtEl>
                                          <p:spTgt spid="12"/>
                                        </p:tgtEl>
                                      </p:cBhvr>
                                    </p:animEffect>
                                  </p:childTnLst>
                                </p:cTn>
                              </p:par>
                            </p:childTnLst>
                          </p:cTn>
                        </p:par>
                        <p:par>
                          <p:cTn id="81" fill="hold">
                            <p:stCondLst>
                              <p:cond delay="3000"/>
                            </p:stCondLst>
                            <p:childTnLst>
                              <p:par>
                                <p:cTn id="82" presetID="22" presetClass="entr" presetSubtype="8" fill="hold" grpId="0" nodeType="afterEffect">
                                  <p:stCondLst>
                                    <p:cond delay="0"/>
                                  </p:stCondLst>
                                  <p:childTnLst>
                                    <p:set>
                                      <p:cBhvr>
                                        <p:cTn id="83" dur="1" fill="hold">
                                          <p:stCondLst>
                                            <p:cond delay="0"/>
                                          </p:stCondLst>
                                        </p:cTn>
                                        <p:tgtEl>
                                          <p:spTgt spid="16"/>
                                        </p:tgtEl>
                                        <p:attrNameLst>
                                          <p:attrName>style.visibility</p:attrName>
                                        </p:attrNameLst>
                                      </p:cBhvr>
                                      <p:to>
                                        <p:strVal val="visible"/>
                                      </p:to>
                                    </p:set>
                                    <p:animEffect transition="in" filter="wipe(left)">
                                      <p:cBhvr>
                                        <p:cTn id="84" dur="1000"/>
                                        <p:tgtEl>
                                          <p:spTgt spid="16"/>
                                        </p:tgtEl>
                                      </p:cBhvr>
                                    </p:animEffect>
                                  </p:childTnLst>
                                </p:cTn>
                              </p:par>
                            </p:childTnLst>
                          </p:cTn>
                        </p:par>
                      </p:childTnLst>
                    </p:cTn>
                  </p:par>
                  <p:par>
                    <p:cTn id="85" fill="hold">
                      <p:stCondLst>
                        <p:cond delay="indefinite"/>
                      </p:stCondLst>
                      <p:childTnLst>
                        <p:par>
                          <p:cTn id="86" fill="hold">
                            <p:stCondLst>
                              <p:cond delay="0"/>
                            </p:stCondLst>
                            <p:childTnLst>
                              <p:par>
                                <p:cTn id="87" presetID="22" presetClass="entr" presetSubtype="8" fill="hold" grpId="0" nodeType="clickEffect">
                                  <p:stCondLst>
                                    <p:cond delay="0"/>
                                  </p:stCondLst>
                                  <p:childTnLst>
                                    <p:set>
                                      <p:cBhvr>
                                        <p:cTn id="88" dur="1" fill="hold">
                                          <p:stCondLst>
                                            <p:cond delay="0"/>
                                          </p:stCondLst>
                                        </p:cTn>
                                        <p:tgtEl>
                                          <p:spTgt spid="20"/>
                                        </p:tgtEl>
                                        <p:attrNameLst>
                                          <p:attrName>style.visibility</p:attrName>
                                        </p:attrNameLst>
                                      </p:cBhvr>
                                      <p:to>
                                        <p:strVal val="visible"/>
                                      </p:to>
                                    </p:set>
                                    <p:animEffect transition="in" filter="wipe(left)">
                                      <p:cBhvr>
                                        <p:cTn id="89" dur="1000"/>
                                        <p:tgtEl>
                                          <p:spTgt spid="20"/>
                                        </p:tgtEl>
                                      </p:cBhvr>
                                    </p:animEffect>
                                  </p:childTnLst>
                                </p:cTn>
                              </p:par>
                            </p:childTnLst>
                          </p:cTn>
                        </p:par>
                        <p:par>
                          <p:cTn id="90" fill="hold">
                            <p:stCondLst>
                              <p:cond delay="1000"/>
                            </p:stCondLst>
                            <p:childTnLst>
                              <p:par>
                                <p:cTn id="91" presetID="22" presetClass="entr" presetSubtype="8" fill="hold" grpId="0" nodeType="afterEffect">
                                  <p:stCondLst>
                                    <p:cond delay="0"/>
                                  </p:stCondLst>
                                  <p:childTnLst>
                                    <p:set>
                                      <p:cBhvr>
                                        <p:cTn id="92" dur="1" fill="hold">
                                          <p:stCondLst>
                                            <p:cond delay="0"/>
                                          </p:stCondLst>
                                        </p:cTn>
                                        <p:tgtEl>
                                          <p:spTgt spid="21"/>
                                        </p:tgtEl>
                                        <p:attrNameLst>
                                          <p:attrName>style.visibility</p:attrName>
                                        </p:attrNameLst>
                                      </p:cBhvr>
                                      <p:to>
                                        <p:strVal val="visible"/>
                                      </p:to>
                                    </p:set>
                                    <p:animEffect transition="in" filter="wipe(left)">
                                      <p:cBhvr>
                                        <p:cTn id="93" dur="1000"/>
                                        <p:tgtEl>
                                          <p:spTgt spid="2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P spid="7" grpId="0" animBg="1"/>
      <p:bldP spid="8" grpId="0" animBg="1"/>
      <p:bldP spid="9" grpId="0" animBg="1"/>
      <p:bldP spid="11" grpId="0" animBg="1"/>
      <p:bldP spid="12" grpId="0" animBg="1"/>
      <p:bldP spid="13" grpId="0" animBg="1"/>
      <p:bldP spid="14" grpId="0" animBg="1"/>
      <p:bldP spid="15" grpId="0" animBg="1"/>
      <p:bldP spid="16" grpId="0" animBg="1"/>
      <p:bldP spid="17" grpId="0"/>
      <p:bldP spid="18" grpId="0"/>
      <p:bldP spid="19" grpId="0"/>
      <p:bldP spid="20" grpId="0" animBg="1"/>
      <p:bldP spid="21" grpId="0" animBg="1"/>
      <p:bldP spid="27" grpId="0" animBg="1"/>
      <p:bldP spid="10" grpId="0"/>
    </p:bldLst>
  </p:timing>
</p:sld>
</file>

<file path=ppt/slides/slide256.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graphicFrame>
        <p:nvGraphicFramePr>
          <p:cNvPr id="2" name="Table 1">
            <a:extLst>
              <a:ext uri="{FF2B5EF4-FFF2-40B4-BE49-F238E27FC236}">
                <a16:creationId xmlns:a16="http://schemas.microsoft.com/office/drawing/2014/main" id="{9DC68C19-351A-3231-597F-BFCBD4B88260}"/>
              </a:ext>
            </a:extLst>
          </p:cNvPr>
          <p:cNvGraphicFramePr>
            <a:graphicFrameLocks noGrp="1"/>
          </p:cNvGraphicFramePr>
          <p:nvPr/>
        </p:nvGraphicFramePr>
        <p:xfrm>
          <a:off x="619125" y="2781028"/>
          <a:ext cx="2854834" cy="1619250"/>
        </p:xfrm>
        <a:graphic>
          <a:graphicData uri="http://schemas.openxmlformats.org/drawingml/2006/table">
            <a:tbl>
              <a:tblPr firstRow="1" bandRow="1">
                <a:tableStyleId>{5C22544A-7EE6-4342-B048-85BDC9FD1C3A}</a:tableStyleId>
              </a:tblPr>
              <a:tblGrid>
                <a:gridCol w="350838">
                  <a:extLst>
                    <a:ext uri="{9D8B030D-6E8A-4147-A177-3AD203B41FA5}">
                      <a16:colId xmlns:a16="http://schemas.microsoft.com/office/drawing/2014/main" val="2523559592"/>
                    </a:ext>
                  </a:extLst>
                </a:gridCol>
                <a:gridCol w="758825">
                  <a:extLst>
                    <a:ext uri="{9D8B030D-6E8A-4147-A177-3AD203B41FA5}">
                      <a16:colId xmlns:a16="http://schemas.microsoft.com/office/drawing/2014/main" val="1403983340"/>
                    </a:ext>
                  </a:extLst>
                </a:gridCol>
                <a:gridCol w="1220216">
                  <a:extLst>
                    <a:ext uri="{9D8B030D-6E8A-4147-A177-3AD203B41FA5}">
                      <a16:colId xmlns:a16="http://schemas.microsoft.com/office/drawing/2014/main" val="1499656012"/>
                    </a:ext>
                  </a:extLst>
                </a:gridCol>
                <a:gridCol w="524955">
                  <a:extLst>
                    <a:ext uri="{9D8B030D-6E8A-4147-A177-3AD203B41FA5}">
                      <a16:colId xmlns:a16="http://schemas.microsoft.com/office/drawing/2014/main" val="597331328"/>
                    </a:ext>
                  </a:extLst>
                </a:gridCol>
              </a:tblGrid>
              <a:tr h="0">
                <a:tc>
                  <a:txBody>
                    <a:bodyPr/>
                    <a:lstStyle/>
                    <a:p>
                      <a:pPr algn="l"/>
                      <a:r>
                        <a:rPr lang="en-GB" sz="2000" b="0" dirty="0">
                          <a:solidFill>
                            <a:srgbClr val="F0F0F0"/>
                          </a:solidFill>
                          <a:effectLst/>
                        </a:rPr>
                        <a:t>id</a:t>
                      </a:r>
                      <a:endParaRPr lang="en-GB" sz="2000" b="0" i="0" dirty="0">
                        <a:solidFill>
                          <a:srgbClr val="F0F0F0"/>
                        </a:solidFill>
                        <a:effectLst/>
                        <a:latin typeface="Consolas" panose="020B0609020204030204" pitchFamily="49" charset="0"/>
                      </a:endParaRPr>
                    </a:p>
                  </a:txBody>
                  <a:tcPr marL="9525" marR="9525" marT="9525" marB="9525" anchor="ctr"/>
                </a:tc>
                <a:tc>
                  <a:txBody>
                    <a:bodyPr/>
                    <a:lstStyle/>
                    <a:p>
                      <a:pPr algn="l"/>
                      <a:r>
                        <a:rPr lang="en-GB" sz="2000" b="0" dirty="0">
                          <a:solidFill>
                            <a:srgbClr val="F0F0F0"/>
                          </a:solidFill>
                          <a:effectLst/>
                        </a:rPr>
                        <a:t>name</a:t>
                      </a:r>
                      <a:endParaRPr lang="en-GB" sz="2000" b="0" i="0" dirty="0">
                        <a:solidFill>
                          <a:srgbClr val="F0F0F0"/>
                        </a:solidFill>
                        <a:effectLst/>
                        <a:latin typeface="Consolas" panose="020B0609020204030204" pitchFamily="49" charset="0"/>
                      </a:endParaRPr>
                    </a:p>
                  </a:txBody>
                  <a:tcPr marL="9525" marR="9525" marT="9525" marB="9525" anchor="ctr"/>
                </a:tc>
                <a:tc>
                  <a:txBody>
                    <a:bodyPr/>
                    <a:lstStyle/>
                    <a:p>
                      <a:pPr algn="l"/>
                      <a:r>
                        <a:rPr lang="en-GB" sz="2000" b="0" dirty="0">
                          <a:solidFill>
                            <a:srgbClr val="F0F0F0"/>
                          </a:solidFill>
                          <a:effectLst/>
                        </a:rPr>
                        <a:t>role</a:t>
                      </a:r>
                      <a:endParaRPr lang="en-GB" sz="2000" b="0" i="0" dirty="0">
                        <a:solidFill>
                          <a:srgbClr val="F0F0F0"/>
                        </a:solidFill>
                        <a:effectLst/>
                        <a:latin typeface="Consolas" panose="020B0609020204030204" pitchFamily="49" charset="0"/>
                      </a:endParaRPr>
                    </a:p>
                  </a:txBody>
                  <a:tcPr marL="9525" marR="9525" marT="9525" marB="9525" anchor="ctr"/>
                </a:tc>
                <a:tc>
                  <a:txBody>
                    <a:bodyPr/>
                    <a:lstStyle/>
                    <a:p>
                      <a:pPr algn="l"/>
                      <a:r>
                        <a:rPr lang="en-GB" sz="2000" b="0" dirty="0">
                          <a:solidFill>
                            <a:srgbClr val="F0F0F0"/>
                          </a:solidFill>
                          <a:effectLst/>
                        </a:rPr>
                        <a:t>age</a:t>
                      </a:r>
                      <a:endParaRPr lang="en-GB" sz="2000" b="0" i="0" dirty="0">
                        <a:solidFill>
                          <a:srgbClr val="F0F0F0"/>
                        </a:solidFill>
                        <a:effectLst/>
                        <a:latin typeface="Consolas" panose="020B0609020204030204" pitchFamily="49" charset="0"/>
                      </a:endParaRPr>
                    </a:p>
                  </a:txBody>
                  <a:tcPr marL="9525" marR="9525" marT="9525" marB="9525" anchor="ctr"/>
                </a:tc>
                <a:extLst>
                  <a:ext uri="{0D108BD9-81ED-4DB2-BD59-A6C34878D82A}">
                    <a16:rowId xmlns:a16="http://schemas.microsoft.com/office/drawing/2014/main" val="1792462098"/>
                  </a:ext>
                </a:extLst>
              </a:tr>
              <a:tr h="0">
                <a:tc>
                  <a:txBody>
                    <a:bodyPr/>
                    <a:lstStyle/>
                    <a:p>
                      <a:pPr algn="l"/>
                      <a:r>
                        <a:rPr lang="en-GB" sz="2000" b="0" dirty="0">
                          <a:solidFill>
                            <a:schemeClr val="tx1"/>
                          </a:solidFill>
                          <a:effectLst/>
                        </a:rPr>
                        <a:t>1</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Annie</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Developer</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34</a:t>
                      </a:r>
                      <a:endParaRPr lang="en-GB" sz="2000" b="0" i="0">
                        <a:solidFill>
                          <a:schemeClr val="tx1"/>
                        </a:solidFill>
                        <a:effectLst/>
                        <a:latin typeface="Consolas" panose="020B0609020204030204" pitchFamily="49" charset="0"/>
                      </a:endParaRPr>
                    </a:p>
                  </a:txBody>
                  <a:tcPr marL="9525" marR="9525" marT="9525" marB="9525" anchor="ctr"/>
                </a:tc>
                <a:extLst>
                  <a:ext uri="{0D108BD9-81ED-4DB2-BD59-A6C34878D82A}">
                    <a16:rowId xmlns:a16="http://schemas.microsoft.com/office/drawing/2014/main" val="1769612039"/>
                  </a:ext>
                </a:extLst>
              </a:tr>
              <a:tr h="0">
                <a:tc>
                  <a:txBody>
                    <a:bodyPr/>
                    <a:lstStyle/>
                    <a:p>
                      <a:pPr algn="l"/>
                      <a:r>
                        <a:rPr lang="en-GB" sz="2000" b="0" dirty="0">
                          <a:solidFill>
                            <a:schemeClr val="tx1"/>
                          </a:solidFill>
                          <a:effectLst/>
                        </a:rPr>
                        <a:t>2</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Chris</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Tester</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26</a:t>
                      </a:r>
                      <a:endParaRPr lang="en-GB" sz="2000" b="0" i="0">
                        <a:solidFill>
                          <a:schemeClr val="tx1"/>
                        </a:solidFill>
                        <a:effectLst/>
                        <a:latin typeface="Consolas" panose="020B0609020204030204" pitchFamily="49" charset="0"/>
                      </a:endParaRPr>
                    </a:p>
                  </a:txBody>
                  <a:tcPr marL="9525" marR="9525" marT="9525" marB="9525" anchor="ctr"/>
                </a:tc>
                <a:extLst>
                  <a:ext uri="{0D108BD9-81ED-4DB2-BD59-A6C34878D82A}">
                    <a16:rowId xmlns:a16="http://schemas.microsoft.com/office/drawing/2014/main" val="3232718168"/>
                  </a:ext>
                </a:extLst>
              </a:tr>
              <a:tr h="0">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Dan</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Designer</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35</a:t>
                      </a:r>
                      <a:endParaRPr lang="en-GB" sz="2000" b="0" i="0" dirty="0">
                        <a:solidFill>
                          <a:schemeClr val="tx1"/>
                        </a:solidFill>
                        <a:effectLst/>
                        <a:latin typeface="Consolas" panose="020B0609020204030204" pitchFamily="49" charset="0"/>
                      </a:endParaRPr>
                    </a:p>
                  </a:txBody>
                  <a:tcPr marL="9525" marR="9525" marT="9525" marB="9525" anchor="ctr"/>
                </a:tc>
                <a:extLst>
                  <a:ext uri="{0D108BD9-81ED-4DB2-BD59-A6C34878D82A}">
                    <a16:rowId xmlns:a16="http://schemas.microsoft.com/office/drawing/2014/main" val="63993366"/>
                  </a:ext>
                </a:extLst>
              </a:tr>
              <a:tr h="0">
                <a:tc>
                  <a:txBody>
                    <a:bodyPr/>
                    <a:lstStyle/>
                    <a:p>
                      <a:pPr algn="l"/>
                      <a:r>
                        <a:rPr lang="en-GB" sz="2000" b="0">
                          <a:solidFill>
                            <a:schemeClr val="tx1"/>
                          </a:solidFill>
                          <a:effectLst/>
                        </a:rPr>
                        <a:t>4</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Erin</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Developer</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24</a:t>
                      </a:r>
                      <a:endParaRPr lang="en-GB" sz="2000" b="0" i="0" dirty="0">
                        <a:solidFill>
                          <a:schemeClr val="tx1"/>
                        </a:solidFill>
                        <a:effectLst/>
                        <a:latin typeface="Consolas" panose="020B0609020204030204" pitchFamily="49" charset="0"/>
                      </a:endParaRPr>
                    </a:p>
                  </a:txBody>
                  <a:tcPr marL="9525" marR="9525" marT="9525" marB="9525" anchor="ctr"/>
                </a:tc>
                <a:extLst>
                  <a:ext uri="{0D108BD9-81ED-4DB2-BD59-A6C34878D82A}">
                    <a16:rowId xmlns:a16="http://schemas.microsoft.com/office/drawing/2014/main" val="4027345491"/>
                  </a:ext>
                </a:extLst>
              </a:tr>
            </a:tbl>
          </a:graphicData>
        </a:graphic>
      </p:graphicFrame>
      <p:graphicFrame>
        <p:nvGraphicFramePr>
          <p:cNvPr id="3" name="Table 2">
            <a:extLst>
              <a:ext uri="{FF2B5EF4-FFF2-40B4-BE49-F238E27FC236}">
                <a16:creationId xmlns:a16="http://schemas.microsoft.com/office/drawing/2014/main" id="{06073312-7797-7B0B-4431-5CE3C3EE5C84}"/>
              </a:ext>
            </a:extLst>
          </p:cNvPr>
          <p:cNvGraphicFramePr>
            <a:graphicFrameLocks noGrp="1"/>
          </p:cNvGraphicFramePr>
          <p:nvPr/>
        </p:nvGraphicFramePr>
        <p:xfrm>
          <a:off x="619124" y="5000353"/>
          <a:ext cx="3587370" cy="1295400"/>
        </p:xfrm>
        <a:graphic>
          <a:graphicData uri="http://schemas.openxmlformats.org/drawingml/2006/table">
            <a:tbl>
              <a:tblPr firstRow="1" bandRow="1">
                <a:tableStyleId>{5C22544A-7EE6-4342-B048-85BDC9FD1C3A}</a:tableStyleId>
              </a:tblPr>
              <a:tblGrid>
                <a:gridCol w="350838">
                  <a:extLst>
                    <a:ext uri="{9D8B030D-6E8A-4147-A177-3AD203B41FA5}">
                      <a16:colId xmlns:a16="http://schemas.microsoft.com/office/drawing/2014/main" val="3256478413"/>
                    </a:ext>
                  </a:extLst>
                </a:gridCol>
                <a:gridCol w="821881">
                  <a:extLst>
                    <a:ext uri="{9D8B030D-6E8A-4147-A177-3AD203B41FA5}">
                      <a16:colId xmlns:a16="http://schemas.microsoft.com/office/drawing/2014/main" val="1068228606"/>
                    </a:ext>
                  </a:extLst>
                </a:gridCol>
                <a:gridCol w="1343025">
                  <a:extLst>
                    <a:ext uri="{9D8B030D-6E8A-4147-A177-3AD203B41FA5}">
                      <a16:colId xmlns:a16="http://schemas.microsoft.com/office/drawing/2014/main" val="4251197381"/>
                    </a:ext>
                  </a:extLst>
                </a:gridCol>
                <a:gridCol w="1071626">
                  <a:extLst>
                    <a:ext uri="{9D8B030D-6E8A-4147-A177-3AD203B41FA5}">
                      <a16:colId xmlns:a16="http://schemas.microsoft.com/office/drawing/2014/main" val="4203844202"/>
                    </a:ext>
                  </a:extLst>
                </a:gridCol>
              </a:tblGrid>
              <a:tr h="0">
                <a:tc>
                  <a:txBody>
                    <a:bodyPr/>
                    <a:lstStyle/>
                    <a:p>
                      <a:pPr algn="l"/>
                      <a:r>
                        <a:rPr lang="en-GB" sz="2000" b="0" dirty="0">
                          <a:solidFill>
                            <a:srgbClr val="F0F0F0"/>
                          </a:solidFill>
                          <a:effectLst/>
                        </a:rPr>
                        <a:t>id</a:t>
                      </a:r>
                      <a:endParaRPr lang="en-GB" sz="2000" b="0" i="0" dirty="0">
                        <a:solidFill>
                          <a:srgbClr val="F0F0F0"/>
                        </a:solidFill>
                        <a:effectLst/>
                        <a:latin typeface="Consolas" panose="020B0609020204030204" pitchFamily="49" charset="0"/>
                      </a:endParaRPr>
                    </a:p>
                  </a:txBody>
                  <a:tcPr marL="9525" marR="9525" marT="9525" marB="9525" anchor="ctr"/>
                </a:tc>
                <a:tc>
                  <a:txBody>
                    <a:bodyPr/>
                    <a:lstStyle/>
                    <a:p>
                      <a:pPr algn="l"/>
                      <a:r>
                        <a:rPr lang="en-GB" sz="2000" b="0" dirty="0">
                          <a:solidFill>
                            <a:srgbClr val="F0F0F0"/>
                          </a:solidFill>
                          <a:effectLst/>
                        </a:rPr>
                        <a:t>laptop</a:t>
                      </a:r>
                      <a:endParaRPr lang="en-GB" sz="2000" b="0" i="0" dirty="0">
                        <a:solidFill>
                          <a:srgbClr val="F0F0F0"/>
                        </a:solidFill>
                        <a:effectLst/>
                        <a:latin typeface="Consolas" panose="020B0609020204030204" pitchFamily="49" charset="0"/>
                      </a:endParaRPr>
                    </a:p>
                  </a:txBody>
                  <a:tcPr marL="9525" marR="9525" marT="9525" marB="9525" anchor="ctr"/>
                </a:tc>
                <a:tc>
                  <a:txBody>
                    <a:bodyPr/>
                    <a:lstStyle/>
                    <a:p>
                      <a:pPr algn="l"/>
                      <a:r>
                        <a:rPr lang="en-GB" sz="2000" b="0" dirty="0">
                          <a:solidFill>
                            <a:srgbClr val="F0F0F0"/>
                          </a:solidFill>
                          <a:effectLst/>
                        </a:rPr>
                        <a:t>date</a:t>
                      </a:r>
                      <a:endParaRPr lang="en-GB" sz="2000" b="0" i="0" dirty="0">
                        <a:solidFill>
                          <a:srgbClr val="F0F0F0"/>
                        </a:solidFill>
                        <a:effectLst/>
                        <a:latin typeface="Consolas" panose="020B0609020204030204" pitchFamily="49" charset="0"/>
                      </a:endParaRPr>
                    </a:p>
                  </a:txBody>
                  <a:tcPr marL="9525" marR="9525" marT="9525" marB="9525" anchor="ctr"/>
                </a:tc>
                <a:tc>
                  <a:txBody>
                    <a:bodyPr/>
                    <a:lstStyle/>
                    <a:p>
                      <a:pPr algn="l"/>
                      <a:r>
                        <a:rPr lang="en-GB" sz="2000" b="0" dirty="0">
                          <a:solidFill>
                            <a:srgbClr val="F0F0F0"/>
                          </a:solidFill>
                          <a:effectLst/>
                        </a:rPr>
                        <a:t>returned</a:t>
                      </a:r>
                      <a:endParaRPr lang="en-GB" sz="2000" b="0" i="0" dirty="0">
                        <a:solidFill>
                          <a:srgbClr val="F0F0F0"/>
                        </a:solidFill>
                        <a:effectLst/>
                        <a:latin typeface="Consolas" panose="020B0609020204030204" pitchFamily="49" charset="0"/>
                      </a:endParaRPr>
                    </a:p>
                  </a:txBody>
                  <a:tcPr marL="9525" marR="9525" marT="9525" marB="9525" anchor="ctr"/>
                </a:tc>
                <a:extLst>
                  <a:ext uri="{0D108BD9-81ED-4DB2-BD59-A6C34878D82A}">
                    <a16:rowId xmlns:a16="http://schemas.microsoft.com/office/drawing/2014/main" val="403325007"/>
                  </a:ext>
                </a:extLst>
              </a:tr>
              <a:tr h="0">
                <a:tc>
                  <a:txBody>
                    <a:bodyPr/>
                    <a:lstStyle/>
                    <a:p>
                      <a:pPr algn="l"/>
                      <a:r>
                        <a:rPr lang="en-GB" sz="2000" b="0" dirty="0">
                          <a:solidFill>
                            <a:schemeClr val="tx1"/>
                          </a:solidFill>
                          <a:effectLst/>
                        </a:rPr>
                        <a:t>3</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2023-10-01</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i="0" dirty="0">
                          <a:solidFill>
                            <a:schemeClr val="tx1"/>
                          </a:solidFill>
                          <a:effectLst/>
                          <a:latin typeface="Consolas" panose="020B0609020204030204" pitchFamily="49" charset="0"/>
                        </a:rPr>
                        <a:t>TRUE</a:t>
                      </a:r>
                    </a:p>
                  </a:txBody>
                  <a:tcPr marL="9525" marR="9525" marT="9525" marB="9525" anchor="ctr"/>
                </a:tc>
                <a:extLst>
                  <a:ext uri="{0D108BD9-81ED-4DB2-BD59-A6C34878D82A}">
                    <a16:rowId xmlns:a16="http://schemas.microsoft.com/office/drawing/2014/main" val="3475014627"/>
                  </a:ext>
                </a:extLst>
              </a:tr>
              <a:tr h="0">
                <a:tc>
                  <a:txBody>
                    <a:bodyPr/>
                    <a:lstStyle/>
                    <a:p>
                      <a:pPr algn="l"/>
                      <a:r>
                        <a:rPr lang="en-GB" sz="2000" b="0">
                          <a:solidFill>
                            <a:schemeClr val="tx1"/>
                          </a:solidFill>
                          <a:effectLst/>
                        </a:rPr>
                        <a:t>4</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2023-11-30</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840425680"/>
                  </a:ext>
                </a:extLst>
              </a:tr>
              <a:tr h="0">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2023-12-21</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3483234437"/>
                  </a:ext>
                </a:extLst>
              </a:tr>
            </a:tbl>
          </a:graphicData>
        </a:graphic>
      </p:graphicFrame>
      <p:sp>
        <p:nvSpPr>
          <p:cNvPr id="4" name="Title 3">
            <a:extLst>
              <a:ext uri="{FF2B5EF4-FFF2-40B4-BE49-F238E27FC236}">
                <a16:creationId xmlns:a16="http://schemas.microsoft.com/office/drawing/2014/main" id="{08C76DEA-F650-51AB-7EE7-9B3064808EC0}"/>
              </a:ext>
            </a:extLst>
          </p:cNvPr>
          <p:cNvSpPr>
            <a:spLocks noGrp="1"/>
          </p:cNvSpPr>
          <p:nvPr>
            <p:ph type="title"/>
          </p:nvPr>
        </p:nvSpPr>
        <p:spPr/>
        <p:txBody>
          <a:bodyPr/>
          <a:lstStyle/>
          <a:p>
            <a:r>
              <a:rPr lang="en-GB" dirty="0"/>
              <a:t>Joining Two Tables</a:t>
            </a:r>
          </a:p>
        </p:txBody>
      </p:sp>
      <p:sp>
        <p:nvSpPr>
          <p:cNvPr id="6" name="Rectangle 1">
            <a:extLst>
              <a:ext uri="{FF2B5EF4-FFF2-40B4-BE49-F238E27FC236}">
                <a16:creationId xmlns:a16="http://schemas.microsoft.com/office/drawing/2014/main" id="{C460184D-D803-F499-E82E-972FB39F9288}"/>
              </a:ext>
            </a:extLst>
          </p:cNvPr>
          <p:cNvSpPr>
            <a:spLocks noChangeArrowheads="1"/>
          </p:cNvSpPr>
          <p:nvPr/>
        </p:nvSpPr>
        <p:spPr bwMode="auto">
          <a:xfrm>
            <a:off x="619125" y="1678614"/>
            <a:ext cx="4557658" cy="70788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name, laptop, returned</a:t>
            </a:r>
            <a:endParaRPr kumimoji="0" lang="en-US" altLang="en-US" sz="2000" b="0" i="0" u="none" strike="noStrike" cap="none" normalizeH="0" baseline="0" dirty="0">
              <a:ln>
                <a:noFill/>
              </a:ln>
              <a:solidFill>
                <a:srgbClr val="000000"/>
              </a:solidFill>
              <a:effectLst/>
              <a:latin typeface="Consolas" panose="020B0609020204030204" pitchFamily="49" charset="0"/>
            </a:endParaRPr>
          </a:p>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2000" b="0" i="0" u="none" strike="noStrike" cap="none" normalizeH="0" baseline="0" dirty="0">
                <a:ln>
                  <a:noFill/>
                </a:ln>
                <a:solidFill>
                  <a:srgbClr val="B2B2B2"/>
                </a:solidFill>
                <a:effectLst/>
                <a:latin typeface="Consolas" panose="020B0609020204030204" pitchFamily="49" charset="0"/>
              </a:rPr>
              <a:t>2 </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kumimoji="0" lang="en-US" altLang="en-US" sz="2000" b="0" i="0" u="none" strike="noStrike" cap="none" normalizeH="0" baseline="0" dirty="0">
                <a:ln>
                  <a:noFill/>
                </a:ln>
                <a:solidFill>
                  <a:srgbClr val="A71D5D"/>
                </a:solidFill>
                <a:effectLst/>
                <a:latin typeface="Consolas" panose="020B0609020204030204" pitchFamily="49" charset="0"/>
              </a:rPr>
              <a:t>FROM</a:t>
            </a:r>
            <a:r>
              <a:rPr kumimoji="0" lang="en-US" altLang="en-US" sz="2000" b="0" i="0" u="none" strike="noStrike" cap="none" normalizeH="0" baseline="0" dirty="0">
                <a:ln>
                  <a:noFill/>
                </a:ln>
                <a:solidFill>
                  <a:srgbClr val="000000"/>
                </a:solidFill>
                <a:effectLst/>
                <a:latin typeface="Consolas" panose="020B0609020204030204" pitchFamily="49" charset="0"/>
              </a:rPr>
              <a:t> Employee, Borrow;</a:t>
            </a:r>
            <a:endParaRPr kumimoji="0" lang="en-US" altLang="en-US" sz="3200" b="0" i="0" u="none" strike="noStrike" cap="none" normalizeH="0" baseline="0" dirty="0">
              <a:ln>
                <a:noFill/>
              </a:ln>
              <a:solidFill>
                <a:schemeClr val="tx1"/>
              </a:solidFill>
              <a:effectLst/>
              <a:latin typeface="Arial" panose="020B0604020202020204" pitchFamily="34" charset="0"/>
            </a:endParaRPr>
          </a:p>
        </p:txBody>
      </p:sp>
      <p:sp>
        <p:nvSpPr>
          <p:cNvPr id="17" name="TextBox 16">
            <a:extLst>
              <a:ext uri="{FF2B5EF4-FFF2-40B4-BE49-F238E27FC236}">
                <a16:creationId xmlns:a16="http://schemas.microsoft.com/office/drawing/2014/main" id="{37697A85-FE4A-5F49-87D3-DF60452AD532}"/>
              </a:ext>
            </a:extLst>
          </p:cNvPr>
          <p:cNvSpPr txBox="1"/>
          <p:nvPr/>
        </p:nvSpPr>
        <p:spPr>
          <a:xfrm>
            <a:off x="533400" y="2481943"/>
            <a:ext cx="1771650" cy="369332"/>
          </a:xfrm>
          <a:prstGeom prst="rect">
            <a:avLst/>
          </a:prstGeom>
          <a:noFill/>
        </p:spPr>
        <p:txBody>
          <a:bodyPr wrap="square" rtlCol="0">
            <a:spAutoFit/>
          </a:bodyPr>
          <a:lstStyle/>
          <a:p>
            <a:r>
              <a:rPr lang="en-GB" b="1" dirty="0"/>
              <a:t>Table: Employee</a:t>
            </a:r>
          </a:p>
        </p:txBody>
      </p:sp>
      <p:sp>
        <p:nvSpPr>
          <p:cNvPr id="18" name="TextBox 17">
            <a:extLst>
              <a:ext uri="{FF2B5EF4-FFF2-40B4-BE49-F238E27FC236}">
                <a16:creationId xmlns:a16="http://schemas.microsoft.com/office/drawing/2014/main" id="{2BBBEDEE-6D85-8C2C-E803-4AAFF578343C}"/>
              </a:ext>
            </a:extLst>
          </p:cNvPr>
          <p:cNvSpPr txBox="1"/>
          <p:nvPr/>
        </p:nvSpPr>
        <p:spPr>
          <a:xfrm>
            <a:off x="533399" y="4679165"/>
            <a:ext cx="1533526" cy="369332"/>
          </a:xfrm>
          <a:prstGeom prst="rect">
            <a:avLst/>
          </a:prstGeom>
          <a:noFill/>
        </p:spPr>
        <p:txBody>
          <a:bodyPr wrap="square" rtlCol="0">
            <a:spAutoFit/>
          </a:bodyPr>
          <a:lstStyle/>
          <a:p>
            <a:r>
              <a:rPr lang="en-GB" b="1" dirty="0"/>
              <a:t>Table: Borrow</a:t>
            </a:r>
          </a:p>
        </p:txBody>
      </p:sp>
      <p:graphicFrame>
        <p:nvGraphicFramePr>
          <p:cNvPr id="10" name="Table 9">
            <a:extLst>
              <a:ext uri="{FF2B5EF4-FFF2-40B4-BE49-F238E27FC236}">
                <a16:creationId xmlns:a16="http://schemas.microsoft.com/office/drawing/2014/main" id="{27447668-FB30-E0E5-4E84-12B3C9B657C5}"/>
              </a:ext>
            </a:extLst>
          </p:cNvPr>
          <p:cNvGraphicFramePr>
            <a:graphicFrameLocks noGrp="1"/>
          </p:cNvGraphicFramePr>
          <p:nvPr/>
        </p:nvGraphicFramePr>
        <p:xfrm>
          <a:off x="5210175" y="2142906"/>
          <a:ext cx="6732017" cy="4210050"/>
        </p:xfrm>
        <a:graphic>
          <a:graphicData uri="http://schemas.openxmlformats.org/drawingml/2006/table">
            <a:tbl>
              <a:tblPr firstRow="1" bandRow="1">
                <a:tableStyleId>{5C22544A-7EE6-4342-B048-85BDC9FD1C3A}</a:tableStyleId>
              </a:tblPr>
              <a:tblGrid>
                <a:gridCol w="438150">
                  <a:extLst>
                    <a:ext uri="{9D8B030D-6E8A-4147-A177-3AD203B41FA5}">
                      <a16:colId xmlns:a16="http://schemas.microsoft.com/office/drawing/2014/main" val="2118093387"/>
                    </a:ext>
                  </a:extLst>
                </a:gridCol>
                <a:gridCol w="758825">
                  <a:extLst>
                    <a:ext uri="{9D8B030D-6E8A-4147-A177-3AD203B41FA5}">
                      <a16:colId xmlns:a16="http://schemas.microsoft.com/office/drawing/2014/main" val="2785336854"/>
                    </a:ext>
                  </a:extLst>
                </a:gridCol>
                <a:gridCol w="1220216">
                  <a:extLst>
                    <a:ext uri="{9D8B030D-6E8A-4147-A177-3AD203B41FA5}">
                      <a16:colId xmlns:a16="http://schemas.microsoft.com/office/drawing/2014/main" val="817480638"/>
                    </a:ext>
                  </a:extLst>
                </a:gridCol>
                <a:gridCol w="520700">
                  <a:extLst>
                    <a:ext uri="{9D8B030D-6E8A-4147-A177-3AD203B41FA5}">
                      <a16:colId xmlns:a16="http://schemas.microsoft.com/office/drawing/2014/main" val="3492903121"/>
                    </a:ext>
                  </a:extLst>
                </a:gridCol>
                <a:gridCol w="438150">
                  <a:extLst>
                    <a:ext uri="{9D8B030D-6E8A-4147-A177-3AD203B41FA5}">
                      <a16:colId xmlns:a16="http://schemas.microsoft.com/office/drawing/2014/main" val="2638527360"/>
                    </a:ext>
                  </a:extLst>
                </a:gridCol>
                <a:gridCol w="996950">
                  <a:extLst>
                    <a:ext uri="{9D8B030D-6E8A-4147-A177-3AD203B41FA5}">
                      <a16:colId xmlns:a16="http://schemas.microsoft.com/office/drawing/2014/main" val="2033619082"/>
                    </a:ext>
                  </a:extLst>
                </a:gridCol>
                <a:gridCol w="1211263">
                  <a:extLst>
                    <a:ext uri="{9D8B030D-6E8A-4147-A177-3AD203B41FA5}">
                      <a16:colId xmlns:a16="http://schemas.microsoft.com/office/drawing/2014/main" val="3683807378"/>
                    </a:ext>
                  </a:extLst>
                </a:gridCol>
                <a:gridCol w="1147763">
                  <a:extLst>
                    <a:ext uri="{9D8B030D-6E8A-4147-A177-3AD203B41FA5}">
                      <a16:colId xmlns:a16="http://schemas.microsoft.com/office/drawing/2014/main" val="2991623495"/>
                    </a:ext>
                  </a:extLst>
                </a:gridCol>
              </a:tblGrid>
              <a:tr h="0">
                <a:tc>
                  <a:txBody>
                    <a:bodyPr/>
                    <a:lstStyle/>
                    <a:p>
                      <a:pPr algn="l"/>
                      <a:r>
                        <a:rPr lang="en-GB" sz="2000" b="0" i="0" dirty="0">
                          <a:solidFill>
                            <a:schemeClr val="bg1"/>
                          </a:solidFill>
                          <a:effectLst/>
                          <a:latin typeface="Consolas" panose="020B0609020204030204" pitchFamily="49" charset="0"/>
                        </a:rPr>
                        <a:t>id</a:t>
                      </a:r>
                    </a:p>
                  </a:txBody>
                  <a:tcPr marL="9525" marR="9525" marT="9525" marB="9525" anchor="ctr"/>
                </a:tc>
                <a:tc>
                  <a:txBody>
                    <a:bodyPr/>
                    <a:lstStyle/>
                    <a:p>
                      <a:pPr algn="l"/>
                      <a:r>
                        <a:rPr lang="en-GB" sz="2000" b="0" i="0" dirty="0">
                          <a:solidFill>
                            <a:schemeClr val="bg1"/>
                          </a:solidFill>
                          <a:effectLst/>
                          <a:latin typeface="Consolas" panose="020B0609020204030204" pitchFamily="49" charset="0"/>
                        </a:rPr>
                        <a:t>name</a:t>
                      </a:r>
                    </a:p>
                  </a:txBody>
                  <a:tcPr marL="9525" marR="9525" marT="9525" marB="9525" anchor="ctr"/>
                </a:tc>
                <a:tc>
                  <a:txBody>
                    <a:bodyPr/>
                    <a:lstStyle/>
                    <a:p>
                      <a:pPr algn="l"/>
                      <a:r>
                        <a:rPr lang="en-GB" sz="2000" b="0" i="0" dirty="0">
                          <a:solidFill>
                            <a:schemeClr val="bg1"/>
                          </a:solidFill>
                          <a:effectLst/>
                          <a:latin typeface="Consolas" panose="020B0609020204030204" pitchFamily="49" charset="0"/>
                        </a:rPr>
                        <a:t>role</a:t>
                      </a:r>
                    </a:p>
                  </a:txBody>
                  <a:tcPr marL="9525" marR="9525" marT="9525" marB="9525" anchor="ctr"/>
                </a:tc>
                <a:tc>
                  <a:txBody>
                    <a:bodyPr/>
                    <a:lstStyle/>
                    <a:p>
                      <a:pPr algn="l"/>
                      <a:r>
                        <a:rPr lang="en-GB" sz="2000" b="0" i="0" dirty="0">
                          <a:solidFill>
                            <a:schemeClr val="bg1"/>
                          </a:solidFill>
                          <a:effectLst/>
                          <a:latin typeface="Consolas" panose="020B0609020204030204" pitchFamily="49" charset="0"/>
                        </a:rPr>
                        <a:t>age</a:t>
                      </a:r>
                    </a:p>
                  </a:txBody>
                  <a:tcPr marL="9525" marR="9525" marT="9525" marB="9525" anchor="ctr"/>
                </a:tc>
                <a:tc>
                  <a:txBody>
                    <a:bodyPr/>
                    <a:lstStyle/>
                    <a:p>
                      <a:pPr algn="l"/>
                      <a:r>
                        <a:rPr lang="en-GB" sz="2000" b="0" i="0" dirty="0">
                          <a:solidFill>
                            <a:schemeClr val="bg1"/>
                          </a:solidFill>
                          <a:effectLst/>
                          <a:latin typeface="Consolas" panose="020B0609020204030204" pitchFamily="49" charset="0"/>
                        </a:rPr>
                        <a:t>id</a:t>
                      </a:r>
                    </a:p>
                  </a:txBody>
                  <a:tcPr marL="9525" marR="9525" marT="9525" marB="9525" anchor="ctr"/>
                </a:tc>
                <a:tc>
                  <a:txBody>
                    <a:bodyPr/>
                    <a:lstStyle/>
                    <a:p>
                      <a:pPr algn="l"/>
                      <a:r>
                        <a:rPr lang="en-GB" sz="2000" b="0" i="0" dirty="0">
                          <a:solidFill>
                            <a:schemeClr val="bg1"/>
                          </a:solidFill>
                          <a:effectLst/>
                          <a:latin typeface="Consolas" panose="020B0609020204030204" pitchFamily="49" charset="0"/>
                        </a:rPr>
                        <a:t>laptop</a:t>
                      </a:r>
                    </a:p>
                  </a:txBody>
                  <a:tcPr marL="9525" marR="9525" marT="9525" marB="9525" anchor="ctr"/>
                </a:tc>
                <a:tc>
                  <a:txBody>
                    <a:bodyPr/>
                    <a:lstStyle/>
                    <a:p>
                      <a:pPr algn="l"/>
                      <a:r>
                        <a:rPr lang="en-GB" sz="2000" b="0" i="0" dirty="0">
                          <a:solidFill>
                            <a:schemeClr val="bg1"/>
                          </a:solidFill>
                          <a:effectLst/>
                          <a:latin typeface="Consolas" panose="020B0609020204030204" pitchFamily="49" charset="0"/>
                        </a:rPr>
                        <a:t>date</a:t>
                      </a:r>
                    </a:p>
                  </a:txBody>
                  <a:tcPr marL="9525" marR="9525" marT="9525" marB="9525" anchor="ctr"/>
                </a:tc>
                <a:tc>
                  <a:txBody>
                    <a:bodyPr/>
                    <a:lstStyle/>
                    <a:p>
                      <a:pPr algn="l"/>
                      <a:r>
                        <a:rPr lang="en-GB" sz="2000" b="0" i="0" dirty="0">
                          <a:solidFill>
                            <a:schemeClr val="bg1"/>
                          </a:solidFill>
                          <a:effectLst/>
                          <a:latin typeface="Consolas" panose="020B0609020204030204" pitchFamily="49" charset="0"/>
                        </a:rPr>
                        <a:t>returned</a:t>
                      </a:r>
                    </a:p>
                  </a:txBody>
                  <a:tcPr marL="9525" marR="9525" marT="9525" marB="9525" anchor="ctr"/>
                </a:tc>
                <a:extLst>
                  <a:ext uri="{0D108BD9-81ED-4DB2-BD59-A6C34878D82A}">
                    <a16:rowId xmlns:a16="http://schemas.microsoft.com/office/drawing/2014/main" val="1325679939"/>
                  </a:ext>
                </a:extLst>
              </a:tr>
              <a:tr h="0">
                <a:tc>
                  <a:txBody>
                    <a:bodyPr/>
                    <a:lstStyle/>
                    <a:p>
                      <a:pPr algn="l"/>
                      <a:r>
                        <a:rPr lang="en-GB" sz="2000" b="0" dirty="0">
                          <a:solidFill>
                            <a:schemeClr val="tx1"/>
                          </a:solidFill>
                          <a:effectLst/>
                        </a:rPr>
                        <a:t>1</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Annie</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Developer</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34</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2023-10-01</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i="0" dirty="0">
                          <a:solidFill>
                            <a:schemeClr val="tx1"/>
                          </a:solidFill>
                          <a:effectLst/>
                          <a:latin typeface="Consolas" panose="020B0609020204030204" pitchFamily="49" charset="0"/>
                        </a:rPr>
                        <a:t>TRUE</a:t>
                      </a:r>
                    </a:p>
                  </a:txBody>
                  <a:tcPr marL="9525" marR="9525" marT="9525" marB="9525" anchor="ctr"/>
                </a:tc>
                <a:extLst>
                  <a:ext uri="{0D108BD9-81ED-4DB2-BD59-A6C34878D82A}">
                    <a16:rowId xmlns:a16="http://schemas.microsoft.com/office/drawing/2014/main" val="1906814975"/>
                  </a:ext>
                </a:extLst>
              </a:tr>
              <a:tr h="0">
                <a:tc>
                  <a:txBody>
                    <a:bodyPr/>
                    <a:lstStyle/>
                    <a:p>
                      <a:pPr algn="l"/>
                      <a:r>
                        <a:rPr lang="en-GB" sz="2000" b="0">
                          <a:solidFill>
                            <a:schemeClr val="tx1"/>
                          </a:solidFill>
                          <a:effectLst/>
                        </a:rPr>
                        <a:t>1</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Annie</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Developer</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34</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4</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1</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2023-11-30</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2263906834"/>
                  </a:ext>
                </a:extLst>
              </a:tr>
              <a:tr h="0">
                <a:tc>
                  <a:txBody>
                    <a:bodyPr/>
                    <a:lstStyle/>
                    <a:p>
                      <a:pPr algn="l"/>
                      <a:r>
                        <a:rPr lang="en-GB" sz="2000" b="0">
                          <a:solidFill>
                            <a:schemeClr val="tx1"/>
                          </a:solidFill>
                          <a:effectLst/>
                        </a:rPr>
                        <a:t>1</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Annie</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Developer</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34</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2023-12-21</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2966701059"/>
                  </a:ext>
                </a:extLst>
              </a:tr>
              <a:tr h="0">
                <a:tc>
                  <a:txBody>
                    <a:bodyPr/>
                    <a:lstStyle/>
                    <a:p>
                      <a:pPr algn="l"/>
                      <a:r>
                        <a:rPr lang="en-GB" sz="2000" b="0">
                          <a:solidFill>
                            <a:schemeClr val="tx1"/>
                          </a:solidFill>
                          <a:effectLst/>
                        </a:rPr>
                        <a:t>2</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Chris</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Tester</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26</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2023-10-01</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i="0" dirty="0">
                          <a:solidFill>
                            <a:schemeClr val="tx1"/>
                          </a:solidFill>
                          <a:effectLst/>
                          <a:latin typeface="Consolas" panose="020B0609020204030204" pitchFamily="49" charset="0"/>
                        </a:rPr>
                        <a:t>TRUE</a:t>
                      </a:r>
                    </a:p>
                  </a:txBody>
                  <a:tcPr marL="9525" marR="9525" marT="9525" marB="9525" anchor="ctr"/>
                </a:tc>
                <a:extLst>
                  <a:ext uri="{0D108BD9-81ED-4DB2-BD59-A6C34878D82A}">
                    <a16:rowId xmlns:a16="http://schemas.microsoft.com/office/drawing/2014/main" val="3374873073"/>
                  </a:ext>
                </a:extLst>
              </a:tr>
              <a:tr h="0">
                <a:tc>
                  <a:txBody>
                    <a:bodyPr/>
                    <a:lstStyle/>
                    <a:p>
                      <a:pPr algn="l"/>
                      <a:r>
                        <a:rPr lang="en-GB" sz="2000" b="0">
                          <a:solidFill>
                            <a:schemeClr val="tx1"/>
                          </a:solidFill>
                          <a:effectLst/>
                        </a:rPr>
                        <a:t>2</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Chris</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Tester</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26</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4</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1</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2023-11-30</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2540229735"/>
                  </a:ext>
                </a:extLst>
              </a:tr>
              <a:tr h="0">
                <a:tc>
                  <a:txBody>
                    <a:bodyPr/>
                    <a:lstStyle/>
                    <a:p>
                      <a:pPr algn="l"/>
                      <a:r>
                        <a:rPr lang="en-GB" sz="2000" b="0">
                          <a:solidFill>
                            <a:schemeClr val="tx1"/>
                          </a:solidFill>
                          <a:effectLst/>
                        </a:rPr>
                        <a:t>2</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Chris</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Tester</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26</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3</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2023-12-21</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2110938926"/>
                  </a:ext>
                </a:extLst>
              </a:tr>
              <a:tr h="0">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Dan</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Designer</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35</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2023-10-01</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i="0" dirty="0">
                          <a:solidFill>
                            <a:schemeClr val="tx1"/>
                          </a:solidFill>
                          <a:effectLst/>
                          <a:latin typeface="Consolas" panose="020B0609020204030204" pitchFamily="49" charset="0"/>
                        </a:rPr>
                        <a:t>TRUE</a:t>
                      </a:r>
                    </a:p>
                  </a:txBody>
                  <a:tcPr marL="9525" marR="9525" marT="9525" marB="9525" anchor="ctr"/>
                </a:tc>
                <a:extLst>
                  <a:ext uri="{0D108BD9-81ED-4DB2-BD59-A6C34878D82A}">
                    <a16:rowId xmlns:a16="http://schemas.microsoft.com/office/drawing/2014/main" val="626550126"/>
                  </a:ext>
                </a:extLst>
              </a:tr>
              <a:tr h="0">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Dan</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Designer</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35</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4</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2023-11-30</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2001643763"/>
                  </a:ext>
                </a:extLst>
              </a:tr>
              <a:tr h="0">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Dan</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Designer</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35</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3</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2023-12-21</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3772723468"/>
                  </a:ext>
                </a:extLst>
              </a:tr>
              <a:tr h="0">
                <a:tc>
                  <a:txBody>
                    <a:bodyPr/>
                    <a:lstStyle/>
                    <a:p>
                      <a:pPr algn="l"/>
                      <a:r>
                        <a:rPr lang="en-GB" sz="2000" b="0">
                          <a:solidFill>
                            <a:schemeClr val="tx1"/>
                          </a:solidFill>
                          <a:effectLst/>
                        </a:rPr>
                        <a:t>4</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Erin</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Developer</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24</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2023-10-01</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i="0" dirty="0">
                          <a:solidFill>
                            <a:schemeClr val="tx1"/>
                          </a:solidFill>
                          <a:effectLst/>
                          <a:latin typeface="Consolas" panose="020B0609020204030204" pitchFamily="49" charset="0"/>
                        </a:rPr>
                        <a:t>TRUE</a:t>
                      </a:r>
                    </a:p>
                  </a:txBody>
                  <a:tcPr marL="9525" marR="9525" marT="9525" marB="9525" anchor="ctr"/>
                </a:tc>
                <a:extLst>
                  <a:ext uri="{0D108BD9-81ED-4DB2-BD59-A6C34878D82A}">
                    <a16:rowId xmlns:a16="http://schemas.microsoft.com/office/drawing/2014/main" val="552386150"/>
                  </a:ext>
                </a:extLst>
              </a:tr>
              <a:tr h="0">
                <a:tc>
                  <a:txBody>
                    <a:bodyPr/>
                    <a:lstStyle/>
                    <a:p>
                      <a:pPr algn="l"/>
                      <a:r>
                        <a:rPr lang="en-GB" sz="2000" b="0">
                          <a:solidFill>
                            <a:schemeClr val="tx1"/>
                          </a:solidFill>
                          <a:effectLst/>
                        </a:rPr>
                        <a:t>4</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Erin</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Developer</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24</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4</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1</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2023-11-30</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1057254957"/>
                  </a:ext>
                </a:extLst>
              </a:tr>
              <a:tr h="0">
                <a:tc>
                  <a:txBody>
                    <a:bodyPr/>
                    <a:lstStyle/>
                    <a:p>
                      <a:pPr algn="l"/>
                      <a:r>
                        <a:rPr lang="en-GB" sz="2000" b="0" dirty="0">
                          <a:solidFill>
                            <a:schemeClr val="tx1"/>
                          </a:solidFill>
                          <a:effectLst/>
                        </a:rPr>
                        <a:t>4</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Erin</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Developer</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24</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2023-12-21</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3292569320"/>
                  </a:ext>
                </a:extLst>
              </a:tr>
            </a:tbl>
          </a:graphicData>
        </a:graphic>
      </p:graphicFrame>
      <p:sp>
        <p:nvSpPr>
          <p:cNvPr id="22" name="TextBox 21">
            <a:extLst>
              <a:ext uri="{FF2B5EF4-FFF2-40B4-BE49-F238E27FC236}">
                <a16:creationId xmlns:a16="http://schemas.microsoft.com/office/drawing/2014/main" id="{8895A3E1-1C55-D20F-DDA5-44F6094135B5}"/>
              </a:ext>
            </a:extLst>
          </p:cNvPr>
          <p:cNvSpPr txBox="1"/>
          <p:nvPr/>
        </p:nvSpPr>
        <p:spPr>
          <a:xfrm>
            <a:off x="5176783" y="1821620"/>
            <a:ext cx="1771650" cy="369332"/>
          </a:xfrm>
          <a:prstGeom prst="rect">
            <a:avLst/>
          </a:prstGeom>
          <a:noFill/>
        </p:spPr>
        <p:txBody>
          <a:bodyPr wrap="square" rtlCol="0">
            <a:spAutoFit/>
          </a:bodyPr>
          <a:lstStyle/>
          <a:p>
            <a:r>
              <a:rPr lang="en-GB" b="1" dirty="0"/>
              <a:t>Combined data</a:t>
            </a:r>
          </a:p>
        </p:txBody>
      </p:sp>
    </p:spTree>
    <p:extLst>
      <p:ext uri="{BB962C8B-B14F-4D97-AF65-F5344CB8AC3E}">
        <p14:creationId xmlns:p14="http://schemas.microsoft.com/office/powerpoint/2010/main" val="1639736254"/>
      </p:ext>
    </p:extLst>
  </p:cSld>
  <p:clrMapOvr>
    <a:masterClrMapping/>
  </p:clrMapOvr>
</p:sld>
</file>

<file path=ppt/slides/slide257.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08C76DEA-F650-51AB-7EE7-9B3064808EC0}"/>
              </a:ext>
            </a:extLst>
          </p:cNvPr>
          <p:cNvSpPr>
            <a:spLocks noGrp="1"/>
          </p:cNvSpPr>
          <p:nvPr>
            <p:ph type="title"/>
          </p:nvPr>
        </p:nvSpPr>
        <p:spPr/>
        <p:txBody>
          <a:bodyPr/>
          <a:lstStyle/>
          <a:p>
            <a:r>
              <a:rPr lang="en-GB" dirty="0"/>
              <a:t>Joining Two Tables</a:t>
            </a:r>
          </a:p>
        </p:txBody>
      </p:sp>
      <p:graphicFrame>
        <p:nvGraphicFramePr>
          <p:cNvPr id="5" name="Table 4">
            <a:extLst>
              <a:ext uri="{FF2B5EF4-FFF2-40B4-BE49-F238E27FC236}">
                <a16:creationId xmlns:a16="http://schemas.microsoft.com/office/drawing/2014/main" id="{AAE10826-EEB4-463C-A5D4-C6E96E00A12F}"/>
              </a:ext>
            </a:extLst>
          </p:cNvPr>
          <p:cNvGraphicFramePr>
            <a:graphicFrameLocks noGrp="1"/>
          </p:cNvGraphicFramePr>
          <p:nvPr/>
        </p:nvGraphicFramePr>
        <p:xfrm>
          <a:off x="619125" y="2653393"/>
          <a:ext cx="6352988" cy="3813810"/>
        </p:xfrm>
        <a:graphic>
          <a:graphicData uri="http://schemas.openxmlformats.org/drawingml/2006/table">
            <a:tbl>
              <a:tblPr firstRow="1" bandRow="1">
                <a:tableStyleId>{5C22544A-7EE6-4342-B048-85BDC9FD1C3A}</a:tableStyleId>
              </a:tblPr>
              <a:tblGrid>
                <a:gridCol w="395288">
                  <a:extLst>
                    <a:ext uri="{9D8B030D-6E8A-4147-A177-3AD203B41FA5}">
                      <a16:colId xmlns:a16="http://schemas.microsoft.com/office/drawing/2014/main" val="2118093387"/>
                    </a:ext>
                  </a:extLst>
                </a:gridCol>
                <a:gridCol w="684213">
                  <a:extLst>
                    <a:ext uri="{9D8B030D-6E8A-4147-A177-3AD203B41FA5}">
                      <a16:colId xmlns:a16="http://schemas.microsoft.com/office/drawing/2014/main" val="2785336854"/>
                    </a:ext>
                  </a:extLst>
                </a:gridCol>
                <a:gridCol w="1101535">
                  <a:extLst>
                    <a:ext uri="{9D8B030D-6E8A-4147-A177-3AD203B41FA5}">
                      <a16:colId xmlns:a16="http://schemas.microsoft.com/office/drawing/2014/main" val="817480638"/>
                    </a:ext>
                  </a:extLst>
                </a:gridCol>
                <a:gridCol w="520700">
                  <a:extLst>
                    <a:ext uri="{9D8B030D-6E8A-4147-A177-3AD203B41FA5}">
                      <a16:colId xmlns:a16="http://schemas.microsoft.com/office/drawing/2014/main" val="3492903121"/>
                    </a:ext>
                  </a:extLst>
                </a:gridCol>
                <a:gridCol w="395288">
                  <a:extLst>
                    <a:ext uri="{9D8B030D-6E8A-4147-A177-3AD203B41FA5}">
                      <a16:colId xmlns:a16="http://schemas.microsoft.com/office/drawing/2014/main" val="2638527360"/>
                    </a:ext>
                  </a:extLst>
                </a:gridCol>
                <a:gridCol w="896938">
                  <a:extLst>
                    <a:ext uri="{9D8B030D-6E8A-4147-A177-3AD203B41FA5}">
                      <a16:colId xmlns:a16="http://schemas.microsoft.com/office/drawing/2014/main" val="2033619082"/>
                    </a:ext>
                  </a:extLst>
                </a:gridCol>
                <a:gridCol w="1211263">
                  <a:extLst>
                    <a:ext uri="{9D8B030D-6E8A-4147-A177-3AD203B41FA5}">
                      <a16:colId xmlns:a16="http://schemas.microsoft.com/office/drawing/2014/main" val="3683807378"/>
                    </a:ext>
                  </a:extLst>
                </a:gridCol>
                <a:gridCol w="1147763">
                  <a:extLst>
                    <a:ext uri="{9D8B030D-6E8A-4147-A177-3AD203B41FA5}">
                      <a16:colId xmlns:a16="http://schemas.microsoft.com/office/drawing/2014/main" val="2991623495"/>
                    </a:ext>
                  </a:extLst>
                </a:gridCol>
              </a:tblGrid>
              <a:tr h="0">
                <a:tc>
                  <a:txBody>
                    <a:bodyPr/>
                    <a:lstStyle/>
                    <a:p>
                      <a:pPr algn="l"/>
                      <a:r>
                        <a:rPr lang="en-GB" sz="1800" b="0" i="0" dirty="0">
                          <a:solidFill>
                            <a:schemeClr val="bg1"/>
                          </a:solidFill>
                          <a:effectLst/>
                          <a:latin typeface="Consolas" panose="020B0609020204030204" pitchFamily="49" charset="0"/>
                        </a:rPr>
                        <a:t>id</a:t>
                      </a:r>
                    </a:p>
                  </a:txBody>
                  <a:tcPr marL="9525" marR="9525" marT="9525" marB="9525" anchor="ctr"/>
                </a:tc>
                <a:tc>
                  <a:txBody>
                    <a:bodyPr/>
                    <a:lstStyle/>
                    <a:p>
                      <a:pPr algn="l"/>
                      <a:r>
                        <a:rPr lang="en-GB" sz="1800" b="0" i="0" dirty="0">
                          <a:solidFill>
                            <a:schemeClr val="bg1"/>
                          </a:solidFill>
                          <a:effectLst/>
                          <a:latin typeface="Consolas" panose="020B0609020204030204" pitchFamily="49" charset="0"/>
                        </a:rPr>
                        <a:t>name</a:t>
                      </a:r>
                    </a:p>
                  </a:txBody>
                  <a:tcPr marL="9525" marR="9525" marT="9525" marB="9525" anchor="ctr"/>
                </a:tc>
                <a:tc>
                  <a:txBody>
                    <a:bodyPr/>
                    <a:lstStyle/>
                    <a:p>
                      <a:pPr algn="l"/>
                      <a:r>
                        <a:rPr lang="en-GB" sz="1800" b="0" i="0" dirty="0">
                          <a:solidFill>
                            <a:schemeClr val="bg1"/>
                          </a:solidFill>
                          <a:effectLst/>
                          <a:latin typeface="Consolas" panose="020B0609020204030204" pitchFamily="49" charset="0"/>
                        </a:rPr>
                        <a:t>role</a:t>
                      </a:r>
                    </a:p>
                  </a:txBody>
                  <a:tcPr marL="9525" marR="9525" marT="9525" marB="9525" anchor="ctr"/>
                </a:tc>
                <a:tc>
                  <a:txBody>
                    <a:bodyPr/>
                    <a:lstStyle/>
                    <a:p>
                      <a:pPr algn="l"/>
                      <a:r>
                        <a:rPr lang="en-GB" sz="1800" b="0" i="0" dirty="0">
                          <a:solidFill>
                            <a:schemeClr val="bg1"/>
                          </a:solidFill>
                          <a:effectLst/>
                          <a:latin typeface="Consolas" panose="020B0609020204030204" pitchFamily="49" charset="0"/>
                        </a:rPr>
                        <a:t>age</a:t>
                      </a:r>
                    </a:p>
                  </a:txBody>
                  <a:tcPr marL="9525" marR="9525" marT="9525" marB="9525" anchor="ctr"/>
                </a:tc>
                <a:tc>
                  <a:txBody>
                    <a:bodyPr/>
                    <a:lstStyle/>
                    <a:p>
                      <a:pPr algn="l"/>
                      <a:r>
                        <a:rPr lang="en-GB" sz="1800" b="0" i="0" dirty="0">
                          <a:solidFill>
                            <a:schemeClr val="bg1"/>
                          </a:solidFill>
                          <a:effectLst/>
                          <a:latin typeface="Consolas" panose="020B0609020204030204" pitchFamily="49" charset="0"/>
                        </a:rPr>
                        <a:t>id</a:t>
                      </a:r>
                    </a:p>
                  </a:txBody>
                  <a:tcPr marL="9525" marR="9525" marT="9525" marB="9525" anchor="ctr"/>
                </a:tc>
                <a:tc>
                  <a:txBody>
                    <a:bodyPr/>
                    <a:lstStyle/>
                    <a:p>
                      <a:pPr algn="l"/>
                      <a:r>
                        <a:rPr lang="en-GB" sz="1800" b="0" i="0" dirty="0">
                          <a:solidFill>
                            <a:schemeClr val="bg1"/>
                          </a:solidFill>
                          <a:effectLst/>
                          <a:latin typeface="Consolas" panose="020B0609020204030204" pitchFamily="49" charset="0"/>
                        </a:rPr>
                        <a:t>laptop</a:t>
                      </a:r>
                    </a:p>
                  </a:txBody>
                  <a:tcPr marL="9525" marR="9525" marT="9525" marB="9525" anchor="ctr"/>
                </a:tc>
                <a:tc>
                  <a:txBody>
                    <a:bodyPr/>
                    <a:lstStyle/>
                    <a:p>
                      <a:pPr algn="l"/>
                      <a:r>
                        <a:rPr lang="en-GB" sz="1800" b="0" i="0" dirty="0">
                          <a:solidFill>
                            <a:schemeClr val="bg1"/>
                          </a:solidFill>
                          <a:effectLst/>
                          <a:latin typeface="Consolas" panose="020B0609020204030204" pitchFamily="49" charset="0"/>
                        </a:rPr>
                        <a:t>date</a:t>
                      </a:r>
                    </a:p>
                  </a:txBody>
                  <a:tcPr marL="9525" marR="9525" marT="9525" marB="9525" anchor="ctr"/>
                </a:tc>
                <a:tc>
                  <a:txBody>
                    <a:bodyPr/>
                    <a:lstStyle/>
                    <a:p>
                      <a:pPr algn="l"/>
                      <a:r>
                        <a:rPr lang="en-GB" sz="1800" b="0" i="0" dirty="0">
                          <a:solidFill>
                            <a:schemeClr val="bg1"/>
                          </a:solidFill>
                          <a:effectLst/>
                          <a:latin typeface="Consolas" panose="020B0609020204030204" pitchFamily="49" charset="0"/>
                        </a:rPr>
                        <a:t>returned</a:t>
                      </a:r>
                    </a:p>
                  </a:txBody>
                  <a:tcPr marL="9525" marR="9525" marT="9525" marB="9525" anchor="ctr"/>
                </a:tc>
                <a:extLst>
                  <a:ext uri="{0D108BD9-81ED-4DB2-BD59-A6C34878D82A}">
                    <a16:rowId xmlns:a16="http://schemas.microsoft.com/office/drawing/2014/main" val="1325679939"/>
                  </a:ext>
                </a:extLst>
              </a:tr>
              <a:tr h="0">
                <a:tc>
                  <a:txBody>
                    <a:bodyPr/>
                    <a:lstStyle/>
                    <a:p>
                      <a:pPr algn="l"/>
                      <a:r>
                        <a:rPr lang="en-GB" sz="1800" b="0" dirty="0">
                          <a:solidFill>
                            <a:schemeClr val="tx1"/>
                          </a:solidFill>
                          <a:effectLst/>
                        </a:rPr>
                        <a:t>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Annie</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Developer</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34</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3</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2023-10-01</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TRUE</a:t>
                      </a:r>
                    </a:p>
                  </a:txBody>
                  <a:tcPr marL="9525" marR="9525" marT="9525" marB="9525" anchor="ctr"/>
                </a:tc>
                <a:extLst>
                  <a:ext uri="{0D108BD9-81ED-4DB2-BD59-A6C34878D82A}">
                    <a16:rowId xmlns:a16="http://schemas.microsoft.com/office/drawing/2014/main" val="1906814975"/>
                  </a:ext>
                </a:extLst>
              </a:tr>
              <a:tr h="0">
                <a:tc>
                  <a:txBody>
                    <a:bodyPr/>
                    <a:lstStyle/>
                    <a:p>
                      <a:pPr algn="l"/>
                      <a:r>
                        <a:rPr lang="en-GB" sz="1800" b="0">
                          <a:solidFill>
                            <a:schemeClr val="tx1"/>
                          </a:solidFill>
                          <a:effectLst/>
                        </a:rPr>
                        <a:t>1</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Annie</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Developer</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34</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4</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1</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2023-11-30</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2263906834"/>
                  </a:ext>
                </a:extLst>
              </a:tr>
              <a:tr h="0">
                <a:tc>
                  <a:txBody>
                    <a:bodyPr/>
                    <a:lstStyle/>
                    <a:p>
                      <a:pPr algn="l"/>
                      <a:r>
                        <a:rPr lang="en-GB" sz="1800" b="0">
                          <a:solidFill>
                            <a:schemeClr val="tx1"/>
                          </a:solidFill>
                          <a:effectLst/>
                        </a:rPr>
                        <a:t>1</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Annie</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Developer</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34</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3</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3</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2023-12-21</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2966701059"/>
                  </a:ext>
                </a:extLst>
              </a:tr>
              <a:tr h="0">
                <a:tc>
                  <a:txBody>
                    <a:bodyPr/>
                    <a:lstStyle/>
                    <a:p>
                      <a:pPr algn="l"/>
                      <a:r>
                        <a:rPr lang="en-GB" sz="1800" b="0">
                          <a:solidFill>
                            <a:schemeClr val="tx1"/>
                          </a:solidFill>
                          <a:effectLst/>
                        </a:rPr>
                        <a:t>2</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Chris</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Tester</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26</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3</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2023-10-01</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TRUE</a:t>
                      </a:r>
                    </a:p>
                  </a:txBody>
                  <a:tcPr marL="9525" marR="9525" marT="9525" marB="9525" anchor="ctr"/>
                </a:tc>
                <a:extLst>
                  <a:ext uri="{0D108BD9-81ED-4DB2-BD59-A6C34878D82A}">
                    <a16:rowId xmlns:a16="http://schemas.microsoft.com/office/drawing/2014/main" val="3374873073"/>
                  </a:ext>
                </a:extLst>
              </a:tr>
              <a:tr h="0">
                <a:tc>
                  <a:txBody>
                    <a:bodyPr/>
                    <a:lstStyle/>
                    <a:p>
                      <a:pPr algn="l"/>
                      <a:r>
                        <a:rPr lang="en-GB" sz="1800" b="0">
                          <a:solidFill>
                            <a:schemeClr val="tx1"/>
                          </a:solidFill>
                          <a:effectLst/>
                        </a:rPr>
                        <a:t>2</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Chris</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Tester</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26</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4</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1</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2023-11-30</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2540229735"/>
                  </a:ext>
                </a:extLst>
              </a:tr>
              <a:tr h="0">
                <a:tc>
                  <a:txBody>
                    <a:bodyPr/>
                    <a:lstStyle/>
                    <a:p>
                      <a:pPr algn="l"/>
                      <a:r>
                        <a:rPr lang="en-GB" sz="1800" b="0">
                          <a:solidFill>
                            <a:schemeClr val="tx1"/>
                          </a:solidFill>
                          <a:effectLst/>
                        </a:rPr>
                        <a:t>2</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Chris</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Tester</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26</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3</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3</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2023-12-21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2110938926"/>
                  </a:ext>
                </a:extLst>
              </a:tr>
              <a:tr h="0">
                <a:tc>
                  <a:txBody>
                    <a:bodyPr/>
                    <a:lstStyle/>
                    <a:p>
                      <a:pPr algn="l"/>
                      <a:r>
                        <a:rPr lang="en-GB" sz="1800" b="0">
                          <a:solidFill>
                            <a:schemeClr val="tx1"/>
                          </a:solidFill>
                          <a:effectLst/>
                        </a:rPr>
                        <a:t>3</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Dan</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Designer</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35</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3</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2023-10-01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TRUE</a:t>
                      </a:r>
                    </a:p>
                  </a:txBody>
                  <a:tcPr marL="9525" marR="9525" marT="9525" marB="9525" anchor="ctr"/>
                </a:tc>
                <a:extLst>
                  <a:ext uri="{0D108BD9-81ED-4DB2-BD59-A6C34878D82A}">
                    <a16:rowId xmlns:a16="http://schemas.microsoft.com/office/drawing/2014/main" val="626550126"/>
                  </a:ext>
                </a:extLst>
              </a:tr>
              <a:tr h="0">
                <a:tc>
                  <a:txBody>
                    <a:bodyPr/>
                    <a:lstStyle/>
                    <a:p>
                      <a:pPr algn="l"/>
                      <a:r>
                        <a:rPr lang="en-GB" sz="1800" b="0">
                          <a:solidFill>
                            <a:schemeClr val="tx1"/>
                          </a:solidFill>
                          <a:effectLst/>
                        </a:rPr>
                        <a:t>3</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Dan</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Designer</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35</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4</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2023-11-30</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2001643763"/>
                  </a:ext>
                </a:extLst>
              </a:tr>
              <a:tr h="0">
                <a:tc>
                  <a:txBody>
                    <a:bodyPr/>
                    <a:lstStyle/>
                    <a:p>
                      <a:pPr algn="l"/>
                      <a:r>
                        <a:rPr lang="en-GB" sz="1800" b="0">
                          <a:solidFill>
                            <a:schemeClr val="tx1"/>
                          </a:solidFill>
                          <a:effectLst/>
                        </a:rPr>
                        <a:t>3</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Dan</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Designer</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35</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3</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3</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2023-12-21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3772723468"/>
                  </a:ext>
                </a:extLst>
              </a:tr>
              <a:tr h="0">
                <a:tc>
                  <a:txBody>
                    <a:bodyPr/>
                    <a:lstStyle/>
                    <a:p>
                      <a:pPr algn="l"/>
                      <a:r>
                        <a:rPr lang="en-GB" sz="1800" b="0">
                          <a:solidFill>
                            <a:schemeClr val="tx1"/>
                          </a:solidFill>
                          <a:effectLst/>
                        </a:rPr>
                        <a:t>4</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Erin</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Developer</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24</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3</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2023-10-01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TRUE</a:t>
                      </a:r>
                    </a:p>
                  </a:txBody>
                  <a:tcPr marL="9525" marR="9525" marT="9525" marB="9525" anchor="ctr"/>
                </a:tc>
                <a:extLst>
                  <a:ext uri="{0D108BD9-81ED-4DB2-BD59-A6C34878D82A}">
                    <a16:rowId xmlns:a16="http://schemas.microsoft.com/office/drawing/2014/main" val="552386150"/>
                  </a:ext>
                </a:extLst>
              </a:tr>
              <a:tr h="0">
                <a:tc>
                  <a:txBody>
                    <a:bodyPr/>
                    <a:lstStyle/>
                    <a:p>
                      <a:pPr algn="l"/>
                      <a:r>
                        <a:rPr lang="en-GB" sz="1800" b="0">
                          <a:solidFill>
                            <a:schemeClr val="tx1"/>
                          </a:solidFill>
                          <a:effectLst/>
                        </a:rPr>
                        <a:t>4</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Erin</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Developer</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24</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4</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1</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2023-11-30</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1057254957"/>
                  </a:ext>
                </a:extLst>
              </a:tr>
              <a:tr h="0">
                <a:tc>
                  <a:txBody>
                    <a:bodyPr/>
                    <a:lstStyle/>
                    <a:p>
                      <a:pPr algn="l"/>
                      <a:r>
                        <a:rPr lang="en-GB" sz="1800" b="0">
                          <a:solidFill>
                            <a:schemeClr val="tx1"/>
                          </a:solidFill>
                          <a:effectLst/>
                        </a:rPr>
                        <a:t>4</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Erin</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Developer</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24</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3</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3</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2023-12-21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3292569320"/>
                  </a:ext>
                </a:extLst>
              </a:tr>
            </a:tbl>
          </a:graphicData>
        </a:graphic>
      </p:graphicFrame>
      <p:sp>
        <p:nvSpPr>
          <p:cNvPr id="6" name="Rectangle 1">
            <a:extLst>
              <a:ext uri="{FF2B5EF4-FFF2-40B4-BE49-F238E27FC236}">
                <a16:creationId xmlns:a16="http://schemas.microsoft.com/office/drawing/2014/main" id="{C460184D-D803-F499-E82E-972FB39F9288}"/>
              </a:ext>
            </a:extLst>
          </p:cNvPr>
          <p:cNvSpPr>
            <a:spLocks noChangeArrowheads="1"/>
          </p:cNvSpPr>
          <p:nvPr/>
        </p:nvSpPr>
        <p:spPr bwMode="auto">
          <a:xfrm>
            <a:off x="619125" y="1461662"/>
            <a:ext cx="4557658" cy="70788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name, laptop, returned</a:t>
            </a:r>
            <a:endParaRPr kumimoji="0" lang="en-US" altLang="en-US" sz="2000" b="0" i="0" u="none" strike="noStrike" cap="none" normalizeH="0" baseline="0" dirty="0">
              <a:ln>
                <a:noFill/>
              </a:ln>
              <a:solidFill>
                <a:srgbClr val="000000"/>
              </a:solidFill>
              <a:effectLst/>
              <a:latin typeface="Consolas" panose="020B0609020204030204" pitchFamily="49" charset="0"/>
            </a:endParaRPr>
          </a:p>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2000" b="0" i="0" u="none" strike="noStrike" cap="none" normalizeH="0" baseline="0" dirty="0">
                <a:ln>
                  <a:noFill/>
                </a:ln>
                <a:solidFill>
                  <a:srgbClr val="B2B2B2"/>
                </a:solidFill>
                <a:effectLst/>
                <a:latin typeface="Consolas" panose="020B0609020204030204" pitchFamily="49" charset="0"/>
              </a:rPr>
              <a:t>2 </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kumimoji="0" lang="en-US" altLang="en-US" sz="2000" b="0" i="0" u="none" strike="noStrike" cap="none" normalizeH="0" baseline="0" dirty="0">
                <a:ln>
                  <a:noFill/>
                </a:ln>
                <a:solidFill>
                  <a:srgbClr val="A71D5D"/>
                </a:solidFill>
                <a:effectLst/>
                <a:latin typeface="Consolas" panose="020B0609020204030204" pitchFamily="49" charset="0"/>
              </a:rPr>
              <a:t>FROM</a:t>
            </a:r>
            <a:r>
              <a:rPr kumimoji="0" lang="en-US" altLang="en-US" sz="2000" b="0" i="0" u="none" strike="noStrike" cap="none" normalizeH="0" baseline="0" dirty="0">
                <a:ln>
                  <a:noFill/>
                </a:ln>
                <a:solidFill>
                  <a:srgbClr val="000000"/>
                </a:solidFill>
                <a:effectLst/>
                <a:latin typeface="Consolas" panose="020B0609020204030204" pitchFamily="49" charset="0"/>
              </a:rPr>
              <a:t> Employee, Borrow;</a:t>
            </a:r>
            <a:endParaRPr kumimoji="0" lang="en-US" altLang="en-US" sz="3200" b="0" i="0" u="none" strike="noStrike" cap="none" normalizeH="0" baseline="0" dirty="0">
              <a:ln>
                <a:noFill/>
              </a:ln>
              <a:solidFill>
                <a:schemeClr val="tx1"/>
              </a:solidFill>
              <a:effectLst/>
              <a:latin typeface="Arial" panose="020B0604020202020204" pitchFamily="34" charset="0"/>
            </a:endParaRPr>
          </a:p>
        </p:txBody>
      </p:sp>
      <p:sp>
        <p:nvSpPr>
          <p:cNvPr id="10" name="Rectangle 9">
            <a:extLst>
              <a:ext uri="{FF2B5EF4-FFF2-40B4-BE49-F238E27FC236}">
                <a16:creationId xmlns:a16="http://schemas.microsoft.com/office/drawing/2014/main" id="{F90F4DF6-E7A4-CBE6-D903-C75335FCD200}"/>
              </a:ext>
            </a:extLst>
          </p:cNvPr>
          <p:cNvSpPr/>
          <p:nvPr/>
        </p:nvSpPr>
        <p:spPr>
          <a:xfrm>
            <a:off x="981074" y="2571750"/>
            <a:ext cx="685801" cy="3971925"/>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2" name="Rectangle 21">
            <a:extLst>
              <a:ext uri="{FF2B5EF4-FFF2-40B4-BE49-F238E27FC236}">
                <a16:creationId xmlns:a16="http://schemas.microsoft.com/office/drawing/2014/main" id="{F7A9C272-90E2-BA4B-0ADD-9FC307D3AF2B}"/>
              </a:ext>
            </a:extLst>
          </p:cNvPr>
          <p:cNvSpPr/>
          <p:nvPr/>
        </p:nvSpPr>
        <p:spPr>
          <a:xfrm>
            <a:off x="3705225" y="2571750"/>
            <a:ext cx="876299" cy="3971925"/>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3" name="Rectangle 22">
            <a:extLst>
              <a:ext uri="{FF2B5EF4-FFF2-40B4-BE49-F238E27FC236}">
                <a16:creationId xmlns:a16="http://schemas.microsoft.com/office/drawing/2014/main" id="{3E4C874C-FA9C-72F1-4CA9-4252CCD1ADA6}"/>
              </a:ext>
            </a:extLst>
          </p:cNvPr>
          <p:cNvSpPr/>
          <p:nvPr/>
        </p:nvSpPr>
        <p:spPr>
          <a:xfrm>
            <a:off x="5800726" y="2571750"/>
            <a:ext cx="1171387" cy="3971925"/>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graphicFrame>
        <p:nvGraphicFramePr>
          <p:cNvPr id="24" name="Table 23">
            <a:extLst>
              <a:ext uri="{FF2B5EF4-FFF2-40B4-BE49-F238E27FC236}">
                <a16:creationId xmlns:a16="http://schemas.microsoft.com/office/drawing/2014/main" id="{B01AC9AA-1E76-2F56-E08D-D0481FC0E9C7}"/>
              </a:ext>
            </a:extLst>
          </p:cNvPr>
          <p:cNvGraphicFramePr>
            <a:graphicFrameLocks noGrp="1"/>
          </p:cNvGraphicFramePr>
          <p:nvPr/>
        </p:nvGraphicFramePr>
        <p:xfrm>
          <a:off x="8624886" y="2653393"/>
          <a:ext cx="2728914" cy="3813810"/>
        </p:xfrm>
        <a:graphic>
          <a:graphicData uri="http://schemas.openxmlformats.org/drawingml/2006/table">
            <a:tbl>
              <a:tblPr firstRow="1" bandRow="1">
                <a:tableStyleId>{5C22544A-7EE6-4342-B048-85BDC9FD1C3A}</a:tableStyleId>
              </a:tblPr>
              <a:tblGrid>
                <a:gridCol w="684213">
                  <a:extLst>
                    <a:ext uri="{9D8B030D-6E8A-4147-A177-3AD203B41FA5}">
                      <a16:colId xmlns:a16="http://schemas.microsoft.com/office/drawing/2014/main" val="2785336854"/>
                    </a:ext>
                  </a:extLst>
                </a:gridCol>
                <a:gridCol w="896938">
                  <a:extLst>
                    <a:ext uri="{9D8B030D-6E8A-4147-A177-3AD203B41FA5}">
                      <a16:colId xmlns:a16="http://schemas.microsoft.com/office/drawing/2014/main" val="2033619082"/>
                    </a:ext>
                  </a:extLst>
                </a:gridCol>
                <a:gridCol w="1147763">
                  <a:extLst>
                    <a:ext uri="{9D8B030D-6E8A-4147-A177-3AD203B41FA5}">
                      <a16:colId xmlns:a16="http://schemas.microsoft.com/office/drawing/2014/main" val="2991623495"/>
                    </a:ext>
                  </a:extLst>
                </a:gridCol>
              </a:tblGrid>
              <a:tr h="0">
                <a:tc>
                  <a:txBody>
                    <a:bodyPr/>
                    <a:lstStyle/>
                    <a:p>
                      <a:pPr algn="l"/>
                      <a:r>
                        <a:rPr lang="en-GB" sz="1800" b="0" i="0" dirty="0">
                          <a:solidFill>
                            <a:schemeClr val="bg1"/>
                          </a:solidFill>
                          <a:effectLst/>
                          <a:latin typeface="Consolas" panose="020B0609020204030204" pitchFamily="49" charset="0"/>
                        </a:rPr>
                        <a:t>name</a:t>
                      </a:r>
                    </a:p>
                  </a:txBody>
                  <a:tcPr marL="9525" marR="9525" marT="9525" marB="9525" anchor="ctr"/>
                </a:tc>
                <a:tc>
                  <a:txBody>
                    <a:bodyPr/>
                    <a:lstStyle/>
                    <a:p>
                      <a:pPr algn="l"/>
                      <a:r>
                        <a:rPr lang="en-GB" sz="1800" b="0" i="0" dirty="0">
                          <a:solidFill>
                            <a:schemeClr val="bg1"/>
                          </a:solidFill>
                          <a:effectLst/>
                          <a:latin typeface="Consolas" panose="020B0609020204030204" pitchFamily="49" charset="0"/>
                        </a:rPr>
                        <a:t>laptop</a:t>
                      </a:r>
                    </a:p>
                  </a:txBody>
                  <a:tcPr marL="9525" marR="9525" marT="9525" marB="9525" anchor="ctr"/>
                </a:tc>
                <a:tc>
                  <a:txBody>
                    <a:bodyPr/>
                    <a:lstStyle/>
                    <a:p>
                      <a:pPr algn="l"/>
                      <a:r>
                        <a:rPr lang="en-GB" sz="1800" b="0" i="0" dirty="0">
                          <a:solidFill>
                            <a:schemeClr val="bg1"/>
                          </a:solidFill>
                          <a:effectLst/>
                          <a:latin typeface="Consolas" panose="020B0609020204030204" pitchFamily="49" charset="0"/>
                        </a:rPr>
                        <a:t>returned</a:t>
                      </a:r>
                    </a:p>
                  </a:txBody>
                  <a:tcPr marL="9525" marR="9525" marT="9525" marB="9525" anchor="ctr"/>
                </a:tc>
                <a:extLst>
                  <a:ext uri="{0D108BD9-81ED-4DB2-BD59-A6C34878D82A}">
                    <a16:rowId xmlns:a16="http://schemas.microsoft.com/office/drawing/2014/main" val="1325679939"/>
                  </a:ext>
                </a:extLst>
              </a:tr>
              <a:tr h="0">
                <a:tc>
                  <a:txBody>
                    <a:bodyPr/>
                    <a:lstStyle/>
                    <a:p>
                      <a:pPr algn="l"/>
                      <a:r>
                        <a:rPr lang="en-GB" sz="1800" b="0" dirty="0">
                          <a:solidFill>
                            <a:schemeClr val="tx1"/>
                          </a:solidFill>
                          <a:effectLst/>
                        </a:rPr>
                        <a:t>Annie</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TRUE</a:t>
                      </a:r>
                    </a:p>
                  </a:txBody>
                  <a:tcPr marL="9525" marR="9525" marT="9525" marB="9525" anchor="ctr"/>
                </a:tc>
                <a:extLst>
                  <a:ext uri="{0D108BD9-81ED-4DB2-BD59-A6C34878D82A}">
                    <a16:rowId xmlns:a16="http://schemas.microsoft.com/office/drawing/2014/main" val="1906814975"/>
                  </a:ext>
                </a:extLst>
              </a:tr>
              <a:tr h="0">
                <a:tc>
                  <a:txBody>
                    <a:bodyPr/>
                    <a:lstStyle/>
                    <a:p>
                      <a:pPr algn="l"/>
                      <a:r>
                        <a:rPr lang="en-GB" sz="1800" b="0" dirty="0">
                          <a:solidFill>
                            <a:schemeClr val="tx1"/>
                          </a:solidFill>
                          <a:effectLst/>
                        </a:rPr>
                        <a:t>Annie</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1</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2263906834"/>
                  </a:ext>
                </a:extLst>
              </a:tr>
              <a:tr h="0">
                <a:tc>
                  <a:txBody>
                    <a:bodyPr/>
                    <a:lstStyle/>
                    <a:p>
                      <a:pPr algn="l"/>
                      <a:r>
                        <a:rPr lang="en-GB" sz="1800" b="0">
                          <a:solidFill>
                            <a:schemeClr val="tx1"/>
                          </a:solidFill>
                          <a:effectLst/>
                        </a:rPr>
                        <a:t>Annie</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3</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2966701059"/>
                  </a:ext>
                </a:extLst>
              </a:tr>
              <a:tr h="0">
                <a:tc>
                  <a:txBody>
                    <a:bodyPr/>
                    <a:lstStyle/>
                    <a:p>
                      <a:pPr algn="l"/>
                      <a:r>
                        <a:rPr lang="en-GB" sz="1800" b="0">
                          <a:solidFill>
                            <a:schemeClr val="tx1"/>
                          </a:solidFill>
                          <a:effectLst/>
                        </a:rPr>
                        <a:t>Chris</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TRUE</a:t>
                      </a:r>
                    </a:p>
                  </a:txBody>
                  <a:tcPr marL="9525" marR="9525" marT="9525" marB="9525" anchor="ctr"/>
                </a:tc>
                <a:extLst>
                  <a:ext uri="{0D108BD9-81ED-4DB2-BD59-A6C34878D82A}">
                    <a16:rowId xmlns:a16="http://schemas.microsoft.com/office/drawing/2014/main" val="3374873073"/>
                  </a:ext>
                </a:extLst>
              </a:tr>
              <a:tr h="0">
                <a:tc>
                  <a:txBody>
                    <a:bodyPr/>
                    <a:lstStyle/>
                    <a:p>
                      <a:pPr algn="l"/>
                      <a:r>
                        <a:rPr lang="en-GB" sz="1800" b="0">
                          <a:solidFill>
                            <a:schemeClr val="tx1"/>
                          </a:solidFill>
                          <a:effectLst/>
                        </a:rPr>
                        <a:t>Chris</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1</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2540229735"/>
                  </a:ext>
                </a:extLst>
              </a:tr>
              <a:tr h="0">
                <a:tc>
                  <a:txBody>
                    <a:bodyPr/>
                    <a:lstStyle/>
                    <a:p>
                      <a:pPr algn="l"/>
                      <a:r>
                        <a:rPr lang="en-GB" sz="1800" b="0">
                          <a:solidFill>
                            <a:schemeClr val="tx1"/>
                          </a:solidFill>
                          <a:effectLst/>
                        </a:rPr>
                        <a:t>Chris</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3</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2110938926"/>
                  </a:ext>
                </a:extLst>
              </a:tr>
              <a:tr h="0">
                <a:tc>
                  <a:txBody>
                    <a:bodyPr/>
                    <a:lstStyle/>
                    <a:p>
                      <a:pPr algn="l"/>
                      <a:r>
                        <a:rPr lang="en-GB" sz="1800" b="0">
                          <a:solidFill>
                            <a:schemeClr val="tx1"/>
                          </a:solidFill>
                          <a:effectLst/>
                        </a:rPr>
                        <a:t>Dan</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TRUE</a:t>
                      </a:r>
                    </a:p>
                  </a:txBody>
                  <a:tcPr marL="9525" marR="9525" marT="9525" marB="9525" anchor="ctr"/>
                </a:tc>
                <a:extLst>
                  <a:ext uri="{0D108BD9-81ED-4DB2-BD59-A6C34878D82A}">
                    <a16:rowId xmlns:a16="http://schemas.microsoft.com/office/drawing/2014/main" val="626550126"/>
                  </a:ext>
                </a:extLst>
              </a:tr>
              <a:tr h="0">
                <a:tc>
                  <a:txBody>
                    <a:bodyPr/>
                    <a:lstStyle/>
                    <a:p>
                      <a:pPr algn="l"/>
                      <a:r>
                        <a:rPr lang="en-GB" sz="1800" b="0">
                          <a:solidFill>
                            <a:schemeClr val="tx1"/>
                          </a:solidFill>
                          <a:effectLst/>
                        </a:rPr>
                        <a:t>Dan</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2001643763"/>
                  </a:ext>
                </a:extLst>
              </a:tr>
              <a:tr h="0">
                <a:tc>
                  <a:txBody>
                    <a:bodyPr/>
                    <a:lstStyle/>
                    <a:p>
                      <a:pPr algn="l"/>
                      <a:r>
                        <a:rPr lang="en-GB" sz="1800" b="0">
                          <a:solidFill>
                            <a:schemeClr val="tx1"/>
                          </a:solidFill>
                          <a:effectLst/>
                        </a:rPr>
                        <a:t>Dan</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3</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3772723468"/>
                  </a:ext>
                </a:extLst>
              </a:tr>
              <a:tr h="0">
                <a:tc>
                  <a:txBody>
                    <a:bodyPr/>
                    <a:lstStyle/>
                    <a:p>
                      <a:pPr algn="l"/>
                      <a:r>
                        <a:rPr lang="en-GB" sz="1800" b="0">
                          <a:solidFill>
                            <a:schemeClr val="tx1"/>
                          </a:solidFill>
                          <a:effectLst/>
                        </a:rPr>
                        <a:t>Erin</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TRUE</a:t>
                      </a:r>
                    </a:p>
                  </a:txBody>
                  <a:tcPr marL="9525" marR="9525" marT="9525" marB="9525" anchor="ctr"/>
                </a:tc>
                <a:extLst>
                  <a:ext uri="{0D108BD9-81ED-4DB2-BD59-A6C34878D82A}">
                    <a16:rowId xmlns:a16="http://schemas.microsoft.com/office/drawing/2014/main" val="552386150"/>
                  </a:ext>
                </a:extLst>
              </a:tr>
              <a:tr h="0">
                <a:tc>
                  <a:txBody>
                    <a:bodyPr/>
                    <a:lstStyle/>
                    <a:p>
                      <a:pPr algn="l"/>
                      <a:r>
                        <a:rPr lang="en-GB" sz="1800" b="0">
                          <a:solidFill>
                            <a:schemeClr val="tx1"/>
                          </a:solidFill>
                          <a:effectLst/>
                        </a:rPr>
                        <a:t>Erin</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1</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1057254957"/>
                  </a:ext>
                </a:extLst>
              </a:tr>
              <a:tr h="0">
                <a:tc>
                  <a:txBody>
                    <a:bodyPr/>
                    <a:lstStyle/>
                    <a:p>
                      <a:pPr algn="l"/>
                      <a:r>
                        <a:rPr lang="en-GB" sz="1800" b="0" dirty="0">
                          <a:solidFill>
                            <a:schemeClr val="tx1"/>
                          </a:solidFill>
                          <a:effectLst/>
                        </a:rPr>
                        <a:t>Erin</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3</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3292569320"/>
                  </a:ext>
                </a:extLst>
              </a:tr>
            </a:tbl>
          </a:graphicData>
        </a:graphic>
      </p:graphicFrame>
      <p:sp>
        <p:nvSpPr>
          <p:cNvPr id="25" name="TextBox 24">
            <a:extLst>
              <a:ext uri="{FF2B5EF4-FFF2-40B4-BE49-F238E27FC236}">
                <a16:creationId xmlns:a16="http://schemas.microsoft.com/office/drawing/2014/main" id="{F074091D-8FDF-1D11-17A5-9546B6B5C002}"/>
              </a:ext>
            </a:extLst>
          </p:cNvPr>
          <p:cNvSpPr txBox="1"/>
          <p:nvPr/>
        </p:nvSpPr>
        <p:spPr>
          <a:xfrm>
            <a:off x="6972113" y="1645944"/>
            <a:ext cx="4478908" cy="646331"/>
          </a:xfrm>
          <a:prstGeom prst="rect">
            <a:avLst/>
          </a:prstGeom>
          <a:noFill/>
        </p:spPr>
        <p:txBody>
          <a:bodyPr wrap="square" rtlCol="0">
            <a:spAutoFit/>
          </a:bodyPr>
          <a:lstStyle/>
          <a:p>
            <a:r>
              <a:rPr lang="en-GB" sz="3600" dirty="0">
                <a:solidFill>
                  <a:srgbClr val="7030A0"/>
                </a:solidFill>
              </a:rPr>
              <a:t>The result is nonsense!</a:t>
            </a:r>
          </a:p>
        </p:txBody>
      </p:sp>
      <p:sp>
        <p:nvSpPr>
          <p:cNvPr id="26" name="Right Arrow 9">
            <a:extLst>
              <a:ext uri="{FF2B5EF4-FFF2-40B4-BE49-F238E27FC236}">
                <a16:creationId xmlns:a16="http://schemas.microsoft.com/office/drawing/2014/main" id="{D1EEC889-7AC3-F152-2534-77ACED8825D6}"/>
              </a:ext>
            </a:extLst>
          </p:cNvPr>
          <p:cNvSpPr/>
          <p:nvPr/>
        </p:nvSpPr>
        <p:spPr>
          <a:xfrm>
            <a:off x="7093967" y="4153602"/>
            <a:ext cx="1406147" cy="884420"/>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7" name="Right Arrow 9">
            <a:extLst>
              <a:ext uri="{FF2B5EF4-FFF2-40B4-BE49-F238E27FC236}">
                <a16:creationId xmlns:a16="http://schemas.microsoft.com/office/drawing/2014/main" id="{C4EDE313-8EE8-417B-7F36-0143AC0D1F5D}"/>
              </a:ext>
            </a:extLst>
          </p:cNvPr>
          <p:cNvSpPr/>
          <p:nvPr/>
        </p:nvSpPr>
        <p:spPr>
          <a:xfrm>
            <a:off x="154558" y="1510744"/>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 name="TextBox 1">
            <a:extLst>
              <a:ext uri="{FF2B5EF4-FFF2-40B4-BE49-F238E27FC236}">
                <a16:creationId xmlns:a16="http://schemas.microsoft.com/office/drawing/2014/main" id="{C803A09E-15AD-D7A7-D9C3-CF1FF6E7DDBC}"/>
              </a:ext>
            </a:extLst>
          </p:cNvPr>
          <p:cNvSpPr txBox="1"/>
          <p:nvPr/>
        </p:nvSpPr>
        <p:spPr>
          <a:xfrm>
            <a:off x="545552" y="2256136"/>
            <a:ext cx="1771650" cy="369332"/>
          </a:xfrm>
          <a:prstGeom prst="rect">
            <a:avLst/>
          </a:prstGeom>
          <a:noFill/>
        </p:spPr>
        <p:txBody>
          <a:bodyPr wrap="square" rtlCol="0">
            <a:spAutoFit/>
          </a:bodyPr>
          <a:lstStyle/>
          <a:p>
            <a:r>
              <a:rPr lang="en-GB" b="1" dirty="0"/>
              <a:t>Combined data</a:t>
            </a:r>
          </a:p>
        </p:txBody>
      </p:sp>
    </p:spTree>
    <p:extLst>
      <p:ext uri="{BB962C8B-B14F-4D97-AF65-F5344CB8AC3E}">
        <p14:creationId xmlns:p14="http://schemas.microsoft.com/office/powerpoint/2010/main" val="259968153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27"/>
                                        </p:tgtEl>
                                        <p:attrNameLst>
                                          <p:attrName>style.visibility</p:attrName>
                                        </p:attrNameLst>
                                      </p:cBhvr>
                                      <p:to>
                                        <p:strVal val="visible"/>
                                      </p:to>
                                    </p:set>
                                    <p:animEffect transition="in" filter="wipe(left)">
                                      <p:cBhvr>
                                        <p:cTn id="7" dur="1000"/>
                                        <p:tgtEl>
                                          <p:spTgt spid="27"/>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1" fill="hold" grpId="0" nodeType="clickEffect">
                                  <p:stCondLst>
                                    <p:cond delay="0"/>
                                  </p:stCondLst>
                                  <p:childTnLst>
                                    <p:set>
                                      <p:cBhvr>
                                        <p:cTn id="11" dur="1" fill="hold">
                                          <p:stCondLst>
                                            <p:cond delay="0"/>
                                          </p:stCondLst>
                                        </p:cTn>
                                        <p:tgtEl>
                                          <p:spTgt spid="10"/>
                                        </p:tgtEl>
                                        <p:attrNameLst>
                                          <p:attrName>style.visibility</p:attrName>
                                        </p:attrNameLst>
                                      </p:cBhvr>
                                      <p:to>
                                        <p:strVal val="visible"/>
                                      </p:to>
                                    </p:set>
                                    <p:animEffect transition="in" filter="wipe(up)">
                                      <p:cBhvr>
                                        <p:cTn id="12" dur="2000"/>
                                        <p:tgtEl>
                                          <p:spTgt spid="10"/>
                                        </p:tgtEl>
                                      </p:cBhvr>
                                    </p:animEffect>
                                  </p:childTnLst>
                                </p:cTn>
                              </p:par>
                            </p:childTnLst>
                          </p:cTn>
                        </p:par>
                        <p:par>
                          <p:cTn id="13" fill="hold">
                            <p:stCondLst>
                              <p:cond delay="2000"/>
                            </p:stCondLst>
                            <p:childTnLst>
                              <p:par>
                                <p:cTn id="14" presetID="22" presetClass="entr" presetSubtype="1" fill="hold" grpId="0" nodeType="afterEffect">
                                  <p:stCondLst>
                                    <p:cond delay="0"/>
                                  </p:stCondLst>
                                  <p:childTnLst>
                                    <p:set>
                                      <p:cBhvr>
                                        <p:cTn id="15" dur="1" fill="hold">
                                          <p:stCondLst>
                                            <p:cond delay="0"/>
                                          </p:stCondLst>
                                        </p:cTn>
                                        <p:tgtEl>
                                          <p:spTgt spid="22"/>
                                        </p:tgtEl>
                                        <p:attrNameLst>
                                          <p:attrName>style.visibility</p:attrName>
                                        </p:attrNameLst>
                                      </p:cBhvr>
                                      <p:to>
                                        <p:strVal val="visible"/>
                                      </p:to>
                                    </p:set>
                                    <p:animEffect transition="in" filter="wipe(up)">
                                      <p:cBhvr>
                                        <p:cTn id="16" dur="2000"/>
                                        <p:tgtEl>
                                          <p:spTgt spid="22"/>
                                        </p:tgtEl>
                                      </p:cBhvr>
                                    </p:animEffect>
                                  </p:childTnLst>
                                </p:cTn>
                              </p:par>
                            </p:childTnLst>
                          </p:cTn>
                        </p:par>
                        <p:par>
                          <p:cTn id="17" fill="hold">
                            <p:stCondLst>
                              <p:cond delay="4000"/>
                            </p:stCondLst>
                            <p:childTnLst>
                              <p:par>
                                <p:cTn id="18" presetID="22" presetClass="entr" presetSubtype="1" fill="hold" grpId="0" nodeType="afterEffect">
                                  <p:stCondLst>
                                    <p:cond delay="0"/>
                                  </p:stCondLst>
                                  <p:childTnLst>
                                    <p:set>
                                      <p:cBhvr>
                                        <p:cTn id="19" dur="1" fill="hold">
                                          <p:stCondLst>
                                            <p:cond delay="0"/>
                                          </p:stCondLst>
                                        </p:cTn>
                                        <p:tgtEl>
                                          <p:spTgt spid="23"/>
                                        </p:tgtEl>
                                        <p:attrNameLst>
                                          <p:attrName>style.visibility</p:attrName>
                                        </p:attrNameLst>
                                      </p:cBhvr>
                                      <p:to>
                                        <p:strVal val="visible"/>
                                      </p:to>
                                    </p:set>
                                    <p:animEffect transition="in" filter="wipe(up)">
                                      <p:cBhvr>
                                        <p:cTn id="20" dur="2000"/>
                                        <p:tgtEl>
                                          <p:spTgt spid="23"/>
                                        </p:tgtEl>
                                      </p:cBhvr>
                                    </p:animEffect>
                                  </p:childTnLst>
                                </p:cTn>
                              </p:par>
                            </p:childTnLst>
                          </p:cTn>
                        </p:par>
                      </p:childTnLst>
                    </p:cTn>
                  </p:par>
                  <p:par>
                    <p:cTn id="21" fill="hold">
                      <p:stCondLst>
                        <p:cond delay="indefinite"/>
                      </p:stCondLst>
                      <p:childTnLst>
                        <p:par>
                          <p:cTn id="22" fill="hold">
                            <p:stCondLst>
                              <p:cond delay="0"/>
                            </p:stCondLst>
                            <p:childTnLst>
                              <p:par>
                                <p:cTn id="23" presetID="22" presetClass="entr" presetSubtype="8" fill="hold" grpId="0" nodeType="clickEffect">
                                  <p:stCondLst>
                                    <p:cond delay="0"/>
                                  </p:stCondLst>
                                  <p:childTnLst>
                                    <p:set>
                                      <p:cBhvr>
                                        <p:cTn id="24" dur="1" fill="hold">
                                          <p:stCondLst>
                                            <p:cond delay="0"/>
                                          </p:stCondLst>
                                        </p:cTn>
                                        <p:tgtEl>
                                          <p:spTgt spid="26"/>
                                        </p:tgtEl>
                                        <p:attrNameLst>
                                          <p:attrName>style.visibility</p:attrName>
                                        </p:attrNameLst>
                                      </p:cBhvr>
                                      <p:to>
                                        <p:strVal val="visible"/>
                                      </p:to>
                                    </p:set>
                                    <p:animEffect transition="in" filter="wipe(left)">
                                      <p:cBhvr>
                                        <p:cTn id="25" dur="1000"/>
                                        <p:tgtEl>
                                          <p:spTgt spid="26"/>
                                        </p:tgtEl>
                                      </p:cBhvr>
                                    </p:animEffect>
                                  </p:childTnLst>
                                </p:cTn>
                              </p:par>
                            </p:childTnLst>
                          </p:cTn>
                        </p:par>
                        <p:par>
                          <p:cTn id="26" fill="hold">
                            <p:stCondLst>
                              <p:cond delay="1000"/>
                            </p:stCondLst>
                            <p:childTnLst>
                              <p:par>
                                <p:cTn id="27" presetID="22" presetClass="entr" presetSubtype="8" fill="hold" nodeType="afterEffect">
                                  <p:stCondLst>
                                    <p:cond delay="0"/>
                                  </p:stCondLst>
                                  <p:childTnLst>
                                    <p:set>
                                      <p:cBhvr>
                                        <p:cTn id="28" dur="1" fill="hold">
                                          <p:stCondLst>
                                            <p:cond delay="0"/>
                                          </p:stCondLst>
                                        </p:cTn>
                                        <p:tgtEl>
                                          <p:spTgt spid="24"/>
                                        </p:tgtEl>
                                        <p:attrNameLst>
                                          <p:attrName>style.visibility</p:attrName>
                                        </p:attrNameLst>
                                      </p:cBhvr>
                                      <p:to>
                                        <p:strVal val="visible"/>
                                      </p:to>
                                    </p:set>
                                    <p:animEffect transition="in" filter="wipe(left)">
                                      <p:cBhvr>
                                        <p:cTn id="29" dur="2000"/>
                                        <p:tgtEl>
                                          <p:spTgt spid="24"/>
                                        </p:tgtEl>
                                      </p:cBhvr>
                                    </p:animEffect>
                                  </p:childTnLst>
                                </p:cTn>
                              </p:par>
                            </p:childTnLst>
                          </p:cTn>
                        </p:par>
                      </p:childTnLst>
                    </p:cTn>
                  </p:par>
                  <p:par>
                    <p:cTn id="30" fill="hold">
                      <p:stCondLst>
                        <p:cond delay="indefinite"/>
                      </p:stCondLst>
                      <p:childTnLst>
                        <p:par>
                          <p:cTn id="31" fill="hold">
                            <p:stCondLst>
                              <p:cond delay="0"/>
                            </p:stCondLst>
                            <p:childTnLst>
                              <p:par>
                                <p:cTn id="32" presetID="10" presetClass="entr" presetSubtype="0" fill="hold" grpId="0" nodeType="clickEffect">
                                  <p:stCondLst>
                                    <p:cond delay="0"/>
                                  </p:stCondLst>
                                  <p:childTnLst>
                                    <p:set>
                                      <p:cBhvr>
                                        <p:cTn id="33" dur="1" fill="hold">
                                          <p:stCondLst>
                                            <p:cond delay="0"/>
                                          </p:stCondLst>
                                        </p:cTn>
                                        <p:tgtEl>
                                          <p:spTgt spid="25"/>
                                        </p:tgtEl>
                                        <p:attrNameLst>
                                          <p:attrName>style.visibility</p:attrName>
                                        </p:attrNameLst>
                                      </p:cBhvr>
                                      <p:to>
                                        <p:strVal val="visible"/>
                                      </p:to>
                                    </p:set>
                                    <p:animEffect transition="in" filter="fade">
                                      <p:cBhvr>
                                        <p:cTn id="34" dur="2000"/>
                                        <p:tgtEl>
                                          <p:spTgt spid="2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animBg="1"/>
      <p:bldP spid="22" grpId="0" animBg="1"/>
      <p:bldP spid="23" grpId="0" animBg="1"/>
      <p:bldP spid="25" grpId="0"/>
      <p:bldP spid="26" grpId="0" animBg="1"/>
      <p:bldP spid="27" grpId="0" animBg="1"/>
    </p:bldLst>
  </p:timing>
</p:sld>
</file>

<file path=ppt/slides/slide258.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08C76DEA-F650-51AB-7EE7-9B3064808EC0}"/>
              </a:ext>
            </a:extLst>
          </p:cNvPr>
          <p:cNvSpPr>
            <a:spLocks noGrp="1"/>
          </p:cNvSpPr>
          <p:nvPr>
            <p:ph type="title"/>
          </p:nvPr>
        </p:nvSpPr>
        <p:spPr/>
        <p:txBody>
          <a:bodyPr/>
          <a:lstStyle/>
          <a:p>
            <a:r>
              <a:rPr lang="en-GB" dirty="0"/>
              <a:t>Joining Two Tables</a:t>
            </a:r>
          </a:p>
        </p:txBody>
      </p:sp>
      <p:graphicFrame>
        <p:nvGraphicFramePr>
          <p:cNvPr id="5" name="Table 4">
            <a:extLst>
              <a:ext uri="{FF2B5EF4-FFF2-40B4-BE49-F238E27FC236}">
                <a16:creationId xmlns:a16="http://schemas.microsoft.com/office/drawing/2014/main" id="{AAE10826-EEB4-463C-A5D4-C6E96E00A12F}"/>
              </a:ext>
            </a:extLst>
          </p:cNvPr>
          <p:cNvGraphicFramePr>
            <a:graphicFrameLocks noGrp="1"/>
          </p:cNvGraphicFramePr>
          <p:nvPr/>
        </p:nvGraphicFramePr>
        <p:xfrm>
          <a:off x="619125" y="2653393"/>
          <a:ext cx="6352988" cy="3813810"/>
        </p:xfrm>
        <a:graphic>
          <a:graphicData uri="http://schemas.openxmlformats.org/drawingml/2006/table">
            <a:tbl>
              <a:tblPr firstRow="1" bandRow="1">
                <a:tableStyleId>{5C22544A-7EE6-4342-B048-85BDC9FD1C3A}</a:tableStyleId>
              </a:tblPr>
              <a:tblGrid>
                <a:gridCol w="395288">
                  <a:extLst>
                    <a:ext uri="{9D8B030D-6E8A-4147-A177-3AD203B41FA5}">
                      <a16:colId xmlns:a16="http://schemas.microsoft.com/office/drawing/2014/main" val="2118093387"/>
                    </a:ext>
                  </a:extLst>
                </a:gridCol>
                <a:gridCol w="684213">
                  <a:extLst>
                    <a:ext uri="{9D8B030D-6E8A-4147-A177-3AD203B41FA5}">
                      <a16:colId xmlns:a16="http://schemas.microsoft.com/office/drawing/2014/main" val="2785336854"/>
                    </a:ext>
                  </a:extLst>
                </a:gridCol>
                <a:gridCol w="1101535">
                  <a:extLst>
                    <a:ext uri="{9D8B030D-6E8A-4147-A177-3AD203B41FA5}">
                      <a16:colId xmlns:a16="http://schemas.microsoft.com/office/drawing/2014/main" val="817480638"/>
                    </a:ext>
                  </a:extLst>
                </a:gridCol>
                <a:gridCol w="520700">
                  <a:extLst>
                    <a:ext uri="{9D8B030D-6E8A-4147-A177-3AD203B41FA5}">
                      <a16:colId xmlns:a16="http://schemas.microsoft.com/office/drawing/2014/main" val="3492903121"/>
                    </a:ext>
                  </a:extLst>
                </a:gridCol>
                <a:gridCol w="395288">
                  <a:extLst>
                    <a:ext uri="{9D8B030D-6E8A-4147-A177-3AD203B41FA5}">
                      <a16:colId xmlns:a16="http://schemas.microsoft.com/office/drawing/2014/main" val="2638527360"/>
                    </a:ext>
                  </a:extLst>
                </a:gridCol>
                <a:gridCol w="896938">
                  <a:extLst>
                    <a:ext uri="{9D8B030D-6E8A-4147-A177-3AD203B41FA5}">
                      <a16:colId xmlns:a16="http://schemas.microsoft.com/office/drawing/2014/main" val="2033619082"/>
                    </a:ext>
                  </a:extLst>
                </a:gridCol>
                <a:gridCol w="1211263">
                  <a:extLst>
                    <a:ext uri="{9D8B030D-6E8A-4147-A177-3AD203B41FA5}">
                      <a16:colId xmlns:a16="http://schemas.microsoft.com/office/drawing/2014/main" val="3683807378"/>
                    </a:ext>
                  </a:extLst>
                </a:gridCol>
                <a:gridCol w="1147763">
                  <a:extLst>
                    <a:ext uri="{9D8B030D-6E8A-4147-A177-3AD203B41FA5}">
                      <a16:colId xmlns:a16="http://schemas.microsoft.com/office/drawing/2014/main" val="2991623495"/>
                    </a:ext>
                  </a:extLst>
                </a:gridCol>
              </a:tblGrid>
              <a:tr h="0">
                <a:tc>
                  <a:txBody>
                    <a:bodyPr/>
                    <a:lstStyle/>
                    <a:p>
                      <a:pPr algn="l"/>
                      <a:r>
                        <a:rPr lang="en-GB" sz="1800" b="0" i="0" dirty="0">
                          <a:solidFill>
                            <a:schemeClr val="bg1"/>
                          </a:solidFill>
                          <a:effectLst/>
                          <a:latin typeface="Consolas" panose="020B0609020204030204" pitchFamily="49" charset="0"/>
                        </a:rPr>
                        <a:t>id</a:t>
                      </a:r>
                    </a:p>
                  </a:txBody>
                  <a:tcPr marL="9525" marR="9525" marT="9525" marB="9525" anchor="ctr"/>
                </a:tc>
                <a:tc>
                  <a:txBody>
                    <a:bodyPr/>
                    <a:lstStyle/>
                    <a:p>
                      <a:pPr algn="l"/>
                      <a:r>
                        <a:rPr lang="en-GB" sz="1800" b="0" i="0" dirty="0">
                          <a:solidFill>
                            <a:schemeClr val="bg1"/>
                          </a:solidFill>
                          <a:effectLst/>
                          <a:latin typeface="Consolas" panose="020B0609020204030204" pitchFamily="49" charset="0"/>
                        </a:rPr>
                        <a:t>name</a:t>
                      </a:r>
                    </a:p>
                  </a:txBody>
                  <a:tcPr marL="9525" marR="9525" marT="9525" marB="9525" anchor="ctr"/>
                </a:tc>
                <a:tc>
                  <a:txBody>
                    <a:bodyPr/>
                    <a:lstStyle/>
                    <a:p>
                      <a:pPr algn="l"/>
                      <a:r>
                        <a:rPr lang="en-GB" sz="1800" b="0" i="0" dirty="0">
                          <a:solidFill>
                            <a:schemeClr val="bg1"/>
                          </a:solidFill>
                          <a:effectLst/>
                          <a:latin typeface="Consolas" panose="020B0609020204030204" pitchFamily="49" charset="0"/>
                        </a:rPr>
                        <a:t>role</a:t>
                      </a:r>
                    </a:p>
                  </a:txBody>
                  <a:tcPr marL="9525" marR="9525" marT="9525" marB="9525" anchor="ctr"/>
                </a:tc>
                <a:tc>
                  <a:txBody>
                    <a:bodyPr/>
                    <a:lstStyle/>
                    <a:p>
                      <a:pPr algn="l"/>
                      <a:r>
                        <a:rPr lang="en-GB" sz="1800" b="0" i="0" dirty="0">
                          <a:solidFill>
                            <a:schemeClr val="bg1"/>
                          </a:solidFill>
                          <a:effectLst/>
                          <a:latin typeface="Consolas" panose="020B0609020204030204" pitchFamily="49" charset="0"/>
                        </a:rPr>
                        <a:t>age</a:t>
                      </a:r>
                    </a:p>
                  </a:txBody>
                  <a:tcPr marL="9525" marR="9525" marT="9525" marB="9525" anchor="ctr"/>
                </a:tc>
                <a:tc>
                  <a:txBody>
                    <a:bodyPr/>
                    <a:lstStyle/>
                    <a:p>
                      <a:pPr algn="l"/>
                      <a:r>
                        <a:rPr lang="en-GB" sz="1800" b="0" i="0" dirty="0">
                          <a:solidFill>
                            <a:schemeClr val="bg1"/>
                          </a:solidFill>
                          <a:effectLst/>
                          <a:latin typeface="Consolas" panose="020B0609020204030204" pitchFamily="49" charset="0"/>
                        </a:rPr>
                        <a:t>id</a:t>
                      </a:r>
                    </a:p>
                  </a:txBody>
                  <a:tcPr marL="9525" marR="9525" marT="9525" marB="9525" anchor="ctr"/>
                </a:tc>
                <a:tc>
                  <a:txBody>
                    <a:bodyPr/>
                    <a:lstStyle/>
                    <a:p>
                      <a:pPr algn="l"/>
                      <a:r>
                        <a:rPr lang="en-GB" sz="1800" b="0" i="0" dirty="0">
                          <a:solidFill>
                            <a:schemeClr val="bg1"/>
                          </a:solidFill>
                          <a:effectLst/>
                          <a:latin typeface="Consolas" panose="020B0609020204030204" pitchFamily="49" charset="0"/>
                        </a:rPr>
                        <a:t>laptop</a:t>
                      </a:r>
                    </a:p>
                  </a:txBody>
                  <a:tcPr marL="9525" marR="9525" marT="9525" marB="9525" anchor="ctr"/>
                </a:tc>
                <a:tc>
                  <a:txBody>
                    <a:bodyPr/>
                    <a:lstStyle/>
                    <a:p>
                      <a:pPr algn="l"/>
                      <a:r>
                        <a:rPr lang="en-GB" sz="1800" b="0" i="0" dirty="0">
                          <a:solidFill>
                            <a:schemeClr val="bg1"/>
                          </a:solidFill>
                          <a:effectLst/>
                          <a:latin typeface="Consolas" panose="020B0609020204030204" pitchFamily="49" charset="0"/>
                        </a:rPr>
                        <a:t>date</a:t>
                      </a:r>
                    </a:p>
                  </a:txBody>
                  <a:tcPr marL="9525" marR="9525" marT="9525" marB="9525" anchor="ctr"/>
                </a:tc>
                <a:tc>
                  <a:txBody>
                    <a:bodyPr/>
                    <a:lstStyle/>
                    <a:p>
                      <a:pPr algn="l"/>
                      <a:r>
                        <a:rPr lang="en-GB" sz="1800" b="0" i="0" dirty="0">
                          <a:solidFill>
                            <a:schemeClr val="bg1"/>
                          </a:solidFill>
                          <a:effectLst/>
                          <a:latin typeface="Consolas" panose="020B0609020204030204" pitchFamily="49" charset="0"/>
                        </a:rPr>
                        <a:t>returned</a:t>
                      </a:r>
                    </a:p>
                  </a:txBody>
                  <a:tcPr marL="9525" marR="9525" marT="9525" marB="9525" anchor="ctr"/>
                </a:tc>
                <a:extLst>
                  <a:ext uri="{0D108BD9-81ED-4DB2-BD59-A6C34878D82A}">
                    <a16:rowId xmlns:a16="http://schemas.microsoft.com/office/drawing/2014/main" val="1325679939"/>
                  </a:ext>
                </a:extLst>
              </a:tr>
              <a:tr h="0">
                <a:tc>
                  <a:txBody>
                    <a:bodyPr/>
                    <a:lstStyle/>
                    <a:p>
                      <a:pPr algn="l"/>
                      <a:r>
                        <a:rPr lang="en-GB" sz="1800" b="0" dirty="0">
                          <a:solidFill>
                            <a:schemeClr val="tx1"/>
                          </a:solidFill>
                          <a:effectLst/>
                        </a:rPr>
                        <a:t>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Annie</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Developer</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34</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3</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2023-10-01</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TRUE</a:t>
                      </a:r>
                    </a:p>
                  </a:txBody>
                  <a:tcPr marL="9525" marR="9525" marT="9525" marB="9525" anchor="ctr"/>
                </a:tc>
                <a:extLst>
                  <a:ext uri="{0D108BD9-81ED-4DB2-BD59-A6C34878D82A}">
                    <a16:rowId xmlns:a16="http://schemas.microsoft.com/office/drawing/2014/main" val="1906814975"/>
                  </a:ext>
                </a:extLst>
              </a:tr>
              <a:tr h="0">
                <a:tc>
                  <a:txBody>
                    <a:bodyPr/>
                    <a:lstStyle/>
                    <a:p>
                      <a:pPr algn="l"/>
                      <a:r>
                        <a:rPr lang="en-GB" sz="1800" b="0">
                          <a:solidFill>
                            <a:schemeClr val="tx1"/>
                          </a:solidFill>
                          <a:effectLst/>
                        </a:rPr>
                        <a:t>1</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Annie</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Developer</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34</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4</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1</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2023-11-30</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2263906834"/>
                  </a:ext>
                </a:extLst>
              </a:tr>
              <a:tr h="0">
                <a:tc>
                  <a:txBody>
                    <a:bodyPr/>
                    <a:lstStyle/>
                    <a:p>
                      <a:pPr algn="l"/>
                      <a:r>
                        <a:rPr lang="en-GB" sz="1800" b="0">
                          <a:solidFill>
                            <a:schemeClr val="tx1"/>
                          </a:solidFill>
                          <a:effectLst/>
                        </a:rPr>
                        <a:t>1</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Annie</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Developer</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34</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3</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3</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2023-12-21</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2966701059"/>
                  </a:ext>
                </a:extLst>
              </a:tr>
              <a:tr h="0">
                <a:tc>
                  <a:txBody>
                    <a:bodyPr/>
                    <a:lstStyle/>
                    <a:p>
                      <a:pPr algn="l"/>
                      <a:r>
                        <a:rPr lang="en-GB" sz="1800" b="0">
                          <a:solidFill>
                            <a:schemeClr val="tx1"/>
                          </a:solidFill>
                          <a:effectLst/>
                        </a:rPr>
                        <a:t>2</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Chris</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Tester</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26</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3</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2023-10-01</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TRUE</a:t>
                      </a:r>
                    </a:p>
                  </a:txBody>
                  <a:tcPr marL="9525" marR="9525" marT="9525" marB="9525" anchor="ctr"/>
                </a:tc>
                <a:extLst>
                  <a:ext uri="{0D108BD9-81ED-4DB2-BD59-A6C34878D82A}">
                    <a16:rowId xmlns:a16="http://schemas.microsoft.com/office/drawing/2014/main" val="3374873073"/>
                  </a:ext>
                </a:extLst>
              </a:tr>
              <a:tr h="0">
                <a:tc>
                  <a:txBody>
                    <a:bodyPr/>
                    <a:lstStyle/>
                    <a:p>
                      <a:pPr algn="l"/>
                      <a:r>
                        <a:rPr lang="en-GB" sz="1800" b="0">
                          <a:solidFill>
                            <a:schemeClr val="tx1"/>
                          </a:solidFill>
                          <a:effectLst/>
                        </a:rPr>
                        <a:t>2</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Chris</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Tester</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26</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4</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1</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2023-11-30</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2540229735"/>
                  </a:ext>
                </a:extLst>
              </a:tr>
              <a:tr h="0">
                <a:tc>
                  <a:txBody>
                    <a:bodyPr/>
                    <a:lstStyle/>
                    <a:p>
                      <a:pPr algn="l"/>
                      <a:r>
                        <a:rPr lang="en-GB" sz="1800" b="0">
                          <a:solidFill>
                            <a:schemeClr val="tx1"/>
                          </a:solidFill>
                          <a:effectLst/>
                        </a:rPr>
                        <a:t>2</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Chris</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Tester</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26</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3</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3</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2023-12-21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2110938926"/>
                  </a:ext>
                </a:extLst>
              </a:tr>
              <a:tr h="0">
                <a:tc>
                  <a:txBody>
                    <a:bodyPr/>
                    <a:lstStyle/>
                    <a:p>
                      <a:pPr algn="l"/>
                      <a:r>
                        <a:rPr lang="en-GB" sz="1800" b="0">
                          <a:solidFill>
                            <a:schemeClr val="tx1"/>
                          </a:solidFill>
                          <a:effectLst/>
                        </a:rPr>
                        <a:t>3</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Dan</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Designer</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35</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3</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2023-10-01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TRUE</a:t>
                      </a:r>
                    </a:p>
                  </a:txBody>
                  <a:tcPr marL="9525" marR="9525" marT="9525" marB="9525" anchor="ctr"/>
                </a:tc>
                <a:extLst>
                  <a:ext uri="{0D108BD9-81ED-4DB2-BD59-A6C34878D82A}">
                    <a16:rowId xmlns:a16="http://schemas.microsoft.com/office/drawing/2014/main" val="626550126"/>
                  </a:ext>
                </a:extLst>
              </a:tr>
              <a:tr h="0">
                <a:tc>
                  <a:txBody>
                    <a:bodyPr/>
                    <a:lstStyle/>
                    <a:p>
                      <a:pPr algn="l"/>
                      <a:r>
                        <a:rPr lang="en-GB" sz="1800" b="0">
                          <a:solidFill>
                            <a:schemeClr val="tx1"/>
                          </a:solidFill>
                          <a:effectLst/>
                        </a:rPr>
                        <a:t>3</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Dan</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Designer</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35</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4</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2023-11-30</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2001643763"/>
                  </a:ext>
                </a:extLst>
              </a:tr>
              <a:tr h="0">
                <a:tc>
                  <a:txBody>
                    <a:bodyPr/>
                    <a:lstStyle/>
                    <a:p>
                      <a:pPr algn="l"/>
                      <a:r>
                        <a:rPr lang="en-GB" sz="1800" b="0">
                          <a:solidFill>
                            <a:schemeClr val="tx1"/>
                          </a:solidFill>
                          <a:effectLst/>
                        </a:rPr>
                        <a:t>3</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Dan</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Designer</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35</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3</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3</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2023-12-21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3772723468"/>
                  </a:ext>
                </a:extLst>
              </a:tr>
              <a:tr h="0">
                <a:tc>
                  <a:txBody>
                    <a:bodyPr/>
                    <a:lstStyle/>
                    <a:p>
                      <a:pPr algn="l"/>
                      <a:r>
                        <a:rPr lang="en-GB" sz="1800" b="0">
                          <a:solidFill>
                            <a:schemeClr val="tx1"/>
                          </a:solidFill>
                          <a:effectLst/>
                        </a:rPr>
                        <a:t>4</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Erin</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Developer</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24</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3</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2023-10-01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TRUE</a:t>
                      </a:r>
                    </a:p>
                  </a:txBody>
                  <a:tcPr marL="9525" marR="9525" marT="9525" marB="9525" anchor="ctr"/>
                </a:tc>
                <a:extLst>
                  <a:ext uri="{0D108BD9-81ED-4DB2-BD59-A6C34878D82A}">
                    <a16:rowId xmlns:a16="http://schemas.microsoft.com/office/drawing/2014/main" val="552386150"/>
                  </a:ext>
                </a:extLst>
              </a:tr>
              <a:tr h="0">
                <a:tc>
                  <a:txBody>
                    <a:bodyPr/>
                    <a:lstStyle/>
                    <a:p>
                      <a:pPr algn="l"/>
                      <a:r>
                        <a:rPr lang="en-GB" sz="1800" b="0">
                          <a:solidFill>
                            <a:schemeClr val="tx1"/>
                          </a:solidFill>
                          <a:effectLst/>
                        </a:rPr>
                        <a:t>4</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Erin</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Developer</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24</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4</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1</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2023-11-30</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1057254957"/>
                  </a:ext>
                </a:extLst>
              </a:tr>
              <a:tr h="0">
                <a:tc>
                  <a:txBody>
                    <a:bodyPr/>
                    <a:lstStyle/>
                    <a:p>
                      <a:pPr algn="l"/>
                      <a:r>
                        <a:rPr lang="en-GB" sz="1800" b="0">
                          <a:solidFill>
                            <a:schemeClr val="tx1"/>
                          </a:solidFill>
                          <a:effectLst/>
                        </a:rPr>
                        <a:t>4</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Erin</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Developer</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24</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3</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3</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2023-12-21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3292569320"/>
                  </a:ext>
                </a:extLst>
              </a:tr>
            </a:tbl>
          </a:graphicData>
        </a:graphic>
      </p:graphicFrame>
      <p:sp>
        <p:nvSpPr>
          <p:cNvPr id="6" name="Rectangle 1">
            <a:extLst>
              <a:ext uri="{FF2B5EF4-FFF2-40B4-BE49-F238E27FC236}">
                <a16:creationId xmlns:a16="http://schemas.microsoft.com/office/drawing/2014/main" id="{C460184D-D803-F499-E82E-972FB39F9288}"/>
              </a:ext>
            </a:extLst>
          </p:cNvPr>
          <p:cNvSpPr>
            <a:spLocks noChangeArrowheads="1"/>
          </p:cNvSpPr>
          <p:nvPr/>
        </p:nvSpPr>
        <p:spPr bwMode="auto">
          <a:xfrm>
            <a:off x="619125" y="1461662"/>
            <a:ext cx="4557658" cy="70788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name, laptop, returned</a:t>
            </a:r>
            <a:endParaRPr kumimoji="0" lang="en-US" altLang="en-US" sz="2000" b="0" i="0" u="none" strike="noStrike" cap="none" normalizeH="0" baseline="0" dirty="0">
              <a:ln>
                <a:noFill/>
              </a:ln>
              <a:solidFill>
                <a:srgbClr val="000000"/>
              </a:solidFill>
              <a:effectLst/>
              <a:latin typeface="Consolas" panose="020B0609020204030204" pitchFamily="49" charset="0"/>
            </a:endParaRPr>
          </a:p>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2000" b="0" i="0" u="none" strike="noStrike" cap="none" normalizeH="0" baseline="0" dirty="0">
                <a:ln>
                  <a:noFill/>
                </a:ln>
                <a:solidFill>
                  <a:srgbClr val="B2B2B2"/>
                </a:solidFill>
                <a:effectLst/>
                <a:latin typeface="Consolas" panose="020B0609020204030204" pitchFamily="49" charset="0"/>
              </a:rPr>
              <a:t>2 </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kumimoji="0" lang="en-US" altLang="en-US" sz="2000" b="0" i="0" u="none" strike="noStrike" cap="none" normalizeH="0" baseline="0" dirty="0">
                <a:ln>
                  <a:noFill/>
                </a:ln>
                <a:solidFill>
                  <a:srgbClr val="A71D5D"/>
                </a:solidFill>
                <a:effectLst/>
                <a:latin typeface="Consolas" panose="020B0609020204030204" pitchFamily="49" charset="0"/>
              </a:rPr>
              <a:t>FROM</a:t>
            </a:r>
            <a:r>
              <a:rPr kumimoji="0" lang="en-US" altLang="en-US" sz="2000" b="0" i="0" u="none" strike="noStrike" cap="none" normalizeH="0" baseline="0" dirty="0">
                <a:ln>
                  <a:noFill/>
                </a:ln>
                <a:solidFill>
                  <a:srgbClr val="000000"/>
                </a:solidFill>
                <a:effectLst/>
                <a:latin typeface="Consolas" panose="020B0609020204030204" pitchFamily="49" charset="0"/>
              </a:rPr>
              <a:t> Employee, Borrow;</a:t>
            </a:r>
            <a:endParaRPr kumimoji="0" lang="en-US" altLang="en-US" sz="3200" b="0" i="0" u="none" strike="noStrike" cap="none" normalizeH="0" baseline="0" dirty="0">
              <a:ln>
                <a:noFill/>
              </a:ln>
              <a:solidFill>
                <a:schemeClr val="tx1"/>
              </a:solidFill>
              <a:effectLst/>
              <a:latin typeface="Arial" panose="020B0604020202020204" pitchFamily="34" charset="0"/>
            </a:endParaRPr>
          </a:p>
        </p:txBody>
      </p:sp>
      <p:graphicFrame>
        <p:nvGraphicFramePr>
          <p:cNvPr id="24" name="Table 23">
            <a:extLst>
              <a:ext uri="{FF2B5EF4-FFF2-40B4-BE49-F238E27FC236}">
                <a16:creationId xmlns:a16="http://schemas.microsoft.com/office/drawing/2014/main" id="{B01AC9AA-1E76-2F56-E08D-D0481FC0E9C7}"/>
              </a:ext>
            </a:extLst>
          </p:cNvPr>
          <p:cNvGraphicFramePr>
            <a:graphicFrameLocks noGrp="1"/>
          </p:cNvGraphicFramePr>
          <p:nvPr/>
        </p:nvGraphicFramePr>
        <p:xfrm>
          <a:off x="8624886" y="2653393"/>
          <a:ext cx="2728914" cy="3813810"/>
        </p:xfrm>
        <a:graphic>
          <a:graphicData uri="http://schemas.openxmlformats.org/drawingml/2006/table">
            <a:tbl>
              <a:tblPr firstRow="1" bandRow="1">
                <a:tableStyleId>{5C22544A-7EE6-4342-B048-85BDC9FD1C3A}</a:tableStyleId>
              </a:tblPr>
              <a:tblGrid>
                <a:gridCol w="684213">
                  <a:extLst>
                    <a:ext uri="{9D8B030D-6E8A-4147-A177-3AD203B41FA5}">
                      <a16:colId xmlns:a16="http://schemas.microsoft.com/office/drawing/2014/main" val="2785336854"/>
                    </a:ext>
                  </a:extLst>
                </a:gridCol>
                <a:gridCol w="896938">
                  <a:extLst>
                    <a:ext uri="{9D8B030D-6E8A-4147-A177-3AD203B41FA5}">
                      <a16:colId xmlns:a16="http://schemas.microsoft.com/office/drawing/2014/main" val="2033619082"/>
                    </a:ext>
                  </a:extLst>
                </a:gridCol>
                <a:gridCol w="1147763">
                  <a:extLst>
                    <a:ext uri="{9D8B030D-6E8A-4147-A177-3AD203B41FA5}">
                      <a16:colId xmlns:a16="http://schemas.microsoft.com/office/drawing/2014/main" val="2991623495"/>
                    </a:ext>
                  </a:extLst>
                </a:gridCol>
              </a:tblGrid>
              <a:tr h="0">
                <a:tc>
                  <a:txBody>
                    <a:bodyPr/>
                    <a:lstStyle/>
                    <a:p>
                      <a:pPr algn="l"/>
                      <a:r>
                        <a:rPr lang="en-GB" sz="1800" b="0" i="0" dirty="0">
                          <a:solidFill>
                            <a:schemeClr val="bg1"/>
                          </a:solidFill>
                          <a:effectLst/>
                          <a:latin typeface="Consolas" panose="020B0609020204030204" pitchFamily="49" charset="0"/>
                        </a:rPr>
                        <a:t>name</a:t>
                      </a:r>
                    </a:p>
                  </a:txBody>
                  <a:tcPr marL="9525" marR="9525" marT="9525" marB="9525" anchor="ctr"/>
                </a:tc>
                <a:tc>
                  <a:txBody>
                    <a:bodyPr/>
                    <a:lstStyle/>
                    <a:p>
                      <a:pPr algn="l"/>
                      <a:r>
                        <a:rPr lang="en-GB" sz="1800" b="0" i="0" dirty="0">
                          <a:solidFill>
                            <a:schemeClr val="bg1"/>
                          </a:solidFill>
                          <a:effectLst/>
                          <a:latin typeface="Consolas" panose="020B0609020204030204" pitchFamily="49" charset="0"/>
                        </a:rPr>
                        <a:t>laptop</a:t>
                      </a:r>
                    </a:p>
                  </a:txBody>
                  <a:tcPr marL="9525" marR="9525" marT="9525" marB="9525" anchor="ctr"/>
                </a:tc>
                <a:tc>
                  <a:txBody>
                    <a:bodyPr/>
                    <a:lstStyle/>
                    <a:p>
                      <a:pPr algn="l"/>
                      <a:r>
                        <a:rPr lang="en-GB" sz="1800" b="0" i="0" dirty="0">
                          <a:solidFill>
                            <a:schemeClr val="bg1"/>
                          </a:solidFill>
                          <a:effectLst/>
                          <a:latin typeface="Consolas" panose="020B0609020204030204" pitchFamily="49" charset="0"/>
                        </a:rPr>
                        <a:t>returned</a:t>
                      </a:r>
                    </a:p>
                  </a:txBody>
                  <a:tcPr marL="9525" marR="9525" marT="9525" marB="9525" anchor="ctr"/>
                </a:tc>
                <a:extLst>
                  <a:ext uri="{0D108BD9-81ED-4DB2-BD59-A6C34878D82A}">
                    <a16:rowId xmlns:a16="http://schemas.microsoft.com/office/drawing/2014/main" val="1325679939"/>
                  </a:ext>
                </a:extLst>
              </a:tr>
              <a:tr h="0">
                <a:tc>
                  <a:txBody>
                    <a:bodyPr/>
                    <a:lstStyle/>
                    <a:p>
                      <a:pPr algn="l"/>
                      <a:r>
                        <a:rPr lang="en-GB" sz="1800" b="0" dirty="0">
                          <a:solidFill>
                            <a:schemeClr val="tx1"/>
                          </a:solidFill>
                          <a:effectLst/>
                        </a:rPr>
                        <a:t>Annie</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TRUE</a:t>
                      </a:r>
                    </a:p>
                  </a:txBody>
                  <a:tcPr marL="9525" marR="9525" marT="9525" marB="9525" anchor="ctr"/>
                </a:tc>
                <a:extLst>
                  <a:ext uri="{0D108BD9-81ED-4DB2-BD59-A6C34878D82A}">
                    <a16:rowId xmlns:a16="http://schemas.microsoft.com/office/drawing/2014/main" val="1906814975"/>
                  </a:ext>
                </a:extLst>
              </a:tr>
              <a:tr h="0">
                <a:tc>
                  <a:txBody>
                    <a:bodyPr/>
                    <a:lstStyle/>
                    <a:p>
                      <a:pPr algn="l"/>
                      <a:r>
                        <a:rPr lang="en-GB" sz="1800" b="0" dirty="0">
                          <a:solidFill>
                            <a:schemeClr val="tx1"/>
                          </a:solidFill>
                          <a:effectLst/>
                        </a:rPr>
                        <a:t>Annie</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1</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2263906834"/>
                  </a:ext>
                </a:extLst>
              </a:tr>
              <a:tr h="0">
                <a:tc>
                  <a:txBody>
                    <a:bodyPr/>
                    <a:lstStyle/>
                    <a:p>
                      <a:pPr algn="l"/>
                      <a:r>
                        <a:rPr lang="en-GB" sz="1800" b="0">
                          <a:solidFill>
                            <a:schemeClr val="tx1"/>
                          </a:solidFill>
                          <a:effectLst/>
                        </a:rPr>
                        <a:t>Annie</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3</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2966701059"/>
                  </a:ext>
                </a:extLst>
              </a:tr>
              <a:tr h="0">
                <a:tc>
                  <a:txBody>
                    <a:bodyPr/>
                    <a:lstStyle/>
                    <a:p>
                      <a:pPr algn="l"/>
                      <a:r>
                        <a:rPr lang="en-GB" sz="1800" b="0">
                          <a:solidFill>
                            <a:schemeClr val="tx1"/>
                          </a:solidFill>
                          <a:effectLst/>
                        </a:rPr>
                        <a:t>Chris</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TRUE</a:t>
                      </a:r>
                    </a:p>
                  </a:txBody>
                  <a:tcPr marL="9525" marR="9525" marT="9525" marB="9525" anchor="ctr"/>
                </a:tc>
                <a:extLst>
                  <a:ext uri="{0D108BD9-81ED-4DB2-BD59-A6C34878D82A}">
                    <a16:rowId xmlns:a16="http://schemas.microsoft.com/office/drawing/2014/main" val="3374873073"/>
                  </a:ext>
                </a:extLst>
              </a:tr>
              <a:tr h="0">
                <a:tc>
                  <a:txBody>
                    <a:bodyPr/>
                    <a:lstStyle/>
                    <a:p>
                      <a:pPr algn="l"/>
                      <a:r>
                        <a:rPr lang="en-GB" sz="1800" b="0">
                          <a:solidFill>
                            <a:schemeClr val="tx1"/>
                          </a:solidFill>
                          <a:effectLst/>
                        </a:rPr>
                        <a:t>Chris</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1</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2540229735"/>
                  </a:ext>
                </a:extLst>
              </a:tr>
              <a:tr h="0">
                <a:tc>
                  <a:txBody>
                    <a:bodyPr/>
                    <a:lstStyle/>
                    <a:p>
                      <a:pPr algn="l"/>
                      <a:r>
                        <a:rPr lang="en-GB" sz="1800" b="0">
                          <a:solidFill>
                            <a:schemeClr val="tx1"/>
                          </a:solidFill>
                          <a:effectLst/>
                        </a:rPr>
                        <a:t>Chris</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3</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2110938926"/>
                  </a:ext>
                </a:extLst>
              </a:tr>
              <a:tr h="0">
                <a:tc>
                  <a:txBody>
                    <a:bodyPr/>
                    <a:lstStyle/>
                    <a:p>
                      <a:pPr algn="l"/>
                      <a:r>
                        <a:rPr lang="en-GB" sz="1800" b="0">
                          <a:solidFill>
                            <a:schemeClr val="tx1"/>
                          </a:solidFill>
                          <a:effectLst/>
                        </a:rPr>
                        <a:t>Dan</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TRUE</a:t>
                      </a:r>
                    </a:p>
                  </a:txBody>
                  <a:tcPr marL="9525" marR="9525" marT="9525" marB="9525" anchor="ctr"/>
                </a:tc>
                <a:extLst>
                  <a:ext uri="{0D108BD9-81ED-4DB2-BD59-A6C34878D82A}">
                    <a16:rowId xmlns:a16="http://schemas.microsoft.com/office/drawing/2014/main" val="626550126"/>
                  </a:ext>
                </a:extLst>
              </a:tr>
              <a:tr h="0">
                <a:tc>
                  <a:txBody>
                    <a:bodyPr/>
                    <a:lstStyle/>
                    <a:p>
                      <a:pPr algn="l"/>
                      <a:r>
                        <a:rPr lang="en-GB" sz="1800" b="0">
                          <a:solidFill>
                            <a:schemeClr val="tx1"/>
                          </a:solidFill>
                          <a:effectLst/>
                        </a:rPr>
                        <a:t>Dan</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2001643763"/>
                  </a:ext>
                </a:extLst>
              </a:tr>
              <a:tr h="0">
                <a:tc>
                  <a:txBody>
                    <a:bodyPr/>
                    <a:lstStyle/>
                    <a:p>
                      <a:pPr algn="l"/>
                      <a:r>
                        <a:rPr lang="en-GB" sz="1800" b="0">
                          <a:solidFill>
                            <a:schemeClr val="tx1"/>
                          </a:solidFill>
                          <a:effectLst/>
                        </a:rPr>
                        <a:t>Dan</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3</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3772723468"/>
                  </a:ext>
                </a:extLst>
              </a:tr>
              <a:tr h="0">
                <a:tc>
                  <a:txBody>
                    <a:bodyPr/>
                    <a:lstStyle/>
                    <a:p>
                      <a:pPr algn="l"/>
                      <a:r>
                        <a:rPr lang="en-GB" sz="1800" b="0">
                          <a:solidFill>
                            <a:schemeClr val="tx1"/>
                          </a:solidFill>
                          <a:effectLst/>
                        </a:rPr>
                        <a:t>Erin</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TRUE</a:t>
                      </a:r>
                    </a:p>
                  </a:txBody>
                  <a:tcPr marL="9525" marR="9525" marT="9525" marB="9525" anchor="ctr"/>
                </a:tc>
                <a:extLst>
                  <a:ext uri="{0D108BD9-81ED-4DB2-BD59-A6C34878D82A}">
                    <a16:rowId xmlns:a16="http://schemas.microsoft.com/office/drawing/2014/main" val="552386150"/>
                  </a:ext>
                </a:extLst>
              </a:tr>
              <a:tr h="0">
                <a:tc>
                  <a:txBody>
                    <a:bodyPr/>
                    <a:lstStyle/>
                    <a:p>
                      <a:pPr algn="l"/>
                      <a:r>
                        <a:rPr lang="en-GB" sz="1800" b="0">
                          <a:solidFill>
                            <a:schemeClr val="tx1"/>
                          </a:solidFill>
                          <a:effectLst/>
                        </a:rPr>
                        <a:t>Erin</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1</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1057254957"/>
                  </a:ext>
                </a:extLst>
              </a:tr>
              <a:tr h="0">
                <a:tc>
                  <a:txBody>
                    <a:bodyPr/>
                    <a:lstStyle/>
                    <a:p>
                      <a:pPr algn="l"/>
                      <a:r>
                        <a:rPr lang="en-GB" sz="1800" b="0" dirty="0">
                          <a:solidFill>
                            <a:schemeClr val="tx1"/>
                          </a:solidFill>
                          <a:effectLst/>
                        </a:rPr>
                        <a:t>Erin</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3</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3292569320"/>
                  </a:ext>
                </a:extLst>
              </a:tr>
            </a:tbl>
          </a:graphicData>
        </a:graphic>
      </p:graphicFrame>
      <p:sp>
        <p:nvSpPr>
          <p:cNvPr id="2" name="TextBox 1">
            <a:extLst>
              <a:ext uri="{FF2B5EF4-FFF2-40B4-BE49-F238E27FC236}">
                <a16:creationId xmlns:a16="http://schemas.microsoft.com/office/drawing/2014/main" id="{C803A09E-15AD-D7A7-D9C3-CF1FF6E7DDBC}"/>
              </a:ext>
            </a:extLst>
          </p:cNvPr>
          <p:cNvSpPr txBox="1"/>
          <p:nvPr/>
        </p:nvSpPr>
        <p:spPr>
          <a:xfrm>
            <a:off x="545552" y="2256136"/>
            <a:ext cx="1771650" cy="369332"/>
          </a:xfrm>
          <a:prstGeom prst="rect">
            <a:avLst/>
          </a:prstGeom>
          <a:noFill/>
        </p:spPr>
        <p:txBody>
          <a:bodyPr wrap="square" rtlCol="0">
            <a:spAutoFit/>
          </a:bodyPr>
          <a:lstStyle/>
          <a:p>
            <a:r>
              <a:rPr lang="en-GB" b="1" dirty="0"/>
              <a:t>Combined data</a:t>
            </a:r>
          </a:p>
        </p:txBody>
      </p:sp>
    </p:spTree>
    <p:extLst>
      <p:ext uri="{BB962C8B-B14F-4D97-AF65-F5344CB8AC3E}">
        <p14:creationId xmlns:p14="http://schemas.microsoft.com/office/powerpoint/2010/main" val="628094127"/>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Override1.xml><?xml version="1.0" encoding="utf-8"?>
<a:themeOverride xmlns:a="http://schemas.openxmlformats.org/drawingml/2006/main">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themeOverride>
</file>

<file path=ppt/theme/themeOverride2.xml><?xml version="1.0" encoding="utf-8"?>
<a:themeOverride xmlns:a="http://schemas.openxmlformats.org/drawingml/2006/main">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themeOverride>
</file>

<file path=ppt/theme/themeOverride3.xml><?xml version="1.0" encoding="utf-8"?>
<a:themeOverride xmlns:a="http://schemas.openxmlformats.org/drawingml/2006/main">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themeOverride>
</file>

<file path=ppt/theme/themeOverride4.xml><?xml version="1.0" encoding="utf-8"?>
<a:themeOverride xmlns:a="http://schemas.openxmlformats.org/drawingml/2006/main">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themeOverride>
</file>

<file path=ppt/theme/themeOverride5.xml><?xml version="1.0" encoding="utf-8"?>
<a:themeOverride xmlns:a="http://schemas.openxmlformats.org/drawingml/2006/main">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themeOverride>
</file>

<file path=ppt/theme/themeOverride6.xml><?xml version="1.0" encoding="utf-8"?>
<a:themeOverride xmlns:a="http://schemas.openxmlformats.org/drawingml/2006/main">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themeOverride>
</file>

<file path=docProps/app.xml><?xml version="1.0" encoding="utf-8"?>
<Properties xmlns="http://schemas.openxmlformats.org/officeDocument/2006/extended-properties" xmlns:vt="http://schemas.openxmlformats.org/officeDocument/2006/docPropsVTypes">
  <Template/>
  <TotalTime>373</TotalTime>
  <Words>11750</Words>
  <Application>Microsoft Office PowerPoint</Application>
  <PresentationFormat>Widescreen</PresentationFormat>
  <Paragraphs>4704</Paragraphs>
  <Slides>258</Slides>
  <Notes>204</Notes>
  <HiddenSlides>117</HiddenSlides>
  <MMClips>0</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258</vt:i4>
      </vt:variant>
    </vt:vector>
  </HeadingPairs>
  <TitlesOfParts>
    <vt:vector size="266" baseType="lpstr">
      <vt:lpstr>Arial</vt:lpstr>
      <vt:lpstr>Calibri</vt:lpstr>
      <vt:lpstr>Calibri Light</vt:lpstr>
      <vt:lpstr>Consolas</vt:lpstr>
      <vt:lpstr>Helvetica Neue</vt:lpstr>
      <vt:lpstr>ReithSans</vt:lpstr>
      <vt:lpstr>Wingdings</vt:lpstr>
      <vt:lpstr>Office Theme</vt:lpstr>
      <vt:lpstr>N5 Computing Science</vt:lpstr>
      <vt:lpstr>Plan – N5 Year 1</vt:lpstr>
      <vt:lpstr>What is a database?</vt:lpstr>
      <vt:lpstr>PowerPoint Presentation</vt:lpstr>
      <vt:lpstr>Records – Paper based</vt:lpstr>
      <vt:lpstr>Records – Paper based</vt:lpstr>
      <vt:lpstr>Records – Electronic</vt:lpstr>
      <vt:lpstr>Records – Electronic</vt:lpstr>
      <vt:lpstr>Relational Database</vt:lpstr>
      <vt:lpstr>Relational Database</vt:lpstr>
      <vt:lpstr>SQL</vt:lpstr>
      <vt:lpstr>SQL</vt:lpstr>
      <vt:lpstr>DB Browser for SQLite</vt:lpstr>
      <vt:lpstr>Edit – Preferences</vt:lpstr>
      <vt:lpstr>View – Edit Pragmas</vt:lpstr>
      <vt:lpstr>Learning Intentions</vt:lpstr>
      <vt:lpstr>Internal Commentary -  Single Line</vt:lpstr>
      <vt:lpstr>Internal Commentary – Single Line</vt:lpstr>
      <vt:lpstr>Internal Commentary – Multiple Lines</vt:lpstr>
      <vt:lpstr>Internal Commentary – Multiple Lines</vt:lpstr>
      <vt:lpstr>Learning Intentions</vt:lpstr>
      <vt:lpstr>Display information</vt:lpstr>
      <vt:lpstr>Display information</vt:lpstr>
      <vt:lpstr>Learning Intentions</vt:lpstr>
      <vt:lpstr>Table: pupil</vt:lpstr>
      <vt:lpstr>Display Data – Everything</vt:lpstr>
      <vt:lpstr>Display Data – Everything</vt:lpstr>
      <vt:lpstr>Display Data – Something</vt:lpstr>
      <vt:lpstr>Display Data – Something</vt:lpstr>
      <vt:lpstr>Order of Operations (1)</vt:lpstr>
      <vt:lpstr>Order of Operations (1)</vt:lpstr>
      <vt:lpstr>Learning Intentions</vt:lpstr>
      <vt:lpstr>Comparison Operators</vt:lpstr>
      <vt:lpstr>Comparison Operators</vt:lpstr>
      <vt:lpstr>Attributes Types</vt:lpstr>
      <vt:lpstr>Attributes Types</vt:lpstr>
      <vt:lpstr>Attributes Example</vt:lpstr>
      <vt:lpstr>Attributes Example</vt:lpstr>
      <vt:lpstr>Filter Results: Text</vt:lpstr>
      <vt:lpstr>Filter Results: Text</vt:lpstr>
      <vt:lpstr>Order of Operations (2)</vt:lpstr>
      <vt:lpstr>Order of Operations (2)</vt:lpstr>
      <vt:lpstr>Filter Results: Number</vt:lpstr>
      <vt:lpstr>Filter Results: Number</vt:lpstr>
      <vt:lpstr>Filter Results: Date</vt:lpstr>
      <vt:lpstr>Filter Results: Date</vt:lpstr>
      <vt:lpstr>Filter Results: Time</vt:lpstr>
      <vt:lpstr>Filter Results: Time</vt:lpstr>
      <vt:lpstr>Filter Results: Boolean</vt:lpstr>
      <vt:lpstr>Filter Results: Boolean</vt:lpstr>
      <vt:lpstr>Learning Intentions</vt:lpstr>
      <vt:lpstr>Sort Results – Small to Big</vt:lpstr>
      <vt:lpstr>Sort Results – Small to Big</vt:lpstr>
      <vt:lpstr>Sort Results – Big to Small</vt:lpstr>
      <vt:lpstr>Sort Results – Big to Small</vt:lpstr>
      <vt:lpstr>Order of Operations (3)</vt:lpstr>
      <vt:lpstr>Order of Operations (3)</vt:lpstr>
      <vt:lpstr>Sort Results – Multiple fields</vt:lpstr>
      <vt:lpstr>Sort Results – Multiple fields</vt:lpstr>
      <vt:lpstr>Learning Intentions</vt:lpstr>
      <vt:lpstr>Filter Results: Complex - AND</vt:lpstr>
      <vt:lpstr>Filter Results: Complex - AND</vt:lpstr>
      <vt:lpstr>Filter Results: Complex - OR</vt:lpstr>
      <vt:lpstr>Filter Results: Complex - OR</vt:lpstr>
      <vt:lpstr>Filter Results: Complex!</vt:lpstr>
      <vt:lpstr>Filter Results: Complex!</vt:lpstr>
      <vt:lpstr>Order of Operations (4)</vt:lpstr>
      <vt:lpstr>Order of Operations (4)</vt:lpstr>
      <vt:lpstr>Prison Task</vt:lpstr>
      <vt:lpstr>Doing It All!</vt:lpstr>
      <vt:lpstr>Doing It All!</vt:lpstr>
      <vt:lpstr>Santa's List</vt:lpstr>
      <vt:lpstr>Santa's List - SQL</vt:lpstr>
      <vt:lpstr>Video Games Task</vt:lpstr>
      <vt:lpstr>Learning Intentions</vt:lpstr>
      <vt:lpstr>Relationship – Two Entities</vt:lpstr>
      <vt:lpstr>Relationship – Two Entities</vt:lpstr>
      <vt:lpstr>Entity: address</vt:lpstr>
      <vt:lpstr>Relationship – Two Entities</vt:lpstr>
      <vt:lpstr>Relationship – Two Entities</vt:lpstr>
      <vt:lpstr>Equi-join - Generic</vt:lpstr>
      <vt:lpstr>Equi-join - Generic</vt:lpstr>
      <vt:lpstr>Equi-join - Example</vt:lpstr>
      <vt:lpstr>Equi-join - Example</vt:lpstr>
      <vt:lpstr>Order of Operations (5)</vt:lpstr>
      <vt:lpstr>Order of Operations (5)</vt:lpstr>
      <vt:lpstr>Order of Operations (6)</vt:lpstr>
      <vt:lpstr>Order of Operations (6)</vt:lpstr>
      <vt:lpstr>Learning Intentions</vt:lpstr>
      <vt:lpstr>Add Data – Single Record (1) – Example</vt:lpstr>
      <vt:lpstr>Add Data – Single Record (1) – Example</vt:lpstr>
      <vt:lpstr>Add Data – Single Record (2) – Example</vt:lpstr>
      <vt:lpstr>Add Data – Single Record (2) – Example</vt:lpstr>
      <vt:lpstr>Add Data – Multiple Records – Example</vt:lpstr>
      <vt:lpstr>Add Data – Multiple Records – Example</vt:lpstr>
      <vt:lpstr>Add Data – Some fields</vt:lpstr>
      <vt:lpstr>Add Data – Some fields</vt:lpstr>
      <vt:lpstr>Add Data – Some fields – Example</vt:lpstr>
      <vt:lpstr>Add Data – Some fields – Example</vt:lpstr>
      <vt:lpstr>Learning Intentions</vt:lpstr>
      <vt:lpstr>Change Data</vt:lpstr>
      <vt:lpstr>Change Data</vt:lpstr>
      <vt:lpstr>Change Data -  In stages</vt:lpstr>
      <vt:lpstr>Change Data -  In stages</vt:lpstr>
      <vt:lpstr>Change Data – Multiple fields</vt:lpstr>
      <vt:lpstr>Change Data – Multiple fields</vt:lpstr>
      <vt:lpstr>Learning Intentions</vt:lpstr>
      <vt:lpstr>Remove Data</vt:lpstr>
      <vt:lpstr>Remove Data</vt:lpstr>
      <vt:lpstr>Remove Data -  In stages</vt:lpstr>
      <vt:lpstr>Remove Data -  In stages</vt:lpstr>
      <vt:lpstr>SQL Queries - Overview</vt:lpstr>
      <vt:lpstr>SQL Queries - Overview</vt:lpstr>
      <vt:lpstr>Membership Task</vt:lpstr>
      <vt:lpstr>Learning Intentions</vt:lpstr>
      <vt:lpstr>Data Types</vt:lpstr>
      <vt:lpstr>Data Types</vt:lpstr>
      <vt:lpstr>Validation</vt:lpstr>
      <vt:lpstr>Validation</vt:lpstr>
      <vt:lpstr>CREATE TABLE</vt:lpstr>
      <vt:lpstr>CREATE TABLE</vt:lpstr>
      <vt:lpstr>CREATE TABLE – Task 1</vt:lpstr>
      <vt:lpstr>CREATE TABLE – Task 1 - Solution</vt:lpstr>
      <vt:lpstr>CREATE TABLE – Task 2</vt:lpstr>
      <vt:lpstr>CREATE TABLE – Task 2 - Solution</vt:lpstr>
      <vt:lpstr>Learning Intentions</vt:lpstr>
      <vt:lpstr>Modify Table – 8 Steps</vt:lpstr>
      <vt:lpstr>Modify Table – 8 Steps</vt:lpstr>
      <vt:lpstr>Modify Table Task</vt:lpstr>
      <vt:lpstr>Database Definition</vt:lpstr>
      <vt:lpstr>Database Definition</vt:lpstr>
      <vt:lpstr>Modify Table: 1 Get Table Definition</vt:lpstr>
      <vt:lpstr>Modify Table: 1 Get Table Definition</vt:lpstr>
      <vt:lpstr>Modify Table: 1 Get Table Definition</vt:lpstr>
      <vt:lpstr>Modify Table: 1 Get Table Definition</vt:lpstr>
      <vt:lpstr>Modify Table: 2 Create Empty Table</vt:lpstr>
      <vt:lpstr>Modify Table: 2 Create Empty Table</vt:lpstr>
      <vt:lpstr>Modify Table: 3 Copy Data</vt:lpstr>
      <vt:lpstr>Modify Table: 3 Copy Data</vt:lpstr>
      <vt:lpstr>Modify Table: 4 Check Data</vt:lpstr>
      <vt:lpstr>Modify Table: 4 Check Data</vt:lpstr>
      <vt:lpstr>Modify Table: 5 Referential integrity: Off</vt:lpstr>
      <vt:lpstr>Modify Table: 5 Referential integrity: Off</vt:lpstr>
      <vt:lpstr>Modify Table: 6 Delete Old Table</vt:lpstr>
      <vt:lpstr>Modify Table: 6 Delete Table</vt:lpstr>
      <vt:lpstr>Modify Table: 7 Rename New Table</vt:lpstr>
      <vt:lpstr>Modify Table: 7 Rename New Table</vt:lpstr>
      <vt:lpstr>Modify Table: 8 Referential integrity: On</vt:lpstr>
      <vt:lpstr>Modify Table: 8 Referential integrity: On</vt:lpstr>
      <vt:lpstr>Plan – N5 Year 2</vt:lpstr>
      <vt:lpstr>Assessment</vt:lpstr>
      <vt:lpstr>Assessment</vt:lpstr>
      <vt:lpstr>GDPR</vt:lpstr>
      <vt:lpstr>Learning Intentions</vt:lpstr>
      <vt:lpstr>Lawfulness, fairness and transparency</vt:lpstr>
      <vt:lpstr>Purpose limitation</vt:lpstr>
      <vt:lpstr>Data minimisation</vt:lpstr>
      <vt:lpstr>Accuracy</vt:lpstr>
      <vt:lpstr>Storage limitation</vt:lpstr>
      <vt:lpstr>Integrity and confidentiality</vt:lpstr>
      <vt:lpstr>GDPR Key Principles</vt:lpstr>
      <vt:lpstr>GDPR Key Principles</vt:lpstr>
      <vt:lpstr>Learning Intentions</vt:lpstr>
      <vt:lpstr>Requirements</vt:lpstr>
      <vt:lpstr>Requirements</vt:lpstr>
      <vt:lpstr>End-User Requirements</vt:lpstr>
      <vt:lpstr>End-User Requirements</vt:lpstr>
      <vt:lpstr>Functional Requirements (Queries)</vt:lpstr>
      <vt:lpstr>Functional Requirements (Queries)</vt:lpstr>
      <vt:lpstr>Learning Intentions</vt:lpstr>
      <vt:lpstr>Tables / Fields</vt:lpstr>
      <vt:lpstr>Tables / Fields</vt:lpstr>
      <vt:lpstr>Keys</vt:lpstr>
      <vt:lpstr>Keys</vt:lpstr>
      <vt:lpstr>ERD 1:M</vt:lpstr>
      <vt:lpstr>ERD 1:M</vt:lpstr>
      <vt:lpstr>ERD M:1</vt:lpstr>
      <vt:lpstr>ERD M:1</vt:lpstr>
      <vt:lpstr>Analysis and Design</vt:lpstr>
      <vt:lpstr>Analysis and Design</vt:lpstr>
      <vt:lpstr>Learning Intentions</vt:lpstr>
      <vt:lpstr>Entities and Attributes</vt:lpstr>
      <vt:lpstr>Entities and Attributes</vt:lpstr>
      <vt:lpstr>Primary Key</vt:lpstr>
      <vt:lpstr>Primary Key</vt:lpstr>
      <vt:lpstr>Foreign Key</vt:lpstr>
      <vt:lpstr>Foreign Key</vt:lpstr>
      <vt:lpstr>ER Diagram – Attributes (1)</vt:lpstr>
      <vt:lpstr>ER Diagram – Attributes (1)</vt:lpstr>
      <vt:lpstr>ER Diagram – Attributes (2)</vt:lpstr>
      <vt:lpstr>ER Diagram – Attributes (2)</vt:lpstr>
      <vt:lpstr>Entity Relationship Diagram</vt:lpstr>
      <vt:lpstr>Entity Relationship Diagram</vt:lpstr>
      <vt:lpstr>Cardinality: 1 to 1</vt:lpstr>
      <vt:lpstr>Cardinality: 1 to 1</vt:lpstr>
      <vt:lpstr>Cardinality: 1 to Many</vt:lpstr>
      <vt:lpstr>Cardinality: 1 to Many</vt:lpstr>
      <vt:lpstr>Cardinality: Many to Many</vt:lpstr>
      <vt:lpstr>Cardinality: Many to Many</vt:lpstr>
      <vt:lpstr>Cardinality</vt:lpstr>
      <vt:lpstr>Validation</vt:lpstr>
      <vt:lpstr>Validation</vt:lpstr>
      <vt:lpstr>Validation - Examples</vt:lpstr>
      <vt:lpstr>Validation - Examples</vt:lpstr>
      <vt:lpstr>Learning Intentions</vt:lpstr>
      <vt:lpstr>Data Dictionary (1)</vt:lpstr>
      <vt:lpstr>Data Dictionary (1)</vt:lpstr>
      <vt:lpstr>Text Attribute</vt:lpstr>
      <vt:lpstr>Text Attribute</vt:lpstr>
      <vt:lpstr>Data Dictionary (2)</vt:lpstr>
      <vt:lpstr>Data Dictionary (2)</vt:lpstr>
      <vt:lpstr>Referential integrity</vt:lpstr>
      <vt:lpstr>Referential integrity</vt:lpstr>
      <vt:lpstr>Data Dictionary (3)</vt:lpstr>
      <vt:lpstr>Data Dictionary (3)</vt:lpstr>
      <vt:lpstr>Analysis &amp; Design</vt:lpstr>
      <vt:lpstr>PowerPoint Presentation</vt:lpstr>
      <vt:lpstr>Query Design (SELECT)</vt:lpstr>
      <vt:lpstr>Query Design (SELECT)</vt:lpstr>
      <vt:lpstr>Query Design (INSERT)</vt:lpstr>
      <vt:lpstr>Query Design (INSERT)</vt:lpstr>
      <vt:lpstr>Query Design (UPDATE)</vt:lpstr>
      <vt:lpstr>Query Design (UPDATE)</vt:lpstr>
      <vt:lpstr>Query Design (DELETE)</vt:lpstr>
      <vt:lpstr>Query Design (DELETE)</vt:lpstr>
      <vt:lpstr>Learning Intentions</vt:lpstr>
      <vt:lpstr>Testing</vt:lpstr>
      <vt:lpstr>Fit for Purpose</vt:lpstr>
      <vt:lpstr>Evaluation</vt:lpstr>
      <vt:lpstr>Evaluation</vt:lpstr>
      <vt:lpstr>PowerPoint Presentation</vt:lpstr>
      <vt:lpstr>PowerPoint Presentation</vt:lpstr>
      <vt:lpstr>Evaluation - Overview</vt:lpstr>
      <vt:lpstr>Evaluation - Overview</vt:lpstr>
      <vt:lpstr>Fit for Purpose</vt:lpstr>
      <vt:lpstr>Fit for Purpose</vt:lpstr>
      <vt:lpstr>Accuracy of Output</vt:lpstr>
      <vt:lpstr>Accuracy of Output</vt:lpstr>
      <vt:lpstr>Collection of Information</vt:lpstr>
      <vt:lpstr>Advantages &amp; Disadvantages</vt:lpstr>
      <vt:lpstr>Flat File Database</vt:lpstr>
      <vt:lpstr>Flat File Database</vt:lpstr>
      <vt:lpstr>Insert Anomaly</vt:lpstr>
      <vt:lpstr>Insert Anomaly</vt:lpstr>
      <vt:lpstr>Delete Anomaly</vt:lpstr>
      <vt:lpstr>Delete Anomaly</vt:lpstr>
      <vt:lpstr>Update Anomaly</vt:lpstr>
      <vt:lpstr>Update Anomaly</vt:lpstr>
      <vt:lpstr>SQL Order of Operations</vt:lpstr>
      <vt:lpstr>SQL Order of Operations</vt:lpstr>
      <vt:lpstr>Order of Operations – Task 1</vt:lpstr>
      <vt:lpstr>Order of Operations – Task 2</vt:lpstr>
      <vt:lpstr>Order of Operations – Task 3</vt:lpstr>
      <vt:lpstr>Order of Operations</vt:lpstr>
      <vt:lpstr>Joining Two Tables</vt:lpstr>
      <vt:lpstr>Joining Two Tables</vt:lpstr>
      <vt:lpstr>Joining Two Tables</vt:lpstr>
      <vt:lpstr>Joining Two Tables</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Al Friend</dc:creator>
  <cp:lastModifiedBy>Al Friend</cp:lastModifiedBy>
  <cp:revision>474</cp:revision>
  <cp:lastPrinted>2021-06-18T08:15:49Z</cp:lastPrinted>
  <dcterms:created xsi:type="dcterms:W3CDTF">2020-11-23T14:36:09Z</dcterms:created>
  <dcterms:modified xsi:type="dcterms:W3CDTF">2026-01-15T10:40:53Z</dcterms:modified>
</cp:coreProperties>
</file>
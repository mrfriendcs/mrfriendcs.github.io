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heme/themeOverride1.xml" ContentType="application/vnd.openxmlformats-officedocument.themeOverride+xml"/>
  <Override PartName="/ppt/notesSlides/notesSlide52.xml" ContentType="application/vnd.openxmlformats-officedocument.presentationml.notesSlide+xml"/>
  <Override PartName="/ppt/theme/themeOverride2.xml" ContentType="application/vnd.openxmlformats-officedocument.themeOverride+xml"/>
  <Override PartName="/ppt/notesSlides/notesSlide53.xml" ContentType="application/vnd.openxmlformats-officedocument.presentationml.notesSlide+xml"/>
  <Override PartName="/ppt/theme/themeOverride3.xml" ContentType="application/vnd.openxmlformats-officedocument.themeOverride+xml"/>
  <Override PartName="/ppt/notesSlides/notesSlide54.xml" ContentType="application/vnd.openxmlformats-officedocument.presentationml.notesSlide+xml"/>
  <Override PartName="/ppt/theme/themeOverride4.xml" ContentType="application/vnd.openxmlformats-officedocument.themeOverride+xml"/>
  <Override PartName="/ppt/notesSlides/notesSlide55.xml" ContentType="application/vnd.openxmlformats-officedocument.presentationml.notesSlide+xml"/>
  <Override PartName="/ppt/theme/themeOverride5.xml" ContentType="application/vnd.openxmlformats-officedocument.themeOverride+xml"/>
  <Override PartName="/ppt/notesSlides/notesSlide56.xml" ContentType="application/vnd.openxmlformats-officedocument.presentationml.notesSlide+xml"/>
  <Override PartName="/ppt/theme/themeOverride6.xml" ContentType="application/vnd.openxmlformats-officedocument.themeOverr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6"/>
  </p:notesMasterIdLst>
  <p:sldIdLst>
    <p:sldId id="262" r:id="rId2"/>
    <p:sldId id="424" r:id="rId3"/>
    <p:sldId id="430" r:id="rId4"/>
    <p:sldId id="470" r:id="rId5"/>
    <p:sldId id="465" r:id="rId6"/>
    <p:sldId id="886" r:id="rId7"/>
    <p:sldId id="481" r:id="rId8"/>
    <p:sldId id="887" r:id="rId9"/>
    <p:sldId id="479" r:id="rId10"/>
    <p:sldId id="686" r:id="rId11"/>
    <p:sldId id="888" r:id="rId12"/>
    <p:sldId id="889" r:id="rId13"/>
    <p:sldId id="891" r:id="rId14"/>
    <p:sldId id="892" r:id="rId15"/>
    <p:sldId id="893" r:id="rId16"/>
    <p:sldId id="595" r:id="rId17"/>
    <p:sldId id="659" r:id="rId18"/>
    <p:sldId id="660" r:id="rId19"/>
    <p:sldId id="688" r:id="rId20"/>
    <p:sldId id="689" r:id="rId21"/>
    <p:sldId id="658" r:id="rId22"/>
    <p:sldId id="260" r:id="rId23"/>
    <p:sldId id="661" r:id="rId24"/>
    <p:sldId id="434" r:id="rId25"/>
    <p:sldId id="436" r:id="rId26"/>
    <p:sldId id="435" r:id="rId27"/>
    <p:sldId id="455" r:id="rId28"/>
    <p:sldId id="437" r:id="rId29"/>
    <p:sldId id="589" r:id="rId30"/>
    <p:sldId id="830" r:id="rId31"/>
    <p:sldId id="831" r:id="rId32"/>
    <p:sldId id="662" r:id="rId33"/>
    <p:sldId id="448" r:id="rId34"/>
    <p:sldId id="536" r:id="rId35"/>
    <p:sldId id="287" r:id="rId36"/>
    <p:sldId id="710" r:id="rId37"/>
    <p:sldId id="894" r:id="rId38"/>
    <p:sldId id="895" r:id="rId39"/>
    <p:sldId id="438" r:id="rId40"/>
    <p:sldId id="590" r:id="rId41"/>
    <p:sldId id="772" r:id="rId42"/>
    <p:sldId id="832" r:id="rId43"/>
    <p:sldId id="553" r:id="rId44"/>
    <p:sldId id="591" r:id="rId45"/>
    <p:sldId id="555" r:id="rId46"/>
    <p:sldId id="592" r:id="rId47"/>
    <p:sldId id="559" r:id="rId48"/>
    <p:sldId id="593" r:id="rId49"/>
    <p:sldId id="554" r:id="rId50"/>
    <p:sldId id="594" r:id="rId51"/>
    <p:sldId id="663" r:id="rId52"/>
    <p:sldId id="472" r:id="rId53"/>
    <p:sldId id="711" r:id="rId54"/>
    <p:sldId id="473" r:id="rId55"/>
    <p:sldId id="712" r:id="rId56"/>
    <p:sldId id="851" r:id="rId57"/>
    <p:sldId id="852" r:id="rId58"/>
    <p:sldId id="900" r:id="rId59"/>
    <p:sldId id="901" r:id="rId60"/>
    <p:sldId id="471" r:id="rId61"/>
    <p:sldId id="713" r:id="rId62"/>
    <p:sldId id="664" r:id="rId63"/>
    <p:sldId id="539" r:id="rId64"/>
    <p:sldId id="665" r:id="rId65"/>
    <p:sldId id="896" r:id="rId66"/>
    <p:sldId id="897" r:id="rId67"/>
    <p:sldId id="898" r:id="rId68"/>
    <p:sldId id="899" r:id="rId69"/>
    <p:sldId id="902" r:id="rId70"/>
    <p:sldId id="905" r:id="rId71"/>
    <p:sldId id="543" r:id="rId72"/>
    <p:sldId id="441" r:id="rId73"/>
    <p:sldId id="669" r:id="rId74"/>
    <p:sldId id="730" r:id="rId75"/>
    <p:sldId id="731" r:id="rId76"/>
    <p:sldId id="544" r:id="rId77"/>
    <p:sldId id="445" r:id="rId78"/>
    <p:sldId id="909" r:id="rId79"/>
    <p:sldId id="910" r:id="rId80"/>
    <p:sldId id="911" r:id="rId81"/>
    <p:sldId id="912" r:id="rId82"/>
    <p:sldId id="908" r:id="rId83"/>
    <p:sldId id="853" r:id="rId84"/>
    <p:sldId id="444" r:id="rId85"/>
    <p:sldId id="447" r:id="rId86"/>
    <p:sldId id="460" r:id="rId87"/>
    <p:sldId id="446" r:id="rId88"/>
    <p:sldId id="671" r:id="rId89"/>
    <p:sldId id="521" r:id="rId90"/>
    <p:sldId id="735" r:id="rId91"/>
    <p:sldId id="776" r:id="rId92"/>
    <p:sldId id="914" r:id="rId93"/>
    <p:sldId id="854" r:id="rId94"/>
    <p:sldId id="915" r:id="rId95"/>
    <p:sldId id="450" r:id="rId96"/>
    <p:sldId id="449" r:id="rId97"/>
    <p:sldId id="675" r:id="rId98"/>
    <p:sldId id="862" r:id="rId99"/>
    <p:sldId id="863" r:id="rId100"/>
    <p:sldId id="864" r:id="rId101"/>
    <p:sldId id="865" r:id="rId102"/>
    <p:sldId id="468" r:id="rId103"/>
    <p:sldId id="673" r:id="rId104"/>
    <p:sldId id="570" r:id="rId105"/>
    <p:sldId id="674" r:id="rId106"/>
    <p:sldId id="451" r:id="rId107"/>
    <p:sldId id="452" r:id="rId108"/>
    <p:sldId id="676" r:id="rId109"/>
    <p:sldId id="736" r:id="rId110"/>
    <p:sldId id="737" r:id="rId111"/>
    <p:sldId id="574" r:id="rId112"/>
    <p:sldId id="677" r:id="rId113"/>
    <p:sldId id="454" r:id="rId114"/>
    <p:sldId id="453" r:id="rId115"/>
    <p:sldId id="678" r:id="rId116"/>
    <p:sldId id="738" r:id="rId117"/>
    <p:sldId id="739" r:id="rId118"/>
    <p:sldId id="778" r:id="rId119"/>
    <p:sldId id="781" r:id="rId120"/>
    <p:sldId id="545" r:id="rId121"/>
    <p:sldId id="461" r:id="rId122"/>
    <p:sldId id="729" r:id="rId123"/>
    <p:sldId id="819" r:id="rId124"/>
    <p:sldId id="256" r:id="rId125"/>
    <p:sldId id="524" r:id="rId126"/>
    <p:sldId id="820" r:id="rId127"/>
    <p:sldId id="821" r:id="rId128"/>
    <p:sldId id="822" r:id="rId129"/>
    <p:sldId id="823" r:id="rId130"/>
    <p:sldId id="824" r:id="rId131"/>
    <p:sldId id="826" r:id="rId132"/>
    <p:sldId id="523" r:id="rId133"/>
    <p:sldId id="827" r:id="rId134"/>
    <p:sldId id="690" r:id="rId135"/>
    <p:sldId id="480" r:id="rId136"/>
    <p:sldId id="777" r:id="rId137"/>
    <p:sldId id="680" r:id="rId138"/>
    <p:sldId id="684" r:id="rId139"/>
    <p:sldId id="682" r:id="rId140"/>
    <p:sldId id="681" r:id="rId141"/>
    <p:sldId id="874" r:id="rId142"/>
    <p:sldId id="482" r:id="rId143"/>
    <p:sldId id="873" r:id="rId144"/>
    <p:sldId id="842" r:id="rId145"/>
    <p:sldId id="843" r:id="rId146"/>
    <p:sldId id="846" r:id="rId147"/>
    <p:sldId id="850" r:id="rId148"/>
    <p:sldId id="847" r:id="rId149"/>
    <p:sldId id="849" r:id="rId150"/>
    <p:sldId id="828" r:id="rId151"/>
    <p:sldId id="829" r:id="rId152"/>
    <p:sldId id="533" r:id="rId153"/>
    <p:sldId id="763" r:id="rId154"/>
    <p:sldId id="761" r:id="rId155"/>
    <p:sldId id="759" r:id="rId156"/>
    <p:sldId id="760" r:id="rId157"/>
    <p:sldId id="757" r:id="rId158"/>
    <p:sldId id="758" r:id="rId159"/>
    <p:sldId id="501" r:id="rId160"/>
    <p:sldId id="508" r:id="rId161"/>
    <p:sldId id="495" r:id="rId162"/>
    <p:sldId id="509" r:id="rId163"/>
    <p:sldId id="493" r:id="rId164"/>
    <p:sldId id="528" r:id="rId165"/>
    <p:sldId id="529" r:id="rId166"/>
    <p:sldId id="530" r:id="rId167"/>
    <p:sldId id="499" r:id="rId168"/>
    <p:sldId id="506" r:id="rId169"/>
    <p:sldId id="500" r:id="rId170"/>
    <p:sldId id="507" r:id="rId171"/>
    <p:sldId id="496" r:id="rId172"/>
    <p:sldId id="467" r:id="rId173"/>
    <p:sldId id="875" r:id="rId174"/>
    <p:sldId id="838" r:id="rId175"/>
    <p:sldId id="876" r:id="rId176"/>
    <p:sldId id="534" r:id="rId177"/>
    <p:sldId id="503" r:id="rId178"/>
    <p:sldId id="512" r:id="rId179"/>
    <p:sldId id="836" r:id="rId180"/>
    <p:sldId id="837" r:id="rId181"/>
    <p:sldId id="519" r:id="rId182"/>
    <p:sldId id="877" r:id="rId183"/>
    <p:sldId id="532" r:id="rId184"/>
    <p:sldId id="878" r:id="rId185"/>
    <p:sldId id="502" r:id="rId186"/>
    <p:sldId id="879" r:id="rId187"/>
    <p:sldId id="513" r:id="rId188"/>
    <p:sldId id="535" r:id="rId189"/>
    <p:sldId id="514" r:id="rId190"/>
    <p:sldId id="880" r:id="rId191"/>
    <p:sldId id="515" r:id="rId192"/>
    <p:sldId id="881" r:id="rId193"/>
    <p:sldId id="516" r:id="rId194"/>
    <p:sldId id="883" r:id="rId195"/>
    <p:sldId id="517" r:id="rId196"/>
    <p:sldId id="882" r:id="rId197"/>
    <p:sldId id="537" r:id="rId198"/>
    <p:sldId id="884" r:id="rId199"/>
    <p:sldId id="885" r:id="rId200"/>
    <p:sldId id="856" r:id="rId201"/>
    <p:sldId id="866" r:id="rId202"/>
    <p:sldId id="860" r:id="rId203"/>
    <p:sldId id="867" r:id="rId204"/>
    <p:sldId id="858" r:id="rId205"/>
    <p:sldId id="868" r:id="rId206"/>
    <p:sldId id="869" r:id="rId207"/>
    <p:sldId id="871" r:id="rId208"/>
    <p:sldId id="870" r:id="rId209"/>
    <p:sldId id="872" r:id="rId210"/>
    <p:sldId id="577" r:id="rId211"/>
    <p:sldId id="715" r:id="rId212"/>
    <p:sldId id="743" r:id="rId213"/>
    <p:sldId id="586" r:id="rId214"/>
    <p:sldId id="714" r:id="rId215"/>
    <p:sldId id="588" r:id="rId216"/>
    <p:sldId id="752" r:id="rId217"/>
    <p:sldId id="748" r:id="rId218"/>
    <p:sldId id="750" r:id="rId219"/>
    <p:sldId id="749" r:id="rId220"/>
    <p:sldId id="751" r:id="rId221"/>
    <p:sldId id="587" r:id="rId222"/>
    <p:sldId id="702" r:id="rId223"/>
    <p:sldId id="754" r:id="rId224"/>
    <p:sldId id="670" r:id="rId225"/>
    <p:sldId id="717" r:id="rId226"/>
    <p:sldId id="728" r:id="rId227"/>
    <p:sldId id="719" r:id="rId228"/>
    <p:sldId id="780" r:id="rId229"/>
    <p:sldId id="718" r:id="rId230"/>
    <p:sldId id="703" r:id="rId231"/>
    <p:sldId id="581" r:id="rId232"/>
    <p:sldId id="753" r:id="rId233"/>
    <p:sldId id="582" r:id="rId234"/>
    <p:sldId id="705" r:id="rId235"/>
    <p:sldId id="755" r:id="rId236"/>
    <p:sldId id="756" r:id="rId237"/>
    <p:sldId id="724" r:id="rId238"/>
    <p:sldId id="726" r:id="rId239"/>
    <p:sldId id="723" r:id="rId240"/>
    <p:sldId id="706" r:id="rId241"/>
    <p:sldId id="584" r:id="rId242"/>
    <p:sldId id="707" r:id="rId243"/>
    <p:sldId id="725" r:id="rId244"/>
    <p:sldId id="727" r:id="rId245"/>
    <p:sldId id="691" r:id="rId246"/>
    <p:sldId id="692" r:id="rId247"/>
    <p:sldId id="693" r:id="rId248"/>
    <p:sldId id="694" r:id="rId249"/>
    <p:sldId id="695" r:id="rId250"/>
    <p:sldId id="696" r:id="rId251"/>
    <p:sldId id="697" r:id="rId252"/>
    <p:sldId id="698" r:id="rId253"/>
    <p:sldId id="699" r:id="rId254"/>
    <p:sldId id="700" r:id="rId255"/>
  </p:sldIdLst>
  <p:sldSz cx="12192000" cy="6858000"/>
  <p:notesSz cx="7102475"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Year 1 Intro" id="{8CD916D4-C61B-4DE1-BA53-06CFF0F5F6D1}">
          <p14:sldIdLst>
            <p14:sldId id="262"/>
            <p14:sldId id="424"/>
            <p14:sldId id="430"/>
            <p14:sldId id="470"/>
            <p14:sldId id="465"/>
            <p14:sldId id="886"/>
            <p14:sldId id="481"/>
            <p14:sldId id="887"/>
            <p14:sldId id="479"/>
            <p14:sldId id="686"/>
          </p14:sldIdLst>
        </p14:section>
        <p14:section name="SQL" id="{DD89DABE-A453-49AB-9CCB-EE9E631C2A80}">
          <p14:sldIdLst>
            <p14:sldId id="888"/>
            <p14:sldId id="889"/>
          </p14:sldIdLst>
        </p14:section>
        <p14:section name="DB4S" id="{CFDB8A92-3B4F-42B9-A8E1-EED9786AB2F7}">
          <p14:sldIdLst>
            <p14:sldId id="891"/>
            <p14:sldId id="892"/>
            <p14:sldId id="893"/>
          </p14:sldIdLst>
        </p14:section>
        <p14:section name="Internal commentary" id="{1C33CE3C-DDFD-4A04-A8B3-5B64861D3E79}">
          <p14:sldIdLst>
            <p14:sldId id="595"/>
            <p14:sldId id="659"/>
            <p14:sldId id="660"/>
            <p14:sldId id="688"/>
            <p14:sldId id="689"/>
            <p14:sldId id="658"/>
            <p14:sldId id="260"/>
            <p14:sldId id="661"/>
          </p14:sldIdLst>
        </p14:section>
        <p14:section name="Selecting data" id="{2EDCD0F4-5722-4C0A-AACB-6CCC95B63552}">
          <p14:sldIdLst>
            <p14:sldId id="434"/>
            <p14:sldId id="436"/>
            <p14:sldId id="435"/>
            <p14:sldId id="455"/>
            <p14:sldId id="437"/>
            <p14:sldId id="589"/>
            <p14:sldId id="830"/>
            <p14:sldId id="831"/>
          </p14:sldIdLst>
        </p14:section>
        <p14:section name="Simple filtering" id="{4EB2FB9F-0FB5-438F-B6F9-2895898BD036}">
          <p14:sldIdLst>
            <p14:sldId id="662"/>
            <p14:sldId id="448"/>
            <p14:sldId id="536"/>
            <p14:sldId id="287"/>
            <p14:sldId id="710"/>
            <p14:sldId id="894"/>
            <p14:sldId id="895"/>
            <p14:sldId id="438"/>
            <p14:sldId id="590"/>
            <p14:sldId id="772"/>
            <p14:sldId id="832"/>
            <p14:sldId id="553"/>
            <p14:sldId id="591"/>
            <p14:sldId id="555"/>
            <p14:sldId id="592"/>
            <p14:sldId id="559"/>
            <p14:sldId id="593"/>
            <p14:sldId id="554"/>
            <p14:sldId id="594"/>
          </p14:sldIdLst>
        </p14:section>
        <p14:section name="Sorting" id="{A0843CDC-A3D8-42E2-A92F-876C3B7F5B35}">
          <p14:sldIdLst>
            <p14:sldId id="663"/>
            <p14:sldId id="472"/>
            <p14:sldId id="711"/>
            <p14:sldId id="473"/>
            <p14:sldId id="712"/>
            <p14:sldId id="851"/>
            <p14:sldId id="852"/>
            <p14:sldId id="900"/>
            <p14:sldId id="901"/>
            <p14:sldId id="471"/>
            <p14:sldId id="713"/>
          </p14:sldIdLst>
        </p14:section>
        <p14:section name="Complex filtering" id="{9260256F-28F3-4E9E-9446-CE52F48BD61A}">
          <p14:sldIdLst>
            <p14:sldId id="664"/>
            <p14:sldId id="539"/>
            <p14:sldId id="665"/>
            <p14:sldId id="896"/>
            <p14:sldId id="897"/>
            <p14:sldId id="898"/>
            <p14:sldId id="899"/>
            <p14:sldId id="902"/>
            <p14:sldId id="905"/>
          </p14:sldIdLst>
        </p14:section>
        <p14:section name="Task 1 - Prison" id="{03337F12-57C8-453A-971A-F8161C78F81A}">
          <p14:sldIdLst>
            <p14:sldId id="543"/>
          </p14:sldIdLst>
        </p14:section>
        <p14:section name="Example" id="{B6EB70A0-1A80-446A-8A12-585F4D8FA8F1}">
          <p14:sldIdLst>
            <p14:sldId id="441"/>
            <p14:sldId id="669"/>
          </p14:sldIdLst>
        </p14:section>
        <p14:section name="Santa's List" id="{2C9D3CBD-6540-4C6A-A58A-81BD1FCDA0C9}">
          <p14:sldIdLst>
            <p14:sldId id="730"/>
            <p14:sldId id="731"/>
          </p14:sldIdLst>
        </p14:section>
        <p14:section name="Task 2 - Video Games" id="{3BCFA8B2-C681-4E71-834C-6EEF522B4C45}">
          <p14:sldIdLst>
            <p14:sldId id="544"/>
          </p14:sldIdLst>
        </p14:section>
        <p14:section name="Equi-join" id="{9156AF32-3F4A-4277-919D-54926F4D484A}">
          <p14:sldIdLst>
            <p14:sldId id="445"/>
            <p14:sldId id="909"/>
            <p14:sldId id="910"/>
            <p14:sldId id="911"/>
            <p14:sldId id="912"/>
            <p14:sldId id="908"/>
            <p14:sldId id="853"/>
            <p14:sldId id="444"/>
            <p14:sldId id="447"/>
            <p14:sldId id="460"/>
            <p14:sldId id="446"/>
            <p14:sldId id="671"/>
            <p14:sldId id="521"/>
            <p14:sldId id="735"/>
          </p14:sldIdLst>
        </p14:section>
        <p14:section name="Order of Operations" id="{11B55FB4-B940-4A7E-92D4-97A5E14B2FF2}">
          <p14:sldIdLst>
            <p14:sldId id="776"/>
            <p14:sldId id="914"/>
            <p14:sldId id="854"/>
            <p14:sldId id="915"/>
          </p14:sldIdLst>
        </p14:section>
        <p14:section name="INSERT" id="{45B73AF7-9771-40C9-90A1-856F89D715F7}">
          <p14:sldIdLst>
            <p14:sldId id="450"/>
            <p14:sldId id="449"/>
            <p14:sldId id="675"/>
            <p14:sldId id="862"/>
            <p14:sldId id="863"/>
            <p14:sldId id="864"/>
            <p14:sldId id="865"/>
            <p14:sldId id="468"/>
            <p14:sldId id="673"/>
            <p14:sldId id="570"/>
            <p14:sldId id="674"/>
          </p14:sldIdLst>
        </p14:section>
        <p14:section name="UPDATE" id="{9BC599F8-639E-4FCE-BD7E-70C803913791}">
          <p14:sldIdLst>
            <p14:sldId id="451"/>
            <p14:sldId id="452"/>
            <p14:sldId id="676"/>
            <p14:sldId id="736"/>
            <p14:sldId id="737"/>
            <p14:sldId id="574"/>
            <p14:sldId id="677"/>
          </p14:sldIdLst>
        </p14:section>
        <p14:section name="DELETE" id="{F1AC29AD-00A0-4DA8-8F76-72F463CC9F85}">
          <p14:sldIdLst>
            <p14:sldId id="454"/>
            <p14:sldId id="453"/>
            <p14:sldId id="678"/>
            <p14:sldId id="738"/>
            <p14:sldId id="739"/>
          </p14:sldIdLst>
        </p14:section>
        <p14:section name="SQL Overview" id="{FFFB8ABA-72F5-423C-8F68-E44D6D6CBCDF}">
          <p14:sldIdLst>
            <p14:sldId id="778"/>
            <p14:sldId id="781"/>
          </p14:sldIdLst>
        </p14:section>
        <p14:section name="Task 3" id="{619E6DFC-3992-4A59-82E7-7B22C820B3E6}">
          <p14:sldIdLst>
            <p14:sldId id="545"/>
          </p14:sldIdLst>
        </p14:section>
        <p14:section name="Year 2 Intro" id="{49A7278B-A6C0-4D9B-A99D-A786B3EA68AB}">
          <p14:sldIdLst>
            <p14:sldId id="461"/>
            <p14:sldId id="729"/>
            <p14:sldId id="819"/>
          </p14:sldIdLst>
        </p14:section>
        <p14:section name="GDPR" id="{E37955AC-40BA-4116-85D2-DB10939CD5EC}">
          <p14:sldIdLst>
            <p14:sldId id="256"/>
            <p14:sldId id="524"/>
            <p14:sldId id="820"/>
            <p14:sldId id="821"/>
            <p14:sldId id="822"/>
            <p14:sldId id="823"/>
            <p14:sldId id="824"/>
            <p14:sldId id="826"/>
            <p14:sldId id="523"/>
            <p14:sldId id="827"/>
          </p14:sldIdLst>
        </p14:section>
        <p14:section name="Analysis" id="{FC1A97FF-E730-48B4-9EC4-29660A1AAE1C}">
          <p14:sldIdLst>
            <p14:sldId id="690"/>
            <p14:sldId id="480"/>
            <p14:sldId id="777"/>
            <p14:sldId id="680"/>
            <p14:sldId id="684"/>
            <p14:sldId id="682"/>
            <p14:sldId id="681"/>
          </p14:sldIdLst>
        </p14:section>
        <p14:section name="Design" id="{56203B2E-7417-47BB-9FEF-6B2DD80B6A0E}">
          <p14:sldIdLst>
            <p14:sldId id="874"/>
            <p14:sldId id="482"/>
            <p14:sldId id="873"/>
            <p14:sldId id="842"/>
            <p14:sldId id="843"/>
            <p14:sldId id="846"/>
            <p14:sldId id="850"/>
            <p14:sldId id="847"/>
            <p14:sldId id="849"/>
            <p14:sldId id="828"/>
            <p14:sldId id="829"/>
          </p14:sldIdLst>
        </p14:section>
        <p14:section name="ER Diagrams" id="{092385FA-4484-4009-B3DD-2DCFD486ADB0}">
          <p14:sldIdLst>
            <p14:sldId id="533"/>
            <p14:sldId id="763"/>
            <p14:sldId id="761"/>
            <p14:sldId id="759"/>
            <p14:sldId id="760"/>
            <p14:sldId id="757"/>
            <p14:sldId id="758"/>
            <p14:sldId id="501"/>
            <p14:sldId id="508"/>
            <p14:sldId id="495"/>
            <p14:sldId id="509"/>
          </p14:sldIdLst>
        </p14:section>
        <p14:section name="Cardinality" id="{12EF5A2B-A0F7-4F06-BD1F-F08B7156C11F}">
          <p14:sldIdLst>
            <p14:sldId id="493"/>
            <p14:sldId id="528"/>
            <p14:sldId id="529"/>
            <p14:sldId id="530"/>
            <p14:sldId id="499"/>
            <p14:sldId id="506"/>
            <p14:sldId id="500"/>
            <p14:sldId id="507"/>
            <p14:sldId id="496"/>
          </p14:sldIdLst>
        </p14:section>
        <p14:section name="Validation" id="{960C753B-D75F-4BD0-BB9D-EFEB3AE6A3E3}">
          <p14:sldIdLst>
            <p14:sldId id="467"/>
            <p14:sldId id="875"/>
            <p14:sldId id="838"/>
            <p14:sldId id="876"/>
          </p14:sldIdLst>
        </p14:section>
        <p14:section name="Data dictionary" id="{9CA5A04E-ED73-4CF8-B424-44457E4EFEF6}">
          <p14:sldIdLst>
            <p14:sldId id="534"/>
            <p14:sldId id="503"/>
            <p14:sldId id="512"/>
            <p14:sldId id="836"/>
            <p14:sldId id="837"/>
            <p14:sldId id="519"/>
            <p14:sldId id="877"/>
            <p14:sldId id="532"/>
            <p14:sldId id="878"/>
            <p14:sldId id="502"/>
            <p14:sldId id="879"/>
            <p14:sldId id="513"/>
          </p14:sldIdLst>
        </p14:section>
        <p14:section name="Query design" id="{C6B6DB09-4C97-48C8-99C9-D1EA85B0A8EC}">
          <p14:sldIdLst>
            <p14:sldId id="535"/>
            <p14:sldId id="514"/>
            <p14:sldId id="880"/>
            <p14:sldId id="515"/>
            <p14:sldId id="881"/>
            <p14:sldId id="516"/>
            <p14:sldId id="883"/>
            <p14:sldId id="517"/>
            <p14:sldId id="882"/>
          </p14:sldIdLst>
        </p14:section>
        <p14:section name="Testing / Evaluation" id="{17170198-367D-4381-96A8-6FAB281DB504}">
          <p14:sldIdLst>
            <p14:sldId id="537"/>
            <p14:sldId id="884"/>
            <p14:sldId id="885"/>
            <p14:sldId id="856"/>
            <p14:sldId id="866"/>
            <p14:sldId id="860"/>
            <p14:sldId id="867"/>
            <p14:sldId id="858"/>
            <p14:sldId id="868"/>
            <p14:sldId id="869"/>
            <p14:sldId id="871"/>
            <p14:sldId id="870"/>
            <p14:sldId id="872"/>
          </p14:sldIdLst>
        </p14:section>
        <p14:section name="Create Table" id="{8ACCEF9C-31EB-4348-9580-7D53892E83BF}">
          <p14:sldIdLst>
            <p14:sldId id="577"/>
            <p14:sldId id="715"/>
            <p14:sldId id="743"/>
            <p14:sldId id="586"/>
            <p14:sldId id="714"/>
            <p14:sldId id="588"/>
            <p14:sldId id="752"/>
            <p14:sldId id="748"/>
            <p14:sldId id="750"/>
            <p14:sldId id="749"/>
            <p14:sldId id="751"/>
          </p14:sldIdLst>
        </p14:section>
        <p14:section name="Modify Table" id="{DF38FDF2-0431-4BF2-8BBE-659739AD517E}">
          <p14:sldIdLst>
            <p14:sldId id="587"/>
            <p14:sldId id="702"/>
            <p14:sldId id="754"/>
            <p14:sldId id="670"/>
            <p14:sldId id="717"/>
            <p14:sldId id="728"/>
            <p14:sldId id="719"/>
            <p14:sldId id="780"/>
            <p14:sldId id="718"/>
            <p14:sldId id="703"/>
            <p14:sldId id="581"/>
            <p14:sldId id="753"/>
            <p14:sldId id="582"/>
            <p14:sldId id="705"/>
            <p14:sldId id="755"/>
            <p14:sldId id="756"/>
            <p14:sldId id="724"/>
            <p14:sldId id="726"/>
            <p14:sldId id="723"/>
            <p14:sldId id="706"/>
            <p14:sldId id="584"/>
            <p14:sldId id="707"/>
            <p14:sldId id="725"/>
            <p14:sldId id="727"/>
          </p14:sldIdLst>
        </p14:section>
        <p14:section name="Unused" id="{6B78BB24-7CD6-4957-A4D8-8AE3A74FF31C}">
          <p14:sldIdLst>
            <p14:sldId id="691"/>
            <p14:sldId id="692"/>
            <p14:sldId id="693"/>
            <p14:sldId id="694"/>
            <p14:sldId id="695"/>
            <p14:sldId id="696"/>
            <p14:sldId id="697"/>
            <p14:sldId id="698"/>
            <p14:sldId id="699"/>
            <p14:sldId id="700"/>
          </p14:sldIdLst>
        </p14:section>
      </p14:sectionLst>
    </p:ex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 Friend" initials="AF" lastIdx="1" clrIdx="0">
    <p:extLst>
      <p:ext uri="{19B8F6BF-5375-455C-9EA6-DF929625EA0E}">
        <p15:presenceInfo xmlns:p15="http://schemas.microsoft.com/office/powerpoint/2012/main" userId="S-1-5-21-1186014672-3240467572-3005593719-433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A71D5D"/>
    <a:srgbClr val="0086B3"/>
    <a:srgbClr val="183691"/>
    <a:srgbClr val="FFFF00"/>
    <a:srgbClr val="8BC2DE"/>
    <a:srgbClr val="49A5CA"/>
    <a:srgbClr val="BDD7EE"/>
    <a:srgbClr val="E9EBF5"/>
    <a:srgbClr val="CFD5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34" autoAdjust="0"/>
    <p:restoredTop sz="75676" autoAdjust="0"/>
  </p:normalViewPr>
  <p:slideViewPr>
    <p:cSldViewPr snapToGrid="0" showGuides="1">
      <p:cViewPr varScale="1">
        <p:scale>
          <a:sx n="50" d="100"/>
          <a:sy n="50" d="100"/>
        </p:scale>
        <p:origin x="1292" y="40"/>
      </p:cViewPr>
      <p:guideLst>
        <p:guide orient="horz" pos="2137"/>
        <p:guide pos="384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80" d="100"/>
        <a:sy n="80" d="100"/>
      </p:scale>
      <p:origin x="0" y="-12758"/>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viewProps" Target="viewProps.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theme" Target="theme/theme1.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tableStyles" Target="tableStyle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microsoft.com/office/2016/11/relationships/changesInfo" Target="changesInfos/changesInfo1.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notesMaster" Target="notesMasters/notesMaster1.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commentAuthors" Target="commentAuthors.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 Friend" userId="e5ed79da-d858-46d4-9eed-a7a24903f2de" providerId="ADAL" clId="{6CF5D3DD-A8C4-4611-8099-4AEB2E976A2E}"/>
    <pc:docChg chg="undo custSel addSld delSld modSld sldOrd modSection">
      <pc:chgData name="Al Friend" userId="e5ed79da-d858-46d4-9eed-a7a24903f2de" providerId="ADAL" clId="{6CF5D3DD-A8C4-4611-8099-4AEB2E976A2E}" dt="2026-08-18T21:36:13.515" v="670" actId="20577"/>
      <pc:docMkLst>
        <pc:docMk/>
      </pc:docMkLst>
      <pc:sldChg chg="modNotesTx">
        <pc:chgData name="Al Friend" userId="e5ed79da-d858-46d4-9eed-a7a24903f2de" providerId="ADAL" clId="{6CF5D3DD-A8C4-4611-8099-4AEB2E976A2E}" dt="2026-08-18T21:36:13.515" v="670" actId="20577"/>
        <pc:sldMkLst>
          <pc:docMk/>
          <pc:sldMk cId="3703383339" sldId="873"/>
        </pc:sldMkLst>
      </pc:sldChg>
    </pc:docChg>
  </pc:docChgLst>
  <pc:docChgLst>
    <pc:chgData name="Al Friend" userId="e5ed79da-d858-46d4-9eed-a7a24903f2de" providerId="ADAL" clId="{2D1BF10B-8102-4CBE-8A49-8DCB49189240}"/>
    <pc:docChg chg="modSld">
      <pc:chgData name="Al Friend" userId="e5ed79da-d858-46d4-9eed-a7a24903f2de" providerId="ADAL" clId="{2D1BF10B-8102-4CBE-8A49-8DCB49189240}" dt="2026-10-30T09:52:33.359" v="5" actId="20577"/>
      <pc:docMkLst>
        <pc:docMk/>
      </pc:docMkLst>
      <pc:sldChg chg="modNotesTx">
        <pc:chgData name="Al Friend" userId="e5ed79da-d858-46d4-9eed-a7a24903f2de" providerId="ADAL" clId="{2D1BF10B-8102-4CBE-8A49-8DCB49189240}" dt="2026-10-28T15:30:53.624" v="2" actId="20577"/>
        <pc:sldMkLst>
          <pc:docMk/>
          <pc:sldMk cId="2647622202" sldId="524"/>
        </pc:sldMkLst>
      </pc:sldChg>
      <pc:sldChg chg="modSp">
        <pc:chgData name="Al Friend" userId="e5ed79da-d858-46d4-9eed-a7a24903f2de" providerId="ADAL" clId="{2D1BF10B-8102-4CBE-8A49-8DCB49189240}" dt="2026-10-30T09:52:33.359" v="5" actId="20577"/>
        <pc:sldMkLst>
          <pc:docMk/>
          <pc:sldMk cId="864826872" sldId="822"/>
        </pc:sldMkLst>
        <pc:spChg chg="mod">
          <ac:chgData name="Al Friend" userId="e5ed79da-d858-46d4-9eed-a7a24903f2de" providerId="ADAL" clId="{2D1BF10B-8102-4CBE-8A49-8DCB49189240}" dt="2026-10-30T09:52:33.359" v="5" actId="20577"/>
          <ac:spMkLst>
            <pc:docMk/>
            <pc:sldMk cId="864826872" sldId="822"/>
            <ac:spMk id="3" creationId="{D0433B07-78A7-33E9-8E02-3014F87FE084}"/>
          </ac:spMkLst>
        </pc:spChg>
      </pc:sldChg>
      <pc:sldChg chg="modSp">
        <pc:chgData name="Al Friend" userId="e5ed79da-d858-46d4-9eed-a7a24903f2de" providerId="ADAL" clId="{2D1BF10B-8102-4CBE-8A49-8DCB49189240}" dt="2026-10-28T14:43:16.876" v="0" actId="12"/>
        <pc:sldMkLst>
          <pc:docMk/>
          <pc:sldMk cId="4193087359" sldId="826"/>
        </pc:sldMkLst>
        <pc:spChg chg="mod">
          <ac:chgData name="Al Friend" userId="e5ed79da-d858-46d4-9eed-a7a24903f2de" providerId="ADAL" clId="{2D1BF10B-8102-4CBE-8A49-8DCB49189240}" dt="2026-10-28T14:43:16.876" v="0" actId="12"/>
          <ac:spMkLst>
            <pc:docMk/>
            <pc:sldMk cId="4193087359" sldId="826"/>
            <ac:spMk id="3" creationId="{E9A49755-BB00-33FD-7E1B-FD41E624CF57}"/>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DFB80D-C2E8-416C-B522-D5F6D93F18D7}"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13A3E740-D063-442F-85E3-8C13FFBDAFFB}">
      <dgm:prSet phldrT="[Text]"/>
      <dgm:spPr/>
      <dgm:t>
        <a:bodyPr/>
        <a:lstStyle/>
        <a:p>
          <a:r>
            <a:rPr lang="en-US" dirty="0"/>
            <a:t>SDD</a:t>
          </a:r>
        </a:p>
      </dgm:t>
    </dgm:pt>
    <dgm:pt modelId="{055E1BD7-FB8E-4E56-9F39-EF9F6386A053}" type="parTrans" cxnId="{1B5B31EC-2D9A-481F-92B4-9BD3DD315797}">
      <dgm:prSet/>
      <dgm:spPr/>
      <dgm:t>
        <a:bodyPr/>
        <a:lstStyle/>
        <a:p>
          <a:endParaRPr lang="en-US"/>
        </a:p>
      </dgm:t>
    </dgm:pt>
    <dgm:pt modelId="{87670CDC-835B-4F9F-927F-1317C8E87F86}" type="sibTrans" cxnId="{1B5B31EC-2D9A-481F-92B4-9BD3DD315797}">
      <dgm:prSet/>
      <dgm:spPr/>
      <dgm:t>
        <a:bodyPr/>
        <a:lstStyle/>
        <a:p>
          <a:endParaRPr lang="en-US"/>
        </a:p>
      </dgm:t>
    </dgm:pt>
    <dgm:pt modelId="{AC2B0C85-A34A-449C-BDB1-A298878DE704}">
      <dgm:prSet phldrT="[Text]"/>
      <dgm:spPr/>
      <dgm:t>
        <a:bodyPr/>
        <a:lstStyle/>
        <a:p>
          <a:r>
            <a:rPr lang="en-US" dirty="0"/>
            <a:t>Software Design and Development (40%)</a:t>
          </a:r>
        </a:p>
      </dgm:t>
    </dgm:pt>
    <dgm:pt modelId="{E5225F41-044B-4F7C-A813-74912B7609F7}" type="parTrans" cxnId="{A2F04726-03B2-41D7-AC39-4EB0FD25F0DB}">
      <dgm:prSet/>
      <dgm:spPr/>
      <dgm:t>
        <a:bodyPr/>
        <a:lstStyle/>
        <a:p>
          <a:endParaRPr lang="en-US"/>
        </a:p>
      </dgm:t>
    </dgm:pt>
    <dgm:pt modelId="{C96E9F27-EE7F-4F89-BD19-DC4C6EA4193D}" type="sibTrans" cxnId="{A2F04726-03B2-41D7-AC39-4EB0FD25F0DB}">
      <dgm:prSet/>
      <dgm:spPr/>
      <dgm:t>
        <a:bodyPr/>
        <a:lstStyle/>
        <a:p>
          <a:endParaRPr lang="en-US"/>
        </a:p>
      </dgm:t>
    </dgm:pt>
    <dgm:pt modelId="{711BDD39-3FCE-427A-B0DC-2C28CEED9EDF}">
      <dgm:prSet phldrT="[Text]"/>
      <dgm:spPr/>
      <dgm:t>
        <a:bodyPr/>
        <a:lstStyle/>
        <a:p>
          <a:r>
            <a:rPr lang="en-US" dirty="0"/>
            <a:t>DDD</a:t>
          </a:r>
        </a:p>
      </dgm:t>
    </dgm:pt>
    <dgm:pt modelId="{2D0B9227-5F25-49F4-84E9-F7E211C285CA}" type="parTrans" cxnId="{07BC019F-EA5F-4290-A7F2-F044F5CF5F67}">
      <dgm:prSet/>
      <dgm:spPr/>
      <dgm:t>
        <a:bodyPr/>
        <a:lstStyle/>
        <a:p>
          <a:endParaRPr lang="en-US"/>
        </a:p>
      </dgm:t>
    </dgm:pt>
    <dgm:pt modelId="{56806687-EA3D-424E-8880-B9427A94FF7E}" type="sibTrans" cxnId="{07BC019F-EA5F-4290-A7F2-F044F5CF5F67}">
      <dgm:prSet/>
      <dgm:spPr/>
      <dgm:t>
        <a:bodyPr/>
        <a:lstStyle/>
        <a:p>
          <a:endParaRPr lang="en-US"/>
        </a:p>
      </dgm:t>
    </dgm:pt>
    <dgm:pt modelId="{856C5D97-053A-4768-924C-7BBED1694139}">
      <dgm:prSet phldrT="[Text]"/>
      <dgm:spPr/>
      <dgm:t>
        <a:bodyPr/>
        <a:lstStyle/>
        <a:p>
          <a:r>
            <a:rPr lang="en-US" dirty="0"/>
            <a:t>Database Design and Development (25%)</a:t>
          </a:r>
        </a:p>
      </dgm:t>
    </dgm:pt>
    <dgm:pt modelId="{5882EAA0-9B73-4D58-9B28-101A1A118DA7}" type="parTrans" cxnId="{5ED434D9-CD48-4632-9238-0AD1DC8B7F67}">
      <dgm:prSet/>
      <dgm:spPr/>
      <dgm:t>
        <a:bodyPr/>
        <a:lstStyle/>
        <a:p>
          <a:endParaRPr lang="en-US"/>
        </a:p>
      </dgm:t>
    </dgm:pt>
    <dgm:pt modelId="{FB282A4C-1B09-4A3E-BA59-953ECF9E16C0}" type="sibTrans" cxnId="{5ED434D9-CD48-4632-9238-0AD1DC8B7F67}">
      <dgm:prSet/>
      <dgm:spPr/>
      <dgm:t>
        <a:bodyPr/>
        <a:lstStyle/>
        <a:p>
          <a:endParaRPr lang="en-US"/>
        </a:p>
      </dgm:t>
    </dgm:pt>
    <dgm:pt modelId="{4C2AC2DB-DA7B-4EE8-A271-F42910EF38FA}">
      <dgm:prSet phldrT="[Text]"/>
      <dgm:spPr/>
      <dgm:t>
        <a:bodyPr/>
        <a:lstStyle/>
        <a:p>
          <a:r>
            <a:rPr lang="en-US" dirty="0"/>
            <a:t>WDD</a:t>
          </a:r>
        </a:p>
      </dgm:t>
    </dgm:pt>
    <dgm:pt modelId="{4DCD8EEA-C4AA-404D-A26F-F433BB0189EA}" type="parTrans" cxnId="{F4016BC7-2E72-4F45-A906-6E7F3BDA4E2F}">
      <dgm:prSet/>
      <dgm:spPr/>
      <dgm:t>
        <a:bodyPr/>
        <a:lstStyle/>
        <a:p>
          <a:endParaRPr lang="en-US"/>
        </a:p>
      </dgm:t>
    </dgm:pt>
    <dgm:pt modelId="{E3247148-B6B0-4C23-B610-041B2044E035}" type="sibTrans" cxnId="{F4016BC7-2E72-4F45-A906-6E7F3BDA4E2F}">
      <dgm:prSet/>
      <dgm:spPr/>
      <dgm:t>
        <a:bodyPr/>
        <a:lstStyle/>
        <a:p>
          <a:endParaRPr lang="en-US"/>
        </a:p>
      </dgm:t>
    </dgm:pt>
    <dgm:pt modelId="{6F17941D-CCAD-4AF8-9198-4E8B5F9AEDC2}">
      <dgm:prSet phldrT="[Text]"/>
      <dgm:spPr/>
      <dgm:t>
        <a:bodyPr/>
        <a:lstStyle/>
        <a:p>
          <a:r>
            <a:rPr lang="en-US" dirty="0"/>
            <a:t>Web Design and Development (25%)</a:t>
          </a:r>
        </a:p>
      </dgm:t>
    </dgm:pt>
    <dgm:pt modelId="{6A62EC5C-257B-4078-AC75-009164CBD245}" type="parTrans" cxnId="{9A2AE9EC-1703-4071-9D5B-2F76EC9F4AA5}">
      <dgm:prSet/>
      <dgm:spPr/>
      <dgm:t>
        <a:bodyPr/>
        <a:lstStyle/>
        <a:p>
          <a:endParaRPr lang="en-US"/>
        </a:p>
      </dgm:t>
    </dgm:pt>
    <dgm:pt modelId="{6908D1C2-C5D8-437D-AE20-3870EC3D4B13}" type="sibTrans" cxnId="{9A2AE9EC-1703-4071-9D5B-2F76EC9F4AA5}">
      <dgm:prSet/>
      <dgm:spPr/>
      <dgm:t>
        <a:bodyPr/>
        <a:lstStyle/>
        <a:p>
          <a:endParaRPr lang="en-US"/>
        </a:p>
      </dgm:t>
    </dgm:pt>
    <dgm:pt modelId="{E2BA0B41-F146-425E-9754-1E81B83EDF8B}">
      <dgm:prSet phldrT="[Text]"/>
      <dgm:spPr/>
      <dgm:t>
        <a:bodyPr/>
        <a:lstStyle/>
        <a:p>
          <a:r>
            <a:rPr lang="en-US" dirty="0"/>
            <a:t>Computer Systems (10%)</a:t>
          </a:r>
        </a:p>
      </dgm:t>
    </dgm:pt>
    <dgm:pt modelId="{09E005FD-F987-4EBD-9D26-CE4C06669AB5}" type="parTrans" cxnId="{56AEC75D-06D3-4BA4-8933-FE1A0F7AE162}">
      <dgm:prSet/>
      <dgm:spPr/>
      <dgm:t>
        <a:bodyPr/>
        <a:lstStyle/>
        <a:p>
          <a:endParaRPr lang="en-US"/>
        </a:p>
      </dgm:t>
    </dgm:pt>
    <dgm:pt modelId="{017B98FE-F345-4459-B767-E6B696310854}" type="sibTrans" cxnId="{56AEC75D-06D3-4BA4-8933-FE1A0F7AE162}">
      <dgm:prSet/>
      <dgm:spPr/>
      <dgm:t>
        <a:bodyPr/>
        <a:lstStyle/>
        <a:p>
          <a:endParaRPr lang="en-US"/>
        </a:p>
      </dgm:t>
    </dgm:pt>
    <dgm:pt modelId="{4A3955F4-B1A6-4812-98ED-2D6D02D94E35}">
      <dgm:prSet phldrT="[Text]"/>
      <dgm:spPr/>
      <dgm:t>
        <a:bodyPr/>
        <a:lstStyle/>
        <a:p>
          <a:r>
            <a:rPr lang="en-US" dirty="0"/>
            <a:t>Sys</a:t>
          </a:r>
          <a:endParaRPr lang="en-US" b="1" dirty="0"/>
        </a:p>
      </dgm:t>
    </dgm:pt>
    <dgm:pt modelId="{10EB35A1-EA5F-40EF-95CA-BDAB4D957484}" type="sibTrans" cxnId="{7E5A0596-4D16-4207-B5F3-C2FD778C5412}">
      <dgm:prSet/>
      <dgm:spPr/>
      <dgm:t>
        <a:bodyPr/>
        <a:lstStyle/>
        <a:p>
          <a:endParaRPr lang="en-US"/>
        </a:p>
      </dgm:t>
    </dgm:pt>
    <dgm:pt modelId="{1EF809BA-BB9B-41F6-9A35-2C78CE3A0913}" type="parTrans" cxnId="{7E5A0596-4D16-4207-B5F3-C2FD778C5412}">
      <dgm:prSet/>
      <dgm:spPr/>
      <dgm:t>
        <a:bodyPr/>
        <a:lstStyle/>
        <a:p>
          <a:endParaRPr lang="en-US"/>
        </a:p>
      </dgm:t>
    </dgm:pt>
    <dgm:pt modelId="{7EBBDEE6-A55E-47FA-9020-5BC46200AFFC}" type="pres">
      <dgm:prSet presAssocID="{AADFB80D-C2E8-416C-B522-D5F6D93F18D7}" presName="linearFlow" presStyleCnt="0">
        <dgm:presLayoutVars>
          <dgm:dir/>
          <dgm:animLvl val="lvl"/>
          <dgm:resizeHandles val="exact"/>
        </dgm:presLayoutVars>
      </dgm:prSet>
      <dgm:spPr/>
    </dgm:pt>
    <dgm:pt modelId="{C2DD6752-EEDA-4174-9D58-1EADF09490B5}" type="pres">
      <dgm:prSet presAssocID="{13A3E740-D063-442F-85E3-8C13FFBDAFFB}" presName="composite" presStyleCnt="0"/>
      <dgm:spPr/>
    </dgm:pt>
    <dgm:pt modelId="{DFA48299-B840-4714-A5F6-769C74D74113}" type="pres">
      <dgm:prSet presAssocID="{13A3E740-D063-442F-85E3-8C13FFBDAFFB}" presName="parentText" presStyleLbl="alignNode1" presStyleIdx="0" presStyleCnt="4">
        <dgm:presLayoutVars>
          <dgm:chMax val="1"/>
          <dgm:bulletEnabled val="1"/>
        </dgm:presLayoutVars>
      </dgm:prSet>
      <dgm:spPr/>
    </dgm:pt>
    <dgm:pt modelId="{19C32B8D-512E-49A1-A0E6-109384C61E4D}" type="pres">
      <dgm:prSet presAssocID="{13A3E740-D063-442F-85E3-8C13FFBDAFFB}" presName="descendantText" presStyleLbl="alignAcc1" presStyleIdx="0" presStyleCnt="4">
        <dgm:presLayoutVars>
          <dgm:bulletEnabled val="1"/>
        </dgm:presLayoutVars>
      </dgm:prSet>
      <dgm:spPr/>
    </dgm:pt>
    <dgm:pt modelId="{EB6649E3-7C43-464A-A458-4DE8A2D95277}" type="pres">
      <dgm:prSet presAssocID="{87670CDC-835B-4F9F-927F-1317C8E87F86}" presName="sp" presStyleCnt="0"/>
      <dgm:spPr/>
    </dgm:pt>
    <dgm:pt modelId="{B03EC7DE-1F17-45FD-8EC4-5657CB3CA06B}" type="pres">
      <dgm:prSet presAssocID="{711BDD39-3FCE-427A-B0DC-2C28CEED9EDF}" presName="composite" presStyleCnt="0"/>
      <dgm:spPr/>
    </dgm:pt>
    <dgm:pt modelId="{AAD30B60-88C6-4919-B6DD-9F480459E84E}" type="pres">
      <dgm:prSet presAssocID="{711BDD39-3FCE-427A-B0DC-2C28CEED9EDF}" presName="parentText" presStyleLbl="alignNode1" presStyleIdx="1" presStyleCnt="4">
        <dgm:presLayoutVars>
          <dgm:chMax val="1"/>
          <dgm:bulletEnabled val="1"/>
        </dgm:presLayoutVars>
      </dgm:prSet>
      <dgm:spPr/>
    </dgm:pt>
    <dgm:pt modelId="{0DFDFC6D-8604-4378-B6A3-6A6720006C95}" type="pres">
      <dgm:prSet presAssocID="{711BDD39-3FCE-427A-B0DC-2C28CEED9EDF}" presName="descendantText" presStyleLbl="alignAcc1" presStyleIdx="1" presStyleCnt="4">
        <dgm:presLayoutVars>
          <dgm:bulletEnabled val="1"/>
        </dgm:presLayoutVars>
      </dgm:prSet>
      <dgm:spPr/>
    </dgm:pt>
    <dgm:pt modelId="{8738B044-A46F-4E69-BD1E-16537D77F816}" type="pres">
      <dgm:prSet presAssocID="{56806687-EA3D-424E-8880-B9427A94FF7E}" presName="sp" presStyleCnt="0"/>
      <dgm:spPr/>
    </dgm:pt>
    <dgm:pt modelId="{D4F01D1E-88B7-466D-B76A-F726FF7DE3F8}" type="pres">
      <dgm:prSet presAssocID="{4C2AC2DB-DA7B-4EE8-A271-F42910EF38FA}" presName="composite" presStyleCnt="0"/>
      <dgm:spPr/>
    </dgm:pt>
    <dgm:pt modelId="{3451A250-69C4-4911-A975-CCB8D5F6053B}" type="pres">
      <dgm:prSet presAssocID="{4C2AC2DB-DA7B-4EE8-A271-F42910EF38FA}" presName="parentText" presStyleLbl="alignNode1" presStyleIdx="2" presStyleCnt="4">
        <dgm:presLayoutVars>
          <dgm:chMax val="1"/>
          <dgm:bulletEnabled val="1"/>
        </dgm:presLayoutVars>
      </dgm:prSet>
      <dgm:spPr/>
    </dgm:pt>
    <dgm:pt modelId="{56AFEC8A-7D45-4965-A718-64DE087BA59E}" type="pres">
      <dgm:prSet presAssocID="{4C2AC2DB-DA7B-4EE8-A271-F42910EF38FA}" presName="descendantText" presStyleLbl="alignAcc1" presStyleIdx="2" presStyleCnt="4">
        <dgm:presLayoutVars>
          <dgm:bulletEnabled val="1"/>
        </dgm:presLayoutVars>
      </dgm:prSet>
      <dgm:spPr/>
    </dgm:pt>
    <dgm:pt modelId="{E061B53C-41F2-4FB1-8AB8-871078ECF09F}" type="pres">
      <dgm:prSet presAssocID="{E3247148-B6B0-4C23-B610-041B2044E035}" presName="sp" presStyleCnt="0"/>
      <dgm:spPr/>
    </dgm:pt>
    <dgm:pt modelId="{89371C0B-1BC9-410A-A890-27274727CC89}" type="pres">
      <dgm:prSet presAssocID="{4A3955F4-B1A6-4812-98ED-2D6D02D94E35}" presName="composite" presStyleCnt="0"/>
      <dgm:spPr/>
    </dgm:pt>
    <dgm:pt modelId="{FC3BC805-9B18-48D9-A4F4-4BE17D54A28E}" type="pres">
      <dgm:prSet presAssocID="{4A3955F4-B1A6-4812-98ED-2D6D02D94E35}" presName="parentText" presStyleLbl="alignNode1" presStyleIdx="3" presStyleCnt="4">
        <dgm:presLayoutVars>
          <dgm:chMax val="1"/>
          <dgm:bulletEnabled val="1"/>
        </dgm:presLayoutVars>
      </dgm:prSet>
      <dgm:spPr/>
    </dgm:pt>
    <dgm:pt modelId="{DEB3B5C2-DCC9-444C-A40C-E0CEA06D8FF2}" type="pres">
      <dgm:prSet presAssocID="{4A3955F4-B1A6-4812-98ED-2D6D02D94E35}" presName="descendantText" presStyleLbl="alignAcc1" presStyleIdx="3" presStyleCnt="4">
        <dgm:presLayoutVars>
          <dgm:bulletEnabled val="1"/>
        </dgm:presLayoutVars>
      </dgm:prSet>
      <dgm:spPr/>
    </dgm:pt>
  </dgm:ptLst>
  <dgm:cxnLst>
    <dgm:cxn modelId="{B5BAA509-F012-4E82-9E50-DD70E5E7F1B2}" type="presOf" srcId="{AADFB80D-C2E8-416C-B522-D5F6D93F18D7}" destId="{7EBBDEE6-A55E-47FA-9020-5BC46200AFFC}" srcOrd="0" destOrd="0" presId="urn:microsoft.com/office/officeart/2005/8/layout/chevron2"/>
    <dgm:cxn modelId="{75D9DC0C-11C7-49DD-8A71-811F74721BA7}" type="presOf" srcId="{4C2AC2DB-DA7B-4EE8-A271-F42910EF38FA}" destId="{3451A250-69C4-4911-A975-CCB8D5F6053B}" srcOrd="0" destOrd="0" presId="urn:microsoft.com/office/officeart/2005/8/layout/chevron2"/>
    <dgm:cxn modelId="{0113120F-3FE7-4154-8079-D7AA5B4E9BD0}" type="presOf" srcId="{6F17941D-CCAD-4AF8-9198-4E8B5F9AEDC2}" destId="{56AFEC8A-7D45-4965-A718-64DE087BA59E}" srcOrd="0" destOrd="0" presId="urn:microsoft.com/office/officeart/2005/8/layout/chevron2"/>
    <dgm:cxn modelId="{6521D611-0B51-48EB-B293-CE7ADA48FE29}" type="presOf" srcId="{711BDD39-3FCE-427A-B0DC-2C28CEED9EDF}" destId="{AAD30B60-88C6-4919-B6DD-9F480459E84E}" srcOrd="0" destOrd="0" presId="urn:microsoft.com/office/officeart/2005/8/layout/chevron2"/>
    <dgm:cxn modelId="{A2F04726-03B2-41D7-AC39-4EB0FD25F0DB}" srcId="{13A3E740-D063-442F-85E3-8C13FFBDAFFB}" destId="{AC2B0C85-A34A-449C-BDB1-A298878DE704}" srcOrd="0" destOrd="0" parTransId="{E5225F41-044B-4F7C-A813-74912B7609F7}" sibTransId="{C96E9F27-EE7F-4F89-BD19-DC4C6EA4193D}"/>
    <dgm:cxn modelId="{465C8D34-FC72-4D1A-9E65-4F4016ABC282}" type="presOf" srcId="{13A3E740-D063-442F-85E3-8C13FFBDAFFB}" destId="{DFA48299-B840-4714-A5F6-769C74D74113}" srcOrd="0" destOrd="0" presId="urn:microsoft.com/office/officeart/2005/8/layout/chevron2"/>
    <dgm:cxn modelId="{56AEC75D-06D3-4BA4-8933-FE1A0F7AE162}" srcId="{4A3955F4-B1A6-4812-98ED-2D6D02D94E35}" destId="{E2BA0B41-F146-425E-9754-1E81B83EDF8B}" srcOrd="0" destOrd="0" parTransId="{09E005FD-F987-4EBD-9D26-CE4C06669AB5}" sibTransId="{017B98FE-F345-4459-B767-E6B696310854}"/>
    <dgm:cxn modelId="{E1577B58-8BFA-4B02-9737-EE277E89C7A2}" type="presOf" srcId="{E2BA0B41-F146-425E-9754-1E81B83EDF8B}" destId="{DEB3B5C2-DCC9-444C-A40C-E0CEA06D8FF2}" srcOrd="0" destOrd="0" presId="urn:microsoft.com/office/officeart/2005/8/layout/chevron2"/>
    <dgm:cxn modelId="{7E5A0596-4D16-4207-B5F3-C2FD778C5412}" srcId="{AADFB80D-C2E8-416C-B522-D5F6D93F18D7}" destId="{4A3955F4-B1A6-4812-98ED-2D6D02D94E35}" srcOrd="3" destOrd="0" parTransId="{1EF809BA-BB9B-41F6-9A35-2C78CE3A0913}" sibTransId="{10EB35A1-EA5F-40EF-95CA-BDAB4D957484}"/>
    <dgm:cxn modelId="{07BC019F-EA5F-4290-A7F2-F044F5CF5F67}" srcId="{AADFB80D-C2E8-416C-B522-D5F6D93F18D7}" destId="{711BDD39-3FCE-427A-B0DC-2C28CEED9EDF}" srcOrd="1" destOrd="0" parTransId="{2D0B9227-5F25-49F4-84E9-F7E211C285CA}" sibTransId="{56806687-EA3D-424E-8880-B9427A94FF7E}"/>
    <dgm:cxn modelId="{2AB70DB2-120D-4916-A542-8BD092D58E08}" type="presOf" srcId="{AC2B0C85-A34A-449C-BDB1-A298878DE704}" destId="{19C32B8D-512E-49A1-A0E6-109384C61E4D}" srcOrd="0" destOrd="0" presId="urn:microsoft.com/office/officeart/2005/8/layout/chevron2"/>
    <dgm:cxn modelId="{F4016BC7-2E72-4F45-A906-6E7F3BDA4E2F}" srcId="{AADFB80D-C2E8-416C-B522-D5F6D93F18D7}" destId="{4C2AC2DB-DA7B-4EE8-A271-F42910EF38FA}" srcOrd="2" destOrd="0" parTransId="{4DCD8EEA-C4AA-404D-A26F-F433BB0189EA}" sibTransId="{E3247148-B6B0-4C23-B610-041B2044E035}"/>
    <dgm:cxn modelId="{5ED434D9-CD48-4632-9238-0AD1DC8B7F67}" srcId="{711BDD39-3FCE-427A-B0DC-2C28CEED9EDF}" destId="{856C5D97-053A-4768-924C-7BBED1694139}" srcOrd="0" destOrd="0" parTransId="{5882EAA0-9B73-4D58-9B28-101A1A118DA7}" sibTransId="{FB282A4C-1B09-4A3E-BA59-953ECF9E16C0}"/>
    <dgm:cxn modelId="{37E82DE3-0EF4-4A02-AA7D-36369B21C5B2}" type="presOf" srcId="{856C5D97-053A-4768-924C-7BBED1694139}" destId="{0DFDFC6D-8604-4378-B6A3-6A6720006C95}" srcOrd="0" destOrd="0" presId="urn:microsoft.com/office/officeart/2005/8/layout/chevron2"/>
    <dgm:cxn modelId="{1B5B31EC-2D9A-481F-92B4-9BD3DD315797}" srcId="{AADFB80D-C2E8-416C-B522-D5F6D93F18D7}" destId="{13A3E740-D063-442F-85E3-8C13FFBDAFFB}" srcOrd="0" destOrd="0" parTransId="{055E1BD7-FB8E-4E56-9F39-EF9F6386A053}" sibTransId="{87670CDC-835B-4F9F-927F-1317C8E87F86}"/>
    <dgm:cxn modelId="{9A2AE9EC-1703-4071-9D5B-2F76EC9F4AA5}" srcId="{4C2AC2DB-DA7B-4EE8-A271-F42910EF38FA}" destId="{6F17941D-CCAD-4AF8-9198-4E8B5F9AEDC2}" srcOrd="0" destOrd="0" parTransId="{6A62EC5C-257B-4078-AC75-009164CBD245}" sibTransId="{6908D1C2-C5D8-437D-AE20-3870EC3D4B13}"/>
    <dgm:cxn modelId="{597912EF-E408-4BB7-9C85-9F209D456791}" type="presOf" srcId="{4A3955F4-B1A6-4812-98ED-2D6D02D94E35}" destId="{FC3BC805-9B18-48D9-A4F4-4BE17D54A28E}" srcOrd="0" destOrd="0" presId="urn:microsoft.com/office/officeart/2005/8/layout/chevron2"/>
    <dgm:cxn modelId="{2CC3E848-3291-4CD0-B317-41F5D7C45A7F}" type="presParOf" srcId="{7EBBDEE6-A55E-47FA-9020-5BC46200AFFC}" destId="{C2DD6752-EEDA-4174-9D58-1EADF09490B5}" srcOrd="0" destOrd="0" presId="urn:microsoft.com/office/officeart/2005/8/layout/chevron2"/>
    <dgm:cxn modelId="{F2611B9D-ED34-4E48-B173-7425A1C12702}" type="presParOf" srcId="{C2DD6752-EEDA-4174-9D58-1EADF09490B5}" destId="{DFA48299-B840-4714-A5F6-769C74D74113}" srcOrd="0" destOrd="0" presId="urn:microsoft.com/office/officeart/2005/8/layout/chevron2"/>
    <dgm:cxn modelId="{0339950F-F790-4C54-B5C5-7E748C166A64}" type="presParOf" srcId="{C2DD6752-EEDA-4174-9D58-1EADF09490B5}" destId="{19C32B8D-512E-49A1-A0E6-109384C61E4D}" srcOrd="1" destOrd="0" presId="urn:microsoft.com/office/officeart/2005/8/layout/chevron2"/>
    <dgm:cxn modelId="{8C3B7F65-E991-4727-96FD-4A397BC99530}" type="presParOf" srcId="{7EBBDEE6-A55E-47FA-9020-5BC46200AFFC}" destId="{EB6649E3-7C43-464A-A458-4DE8A2D95277}" srcOrd="1" destOrd="0" presId="urn:microsoft.com/office/officeart/2005/8/layout/chevron2"/>
    <dgm:cxn modelId="{67686BDB-624B-4768-B17C-649608EC595D}" type="presParOf" srcId="{7EBBDEE6-A55E-47FA-9020-5BC46200AFFC}" destId="{B03EC7DE-1F17-45FD-8EC4-5657CB3CA06B}" srcOrd="2" destOrd="0" presId="urn:microsoft.com/office/officeart/2005/8/layout/chevron2"/>
    <dgm:cxn modelId="{E384677C-5D5C-4BA0-9373-811233886715}" type="presParOf" srcId="{B03EC7DE-1F17-45FD-8EC4-5657CB3CA06B}" destId="{AAD30B60-88C6-4919-B6DD-9F480459E84E}" srcOrd="0" destOrd="0" presId="urn:microsoft.com/office/officeart/2005/8/layout/chevron2"/>
    <dgm:cxn modelId="{990050CC-88AF-4BFD-BA57-27FA9CC550C6}" type="presParOf" srcId="{B03EC7DE-1F17-45FD-8EC4-5657CB3CA06B}" destId="{0DFDFC6D-8604-4378-B6A3-6A6720006C95}" srcOrd="1" destOrd="0" presId="urn:microsoft.com/office/officeart/2005/8/layout/chevron2"/>
    <dgm:cxn modelId="{577D7B9B-111D-49E5-8B31-17247683DAAB}" type="presParOf" srcId="{7EBBDEE6-A55E-47FA-9020-5BC46200AFFC}" destId="{8738B044-A46F-4E69-BD1E-16537D77F816}" srcOrd="3" destOrd="0" presId="urn:microsoft.com/office/officeart/2005/8/layout/chevron2"/>
    <dgm:cxn modelId="{EAF4121D-00B1-46BD-B1F6-93EB6FBED3D3}" type="presParOf" srcId="{7EBBDEE6-A55E-47FA-9020-5BC46200AFFC}" destId="{D4F01D1E-88B7-466D-B76A-F726FF7DE3F8}" srcOrd="4" destOrd="0" presId="urn:microsoft.com/office/officeart/2005/8/layout/chevron2"/>
    <dgm:cxn modelId="{460F7729-81B3-46BB-891B-6E4175CCD089}" type="presParOf" srcId="{D4F01D1E-88B7-466D-B76A-F726FF7DE3F8}" destId="{3451A250-69C4-4911-A975-CCB8D5F6053B}" srcOrd="0" destOrd="0" presId="urn:microsoft.com/office/officeart/2005/8/layout/chevron2"/>
    <dgm:cxn modelId="{A48AB365-FFFF-4401-96B5-C1A6F80EE146}" type="presParOf" srcId="{D4F01D1E-88B7-466D-B76A-F726FF7DE3F8}" destId="{56AFEC8A-7D45-4965-A718-64DE087BA59E}" srcOrd="1" destOrd="0" presId="urn:microsoft.com/office/officeart/2005/8/layout/chevron2"/>
    <dgm:cxn modelId="{A114524B-CDF1-4D77-9C13-30CC18B34AFA}" type="presParOf" srcId="{7EBBDEE6-A55E-47FA-9020-5BC46200AFFC}" destId="{E061B53C-41F2-4FB1-8AB8-871078ECF09F}" srcOrd="5" destOrd="0" presId="urn:microsoft.com/office/officeart/2005/8/layout/chevron2"/>
    <dgm:cxn modelId="{AA8B150E-49B0-4E4E-A524-3300C932E6C9}" type="presParOf" srcId="{7EBBDEE6-A55E-47FA-9020-5BC46200AFFC}" destId="{89371C0B-1BC9-410A-A890-27274727CC89}" srcOrd="6" destOrd="0" presId="urn:microsoft.com/office/officeart/2005/8/layout/chevron2"/>
    <dgm:cxn modelId="{69626FD0-CF2C-4646-BB72-23A5794E309F}" type="presParOf" srcId="{89371C0B-1BC9-410A-A890-27274727CC89}" destId="{FC3BC805-9B18-48D9-A4F4-4BE17D54A28E}" srcOrd="0" destOrd="0" presId="urn:microsoft.com/office/officeart/2005/8/layout/chevron2"/>
    <dgm:cxn modelId="{A5FF9F77-DE54-40D0-9805-1272A2C4D196}" type="presParOf" srcId="{89371C0B-1BC9-410A-A890-27274727CC89}" destId="{DEB3B5C2-DCC9-444C-A40C-E0CEA06D8FF2}"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DFB80D-C2E8-416C-B522-D5F6D93F18D7}"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13A3E740-D063-442F-85E3-8C13FFBDAFFB}">
      <dgm:prSet phldrT="[Text]"/>
      <dgm:spPr/>
      <dgm:t>
        <a:bodyPr/>
        <a:lstStyle/>
        <a:p>
          <a:r>
            <a:rPr lang="en-US" dirty="0"/>
            <a:t>SDD</a:t>
          </a:r>
        </a:p>
      </dgm:t>
    </dgm:pt>
    <dgm:pt modelId="{055E1BD7-FB8E-4E56-9F39-EF9F6386A053}" type="parTrans" cxnId="{1B5B31EC-2D9A-481F-92B4-9BD3DD315797}">
      <dgm:prSet/>
      <dgm:spPr/>
      <dgm:t>
        <a:bodyPr/>
        <a:lstStyle/>
        <a:p>
          <a:endParaRPr lang="en-US"/>
        </a:p>
      </dgm:t>
    </dgm:pt>
    <dgm:pt modelId="{87670CDC-835B-4F9F-927F-1317C8E87F86}" type="sibTrans" cxnId="{1B5B31EC-2D9A-481F-92B4-9BD3DD315797}">
      <dgm:prSet/>
      <dgm:spPr/>
      <dgm:t>
        <a:bodyPr/>
        <a:lstStyle/>
        <a:p>
          <a:endParaRPr lang="en-US"/>
        </a:p>
      </dgm:t>
    </dgm:pt>
    <dgm:pt modelId="{AC2B0C85-A34A-449C-BDB1-A298878DE704}">
      <dgm:prSet phldrT="[Text]"/>
      <dgm:spPr/>
      <dgm:t>
        <a:bodyPr/>
        <a:lstStyle/>
        <a:p>
          <a:r>
            <a:rPr lang="en-US" dirty="0"/>
            <a:t>Software Design and Development (54%)</a:t>
          </a:r>
        </a:p>
      </dgm:t>
    </dgm:pt>
    <dgm:pt modelId="{E5225F41-044B-4F7C-A813-74912B7609F7}" type="parTrans" cxnId="{A2F04726-03B2-41D7-AC39-4EB0FD25F0DB}">
      <dgm:prSet/>
      <dgm:spPr/>
      <dgm:t>
        <a:bodyPr/>
        <a:lstStyle/>
        <a:p>
          <a:endParaRPr lang="en-US"/>
        </a:p>
      </dgm:t>
    </dgm:pt>
    <dgm:pt modelId="{C96E9F27-EE7F-4F89-BD19-DC4C6EA4193D}" type="sibTrans" cxnId="{A2F04726-03B2-41D7-AC39-4EB0FD25F0DB}">
      <dgm:prSet/>
      <dgm:spPr/>
      <dgm:t>
        <a:bodyPr/>
        <a:lstStyle/>
        <a:p>
          <a:endParaRPr lang="en-US"/>
        </a:p>
      </dgm:t>
    </dgm:pt>
    <dgm:pt modelId="{711BDD39-3FCE-427A-B0DC-2C28CEED9EDF}">
      <dgm:prSet phldrT="[Text]"/>
      <dgm:spPr/>
      <dgm:t>
        <a:bodyPr/>
        <a:lstStyle/>
        <a:p>
          <a:r>
            <a:rPr lang="en-US" dirty="0"/>
            <a:t>DDD</a:t>
          </a:r>
        </a:p>
      </dgm:t>
    </dgm:pt>
    <dgm:pt modelId="{2D0B9227-5F25-49F4-84E9-F7E211C285CA}" type="parTrans" cxnId="{07BC019F-EA5F-4290-A7F2-F044F5CF5F67}">
      <dgm:prSet/>
      <dgm:spPr/>
      <dgm:t>
        <a:bodyPr/>
        <a:lstStyle/>
        <a:p>
          <a:endParaRPr lang="en-US"/>
        </a:p>
      </dgm:t>
    </dgm:pt>
    <dgm:pt modelId="{56806687-EA3D-424E-8880-B9427A94FF7E}" type="sibTrans" cxnId="{07BC019F-EA5F-4290-A7F2-F044F5CF5F67}">
      <dgm:prSet/>
      <dgm:spPr/>
      <dgm:t>
        <a:bodyPr/>
        <a:lstStyle/>
        <a:p>
          <a:endParaRPr lang="en-US"/>
        </a:p>
      </dgm:t>
    </dgm:pt>
    <dgm:pt modelId="{856C5D97-053A-4768-924C-7BBED1694139}">
      <dgm:prSet phldrT="[Text]"/>
      <dgm:spPr/>
      <dgm:t>
        <a:bodyPr/>
        <a:lstStyle/>
        <a:p>
          <a:r>
            <a:rPr lang="en-US" dirty="0"/>
            <a:t>Database Design and Development (33%)</a:t>
          </a:r>
        </a:p>
      </dgm:t>
    </dgm:pt>
    <dgm:pt modelId="{5882EAA0-9B73-4D58-9B28-101A1A118DA7}" type="parTrans" cxnId="{5ED434D9-CD48-4632-9238-0AD1DC8B7F67}">
      <dgm:prSet/>
      <dgm:spPr/>
      <dgm:t>
        <a:bodyPr/>
        <a:lstStyle/>
        <a:p>
          <a:endParaRPr lang="en-US"/>
        </a:p>
      </dgm:t>
    </dgm:pt>
    <dgm:pt modelId="{FB282A4C-1B09-4A3E-BA59-953ECF9E16C0}" type="sibTrans" cxnId="{5ED434D9-CD48-4632-9238-0AD1DC8B7F67}">
      <dgm:prSet/>
      <dgm:spPr/>
      <dgm:t>
        <a:bodyPr/>
        <a:lstStyle/>
        <a:p>
          <a:endParaRPr lang="en-US"/>
        </a:p>
      </dgm:t>
    </dgm:pt>
    <dgm:pt modelId="{4A3955F4-B1A6-4812-98ED-2D6D02D94E35}">
      <dgm:prSet phldrT="[Text]"/>
      <dgm:spPr/>
      <dgm:t>
        <a:bodyPr/>
        <a:lstStyle/>
        <a:p>
          <a:r>
            <a:rPr lang="en-US" b="1" dirty="0">
              <a:latin typeface="+mn-lt"/>
            </a:rPr>
            <a:t>Assignment</a:t>
          </a:r>
          <a:r>
            <a:rPr lang="en-US" b="0" dirty="0">
              <a:latin typeface="+mn-lt"/>
            </a:rPr>
            <a:t> (</a:t>
          </a:r>
          <a:r>
            <a:rPr lang="en-US" b="0" dirty="0">
              <a:solidFill>
                <a:srgbClr val="FF0000"/>
              </a:solidFill>
              <a:latin typeface="+mn-lt"/>
            </a:rPr>
            <a:t>⅓ of marks</a:t>
          </a:r>
          <a:r>
            <a:rPr lang="en-US" b="0" dirty="0">
              <a:latin typeface="+mn-lt"/>
            </a:rPr>
            <a:t>)</a:t>
          </a:r>
          <a:endParaRPr lang="en-US" b="1" dirty="0">
            <a:latin typeface="+mn-lt"/>
          </a:endParaRPr>
        </a:p>
      </dgm:t>
    </dgm:pt>
    <dgm:pt modelId="{1EF809BA-BB9B-41F6-9A35-2C78CE3A0913}" type="parTrans" cxnId="{7E5A0596-4D16-4207-B5F3-C2FD778C5412}">
      <dgm:prSet/>
      <dgm:spPr/>
      <dgm:t>
        <a:bodyPr/>
        <a:lstStyle/>
        <a:p>
          <a:endParaRPr lang="en-US"/>
        </a:p>
      </dgm:t>
    </dgm:pt>
    <dgm:pt modelId="{10EB35A1-EA5F-40EF-95CA-BDAB4D957484}" type="sibTrans" cxnId="{7E5A0596-4D16-4207-B5F3-C2FD778C5412}">
      <dgm:prSet/>
      <dgm:spPr/>
      <dgm:t>
        <a:bodyPr/>
        <a:lstStyle/>
        <a:p>
          <a:endParaRPr lang="en-US"/>
        </a:p>
      </dgm:t>
    </dgm:pt>
    <dgm:pt modelId="{4C515B8D-87D1-4362-95C3-18B42B452625}">
      <dgm:prSet phldrT="[Text]"/>
      <dgm:spPr>
        <a:solidFill>
          <a:srgbClr val="FF0000"/>
        </a:solidFill>
        <a:ln>
          <a:solidFill>
            <a:srgbClr val="FF0000"/>
          </a:solidFill>
        </a:ln>
      </dgm:spPr>
      <dgm:t>
        <a:bodyPr/>
        <a:lstStyle/>
        <a:p>
          <a:endParaRPr lang="en-US" dirty="0"/>
        </a:p>
      </dgm:t>
    </dgm:pt>
    <dgm:pt modelId="{3413E62F-FACB-412C-9FEF-2E9D080F65F5}" type="parTrans" cxnId="{4AB28759-DCAB-43B1-B5BE-36D4FCDBAA0B}">
      <dgm:prSet/>
      <dgm:spPr/>
      <dgm:t>
        <a:bodyPr/>
        <a:lstStyle/>
        <a:p>
          <a:endParaRPr lang="en-US"/>
        </a:p>
      </dgm:t>
    </dgm:pt>
    <dgm:pt modelId="{387E11D6-6F89-470A-86BE-C608C2106AF6}" type="sibTrans" cxnId="{4AB28759-DCAB-43B1-B5BE-36D4FCDBAA0B}">
      <dgm:prSet/>
      <dgm:spPr/>
      <dgm:t>
        <a:bodyPr/>
        <a:lstStyle/>
        <a:p>
          <a:endParaRPr lang="en-US"/>
        </a:p>
      </dgm:t>
    </dgm:pt>
    <dgm:pt modelId="{E2BA0B41-F146-425E-9754-1E81B83EDF8B}">
      <dgm:prSet phldrT="[Text]"/>
      <dgm:spPr/>
      <dgm:t>
        <a:bodyPr/>
        <a:lstStyle/>
        <a:p>
          <a:r>
            <a:rPr lang="en-US" dirty="0"/>
            <a:t>Computer Systems (13%)</a:t>
          </a:r>
        </a:p>
      </dgm:t>
    </dgm:pt>
    <dgm:pt modelId="{09E005FD-F987-4EBD-9D26-CE4C06669AB5}" type="parTrans" cxnId="{56AEC75D-06D3-4BA4-8933-FE1A0F7AE162}">
      <dgm:prSet/>
      <dgm:spPr/>
      <dgm:t>
        <a:bodyPr/>
        <a:lstStyle/>
        <a:p>
          <a:endParaRPr lang="en-US"/>
        </a:p>
      </dgm:t>
    </dgm:pt>
    <dgm:pt modelId="{017B98FE-F345-4459-B767-E6B696310854}" type="sibTrans" cxnId="{56AEC75D-06D3-4BA4-8933-FE1A0F7AE162}">
      <dgm:prSet/>
      <dgm:spPr/>
      <dgm:t>
        <a:bodyPr/>
        <a:lstStyle/>
        <a:p>
          <a:endParaRPr lang="en-US"/>
        </a:p>
      </dgm:t>
    </dgm:pt>
    <dgm:pt modelId="{780589F0-2154-4E4C-8595-8806E5EF917A}">
      <dgm:prSet phldrT="[Text]"/>
      <dgm:spPr/>
      <dgm:t>
        <a:bodyPr/>
        <a:lstStyle/>
        <a:p>
          <a:r>
            <a:rPr lang="en-US" dirty="0"/>
            <a:t>C/Sys</a:t>
          </a:r>
        </a:p>
      </dgm:t>
    </dgm:pt>
    <dgm:pt modelId="{F00962FA-5389-4E36-9ABB-07A219FF91D3}" type="parTrans" cxnId="{AAFC0F9A-ADA1-4827-BB1A-86C8E3CBC8EB}">
      <dgm:prSet/>
      <dgm:spPr/>
      <dgm:t>
        <a:bodyPr/>
        <a:lstStyle/>
        <a:p>
          <a:endParaRPr lang="en-US"/>
        </a:p>
      </dgm:t>
    </dgm:pt>
    <dgm:pt modelId="{DED9E408-00AC-4B08-A19D-D94226C9548F}" type="sibTrans" cxnId="{AAFC0F9A-ADA1-4827-BB1A-86C8E3CBC8EB}">
      <dgm:prSet/>
      <dgm:spPr/>
      <dgm:t>
        <a:bodyPr/>
        <a:lstStyle/>
        <a:p>
          <a:endParaRPr lang="en-US"/>
        </a:p>
      </dgm:t>
    </dgm:pt>
    <dgm:pt modelId="{75E710BF-3292-4B3F-A454-B7E6BF72E2C7}">
      <dgm:prSet phldrT="[Text]"/>
      <dgm:spPr/>
      <dgm:t>
        <a:bodyPr/>
        <a:lstStyle/>
        <a:p>
          <a:r>
            <a:rPr lang="en-US" b="1" dirty="0">
              <a:latin typeface="+mn-lt"/>
            </a:rPr>
            <a:t>Exam</a:t>
          </a:r>
          <a:r>
            <a:rPr lang="en-US" b="0" dirty="0">
              <a:latin typeface="+mn-lt"/>
            </a:rPr>
            <a:t> (</a:t>
          </a:r>
          <a:r>
            <a:rPr lang="en-US" b="0" dirty="0">
              <a:solidFill>
                <a:srgbClr val="FF0000"/>
              </a:solidFill>
              <a:latin typeface="+mn-lt"/>
            </a:rPr>
            <a:t>⅔ of marks</a:t>
          </a:r>
          <a:r>
            <a:rPr lang="en-US" b="0" dirty="0">
              <a:latin typeface="+mn-lt"/>
            </a:rPr>
            <a:t>)</a:t>
          </a:r>
          <a:endParaRPr lang="en-US" b="1" dirty="0">
            <a:latin typeface="+mn-lt"/>
          </a:endParaRPr>
        </a:p>
      </dgm:t>
    </dgm:pt>
    <dgm:pt modelId="{E03E4501-7796-49DD-B7C4-88D3AB91E6DB}" type="parTrans" cxnId="{F320287E-B3C2-4880-9516-FFD6695AE0E7}">
      <dgm:prSet/>
      <dgm:spPr/>
      <dgm:t>
        <a:bodyPr/>
        <a:lstStyle/>
        <a:p>
          <a:endParaRPr lang="en-US"/>
        </a:p>
      </dgm:t>
    </dgm:pt>
    <dgm:pt modelId="{7BCEDD18-C1A5-4D74-BD02-31A9F5C8DF2C}" type="sibTrans" cxnId="{F320287E-B3C2-4880-9516-FFD6695AE0E7}">
      <dgm:prSet/>
      <dgm:spPr/>
      <dgm:t>
        <a:bodyPr/>
        <a:lstStyle/>
        <a:p>
          <a:endParaRPr lang="en-US"/>
        </a:p>
      </dgm:t>
    </dgm:pt>
    <dgm:pt modelId="{9EC5D7E7-13E1-4749-A134-4C83AB922A61}">
      <dgm:prSet phldrT="[Text]"/>
      <dgm:spPr>
        <a:solidFill>
          <a:srgbClr val="FF0000"/>
        </a:solidFill>
        <a:ln>
          <a:solidFill>
            <a:srgbClr val="FF0000"/>
          </a:solidFill>
        </a:ln>
      </dgm:spPr>
      <dgm:t>
        <a:bodyPr/>
        <a:lstStyle/>
        <a:p>
          <a:endParaRPr lang="en-US"/>
        </a:p>
      </dgm:t>
    </dgm:pt>
    <dgm:pt modelId="{5C3B17FD-DFBE-4B56-9F97-5E041A0D5E90}" type="parTrans" cxnId="{4944EAFC-B2B0-4E7D-94E9-B17B5C2D380E}">
      <dgm:prSet/>
      <dgm:spPr/>
      <dgm:t>
        <a:bodyPr/>
        <a:lstStyle/>
        <a:p>
          <a:endParaRPr lang="en-US"/>
        </a:p>
      </dgm:t>
    </dgm:pt>
    <dgm:pt modelId="{B7023446-8BB7-45ED-9CB6-4F5FC1A1AF95}" type="sibTrans" cxnId="{4944EAFC-B2B0-4E7D-94E9-B17B5C2D380E}">
      <dgm:prSet/>
      <dgm:spPr/>
      <dgm:t>
        <a:bodyPr/>
        <a:lstStyle/>
        <a:p>
          <a:endParaRPr lang="en-US"/>
        </a:p>
      </dgm:t>
    </dgm:pt>
    <dgm:pt modelId="{7EBBDEE6-A55E-47FA-9020-5BC46200AFFC}" type="pres">
      <dgm:prSet presAssocID="{AADFB80D-C2E8-416C-B522-D5F6D93F18D7}" presName="linearFlow" presStyleCnt="0">
        <dgm:presLayoutVars>
          <dgm:dir/>
          <dgm:animLvl val="lvl"/>
          <dgm:resizeHandles val="exact"/>
        </dgm:presLayoutVars>
      </dgm:prSet>
      <dgm:spPr/>
    </dgm:pt>
    <dgm:pt modelId="{C2DD6752-EEDA-4174-9D58-1EADF09490B5}" type="pres">
      <dgm:prSet presAssocID="{13A3E740-D063-442F-85E3-8C13FFBDAFFB}" presName="composite" presStyleCnt="0"/>
      <dgm:spPr/>
    </dgm:pt>
    <dgm:pt modelId="{DFA48299-B840-4714-A5F6-769C74D74113}" type="pres">
      <dgm:prSet presAssocID="{13A3E740-D063-442F-85E3-8C13FFBDAFFB}" presName="parentText" presStyleLbl="alignNode1" presStyleIdx="0" presStyleCnt="5">
        <dgm:presLayoutVars>
          <dgm:chMax val="1"/>
          <dgm:bulletEnabled val="1"/>
        </dgm:presLayoutVars>
      </dgm:prSet>
      <dgm:spPr/>
    </dgm:pt>
    <dgm:pt modelId="{19C32B8D-512E-49A1-A0E6-109384C61E4D}" type="pres">
      <dgm:prSet presAssocID="{13A3E740-D063-442F-85E3-8C13FFBDAFFB}" presName="descendantText" presStyleLbl="alignAcc1" presStyleIdx="0" presStyleCnt="5">
        <dgm:presLayoutVars>
          <dgm:bulletEnabled val="1"/>
        </dgm:presLayoutVars>
      </dgm:prSet>
      <dgm:spPr/>
    </dgm:pt>
    <dgm:pt modelId="{EB6649E3-7C43-464A-A458-4DE8A2D95277}" type="pres">
      <dgm:prSet presAssocID="{87670CDC-835B-4F9F-927F-1317C8E87F86}" presName="sp" presStyleCnt="0"/>
      <dgm:spPr/>
    </dgm:pt>
    <dgm:pt modelId="{B03EC7DE-1F17-45FD-8EC4-5657CB3CA06B}" type="pres">
      <dgm:prSet presAssocID="{711BDD39-3FCE-427A-B0DC-2C28CEED9EDF}" presName="composite" presStyleCnt="0"/>
      <dgm:spPr/>
    </dgm:pt>
    <dgm:pt modelId="{AAD30B60-88C6-4919-B6DD-9F480459E84E}" type="pres">
      <dgm:prSet presAssocID="{711BDD39-3FCE-427A-B0DC-2C28CEED9EDF}" presName="parentText" presStyleLbl="alignNode1" presStyleIdx="1" presStyleCnt="5">
        <dgm:presLayoutVars>
          <dgm:chMax val="1"/>
          <dgm:bulletEnabled val="1"/>
        </dgm:presLayoutVars>
      </dgm:prSet>
      <dgm:spPr/>
    </dgm:pt>
    <dgm:pt modelId="{0DFDFC6D-8604-4378-B6A3-6A6720006C95}" type="pres">
      <dgm:prSet presAssocID="{711BDD39-3FCE-427A-B0DC-2C28CEED9EDF}" presName="descendantText" presStyleLbl="alignAcc1" presStyleIdx="1" presStyleCnt="5">
        <dgm:presLayoutVars>
          <dgm:bulletEnabled val="1"/>
        </dgm:presLayoutVars>
      </dgm:prSet>
      <dgm:spPr/>
    </dgm:pt>
    <dgm:pt modelId="{8738B044-A46F-4E69-BD1E-16537D77F816}" type="pres">
      <dgm:prSet presAssocID="{56806687-EA3D-424E-8880-B9427A94FF7E}" presName="sp" presStyleCnt="0"/>
      <dgm:spPr/>
    </dgm:pt>
    <dgm:pt modelId="{3E2A20E0-2799-4B60-847C-0291A143F060}" type="pres">
      <dgm:prSet presAssocID="{4C515B8D-87D1-4362-95C3-18B42B452625}" presName="composite" presStyleCnt="0"/>
      <dgm:spPr/>
    </dgm:pt>
    <dgm:pt modelId="{17253025-0BE3-46B4-B2C8-BFD879D75B26}" type="pres">
      <dgm:prSet presAssocID="{4C515B8D-87D1-4362-95C3-18B42B452625}" presName="parentText" presStyleLbl="alignNode1" presStyleIdx="2" presStyleCnt="5">
        <dgm:presLayoutVars>
          <dgm:chMax val="1"/>
          <dgm:bulletEnabled val="1"/>
        </dgm:presLayoutVars>
      </dgm:prSet>
      <dgm:spPr/>
    </dgm:pt>
    <dgm:pt modelId="{B2D4CD90-7709-4B59-AC85-D09667CFC12B}" type="pres">
      <dgm:prSet presAssocID="{4C515B8D-87D1-4362-95C3-18B42B452625}" presName="descendantText" presStyleLbl="alignAcc1" presStyleIdx="2" presStyleCnt="5">
        <dgm:presLayoutVars>
          <dgm:bulletEnabled val="1"/>
        </dgm:presLayoutVars>
      </dgm:prSet>
      <dgm:spPr/>
    </dgm:pt>
    <dgm:pt modelId="{FCA35A52-5E56-41CA-AAAA-74E510180904}" type="pres">
      <dgm:prSet presAssocID="{387E11D6-6F89-470A-86BE-C608C2106AF6}" presName="sp" presStyleCnt="0"/>
      <dgm:spPr/>
    </dgm:pt>
    <dgm:pt modelId="{BC0413A5-5CFC-41A1-A4D1-32D9D3A580EB}" type="pres">
      <dgm:prSet presAssocID="{780589F0-2154-4E4C-8595-8806E5EF917A}" presName="composite" presStyleCnt="0"/>
      <dgm:spPr/>
    </dgm:pt>
    <dgm:pt modelId="{056CCBB6-5CE0-4348-89C6-99FB2D3AB62B}" type="pres">
      <dgm:prSet presAssocID="{780589F0-2154-4E4C-8595-8806E5EF917A}" presName="parentText" presStyleLbl="alignNode1" presStyleIdx="3" presStyleCnt="5">
        <dgm:presLayoutVars>
          <dgm:chMax val="1"/>
          <dgm:bulletEnabled val="1"/>
        </dgm:presLayoutVars>
      </dgm:prSet>
      <dgm:spPr/>
    </dgm:pt>
    <dgm:pt modelId="{90709722-0E94-45E4-BEDD-48CB660682DD}" type="pres">
      <dgm:prSet presAssocID="{780589F0-2154-4E4C-8595-8806E5EF917A}" presName="descendantText" presStyleLbl="alignAcc1" presStyleIdx="3" presStyleCnt="5">
        <dgm:presLayoutVars>
          <dgm:bulletEnabled val="1"/>
        </dgm:presLayoutVars>
      </dgm:prSet>
      <dgm:spPr/>
    </dgm:pt>
    <dgm:pt modelId="{13B0A0BF-E273-47AE-B262-3C6C9C4E8968}" type="pres">
      <dgm:prSet presAssocID="{DED9E408-00AC-4B08-A19D-D94226C9548F}" presName="sp" presStyleCnt="0"/>
      <dgm:spPr/>
    </dgm:pt>
    <dgm:pt modelId="{5FCAE6DF-E40E-46F3-84CF-149E85A19097}" type="pres">
      <dgm:prSet presAssocID="{9EC5D7E7-13E1-4749-A134-4C83AB922A61}" presName="composite" presStyleCnt="0"/>
      <dgm:spPr/>
    </dgm:pt>
    <dgm:pt modelId="{EB2E52AE-8FCF-47D0-B499-CFCFAF1883A9}" type="pres">
      <dgm:prSet presAssocID="{9EC5D7E7-13E1-4749-A134-4C83AB922A61}" presName="parentText" presStyleLbl="alignNode1" presStyleIdx="4" presStyleCnt="5">
        <dgm:presLayoutVars>
          <dgm:chMax val="1"/>
          <dgm:bulletEnabled val="1"/>
        </dgm:presLayoutVars>
      </dgm:prSet>
      <dgm:spPr/>
    </dgm:pt>
    <dgm:pt modelId="{C92F1771-01AA-4FF3-B7EC-0229DB7A592C}" type="pres">
      <dgm:prSet presAssocID="{9EC5D7E7-13E1-4749-A134-4C83AB922A61}" presName="descendantText" presStyleLbl="alignAcc1" presStyleIdx="4" presStyleCnt="5">
        <dgm:presLayoutVars>
          <dgm:bulletEnabled val="1"/>
        </dgm:presLayoutVars>
      </dgm:prSet>
      <dgm:spPr/>
    </dgm:pt>
  </dgm:ptLst>
  <dgm:cxnLst>
    <dgm:cxn modelId="{B5BAA509-F012-4E82-9E50-DD70E5E7F1B2}" type="presOf" srcId="{AADFB80D-C2E8-416C-B522-D5F6D93F18D7}" destId="{7EBBDEE6-A55E-47FA-9020-5BC46200AFFC}" srcOrd="0" destOrd="0" presId="urn:microsoft.com/office/officeart/2005/8/layout/chevron2"/>
    <dgm:cxn modelId="{51AC560A-15D5-4873-A728-46FA9B3877F9}" type="presOf" srcId="{780589F0-2154-4E4C-8595-8806E5EF917A}" destId="{056CCBB6-5CE0-4348-89C6-99FB2D3AB62B}" srcOrd="0" destOrd="0" presId="urn:microsoft.com/office/officeart/2005/8/layout/chevron2"/>
    <dgm:cxn modelId="{6521D611-0B51-48EB-B293-CE7ADA48FE29}" type="presOf" srcId="{711BDD39-3FCE-427A-B0DC-2C28CEED9EDF}" destId="{AAD30B60-88C6-4919-B6DD-9F480459E84E}" srcOrd="0" destOrd="0" presId="urn:microsoft.com/office/officeart/2005/8/layout/chevron2"/>
    <dgm:cxn modelId="{A2F04726-03B2-41D7-AC39-4EB0FD25F0DB}" srcId="{13A3E740-D063-442F-85E3-8C13FFBDAFFB}" destId="{AC2B0C85-A34A-449C-BDB1-A298878DE704}" srcOrd="0" destOrd="0" parTransId="{E5225F41-044B-4F7C-A813-74912B7609F7}" sibTransId="{C96E9F27-EE7F-4F89-BD19-DC4C6EA4193D}"/>
    <dgm:cxn modelId="{D49F1534-E21B-49CA-902B-89FB72311FD2}" type="presOf" srcId="{4C515B8D-87D1-4362-95C3-18B42B452625}" destId="{17253025-0BE3-46B4-B2C8-BFD879D75B26}" srcOrd="0" destOrd="0" presId="urn:microsoft.com/office/officeart/2005/8/layout/chevron2"/>
    <dgm:cxn modelId="{465C8D34-FC72-4D1A-9E65-4F4016ABC282}" type="presOf" srcId="{13A3E740-D063-442F-85E3-8C13FFBDAFFB}" destId="{DFA48299-B840-4714-A5F6-769C74D74113}" srcOrd="0" destOrd="0" presId="urn:microsoft.com/office/officeart/2005/8/layout/chevron2"/>
    <dgm:cxn modelId="{56AEC75D-06D3-4BA4-8933-FE1A0F7AE162}" srcId="{780589F0-2154-4E4C-8595-8806E5EF917A}" destId="{E2BA0B41-F146-425E-9754-1E81B83EDF8B}" srcOrd="0" destOrd="0" parTransId="{09E005FD-F987-4EBD-9D26-CE4C06669AB5}" sibTransId="{017B98FE-F345-4459-B767-E6B696310854}"/>
    <dgm:cxn modelId="{2B7AD66F-7BCF-434E-A3B5-2F39AADE0BF7}" type="presOf" srcId="{E2BA0B41-F146-425E-9754-1E81B83EDF8B}" destId="{90709722-0E94-45E4-BEDD-48CB660682DD}" srcOrd="0" destOrd="0" presId="urn:microsoft.com/office/officeart/2005/8/layout/chevron2"/>
    <dgm:cxn modelId="{5C508956-AB66-4052-8A09-9D7A16ABB973}" type="presOf" srcId="{4A3955F4-B1A6-4812-98ED-2D6D02D94E35}" destId="{B2D4CD90-7709-4B59-AC85-D09667CFC12B}" srcOrd="0" destOrd="0" presId="urn:microsoft.com/office/officeart/2005/8/layout/chevron2"/>
    <dgm:cxn modelId="{4AB28759-DCAB-43B1-B5BE-36D4FCDBAA0B}" srcId="{AADFB80D-C2E8-416C-B522-D5F6D93F18D7}" destId="{4C515B8D-87D1-4362-95C3-18B42B452625}" srcOrd="2" destOrd="0" parTransId="{3413E62F-FACB-412C-9FEF-2E9D080F65F5}" sibTransId="{387E11D6-6F89-470A-86BE-C608C2106AF6}"/>
    <dgm:cxn modelId="{F320287E-B3C2-4880-9516-FFD6695AE0E7}" srcId="{9EC5D7E7-13E1-4749-A134-4C83AB922A61}" destId="{75E710BF-3292-4B3F-A454-B7E6BF72E2C7}" srcOrd="0" destOrd="0" parTransId="{E03E4501-7796-49DD-B7C4-88D3AB91E6DB}" sibTransId="{7BCEDD18-C1A5-4D74-BD02-31A9F5C8DF2C}"/>
    <dgm:cxn modelId="{D36EDC8C-BDD1-4F1F-9AB5-8EDEF33F628F}" type="presOf" srcId="{75E710BF-3292-4B3F-A454-B7E6BF72E2C7}" destId="{C92F1771-01AA-4FF3-B7EC-0229DB7A592C}" srcOrd="0" destOrd="0" presId="urn:microsoft.com/office/officeart/2005/8/layout/chevron2"/>
    <dgm:cxn modelId="{7E5A0596-4D16-4207-B5F3-C2FD778C5412}" srcId="{4C515B8D-87D1-4362-95C3-18B42B452625}" destId="{4A3955F4-B1A6-4812-98ED-2D6D02D94E35}" srcOrd="0" destOrd="0" parTransId="{1EF809BA-BB9B-41F6-9A35-2C78CE3A0913}" sibTransId="{10EB35A1-EA5F-40EF-95CA-BDAB4D957484}"/>
    <dgm:cxn modelId="{AAFC0F9A-ADA1-4827-BB1A-86C8E3CBC8EB}" srcId="{AADFB80D-C2E8-416C-B522-D5F6D93F18D7}" destId="{780589F0-2154-4E4C-8595-8806E5EF917A}" srcOrd="3" destOrd="0" parTransId="{F00962FA-5389-4E36-9ABB-07A219FF91D3}" sibTransId="{DED9E408-00AC-4B08-A19D-D94226C9548F}"/>
    <dgm:cxn modelId="{07BC019F-EA5F-4290-A7F2-F044F5CF5F67}" srcId="{AADFB80D-C2E8-416C-B522-D5F6D93F18D7}" destId="{711BDD39-3FCE-427A-B0DC-2C28CEED9EDF}" srcOrd="1" destOrd="0" parTransId="{2D0B9227-5F25-49F4-84E9-F7E211C285CA}" sibTransId="{56806687-EA3D-424E-8880-B9427A94FF7E}"/>
    <dgm:cxn modelId="{2AB70DB2-120D-4916-A542-8BD092D58E08}" type="presOf" srcId="{AC2B0C85-A34A-449C-BDB1-A298878DE704}" destId="{19C32B8D-512E-49A1-A0E6-109384C61E4D}" srcOrd="0" destOrd="0" presId="urn:microsoft.com/office/officeart/2005/8/layout/chevron2"/>
    <dgm:cxn modelId="{95BAE2D2-7669-469D-9AF0-D651B51FCE91}" type="presOf" srcId="{9EC5D7E7-13E1-4749-A134-4C83AB922A61}" destId="{EB2E52AE-8FCF-47D0-B499-CFCFAF1883A9}" srcOrd="0" destOrd="0" presId="urn:microsoft.com/office/officeart/2005/8/layout/chevron2"/>
    <dgm:cxn modelId="{5ED434D9-CD48-4632-9238-0AD1DC8B7F67}" srcId="{711BDD39-3FCE-427A-B0DC-2C28CEED9EDF}" destId="{856C5D97-053A-4768-924C-7BBED1694139}" srcOrd="0" destOrd="0" parTransId="{5882EAA0-9B73-4D58-9B28-101A1A118DA7}" sibTransId="{FB282A4C-1B09-4A3E-BA59-953ECF9E16C0}"/>
    <dgm:cxn modelId="{37E82DE3-0EF4-4A02-AA7D-36369B21C5B2}" type="presOf" srcId="{856C5D97-053A-4768-924C-7BBED1694139}" destId="{0DFDFC6D-8604-4378-B6A3-6A6720006C95}" srcOrd="0" destOrd="0" presId="urn:microsoft.com/office/officeart/2005/8/layout/chevron2"/>
    <dgm:cxn modelId="{1B5B31EC-2D9A-481F-92B4-9BD3DD315797}" srcId="{AADFB80D-C2E8-416C-B522-D5F6D93F18D7}" destId="{13A3E740-D063-442F-85E3-8C13FFBDAFFB}" srcOrd="0" destOrd="0" parTransId="{055E1BD7-FB8E-4E56-9F39-EF9F6386A053}" sibTransId="{87670CDC-835B-4F9F-927F-1317C8E87F86}"/>
    <dgm:cxn modelId="{4944EAFC-B2B0-4E7D-94E9-B17B5C2D380E}" srcId="{AADFB80D-C2E8-416C-B522-D5F6D93F18D7}" destId="{9EC5D7E7-13E1-4749-A134-4C83AB922A61}" srcOrd="4" destOrd="0" parTransId="{5C3B17FD-DFBE-4B56-9F97-5E041A0D5E90}" sibTransId="{B7023446-8BB7-45ED-9CB6-4F5FC1A1AF95}"/>
    <dgm:cxn modelId="{2CC3E848-3291-4CD0-B317-41F5D7C45A7F}" type="presParOf" srcId="{7EBBDEE6-A55E-47FA-9020-5BC46200AFFC}" destId="{C2DD6752-EEDA-4174-9D58-1EADF09490B5}" srcOrd="0" destOrd="0" presId="urn:microsoft.com/office/officeart/2005/8/layout/chevron2"/>
    <dgm:cxn modelId="{F2611B9D-ED34-4E48-B173-7425A1C12702}" type="presParOf" srcId="{C2DD6752-EEDA-4174-9D58-1EADF09490B5}" destId="{DFA48299-B840-4714-A5F6-769C74D74113}" srcOrd="0" destOrd="0" presId="urn:microsoft.com/office/officeart/2005/8/layout/chevron2"/>
    <dgm:cxn modelId="{0339950F-F790-4C54-B5C5-7E748C166A64}" type="presParOf" srcId="{C2DD6752-EEDA-4174-9D58-1EADF09490B5}" destId="{19C32B8D-512E-49A1-A0E6-109384C61E4D}" srcOrd="1" destOrd="0" presId="urn:microsoft.com/office/officeart/2005/8/layout/chevron2"/>
    <dgm:cxn modelId="{8C3B7F65-E991-4727-96FD-4A397BC99530}" type="presParOf" srcId="{7EBBDEE6-A55E-47FA-9020-5BC46200AFFC}" destId="{EB6649E3-7C43-464A-A458-4DE8A2D95277}" srcOrd="1" destOrd="0" presId="urn:microsoft.com/office/officeart/2005/8/layout/chevron2"/>
    <dgm:cxn modelId="{67686BDB-624B-4768-B17C-649608EC595D}" type="presParOf" srcId="{7EBBDEE6-A55E-47FA-9020-5BC46200AFFC}" destId="{B03EC7DE-1F17-45FD-8EC4-5657CB3CA06B}" srcOrd="2" destOrd="0" presId="urn:microsoft.com/office/officeart/2005/8/layout/chevron2"/>
    <dgm:cxn modelId="{E384677C-5D5C-4BA0-9373-811233886715}" type="presParOf" srcId="{B03EC7DE-1F17-45FD-8EC4-5657CB3CA06B}" destId="{AAD30B60-88C6-4919-B6DD-9F480459E84E}" srcOrd="0" destOrd="0" presId="urn:microsoft.com/office/officeart/2005/8/layout/chevron2"/>
    <dgm:cxn modelId="{990050CC-88AF-4BFD-BA57-27FA9CC550C6}" type="presParOf" srcId="{B03EC7DE-1F17-45FD-8EC4-5657CB3CA06B}" destId="{0DFDFC6D-8604-4378-B6A3-6A6720006C95}" srcOrd="1" destOrd="0" presId="urn:microsoft.com/office/officeart/2005/8/layout/chevron2"/>
    <dgm:cxn modelId="{577D7B9B-111D-49E5-8B31-17247683DAAB}" type="presParOf" srcId="{7EBBDEE6-A55E-47FA-9020-5BC46200AFFC}" destId="{8738B044-A46F-4E69-BD1E-16537D77F816}" srcOrd="3" destOrd="0" presId="urn:microsoft.com/office/officeart/2005/8/layout/chevron2"/>
    <dgm:cxn modelId="{4B8D09CE-12DA-4A98-A079-57B4B36ABD66}" type="presParOf" srcId="{7EBBDEE6-A55E-47FA-9020-5BC46200AFFC}" destId="{3E2A20E0-2799-4B60-847C-0291A143F060}" srcOrd="4" destOrd="0" presId="urn:microsoft.com/office/officeart/2005/8/layout/chevron2"/>
    <dgm:cxn modelId="{DD09799F-3B55-4A21-B1D8-51D0255A8FC0}" type="presParOf" srcId="{3E2A20E0-2799-4B60-847C-0291A143F060}" destId="{17253025-0BE3-46B4-B2C8-BFD879D75B26}" srcOrd="0" destOrd="0" presId="urn:microsoft.com/office/officeart/2005/8/layout/chevron2"/>
    <dgm:cxn modelId="{B28B55D1-C1C4-4929-B387-2753095F16BC}" type="presParOf" srcId="{3E2A20E0-2799-4B60-847C-0291A143F060}" destId="{B2D4CD90-7709-4B59-AC85-D09667CFC12B}" srcOrd="1" destOrd="0" presId="urn:microsoft.com/office/officeart/2005/8/layout/chevron2"/>
    <dgm:cxn modelId="{14614803-1AE9-4484-B475-713BAB65206C}" type="presParOf" srcId="{7EBBDEE6-A55E-47FA-9020-5BC46200AFFC}" destId="{FCA35A52-5E56-41CA-AAAA-74E510180904}" srcOrd="5" destOrd="0" presId="urn:microsoft.com/office/officeart/2005/8/layout/chevron2"/>
    <dgm:cxn modelId="{5FCECAA4-B55F-4524-B52B-5579AFC35055}" type="presParOf" srcId="{7EBBDEE6-A55E-47FA-9020-5BC46200AFFC}" destId="{BC0413A5-5CFC-41A1-A4D1-32D9D3A580EB}" srcOrd="6" destOrd="0" presId="urn:microsoft.com/office/officeart/2005/8/layout/chevron2"/>
    <dgm:cxn modelId="{A5C36485-CCE1-4523-911E-6345AFDCF231}" type="presParOf" srcId="{BC0413A5-5CFC-41A1-A4D1-32D9D3A580EB}" destId="{056CCBB6-5CE0-4348-89C6-99FB2D3AB62B}" srcOrd="0" destOrd="0" presId="urn:microsoft.com/office/officeart/2005/8/layout/chevron2"/>
    <dgm:cxn modelId="{49CDF3A4-EBDD-472A-8CEE-35499F216772}" type="presParOf" srcId="{BC0413A5-5CFC-41A1-A4D1-32D9D3A580EB}" destId="{90709722-0E94-45E4-BEDD-48CB660682DD}" srcOrd="1" destOrd="0" presId="urn:microsoft.com/office/officeart/2005/8/layout/chevron2"/>
    <dgm:cxn modelId="{5DA3A105-B2B5-4570-ACCF-A2B4BFFDA4E8}" type="presParOf" srcId="{7EBBDEE6-A55E-47FA-9020-5BC46200AFFC}" destId="{13B0A0BF-E273-47AE-B262-3C6C9C4E8968}" srcOrd="7" destOrd="0" presId="urn:microsoft.com/office/officeart/2005/8/layout/chevron2"/>
    <dgm:cxn modelId="{9C5603DB-FB5F-489A-A5FC-119F4545BE24}" type="presParOf" srcId="{7EBBDEE6-A55E-47FA-9020-5BC46200AFFC}" destId="{5FCAE6DF-E40E-46F3-84CF-149E85A19097}" srcOrd="8" destOrd="0" presId="urn:microsoft.com/office/officeart/2005/8/layout/chevron2"/>
    <dgm:cxn modelId="{F75C00D0-5E0F-413E-AC94-1D55800F95C3}" type="presParOf" srcId="{5FCAE6DF-E40E-46F3-84CF-149E85A19097}" destId="{EB2E52AE-8FCF-47D0-B499-CFCFAF1883A9}" srcOrd="0" destOrd="0" presId="urn:microsoft.com/office/officeart/2005/8/layout/chevron2"/>
    <dgm:cxn modelId="{3052A6C1-D8FE-443D-9D61-8901A566CBC1}" type="presParOf" srcId="{5FCAE6DF-E40E-46F3-84CF-149E85A19097}" destId="{C92F1771-01AA-4FF3-B7EC-0229DB7A592C}"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A48299-B840-4714-A5F6-769C74D74113}">
      <dsp:nvSpPr>
        <dsp:cNvPr id="0" name=""/>
        <dsp:cNvSpPr/>
      </dsp:nvSpPr>
      <dsp:spPr>
        <a:xfrm rot="5400000">
          <a:off x="-179747" y="180063"/>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SDD</a:t>
          </a:r>
        </a:p>
      </dsp:txBody>
      <dsp:txXfrm rot="-5400000">
        <a:off x="1" y="419726"/>
        <a:ext cx="838822" cy="359495"/>
      </dsp:txXfrm>
    </dsp:sp>
    <dsp:sp modelId="{19C32B8D-512E-49A1-A0E6-109384C61E4D}">
      <dsp:nvSpPr>
        <dsp:cNvPr id="0" name=""/>
        <dsp:cNvSpPr/>
      </dsp:nvSpPr>
      <dsp:spPr>
        <a:xfrm rot="5400000">
          <a:off x="4083797" y="-3244660"/>
          <a:ext cx="778906" cy="72688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US" sz="3100" kern="1200" dirty="0"/>
            <a:t>Software Design and Development (40%)</a:t>
          </a:r>
        </a:p>
      </dsp:txBody>
      <dsp:txXfrm rot="-5400000">
        <a:off x="838822" y="38338"/>
        <a:ext cx="7230834" cy="702860"/>
      </dsp:txXfrm>
    </dsp:sp>
    <dsp:sp modelId="{AAD30B60-88C6-4919-B6DD-9F480459E84E}">
      <dsp:nvSpPr>
        <dsp:cNvPr id="0" name=""/>
        <dsp:cNvSpPr/>
      </dsp:nvSpPr>
      <dsp:spPr>
        <a:xfrm rot="5400000">
          <a:off x="-179747" y="1230859"/>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DDD</a:t>
          </a:r>
        </a:p>
      </dsp:txBody>
      <dsp:txXfrm rot="-5400000">
        <a:off x="1" y="1470522"/>
        <a:ext cx="838822" cy="359495"/>
      </dsp:txXfrm>
    </dsp:sp>
    <dsp:sp modelId="{0DFDFC6D-8604-4378-B6A3-6A6720006C95}">
      <dsp:nvSpPr>
        <dsp:cNvPr id="0" name=""/>
        <dsp:cNvSpPr/>
      </dsp:nvSpPr>
      <dsp:spPr>
        <a:xfrm rot="5400000">
          <a:off x="4083797" y="-2193863"/>
          <a:ext cx="778906" cy="72688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US" sz="3100" kern="1200" dirty="0"/>
            <a:t>Database Design and Development (25%)</a:t>
          </a:r>
        </a:p>
      </dsp:txBody>
      <dsp:txXfrm rot="-5400000">
        <a:off x="838822" y="1089135"/>
        <a:ext cx="7230834" cy="702860"/>
      </dsp:txXfrm>
    </dsp:sp>
    <dsp:sp modelId="{3451A250-69C4-4911-A975-CCB8D5F6053B}">
      <dsp:nvSpPr>
        <dsp:cNvPr id="0" name=""/>
        <dsp:cNvSpPr/>
      </dsp:nvSpPr>
      <dsp:spPr>
        <a:xfrm rot="5400000">
          <a:off x="-179747" y="2281656"/>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WDD</a:t>
          </a:r>
        </a:p>
      </dsp:txBody>
      <dsp:txXfrm rot="-5400000">
        <a:off x="1" y="2521319"/>
        <a:ext cx="838822" cy="359495"/>
      </dsp:txXfrm>
    </dsp:sp>
    <dsp:sp modelId="{56AFEC8A-7D45-4965-A718-64DE087BA59E}">
      <dsp:nvSpPr>
        <dsp:cNvPr id="0" name=""/>
        <dsp:cNvSpPr/>
      </dsp:nvSpPr>
      <dsp:spPr>
        <a:xfrm rot="5400000">
          <a:off x="4083797" y="-1143067"/>
          <a:ext cx="778906" cy="72688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US" sz="3100" kern="1200" dirty="0"/>
            <a:t>Web Design and Development (25%)</a:t>
          </a:r>
        </a:p>
      </dsp:txBody>
      <dsp:txXfrm rot="-5400000">
        <a:off x="838822" y="2139931"/>
        <a:ext cx="7230834" cy="702860"/>
      </dsp:txXfrm>
    </dsp:sp>
    <dsp:sp modelId="{FC3BC805-9B18-48D9-A4F4-4BE17D54A28E}">
      <dsp:nvSpPr>
        <dsp:cNvPr id="0" name=""/>
        <dsp:cNvSpPr/>
      </dsp:nvSpPr>
      <dsp:spPr>
        <a:xfrm rot="5400000">
          <a:off x="-179747" y="3332452"/>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Sys</a:t>
          </a:r>
          <a:endParaRPr lang="en-US" sz="2300" b="1" kern="1200" dirty="0"/>
        </a:p>
      </dsp:txBody>
      <dsp:txXfrm rot="-5400000">
        <a:off x="1" y="3572115"/>
        <a:ext cx="838822" cy="359495"/>
      </dsp:txXfrm>
    </dsp:sp>
    <dsp:sp modelId="{DEB3B5C2-DCC9-444C-A40C-E0CEA06D8FF2}">
      <dsp:nvSpPr>
        <dsp:cNvPr id="0" name=""/>
        <dsp:cNvSpPr/>
      </dsp:nvSpPr>
      <dsp:spPr>
        <a:xfrm rot="5400000">
          <a:off x="4083797" y="-92270"/>
          <a:ext cx="778906" cy="72688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US" sz="3100" kern="1200" dirty="0"/>
            <a:t>Computer Systems (10%)</a:t>
          </a:r>
        </a:p>
      </dsp:txBody>
      <dsp:txXfrm rot="-5400000">
        <a:off x="838822" y="3190728"/>
        <a:ext cx="7230834" cy="7028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A48299-B840-4714-A5F6-769C74D74113}">
      <dsp:nvSpPr>
        <dsp:cNvPr id="0" name=""/>
        <dsp:cNvSpPr/>
      </dsp:nvSpPr>
      <dsp:spPr>
        <a:xfrm rot="5400000">
          <a:off x="-144690" y="146350"/>
          <a:ext cx="964603" cy="6752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SDD</a:t>
          </a:r>
        </a:p>
      </dsp:txBody>
      <dsp:txXfrm rot="-5400000">
        <a:off x="1" y="339270"/>
        <a:ext cx="675222" cy="289381"/>
      </dsp:txXfrm>
    </dsp:sp>
    <dsp:sp modelId="{19C32B8D-512E-49A1-A0E6-109384C61E4D}">
      <dsp:nvSpPr>
        <dsp:cNvPr id="0" name=""/>
        <dsp:cNvSpPr/>
      </dsp:nvSpPr>
      <dsp:spPr>
        <a:xfrm rot="5400000">
          <a:off x="4077955" y="-3401073"/>
          <a:ext cx="626992" cy="74324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Software Design and Development (54%)</a:t>
          </a:r>
        </a:p>
      </dsp:txBody>
      <dsp:txXfrm rot="-5400000">
        <a:off x="675223" y="32266"/>
        <a:ext cx="7401850" cy="565778"/>
      </dsp:txXfrm>
    </dsp:sp>
    <dsp:sp modelId="{AAD30B60-88C6-4919-B6DD-9F480459E84E}">
      <dsp:nvSpPr>
        <dsp:cNvPr id="0" name=""/>
        <dsp:cNvSpPr/>
      </dsp:nvSpPr>
      <dsp:spPr>
        <a:xfrm rot="5400000">
          <a:off x="-144690" y="992203"/>
          <a:ext cx="964603" cy="6752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DDD</a:t>
          </a:r>
        </a:p>
      </dsp:txBody>
      <dsp:txXfrm rot="-5400000">
        <a:off x="1" y="1185123"/>
        <a:ext cx="675222" cy="289381"/>
      </dsp:txXfrm>
    </dsp:sp>
    <dsp:sp modelId="{0DFDFC6D-8604-4378-B6A3-6A6720006C95}">
      <dsp:nvSpPr>
        <dsp:cNvPr id="0" name=""/>
        <dsp:cNvSpPr/>
      </dsp:nvSpPr>
      <dsp:spPr>
        <a:xfrm rot="5400000">
          <a:off x="4077955" y="-2555219"/>
          <a:ext cx="626992" cy="74324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Database Design and Development (33%)</a:t>
          </a:r>
        </a:p>
      </dsp:txBody>
      <dsp:txXfrm rot="-5400000">
        <a:off x="675223" y="878120"/>
        <a:ext cx="7401850" cy="565778"/>
      </dsp:txXfrm>
    </dsp:sp>
    <dsp:sp modelId="{17253025-0BE3-46B4-B2C8-BFD879D75B26}">
      <dsp:nvSpPr>
        <dsp:cNvPr id="0" name=""/>
        <dsp:cNvSpPr/>
      </dsp:nvSpPr>
      <dsp:spPr>
        <a:xfrm rot="5400000">
          <a:off x="-144690" y="1838057"/>
          <a:ext cx="964603" cy="675222"/>
        </a:xfrm>
        <a:prstGeom prst="chevron">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endParaRPr lang="en-US" sz="1900" kern="1200" dirty="0"/>
        </a:p>
      </dsp:txBody>
      <dsp:txXfrm rot="-5400000">
        <a:off x="1" y="2030977"/>
        <a:ext cx="675222" cy="289381"/>
      </dsp:txXfrm>
    </dsp:sp>
    <dsp:sp modelId="{B2D4CD90-7709-4B59-AC85-D09667CFC12B}">
      <dsp:nvSpPr>
        <dsp:cNvPr id="0" name=""/>
        <dsp:cNvSpPr/>
      </dsp:nvSpPr>
      <dsp:spPr>
        <a:xfrm rot="5400000">
          <a:off x="4077955" y="-1709365"/>
          <a:ext cx="626992" cy="74324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b="1" kern="1200" dirty="0">
              <a:latin typeface="+mn-lt"/>
            </a:rPr>
            <a:t>Assignment</a:t>
          </a:r>
          <a:r>
            <a:rPr lang="en-US" sz="3200" b="0" kern="1200" dirty="0">
              <a:latin typeface="+mn-lt"/>
            </a:rPr>
            <a:t> (</a:t>
          </a:r>
          <a:r>
            <a:rPr lang="en-US" sz="3200" b="0" kern="1200" dirty="0">
              <a:solidFill>
                <a:srgbClr val="FF0000"/>
              </a:solidFill>
              <a:latin typeface="+mn-lt"/>
            </a:rPr>
            <a:t>⅓ of marks</a:t>
          </a:r>
          <a:r>
            <a:rPr lang="en-US" sz="3200" b="0" kern="1200" dirty="0">
              <a:latin typeface="+mn-lt"/>
            </a:rPr>
            <a:t>)</a:t>
          </a:r>
          <a:endParaRPr lang="en-US" sz="3200" b="1" kern="1200" dirty="0">
            <a:latin typeface="+mn-lt"/>
          </a:endParaRPr>
        </a:p>
      </dsp:txBody>
      <dsp:txXfrm rot="-5400000">
        <a:off x="675223" y="1723974"/>
        <a:ext cx="7401850" cy="565778"/>
      </dsp:txXfrm>
    </dsp:sp>
    <dsp:sp modelId="{056CCBB6-5CE0-4348-89C6-99FB2D3AB62B}">
      <dsp:nvSpPr>
        <dsp:cNvPr id="0" name=""/>
        <dsp:cNvSpPr/>
      </dsp:nvSpPr>
      <dsp:spPr>
        <a:xfrm rot="5400000">
          <a:off x="-144690" y="2683911"/>
          <a:ext cx="964603" cy="6752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C/Sys</a:t>
          </a:r>
        </a:p>
      </dsp:txBody>
      <dsp:txXfrm rot="-5400000">
        <a:off x="1" y="2876831"/>
        <a:ext cx="675222" cy="289381"/>
      </dsp:txXfrm>
    </dsp:sp>
    <dsp:sp modelId="{90709722-0E94-45E4-BEDD-48CB660682DD}">
      <dsp:nvSpPr>
        <dsp:cNvPr id="0" name=""/>
        <dsp:cNvSpPr/>
      </dsp:nvSpPr>
      <dsp:spPr>
        <a:xfrm rot="5400000">
          <a:off x="4077955" y="-863511"/>
          <a:ext cx="626992" cy="74324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Computer Systems (13%)</a:t>
          </a:r>
        </a:p>
      </dsp:txBody>
      <dsp:txXfrm rot="-5400000">
        <a:off x="675223" y="2569828"/>
        <a:ext cx="7401850" cy="565778"/>
      </dsp:txXfrm>
    </dsp:sp>
    <dsp:sp modelId="{EB2E52AE-8FCF-47D0-B499-CFCFAF1883A9}">
      <dsp:nvSpPr>
        <dsp:cNvPr id="0" name=""/>
        <dsp:cNvSpPr/>
      </dsp:nvSpPr>
      <dsp:spPr>
        <a:xfrm rot="5400000">
          <a:off x="-144690" y="3529765"/>
          <a:ext cx="964603" cy="675222"/>
        </a:xfrm>
        <a:prstGeom prst="chevron">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5400000">
        <a:off x="1" y="3722685"/>
        <a:ext cx="675222" cy="289381"/>
      </dsp:txXfrm>
    </dsp:sp>
    <dsp:sp modelId="{C92F1771-01AA-4FF3-B7EC-0229DB7A592C}">
      <dsp:nvSpPr>
        <dsp:cNvPr id="0" name=""/>
        <dsp:cNvSpPr/>
      </dsp:nvSpPr>
      <dsp:spPr>
        <a:xfrm rot="5400000">
          <a:off x="4077955" y="-17657"/>
          <a:ext cx="626992" cy="74324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b="1" kern="1200" dirty="0">
              <a:latin typeface="+mn-lt"/>
            </a:rPr>
            <a:t>Exam</a:t>
          </a:r>
          <a:r>
            <a:rPr lang="en-US" sz="3200" b="0" kern="1200" dirty="0">
              <a:latin typeface="+mn-lt"/>
            </a:rPr>
            <a:t> (</a:t>
          </a:r>
          <a:r>
            <a:rPr lang="en-US" sz="3200" b="0" kern="1200" dirty="0">
              <a:solidFill>
                <a:srgbClr val="FF0000"/>
              </a:solidFill>
              <a:latin typeface="+mn-lt"/>
            </a:rPr>
            <a:t>⅔ of marks</a:t>
          </a:r>
          <a:r>
            <a:rPr lang="en-US" sz="3200" b="0" kern="1200" dirty="0">
              <a:latin typeface="+mn-lt"/>
            </a:rPr>
            <a:t>)</a:t>
          </a:r>
          <a:endParaRPr lang="en-US" sz="3200" b="1" kern="1200" dirty="0">
            <a:latin typeface="+mn-lt"/>
          </a:endParaRPr>
        </a:p>
      </dsp:txBody>
      <dsp:txXfrm rot="-5400000">
        <a:off x="675223" y="3415682"/>
        <a:ext cx="7401850" cy="565778"/>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513508"/>
          </a:xfrm>
          <a:prstGeom prst="rect">
            <a:avLst/>
          </a:prstGeom>
        </p:spPr>
        <p:txBody>
          <a:bodyPr vert="horz" lIns="99066" tIns="49533" rIns="99066" bIns="49533" rtlCol="0"/>
          <a:lstStyle>
            <a:lvl1pPr algn="l">
              <a:defRPr sz="1300"/>
            </a:lvl1pPr>
          </a:lstStyle>
          <a:p>
            <a:endParaRPr lang="en-GB"/>
          </a:p>
        </p:txBody>
      </p:sp>
      <p:sp>
        <p:nvSpPr>
          <p:cNvPr id="3" name="Date Placeholder 2"/>
          <p:cNvSpPr>
            <a:spLocks noGrp="1"/>
          </p:cNvSpPr>
          <p:nvPr>
            <p:ph type="dt" idx="1"/>
          </p:nvPr>
        </p:nvSpPr>
        <p:spPr>
          <a:xfrm>
            <a:off x="4023092" y="0"/>
            <a:ext cx="3077739" cy="513508"/>
          </a:xfrm>
          <a:prstGeom prst="rect">
            <a:avLst/>
          </a:prstGeom>
        </p:spPr>
        <p:txBody>
          <a:bodyPr vert="horz" lIns="99066" tIns="49533" rIns="99066" bIns="49533" rtlCol="0"/>
          <a:lstStyle>
            <a:lvl1pPr algn="r">
              <a:defRPr sz="1300"/>
            </a:lvl1pPr>
          </a:lstStyle>
          <a:p>
            <a:fld id="{0E35528A-819C-4AD3-BDC3-2CDCE7BEAF53}" type="datetimeFigureOut">
              <a:rPr lang="en-GB" smtClean="0"/>
              <a:t>30/10/2026</a:t>
            </a:fld>
            <a:endParaRPr lang="en-GB"/>
          </a:p>
        </p:txBody>
      </p:sp>
      <p:sp>
        <p:nvSpPr>
          <p:cNvPr id="4" name="Slide Image Placeholder 3"/>
          <p:cNvSpPr>
            <a:spLocks noGrp="1" noRot="1" noChangeAspect="1"/>
          </p:cNvSpPr>
          <p:nvPr>
            <p:ph type="sldImg" idx="2"/>
          </p:nvPr>
        </p:nvSpPr>
        <p:spPr>
          <a:xfrm>
            <a:off x="481013" y="1279525"/>
            <a:ext cx="6140450" cy="3454400"/>
          </a:xfrm>
          <a:prstGeom prst="rect">
            <a:avLst/>
          </a:prstGeom>
          <a:noFill/>
          <a:ln w="12700">
            <a:solidFill>
              <a:prstClr val="black"/>
            </a:solidFill>
          </a:ln>
        </p:spPr>
        <p:txBody>
          <a:bodyPr vert="horz" lIns="99066" tIns="49533" rIns="99066" bIns="49533" rtlCol="0" anchor="ctr"/>
          <a:lstStyle/>
          <a:p>
            <a:endParaRPr lang="en-GB"/>
          </a:p>
        </p:txBody>
      </p:sp>
      <p:sp>
        <p:nvSpPr>
          <p:cNvPr id="5" name="Notes Placeholder 4"/>
          <p:cNvSpPr>
            <a:spLocks noGrp="1"/>
          </p:cNvSpPr>
          <p:nvPr>
            <p:ph type="body" sz="quarter" idx="3"/>
          </p:nvPr>
        </p:nvSpPr>
        <p:spPr>
          <a:xfrm>
            <a:off x="710248" y="4925407"/>
            <a:ext cx="5681980" cy="4029879"/>
          </a:xfrm>
          <a:prstGeom prst="rect">
            <a:avLst/>
          </a:prstGeom>
        </p:spPr>
        <p:txBody>
          <a:bodyPr vert="horz" lIns="99066" tIns="49533" rIns="99066" bIns="4953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721107"/>
            <a:ext cx="3077739" cy="513507"/>
          </a:xfrm>
          <a:prstGeom prst="rect">
            <a:avLst/>
          </a:prstGeom>
        </p:spPr>
        <p:txBody>
          <a:bodyPr vert="horz" lIns="99066" tIns="49533" rIns="99066" bIns="49533" rtlCol="0" anchor="b"/>
          <a:lstStyle>
            <a:lvl1pPr algn="l">
              <a:defRPr sz="1300"/>
            </a:lvl1pPr>
          </a:lstStyle>
          <a:p>
            <a:endParaRPr lang="en-GB"/>
          </a:p>
        </p:txBody>
      </p:sp>
      <p:sp>
        <p:nvSpPr>
          <p:cNvPr id="7" name="Slide Number Placeholder 6"/>
          <p:cNvSpPr>
            <a:spLocks noGrp="1"/>
          </p:cNvSpPr>
          <p:nvPr>
            <p:ph type="sldNum" sz="quarter" idx="5"/>
          </p:nvPr>
        </p:nvSpPr>
        <p:spPr>
          <a:xfrm>
            <a:off x="4023092" y="9721107"/>
            <a:ext cx="3077739" cy="513507"/>
          </a:xfrm>
          <a:prstGeom prst="rect">
            <a:avLst/>
          </a:prstGeom>
        </p:spPr>
        <p:txBody>
          <a:bodyPr vert="horz" lIns="99066" tIns="49533" rIns="99066" bIns="49533" rtlCol="0" anchor="b"/>
          <a:lstStyle>
            <a:lvl1pPr algn="r">
              <a:defRPr sz="1300"/>
            </a:lvl1pPr>
          </a:lstStyle>
          <a:p>
            <a:fld id="{B71FE5B5-A979-4370-A255-218EAB36A5F4}" type="slidenum">
              <a:rPr lang="en-GB" smtClean="0"/>
              <a:t>‹#›</a:t>
            </a:fld>
            <a:endParaRPr lang="en-GB"/>
          </a:p>
        </p:txBody>
      </p:sp>
    </p:spTree>
    <p:extLst>
      <p:ext uri="{BB962C8B-B14F-4D97-AF65-F5344CB8AC3E}">
        <p14:creationId xmlns:p14="http://schemas.microsoft.com/office/powerpoint/2010/main" val="2595202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Attribute: camelCase</a:t>
            </a:r>
          </a:p>
          <a:p>
            <a:r>
              <a:rPr lang="en-GB" dirty="0"/>
              <a:t>Entity: </a:t>
            </a:r>
            <a:r>
              <a:rPr lang="en-GB" dirty="0" err="1"/>
              <a:t>EachWordCapitailised</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a:t>
            </a:fld>
            <a:endParaRPr lang="en-GB"/>
          </a:p>
        </p:txBody>
      </p:sp>
    </p:spTree>
    <p:extLst>
      <p:ext uri="{BB962C8B-B14F-4D97-AF65-F5344CB8AC3E}">
        <p14:creationId xmlns:p14="http://schemas.microsoft.com/office/powerpoint/2010/main" val="3293913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Hide as appropriate</a:t>
            </a:r>
          </a:p>
        </p:txBody>
      </p:sp>
      <p:sp>
        <p:nvSpPr>
          <p:cNvPr id="4" name="Slide Number Placeholder 3"/>
          <p:cNvSpPr>
            <a:spLocks noGrp="1"/>
          </p:cNvSpPr>
          <p:nvPr>
            <p:ph type="sldNum" sz="quarter" idx="10"/>
          </p:nvPr>
        </p:nvSpPr>
        <p:spPr/>
        <p:txBody>
          <a:bodyPr/>
          <a:lstStyle/>
          <a:p>
            <a:fld id="{B71FE5B5-A979-4370-A255-218EAB36A5F4}" type="slidenum">
              <a:rPr lang="en-GB" smtClean="0"/>
              <a:t>2</a:t>
            </a:fld>
            <a:endParaRPr lang="en-GB"/>
          </a:p>
        </p:txBody>
      </p:sp>
    </p:spTree>
    <p:extLst>
      <p:ext uri="{BB962C8B-B14F-4D97-AF65-F5344CB8AC3E}">
        <p14:creationId xmlns:p14="http://schemas.microsoft.com/office/powerpoint/2010/main" val="3877183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Used</a:t>
            </a:r>
            <a:r>
              <a:rPr lang="en-GB" sz="1200" baseline="0" dirty="0"/>
              <a:t> on websites – Amazon</a:t>
            </a:r>
          </a:p>
          <a:p>
            <a:r>
              <a:rPr lang="en-GB" sz="1200" baseline="0" dirty="0"/>
              <a:t>Used by government – HMRC, DVLA</a:t>
            </a:r>
          </a:p>
          <a:p>
            <a:r>
              <a:rPr lang="en-GB" sz="1200" baseline="0" dirty="0"/>
              <a:t>Used by school – SEEMIS</a:t>
            </a:r>
            <a:endParaRPr lang="en-GB" sz="1200" dirty="0"/>
          </a:p>
        </p:txBody>
      </p:sp>
      <p:sp>
        <p:nvSpPr>
          <p:cNvPr id="4" name="Slide Number Placeholder 3"/>
          <p:cNvSpPr>
            <a:spLocks noGrp="1"/>
          </p:cNvSpPr>
          <p:nvPr>
            <p:ph type="sldNum" sz="quarter" idx="10"/>
          </p:nvPr>
        </p:nvSpPr>
        <p:spPr/>
        <p:txBody>
          <a:bodyPr/>
          <a:lstStyle/>
          <a:p>
            <a:fld id="{B71FE5B5-A979-4370-A255-218EAB36A5F4}" type="slidenum">
              <a:rPr lang="en-GB" smtClean="0"/>
              <a:t>3</a:t>
            </a:fld>
            <a:endParaRPr lang="en-GB"/>
          </a:p>
        </p:txBody>
      </p:sp>
    </p:spTree>
    <p:extLst>
      <p:ext uri="{BB962C8B-B14F-4D97-AF65-F5344CB8AC3E}">
        <p14:creationId xmlns:p14="http://schemas.microsoft.com/office/powerpoint/2010/main" val="2298897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Imagine visiting a shopping website (Amazon) and all the images, information, and prices had to be retrieved by hand!</a:t>
            </a:r>
          </a:p>
          <a:p>
            <a:endParaRPr lang="en-GB" dirty="0"/>
          </a:p>
          <a:p>
            <a:r>
              <a:rPr lang="en-GB" dirty="0"/>
              <a:t>Image: https://placesjournal.org/article/the-filing-cabinet-and-20th-century-information-infrastructure/  (School office ~1923 </a:t>
            </a:r>
            <a:r>
              <a:rPr lang="en-GB" dirty="0">
                <a:sym typeface="Wingdings" panose="05000000000000000000" pitchFamily="2" charset="2"/>
              </a:rPr>
              <a:t>)</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a:t>
            </a:fld>
            <a:endParaRPr lang="en-GB"/>
          </a:p>
        </p:txBody>
      </p:sp>
    </p:spTree>
    <p:extLst>
      <p:ext uri="{BB962C8B-B14F-4D97-AF65-F5344CB8AC3E}">
        <p14:creationId xmlns:p14="http://schemas.microsoft.com/office/powerpoint/2010/main" val="3461112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Olden days: filing cabinets full of records</a:t>
            </a:r>
          </a:p>
        </p:txBody>
      </p:sp>
      <p:sp>
        <p:nvSpPr>
          <p:cNvPr id="4" name="Slide Number Placeholder 3"/>
          <p:cNvSpPr>
            <a:spLocks noGrp="1"/>
          </p:cNvSpPr>
          <p:nvPr>
            <p:ph type="sldNum" sz="quarter" idx="10"/>
          </p:nvPr>
        </p:nvSpPr>
        <p:spPr/>
        <p:txBody>
          <a:bodyPr/>
          <a:lstStyle/>
          <a:p>
            <a:fld id="{B71FE5B5-A979-4370-A255-218EAB36A5F4}" type="slidenum">
              <a:rPr lang="en-GB" smtClean="0"/>
              <a:t>5</a:t>
            </a:fld>
            <a:endParaRPr lang="en-GB"/>
          </a:p>
        </p:txBody>
      </p:sp>
    </p:spTree>
    <p:extLst>
      <p:ext uri="{BB962C8B-B14F-4D97-AF65-F5344CB8AC3E}">
        <p14:creationId xmlns:p14="http://schemas.microsoft.com/office/powerpoint/2010/main" val="24119715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Olden days: filing cabinets full of records</a:t>
            </a:r>
          </a:p>
        </p:txBody>
      </p:sp>
      <p:sp>
        <p:nvSpPr>
          <p:cNvPr id="4" name="Slide Number Placeholder 3"/>
          <p:cNvSpPr>
            <a:spLocks noGrp="1"/>
          </p:cNvSpPr>
          <p:nvPr>
            <p:ph type="sldNum" sz="quarter" idx="10"/>
          </p:nvPr>
        </p:nvSpPr>
        <p:spPr/>
        <p:txBody>
          <a:bodyPr/>
          <a:lstStyle/>
          <a:p>
            <a:fld id="{B71FE5B5-A979-4370-A255-218EAB36A5F4}" type="slidenum">
              <a:rPr lang="en-GB" smtClean="0"/>
              <a:t>6</a:t>
            </a:fld>
            <a:endParaRPr lang="en-GB"/>
          </a:p>
        </p:txBody>
      </p:sp>
    </p:spTree>
    <p:extLst>
      <p:ext uri="{BB962C8B-B14F-4D97-AF65-F5344CB8AC3E}">
        <p14:creationId xmlns:p14="http://schemas.microsoft.com/office/powerpoint/2010/main" val="352567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7</a:t>
            </a:fld>
            <a:endParaRPr lang="en-GB"/>
          </a:p>
        </p:txBody>
      </p:sp>
    </p:spTree>
    <p:extLst>
      <p:ext uri="{BB962C8B-B14F-4D97-AF65-F5344CB8AC3E}">
        <p14:creationId xmlns:p14="http://schemas.microsoft.com/office/powerpoint/2010/main" val="4081218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8</a:t>
            </a:fld>
            <a:endParaRPr lang="en-GB"/>
          </a:p>
        </p:txBody>
      </p:sp>
    </p:spTree>
    <p:extLst>
      <p:ext uri="{BB962C8B-B14F-4D97-AF65-F5344CB8AC3E}">
        <p14:creationId xmlns:p14="http://schemas.microsoft.com/office/powerpoint/2010/main" val="1481352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 from BBC Bitesize: https://www.bbc.co.uk/bitesize/guides/zc93tv4/revision/1</a:t>
            </a:r>
          </a:p>
        </p:txBody>
      </p:sp>
      <p:sp>
        <p:nvSpPr>
          <p:cNvPr id="4" name="Slide Number Placeholder 3"/>
          <p:cNvSpPr>
            <a:spLocks noGrp="1"/>
          </p:cNvSpPr>
          <p:nvPr>
            <p:ph type="sldNum" sz="quarter" idx="5"/>
          </p:nvPr>
        </p:nvSpPr>
        <p:spPr/>
        <p:txBody>
          <a:bodyPr/>
          <a:lstStyle/>
          <a:p>
            <a:fld id="{B71FE5B5-A979-4370-A255-218EAB36A5F4}" type="slidenum">
              <a:rPr lang="en-GB" smtClean="0"/>
              <a:t>9</a:t>
            </a:fld>
            <a:endParaRPr lang="en-GB"/>
          </a:p>
        </p:txBody>
      </p:sp>
    </p:spTree>
    <p:extLst>
      <p:ext uri="{BB962C8B-B14F-4D97-AF65-F5344CB8AC3E}">
        <p14:creationId xmlns:p14="http://schemas.microsoft.com/office/powerpoint/2010/main" val="2506133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10</a:t>
            </a:fld>
            <a:endParaRPr lang="en-GB"/>
          </a:p>
        </p:txBody>
      </p:sp>
    </p:spTree>
    <p:extLst>
      <p:ext uri="{BB962C8B-B14F-4D97-AF65-F5344CB8AC3E}">
        <p14:creationId xmlns:p14="http://schemas.microsoft.com/office/powerpoint/2010/main" val="3819886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SEQUEL: </a:t>
            </a:r>
            <a:r>
              <a:rPr lang="en-GB" b="1" dirty="0"/>
              <a:t>S</a:t>
            </a:r>
            <a:r>
              <a:rPr lang="en-GB" dirty="0"/>
              <a:t>tructured </a:t>
            </a:r>
            <a:r>
              <a:rPr lang="en-GB" b="1" dirty="0"/>
              <a:t>E</a:t>
            </a:r>
            <a:r>
              <a:rPr lang="en-GB" dirty="0"/>
              <a:t>nglish </a:t>
            </a:r>
            <a:r>
              <a:rPr lang="en-GB" b="1" dirty="0" err="1"/>
              <a:t>QUE</a:t>
            </a:r>
            <a:r>
              <a:rPr lang="en-GB" dirty="0" err="1"/>
              <a:t>ry</a:t>
            </a:r>
            <a:r>
              <a:rPr lang="en-GB" dirty="0"/>
              <a:t> </a:t>
            </a:r>
            <a:r>
              <a:rPr lang="en-GB" b="1" dirty="0"/>
              <a:t>L</a:t>
            </a:r>
            <a:r>
              <a:rPr lang="en-GB" dirty="0"/>
              <a:t>anguage</a:t>
            </a:r>
          </a:p>
        </p:txBody>
      </p:sp>
      <p:sp>
        <p:nvSpPr>
          <p:cNvPr id="4" name="Slide Number Placeholder 3"/>
          <p:cNvSpPr>
            <a:spLocks noGrp="1"/>
          </p:cNvSpPr>
          <p:nvPr>
            <p:ph type="sldNum" sz="quarter" idx="5"/>
          </p:nvPr>
        </p:nvSpPr>
        <p:spPr/>
        <p:txBody>
          <a:bodyPr/>
          <a:lstStyle/>
          <a:p>
            <a:fld id="{B71FE5B5-A979-4370-A255-218EAB36A5F4}" type="slidenum">
              <a:rPr lang="en-GB" smtClean="0"/>
              <a:t>11</a:t>
            </a:fld>
            <a:endParaRPr lang="en-GB"/>
          </a:p>
        </p:txBody>
      </p:sp>
    </p:spTree>
    <p:extLst>
      <p:ext uri="{BB962C8B-B14F-4D97-AF65-F5344CB8AC3E}">
        <p14:creationId xmlns:p14="http://schemas.microsoft.com/office/powerpoint/2010/main" val="502836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SEQUEL: </a:t>
            </a:r>
            <a:r>
              <a:rPr lang="en-GB" b="1" dirty="0"/>
              <a:t>S</a:t>
            </a:r>
            <a:r>
              <a:rPr lang="en-GB" dirty="0"/>
              <a:t>tructured </a:t>
            </a:r>
            <a:r>
              <a:rPr lang="en-GB" b="1" dirty="0"/>
              <a:t>E</a:t>
            </a:r>
            <a:r>
              <a:rPr lang="en-GB" dirty="0"/>
              <a:t>nglish </a:t>
            </a:r>
            <a:r>
              <a:rPr lang="en-GB" b="1" dirty="0" err="1"/>
              <a:t>QUE</a:t>
            </a:r>
            <a:r>
              <a:rPr lang="en-GB" dirty="0" err="1"/>
              <a:t>ry</a:t>
            </a:r>
            <a:r>
              <a:rPr lang="en-GB" dirty="0"/>
              <a:t> </a:t>
            </a:r>
            <a:r>
              <a:rPr lang="en-GB" b="1" dirty="0"/>
              <a:t>L</a:t>
            </a:r>
            <a:r>
              <a:rPr lang="en-GB" dirty="0"/>
              <a:t>anguage</a:t>
            </a:r>
          </a:p>
        </p:txBody>
      </p:sp>
      <p:sp>
        <p:nvSpPr>
          <p:cNvPr id="4" name="Slide Number Placeholder 3"/>
          <p:cNvSpPr>
            <a:spLocks noGrp="1"/>
          </p:cNvSpPr>
          <p:nvPr>
            <p:ph type="sldNum" sz="quarter" idx="5"/>
          </p:nvPr>
        </p:nvSpPr>
        <p:spPr/>
        <p:txBody>
          <a:bodyPr/>
          <a:lstStyle/>
          <a:p>
            <a:fld id="{B71FE5B5-A979-4370-A255-218EAB36A5F4}" type="slidenum">
              <a:rPr lang="en-GB" smtClean="0"/>
              <a:t>12</a:t>
            </a:fld>
            <a:endParaRPr lang="en-GB"/>
          </a:p>
        </p:txBody>
      </p:sp>
    </p:spTree>
    <p:extLst>
      <p:ext uri="{BB962C8B-B14F-4D97-AF65-F5344CB8AC3E}">
        <p14:creationId xmlns:p14="http://schemas.microsoft.com/office/powerpoint/2010/main" val="2754221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Helps to tell the 'story' of what the program does</a:t>
            </a:r>
          </a:p>
        </p:txBody>
      </p:sp>
      <p:sp>
        <p:nvSpPr>
          <p:cNvPr id="4" name="Slide Number Placeholder 3"/>
          <p:cNvSpPr>
            <a:spLocks noGrp="1"/>
          </p:cNvSpPr>
          <p:nvPr>
            <p:ph type="sldNum" sz="quarter" idx="5"/>
          </p:nvPr>
        </p:nvSpPr>
        <p:spPr/>
        <p:txBody>
          <a:bodyPr/>
          <a:lstStyle/>
          <a:p>
            <a:fld id="{B71FE5B5-A979-4370-A255-218EAB36A5F4}" type="slidenum">
              <a:rPr lang="en-GB" smtClean="0"/>
              <a:t>17</a:t>
            </a:fld>
            <a:endParaRPr lang="en-GB"/>
          </a:p>
        </p:txBody>
      </p:sp>
    </p:spTree>
    <p:extLst>
      <p:ext uri="{BB962C8B-B14F-4D97-AF65-F5344CB8AC3E}">
        <p14:creationId xmlns:p14="http://schemas.microsoft.com/office/powerpoint/2010/main" val="2911402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18</a:t>
            </a:fld>
            <a:endParaRPr lang="en-GB"/>
          </a:p>
        </p:txBody>
      </p:sp>
    </p:spTree>
    <p:extLst>
      <p:ext uri="{BB962C8B-B14F-4D97-AF65-F5344CB8AC3E}">
        <p14:creationId xmlns:p14="http://schemas.microsoft.com/office/powerpoint/2010/main" val="42414051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Helps to tell the 'story' of what the program does</a:t>
            </a:r>
          </a:p>
        </p:txBody>
      </p:sp>
      <p:sp>
        <p:nvSpPr>
          <p:cNvPr id="4" name="Slide Number Placeholder 3"/>
          <p:cNvSpPr>
            <a:spLocks noGrp="1"/>
          </p:cNvSpPr>
          <p:nvPr>
            <p:ph type="sldNum" sz="quarter" idx="5"/>
          </p:nvPr>
        </p:nvSpPr>
        <p:spPr/>
        <p:txBody>
          <a:bodyPr/>
          <a:lstStyle/>
          <a:p>
            <a:fld id="{B71FE5B5-A979-4370-A255-218EAB36A5F4}" type="slidenum">
              <a:rPr lang="en-GB" smtClean="0"/>
              <a:t>19</a:t>
            </a:fld>
            <a:endParaRPr lang="en-GB"/>
          </a:p>
        </p:txBody>
      </p:sp>
    </p:spTree>
    <p:extLst>
      <p:ext uri="{BB962C8B-B14F-4D97-AF65-F5344CB8AC3E}">
        <p14:creationId xmlns:p14="http://schemas.microsoft.com/office/powerpoint/2010/main" val="7682286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Helps to tell the 'story' of what the program does</a:t>
            </a:r>
          </a:p>
        </p:txBody>
      </p:sp>
      <p:sp>
        <p:nvSpPr>
          <p:cNvPr id="4" name="Slide Number Placeholder 3"/>
          <p:cNvSpPr>
            <a:spLocks noGrp="1"/>
          </p:cNvSpPr>
          <p:nvPr>
            <p:ph type="sldNum" sz="quarter" idx="5"/>
          </p:nvPr>
        </p:nvSpPr>
        <p:spPr/>
        <p:txBody>
          <a:bodyPr/>
          <a:lstStyle/>
          <a:p>
            <a:fld id="{B71FE5B5-A979-4370-A255-218EAB36A5F4}" type="slidenum">
              <a:rPr lang="en-GB" smtClean="0"/>
              <a:t>20</a:t>
            </a:fld>
            <a:endParaRPr lang="en-GB"/>
          </a:p>
        </p:txBody>
      </p:sp>
    </p:spTree>
    <p:extLst>
      <p:ext uri="{BB962C8B-B14F-4D97-AF65-F5344CB8AC3E}">
        <p14:creationId xmlns:p14="http://schemas.microsoft.com/office/powerpoint/2010/main" val="37932077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21</a:t>
            </a:fld>
            <a:endParaRPr lang="en-GB"/>
          </a:p>
        </p:txBody>
      </p:sp>
    </p:spTree>
    <p:extLst>
      <p:ext uri="{BB962C8B-B14F-4D97-AF65-F5344CB8AC3E}">
        <p14:creationId xmlns:p14="http://schemas.microsoft.com/office/powerpoint/2010/main" val="4125465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Works in Replit but not DB Browser for SQLite</a:t>
            </a:r>
          </a:p>
        </p:txBody>
      </p:sp>
      <p:sp>
        <p:nvSpPr>
          <p:cNvPr id="4" name="Slide Number Placeholder 3"/>
          <p:cNvSpPr>
            <a:spLocks noGrp="1"/>
          </p:cNvSpPr>
          <p:nvPr>
            <p:ph type="sldNum" sz="quarter" idx="5"/>
          </p:nvPr>
        </p:nvSpPr>
        <p:spPr/>
        <p:txBody>
          <a:bodyPr/>
          <a:lstStyle/>
          <a:p>
            <a:fld id="{B71FE5B5-A979-4370-A255-218EAB36A5F4}" type="slidenum">
              <a:rPr lang="en-GB" smtClean="0"/>
              <a:t>22</a:t>
            </a:fld>
            <a:endParaRPr lang="en-GB"/>
          </a:p>
        </p:txBody>
      </p:sp>
    </p:spTree>
    <p:extLst>
      <p:ext uri="{BB962C8B-B14F-4D97-AF65-F5344CB8AC3E}">
        <p14:creationId xmlns:p14="http://schemas.microsoft.com/office/powerpoint/2010/main" val="15349945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23</a:t>
            </a:fld>
            <a:endParaRPr lang="en-GB"/>
          </a:p>
        </p:txBody>
      </p:sp>
    </p:spTree>
    <p:extLst>
      <p:ext uri="{BB962C8B-B14F-4D97-AF65-F5344CB8AC3E}">
        <p14:creationId xmlns:p14="http://schemas.microsoft.com/office/powerpoint/2010/main" val="12505157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25</a:t>
            </a:fld>
            <a:endParaRPr lang="en-GB"/>
          </a:p>
        </p:txBody>
      </p:sp>
    </p:spTree>
    <p:extLst>
      <p:ext uri="{BB962C8B-B14F-4D97-AF65-F5344CB8AC3E}">
        <p14:creationId xmlns:p14="http://schemas.microsoft.com/office/powerpoint/2010/main" val="11683499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26</a:t>
            </a:fld>
            <a:endParaRPr lang="en-GB"/>
          </a:p>
        </p:txBody>
      </p:sp>
    </p:spTree>
    <p:extLst>
      <p:ext uri="{BB962C8B-B14F-4D97-AF65-F5344CB8AC3E}">
        <p14:creationId xmlns:p14="http://schemas.microsoft.com/office/powerpoint/2010/main" val="34465513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27</a:t>
            </a:fld>
            <a:endParaRPr lang="en-GB"/>
          </a:p>
        </p:txBody>
      </p:sp>
    </p:spTree>
    <p:extLst>
      <p:ext uri="{BB962C8B-B14F-4D97-AF65-F5344CB8AC3E}">
        <p14:creationId xmlns:p14="http://schemas.microsoft.com/office/powerpoint/2010/main" val="33208928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28</a:t>
            </a:fld>
            <a:endParaRPr lang="en-GB"/>
          </a:p>
        </p:txBody>
      </p:sp>
    </p:spTree>
    <p:extLst>
      <p:ext uri="{BB962C8B-B14F-4D97-AF65-F5344CB8AC3E}">
        <p14:creationId xmlns:p14="http://schemas.microsoft.com/office/powerpoint/2010/main" val="27986249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29</a:t>
            </a:fld>
            <a:endParaRPr lang="en-GB"/>
          </a:p>
        </p:txBody>
      </p:sp>
    </p:spTree>
    <p:extLst>
      <p:ext uri="{BB962C8B-B14F-4D97-AF65-F5344CB8AC3E}">
        <p14:creationId xmlns:p14="http://schemas.microsoft.com/office/powerpoint/2010/main" val="5102202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happens in the computer's memory, only the output is displayed.</a:t>
            </a:r>
          </a:p>
        </p:txBody>
      </p:sp>
      <p:sp>
        <p:nvSpPr>
          <p:cNvPr id="4" name="Slide Number Placeholder 3"/>
          <p:cNvSpPr>
            <a:spLocks noGrp="1"/>
          </p:cNvSpPr>
          <p:nvPr>
            <p:ph type="sldNum" sz="quarter" idx="5"/>
          </p:nvPr>
        </p:nvSpPr>
        <p:spPr/>
        <p:txBody>
          <a:bodyPr/>
          <a:lstStyle/>
          <a:p>
            <a:fld id="{B71FE5B5-A979-4370-A255-218EAB36A5F4}" type="slidenum">
              <a:rPr lang="en-GB" smtClean="0"/>
              <a:t>30</a:t>
            </a:fld>
            <a:endParaRPr lang="en-GB"/>
          </a:p>
        </p:txBody>
      </p:sp>
    </p:spTree>
    <p:extLst>
      <p:ext uri="{BB962C8B-B14F-4D97-AF65-F5344CB8AC3E}">
        <p14:creationId xmlns:p14="http://schemas.microsoft.com/office/powerpoint/2010/main" val="1145297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31</a:t>
            </a:fld>
            <a:endParaRPr lang="en-GB"/>
          </a:p>
        </p:txBody>
      </p:sp>
    </p:spTree>
    <p:extLst>
      <p:ext uri="{BB962C8B-B14F-4D97-AF65-F5344CB8AC3E}">
        <p14:creationId xmlns:p14="http://schemas.microsoft.com/office/powerpoint/2010/main" val="15816681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37</a:t>
            </a:fld>
            <a:endParaRPr lang="en-GB"/>
          </a:p>
        </p:txBody>
      </p:sp>
    </p:spTree>
    <p:extLst>
      <p:ext uri="{BB962C8B-B14F-4D97-AF65-F5344CB8AC3E}">
        <p14:creationId xmlns:p14="http://schemas.microsoft.com/office/powerpoint/2010/main" val="32545974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38</a:t>
            </a:fld>
            <a:endParaRPr lang="en-GB"/>
          </a:p>
        </p:txBody>
      </p:sp>
    </p:spTree>
    <p:extLst>
      <p:ext uri="{BB962C8B-B14F-4D97-AF65-F5344CB8AC3E}">
        <p14:creationId xmlns:p14="http://schemas.microsoft.com/office/powerpoint/2010/main" val="27613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SQL 'WHERE' is like Python 'if'</a:t>
            </a:r>
          </a:p>
        </p:txBody>
      </p:sp>
      <p:sp>
        <p:nvSpPr>
          <p:cNvPr id="4" name="Slide Number Placeholder 3"/>
          <p:cNvSpPr>
            <a:spLocks noGrp="1"/>
          </p:cNvSpPr>
          <p:nvPr>
            <p:ph type="sldNum" sz="quarter" idx="5"/>
          </p:nvPr>
        </p:nvSpPr>
        <p:spPr/>
        <p:txBody>
          <a:bodyPr/>
          <a:lstStyle/>
          <a:p>
            <a:fld id="{B71FE5B5-A979-4370-A255-218EAB36A5F4}" type="slidenum">
              <a:rPr lang="en-GB" smtClean="0"/>
              <a:t>39</a:t>
            </a:fld>
            <a:endParaRPr lang="en-GB"/>
          </a:p>
        </p:txBody>
      </p:sp>
    </p:spTree>
    <p:extLst>
      <p:ext uri="{BB962C8B-B14F-4D97-AF65-F5344CB8AC3E}">
        <p14:creationId xmlns:p14="http://schemas.microsoft.com/office/powerpoint/2010/main" val="23804172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40</a:t>
            </a:fld>
            <a:endParaRPr lang="en-GB"/>
          </a:p>
        </p:txBody>
      </p:sp>
    </p:spTree>
    <p:extLst>
      <p:ext uri="{BB962C8B-B14F-4D97-AF65-F5344CB8AC3E}">
        <p14:creationId xmlns:p14="http://schemas.microsoft.com/office/powerpoint/2010/main" val="5766567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happens in the computer's memory, only the output is displayed.</a:t>
            </a:r>
          </a:p>
        </p:txBody>
      </p:sp>
      <p:sp>
        <p:nvSpPr>
          <p:cNvPr id="4" name="Slide Number Placeholder 3"/>
          <p:cNvSpPr>
            <a:spLocks noGrp="1"/>
          </p:cNvSpPr>
          <p:nvPr>
            <p:ph type="sldNum" sz="quarter" idx="5"/>
          </p:nvPr>
        </p:nvSpPr>
        <p:spPr/>
        <p:txBody>
          <a:bodyPr/>
          <a:lstStyle/>
          <a:p>
            <a:fld id="{B71FE5B5-A979-4370-A255-218EAB36A5F4}" type="slidenum">
              <a:rPr lang="en-GB" smtClean="0"/>
              <a:t>41</a:t>
            </a:fld>
            <a:endParaRPr lang="en-GB"/>
          </a:p>
        </p:txBody>
      </p:sp>
    </p:spTree>
    <p:extLst>
      <p:ext uri="{BB962C8B-B14F-4D97-AF65-F5344CB8AC3E}">
        <p14:creationId xmlns:p14="http://schemas.microsoft.com/office/powerpoint/2010/main" val="28592900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42</a:t>
            </a:fld>
            <a:endParaRPr lang="en-GB"/>
          </a:p>
        </p:txBody>
      </p:sp>
    </p:spTree>
    <p:extLst>
      <p:ext uri="{BB962C8B-B14F-4D97-AF65-F5344CB8AC3E}">
        <p14:creationId xmlns:p14="http://schemas.microsoft.com/office/powerpoint/2010/main" val="29341776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43</a:t>
            </a:fld>
            <a:endParaRPr lang="en-GB"/>
          </a:p>
        </p:txBody>
      </p:sp>
    </p:spTree>
    <p:extLst>
      <p:ext uri="{BB962C8B-B14F-4D97-AF65-F5344CB8AC3E}">
        <p14:creationId xmlns:p14="http://schemas.microsoft.com/office/powerpoint/2010/main" val="17877569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44</a:t>
            </a:fld>
            <a:endParaRPr lang="en-GB"/>
          </a:p>
        </p:txBody>
      </p:sp>
    </p:spTree>
    <p:extLst>
      <p:ext uri="{BB962C8B-B14F-4D97-AF65-F5344CB8AC3E}">
        <p14:creationId xmlns:p14="http://schemas.microsoft.com/office/powerpoint/2010/main" val="42072494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YYYY</a:t>
            </a:r>
            <a:r>
              <a:rPr lang="en-GB" dirty="0"/>
              <a:t>-MM-DD</a:t>
            </a:r>
          </a:p>
        </p:txBody>
      </p:sp>
      <p:sp>
        <p:nvSpPr>
          <p:cNvPr id="4" name="Slide Number Placeholder 3"/>
          <p:cNvSpPr>
            <a:spLocks noGrp="1"/>
          </p:cNvSpPr>
          <p:nvPr>
            <p:ph type="sldNum" sz="quarter" idx="5"/>
          </p:nvPr>
        </p:nvSpPr>
        <p:spPr/>
        <p:txBody>
          <a:bodyPr/>
          <a:lstStyle/>
          <a:p>
            <a:fld id="{B71FE5B5-A979-4370-A255-218EAB36A5F4}" type="slidenum">
              <a:rPr lang="en-GB" smtClean="0"/>
              <a:t>45</a:t>
            </a:fld>
            <a:endParaRPr lang="en-GB"/>
          </a:p>
        </p:txBody>
      </p:sp>
    </p:spTree>
    <p:extLst>
      <p:ext uri="{BB962C8B-B14F-4D97-AF65-F5344CB8AC3E}">
        <p14:creationId xmlns:p14="http://schemas.microsoft.com/office/powerpoint/2010/main" val="32731329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46</a:t>
            </a:fld>
            <a:endParaRPr lang="en-GB"/>
          </a:p>
        </p:txBody>
      </p:sp>
    </p:spTree>
    <p:extLst>
      <p:ext uri="{BB962C8B-B14F-4D97-AF65-F5344CB8AC3E}">
        <p14:creationId xmlns:p14="http://schemas.microsoft.com/office/powerpoint/2010/main" val="25747621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HH:MM:SS</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47</a:t>
            </a:fld>
            <a:endParaRPr lang="en-GB"/>
          </a:p>
        </p:txBody>
      </p:sp>
    </p:spTree>
    <p:extLst>
      <p:ext uri="{BB962C8B-B14F-4D97-AF65-F5344CB8AC3E}">
        <p14:creationId xmlns:p14="http://schemas.microsoft.com/office/powerpoint/2010/main" val="34724762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48</a:t>
            </a:fld>
            <a:endParaRPr lang="en-GB"/>
          </a:p>
        </p:txBody>
      </p:sp>
    </p:spTree>
    <p:extLst>
      <p:ext uri="{BB962C8B-B14F-4D97-AF65-F5344CB8AC3E}">
        <p14:creationId xmlns:p14="http://schemas.microsoft.com/office/powerpoint/2010/main" val="34395426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49</a:t>
            </a:fld>
            <a:endParaRPr lang="en-GB"/>
          </a:p>
        </p:txBody>
      </p:sp>
    </p:spTree>
    <p:extLst>
      <p:ext uri="{BB962C8B-B14F-4D97-AF65-F5344CB8AC3E}">
        <p14:creationId xmlns:p14="http://schemas.microsoft.com/office/powerpoint/2010/main" val="17993914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50</a:t>
            </a:fld>
            <a:endParaRPr lang="en-GB"/>
          </a:p>
        </p:txBody>
      </p:sp>
    </p:spTree>
    <p:extLst>
      <p:ext uri="{BB962C8B-B14F-4D97-AF65-F5344CB8AC3E}">
        <p14:creationId xmlns:p14="http://schemas.microsoft.com/office/powerpoint/2010/main" val="36157772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Can order by fields that aren't displayed.</a:t>
            </a:r>
          </a:p>
        </p:txBody>
      </p:sp>
      <p:sp>
        <p:nvSpPr>
          <p:cNvPr id="4" name="Slide Number Placeholder 3"/>
          <p:cNvSpPr>
            <a:spLocks noGrp="1"/>
          </p:cNvSpPr>
          <p:nvPr>
            <p:ph type="sldNum" sz="quarter" idx="5"/>
          </p:nvPr>
        </p:nvSpPr>
        <p:spPr/>
        <p:txBody>
          <a:bodyPr/>
          <a:lstStyle/>
          <a:p>
            <a:fld id="{B71FE5B5-A979-4370-A255-218EAB36A5F4}" type="slidenum">
              <a:rPr lang="en-GB" smtClean="0"/>
              <a:t>52</a:t>
            </a:fld>
            <a:endParaRPr lang="en-GB"/>
          </a:p>
        </p:txBody>
      </p:sp>
    </p:spTree>
    <p:extLst>
      <p:ext uri="{BB962C8B-B14F-4D97-AF65-F5344CB8AC3E}">
        <p14:creationId xmlns:p14="http://schemas.microsoft.com/office/powerpoint/2010/main" val="17323588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53</a:t>
            </a:fld>
            <a:endParaRPr lang="en-GB"/>
          </a:p>
        </p:txBody>
      </p:sp>
    </p:spTree>
    <p:extLst>
      <p:ext uri="{BB962C8B-B14F-4D97-AF65-F5344CB8AC3E}">
        <p14:creationId xmlns:p14="http://schemas.microsoft.com/office/powerpoint/2010/main" val="17999396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54</a:t>
            </a:fld>
            <a:endParaRPr lang="en-GB"/>
          </a:p>
        </p:txBody>
      </p:sp>
    </p:spTree>
    <p:extLst>
      <p:ext uri="{BB962C8B-B14F-4D97-AF65-F5344CB8AC3E}">
        <p14:creationId xmlns:p14="http://schemas.microsoft.com/office/powerpoint/2010/main" val="158415188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55</a:t>
            </a:fld>
            <a:endParaRPr lang="en-GB"/>
          </a:p>
        </p:txBody>
      </p:sp>
    </p:spTree>
    <p:extLst>
      <p:ext uri="{BB962C8B-B14F-4D97-AF65-F5344CB8AC3E}">
        <p14:creationId xmlns:p14="http://schemas.microsoft.com/office/powerpoint/2010/main" val="38249700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8C167-1F80-F8FF-5BFA-744E134879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86833-A557-1912-6067-C6780571A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1B0D9-535A-DF56-6CE3-824D5E0B00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Highlighting field not selected but can still be used for ordering (H CS: think aliases)</a:t>
            </a:r>
          </a:p>
        </p:txBody>
      </p:sp>
      <p:sp>
        <p:nvSpPr>
          <p:cNvPr id="4" name="Slide Number Placeholder 3">
            <a:extLst>
              <a:ext uri="{FF2B5EF4-FFF2-40B4-BE49-F238E27FC236}">
                <a16:creationId xmlns:a16="http://schemas.microsoft.com/office/drawing/2014/main" id="{5AA207C0-AEEF-0931-E07E-3E8724F6DA28}"/>
              </a:ext>
            </a:extLst>
          </p:cNvPr>
          <p:cNvSpPr>
            <a:spLocks noGrp="1"/>
          </p:cNvSpPr>
          <p:nvPr>
            <p:ph type="sldNum" sz="quarter" idx="5"/>
          </p:nvPr>
        </p:nvSpPr>
        <p:spPr/>
        <p:txBody>
          <a:bodyPr/>
          <a:lstStyle/>
          <a:p>
            <a:fld id="{B71FE5B5-A979-4370-A255-218EAB36A5F4}" type="slidenum">
              <a:rPr lang="en-GB" smtClean="0"/>
              <a:t>56</a:t>
            </a:fld>
            <a:endParaRPr lang="en-GB"/>
          </a:p>
        </p:txBody>
      </p:sp>
    </p:spTree>
    <p:extLst>
      <p:ext uri="{BB962C8B-B14F-4D97-AF65-F5344CB8AC3E}">
        <p14:creationId xmlns:p14="http://schemas.microsoft.com/office/powerpoint/2010/main" val="384531882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EF935-4F26-DF99-EA97-44E7763FA5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86F61-8742-6F48-6451-85A5F2BABF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E18928-F9AC-7F88-E090-3BC6F67B9AE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69D7E630-F075-AAD0-A755-7A27445B4EAE}"/>
              </a:ext>
            </a:extLst>
          </p:cNvPr>
          <p:cNvSpPr>
            <a:spLocks noGrp="1"/>
          </p:cNvSpPr>
          <p:nvPr>
            <p:ph type="sldNum" sz="quarter" idx="5"/>
          </p:nvPr>
        </p:nvSpPr>
        <p:spPr/>
        <p:txBody>
          <a:bodyPr/>
          <a:lstStyle/>
          <a:p>
            <a:fld id="{B71FE5B5-A979-4370-A255-218EAB36A5F4}" type="slidenum">
              <a:rPr lang="en-GB" smtClean="0"/>
              <a:t>57</a:t>
            </a:fld>
            <a:endParaRPr lang="en-GB"/>
          </a:p>
        </p:txBody>
      </p:sp>
    </p:spTree>
    <p:extLst>
      <p:ext uri="{BB962C8B-B14F-4D97-AF65-F5344CB8AC3E}">
        <p14:creationId xmlns:p14="http://schemas.microsoft.com/office/powerpoint/2010/main" val="28399549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8C167-1F80-F8FF-5BFA-744E134879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86833-A557-1912-6067-C6780571A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1B0D9-535A-DF56-6CE3-824D5E0B00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Highlighting field not selected but can still be used for ordering (H CS: think aliases)</a:t>
            </a:r>
          </a:p>
        </p:txBody>
      </p:sp>
      <p:sp>
        <p:nvSpPr>
          <p:cNvPr id="4" name="Slide Number Placeholder 3">
            <a:extLst>
              <a:ext uri="{FF2B5EF4-FFF2-40B4-BE49-F238E27FC236}">
                <a16:creationId xmlns:a16="http://schemas.microsoft.com/office/drawing/2014/main" id="{5AA207C0-AEEF-0931-E07E-3E8724F6DA28}"/>
              </a:ext>
            </a:extLst>
          </p:cNvPr>
          <p:cNvSpPr>
            <a:spLocks noGrp="1"/>
          </p:cNvSpPr>
          <p:nvPr>
            <p:ph type="sldNum" sz="quarter" idx="5"/>
          </p:nvPr>
        </p:nvSpPr>
        <p:spPr/>
        <p:txBody>
          <a:bodyPr/>
          <a:lstStyle/>
          <a:p>
            <a:fld id="{B71FE5B5-A979-4370-A255-218EAB36A5F4}" type="slidenum">
              <a:rPr lang="en-GB" smtClean="0"/>
              <a:t>58</a:t>
            </a:fld>
            <a:endParaRPr lang="en-GB"/>
          </a:p>
        </p:txBody>
      </p:sp>
    </p:spTree>
    <p:extLst>
      <p:ext uri="{BB962C8B-B14F-4D97-AF65-F5344CB8AC3E}">
        <p14:creationId xmlns:p14="http://schemas.microsoft.com/office/powerpoint/2010/main" val="29375649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8C167-1F80-F8FF-5BFA-744E134879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86833-A557-1912-6067-C6780571A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1B0D9-535A-DF56-6CE3-824D5E0B00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5AA207C0-AEEF-0931-E07E-3E8724F6DA28}"/>
              </a:ext>
            </a:extLst>
          </p:cNvPr>
          <p:cNvSpPr>
            <a:spLocks noGrp="1"/>
          </p:cNvSpPr>
          <p:nvPr>
            <p:ph type="sldNum" sz="quarter" idx="5"/>
          </p:nvPr>
        </p:nvSpPr>
        <p:spPr/>
        <p:txBody>
          <a:bodyPr/>
          <a:lstStyle/>
          <a:p>
            <a:fld id="{B71FE5B5-A979-4370-A255-218EAB36A5F4}" type="slidenum">
              <a:rPr lang="en-GB" smtClean="0"/>
              <a:t>59</a:t>
            </a:fld>
            <a:endParaRPr lang="en-GB"/>
          </a:p>
        </p:txBody>
      </p:sp>
    </p:spTree>
    <p:extLst>
      <p:ext uri="{BB962C8B-B14F-4D97-AF65-F5344CB8AC3E}">
        <p14:creationId xmlns:p14="http://schemas.microsoft.com/office/powerpoint/2010/main" val="36073037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60</a:t>
            </a:fld>
            <a:endParaRPr lang="en-GB"/>
          </a:p>
        </p:txBody>
      </p:sp>
    </p:spTree>
    <p:extLst>
      <p:ext uri="{BB962C8B-B14F-4D97-AF65-F5344CB8AC3E}">
        <p14:creationId xmlns:p14="http://schemas.microsoft.com/office/powerpoint/2010/main" val="33828631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61</a:t>
            </a:fld>
            <a:endParaRPr lang="en-GB"/>
          </a:p>
        </p:txBody>
      </p:sp>
    </p:spTree>
    <p:extLst>
      <p:ext uri="{BB962C8B-B14F-4D97-AF65-F5344CB8AC3E}">
        <p14:creationId xmlns:p14="http://schemas.microsoft.com/office/powerpoint/2010/main" val="9179486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 isn't in the spec.</a:t>
            </a:r>
          </a:p>
          <a:p>
            <a:endParaRPr lang="en-GB" dirty="0"/>
          </a:p>
          <a:p>
            <a:r>
              <a:rPr lang="en-GB" dirty="0"/>
              <a:t>WHERE NOT age = 11  </a:t>
            </a:r>
            <a:r>
              <a:rPr lang="en-GB" baseline="0" dirty="0"/>
              <a:t> (WHERE age &lt;&gt; 11) - </a:t>
            </a:r>
            <a:r>
              <a:rPr lang="en-GB" dirty="0"/>
              <a:t>Everyone but the 11 year olds</a:t>
            </a:r>
          </a:p>
        </p:txBody>
      </p:sp>
      <p:sp>
        <p:nvSpPr>
          <p:cNvPr id="4" name="Slide Number Placeholder 3"/>
          <p:cNvSpPr>
            <a:spLocks noGrp="1"/>
          </p:cNvSpPr>
          <p:nvPr>
            <p:ph type="sldNum" sz="quarter" idx="5"/>
          </p:nvPr>
        </p:nvSpPr>
        <p:spPr/>
        <p:txBody>
          <a:bodyPr/>
          <a:lstStyle/>
          <a:p>
            <a:fld id="{B71FE5B5-A979-4370-A255-218EAB36A5F4}" type="slidenum">
              <a:rPr lang="en-GB" smtClean="0"/>
              <a:t>62</a:t>
            </a:fld>
            <a:endParaRPr lang="en-GB"/>
          </a:p>
        </p:txBody>
      </p:sp>
    </p:spTree>
    <p:extLst>
      <p:ext uri="{BB962C8B-B14F-4D97-AF65-F5344CB8AC3E}">
        <p14:creationId xmlns:p14="http://schemas.microsoft.com/office/powerpoint/2010/main" val="41013817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63</a:t>
            </a:fld>
            <a:endParaRPr lang="en-GB"/>
          </a:p>
        </p:txBody>
      </p:sp>
    </p:spTree>
    <p:extLst>
      <p:ext uri="{BB962C8B-B14F-4D97-AF65-F5344CB8AC3E}">
        <p14:creationId xmlns:p14="http://schemas.microsoft.com/office/powerpoint/2010/main" val="20022123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64</a:t>
            </a:fld>
            <a:endParaRPr lang="en-GB"/>
          </a:p>
        </p:txBody>
      </p:sp>
    </p:spTree>
    <p:extLst>
      <p:ext uri="{BB962C8B-B14F-4D97-AF65-F5344CB8AC3E}">
        <p14:creationId xmlns:p14="http://schemas.microsoft.com/office/powerpoint/2010/main" val="81701321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65</a:t>
            </a:fld>
            <a:endParaRPr lang="en-GB"/>
          </a:p>
        </p:txBody>
      </p:sp>
    </p:spTree>
    <p:extLst>
      <p:ext uri="{BB962C8B-B14F-4D97-AF65-F5344CB8AC3E}">
        <p14:creationId xmlns:p14="http://schemas.microsoft.com/office/powerpoint/2010/main" val="30057130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66</a:t>
            </a:fld>
            <a:endParaRPr lang="en-GB"/>
          </a:p>
        </p:txBody>
      </p:sp>
    </p:spTree>
    <p:extLst>
      <p:ext uri="{BB962C8B-B14F-4D97-AF65-F5344CB8AC3E}">
        <p14:creationId xmlns:p14="http://schemas.microsoft.com/office/powerpoint/2010/main" val="41754508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67</a:t>
            </a:fld>
            <a:endParaRPr lang="en-GB"/>
          </a:p>
        </p:txBody>
      </p:sp>
    </p:spTree>
    <p:extLst>
      <p:ext uri="{BB962C8B-B14F-4D97-AF65-F5344CB8AC3E}">
        <p14:creationId xmlns:p14="http://schemas.microsoft.com/office/powerpoint/2010/main" val="32915533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68</a:t>
            </a:fld>
            <a:endParaRPr lang="en-GB"/>
          </a:p>
        </p:txBody>
      </p:sp>
    </p:spTree>
    <p:extLst>
      <p:ext uri="{BB962C8B-B14F-4D97-AF65-F5344CB8AC3E}">
        <p14:creationId xmlns:p14="http://schemas.microsoft.com/office/powerpoint/2010/main" val="26121815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8C167-1F80-F8FF-5BFA-744E134879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86833-A557-1912-6067-C6780571A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1B0D9-535A-DF56-6CE3-824D5E0B00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Ordering: think aliases (H CS)</a:t>
            </a:r>
          </a:p>
        </p:txBody>
      </p:sp>
      <p:sp>
        <p:nvSpPr>
          <p:cNvPr id="4" name="Slide Number Placeholder 3">
            <a:extLst>
              <a:ext uri="{FF2B5EF4-FFF2-40B4-BE49-F238E27FC236}">
                <a16:creationId xmlns:a16="http://schemas.microsoft.com/office/drawing/2014/main" id="{5AA207C0-AEEF-0931-E07E-3E8724F6DA28}"/>
              </a:ext>
            </a:extLst>
          </p:cNvPr>
          <p:cNvSpPr>
            <a:spLocks noGrp="1"/>
          </p:cNvSpPr>
          <p:nvPr>
            <p:ph type="sldNum" sz="quarter" idx="5"/>
          </p:nvPr>
        </p:nvSpPr>
        <p:spPr/>
        <p:txBody>
          <a:bodyPr/>
          <a:lstStyle/>
          <a:p>
            <a:fld id="{B71FE5B5-A979-4370-A255-218EAB36A5F4}" type="slidenum">
              <a:rPr lang="en-GB" smtClean="0"/>
              <a:t>69</a:t>
            </a:fld>
            <a:endParaRPr lang="en-GB"/>
          </a:p>
        </p:txBody>
      </p:sp>
    </p:spTree>
    <p:extLst>
      <p:ext uri="{BB962C8B-B14F-4D97-AF65-F5344CB8AC3E}">
        <p14:creationId xmlns:p14="http://schemas.microsoft.com/office/powerpoint/2010/main" val="33228452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8C167-1F80-F8FF-5BFA-744E134879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86833-A557-1912-6067-C6780571A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1B0D9-535A-DF56-6CE3-824D5E0B00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5AA207C0-AEEF-0931-E07E-3E8724F6DA28}"/>
              </a:ext>
            </a:extLst>
          </p:cNvPr>
          <p:cNvSpPr>
            <a:spLocks noGrp="1"/>
          </p:cNvSpPr>
          <p:nvPr>
            <p:ph type="sldNum" sz="quarter" idx="5"/>
          </p:nvPr>
        </p:nvSpPr>
        <p:spPr/>
        <p:txBody>
          <a:bodyPr/>
          <a:lstStyle/>
          <a:p>
            <a:fld id="{B71FE5B5-A979-4370-A255-218EAB36A5F4}" type="slidenum">
              <a:rPr lang="en-GB" smtClean="0"/>
              <a:t>70</a:t>
            </a:fld>
            <a:endParaRPr lang="en-GB"/>
          </a:p>
        </p:txBody>
      </p:sp>
    </p:spTree>
    <p:extLst>
      <p:ext uri="{BB962C8B-B14F-4D97-AF65-F5344CB8AC3E}">
        <p14:creationId xmlns:p14="http://schemas.microsoft.com/office/powerpoint/2010/main" val="379845508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71</a:t>
            </a:fld>
            <a:endParaRPr lang="en-GB"/>
          </a:p>
        </p:txBody>
      </p:sp>
    </p:spTree>
    <p:extLst>
      <p:ext uri="{BB962C8B-B14F-4D97-AF65-F5344CB8AC3E}">
        <p14:creationId xmlns:p14="http://schemas.microsoft.com/office/powerpoint/2010/main" val="212111704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72</a:t>
            </a:fld>
            <a:endParaRPr lang="en-GB"/>
          </a:p>
        </p:txBody>
      </p:sp>
    </p:spTree>
    <p:extLst>
      <p:ext uri="{BB962C8B-B14F-4D97-AF65-F5344CB8AC3E}">
        <p14:creationId xmlns:p14="http://schemas.microsoft.com/office/powerpoint/2010/main" val="79107690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73</a:t>
            </a:fld>
            <a:endParaRPr lang="en-GB"/>
          </a:p>
        </p:txBody>
      </p:sp>
    </p:spTree>
    <p:extLst>
      <p:ext uri="{BB962C8B-B14F-4D97-AF65-F5344CB8AC3E}">
        <p14:creationId xmlns:p14="http://schemas.microsoft.com/office/powerpoint/2010/main" val="291977438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75</a:t>
            </a:fld>
            <a:endParaRPr lang="en-GB"/>
          </a:p>
        </p:txBody>
      </p:sp>
    </p:spTree>
    <p:extLst>
      <p:ext uri="{BB962C8B-B14F-4D97-AF65-F5344CB8AC3E}">
        <p14:creationId xmlns:p14="http://schemas.microsoft.com/office/powerpoint/2010/main" val="408138819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76</a:t>
            </a:fld>
            <a:endParaRPr lang="en-GB"/>
          </a:p>
        </p:txBody>
      </p:sp>
    </p:spTree>
    <p:extLst>
      <p:ext uri="{BB962C8B-B14F-4D97-AF65-F5344CB8AC3E}">
        <p14:creationId xmlns:p14="http://schemas.microsoft.com/office/powerpoint/2010/main" val="421332112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C6FE0-5748-607A-1B52-B9A378F730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D7C97C-CBA2-0D3E-98D4-6E3FEBA105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6C1993-24D6-BD2B-0DAF-FEB95D473618}"/>
              </a:ext>
            </a:extLst>
          </p:cNvPr>
          <p:cNvSpPr>
            <a:spLocks noGrp="1"/>
          </p:cNvSpPr>
          <p:nvPr>
            <p:ph type="body" idx="1"/>
          </p:nvPr>
        </p:nvSpPr>
        <p:spPr/>
        <p:txBody>
          <a:bodyPr/>
          <a:lstStyle/>
          <a:p>
            <a:r>
              <a:rPr lang="en-GB" dirty="0"/>
              <a:t>Design: Entity</a:t>
            </a:r>
          </a:p>
          <a:p>
            <a:r>
              <a:rPr lang="en-GB" dirty="0"/>
              <a:t>Implementation: Table</a:t>
            </a:r>
          </a:p>
        </p:txBody>
      </p:sp>
      <p:sp>
        <p:nvSpPr>
          <p:cNvPr id="4" name="Slide Number Placeholder 3">
            <a:extLst>
              <a:ext uri="{FF2B5EF4-FFF2-40B4-BE49-F238E27FC236}">
                <a16:creationId xmlns:a16="http://schemas.microsoft.com/office/drawing/2014/main" id="{3B941DAA-B5A6-53F7-DDD5-7D99EE54E1EA}"/>
              </a:ext>
            </a:extLst>
          </p:cNvPr>
          <p:cNvSpPr>
            <a:spLocks noGrp="1"/>
          </p:cNvSpPr>
          <p:nvPr>
            <p:ph type="sldNum" sz="quarter" idx="5"/>
          </p:nvPr>
        </p:nvSpPr>
        <p:spPr/>
        <p:txBody>
          <a:bodyPr/>
          <a:lstStyle/>
          <a:p>
            <a:fld id="{B71FE5B5-A979-4370-A255-218EAB36A5F4}" type="slidenum">
              <a:rPr lang="en-GB" smtClean="0"/>
              <a:t>78</a:t>
            </a:fld>
            <a:endParaRPr lang="en-GB"/>
          </a:p>
        </p:txBody>
      </p:sp>
    </p:spTree>
    <p:extLst>
      <p:ext uri="{BB962C8B-B14F-4D97-AF65-F5344CB8AC3E}">
        <p14:creationId xmlns:p14="http://schemas.microsoft.com/office/powerpoint/2010/main" val="6183624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CE351-2F36-9C35-5B41-1A945A97C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7006A-0C2A-CA51-AE84-0E485A2364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41FB6F-BACA-75DC-47EE-66B22C16569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0DD6F86-915B-E643-0BD6-D3AB525951A9}"/>
              </a:ext>
            </a:extLst>
          </p:cNvPr>
          <p:cNvSpPr>
            <a:spLocks noGrp="1"/>
          </p:cNvSpPr>
          <p:nvPr>
            <p:ph type="sldNum" sz="quarter" idx="5"/>
          </p:nvPr>
        </p:nvSpPr>
        <p:spPr/>
        <p:txBody>
          <a:bodyPr/>
          <a:lstStyle/>
          <a:p>
            <a:fld id="{B71FE5B5-A979-4370-A255-218EAB36A5F4}" type="slidenum">
              <a:rPr lang="en-GB" smtClean="0"/>
              <a:t>79</a:t>
            </a:fld>
            <a:endParaRPr lang="en-GB"/>
          </a:p>
        </p:txBody>
      </p:sp>
    </p:spTree>
    <p:extLst>
      <p:ext uri="{BB962C8B-B14F-4D97-AF65-F5344CB8AC3E}">
        <p14:creationId xmlns:p14="http://schemas.microsoft.com/office/powerpoint/2010/main" val="44842876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9E436-3141-903C-3CEA-1E4013DEE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576B65-54E7-94F5-CC3A-63B4E93E79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56319A-E249-2607-C078-E8010B224FE1}"/>
              </a:ext>
            </a:extLst>
          </p:cNvPr>
          <p:cNvSpPr>
            <a:spLocks noGrp="1"/>
          </p:cNvSpPr>
          <p:nvPr>
            <p:ph type="body" idx="1"/>
          </p:nvPr>
        </p:nvSpPr>
        <p:spPr/>
        <p:txBody>
          <a:bodyPr/>
          <a:lstStyle/>
          <a:p>
            <a:r>
              <a:rPr lang="en-GB" dirty="0"/>
              <a:t>Design: Entity</a:t>
            </a:r>
          </a:p>
          <a:p>
            <a:r>
              <a:rPr lang="en-GB" dirty="0"/>
              <a:t>Implementation: Table</a:t>
            </a:r>
          </a:p>
        </p:txBody>
      </p:sp>
      <p:sp>
        <p:nvSpPr>
          <p:cNvPr id="4" name="Slide Number Placeholder 3">
            <a:extLst>
              <a:ext uri="{FF2B5EF4-FFF2-40B4-BE49-F238E27FC236}">
                <a16:creationId xmlns:a16="http://schemas.microsoft.com/office/drawing/2014/main" id="{982340D0-D111-24D8-5C16-3F4C58CFEF49}"/>
              </a:ext>
            </a:extLst>
          </p:cNvPr>
          <p:cNvSpPr>
            <a:spLocks noGrp="1"/>
          </p:cNvSpPr>
          <p:nvPr>
            <p:ph type="sldNum" sz="quarter" idx="5"/>
          </p:nvPr>
        </p:nvSpPr>
        <p:spPr/>
        <p:txBody>
          <a:bodyPr/>
          <a:lstStyle/>
          <a:p>
            <a:fld id="{B71FE5B5-A979-4370-A255-218EAB36A5F4}" type="slidenum">
              <a:rPr lang="en-GB" smtClean="0"/>
              <a:t>80</a:t>
            </a:fld>
            <a:endParaRPr lang="en-GB"/>
          </a:p>
        </p:txBody>
      </p:sp>
    </p:spTree>
    <p:extLst>
      <p:ext uri="{BB962C8B-B14F-4D97-AF65-F5344CB8AC3E}">
        <p14:creationId xmlns:p14="http://schemas.microsoft.com/office/powerpoint/2010/main" val="304927084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644E0-CE40-9277-5479-D72EB7DAE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96A87-4E9B-0C7B-11A8-8765111E82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F2801B-69F5-971F-D773-FBF5E6BDA73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8246519-F14F-A133-6F98-17128F9EF71A}"/>
              </a:ext>
            </a:extLst>
          </p:cNvPr>
          <p:cNvSpPr>
            <a:spLocks noGrp="1"/>
          </p:cNvSpPr>
          <p:nvPr>
            <p:ph type="sldNum" sz="quarter" idx="5"/>
          </p:nvPr>
        </p:nvSpPr>
        <p:spPr/>
        <p:txBody>
          <a:bodyPr/>
          <a:lstStyle/>
          <a:p>
            <a:fld id="{B71FE5B5-A979-4370-A255-218EAB36A5F4}" type="slidenum">
              <a:rPr lang="en-GB" smtClean="0"/>
              <a:t>81</a:t>
            </a:fld>
            <a:endParaRPr lang="en-GB"/>
          </a:p>
        </p:txBody>
      </p:sp>
    </p:spTree>
    <p:extLst>
      <p:ext uri="{BB962C8B-B14F-4D97-AF65-F5344CB8AC3E}">
        <p14:creationId xmlns:p14="http://schemas.microsoft.com/office/powerpoint/2010/main" val="50647855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E441E-618D-2147-406E-578026075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D2D99-14E1-4345-2165-47B4F9180D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2CF8D8-0A7D-B877-99BE-A9219CBDE748}"/>
              </a:ext>
            </a:extLst>
          </p:cNvPr>
          <p:cNvSpPr>
            <a:spLocks noGrp="1"/>
          </p:cNvSpPr>
          <p:nvPr>
            <p:ph type="body" idx="1"/>
          </p:nvPr>
        </p:nvSpPr>
        <p:spPr/>
        <p:txBody>
          <a:bodyPr/>
          <a:lstStyle/>
          <a:p>
            <a:r>
              <a:rPr lang="en-GB" dirty="0"/>
              <a:t>Design: Entity</a:t>
            </a:r>
          </a:p>
          <a:p>
            <a:r>
              <a:rPr lang="en-GB" dirty="0"/>
              <a:t>Implementation: Table</a:t>
            </a:r>
          </a:p>
        </p:txBody>
      </p:sp>
      <p:sp>
        <p:nvSpPr>
          <p:cNvPr id="4" name="Slide Number Placeholder 3">
            <a:extLst>
              <a:ext uri="{FF2B5EF4-FFF2-40B4-BE49-F238E27FC236}">
                <a16:creationId xmlns:a16="http://schemas.microsoft.com/office/drawing/2014/main" id="{3BA3EE15-1494-7096-58BA-0135E56F523D}"/>
              </a:ext>
            </a:extLst>
          </p:cNvPr>
          <p:cNvSpPr>
            <a:spLocks noGrp="1"/>
          </p:cNvSpPr>
          <p:nvPr>
            <p:ph type="sldNum" sz="quarter" idx="5"/>
          </p:nvPr>
        </p:nvSpPr>
        <p:spPr/>
        <p:txBody>
          <a:bodyPr/>
          <a:lstStyle/>
          <a:p>
            <a:fld id="{B71FE5B5-A979-4370-A255-218EAB36A5F4}" type="slidenum">
              <a:rPr lang="en-GB" smtClean="0"/>
              <a:t>82</a:t>
            </a:fld>
            <a:endParaRPr lang="en-GB"/>
          </a:p>
        </p:txBody>
      </p:sp>
    </p:spTree>
    <p:extLst>
      <p:ext uri="{BB962C8B-B14F-4D97-AF65-F5344CB8AC3E}">
        <p14:creationId xmlns:p14="http://schemas.microsoft.com/office/powerpoint/2010/main" val="299430911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83</a:t>
            </a:fld>
            <a:endParaRPr lang="en-GB"/>
          </a:p>
        </p:txBody>
      </p:sp>
    </p:spTree>
    <p:extLst>
      <p:ext uri="{BB962C8B-B14F-4D97-AF65-F5344CB8AC3E}">
        <p14:creationId xmlns:p14="http://schemas.microsoft.com/office/powerpoint/2010/main" val="63382062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Need a second table</a:t>
            </a:r>
          </a:p>
        </p:txBody>
      </p:sp>
      <p:sp>
        <p:nvSpPr>
          <p:cNvPr id="4" name="Slide Number Placeholder 3"/>
          <p:cNvSpPr>
            <a:spLocks noGrp="1"/>
          </p:cNvSpPr>
          <p:nvPr>
            <p:ph type="sldNum" sz="quarter" idx="5"/>
          </p:nvPr>
        </p:nvSpPr>
        <p:spPr/>
        <p:txBody>
          <a:bodyPr/>
          <a:lstStyle/>
          <a:p>
            <a:fld id="{B71FE5B5-A979-4370-A255-218EAB36A5F4}" type="slidenum">
              <a:rPr lang="en-GB" smtClean="0"/>
              <a:t>84</a:t>
            </a:fld>
            <a:endParaRPr lang="en-GB"/>
          </a:p>
        </p:txBody>
      </p:sp>
    </p:spTree>
    <p:extLst>
      <p:ext uri="{BB962C8B-B14F-4D97-AF65-F5344CB8AC3E}">
        <p14:creationId xmlns:p14="http://schemas.microsoft.com/office/powerpoint/2010/main" val="159518536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Design: Entity</a:t>
            </a:r>
          </a:p>
          <a:p>
            <a:r>
              <a:rPr lang="en-GB" dirty="0"/>
              <a:t>Implementation: Table</a:t>
            </a:r>
          </a:p>
        </p:txBody>
      </p:sp>
      <p:sp>
        <p:nvSpPr>
          <p:cNvPr id="4" name="Slide Number Placeholder 3"/>
          <p:cNvSpPr>
            <a:spLocks noGrp="1"/>
          </p:cNvSpPr>
          <p:nvPr>
            <p:ph type="sldNum" sz="quarter" idx="5"/>
          </p:nvPr>
        </p:nvSpPr>
        <p:spPr/>
        <p:txBody>
          <a:bodyPr/>
          <a:lstStyle/>
          <a:p>
            <a:fld id="{B71FE5B5-A979-4370-A255-218EAB36A5F4}" type="slidenum">
              <a:rPr lang="en-GB" smtClean="0"/>
              <a:t>85</a:t>
            </a:fld>
            <a:endParaRPr lang="en-GB"/>
          </a:p>
        </p:txBody>
      </p:sp>
    </p:spTree>
    <p:extLst>
      <p:ext uri="{BB962C8B-B14F-4D97-AF65-F5344CB8AC3E}">
        <p14:creationId xmlns:p14="http://schemas.microsoft.com/office/powerpoint/2010/main" val="145048075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86</a:t>
            </a:fld>
            <a:endParaRPr lang="en-GB"/>
          </a:p>
        </p:txBody>
      </p:sp>
    </p:spTree>
    <p:extLst>
      <p:ext uri="{BB962C8B-B14F-4D97-AF65-F5344CB8AC3E}">
        <p14:creationId xmlns:p14="http://schemas.microsoft.com/office/powerpoint/2010/main" val="342811357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87</a:t>
            </a:fld>
            <a:endParaRPr lang="en-GB"/>
          </a:p>
        </p:txBody>
      </p:sp>
    </p:spTree>
    <p:extLst>
      <p:ext uri="{BB962C8B-B14F-4D97-AF65-F5344CB8AC3E}">
        <p14:creationId xmlns:p14="http://schemas.microsoft.com/office/powerpoint/2010/main" val="287089363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88</a:t>
            </a:fld>
            <a:endParaRPr lang="en-GB"/>
          </a:p>
        </p:txBody>
      </p:sp>
    </p:spTree>
    <p:extLst>
      <p:ext uri="{BB962C8B-B14F-4D97-AF65-F5344CB8AC3E}">
        <p14:creationId xmlns:p14="http://schemas.microsoft.com/office/powerpoint/2010/main" val="300901489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89</a:t>
            </a:fld>
            <a:endParaRPr lang="en-GB"/>
          </a:p>
        </p:txBody>
      </p:sp>
    </p:spTree>
    <p:extLst>
      <p:ext uri="{BB962C8B-B14F-4D97-AF65-F5344CB8AC3E}">
        <p14:creationId xmlns:p14="http://schemas.microsoft.com/office/powerpoint/2010/main" val="58746088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90</a:t>
            </a:fld>
            <a:endParaRPr lang="en-GB"/>
          </a:p>
        </p:txBody>
      </p:sp>
    </p:spTree>
    <p:extLst>
      <p:ext uri="{BB962C8B-B14F-4D97-AF65-F5344CB8AC3E}">
        <p14:creationId xmlns:p14="http://schemas.microsoft.com/office/powerpoint/2010/main" val="397764100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happens in the computer's memory, only the output is displayed.</a:t>
            </a:r>
          </a:p>
        </p:txBody>
      </p:sp>
      <p:sp>
        <p:nvSpPr>
          <p:cNvPr id="4" name="Slide Number Placeholder 3"/>
          <p:cNvSpPr>
            <a:spLocks noGrp="1"/>
          </p:cNvSpPr>
          <p:nvPr>
            <p:ph type="sldNum" sz="quarter" idx="5"/>
          </p:nvPr>
        </p:nvSpPr>
        <p:spPr/>
        <p:txBody>
          <a:bodyPr/>
          <a:lstStyle/>
          <a:p>
            <a:fld id="{B71FE5B5-A979-4370-A255-218EAB36A5F4}" type="slidenum">
              <a:rPr lang="en-GB" smtClean="0"/>
              <a:t>91</a:t>
            </a:fld>
            <a:endParaRPr lang="en-GB"/>
          </a:p>
        </p:txBody>
      </p:sp>
    </p:spTree>
    <p:extLst>
      <p:ext uri="{BB962C8B-B14F-4D97-AF65-F5344CB8AC3E}">
        <p14:creationId xmlns:p14="http://schemas.microsoft.com/office/powerpoint/2010/main" val="163816436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92</a:t>
            </a:fld>
            <a:endParaRPr lang="en-GB"/>
          </a:p>
        </p:txBody>
      </p:sp>
    </p:spTree>
    <p:extLst>
      <p:ext uri="{BB962C8B-B14F-4D97-AF65-F5344CB8AC3E}">
        <p14:creationId xmlns:p14="http://schemas.microsoft.com/office/powerpoint/2010/main" val="285566244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happens in the computer's memory, only the output is displayed.</a:t>
            </a:r>
          </a:p>
        </p:txBody>
      </p:sp>
      <p:sp>
        <p:nvSpPr>
          <p:cNvPr id="4" name="Slide Number Placeholder 3"/>
          <p:cNvSpPr>
            <a:spLocks noGrp="1"/>
          </p:cNvSpPr>
          <p:nvPr>
            <p:ph type="sldNum" sz="quarter" idx="5"/>
          </p:nvPr>
        </p:nvSpPr>
        <p:spPr/>
        <p:txBody>
          <a:bodyPr/>
          <a:lstStyle/>
          <a:p>
            <a:fld id="{B71FE5B5-A979-4370-A255-218EAB36A5F4}" type="slidenum">
              <a:rPr lang="en-GB" smtClean="0"/>
              <a:t>93</a:t>
            </a:fld>
            <a:endParaRPr lang="en-GB"/>
          </a:p>
        </p:txBody>
      </p:sp>
    </p:spTree>
    <p:extLst>
      <p:ext uri="{BB962C8B-B14F-4D97-AF65-F5344CB8AC3E}">
        <p14:creationId xmlns:p14="http://schemas.microsoft.com/office/powerpoint/2010/main" val="31028878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happens in the computer's memory, only the output is displayed.</a:t>
            </a:r>
          </a:p>
        </p:txBody>
      </p:sp>
      <p:sp>
        <p:nvSpPr>
          <p:cNvPr id="4" name="Slide Number Placeholder 3"/>
          <p:cNvSpPr>
            <a:spLocks noGrp="1"/>
          </p:cNvSpPr>
          <p:nvPr>
            <p:ph type="sldNum" sz="quarter" idx="5"/>
          </p:nvPr>
        </p:nvSpPr>
        <p:spPr/>
        <p:txBody>
          <a:bodyPr/>
          <a:lstStyle/>
          <a:p>
            <a:fld id="{B71FE5B5-A979-4370-A255-218EAB36A5F4}" type="slidenum">
              <a:rPr lang="en-GB" smtClean="0"/>
              <a:t>94</a:t>
            </a:fld>
            <a:endParaRPr lang="en-GB"/>
          </a:p>
        </p:txBody>
      </p:sp>
    </p:spTree>
    <p:extLst>
      <p:ext uri="{BB962C8B-B14F-4D97-AF65-F5344CB8AC3E}">
        <p14:creationId xmlns:p14="http://schemas.microsoft.com/office/powerpoint/2010/main" val="18518246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Creates a new record</a:t>
            </a:r>
          </a:p>
        </p:txBody>
      </p:sp>
      <p:sp>
        <p:nvSpPr>
          <p:cNvPr id="4" name="Slide Number Placeholder 3"/>
          <p:cNvSpPr>
            <a:spLocks noGrp="1"/>
          </p:cNvSpPr>
          <p:nvPr>
            <p:ph type="sldNum" sz="quarter" idx="5"/>
          </p:nvPr>
        </p:nvSpPr>
        <p:spPr/>
        <p:txBody>
          <a:bodyPr/>
          <a:lstStyle/>
          <a:p>
            <a:fld id="{B71FE5B5-A979-4370-A255-218EAB36A5F4}" type="slidenum">
              <a:rPr lang="en-GB" smtClean="0"/>
              <a:t>96</a:t>
            </a:fld>
            <a:endParaRPr lang="en-GB"/>
          </a:p>
        </p:txBody>
      </p:sp>
    </p:spTree>
    <p:extLst>
      <p:ext uri="{BB962C8B-B14F-4D97-AF65-F5344CB8AC3E}">
        <p14:creationId xmlns:p14="http://schemas.microsoft.com/office/powerpoint/2010/main" val="387114524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Creates a new record</a:t>
            </a:r>
          </a:p>
        </p:txBody>
      </p:sp>
      <p:sp>
        <p:nvSpPr>
          <p:cNvPr id="4" name="Slide Number Placeholder 3"/>
          <p:cNvSpPr>
            <a:spLocks noGrp="1"/>
          </p:cNvSpPr>
          <p:nvPr>
            <p:ph type="sldNum" sz="quarter" idx="5"/>
          </p:nvPr>
        </p:nvSpPr>
        <p:spPr/>
        <p:txBody>
          <a:bodyPr/>
          <a:lstStyle/>
          <a:p>
            <a:fld id="{B71FE5B5-A979-4370-A255-218EAB36A5F4}" type="slidenum">
              <a:rPr lang="en-GB" smtClean="0"/>
              <a:t>97</a:t>
            </a:fld>
            <a:endParaRPr lang="en-GB"/>
          </a:p>
        </p:txBody>
      </p:sp>
    </p:spTree>
    <p:extLst>
      <p:ext uri="{BB962C8B-B14F-4D97-AF65-F5344CB8AC3E}">
        <p14:creationId xmlns:p14="http://schemas.microsoft.com/office/powerpoint/2010/main" val="321113168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CFD4F-2C29-C2E6-EE63-36FB79AA2C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2DC1EB-A6D5-F3FE-7314-EE204E204C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081254-3759-D07F-A860-ACD3FB4072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Creates a new record</a:t>
            </a:r>
          </a:p>
        </p:txBody>
      </p:sp>
      <p:sp>
        <p:nvSpPr>
          <p:cNvPr id="4" name="Slide Number Placeholder 3">
            <a:extLst>
              <a:ext uri="{FF2B5EF4-FFF2-40B4-BE49-F238E27FC236}">
                <a16:creationId xmlns:a16="http://schemas.microsoft.com/office/drawing/2014/main" id="{8A42AE60-7556-25E8-19B0-E26826DB1102}"/>
              </a:ext>
            </a:extLst>
          </p:cNvPr>
          <p:cNvSpPr>
            <a:spLocks noGrp="1"/>
          </p:cNvSpPr>
          <p:nvPr>
            <p:ph type="sldNum" sz="quarter" idx="5"/>
          </p:nvPr>
        </p:nvSpPr>
        <p:spPr/>
        <p:txBody>
          <a:bodyPr/>
          <a:lstStyle/>
          <a:p>
            <a:fld id="{B71FE5B5-A979-4370-A255-218EAB36A5F4}" type="slidenum">
              <a:rPr lang="en-GB" smtClean="0"/>
              <a:t>98</a:t>
            </a:fld>
            <a:endParaRPr lang="en-GB"/>
          </a:p>
        </p:txBody>
      </p:sp>
    </p:spTree>
    <p:extLst>
      <p:ext uri="{BB962C8B-B14F-4D97-AF65-F5344CB8AC3E}">
        <p14:creationId xmlns:p14="http://schemas.microsoft.com/office/powerpoint/2010/main" val="241794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903E7-D899-FE19-A0CD-BE103B23E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75BECA-AA10-7636-0C9D-22D9E416A8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5464D-B16E-999D-2BE9-E252CB129B7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Creates a new record</a:t>
            </a:r>
          </a:p>
        </p:txBody>
      </p:sp>
      <p:sp>
        <p:nvSpPr>
          <p:cNvPr id="4" name="Slide Number Placeholder 3">
            <a:extLst>
              <a:ext uri="{FF2B5EF4-FFF2-40B4-BE49-F238E27FC236}">
                <a16:creationId xmlns:a16="http://schemas.microsoft.com/office/drawing/2014/main" id="{00C0B06F-30F5-EEDF-FC18-64F498AEC050}"/>
              </a:ext>
            </a:extLst>
          </p:cNvPr>
          <p:cNvSpPr>
            <a:spLocks noGrp="1"/>
          </p:cNvSpPr>
          <p:nvPr>
            <p:ph type="sldNum" sz="quarter" idx="5"/>
          </p:nvPr>
        </p:nvSpPr>
        <p:spPr/>
        <p:txBody>
          <a:bodyPr/>
          <a:lstStyle/>
          <a:p>
            <a:fld id="{B71FE5B5-A979-4370-A255-218EAB36A5F4}" type="slidenum">
              <a:rPr lang="en-GB" smtClean="0"/>
              <a:t>99</a:t>
            </a:fld>
            <a:endParaRPr lang="en-GB"/>
          </a:p>
        </p:txBody>
      </p:sp>
    </p:spTree>
    <p:extLst>
      <p:ext uri="{BB962C8B-B14F-4D97-AF65-F5344CB8AC3E}">
        <p14:creationId xmlns:p14="http://schemas.microsoft.com/office/powerpoint/2010/main" val="353696214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297AD-EAF9-B99B-916C-206BB3A24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8FE4F-250C-658C-56AD-CB4783FDB1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EC1BBF-7770-A4F6-17EA-1D8A95BD58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Creates two new records</a:t>
            </a:r>
          </a:p>
        </p:txBody>
      </p:sp>
      <p:sp>
        <p:nvSpPr>
          <p:cNvPr id="4" name="Slide Number Placeholder 3">
            <a:extLst>
              <a:ext uri="{FF2B5EF4-FFF2-40B4-BE49-F238E27FC236}">
                <a16:creationId xmlns:a16="http://schemas.microsoft.com/office/drawing/2014/main" id="{C05ABB3D-FA2C-7914-AD04-E07494E9884B}"/>
              </a:ext>
            </a:extLst>
          </p:cNvPr>
          <p:cNvSpPr>
            <a:spLocks noGrp="1"/>
          </p:cNvSpPr>
          <p:nvPr>
            <p:ph type="sldNum" sz="quarter" idx="5"/>
          </p:nvPr>
        </p:nvSpPr>
        <p:spPr/>
        <p:txBody>
          <a:bodyPr/>
          <a:lstStyle/>
          <a:p>
            <a:fld id="{B71FE5B5-A979-4370-A255-218EAB36A5F4}" type="slidenum">
              <a:rPr lang="en-GB" smtClean="0"/>
              <a:t>100</a:t>
            </a:fld>
            <a:endParaRPr lang="en-GB"/>
          </a:p>
        </p:txBody>
      </p:sp>
    </p:spTree>
    <p:extLst>
      <p:ext uri="{BB962C8B-B14F-4D97-AF65-F5344CB8AC3E}">
        <p14:creationId xmlns:p14="http://schemas.microsoft.com/office/powerpoint/2010/main" val="231586222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6BD71-684B-EE80-720E-CCF88B1DF6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60CA92-120C-F0D3-40C6-49E97CE40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1E749D-DBAA-0A5B-026E-89FC701152D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Creates two new records</a:t>
            </a:r>
          </a:p>
        </p:txBody>
      </p:sp>
      <p:sp>
        <p:nvSpPr>
          <p:cNvPr id="4" name="Slide Number Placeholder 3">
            <a:extLst>
              <a:ext uri="{FF2B5EF4-FFF2-40B4-BE49-F238E27FC236}">
                <a16:creationId xmlns:a16="http://schemas.microsoft.com/office/drawing/2014/main" id="{4A954D5B-A84B-701F-3069-8D8309E380AF}"/>
              </a:ext>
            </a:extLst>
          </p:cNvPr>
          <p:cNvSpPr>
            <a:spLocks noGrp="1"/>
          </p:cNvSpPr>
          <p:nvPr>
            <p:ph type="sldNum" sz="quarter" idx="5"/>
          </p:nvPr>
        </p:nvSpPr>
        <p:spPr/>
        <p:txBody>
          <a:bodyPr/>
          <a:lstStyle/>
          <a:p>
            <a:fld id="{B71FE5B5-A979-4370-A255-218EAB36A5F4}" type="slidenum">
              <a:rPr lang="en-GB" smtClean="0"/>
              <a:t>101</a:t>
            </a:fld>
            <a:endParaRPr lang="en-GB"/>
          </a:p>
        </p:txBody>
      </p:sp>
    </p:spTree>
    <p:extLst>
      <p:ext uri="{BB962C8B-B14F-4D97-AF65-F5344CB8AC3E}">
        <p14:creationId xmlns:p14="http://schemas.microsoft.com/office/powerpoint/2010/main" val="322788433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Creates a </a:t>
            </a:r>
            <a:r>
              <a:rPr lang="en-GB"/>
              <a:t>new record</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102</a:t>
            </a:fld>
            <a:endParaRPr lang="en-GB"/>
          </a:p>
        </p:txBody>
      </p:sp>
    </p:spTree>
    <p:extLst>
      <p:ext uri="{BB962C8B-B14F-4D97-AF65-F5344CB8AC3E}">
        <p14:creationId xmlns:p14="http://schemas.microsoft.com/office/powerpoint/2010/main" val="294628056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Creates a </a:t>
            </a:r>
            <a:r>
              <a:rPr lang="en-GB"/>
              <a:t>new record</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103</a:t>
            </a:fld>
            <a:endParaRPr lang="en-GB"/>
          </a:p>
        </p:txBody>
      </p:sp>
    </p:spTree>
    <p:extLst>
      <p:ext uri="{BB962C8B-B14F-4D97-AF65-F5344CB8AC3E}">
        <p14:creationId xmlns:p14="http://schemas.microsoft.com/office/powerpoint/2010/main" val="112891843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Creates a new record</a:t>
            </a:r>
          </a:p>
        </p:txBody>
      </p:sp>
      <p:sp>
        <p:nvSpPr>
          <p:cNvPr id="4" name="Slide Number Placeholder 3"/>
          <p:cNvSpPr>
            <a:spLocks noGrp="1"/>
          </p:cNvSpPr>
          <p:nvPr>
            <p:ph type="sldNum" sz="quarter" idx="5"/>
          </p:nvPr>
        </p:nvSpPr>
        <p:spPr/>
        <p:txBody>
          <a:bodyPr/>
          <a:lstStyle/>
          <a:p>
            <a:fld id="{B71FE5B5-A979-4370-A255-218EAB36A5F4}" type="slidenum">
              <a:rPr lang="en-GB" smtClean="0"/>
              <a:t>104</a:t>
            </a:fld>
            <a:endParaRPr lang="en-GB"/>
          </a:p>
        </p:txBody>
      </p:sp>
    </p:spTree>
    <p:extLst>
      <p:ext uri="{BB962C8B-B14F-4D97-AF65-F5344CB8AC3E}">
        <p14:creationId xmlns:p14="http://schemas.microsoft.com/office/powerpoint/2010/main" val="261431592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105</a:t>
            </a:fld>
            <a:endParaRPr lang="en-GB"/>
          </a:p>
        </p:txBody>
      </p:sp>
    </p:spTree>
    <p:extLst>
      <p:ext uri="{BB962C8B-B14F-4D97-AF65-F5344CB8AC3E}">
        <p14:creationId xmlns:p14="http://schemas.microsoft.com/office/powerpoint/2010/main" val="317050914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Tip: Create a SELECT statement first with the same WHERE condition to see what will be updated.</a:t>
            </a:r>
          </a:p>
        </p:txBody>
      </p:sp>
      <p:sp>
        <p:nvSpPr>
          <p:cNvPr id="4" name="Slide Number Placeholder 3"/>
          <p:cNvSpPr>
            <a:spLocks noGrp="1"/>
          </p:cNvSpPr>
          <p:nvPr>
            <p:ph type="sldNum" sz="quarter" idx="5"/>
          </p:nvPr>
        </p:nvSpPr>
        <p:spPr/>
        <p:txBody>
          <a:bodyPr/>
          <a:lstStyle/>
          <a:p>
            <a:fld id="{B71FE5B5-A979-4370-A255-218EAB36A5F4}" type="slidenum">
              <a:rPr lang="en-GB" smtClean="0"/>
              <a:t>107</a:t>
            </a:fld>
            <a:endParaRPr lang="en-GB"/>
          </a:p>
        </p:txBody>
      </p:sp>
    </p:spTree>
    <p:extLst>
      <p:ext uri="{BB962C8B-B14F-4D97-AF65-F5344CB8AC3E}">
        <p14:creationId xmlns:p14="http://schemas.microsoft.com/office/powerpoint/2010/main" val="360063884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108</a:t>
            </a:fld>
            <a:endParaRPr lang="en-GB"/>
          </a:p>
        </p:txBody>
      </p:sp>
    </p:spTree>
    <p:extLst>
      <p:ext uri="{BB962C8B-B14F-4D97-AF65-F5344CB8AC3E}">
        <p14:creationId xmlns:p14="http://schemas.microsoft.com/office/powerpoint/2010/main" val="37827469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Tip: Create a SELECT statement first with the same WHERE condition to see what will be updated.</a:t>
            </a:r>
          </a:p>
        </p:txBody>
      </p:sp>
      <p:sp>
        <p:nvSpPr>
          <p:cNvPr id="4" name="Slide Number Placeholder 3"/>
          <p:cNvSpPr>
            <a:spLocks noGrp="1"/>
          </p:cNvSpPr>
          <p:nvPr>
            <p:ph type="sldNum" sz="quarter" idx="5"/>
          </p:nvPr>
        </p:nvSpPr>
        <p:spPr/>
        <p:txBody>
          <a:bodyPr/>
          <a:lstStyle/>
          <a:p>
            <a:fld id="{B71FE5B5-A979-4370-A255-218EAB36A5F4}" type="slidenum">
              <a:rPr lang="en-GB" smtClean="0"/>
              <a:t>111</a:t>
            </a:fld>
            <a:endParaRPr lang="en-GB"/>
          </a:p>
        </p:txBody>
      </p:sp>
    </p:spTree>
    <p:extLst>
      <p:ext uri="{BB962C8B-B14F-4D97-AF65-F5344CB8AC3E}">
        <p14:creationId xmlns:p14="http://schemas.microsoft.com/office/powerpoint/2010/main" val="268921233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112</a:t>
            </a:fld>
            <a:endParaRPr lang="en-GB"/>
          </a:p>
        </p:txBody>
      </p:sp>
    </p:spTree>
    <p:extLst>
      <p:ext uri="{BB962C8B-B14F-4D97-AF65-F5344CB8AC3E}">
        <p14:creationId xmlns:p14="http://schemas.microsoft.com/office/powerpoint/2010/main" val="237428817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Tip: Create a SELECT statement first with the same WHERE condition to see what will be deleted.</a:t>
            </a:r>
          </a:p>
        </p:txBody>
      </p:sp>
      <p:sp>
        <p:nvSpPr>
          <p:cNvPr id="4" name="Slide Number Placeholder 3"/>
          <p:cNvSpPr>
            <a:spLocks noGrp="1"/>
          </p:cNvSpPr>
          <p:nvPr>
            <p:ph type="sldNum" sz="quarter" idx="5"/>
          </p:nvPr>
        </p:nvSpPr>
        <p:spPr/>
        <p:txBody>
          <a:bodyPr/>
          <a:lstStyle/>
          <a:p>
            <a:fld id="{B71FE5B5-A979-4370-A255-218EAB36A5F4}" type="slidenum">
              <a:rPr lang="en-GB" smtClean="0"/>
              <a:t>114</a:t>
            </a:fld>
            <a:endParaRPr lang="en-GB"/>
          </a:p>
        </p:txBody>
      </p:sp>
    </p:spTree>
    <p:extLst>
      <p:ext uri="{BB962C8B-B14F-4D97-AF65-F5344CB8AC3E}">
        <p14:creationId xmlns:p14="http://schemas.microsoft.com/office/powerpoint/2010/main" val="234129232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115</a:t>
            </a:fld>
            <a:endParaRPr lang="en-GB"/>
          </a:p>
        </p:txBody>
      </p:sp>
    </p:spTree>
    <p:extLst>
      <p:ext uri="{BB962C8B-B14F-4D97-AF65-F5344CB8AC3E}">
        <p14:creationId xmlns:p14="http://schemas.microsoft.com/office/powerpoint/2010/main" val="243371605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118</a:t>
            </a:fld>
            <a:endParaRPr lang="en-GB"/>
          </a:p>
        </p:txBody>
      </p:sp>
    </p:spTree>
    <p:extLst>
      <p:ext uri="{BB962C8B-B14F-4D97-AF65-F5344CB8AC3E}">
        <p14:creationId xmlns:p14="http://schemas.microsoft.com/office/powerpoint/2010/main" val="53753759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120</a:t>
            </a:fld>
            <a:endParaRPr lang="en-GB"/>
          </a:p>
        </p:txBody>
      </p:sp>
    </p:spTree>
    <p:extLst>
      <p:ext uri="{BB962C8B-B14F-4D97-AF65-F5344CB8AC3E}">
        <p14:creationId xmlns:p14="http://schemas.microsoft.com/office/powerpoint/2010/main" val="12948457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cs typeface="Calibri"/>
              </a:rPr>
              <a:t>Prelim 1: part way through DDD</a:t>
            </a:r>
            <a:endParaRPr lang="en-GB" dirty="0"/>
          </a:p>
        </p:txBody>
      </p:sp>
      <p:sp>
        <p:nvSpPr>
          <p:cNvPr id="4" name="Slide Number Placeholder 3"/>
          <p:cNvSpPr>
            <a:spLocks noGrp="1"/>
          </p:cNvSpPr>
          <p:nvPr>
            <p:ph type="sldNum" sz="quarter" idx="10"/>
          </p:nvPr>
        </p:nvSpPr>
        <p:spPr/>
        <p:txBody>
          <a:bodyPr/>
          <a:lstStyle/>
          <a:p>
            <a:fld id="{B71FE5B5-A979-4370-A255-218EAB36A5F4}" type="slidenum">
              <a:rPr lang="en-GB" smtClean="0"/>
              <a:t>121</a:t>
            </a:fld>
            <a:endParaRPr lang="en-GB"/>
          </a:p>
        </p:txBody>
      </p:sp>
    </p:spTree>
    <p:extLst>
      <p:ext uri="{BB962C8B-B14F-4D97-AF65-F5344CB8AC3E}">
        <p14:creationId xmlns:p14="http://schemas.microsoft.com/office/powerpoint/2010/main" val="332801125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Hide as appropriate</a:t>
            </a:r>
            <a:endParaRPr lang="en-GB" dirty="0">
              <a:cs typeface="Calibri"/>
            </a:endParaRPr>
          </a:p>
        </p:txBody>
      </p:sp>
      <p:sp>
        <p:nvSpPr>
          <p:cNvPr id="4" name="Slide Number Placeholder 3"/>
          <p:cNvSpPr>
            <a:spLocks noGrp="1"/>
          </p:cNvSpPr>
          <p:nvPr>
            <p:ph type="sldNum" sz="quarter" idx="5"/>
          </p:nvPr>
        </p:nvSpPr>
        <p:spPr/>
        <p:txBody>
          <a:bodyPr/>
          <a:lstStyle/>
          <a:p>
            <a:fld id="{B71FE5B5-A979-4370-A255-218EAB36A5F4}" type="slidenum">
              <a:rPr lang="en-GB" smtClean="0"/>
              <a:t>122</a:t>
            </a:fld>
            <a:endParaRPr lang="en-GB"/>
          </a:p>
        </p:txBody>
      </p:sp>
    </p:spTree>
    <p:extLst>
      <p:ext uri="{BB962C8B-B14F-4D97-AF65-F5344CB8AC3E}">
        <p14:creationId xmlns:p14="http://schemas.microsoft.com/office/powerpoint/2010/main" val="252841154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DDD: 0-5, 0-5</a:t>
            </a:r>
            <a:r>
              <a:rPr lang="en-GB"/>
              <a:t>, 7-9, </a:t>
            </a:r>
            <a:r>
              <a:rPr lang="en-GB" dirty="0"/>
              <a:t>0-5, 0-5</a:t>
            </a:r>
          </a:p>
        </p:txBody>
      </p:sp>
      <p:sp>
        <p:nvSpPr>
          <p:cNvPr id="4" name="Slide Number Placeholder 3"/>
          <p:cNvSpPr>
            <a:spLocks noGrp="1"/>
          </p:cNvSpPr>
          <p:nvPr>
            <p:ph type="sldNum" sz="quarter" idx="5"/>
          </p:nvPr>
        </p:nvSpPr>
        <p:spPr/>
        <p:txBody>
          <a:bodyPr/>
          <a:lstStyle/>
          <a:p>
            <a:fld id="{B71FE5B5-A979-4370-A255-218EAB36A5F4}" type="slidenum">
              <a:rPr lang="en-GB" smtClean="0"/>
              <a:t>123</a:t>
            </a:fld>
            <a:endParaRPr lang="en-GB"/>
          </a:p>
        </p:txBody>
      </p:sp>
    </p:spTree>
    <p:extLst>
      <p:ext uri="{BB962C8B-B14F-4D97-AF65-F5344CB8AC3E}">
        <p14:creationId xmlns:p14="http://schemas.microsoft.com/office/powerpoint/2010/main" val="261293514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2018 Spec Q3    2019 Q14(d)</a:t>
            </a:r>
          </a:p>
        </p:txBody>
      </p:sp>
      <p:sp>
        <p:nvSpPr>
          <p:cNvPr id="4" name="Slide Number Placeholder 3"/>
          <p:cNvSpPr>
            <a:spLocks noGrp="1"/>
          </p:cNvSpPr>
          <p:nvPr>
            <p:ph type="sldNum" sz="quarter" idx="10"/>
          </p:nvPr>
        </p:nvSpPr>
        <p:spPr/>
        <p:txBody>
          <a:bodyPr/>
          <a:lstStyle/>
          <a:p>
            <a:fld id="{265FC814-8CAE-44D9-AECE-C1B52634DDCB}" type="slidenum">
              <a:rPr lang="en-GB" smtClean="0"/>
              <a:t>124</a:t>
            </a:fld>
            <a:endParaRPr lang="en-GB"/>
          </a:p>
        </p:txBody>
      </p:sp>
    </p:spTree>
    <p:extLst>
      <p:ext uri="{BB962C8B-B14F-4D97-AF65-F5344CB8AC3E}">
        <p14:creationId xmlns:p14="http://schemas.microsoft.com/office/powerpoint/2010/main" val="118343846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GDPR (0-17:36): https://www.youtube.com/embed/gBJXfayW40M?start=0&amp;end=1056</a:t>
            </a:r>
          </a:p>
          <a:p>
            <a:endParaRPr lang="en-GB" dirty="0"/>
          </a:p>
          <a:p>
            <a:r>
              <a:rPr lang="en-GB" dirty="0"/>
              <a:t>https://www.youtube.com/watch?v=gBJXfayW40M</a:t>
            </a:r>
          </a:p>
        </p:txBody>
      </p:sp>
      <p:sp>
        <p:nvSpPr>
          <p:cNvPr id="4" name="Slide Number Placeholder 3"/>
          <p:cNvSpPr>
            <a:spLocks noGrp="1"/>
          </p:cNvSpPr>
          <p:nvPr>
            <p:ph type="sldNum" sz="quarter" idx="5"/>
          </p:nvPr>
        </p:nvSpPr>
        <p:spPr/>
        <p:txBody>
          <a:bodyPr/>
          <a:lstStyle/>
          <a:p>
            <a:fld id="{B71FE5B5-A979-4370-A255-218EAB36A5F4}" type="slidenum">
              <a:rPr lang="en-GB" smtClean="0"/>
              <a:t>125</a:t>
            </a:fld>
            <a:endParaRPr lang="en-GB"/>
          </a:p>
        </p:txBody>
      </p:sp>
    </p:spTree>
    <p:extLst>
      <p:ext uri="{BB962C8B-B14F-4D97-AF65-F5344CB8AC3E}">
        <p14:creationId xmlns:p14="http://schemas.microsoft.com/office/powerpoint/2010/main" val="176216799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SQA </a:t>
            </a:r>
            <a:r>
              <a:rPr lang="en-GB" b="0" i="0" dirty="0">
                <a:solidFill>
                  <a:srgbClr val="000000"/>
                </a:solidFill>
                <a:effectLst/>
                <a:latin typeface="Helvetica Neue"/>
              </a:rPr>
              <a:t>Privacy Statement: </a:t>
            </a:r>
            <a:r>
              <a:rPr lang="en-GB" b="0" dirty="0"/>
              <a:t>https://www.sqa.org.uk/sqa/97458.html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Facebook Data Policy: https://en-gb.facebook.com/privacy/explanation/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Enforcement: https://www.enforcementtracker.com/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err="1"/>
              <a:t>ICO</a:t>
            </a:r>
            <a:r>
              <a:rPr lang="en-GB" b="0" dirty="0"/>
              <a:t>: https://ico.org.uk/for-organisations/uk-gdpr-guidance-and-resources/data-protection-principles/a-guide-to-the-data-protection-principles/</a:t>
            </a:r>
          </a:p>
        </p:txBody>
      </p:sp>
      <p:sp>
        <p:nvSpPr>
          <p:cNvPr id="4" name="Slide Number Placeholder 3"/>
          <p:cNvSpPr>
            <a:spLocks noGrp="1"/>
          </p:cNvSpPr>
          <p:nvPr>
            <p:ph type="sldNum" sz="quarter" idx="5"/>
          </p:nvPr>
        </p:nvSpPr>
        <p:spPr/>
        <p:txBody>
          <a:bodyPr/>
          <a:lstStyle/>
          <a:p>
            <a:fld id="{B71FE5B5-A979-4370-A255-218EAB36A5F4}" type="slidenum">
              <a:rPr lang="en-GB" smtClean="0"/>
              <a:t>132</a:t>
            </a:fld>
            <a:endParaRPr lang="en-GB"/>
          </a:p>
        </p:txBody>
      </p:sp>
    </p:spTree>
    <p:extLst>
      <p:ext uri="{BB962C8B-B14F-4D97-AF65-F5344CB8AC3E}">
        <p14:creationId xmlns:p14="http://schemas.microsoft.com/office/powerpoint/2010/main" val="114411133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b="0" dirty="0"/>
          </a:p>
        </p:txBody>
      </p:sp>
      <p:sp>
        <p:nvSpPr>
          <p:cNvPr id="4" name="Slide Number Placeholder 3"/>
          <p:cNvSpPr>
            <a:spLocks noGrp="1"/>
          </p:cNvSpPr>
          <p:nvPr>
            <p:ph type="sldNum" sz="quarter" idx="5"/>
          </p:nvPr>
        </p:nvSpPr>
        <p:spPr/>
        <p:txBody>
          <a:bodyPr/>
          <a:lstStyle/>
          <a:p>
            <a:fld id="{B71FE5B5-A979-4370-A255-218EAB36A5F4}" type="slidenum">
              <a:rPr lang="en-GB" smtClean="0"/>
              <a:t>133</a:t>
            </a:fld>
            <a:endParaRPr lang="en-GB"/>
          </a:p>
        </p:txBody>
      </p:sp>
    </p:spTree>
    <p:extLst>
      <p:ext uri="{BB962C8B-B14F-4D97-AF65-F5344CB8AC3E}">
        <p14:creationId xmlns:p14="http://schemas.microsoft.com/office/powerpoint/2010/main" val="339771702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End-user: https://www.bbc.co.uk/bitesize/guides/zg8gpbk/revision/1</a:t>
            </a:r>
          </a:p>
          <a:p>
            <a:r>
              <a:rPr lang="en-GB" dirty="0"/>
              <a:t>Functional: https://www.bbc.co.uk/bitesize/guides/zg8gpbk/revision/2</a:t>
            </a:r>
          </a:p>
        </p:txBody>
      </p:sp>
      <p:sp>
        <p:nvSpPr>
          <p:cNvPr id="4" name="Slide Number Placeholder 3"/>
          <p:cNvSpPr>
            <a:spLocks noGrp="1"/>
          </p:cNvSpPr>
          <p:nvPr>
            <p:ph type="sldNum" sz="quarter" idx="5"/>
          </p:nvPr>
        </p:nvSpPr>
        <p:spPr/>
        <p:txBody>
          <a:bodyPr/>
          <a:lstStyle/>
          <a:p>
            <a:fld id="{B71FE5B5-A979-4370-A255-218EAB36A5F4}" type="slidenum">
              <a:rPr lang="en-GB" smtClean="0"/>
              <a:t>135</a:t>
            </a:fld>
            <a:endParaRPr lang="en-GB"/>
          </a:p>
        </p:txBody>
      </p:sp>
    </p:spTree>
    <p:extLst>
      <p:ext uri="{BB962C8B-B14F-4D97-AF65-F5344CB8AC3E}">
        <p14:creationId xmlns:p14="http://schemas.microsoft.com/office/powerpoint/2010/main" val="45777556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136</a:t>
            </a:fld>
            <a:endParaRPr lang="en-GB"/>
          </a:p>
        </p:txBody>
      </p:sp>
    </p:spTree>
    <p:extLst>
      <p:ext uri="{BB962C8B-B14F-4D97-AF65-F5344CB8AC3E}">
        <p14:creationId xmlns:p14="http://schemas.microsoft.com/office/powerpoint/2010/main" val="103990354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137</a:t>
            </a:fld>
            <a:endParaRPr lang="en-GB"/>
          </a:p>
        </p:txBody>
      </p:sp>
    </p:spTree>
    <p:extLst>
      <p:ext uri="{BB962C8B-B14F-4D97-AF65-F5344CB8AC3E}">
        <p14:creationId xmlns:p14="http://schemas.microsoft.com/office/powerpoint/2010/main" val="409315681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138</a:t>
            </a:fld>
            <a:endParaRPr lang="en-GB"/>
          </a:p>
        </p:txBody>
      </p:sp>
    </p:spTree>
    <p:extLst>
      <p:ext uri="{BB962C8B-B14F-4D97-AF65-F5344CB8AC3E}">
        <p14:creationId xmlns:p14="http://schemas.microsoft.com/office/powerpoint/2010/main" val="243436326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Each</a:t>
            </a:r>
            <a:r>
              <a:rPr lang="en-GB" baseline="0" dirty="0"/>
              <a:t> field has a datatype.</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142</a:t>
            </a:fld>
            <a:endParaRPr lang="en-GB"/>
          </a:p>
        </p:txBody>
      </p:sp>
    </p:spTree>
    <p:extLst>
      <p:ext uri="{BB962C8B-B14F-4D97-AF65-F5344CB8AC3E}">
        <p14:creationId xmlns:p14="http://schemas.microsoft.com/office/powerpoint/2010/main" val="96884875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143</a:t>
            </a:fld>
            <a:endParaRPr lang="en-GB"/>
          </a:p>
        </p:txBody>
      </p:sp>
    </p:spTree>
    <p:extLst>
      <p:ext uri="{BB962C8B-B14F-4D97-AF65-F5344CB8AC3E}">
        <p14:creationId xmlns:p14="http://schemas.microsoft.com/office/powerpoint/2010/main" val="159354618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144</a:t>
            </a:fld>
            <a:endParaRPr lang="en-GB"/>
          </a:p>
        </p:txBody>
      </p:sp>
    </p:spTree>
    <p:extLst>
      <p:ext uri="{BB962C8B-B14F-4D97-AF65-F5344CB8AC3E}">
        <p14:creationId xmlns:p14="http://schemas.microsoft.com/office/powerpoint/2010/main" val="363784854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145</a:t>
            </a:fld>
            <a:endParaRPr lang="en-GB"/>
          </a:p>
        </p:txBody>
      </p:sp>
    </p:spTree>
    <p:extLst>
      <p:ext uri="{BB962C8B-B14F-4D97-AF65-F5344CB8AC3E}">
        <p14:creationId xmlns:p14="http://schemas.microsoft.com/office/powerpoint/2010/main" val="144544124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146</a:t>
            </a:fld>
            <a:endParaRPr lang="en-GB"/>
          </a:p>
        </p:txBody>
      </p:sp>
    </p:spTree>
    <p:extLst>
      <p:ext uri="{BB962C8B-B14F-4D97-AF65-F5344CB8AC3E}">
        <p14:creationId xmlns:p14="http://schemas.microsoft.com/office/powerpoint/2010/main" val="4265791776"/>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147</a:t>
            </a:fld>
            <a:endParaRPr lang="en-GB"/>
          </a:p>
        </p:txBody>
      </p:sp>
    </p:spTree>
    <p:extLst>
      <p:ext uri="{BB962C8B-B14F-4D97-AF65-F5344CB8AC3E}">
        <p14:creationId xmlns:p14="http://schemas.microsoft.com/office/powerpoint/2010/main" val="425180046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148</a:t>
            </a:fld>
            <a:endParaRPr lang="en-GB"/>
          </a:p>
        </p:txBody>
      </p:sp>
    </p:spTree>
    <p:extLst>
      <p:ext uri="{BB962C8B-B14F-4D97-AF65-F5344CB8AC3E}">
        <p14:creationId xmlns:p14="http://schemas.microsoft.com/office/powerpoint/2010/main" val="1000160223"/>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149</a:t>
            </a:fld>
            <a:endParaRPr lang="en-GB"/>
          </a:p>
        </p:txBody>
      </p:sp>
    </p:spTree>
    <p:extLst>
      <p:ext uri="{BB962C8B-B14F-4D97-AF65-F5344CB8AC3E}">
        <p14:creationId xmlns:p14="http://schemas.microsoft.com/office/powerpoint/2010/main" val="11363048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https://support.microsoft.com/en-gb/office/database-design-basics-eb2159cf-1e30-401a-8084-bd4f9c9ca1f5</a:t>
            </a:r>
          </a:p>
        </p:txBody>
      </p:sp>
      <p:sp>
        <p:nvSpPr>
          <p:cNvPr id="4" name="Slide Number Placeholder 3"/>
          <p:cNvSpPr>
            <a:spLocks noGrp="1"/>
          </p:cNvSpPr>
          <p:nvPr>
            <p:ph type="sldNum" sz="quarter" idx="5"/>
          </p:nvPr>
        </p:nvSpPr>
        <p:spPr/>
        <p:txBody>
          <a:bodyPr/>
          <a:lstStyle/>
          <a:p>
            <a:fld id="{B71FE5B5-A979-4370-A255-218EAB36A5F4}" type="slidenum">
              <a:rPr lang="en-GB" smtClean="0"/>
              <a:t>150</a:t>
            </a:fld>
            <a:endParaRPr lang="en-GB"/>
          </a:p>
        </p:txBody>
      </p:sp>
    </p:spTree>
    <p:extLst>
      <p:ext uri="{BB962C8B-B14F-4D97-AF65-F5344CB8AC3E}">
        <p14:creationId xmlns:p14="http://schemas.microsoft.com/office/powerpoint/2010/main" val="559352785"/>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151</a:t>
            </a:fld>
            <a:endParaRPr lang="en-GB"/>
          </a:p>
        </p:txBody>
      </p:sp>
    </p:spTree>
    <p:extLst>
      <p:ext uri="{BB962C8B-B14F-4D97-AF65-F5344CB8AC3E}">
        <p14:creationId xmlns:p14="http://schemas.microsoft.com/office/powerpoint/2010/main" val="357379686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More like the layout in MS Access</a:t>
            </a:r>
          </a:p>
        </p:txBody>
      </p:sp>
      <p:sp>
        <p:nvSpPr>
          <p:cNvPr id="4" name="Slide Number Placeholder 3"/>
          <p:cNvSpPr>
            <a:spLocks noGrp="1"/>
          </p:cNvSpPr>
          <p:nvPr>
            <p:ph type="sldNum" sz="quarter" idx="5"/>
          </p:nvPr>
        </p:nvSpPr>
        <p:spPr/>
        <p:txBody>
          <a:bodyPr/>
          <a:lstStyle/>
          <a:p>
            <a:fld id="{B71FE5B5-A979-4370-A255-218EAB36A5F4}" type="slidenum">
              <a:rPr lang="en-GB" smtClean="0"/>
              <a:t>153</a:t>
            </a:fld>
            <a:endParaRPr lang="en-GB"/>
          </a:p>
        </p:txBody>
      </p:sp>
    </p:spTree>
    <p:extLst>
      <p:ext uri="{BB962C8B-B14F-4D97-AF65-F5344CB8AC3E}">
        <p14:creationId xmlns:p14="http://schemas.microsoft.com/office/powerpoint/2010/main" val="268023088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154</a:t>
            </a:fld>
            <a:endParaRPr lang="en-GB"/>
          </a:p>
        </p:txBody>
      </p:sp>
    </p:spTree>
    <p:extLst>
      <p:ext uri="{BB962C8B-B14F-4D97-AF65-F5344CB8AC3E}">
        <p14:creationId xmlns:p14="http://schemas.microsoft.com/office/powerpoint/2010/main" val="20638327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More like the layout in MS Access</a:t>
            </a:r>
          </a:p>
        </p:txBody>
      </p:sp>
      <p:sp>
        <p:nvSpPr>
          <p:cNvPr id="4" name="Slide Number Placeholder 3"/>
          <p:cNvSpPr>
            <a:spLocks noGrp="1"/>
          </p:cNvSpPr>
          <p:nvPr>
            <p:ph type="sldNum" sz="quarter" idx="5"/>
          </p:nvPr>
        </p:nvSpPr>
        <p:spPr/>
        <p:txBody>
          <a:bodyPr/>
          <a:lstStyle/>
          <a:p>
            <a:fld id="{B71FE5B5-A979-4370-A255-218EAB36A5F4}" type="slidenum">
              <a:rPr lang="en-GB" smtClean="0"/>
              <a:t>155</a:t>
            </a:fld>
            <a:endParaRPr lang="en-GB"/>
          </a:p>
        </p:txBody>
      </p:sp>
    </p:spTree>
    <p:extLst>
      <p:ext uri="{BB962C8B-B14F-4D97-AF65-F5344CB8AC3E}">
        <p14:creationId xmlns:p14="http://schemas.microsoft.com/office/powerpoint/2010/main" val="112512704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156</a:t>
            </a:fld>
            <a:endParaRPr lang="en-GB"/>
          </a:p>
        </p:txBody>
      </p:sp>
    </p:spTree>
    <p:extLst>
      <p:ext uri="{BB962C8B-B14F-4D97-AF65-F5344CB8AC3E}">
        <p14:creationId xmlns:p14="http://schemas.microsoft.com/office/powerpoint/2010/main" val="195316339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More like the layout in MS Access</a:t>
            </a:r>
          </a:p>
        </p:txBody>
      </p:sp>
      <p:sp>
        <p:nvSpPr>
          <p:cNvPr id="4" name="Slide Number Placeholder 3"/>
          <p:cNvSpPr>
            <a:spLocks noGrp="1"/>
          </p:cNvSpPr>
          <p:nvPr>
            <p:ph type="sldNum" sz="quarter" idx="5"/>
          </p:nvPr>
        </p:nvSpPr>
        <p:spPr/>
        <p:txBody>
          <a:bodyPr/>
          <a:lstStyle/>
          <a:p>
            <a:fld id="{B71FE5B5-A979-4370-A255-218EAB36A5F4}" type="slidenum">
              <a:rPr lang="en-GB" smtClean="0"/>
              <a:t>157</a:t>
            </a:fld>
            <a:endParaRPr lang="en-GB"/>
          </a:p>
        </p:txBody>
      </p:sp>
    </p:spTree>
    <p:extLst>
      <p:ext uri="{BB962C8B-B14F-4D97-AF65-F5344CB8AC3E}">
        <p14:creationId xmlns:p14="http://schemas.microsoft.com/office/powerpoint/2010/main" val="1967756829"/>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158</a:t>
            </a:fld>
            <a:endParaRPr lang="en-GB"/>
          </a:p>
        </p:txBody>
      </p:sp>
    </p:spTree>
    <p:extLst>
      <p:ext uri="{BB962C8B-B14F-4D97-AF65-F5344CB8AC3E}">
        <p14:creationId xmlns:p14="http://schemas.microsoft.com/office/powerpoint/2010/main" val="3439857080"/>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Shows entities, relationship, cardinality, attributes, and keys</a:t>
            </a:r>
          </a:p>
          <a:p>
            <a:r>
              <a:rPr lang="en-GB" dirty="0"/>
              <a:t>Entity (Design) / Table (Implementation)</a:t>
            </a:r>
          </a:p>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159</a:t>
            </a:fld>
            <a:endParaRPr lang="en-GB"/>
          </a:p>
        </p:txBody>
      </p:sp>
    </p:spTree>
    <p:extLst>
      <p:ext uri="{BB962C8B-B14F-4D97-AF65-F5344CB8AC3E}">
        <p14:creationId xmlns:p14="http://schemas.microsoft.com/office/powerpoint/2010/main" val="2034855199"/>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Shows entities, relationship, cardinality, attributes, and keys</a:t>
            </a:r>
          </a:p>
          <a:p>
            <a:r>
              <a:rPr lang="en-GB" dirty="0"/>
              <a:t>Entity (Design) / Table (Implementation)</a:t>
            </a:r>
          </a:p>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160</a:t>
            </a:fld>
            <a:endParaRPr lang="en-GB"/>
          </a:p>
        </p:txBody>
      </p:sp>
    </p:spTree>
    <p:extLst>
      <p:ext uri="{BB962C8B-B14F-4D97-AF65-F5344CB8AC3E}">
        <p14:creationId xmlns:p14="http://schemas.microsoft.com/office/powerpoint/2010/main" val="1693875435"/>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More like the layout in MS Access</a:t>
            </a:r>
          </a:p>
        </p:txBody>
      </p:sp>
      <p:sp>
        <p:nvSpPr>
          <p:cNvPr id="4" name="Slide Number Placeholder 3"/>
          <p:cNvSpPr>
            <a:spLocks noGrp="1"/>
          </p:cNvSpPr>
          <p:nvPr>
            <p:ph type="sldNum" sz="quarter" idx="5"/>
          </p:nvPr>
        </p:nvSpPr>
        <p:spPr/>
        <p:txBody>
          <a:bodyPr/>
          <a:lstStyle/>
          <a:p>
            <a:fld id="{B71FE5B5-A979-4370-A255-218EAB36A5F4}" type="slidenum">
              <a:rPr lang="en-GB" smtClean="0"/>
              <a:t>161</a:t>
            </a:fld>
            <a:endParaRPr lang="en-GB"/>
          </a:p>
        </p:txBody>
      </p:sp>
    </p:spTree>
    <p:extLst>
      <p:ext uri="{BB962C8B-B14F-4D97-AF65-F5344CB8AC3E}">
        <p14:creationId xmlns:p14="http://schemas.microsoft.com/office/powerpoint/2010/main" val="1967756829"/>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More like the layout in MS Access</a:t>
            </a:r>
          </a:p>
        </p:txBody>
      </p:sp>
      <p:sp>
        <p:nvSpPr>
          <p:cNvPr id="4" name="Slide Number Placeholder 3"/>
          <p:cNvSpPr>
            <a:spLocks noGrp="1"/>
          </p:cNvSpPr>
          <p:nvPr>
            <p:ph type="sldNum" sz="quarter" idx="5"/>
          </p:nvPr>
        </p:nvSpPr>
        <p:spPr/>
        <p:txBody>
          <a:bodyPr/>
          <a:lstStyle/>
          <a:p>
            <a:fld id="{B71FE5B5-A979-4370-A255-218EAB36A5F4}" type="slidenum">
              <a:rPr lang="en-GB" smtClean="0"/>
              <a:t>162</a:t>
            </a:fld>
            <a:endParaRPr lang="en-GB"/>
          </a:p>
        </p:txBody>
      </p:sp>
    </p:spTree>
    <p:extLst>
      <p:ext uri="{BB962C8B-B14F-4D97-AF65-F5344CB8AC3E}">
        <p14:creationId xmlns:p14="http://schemas.microsoft.com/office/powerpoint/2010/main" val="2284566975"/>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Names of relationships not stated in specification but shown.</a:t>
            </a:r>
          </a:p>
        </p:txBody>
      </p:sp>
      <p:sp>
        <p:nvSpPr>
          <p:cNvPr id="4" name="Slide Number Placeholder 3"/>
          <p:cNvSpPr>
            <a:spLocks noGrp="1"/>
          </p:cNvSpPr>
          <p:nvPr>
            <p:ph type="sldNum" sz="quarter" idx="5"/>
          </p:nvPr>
        </p:nvSpPr>
        <p:spPr/>
        <p:txBody>
          <a:bodyPr/>
          <a:lstStyle/>
          <a:p>
            <a:fld id="{B71FE5B5-A979-4370-A255-218EAB36A5F4}" type="slidenum">
              <a:rPr lang="en-GB" smtClean="0"/>
              <a:t>163</a:t>
            </a:fld>
            <a:endParaRPr lang="en-GB"/>
          </a:p>
        </p:txBody>
      </p:sp>
    </p:spTree>
    <p:extLst>
      <p:ext uri="{BB962C8B-B14F-4D97-AF65-F5344CB8AC3E}">
        <p14:creationId xmlns:p14="http://schemas.microsoft.com/office/powerpoint/2010/main" val="339157272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Names of relationships not stated in specification but shown.  Used in H CS Specimen Task 1a</a:t>
            </a:r>
          </a:p>
        </p:txBody>
      </p:sp>
      <p:sp>
        <p:nvSpPr>
          <p:cNvPr id="4" name="Slide Number Placeholder 3"/>
          <p:cNvSpPr>
            <a:spLocks noGrp="1"/>
          </p:cNvSpPr>
          <p:nvPr>
            <p:ph type="sldNum" sz="quarter" idx="5"/>
          </p:nvPr>
        </p:nvSpPr>
        <p:spPr/>
        <p:txBody>
          <a:bodyPr/>
          <a:lstStyle/>
          <a:p>
            <a:fld id="{B71FE5B5-A979-4370-A255-218EAB36A5F4}" type="slidenum">
              <a:rPr lang="en-GB" smtClean="0"/>
              <a:t>164</a:t>
            </a:fld>
            <a:endParaRPr lang="en-GB"/>
          </a:p>
        </p:txBody>
      </p:sp>
    </p:spTree>
    <p:extLst>
      <p:ext uri="{BB962C8B-B14F-4D97-AF65-F5344CB8AC3E}">
        <p14:creationId xmlns:p14="http://schemas.microsoft.com/office/powerpoint/2010/main" val="1162696845"/>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 school is led by a headteacher – A headteacher leads a school</a:t>
            </a:r>
          </a:p>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165</a:t>
            </a:fld>
            <a:endParaRPr lang="en-GB"/>
          </a:p>
        </p:txBody>
      </p:sp>
    </p:spTree>
    <p:extLst>
      <p:ext uri="{BB962C8B-B14F-4D97-AF65-F5344CB8AC3E}">
        <p14:creationId xmlns:p14="http://schemas.microsoft.com/office/powerpoint/2010/main" val="1039919869"/>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 school is led by a headteacher – A headteacher leads a school</a:t>
            </a:r>
          </a:p>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166</a:t>
            </a:fld>
            <a:endParaRPr lang="en-GB"/>
          </a:p>
        </p:txBody>
      </p:sp>
    </p:spTree>
    <p:extLst>
      <p:ext uri="{BB962C8B-B14F-4D97-AF65-F5344CB8AC3E}">
        <p14:creationId xmlns:p14="http://schemas.microsoft.com/office/powerpoint/2010/main" val="2619915768"/>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what N5 uses</a:t>
            </a:r>
          </a:p>
          <a:p>
            <a:r>
              <a:rPr lang="en-GB" dirty="0"/>
              <a:t>A school teaches many pupils – Many pupils are taught at a school</a:t>
            </a:r>
          </a:p>
        </p:txBody>
      </p:sp>
      <p:sp>
        <p:nvSpPr>
          <p:cNvPr id="4" name="Slide Number Placeholder 3"/>
          <p:cNvSpPr>
            <a:spLocks noGrp="1"/>
          </p:cNvSpPr>
          <p:nvPr>
            <p:ph type="sldNum" sz="quarter" idx="5"/>
          </p:nvPr>
        </p:nvSpPr>
        <p:spPr/>
        <p:txBody>
          <a:bodyPr/>
          <a:lstStyle/>
          <a:p>
            <a:fld id="{B71FE5B5-A979-4370-A255-218EAB36A5F4}" type="slidenum">
              <a:rPr lang="en-GB" smtClean="0"/>
              <a:t>167</a:t>
            </a:fld>
            <a:endParaRPr lang="en-GB"/>
          </a:p>
        </p:txBody>
      </p:sp>
    </p:spTree>
    <p:extLst>
      <p:ext uri="{BB962C8B-B14F-4D97-AF65-F5344CB8AC3E}">
        <p14:creationId xmlns:p14="http://schemas.microsoft.com/office/powerpoint/2010/main" val="872202893"/>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what N5 uses</a:t>
            </a:r>
          </a:p>
          <a:p>
            <a:r>
              <a:rPr lang="en-GB" dirty="0"/>
              <a:t>A school teaches many pupils – Many pupils are taught at a school</a:t>
            </a:r>
          </a:p>
        </p:txBody>
      </p:sp>
      <p:sp>
        <p:nvSpPr>
          <p:cNvPr id="4" name="Slide Number Placeholder 3"/>
          <p:cNvSpPr>
            <a:spLocks noGrp="1"/>
          </p:cNvSpPr>
          <p:nvPr>
            <p:ph type="sldNum" sz="quarter" idx="5"/>
          </p:nvPr>
        </p:nvSpPr>
        <p:spPr/>
        <p:txBody>
          <a:bodyPr/>
          <a:lstStyle/>
          <a:p>
            <a:fld id="{B71FE5B5-A979-4370-A255-218EAB36A5F4}" type="slidenum">
              <a:rPr lang="en-GB" smtClean="0"/>
              <a:t>168</a:t>
            </a:fld>
            <a:endParaRPr lang="en-GB"/>
          </a:p>
        </p:txBody>
      </p:sp>
    </p:spTree>
    <p:extLst>
      <p:ext uri="{BB962C8B-B14F-4D97-AF65-F5344CB8AC3E}">
        <p14:creationId xmlns:p14="http://schemas.microsoft.com/office/powerpoint/2010/main" val="865910790"/>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Many pupils study many subjects – Many subjects are studied by many pupils</a:t>
            </a:r>
          </a:p>
        </p:txBody>
      </p:sp>
      <p:sp>
        <p:nvSpPr>
          <p:cNvPr id="4" name="Slide Number Placeholder 3"/>
          <p:cNvSpPr>
            <a:spLocks noGrp="1"/>
          </p:cNvSpPr>
          <p:nvPr>
            <p:ph type="sldNum" sz="quarter" idx="5"/>
          </p:nvPr>
        </p:nvSpPr>
        <p:spPr/>
        <p:txBody>
          <a:bodyPr/>
          <a:lstStyle/>
          <a:p>
            <a:fld id="{B71FE5B5-A979-4370-A255-218EAB36A5F4}" type="slidenum">
              <a:rPr lang="en-GB" smtClean="0"/>
              <a:t>169</a:t>
            </a:fld>
            <a:endParaRPr lang="en-GB"/>
          </a:p>
        </p:txBody>
      </p:sp>
    </p:spTree>
    <p:extLst>
      <p:ext uri="{BB962C8B-B14F-4D97-AF65-F5344CB8AC3E}">
        <p14:creationId xmlns:p14="http://schemas.microsoft.com/office/powerpoint/2010/main" val="3549111192"/>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Many pupils study many subjects – Many subjects are studied by many pupils</a:t>
            </a:r>
          </a:p>
        </p:txBody>
      </p:sp>
      <p:sp>
        <p:nvSpPr>
          <p:cNvPr id="4" name="Slide Number Placeholder 3"/>
          <p:cNvSpPr>
            <a:spLocks noGrp="1"/>
          </p:cNvSpPr>
          <p:nvPr>
            <p:ph type="sldNum" sz="quarter" idx="5"/>
          </p:nvPr>
        </p:nvSpPr>
        <p:spPr/>
        <p:txBody>
          <a:bodyPr/>
          <a:lstStyle/>
          <a:p>
            <a:fld id="{B71FE5B5-A979-4370-A255-218EAB36A5F4}" type="slidenum">
              <a:rPr lang="en-GB" smtClean="0"/>
              <a:t>170</a:t>
            </a:fld>
            <a:endParaRPr lang="en-GB"/>
          </a:p>
        </p:txBody>
      </p:sp>
    </p:spTree>
    <p:extLst>
      <p:ext uri="{BB962C8B-B14F-4D97-AF65-F5344CB8AC3E}">
        <p14:creationId xmlns:p14="http://schemas.microsoft.com/office/powerpoint/2010/main" val="28427331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171</a:t>
            </a:fld>
            <a:endParaRPr lang="en-GB"/>
          </a:p>
        </p:txBody>
      </p:sp>
    </p:spTree>
    <p:extLst>
      <p:ext uri="{BB962C8B-B14F-4D97-AF65-F5344CB8AC3E}">
        <p14:creationId xmlns:p14="http://schemas.microsoft.com/office/powerpoint/2010/main" val="4243211703"/>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174</a:t>
            </a:fld>
            <a:endParaRPr lang="en-GB"/>
          </a:p>
        </p:txBody>
      </p:sp>
    </p:spTree>
    <p:extLst>
      <p:ext uri="{BB962C8B-B14F-4D97-AF65-F5344CB8AC3E}">
        <p14:creationId xmlns:p14="http://schemas.microsoft.com/office/powerpoint/2010/main" val="976421226"/>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175</a:t>
            </a:fld>
            <a:endParaRPr lang="en-GB"/>
          </a:p>
        </p:txBody>
      </p:sp>
    </p:spTree>
    <p:extLst>
      <p:ext uri="{BB962C8B-B14F-4D97-AF65-F5344CB8AC3E}">
        <p14:creationId xmlns:p14="http://schemas.microsoft.com/office/powerpoint/2010/main" val="2232617775"/>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177</a:t>
            </a:fld>
            <a:endParaRPr lang="en-GB"/>
          </a:p>
        </p:txBody>
      </p:sp>
    </p:spTree>
    <p:extLst>
      <p:ext uri="{BB962C8B-B14F-4D97-AF65-F5344CB8AC3E}">
        <p14:creationId xmlns:p14="http://schemas.microsoft.com/office/powerpoint/2010/main" val="3841702982"/>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178</a:t>
            </a:fld>
            <a:endParaRPr lang="en-GB"/>
          </a:p>
        </p:txBody>
      </p:sp>
    </p:spTree>
    <p:extLst>
      <p:ext uri="{BB962C8B-B14F-4D97-AF65-F5344CB8AC3E}">
        <p14:creationId xmlns:p14="http://schemas.microsoft.com/office/powerpoint/2010/main" val="609781868"/>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181</a:t>
            </a:fld>
            <a:endParaRPr lang="en-GB"/>
          </a:p>
        </p:txBody>
      </p:sp>
    </p:spTree>
    <p:extLst>
      <p:ext uri="{BB962C8B-B14F-4D97-AF65-F5344CB8AC3E}">
        <p14:creationId xmlns:p14="http://schemas.microsoft.com/office/powerpoint/2010/main" val="39181069"/>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182</a:t>
            </a:fld>
            <a:endParaRPr lang="en-GB"/>
          </a:p>
        </p:txBody>
      </p:sp>
    </p:spTree>
    <p:extLst>
      <p:ext uri="{BB962C8B-B14F-4D97-AF65-F5344CB8AC3E}">
        <p14:creationId xmlns:p14="http://schemas.microsoft.com/office/powerpoint/2010/main" val="1617227628"/>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183</a:t>
            </a:fld>
            <a:endParaRPr lang="en-GB"/>
          </a:p>
        </p:txBody>
      </p:sp>
    </p:spTree>
    <p:extLst>
      <p:ext uri="{BB962C8B-B14F-4D97-AF65-F5344CB8AC3E}">
        <p14:creationId xmlns:p14="http://schemas.microsoft.com/office/powerpoint/2010/main" val="3324475712"/>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184</a:t>
            </a:fld>
            <a:endParaRPr lang="en-GB"/>
          </a:p>
        </p:txBody>
      </p:sp>
    </p:spTree>
    <p:extLst>
      <p:ext uri="{BB962C8B-B14F-4D97-AF65-F5344CB8AC3E}">
        <p14:creationId xmlns:p14="http://schemas.microsoft.com/office/powerpoint/2010/main" val="1460637816"/>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185</a:t>
            </a:fld>
            <a:endParaRPr lang="en-GB"/>
          </a:p>
        </p:txBody>
      </p:sp>
    </p:spTree>
    <p:extLst>
      <p:ext uri="{BB962C8B-B14F-4D97-AF65-F5344CB8AC3E}">
        <p14:creationId xmlns:p14="http://schemas.microsoft.com/office/powerpoint/2010/main" val="1466149990"/>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186</a:t>
            </a:fld>
            <a:endParaRPr lang="en-GB"/>
          </a:p>
        </p:txBody>
      </p:sp>
    </p:spTree>
    <p:extLst>
      <p:ext uri="{BB962C8B-B14F-4D97-AF65-F5344CB8AC3E}">
        <p14:creationId xmlns:p14="http://schemas.microsoft.com/office/powerpoint/2010/main" val="3294852894"/>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1FE5B5-A979-4370-A255-218EAB36A5F4}" type="slidenum">
              <a:rPr lang="en-GB" smtClean="0"/>
              <a:t>189</a:t>
            </a:fld>
            <a:endParaRPr lang="en-GB"/>
          </a:p>
        </p:txBody>
      </p:sp>
    </p:spTree>
    <p:extLst>
      <p:ext uri="{BB962C8B-B14F-4D97-AF65-F5344CB8AC3E}">
        <p14:creationId xmlns:p14="http://schemas.microsoft.com/office/powerpoint/2010/main" val="3107008297"/>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1FE5B5-A979-4370-A255-218EAB36A5F4}" type="slidenum">
              <a:rPr lang="en-GB" smtClean="0"/>
              <a:t>190</a:t>
            </a:fld>
            <a:endParaRPr lang="en-GB"/>
          </a:p>
        </p:txBody>
      </p:sp>
    </p:spTree>
    <p:extLst>
      <p:ext uri="{BB962C8B-B14F-4D97-AF65-F5344CB8AC3E}">
        <p14:creationId xmlns:p14="http://schemas.microsoft.com/office/powerpoint/2010/main" val="2021262334"/>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1FE5B5-A979-4370-A255-218EAB36A5F4}" type="slidenum">
              <a:rPr lang="en-GB" smtClean="0"/>
              <a:t>191</a:t>
            </a:fld>
            <a:endParaRPr lang="en-GB"/>
          </a:p>
        </p:txBody>
      </p:sp>
    </p:spTree>
    <p:extLst>
      <p:ext uri="{BB962C8B-B14F-4D97-AF65-F5344CB8AC3E}">
        <p14:creationId xmlns:p14="http://schemas.microsoft.com/office/powerpoint/2010/main" val="3791186684"/>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1FE5B5-A979-4370-A255-218EAB36A5F4}" type="slidenum">
              <a:rPr lang="en-GB" smtClean="0"/>
              <a:t>192</a:t>
            </a:fld>
            <a:endParaRPr lang="en-GB"/>
          </a:p>
        </p:txBody>
      </p:sp>
    </p:spTree>
    <p:extLst>
      <p:ext uri="{BB962C8B-B14F-4D97-AF65-F5344CB8AC3E}">
        <p14:creationId xmlns:p14="http://schemas.microsoft.com/office/powerpoint/2010/main" val="3294339116"/>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1FE5B5-A979-4370-A255-218EAB36A5F4}" type="slidenum">
              <a:rPr lang="en-GB" smtClean="0"/>
              <a:t>193</a:t>
            </a:fld>
            <a:endParaRPr lang="en-GB"/>
          </a:p>
        </p:txBody>
      </p:sp>
    </p:spTree>
    <p:extLst>
      <p:ext uri="{BB962C8B-B14F-4D97-AF65-F5344CB8AC3E}">
        <p14:creationId xmlns:p14="http://schemas.microsoft.com/office/powerpoint/2010/main" val="1997455130"/>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1FE5B5-A979-4370-A255-218EAB36A5F4}" type="slidenum">
              <a:rPr lang="en-GB" smtClean="0"/>
              <a:t>194</a:t>
            </a:fld>
            <a:endParaRPr lang="en-GB"/>
          </a:p>
        </p:txBody>
      </p:sp>
    </p:spTree>
    <p:extLst>
      <p:ext uri="{BB962C8B-B14F-4D97-AF65-F5344CB8AC3E}">
        <p14:creationId xmlns:p14="http://schemas.microsoft.com/office/powerpoint/2010/main" val="2985514565"/>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1FE5B5-A979-4370-A255-218EAB36A5F4}" type="slidenum">
              <a:rPr lang="en-GB" smtClean="0"/>
              <a:t>195</a:t>
            </a:fld>
            <a:endParaRPr lang="en-GB"/>
          </a:p>
        </p:txBody>
      </p:sp>
    </p:spTree>
    <p:extLst>
      <p:ext uri="{BB962C8B-B14F-4D97-AF65-F5344CB8AC3E}">
        <p14:creationId xmlns:p14="http://schemas.microsoft.com/office/powerpoint/2010/main" val="293104372"/>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1FE5B5-A979-4370-A255-218EAB36A5F4}" type="slidenum">
              <a:rPr lang="en-GB" smtClean="0"/>
              <a:t>196</a:t>
            </a:fld>
            <a:endParaRPr lang="en-GB"/>
          </a:p>
        </p:txBody>
      </p:sp>
    </p:spTree>
    <p:extLst>
      <p:ext uri="{BB962C8B-B14F-4D97-AF65-F5344CB8AC3E}">
        <p14:creationId xmlns:p14="http://schemas.microsoft.com/office/powerpoint/2010/main" val="3183988724"/>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2018 Q20(d)(ii)</a:t>
            </a:r>
          </a:p>
        </p:txBody>
      </p:sp>
      <p:sp>
        <p:nvSpPr>
          <p:cNvPr id="4" name="Slide Number Placeholder 3"/>
          <p:cNvSpPr>
            <a:spLocks noGrp="1"/>
          </p:cNvSpPr>
          <p:nvPr>
            <p:ph type="sldNum" sz="quarter" idx="5"/>
          </p:nvPr>
        </p:nvSpPr>
        <p:spPr/>
        <p:txBody>
          <a:bodyPr/>
          <a:lstStyle/>
          <a:p>
            <a:fld id="{B71FE5B5-A979-4370-A255-218EAB36A5F4}" type="slidenum">
              <a:rPr lang="en-GB" smtClean="0"/>
              <a:t>198</a:t>
            </a:fld>
            <a:endParaRPr lang="en-GB"/>
          </a:p>
        </p:txBody>
      </p:sp>
    </p:spTree>
    <p:extLst>
      <p:ext uri="{BB962C8B-B14F-4D97-AF65-F5344CB8AC3E}">
        <p14:creationId xmlns:p14="http://schemas.microsoft.com/office/powerpoint/2010/main" val="2863481507"/>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QP</a:t>
            </a:r>
            <a:r>
              <a:rPr lang="en-GB" dirty="0"/>
              <a:t> 2023 Q15(c)(</a:t>
            </a:r>
            <a:r>
              <a:rPr lang="en-GB" dirty="0" err="1"/>
              <a:t>i</a:t>
            </a:r>
            <a:r>
              <a:rPr lang="en-GB" dirty="0"/>
              <a:t>), 2019 Q17(c)(</a:t>
            </a:r>
            <a:r>
              <a:rPr lang="en-GB" dirty="0" err="1"/>
              <a:t>i</a:t>
            </a:r>
            <a:r>
              <a:rPr lang="en-GB" dirty="0"/>
              <a:t>)</a:t>
            </a:r>
          </a:p>
          <a:p>
            <a:r>
              <a:rPr lang="en-GB" dirty="0"/>
              <a:t>Assignment 2024S 2f(ii), 2023 2e(</a:t>
            </a:r>
            <a:r>
              <a:rPr lang="en-GB" dirty="0" err="1"/>
              <a:t>i</a:t>
            </a:r>
            <a:r>
              <a:rPr lang="en-GB" dirty="0"/>
              <a:t>), 2022 2e</a:t>
            </a:r>
          </a:p>
        </p:txBody>
      </p:sp>
      <p:sp>
        <p:nvSpPr>
          <p:cNvPr id="4" name="Slide Number Placeholder 3"/>
          <p:cNvSpPr>
            <a:spLocks noGrp="1"/>
          </p:cNvSpPr>
          <p:nvPr>
            <p:ph type="sldNum" sz="quarter" idx="5"/>
          </p:nvPr>
        </p:nvSpPr>
        <p:spPr/>
        <p:txBody>
          <a:bodyPr/>
          <a:lstStyle/>
          <a:p>
            <a:fld id="{B71FE5B5-A979-4370-A255-218EAB36A5F4}" type="slidenum">
              <a:rPr lang="en-GB" smtClean="0"/>
              <a:t>199</a:t>
            </a:fld>
            <a:endParaRPr lang="en-GB"/>
          </a:p>
        </p:txBody>
      </p:sp>
    </p:spTree>
    <p:extLst>
      <p:ext uri="{BB962C8B-B14F-4D97-AF65-F5344CB8AC3E}">
        <p14:creationId xmlns:p14="http://schemas.microsoft.com/office/powerpoint/2010/main" val="290188265"/>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There's more to it than this but it's a start!</a:t>
            </a:r>
          </a:p>
          <a:p>
            <a:endParaRPr lang="en-GB" dirty="0"/>
          </a:p>
          <a:p>
            <a:r>
              <a:rPr lang="en-GB" sz="1200" b="0" i="0" kern="1200" dirty="0">
                <a:solidFill>
                  <a:schemeClr val="tx1"/>
                </a:solidFill>
                <a:effectLst/>
                <a:latin typeface="+mn-lt"/>
                <a:ea typeface="+mn-ea"/>
                <a:cs typeface="+mn-cs"/>
              </a:rPr>
              <a:t>Accuracy of output:</a:t>
            </a:r>
          </a:p>
          <a:p>
            <a:r>
              <a:rPr lang="en-GB" sz="1200" b="0" i="0" kern="1200" dirty="0">
                <a:solidFill>
                  <a:schemeClr val="tx1"/>
                </a:solidFill>
                <a:effectLst/>
                <a:latin typeface="+mn-lt"/>
                <a:ea typeface="+mn-ea"/>
                <a:cs typeface="+mn-cs"/>
              </a:rPr>
              <a:t>This may be related to the output not being as intended but it could also be that the SQL is correct but the database data is incorrect or has not been kept up to date.  A good example of this would be a customer moving house but their address not being updated.  The SQL used to search for their details would be correct but the output would not be.</a:t>
            </a:r>
          </a:p>
          <a:p>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Fitness for purpose:</a:t>
            </a:r>
          </a:p>
          <a:p>
            <a:r>
              <a:rPr lang="en-GB" sz="1200" b="0" i="0" kern="1200" dirty="0">
                <a:solidFill>
                  <a:schemeClr val="tx1"/>
                </a:solidFill>
                <a:effectLst/>
                <a:latin typeface="+mn-lt"/>
                <a:ea typeface="+mn-ea"/>
                <a:cs typeface="+mn-cs"/>
              </a:rPr>
              <a:t>A database system as being fit for purpose if it meets the functional requirements.  The functional requirements for a database will be the data that is to be stored and how it organised along with the operations that will be performed on the database (SQL that searches, sorts, updates, inserts and deletes).  The reference to functional requirements is important though as that’s how it would be phrased in any assignment or exam database question.</a:t>
            </a:r>
          </a:p>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200</a:t>
            </a:fld>
            <a:endParaRPr lang="en-GB"/>
          </a:p>
        </p:txBody>
      </p:sp>
    </p:spTree>
    <p:extLst>
      <p:ext uri="{BB962C8B-B14F-4D97-AF65-F5344CB8AC3E}">
        <p14:creationId xmlns:p14="http://schemas.microsoft.com/office/powerpoint/2010/main" val="3884963375"/>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Example 4 from N5 CS Specification, page 69</a:t>
            </a:r>
          </a:p>
        </p:txBody>
      </p:sp>
      <p:sp>
        <p:nvSpPr>
          <p:cNvPr id="4" name="Slide Number Placeholder 3"/>
          <p:cNvSpPr>
            <a:spLocks noGrp="1"/>
          </p:cNvSpPr>
          <p:nvPr>
            <p:ph type="sldNum" sz="quarter" idx="5"/>
          </p:nvPr>
        </p:nvSpPr>
        <p:spPr/>
        <p:txBody>
          <a:bodyPr/>
          <a:lstStyle/>
          <a:p>
            <a:fld id="{B71FE5B5-A979-4370-A255-218EAB36A5F4}" type="slidenum">
              <a:rPr lang="en-GB" smtClean="0"/>
              <a:t>202</a:t>
            </a:fld>
            <a:endParaRPr lang="en-GB"/>
          </a:p>
        </p:txBody>
      </p:sp>
    </p:spTree>
    <p:extLst>
      <p:ext uri="{BB962C8B-B14F-4D97-AF65-F5344CB8AC3E}">
        <p14:creationId xmlns:p14="http://schemas.microsoft.com/office/powerpoint/2010/main" val="714423846"/>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203</a:t>
            </a:fld>
            <a:endParaRPr lang="en-GB"/>
          </a:p>
        </p:txBody>
      </p:sp>
    </p:spTree>
    <p:extLst>
      <p:ext uri="{BB962C8B-B14F-4D97-AF65-F5344CB8AC3E}">
        <p14:creationId xmlns:p14="http://schemas.microsoft.com/office/powerpoint/2010/main" val="284436752"/>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213</a:t>
            </a:fld>
            <a:endParaRPr lang="en-GB"/>
          </a:p>
        </p:txBody>
      </p:sp>
    </p:spTree>
    <p:extLst>
      <p:ext uri="{BB962C8B-B14F-4D97-AF65-F5344CB8AC3E}">
        <p14:creationId xmlns:p14="http://schemas.microsoft.com/office/powerpoint/2010/main" val="314106023"/>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214</a:t>
            </a:fld>
            <a:endParaRPr lang="en-GB"/>
          </a:p>
        </p:txBody>
      </p:sp>
    </p:spTree>
    <p:extLst>
      <p:ext uri="{BB962C8B-B14F-4D97-AF65-F5344CB8AC3E}">
        <p14:creationId xmlns:p14="http://schemas.microsoft.com/office/powerpoint/2010/main" val="4004483340"/>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FK needed for </a:t>
            </a:r>
            <a:r>
              <a:rPr lang="en-GB"/>
              <a:t>referential integrity</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215</a:t>
            </a:fld>
            <a:endParaRPr lang="en-GB"/>
          </a:p>
        </p:txBody>
      </p:sp>
    </p:spTree>
    <p:extLst>
      <p:ext uri="{BB962C8B-B14F-4D97-AF65-F5344CB8AC3E}">
        <p14:creationId xmlns:p14="http://schemas.microsoft.com/office/powerpoint/2010/main" val="2713169666"/>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216</a:t>
            </a:fld>
            <a:endParaRPr lang="en-GB"/>
          </a:p>
        </p:txBody>
      </p:sp>
    </p:spTree>
    <p:extLst>
      <p:ext uri="{BB962C8B-B14F-4D97-AF65-F5344CB8AC3E}">
        <p14:creationId xmlns:p14="http://schemas.microsoft.com/office/powerpoint/2010/main" val="3508654565"/>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Active: active supplier or no longer used.</a:t>
            </a:r>
          </a:p>
        </p:txBody>
      </p:sp>
      <p:sp>
        <p:nvSpPr>
          <p:cNvPr id="4" name="Slide Number Placeholder 3"/>
          <p:cNvSpPr>
            <a:spLocks noGrp="1"/>
          </p:cNvSpPr>
          <p:nvPr>
            <p:ph type="sldNum" sz="quarter" idx="5"/>
          </p:nvPr>
        </p:nvSpPr>
        <p:spPr/>
        <p:txBody>
          <a:bodyPr/>
          <a:lstStyle/>
          <a:p>
            <a:fld id="{B71FE5B5-A979-4370-A255-218EAB36A5F4}" type="slidenum">
              <a:rPr lang="en-GB" smtClean="0"/>
              <a:t>217</a:t>
            </a:fld>
            <a:endParaRPr lang="en-GB"/>
          </a:p>
        </p:txBody>
      </p:sp>
    </p:spTree>
    <p:extLst>
      <p:ext uri="{BB962C8B-B14F-4D97-AF65-F5344CB8AC3E}">
        <p14:creationId xmlns:p14="http://schemas.microsoft.com/office/powerpoint/2010/main" val="1213270724"/>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218</a:t>
            </a:fld>
            <a:endParaRPr lang="en-GB"/>
          </a:p>
        </p:txBody>
      </p:sp>
    </p:spTree>
    <p:extLst>
      <p:ext uri="{BB962C8B-B14F-4D97-AF65-F5344CB8AC3E}">
        <p14:creationId xmlns:p14="http://schemas.microsoft.com/office/powerpoint/2010/main" val="244177448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Quantity: -1 to indicate no longer stock, rather than all sold.</a:t>
            </a:r>
          </a:p>
        </p:txBody>
      </p:sp>
      <p:sp>
        <p:nvSpPr>
          <p:cNvPr id="4" name="Slide Number Placeholder 3"/>
          <p:cNvSpPr>
            <a:spLocks noGrp="1"/>
          </p:cNvSpPr>
          <p:nvPr>
            <p:ph type="sldNum" sz="quarter" idx="5"/>
          </p:nvPr>
        </p:nvSpPr>
        <p:spPr/>
        <p:txBody>
          <a:bodyPr/>
          <a:lstStyle/>
          <a:p>
            <a:fld id="{B71FE5B5-A979-4370-A255-218EAB36A5F4}" type="slidenum">
              <a:rPr lang="en-GB" smtClean="0"/>
              <a:t>219</a:t>
            </a:fld>
            <a:endParaRPr lang="en-GB"/>
          </a:p>
        </p:txBody>
      </p:sp>
    </p:spTree>
    <p:extLst>
      <p:ext uri="{BB962C8B-B14F-4D97-AF65-F5344CB8AC3E}">
        <p14:creationId xmlns:p14="http://schemas.microsoft.com/office/powerpoint/2010/main" val="3123373317"/>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FK needed for referential integrity</a:t>
            </a:r>
          </a:p>
        </p:txBody>
      </p:sp>
      <p:sp>
        <p:nvSpPr>
          <p:cNvPr id="4" name="Slide Number Placeholder 3"/>
          <p:cNvSpPr>
            <a:spLocks noGrp="1"/>
          </p:cNvSpPr>
          <p:nvPr>
            <p:ph type="sldNum" sz="quarter" idx="5"/>
          </p:nvPr>
        </p:nvSpPr>
        <p:spPr/>
        <p:txBody>
          <a:bodyPr/>
          <a:lstStyle/>
          <a:p>
            <a:fld id="{B71FE5B5-A979-4370-A255-218EAB36A5F4}" type="slidenum">
              <a:rPr lang="en-GB" smtClean="0"/>
              <a:t>220</a:t>
            </a:fld>
            <a:endParaRPr lang="en-GB"/>
          </a:p>
        </p:txBody>
      </p:sp>
    </p:spTree>
    <p:extLst>
      <p:ext uri="{BB962C8B-B14F-4D97-AF65-F5344CB8AC3E}">
        <p14:creationId xmlns:p14="http://schemas.microsoft.com/office/powerpoint/2010/main" val="4154863708"/>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https://www.sqlitetutorial.net/sqlite-alter-table/</a:t>
            </a:r>
          </a:p>
        </p:txBody>
      </p:sp>
      <p:sp>
        <p:nvSpPr>
          <p:cNvPr id="4" name="Slide Number Placeholder 3"/>
          <p:cNvSpPr>
            <a:spLocks noGrp="1"/>
          </p:cNvSpPr>
          <p:nvPr>
            <p:ph type="sldNum" sz="quarter" idx="5"/>
          </p:nvPr>
        </p:nvSpPr>
        <p:spPr/>
        <p:txBody>
          <a:bodyPr/>
          <a:lstStyle/>
          <a:p>
            <a:fld id="{B71FE5B5-A979-4370-A255-218EAB36A5F4}" type="slidenum">
              <a:rPr lang="en-GB" smtClean="0"/>
              <a:t>222</a:t>
            </a:fld>
            <a:endParaRPr lang="en-GB"/>
          </a:p>
        </p:txBody>
      </p:sp>
    </p:spTree>
    <p:extLst>
      <p:ext uri="{BB962C8B-B14F-4D97-AF65-F5344CB8AC3E}">
        <p14:creationId xmlns:p14="http://schemas.microsoft.com/office/powerpoint/2010/main" val="3789703319"/>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https://www.sqlitetutorial.net/sqlite-alter-table/</a:t>
            </a:r>
          </a:p>
        </p:txBody>
      </p:sp>
      <p:sp>
        <p:nvSpPr>
          <p:cNvPr id="4" name="Slide Number Placeholder 3"/>
          <p:cNvSpPr>
            <a:spLocks noGrp="1"/>
          </p:cNvSpPr>
          <p:nvPr>
            <p:ph type="sldNum" sz="quarter" idx="5"/>
          </p:nvPr>
        </p:nvSpPr>
        <p:spPr/>
        <p:txBody>
          <a:bodyPr/>
          <a:lstStyle/>
          <a:p>
            <a:fld id="{B71FE5B5-A979-4370-A255-218EAB36A5F4}" type="slidenum">
              <a:rPr lang="en-GB" smtClean="0"/>
              <a:t>223</a:t>
            </a:fld>
            <a:endParaRPr lang="en-GB"/>
          </a:p>
        </p:txBody>
      </p:sp>
    </p:spTree>
    <p:extLst>
      <p:ext uri="{BB962C8B-B14F-4D97-AF65-F5344CB8AC3E}">
        <p14:creationId xmlns:p14="http://schemas.microsoft.com/office/powerpoint/2010/main" val="114950112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225</a:t>
            </a:fld>
            <a:endParaRPr lang="en-GB"/>
          </a:p>
        </p:txBody>
      </p:sp>
    </p:spTree>
    <p:extLst>
      <p:ext uri="{BB962C8B-B14F-4D97-AF65-F5344CB8AC3E}">
        <p14:creationId xmlns:p14="http://schemas.microsoft.com/office/powerpoint/2010/main" val="3833660925"/>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226</a:t>
            </a:fld>
            <a:endParaRPr lang="en-GB"/>
          </a:p>
        </p:txBody>
      </p:sp>
    </p:spTree>
    <p:extLst>
      <p:ext uri="{BB962C8B-B14F-4D97-AF65-F5344CB8AC3E}">
        <p14:creationId xmlns:p14="http://schemas.microsoft.com/office/powerpoint/2010/main" val="2320964817"/>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227</a:t>
            </a:fld>
            <a:endParaRPr lang="en-GB"/>
          </a:p>
        </p:txBody>
      </p:sp>
    </p:spTree>
    <p:extLst>
      <p:ext uri="{BB962C8B-B14F-4D97-AF65-F5344CB8AC3E}">
        <p14:creationId xmlns:p14="http://schemas.microsoft.com/office/powerpoint/2010/main" val="684865037"/>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F7E2D-B680-D7BB-2102-3D91739520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3CE41B-1B34-EBCE-5B84-720B301F00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51AFC2-CAFD-FDF6-F536-F8762D986FB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D7DA937D-A337-46B2-E46B-BEABC61DA30F}"/>
              </a:ext>
            </a:extLst>
          </p:cNvPr>
          <p:cNvSpPr>
            <a:spLocks noGrp="1"/>
          </p:cNvSpPr>
          <p:nvPr>
            <p:ph type="sldNum" sz="quarter" idx="5"/>
          </p:nvPr>
        </p:nvSpPr>
        <p:spPr/>
        <p:txBody>
          <a:bodyPr/>
          <a:lstStyle/>
          <a:p>
            <a:fld id="{B71FE5B5-A979-4370-A255-218EAB36A5F4}" type="slidenum">
              <a:rPr lang="en-GB" smtClean="0"/>
              <a:t>228</a:t>
            </a:fld>
            <a:endParaRPr lang="en-GB"/>
          </a:p>
        </p:txBody>
      </p:sp>
    </p:spTree>
    <p:extLst>
      <p:ext uri="{BB962C8B-B14F-4D97-AF65-F5344CB8AC3E}">
        <p14:creationId xmlns:p14="http://schemas.microsoft.com/office/powerpoint/2010/main" val="2969542328"/>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.schema without a table name will display all tables</a:t>
            </a:r>
          </a:p>
        </p:txBody>
      </p:sp>
      <p:sp>
        <p:nvSpPr>
          <p:cNvPr id="4" name="Slide Number Placeholder 3"/>
          <p:cNvSpPr>
            <a:spLocks noGrp="1"/>
          </p:cNvSpPr>
          <p:nvPr>
            <p:ph type="sldNum" sz="quarter" idx="5"/>
          </p:nvPr>
        </p:nvSpPr>
        <p:spPr/>
        <p:txBody>
          <a:bodyPr/>
          <a:lstStyle/>
          <a:p>
            <a:fld id="{B71FE5B5-A979-4370-A255-218EAB36A5F4}" type="slidenum">
              <a:rPr lang="en-GB" smtClean="0"/>
              <a:t>229</a:t>
            </a:fld>
            <a:endParaRPr lang="en-GB"/>
          </a:p>
        </p:txBody>
      </p:sp>
    </p:spTree>
    <p:extLst>
      <p:ext uri="{BB962C8B-B14F-4D97-AF65-F5344CB8AC3E}">
        <p14:creationId xmlns:p14="http://schemas.microsoft.com/office/powerpoint/2010/main" val="254357916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230</a:t>
            </a:fld>
            <a:endParaRPr lang="en-GB"/>
          </a:p>
        </p:txBody>
      </p:sp>
    </p:spTree>
    <p:extLst>
      <p:ext uri="{BB962C8B-B14F-4D97-AF65-F5344CB8AC3E}">
        <p14:creationId xmlns:p14="http://schemas.microsoft.com/office/powerpoint/2010/main" val="3685852903"/>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231</a:t>
            </a:fld>
            <a:endParaRPr lang="en-GB"/>
          </a:p>
        </p:txBody>
      </p:sp>
    </p:spTree>
    <p:extLst>
      <p:ext uri="{BB962C8B-B14F-4D97-AF65-F5344CB8AC3E}">
        <p14:creationId xmlns:p14="http://schemas.microsoft.com/office/powerpoint/2010/main" val="2590957402"/>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232</a:t>
            </a:fld>
            <a:endParaRPr lang="en-GB"/>
          </a:p>
        </p:txBody>
      </p:sp>
    </p:spTree>
    <p:extLst>
      <p:ext uri="{BB962C8B-B14F-4D97-AF65-F5344CB8AC3E}">
        <p14:creationId xmlns:p14="http://schemas.microsoft.com/office/powerpoint/2010/main" val="1332596973"/>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233</a:t>
            </a:fld>
            <a:endParaRPr lang="en-GB"/>
          </a:p>
        </p:txBody>
      </p:sp>
    </p:spTree>
    <p:extLst>
      <p:ext uri="{BB962C8B-B14F-4D97-AF65-F5344CB8AC3E}">
        <p14:creationId xmlns:p14="http://schemas.microsoft.com/office/powerpoint/2010/main" val="1869686318"/>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234</a:t>
            </a:fld>
            <a:endParaRPr lang="en-GB"/>
          </a:p>
        </p:txBody>
      </p:sp>
    </p:spTree>
    <p:extLst>
      <p:ext uri="{BB962C8B-B14F-4D97-AF65-F5344CB8AC3E}">
        <p14:creationId xmlns:p14="http://schemas.microsoft.com/office/powerpoint/2010/main" val="1008356157"/>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235</a:t>
            </a:fld>
            <a:endParaRPr lang="en-GB"/>
          </a:p>
        </p:txBody>
      </p:sp>
    </p:spTree>
    <p:extLst>
      <p:ext uri="{BB962C8B-B14F-4D97-AF65-F5344CB8AC3E}">
        <p14:creationId xmlns:p14="http://schemas.microsoft.com/office/powerpoint/2010/main" val="911684978"/>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236</a:t>
            </a:fld>
            <a:endParaRPr lang="en-GB"/>
          </a:p>
        </p:txBody>
      </p:sp>
    </p:spTree>
    <p:extLst>
      <p:ext uri="{BB962C8B-B14F-4D97-AF65-F5344CB8AC3E}">
        <p14:creationId xmlns:p14="http://schemas.microsoft.com/office/powerpoint/2010/main" val="2937794336"/>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237</a:t>
            </a:fld>
            <a:endParaRPr lang="en-GB"/>
          </a:p>
        </p:txBody>
      </p:sp>
    </p:spTree>
    <p:extLst>
      <p:ext uri="{BB962C8B-B14F-4D97-AF65-F5344CB8AC3E}">
        <p14:creationId xmlns:p14="http://schemas.microsoft.com/office/powerpoint/2010/main" val="287823928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238</a:t>
            </a:fld>
            <a:endParaRPr lang="en-GB"/>
          </a:p>
        </p:txBody>
      </p:sp>
    </p:spTree>
    <p:extLst>
      <p:ext uri="{BB962C8B-B14F-4D97-AF65-F5344CB8AC3E}">
        <p14:creationId xmlns:p14="http://schemas.microsoft.com/office/powerpoint/2010/main" val="2185605282"/>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239</a:t>
            </a:fld>
            <a:endParaRPr lang="en-GB"/>
          </a:p>
        </p:txBody>
      </p:sp>
    </p:spTree>
    <p:extLst>
      <p:ext uri="{BB962C8B-B14F-4D97-AF65-F5344CB8AC3E}">
        <p14:creationId xmlns:p14="http://schemas.microsoft.com/office/powerpoint/2010/main" val="262346198"/>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240</a:t>
            </a:fld>
            <a:endParaRPr lang="en-GB"/>
          </a:p>
        </p:txBody>
      </p:sp>
    </p:spTree>
    <p:extLst>
      <p:ext uri="{BB962C8B-B14F-4D97-AF65-F5344CB8AC3E}">
        <p14:creationId xmlns:p14="http://schemas.microsoft.com/office/powerpoint/2010/main" val="390367060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241</a:t>
            </a:fld>
            <a:endParaRPr lang="en-GB"/>
          </a:p>
        </p:txBody>
      </p:sp>
    </p:spTree>
    <p:extLst>
      <p:ext uri="{BB962C8B-B14F-4D97-AF65-F5344CB8AC3E}">
        <p14:creationId xmlns:p14="http://schemas.microsoft.com/office/powerpoint/2010/main" val="3426361966"/>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242</a:t>
            </a:fld>
            <a:endParaRPr lang="en-GB"/>
          </a:p>
        </p:txBody>
      </p:sp>
    </p:spTree>
    <p:extLst>
      <p:ext uri="{BB962C8B-B14F-4D97-AF65-F5344CB8AC3E}">
        <p14:creationId xmlns:p14="http://schemas.microsoft.com/office/powerpoint/2010/main" val="650129555"/>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243</a:t>
            </a:fld>
            <a:endParaRPr lang="en-GB"/>
          </a:p>
        </p:txBody>
      </p:sp>
    </p:spTree>
    <p:extLst>
      <p:ext uri="{BB962C8B-B14F-4D97-AF65-F5344CB8AC3E}">
        <p14:creationId xmlns:p14="http://schemas.microsoft.com/office/powerpoint/2010/main" val="2122183883"/>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244</a:t>
            </a:fld>
            <a:endParaRPr lang="en-GB"/>
          </a:p>
        </p:txBody>
      </p:sp>
    </p:spTree>
    <p:extLst>
      <p:ext uri="{BB962C8B-B14F-4D97-AF65-F5344CB8AC3E}">
        <p14:creationId xmlns:p14="http://schemas.microsoft.com/office/powerpoint/2010/main" val="353745764"/>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 from BBC Bitesize: https://www.bbc.co.uk/bitesize/guides/zc93tv4/revision/1</a:t>
            </a:r>
          </a:p>
        </p:txBody>
      </p:sp>
      <p:sp>
        <p:nvSpPr>
          <p:cNvPr id="4" name="Slide Number Placeholder 3"/>
          <p:cNvSpPr>
            <a:spLocks noGrp="1"/>
          </p:cNvSpPr>
          <p:nvPr>
            <p:ph type="sldNum" sz="quarter" idx="5"/>
          </p:nvPr>
        </p:nvSpPr>
        <p:spPr/>
        <p:txBody>
          <a:bodyPr/>
          <a:lstStyle/>
          <a:p>
            <a:fld id="{B71FE5B5-A979-4370-A255-218EAB36A5F4}" type="slidenum">
              <a:rPr lang="en-GB" smtClean="0"/>
              <a:t>247</a:t>
            </a:fld>
            <a:endParaRPr lang="en-GB"/>
          </a:p>
        </p:txBody>
      </p:sp>
    </p:spTree>
    <p:extLst>
      <p:ext uri="{BB962C8B-B14F-4D97-AF65-F5344CB8AC3E}">
        <p14:creationId xmlns:p14="http://schemas.microsoft.com/office/powerpoint/2010/main" val="263235924"/>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248</a:t>
            </a:fld>
            <a:endParaRPr lang="en-GB"/>
          </a:p>
        </p:txBody>
      </p:sp>
    </p:spTree>
    <p:extLst>
      <p:ext uri="{BB962C8B-B14F-4D97-AF65-F5344CB8AC3E}">
        <p14:creationId xmlns:p14="http://schemas.microsoft.com/office/powerpoint/2010/main" val="265930157"/>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BBC Bitesize: https://www.bbc.co.uk/bitesize/guides/zc93tv4/revision/2</a:t>
            </a:r>
          </a:p>
        </p:txBody>
      </p:sp>
      <p:sp>
        <p:nvSpPr>
          <p:cNvPr id="4" name="Slide Number Placeholder 3"/>
          <p:cNvSpPr>
            <a:spLocks noGrp="1"/>
          </p:cNvSpPr>
          <p:nvPr>
            <p:ph type="sldNum" sz="quarter" idx="5"/>
          </p:nvPr>
        </p:nvSpPr>
        <p:spPr/>
        <p:txBody>
          <a:bodyPr/>
          <a:lstStyle/>
          <a:p>
            <a:fld id="{B71FE5B5-A979-4370-A255-218EAB36A5F4}" type="slidenum">
              <a:rPr lang="en-GB" smtClean="0"/>
              <a:t>249</a:t>
            </a:fld>
            <a:endParaRPr lang="en-GB"/>
          </a:p>
        </p:txBody>
      </p:sp>
    </p:spTree>
    <p:extLst>
      <p:ext uri="{BB962C8B-B14F-4D97-AF65-F5344CB8AC3E}">
        <p14:creationId xmlns:p14="http://schemas.microsoft.com/office/powerpoint/2010/main" val="3511927680"/>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250</a:t>
            </a:fld>
            <a:endParaRPr lang="en-GB"/>
          </a:p>
        </p:txBody>
      </p:sp>
    </p:spTree>
    <p:extLst>
      <p:ext uri="{BB962C8B-B14F-4D97-AF65-F5344CB8AC3E}">
        <p14:creationId xmlns:p14="http://schemas.microsoft.com/office/powerpoint/2010/main" val="2085732484"/>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BBC Bitesize: https://www.bbc.co.uk/bitesize/guides/zc93tv4/revision/2</a:t>
            </a:r>
          </a:p>
        </p:txBody>
      </p:sp>
      <p:sp>
        <p:nvSpPr>
          <p:cNvPr id="4" name="Slide Number Placeholder 3"/>
          <p:cNvSpPr>
            <a:spLocks noGrp="1"/>
          </p:cNvSpPr>
          <p:nvPr>
            <p:ph type="sldNum" sz="quarter" idx="5"/>
          </p:nvPr>
        </p:nvSpPr>
        <p:spPr/>
        <p:txBody>
          <a:bodyPr/>
          <a:lstStyle/>
          <a:p>
            <a:fld id="{B71FE5B5-A979-4370-A255-218EAB36A5F4}" type="slidenum">
              <a:rPr lang="en-GB" smtClean="0"/>
              <a:t>251</a:t>
            </a:fld>
            <a:endParaRPr lang="en-GB"/>
          </a:p>
        </p:txBody>
      </p:sp>
    </p:spTree>
    <p:extLst>
      <p:ext uri="{BB962C8B-B14F-4D97-AF65-F5344CB8AC3E}">
        <p14:creationId xmlns:p14="http://schemas.microsoft.com/office/powerpoint/2010/main" val="2108403095"/>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252</a:t>
            </a:fld>
            <a:endParaRPr lang="en-GB"/>
          </a:p>
        </p:txBody>
      </p:sp>
    </p:spTree>
    <p:extLst>
      <p:ext uri="{BB962C8B-B14F-4D97-AF65-F5344CB8AC3E}">
        <p14:creationId xmlns:p14="http://schemas.microsoft.com/office/powerpoint/2010/main" val="3989248327"/>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BBC Bitesize: https://www.bbc.co.uk/bitesize/guides/zc93tv4/revision/2</a:t>
            </a:r>
          </a:p>
        </p:txBody>
      </p:sp>
      <p:sp>
        <p:nvSpPr>
          <p:cNvPr id="4" name="Slide Number Placeholder 3"/>
          <p:cNvSpPr>
            <a:spLocks noGrp="1"/>
          </p:cNvSpPr>
          <p:nvPr>
            <p:ph type="sldNum" sz="quarter" idx="5"/>
          </p:nvPr>
        </p:nvSpPr>
        <p:spPr/>
        <p:txBody>
          <a:bodyPr/>
          <a:lstStyle/>
          <a:p>
            <a:fld id="{B71FE5B5-A979-4370-A255-218EAB36A5F4}" type="slidenum">
              <a:rPr lang="en-GB" smtClean="0"/>
              <a:t>253</a:t>
            </a:fld>
            <a:endParaRPr lang="en-GB"/>
          </a:p>
        </p:txBody>
      </p:sp>
    </p:spTree>
    <p:extLst>
      <p:ext uri="{BB962C8B-B14F-4D97-AF65-F5344CB8AC3E}">
        <p14:creationId xmlns:p14="http://schemas.microsoft.com/office/powerpoint/2010/main" val="582574010"/>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254</a:t>
            </a:fld>
            <a:endParaRPr lang="en-GB"/>
          </a:p>
        </p:txBody>
      </p:sp>
    </p:spTree>
    <p:extLst>
      <p:ext uri="{BB962C8B-B14F-4D97-AF65-F5344CB8AC3E}">
        <p14:creationId xmlns:p14="http://schemas.microsoft.com/office/powerpoint/2010/main" val="2093979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60564-5510-4968-B83C-E0988A9D5BEF}"/>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DF3D860D-1211-4E26-A35E-A80BC376E9A1}"/>
              </a:ext>
            </a:extLst>
          </p:cNvPr>
          <p:cNvSpPr>
            <a:spLocks noGrp="1"/>
          </p:cNvSpPr>
          <p:nvPr>
            <p:ph type="subTitle" idx="1"/>
          </p:nvPr>
        </p:nvSpPr>
        <p:spPr>
          <a:xfrm>
            <a:off x="1524000" y="3602038"/>
            <a:ext cx="9144000" cy="1655762"/>
          </a:xfrm>
        </p:spPr>
        <p:txBody>
          <a:bodyPr>
            <a:normAutofit/>
          </a:bodyPr>
          <a:lstStyle>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C23C5969-3F05-4100-9F8A-DB9A82EB4B23}"/>
              </a:ext>
            </a:extLst>
          </p:cNvPr>
          <p:cNvSpPr>
            <a:spLocks noGrp="1"/>
          </p:cNvSpPr>
          <p:nvPr>
            <p:ph type="dt" sz="half" idx="10"/>
          </p:nvPr>
        </p:nvSpPr>
        <p:spPr/>
        <p:txBody>
          <a:bodyPr/>
          <a:lstStyle/>
          <a:p>
            <a:fld id="{CBBB66F6-7471-47DA-8EED-C7BCCA53B015}" type="datetimeFigureOut">
              <a:rPr lang="en-GB" smtClean="0"/>
              <a:t>30/10/2026</a:t>
            </a:fld>
            <a:endParaRPr lang="en-GB"/>
          </a:p>
        </p:txBody>
      </p:sp>
      <p:sp>
        <p:nvSpPr>
          <p:cNvPr id="5" name="Footer Placeholder 4">
            <a:extLst>
              <a:ext uri="{FF2B5EF4-FFF2-40B4-BE49-F238E27FC236}">
                <a16:creationId xmlns:a16="http://schemas.microsoft.com/office/drawing/2014/main" id="{8879FB1B-2516-429F-B867-4823287B8D1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F1741A-33DE-4C5E-8C9F-B4AD75DA464D}"/>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1983201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F5E7B-67B3-496A-822C-C32976D9157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DBFEDAD-10D4-47B6-8F35-0155F7D63DF8}"/>
              </a:ext>
            </a:extLst>
          </p:cNvPr>
          <p:cNvSpPr>
            <a:spLocks noGrp="1"/>
          </p:cNvSpPr>
          <p:nvPr>
            <p:ph idx="1"/>
          </p:nvPr>
        </p:nvSpPr>
        <p:spPr/>
        <p:txBody>
          <a:bodyPr>
            <a:normAutofit/>
          </a:bodyPr>
          <a:lstStyle>
            <a:lvl1pPr>
              <a:lnSpc>
                <a:spcPct val="120000"/>
              </a:lnSpc>
              <a:spcBef>
                <a:spcPts val="0"/>
              </a:spcBef>
              <a:defRPr sz="3200"/>
            </a:lvl1pPr>
            <a:lvl2pPr>
              <a:lnSpc>
                <a:spcPct val="120000"/>
              </a:lnSpc>
              <a:spcBef>
                <a:spcPts val="0"/>
              </a:spcBef>
              <a:defRPr sz="2800"/>
            </a:lvl2pPr>
            <a:lvl3pPr>
              <a:lnSpc>
                <a:spcPct val="120000"/>
              </a:lnSpc>
              <a:spcBef>
                <a:spcPts val="0"/>
              </a:spcBef>
              <a:defRPr sz="2400"/>
            </a:lvl3pPr>
            <a:lvl4pPr>
              <a:lnSpc>
                <a:spcPct val="120000"/>
              </a:lnSpc>
              <a:spcBef>
                <a:spcPts val="0"/>
              </a:spcBef>
              <a:defRPr sz="2000"/>
            </a:lvl4pPr>
            <a:lvl5pPr>
              <a:lnSpc>
                <a:spcPct val="120000"/>
              </a:lnSpc>
              <a:spcBef>
                <a:spcPts val="0"/>
              </a:spcBef>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7020D4F-7E43-4DFE-B626-E846C85BC6A4}"/>
              </a:ext>
            </a:extLst>
          </p:cNvPr>
          <p:cNvSpPr>
            <a:spLocks noGrp="1"/>
          </p:cNvSpPr>
          <p:nvPr>
            <p:ph type="dt" sz="half" idx="10"/>
          </p:nvPr>
        </p:nvSpPr>
        <p:spPr/>
        <p:txBody>
          <a:bodyPr/>
          <a:lstStyle/>
          <a:p>
            <a:fld id="{CBBB66F6-7471-47DA-8EED-C7BCCA53B015}" type="datetimeFigureOut">
              <a:rPr lang="en-GB" smtClean="0"/>
              <a:t>30/10/2026</a:t>
            </a:fld>
            <a:endParaRPr lang="en-GB"/>
          </a:p>
        </p:txBody>
      </p:sp>
      <p:sp>
        <p:nvSpPr>
          <p:cNvPr id="5" name="Footer Placeholder 4">
            <a:extLst>
              <a:ext uri="{FF2B5EF4-FFF2-40B4-BE49-F238E27FC236}">
                <a16:creationId xmlns:a16="http://schemas.microsoft.com/office/drawing/2014/main" id="{ED3EDBDD-527D-4909-8BEF-723EEB3501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D505016-CD99-4792-B5CE-4FC2732AB212}"/>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40289727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2FA82-2BA5-4E38-B83A-773E80096220}"/>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EC8DA602-023E-4AF2-8A02-5ED3BE4E1C63}"/>
              </a:ext>
            </a:extLst>
          </p:cNvPr>
          <p:cNvSpPr>
            <a:spLocks noGrp="1"/>
          </p:cNvSpPr>
          <p:nvPr>
            <p:ph type="body" idx="1"/>
          </p:nvPr>
        </p:nvSpPr>
        <p:spPr>
          <a:xfrm>
            <a:off x="831850" y="4589463"/>
            <a:ext cx="10515600" cy="1500187"/>
          </a:xfrm>
        </p:spPr>
        <p:txBody>
          <a:bodyPr>
            <a:normAutofit/>
          </a:bodyPr>
          <a:lstStyle>
            <a:lvl1pPr marL="0" indent="0">
              <a:buNone/>
              <a:defRPr sz="3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A97AF83-9AAB-4395-A1CD-8B1810E80A15}"/>
              </a:ext>
            </a:extLst>
          </p:cNvPr>
          <p:cNvSpPr>
            <a:spLocks noGrp="1"/>
          </p:cNvSpPr>
          <p:nvPr>
            <p:ph type="dt" sz="half" idx="10"/>
          </p:nvPr>
        </p:nvSpPr>
        <p:spPr/>
        <p:txBody>
          <a:bodyPr/>
          <a:lstStyle/>
          <a:p>
            <a:fld id="{CBBB66F6-7471-47DA-8EED-C7BCCA53B015}" type="datetimeFigureOut">
              <a:rPr lang="en-GB" smtClean="0"/>
              <a:t>30/10/2026</a:t>
            </a:fld>
            <a:endParaRPr lang="en-GB"/>
          </a:p>
        </p:txBody>
      </p:sp>
      <p:sp>
        <p:nvSpPr>
          <p:cNvPr id="5" name="Footer Placeholder 4">
            <a:extLst>
              <a:ext uri="{FF2B5EF4-FFF2-40B4-BE49-F238E27FC236}">
                <a16:creationId xmlns:a16="http://schemas.microsoft.com/office/drawing/2014/main" id="{929F4F5F-ED11-4FF4-8082-EF13CCF8D9A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F17B83B-7338-4290-BCDC-071F1F558BEE}"/>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3274567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238D4-5905-4C6E-BCBB-B9407311419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D6C15E6-8B9A-4199-90FC-6E93032700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CE19C19-84FB-4E02-8D3E-A145EF70F6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10729DE-CB61-4172-B1A0-5F570A694499}"/>
              </a:ext>
            </a:extLst>
          </p:cNvPr>
          <p:cNvSpPr>
            <a:spLocks noGrp="1"/>
          </p:cNvSpPr>
          <p:nvPr>
            <p:ph type="dt" sz="half" idx="10"/>
          </p:nvPr>
        </p:nvSpPr>
        <p:spPr/>
        <p:txBody>
          <a:bodyPr/>
          <a:lstStyle/>
          <a:p>
            <a:fld id="{CBBB66F6-7471-47DA-8EED-C7BCCA53B015}" type="datetimeFigureOut">
              <a:rPr lang="en-GB" smtClean="0"/>
              <a:t>30/10/2026</a:t>
            </a:fld>
            <a:endParaRPr lang="en-GB"/>
          </a:p>
        </p:txBody>
      </p:sp>
      <p:sp>
        <p:nvSpPr>
          <p:cNvPr id="6" name="Footer Placeholder 5">
            <a:extLst>
              <a:ext uri="{FF2B5EF4-FFF2-40B4-BE49-F238E27FC236}">
                <a16:creationId xmlns:a16="http://schemas.microsoft.com/office/drawing/2014/main" id="{8FE18137-140C-4C10-9A2D-A8BEA88DADC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7788274-F0A0-4D87-9901-05DB5CB1C875}"/>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3327492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80B87-D3F8-4BAA-8DE3-3836317BC44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28ADC46-22A7-453D-BB94-D1CA48C5A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035B5B-116B-4974-BF81-F7294090D1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ED89685-D393-44B4-B943-5A951A4725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529B97-30F9-4234-A140-11E2C1505C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7FD1C8F-089B-4A81-946C-8404750F99B0}"/>
              </a:ext>
            </a:extLst>
          </p:cNvPr>
          <p:cNvSpPr>
            <a:spLocks noGrp="1"/>
          </p:cNvSpPr>
          <p:nvPr>
            <p:ph type="dt" sz="half" idx="10"/>
          </p:nvPr>
        </p:nvSpPr>
        <p:spPr/>
        <p:txBody>
          <a:bodyPr/>
          <a:lstStyle/>
          <a:p>
            <a:fld id="{CBBB66F6-7471-47DA-8EED-C7BCCA53B015}" type="datetimeFigureOut">
              <a:rPr lang="en-GB" smtClean="0"/>
              <a:t>30/10/2026</a:t>
            </a:fld>
            <a:endParaRPr lang="en-GB"/>
          </a:p>
        </p:txBody>
      </p:sp>
      <p:sp>
        <p:nvSpPr>
          <p:cNvPr id="8" name="Footer Placeholder 7">
            <a:extLst>
              <a:ext uri="{FF2B5EF4-FFF2-40B4-BE49-F238E27FC236}">
                <a16:creationId xmlns:a16="http://schemas.microsoft.com/office/drawing/2014/main" id="{59EE9EF7-FF78-45D1-965B-99664AD00F9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441DFC4-4931-4DBE-A0A7-A1E0A15DC20A}"/>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258064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67CCB-CA9F-4F77-978B-946CBCC20A9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692E69A-AA02-4CC0-9FE5-3C50B8F4E60A}"/>
              </a:ext>
            </a:extLst>
          </p:cNvPr>
          <p:cNvSpPr>
            <a:spLocks noGrp="1"/>
          </p:cNvSpPr>
          <p:nvPr>
            <p:ph type="dt" sz="half" idx="10"/>
          </p:nvPr>
        </p:nvSpPr>
        <p:spPr/>
        <p:txBody>
          <a:bodyPr/>
          <a:lstStyle/>
          <a:p>
            <a:fld id="{CBBB66F6-7471-47DA-8EED-C7BCCA53B015}" type="datetimeFigureOut">
              <a:rPr lang="en-GB" smtClean="0"/>
              <a:t>30/10/2026</a:t>
            </a:fld>
            <a:endParaRPr lang="en-GB"/>
          </a:p>
        </p:txBody>
      </p:sp>
      <p:sp>
        <p:nvSpPr>
          <p:cNvPr id="4" name="Footer Placeholder 3">
            <a:extLst>
              <a:ext uri="{FF2B5EF4-FFF2-40B4-BE49-F238E27FC236}">
                <a16:creationId xmlns:a16="http://schemas.microsoft.com/office/drawing/2014/main" id="{964A0F08-87A5-4B96-B446-1337E28A93D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49B3645-39BF-4DC7-A6DC-E10EB4E4D358}"/>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1559463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36AF93-0450-4C93-8AED-561C8D0B9C42}"/>
              </a:ext>
            </a:extLst>
          </p:cNvPr>
          <p:cNvSpPr>
            <a:spLocks noGrp="1"/>
          </p:cNvSpPr>
          <p:nvPr>
            <p:ph type="dt" sz="half" idx="10"/>
          </p:nvPr>
        </p:nvSpPr>
        <p:spPr/>
        <p:txBody>
          <a:bodyPr/>
          <a:lstStyle/>
          <a:p>
            <a:fld id="{CBBB66F6-7471-47DA-8EED-C7BCCA53B015}" type="datetimeFigureOut">
              <a:rPr lang="en-GB" smtClean="0"/>
              <a:t>30/10/2026</a:t>
            </a:fld>
            <a:endParaRPr lang="en-GB"/>
          </a:p>
        </p:txBody>
      </p:sp>
      <p:sp>
        <p:nvSpPr>
          <p:cNvPr id="3" name="Footer Placeholder 2">
            <a:extLst>
              <a:ext uri="{FF2B5EF4-FFF2-40B4-BE49-F238E27FC236}">
                <a16:creationId xmlns:a16="http://schemas.microsoft.com/office/drawing/2014/main" id="{D2336096-32F7-4552-856B-0F42E86F0BA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8B2CEA9-085F-4023-8477-F0F082AED997}"/>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2470016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F9064-4077-4B58-8BD0-E8642C9064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C367D8E-F32F-4041-9FDE-C12CBB5278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761CF05-D7DF-470D-8951-656268BBBA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EF19F6-CB71-4073-820E-814F731641A1}"/>
              </a:ext>
            </a:extLst>
          </p:cNvPr>
          <p:cNvSpPr>
            <a:spLocks noGrp="1"/>
          </p:cNvSpPr>
          <p:nvPr>
            <p:ph type="dt" sz="half" idx="10"/>
          </p:nvPr>
        </p:nvSpPr>
        <p:spPr/>
        <p:txBody>
          <a:bodyPr/>
          <a:lstStyle/>
          <a:p>
            <a:fld id="{CBBB66F6-7471-47DA-8EED-C7BCCA53B015}" type="datetimeFigureOut">
              <a:rPr lang="en-GB" smtClean="0"/>
              <a:t>30/10/2026</a:t>
            </a:fld>
            <a:endParaRPr lang="en-GB"/>
          </a:p>
        </p:txBody>
      </p:sp>
      <p:sp>
        <p:nvSpPr>
          <p:cNvPr id="6" name="Footer Placeholder 5">
            <a:extLst>
              <a:ext uri="{FF2B5EF4-FFF2-40B4-BE49-F238E27FC236}">
                <a16:creationId xmlns:a16="http://schemas.microsoft.com/office/drawing/2014/main" id="{7389668D-5D63-440F-B937-227682F00CB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74DC044-699A-457B-A741-69E8543CEE3E}"/>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403636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8CDCB-7EE6-4D7B-9EC9-9998298236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B8A68D7-4A60-4176-AEF9-C7224992D6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CDADDFE-E588-428C-9ACE-BF6D4DC2BA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8DAD98-EFA3-40FD-B220-0CEFA3B04D0A}"/>
              </a:ext>
            </a:extLst>
          </p:cNvPr>
          <p:cNvSpPr>
            <a:spLocks noGrp="1"/>
          </p:cNvSpPr>
          <p:nvPr>
            <p:ph type="dt" sz="half" idx="10"/>
          </p:nvPr>
        </p:nvSpPr>
        <p:spPr/>
        <p:txBody>
          <a:bodyPr/>
          <a:lstStyle/>
          <a:p>
            <a:fld id="{CBBB66F6-7471-47DA-8EED-C7BCCA53B015}" type="datetimeFigureOut">
              <a:rPr lang="en-GB" smtClean="0"/>
              <a:t>30/10/2026</a:t>
            </a:fld>
            <a:endParaRPr lang="en-GB"/>
          </a:p>
        </p:txBody>
      </p:sp>
      <p:sp>
        <p:nvSpPr>
          <p:cNvPr id="6" name="Footer Placeholder 5">
            <a:extLst>
              <a:ext uri="{FF2B5EF4-FFF2-40B4-BE49-F238E27FC236}">
                <a16:creationId xmlns:a16="http://schemas.microsoft.com/office/drawing/2014/main" id="{533492CB-8784-44CD-8BE4-F038F0DA8E3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A6B88F3-B6B9-4DE8-80B4-B31DCC6FF152}"/>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2626704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B7571-E3AA-47DA-8A99-A8577E9EAE4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556407A-F3C5-4467-999F-12834F3D5E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DBC1D0D-C52B-4D14-AEAB-FF6484676A94}"/>
              </a:ext>
            </a:extLst>
          </p:cNvPr>
          <p:cNvSpPr>
            <a:spLocks noGrp="1"/>
          </p:cNvSpPr>
          <p:nvPr>
            <p:ph type="dt" sz="half" idx="10"/>
          </p:nvPr>
        </p:nvSpPr>
        <p:spPr/>
        <p:txBody>
          <a:bodyPr/>
          <a:lstStyle/>
          <a:p>
            <a:fld id="{CBBB66F6-7471-47DA-8EED-C7BCCA53B015}" type="datetimeFigureOut">
              <a:rPr lang="en-GB" smtClean="0"/>
              <a:t>30/10/2026</a:t>
            </a:fld>
            <a:endParaRPr lang="en-GB"/>
          </a:p>
        </p:txBody>
      </p:sp>
      <p:sp>
        <p:nvSpPr>
          <p:cNvPr id="5" name="Footer Placeholder 4">
            <a:extLst>
              <a:ext uri="{FF2B5EF4-FFF2-40B4-BE49-F238E27FC236}">
                <a16:creationId xmlns:a16="http://schemas.microsoft.com/office/drawing/2014/main" id="{34558F66-3EB8-48B5-B410-20C1141D68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9E85733-F1B0-47F6-B3EA-C32A59118EA0}"/>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2204816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E78E59-2798-47E7-97DF-12EB43D4DBD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823F44B-7DC4-4852-9AAB-98C84D6912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42AEF75-C039-4933-808F-7735F4020E9A}"/>
              </a:ext>
            </a:extLst>
          </p:cNvPr>
          <p:cNvSpPr>
            <a:spLocks noGrp="1"/>
          </p:cNvSpPr>
          <p:nvPr>
            <p:ph type="dt" sz="half" idx="10"/>
          </p:nvPr>
        </p:nvSpPr>
        <p:spPr/>
        <p:txBody>
          <a:bodyPr/>
          <a:lstStyle/>
          <a:p>
            <a:fld id="{CBBB66F6-7471-47DA-8EED-C7BCCA53B015}" type="datetimeFigureOut">
              <a:rPr lang="en-GB" smtClean="0"/>
              <a:t>30/10/2026</a:t>
            </a:fld>
            <a:endParaRPr lang="en-GB"/>
          </a:p>
        </p:txBody>
      </p:sp>
      <p:sp>
        <p:nvSpPr>
          <p:cNvPr id="5" name="Footer Placeholder 4">
            <a:extLst>
              <a:ext uri="{FF2B5EF4-FFF2-40B4-BE49-F238E27FC236}">
                <a16:creationId xmlns:a16="http://schemas.microsoft.com/office/drawing/2014/main" id="{047011B2-1EEF-4630-AB8B-1FC4D8E1FBC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3B43AA0-545D-40FB-A090-776833BF596A}"/>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1977995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934EA5-96D5-44F8-8B2E-EB636C3A97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2096C3A-1C2D-4B6E-9BA6-958361A919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795E72CA-E085-451A-A6D7-D31116C422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BB66F6-7471-47DA-8EED-C7BCCA53B015}" type="datetimeFigureOut">
              <a:rPr lang="en-GB" smtClean="0"/>
              <a:t>30/10/2026</a:t>
            </a:fld>
            <a:endParaRPr lang="en-GB"/>
          </a:p>
        </p:txBody>
      </p:sp>
      <p:sp>
        <p:nvSpPr>
          <p:cNvPr id="5" name="Footer Placeholder 4">
            <a:extLst>
              <a:ext uri="{FF2B5EF4-FFF2-40B4-BE49-F238E27FC236}">
                <a16:creationId xmlns:a16="http://schemas.microsoft.com/office/drawing/2014/main" id="{903CA142-8F89-49C4-92C2-0106F55414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9C0D0BA0-3B07-4BE4-ACEC-E0EC87569D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B9890C-4870-410D-A143-591B2BA0A39B}" type="slidenum">
              <a:rPr lang="en-GB" smtClean="0"/>
              <a:t>‹#›</a:t>
            </a:fld>
            <a:endParaRPr lang="en-GB"/>
          </a:p>
        </p:txBody>
      </p:sp>
    </p:spTree>
    <p:extLst>
      <p:ext uri="{BB962C8B-B14F-4D97-AF65-F5344CB8AC3E}">
        <p14:creationId xmlns:p14="http://schemas.microsoft.com/office/powerpoint/2010/main" val="3492412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2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3" Type="http://schemas.openxmlformats.org/officeDocument/2006/relationships/hyperlink" Target="https://www.youtube.com/embed/gBJXfayW40M?start=0&amp;end=1056" TargetMode="External"/><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5.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6.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5.xml"/><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6.xml"/><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7.xml"/><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8.xml"/><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4.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6.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6.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6.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5.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5.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N5 Computing Science</a:t>
            </a:r>
          </a:p>
        </p:txBody>
      </p:sp>
      <p:sp>
        <p:nvSpPr>
          <p:cNvPr id="3" name="Subtitle 2"/>
          <p:cNvSpPr>
            <a:spLocks noGrp="1"/>
          </p:cNvSpPr>
          <p:nvPr>
            <p:ph type="subTitle" idx="1"/>
          </p:nvPr>
        </p:nvSpPr>
        <p:spPr/>
        <p:txBody>
          <a:bodyPr>
            <a:normAutofit/>
          </a:bodyPr>
          <a:lstStyle/>
          <a:p>
            <a:r>
              <a:rPr lang="en-GB" sz="3200" dirty="0"/>
              <a:t>Database Design and Development</a:t>
            </a:r>
          </a:p>
        </p:txBody>
      </p:sp>
    </p:spTree>
    <p:extLst>
      <p:ext uri="{BB962C8B-B14F-4D97-AF65-F5344CB8AC3E}">
        <p14:creationId xmlns:p14="http://schemas.microsoft.com/office/powerpoint/2010/main" val="1397375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Plan – N5 Year 1</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720241271"/>
              </p:ext>
            </p:extLst>
          </p:nvPr>
        </p:nvGraphicFramePr>
        <p:xfrm>
          <a:off x="2042160" y="1825625"/>
          <a:ext cx="810768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Straight Arrow Connector 3"/>
          <p:cNvCxnSpPr/>
          <p:nvPr/>
        </p:nvCxnSpPr>
        <p:spPr>
          <a:xfrm>
            <a:off x="762000" y="3235291"/>
            <a:ext cx="1080000" cy="0"/>
          </a:xfrm>
          <a:prstGeom prst="straightConnector1">
            <a:avLst/>
          </a:prstGeom>
          <a:ln w="762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10393680" y="3235291"/>
            <a:ext cx="1080000" cy="0"/>
          </a:xfrm>
          <a:prstGeom prst="straightConnector1">
            <a:avLst/>
          </a:prstGeom>
          <a:ln w="762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3252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graphicEl>
                                              <a:dgm id="{DFA48299-B840-4714-A5F6-769C74D74113}"/>
                                            </p:graphicEl>
                                          </p:spTgt>
                                        </p:tgtEl>
                                        <p:attrNameLst>
                                          <p:attrName>style.visibility</p:attrName>
                                        </p:attrNameLst>
                                      </p:cBhvr>
                                      <p:to>
                                        <p:strVal val="visible"/>
                                      </p:to>
                                    </p:set>
                                    <p:animEffect transition="in" filter="wipe(left)">
                                      <p:cBhvr>
                                        <p:cTn id="7" dur="500"/>
                                        <p:tgtEl>
                                          <p:spTgt spid="5">
                                            <p:graphicEl>
                                              <a:dgm id="{DFA48299-B840-4714-A5F6-769C74D74113}"/>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graphicEl>
                                              <a:dgm id="{19C32B8D-512E-49A1-A0E6-109384C61E4D}"/>
                                            </p:graphicEl>
                                          </p:spTgt>
                                        </p:tgtEl>
                                        <p:attrNameLst>
                                          <p:attrName>style.visibility</p:attrName>
                                        </p:attrNameLst>
                                      </p:cBhvr>
                                      <p:to>
                                        <p:strVal val="visible"/>
                                      </p:to>
                                    </p:set>
                                    <p:animEffect transition="in" filter="wipe(left)">
                                      <p:cBhvr>
                                        <p:cTn id="12" dur="500"/>
                                        <p:tgtEl>
                                          <p:spTgt spid="5">
                                            <p:graphicEl>
                                              <a:dgm id="{19C32B8D-512E-49A1-A0E6-109384C61E4D}"/>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graphicEl>
                                              <a:dgm id="{AAD30B60-88C6-4919-B6DD-9F480459E84E}"/>
                                            </p:graphicEl>
                                          </p:spTgt>
                                        </p:tgtEl>
                                        <p:attrNameLst>
                                          <p:attrName>style.visibility</p:attrName>
                                        </p:attrNameLst>
                                      </p:cBhvr>
                                      <p:to>
                                        <p:strVal val="visible"/>
                                      </p:to>
                                    </p:set>
                                    <p:animEffect transition="in" filter="wipe(left)">
                                      <p:cBhvr>
                                        <p:cTn id="17" dur="500"/>
                                        <p:tgtEl>
                                          <p:spTgt spid="5">
                                            <p:graphicEl>
                                              <a:dgm id="{AAD30B60-88C6-4919-B6DD-9F480459E84E}"/>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graphicEl>
                                              <a:dgm id="{0DFDFC6D-8604-4378-B6A3-6A6720006C95}"/>
                                            </p:graphicEl>
                                          </p:spTgt>
                                        </p:tgtEl>
                                        <p:attrNameLst>
                                          <p:attrName>style.visibility</p:attrName>
                                        </p:attrNameLst>
                                      </p:cBhvr>
                                      <p:to>
                                        <p:strVal val="visible"/>
                                      </p:to>
                                    </p:set>
                                    <p:animEffect transition="in" filter="wipe(left)">
                                      <p:cBhvr>
                                        <p:cTn id="22" dur="500"/>
                                        <p:tgtEl>
                                          <p:spTgt spid="5">
                                            <p:graphicEl>
                                              <a:dgm id="{0DFDFC6D-8604-4378-B6A3-6A6720006C95}"/>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graphicEl>
                                              <a:dgm id="{3451A250-69C4-4911-A975-CCB8D5F6053B}"/>
                                            </p:graphicEl>
                                          </p:spTgt>
                                        </p:tgtEl>
                                        <p:attrNameLst>
                                          <p:attrName>style.visibility</p:attrName>
                                        </p:attrNameLst>
                                      </p:cBhvr>
                                      <p:to>
                                        <p:strVal val="visible"/>
                                      </p:to>
                                    </p:set>
                                    <p:animEffect transition="in" filter="wipe(left)">
                                      <p:cBhvr>
                                        <p:cTn id="27" dur="500"/>
                                        <p:tgtEl>
                                          <p:spTgt spid="5">
                                            <p:graphicEl>
                                              <a:dgm id="{3451A250-69C4-4911-A975-CCB8D5F6053B}"/>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graphicEl>
                                              <a:dgm id="{56AFEC8A-7D45-4965-A718-64DE087BA59E}"/>
                                            </p:graphicEl>
                                          </p:spTgt>
                                        </p:tgtEl>
                                        <p:attrNameLst>
                                          <p:attrName>style.visibility</p:attrName>
                                        </p:attrNameLst>
                                      </p:cBhvr>
                                      <p:to>
                                        <p:strVal val="visible"/>
                                      </p:to>
                                    </p:set>
                                    <p:animEffect transition="in" filter="wipe(left)">
                                      <p:cBhvr>
                                        <p:cTn id="32" dur="500"/>
                                        <p:tgtEl>
                                          <p:spTgt spid="5">
                                            <p:graphicEl>
                                              <a:dgm id="{56AFEC8A-7D45-4965-A718-64DE087BA59E}"/>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graphicEl>
                                              <a:dgm id="{FC3BC805-9B18-48D9-A4F4-4BE17D54A28E}"/>
                                            </p:graphicEl>
                                          </p:spTgt>
                                        </p:tgtEl>
                                        <p:attrNameLst>
                                          <p:attrName>style.visibility</p:attrName>
                                        </p:attrNameLst>
                                      </p:cBhvr>
                                      <p:to>
                                        <p:strVal val="visible"/>
                                      </p:to>
                                    </p:set>
                                    <p:animEffect transition="in" filter="wipe(left)">
                                      <p:cBhvr>
                                        <p:cTn id="37" dur="500"/>
                                        <p:tgtEl>
                                          <p:spTgt spid="5">
                                            <p:graphicEl>
                                              <a:dgm id="{FC3BC805-9B18-48D9-A4F4-4BE17D54A28E}"/>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graphicEl>
                                              <a:dgm id="{DEB3B5C2-DCC9-444C-A40C-E0CEA06D8FF2}"/>
                                            </p:graphicEl>
                                          </p:spTgt>
                                        </p:tgtEl>
                                        <p:attrNameLst>
                                          <p:attrName>style.visibility</p:attrName>
                                        </p:attrNameLst>
                                      </p:cBhvr>
                                      <p:to>
                                        <p:strVal val="visible"/>
                                      </p:to>
                                    </p:set>
                                    <p:animEffect transition="in" filter="wipe(left)">
                                      <p:cBhvr>
                                        <p:cTn id="42" dur="500"/>
                                        <p:tgtEl>
                                          <p:spTgt spid="5">
                                            <p:graphicEl>
                                              <a:dgm id="{DEB3B5C2-DCC9-444C-A40C-E0CEA06D8FF2}"/>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1500"/>
                                        <p:tgtEl>
                                          <p:spTgt spid="4"/>
                                        </p:tgtEl>
                                      </p:cBhvr>
                                    </p:animEffect>
                                  </p:childTnLst>
                                </p:cTn>
                              </p:par>
                              <p:par>
                                <p:cTn id="48" presetID="22" presetClass="entr" presetSubtype="2" fill="hold" nodeType="with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wipe(right)">
                                      <p:cBhvr>
                                        <p:cTn id="50"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a database?</a:t>
            </a:r>
          </a:p>
        </p:txBody>
      </p:sp>
      <p:sp>
        <p:nvSpPr>
          <p:cNvPr id="3" name="Content Placeholder 2"/>
          <p:cNvSpPr>
            <a:spLocks noGrp="1"/>
          </p:cNvSpPr>
          <p:nvPr>
            <p:ph idx="1"/>
          </p:nvPr>
        </p:nvSpPr>
        <p:spPr/>
        <p:txBody>
          <a:bodyPr/>
          <a:lstStyle/>
          <a:p>
            <a:r>
              <a:rPr lang="en-GB" dirty="0"/>
              <a:t>A database is used to store information</a:t>
            </a:r>
          </a:p>
          <a:p>
            <a:r>
              <a:rPr lang="en-GB" dirty="0"/>
              <a:t>Able to search for information</a:t>
            </a:r>
          </a:p>
          <a:p>
            <a:r>
              <a:rPr lang="en-GB" dirty="0"/>
              <a:t>Computerised</a:t>
            </a:r>
          </a:p>
        </p:txBody>
      </p:sp>
    </p:spTree>
    <p:extLst>
      <p:ext uri="{BB962C8B-B14F-4D97-AF65-F5344CB8AC3E}">
        <p14:creationId xmlns:p14="http://schemas.microsoft.com/office/powerpoint/2010/main" val="1842242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69E68C3-B6C9-4117-911E-3D36F6079B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0638"/>
            <a:ext cx="12192000" cy="6815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746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2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Records – Paper based</a:t>
            </a:r>
          </a:p>
        </p:txBody>
      </p:sp>
      <p:sp>
        <p:nvSpPr>
          <p:cNvPr id="3" name="TextBox 2">
            <a:extLst>
              <a:ext uri="{FF2B5EF4-FFF2-40B4-BE49-F238E27FC236}">
                <a16:creationId xmlns:a16="http://schemas.microsoft.com/office/drawing/2014/main" id="{9E8D577D-F9B0-4C26-95CB-954FFDF61DBD}"/>
              </a:ext>
            </a:extLst>
          </p:cNvPr>
          <p:cNvSpPr txBox="1"/>
          <p:nvPr/>
        </p:nvSpPr>
        <p:spPr>
          <a:xfrm>
            <a:off x="690544" y="1644016"/>
            <a:ext cx="3396892" cy="2308324"/>
          </a:xfrm>
          <a:prstGeom prst="rect">
            <a:avLst/>
          </a:prstGeom>
          <a:solidFill>
            <a:schemeClr val="accent4">
              <a:lumMod val="20000"/>
              <a:lumOff val="80000"/>
            </a:schemeClr>
          </a:solidFill>
          <a:ln>
            <a:solidFill>
              <a:schemeClr val="tx1"/>
            </a:solidFill>
          </a:ln>
        </p:spPr>
        <p:txBody>
          <a:bodyPr wrap="none" rtlCol="0">
            <a:spAutoFit/>
          </a:bodyPr>
          <a:lstStyle/>
          <a:p>
            <a:r>
              <a:rPr lang="en-GB" sz="3600" b="1" dirty="0">
                <a:highlight>
                  <a:srgbClr val="C0C0C0"/>
                </a:highlight>
              </a:rPr>
              <a:t>Pupil Record</a:t>
            </a:r>
            <a:r>
              <a:rPr lang="en-GB" sz="3600" dirty="0"/>
              <a:t> </a:t>
            </a:r>
            <a:endParaRPr lang="en-GB" sz="3600" u="sng" dirty="0"/>
          </a:p>
          <a:p>
            <a:r>
              <a:rPr lang="en-GB" sz="3600" dirty="0"/>
              <a:t>Forename: Sam</a:t>
            </a:r>
          </a:p>
          <a:p>
            <a:r>
              <a:rPr lang="en-GB" sz="3600" dirty="0"/>
              <a:t>Surname:	Wilson</a:t>
            </a:r>
          </a:p>
          <a:p>
            <a:r>
              <a:rPr lang="en-GB" sz="3600" dirty="0"/>
              <a:t>Age: 11</a:t>
            </a:r>
          </a:p>
        </p:txBody>
      </p:sp>
      <p:sp>
        <p:nvSpPr>
          <p:cNvPr id="6" name="TextBox 5">
            <a:extLst>
              <a:ext uri="{FF2B5EF4-FFF2-40B4-BE49-F238E27FC236}">
                <a16:creationId xmlns:a16="http://schemas.microsoft.com/office/drawing/2014/main" id="{9E8D577D-F9B0-4C26-95CB-954FFDF61DBD}"/>
              </a:ext>
            </a:extLst>
          </p:cNvPr>
          <p:cNvSpPr txBox="1"/>
          <p:nvPr/>
        </p:nvSpPr>
        <p:spPr>
          <a:xfrm>
            <a:off x="4681107" y="1644016"/>
            <a:ext cx="3327321" cy="2308324"/>
          </a:xfrm>
          <a:prstGeom prst="rect">
            <a:avLst/>
          </a:prstGeom>
          <a:solidFill>
            <a:schemeClr val="accent4">
              <a:lumMod val="20000"/>
              <a:lumOff val="80000"/>
            </a:schemeClr>
          </a:solidFill>
          <a:ln>
            <a:solidFill>
              <a:schemeClr val="tx1"/>
            </a:solidFill>
          </a:ln>
        </p:spPr>
        <p:txBody>
          <a:bodyPr wrap="none" rtlCol="0">
            <a:spAutoFit/>
          </a:bodyPr>
          <a:lstStyle/>
          <a:p>
            <a:r>
              <a:rPr lang="en-GB" sz="3600" b="1" dirty="0">
                <a:highlight>
                  <a:srgbClr val="C0C0C0"/>
                </a:highlight>
              </a:rPr>
              <a:t>Pupil Record</a:t>
            </a:r>
            <a:r>
              <a:rPr lang="en-GB" sz="3600" dirty="0"/>
              <a:t> </a:t>
            </a:r>
            <a:endParaRPr lang="en-GB" sz="3600" u="sng" dirty="0"/>
          </a:p>
          <a:p>
            <a:r>
              <a:rPr lang="en-GB" sz="3600" dirty="0"/>
              <a:t>Forename: Kim</a:t>
            </a:r>
          </a:p>
          <a:p>
            <a:r>
              <a:rPr lang="en-GB" sz="3600" dirty="0"/>
              <a:t>Surname: Young</a:t>
            </a:r>
          </a:p>
          <a:p>
            <a:r>
              <a:rPr lang="en-GB" sz="3600" dirty="0"/>
              <a:t>Age: 18</a:t>
            </a:r>
          </a:p>
        </p:txBody>
      </p:sp>
      <p:sp>
        <p:nvSpPr>
          <p:cNvPr id="5" name="TextBox 4">
            <a:extLst>
              <a:ext uri="{FF2B5EF4-FFF2-40B4-BE49-F238E27FC236}">
                <a16:creationId xmlns:a16="http://schemas.microsoft.com/office/drawing/2014/main" id="{9E8D577D-F9B0-4C26-95CB-954FFDF61DBD}"/>
              </a:ext>
            </a:extLst>
          </p:cNvPr>
          <p:cNvSpPr txBox="1"/>
          <p:nvPr/>
        </p:nvSpPr>
        <p:spPr>
          <a:xfrm>
            <a:off x="5357044" y="4324500"/>
            <a:ext cx="3158685" cy="2308324"/>
          </a:xfrm>
          <a:prstGeom prst="rect">
            <a:avLst/>
          </a:prstGeom>
          <a:solidFill>
            <a:schemeClr val="accent4">
              <a:lumMod val="20000"/>
              <a:lumOff val="80000"/>
            </a:schemeClr>
          </a:solidFill>
          <a:ln>
            <a:solidFill>
              <a:schemeClr val="tx1"/>
            </a:solidFill>
          </a:ln>
        </p:spPr>
        <p:txBody>
          <a:bodyPr wrap="none" rtlCol="0">
            <a:spAutoFit/>
          </a:bodyPr>
          <a:lstStyle/>
          <a:p>
            <a:r>
              <a:rPr lang="en-GB" sz="3600" b="1" dirty="0">
                <a:highlight>
                  <a:srgbClr val="C0C0C0"/>
                </a:highlight>
              </a:rPr>
              <a:t>Pupil Record</a:t>
            </a:r>
            <a:r>
              <a:rPr lang="en-GB" sz="3600" dirty="0"/>
              <a:t> </a:t>
            </a:r>
            <a:endParaRPr lang="en-GB" sz="3600" u="sng" dirty="0"/>
          </a:p>
          <a:p>
            <a:r>
              <a:rPr lang="en-GB" sz="3600" dirty="0"/>
              <a:t>Forename: Sally</a:t>
            </a:r>
          </a:p>
          <a:p>
            <a:r>
              <a:rPr lang="en-GB" sz="3600" dirty="0"/>
              <a:t>Surname: Clark</a:t>
            </a:r>
          </a:p>
          <a:p>
            <a:r>
              <a:rPr lang="en-GB" sz="3600" dirty="0"/>
              <a:t>Age: 14</a:t>
            </a:r>
          </a:p>
        </p:txBody>
      </p:sp>
      <p:sp>
        <p:nvSpPr>
          <p:cNvPr id="8" name="TextBox 7">
            <a:extLst>
              <a:ext uri="{FF2B5EF4-FFF2-40B4-BE49-F238E27FC236}">
                <a16:creationId xmlns:a16="http://schemas.microsoft.com/office/drawing/2014/main" id="{9E8D577D-F9B0-4C26-95CB-954FFDF61DBD}"/>
              </a:ext>
            </a:extLst>
          </p:cNvPr>
          <p:cNvSpPr txBox="1"/>
          <p:nvPr/>
        </p:nvSpPr>
        <p:spPr>
          <a:xfrm>
            <a:off x="8441799" y="1644016"/>
            <a:ext cx="3404906" cy="2308324"/>
          </a:xfrm>
          <a:prstGeom prst="rect">
            <a:avLst/>
          </a:prstGeom>
          <a:solidFill>
            <a:schemeClr val="accent4">
              <a:lumMod val="20000"/>
              <a:lumOff val="80000"/>
            </a:schemeClr>
          </a:solidFill>
          <a:ln>
            <a:solidFill>
              <a:schemeClr val="tx1"/>
            </a:solidFill>
          </a:ln>
        </p:spPr>
        <p:txBody>
          <a:bodyPr wrap="none" rtlCol="0">
            <a:spAutoFit/>
          </a:bodyPr>
          <a:lstStyle/>
          <a:p>
            <a:r>
              <a:rPr lang="en-GB" sz="3600" b="1" dirty="0">
                <a:highlight>
                  <a:srgbClr val="C0C0C0"/>
                </a:highlight>
              </a:rPr>
              <a:t>Pupil Record</a:t>
            </a:r>
            <a:r>
              <a:rPr lang="en-GB" sz="3600" dirty="0"/>
              <a:t> </a:t>
            </a:r>
            <a:endParaRPr lang="en-GB" sz="3600" u="sng" dirty="0"/>
          </a:p>
          <a:p>
            <a:r>
              <a:rPr lang="en-GB" sz="3600" dirty="0"/>
              <a:t>Forename: Peter</a:t>
            </a:r>
          </a:p>
          <a:p>
            <a:r>
              <a:rPr lang="en-GB" sz="3600" dirty="0"/>
              <a:t>Surname: Jones</a:t>
            </a:r>
          </a:p>
          <a:p>
            <a:r>
              <a:rPr lang="en-GB" sz="3600" dirty="0"/>
              <a:t>Age: 9</a:t>
            </a:r>
          </a:p>
        </p:txBody>
      </p:sp>
      <p:sp>
        <p:nvSpPr>
          <p:cNvPr id="7" name="TextBox 6">
            <a:extLst>
              <a:ext uri="{FF2B5EF4-FFF2-40B4-BE49-F238E27FC236}">
                <a16:creationId xmlns:a16="http://schemas.microsoft.com/office/drawing/2014/main" id="{9E8D577D-F9B0-4C26-95CB-954FFDF61DBD}"/>
              </a:ext>
            </a:extLst>
          </p:cNvPr>
          <p:cNvSpPr txBox="1"/>
          <p:nvPr/>
        </p:nvSpPr>
        <p:spPr>
          <a:xfrm>
            <a:off x="1518253" y="4324500"/>
            <a:ext cx="3113353" cy="2308324"/>
          </a:xfrm>
          <a:prstGeom prst="rect">
            <a:avLst/>
          </a:prstGeom>
          <a:solidFill>
            <a:schemeClr val="accent4">
              <a:lumMod val="20000"/>
              <a:lumOff val="80000"/>
            </a:schemeClr>
          </a:solidFill>
          <a:ln>
            <a:solidFill>
              <a:schemeClr val="tx1"/>
            </a:solidFill>
          </a:ln>
        </p:spPr>
        <p:txBody>
          <a:bodyPr wrap="none" rtlCol="0">
            <a:spAutoFit/>
          </a:bodyPr>
          <a:lstStyle/>
          <a:p>
            <a:r>
              <a:rPr lang="en-GB" sz="3600" b="1" dirty="0">
                <a:highlight>
                  <a:srgbClr val="C0C0C0"/>
                </a:highlight>
              </a:rPr>
              <a:t>Pupil Record</a:t>
            </a:r>
            <a:r>
              <a:rPr lang="en-GB" sz="3600" dirty="0"/>
              <a:t> </a:t>
            </a:r>
            <a:endParaRPr lang="en-GB" sz="3600" u="sng" dirty="0"/>
          </a:p>
          <a:p>
            <a:r>
              <a:rPr lang="en-GB" sz="3600" dirty="0"/>
              <a:t>Forename: Tom</a:t>
            </a:r>
          </a:p>
          <a:p>
            <a:r>
              <a:rPr lang="en-GB" sz="3600" dirty="0"/>
              <a:t>Surname:	Smith</a:t>
            </a:r>
          </a:p>
          <a:p>
            <a:r>
              <a:rPr lang="en-GB" sz="3600" dirty="0"/>
              <a:t>Age: 6</a:t>
            </a:r>
          </a:p>
        </p:txBody>
      </p:sp>
      <p:sp>
        <p:nvSpPr>
          <p:cNvPr id="10" name="Callout: Bent Line with No Border 4">
            <a:extLst>
              <a:ext uri="{FF2B5EF4-FFF2-40B4-BE49-F238E27FC236}">
                <a16:creationId xmlns:a16="http://schemas.microsoft.com/office/drawing/2014/main" id="{924404A3-ED4C-4699-9CA9-EFEB23F51AA9}"/>
              </a:ext>
            </a:extLst>
          </p:cNvPr>
          <p:cNvSpPr/>
          <p:nvPr/>
        </p:nvSpPr>
        <p:spPr>
          <a:xfrm>
            <a:off x="9380220" y="5324575"/>
            <a:ext cx="2379980" cy="487680"/>
          </a:xfrm>
          <a:prstGeom prst="callout2">
            <a:avLst>
              <a:gd name="adj1" fmla="val 52750"/>
              <a:gd name="adj2" fmla="val -2245"/>
              <a:gd name="adj3" fmla="val 52413"/>
              <a:gd name="adj4" fmla="val -18836"/>
              <a:gd name="adj5" fmla="val 51542"/>
              <a:gd name="adj6" fmla="val -37734"/>
            </a:avLst>
          </a:prstGeom>
          <a:noFill/>
          <a:ln w="38100">
            <a:solidFill>
              <a:srgbClr val="FF0000"/>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chemeClr val="tx1"/>
                </a:solidFill>
              </a:rPr>
              <a:t>A record</a:t>
            </a:r>
          </a:p>
        </p:txBody>
      </p:sp>
    </p:spTree>
    <p:extLst>
      <p:ext uri="{BB962C8B-B14F-4D97-AF65-F5344CB8AC3E}">
        <p14:creationId xmlns:p14="http://schemas.microsoft.com/office/powerpoint/2010/main" val="3195083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childTnLst>
                          </p:cTn>
                        </p:par>
                        <p:par>
                          <p:cTn id="17" fill="hold">
                            <p:stCondLst>
                              <p:cond delay="2000"/>
                            </p:stCondLst>
                            <p:childTnLst>
                              <p:par>
                                <p:cTn id="18" presetID="10" presetClass="entr" presetSubtype="0"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childTnLst>
                                </p:cTn>
                              </p:par>
                            </p:childTnLst>
                          </p:cTn>
                        </p:par>
                        <p:par>
                          <p:cTn id="21" fill="hold">
                            <p:stCondLst>
                              <p:cond delay="3000"/>
                            </p:stCondLst>
                            <p:childTnLst>
                              <p:par>
                                <p:cTn id="22" presetID="10" presetClass="entr" presetSubtype="0"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5" grpId="0" animBg="1"/>
      <p:bldP spid="8" grpId="0" animBg="1"/>
      <p:bldP spid="7"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Records – Paper based</a:t>
            </a:r>
          </a:p>
        </p:txBody>
      </p:sp>
      <p:sp>
        <p:nvSpPr>
          <p:cNvPr id="3" name="TextBox 2">
            <a:extLst>
              <a:ext uri="{FF2B5EF4-FFF2-40B4-BE49-F238E27FC236}">
                <a16:creationId xmlns:a16="http://schemas.microsoft.com/office/drawing/2014/main" id="{9E8D577D-F9B0-4C26-95CB-954FFDF61DBD}"/>
              </a:ext>
            </a:extLst>
          </p:cNvPr>
          <p:cNvSpPr txBox="1"/>
          <p:nvPr/>
        </p:nvSpPr>
        <p:spPr>
          <a:xfrm>
            <a:off x="690544" y="1644016"/>
            <a:ext cx="3396892" cy="2308324"/>
          </a:xfrm>
          <a:prstGeom prst="rect">
            <a:avLst/>
          </a:prstGeom>
          <a:solidFill>
            <a:schemeClr val="accent4">
              <a:lumMod val="20000"/>
              <a:lumOff val="80000"/>
            </a:schemeClr>
          </a:solidFill>
          <a:ln>
            <a:solidFill>
              <a:schemeClr val="tx1"/>
            </a:solidFill>
          </a:ln>
        </p:spPr>
        <p:txBody>
          <a:bodyPr wrap="none" rtlCol="0">
            <a:spAutoFit/>
          </a:bodyPr>
          <a:lstStyle/>
          <a:p>
            <a:r>
              <a:rPr lang="en-GB" sz="3600" b="1" dirty="0">
                <a:highlight>
                  <a:srgbClr val="C0C0C0"/>
                </a:highlight>
              </a:rPr>
              <a:t>Pupil Record</a:t>
            </a:r>
            <a:r>
              <a:rPr lang="en-GB" sz="3600" dirty="0"/>
              <a:t> </a:t>
            </a:r>
            <a:endParaRPr lang="en-GB" sz="3600" u="sng" dirty="0"/>
          </a:p>
          <a:p>
            <a:r>
              <a:rPr lang="en-GB" sz="3600" dirty="0"/>
              <a:t>Forename: Sam</a:t>
            </a:r>
          </a:p>
          <a:p>
            <a:r>
              <a:rPr lang="en-GB" sz="3600" dirty="0"/>
              <a:t>Surname:	Wilson</a:t>
            </a:r>
          </a:p>
          <a:p>
            <a:r>
              <a:rPr lang="en-GB" sz="3600" dirty="0"/>
              <a:t>Age: 11</a:t>
            </a:r>
          </a:p>
        </p:txBody>
      </p:sp>
      <p:sp>
        <p:nvSpPr>
          <p:cNvPr id="6" name="TextBox 5">
            <a:extLst>
              <a:ext uri="{FF2B5EF4-FFF2-40B4-BE49-F238E27FC236}">
                <a16:creationId xmlns:a16="http://schemas.microsoft.com/office/drawing/2014/main" id="{9E8D577D-F9B0-4C26-95CB-954FFDF61DBD}"/>
              </a:ext>
            </a:extLst>
          </p:cNvPr>
          <p:cNvSpPr txBox="1"/>
          <p:nvPr/>
        </p:nvSpPr>
        <p:spPr>
          <a:xfrm>
            <a:off x="4681107" y="1644016"/>
            <a:ext cx="3327321" cy="2308324"/>
          </a:xfrm>
          <a:prstGeom prst="rect">
            <a:avLst/>
          </a:prstGeom>
          <a:solidFill>
            <a:schemeClr val="accent4">
              <a:lumMod val="20000"/>
              <a:lumOff val="80000"/>
            </a:schemeClr>
          </a:solidFill>
          <a:ln>
            <a:solidFill>
              <a:schemeClr val="tx1"/>
            </a:solidFill>
          </a:ln>
        </p:spPr>
        <p:txBody>
          <a:bodyPr wrap="none" rtlCol="0">
            <a:spAutoFit/>
          </a:bodyPr>
          <a:lstStyle/>
          <a:p>
            <a:r>
              <a:rPr lang="en-GB" sz="3600" b="1" dirty="0">
                <a:highlight>
                  <a:srgbClr val="C0C0C0"/>
                </a:highlight>
              </a:rPr>
              <a:t>Pupil Record</a:t>
            </a:r>
            <a:r>
              <a:rPr lang="en-GB" sz="3600" dirty="0"/>
              <a:t> </a:t>
            </a:r>
            <a:endParaRPr lang="en-GB" sz="3600" u="sng" dirty="0"/>
          </a:p>
          <a:p>
            <a:r>
              <a:rPr lang="en-GB" sz="3600" dirty="0"/>
              <a:t>Forename: Kim</a:t>
            </a:r>
          </a:p>
          <a:p>
            <a:r>
              <a:rPr lang="en-GB" sz="3600" dirty="0"/>
              <a:t>Surname: Young</a:t>
            </a:r>
          </a:p>
          <a:p>
            <a:r>
              <a:rPr lang="en-GB" sz="3600" dirty="0"/>
              <a:t>Age: 18</a:t>
            </a:r>
          </a:p>
        </p:txBody>
      </p:sp>
      <p:sp>
        <p:nvSpPr>
          <p:cNvPr id="5" name="TextBox 4">
            <a:extLst>
              <a:ext uri="{FF2B5EF4-FFF2-40B4-BE49-F238E27FC236}">
                <a16:creationId xmlns:a16="http://schemas.microsoft.com/office/drawing/2014/main" id="{9E8D577D-F9B0-4C26-95CB-954FFDF61DBD}"/>
              </a:ext>
            </a:extLst>
          </p:cNvPr>
          <p:cNvSpPr txBox="1"/>
          <p:nvPr/>
        </p:nvSpPr>
        <p:spPr>
          <a:xfrm>
            <a:off x="5357044" y="4324500"/>
            <a:ext cx="3158685" cy="2308324"/>
          </a:xfrm>
          <a:prstGeom prst="rect">
            <a:avLst/>
          </a:prstGeom>
          <a:solidFill>
            <a:schemeClr val="accent4">
              <a:lumMod val="20000"/>
              <a:lumOff val="80000"/>
            </a:schemeClr>
          </a:solidFill>
          <a:ln>
            <a:solidFill>
              <a:schemeClr val="tx1"/>
            </a:solidFill>
          </a:ln>
        </p:spPr>
        <p:txBody>
          <a:bodyPr wrap="none" rtlCol="0">
            <a:spAutoFit/>
          </a:bodyPr>
          <a:lstStyle/>
          <a:p>
            <a:r>
              <a:rPr lang="en-GB" sz="3600" b="1" dirty="0">
                <a:highlight>
                  <a:srgbClr val="C0C0C0"/>
                </a:highlight>
              </a:rPr>
              <a:t>Pupil Record</a:t>
            </a:r>
            <a:r>
              <a:rPr lang="en-GB" sz="3600" dirty="0"/>
              <a:t> </a:t>
            </a:r>
            <a:endParaRPr lang="en-GB" sz="3600" u="sng" dirty="0"/>
          </a:p>
          <a:p>
            <a:r>
              <a:rPr lang="en-GB" sz="3600" dirty="0"/>
              <a:t>Forename: Sally</a:t>
            </a:r>
          </a:p>
          <a:p>
            <a:r>
              <a:rPr lang="en-GB" sz="3600" dirty="0"/>
              <a:t>Surname: Clark</a:t>
            </a:r>
          </a:p>
          <a:p>
            <a:r>
              <a:rPr lang="en-GB" sz="3600" dirty="0"/>
              <a:t>Age: 14</a:t>
            </a:r>
          </a:p>
        </p:txBody>
      </p:sp>
      <p:sp>
        <p:nvSpPr>
          <p:cNvPr id="8" name="TextBox 7">
            <a:extLst>
              <a:ext uri="{FF2B5EF4-FFF2-40B4-BE49-F238E27FC236}">
                <a16:creationId xmlns:a16="http://schemas.microsoft.com/office/drawing/2014/main" id="{9E8D577D-F9B0-4C26-95CB-954FFDF61DBD}"/>
              </a:ext>
            </a:extLst>
          </p:cNvPr>
          <p:cNvSpPr txBox="1"/>
          <p:nvPr/>
        </p:nvSpPr>
        <p:spPr>
          <a:xfrm>
            <a:off x="8441799" y="1644016"/>
            <a:ext cx="3404906" cy="2308324"/>
          </a:xfrm>
          <a:prstGeom prst="rect">
            <a:avLst/>
          </a:prstGeom>
          <a:solidFill>
            <a:schemeClr val="accent4">
              <a:lumMod val="20000"/>
              <a:lumOff val="80000"/>
            </a:schemeClr>
          </a:solidFill>
          <a:ln>
            <a:solidFill>
              <a:schemeClr val="tx1"/>
            </a:solidFill>
          </a:ln>
        </p:spPr>
        <p:txBody>
          <a:bodyPr wrap="none" rtlCol="0">
            <a:spAutoFit/>
          </a:bodyPr>
          <a:lstStyle/>
          <a:p>
            <a:r>
              <a:rPr lang="en-GB" sz="3600" b="1" dirty="0">
                <a:highlight>
                  <a:srgbClr val="C0C0C0"/>
                </a:highlight>
              </a:rPr>
              <a:t>Pupil Record</a:t>
            </a:r>
            <a:r>
              <a:rPr lang="en-GB" sz="3600" dirty="0"/>
              <a:t> </a:t>
            </a:r>
            <a:endParaRPr lang="en-GB" sz="3600" u="sng" dirty="0"/>
          </a:p>
          <a:p>
            <a:r>
              <a:rPr lang="en-GB" sz="3600" dirty="0"/>
              <a:t>Forename: Peter</a:t>
            </a:r>
          </a:p>
          <a:p>
            <a:r>
              <a:rPr lang="en-GB" sz="3600" dirty="0"/>
              <a:t>Surname: Jones</a:t>
            </a:r>
          </a:p>
          <a:p>
            <a:r>
              <a:rPr lang="en-GB" sz="3600" dirty="0"/>
              <a:t>Age: 9</a:t>
            </a:r>
          </a:p>
        </p:txBody>
      </p:sp>
      <p:sp>
        <p:nvSpPr>
          <p:cNvPr id="7" name="TextBox 6">
            <a:extLst>
              <a:ext uri="{FF2B5EF4-FFF2-40B4-BE49-F238E27FC236}">
                <a16:creationId xmlns:a16="http://schemas.microsoft.com/office/drawing/2014/main" id="{9E8D577D-F9B0-4C26-95CB-954FFDF61DBD}"/>
              </a:ext>
            </a:extLst>
          </p:cNvPr>
          <p:cNvSpPr txBox="1"/>
          <p:nvPr/>
        </p:nvSpPr>
        <p:spPr>
          <a:xfrm>
            <a:off x="1518253" y="4324500"/>
            <a:ext cx="3113353" cy="2308324"/>
          </a:xfrm>
          <a:prstGeom prst="rect">
            <a:avLst/>
          </a:prstGeom>
          <a:solidFill>
            <a:schemeClr val="accent4">
              <a:lumMod val="20000"/>
              <a:lumOff val="80000"/>
            </a:schemeClr>
          </a:solidFill>
          <a:ln>
            <a:solidFill>
              <a:schemeClr val="tx1"/>
            </a:solidFill>
          </a:ln>
        </p:spPr>
        <p:txBody>
          <a:bodyPr wrap="none" rtlCol="0">
            <a:spAutoFit/>
          </a:bodyPr>
          <a:lstStyle/>
          <a:p>
            <a:r>
              <a:rPr lang="en-GB" sz="3600" b="1" dirty="0">
                <a:highlight>
                  <a:srgbClr val="C0C0C0"/>
                </a:highlight>
              </a:rPr>
              <a:t>Pupil Record</a:t>
            </a:r>
            <a:r>
              <a:rPr lang="en-GB" sz="3600" dirty="0"/>
              <a:t> </a:t>
            </a:r>
            <a:endParaRPr lang="en-GB" sz="3600" u="sng" dirty="0"/>
          </a:p>
          <a:p>
            <a:r>
              <a:rPr lang="en-GB" sz="3600" dirty="0"/>
              <a:t>Forename: Tom</a:t>
            </a:r>
          </a:p>
          <a:p>
            <a:r>
              <a:rPr lang="en-GB" sz="3600" dirty="0"/>
              <a:t>Surname:	Smith</a:t>
            </a:r>
          </a:p>
          <a:p>
            <a:r>
              <a:rPr lang="en-GB" sz="3600" dirty="0"/>
              <a:t>Age: 6</a:t>
            </a:r>
          </a:p>
        </p:txBody>
      </p:sp>
    </p:spTree>
    <p:extLst>
      <p:ext uri="{BB962C8B-B14F-4D97-AF65-F5344CB8AC3E}">
        <p14:creationId xmlns:p14="http://schemas.microsoft.com/office/powerpoint/2010/main" val="504513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Records – Electronic</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extLst>
              <p:ext uri="{D42A27DB-BD31-4B8C-83A1-F6EECF244321}">
                <p14:modId xmlns:p14="http://schemas.microsoft.com/office/powerpoint/2010/main" val="3076279344"/>
              </p:ext>
            </p:extLst>
          </p:nvPr>
        </p:nvGraphicFramePr>
        <p:xfrm>
          <a:off x="838200" y="2757168"/>
          <a:ext cx="6451600" cy="3474720"/>
        </p:xfrm>
        <a:graphic>
          <a:graphicData uri="http://schemas.openxmlformats.org/drawingml/2006/table">
            <a:tbl>
              <a:tblPr firstRow="1" bandRow="1">
                <a:tableStyleId>{5C22544A-7EE6-4342-B048-85BDC9FD1C3A}</a:tableStyleId>
              </a:tblPr>
              <a:tblGrid>
                <a:gridCol w="2397760">
                  <a:extLst>
                    <a:ext uri="{9D8B030D-6E8A-4147-A177-3AD203B41FA5}">
                      <a16:colId xmlns:a16="http://schemas.microsoft.com/office/drawing/2014/main" val="3505833113"/>
                    </a:ext>
                  </a:extLst>
                </a:gridCol>
                <a:gridCol w="2148840">
                  <a:extLst>
                    <a:ext uri="{9D8B030D-6E8A-4147-A177-3AD203B41FA5}">
                      <a16:colId xmlns:a16="http://schemas.microsoft.com/office/drawing/2014/main" val="315362434"/>
                    </a:ext>
                  </a:extLst>
                </a:gridCol>
                <a:gridCol w="1905000">
                  <a:extLst>
                    <a:ext uri="{9D8B030D-6E8A-4147-A177-3AD203B41FA5}">
                      <a16:colId xmlns:a16="http://schemas.microsoft.com/office/drawing/2014/main" val="415971381"/>
                    </a:ext>
                  </a:extLst>
                </a:gridCol>
              </a:tblGrid>
              <a:tr h="370840">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a:t>Age</a:t>
                      </a:r>
                    </a:p>
                  </a:txBody>
                  <a:tcPr/>
                </a:tc>
                <a:extLst>
                  <a:ext uri="{0D108BD9-81ED-4DB2-BD59-A6C34878D82A}">
                    <a16:rowId xmlns:a16="http://schemas.microsoft.com/office/drawing/2014/main" val="3459615676"/>
                  </a:ext>
                </a:extLst>
              </a:tr>
              <a:tr h="370840">
                <a:tc>
                  <a:txBody>
                    <a:bodyPr/>
                    <a:lstStyle/>
                    <a:p>
                      <a:pPr lvl="1" algn="l"/>
                      <a:r>
                        <a:rPr lang="en-GB" sz="3200" dirty="0"/>
                        <a:t>Tom</a:t>
                      </a:r>
                    </a:p>
                  </a:txBody>
                  <a:tcPr/>
                </a:tc>
                <a:tc>
                  <a:txBody>
                    <a:bodyPr/>
                    <a:lstStyle/>
                    <a:p>
                      <a:pPr lvl="1" algn="l"/>
                      <a:r>
                        <a:rPr lang="en-GB" sz="3200" dirty="0"/>
                        <a:t>Smith</a:t>
                      </a:r>
                    </a:p>
                  </a:txBody>
                  <a:tcPr/>
                </a:tc>
                <a:tc>
                  <a:txBody>
                    <a:bodyPr/>
                    <a:lstStyle/>
                    <a:p>
                      <a:pPr lvl="1"/>
                      <a:r>
                        <a:rPr lang="en-GB" sz="3200" dirty="0"/>
                        <a:t>6</a:t>
                      </a:r>
                    </a:p>
                  </a:txBody>
                  <a:tcPr/>
                </a:tc>
                <a:extLst>
                  <a:ext uri="{0D108BD9-81ED-4DB2-BD59-A6C34878D82A}">
                    <a16:rowId xmlns:a16="http://schemas.microsoft.com/office/drawing/2014/main" val="1127765656"/>
                  </a:ext>
                </a:extLst>
              </a:tr>
              <a:tr h="370840">
                <a:tc>
                  <a:txBody>
                    <a:bodyPr/>
                    <a:lstStyle/>
                    <a:p>
                      <a:pPr lvl="1" algn="l"/>
                      <a:r>
                        <a:rPr lang="en-GB" sz="3200" dirty="0"/>
                        <a:t>Peter</a:t>
                      </a:r>
                    </a:p>
                  </a:txBody>
                  <a:tcPr/>
                </a:tc>
                <a:tc>
                  <a:txBody>
                    <a:bodyPr/>
                    <a:lstStyle/>
                    <a:p>
                      <a:pPr lvl="1" algn="l"/>
                      <a:r>
                        <a:rPr lang="en-GB" sz="3200" dirty="0"/>
                        <a:t>Jones</a:t>
                      </a:r>
                    </a:p>
                  </a:txBody>
                  <a:tcPr/>
                </a:tc>
                <a:tc>
                  <a:txBody>
                    <a:bodyPr/>
                    <a:lstStyle/>
                    <a:p>
                      <a:pPr lvl="1"/>
                      <a:r>
                        <a:rPr lang="en-GB" sz="3200" dirty="0"/>
                        <a:t>9</a:t>
                      </a:r>
                    </a:p>
                  </a:txBody>
                  <a:tcPr/>
                </a:tc>
                <a:extLst>
                  <a:ext uri="{0D108BD9-81ED-4DB2-BD59-A6C34878D82A}">
                    <a16:rowId xmlns:a16="http://schemas.microsoft.com/office/drawing/2014/main" val="2924661129"/>
                  </a:ext>
                </a:extLst>
              </a:tr>
              <a:tr h="370840">
                <a:tc>
                  <a:txBody>
                    <a:bodyPr/>
                    <a:lstStyle/>
                    <a:p>
                      <a:pPr lvl="1" algn="l"/>
                      <a:r>
                        <a:rPr lang="en-GB" sz="3200" dirty="0"/>
                        <a:t>Sally</a:t>
                      </a:r>
                    </a:p>
                  </a:txBody>
                  <a:tcPr/>
                </a:tc>
                <a:tc>
                  <a:txBody>
                    <a:bodyPr/>
                    <a:lstStyle/>
                    <a:p>
                      <a:pPr lvl="1" algn="l"/>
                      <a:r>
                        <a:rPr lang="en-GB" sz="3200" dirty="0"/>
                        <a:t>Clark</a:t>
                      </a:r>
                    </a:p>
                  </a:txBody>
                  <a:tcPr/>
                </a:tc>
                <a:tc>
                  <a:txBody>
                    <a:bodyPr/>
                    <a:lstStyle/>
                    <a:p>
                      <a:pPr lvl="1"/>
                      <a:r>
                        <a:rPr lang="en-GB" sz="3200" dirty="0"/>
                        <a:t>14</a:t>
                      </a:r>
                    </a:p>
                  </a:txBody>
                  <a:tcPr/>
                </a:tc>
                <a:extLst>
                  <a:ext uri="{0D108BD9-81ED-4DB2-BD59-A6C34878D82A}">
                    <a16:rowId xmlns:a16="http://schemas.microsoft.com/office/drawing/2014/main" val="3885493841"/>
                  </a:ext>
                </a:extLst>
              </a:tr>
              <a:tr h="370840">
                <a:tc>
                  <a:txBody>
                    <a:bodyPr/>
                    <a:lstStyle/>
                    <a:p>
                      <a:pPr lvl="1" algn="l"/>
                      <a:r>
                        <a:rPr lang="en-GB" sz="3200" dirty="0"/>
                        <a:t>Sam</a:t>
                      </a:r>
                    </a:p>
                  </a:txBody>
                  <a:tcPr/>
                </a:tc>
                <a:tc>
                  <a:txBody>
                    <a:bodyPr/>
                    <a:lstStyle/>
                    <a:p>
                      <a:pPr lvl="1" algn="l"/>
                      <a:r>
                        <a:rPr lang="en-GB" sz="3200" dirty="0"/>
                        <a:t>Wilson</a:t>
                      </a:r>
                    </a:p>
                  </a:txBody>
                  <a:tcPr/>
                </a:tc>
                <a:tc>
                  <a:txBody>
                    <a:bodyPr/>
                    <a:lstStyle/>
                    <a:p>
                      <a:pPr lvl="1"/>
                      <a:r>
                        <a:rPr lang="en-GB" sz="3200" dirty="0"/>
                        <a:t>11</a:t>
                      </a:r>
                    </a:p>
                  </a:txBody>
                  <a:tcPr/>
                </a:tc>
                <a:extLst>
                  <a:ext uri="{0D108BD9-81ED-4DB2-BD59-A6C34878D82A}">
                    <a16:rowId xmlns:a16="http://schemas.microsoft.com/office/drawing/2014/main" val="1487565366"/>
                  </a:ext>
                </a:extLst>
              </a:tr>
              <a:tr h="370840">
                <a:tc>
                  <a:txBody>
                    <a:bodyPr/>
                    <a:lstStyle/>
                    <a:p>
                      <a:pPr lvl="1" algn="l"/>
                      <a:r>
                        <a:rPr lang="en-GB" sz="3200" dirty="0"/>
                        <a:t>Kim</a:t>
                      </a:r>
                    </a:p>
                  </a:txBody>
                  <a:tcPr/>
                </a:tc>
                <a:tc>
                  <a:txBody>
                    <a:bodyPr/>
                    <a:lstStyle/>
                    <a:p>
                      <a:pPr lvl="1" algn="l"/>
                      <a:r>
                        <a:rPr lang="en-GB" sz="3200" dirty="0"/>
                        <a:t>Young</a:t>
                      </a:r>
                    </a:p>
                  </a:txBody>
                  <a:tcPr/>
                </a:tc>
                <a:tc>
                  <a:txBody>
                    <a:bodyPr/>
                    <a:lstStyle/>
                    <a:p>
                      <a:pPr lvl="1"/>
                      <a:r>
                        <a:rPr lang="en-GB" sz="3200" dirty="0"/>
                        <a:t>18</a:t>
                      </a:r>
                    </a:p>
                  </a:txBody>
                  <a:tcPr/>
                </a:tc>
                <a:extLst>
                  <a:ext uri="{0D108BD9-81ED-4DB2-BD59-A6C34878D82A}">
                    <a16:rowId xmlns:a16="http://schemas.microsoft.com/office/drawing/2014/main" val="3382330726"/>
                  </a:ext>
                </a:extLst>
              </a:tr>
            </a:tbl>
          </a:graphicData>
        </a:graphic>
      </p:graphicFrame>
      <p:sp>
        <p:nvSpPr>
          <p:cNvPr id="4" name="Rectangle: Rounded Corners 9">
            <a:extLst>
              <a:ext uri="{FF2B5EF4-FFF2-40B4-BE49-F238E27FC236}">
                <a16:creationId xmlns:a16="http://schemas.microsoft.com/office/drawing/2014/main" id="{5D773087-09BD-45AD-89A6-29025E9351DE}"/>
              </a:ext>
            </a:extLst>
          </p:cNvPr>
          <p:cNvSpPr/>
          <p:nvPr/>
        </p:nvSpPr>
        <p:spPr>
          <a:xfrm>
            <a:off x="838200" y="4486590"/>
            <a:ext cx="6451600" cy="56578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Callout: Bent Line with No Border 4">
            <a:extLst>
              <a:ext uri="{FF2B5EF4-FFF2-40B4-BE49-F238E27FC236}">
                <a16:creationId xmlns:a16="http://schemas.microsoft.com/office/drawing/2014/main" id="{924404A3-ED4C-4699-9CA9-EFEB23F51AA9}"/>
              </a:ext>
            </a:extLst>
          </p:cNvPr>
          <p:cNvSpPr/>
          <p:nvPr/>
        </p:nvSpPr>
        <p:spPr>
          <a:xfrm>
            <a:off x="8382635" y="4324728"/>
            <a:ext cx="2839547" cy="889507"/>
          </a:xfrm>
          <a:prstGeom prst="callout2">
            <a:avLst>
              <a:gd name="adj1" fmla="val 52750"/>
              <a:gd name="adj2" fmla="val -2245"/>
              <a:gd name="adj3" fmla="val 53715"/>
              <a:gd name="adj4" fmla="val -18969"/>
              <a:gd name="adj5" fmla="val 53496"/>
              <a:gd name="adj6" fmla="val -32662"/>
            </a:avLst>
          </a:prstGeom>
          <a:noFill/>
          <a:ln w="38100">
            <a:solidFill>
              <a:srgbClr val="FF0000"/>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A record</a:t>
            </a:r>
          </a:p>
          <a:p>
            <a:r>
              <a:rPr lang="en-GB" sz="2800" b="1" dirty="0">
                <a:solidFill>
                  <a:srgbClr val="7030A0"/>
                </a:solidFill>
              </a:rPr>
              <a:t>(multiple fields)</a:t>
            </a:r>
          </a:p>
        </p:txBody>
      </p:sp>
      <p:sp>
        <p:nvSpPr>
          <p:cNvPr id="3" name="TextBox 2">
            <a:extLst>
              <a:ext uri="{FF2B5EF4-FFF2-40B4-BE49-F238E27FC236}">
                <a16:creationId xmlns:a16="http://schemas.microsoft.com/office/drawing/2014/main" id="{52A295CC-8959-7191-3AFD-BD54D14A7EC9}"/>
              </a:ext>
            </a:extLst>
          </p:cNvPr>
          <p:cNvSpPr txBox="1"/>
          <p:nvPr/>
        </p:nvSpPr>
        <p:spPr>
          <a:xfrm>
            <a:off x="838200" y="1559731"/>
            <a:ext cx="3955442" cy="584775"/>
          </a:xfrm>
          <a:prstGeom prst="rect">
            <a:avLst/>
          </a:prstGeom>
          <a:noFill/>
        </p:spPr>
        <p:txBody>
          <a:bodyPr wrap="none" rtlCol="0">
            <a:spAutoFit/>
          </a:bodyPr>
          <a:lstStyle/>
          <a:p>
            <a:r>
              <a:rPr lang="en-GB" sz="3200" b="1" dirty="0">
                <a:solidFill>
                  <a:srgbClr val="7030A0"/>
                </a:solidFill>
              </a:rPr>
              <a:t>Data stored in table(s)</a:t>
            </a:r>
          </a:p>
        </p:txBody>
      </p:sp>
      <p:sp>
        <p:nvSpPr>
          <p:cNvPr id="7" name="Rectangle: Rounded Corners 9">
            <a:extLst>
              <a:ext uri="{FF2B5EF4-FFF2-40B4-BE49-F238E27FC236}">
                <a16:creationId xmlns:a16="http://schemas.microsoft.com/office/drawing/2014/main" id="{EBD85118-3121-322A-A785-D7E5BC3C6DDB}"/>
              </a:ext>
            </a:extLst>
          </p:cNvPr>
          <p:cNvSpPr/>
          <p:nvPr/>
        </p:nvSpPr>
        <p:spPr>
          <a:xfrm>
            <a:off x="5428891" y="2757168"/>
            <a:ext cx="1805796" cy="56578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Callout: Bent Line with No Border 4">
            <a:extLst>
              <a:ext uri="{FF2B5EF4-FFF2-40B4-BE49-F238E27FC236}">
                <a16:creationId xmlns:a16="http://schemas.microsoft.com/office/drawing/2014/main" id="{B9255652-7499-91E1-0752-F0DD357DD42C}"/>
              </a:ext>
            </a:extLst>
          </p:cNvPr>
          <p:cNvSpPr/>
          <p:nvPr/>
        </p:nvSpPr>
        <p:spPr>
          <a:xfrm>
            <a:off x="8382635" y="2811781"/>
            <a:ext cx="2379980" cy="487680"/>
          </a:xfrm>
          <a:prstGeom prst="callout2">
            <a:avLst>
              <a:gd name="adj1" fmla="val 52750"/>
              <a:gd name="adj2" fmla="val -2245"/>
              <a:gd name="adj3" fmla="val 53715"/>
              <a:gd name="adj4" fmla="val -18969"/>
              <a:gd name="adj5" fmla="val 53496"/>
              <a:gd name="adj6" fmla="val -38935"/>
            </a:avLst>
          </a:prstGeom>
          <a:noFill/>
          <a:ln w="38100">
            <a:solidFill>
              <a:srgbClr val="FF0000"/>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A field</a:t>
            </a:r>
          </a:p>
        </p:txBody>
      </p:sp>
    </p:spTree>
    <p:extLst>
      <p:ext uri="{BB962C8B-B14F-4D97-AF65-F5344CB8AC3E}">
        <p14:creationId xmlns:p14="http://schemas.microsoft.com/office/powerpoint/2010/main" val="3877628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outVertical)">
                                      <p:cBhvr>
                                        <p:cTn id="17" dur="500"/>
                                        <p:tgtEl>
                                          <p:spTgt spid="7"/>
                                        </p:tgtEl>
                                      </p:cBhvr>
                                    </p:animEffect>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37"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barn(outVertical)">
                                      <p:cBhvr>
                                        <p:cTn id="26" dur="1500"/>
                                        <p:tgtEl>
                                          <p:spTgt spid="4"/>
                                        </p:tgtEl>
                                      </p:cBhvr>
                                    </p:animEffect>
                                  </p:childTnLst>
                                </p:cTn>
                              </p:par>
                            </p:childTnLst>
                          </p:cTn>
                        </p:par>
                        <p:par>
                          <p:cTn id="27" fill="hold">
                            <p:stCondLst>
                              <p:cond delay="1500"/>
                            </p:stCondLst>
                            <p:childTnLst>
                              <p:par>
                                <p:cTn id="28" presetID="10" presetClass="entr" presetSubtype="0"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3" grpId="0"/>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Records – Electronic</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nvPr>
        </p:nvGraphicFramePr>
        <p:xfrm>
          <a:off x="838200" y="2757168"/>
          <a:ext cx="6451600" cy="3474720"/>
        </p:xfrm>
        <a:graphic>
          <a:graphicData uri="http://schemas.openxmlformats.org/drawingml/2006/table">
            <a:tbl>
              <a:tblPr firstRow="1" bandRow="1">
                <a:tableStyleId>{5C22544A-7EE6-4342-B048-85BDC9FD1C3A}</a:tableStyleId>
              </a:tblPr>
              <a:tblGrid>
                <a:gridCol w="2397760">
                  <a:extLst>
                    <a:ext uri="{9D8B030D-6E8A-4147-A177-3AD203B41FA5}">
                      <a16:colId xmlns:a16="http://schemas.microsoft.com/office/drawing/2014/main" val="3505833113"/>
                    </a:ext>
                  </a:extLst>
                </a:gridCol>
                <a:gridCol w="2148840">
                  <a:extLst>
                    <a:ext uri="{9D8B030D-6E8A-4147-A177-3AD203B41FA5}">
                      <a16:colId xmlns:a16="http://schemas.microsoft.com/office/drawing/2014/main" val="315362434"/>
                    </a:ext>
                  </a:extLst>
                </a:gridCol>
                <a:gridCol w="1905000">
                  <a:extLst>
                    <a:ext uri="{9D8B030D-6E8A-4147-A177-3AD203B41FA5}">
                      <a16:colId xmlns:a16="http://schemas.microsoft.com/office/drawing/2014/main" val="415971381"/>
                    </a:ext>
                  </a:extLst>
                </a:gridCol>
              </a:tblGrid>
              <a:tr h="370840">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a:t>Age</a:t>
                      </a:r>
                    </a:p>
                  </a:txBody>
                  <a:tcPr/>
                </a:tc>
                <a:extLst>
                  <a:ext uri="{0D108BD9-81ED-4DB2-BD59-A6C34878D82A}">
                    <a16:rowId xmlns:a16="http://schemas.microsoft.com/office/drawing/2014/main" val="3459615676"/>
                  </a:ext>
                </a:extLst>
              </a:tr>
              <a:tr h="370840">
                <a:tc>
                  <a:txBody>
                    <a:bodyPr/>
                    <a:lstStyle/>
                    <a:p>
                      <a:pPr lvl="1" algn="l"/>
                      <a:r>
                        <a:rPr lang="en-GB" sz="3200" dirty="0"/>
                        <a:t>Tom</a:t>
                      </a:r>
                    </a:p>
                  </a:txBody>
                  <a:tcPr/>
                </a:tc>
                <a:tc>
                  <a:txBody>
                    <a:bodyPr/>
                    <a:lstStyle/>
                    <a:p>
                      <a:pPr lvl="1" algn="l"/>
                      <a:r>
                        <a:rPr lang="en-GB" sz="3200" dirty="0"/>
                        <a:t>Smith</a:t>
                      </a:r>
                    </a:p>
                  </a:txBody>
                  <a:tcPr/>
                </a:tc>
                <a:tc>
                  <a:txBody>
                    <a:bodyPr/>
                    <a:lstStyle/>
                    <a:p>
                      <a:pPr lvl="1"/>
                      <a:r>
                        <a:rPr lang="en-GB" sz="3200" dirty="0"/>
                        <a:t>6</a:t>
                      </a:r>
                    </a:p>
                  </a:txBody>
                  <a:tcPr/>
                </a:tc>
                <a:extLst>
                  <a:ext uri="{0D108BD9-81ED-4DB2-BD59-A6C34878D82A}">
                    <a16:rowId xmlns:a16="http://schemas.microsoft.com/office/drawing/2014/main" val="1127765656"/>
                  </a:ext>
                </a:extLst>
              </a:tr>
              <a:tr h="370840">
                <a:tc>
                  <a:txBody>
                    <a:bodyPr/>
                    <a:lstStyle/>
                    <a:p>
                      <a:pPr lvl="1" algn="l"/>
                      <a:r>
                        <a:rPr lang="en-GB" sz="3200" dirty="0"/>
                        <a:t>Peter</a:t>
                      </a:r>
                    </a:p>
                  </a:txBody>
                  <a:tcPr/>
                </a:tc>
                <a:tc>
                  <a:txBody>
                    <a:bodyPr/>
                    <a:lstStyle/>
                    <a:p>
                      <a:pPr lvl="1" algn="l"/>
                      <a:r>
                        <a:rPr lang="en-GB" sz="3200" dirty="0"/>
                        <a:t>Jones</a:t>
                      </a:r>
                    </a:p>
                  </a:txBody>
                  <a:tcPr/>
                </a:tc>
                <a:tc>
                  <a:txBody>
                    <a:bodyPr/>
                    <a:lstStyle/>
                    <a:p>
                      <a:pPr lvl="1"/>
                      <a:r>
                        <a:rPr lang="en-GB" sz="3200" dirty="0"/>
                        <a:t>9</a:t>
                      </a:r>
                    </a:p>
                  </a:txBody>
                  <a:tcPr/>
                </a:tc>
                <a:extLst>
                  <a:ext uri="{0D108BD9-81ED-4DB2-BD59-A6C34878D82A}">
                    <a16:rowId xmlns:a16="http://schemas.microsoft.com/office/drawing/2014/main" val="2924661129"/>
                  </a:ext>
                </a:extLst>
              </a:tr>
              <a:tr h="370840">
                <a:tc>
                  <a:txBody>
                    <a:bodyPr/>
                    <a:lstStyle/>
                    <a:p>
                      <a:pPr lvl="1" algn="l"/>
                      <a:r>
                        <a:rPr lang="en-GB" sz="3200" dirty="0"/>
                        <a:t>Sally</a:t>
                      </a:r>
                    </a:p>
                  </a:txBody>
                  <a:tcPr/>
                </a:tc>
                <a:tc>
                  <a:txBody>
                    <a:bodyPr/>
                    <a:lstStyle/>
                    <a:p>
                      <a:pPr lvl="1" algn="l"/>
                      <a:r>
                        <a:rPr lang="en-GB" sz="3200" dirty="0"/>
                        <a:t>Clark</a:t>
                      </a:r>
                    </a:p>
                  </a:txBody>
                  <a:tcPr/>
                </a:tc>
                <a:tc>
                  <a:txBody>
                    <a:bodyPr/>
                    <a:lstStyle/>
                    <a:p>
                      <a:pPr lvl="1"/>
                      <a:r>
                        <a:rPr lang="en-GB" sz="3200" dirty="0"/>
                        <a:t>14</a:t>
                      </a:r>
                    </a:p>
                  </a:txBody>
                  <a:tcPr/>
                </a:tc>
                <a:extLst>
                  <a:ext uri="{0D108BD9-81ED-4DB2-BD59-A6C34878D82A}">
                    <a16:rowId xmlns:a16="http://schemas.microsoft.com/office/drawing/2014/main" val="3885493841"/>
                  </a:ext>
                </a:extLst>
              </a:tr>
              <a:tr h="370840">
                <a:tc>
                  <a:txBody>
                    <a:bodyPr/>
                    <a:lstStyle/>
                    <a:p>
                      <a:pPr lvl="1" algn="l"/>
                      <a:r>
                        <a:rPr lang="en-GB" sz="3200" dirty="0"/>
                        <a:t>Sam</a:t>
                      </a:r>
                    </a:p>
                  </a:txBody>
                  <a:tcPr/>
                </a:tc>
                <a:tc>
                  <a:txBody>
                    <a:bodyPr/>
                    <a:lstStyle/>
                    <a:p>
                      <a:pPr lvl="1" algn="l"/>
                      <a:r>
                        <a:rPr lang="en-GB" sz="3200" dirty="0"/>
                        <a:t>Wilson</a:t>
                      </a:r>
                    </a:p>
                  </a:txBody>
                  <a:tcPr/>
                </a:tc>
                <a:tc>
                  <a:txBody>
                    <a:bodyPr/>
                    <a:lstStyle/>
                    <a:p>
                      <a:pPr lvl="1"/>
                      <a:r>
                        <a:rPr lang="en-GB" sz="3200" dirty="0"/>
                        <a:t>11</a:t>
                      </a:r>
                    </a:p>
                  </a:txBody>
                  <a:tcPr/>
                </a:tc>
                <a:extLst>
                  <a:ext uri="{0D108BD9-81ED-4DB2-BD59-A6C34878D82A}">
                    <a16:rowId xmlns:a16="http://schemas.microsoft.com/office/drawing/2014/main" val="1487565366"/>
                  </a:ext>
                </a:extLst>
              </a:tr>
              <a:tr h="370840">
                <a:tc>
                  <a:txBody>
                    <a:bodyPr/>
                    <a:lstStyle/>
                    <a:p>
                      <a:pPr lvl="1" algn="l"/>
                      <a:r>
                        <a:rPr lang="en-GB" sz="3200" dirty="0"/>
                        <a:t>Kim</a:t>
                      </a:r>
                    </a:p>
                  </a:txBody>
                  <a:tcPr/>
                </a:tc>
                <a:tc>
                  <a:txBody>
                    <a:bodyPr/>
                    <a:lstStyle/>
                    <a:p>
                      <a:pPr lvl="1" algn="l"/>
                      <a:r>
                        <a:rPr lang="en-GB" sz="3200" dirty="0"/>
                        <a:t>Young</a:t>
                      </a:r>
                    </a:p>
                  </a:txBody>
                  <a:tcPr/>
                </a:tc>
                <a:tc>
                  <a:txBody>
                    <a:bodyPr/>
                    <a:lstStyle/>
                    <a:p>
                      <a:pPr lvl="1"/>
                      <a:r>
                        <a:rPr lang="en-GB" sz="3200" dirty="0"/>
                        <a:t>18</a:t>
                      </a:r>
                    </a:p>
                  </a:txBody>
                  <a:tcPr/>
                </a:tc>
                <a:extLst>
                  <a:ext uri="{0D108BD9-81ED-4DB2-BD59-A6C34878D82A}">
                    <a16:rowId xmlns:a16="http://schemas.microsoft.com/office/drawing/2014/main" val="3382330726"/>
                  </a:ext>
                </a:extLst>
              </a:tr>
            </a:tbl>
          </a:graphicData>
        </a:graphic>
      </p:graphicFrame>
    </p:spTree>
    <p:extLst>
      <p:ext uri="{BB962C8B-B14F-4D97-AF65-F5344CB8AC3E}">
        <p14:creationId xmlns:p14="http://schemas.microsoft.com/office/powerpoint/2010/main" val="274477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Relational Database</a:t>
            </a:r>
          </a:p>
        </p:txBody>
      </p:sp>
      <p:sp>
        <p:nvSpPr>
          <p:cNvPr id="15" name="TextBox 14">
            <a:extLst>
              <a:ext uri="{FF2B5EF4-FFF2-40B4-BE49-F238E27FC236}">
                <a16:creationId xmlns:a16="http://schemas.microsoft.com/office/drawing/2014/main" id="{B935E981-B7C6-4BDF-ADC2-EFF2B075D3D8}"/>
              </a:ext>
            </a:extLst>
          </p:cNvPr>
          <p:cNvSpPr txBox="1"/>
          <p:nvPr/>
        </p:nvSpPr>
        <p:spPr>
          <a:xfrm>
            <a:off x="838200" y="1559731"/>
            <a:ext cx="8039509" cy="584775"/>
          </a:xfrm>
          <a:prstGeom prst="rect">
            <a:avLst/>
          </a:prstGeom>
          <a:noFill/>
        </p:spPr>
        <p:txBody>
          <a:bodyPr wrap="none" rtlCol="0">
            <a:spAutoFit/>
          </a:bodyPr>
          <a:lstStyle/>
          <a:p>
            <a:r>
              <a:rPr lang="en-GB" sz="3200" b="1" dirty="0">
                <a:solidFill>
                  <a:srgbClr val="7030A0"/>
                </a:solidFill>
              </a:rPr>
              <a:t>Multiple tables – each holds data on one topic</a:t>
            </a:r>
          </a:p>
        </p:txBody>
      </p:sp>
      <p:graphicFrame>
        <p:nvGraphicFramePr>
          <p:cNvPr id="14" name="Dept table">
            <a:extLst>
              <a:ext uri="{FF2B5EF4-FFF2-40B4-BE49-F238E27FC236}">
                <a16:creationId xmlns:a16="http://schemas.microsoft.com/office/drawing/2014/main" id="{844D8AF2-45F4-4D3A-A16B-FDE72F88C3EB}"/>
              </a:ext>
            </a:extLst>
          </p:cNvPr>
          <p:cNvGraphicFramePr>
            <a:graphicFrameLocks/>
          </p:cNvGraphicFramePr>
          <p:nvPr>
            <p:extLst>
              <p:ext uri="{D42A27DB-BD31-4B8C-83A1-F6EECF244321}">
                <p14:modId xmlns:p14="http://schemas.microsoft.com/office/powerpoint/2010/main" val="1912165251"/>
              </p:ext>
            </p:extLst>
          </p:nvPr>
        </p:nvGraphicFramePr>
        <p:xfrm>
          <a:off x="7669848" y="2742570"/>
          <a:ext cx="3683952" cy="1777656"/>
        </p:xfrm>
        <a:graphic>
          <a:graphicData uri="http://schemas.openxmlformats.org/drawingml/2006/table">
            <a:tbl>
              <a:tblPr firstRow="1" bandRow="1">
                <a:tableStyleId>{5C22544A-7EE6-4342-B048-85BDC9FD1C3A}</a:tableStyleId>
              </a:tblPr>
              <a:tblGrid>
                <a:gridCol w="894080">
                  <a:extLst>
                    <a:ext uri="{9D8B030D-6E8A-4147-A177-3AD203B41FA5}">
                      <a16:colId xmlns:a16="http://schemas.microsoft.com/office/drawing/2014/main" val="415971381"/>
                    </a:ext>
                  </a:extLst>
                </a:gridCol>
                <a:gridCol w="1440180">
                  <a:extLst>
                    <a:ext uri="{9D8B030D-6E8A-4147-A177-3AD203B41FA5}">
                      <a16:colId xmlns:a16="http://schemas.microsoft.com/office/drawing/2014/main" val="4013636719"/>
                    </a:ext>
                  </a:extLst>
                </a:gridCol>
                <a:gridCol w="1349692">
                  <a:extLst>
                    <a:ext uri="{9D8B030D-6E8A-4147-A177-3AD203B41FA5}">
                      <a16:colId xmlns:a16="http://schemas.microsoft.com/office/drawing/2014/main" val="3467447067"/>
                    </a:ext>
                  </a:extLst>
                </a:gridCol>
              </a:tblGrid>
              <a:tr h="592552">
                <a:tc>
                  <a:txBody>
                    <a:bodyPr/>
                    <a:lstStyle/>
                    <a:p>
                      <a:pPr algn="ctr"/>
                      <a:r>
                        <a:rPr lang="en-GB" sz="3200" dirty="0"/>
                        <a:t>ID</a:t>
                      </a:r>
                    </a:p>
                  </a:txBody>
                  <a:tcPr/>
                </a:tc>
                <a:tc>
                  <a:txBody>
                    <a:bodyPr/>
                    <a:lstStyle/>
                    <a:p>
                      <a:pPr algn="ctr"/>
                      <a:r>
                        <a:rPr lang="en-GB" sz="3200" dirty="0"/>
                        <a:t>Dept</a:t>
                      </a:r>
                    </a:p>
                  </a:txBody>
                  <a:tcPr/>
                </a:tc>
                <a:tc>
                  <a:txBody>
                    <a:bodyPr/>
                    <a:lstStyle/>
                    <a:p>
                      <a:pPr algn="ctr"/>
                      <a:r>
                        <a:rPr lang="en-GB" sz="3200" dirty="0"/>
                        <a:t>Phone</a:t>
                      </a:r>
                    </a:p>
                  </a:txBody>
                  <a:tcPr/>
                </a:tc>
                <a:extLst>
                  <a:ext uri="{0D108BD9-81ED-4DB2-BD59-A6C34878D82A}">
                    <a16:rowId xmlns:a16="http://schemas.microsoft.com/office/drawing/2014/main" val="3459615676"/>
                  </a:ext>
                </a:extLst>
              </a:tr>
              <a:tr h="592552">
                <a:tc>
                  <a:txBody>
                    <a:bodyPr/>
                    <a:lstStyle/>
                    <a:p>
                      <a:pPr lvl="0"/>
                      <a:r>
                        <a:rPr lang="en-GB" sz="3200" dirty="0"/>
                        <a:t>001</a:t>
                      </a:r>
                    </a:p>
                  </a:txBody>
                  <a:tcPr/>
                </a:tc>
                <a:tc>
                  <a:txBody>
                    <a:bodyPr/>
                    <a:lstStyle/>
                    <a:p>
                      <a:pPr lvl="0"/>
                      <a:r>
                        <a:rPr lang="en-GB" sz="3200" dirty="0"/>
                        <a:t>ICT</a:t>
                      </a:r>
                    </a:p>
                  </a:txBody>
                  <a:tcPr/>
                </a:tc>
                <a:tc>
                  <a:txBody>
                    <a:bodyPr/>
                    <a:lstStyle/>
                    <a:p>
                      <a:pPr lvl="0"/>
                      <a:r>
                        <a:rPr lang="en-GB" sz="3200" dirty="0"/>
                        <a:t>300</a:t>
                      </a:r>
                    </a:p>
                  </a:txBody>
                  <a:tcPr/>
                </a:tc>
                <a:extLst>
                  <a:ext uri="{0D108BD9-81ED-4DB2-BD59-A6C34878D82A}">
                    <a16:rowId xmlns:a16="http://schemas.microsoft.com/office/drawing/2014/main" val="1127765656"/>
                  </a:ext>
                </a:extLst>
              </a:tr>
              <a:tr h="592552">
                <a:tc>
                  <a:txBody>
                    <a:bodyPr/>
                    <a:lstStyle/>
                    <a:p>
                      <a:pPr lvl="0"/>
                      <a:r>
                        <a:rPr lang="en-GB" sz="3200" dirty="0"/>
                        <a:t>002</a:t>
                      </a:r>
                    </a:p>
                  </a:txBody>
                  <a:tcPr/>
                </a:tc>
                <a:tc>
                  <a:txBody>
                    <a:bodyPr/>
                    <a:lstStyle/>
                    <a:p>
                      <a:pPr lvl="0"/>
                      <a:r>
                        <a:rPr lang="en-GB" sz="3200" dirty="0"/>
                        <a:t>English</a:t>
                      </a:r>
                    </a:p>
                  </a:txBody>
                  <a:tcPr/>
                </a:tc>
                <a:tc>
                  <a:txBody>
                    <a:bodyPr/>
                    <a:lstStyle/>
                    <a:p>
                      <a:pPr lvl="0"/>
                      <a:r>
                        <a:rPr lang="en-GB" sz="3200" dirty="0"/>
                        <a:t>301</a:t>
                      </a:r>
                    </a:p>
                  </a:txBody>
                  <a:tcPr/>
                </a:tc>
                <a:extLst>
                  <a:ext uri="{0D108BD9-81ED-4DB2-BD59-A6C34878D82A}">
                    <a16:rowId xmlns:a16="http://schemas.microsoft.com/office/drawing/2014/main" val="81894544"/>
                  </a:ext>
                </a:extLst>
              </a:tr>
            </a:tbl>
          </a:graphicData>
        </a:graphic>
      </p:graphicFrame>
      <p:sp>
        <p:nvSpPr>
          <p:cNvPr id="9" name="TextBox 8">
            <a:extLst>
              <a:ext uri="{FF2B5EF4-FFF2-40B4-BE49-F238E27FC236}">
                <a16:creationId xmlns:a16="http://schemas.microsoft.com/office/drawing/2014/main" id="{B935E981-B7C6-4BDF-ADC2-EFF2B075D3D8}"/>
              </a:ext>
            </a:extLst>
          </p:cNvPr>
          <p:cNvSpPr txBox="1"/>
          <p:nvPr/>
        </p:nvSpPr>
        <p:spPr>
          <a:xfrm>
            <a:off x="7911428" y="5405820"/>
            <a:ext cx="2977866" cy="584775"/>
          </a:xfrm>
          <a:prstGeom prst="rect">
            <a:avLst/>
          </a:prstGeom>
          <a:noFill/>
        </p:spPr>
        <p:txBody>
          <a:bodyPr wrap="none" rtlCol="0">
            <a:spAutoFit/>
          </a:bodyPr>
          <a:lstStyle/>
          <a:p>
            <a:r>
              <a:rPr lang="en-GB" sz="3200" b="1" dirty="0">
                <a:solidFill>
                  <a:srgbClr val="7030A0"/>
                </a:solidFill>
              </a:rPr>
              <a:t>Data links tables</a:t>
            </a:r>
          </a:p>
        </p:txBody>
      </p:sp>
      <p:graphicFrame>
        <p:nvGraphicFramePr>
          <p:cNvPr id="5" name="Staff table">
            <a:extLst>
              <a:ext uri="{FF2B5EF4-FFF2-40B4-BE49-F238E27FC236}">
                <a16:creationId xmlns:a16="http://schemas.microsoft.com/office/drawing/2014/main" id="{38A8414E-6490-4AD8-90BD-DF0216F61C69}"/>
              </a:ext>
            </a:extLst>
          </p:cNvPr>
          <p:cNvGraphicFramePr>
            <a:graphicFrameLocks noGrp="1"/>
          </p:cNvGraphicFramePr>
          <p:nvPr>
            <p:ph idx="1"/>
            <p:extLst>
              <p:ext uri="{D42A27DB-BD31-4B8C-83A1-F6EECF244321}">
                <p14:modId xmlns:p14="http://schemas.microsoft.com/office/powerpoint/2010/main" val="724133580"/>
              </p:ext>
            </p:extLst>
          </p:nvPr>
        </p:nvGraphicFramePr>
        <p:xfrm>
          <a:off x="838200" y="2742570"/>
          <a:ext cx="5951220" cy="3555312"/>
        </p:xfrm>
        <a:graphic>
          <a:graphicData uri="http://schemas.openxmlformats.org/drawingml/2006/table">
            <a:tbl>
              <a:tblPr firstRow="1" bandRow="1">
                <a:tableStyleId>{5C22544A-7EE6-4342-B048-85BDC9FD1C3A}</a:tableStyleId>
              </a:tblPr>
              <a:tblGrid>
                <a:gridCol w="638492">
                  <a:extLst>
                    <a:ext uri="{9D8B030D-6E8A-4147-A177-3AD203B41FA5}">
                      <a16:colId xmlns:a16="http://schemas.microsoft.com/office/drawing/2014/main" val="1632358923"/>
                    </a:ext>
                  </a:extLst>
                </a:gridCol>
                <a:gridCol w="1973580">
                  <a:extLst>
                    <a:ext uri="{9D8B030D-6E8A-4147-A177-3AD203B41FA5}">
                      <a16:colId xmlns:a16="http://schemas.microsoft.com/office/drawing/2014/main" val="3505833113"/>
                    </a:ext>
                  </a:extLst>
                </a:gridCol>
                <a:gridCol w="1791018">
                  <a:extLst>
                    <a:ext uri="{9D8B030D-6E8A-4147-A177-3AD203B41FA5}">
                      <a16:colId xmlns:a16="http://schemas.microsoft.com/office/drawing/2014/main" val="3401749839"/>
                    </a:ext>
                  </a:extLst>
                </a:gridCol>
                <a:gridCol w="1548130">
                  <a:extLst>
                    <a:ext uri="{9D8B030D-6E8A-4147-A177-3AD203B41FA5}">
                      <a16:colId xmlns:a16="http://schemas.microsoft.com/office/drawing/2014/main" val="415971381"/>
                    </a:ext>
                  </a:extLst>
                </a:gridCol>
              </a:tblGrid>
              <a:tr h="592552">
                <a:tc>
                  <a:txBody>
                    <a:bodyPr/>
                    <a:lstStyle/>
                    <a:p>
                      <a:pPr algn="ctr"/>
                      <a:r>
                        <a:rPr lang="en-GB" sz="3200" dirty="0"/>
                        <a:t>ID</a:t>
                      </a:r>
                    </a:p>
                  </a:txBody>
                  <a:tcPr/>
                </a:tc>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a:t>Dept ID</a:t>
                      </a:r>
                    </a:p>
                  </a:txBody>
                  <a:tcPr/>
                </a:tc>
                <a:extLst>
                  <a:ext uri="{0D108BD9-81ED-4DB2-BD59-A6C34878D82A}">
                    <a16:rowId xmlns:a16="http://schemas.microsoft.com/office/drawing/2014/main" val="3459615676"/>
                  </a:ext>
                </a:extLst>
              </a:tr>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r>
                        <a:rPr lang="en-GB" sz="3200" dirty="0"/>
                        <a:t>001</a:t>
                      </a:r>
                    </a:p>
                  </a:txBody>
                  <a:tcPr/>
                </a:tc>
                <a:extLst>
                  <a:ext uri="{0D108BD9-81ED-4DB2-BD59-A6C34878D82A}">
                    <a16:rowId xmlns:a16="http://schemas.microsoft.com/office/drawing/2014/main" val="1127765656"/>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r>
                        <a:rPr lang="en-GB" sz="3200" dirty="0"/>
                        <a:t>001</a:t>
                      </a:r>
                    </a:p>
                  </a:txBody>
                  <a:tcPr/>
                </a:tc>
                <a:extLst>
                  <a:ext uri="{0D108BD9-81ED-4DB2-BD59-A6C34878D82A}">
                    <a16:rowId xmlns:a16="http://schemas.microsoft.com/office/drawing/2014/main" val="2924661129"/>
                  </a:ext>
                </a:extLst>
              </a:tr>
              <a:tr h="592552">
                <a:tc>
                  <a:txBody>
                    <a:bodyPr/>
                    <a:lstStyle/>
                    <a:p>
                      <a:pPr lvl="0"/>
                      <a:r>
                        <a:rPr lang="en-GB" sz="3200" dirty="0"/>
                        <a:t>3</a:t>
                      </a:r>
                    </a:p>
                  </a:txBody>
                  <a:tcPr/>
                </a:tc>
                <a:tc>
                  <a:txBody>
                    <a:bodyPr/>
                    <a:lstStyle/>
                    <a:p>
                      <a:pPr lvl="0" algn="l"/>
                      <a:r>
                        <a:rPr lang="en-GB" sz="3200" dirty="0"/>
                        <a:t>Stephen</a:t>
                      </a:r>
                    </a:p>
                  </a:txBody>
                  <a:tcPr/>
                </a:tc>
                <a:tc>
                  <a:txBody>
                    <a:bodyPr/>
                    <a:lstStyle/>
                    <a:p>
                      <a:pPr lvl="0" algn="l"/>
                      <a:r>
                        <a:rPr lang="en-GB" sz="3200" dirty="0"/>
                        <a:t>MacLeod</a:t>
                      </a:r>
                    </a:p>
                  </a:txBody>
                  <a:tcPr/>
                </a:tc>
                <a:tc>
                  <a:txBody>
                    <a:bodyPr/>
                    <a:lstStyle/>
                    <a:p>
                      <a:pPr lvl="0"/>
                      <a:r>
                        <a:rPr lang="en-GB" sz="3200" dirty="0"/>
                        <a:t>001</a:t>
                      </a:r>
                    </a:p>
                  </a:txBody>
                  <a:tcPr/>
                </a:tc>
                <a:extLst>
                  <a:ext uri="{0D108BD9-81ED-4DB2-BD59-A6C34878D82A}">
                    <a16:rowId xmlns:a16="http://schemas.microsoft.com/office/drawing/2014/main" val="3885493841"/>
                  </a:ext>
                </a:extLst>
              </a:tr>
              <a:tr h="592552">
                <a:tc>
                  <a:txBody>
                    <a:bodyPr/>
                    <a:lstStyle/>
                    <a:p>
                      <a:pPr lvl="0"/>
                      <a:r>
                        <a:rPr lang="en-GB" sz="3200" dirty="0"/>
                        <a:t>4</a:t>
                      </a:r>
                    </a:p>
                  </a:txBody>
                  <a:tcPr/>
                </a:tc>
                <a:tc>
                  <a:txBody>
                    <a:bodyPr/>
                    <a:lstStyle/>
                    <a:p>
                      <a:pPr lvl="0" algn="l"/>
                      <a:r>
                        <a:rPr lang="en-GB" sz="3200" dirty="0"/>
                        <a:t>Scott</a:t>
                      </a:r>
                    </a:p>
                  </a:txBody>
                  <a:tcPr/>
                </a:tc>
                <a:tc>
                  <a:txBody>
                    <a:bodyPr/>
                    <a:lstStyle/>
                    <a:p>
                      <a:pPr lvl="0" algn="l"/>
                      <a:r>
                        <a:rPr lang="en-GB" sz="3200" dirty="0"/>
                        <a:t>Sinclair</a:t>
                      </a:r>
                    </a:p>
                  </a:txBody>
                  <a:tcPr/>
                </a:tc>
                <a:tc>
                  <a:txBody>
                    <a:bodyPr/>
                    <a:lstStyle/>
                    <a:p>
                      <a:pPr lvl="0"/>
                      <a:r>
                        <a:rPr lang="en-GB" sz="3200" dirty="0"/>
                        <a:t>002</a:t>
                      </a:r>
                    </a:p>
                  </a:txBody>
                  <a:tcPr/>
                </a:tc>
                <a:extLst>
                  <a:ext uri="{0D108BD9-81ED-4DB2-BD59-A6C34878D82A}">
                    <a16:rowId xmlns:a16="http://schemas.microsoft.com/office/drawing/2014/main" val="1487565366"/>
                  </a:ext>
                </a:extLst>
              </a:tr>
              <a:tr h="592552">
                <a:tc>
                  <a:txBody>
                    <a:bodyPr/>
                    <a:lstStyle/>
                    <a:p>
                      <a:pPr lvl="0"/>
                      <a:r>
                        <a:rPr lang="en-GB" sz="3200" dirty="0"/>
                        <a:t>5</a:t>
                      </a:r>
                    </a:p>
                  </a:txBody>
                  <a:tcPr/>
                </a:tc>
                <a:tc>
                  <a:txBody>
                    <a:bodyPr/>
                    <a:lstStyle/>
                    <a:p>
                      <a:pPr lvl="0" algn="l"/>
                      <a:r>
                        <a:rPr lang="en-GB" sz="3200" dirty="0"/>
                        <a:t>Michelle</a:t>
                      </a:r>
                    </a:p>
                  </a:txBody>
                  <a:tcPr/>
                </a:tc>
                <a:tc>
                  <a:txBody>
                    <a:bodyPr/>
                    <a:lstStyle/>
                    <a:p>
                      <a:pPr lvl="0" algn="l"/>
                      <a:r>
                        <a:rPr lang="en-GB" sz="3200" dirty="0"/>
                        <a:t>Wie</a:t>
                      </a:r>
                    </a:p>
                  </a:txBody>
                  <a:tcPr/>
                </a:tc>
                <a:tc>
                  <a:txBody>
                    <a:bodyPr/>
                    <a:lstStyle/>
                    <a:p>
                      <a:pPr lvl="0"/>
                      <a:r>
                        <a:rPr lang="en-GB" sz="3200" dirty="0"/>
                        <a:t>002</a:t>
                      </a:r>
                    </a:p>
                  </a:txBody>
                  <a:tcPr/>
                </a:tc>
                <a:extLst>
                  <a:ext uri="{0D108BD9-81ED-4DB2-BD59-A6C34878D82A}">
                    <a16:rowId xmlns:a16="http://schemas.microsoft.com/office/drawing/2014/main" val="81894544"/>
                  </a:ext>
                </a:extLst>
              </a:tr>
            </a:tbl>
          </a:graphicData>
        </a:graphic>
      </p:graphicFrame>
      <p:cxnSp>
        <p:nvCxnSpPr>
          <p:cNvPr id="4" name="Straight Arrow Connector 3">
            <a:extLst>
              <a:ext uri="{FF2B5EF4-FFF2-40B4-BE49-F238E27FC236}">
                <a16:creationId xmlns:a16="http://schemas.microsoft.com/office/drawing/2014/main" id="{231371B6-0511-44D2-AF15-46D0C5B87BB2}"/>
              </a:ext>
            </a:extLst>
          </p:cNvPr>
          <p:cNvCxnSpPr>
            <a:cxnSpLocks/>
          </p:cNvCxnSpPr>
          <p:nvPr/>
        </p:nvCxnSpPr>
        <p:spPr>
          <a:xfrm>
            <a:off x="6096000" y="3630645"/>
            <a:ext cx="1573848" cy="0"/>
          </a:xfrm>
          <a:prstGeom prst="straightConnector1">
            <a:avLst/>
          </a:prstGeom>
          <a:ln w="38100">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6402D11-5365-4584-AF20-FCE4B78FE7A0}"/>
              </a:ext>
            </a:extLst>
          </p:cNvPr>
          <p:cNvCxnSpPr>
            <a:cxnSpLocks/>
          </p:cNvCxnSpPr>
          <p:nvPr/>
        </p:nvCxnSpPr>
        <p:spPr>
          <a:xfrm flipV="1">
            <a:off x="6096000" y="4375230"/>
            <a:ext cx="1670613" cy="1615365"/>
          </a:xfrm>
          <a:prstGeom prst="straightConnector1">
            <a:avLst/>
          </a:prstGeom>
          <a:ln w="38100">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342689E-7D46-5169-15D1-5564029DB143}"/>
              </a:ext>
            </a:extLst>
          </p:cNvPr>
          <p:cNvSpPr txBox="1"/>
          <p:nvPr/>
        </p:nvSpPr>
        <p:spPr>
          <a:xfrm>
            <a:off x="838200" y="2226057"/>
            <a:ext cx="2031069" cy="584775"/>
          </a:xfrm>
          <a:prstGeom prst="rect">
            <a:avLst/>
          </a:prstGeom>
          <a:noFill/>
        </p:spPr>
        <p:txBody>
          <a:bodyPr wrap="none" rtlCol="0">
            <a:spAutoFit/>
          </a:bodyPr>
          <a:lstStyle/>
          <a:p>
            <a:r>
              <a:rPr lang="en-GB" sz="3200" dirty="0"/>
              <a:t>Table: Staff</a:t>
            </a:r>
          </a:p>
        </p:txBody>
      </p:sp>
      <p:sp>
        <p:nvSpPr>
          <p:cNvPr id="6" name="TextBox 5">
            <a:extLst>
              <a:ext uri="{FF2B5EF4-FFF2-40B4-BE49-F238E27FC236}">
                <a16:creationId xmlns:a16="http://schemas.microsoft.com/office/drawing/2014/main" id="{21723E06-6635-F538-E4D2-AD7CF097A705}"/>
              </a:ext>
            </a:extLst>
          </p:cNvPr>
          <p:cNvSpPr txBox="1"/>
          <p:nvPr/>
        </p:nvSpPr>
        <p:spPr>
          <a:xfrm>
            <a:off x="7632700" y="2250692"/>
            <a:ext cx="3301930" cy="584775"/>
          </a:xfrm>
          <a:prstGeom prst="rect">
            <a:avLst/>
          </a:prstGeom>
          <a:noFill/>
        </p:spPr>
        <p:txBody>
          <a:bodyPr wrap="none" rtlCol="0">
            <a:spAutoFit/>
          </a:bodyPr>
          <a:lstStyle/>
          <a:p>
            <a:r>
              <a:rPr lang="en-GB" sz="3200" dirty="0"/>
              <a:t>Table: Department</a:t>
            </a:r>
          </a:p>
        </p:txBody>
      </p:sp>
    </p:spTree>
    <p:extLst>
      <p:ext uri="{BB962C8B-B14F-4D97-AF65-F5344CB8AC3E}">
        <p14:creationId xmlns:p14="http://schemas.microsoft.com/office/powerpoint/2010/main" val="1529298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1000"/>
                                        <p:tgtEl>
                                          <p:spTgt spid="3"/>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20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1500"/>
                                        <p:tgtEl>
                                          <p:spTgt spid="6"/>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left)">
                                      <p:cBhvr>
                                        <p:cTn id="25" dur="1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left)">
                                      <p:cBhvr>
                                        <p:cTn id="30" dur="1000"/>
                                        <p:tgtEl>
                                          <p:spTgt spid="4"/>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left)">
                                      <p:cBhvr>
                                        <p:cTn id="34" dur="1000"/>
                                        <p:tgtEl>
                                          <p:spTgt spid="16"/>
                                        </p:tgtEl>
                                      </p:cBhvr>
                                    </p:animEffect>
                                  </p:childTnLst>
                                </p:cTn>
                              </p:par>
                            </p:childTnLst>
                          </p:cTn>
                        </p:par>
                        <p:par>
                          <p:cTn id="35" fill="hold">
                            <p:stCondLst>
                              <p:cond delay="2000"/>
                            </p:stCondLst>
                            <p:childTnLst>
                              <p:par>
                                <p:cTn id="36" presetID="22" presetClass="entr" presetSubtype="8" fill="hold" grpId="0"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1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9" grpId="0"/>
      <p:bldP spid="3"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Relational Database</a:t>
            </a:r>
          </a:p>
        </p:txBody>
      </p:sp>
      <p:graphicFrame>
        <p:nvGraphicFramePr>
          <p:cNvPr id="14" name="Dept table">
            <a:extLst>
              <a:ext uri="{FF2B5EF4-FFF2-40B4-BE49-F238E27FC236}">
                <a16:creationId xmlns:a16="http://schemas.microsoft.com/office/drawing/2014/main" id="{844D8AF2-45F4-4D3A-A16B-FDE72F88C3EB}"/>
              </a:ext>
            </a:extLst>
          </p:cNvPr>
          <p:cNvGraphicFramePr>
            <a:graphicFrameLocks/>
          </p:cNvGraphicFramePr>
          <p:nvPr>
            <p:extLst>
              <p:ext uri="{D42A27DB-BD31-4B8C-83A1-F6EECF244321}">
                <p14:modId xmlns:p14="http://schemas.microsoft.com/office/powerpoint/2010/main" val="2483771298"/>
              </p:ext>
            </p:extLst>
          </p:nvPr>
        </p:nvGraphicFramePr>
        <p:xfrm>
          <a:off x="7669848" y="2742570"/>
          <a:ext cx="3683952" cy="1777656"/>
        </p:xfrm>
        <a:graphic>
          <a:graphicData uri="http://schemas.openxmlformats.org/drawingml/2006/table">
            <a:tbl>
              <a:tblPr firstRow="1" bandRow="1">
                <a:tableStyleId>{5C22544A-7EE6-4342-B048-85BDC9FD1C3A}</a:tableStyleId>
              </a:tblPr>
              <a:tblGrid>
                <a:gridCol w="894080">
                  <a:extLst>
                    <a:ext uri="{9D8B030D-6E8A-4147-A177-3AD203B41FA5}">
                      <a16:colId xmlns:a16="http://schemas.microsoft.com/office/drawing/2014/main" val="415971381"/>
                    </a:ext>
                  </a:extLst>
                </a:gridCol>
                <a:gridCol w="1440180">
                  <a:extLst>
                    <a:ext uri="{9D8B030D-6E8A-4147-A177-3AD203B41FA5}">
                      <a16:colId xmlns:a16="http://schemas.microsoft.com/office/drawing/2014/main" val="4013636719"/>
                    </a:ext>
                  </a:extLst>
                </a:gridCol>
                <a:gridCol w="1349692">
                  <a:extLst>
                    <a:ext uri="{9D8B030D-6E8A-4147-A177-3AD203B41FA5}">
                      <a16:colId xmlns:a16="http://schemas.microsoft.com/office/drawing/2014/main" val="3467447067"/>
                    </a:ext>
                  </a:extLst>
                </a:gridCol>
              </a:tblGrid>
              <a:tr h="592552">
                <a:tc>
                  <a:txBody>
                    <a:bodyPr/>
                    <a:lstStyle/>
                    <a:p>
                      <a:pPr algn="ctr"/>
                      <a:r>
                        <a:rPr lang="en-GB" sz="3200" dirty="0"/>
                        <a:t>ID</a:t>
                      </a:r>
                    </a:p>
                  </a:txBody>
                  <a:tcPr/>
                </a:tc>
                <a:tc>
                  <a:txBody>
                    <a:bodyPr/>
                    <a:lstStyle/>
                    <a:p>
                      <a:pPr algn="ctr"/>
                      <a:r>
                        <a:rPr lang="en-GB" sz="3200" dirty="0"/>
                        <a:t>Dept</a:t>
                      </a:r>
                    </a:p>
                  </a:txBody>
                  <a:tcPr/>
                </a:tc>
                <a:tc>
                  <a:txBody>
                    <a:bodyPr/>
                    <a:lstStyle/>
                    <a:p>
                      <a:pPr algn="ctr"/>
                      <a:r>
                        <a:rPr lang="en-GB" sz="3200" dirty="0"/>
                        <a:t>Phone</a:t>
                      </a:r>
                    </a:p>
                  </a:txBody>
                  <a:tcPr/>
                </a:tc>
                <a:extLst>
                  <a:ext uri="{0D108BD9-81ED-4DB2-BD59-A6C34878D82A}">
                    <a16:rowId xmlns:a16="http://schemas.microsoft.com/office/drawing/2014/main" val="3459615676"/>
                  </a:ext>
                </a:extLst>
              </a:tr>
              <a:tr h="592552">
                <a:tc>
                  <a:txBody>
                    <a:bodyPr/>
                    <a:lstStyle/>
                    <a:p>
                      <a:pPr lvl="0"/>
                      <a:r>
                        <a:rPr lang="en-GB" sz="3200" dirty="0"/>
                        <a:t>001</a:t>
                      </a:r>
                    </a:p>
                  </a:txBody>
                  <a:tcPr/>
                </a:tc>
                <a:tc>
                  <a:txBody>
                    <a:bodyPr/>
                    <a:lstStyle/>
                    <a:p>
                      <a:pPr lvl="0"/>
                      <a:r>
                        <a:rPr lang="en-GB" sz="3200" dirty="0"/>
                        <a:t>Maths</a:t>
                      </a:r>
                    </a:p>
                  </a:txBody>
                  <a:tcPr/>
                </a:tc>
                <a:tc>
                  <a:txBody>
                    <a:bodyPr/>
                    <a:lstStyle/>
                    <a:p>
                      <a:pPr lvl="0"/>
                      <a:r>
                        <a:rPr lang="en-GB" sz="3200" dirty="0"/>
                        <a:t>300</a:t>
                      </a:r>
                    </a:p>
                  </a:txBody>
                  <a:tcPr/>
                </a:tc>
                <a:extLst>
                  <a:ext uri="{0D108BD9-81ED-4DB2-BD59-A6C34878D82A}">
                    <a16:rowId xmlns:a16="http://schemas.microsoft.com/office/drawing/2014/main" val="1127765656"/>
                  </a:ext>
                </a:extLst>
              </a:tr>
              <a:tr h="592552">
                <a:tc>
                  <a:txBody>
                    <a:bodyPr/>
                    <a:lstStyle/>
                    <a:p>
                      <a:pPr lvl="0"/>
                      <a:r>
                        <a:rPr lang="en-GB" sz="3200" dirty="0"/>
                        <a:t>002</a:t>
                      </a:r>
                    </a:p>
                  </a:txBody>
                  <a:tcPr/>
                </a:tc>
                <a:tc>
                  <a:txBody>
                    <a:bodyPr/>
                    <a:lstStyle/>
                    <a:p>
                      <a:pPr lvl="0"/>
                      <a:r>
                        <a:rPr lang="en-GB" sz="3200" dirty="0"/>
                        <a:t>English</a:t>
                      </a:r>
                    </a:p>
                  </a:txBody>
                  <a:tcPr/>
                </a:tc>
                <a:tc>
                  <a:txBody>
                    <a:bodyPr/>
                    <a:lstStyle/>
                    <a:p>
                      <a:pPr lvl="0"/>
                      <a:r>
                        <a:rPr lang="en-GB" sz="3200" dirty="0"/>
                        <a:t>301</a:t>
                      </a:r>
                    </a:p>
                  </a:txBody>
                  <a:tcPr/>
                </a:tc>
                <a:extLst>
                  <a:ext uri="{0D108BD9-81ED-4DB2-BD59-A6C34878D82A}">
                    <a16:rowId xmlns:a16="http://schemas.microsoft.com/office/drawing/2014/main" val="81894544"/>
                  </a:ext>
                </a:extLst>
              </a:tr>
            </a:tbl>
          </a:graphicData>
        </a:graphic>
      </p:graphicFrame>
      <p:graphicFrame>
        <p:nvGraphicFramePr>
          <p:cNvPr id="5" name="Staff table">
            <a:extLst>
              <a:ext uri="{FF2B5EF4-FFF2-40B4-BE49-F238E27FC236}">
                <a16:creationId xmlns:a16="http://schemas.microsoft.com/office/drawing/2014/main" id="{38A8414E-6490-4AD8-90BD-DF0216F61C69}"/>
              </a:ext>
            </a:extLst>
          </p:cNvPr>
          <p:cNvGraphicFramePr>
            <a:graphicFrameLocks noGrp="1"/>
          </p:cNvGraphicFramePr>
          <p:nvPr>
            <p:ph idx="1"/>
          </p:nvPr>
        </p:nvGraphicFramePr>
        <p:xfrm>
          <a:off x="838200" y="2742570"/>
          <a:ext cx="5951220" cy="3555312"/>
        </p:xfrm>
        <a:graphic>
          <a:graphicData uri="http://schemas.openxmlformats.org/drawingml/2006/table">
            <a:tbl>
              <a:tblPr firstRow="1" bandRow="1">
                <a:tableStyleId>{5C22544A-7EE6-4342-B048-85BDC9FD1C3A}</a:tableStyleId>
              </a:tblPr>
              <a:tblGrid>
                <a:gridCol w="638492">
                  <a:extLst>
                    <a:ext uri="{9D8B030D-6E8A-4147-A177-3AD203B41FA5}">
                      <a16:colId xmlns:a16="http://schemas.microsoft.com/office/drawing/2014/main" val="1632358923"/>
                    </a:ext>
                  </a:extLst>
                </a:gridCol>
                <a:gridCol w="1973580">
                  <a:extLst>
                    <a:ext uri="{9D8B030D-6E8A-4147-A177-3AD203B41FA5}">
                      <a16:colId xmlns:a16="http://schemas.microsoft.com/office/drawing/2014/main" val="3505833113"/>
                    </a:ext>
                  </a:extLst>
                </a:gridCol>
                <a:gridCol w="1791018">
                  <a:extLst>
                    <a:ext uri="{9D8B030D-6E8A-4147-A177-3AD203B41FA5}">
                      <a16:colId xmlns:a16="http://schemas.microsoft.com/office/drawing/2014/main" val="3401749839"/>
                    </a:ext>
                  </a:extLst>
                </a:gridCol>
                <a:gridCol w="1548130">
                  <a:extLst>
                    <a:ext uri="{9D8B030D-6E8A-4147-A177-3AD203B41FA5}">
                      <a16:colId xmlns:a16="http://schemas.microsoft.com/office/drawing/2014/main" val="415971381"/>
                    </a:ext>
                  </a:extLst>
                </a:gridCol>
              </a:tblGrid>
              <a:tr h="592552">
                <a:tc>
                  <a:txBody>
                    <a:bodyPr/>
                    <a:lstStyle/>
                    <a:p>
                      <a:pPr algn="ctr"/>
                      <a:r>
                        <a:rPr lang="en-GB" sz="3200" dirty="0"/>
                        <a:t>ID</a:t>
                      </a:r>
                    </a:p>
                  </a:txBody>
                  <a:tcPr/>
                </a:tc>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a:t>Dept ID</a:t>
                      </a:r>
                    </a:p>
                  </a:txBody>
                  <a:tcPr/>
                </a:tc>
                <a:extLst>
                  <a:ext uri="{0D108BD9-81ED-4DB2-BD59-A6C34878D82A}">
                    <a16:rowId xmlns:a16="http://schemas.microsoft.com/office/drawing/2014/main" val="3459615676"/>
                  </a:ext>
                </a:extLst>
              </a:tr>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r>
                        <a:rPr lang="en-GB" sz="3200" dirty="0"/>
                        <a:t>001</a:t>
                      </a:r>
                    </a:p>
                  </a:txBody>
                  <a:tcPr/>
                </a:tc>
                <a:extLst>
                  <a:ext uri="{0D108BD9-81ED-4DB2-BD59-A6C34878D82A}">
                    <a16:rowId xmlns:a16="http://schemas.microsoft.com/office/drawing/2014/main" val="1127765656"/>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r>
                        <a:rPr lang="en-GB" sz="3200" dirty="0"/>
                        <a:t>001</a:t>
                      </a:r>
                    </a:p>
                  </a:txBody>
                  <a:tcPr/>
                </a:tc>
                <a:extLst>
                  <a:ext uri="{0D108BD9-81ED-4DB2-BD59-A6C34878D82A}">
                    <a16:rowId xmlns:a16="http://schemas.microsoft.com/office/drawing/2014/main" val="2924661129"/>
                  </a:ext>
                </a:extLst>
              </a:tr>
              <a:tr h="592552">
                <a:tc>
                  <a:txBody>
                    <a:bodyPr/>
                    <a:lstStyle/>
                    <a:p>
                      <a:pPr lvl="0"/>
                      <a:r>
                        <a:rPr lang="en-GB" sz="3200" dirty="0"/>
                        <a:t>3</a:t>
                      </a:r>
                    </a:p>
                  </a:txBody>
                  <a:tcPr/>
                </a:tc>
                <a:tc>
                  <a:txBody>
                    <a:bodyPr/>
                    <a:lstStyle/>
                    <a:p>
                      <a:pPr lvl="0" algn="l"/>
                      <a:r>
                        <a:rPr lang="en-GB" sz="3200" dirty="0"/>
                        <a:t>Stephen</a:t>
                      </a:r>
                    </a:p>
                  </a:txBody>
                  <a:tcPr/>
                </a:tc>
                <a:tc>
                  <a:txBody>
                    <a:bodyPr/>
                    <a:lstStyle/>
                    <a:p>
                      <a:pPr lvl="0" algn="l"/>
                      <a:r>
                        <a:rPr lang="en-GB" sz="3200" dirty="0"/>
                        <a:t>MacLeod</a:t>
                      </a:r>
                    </a:p>
                  </a:txBody>
                  <a:tcPr/>
                </a:tc>
                <a:tc>
                  <a:txBody>
                    <a:bodyPr/>
                    <a:lstStyle/>
                    <a:p>
                      <a:pPr lvl="0"/>
                      <a:r>
                        <a:rPr lang="en-GB" sz="3200" dirty="0"/>
                        <a:t>001</a:t>
                      </a:r>
                    </a:p>
                  </a:txBody>
                  <a:tcPr/>
                </a:tc>
                <a:extLst>
                  <a:ext uri="{0D108BD9-81ED-4DB2-BD59-A6C34878D82A}">
                    <a16:rowId xmlns:a16="http://schemas.microsoft.com/office/drawing/2014/main" val="3885493841"/>
                  </a:ext>
                </a:extLst>
              </a:tr>
              <a:tr h="592552">
                <a:tc>
                  <a:txBody>
                    <a:bodyPr/>
                    <a:lstStyle/>
                    <a:p>
                      <a:pPr lvl="0"/>
                      <a:r>
                        <a:rPr lang="en-GB" sz="3200" dirty="0"/>
                        <a:t>4</a:t>
                      </a:r>
                    </a:p>
                  </a:txBody>
                  <a:tcPr/>
                </a:tc>
                <a:tc>
                  <a:txBody>
                    <a:bodyPr/>
                    <a:lstStyle/>
                    <a:p>
                      <a:pPr lvl="0" algn="l"/>
                      <a:r>
                        <a:rPr lang="en-GB" sz="3200" dirty="0"/>
                        <a:t>Scott</a:t>
                      </a:r>
                    </a:p>
                  </a:txBody>
                  <a:tcPr/>
                </a:tc>
                <a:tc>
                  <a:txBody>
                    <a:bodyPr/>
                    <a:lstStyle/>
                    <a:p>
                      <a:pPr lvl="0" algn="l"/>
                      <a:r>
                        <a:rPr lang="en-GB" sz="3200" dirty="0"/>
                        <a:t>Sinclair</a:t>
                      </a:r>
                    </a:p>
                  </a:txBody>
                  <a:tcPr/>
                </a:tc>
                <a:tc>
                  <a:txBody>
                    <a:bodyPr/>
                    <a:lstStyle/>
                    <a:p>
                      <a:pPr lvl="0"/>
                      <a:r>
                        <a:rPr lang="en-GB" sz="3200" dirty="0"/>
                        <a:t>002</a:t>
                      </a:r>
                    </a:p>
                  </a:txBody>
                  <a:tcPr/>
                </a:tc>
                <a:extLst>
                  <a:ext uri="{0D108BD9-81ED-4DB2-BD59-A6C34878D82A}">
                    <a16:rowId xmlns:a16="http://schemas.microsoft.com/office/drawing/2014/main" val="1487565366"/>
                  </a:ext>
                </a:extLst>
              </a:tr>
              <a:tr h="592552">
                <a:tc>
                  <a:txBody>
                    <a:bodyPr/>
                    <a:lstStyle/>
                    <a:p>
                      <a:pPr lvl="0"/>
                      <a:r>
                        <a:rPr lang="en-GB" sz="3200" dirty="0"/>
                        <a:t>5</a:t>
                      </a:r>
                    </a:p>
                  </a:txBody>
                  <a:tcPr/>
                </a:tc>
                <a:tc>
                  <a:txBody>
                    <a:bodyPr/>
                    <a:lstStyle/>
                    <a:p>
                      <a:pPr lvl="0" algn="l"/>
                      <a:r>
                        <a:rPr lang="en-GB" sz="3200" dirty="0"/>
                        <a:t>Michelle</a:t>
                      </a:r>
                    </a:p>
                  </a:txBody>
                  <a:tcPr/>
                </a:tc>
                <a:tc>
                  <a:txBody>
                    <a:bodyPr/>
                    <a:lstStyle/>
                    <a:p>
                      <a:pPr lvl="0" algn="l"/>
                      <a:r>
                        <a:rPr lang="en-GB" sz="3200" dirty="0"/>
                        <a:t>Wie</a:t>
                      </a:r>
                    </a:p>
                  </a:txBody>
                  <a:tcPr/>
                </a:tc>
                <a:tc>
                  <a:txBody>
                    <a:bodyPr/>
                    <a:lstStyle/>
                    <a:p>
                      <a:pPr lvl="0"/>
                      <a:r>
                        <a:rPr lang="en-GB" sz="3200" dirty="0"/>
                        <a:t>002</a:t>
                      </a:r>
                    </a:p>
                  </a:txBody>
                  <a:tcPr/>
                </a:tc>
                <a:extLst>
                  <a:ext uri="{0D108BD9-81ED-4DB2-BD59-A6C34878D82A}">
                    <a16:rowId xmlns:a16="http://schemas.microsoft.com/office/drawing/2014/main" val="81894544"/>
                  </a:ext>
                </a:extLst>
              </a:tr>
            </a:tbl>
          </a:graphicData>
        </a:graphic>
      </p:graphicFrame>
      <p:sp>
        <p:nvSpPr>
          <p:cNvPr id="3" name="TextBox 2">
            <a:extLst>
              <a:ext uri="{FF2B5EF4-FFF2-40B4-BE49-F238E27FC236}">
                <a16:creationId xmlns:a16="http://schemas.microsoft.com/office/drawing/2014/main" id="{8342689E-7D46-5169-15D1-5564029DB143}"/>
              </a:ext>
            </a:extLst>
          </p:cNvPr>
          <p:cNvSpPr txBox="1"/>
          <p:nvPr/>
        </p:nvSpPr>
        <p:spPr>
          <a:xfrm>
            <a:off x="838200" y="2226057"/>
            <a:ext cx="2031069" cy="584775"/>
          </a:xfrm>
          <a:prstGeom prst="rect">
            <a:avLst/>
          </a:prstGeom>
          <a:noFill/>
        </p:spPr>
        <p:txBody>
          <a:bodyPr wrap="none" rtlCol="0">
            <a:spAutoFit/>
          </a:bodyPr>
          <a:lstStyle/>
          <a:p>
            <a:r>
              <a:rPr lang="en-GB" sz="3200" dirty="0"/>
              <a:t>Table: Staff</a:t>
            </a:r>
          </a:p>
        </p:txBody>
      </p:sp>
      <p:sp>
        <p:nvSpPr>
          <p:cNvPr id="6" name="TextBox 5">
            <a:extLst>
              <a:ext uri="{FF2B5EF4-FFF2-40B4-BE49-F238E27FC236}">
                <a16:creationId xmlns:a16="http://schemas.microsoft.com/office/drawing/2014/main" id="{21723E06-6635-F538-E4D2-AD7CF097A705}"/>
              </a:ext>
            </a:extLst>
          </p:cNvPr>
          <p:cNvSpPr txBox="1"/>
          <p:nvPr/>
        </p:nvSpPr>
        <p:spPr>
          <a:xfrm>
            <a:off x="7632700" y="2250692"/>
            <a:ext cx="3301930" cy="584775"/>
          </a:xfrm>
          <a:prstGeom prst="rect">
            <a:avLst/>
          </a:prstGeom>
          <a:noFill/>
        </p:spPr>
        <p:txBody>
          <a:bodyPr wrap="none" rtlCol="0">
            <a:spAutoFit/>
          </a:bodyPr>
          <a:lstStyle/>
          <a:p>
            <a:r>
              <a:rPr lang="en-GB" sz="3200" dirty="0"/>
              <a:t>Table: Department</a:t>
            </a:r>
          </a:p>
        </p:txBody>
      </p:sp>
    </p:spTree>
    <p:extLst>
      <p:ext uri="{BB962C8B-B14F-4D97-AF65-F5344CB8AC3E}">
        <p14:creationId xmlns:p14="http://schemas.microsoft.com/office/powerpoint/2010/main" val="2340281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9A573-B600-4ED7-90E6-0A084DDB7B5E}"/>
              </a:ext>
            </a:extLst>
          </p:cNvPr>
          <p:cNvSpPr>
            <a:spLocks noGrp="1"/>
          </p:cNvSpPr>
          <p:nvPr>
            <p:ph type="title"/>
          </p:nvPr>
        </p:nvSpPr>
        <p:spPr/>
        <p:txBody>
          <a:bodyPr/>
          <a:lstStyle/>
          <a:p>
            <a:r>
              <a:rPr lang="en-GB" dirty="0"/>
              <a:t>SQL</a:t>
            </a:r>
          </a:p>
        </p:txBody>
      </p:sp>
      <p:sp>
        <p:nvSpPr>
          <p:cNvPr id="3" name="Content Placeholder 2">
            <a:extLst>
              <a:ext uri="{FF2B5EF4-FFF2-40B4-BE49-F238E27FC236}">
                <a16:creationId xmlns:a16="http://schemas.microsoft.com/office/drawing/2014/main" id="{3006BFFB-0638-4D0F-887F-1B4CD48CA2DD}"/>
              </a:ext>
            </a:extLst>
          </p:cNvPr>
          <p:cNvSpPr>
            <a:spLocks noGrp="1"/>
          </p:cNvSpPr>
          <p:nvPr>
            <p:ph idx="1"/>
          </p:nvPr>
        </p:nvSpPr>
        <p:spPr/>
        <p:txBody>
          <a:bodyPr>
            <a:normAutofit fontScale="92500" lnSpcReduction="20000"/>
          </a:bodyPr>
          <a:lstStyle/>
          <a:p>
            <a:r>
              <a:rPr lang="en-GB" sz="9600" b="1" dirty="0">
                <a:solidFill>
                  <a:srgbClr val="7030A0"/>
                </a:solidFill>
              </a:rPr>
              <a:t>S</a:t>
            </a:r>
            <a:r>
              <a:rPr lang="en-GB" sz="9600" dirty="0"/>
              <a:t>tructured</a:t>
            </a:r>
          </a:p>
          <a:p>
            <a:r>
              <a:rPr lang="en-GB" sz="9600" b="1" dirty="0">
                <a:solidFill>
                  <a:srgbClr val="7030A0"/>
                </a:solidFill>
              </a:rPr>
              <a:t>Q</a:t>
            </a:r>
            <a:r>
              <a:rPr lang="en-GB" sz="9600" dirty="0"/>
              <a:t>uery</a:t>
            </a:r>
          </a:p>
          <a:p>
            <a:r>
              <a:rPr lang="en-GB" sz="9600" b="1" dirty="0">
                <a:solidFill>
                  <a:srgbClr val="7030A0"/>
                </a:solidFill>
              </a:rPr>
              <a:t>L</a:t>
            </a:r>
            <a:r>
              <a:rPr lang="en-GB" sz="9600" dirty="0"/>
              <a:t>anguage</a:t>
            </a:r>
          </a:p>
        </p:txBody>
      </p:sp>
      <p:sp>
        <p:nvSpPr>
          <p:cNvPr id="4" name="TextBox 3"/>
          <p:cNvSpPr txBox="1"/>
          <p:nvPr/>
        </p:nvSpPr>
        <p:spPr>
          <a:xfrm>
            <a:off x="8651838" y="2828835"/>
            <a:ext cx="2701962" cy="1200329"/>
          </a:xfrm>
          <a:prstGeom prst="rect">
            <a:avLst/>
          </a:prstGeom>
          <a:noFill/>
        </p:spPr>
        <p:txBody>
          <a:bodyPr wrap="square" rtlCol="0">
            <a:spAutoFit/>
          </a:bodyPr>
          <a:lstStyle/>
          <a:p>
            <a:pPr algn="ctr"/>
            <a:r>
              <a:rPr lang="en-GB" sz="3600" dirty="0"/>
              <a:t>The language of databases</a:t>
            </a:r>
          </a:p>
        </p:txBody>
      </p:sp>
      <p:sp>
        <p:nvSpPr>
          <p:cNvPr id="5" name="TextBox 4">
            <a:extLst>
              <a:ext uri="{FF2B5EF4-FFF2-40B4-BE49-F238E27FC236}">
                <a16:creationId xmlns:a16="http://schemas.microsoft.com/office/drawing/2014/main" id="{964D77D7-D52A-864E-2F76-F013C7C8D4FE}"/>
              </a:ext>
            </a:extLst>
          </p:cNvPr>
          <p:cNvSpPr txBox="1"/>
          <p:nvPr/>
        </p:nvSpPr>
        <p:spPr>
          <a:xfrm>
            <a:off x="8972966" y="4581192"/>
            <a:ext cx="2059705" cy="646331"/>
          </a:xfrm>
          <a:prstGeom prst="rect">
            <a:avLst/>
          </a:prstGeom>
          <a:noFill/>
        </p:spPr>
        <p:txBody>
          <a:bodyPr wrap="square" rtlCol="0">
            <a:spAutoFit/>
          </a:bodyPr>
          <a:lstStyle/>
          <a:p>
            <a:r>
              <a:rPr lang="en-GB" sz="3600" b="1" dirty="0">
                <a:solidFill>
                  <a:srgbClr val="FF0000"/>
                </a:solidFill>
              </a:rPr>
              <a:t>"SEQUEL"</a:t>
            </a:r>
          </a:p>
        </p:txBody>
      </p:sp>
    </p:spTree>
    <p:extLst>
      <p:ext uri="{BB962C8B-B14F-4D97-AF65-F5344CB8AC3E}">
        <p14:creationId xmlns:p14="http://schemas.microsoft.com/office/powerpoint/2010/main" val="2886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9A573-B600-4ED7-90E6-0A084DDB7B5E}"/>
              </a:ext>
            </a:extLst>
          </p:cNvPr>
          <p:cNvSpPr>
            <a:spLocks noGrp="1"/>
          </p:cNvSpPr>
          <p:nvPr>
            <p:ph type="title"/>
          </p:nvPr>
        </p:nvSpPr>
        <p:spPr/>
        <p:txBody>
          <a:bodyPr/>
          <a:lstStyle/>
          <a:p>
            <a:r>
              <a:rPr lang="en-GB" dirty="0"/>
              <a:t>SQL</a:t>
            </a:r>
          </a:p>
        </p:txBody>
      </p:sp>
      <p:sp>
        <p:nvSpPr>
          <p:cNvPr id="3" name="Content Placeholder 2">
            <a:extLst>
              <a:ext uri="{FF2B5EF4-FFF2-40B4-BE49-F238E27FC236}">
                <a16:creationId xmlns:a16="http://schemas.microsoft.com/office/drawing/2014/main" id="{3006BFFB-0638-4D0F-887F-1B4CD48CA2DD}"/>
              </a:ext>
            </a:extLst>
          </p:cNvPr>
          <p:cNvSpPr>
            <a:spLocks noGrp="1"/>
          </p:cNvSpPr>
          <p:nvPr>
            <p:ph idx="1"/>
          </p:nvPr>
        </p:nvSpPr>
        <p:spPr/>
        <p:txBody>
          <a:bodyPr>
            <a:normAutofit fontScale="92500" lnSpcReduction="20000"/>
          </a:bodyPr>
          <a:lstStyle/>
          <a:p>
            <a:r>
              <a:rPr lang="en-GB" sz="9600" b="1" dirty="0">
                <a:solidFill>
                  <a:srgbClr val="7030A0"/>
                </a:solidFill>
              </a:rPr>
              <a:t>S</a:t>
            </a:r>
          </a:p>
          <a:p>
            <a:r>
              <a:rPr lang="en-GB" sz="9600" b="1" dirty="0">
                <a:solidFill>
                  <a:srgbClr val="7030A0"/>
                </a:solidFill>
              </a:rPr>
              <a:t>Q</a:t>
            </a:r>
          </a:p>
          <a:p>
            <a:r>
              <a:rPr lang="en-GB" sz="9600" b="1" dirty="0">
                <a:solidFill>
                  <a:srgbClr val="7030A0"/>
                </a:solidFill>
              </a:rPr>
              <a:t>L</a:t>
            </a:r>
            <a:endParaRPr lang="en-GB" sz="9600" dirty="0"/>
          </a:p>
        </p:txBody>
      </p:sp>
      <p:sp>
        <p:nvSpPr>
          <p:cNvPr id="4" name="TextBox 3"/>
          <p:cNvSpPr txBox="1"/>
          <p:nvPr/>
        </p:nvSpPr>
        <p:spPr>
          <a:xfrm>
            <a:off x="8651838" y="2828835"/>
            <a:ext cx="2701962" cy="1200329"/>
          </a:xfrm>
          <a:prstGeom prst="rect">
            <a:avLst/>
          </a:prstGeom>
          <a:noFill/>
        </p:spPr>
        <p:txBody>
          <a:bodyPr wrap="square" rtlCol="0">
            <a:spAutoFit/>
          </a:bodyPr>
          <a:lstStyle/>
          <a:p>
            <a:pPr algn="ctr"/>
            <a:r>
              <a:rPr lang="en-GB" sz="3600" dirty="0"/>
              <a:t>The language of databases</a:t>
            </a:r>
          </a:p>
        </p:txBody>
      </p:sp>
    </p:spTree>
    <p:extLst>
      <p:ext uri="{BB962C8B-B14F-4D97-AF65-F5344CB8AC3E}">
        <p14:creationId xmlns:p14="http://schemas.microsoft.com/office/powerpoint/2010/main" val="1610565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D032C-747B-43CF-884D-7ACD26C31B4A}"/>
              </a:ext>
            </a:extLst>
          </p:cNvPr>
          <p:cNvSpPr>
            <a:spLocks noGrp="1"/>
          </p:cNvSpPr>
          <p:nvPr>
            <p:ph type="title"/>
          </p:nvPr>
        </p:nvSpPr>
        <p:spPr/>
        <p:txBody>
          <a:bodyPr/>
          <a:lstStyle/>
          <a:p>
            <a:r>
              <a:rPr lang="en-GB" dirty="0"/>
              <a:t>DB Browser for SQLite</a:t>
            </a:r>
          </a:p>
        </p:txBody>
      </p:sp>
      <p:sp>
        <p:nvSpPr>
          <p:cNvPr id="3" name="Text Placeholder 2">
            <a:extLst>
              <a:ext uri="{FF2B5EF4-FFF2-40B4-BE49-F238E27FC236}">
                <a16:creationId xmlns:a16="http://schemas.microsoft.com/office/drawing/2014/main" id="{F6399757-F604-4277-99DE-AE75EE3A83E3}"/>
              </a:ext>
            </a:extLst>
          </p:cNvPr>
          <p:cNvSpPr>
            <a:spLocks noGrp="1"/>
          </p:cNvSpPr>
          <p:nvPr>
            <p:ph type="body" idx="1"/>
          </p:nvPr>
        </p:nvSpPr>
        <p:spPr/>
        <p:txBody>
          <a:bodyPr/>
          <a:lstStyle/>
          <a:p>
            <a:r>
              <a:rPr lang="en-GB" sz="3200" dirty="0"/>
              <a:t>Setup</a:t>
            </a:r>
            <a:endParaRPr lang="en-GB" dirty="0"/>
          </a:p>
        </p:txBody>
      </p:sp>
    </p:spTree>
    <p:extLst>
      <p:ext uri="{BB962C8B-B14F-4D97-AF65-F5344CB8AC3E}">
        <p14:creationId xmlns:p14="http://schemas.microsoft.com/office/powerpoint/2010/main" val="21207456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EEEA1B-CA96-47AA-938A-E625989FE2B8}"/>
              </a:ext>
            </a:extLst>
          </p:cNvPr>
          <p:cNvPicPr>
            <a:picLocks noChangeAspect="1"/>
          </p:cNvPicPr>
          <p:nvPr/>
        </p:nvPicPr>
        <p:blipFill rotWithShape="1">
          <a:blip r:embed="rId2"/>
          <a:srcRect t="6736"/>
          <a:stretch/>
        </p:blipFill>
        <p:spPr>
          <a:xfrm>
            <a:off x="1177323" y="2877736"/>
            <a:ext cx="10176477" cy="2578688"/>
          </a:xfrm>
          <a:prstGeom prst="rect">
            <a:avLst/>
          </a:prstGeom>
        </p:spPr>
      </p:pic>
      <p:pic>
        <p:nvPicPr>
          <p:cNvPr id="6" name="Picture 5">
            <a:extLst>
              <a:ext uri="{FF2B5EF4-FFF2-40B4-BE49-F238E27FC236}">
                <a16:creationId xmlns:a16="http://schemas.microsoft.com/office/drawing/2014/main" id="{D1E8208F-9679-4FB9-BD07-D2EBB831BEFC}"/>
              </a:ext>
            </a:extLst>
          </p:cNvPr>
          <p:cNvPicPr>
            <a:picLocks noChangeAspect="1"/>
          </p:cNvPicPr>
          <p:nvPr/>
        </p:nvPicPr>
        <p:blipFill rotWithShape="1">
          <a:blip r:embed="rId3"/>
          <a:srcRect l="1111" t="10111" r="2993"/>
          <a:stretch/>
        </p:blipFill>
        <p:spPr>
          <a:xfrm>
            <a:off x="1037057" y="1666805"/>
            <a:ext cx="10626305" cy="4733995"/>
          </a:xfrm>
          <a:prstGeom prst="rect">
            <a:avLst/>
          </a:prstGeom>
        </p:spPr>
      </p:pic>
      <p:pic>
        <p:nvPicPr>
          <p:cNvPr id="5" name="Picture 4">
            <a:extLst>
              <a:ext uri="{FF2B5EF4-FFF2-40B4-BE49-F238E27FC236}">
                <a16:creationId xmlns:a16="http://schemas.microsoft.com/office/drawing/2014/main" id="{FD0C6429-8DF0-4AEF-A5E4-B8A8869104C9}"/>
              </a:ext>
            </a:extLst>
          </p:cNvPr>
          <p:cNvPicPr>
            <a:picLocks noChangeAspect="1"/>
          </p:cNvPicPr>
          <p:nvPr/>
        </p:nvPicPr>
        <p:blipFill rotWithShape="1">
          <a:blip r:embed="rId4"/>
          <a:srcRect l="1428" t="24539" r="1251"/>
          <a:stretch/>
        </p:blipFill>
        <p:spPr>
          <a:xfrm>
            <a:off x="1037057" y="1666805"/>
            <a:ext cx="10682469" cy="1620110"/>
          </a:xfrm>
          <a:prstGeom prst="rect">
            <a:avLst/>
          </a:prstGeom>
        </p:spPr>
      </p:pic>
      <p:pic>
        <p:nvPicPr>
          <p:cNvPr id="4" name="Picture 3">
            <a:extLst>
              <a:ext uri="{FF2B5EF4-FFF2-40B4-BE49-F238E27FC236}">
                <a16:creationId xmlns:a16="http://schemas.microsoft.com/office/drawing/2014/main" id="{431D348A-1E20-4DD1-9964-01135A5AF008}"/>
              </a:ext>
            </a:extLst>
          </p:cNvPr>
          <p:cNvPicPr>
            <a:picLocks noChangeAspect="1"/>
          </p:cNvPicPr>
          <p:nvPr/>
        </p:nvPicPr>
        <p:blipFill rotWithShape="1">
          <a:blip r:embed="rId5"/>
          <a:srcRect l="1596" t="15197"/>
          <a:stretch/>
        </p:blipFill>
        <p:spPr>
          <a:xfrm>
            <a:off x="1037057" y="1666805"/>
            <a:ext cx="10515600" cy="4553946"/>
          </a:xfrm>
          <a:prstGeom prst="rect">
            <a:avLst/>
          </a:prstGeom>
        </p:spPr>
      </p:pic>
      <p:pic>
        <p:nvPicPr>
          <p:cNvPr id="3" name="Picture 2">
            <a:extLst>
              <a:ext uri="{FF2B5EF4-FFF2-40B4-BE49-F238E27FC236}">
                <a16:creationId xmlns:a16="http://schemas.microsoft.com/office/drawing/2014/main" id="{6372C94C-F39C-4633-9690-936896E7997C}"/>
              </a:ext>
            </a:extLst>
          </p:cNvPr>
          <p:cNvPicPr>
            <a:picLocks noChangeAspect="1"/>
          </p:cNvPicPr>
          <p:nvPr/>
        </p:nvPicPr>
        <p:blipFill>
          <a:blip r:embed="rId6"/>
          <a:stretch>
            <a:fillRect/>
          </a:stretch>
        </p:blipFill>
        <p:spPr>
          <a:xfrm>
            <a:off x="1037057" y="1666805"/>
            <a:ext cx="6995773" cy="4820999"/>
          </a:xfrm>
          <a:prstGeom prst="rect">
            <a:avLst/>
          </a:prstGeom>
        </p:spPr>
      </p:pic>
      <p:sp>
        <p:nvSpPr>
          <p:cNvPr id="2" name="Title 1">
            <a:extLst>
              <a:ext uri="{FF2B5EF4-FFF2-40B4-BE49-F238E27FC236}">
                <a16:creationId xmlns:a16="http://schemas.microsoft.com/office/drawing/2014/main" id="{D049432C-9C31-40D9-8C26-6E288E61F0CD}"/>
              </a:ext>
            </a:extLst>
          </p:cNvPr>
          <p:cNvSpPr>
            <a:spLocks noGrp="1"/>
          </p:cNvSpPr>
          <p:nvPr>
            <p:ph type="title"/>
          </p:nvPr>
        </p:nvSpPr>
        <p:spPr/>
        <p:txBody>
          <a:bodyPr/>
          <a:lstStyle/>
          <a:p>
            <a:r>
              <a:rPr lang="en-GB" dirty="0"/>
              <a:t>Edit – Preferences</a:t>
            </a:r>
          </a:p>
        </p:txBody>
      </p:sp>
    </p:spTree>
    <p:extLst>
      <p:ext uri="{BB962C8B-B14F-4D97-AF65-F5344CB8AC3E}">
        <p14:creationId xmlns:p14="http://schemas.microsoft.com/office/powerpoint/2010/main" val="410089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4"/>
                                        </p:tgtEl>
                                      </p:cBhvr>
                                    </p:animEffect>
                                    <p:set>
                                      <p:cBhvr>
                                        <p:cTn id="21" dur="1" fill="hold">
                                          <p:stCondLst>
                                            <p:cond delay="499"/>
                                          </p:stCondLst>
                                        </p:cTn>
                                        <p:tgtEl>
                                          <p:spTgt spid="4"/>
                                        </p:tgtEl>
                                        <p:attrNameLst>
                                          <p:attrName>style.visibility</p:attrName>
                                        </p:attrNameLst>
                                      </p:cBhvr>
                                      <p:to>
                                        <p:strVal val="hidden"/>
                                      </p:to>
                                    </p:se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500"/>
                                        <p:tgtEl>
                                          <p:spTgt spid="5"/>
                                        </p:tgtEl>
                                      </p:cBhvr>
                                    </p:animEffect>
                                    <p:set>
                                      <p:cBhvr>
                                        <p:cTn id="30" dur="1" fill="hold">
                                          <p:stCondLst>
                                            <p:cond delay="499"/>
                                          </p:stCondLst>
                                        </p:cTn>
                                        <p:tgtEl>
                                          <p:spTgt spid="5"/>
                                        </p:tgtEl>
                                        <p:attrNameLst>
                                          <p:attrName>style.visibility</p:attrName>
                                        </p:attrNameLst>
                                      </p:cBhvr>
                                      <p:to>
                                        <p:strVal val="hidden"/>
                                      </p:to>
                                    </p:se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500"/>
                                        <p:tgtEl>
                                          <p:spTgt spid="6"/>
                                        </p:tgtEl>
                                      </p:cBhvr>
                                    </p:animEffect>
                                    <p:set>
                                      <p:cBhvr>
                                        <p:cTn id="39" dur="1" fill="hold">
                                          <p:stCondLst>
                                            <p:cond delay="499"/>
                                          </p:stCondLst>
                                        </p:cTn>
                                        <p:tgtEl>
                                          <p:spTgt spid="6"/>
                                        </p:tgtEl>
                                        <p:attrNameLst>
                                          <p:attrName>style.visibility</p:attrName>
                                        </p:attrNameLst>
                                      </p:cBhvr>
                                      <p:to>
                                        <p:strVal val="hidden"/>
                                      </p:to>
                                    </p:set>
                                  </p:childTnLst>
                                </p:cTn>
                              </p:par>
                            </p:childTnLst>
                          </p:cTn>
                        </p:par>
                        <p:par>
                          <p:cTn id="40" fill="hold">
                            <p:stCondLst>
                              <p:cond delay="500"/>
                            </p:stCondLst>
                            <p:childTnLst>
                              <p:par>
                                <p:cTn id="41" presetID="10" presetClass="entr" presetSubtype="0" fill="hold" nodeType="after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77E8C-E4DA-48E1-A57F-56A67EA6539B}"/>
              </a:ext>
            </a:extLst>
          </p:cNvPr>
          <p:cNvSpPr>
            <a:spLocks noGrp="1"/>
          </p:cNvSpPr>
          <p:nvPr>
            <p:ph type="title"/>
          </p:nvPr>
        </p:nvSpPr>
        <p:spPr/>
        <p:txBody>
          <a:bodyPr/>
          <a:lstStyle/>
          <a:p>
            <a:r>
              <a:rPr lang="en-GB" dirty="0"/>
              <a:t>View – Edit Pragmas</a:t>
            </a:r>
          </a:p>
        </p:txBody>
      </p:sp>
      <p:pic>
        <p:nvPicPr>
          <p:cNvPr id="3" name="Picture 2">
            <a:extLst>
              <a:ext uri="{FF2B5EF4-FFF2-40B4-BE49-F238E27FC236}">
                <a16:creationId xmlns:a16="http://schemas.microsoft.com/office/drawing/2014/main" id="{4999E231-EF80-4729-892E-1ED241F4B497}"/>
              </a:ext>
            </a:extLst>
          </p:cNvPr>
          <p:cNvPicPr>
            <a:picLocks noChangeAspect="1"/>
          </p:cNvPicPr>
          <p:nvPr/>
        </p:nvPicPr>
        <p:blipFill>
          <a:blip r:embed="rId2"/>
          <a:stretch>
            <a:fillRect/>
          </a:stretch>
        </p:blipFill>
        <p:spPr>
          <a:xfrm>
            <a:off x="838200" y="1690687"/>
            <a:ext cx="6152909" cy="4718041"/>
          </a:xfrm>
          <a:prstGeom prst="rect">
            <a:avLst/>
          </a:prstGeom>
        </p:spPr>
      </p:pic>
      <p:sp>
        <p:nvSpPr>
          <p:cNvPr id="4" name="TextBox 3">
            <a:extLst>
              <a:ext uri="{FF2B5EF4-FFF2-40B4-BE49-F238E27FC236}">
                <a16:creationId xmlns:a16="http://schemas.microsoft.com/office/drawing/2014/main" id="{9540C108-C9FE-42D7-BD6F-E1997C341839}"/>
              </a:ext>
            </a:extLst>
          </p:cNvPr>
          <p:cNvSpPr txBox="1"/>
          <p:nvPr/>
        </p:nvSpPr>
        <p:spPr>
          <a:xfrm>
            <a:off x="7450857" y="1904581"/>
            <a:ext cx="2609817" cy="1754326"/>
          </a:xfrm>
          <a:prstGeom prst="rect">
            <a:avLst/>
          </a:prstGeom>
          <a:noFill/>
        </p:spPr>
        <p:txBody>
          <a:bodyPr wrap="none" rtlCol="0">
            <a:spAutoFit/>
          </a:bodyPr>
          <a:lstStyle/>
          <a:p>
            <a:pPr algn="ctr"/>
            <a:r>
              <a:rPr lang="en-GB" sz="3600" dirty="0">
                <a:solidFill>
                  <a:srgbClr val="7030A0"/>
                </a:solidFill>
              </a:rPr>
              <a:t>Removes</a:t>
            </a:r>
          </a:p>
          <a:p>
            <a:pPr algn="ctr"/>
            <a:r>
              <a:rPr lang="en-GB" sz="3600" dirty="0">
                <a:solidFill>
                  <a:srgbClr val="7030A0"/>
                </a:solidFill>
              </a:rPr>
              <a:t>Edit Pragmas</a:t>
            </a:r>
          </a:p>
          <a:p>
            <a:pPr algn="ctr"/>
            <a:r>
              <a:rPr lang="en-GB" sz="3600" dirty="0">
                <a:solidFill>
                  <a:srgbClr val="7030A0"/>
                </a:solidFill>
              </a:rPr>
              <a:t>tab </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1002852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wipe(left)">
                                      <p:cBhvr>
                                        <p:cTn id="11" dur="1000"/>
                                        <p:tgtEl>
                                          <p:spTgt spid="4">
                                            <p:txEl>
                                              <p:pRg st="0" end="0"/>
                                            </p:txEl>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wipe(left)">
                                      <p:cBhvr>
                                        <p:cTn id="14" dur="1000"/>
                                        <p:tgtEl>
                                          <p:spTgt spid="4">
                                            <p:txEl>
                                              <p:pRg st="1" end="1"/>
                                            </p:txEl>
                                          </p:spTgt>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1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r>
              <a:rPr lang="en-GB" dirty="0"/>
              <a:t>Describe and use internal commentary</a:t>
            </a:r>
          </a:p>
        </p:txBody>
      </p:sp>
    </p:spTree>
    <p:extLst>
      <p:ext uri="{BB962C8B-B14F-4D97-AF65-F5344CB8AC3E}">
        <p14:creationId xmlns:p14="http://schemas.microsoft.com/office/powerpoint/2010/main" val="1666217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65268-FDA0-7592-FF9C-72AB55A7A72E}"/>
              </a:ext>
            </a:extLst>
          </p:cNvPr>
          <p:cNvSpPr>
            <a:spLocks noGrp="1"/>
          </p:cNvSpPr>
          <p:nvPr>
            <p:ph type="title"/>
          </p:nvPr>
        </p:nvSpPr>
        <p:spPr/>
        <p:txBody>
          <a:bodyPr/>
          <a:lstStyle/>
          <a:p>
            <a:r>
              <a:rPr lang="en-GB" dirty="0"/>
              <a:t>Internal Commentary -  Single Line</a:t>
            </a:r>
          </a:p>
        </p:txBody>
      </p:sp>
      <p:sp>
        <p:nvSpPr>
          <p:cNvPr id="3" name="Content Placeholder 2">
            <a:extLst>
              <a:ext uri="{FF2B5EF4-FFF2-40B4-BE49-F238E27FC236}">
                <a16:creationId xmlns:a16="http://schemas.microsoft.com/office/drawing/2014/main" id="{141DFD40-5B60-02A6-A1F0-71163A85F354}"/>
              </a:ext>
            </a:extLst>
          </p:cNvPr>
          <p:cNvSpPr>
            <a:spLocks noGrp="1"/>
          </p:cNvSpPr>
          <p:nvPr>
            <p:ph idx="1"/>
          </p:nvPr>
        </p:nvSpPr>
        <p:spPr/>
        <p:txBody>
          <a:bodyPr/>
          <a:lstStyle/>
          <a:p>
            <a:r>
              <a:rPr lang="en-GB" dirty="0"/>
              <a:t>Use internal commentary to help your future self</a:t>
            </a:r>
          </a:p>
          <a:p>
            <a:pPr marL="0" indent="0">
              <a:buNone/>
            </a:pPr>
            <a:endParaRPr lang="en-GB" b="1" i="1" dirty="0"/>
          </a:p>
          <a:p>
            <a:pPr marL="0" lvl="0" indent="0" eaLnBrk="0" fontAlgn="base" hangingPunct="0">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969896"/>
                </a:solidFill>
                <a:latin typeface="Consolas" panose="020B0609020204030204" pitchFamily="49" charset="0"/>
              </a:rPr>
              <a:t>-- This is a comment</a:t>
            </a:r>
            <a:endParaRPr lang="en-US" altLang="en-US" sz="4000" dirty="0">
              <a:solidFill>
                <a:srgbClr val="000000"/>
              </a:solidFill>
              <a:latin typeface="Consolas" panose="020B0609020204030204" pitchFamily="49" charset="0"/>
            </a:endParaRPr>
          </a:p>
          <a:p>
            <a:pPr marL="0" lvl="0" indent="0" eaLnBrk="0" fontAlgn="base" hangingPunct="0">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969896"/>
                </a:solidFill>
                <a:latin typeface="Consolas" panose="020B0609020204030204" pitchFamily="49" charset="0"/>
              </a:rPr>
              <a:t>-- Another comment</a:t>
            </a:r>
            <a:br>
              <a:rPr lang="en-US" altLang="en-US" sz="1200" dirty="0">
                <a:solidFill>
                  <a:srgbClr val="000000"/>
                </a:solidFill>
                <a:latin typeface="Consolas" panose="020B0609020204030204" pitchFamily="49" charset="0"/>
              </a:rPr>
            </a:br>
            <a:endParaRPr lang="en-US" altLang="en-US" sz="1800" dirty="0">
              <a:latin typeface="Arial" panose="020B0604020202020204" pitchFamily="34" charset="0"/>
            </a:endParaRPr>
          </a:p>
        </p:txBody>
      </p:sp>
      <p:sp>
        <p:nvSpPr>
          <p:cNvPr id="4" name="Callout: Bent Line with No Border 7">
            <a:extLst>
              <a:ext uri="{FF2B5EF4-FFF2-40B4-BE49-F238E27FC236}">
                <a16:creationId xmlns:a16="http://schemas.microsoft.com/office/drawing/2014/main" id="{4C0E60D4-1062-CF5D-18A7-CBAEF1C011B8}"/>
              </a:ext>
            </a:extLst>
          </p:cNvPr>
          <p:cNvSpPr/>
          <p:nvPr/>
        </p:nvSpPr>
        <p:spPr>
          <a:xfrm>
            <a:off x="1743665" y="5529028"/>
            <a:ext cx="4268794" cy="502210"/>
          </a:xfrm>
          <a:prstGeom prst="callout2">
            <a:avLst>
              <a:gd name="adj1" fmla="val 50412"/>
              <a:gd name="adj2" fmla="val -670"/>
              <a:gd name="adj3" fmla="val 51190"/>
              <a:gd name="adj4" fmla="val -16010"/>
              <a:gd name="adj5" fmla="val -187008"/>
              <a:gd name="adj6" fmla="val -16012"/>
            </a:avLst>
          </a:prstGeom>
          <a:noFill/>
          <a:ln w="38100">
            <a:solidFill>
              <a:schemeClr val="accent6">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Line numbers</a:t>
            </a:r>
          </a:p>
        </p:txBody>
      </p:sp>
      <p:sp>
        <p:nvSpPr>
          <p:cNvPr id="5" name="Callout: Bent Line with No Border 7">
            <a:extLst>
              <a:ext uri="{FF2B5EF4-FFF2-40B4-BE49-F238E27FC236}">
                <a16:creationId xmlns:a16="http://schemas.microsoft.com/office/drawing/2014/main" id="{E2BACD9B-5A07-8F41-709C-9234578D0B3A}"/>
              </a:ext>
            </a:extLst>
          </p:cNvPr>
          <p:cNvSpPr/>
          <p:nvPr/>
        </p:nvSpPr>
        <p:spPr>
          <a:xfrm>
            <a:off x="2465121" y="4940370"/>
            <a:ext cx="4268794" cy="502210"/>
          </a:xfrm>
          <a:prstGeom prst="callout2">
            <a:avLst>
              <a:gd name="adj1" fmla="val 50412"/>
              <a:gd name="adj2" fmla="val -670"/>
              <a:gd name="adj3" fmla="val 51190"/>
              <a:gd name="adj4" fmla="val -16010"/>
              <a:gd name="adj5" fmla="val -67856"/>
              <a:gd name="adj6" fmla="val -16169"/>
            </a:avLst>
          </a:prstGeom>
          <a:noFill/>
          <a:ln w="38100">
            <a:solidFill>
              <a:schemeClr val="accent6">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Double dash (comment)</a:t>
            </a:r>
          </a:p>
        </p:txBody>
      </p:sp>
      <p:grpSp>
        <p:nvGrpSpPr>
          <p:cNvPr id="6" name="Group 5">
            <a:extLst>
              <a:ext uri="{FF2B5EF4-FFF2-40B4-BE49-F238E27FC236}">
                <a16:creationId xmlns:a16="http://schemas.microsoft.com/office/drawing/2014/main" id="{CDA2DFA6-83BE-D060-BDA8-CF34E45D5A03}"/>
              </a:ext>
            </a:extLst>
          </p:cNvPr>
          <p:cNvGrpSpPr/>
          <p:nvPr/>
        </p:nvGrpSpPr>
        <p:grpSpPr>
          <a:xfrm>
            <a:off x="7332313" y="3169159"/>
            <a:ext cx="3861812" cy="1150130"/>
            <a:chOff x="7619999" y="3594340"/>
            <a:chExt cx="3861812" cy="1150130"/>
          </a:xfrm>
        </p:grpSpPr>
        <p:sp>
          <p:nvSpPr>
            <p:cNvPr id="7" name="Right Brace 6">
              <a:extLst>
                <a:ext uri="{FF2B5EF4-FFF2-40B4-BE49-F238E27FC236}">
                  <a16:creationId xmlns:a16="http://schemas.microsoft.com/office/drawing/2014/main" id="{9F364CEF-EF46-8D6E-A26D-C00C36BEFC0A}"/>
                </a:ext>
              </a:extLst>
            </p:cNvPr>
            <p:cNvSpPr/>
            <p:nvPr/>
          </p:nvSpPr>
          <p:spPr>
            <a:xfrm>
              <a:off x="7619999" y="3594340"/>
              <a:ext cx="485955" cy="1150130"/>
            </a:xfrm>
            <a:prstGeom prst="rightBrace">
              <a:avLst>
                <a:gd name="adj1" fmla="val 0"/>
                <a:gd name="adj2" fmla="val 50000"/>
              </a:avLst>
            </a:prstGeom>
            <a:noFill/>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TextBox 7">
              <a:extLst>
                <a:ext uri="{FF2B5EF4-FFF2-40B4-BE49-F238E27FC236}">
                  <a16:creationId xmlns:a16="http://schemas.microsoft.com/office/drawing/2014/main" id="{939C1467-17BF-2567-FC3A-6C13F40DD77F}"/>
                </a:ext>
              </a:extLst>
            </p:cNvPr>
            <p:cNvSpPr txBox="1"/>
            <p:nvPr/>
          </p:nvSpPr>
          <p:spPr>
            <a:xfrm>
              <a:off x="8167256" y="3907795"/>
              <a:ext cx="3314555" cy="523220"/>
            </a:xfrm>
            <a:prstGeom prst="rect">
              <a:avLst/>
            </a:prstGeom>
            <a:noFill/>
          </p:spPr>
          <p:txBody>
            <a:bodyPr wrap="square" rtlCol="0">
              <a:spAutoFit/>
            </a:bodyPr>
            <a:lstStyle/>
            <a:p>
              <a:r>
                <a:rPr lang="en-GB" sz="2800" b="1" dirty="0">
                  <a:solidFill>
                    <a:srgbClr val="7030A0"/>
                  </a:solidFill>
                </a:rPr>
                <a:t>Ignored by computer</a:t>
              </a:r>
            </a:p>
          </p:txBody>
        </p:sp>
      </p:grpSp>
      <p:sp>
        <p:nvSpPr>
          <p:cNvPr id="9" name="Rectangle 1">
            <a:extLst>
              <a:ext uri="{FF2B5EF4-FFF2-40B4-BE49-F238E27FC236}">
                <a16:creationId xmlns:a16="http://schemas.microsoft.com/office/drawing/2014/main" id="{B91BCD11-793F-D522-35E5-01BC42A81B4B}"/>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88459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1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1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65268-FDA0-7592-FF9C-72AB55A7A72E}"/>
              </a:ext>
            </a:extLst>
          </p:cNvPr>
          <p:cNvSpPr>
            <a:spLocks noGrp="1"/>
          </p:cNvSpPr>
          <p:nvPr>
            <p:ph type="title"/>
          </p:nvPr>
        </p:nvSpPr>
        <p:spPr/>
        <p:txBody>
          <a:bodyPr/>
          <a:lstStyle/>
          <a:p>
            <a:r>
              <a:rPr lang="en-GB" dirty="0"/>
              <a:t>Internal Commentary – Single Line</a:t>
            </a:r>
          </a:p>
        </p:txBody>
      </p:sp>
      <p:sp>
        <p:nvSpPr>
          <p:cNvPr id="3" name="Content Placeholder 2">
            <a:extLst>
              <a:ext uri="{FF2B5EF4-FFF2-40B4-BE49-F238E27FC236}">
                <a16:creationId xmlns:a16="http://schemas.microsoft.com/office/drawing/2014/main" id="{141DFD40-5B60-02A6-A1F0-71163A85F354}"/>
              </a:ext>
            </a:extLst>
          </p:cNvPr>
          <p:cNvSpPr>
            <a:spLocks noGrp="1"/>
          </p:cNvSpPr>
          <p:nvPr>
            <p:ph idx="1"/>
          </p:nvPr>
        </p:nvSpPr>
        <p:spPr/>
        <p:txBody>
          <a:bodyPr/>
          <a:lstStyle/>
          <a:p>
            <a:r>
              <a:rPr lang="en-GB" dirty="0"/>
              <a:t>Use internal commentary to help your future self</a:t>
            </a:r>
          </a:p>
          <a:p>
            <a:pPr marL="0" indent="0">
              <a:buNone/>
            </a:pPr>
            <a:endParaRPr lang="en-GB" b="1" i="1" dirty="0"/>
          </a:p>
          <a:p>
            <a:pPr marL="0" lvl="0" indent="0" eaLnBrk="0" fontAlgn="base" hangingPunct="0">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969896"/>
                </a:solidFill>
                <a:latin typeface="Consolas" panose="020B0609020204030204" pitchFamily="49" charset="0"/>
              </a:rPr>
              <a:t>-- This is a comment</a:t>
            </a:r>
            <a:endParaRPr lang="en-US" altLang="en-US" sz="4000" dirty="0">
              <a:solidFill>
                <a:srgbClr val="000000"/>
              </a:solidFill>
              <a:latin typeface="Consolas" panose="020B0609020204030204" pitchFamily="49" charset="0"/>
            </a:endParaRPr>
          </a:p>
          <a:p>
            <a:pPr marL="0" lvl="0" indent="0" eaLnBrk="0" fontAlgn="base" hangingPunct="0">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969896"/>
                </a:solidFill>
                <a:latin typeface="Consolas" panose="020B0609020204030204" pitchFamily="49" charset="0"/>
              </a:rPr>
              <a:t>-- Another comment</a:t>
            </a:r>
            <a:br>
              <a:rPr lang="en-US" altLang="en-US" sz="1200" dirty="0">
                <a:solidFill>
                  <a:srgbClr val="000000"/>
                </a:solidFill>
                <a:latin typeface="Consolas" panose="020B0609020204030204" pitchFamily="49" charset="0"/>
              </a:rPr>
            </a:br>
            <a:endParaRPr lang="en-US" altLang="en-US" sz="1800" dirty="0">
              <a:latin typeface="Arial" panose="020B0604020202020204" pitchFamily="34" charset="0"/>
            </a:endParaRPr>
          </a:p>
        </p:txBody>
      </p:sp>
      <p:sp>
        <p:nvSpPr>
          <p:cNvPr id="9" name="Rectangle 1">
            <a:extLst>
              <a:ext uri="{FF2B5EF4-FFF2-40B4-BE49-F238E27FC236}">
                <a16:creationId xmlns:a16="http://schemas.microsoft.com/office/drawing/2014/main" id="{B91BCD11-793F-D522-35E5-01BC42A81B4B}"/>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56027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65268-FDA0-7592-FF9C-72AB55A7A72E}"/>
              </a:ext>
            </a:extLst>
          </p:cNvPr>
          <p:cNvSpPr>
            <a:spLocks noGrp="1"/>
          </p:cNvSpPr>
          <p:nvPr>
            <p:ph type="title"/>
          </p:nvPr>
        </p:nvSpPr>
        <p:spPr/>
        <p:txBody>
          <a:bodyPr/>
          <a:lstStyle/>
          <a:p>
            <a:r>
              <a:rPr lang="en-GB" dirty="0"/>
              <a:t>Internal Commentary – Multiple Lines</a:t>
            </a:r>
          </a:p>
        </p:txBody>
      </p:sp>
      <p:sp>
        <p:nvSpPr>
          <p:cNvPr id="3" name="Content Placeholder 2">
            <a:extLst>
              <a:ext uri="{FF2B5EF4-FFF2-40B4-BE49-F238E27FC236}">
                <a16:creationId xmlns:a16="http://schemas.microsoft.com/office/drawing/2014/main" id="{141DFD40-5B60-02A6-A1F0-71163A85F354}"/>
              </a:ext>
            </a:extLst>
          </p:cNvPr>
          <p:cNvSpPr>
            <a:spLocks noGrp="1"/>
          </p:cNvSpPr>
          <p:nvPr>
            <p:ph idx="1"/>
          </p:nvPr>
        </p:nvSpPr>
        <p:spPr/>
        <p:txBody>
          <a:bodyPr>
            <a:normAutofit lnSpcReduction="10000"/>
          </a:bodyPr>
          <a:lstStyle/>
          <a:p>
            <a:r>
              <a:rPr lang="en-GB" dirty="0"/>
              <a:t>Use internal commentary to help your future self</a:t>
            </a:r>
          </a:p>
          <a:p>
            <a:pPr marL="0" indent="0">
              <a:buNone/>
            </a:pPr>
            <a:endParaRPr lang="en-GB" b="1" i="1" dirty="0"/>
          </a:p>
          <a:p>
            <a:pPr marL="0" lvl="0" indent="0" eaLnBrk="0" fontAlgn="base" hangingPunct="0">
              <a:spcBef>
                <a:spcPct val="0"/>
              </a:spcBef>
              <a:spcAft>
                <a:spcPct val="0"/>
              </a:spcAft>
              <a:buNone/>
            </a:pPr>
            <a:r>
              <a:rPr lang="en-GB" altLang="en-US" sz="4000" dirty="0">
                <a:solidFill>
                  <a:srgbClr val="B2B2B2"/>
                </a:solidFill>
                <a:latin typeface="Consolas" panose="020B0609020204030204" pitchFamily="49" charset="0"/>
              </a:rPr>
              <a:t>1 /*</a:t>
            </a:r>
          </a:p>
          <a:p>
            <a:pPr marL="0" lvl="0" indent="0" eaLnBrk="0" fontAlgn="base" hangingPunct="0">
              <a:spcBef>
                <a:spcPct val="0"/>
              </a:spcBef>
              <a:spcAft>
                <a:spcPct val="0"/>
              </a:spcAft>
              <a:buNone/>
            </a:pPr>
            <a:r>
              <a:rPr lang="en-GB" altLang="en-US" sz="4000" dirty="0">
                <a:solidFill>
                  <a:srgbClr val="B2B2B2"/>
                </a:solidFill>
                <a:latin typeface="Consolas" panose="020B0609020204030204" pitchFamily="49" charset="0"/>
              </a:rPr>
              <a:t>2 A comment</a:t>
            </a:r>
          </a:p>
          <a:p>
            <a:pPr marL="0" lvl="0" indent="0" eaLnBrk="0" fontAlgn="base" hangingPunct="0">
              <a:spcBef>
                <a:spcPct val="0"/>
              </a:spcBef>
              <a:spcAft>
                <a:spcPct val="0"/>
              </a:spcAft>
              <a:buNone/>
            </a:pPr>
            <a:r>
              <a:rPr lang="en-GB" altLang="en-US" sz="4000" dirty="0">
                <a:solidFill>
                  <a:srgbClr val="B2B2B2"/>
                </a:solidFill>
                <a:latin typeface="Consolas" panose="020B0609020204030204" pitchFamily="49" charset="0"/>
              </a:rPr>
              <a:t>3 Another comment</a:t>
            </a:r>
          </a:p>
          <a:p>
            <a:pPr marL="0" lvl="0" indent="0" eaLnBrk="0" fontAlgn="base" hangingPunct="0">
              <a:spcBef>
                <a:spcPct val="0"/>
              </a:spcBef>
              <a:spcAft>
                <a:spcPct val="0"/>
              </a:spcAft>
              <a:buNone/>
            </a:pPr>
            <a:r>
              <a:rPr lang="en-GB" altLang="en-US" sz="4000" dirty="0">
                <a:solidFill>
                  <a:srgbClr val="B2B2B2"/>
                </a:solidFill>
                <a:latin typeface="Consolas" panose="020B0609020204030204" pitchFamily="49" charset="0"/>
              </a:rPr>
              <a:t>4 */</a:t>
            </a:r>
            <a:br>
              <a:rPr lang="en-US" altLang="en-US" sz="1200" dirty="0">
                <a:solidFill>
                  <a:srgbClr val="000000"/>
                </a:solidFill>
                <a:latin typeface="Consolas" panose="020B0609020204030204" pitchFamily="49" charset="0"/>
              </a:rPr>
            </a:br>
            <a:endParaRPr lang="en-US" altLang="en-US" sz="1800" dirty="0">
              <a:latin typeface="Arial" panose="020B0604020202020204" pitchFamily="34" charset="0"/>
            </a:endParaRPr>
          </a:p>
        </p:txBody>
      </p:sp>
      <p:sp>
        <p:nvSpPr>
          <p:cNvPr id="4" name="Callout: Bent Line with No Border 7">
            <a:extLst>
              <a:ext uri="{FF2B5EF4-FFF2-40B4-BE49-F238E27FC236}">
                <a16:creationId xmlns:a16="http://schemas.microsoft.com/office/drawing/2014/main" id="{4C0E60D4-1062-CF5D-18A7-CBAEF1C011B8}"/>
              </a:ext>
            </a:extLst>
          </p:cNvPr>
          <p:cNvSpPr/>
          <p:nvPr/>
        </p:nvSpPr>
        <p:spPr>
          <a:xfrm>
            <a:off x="2928053" y="2435066"/>
            <a:ext cx="2377374" cy="502210"/>
          </a:xfrm>
          <a:prstGeom prst="callout2">
            <a:avLst>
              <a:gd name="adj1" fmla="val 50412"/>
              <a:gd name="adj2" fmla="val -670"/>
              <a:gd name="adj3" fmla="val 51190"/>
              <a:gd name="adj4" fmla="val -16010"/>
              <a:gd name="adj5" fmla="val 125733"/>
              <a:gd name="adj6" fmla="val -36828"/>
            </a:avLst>
          </a:prstGeom>
          <a:noFill/>
          <a:ln w="38100">
            <a:solidFill>
              <a:schemeClr val="accent6">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Start</a:t>
            </a:r>
          </a:p>
        </p:txBody>
      </p:sp>
      <p:sp>
        <p:nvSpPr>
          <p:cNvPr id="9" name="Rectangle 1">
            <a:extLst>
              <a:ext uri="{FF2B5EF4-FFF2-40B4-BE49-F238E27FC236}">
                <a16:creationId xmlns:a16="http://schemas.microsoft.com/office/drawing/2014/main" id="{B91BCD11-793F-D522-35E5-01BC42A81B4B}"/>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Callout: Bent Line with No Border 7">
            <a:extLst>
              <a:ext uri="{FF2B5EF4-FFF2-40B4-BE49-F238E27FC236}">
                <a16:creationId xmlns:a16="http://schemas.microsoft.com/office/drawing/2014/main" id="{DEDB152E-3303-6EB8-841D-8925F528E04C}"/>
              </a:ext>
            </a:extLst>
          </p:cNvPr>
          <p:cNvSpPr/>
          <p:nvPr/>
        </p:nvSpPr>
        <p:spPr>
          <a:xfrm>
            <a:off x="2811512" y="5627248"/>
            <a:ext cx="2377374" cy="502210"/>
          </a:xfrm>
          <a:prstGeom prst="callout2">
            <a:avLst>
              <a:gd name="adj1" fmla="val 50412"/>
              <a:gd name="adj2" fmla="val -670"/>
              <a:gd name="adj3" fmla="val 51190"/>
              <a:gd name="adj4" fmla="val -16010"/>
              <a:gd name="adj5" fmla="val -19927"/>
              <a:gd name="adj6" fmla="val -31398"/>
            </a:avLst>
          </a:prstGeom>
          <a:noFill/>
          <a:ln w="38100">
            <a:solidFill>
              <a:schemeClr val="accent6">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End</a:t>
            </a:r>
          </a:p>
        </p:txBody>
      </p:sp>
      <p:grpSp>
        <p:nvGrpSpPr>
          <p:cNvPr id="11" name="Group 10">
            <a:extLst>
              <a:ext uri="{FF2B5EF4-FFF2-40B4-BE49-F238E27FC236}">
                <a16:creationId xmlns:a16="http://schemas.microsoft.com/office/drawing/2014/main" id="{75E3776F-3D63-835C-07A1-1B0567DB4195}"/>
              </a:ext>
            </a:extLst>
          </p:cNvPr>
          <p:cNvGrpSpPr/>
          <p:nvPr/>
        </p:nvGrpSpPr>
        <p:grpSpPr>
          <a:xfrm>
            <a:off x="6428670" y="3038534"/>
            <a:ext cx="3861131" cy="2588714"/>
            <a:chOff x="7619999" y="3594340"/>
            <a:chExt cx="3861131" cy="2588714"/>
          </a:xfrm>
        </p:grpSpPr>
        <p:sp>
          <p:nvSpPr>
            <p:cNvPr id="12" name="Right Brace 11">
              <a:extLst>
                <a:ext uri="{FF2B5EF4-FFF2-40B4-BE49-F238E27FC236}">
                  <a16:creationId xmlns:a16="http://schemas.microsoft.com/office/drawing/2014/main" id="{5F120CEE-CFD9-CB8B-DFB8-56986AA997B1}"/>
                </a:ext>
              </a:extLst>
            </p:cNvPr>
            <p:cNvSpPr/>
            <p:nvPr/>
          </p:nvSpPr>
          <p:spPr>
            <a:xfrm>
              <a:off x="7619999" y="3594340"/>
              <a:ext cx="485955" cy="2588714"/>
            </a:xfrm>
            <a:prstGeom prst="rightBrace">
              <a:avLst>
                <a:gd name="adj1" fmla="val 0"/>
                <a:gd name="adj2" fmla="val 50000"/>
              </a:avLst>
            </a:prstGeom>
            <a:noFill/>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 name="TextBox 12">
              <a:extLst>
                <a:ext uri="{FF2B5EF4-FFF2-40B4-BE49-F238E27FC236}">
                  <a16:creationId xmlns:a16="http://schemas.microsoft.com/office/drawing/2014/main" id="{3625EFF3-D3CE-0318-B326-B3D83E97A7B1}"/>
                </a:ext>
              </a:extLst>
            </p:cNvPr>
            <p:cNvSpPr txBox="1"/>
            <p:nvPr/>
          </p:nvSpPr>
          <p:spPr>
            <a:xfrm>
              <a:off x="8166575" y="4627087"/>
              <a:ext cx="3314555" cy="523220"/>
            </a:xfrm>
            <a:prstGeom prst="rect">
              <a:avLst/>
            </a:prstGeom>
            <a:noFill/>
          </p:spPr>
          <p:txBody>
            <a:bodyPr wrap="square" rtlCol="0">
              <a:spAutoFit/>
            </a:bodyPr>
            <a:lstStyle/>
            <a:p>
              <a:r>
                <a:rPr lang="en-GB" sz="2800" b="1" dirty="0">
                  <a:solidFill>
                    <a:srgbClr val="7030A0"/>
                  </a:solidFill>
                </a:rPr>
                <a:t>Ignored by computer</a:t>
              </a:r>
            </a:p>
          </p:txBody>
        </p:sp>
      </p:grpSp>
    </p:spTree>
    <p:extLst>
      <p:ext uri="{BB962C8B-B14F-4D97-AF65-F5344CB8AC3E}">
        <p14:creationId xmlns:p14="http://schemas.microsoft.com/office/powerpoint/2010/main" val="408941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75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1500"/>
                                        <p:tgtEl>
                                          <p:spTgt spid="3">
                                            <p:txEl>
                                              <p:pRg st="3" end="3"/>
                                            </p:txEl>
                                          </p:spTgt>
                                        </p:tgtEl>
                                      </p:cBhvr>
                                    </p:animEffect>
                                  </p:childTnLst>
                                </p:cTn>
                              </p:par>
                            </p:childTnLst>
                          </p:cTn>
                        </p:par>
                        <p:par>
                          <p:cTn id="18" fill="hold">
                            <p:stCondLst>
                              <p:cond delay="1500"/>
                            </p:stCondLst>
                            <p:childTnLst>
                              <p:par>
                                <p:cTn id="19" presetID="22" presetClass="entr" presetSubtype="8" fill="hold" nodeType="after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left)">
                                      <p:cBhvr>
                                        <p:cTn id="21" dur="1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left)">
                                      <p:cBhvr>
                                        <p:cTn id="26" dur="75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65268-FDA0-7592-FF9C-72AB55A7A72E}"/>
              </a:ext>
            </a:extLst>
          </p:cNvPr>
          <p:cNvSpPr>
            <a:spLocks noGrp="1"/>
          </p:cNvSpPr>
          <p:nvPr>
            <p:ph type="title"/>
          </p:nvPr>
        </p:nvSpPr>
        <p:spPr/>
        <p:txBody>
          <a:bodyPr/>
          <a:lstStyle/>
          <a:p>
            <a:r>
              <a:rPr lang="en-GB" dirty="0"/>
              <a:t>Internal Commentary – Multiple Lines</a:t>
            </a:r>
          </a:p>
        </p:txBody>
      </p:sp>
      <p:sp>
        <p:nvSpPr>
          <p:cNvPr id="3" name="Content Placeholder 2">
            <a:extLst>
              <a:ext uri="{FF2B5EF4-FFF2-40B4-BE49-F238E27FC236}">
                <a16:creationId xmlns:a16="http://schemas.microsoft.com/office/drawing/2014/main" id="{141DFD40-5B60-02A6-A1F0-71163A85F354}"/>
              </a:ext>
            </a:extLst>
          </p:cNvPr>
          <p:cNvSpPr>
            <a:spLocks noGrp="1"/>
          </p:cNvSpPr>
          <p:nvPr>
            <p:ph idx="1"/>
          </p:nvPr>
        </p:nvSpPr>
        <p:spPr/>
        <p:txBody>
          <a:bodyPr>
            <a:normAutofit lnSpcReduction="10000"/>
          </a:bodyPr>
          <a:lstStyle/>
          <a:p>
            <a:r>
              <a:rPr lang="en-GB" dirty="0"/>
              <a:t>Use internal commentary to help your future self</a:t>
            </a:r>
          </a:p>
          <a:p>
            <a:pPr marL="0" indent="0">
              <a:buNone/>
            </a:pPr>
            <a:endParaRPr lang="en-GB" b="1" i="1" dirty="0"/>
          </a:p>
          <a:p>
            <a:pPr marL="0" lvl="0" indent="0" eaLnBrk="0" fontAlgn="base" hangingPunct="0">
              <a:spcBef>
                <a:spcPct val="0"/>
              </a:spcBef>
              <a:spcAft>
                <a:spcPct val="0"/>
              </a:spcAft>
              <a:buNone/>
            </a:pPr>
            <a:r>
              <a:rPr lang="en-GB" altLang="en-US" sz="4000" dirty="0">
                <a:solidFill>
                  <a:srgbClr val="B2B2B2"/>
                </a:solidFill>
                <a:latin typeface="Consolas" panose="020B0609020204030204" pitchFamily="49" charset="0"/>
              </a:rPr>
              <a:t>1 /*</a:t>
            </a:r>
          </a:p>
          <a:p>
            <a:pPr marL="0" lvl="0" indent="0" eaLnBrk="0" fontAlgn="base" hangingPunct="0">
              <a:spcBef>
                <a:spcPct val="0"/>
              </a:spcBef>
              <a:spcAft>
                <a:spcPct val="0"/>
              </a:spcAft>
              <a:buNone/>
            </a:pPr>
            <a:r>
              <a:rPr lang="en-GB" altLang="en-US" sz="4000" dirty="0">
                <a:solidFill>
                  <a:srgbClr val="B2B2B2"/>
                </a:solidFill>
                <a:latin typeface="Consolas" panose="020B0609020204030204" pitchFamily="49" charset="0"/>
              </a:rPr>
              <a:t>2 A comment</a:t>
            </a:r>
          </a:p>
          <a:p>
            <a:pPr marL="0" lvl="0" indent="0" eaLnBrk="0" fontAlgn="base" hangingPunct="0">
              <a:spcBef>
                <a:spcPct val="0"/>
              </a:spcBef>
              <a:spcAft>
                <a:spcPct val="0"/>
              </a:spcAft>
              <a:buNone/>
            </a:pPr>
            <a:r>
              <a:rPr lang="en-GB" altLang="en-US" sz="4000" dirty="0">
                <a:solidFill>
                  <a:srgbClr val="B2B2B2"/>
                </a:solidFill>
                <a:latin typeface="Consolas" panose="020B0609020204030204" pitchFamily="49" charset="0"/>
              </a:rPr>
              <a:t>3 Another comment</a:t>
            </a:r>
          </a:p>
          <a:p>
            <a:pPr marL="0" lvl="0" indent="0" eaLnBrk="0" fontAlgn="base" hangingPunct="0">
              <a:spcBef>
                <a:spcPct val="0"/>
              </a:spcBef>
              <a:spcAft>
                <a:spcPct val="0"/>
              </a:spcAft>
              <a:buNone/>
            </a:pPr>
            <a:r>
              <a:rPr lang="en-GB" altLang="en-US" sz="4000" dirty="0">
                <a:solidFill>
                  <a:srgbClr val="B2B2B2"/>
                </a:solidFill>
                <a:latin typeface="Consolas" panose="020B0609020204030204" pitchFamily="49" charset="0"/>
              </a:rPr>
              <a:t>4 */</a:t>
            </a:r>
            <a:br>
              <a:rPr lang="en-US" altLang="en-US" sz="1200" dirty="0">
                <a:solidFill>
                  <a:srgbClr val="000000"/>
                </a:solidFill>
                <a:latin typeface="Consolas" panose="020B0609020204030204" pitchFamily="49" charset="0"/>
              </a:rPr>
            </a:br>
            <a:endParaRPr lang="en-US" altLang="en-US" sz="1800" dirty="0">
              <a:latin typeface="Arial" panose="020B0604020202020204" pitchFamily="34" charset="0"/>
            </a:endParaRPr>
          </a:p>
        </p:txBody>
      </p:sp>
      <p:sp>
        <p:nvSpPr>
          <p:cNvPr id="9" name="Rectangle 1">
            <a:extLst>
              <a:ext uri="{FF2B5EF4-FFF2-40B4-BE49-F238E27FC236}">
                <a16:creationId xmlns:a16="http://schemas.microsoft.com/office/drawing/2014/main" id="{B91BCD11-793F-D522-35E5-01BC42A81B4B}"/>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65154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Learning Intentions</a:t>
            </a:r>
          </a:p>
        </p:txBody>
      </p:sp>
      <p:sp>
        <p:nvSpPr>
          <p:cNvPr id="3" name="Content Placeholder 2"/>
          <p:cNvSpPr>
            <a:spLocks noGrp="1"/>
          </p:cNvSpPr>
          <p:nvPr>
            <p:ph idx="1"/>
          </p:nvPr>
        </p:nvSpPr>
        <p:spPr/>
        <p:txBody>
          <a:bodyPr/>
          <a:lstStyle/>
          <a:p>
            <a:r>
              <a:rPr lang="en-GB" dirty="0"/>
              <a:t>Describe and use output to screen</a:t>
            </a:r>
          </a:p>
        </p:txBody>
      </p:sp>
    </p:spTree>
    <p:extLst>
      <p:ext uri="{BB962C8B-B14F-4D97-AF65-F5344CB8AC3E}">
        <p14:creationId xmlns:p14="http://schemas.microsoft.com/office/powerpoint/2010/main" val="3817082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6D15D4-1AB6-41A6-BFA0-B5265FD77462}"/>
              </a:ext>
            </a:extLst>
          </p:cNvPr>
          <p:cNvSpPr txBox="1"/>
          <p:nvPr/>
        </p:nvSpPr>
        <p:spPr>
          <a:xfrm>
            <a:off x="838200" y="1957036"/>
            <a:ext cx="8873359" cy="1600438"/>
          </a:xfrm>
          <a:prstGeom prst="rect">
            <a:avLst/>
          </a:prstGeom>
          <a:noFill/>
        </p:spPr>
        <p:txBody>
          <a:bodyPr wrap="square">
            <a:spAutoFit/>
          </a:bodyPr>
          <a:lstStyle/>
          <a:p>
            <a:pPr eaLnBrk="0" fontAlgn="base" hangingPunct="0">
              <a:spcBef>
                <a:spcPct val="0"/>
              </a:spcBef>
              <a:spcAft>
                <a:spcPts val="1200"/>
              </a:spcAft>
            </a:pPr>
            <a:r>
              <a:rPr lang="en-US" altLang="en-US" sz="4400" dirty="0">
                <a:solidFill>
                  <a:srgbClr val="B2B2B2"/>
                </a:solidFill>
                <a:latin typeface="Consolas" panose="020B0609020204030204" pitchFamily="49" charset="0"/>
              </a:rPr>
              <a:t>1 </a:t>
            </a:r>
            <a:r>
              <a:rPr lang="en-US" altLang="en-US" sz="4400" dirty="0">
                <a:solidFill>
                  <a:srgbClr val="000000"/>
                </a:solidFill>
                <a:latin typeface="Consolas" panose="020B0609020204030204" pitchFamily="49" charset="0"/>
              </a:rPr>
              <a:t>.print</a:t>
            </a:r>
          </a:p>
          <a:p>
            <a:pPr eaLnBrk="0" fontAlgn="base" hangingPunct="0">
              <a:spcBef>
                <a:spcPct val="0"/>
              </a:spcBef>
              <a:spcAft>
                <a:spcPts val="1200"/>
              </a:spcAft>
            </a:pPr>
            <a:r>
              <a:rPr lang="en-US" altLang="en-US" sz="4400" dirty="0">
                <a:solidFill>
                  <a:srgbClr val="B2B2B2"/>
                </a:solidFill>
                <a:latin typeface="Consolas" panose="020B0609020204030204" pitchFamily="49" charset="0"/>
              </a:rPr>
              <a:t>2 </a:t>
            </a:r>
            <a:r>
              <a:rPr lang="en-US" altLang="en-US" sz="4400" dirty="0">
                <a:solidFill>
                  <a:srgbClr val="000000"/>
                </a:solidFill>
                <a:latin typeface="Consolas" panose="020B0609020204030204" pitchFamily="49" charset="0"/>
              </a:rPr>
              <a:t>.print "Hello world"</a:t>
            </a:r>
          </a:p>
        </p:txBody>
      </p:sp>
      <p:sp>
        <p:nvSpPr>
          <p:cNvPr id="9" name="Callout: Bent Line with No Border 8">
            <a:extLst>
              <a:ext uri="{FF2B5EF4-FFF2-40B4-BE49-F238E27FC236}">
                <a16:creationId xmlns:a16="http://schemas.microsoft.com/office/drawing/2014/main" id="{FE76DF5F-81B3-45AC-A628-BBE9287E827D}"/>
              </a:ext>
            </a:extLst>
          </p:cNvPr>
          <p:cNvSpPr/>
          <p:nvPr/>
        </p:nvSpPr>
        <p:spPr>
          <a:xfrm>
            <a:off x="5644898" y="1742044"/>
            <a:ext cx="2573935" cy="429983"/>
          </a:xfrm>
          <a:prstGeom prst="callout2">
            <a:avLst>
              <a:gd name="adj1" fmla="val 50675"/>
              <a:gd name="adj2" fmla="val -405"/>
              <a:gd name="adj3" fmla="val 50388"/>
              <a:gd name="adj4" fmla="val -30119"/>
              <a:gd name="adj5" fmla="val 131369"/>
              <a:gd name="adj6" fmla="val -78636"/>
            </a:avLst>
          </a:prstGeom>
          <a:noFill/>
          <a:ln w="38100">
            <a:solidFill>
              <a:schemeClr val="accent6">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Blank line</a:t>
            </a:r>
          </a:p>
        </p:txBody>
      </p:sp>
      <p:sp>
        <p:nvSpPr>
          <p:cNvPr id="3" name="Title 2"/>
          <p:cNvSpPr>
            <a:spLocks noGrp="1"/>
          </p:cNvSpPr>
          <p:nvPr>
            <p:ph type="title"/>
          </p:nvPr>
        </p:nvSpPr>
        <p:spPr/>
        <p:txBody>
          <a:bodyPr/>
          <a:lstStyle/>
          <a:p>
            <a:r>
              <a:rPr lang="en-GB" dirty="0"/>
              <a:t>Display information</a:t>
            </a:r>
          </a:p>
        </p:txBody>
      </p:sp>
      <p:sp>
        <p:nvSpPr>
          <p:cNvPr id="4" name="Rectangle 1">
            <a:extLst>
              <a:ext uri="{FF2B5EF4-FFF2-40B4-BE49-F238E27FC236}">
                <a16:creationId xmlns:a16="http://schemas.microsoft.com/office/drawing/2014/main" id="{8893844C-52D8-18EF-7948-09D1558A481E}"/>
              </a:ext>
            </a:extLst>
          </p:cNvPr>
          <p:cNvSpPr>
            <a:spLocks noChangeArrowheads="1"/>
          </p:cNvSpPr>
          <p:nvPr/>
        </p:nvSpPr>
        <p:spPr bwMode="auto">
          <a:xfrm>
            <a:off x="0" y="-48399"/>
            <a:ext cx="26962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B2B2B2"/>
                </a:solidFill>
                <a:effectLst/>
                <a:latin typeface="Consolas" panose="020B0609020204030204" pitchFamily="49" charset="0"/>
              </a:rPr>
              <a:t> </a:t>
            </a:r>
            <a:br>
              <a:rPr kumimoji="0" lang="en-US" altLang="en-US" sz="1200" b="0" i="0" u="none" strike="noStrike" cap="none" normalizeH="0" baseline="0" dirty="0">
                <a:ln>
                  <a:noFill/>
                </a:ln>
                <a:solidFill>
                  <a:srgbClr val="000000"/>
                </a:solidFill>
                <a:effectLst/>
                <a:latin typeface="Consolas" panose="020B0609020204030204" pitchFamily="49"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0" name="Group 9">
            <a:extLst>
              <a:ext uri="{FF2B5EF4-FFF2-40B4-BE49-F238E27FC236}">
                <a16:creationId xmlns:a16="http://schemas.microsoft.com/office/drawing/2014/main" id="{D664FC82-66AD-1E04-D772-53DD341AA1E1}"/>
              </a:ext>
            </a:extLst>
          </p:cNvPr>
          <p:cNvGrpSpPr/>
          <p:nvPr/>
        </p:nvGrpSpPr>
        <p:grpSpPr>
          <a:xfrm>
            <a:off x="3996779" y="3511550"/>
            <a:ext cx="3346450" cy="687815"/>
            <a:chOff x="3695700" y="3511550"/>
            <a:chExt cx="3346450" cy="687815"/>
          </a:xfrm>
        </p:grpSpPr>
        <p:cxnSp>
          <p:nvCxnSpPr>
            <p:cNvPr id="7" name="Straight Connector 6">
              <a:extLst>
                <a:ext uri="{FF2B5EF4-FFF2-40B4-BE49-F238E27FC236}">
                  <a16:creationId xmlns:a16="http://schemas.microsoft.com/office/drawing/2014/main" id="{792E91F1-5AE1-3DC8-D816-E61CE15CAE08}"/>
                </a:ext>
              </a:extLst>
            </p:cNvPr>
            <p:cNvCxnSpPr/>
            <p:nvPr/>
          </p:nvCxnSpPr>
          <p:spPr>
            <a:xfrm flipV="1">
              <a:off x="3695700" y="3511550"/>
              <a:ext cx="3346450"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FF36769-6492-5CED-7C20-E07DDC5A3578}"/>
                </a:ext>
              </a:extLst>
            </p:cNvPr>
            <p:cNvSpPr txBox="1"/>
            <p:nvPr/>
          </p:nvSpPr>
          <p:spPr>
            <a:xfrm>
              <a:off x="3695700" y="3676145"/>
              <a:ext cx="3346450" cy="523220"/>
            </a:xfrm>
            <a:prstGeom prst="rect">
              <a:avLst/>
            </a:prstGeom>
            <a:noFill/>
          </p:spPr>
          <p:txBody>
            <a:bodyPr wrap="square" rtlCol="0">
              <a:spAutoFit/>
            </a:bodyPr>
            <a:lstStyle/>
            <a:p>
              <a:pPr algn="ctr"/>
              <a:r>
                <a:rPr lang="en-GB" sz="2800" b="1" dirty="0">
                  <a:solidFill>
                    <a:srgbClr val="7030A0"/>
                  </a:solidFill>
                </a:rPr>
                <a:t>Displayed in console</a:t>
              </a:r>
            </a:p>
          </p:txBody>
        </p:sp>
      </p:grpSp>
    </p:spTree>
    <p:extLst>
      <p:ext uri="{BB962C8B-B14F-4D97-AF65-F5344CB8AC3E}">
        <p14:creationId xmlns:p14="http://schemas.microsoft.com/office/powerpoint/2010/main" val="3436463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1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2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1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1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6D15D4-1AB6-41A6-BFA0-B5265FD77462}"/>
              </a:ext>
            </a:extLst>
          </p:cNvPr>
          <p:cNvSpPr txBox="1"/>
          <p:nvPr/>
        </p:nvSpPr>
        <p:spPr>
          <a:xfrm>
            <a:off x="838200" y="1957036"/>
            <a:ext cx="8873359" cy="1600438"/>
          </a:xfrm>
          <a:prstGeom prst="rect">
            <a:avLst/>
          </a:prstGeom>
          <a:noFill/>
        </p:spPr>
        <p:txBody>
          <a:bodyPr wrap="square">
            <a:spAutoFit/>
          </a:bodyPr>
          <a:lstStyle/>
          <a:p>
            <a:pPr eaLnBrk="0" fontAlgn="base" hangingPunct="0">
              <a:spcBef>
                <a:spcPct val="0"/>
              </a:spcBef>
              <a:spcAft>
                <a:spcPts val="1200"/>
              </a:spcAft>
            </a:pPr>
            <a:r>
              <a:rPr lang="en-US" altLang="en-US" sz="4400" dirty="0">
                <a:solidFill>
                  <a:srgbClr val="B2B2B2"/>
                </a:solidFill>
                <a:latin typeface="Consolas" panose="020B0609020204030204" pitchFamily="49" charset="0"/>
              </a:rPr>
              <a:t>1 </a:t>
            </a:r>
            <a:r>
              <a:rPr lang="en-US" altLang="en-US" sz="4400" dirty="0">
                <a:solidFill>
                  <a:srgbClr val="000000"/>
                </a:solidFill>
                <a:latin typeface="Consolas" panose="020B0609020204030204" pitchFamily="49" charset="0"/>
              </a:rPr>
              <a:t>.print</a:t>
            </a:r>
          </a:p>
          <a:p>
            <a:pPr eaLnBrk="0" fontAlgn="base" hangingPunct="0">
              <a:spcBef>
                <a:spcPct val="0"/>
              </a:spcBef>
              <a:spcAft>
                <a:spcPts val="1200"/>
              </a:spcAft>
            </a:pPr>
            <a:r>
              <a:rPr lang="en-US" altLang="en-US" sz="4400" dirty="0">
                <a:solidFill>
                  <a:srgbClr val="B2B2B2"/>
                </a:solidFill>
                <a:latin typeface="Consolas" panose="020B0609020204030204" pitchFamily="49" charset="0"/>
              </a:rPr>
              <a:t>2 </a:t>
            </a:r>
            <a:r>
              <a:rPr lang="en-US" altLang="en-US" sz="4400" dirty="0">
                <a:solidFill>
                  <a:srgbClr val="000000"/>
                </a:solidFill>
                <a:latin typeface="Consolas" panose="020B0609020204030204" pitchFamily="49" charset="0"/>
              </a:rPr>
              <a:t>.print "Hello world"</a:t>
            </a:r>
          </a:p>
        </p:txBody>
      </p:sp>
      <p:sp>
        <p:nvSpPr>
          <p:cNvPr id="3" name="Title 2"/>
          <p:cNvSpPr>
            <a:spLocks noGrp="1"/>
          </p:cNvSpPr>
          <p:nvPr>
            <p:ph type="title"/>
          </p:nvPr>
        </p:nvSpPr>
        <p:spPr/>
        <p:txBody>
          <a:bodyPr/>
          <a:lstStyle/>
          <a:p>
            <a:r>
              <a:rPr lang="en-GB" dirty="0"/>
              <a:t>Display information</a:t>
            </a:r>
          </a:p>
        </p:txBody>
      </p:sp>
      <p:sp>
        <p:nvSpPr>
          <p:cNvPr id="4" name="Rectangle 1">
            <a:extLst>
              <a:ext uri="{FF2B5EF4-FFF2-40B4-BE49-F238E27FC236}">
                <a16:creationId xmlns:a16="http://schemas.microsoft.com/office/drawing/2014/main" id="{8893844C-52D8-18EF-7948-09D1558A481E}"/>
              </a:ext>
            </a:extLst>
          </p:cNvPr>
          <p:cNvSpPr>
            <a:spLocks noChangeArrowheads="1"/>
          </p:cNvSpPr>
          <p:nvPr/>
        </p:nvSpPr>
        <p:spPr bwMode="auto">
          <a:xfrm>
            <a:off x="0" y="-48399"/>
            <a:ext cx="26962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B2B2B2"/>
                </a:solidFill>
                <a:effectLst/>
                <a:latin typeface="Consolas" panose="020B0609020204030204" pitchFamily="49" charset="0"/>
              </a:rPr>
              <a:t> </a:t>
            </a:r>
            <a:br>
              <a:rPr kumimoji="0" lang="en-US" altLang="en-US" sz="1200" b="0" i="0" u="none" strike="noStrike" cap="none" normalizeH="0" baseline="0" dirty="0">
                <a:ln>
                  <a:noFill/>
                </a:ln>
                <a:solidFill>
                  <a:srgbClr val="000000"/>
                </a:solidFill>
                <a:effectLst/>
                <a:latin typeface="Consolas" panose="020B0609020204030204" pitchFamily="49"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61823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normAutofit/>
          </a:bodyPr>
          <a:lstStyle/>
          <a:p>
            <a:r>
              <a:rPr lang="en-GB" sz="3200" dirty="0"/>
              <a:t>Describe and use SQL select operations</a:t>
            </a:r>
          </a:p>
        </p:txBody>
      </p:sp>
    </p:spTree>
    <p:extLst>
      <p:ext uri="{BB962C8B-B14F-4D97-AF65-F5344CB8AC3E}">
        <p14:creationId xmlns:p14="http://schemas.microsoft.com/office/powerpoint/2010/main" val="12339002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Table: pupil</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extLst>
              <p:ext uri="{D42A27DB-BD31-4B8C-83A1-F6EECF244321}">
                <p14:modId xmlns:p14="http://schemas.microsoft.com/office/powerpoint/2010/main" val="2200621502"/>
              </p:ext>
            </p:extLst>
          </p:nvPr>
        </p:nvGraphicFramePr>
        <p:xfrm>
          <a:off x="838200" y="1825625"/>
          <a:ext cx="9916423" cy="2895600"/>
        </p:xfrm>
        <a:graphic>
          <a:graphicData uri="http://schemas.openxmlformats.org/drawingml/2006/table">
            <a:tbl>
              <a:tblPr firstRow="1" bandRow="1">
                <a:tableStyleId>{5C22544A-7EE6-4342-B048-85BDC9FD1C3A}</a:tableStyleId>
              </a:tblPr>
              <a:tblGrid>
                <a:gridCol w="2056986">
                  <a:extLst>
                    <a:ext uri="{9D8B030D-6E8A-4147-A177-3AD203B41FA5}">
                      <a16:colId xmlns:a16="http://schemas.microsoft.com/office/drawing/2014/main" val="1632358923"/>
                    </a:ext>
                  </a:extLst>
                </a:gridCol>
                <a:gridCol w="829807">
                  <a:extLst>
                    <a:ext uri="{9D8B030D-6E8A-4147-A177-3AD203B41FA5}">
                      <a16:colId xmlns:a16="http://schemas.microsoft.com/office/drawing/2014/main" val="3505833113"/>
                    </a:ext>
                  </a:extLst>
                </a:gridCol>
                <a:gridCol w="1586230">
                  <a:extLst>
                    <a:ext uri="{9D8B030D-6E8A-4147-A177-3AD203B41FA5}">
                      <a16:colId xmlns:a16="http://schemas.microsoft.com/office/drawing/2014/main" val="2732100902"/>
                    </a:ext>
                  </a:extLst>
                </a:gridCol>
                <a:gridCol w="926211">
                  <a:extLst>
                    <a:ext uri="{9D8B030D-6E8A-4147-A177-3AD203B41FA5}">
                      <a16:colId xmlns:a16="http://schemas.microsoft.com/office/drawing/2014/main" val="315362434"/>
                    </a:ext>
                  </a:extLst>
                </a:gridCol>
                <a:gridCol w="1297304">
                  <a:extLst>
                    <a:ext uri="{9D8B030D-6E8A-4147-A177-3AD203B41FA5}">
                      <a16:colId xmlns:a16="http://schemas.microsoft.com/office/drawing/2014/main" val="2971574360"/>
                    </a:ext>
                  </a:extLst>
                </a:gridCol>
                <a:gridCol w="3219885">
                  <a:extLst>
                    <a:ext uri="{9D8B030D-6E8A-4147-A177-3AD203B41FA5}">
                      <a16:colId xmlns:a16="http://schemas.microsoft.com/office/drawing/2014/main" val="2515431282"/>
                    </a:ext>
                  </a:extLst>
                </a:gridCol>
              </a:tblGrid>
              <a:tr h="370840">
                <a:tc>
                  <a:txBody>
                    <a:bodyPr/>
                    <a:lstStyle/>
                    <a:p>
                      <a:pPr algn="ctr"/>
                      <a:r>
                        <a:rPr lang="en-GB" sz="3200" dirty="0"/>
                        <a:t>Attribute</a:t>
                      </a:r>
                    </a:p>
                  </a:txBody>
                  <a:tcPr/>
                </a:tc>
                <a:tc>
                  <a:txBody>
                    <a:bodyPr/>
                    <a:lstStyle/>
                    <a:p>
                      <a:pPr algn="ctr"/>
                      <a:r>
                        <a:rPr lang="en-GB" sz="3200" dirty="0"/>
                        <a:t>Key</a:t>
                      </a:r>
                    </a:p>
                  </a:txBody>
                  <a:tcPr/>
                </a:tc>
                <a:tc>
                  <a:txBody>
                    <a:bodyPr/>
                    <a:lstStyle/>
                    <a:p>
                      <a:pPr algn="ctr"/>
                      <a:r>
                        <a:rPr lang="en-GB" sz="3200" dirty="0"/>
                        <a:t>Type</a:t>
                      </a:r>
                    </a:p>
                  </a:txBody>
                  <a:tcPr/>
                </a:tc>
                <a:tc>
                  <a:txBody>
                    <a:bodyPr/>
                    <a:lstStyle/>
                    <a:p>
                      <a:pPr algn="ctr"/>
                      <a:r>
                        <a:rPr lang="en-GB" sz="3200" dirty="0"/>
                        <a:t>Size</a:t>
                      </a:r>
                    </a:p>
                  </a:txBody>
                  <a:tcPr/>
                </a:tc>
                <a:tc>
                  <a:txBody>
                    <a:bodyPr/>
                    <a:lstStyle/>
                    <a:p>
                      <a:pPr algn="ctr"/>
                      <a:r>
                        <a:rPr lang="en-GB" sz="3200" dirty="0" err="1"/>
                        <a:t>Req'd</a:t>
                      </a:r>
                      <a:endParaRPr lang="en-GB" sz="3200" dirty="0"/>
                    </a:p>
                  </a:txBody>
                  <a:tcPr/>
                </a:tc>
                <a:tc>
                  <a:txBody>
                    <a:bodyPr/>
                    <a:lstStyle/>
                    <a:p>
                      <a:pPr algn="ctr"/>
                      <a:r>
                        <a:rPr lang="en-GB" sz="3200" dirty="0"/>
                        <a:t>Validation</a:t>
                      </a:r>
                    </a:p>
                  </a:txBody>
                  <a:tcPr/>
                </a:tc>
                <a:extLst>
                  <a:ext uri="{0D108BD9-81ED-4DB2-BD59-A6C34878D82A}">
                    <a16:rowId xmlns:a16="http://schemas.microsoft.com/office/drawing/2014/main" val="3459615676"/>
                  </a:ext>
                </a:extLst>
              </a:tr>
              <a:tr h="370840">
                <a:tc>
                  <a:txBody>
                    <a:bodyPr/>
                    <a:lstStyle/>
                    <a:p>
                      <a:r>
                        <a:rPr lang="en-GB" sz="3200" dirty="0" err="1"/>
                        <a:t>pupilID</a:t>
                      </a:r>
                      <a:endParaRPr lang="en-GB" sz="3200" dirty="0"/>
                    </a:p>
                  </a:txBody>
                  <a:tcPr/>
                </a:tc>
                <a:tc>
                  <a:txBody>
                    <a:bodyPr/>
                    <a:lstStyle/>
                    <a:p>
                      <a:pPr algn="ctr"/>
                      <a:r>
                        <a:rPr lang="en-GB" sz="3200" dirty="0"/>
                        <a:t>PK</a:t>
                      </a:r>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1127765656"/>
                  </a:ext>
                </a:extLst>
              </a:tr>
              <a:tr h="370840">
                <a:tc>
                  <a:txBody>
                    <a:bodyPr/>
                    <a:lstStyle/>
                    <a:p>
                      <a:r>
                        <a:rPr lang="en-GB" sz="3200" dirty="0" err="1"/>
                        <a:t>firstName</a:t>
                      </a:r>
                      <a:endParaRPr lang="en-GB" sz="3200" dirty="0"/>
                    </a:p>
                  </a:txBody>
                  <a:tcPr/>
                </a:tc>
                <a:tc>
                  <a:txBody>
                    <a:bodyPr/>
                    <a:lstStyle/>
                    <a:p>
                      <a:pPr algn="ctr"/>
                      <a:endParaRPr lang="en-GB" sz="3200" dirty="0"/>
                    </a:p>
                  </a:txBody>
                  <a:tcPr/>
                </a:tc>
                <a:tc>
                  <a:txBody>
                    <a:bodyPr/>
                    <a:lstStyle/>
                    <a:p>
                      <a:r>
                        <a:rPr lang="en-GB" sz="3200" dirty="0"/>
                        <a:t>text</a:t>
                      </a:r>
                    </a:p>
                  </a:txBody>
                  <a:tcPr/>
                </a:tc>
                <a:tc>
                  <a:txBody>
                    <a:bodyPr/>
                    <a:lstStyle/>
                    <a:p>
                      <a:pPr algn="ctr"/>
                      <a:r>
                        <a:rPr lang="en-GB" sz="3200" dirty="0"/>
                        <a:t>20</a:t>
                      </a:r>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2924661129"/>
                  </a:ext>
                </a:extLst>
              </a:tr>
              <a:tr h="370840">
                <a:tc>
                  <a:txBody>
                    <a:bodyPr/>
                    <a:lstStyle/>
                    <a:p>
                      <a:r>
                        <a:rPr lang="en-GB" sz="3200" dirty="0" err="1"/>
                        <a:t>lastName</a:t>
                      </a:r>
                      <a:endParaRPr lang="en-GB" sz="3200" dirty="0"/>
                    </a:p>
                  </a:txBody>
                  <a:tcPr/>
                </a:tc>
                <a:tc>
                  <a:txBody>
                    <a:bodyPr/>
                    <a:lstStyle/>
                    <a:p>
                      <a:pPr algn="ctr"/>
                      <a:endParaRPr lang="en-GB" sz="3200" dirty="0"/>
                    </a:p>
                  </a:txBody>
                  <a:tcPr/>
                </a:tc>
                <a:tc>
                  <a:txBody>
                    <a:bodyPr/>
                    <a:lstStyle/>
                    <a:p>
                      <a:r>
                        <a:rPr lang="en-GB" sz="3200" dirty="0"/>
                        <a:t>text</a:t>
                      </a:r>
                    </a:p>
                  </a:txBody>
                  <a:tcPr/>
                </a:tc>
                <a:tc>
                  <a:txBody>
                    <a:bodyPr/>
                    <a:lstStyle/>
                    <a:p>
                      <a:pPr algn="ctr"/>
                      <a:r>
                        <a:rPr lang="en-GB" sz="3200" dirty="0"/>
                        <a:t>20</a:t>
                      </a:r>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3885493841"/>
                  </a:ext>
                </a:extLst>
              </a:tr>
              <a:tr h="370840">
                <a:tc>
                  <a:txBody>
                    <a:bodyPr/>
                    <a:lstStyle/>
                    <a:p>
                      <a:r>
                        <a:rPr lang="en-GB" sz="3200" dirty="0"/>
                        <a:t>age</a:t>
                      </a:r>
                    </a:p>
                  </a:txBody>
                  <a:tcPr/>
                </a:tc>
                <a:tc>
                  <a:txBody>
                    <a:bodyPr/>
                    <a:lstStyle/>
                    <a:p>
                      <a:pPr algn="ctr"/>
                      <a:endParaRPr lang="en-GB" sz="3200" dirty="0"/>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r>
                        <a:rPr lang="en-GB" sz="3200" dirty="0"/>
                        <a:t>Range: &gt;=0</a:t>
                      </a:r>
                    </a:p>
                  </a:txBody>
                  <a:tcPr/>
                </a:tc>
                <a:extLst>
                  <a:ext uri="{0D108BD9-81ED-4DB2-BD59-A6C34878D82A}">
                    <a16:rowId xmlns:a16="http://schemas.microsoft.com/office/drawing/2014/main" val="1487565366"/>
                  </a:ext>
                </a:extLst>
              </a:tr>
            </a:tbl>
          </a:graphicData>
        </a:graphic>
      </p:graphicFrame>
    </p:spTree>
    <p:extLst>
      <p:ext uri="{BB962C8B-B14F-4D97-AF65-F5344CB8AC3E}">
        <p14:creationId xmlns:p14="http://schemas.microsoft.com/office/powerpoint/2010/main" val="2468320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Display Data – Everything</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endParaRPr lang="en-US" altLang="en-US" sz="5400" dirty="0">
              <a:latin typeface="Arial" panose="020B0604020202020204" pitchFamily="34" charset="0"/>
            </a:endParaRPr>
          </a:p>
        </p:txBody>
      </p:sp>
      <p:sp>
        <p:nvSpPr>
          <p:cNvPr id="4" name="Callout: Bent Line with No Border 3">
            <a:extLst>
              <a:ext uri="{FF2B5EF4-FFF2-40B4-BE49-F238E27FC236}">
                <a16:creationId xmlns:a16="http://schemas.microsoft.com/office/drawing/2014/main" id="{77E8332C-AADD-4F2B-B0E2-AC0B43D6AE90}"/>
              </a:ext>
            </a:extLst>
          </p:cNvPr>
          <p:cNvSpPr/>
          <p:nvPr/>
        </p:nvSpPr>
        <p:spPr>
          <a:xfrm>
            <a:off x="6096000" y="1394304"/>
            <a:ext cx="2133600" cy="862642"/>
          </a:xfrm>
          <a:prstGeom prst="callout2">
            <a:avLst>
              <a:gd name="adj1" fmla="val 52750"/>
              <a:gd name="adj2" fmla="val -2245"/>
              <a:gd name="adj3" fmla="val 52979"/>
              <a:gd name="adj4" fmla="val -49644"/>
              <a:gd name="adj5" fmla="val 70194"/>
              <a:gd name="adj6" fmla="val -92398"/>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All fields</a:t>
            </a:r>
          </a:p>
        </p:txBody>
      </p:sp>
      <p:sp>
        <p:nvSpPr>
          <p:cNvPr id="5" name="Callout: Bent Line with No Border 4">
            <a:extLst>
              <a:ext uri="{FF2B5EF4-FFF2-40B4-BE49-F238E27FC236}">
                <a16:creationId xmlns:a16="http://schemas.microsoft.com/office/drawing/2014/main" id="{924404A3-ED4C-4699-9CA9-EFEB23F51AA9}"/>
              </a:ext>
            </a:extLst>
          </p:cNvPr>
          <p:cNvSpPr/>
          <p:nvPr/>
        </p:nvSpPr>
        <p:spPr>
          <a:xfrm>
            <a:off x="7474530" y="3541226"/>
            <a:ext cx="2819396" cy="862642"/>
          </a:xfrm>
          <a:prstGeom prst="callout2">
            <a:avLst>
              <a:gd name="adj1" fmla="val 52750"/>
              <a:gd name="adj2" fmla="val -2245"/>
              <a:gd name="adj3" fmla="val 53715"/>
              <a:gd name="adj4" fmla="val -18685"/>
              <a:gd name="adj5" fmla="val -24094"/>
              <a:gd name="adj6" fmla="val -27559"/>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End of statement</a:t>
            </a:r>
          </a:p>
        </p:txBody>
      </p:sp>
      <p:sp>
        <p:nvSpPr>
          <p:cNvPr id="6" name="Callout: Bent Line with No Border 5">
            <a:extLst>
              <a:ext uri="{FF2B5EF4-FFF2-40B4-BE49-F238E27FC236}">
                <a16:creationId xmlns:a16="http://schemas.microsoft.com/office/drawing/2014/main" id="{58A7E803-997A-41BB-B0A2-D305F06E3754}"/>
              </a:ext>
            </a:extLst>
          </p:cNvPr>
          <p:cNvSpPr/>
          <p:nvPr/>
        </p:nvSpPr>
        <p:spPr>
          <a:xfrm>
            <a:off x="2124365" y="3619965"/>
            <a:ext cx="1886610" cy="862642"/>
          </a:xfrm>
          <a:prstGeom prst="callout2">
            <a:avLst>
              <a:gd name="adj1" fmla="val 48750"/>
              <a:gd name="adj2" fmla="val 104056"/>
              <a:gd name="adj3" fmla="val 49417"/>
              <a:gd name="adj4" fmla="val 134218"/>
              <a:gd name="adj5" fmla="val -40415"/>
              <a:gd name="adj6" fmla="val 148618"/>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Table name</a:t>
            </a:r>
          </a:p>
        </p:txBody>
      </p:sp>
      <p:sp>
        <p:nvSpPr>
          <p:cNvPr id="7" name="TextBox 6">
            <a:extLst>
              <a:ext uri="{FF2B5EF4-FFF2-40B4-BE49-F238E27FC236}">
                <a16:creationId xmlns:a16="http://schemas.microsoft.com/office/drawing/2014/main" id="{5FE7746D-D127-4927-B238-DF71612EDD32}"/>
              </a:ext>
            </a:extLst>
          </p:cNvPr>
          <p:cNvSpPr txBox="1"/>
          <p:nvPr/>
        </p:nvSpPr>
        <p:spPr>
          <a:xfrm>
            <a:off x="2374950" y="5111571"/>
            <a:ext cx="7442101" cy="1200329"/>
          </a:xfrm>
          <a:prstGeom prst="rect">
            <a:avLst/>
          </a:prstGeom>
          <a:noFill/>
        </p:spPr>
        <p:txBody>
          <a:bodyPr wrap="none" rtlCol="0">
            <a:spAutoFit/>
          </a:bodyPr>
          <a:lstStyle/>
          <a:p>
            <a:pPr algn="ctr"/>
            <a:r>
              <a:rPr lang="en-GB" sz="3600" dirty="0"/>
              <a:t>SQL statements can be on a single line:</a:t>
            </a:r>
          </a:p>
          <a:p>
            <a:pPr algn="ctr"/>
            <a:r>
              <a:rPr lang="en-GB" sz="3600" dirty="0">
                <a:solidFill>
                  <a:srgbClr val="7030A0"/>
                </a:solidFill>
                <a:latin typeface="Consolas" panose="020B0609020204030204" pitchFamily="49" charset="0"/>
              </a:rPr>
              <a:t>SELECT * FROM Datatypes;</a:t>
            </a:r>
          </a:p>
        </p:txBody>
      </p:sp>
    </p:spTree>
    <p:extLst>
      <p:ext uri="{BB962C8B-B14F-4D97-AF65-F5344CB8AC3E}">
        <p14:creationId xmlns:p14="http://schemas.microsoft.com/office/powerpoint/2010/main" val="1701761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wipe(left)">
                                      <p:cBhvr>
                                        <p:cTn id="32" dur="2000"/>
                                        <p:tgtEl>
                                          <p:spTgt spid="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animEffect transition="in" filter="wipe(left)">
                                      <p:cBhvr>
                                        <p:cTn id="37" dur="20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P spid="7"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Display Data – Everything</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br>
              <a:rPr lang="en-US" altLang="en-US" sz="4400" dirty="0">
                <a:solidFill>
                  <a:srgbClr val="000000"/>
                </a:solidFill>
                <a:latin typeface="Consolas" panose="020B0609020204030204" pitchFamily="49" charset="0"/>
              </a:rPr>
            </a:b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br>
              <a:rPr lang="en-US" altLang="en-US" sz="44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
        <p:nvSpPr>
          <p:cNvPr id="7" name="TextBox 6">
            <a:extLst>
              <a:ext uri="{FF2B5EF4-FFF2-40B4-BE49-F238E27FC236}">
                <a16:creationId xmlns:a16="http://schemas.microsoft.com/office/drawing/2014/main" id="{5FE7746D-D127-4927-B238-DF71612EDD32}"/>
              </a:ext>
            </a:extLst>
          </p:cNvPr>
          <p:cNvSpPr txBox="1"/>
          <p:nvPr/>
        </p:nvSpPr>
        <p:spPr>
          <a:xfrm>
            <a:off x="2374950" y="5111571"/>
            <a:ext cx="7442101" cy="646331"/>
          </a:xfrm>
          <a:prstGeom prst="rect">
            <a:avLst/>
          </a:prstGeom>
          <a:noFill/>
        </p:spPr>
        <p:txBody>
          <a:bodyPr wrap="none" rtlCol="0">
            <a:spAutoFit/>
          </a:bodyPr>
          <a:lstStyle/>
          <a:p>
            <a:pPr algn="ctr"/>
            <a:r>
              <a:rPr lang="en-GB" sz="3600" dirty="0"/>
              <a:t>SQL statements can be on a single line:</a:t>
            </a:r>
          </a:p>
        </p:txBody>
      </p:sp>
    </p:spTree>
    <p:extLst>
      <p:ext uri="{BB962C8B-B14F-4D97-AF65-F5344CB8AC3E}">
        <p14:creationId xmlns:p14="http://schemas.microsoft.com/office/powerpoint/2010/main" val="17393657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Display Data – Something</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colour</a:t>
            </a:r>
            <a:r>
              <a:rPr lang="en-US" altLang="en-US" sz="4000" dirty="0">
                <a:solidFill>
                  <a:srgbClr val="000000"/>
                </a:solidFill>
                <a:latin typeface="Consolas" panose="020B0609020204030204" pitchFamily="49" charset="0"/>
              </a:rPr>
              <a:t>, score, height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Datatypes;</a:t>
            </a:r>
            <a:br>
              <a:rPr lang="en-US" altLang="en-US" sz="4000" dirty="0">
                <a:solidFill>
                  <a:srgbClr val="000000"/>
                </a:solidFill>
                <a:latin typeface="Consolas" panose="020B0609020204030204" pitchFamily="49" charset="0"/>
              </a:rPr>
            </a:br>
            <a:endParaRPr lang="en-US" altLang="en-US" sz="4800" dirty="0">
              <a:latin typeface="Arial" panose="020B0604020202020204" pitchFamily="34" charset="0"/>
            </a:endParaRPr>
          </a:p>
        </p:txBody>
      </p:sp>
      <p:sp>
        <p:nvSpPr>
          <p:cNvPr id="4" name="Callout: Bent Line with No Border 3">
            <a:extLst>
              <a:ext uri="{FF2B5EF4-FFF2-40B4-BE49-F238E27FC236}">
                <a16:creationId xmlns:a16="http://schemas.microsoft.com/office/drawing/2014/main" id="{77E8332C-AADD-4F2B-B0E2-AC0B43D6AE90}"/>
              </a:ext>
            </a:extLst>
          </p:cNvPr>
          <p:cNvSpPr/>
          <p:nvPr/>
        </p:nvSpPr>
        <p:spPr>
          <a:xfrm>
            <a:off x="9267227" y="3036455"/>
            <a:ext cx="2086573" cy="862642"/>
          </a:xfrm>
          <a:prstGeom prst="callout2">
            <a:avLst>
              <a:gd name="adj1" fmla="val 52750"/>
              <a:gd name="adj2" fmla="val -2245"/>
              <a:gd name="adj3" fmla="val 51507"/>
              <a:gd name="adj4" fmla="val -19968"/>
              <a:gd name="adj5" fmla="val -59371"/>
              <a:gd name="adj6" fmla="val -38679"/>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Field names</a:t>
            </a:r>
          </a:p>
        </p:txBody>
      </p:sp>
      <p:sp>
        <p:nvSpPr>
          <p:cNvPr id="9" name="Callout: Bent Line with No Border 8">
            <a:extLst>
              <a:ext uri="{FF2B5EF4-FFF2-40B4-BE49-F238E27FC236}">
                <a16:creationId xmlns:a16="http://schemas.microsoft.com/office/drawing/2014/main" id="{1FE0942E-FE36-4F80-B6D4-F49FC0EB3848}"/>
              </a:ext>
            </a:extLst>
          </p:cNvPr>
          <p:cNvSpPr/>
          <p:nvPr/>
        </p:nvSpPr>
        <p:spPr>
          <a:xfrm>
            <a:off x="1988127" y="3899097"/>
            <a:ext cx="3448796" cy="862642"/>
          </a:xfrm>
          <a:prstGeom prst="callout2">
            <a:avLst>
              <a:gd name="adj1" fmla="val 48750"/>
              <a:gd name="adj2" fmla="val 104056"/>
              <a:gd name="adj3" fmla="val 49417"/>
              <a:gd name="adj4" fmla="val 119555"/>
              <a:gd name="adj5" fmla="val -161775"/>
              <a:gd name="adj6" fmla="val 147657"/>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Separated by commas</a:t>
            </a:r>
          </a:p>
        </p:txBody>
      </p:sp>
    </p:spTree>
    <p:extLst>
      <p:ext uri="{BB962C8B-B14F-4D97-AF65-F5344CB8AC3E}">
        <p14:creationId xmlns:p14="http://schemas.microsoft.com/office/powerpoint/2010/main" val="277415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Display Data – Something</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colour</a:t>
            </a:r>
            <a:r>
              <a:rPr lang="en-US" altLang="en-US" sz="4000" dirty="0">
                <a:solidFill>
                  <a:srgbClr val="000000"/>
                </a:solidFill>
                <a:latin typeface="Consolas" panose="020B0609020204030204" pitchFamily="49" charset="0"/>
              </a:rPr>
              <a:t>, score, height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Datatypes;</a:t>
            </a:r>
            <a:br>
              <a:rPr lang="en-US" altLang="en-US" sz="4000" dirty="0">
                <a:solidFill>
                  <a:srgbClr val="000000"/>
                </a:solidFill>
                <a:latin typeface="Consolas" panose="020B0609020204030204" pitchFamily="49" charset="0"/>
              </a:rPr>
            </a:br>
            <a:endParaRPr lang="en-US" altLang="en-US" sz="4800" dirty="0">
              <a:latin typeface="Arial" panose="020B0604020202020204" pitchFamily="34" charset="0"/>
            </a:endParaRPr>
          </a:p>
        </p:txBody>
      </p:sp>
    </p:spTree>
    <p:extLst>
      <p:ext uri="{BB962C8B-B14F-4D97-AF65-F5344CB8AC3E}">
        <p14:creationId xmlns:p14="http://schemas.microsoft.com/office/powerpoint/2010/main" val="15998201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C76DEA-F650-51AB-7EE7-9B3064808EC0}"/>
              </a:ext>
            </a:extLst>
          </p:cNvPr>
          <p:cNvSpPr>
            <a:spLocks noGrp="1"/>
          </p:cNvSpPr>
          <p:nvPr>
            <p:ph type="title"/>
          </p:nvPr>
        </p:nvSpPr>
        <p:spPr/>
        <p:txBody>
          <a:bodyPr/>
          <a:lstStyle/>
          <a:p>
            <a:r>
              <a:rPr lang="en-GB" dirty="0"/>
              <a:t>Order of Operations (1)</a:t>
            </a:r>
          </a:p>
        </p:txBody>
      </p:sp>
      <p:sp>
        <p:nvSpPr>
          <p:cNvPr id="6" name="SQL">
            <a:extLst>
              <a:ext uri="{FF2B5EF4-FFF2-40B4-BE49-F238E27FC236}">
                <a16:creationId xmlns:a16="http://schemas.microsoft.com/office/drawing/2014/main" id="{C460184D-D803-F499-E82E-972FB39F9288}"/>
              </a:ext>
            </a:extLst>
          </p:cNvPr>
          <p:cNvSpPr>
            <a:spLocks noChangeArrowheads="1"/>
          </p:cNvSpPr>
          <p:nvPr/>
        </p:nvSpPr>
        <p:spPr bwMode="auto">
          <a:xfrm>
            <a:off x="619125" y="1678614"/>
            <a:ext cx="286488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name, type</a:t>
            </a:r>
          </a:p>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Pet;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17" name="Pet">
            <a:extLst>
              <a:ext uri="{FF2B5EF4-FFF2-40B4-BE49-F238E27FC236}">
                <a16:creationId xmlns:a16="http://schemas.microsoft.com/office/drawing/2014/main" id="{37697A85-FE4A-5F49-87D3-DF60452AD532}"/>
              </a:ext>
            </a:extLst>
          </p:cNvPr>
          <p:cNvSpPr txBox="1"/>
          <p:nvPr/>
        </p:nvSpPr>
        <p:spPr>
          <a:xfrm>
            <a:off x="2663489" y="3091527"/>
            <a:ext cx="1771650" cy="369332"/>
          </a:xfrm>
          <a:prstGeom prst="rect">
            <a:avLst/>
          </a:prstGeom>
          <a:noFill/>
        </p:spPr>
        <p:txBody>
          <a:bodyPr wrap="square" rtlCol="0">
            <a:spAutoFit/>
          </a:bodyPr>
          <a:lstStyle/>
          <a:p>
            <a:r>
              <a:rPr lang="en-GB" b="1" dirty="0"/>
              <a:t>Table: Pet</a:t>
            </a:r>
          </a:p>
        </p:txBody>
      </p:sp>
      <p:sp>
        <p:nvSpPr>
          <p:cNvPr id="19" name="Order">
            <a:extLst>
              <a:ext uri="{FF2B5EF4-FFF2-40B4-BE49-F238E27FC236}">
                <a16:creationId xmlns:a16="http://schemas.microsoft.com/office/drawing/2014/main" id="{39027E70-266E-C921-B96A-180149336170}"/>
              </a:ext>
            </a:extLst>
          </p:cNvPr>
          <p:cNvSpPr txBox="1"/>
          <p:nvPr/>
        </p:nvSpPr>
        <p:spPr>
          <a:xfrm>
            <a:off x="7417818" y="1001505"/>
            <a:ext cx="2590417" cy="1384995"/>
          </a:xfrm>
          <a:prstGeom prst="rect">
            <a:avLst/>
          </a:prstGeom>
          <a:noFill/>
        </p:spPr>
        <p:txBody>
          <a:bodyPr wrap="square" rtlCol="0">
            <a:spAutoFit/>
          </a:bodyPr>
          <a:lstStyle/>
          <a:p>
            <a:r>
              <a:rPr lang="en-GB" sz="2800" b="1" dirty="0">
                <a:solidFill>
                  <a:srgbClr val="7030A0"/>
                </a:solidFill>
              </a:rPr>
              <a:t>Order</a:t>
            </a:r>
            <a:r>
              <a:rPr lang="en-GB" sz="2800" dirty="0">
                <a:solidFill>
                  <a:srgbClr val="7030A0"/>
                </a:solidFill>
              </a:rPr>
              <a:t>:</a:t>
            </a:r>
          </a:p>
          <a:p>
            <a:pPr lvl="1"/>
            <a:r>
              <a:rPr lang="en-GB" sz="2800" dirty="0">
                <a:solidFill>
                  <a:srgbClr val="7030A0"/>
                </a:solidFill>
              </a:rPr>
              <a:t>1.  FROM</a:t>
            </a:r>
          </a:p>
          <a:p>
            <a:pPr lvl="1"/>
            <a:r>
              <a:rPr lang="en-GB" sz="2800" dirty="0">
                <a:solidFill>
                  <a:srgbClr val="7030A0"/>
                </a:solidFill>
              </a:rPr>
              <a:t>2.  SELECT</a:t>
            </a:r>
          </a:p>
        </p:txBody>
      </p:sp>
      <p:sp>
        <p:nvSpPr>
          <p:cNvPr id="27" name="From - Arrow">
            <a:extLst>
              <a:ext uri="{FF2B5EF4-FFF2-40B4-BE49-F238E27FC236}">
                <a16:creationId xmlns:a16="http://schemas.microsoft.com/office/drawing/2014/main" id="{269837FC-7069-F1D9-E16A-87AF1D4A80CD}"/>
              </a:ext>
            </a:extLst>
          </p:cNvPr>
          <p:cNvSpPr/>
          <p:nvPr/>
        </p:nvSpPr>
        <p:spPr>
          <a:xfrm>
            <a:off x="154550" y="2054516"/>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om">
            <a:extLst>
              <a:ext uri="{FF2B5EF4-FFF2-40B4-BE49-F238E27FC236}">
                <a16:creationId xmlns:a16="http://schemas.microsoft.com/office/drawing/2014/main" id="{BC0A24A5-7704-6A36-CD80-4ED2C2F64BD2}"/>
              </a:ext>
            </a:extLst>
          </p:cNvPr>
          <p:cNvSpPr txBox="1"/>
          <p:nvPr/>
        </p:nvSpPr>
        <p:spPr>
          <a:xfrm>
            <a:off x="4667406" y="2911786"/>
            <a:ext cx="850960" cy="369332"/>
          </a:xfrm>
          <a:prstGeom prst="rect">
            <a:avLst/>
          </a:prstGeom>
          <a:noFill/>
        </p:spPr>
        <p:txBody>
          <a:bodyPr wrap="square" rtlCol="0">
            <a:spAutoFit/>
          </a:bodyPr>
          <a:lstStyle/>
          <a:p>
            <a:r>
              <a:rPr lang="en-GB" b="1" dirty="0"/>
              <a:t>FROM</a:t>
            </a:r>
          </a:p>
        </p:txBody>
      </p:sp>
      <p:graphicFrame>
        <p:nvGraphicFramePr>
          <p:cNvPr id="22" name="Pet - Table">
            <a:extLst>
              <a:ext uri="{FF2B5EF4-FFF2-40B4-BE49-F238E27FC236}">
                <a16:creationId xmlns:a16="http://schemas.microsoft.com/office/drawing/2014/main" id="{E1C47C29-B1FD-7991-E626-2F12DC1AFFDE}"/>
              </a:ext>
            </a:extLst>
          </p:cNvPr>
          <p:cNvGraphicFramePr>
            <a:graphicFrameLocks noGrp="1"/>
          </p:cNvGraphicFramePr>
          <p:nvPr>
            <p:extLst>
              <p:ext uri="{D42A27DB-BD31-4B8C-83A1-F6EECF244321}">
                <p14:modId xmlns:p14="http://schemas.microsoft.com/office/powerpoint/2010/main" val="202819405"/>
              </p:ext>
            </p:extLst>
          </p:nvPr>
        </p:nvGraphicFramePr>
        <p:xfrm>
          <a:off x="2749212"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16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a:solidFill>
                            <a:schemeClr val="tx1"/>
                          </a:solidFill>
                          <a:effectLst/>
                        </a:rPr>
                        <a:t>Micky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a:solidFill>
                            <a:schemeClr val="tx1"/>
                          </a:solidFill>
                          <a:effectLst/>
                        </a:rPr>
                        <a:t>Minnie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graphicFrame>
        <p:nvGraphicFramePr>
          <p:cNvPr id="23" name="Temp - Table">
            <a:extLst>
              <a:ext uri="{FF2B5EF4-FFF2-40B4-BE49-F238E27FC236}">
                <a16:creationId xmlns:a16="http://schemas.microsoft.com/office/drawing/2014/main" id="{57FE39BF-DC05-E516-87E6-26364C7BBE24}"/>
              </a:ext>
            </a:extLst>
          </p:cNvPr>
          <p:cNvGraphicFramePr>
            <a:graphicFrameLocks noGrp="1"/>
          </p:cNvGraphicFramePr>
          <p:nvPr>
            <p:extLst>
              <p:ext uri="{D42A27DB-BD31-4B8C-83A1-F6EECF244321}">
                <p14:modId xmlns:p14="http://schemas.microsoft.com/office/powerpoint/2010/main" val="1980545247"/>
              </p:ext>
            </p:extLst>
          </p:nvPr>
        </p:nvGraphicFramePr>
        <p:xfrm>
          <a:off x="5340290"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16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a:solidFill>
                            <a:schemeClr val="tx1"/>
                          </a:solidFill>
                          <a:effectLst/>
                        </a:rPr>
                        <a:t>Micky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a:solidFill>
                            <a:schemeClr val="tx1"/>
                          </a:solidFill>
                          <a:effectLst/>
                        </a:rPr>
                        <a:t>Minnie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sp>
        <p:nvSpPr>
          <p:cNvPr id="25" name="Select">
            <a:extLst>
              <a:ext uri="{FF2B5EF4-FFF2-40B4-BE49-F238E27FC236}">
                <a16:creationId xmlns:a16="http://schemas.microsoft.com/office/drawing/2014/main" id="{35683CAD-1E2A-EA31-E6BB-C707B14B8F0A}"/>
              </a:ext>
            </a:extLst>
          </p:cNvPr>
          <p:cNvSpPr txBox="1"/>
          <p:nvPr/>
        </p:nvSpPr>
        <p:spPr>
          <a:xfrm>
            <a:off x="5700866" y="2386500"/>
            <a:ext cx="850960" cy="369332"/>
          </a:xfrm>
          <a:prstGeom prst="rect">
            <a:avLst/>
          </a:prstGeom>
          <a:noFill/>
        </p:spPr>
        <p:txBody>
          <a:bodyPr wrap="square" rtlCol="0">
            <a:spAutoFit/>
          </a:bodyPr>
          <a:lstStyle/>
          <a:p>
            <a:pPr algn="ctr"/>
            <a:r>
              <a:rPr lang="en-GB" b="1" dirty="0"/>
              <a:t>SELECT</a:t>
            </a:r>
          </a:p>
        </p:txBody>
      </p:sp>
      <p:sp>
        <p:nvSpPr>
          <p:cNvPr id="26" name="Temp - Arrow">
            <a:extLst>
              <a:ext uri="{FF2B5EF4-FFF2-40B4-BE49-F238E27FC236}">
                <a16:creationId xmlns:a16="http://schemas.microsoft.com/office/drawing/2014/main" id="{0812AA0D-71D1-9B9D-4AED-E09E855A4185}"/>
              </a:ext>
            </a:extLst>
          </p:cNvPr>
          <p:cNvSpPr/>
          <p:nvPr/>
        </p:nvSpPr>
        <p:spPr>
          <a:xfrm>
            <a:off x="4827403" y="4748123"/>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utput - Arrow">
            <a:extLst>
              <a:ext uri="{FF2B5EF4-FFF2-40B4-BE49-F238E27FC236}">
                <a16:creationId xmlns:a16="http://schemas.microsoft.com/office/drawing/2014/main" id="{27833E17-04CE-E6AD-804B-EB51B8F41239}"/>
              </a:ext>
            </a:extLst>
          </p:cNvPr>
          <p:cNvSpPr/>
          <p:nvPr/>
        </p:nvSpPr>
        <p:spPr>
          <a:xfrm>
            <a:off x="7417818" y="4748123"/>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Name - Column">
            <a:extLst>
              <a:ext uri="{FF2B5EF4-FFF2-40B4-BE49-F238E27FC236}">
                <a16:creationId xmlns:a16="http://schemas.microsoft.com/office/drawing/2014/main" id="{9CFD6623-90F9-8CA0-585A-959ADF79ADE1}"/>
              </a:ext>
            </a:extLst>
          </p:cNvPr>
          <p:cNvSpPr/>
          <p:nvPr/>
        </p:nvSpPr>
        <p:spPr>
          <a:xfrm>
            <a:off x="5333994" y="3349977"/>
            <a:ext cx="792000" cy="30603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Age - Column">
            <a:extLst>
              <a:ext uri="{FF2B5EF4-FFF2-40B4-BE49-F238E27FC236}">
                <a16:creationId xmlns:a16="http://schemas.microsoft.com/office/drawing/2014/main" id="{F8908677-B9D0-5945-93E8-1112E85882A9}"/>
              </a:ext>
            </a:extLst>
          </p:cNvPr>
          <p:cNvSpPr/>
          <p:nvPr/>
        </p:nvSpPr>
        <p:spPr>
          <a:xfrm>
            <a:off x="6124330" y="3349977"/>
            <a:ext cx="792000" cy="30603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Select - Arrow">
            <a:extLst>
              <a:ext uri="{FF2B5EF4-FFF2-40B4-BE49-F238E27FC236}">
                <a16:creationId xmlns:a16="http://schemas.microsoft.com/office/drawing/2014/main" id="{44EEC309-5164-E750-8A98-948F7250CF9F}"/>
              </a:ext>
            </a:extLst>
          </p:cNvPr>
          <p:cNvSpPr/>
          <p:nvPr/>
        </p:nvSpPr>
        <p:spPr>
          <a:xfrm>
            <a:off x="154550" y="1734546"/>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utput">
            <a:extLst>
              <a:ext uri="{FF2B5EF4-FFF2-40B4-BE49-F238E27FC236}">
                <a16:creationId xmlns:a16="http://schemas.microsoft.com/office/drawing/2014/main" id="{56038AF1-3FFC-CE48-15B4-04B9F7CE57D9}"/>
              </a:ext>
            </a:extLst>
          </p:cNvPr>
          <p:cNvSpPr txBox="1"/>
          <p:nvPr/>
        </p:nvSpPr>
        <p:spPr>
          <a:xfrm>
            <a:off x="7216257" y="2911786"/>
            <a:ext cx="960176" cy="369332"/>
          </a:xfrm>
          <a:prstGeom prst="rect">
            <a:avLst/>
          </a:prstGeom>
          <a:noFill/>
        </p:spPr>
        <p:txBody>
          <a:bodyPr wrap="square" rtlCol="0">
            <a:spAutoFit/>
          </a:bodyPr>
          <a:lstStyle/>
          <a:p>
            <a:pPr algn="ctr"/>
            <a:r>
              <a:rPr lang="en-GB" b="1" dirty="0"/>
              <a:t>Output</a:t>
            </a:r>
          </a:p>
        </p:txBody>
      </p:sp>
      <p:cxnSp>
        <p:nvCxnSpPr>
          <p:cNvPr id="5" name="Name - Arrow">
            <a:extLst>
              <a:ext uri="{FF2B5EF4-FFF2-40B4-BE49-F238E27FC236}">
                <a16:creationId xmlns:a16="http://schemas.microsoft.com/office/drawing/2014/main" id="{74743580-1BBD-44D1-9B4B-3FCD69A573CA}"/>
              </a:ext>
            </a:extLst>
          </p:cNvPr>
          <p:cNvCxnSpPr>
            <a:cxnSpLocks/>
            <a:stCxn id="25" idx="2"/>
            <a:endCxn id="29" idx="0"/>
          </p:cNvCxnSpPr>
          <p:nvPr/>
        </p:nvCxnSpPr>
        <p:spPr>
          <a:xfrm flipH="1">
            <a:off x="5729994" y="2755832"/>
            <a:ext cx="396352" cy="59414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Age - Arrow">
            <a:extLst>
              <a:ext uri="{FF2B5EF4-FFF2-40B4-BE49-F238E27FC236}">
                <a16:creationId xmlns:a16="http://schemas.microsoft.com/office/drawing/2014/main" id="{4A59694F-BFA9-47E0-AA51-53E4E5936D1D}"/>
              </a:ext>
            </a:extLst>
          </p:cNvPr>
          <p:cNvCxnSpPr>
            <a:cxnSpLocks/>
            <a:stCxn id="25" idx="2"/>
            <a:endCxn id="30" idx="0"/>
          </p:cNvCxnSpPr>
          <p:nvPr/>
        </p:nvCxnSpPr>
        <p:spPr>
          <a:xfrm>
            <a:off x="6126346" y="2755832"/>
            <a:ext cx="393984" cy="59414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9" name="Output - Table">
            <a:extLst>
              <a:ext uri="{FF2B5EF4-FFF2-40B4-BE49-F238E27FC236}">
                <a16:creationId xmlns:a16="http://schemas.microsoft.com/office/drawing/2014/main" id="{FE9A9C9B-4CA8-4DC8-AA69-A07BDFBF0F34}"/>
              </a:ext>
            </a:extLst>
          </p:cNvPr>
          <p:cNvGraphicFramePr>
            <a:graphicFrameLocks noGrp="1"/>
          </p:cNvGraphicFramePr>
          <p:nvPr>
            <p:extLst>
              <p:ext uri="{D42A27DB-BD31-4B8C-83A1-F6EECF244321}">
                <p14:modId xmlns:p14="http://schemas.microsoft.com/office/powerpoint/2010/main" val="2316997827"/>
              </p:ext>
            </p:extLst>
          </p:nvPr>
        </p:nvGraphicFramePr>
        <p:xfrm>
          <a:off x="7928628" y="3412808"/>
          <a:ext cx="1599883"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Pepper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a:solidFill>
                            <a:schemeClr val="tx1"/>
                          </a:solidFill>
                          <a:effectLst/>
                        </a:rPr>
                        <a:t>Micky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a:solidFill>
                            <a:schemeClr val="tx1"/>
                          </a:solidFill>
                          <a:effectLst/>
                        </a:rPr>
                        <a:t>Minnie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Rabbit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spTree>
    <p:extLst>
      <p:ext uri="{BB962C8B-B14F-4D97-AF65-F5344CB8AC3E}">
        <p14:creationId xmlns:p14="http://schemas.microsoft.com/office/powerpoint/2010/main" val="148167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1000"/>
                                        <p:tgtEl>
                                          <p:spTgt spid="1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20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wipe(left)">
                                      <p:cBhvr>
                                        <p:cTn id="16" dur="1500"/>
                                        <p:tgtEl>
                                          <p:spTgt spid="6">
                                            <p:txEl>
                                              <p:pRg st="0" end="0"/>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wipe(left)">
                                      <p:cBhvr>
                                        <p:cTn id="20" dur="1500"/>
                                        <p:tgtEl>
                                          <p:spTgt spid="6">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9">
                                            <p:txEl>
                                              <p:pRg st="0" end="0"/>
                                            </p:txEl>
                                          </p:spTgt>
                                        </p:tgtEl>
                                        <p:attrNameLst>
                                          <p:attrName>style.visibility</p:attrName>
                                        </p:attrNameLst>
                                      </p:cBhvr>
                                      <p:to>
                                        <p:strVal val="visible"/>
                                      </p:to>
                                    </p:set>
                                    <p:animEffect transition="in" filter="wipe(left)">
                                      <p:cBhvr>
                                        <p:cTn id="25" dur="1000"/>
                                        <p:tgtEl>
                                          <p:spTgt spid="19">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9">
                                            <p:txEl>
                                              <p:pRg st="1" end="1"/>
                                            </p:txEl>
                                          </p:spTgt>
                                        </p:tgtEl>
                                        <p:attrNameLst>
                                          <p:attrName>style.visibility</p:attrName>
                                        </p:attrNameLst>
                                      </p:cBhvr>
                                      <p:to>
                                        <p:strVal val="visible"/>
                                      </p:to>
                                    </p:set>
                                    <p:animEffect transition="in" filter="wipe(left)">
                                      <p:cBhvr>
                                        <p:cTn id="30" dur="1000"/>
                                        <p:tgtEl>
                                          <p:spTgt spid="19">
                                            <p:txEl>
                                              <p:pRg st="1" end="1"/>
                                            </p:txEl>
                                          </p:spTgt>
                                        </p:tgtEl>
                                      </p:cBhvr>
                                    </p:animEffect>
                                  </p:childTnLst>
                                </p:cTn>
                              </p:par>
                            </p:childTnLst>
                          </p:cTn>
                        </p:par>
                        <p:par>
                          <p:cTn id="31" fill="hold">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19">
                                            <p:txEl>
                                              <p:pRg st="2" end="2"/>
                                            </p:txEl>
                                          </p:spTgt>
                                        </p:tgtEl>
                                        <p:attrNameLst>
                                          <p:attrName>style.visibility</p:attrName>
                                        </p:attrNameLst>
                                      </p:cBhvr>
                                      <p:to>
                                        <p:strVal val="visible"/>
                                      </p:to>
                                    </p:set>
                                    <p:animEffect transition="in" filter="wipe(left)">
                                      <p:cBhvr>
                                        <p:cTn id="34" dur="1000"/>
                                        <p:tgtEl>
                                          <p:spTgt spid="19">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wipe(left)">
                                      <p:cBhvr>
                                        <p:cTn id="39" dur="1000"/>
                                        <p:tgtEl>
                                          <p:spTgt spid="2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500"/>
                                        <p:tgtEl>
                                          <p:spTgt spid="10"/>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wipe(left)">
                                      <p:cBhvr>
                                        <p:cTn id="48" dur="1000"/>
                                        <p:tgtEl>
                                          <p:spTgt spid="26"/>
                                        </p:tgtEl>
                                      </p:cBhvr>
                                    </p:animEffect>
                                  </p:childTnLst>
                                </p:cTn>
                              </p:par>
                            </p:childTnLst>
                          </p:cTn>
                        </p:par>
                        <p:par>
                          <p:cTn id="49" fill="hold">
                            <p:stCondLst>
                              <p:cond delay="1500"/>
                            </p:stCondLst>
                            <p:childTnLst>
                              <p:par>
                                <p:cTn id="50" presetID="22" presetClass="entr" presetSubtype="8" fill="hold" nodeType="after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wipe(left)">
                                      <p:cBhvr>
                                        <p:cTn id="52" dur="20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xit" presetSubtype="8" fill="hold" grpId="1" nodeType="clickEffect">
                                  <p:stCondLst>
                                    <p:cond delay="0"/>
                                  </p:stCondLst>
                                  <p:childTnLst>
                                    <p:animEffect transition="out" filter="wipe(left)">
                                      <p:cBhvr>
                                        <p:cTn id="56" dur="500"/>
                                        <p:tgtEl>
                                          <p:spTgt spid="27"/>
                                        </p:tgtEl>
                                      </p:cBhvr>
                                    </p:animEffect>
                                    <p:set>
                                      <p:cBhvr>
                                        <p:cTn id="57" dur="1" fill="hold">
                                          <p:stCondLst>
                                            <p:cond delay="499"/>
                                          </p:stCondLst>
                                        </p:cTn>
                                        <p:tgtEl>
                                          <p:spTgt spid="27"/>
                                        </p:tgtEl>
                                        <p:attrNameLst>
                                          <p:attrName>style.visibility</p:attrName>
                                        </p:attrNameLst>
                                      </p:cBhvr>
                                      <p:to>
                                        <p:strVal val="hidden"/>
                                      </p:to>
                                    </p:set>
                                  </p:childTnLst>
                                </p:cTn>
                              </p:par>
                            </p:childTnLst>
                          </p:cTn>
                        </p:par>
                        <p:par>
                          <p:cTn id="58" fill="hold">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wipe(left)">
                                      <p:cBhvr>
                                        <p:cTn id="61" dur="1000"/>
                                        <p:tgtEl>
                                          <p:spTgt spid="31"/>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ipe(left)">
                                      <p:cBhvr>
                                        <p:cTn id="66" dur="500"/>
                                        <p:tgtEl>
                                          <p:spTgt spid="25"/>
                                        </p:tgtEl>
                                      </p:cBhvr>
                                    </p:animEffect>
                                  </p:childTnLst>
                                </p:cTn>
                              </p:par>
                            </p:childTnLst>
                          </p:cTn>
                        </p:par>
                        <p:par>
                          <p:cTn id="67" fill="hold">
                            <p:stCondLst>
                              <p:cond delay="500"/>
                            </p:stCondLst>
                            <p:childTnLst>
                              <p:par>
                                <p:cTn id="68" presetID="22" presetClass="entr" presetSubtype="1" fill="hold" nodeType="afterEffect">
                                  <p:stCondLst>
                                    <p:cond delay="0"/>
                                  </p:stCondLst>
                                  <p:childTnLst>
                                    <p:set>
                                      <p:cBhvr>
                                        <p:cTn id="69" dur="1" fill="hold">
                                          <p:stCondLst>
                                            <p:cond delay="0"/>
                                          </p:stCondLst>
                                        </p:cTn>
                                        <p:tgtEl>
                                          <p:spTgt spid="5"/>
                                        </p:tgtEl>
                                        <p:attrNameLst>
                                          <p:attrName>style.visibility</p:attrName>
                                        </p:attrNameLst>
                                      </p:cBhvr>
                                      <p:to>
                                        <p:strVal val="visible"/>
                                      </p:to>
                                    </p:set>
                                    <p:animEffect transition="in" filter="wipe(up)">
                                      <p:cBhvr>
                                        <p:cTn id="70" dur="500"/>
                                        <p:tgtEl>
                                          <p:spTgt spid="5"/>
                                        </p:tgtEl>
                                      </p:cBhvr>
                                    </p:animEffect>
                                  </p:childTnLst>
                                </p:cTn>
                              </p:par>
                            </p:childTnLst>
                          </p:cTn>
                        </p:par>
                        <p:par>
                          <p:cTn id="71" fill="hold">
                            <p:stCondLst>
                              <p:cond delay="1000"/>
                            </p:stCondLst>
                            <p:childTnLst>
                              <p:par>
                                <p:cTn id="72" presetID="22" presetClass="entr" presetSubtype="1" fill="hold" grpId="0" nodeType="after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wipe(up)">
                                      <p:cBhvr>
                                        <p:cTn id="74" dur="1500"/>
                                        <p:tgtEl>
                                          <p:spTgt spid="29"/>
                                        </p:tgtEl>
                                      </p:cBhvr>
                                    </p:animEffect>
                                  </p:childTnLst>
                                </p:cTn>
                              </p:par>
                            </p:childTnLst>
                          </p:cTn>
                        </p:par>
                        <p:par>
                          <p:cTn id="75" fill="hold">
                            <p:stCondLst>
                              <p:cond delay="2500"/>
                            </p:stCondLst>
                            <p:childTnLst>
                              <p:par>
                                <p:cTn id="76" presetID="22" presetClass="entr" presetSubtype="1" fill="hold" nodeType="afterEffect">
                                  <p:stCondLst>
                                    <p:cond delay="0"/>
                                  </p:stCondLst>
                                  <p:childTnLst>
                                    <p:set>
                                      <p:cBhvr>
                                        <p:cTn id="77" dur="1" fill="hold">
                                          <p:stCondLst>
                                            <p:cond delay="0"/>
                                          </p:stCondLst>
                                        </p:cTn>
                                        <p:tgtEl>
                                          <p:spTgt spid="9"/>
                                        </p:tgtEl>
                                        <p:attrNameLst>
                                          <p:attrName>style.visibility</p:attrName>
                                        </p:attrNameLst>
                                      </p:cBhvr>
                                      <p:to>
                                        <p:strVal val="visible"/>
                                      </p:to>
                                    </p:set>
                                    <p:animEffect transition="in" filter="wipe(up)">
                                      <p:cBhvr>
                                        <p:cTn id="78" dur="500"/>
                                        <p:tgtEl>
                                          <p:spTgt spid="9"/>
                                        </p:tgtEl>
                                      </p:cBhvr>
                                    </p:animEffect>
                                  </p:childTnLst>
                                </p:cTn>
                              </p:par>
                            </p:childTnLst>
                          </p:cTn>
                        </p:par>
                        <p:par>
                          <p:cTn id="79" fill="hold">
                            <p:stCondLst>
                              <p:cond delay="3000"/>
                            </p:stCondLst>
                            <p:childTnLst>
                              <p:par>
                                <p:cTn id="80" presetID="22" presetClass="entr" presetSubtype="1" fill="hold" grpId="0" nodeType="after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wipe(up)">
                                      <p:cBhvr>
                                        <p:cTn id="82" dur="1500"/>
                                        <p:tgtEl>
                                          <p:spTgt spid="3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xit" presetSubtype="8" fill="hold" grpId="1" nodeType="clickEffect">
                                  <p:stCondLst>
                                    <p:cond delay="0"/>
                                  </p:stCondLst>
                                  <p:childTnLst>
                                    <p:animEffect transition="out" filter="wipe(left)">
                                      <p:cBhvr>
                                        <p:cTn id="86" dur="500"/>
                                        <p:tgtEl>
                                          <p:spTgt spid="31"/>
                                        </p:tgtEl>
                                      </p:cBhvr>
                                    </p:animEffect>
                                    <p:set>
                                      <p:cBhvr>
                                        <p:cTn id="87" dur="1" fill="hold">
                                          <p:stCondLst>
                                            <p:cond delay="499"/>
                                          </p:stCondLst>
                                        </p:cTn>
                                        <p:tgtEl>
                                          <p:spTgt spid="31"/>
                                        </p:tgtEl>
                                        <p:attrNameLst>
                                          <p:attrName>style.visibility</p:attrName>
                                        </p:attrNameLst>
                                      </p:cBhvr>
                                      <p:to>
                                        <p:strVal val="hidden"/>
                                      </p:to>
                                    </p:set>
                                  </p:childTnLst>
                                </p:cTn>
                              </p:par>
                            </p:childTnLst>
                          </p:cTn>
                        </p:par>
                        <p:par>
                          <p:cTn id="88" fill="hold">
                            <p:stCondLst>
                              <p:cond delay="500"/>
                            </p:stCondLst>
                            <p:childTnLst>
                              <p:par>
                                <p:cTn id="89" presetID="22" presetClass="entr" presetSubtype="8" fill="hold" grpId="0" nodeType="after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wipe(left)">
                                      <p:cBhvr>
                                        <p:cTn id="91" dur="500"/>
                                        <p:tgtEl>
                                          <p:spTgt spid="32"/>
                                        </p:tgtEl>
                                      </p:cBhvr>
                                    </p:animEffect>
                                  </p:childTnLst>
                                </p:cTn>
                              </p:par>
                            </p:childTnLst>
                          </p:cTn>
                        </p:par>
                        <p:par>
                          <p:cTn id="92" fill="hold">
                            <p:stCondLst>
                              <p:cond delay="1000"/>
                            </p:stCondLst>
                            <p:childTnLst>
                              <p:par>
                                <p:cTn id="93" presetID="22" presetClass="entr" presetSubtype="8" fill="hold" grpId="0" nodeType="after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wipe(left)">
                                      <p:cBhvr>
                                        <p:cTn id="95" dur="1000"/>
                                        <p:tgtEl>
                                          <p:spTgt spid="28"/>
                                        </p:tgtEl>
                                      </p:cBhvr>
                                    </p:animEffect>
                                  </p:childTnLst>
                                </p:cTn>
                              </p:par>
                            </p:childTnLst>
                          </p:cTn>
                        </p:par>
                        <p:par>
                          <p:cTn id="96" fill="hold">
                            <p:stCondLst>
                              <p:cond delay="2000"/>
                            </p:stCondLst>
                            <p:childTnLst>
                              <p:par>
                                <p:cTn id="97" presetID="22" presetClass="entr" presetSubtype="8" fill="hold" nodeType="after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wipe(left)">
                                      <p:cBhvr>
                                        <p:cTn id="99" dur="2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17" grpId="0"/>
      <p:bldP spid="19" grpId="0" uiExpand="1" build="p"/>
      <p:bldP spid="27" grpId="0" animBg="1"/>
      <p:bldP spid="27" grpId="1" animBg="1"/>
      <p:bldP spid="10" grpId="0"/>
      <p:bldP spid="25" grpId="0"/>
      <p:bldP spid="26" grpId="0" animBg="1"/>
      <p:bldP spid="28" grpId="0" animBg="1"/>
      <p:bldP spid="29" grpId="0" animBg="1"/>
      <p:bldP spid="30" grpId="0" animBg="1"/>
      <p:bldP spid="31" grpId="0" animBg="1"/>
      <p:bldP spid="31" grpId="1" animBg="1"/>
      <p:bldP spid="32" grpId="0"/>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C76DEA-F650-51AB-7EE7-9B3064808EC0}"/>
              </a:ext>
            </a:extLst>
          </p:cNvPr>
          <p:cNvSpPr>
            <a:spLocks noGrp="1"/>
          </p:cNvSpPr>
          <p:nvPr>
            <p:ph type="title"/>
          </p:nvPr>
        </p:nvSpPr>
        <p:spPr/>
        <p:txBody>
          <a:bodyPr/>
          <a:lstStyle/>
          <a:p>
            <a:r>
              <a:rPr lang="en-GB" dirty="0"/>
              <a:t>Order of Operations (1)</a:t>
            </a:r>
          </a:p>
        </p:txBody>
      </p:sp>
      <p:sp>
        <p:nvSpPr>
          <p:cNvPr id="6" name="SQL">
            <a:extLst>
              <a:ext uri="{FF2B5EF4-FFF2-40B4-BE49-F238E27FC236}">
                <a16:creationId xmlns:a16="http://schemas.microsoft.com/office/drawing/2014/main" id="{C460184D-D803-F499-E82E-972FB39F9288}"/>
              </a:ext>
            </a:extLst>
          </p:cNvPr>
          <p:cNvSpPr>
            <a:spLocks noChangeArrowheads="1"/>
          </p:cNvSpPr>
          <p:nvPr/>
        </p:nvSpPr>
        <p:spPr bwMode="auto">
          <a:xfrm>
            <a:off x="619125" y="1678614"/>
            <a:ext cx="286488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name, type</a:t>
            </a:r>
          </a:p>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Pet;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17" name="Pet">
            <a:extLst>
              <a:ext uri="{FF2B5EF4-FFF2-40B4-BE49-F238E27FC236}">
                <a16:creationId xmlns:a16="http://schemas.microsoft.com/office/drawing/2014/main" id="{37697A85-FE4A-5F49-87D3-DF60452AD532}"/>
              </a:ext>
            </a:extLst>
          </p:cNvPr>
          <p:cNvSpPr txBox="1"/>
          <p:nvPr/>
        </p:nvSpPr>
        <p:spPr>
          <a:xfrm>
            <a:off x="2663489" y="3091527"/>
            <a:ext cx="1771650" cy="369332"/>
          </a:xfrm>
          <a:prstGeom prst="rect">
            <a:avLst/>
          </a:prstGeom>
          <a:noFill/>
        </p:spPr>
        <p:txBody>
          <a:bodyPr wrap="square" rtlCol="0">
            <a:spAutoFit/>
          </a:bodyPr>
          <a:lstStyle/>
          <a:p>
            <a:r>
              <a:rPr lang="en-GB" b="1" dirty="0"/>
              <a:t>Table: Pet</a:t>
            </a:r>
          </a:p>
        </p:txBody>
      </p:sp>
      <p:sp>
        <p:nvSpPr>
          <p:cNvPr id="19" name="Order">
            <a:extLst>
              <a:ext uri="{FF2B5EF4-FFF2-40B4-BE49-F238E27FC236}">
                <a16:creationId xmlns:a16="http://schemas.microsoft.com/office/drawing/2014/main" id="{39027E70-266E-C921-B96A-180149336170}"/>
              </a:ext>
            </a:extLst>
          </p:cNvPr>
          <p:cNvSpPr txBox="1"/>
          <p:nvPr/>
        </p:nvSpPr>
        <p:spPr>
          <a:xfrm>
            <a:off x="7417818" y="1001505"/>
            <a:ext cx="2590417" cy="1384995"/>
          </a:xfrm>
          <a:prstGeom prst="rect">
            <a:avLst/>
          </a:prstGeom>
          <a:noFill/>
        </p:spPr>
        <p:txBody>
          <a:bodyPr wrap="square" rtlCol="0">
            <a:spAutoFit/>
          </a:bodyPr>
          <a:lstStyle/>
          <a:p>
            <a:r>
              <a:rPr lang="en-GB" sz="2800" b="1" dirty="0">
                <a:solidFill>
                  <a:srgbClr val="7030A0"/>
                </a:solidFill>
              </a:rPr>
              <a:t>Order</a:t>
            </a:r>
            <a:r>
              <a:rPr lang="en-GB" sz="2800" dirty="0">
                <a:solidFill>
                  <a:srgbClr val="7030A0"/>
                </a:solidFill>
              </a:rPr>
              <a:t>:</a:t>
            </a:r>
          </a:p>
          <a:p>
            <a:pPr lvl="1"/>
            <a:r>
              <a:rPr lang="en-GB" sz="2800" dirty="0">
                <a:solidFill>
                  <a:srgbClr val="7030A0"/>
                </a:solidFill>
              </a:rPr>
              <a:t>1.  </a:t>
            </a:r>
          </a:p>
          <a:p>
            <a:pPr lvl="1"/>
            <a:r>
              <a:rPr lang="en-GB" sz="2800" dirty="0">
                <a:solidFill>
                  <a:srgbClr val="7030A0"/>
                </a:solidFill>
              </a:rPr>
              <a:t>2.  </a:t>
            </a:r>
          </a:p>
        </p:txBody>
      </p:sp>
      <p:graphicFrame>
        <p:nvGraphicFramePr>
          <p:cNvPr id="22" name="Pet - Table">
            <a:extLst>
              <a:ext uri="{FF2B5EF4-FFF2-40B4-BE49-F238E27FC236}">
                <a16:creationId xmlns:a16="http://schemas.microsoft.com/office/drawing/2014/main" id="{E1C47C29-B1FD-7991-E626-2F12DC1AFFDE}"/>
              </a:ext>
            </a:extLst>
          </p:cNvPr>
          <p:cNvGraphicFramePr>
            <a:graphicFrameLocks noGrp="1"/>
          </p:cNvGraphicFramePr>
          <p:nvPr/>
        </p:nvGraphicFramePr>
        <p:xfrm>
          <a:off x="2749212"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16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a:solidFill>
                            <a:schemeClr val="tx1"/>
                          </a:solidFill>
                          <a:effectLst/>
                        </a:rPr>
                        <a:t>Micky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a:solidFill>
                            <a:schemeClr val="tx1"/>
                          </a:solidFill>
                          <a:effectLst/>
                        </a:rPr>
                        <a:t>Minnie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graphicFrame>
        <p:nvGraphicFramePr>
          <p:cNvPr id="23" name="Temp - Table">
            <a:extLst>
              <a:ext uri="{FF2B5EF4-FFF2-40B4-BE49-F238E27FC236}">
                <a16:creationId xmlns:a16="http://schemas.microsoft.com/office/drawing/2014/main" id="{57FE39BF-DC05-E516-87E6-26364C7BBE24}"/>
              </a:ext>
            </a:extLst>
          </p:cNvPr>
          <p:cNvGraphicFramePr>
            <a:graphicFrameLocks noGrp="1"/>
          </p:cNvGraphicFramePr>
          <p:nvPr/>
        </p:nvGraphicFramePr>
        <p:xfrm>
          <a:off x="5340290"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16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a:solidFill>
                            <a:schemeClr val="tx1"/>
                          </a:solidFill>
                          <a:effectLst/>
                        </a:rPr>
                        <a:t>Micky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a:solidFill>
                            <a:schemeClr val="tx1"/>
                          </a:solidFill>
                          <a:effectLst/>
                        </a:rPr>
                        <a:t>Minnie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sp>
        <p:nvSpPr>
          <p:cNvPr id="29" name="Name - Column">
            <a:extLst>
              <a:ext uri="{FF2B5EF4-FFF2-40B4-BE49-F238E27FC236}">
                <a16:creationId xmlns:a16="http://schemas.microsoft.com/office/drawing/2014/main" id="{9CFD6623-90F9-8CA0-585A-959ADF79ADE1}"/>
              </a:ext>
            </a:extLst>
          </p:cNvPr>
          <p:cNvSpPr/>
          <p:nvPr/>
        </p:nvSpPr>
        <p:spPr>
          <a:xfrm>
            <a:off x="5333994" y="3349977"/>
            <a:ext cx="792000" cy="30603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Age - Column">
            <a:extLst>
              <a:ext uri="{FF2B5EF4-FFF2-40B4-BE49-F238E27FC236}">
                <a16:creationId xmlns:a16="http://schemas.microsoft.com/office/drawing/2014/main" id="{F8908677-B9D0-5945-93E8-1112E85882A9}"/>
              </a:ext>
            </a:extLst>
          </p:cNvPr>
          <p:cNvSpPr/>
          <p:nvPr/>
        </p:nvSpPr>
        <p:spPr>
          <a:xfrm>
            <a:off x="6124330" y="3349977"/>
            <a:ext cx="792000" cy="30603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39" name="Output - Table">
            <a:extLst>
              <a:ext uri="{FF2B5EF4-FFF2-40B4-BE49-F238E27FC236}">
                <a16:creationId xmlns:a16="http://schemas.microsoft.com/office/drawing/2014/main" id="{FE9A9C9B-4CA8-4DC8-AA69-A07BDFBF0F34}"/>
              </a:ext>
            </a:extLst>
          </p:cNvPr>
          <p:cNvGraphicFramePr>
            <a:graphicFrameLocks noGrp="1"/>
          </p:cNvGraphicFramePr>
          <p:nvPr/>
        </p:nvGraphicFramePr>
        <p:xfrm>
          <a:off x="7928628" y="3412808"/>
          <a:ext cx="1599883"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Pepper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a:solidFill>
                            <a:schemeClr val="tx1"/>
                          </a:solidFill>
                          <a:effectLst/>
                        </a:rPr>
                        <a:t>Micky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Mouse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a:solidFill>
                            <a:schemeClr val="tx1"/>
                          </a:solidFill>
                          <a:effectLst/>
                        </a:rPr>
                        <a:t>Minnie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Rabbit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spTree>
    <p:extLst>
      <p:ext uri="{BB962C8B-B14F-4D97-AF65-F5344CB8AC3E}">
        <p14:creationId xmlns:p14="http://schemas.microsoft.com/office/powerpoint/2010/main" val="6933026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normAutofit/>
          </a:bodyPr>
          <a:lstStyle/>
          <a:p>
            <a:r>
              <a:rPr lang="en-GB" sz="3200" dirty="0"/>
              <a:t>Describe and use &lt;, &gt;, = in SQL operations</a:t>
            </a:r>
          </a:p>
        </p:txBody>
      </p:sp>
    </p:spTree>
    <p:extLst>
      <p:ext uri="{BB962C8B-B14F-4D97-AF65-F5344CB8AC3E}">
        <p14:creationId xmlns:p14="http://schemas.microsoft.com/office/powerpoint/2010/main" val="26982169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Comparison Operators</a:t>
            </a:r>
          </a:p>
        </p:txBody>
      </p:sp>
      <p:sp>
        <p:nvSpPr>
          <p:cNvPr id="3" name="Content Placeholder 2"/>
          <p:cNvSpPr>
            <a:spLocks noGrp="1"/>
          </p:cNvSpPr>
          <p:nvPr>
            <p:ph idx="1"/>
          </p:nvPr>
        </p:nvSpPr>
        <p:spPr/>
        <p:txBody>
          <a:bodyPr>
            <a:normAutofit lnSpcReduction="10000"/>
          </a:bodyPr>
          <a:lstStyle/>
          <a:p>
            <a:pPr marL="0" indent="0">
              <a:buNone/>
            </a:pPr>
            <a:r>
              <a:rPr lang="en-GB" sz="4000" dirty="0"/>
              <a:t>=	Equal to (same as)</a:t>
            </a:r>
          </a:p>
          <a:p>
            <a:pPr marL="0" indent="0">
              <a:buNone/>
            </a:pPr>
            <a:r>
              <a:rPr lang="en-GB" sz="4000" dirty="0"/>
              <a:t>&gt;	Greater than	</a:t>
            </a:r>
          </a:p>
          <a:p>
            <a:pPr marL="0" indent="0">
              <a:buNone/>
            </a:pPr>
            <a:r>
              <a:rPr lang="en-GB" sz="4000" dirty="0"/>
              <a:t>&gt;=	Greater than or equal to	</a:t>
            </a:r>
          </a:p>
          <a:p>
            <a:pPr marL="0" indent="0">
              <a:buNone/>
            </a:pPr>
            <a:r>
              <a:rPr lang="en-GB" sz="4000" dirty="0"/>
              <a:t>&lt;=	Less than or equal to	</a:t>
            </a:r>
          </a:p>
          <a:p>
            <a:pPr marL="0" indent="0">
              <a:buNone/>
            </a:pPr>
            <a:r>
              <a:rPr lang="en-GB" sz="4000" dirty="0"/>
              <a:t>&lt;	Less than</a:t>
            </a:r>
          </a:p>
          <a:p>
            <a:pPr marL="0" indent="0">
              <a:buNone/>
            </a:pPr>
            <a:r>
              <a:rPr lang="en-GB" sz="4000" dirty="0"/>
              <a:t>&lt;&gt;	Not equal to (not the same as)</a:t>
            </a:r>
          </a:p>
        </p:txBody>
      </p:sp>
    </p:spTree>
    <p:extLst>
      <p:ext uri="{BB962C8B-B14F-4D97-AF65-F5344CB8AC3E}">
        <p14:creationId xmlns:p14="http://schemas.microsoft.com/office/powerpoint/2010/main" val="13784540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Comparison Operators</a:t>
            </a:r>
          </a:p>
        </p:txBody>
      </p:sp>
      <p:sp>
        <p:nvSpPr>
          <p:cNvPr id="3" name="Content Placeholder 2"/>
          <p:cNvSpPr>
            <a:spLocks noGrp="1"/>
          </p:cNvSpPr>
          <p:nvPr>
            <p:ph idx="1"/>
          </p:nvPr>
        </p:nvSpPr>
        <p:spPr/>
        <p:txBody>
          <a:bodyPr>
            <a:normAutofit lnSpcReduction="10000"/>
          </a:bodyPr>
          <a:lstStyle/>
          <a:p>
            <a:pPr marL="0" indent="0">
              <a:buNone/>
            </a:pPr>
            <a:r>
              <a:rPr lang="en-GB" sz="4000" dirty="0"/>
              <a:t>	Equal to (same as)</a:t>
            </a:r>
          </a:p>
          <a:p>
            <a:pPr marL="0" indent="0">
              <a:buNone/>
            </a:pPr>
            <a:r>
              <a:rPr lang="en-GB" sz="4000" dirty="0"/>
              <a:t>	Greater than	</a:t>
            </a:r>
          </a:p>
          <a:p>
            <a:pPr marL="0" indent="0">
              <a:buNone/>
            </a:pPr>
            <a:r>
              <a:rPr lang="en-GB" sz="4000" dirty="0"/>
              <a:t>	Greater than or equal to	</a:t>
            </a:r>
          </a:p>
          <a:p>
            <a:pPr marL="0" indent="0">
              <a:buNone/>
            </a:pPr>
            <a:r>
              <a:rPr lang="en-GB" sz="4000" dirty="0"/>
              <a:t>	Less than or equal to	</a:t>
            </a:r>
          </a:p>
          <a:p>
            <a:pPr marL="0" indent="0">
              <a:buNone/>
            </a:pPr>
            <a:r>
              <a:rPr lang="en-GB" sz="4000" dirty="0"/>
              <a:t>	Less than</a:t>
            </a:r>
          </a:p>
          <a:p>
            <a:pPr marL="0" indent="0">
              <a:buNone/>
            </a:pPr>
            <a:r>
              <a:rPr lang="en-GB" sz="4000" dirty="0"/>
              <a:t>	Not equal to (not the same as)</a:t>
            </a:r>
          </a:p>
        </p:txBody>
      </p:sp>
    </p:spTree>
    <p:extLst>
      <p:ext uri="{BB962C8B-B14F-4D97-AF65-F5344CB8AC3E}">
        <p14:creationId xmlns:p14="http://schemas.microsoft.com/office/powerpoint/2010/main" val="23973428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Attributes Types</a:t>
            </a:r>
          </a:p>
        </p:txBody>
      </p:sp>
      <p:graphicFrame>
        <p:nvGraphicFramePr>
          <p:cNvPr id="5" name="Table 4"/>
          <p:cNvGraphicFramePr>
            <a:graphicFrameLocks noGrp="1"/>
          </p:cNvGraphicFramePr>
          <p:nvPr>
            <p:extLst>
              <p:ext uri="{D42A27DB-BD31-4B8C-83A1-F6EECF244321}">
                <p14:modId xmlns:p14="http://schemas.microsoft.com/office/powerpoint/2010/main" val="3969298644"/>
              </p:ext>
            </p:extLst>
          </p:nvPr>
        </p:nvGraphicFramePr>
        <p:xfrm>
          <a:off x="838199" y="1690688"/>
          <a:ext cx="10700657" cy="4732535"/>
        </p:xfrm>
        <a:graphic>
          <a:graphicData uri="http://schemas.openxmlformats.org/drawingml/2006/table">
            <a:tbl>
              <a:tblPr firstRow="1" bandRow="1">
                <a:tableStyleId>{5C22544A-7EE6-4342-B048-85BDC9FD1C3A}</a:tableStyleId>
              </a:tblPr>
              <a:tblGrid>
                <a:gridCol w="2304620">
                  <a:extLst>
                    <a:ext uri="{9D8B030D-6E8A-4147-A177-3AD203B41FA5}">
                      <a16:colId xmlns:a16="http://schemas.microsoft.com/office/drawing/2014/main" val="3886860534"/>
                    </a:ext>
                  </a:extLst>
                </a:gridCol>
                <a:gridCol w="4829151">
                  <a:extLst>
                    <a:ext uri="{9D8B030D-6E8A-4147-A177-3AD203B41FA5}">
                      <a16:colId xmlns:a16="http://schemas.microsoft.com/office/drawing/2014/main" val="2462689531"/>
                    </a:ext>
                  </a:extLst>
                </a:gridCol>
                <a:gridCol w="3566886">
                  <a:extLst>
                    <a:ext uri="{9D8B030D-6E8A-4147-A177-3AD203B41FA5}">
                      <a16:colId xmlns:a16="http://schemas.microsoft.com/office/drawing/2014/main" val="2428889176"/>
                    </a:ext>
                  </a:extLst>
                </a:gridCol>
              </a:tblGrid>
              <a:tr h="720000">
                <a:tc>
                  <a:txBody>
                    <a:bodyPr/>
                    <a:lstStyle/>
                    <a:p>
                      <a:r>
                        <a:rPr lang="en-GB" sz="4000"/>
                        <a:t>Type</a:t>
                      </a:r>
                    </a:p>
                  </a:txBody>
                  <a:tcPr anchor="ctr"/>
                </a:tc>
                <a:tc>
                  <a:txBody>
                    <a:bodyPr/>
                    <a:lstStyle/>
                    <a:p>
                      <a:r>
                        <a:rPr lang="en-GB" sz="4000"/>
                        <a:t>Description</a:t>
                      </a:r>
                      <a:endParaRPr lang="en-GB"/>
                    </a:p>
                  </a:txBody>
                  <a:tcPr anchor="ctr"/>
                </a:tc>
                <a:tc>
                  <a:txBody>
                    <a:bodyPr/>
                    <a:lstStyle/>
                    <a:p>
                      <a:r>
                        <a:rPr lang="en-GB" sz="4000"/>
                        <a:t>Examples</a:t>
                      </a:r>
                    </a:p>
                  </a:txBody>
                  <a:tcPr anchor="ctr"/>
                </a:tc>
                <a:extLst>
                  <a:ext uri="{0D108BD9-81ED-4DB2-BD59-A6C34878D82A}">
                    <a16:rowId xmlns:a16="http://schemas.microsoft.com/office/drawing/2014/main" val="2306187331"/>
                  </a:ext>
                </a:extLst>
              </a:tr>
              <a:tr h="802507">
                <a:tc>
                  <a:txBody>
                    <a:bodyPr/>
                    <a:lstStyle/>
                    <a:p>
                      <a:r>
                        <a:rPr lang="en-GB" sz="3600" dirty="0"/>
                        <a:t>text</a:t>
                      </a:r>
                    </a:p>
                  </a:txBody>
                  <a:tcPr anchor="ctr"/>
                </a:tc>
                <a:tc>
                  <a:txBody>
                    <a:bodyPr/>
                    <a:lstStyle/>
                    <a:p>
                      <a:r>
                        <a:rPr lang="en-GB" sz="3600" dirty="0"/>
                        <a:t>One or more characters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600" dirty="0"/>
                        <a:t>"Hello", "01871"</a:t>
                      </a:r>
                    </a:p>
                  </a:txBody>
                  <a:tcPr anchor="ctr"/>
                </a:tc>
                <a:extLst>
                  <a:ext uri="{0D108BD9-81ED-4DB2-BD59-A6C34878D82A}">
                    <a16:rowId xmlns:a16="http://schemas.microsoft.com/office/drawing/2014/main" val="3461540582"/>
                  </a:ext>
                </a:extLst>
              </a:tr>
              <a:tr h="802507">
                <a:tc>
                  <a:txBody>
                    <a:bodyPr/>
                    <a:lstStyle/>
                    <a:p>
                      <a:r>
                        <a:rPr lang="en-GB" sz="3600" dirty="0"/>
                        <a:t>number</a:t>
                      </a:r>
                    </a:p>
                  </a:txBody>
                  <a:tcPr anchor="ctr"/>
                </a:tc>
                <a:tc>
                  <a:txBody>
                    <a:bodyPr/>
                    <a:lstStyle/>
                    <a:p>
                      <a:r>
                        <a:rPr lang="en-GB" sz="3600" dirty="0"/>
                        <a:t>Integer or real</a:t>
                      </a:r>
                    </a:p>
                  </a:txBody>
                  <a:tcPr anchor="ctr"/>
                </a:tc>
                <a:tc>
                  <a:txBody>
                    <a:bodyPr/>
                    <a:lstStyle/>
                    <a:p>
                      <a:r>
                        <a:rPr lang="en-GB" sz="3600" dirty="0"/>
                        <a:t>0, 0.0, 87, - 3.14</a:t>
                      </a:r>
                    </a:p>
                  </a:txBody>
                  <a:tcPr anchor="ctr"/>
                </a:tc>
                <a:extLst>
                  <a:ext uri="{0D108BD9-81ED-4DB2-BD59-A6C34878D82A}">
                    <a16:rowId xmlns:a16="http://schemas.microsoft.com/office/drawing/2014/main" val="3725072174"/>
                  </a:ext>
                </a:extLst>
              </a:tr>
              <a:tr h="802507">
                <a:tc>
                  <a:txBody>
                    <a:bodyPr/>
                    <a:lstStyle/>
                    <a:p>
                      <a:r>
                        <a:rPr lang="en-GB" sz="3600" dirty="0"/>
                        <a:t>date</a:t>
                      </a:r>
                    </a:p>
                  </a:txBody>
                  <a:tcPr anchor="ctr"/>
                </a:tc>
                <a:tc>
                  <a:txBody>
                    <a:bodyPr/>
                    <a:lstStyle/>
                    <a:p>
                      <a:r>
                        <a:rPr lang="en-GB" sz="3600" dirty="0"/>
                        <a:t>Year, Month, Day</a:t>
                      </a:r>
                    </a:p>
                  </a:txBody>
                  <a:tcPr anchor="ctr"/>
                </a:tc>
                <a:tc>
                  <a:txBody>
                    <a:bodyPr/>
                    <a:lstStyle/>
                    <a:p>
                      <a:r>
                        <a:rPr lang="en-GB" sz="3600" dirty="0"/>
                        <a:t>"2023-11-21"</a:t>
                      </a:r>
                    </a:p>
                  </a:txBody>
                  <a:tcPr anchor="ctr"/>
                </a:tc>
                <a:extLst>
                  <a:ext uri="{0D108BD9-81ED-4DB2-BD59-A6C34878D82A}">
                    <a16:rowId xmlns:a16="http://schemas.microsoft.com/office/drawing/2014/main" val="2280682125"/>
                  </a:ext>
                </a:extLst>
              </a:tr>
              <a:tr h="802507">
                <a:tc>
                  <a:txBody>
                    <a:bodyPr/>
                    <a:lstStyle/>
                    <a:p>
                      <a:r>
                        <a:rPr lang="en-GB" sz="3600" dirty="0"/>
                        <a:t>time</a:t>
                      </a:r>
                    </a:p>
                  </a:txBody>
                  <a:tcPr anchor="ctr"/>
                </a:tc>
                <a:tc>
                  <a:txBody>
                    <a:bodyPr/>
                    <a:lstStyle/>
                    <a:p>
                      <a:r>
                        <a:rPr lang="en-GB" sz="3600" dirty="0"/>
                        <a:t>Hours, Minutes, Seconds</a:t>
                      </a:r>
                    </a:p>
                  </a:txBody>
                  <a:tcPr anchor="ctr"/>
                </a:tc>
                <a:tc>
                  <a:txBody>
                    <a:bodyPr/>
                    <a:lstStyle/>
                    <a:p>
                      <a:r>
                        <a:rPr lang="en-GB" sz="3600" dirty="0"/>
                        <a:t>"14:00</a:t>
                      </a:r>
                      <a:r>
                        <a:rPr lang="en-GB" sz="3600" dirty="0">
                          <a:sym typeface="Wingdings" panose="05000000000000000000" pitchFamily="2" charset="2"/>
                        </a:rPr>
                        <a:t>:00</a:t>
                      </a:r>
                      <a:r>
                        <a:rPr lang="en-GB" sz="3600" dirty="0"/>
                        <a:t>"</a:t>
                      </a:r>
                    </a:p>
                  </a:txBody>
                  <a:tcPr anchor="ctr"/>
                </a:tc>
                <a:extLst>
                  <a:ext uri="{0D108BD9-81ED-4DB2-BD59-A6C34878D82A}">
                    <a16:rowId xmlns:a16="http://schemas.microsoft.com/office/drawing/2014/main" val="40948160"/>
                  </a:ext>
                </a:extLst>
              </a:tr>
              <a:tr h="802507">
                <a:tc>
                  <a:txBody>
                    <a:bodyPr/>
                    <a:lstStyle/>
                    <a:p>
                      <a:r>
                        <a:rPr lang="en-GB" sz="3600"/>
                        <a:t>Boolean</a:t>
                      </a:r>
                    </a:p>
                  </a:txBody>
                  <a:tcPr anchor="ctr"/>
                </a:tc>
                <a:tc>
                  <a:txBody>
                    <a:bodyPr/>
                    <a:lstStyle/>
                    <a:p>
                      <a:r>
                        <a:rPr lang="en-GB" sz="3600"/>
                        <a:t>Binary – two states</a:t>
                      </a:r>
                    </a:p>
                  </a:txBody>
                  <a:tcPr anchor="ctr"/>
                </a:tc>
                <a:tc>
                  <a:txBody>
                    <a:bodyPr/>
                    <a:lstStyle/>
                    <a:p>
                      <a:r>
                        <a:rPr lang="en-GB" sz="3600" dirty="0"/>
                        <a:t>TRUE / FALSE</a:t>
                      </a:r>
                    </a:p>
                  </a:txBody>
                  <a:tcPr anchor="ctr"/>
                </a:tc>
                <a:extLst>
                  <a:ext uri="{0D108BD9-81ED-4DB2-BD59-A6C34878D82A}">
                    <a16:rowId xmlns:a16="http://schemas.microsoft.com/office/drawing/2014/main" val="788213604"/>
                  </a:ext>
                </a:extLst>
              </a:tr>
            </a:tbl>
          </a:graphicData>
        </a:graphic>
      </p:graphicFrame>
    </p:spTree>
    <p:extLst>
      <p:ext uri="{BB962C8B-B14F-4D97-AF65-F5344CB8AC3E}">
        <p14:creationId xmlns:p14="http://schemas.microsoft.com/office/powerpoint/2010/main" val="1404950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Attributes Types</a:t>
            </a:r>
          </a:p>
        </p:txBody>
      </p:sp>
      <p:graphicFrame>
        <p:nvGraphicFramePr>
          <p:cNvPr id="5" name="Table 4"/>
          <p:cNvGraphicFramePr>
            <a:graphicFrameLocks noGrp="1"/>
          </p:cNvGraphicFramePr>
          <p:nvPr>
            <p:extLst>
              <p:ext uri="{D42A27DB-BD31-4B8C-83A1-F6EECF244321}">
                <p14:modId xmlns:p14="http://schemas.microsoft.com/office/powerpoint/2010/main" val="870573768"/>
              </p:ext>
            </p:extLst>
          </p:nvPr>
        </p:nvGraphicFramePr>
        <p:xfrm>
          <a:off x="838199" y="1690688"/>
          <a:ext cx="10700657" cy="4732535"/>
        </p:xfrm>
        <a:graphic>
          <a:graphicData uri="http://schemas.openxmlformats.org/drawingml/2006/table">
            <a:tbl>
              <a:tblPr firstRow="1" bandRow="1">
                <a:tableStyleId>{5C22544A-7EE6-4342-B048-85BDC9FD1C3A}</a:tableStyleId>
              </a:tblPr>
              <a:tblGrid>
                <a:gridCol w="2304620">
                  <a:extLst>
                    <a:ext uri="{9D8B030D-6E8A-4147-A177-3AD203B41FA5}">
                      <a16:colId xmlns:a16="http://schemas.microsoft.com/office/drawing/2014/main" val="3886860534"/>
                    </a:ext>
                  </a:extLst>
                </a:gridCol>
                <a:gridCol w="4829151">
                  <a:extLst>
                    <a:ext uri="{9D8B030D-6E8A-4147-A177-3AD203B41FA5}">
                      <a16:colId xmlns:a16="http://schemas.microsoft.com/office/drawing/2014/main" val="2462689531"/>
                    </a:ext>
                  </a:extLst>
                </a:gridCol>
                <a:gridCol w="3566886">
                  <a:extLst>
                    <a:ext uri="{9D8B030D-6E8A-4147-A177-3AD203B41FA5}">
                      <a16:colId xmlns:a16="http://schemas.microsoft.com/office/drawing/2014/main" val="2428889176"/>
                    </a:ext>
                  </a:extLst>
                </a:gridCol>
              </a:tblGrid>
              <a:tr h="720000">
                <a:tc>
                  <a:txBody>
                    <a:bodyPr/>
                    <a:lstStyle/>
                    <a:p>
                      <a:r>
                        <a:rPr lang="en-GB" sz="4000"/>
                        <a:t>Type</a:t>
                      </a:r>
                    </a:p>
                  </a:txBody>
                  <a:tcPr anchor="ctr"/>
                </a:tc>
                <a:tc>
                  <a:txBody>
                    <a:bodyPr/>
                    <a:lstStyle/>
                    <a:p>
                      <a:r>
                        <a:rPr lang="en-GB" sz="4000"/>
                        <a:t>Description</a:t>
                      </a:r>
                      <a:endParaRPr lang="en-GB"/>
                    </a:p>
                  </a:txBody>
                  <a:tcPr anchor="ctr"/>
                </a:tc>
                <a:tc>
                  <a:txBody>
                    <a:bodyPr/>
                    <a:lstStyle/>
                    <a:p>
                      <a:r>
                        <a:rPr lang="en-GB" sz="4000"/>
                        <a:t>Examples</a:t>
                      </a:r>
                    </a:p>
                  </a:txBody>
                  <a:tcPr anchor="ctr"/>
                </a:tc>
                <a:extLst>
                  <a:ext uri="{0D108BD9-81ED-4DB2-BD59-A6C34878D82A}">
                    <a16:rowId xmlns:a16="http://schemas.microsoft.com/office/drawing/2014/main" val="2306187331"/>
                  </a:ext>
                </a:extLst>
              </a:tr>
              <a:tr h="802507">
                <a:tc>
                  <a:txBody>
                    <a:bodyPr/>
                    <a:lstStyle/>
                    <a:p>
                      <a:endParaRPr lang="en-GB" sz="3600" dirty="0"/>
                    </a:p>
                  </a:txBody>
                  <a:tcPr anchor="ctr"/>
                </a:tc>
                <a:tc>
                  <a:txBody>
                    <a:bodyPr/>
                    <a:lstStyle/>
                    <a:p>
                      <a:r>
                        <a:rPr lang="en-GB" sz="3600" dirty="0"/>
                        <a:t>One or more characters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600" dirty="0"/>
                        <a:t>"Hello", "01871"</a:t>
                      </a:r>
                    </a:p>
                  </a:txBody>
                  <a:tcPr anchor="ctr"/>
                </a:tc>
                <a:extLst>
                  <a:ext uri="{0D108BD9-81ED-4DB2-BD59-A6C34878D82A}">
                    <a16:rowId xmlns:a16="http://schemas.microsoft.com/office/drawing/2014/main" val="3461540582"/>
                  </a:ext>
                </a:extLst>
              </a:tr>
              <a:tr h="802507">
                <a:tc>
                  <a:txBody>
                    <a:bodyPr/>
                    <a:lstStyle/>
                    <a:p>
                      <a:endParaRPr lang="en-GB" sz="3600" dirty="0"/>
                    </a:p>
                  </a:txBody>
                  <a:tcPr anchor="ctr"/>
                </a:tc>
                <a:tc>
                  <a:txBody>
                    <a:bodyPr/>
                    <a:lstStyle/>
                    <a:p>
                      <a:r>
                        <a:rPr lang="en-GB" sz="3600" dirty="0"/>
                        <a:t>Integer or real</a:t>
                      </a:r>
                    </a:p>
                  </a:txBody>
                  <a:tcPr anchor="ctr"/>
                </a:tc>
                <a:tc>
                  <a:txBody>
                    <a:bodyPr/>
                    <a:lstStyle/>
                    <a:p>
                      <a:r>
                        <a:rPr lang="en-GB" sz="3600" dirty="0"/>
                        <a:t>0, 0.0, 87, - 3.14</a:t>
                      </a:r>
                    </a:p>
                  </a:txBody>
                  <a:tcPr anchor="ctr"/>
                </a:tc>
                <a:extLst>
                  <a:ext uri="{0D108BD9-81ED-4DB2-BD59-A6C34878D82A}">
                    <a16:rowId xmlns:a16="http://schemas.microsoft.com/office/drawing/2014/main" val="3725072174"/>
                  </a:ext>
                </a:extLst>
              </a:tr>
              <a:tr h="802507">
                <a:tc>
                  <a:txBody>
                    <a:bodyPr/>
                    <a:lstStyle/>
                    <a:p>
                      <a:endParaRPr lang="en-GB" sz="3600" dirty="0"/>
                    </a:p>
                  </a:txBody>
                  <a:tcPr anchor="ctr"/>
                </a:tc>
                <a:tc>
                  <a:txBody>
                    <a:bodyPr/>
                    <a:lstStyle/>
                    <a:p>
                      <a:r>
                        <a:rPr lang="en-GB" sz="3600" dirty="0"/>
                        <a:t>Year, Month, Day</a:t>
                      </a:r>
                    </a:p>
                  </a:txBody>
                  <a:tcPr anchor="ctr"/>
                </a:tc>
                <a:tc>
                  <a:txBody>
                    <a:bodyPr/>
                    <a:lstStyle/>
                    <a:p>
                      <a:r>
                        <a:rPr lang="en-GB" sz="3600" dirty="0"/>
                        <a:t>"2023-11-21"</a:t>
                      </a:r>
                    </a:p>
                  </a:txBody>
                  <a:tcPr anchor="ctr"/>
                </a:tc>
                <a:extLst>
                  <a:ext uri="{0D108BD9-81ED-4DB2-BD59-A6C34878D82A}">
                    <a16:rowId xmlns:a16="http://schemas.microsoft.com/office/drawing/2014/main" val="2280682125"/>
                  </a:ext>
                </a:extLst>
              </a:tr>
              <a:tr h="802507">
                <a:tc>
                  <a:txBody>
                    <a:bodyPr/>
                    <a:lstStyle/>
                    <a:p>
                      <a:endParaRPr lang="en-GB" sz="3600" dirty="0"/>
                    </a:p>
                  </a:txBody>
                  <a:tcPr anchor="ctr"/>
                </a:tc>
                <a:tc>
                  <a:txBody>
                    <a:bodyPr/>
                    <a:lstStyle/>
                    <a:p>
                      <a:r>
                        <a:rPr lang="en-GB" sz="3600" dirty="0"/>
                        <a:t>Hours, Minutes, Seconds</a:t>
                      </a:r>
                    </a:p>
                  </a:txBody>
                  <a:tcPr anchor="ctr"/>
                </a:tc>
                <a:tc>
                  <a:txBody>
                    <a:bodyPr/>
                    <a:lstStyle/>
                    <a:p>
                      <a:r>
                        <a:rPr lang="en-GB" sz="3600" dirty="0"/>
                        <a:t>"14:00:00"</a:t>
                      </a:r>
                    </a:p>
                  </a:txBody>
                  <a:tcPr anchor="ctr"/>
                </a:tc>
                <a:extLst>
                  <a:ext uri="{0D108BD9-81ED-4DB2-BD59-A6C34878D82A}">
                    <a16:rowId xmlns:a16="http://schemas.microsoft.com/office/drawing/2014/main" val="40948160"/>
                  </a:ext>
                </a:extLst>
              </a:tr>
              <a:tr h="802507">
                <a:tc>
                  <a:txBody>
                    <a:bodyPr/>
                    <a:lstStyle/>
                    <a:p>
                      <a:endParaRPr lang="en-GB" sz="3600" dirty="0"/>
                    </a:p>
                  </a:txBody>
                  <a:tcPr anchor="ctr"/>
                </a:tc>
                <a:tc>
                  <a:txBody>
                    <a:bodyPr/>
                    <a:lstStyle/>
                    <a:p>
                      <a:r>
                        <a:rPr lang="en-GB" sz="3600"/>
                        <a:t>Binary – two states</a:t>
                      </a:r>
                    </a:p>
                  </a:txBody>
                  <a:tcPr anchor="ctr"/>
                </a:tc>
                <a:tc>
                  <a:txBody>
                    <a:bodyPr/>
                    <a:lstStyle/>
                    <a:p>
                      <a:r>
                        <a:rPr lang="en-GB" sz="3600" dirty="0"/>
                        <a:t>TRUE / FALSE</a:t>
                      </a:r>
                    </a:p>
                  </a:txBody>
                  <a:tcPr anchor="ctr"/>
                </a:tc>
                <a:extLst>
                  <a:ext uri="{0D108BD9-81ED-4DB2-BD59-A6C34878D82A}">
                    <a16:rowId xmlns:a16="http://schemas.microsoft.com/office/drawing/2014/main" val="788213604"/>
                  </a:ext>
                </a:extLst>
              </a:tr>
            </a:tbl>
          </a:graphicData>
        </a:graphic>
      </p:graphicFrame>
    </p:spTree>
    <p:extLst>
      <p:ext uri="{BB962C8B-B14F-4D97-AF65-F5344CB8AC3E}">
        <p14:creationId xmlns:p14="http://schemas.microsoft.com/office/powerpoint/2010/main" val="1529401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Attributes Example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br>
              <a:rPr lang="en-US" altLang="en-US" sz="44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grpSp>
        <p:nvGrpSpPr>
          <p:cNvPr id="18" name="Group 17">
            <a:extLst>
              <a:ext uri="{FF2B5EF4-FFF2-40B4-BE49-F238E27FC236}">
                <a16:creationId xmlns:a16="http://schemas.microsoft.com/office/drawing/2014/main" id="{3BB9987A-6107-490D-B52C-8CAAA98CF371}"/>
              </a:ext>
            </a:extLst>
          </p:cNvPr>
          <p:cNvGrpSpPr/>
          <p:nvPr/>
        </p:nvGrpSpPr>
        <p:grpSpPr>
          <a:xfrm>
            <a:off x="2450463" y="5699466"/>
            <a:ext cx="1012982" cy="703220"/>
            <a:chOff x="8269088" y="2149231"/>
            <a:chExt cx="3751393" cy="703220"/>
          </a:xfrm>
        </p:grpSpPr>
        <p:cxnSp>
          <p:nvCxnSpPr>
            <p:cNvPr id="19" name="Straight Connector 18">
              <a:extLst>
                <a:ext uri="{FF2B5EF4-FFF2-40B4-BE49-F238E27FC236}">
                  <a16:creationId xmlns:a16="http://schemas.microsoft.com/office/drawing/2014/main" id="{9F5B8D5F-B809-4A3F-A063-6015E23E4D23}"/>
                </a:ext>
              </a:extLst>
            </p:cNvPr>
            <p:cNvCxnSpPr>
              <a:cxnSpLocks/>
            </p:cNvCxnSpPr>
            <p:nvPr/>
          </p:nvCxnSpPr>
          <p:spPr>
            <a:xfrm>
              <a:off x="8269096" y="2149231"/>
              <a:ext cx="3751385"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9E1B545-6597-47A7-9D08-ED8BCC6F27DC}"/>
                </a:ext>
              </a:extLst>
            </p:cNvPr>
            <p:cNvCxnSpPr>
              <a:cxnSpLocks/>
            </p:cNvCxnSpPr>
            <p:nvPr/>
          </p:nvCxnSpPr>
          <p:spPr>
            <a:xfrm flipV="1">
              <a:off x="10144788" y="2149231"/>
              <a:ext cx="0" cy="18000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0A16EF2-6826-471D-B2CF-BB71EDA6BFB1}"/>
                </a:ext>
              </a:extLst>
            </p:cNvPr>
            <p:cNvSpPr txBox="1"/>
            <p:nvPr/>
          </p:nvSpPr>
          <p:spPr>
            <a:xfrm>
              <a:off x="8269088" y="2329231"/>
              <a:ext cx="3751389" cy="523220"/>
            </a:xfrm>
            <a:prstGeom prst="rect">
              <a:avLst/>
            </a:prstGeom>
            <a:noFill/>
          </p:spPr>
          <p:txBody>
            <a:bodyPr wrap="square" rtlCol="0">
              <a:spAutoFit/>
            </a:bodyPr>
            <a:lstStyle/>
            <a:p>
              <a:pPr algn="ctr"/>
              <a:r>
                <a:rPr lang="en-GB" sz="2800" b="1" dirty="0">
                  <a:solidFill>
                    <a:srgbClr val="7030A0"/>
                  </a:solidFill>
                </a:rPr>
                <a:t>Text</a:t>
              </a:r>
            </a:p>
          </p:txBody>
        </p:sp>
      </p:grpSp>
      <p:grpSp>
        <p:nvGrpSpPr>
          <p:cNvPr id="22" name="Group 21">
            <a:extLst>
              <a:ext uri="{FF2B5EF4-FFF2-40B4-BE49-F238E27FC236}">
                <a16:creationId xmlns:a16="http://schemas.microsoft.com/office/drawing/2014/main" id="{C7316428-005D-402D-8EEB-3402A215C071}"/>
              </a:ext>
            </a:extLst>
          </p:cNvPr>
          <p:cNvGrpSpPr/>
          <p:nvPr/>
        </p:nvGrpSpPr>
        <p:grpSpPr>
          <a:xfrm>
            <a:off x="4225835" y="5699466"/>
            <a:ext cx="1650670" cy="703220"/>
            <a:chOff x="7129853" y="2149231"/>
            <a:chExt cx="6112952" cy="703220"/>
          </a:xfrm>
        </p:grpSpPr>
        <p:cxnSp>
          <p:nvCxnSpPr>
            <p:cNvPr id="23" name="Straight Connector 22">
              <a:extLst>
                <a:ext uri="{FF2B5EF4-FFF2-40B4-BE49-F238E27FC236}">
                  <a16:creationId xmlns:a16="http://schemas.microsoft.com/office/drawing/2014/main" id="{3C5E83A0-6FED-47EE-9101-1780FD393035}"/>
                </a:ext>
              </a:extLst>
            </p:cNvPr>
            <p:cNvCxnSpPr>
              <a:cxnSpLocks/>
            </p:cNvCxnSpPr>
            <p:nvPr/>
          </p:nvCxnSpPr>
          <p:spPr>
            <a:xfrm>
              <a:off x="7129853" y="2149231"/>
              <a:ext cx="6112952"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EC6D469-0506-45A0-827C-A9B1181B6DD4}"/>
                </a:ext>
              </a:extLst>
            </p:cNvPr>
            <p:cNvCxnSpPr>
              <a:cxnSpLocks/>
            </p:cNvCxnSpPr>
            <p:nvPr/>
          </p:nvCxnSpPr>
          <p:spPr>
            <a:xfrm flipV="1">
              <a:off x="10182415" y="2149231"/>
              <a:ext cx="0" cy="18000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B8F1B0E-5AD5-4146-85BD-47A29F3B0A53}"/>
                </a:ext>
              </a:extLst>
            </p:cNvPr>
            <p:cNvSpPr txBox="1"/>
            <p:nvPr/>
          </p:nvSpPr>
          <p:spPr>
            <a:xfrm>
              <a:off x="7129853" y="2329231"/>
              <a:ext cx="6112952" cy="523220"/>
            </a:xfrm>
            <a:prstGeom prst="rect">
              <a:avLst/>
            </a:prstGeom>
            <a:noFill/>
          </p:spPr>
          <p:txBody>
            <a:bodyPr wrap="square" rtlCol="0">
              <a:spAutoFit/>
            </a:bodyPr>
            <a:lstStyle/>
            <a:p>
              <a:pPr algn="ctr"/>
              <a:r>
                <a:rPr lang="en-GB" sz="2800" b="1" dirty="0">
                  <a:solidFill>
                    <a:srgbClr val="7030A0"/>
                  </a:solidFill>
                </a:rPr>
                <a:t>Number</a:t>
              </a:r>
            </a:p>
          </p:txBody>
        </p:sp>
      </p:grpSp>
      <p:grpSp>
        <p:nvGrpSpPr>
          <p:cNvPr id="26" name="Group 25">
            <a:extLst>
              <a:ext uri="{FF2B5EF4-FFF2-40B4-BE49-F238E27FC236}">
                <a16:creationId xmlns:a16="http://schemas.microsoft.com/office/drawing/2014/main" id="{19D75174-A5CA-4929-9FBC-0CB13DA416CB}"/>
              </a:ext>
            </a:extLst>
          </p:cNvPr>
          <p:cNvGrpSpPr/>
          <p:nvPr/>
        </p:nvGrpSpPr>
        <p:grpSpPr>
          <a:xfrm>
            <a:off x="6124400" y="5699466"/>
            <a:ext cx="1397827" cy="703220"/>
            <a:chOff x="7919317" y="2149231"/>
            <a:chExt cx="5176595" cy="703220"/>
          </a:xfrm>
        </p:grpSpPr>
        <p:cxnSp>
          <p:nvCxnSpPr>
            <p:cNvPr id="27" name="Straight Connector 26">
              <a:extLst>
                <a:ext uri="{FF2B5EF4-FFF2-40B4-BE49-F238E27FC236}">
                  <a16:creationId xmlns:a16="http://schemas.microsoft.com/office/drawing/2014/main" id="{F7CB9BEC-190A-4581-BCED-C1C666114E61}"/>
                </a:ext>
              </a:extLst>
            </p:cNvPr>
            <p:cNvCxnSpPr>
              <a:cxnSpLocks/>
            </p:cNvCxnSpPr>
            <p:nvPr/>
          </p:nvCxnSpPr>
          <p:spPr>
            <a:xfrm>
              <a:off x="7919317" y="2149231"/>
              <a:ext cx="5176595"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AC3FF36-1D2A-41E1-B14C-C0507DF33682}"/>
                </a:ext>
              </a:extLst>
            </p:cNvPr>
            <p:cNvCxnSpPr>
              <a:cxnSpLocks/>
            </p:cNvCxnSpPr>
            <p:nvPr/>
          </p:nvCxnSpPr>
          <p:spPr>
            <a:xfrm flipV="1">
              <a:off x="10492825" y="2149231"/>
              <a:ext cx="0" cy="18000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8FB1546-1B52-4F92-944F-FB89E2921207}"/>
                </a:ext>
              </a:extLst>
            </p:cNvPr>
            <p:cNvSpPr txBox="1"/>
            <p:nvPr/>
          </p:nvSpPr>
          <p:spPr>
            <a:xfrm>
              <a:off x="7919317" y="2329231"/>
              <a:ext cx="5176573" cy="523220"/>
            </a:xfrm>
            <a:prstGeom prst="rect">
              <a:avLst/>
            </a:prstGeom>
            <a:noFill/>
          </p:spPr>
          <p:txBody>
            <a:bodyPr wrap="square" rtlCol="0">
              <a:spAutoFit/>
            </a:bodyPr>
            <a:lstStyle/>
            <a:p>
              <a:pPr algn="ctr"/>
              <a:r>
                <a:rPr lang="en-GB" sz="2800" b="1" dirty="0">
                  <a:solidFill>
                    <a:srgbClr val="7030A0"/>
                  </a:solidFill>
                </a:rPr>
                <a:t>Date</a:t>
              </a:r>
            </a:p>
          </p:txBody>
        </p:sp>
      </p:grpSp>
      <p:grpSp>
        <p:nvGrpSpPr>
          <p:cNvPr id="32" name="Group 31">
            <a:extLst>
              <a:ext uri="{FF2B5EF4-FFF2-40B4-BE49-F238E27FC236}">
                <a16:creationId xmlns:a16="http://schemas.microsoft.com/office/drawing/2014/main" id="{E90030F4-B936-4A76-A772-450565C086DC}"/>
              </a:ext>
            </a:extLst>
          </p:cNvPr>
          <p:cNvGrpSpPr/>
          <p:nvPr/>
        </p:nvGrpSpPr>
        <p:grpSpPr>
          <a:xfrm>
            <a:off x="7831651" y="5699466"/>
            <a:ext cx="1086714" cy="703220"/>
            <a:chOff x="7919317" y="2149231"/>
            <a:chExt cx="4024445" cy="703220"/>
          </a:xfrm>
        </p:grpSpPr>
        <p:cxnSp>
          <p:nvCxnSpPr>
            <p:cNvPr id="33" name="Straight Connector 32">
              <a:extLst>
                <a:ext uri="{FF2B5EF4-FFF2-40B4-BE49-F238E27FC236}">
                  <a16:creationId xmlns:a16="http://schemas.microsoft.com/office/drawing/2014/main" id="{882D16C4-CB66-4DD9-8E2A-DB745713908F}"/>
                </a:ext>
              </a:extLst>
            </p:cNvPr>
            <p:cNvCxnSpPr>
              <a:cxnSpLocks/>
            </p:cNvCxnSpPr>
            <p:nvPr/>
          </p:nvCxnSpPr>
          <p:spPr>
            <a:xfrm>
              <a:off x="7919317" y="2149231"/>
              <a:ext cx="4024445"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5631C90-EBAE-475E-93F4-AE9C811DBF4B}"/>
                </a:ext>
              </a:extLst>
            </p:cNvPr>
            <p:cNvCxnSpPr>
              <a:cxnSpLocks/>
              <a:stCxn id="35" idx="0"/>
            </p:cNvCxnSpPr>
            <p:nvPr/>
          </p:nvCxnSpPr>
          <p:spPr>
            <a:xfrm flipH="1" flipV="1">
              <a:off x="9931536" y="2149231"/>
              <a:ext cx="4" cy="18000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0087746-F36A-4347-9616-5F4CCF533EDD}"/>
                </a:ext>
              </a:extLst>
            </p:cNvPr>
            <p:cNvSpPr txBox="1"/>
            <p:nvPr/>
          </p:nvSpPr>
          <p:spPr>
            <a:xfrm>
              <a:off x="7919317" y="2329231"/>
              <a:ext cx="4024445" cy="523220"/>
            </a:xfrm>
            <a:prstGeom prst="rect">
              <a:avLst/>
            </a:prstGeom>
            <a:noFill/>
          </p:spPr>
          <p:txBody>
            <a:bodyPr wrap="square" rtlCol="0">
              <a:spAutoFit/>
            </a:bodyPr>
            <a:lstStyle/>
            <a:p>
              <a:pPr algn="ctr"/>
              <a:r>
                <a:rPr lang="en-GB" sz="2800" b="1" dirty="0">
                  <a:solidFill>
                    <a:srgbClr val="7030A0"/>
                  </a:solidFill>
                </a:rPr>
                <a:t>Time</a:t>
              </a:r>
            </a:p>
          </p:txBody>
        </p:sp>
      </p:grpSp>
      <p:grpSp>
        <p:nvGrpSpPr>
          <p:cNvPr id="39" name="Group 38">
            <a:extLst>
              <a:ext uri="{FF2B5EF4-FFF2-40B4-BE49-F238E27FC236}">
                <a16:creationId xmlns:a16="http://schemas.microsoft.com/office/drawing/2014/main" id="{E653B77E-1210-43EE-9222-E347BDC74DBE}"/>
              </a:ext>
            </a:extLst>
          </p:cNvPr>
          <p:cNvGrpSpPr/>
          <p:nvPr/>
        </p:nvGrpSpPr>
        <p:grpSpPr>
          <a:xfrm>
            <a:off x="9161134" y="5699466"/>
            <a:ext cx="1418016" cy="703220"/>
            <a:chOff x="8269096" y="2149231"/>
            <a:chExt cx="5251361" cy="703220"/>
          </a:xfrm>
        </p:grpSpPr>
        <p:cxnSp>
          <p:nvCxnSpPr>
            <p:cNvPr id="40" name="Straight Connector 39">
              <a:extLst>
                <a:ext uri="{FF2B5EF4-FFF2-40B4-BE49-F238E27FC236}">
                  <a16:creationId xmlns:a16="http://schemas.microsoft.com/office/drawing/2014/main" id="{56EF5190-3D39-4234-A022-68EE2427B1A5}"/>
                </a:ext>
              </a:extLst>
            </p:cNvPr>
            <p:cNvCxnSpPr>
              <a:cxnSpLocks/>
            </p:cNvCxnSpPr>
            <p:nvPr/>
          </p:nvCxnSpPr>
          <p:spPr>
            <a:xfrm>
              <a:off x="8269096" y="2149231"/>
              <a:ext cx="1875692"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623CE62-5819-48A4-B9A0-481F616A91E5}"/>
                </a:ext>
              </a:extLst>
            </p:cNvPr>
            <p:cNvCxnSpPr>
              <a:cxnSpLocks/>
            </p:cNvCxnSpPr>
            <p:nvPr/>
          </p:nvCxnSpPr>
          <p:spPr>
            <a:xfrm flipV="1">
              <a:off x="9251178" y="2149231"/>
              <a:ext cx="0" cy="18000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6E29D66-D360-436C-AF89-BB680EDD5EDF}"/>
                </a:ext>
              </a:extLst>
            </p:cNvPr>
            <p:cNvSpPr txBox="1"/>
            <p:nvPr/>
          </p:nvSpPr>
          <p:spPr>
            <a:xfrm>
              <a:off x="8315106" y="2329231"/>
              <a:ext cx="5205351" cy="523220"/>
            </a:xfrm>
            <a:prstGeom prst="rect">
              <a:avLst/>
            </a:prstGeom>
            <a:noFill/>
          </p:spPr>
          <p:txBody>
            <a:bodyPr wrap="square" rtlCol="0">
              <a:spAutoFit/>
            </a:bodyPr>
            <a:lstStyle/>
            <a:p>
              <a:r>
                <a:rPr lang="en-GB" sz="2800" b="1" dirty="0">
                  <a:solidFill>
                    <a:srgbClr val="7030A0"/>
                  </a:solidFill>
                </a:rPr>
                <a:t>Boolean</a:t>
              </a:r>
            </a:p>
          </p:txBody>
        </p:sp>
      </p:grpSp>
      <p:pic>
        <p:nvPicPr>
          <p:cNvPr id="4" name="Picture 3">
            <a:extLst>
              <a:ext uri="{FF2B5EF4-FFF2-40B4-BE49-F238E27FC236}">
                <a16:creationId xmlns:a16="http://schemas.microsoft.com/office/drawing/2014/main" id="{8C1D1F9B-AFC7-498D-B082-EB8D8DDB68BD}"/>
              </a:ext>
            </a:extLst>
          </p:cNvPr>
          <p:cNvPicPr>
            <a:picLocks noChangeAspect="1"/>
          </p:cNvPicPr>
          <p:nvPr/>
        </p:nvPicPr>
        <p:blipFill>
          <a:blip r:embed="rId3"/>
          <a:stretch>
            <a:fillRect/>
          </a:stretch>
        </p:blipFill>
        <p:spPr>
          <a:xfrm>
            <a:off x="838200" y="1690687"/>
            <a:ext cx="9054644" cy="3873833"/>
          </a:xfrm>
          <a:prstGeom prst="rect">
            <a:avLst/>
          </a:prstGeom>
        </p:spPr>
      </p:pic>
    </p:spTree>
    <p:extLst>
      <p:ext uri="{BB962C8B-B14F-4D97-AF65-F5344CB8AC3E}">
        <p14:creationId xmlns:p14="http://schemas.microsoft.com/office/powerpoint/2010/main" val="3739040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20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1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37"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barn(outVertical)">
                                      <p:cBhvr>
                                        <p:cTn id="21" dur="10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37" fill="hold"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barn(outVertical)">
                                      <p:cBhvr>
                                        <p:cTn id="26" dur="10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37"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barn(outVertical)">
                                      <p:cBhvr>
                                        <p:cTn id="31" dur="1000"/>
                                        <p:tgtEl>
                                          <p:spTgt spid="26"/>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37" fill="hold" nodeType="click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barn(outVertical)">
                                      <p:cBhvr>
                                        <p:cTn id="36" dur="1000"/>
                                        <p:tgtEl>
                                          <p:spTgt spid="32"/>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37" fill="hold" nodeType="click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barn(outVertical)">
                                      <p:cBhvr>
                                        <p:cTn id="41" dur="1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Attributes Example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br>
              <a:rPr lang="en-US" altLang="en-US" sz="44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pic>
        <p:nvPicPr>
          <p:cNvPr id="5" name="Picture 4">
            <a:extLst>
              <a:ext uri="{FF2B5EF4-FFF2-40B4-BE49-F238E27FC236}">
                <a16:creationId xmlns:a16="http://schemas.microsoft.com/office/drawing/2014/main" id="{8640A34F-AFC9-46B7-83C9-B3616F182BE6}"/>
              </a:ext>
            </a:extLst>
          </p:cNvPr>
          <p:cNvPicPr>
            <a:picLocks noChangeAspect="1"/>
          </p:cNvPicPr>
          <p:nvPr/>
        </p:nvPicPr>
        <p:blipFill>
          <a:blip r:embed="rId3"/>
          <a:stretch>
            <a:fillRect/>
          </a:stretch>
        </p:blipFill>
        <p:spPr>
          <a:xfrm>
            <a:off x="838200" y="1690687"/>
            <a:ext cx="9054644" cy="3873833"/>
          </a:xfrm>
          <a:prstGeom prst="rect">
            <a:avLst/>
          </a:prstGeom>
        </p:spPr>
      </p:pic>
    </p:spTree>
    <p:extLst>
      <p:ext uri="{BB962C8B-B14F-4D97-AF65-F5344CB8AC3E}">
        <p14:creationId xmlns:p14="http://schemas.microsoft.com/office/powerpoint/2010/main" val="42141379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Filter Results: Text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colour</a:t>
            </a:r>
            <a:r>
              <a:rPr lang="en-US" altLang="en-US" sz="4400" dirty="0">
                <a:solidFill>
                  <a:srgbClr val="000000"/>
                </a:solidFill>
                <a:latin typeface="Consolas" panose="020B0609020204030204" pitchFamily="49" charset="0"/>
              </a:rPr>
              <a:t> = </a:t>
            </a:r>
            <a:r>
              <a:rPr lang="en-US" altLang="en-US" sz="4400" dirty="0">
                <a:solidFill>
                  <a:srgbClr val="183691"/>
                </a:solidFill>
                <a:latin typeface="Consolas" panose="020B0609020204030204" pitchFamily="49" charset="0"/>
              </a:rPr>
              <a:t>"Red"</a:t>
            </a:r>
            <a:r>
              <a:rPr lang="en-US" altLang="en-US" sz="4400" dirty="0">
                <a:solidFill>
                  <a:srgbClr val="000000"/>
                </a:solidFill>
                <a:latin typeface="Consolas" panose="020B0609020204030204" pitchFamily="49" charset="0"/>
              </a:rPr>
              <a:t>;</a:t>
            </a:r>
            <a:br>
              <a:rPr lang="en-US" altLang="en-US" sz="44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
        <p:nvSpPr>
          <p:cNvPr id="10" name="TextBox 9">
            <a:extLst>
              <a:ext uri="{FF2B5EF4-FFF2-40B4-BE49-F238E27FC236}">
                <a16:creationId xmlns:a16="http://schemas.microsoft.com/office/drawing/2014/main" id="{DF4BA8FF-524A-4C13-87BF-68801971FA28}"/>
              </a:ext>
            </a:extLst>
          </p:cNvPr>
          <p:cNvSpPr txBox="1"/>
          <p:nvPr/>
        </p:nvSpPr>
        <p:spPr>
          <a:xfrm>
            <a:off x="1664658" y="5665569"/>
            <a:ext cx="8862683" cy="646331"/>
          </a:xfrm>
          <a:prstGeom prst="rect">
            <a:avLst/>
          </a:prstGeom>
          <a:noFill/>
        </p:spPr>
        <p:txBody>
          <a:bodyPr wrap="none" rtlCol="0">
            <a:spAutoFit/>
          </a:bodyPr>
          <a:lstStyle/>
          <a:p>
            <a:pPr algn="ctr"/>
            <a:r>
              <a:rPr lang="en-GB" sz="3600" dirty="0">
                <a:solidFill>
                  <a:srgbClr val="7030A0"/>
                </a:solidFill>
              </a:rPr>
              <a:t>If the condition is </a:t>
            </a:r>
            <a:r>
              <a:rPr lang="en-GB" sz="3600" dirty="0">
                <a:solidFill>
                  <a:srgbClr val="7030A0"/>
                </a:solidFill>
                <a:latin typeface="Consolas" panose="020B0609020204030204" pitchFamily="49" charset="0"/>
              </a:rPr>
              <a:t>True</a:t>
            </a:r>
            <a:r>
              <a:rPr lang="en-GB" sz="3600" dirty="0">
                <a:solidFill>
                  <a:srgbClr val="7030A0"/>
                </a:solidFill>
              </a:rPr>
              <a:t> the record is displayed</a:t>
            </a:r>
            <a:endParaRPr lang="en-GB" sz="3600" dirty="0">
              <a:solidFill>
                <a:srgbClr val="7030A0"/>
              </a:solidFill>
              <a:latin typeface="Consolas" panose="020B0609020204030204" pitchFamily="49" charset="0"/>
            </a:endParaRPr>
          </a:p>
        </p:txBody>
      </p:sp>
      <p:sp>
        <p:nvSpPr>
          <p:cNvPr id="4" name="Callout: Bent Line with No Border 3">
            <a:extLst>
              <a:ext uri="{FF2B5EF4-FFF2-40B4-BE49-F238E27FC236}">
                <a16:creationId xmlns:a16="http://schemas.microsoft.com/office/drawing/2014/main" id="{973BE903-2B4C-5BCA-8CFF-AD26E80D1A76}"/>
              </a:ext>
            </a:extLst>
          </p:cNvPr>
          <p:cNvSpPr/>
          <p:nvPr/>
        </p:nvSpPr>
        <p:spPr>
          <a:xfrm>
            <a:off x="8995677" y="2451634"/>
            <a:ext cx="2137144" cy="862642"/>
          </a:xfrm>
          <a:prstGeom prst="callout2">
            <a:avLst>
              <a:gd name="adj1" fmla="val 51425"/>
              <a:gd name="adj2" fmla="val -1745"/>
              <a:gd name="adj3" fmla="val 51948"/>
              <a:gd name="adj4" fmla="val -25940"/>
              <a:gd name="adj5" fmla="val 98451"/>
              <a:gd name="adj6" fmla="val -44544"/>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Value </a:t>
            </a:r>
          </a:p>
        </p:txBody>
      </p:sp>
      <p:sp>
        <p:nvSpPr>
          <p:cNvPr id="6" name="Callout: Bent Line with No Border 5">
            <a:extLst>
              <a:ext uri="{FF2B5EF4-FFF2-40B4-BE49-F238E27FC236}">
                <a16:creationId xmlns:a16="http://schemas.microsoft.com/office/drawing/2014/main" id="{00EF8586-C5C9-BBB7-2263-DED3452C407B}"/>
              </a:ext>
            </a:extLst>
          </p:cNvPr>
          <p:cNvSpPr/>
          <p:nvPr/>
        </p:nvSpPr>
        <p:spPr>
          <a:xfrm>
            <a:off x="1991377" y="4304138"/>
            <a:ext cx="962796" cy="862642"/>
          </a:xfrm>
          <a:prstGeom prst="callout2">
            <a:avLst>
              <a:gd name="adj1" fmla="val 48750"/>
              <a:gd name="adj2" fmla="val 104056"/>
              <a:gd name="adj3" fmla="val 48589"/>
              <a:gd name="adj4" fmla="val 142331"/>
              <a:gd name="adj5" fmla="val -44946"/>
              <a:gd name="adj6" fmla="val 202199"/>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Field</a:t>
            </a:r>
          </a:p>
        </p:txBody>
      </p:sp>
      <p:grpSp>
        <p:nvGrpSpPr>
          <p:cNvPr id="16" name="Group 15">
            <a:extLst>
              <a:ext uri="{FF2B5EF4-FFF2-40B4-BE49-F238E27FC236}">
                <a16:creationId xmlns:a16="http://schemas.microsoft.com/office/drawing/2014/main" id="{BF181095-D978-47A3-6622-982A1296D1CD}"/>
              </a:ext>
            </a:extLst>
          </p:cNvPr>
          <p:cNvGrpSpPr/>
          <p:nvPr/>
        </p:nvGrpSpPr>
        <p:grpSpPr>
          <a:xfrm>
            <a:off x="4235937" y="4029846"/>
            <a:ext cx="3946770" cy="703220"/>
            <a:chOff x="8269095" y="2156158"/>
            <a:chExt cx="3751385" cy="703220"/>
          </a:xfrm>
        </p:grpSpPr>
        <p:cxnSp>
          <p:nvCxnSpPr>
            <p:cNvPr id="11" name="Straight Connector 10">
              <a:extLst>
                <a:ext uri="{FF2B5EF4-FFF2-40B4-BE49-F238E27FC236}">
                  <a16:creationId xmlns:a16="http://schemas.microsoft.com/office/drawing/2014/main" id="{870E1721-1E88-DB64-39CC-562ABFE4D4A9}"/>
                </a:ext>
              </a:extLst>
            </p:cNvPr>
            <p:cNvCxnSpPr>
              <a:cxnSpLocks/>
            </p:cNvCxnSpPr>
            <p:nvPr/>
          </p:nvCxnSpPr>
          <p:spPr>
            <a:xfrm>
              <a:off x="8269095" y="2156158"/>
              <a:ext cx="3751385"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651EB76-E65E-753B-6139-1AF409330CF7}"/>
                </a:ext>
              </a:extLst>
            </p:cNvPr>
            <p:cNvCxnSpPr>
              <a:cxnSpLocks/>
            </p:cNvCxnSpPr>
            <p:nvPr/>
          </p:nvCxnSpPr>
          <p:spPr>
            <a:xfrm flipV="1">
              <a:off x="10144788" y="2156158"/>
              <a:ext cx="0" cy="18000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DE07E5D-06E8-3DE4-D84D-5B99B0240450}"/>
                </a:ext>
              </a:extLst>
            </p:cNvPr>
            <p:cNvSpPr txBox="1"/>
            <p:nvPr/>
          </p:nvSpPr>
          <p:spPr>
            <a:xfrm>
              <a:off x="9366051" y="2336158"/>
              <a:ext cx="1557472" cy="523220"/>
            </a:xfrm>
            <a:prstGeom prst="rect">
              <a:avLst/>
            </a:prstGeom>
            <a:noFill/>
          </p:spPr>
          <p:txBody>
            <a:bodyPr wrap="none" rtlCol="0">
              <a:spAutoFit/>
            </a:bodyPr>
            <a:lstStyle/>
            <a:p>
              <a:pPr algn="ctr"/>
              <a:r>
                <a:rPr lang="en-GB" sz="2800" b="1" dirty="0">
                  <a:solidFill>
                    <a:srgbClr val="7030A0"/>
                  </a:solidFill>
                </a:rPr>
                <a:t>Condition</a:t>
              </a:r>
            </a:p>
          </p:txBody>
        </p:sp>
      </p:grpSp>
      <p:sp>
        <p:nvSpPr>
          <p:cNvPr id="5" name="Callout: Bent Line with No Border 4">
            <a:extLst>
              <a:ext uri="{FF2B5EF4-FFF2-40B4-BE49-F238E27FC236}">
                <a16:creationId xmlns:a16="http://schemas.microsoft.com/office/drawing/2014/main" id="{87B61908-2A1E-ED5C-FE12-C6DCD5EF3C3F}"/>
              </a:ext>
            </a:extLst>
          </p:cNvPr>
          <p:cNvSpPr/>
          <p:nvPr/>
        </p:nvSpPr>
        <p:spPr>
          <a:xfrm>
            <a:off x="7817992" y="1770919"/>
            <a:ext cx="2137144" cy="862642"/>
          </a:xfrm>
          <a:prstGeom prst="callout2">
            <a:avLst>
              <a:gd name="adj1" fmla="val 51425"/>
              <a:gd name="adj2" fmla="val -1745"/>
              <a:gd name="adj3" fmla="val 51948"/>
              <a:gd name="adj4" fmla="val -25940"/>
              <a:gd name="adj5" fmla="val 193655"/>
              <a:gd name="adj6" fmla="val -63793"/>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Comparison</a:t>
            </a:r>
          </a:p>
        </p:txBody>
      </p:sp>
      <p:sp>
        <p:nvSpPr>
          <p:cNvPr id="13" name="TextBox 12">
            <a:extLst>
              <a:ext uri="{FF2B5EF4-FFF2-40B4-BE49-F238E27FC236}">
                <a16:creationId xmlns:a16="http://schemas.microsoft.com/office/drawing/2014/main" id="{55A11A63-969F-4B38-8776-DA4F6EC83E0A}"/>
              </a:ext>
            </a:extLst>
          </p:cNvPr>
          <p:cNvSpPr txBox="1"/>
          <p:nvPr/>
        </p:nvSpPr>
        <p:spPr>
          <a:xfrm>
            <a:off x="7708235" y="-5485"/>
            <a:ext cx="4483765" cy="1200329"/>
          </a:xfrm>
          <a:prstGeom prst="rect">
            <a:avLst/>
          </a:prstGeom>
          <a:noFill/>
          <a:ln w="19050">
            <a:solidFill>
              <a:srgbClr val="FF0000"/>
            </a:solidFill>
          </a:ln>
        </p:spPr>
        <p:txBody>
          <a:bodyPr wrap="square" rtlCol="0">
            <a:spAutoFit/>
          </a:bodyPr>
          <a:lstStyle/>
          <a:p>
            <a:r>
              <a:rPr lang="en-GB" sz="3600" dirty="0">
                <a:solidFill>
                  <a:srgbClr val="FF0000"/>
                </a:solidFill>
                <a:latin typeface="Consolas" panose="020B0609020204030204" pitchFamily="49" charset="0"/>
              </a:rPr>
              <a:t>NB</a:t>
            </a:r>
            <a:r>
              <a:rPr lang="en-GB" sz="3600" dirty="0">
                <a:solidFill>
                  <a:srgbClr val="7030A0"/>
                </a:solidFill>
                <a:latin typeface="Consolas" panose="020B0609020204030204" pitchFamily="49" charset="0"/>
              </a:rPr>
              <a:t>: Values are case sensitive!</a:t>
            </a:r>
          </a:p>
        </p:txBody>
      </p:sp>
    </p:spTree>
    <p:extLst>
      <p:ext uri="{BB962C8B-B14F-4D97-AF65-F5344CB8AC3E}">
        <p14:creationId xmlns:p14="http://schemas.microsoft.com/office/powerpoint/2010/main" val="3662892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20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2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37"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barn(outVertical)">
                                      <p:cBhvr>
                                        <p:cTn id="21" dur="10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0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fade">
                                      <p:cBhvr>
                                        <p:cTn id="36" dur="10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0">
                                            <p:txEl>
                                              <p:pRg st="0" end="0"/>
                                            </p:txEl>
                                          </p:spTgt>
                                        </p:tgtEl>
                                        <p:attrNameLst>
                                          <p:attrName>style.visibility</p:attrName>
                                        </p:attrNameLst>
                                      </p:cBhvr>
                                      <p:to>
                                        <p:strVal val="visible"/>
                                      </p:to>
                                    </p:set>
                                    <p:animEffect transition="in" filter="wipe(left)">
                                      <p:cBhvr>
                                        <p:cTn id="41" dur="2000"/>
                                        <p:tgtEl>
                                          <p:spTgt spid="10">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build="p"/>
      <p:bldP spid="4" grpId="0" animBg="1"/>
      <p:bldP spid="6" grpId="0" animBg="1"/>
      <p:bldP spid="5" grpId="0" animBg="1"/>
      <p:bldP spid="13"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Filter Results: Text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colour</a:t>
            </a:r>
            <a:r>
              <a:rPr lang="en-US" altLang="en-US" sz="4400" dirty="0">
                <a:solidFill>
                  <a:srgbClr val="000000"/>
                </a:solidFill>
                <a:latin typeface="Consolas" panose="020B0609020204030204" pitchFamily="49" charset="0"/>
              </a:rPr>
              <a:t> = </a:t>
            </a:r>
            <a:r>
              <a:rPr lang="en-US" altLang="en-US" sz="4400" dirty="0">
                <a:solidFill>
                  <a:srgbClr val="183691"/>
                </a:solidFill>
                <a:latin typeface="Consolas" panose="020B0609020204030204" pitchFamily="49" charset="0"/>
              </a:rPr>
              <a:t>"Red"</a:t>
            </a:r>
            <a:r>
              <a:rPr lang="en-US" altLang="en-US" sz="4400" dirty="0">
                <a:solidFill>
                  <a:srgbClr val="000000"/>
                </a:solidFill>
                <a:latin typeface="Consolas" panose="020B0609020204030204" pitchFamily="49" charset="0"/>
              </a:rPr>
              <a:t>;</a:t>
            </a:r>
            <a:br>
              <a:rPr lang="en-US" altLang="en-US" sz="44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
        <p:nvSpPr>
          <p:cNvPr id="4" name="TextBox 3">
            <a:extLst>
              <a:ext uri="{FF2B5EF4-FFF2-40B4-BE49-F238E27FC236}">
                <a16:creationId xmlns:a16="http://schemas.microsoft.com/office/drawing/2014/main" id="{6F588E78-1F97-1E63-F2E2-0B7BF0B99B62}"/>
              </a:ext>
            </a:extLst>
          </p:cNvPr>
          <p:cNvSpPr txBox="1"/>
          <p:nvPr/>
        </p:nvSpPr>
        <p:spPr>
          <a:xfrm>
            <a:off x="1485609" y="5665569"/>
            <a:ext cx="9220794" cy="646331"/>
          </a:xfrm>
          <a:prstGeom prst="rect">
            <a:avLst/>
          </a:prstGeom>
          <a:noFill/>
        </p:spPr>
        <p:txBody>
          <a:bodyPr wrap="none" rtlCol="0">
            <a:spAutoFit/>
          </a:bodyPr>
          <a:lstStyle/>
          <a:p>
            <a:pPr algn="ctr"/>
            <a:r>
              <a:rPr lang="en-GB" sz="3600" dirty="0">
                <a:solidFill>
                  <a:srgbClr val="7030A0"/>
                </a:solidFill>
              </a:rPr>
              <a:t>If the                    is </a:t>
            </a:r>
            <a:r>
              <a:rPr lang="en-GB" sz="3600" dirty="0">
                <a:solidFill>
                  <a:srgbClr val="7030A0"/>
                </a:solidFill>
                <a:latin typeface="Consolas" panose="020B0609020204030204" pitchFamily="49" charset="0"/>
              </a:rPr>
              <a:t>     </a:t>
            </a:r>
            <a:r>
              <a:rPr lang="en-GB" sz="3600" dirty="0">
                <a:solidFill>
                  <a:srgbClr val="7030A0"/>
                </a:solidFill>
              </a:rPr>
              <a:t> the record is displayed</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29295845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C76DEA-F650-51AB-7EE7-9B3064808EC0}"/>
              </a:ext>
            </a:extLst>
          </p:cNvPr>
          <p:cNvSpPr>
            <a:spLocks noGrp="1"/>
          </p:cNvSpPr>
          <p:nvPr>
            <p:ph type="title"/>
          </p:nvPr>
        </p:nvSpPr>
        <p:spPr/>
        <p:txBody>
          <a:bodyPr/>
          <a:lstStyle/>
          <a:p>
            <a:r>
              <a:rPr lang="en-GB" dirty="0"/>
              <a:t>Order of Operations (2)</a:t>
            </a:r>
          </a:p>
        </p:txBody>
      </p:sp>
      <p:sp>
        <p:nvSpPr>
          <p:cNvPr id="6" name="SQL">
            <a:extLst>
              <a:ext uri="{FF2B5EF4-FFF2-40B4-BE49-F238E27FC236}">
                <a16:creationId xmlns:a16="http://schemas.microsoft.com/office/drawing/2014/main" id="{C460184D-D803-F499-E82E-972FB39F9288}"/>
              </a:ext>
            </a:extLst>
          </p:cNvPr>
          <p:cNvSpPr>
            <a:spLocks noChangeArrowheads="1"/>
          </p:cNvSpPr>
          <p:nvPr/>
        </p:nvSpPr>
        <p:spPr bwMode="auto">
          <a:xfrm>
            <a:off x="619125" y="1524726"/>
            <a:ext cx="342914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name, age</a:t>
            </a:r>
          </a:p>
          <a:p>
            <a:pPr lvl="0" eaLnBrk="0" fontAlgn="base" hangingPunct="0">
              <a:spcBef>
                <a:spcPct val="0"/>
              </a:spcBef>
              <a:spcAft>
                <a:spcPct val="0"/>
              </a:spcAft>
            </a:pPr>
            <a:r>
              <a:rPr lang="en-US" altLang="en-US" sz="2000" dirty="0">
                <a:solidFill>
                  <a:srgbClr val="B2B2B2"/>
                </a:solidFill>
                <a:latin typeface="Consolas" panose="020B0609020204030204" pitchFamily="49" charset="0"/>
              </a:rPr>
              <a:t>2 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FROM</a:t>
            </a:r>
            <a:r>
              <a:rPr lang="en-US" altLang="en-US" sz="2000" dirty="0">
                <a:solidFill>
                  <a:srgbClr val="000000"/>
                </a:solidFill>
                <a:latin typeface="Consolas" panose="020B0609020204030204" pitchFamily="49" charset="0"/>
              </a:rPr>
              <a:t> Pet</a:t>
            </a:r>
          </a:p>
          <a:p>
            <a:pPr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3 </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A71D5D"/>
                </a:solidFill>
                <a:latin typeface="Consolas" panose="020B0609020204030204" pitchFamily="49" charset="0"/>
              </a:rPr>
              <a:t>WHERE</a:t>
            </a:r>
            <a:r>
              <a:rPr lang="en-US" altLang="en-US" sz="2000" dirty="0">
                <a:solidFill>
                  <a:srgbClr val="000000"/>
                </a:solidFill>
                <a:latin typeface="Consolas" panose="020B0609020204030204" pitchFamily="49" charset="0"/>
              </a:rPr>
              <a:t> type = "</a:t>
            </a:r>
            <a:r>
              <a:rPr lang="en-US" altLang="en-US" sz="2000" dirty="0">
                <a:solidFill>
                  <a:srgbClr val="183691"/>
                </a:solidFill>
                <a:latin typeface="Consolas" panose="020B0609020204030204" pitchFamily="49" charset="0"/>
              </a:rPr>
              <a:t>Cat</a:t>
            </a:r>
            <a:r>
              <a:rPr lang="en-US" altLang="en-US" sz="2000" dirty="0">
                <a:solidFill>
                  <a:srgbClr val="000000"/>
                </a:solidFill>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17" name="Pet">
            <a:extLst>
              <a:ext uri="{FF2B5EF4-FFF2-40B4-BE49-F238E27FC236}">
                <a16:creationId xmlns:a16="http://schemas.microsoft.com/office/drawing/2014/main" id="{37697A85-FE4A-5F49-87D3-DF60452AD532}"/>
              </a:ext>
            </a:extLst>
          </p:cNvPr>
          <p:cNvSpPr txBox="1"/>
          <p:nvPr/>
        </p:nvSpPr>
        <p:spPr>
          <a:xfrm>
            <a:off x="2660585" y="3091527"/>
            <a:ext cx="1771650" cy="369332"/>
          </a:xfrm>
          <a:prstGeom prst="rect">
            <a:avLst/>
          </a:prstGeom>
          <a:noFill/>
        </p:spPr>
        <p:txBody>
          <a:bodyPr wrap="square" rtlCol="0">
            <a:spAutoFit/>
          </a:bodyPr>
          <a:lstStyle/>
          <a:p>
            <a:r>
              <a:rPr lang="en-GB" b="1" dirty="0"/>
              <a:t>Table: Pet</a:t>
            </a:r>
          </a:p>
        </p:txBody>
      </p:sp>
      <p:sp>
        <p:nvSpPr>
          <p:cNvPr id="19" name="Order">
            <a:extLst>
              <a:ext uri="{FF2B5EF4-FFF2-40B4-BE49-F238E27FC236}">
                <a16:creationId xmlns:a16="http://schemas.microsoft.com/office/drawing/2014/main" id="{39027E70-266E-C921-B96A-180149336170}"/>
              </a:ext>
            </a:extLst>
          </p:cNvPr>
          <p:cNvSpPr txBox="1"/>
          <p:nvPr/>
        </p:nvSpPr>
        <p:spPr>
          <a:xfrm>
            <a:off x="7417818" y="500914"/>
            <a:ext cx="2590417" cy="1815882"/>
          </a:xfrm>
          <a:prstGeom prst="rect">
            <a:avLst/>
          </a:prstGeom>
          <a:noFill/>
        </p:spPr>
        <p:txBody>
          <a:bodyPr wrap="square" rtlCol="0">
            <a:spAutoFit/>
          </a:bodyPr>
          <a:lstStyle/>
          <a:p>
            <a:r>
              <a:rPr lang="en-GB" sz="2800" b="1" dirty="0">
                <a:solidFill>
                  <a:srgbClr val="7030A0"/>
                </a:solidFill>
              </a:rPr>
              <a:t>Order</a:t>
            </a:r>
            <a:r>
              <a:rPr lang="en-GB" sz="2800" dirty="0">
                <a:solidFill>
                  <a:srgbClr val="7030A0"/>
                </a:solidFill>
              </a:rPr>
              <a:t>:</a:t>
            </a:r>
          </a:p>
          <a:p>
            <a:pPr lvl="1"/>
            <a:r>
              <a:rPr lang="en-GB" sz="2800" dirty="0">
                <a:solidFill>
                  <a:srgbClr val="7030A0"/>
                </a:solidFill>
              </a:rPr>
              <a:t>1.  FROM</a:t>
            </a:r>
          </a:p>
          <a:p>
            <a:pPr lvl="1"/>
            <a:r>
              <a:rPr lang="en-GB" sz="2800" dirty="0">
                <a:solidFill>
                  <a:srgbClr val="7030A0"/>
                </a:solidFill>
              </a:rPr>
              <a:t>2.  WHERE</a:t>
            </a:r>
          </a:p>
          <a:p>
            <a:pPr lvl="1"/>
            <a:r>
              <a:rPr lang="en-GB" sz="2800" dirty="0">
                <a:solidFill>
                  <a:srgbClr val="7030A0"/>
                </a:solidFill>
              </a:rPr>
              <a:t>3.  SELECT</a:t>
            </a:r>
          </a:p>
        </p:txBody>
      </p:sp>
      <p:sp>
        <p:nvSpPr>
          <p:cNvPr id="27" name="From - Arrow">
            <a:extLst>
              <a:ext uri="{FF2B5EF4-FFF2-40B4-BE49-F238E27FC236}">
                <a16:creationId xmlns:a16="http://schemas.microsoft.com/office/drawing/2014/main" id="{269837FC-7069-F1D9-E16A-87AF1D4A80CD}"/>
              </a:ext>
            </a:extLst>
          </p:cNvPr>
          <p:cNvSpPr/>
          <p:nvPr/>
        </p:nvSpPr>
        <p:spPr>
          <a:xfrm>
            <a:off x="161263" y="1909446"/>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om">
            <a:extLst>
              <a:ext uri="{FF2B5EF4-FFF2-40B4-BE49-F238E27FC236}">
                <a16:creationId xmlns:a16="http://schemas.microsoft.com/office/drawing/2014/main" id="{BC0A24A5-7704-6A36-CD80-4ED2C2F64BD2}"/>
              </a:ext>
            </a:extLst>
          </p:cNvPr>
          <p:cNvSpPr txBox="1"/>
          <p:nvPr/>
        </p:nvSpPr>
        <p:spPr>
          <a:xfrm>
            <a:off x="4667406" y="2911786"/>
            <a:ext cx="850960" cy="369332"/>
          </a:xfrm>
          <a:prstGeom prst="rect">
            <a:avLst/>
          </a:prstGeom>
          <a:noFill/>
        </p:spPr>
        <p:txBody>
          <a:bodyPr wrap="square" rtlCol="0">
            <a:spAutoFit/>
          </a:bodyPr>
          <a:lstStyle/>
          <a:p>
            <a:r>
              <a:rPr lang="en-GB" b="1" dirty="0"/>
              <a:t>FROM</a:t>
            </a:r>
          </a:p>
        </p:txBody>
      </p:sp>
      <p:graphicFrame>
        <p:nvGraphicFramePr>
          <p:cNvPr id="22" name="Pet - Table">
            <a:extLst>
              <a:ext uri="{FF2B5EF4-FFF2-40B4-BE49-F238E27FC236}">
                <a16:creationId xmlns:a16="http://schemas.microsoft.com/office/drawing/2014/main" id="{E1C47C29-B1FD-7991-E626-2F12DC1AFFDE}"/>
              </a:ext>
            </a:extLst>
          </p:cNvPr>
          <p:cNvGraphicFramePr>
            <a:graphicFrameLocks noGrp="1"/>
          </p:cNvGraphicFramePr>
          <p:nvPr>
            <p:extLst>
              <p:ext uri="{D42A27DB-BD31-4B8C-83A1-F6EECF244321}">
                <p14:modId xmlns:p14="http://schemas.microsoft.com/office/powerpoint/2010/main" val="2580159429"/>
              </p:ext>
            </p:extLst>
          </p:nvPr>
        </p:nvGraphicFramePr>
        <p:xfrm>
          <a:off x="2746308"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16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a:solidFill>
                            <a:schemeClr val="tx1"/>
                          </a:solidFill>
                          <a:effectLst/>
                        </a:rPr>
                        <a:t>Micky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a:solidFill>
                            <a:schemeClr val="tx1"/>
                          </a:solidFill>
                          <a:effectLst/>
                        </a:rPr>
                        <a:t>Minnie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graphicFrame>
        <p:nvGraphicFramePr>
          <p:cNvPr id="23" name="Temp - Table">
            <a:extLst>
              <a:ext uri="{FF2B5EF4-FFF2-40B4-BE49-F238E27FC236}">
                <a16:creationId xmlns:a16="http://schemas.microsoft.com/office/drawing/2014/main" id="{57FE39BF-DC05-E516-87E6-26364C7BBE24}"/>
              </a:ext>
            </a:extLst>
          </p:cNvPr>
          <p:cNvGraphicFramePr>
            <a:graphicFrameLocks noGrp="1"/>
          </p:cNvGraphicFramePr>
          <p:nvPr>
            <p:extLst>
              <p:ext uri="{D42A27DB-BD31-4B8C-83A1-F6EECF244321}">
                <p14:modId xmlns:p14="http://schemas.microsoft.com/office/powerpoint/2010/main" val="2244949562"/>
              </p:ext>
            </p:extLst>
          </p:nvPr>
        </p:nvGraphicFramePr>
        <p:xfrm>
          <a:off x="5340290"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16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a:solidFill>
                            <a:schemeClr val="tx1"/>
                          </a:solidFill>
                          <a:effectLst/>
                        </a:rPr>
                        <a:t>Micky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a:solidFill>
                            <a:schemeClr val="tx1"/>
                          </a:solidFill>
                          <a:effectLst/>
                        </a:rPr>
                        <a:t>Minnie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graphicFrame>
        <p:nvGraphicFramePr>
          <p:cNvPr id="24" name="Output - Table">
            <a:extLst>
              <a:ext uri="{FF2B5EF4-FFF2-40B4-BE49-F238E27FC236}">
                <a16:creationId xmlns:a16="http://schemas.microsoft.com/office/drawing/2014/main" id="{31F6E6FA-42D3-E5C9-36B8-B7C6109BDE21}"/>
              </a:ext>
            </a:extLst>
          </p:cNvPr>
          <p:cNvGraphicFramePr>
            <a:graphicFrameLocks noGrp="1"/>
          </p:cNvGraphicFramePr>
          <p:nvPr>
            <p:extLst>
              <p:ext uri="{D42A27DB-BD31-4B8C-83A1-F6EECF244321}">
                <p14:modId xmlns:p14="http://schemas.microsoft.com/office/powerpoint/2010/main" val="1986849049"/>
              </p:ext>
            </p:extLst>
          </p:nvPr>
        </p:nvGraphicFramePr>
        <p:xfrm>
          <a:off x="7941154" y="3412595"/>
          <a:ext cx="1254888" cy="129540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442405">
                  <a:extLst>
                    <a:ext uri="{9D8B030D-6E8A-4147-A177-3AD203B41FA5}">
                      <a16:colId xmlns:a16="http://schemas.microsoft.com/office/drawing/2014/main" val="3258369125"/>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Pepper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16</a:t>
                      </a: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7</a:t>
                      </a: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9</a:t>
                      </a:r>
                    </a:p>
                  </a:txBody>
                  <a:tcPr marL="9525" marR="9525" marT="9525" marB="9525" anchor="ctr"/>
                </a:tc>
                <a:extLst>
                  <a:ext uri="{0D108BD9-81ED-4DB2-BD59-A6C34878D82A}">
                    <a16:rowId xmlns:a16="http://schemas.microsoft.com/office/drawing/2014/main" val="812093042"/>
                  </a:ext>
                </a:extLst>
              </a:tr>
            </a:tbl>
          </a:graphicData>
        </a:graphic>
      </p:graphicFrame>
      <p:sp>
        <p:nvSpPr>
          <p:cNvPr id="25" name="Select">
            <a:extLst>
              <a:ext uri="{FF2B5EF4-FFF2-40B4-BE49-F238E27FC236}">
                <a16:creationId xmlns:a16="http://schemas.microsoft.com/office/drawing/2014/main" id="{35683CAD-1E2A-EA31-E6BB-C707B14B8F0A}"/>
              </a:ext>
            </a:extLst>
          </p:cNvPr>
          <p:cNvSpPr txBox="1"/>
          <p:nvPr/>
        </p:nvSpPr>
        <p:spPr>
          <a:xfrm>
            <a:off x="6072253" y="2051901"/>
            <a:ext cx="850960" cy="369332"/>
          </a:xfrm>
          <a:prstGeom prst="rect">
            <a:avLst/>
          </a:prstGeom>
          <a:noFill/>
        </p:spPr>
        <p:txBody>
          <a:bodyPr wrap="square" rtlCol="0">
            <a:spAutoFit/>
          </a:bodyPr>
          <a:lstStyle/>
          <a:p>
            <a:pPr algn="ctr"/>
            <a:r>
              <a:rPr lang="en-GB" b="1" dirty="0"/>
              <a:t>SELECT</a:t>
            </a:r>
          </a:p>
        </p:txBody>
      </p:sp>
      <p:sp>
        <p:nvSpPr>
          <p:cNvPr id="26" name="Temp - Arrow">
            <a:extLst>
              <a:ext uri="{FF2B5EF4-FFF2-40B4-BE49-F238E27FC236}">
                <a16:creationId xmlns:a16="http://schemas.microsoft.com/office/drawing/2014/main" id="{0812AA0D-71D1-9B9D-4AED-E09E855A4185}"/>
              </a:ext>
            </a:extLst>
          </p:cNvPr>
          <p:cNvSpPr/>
          <p:nvPr/>
        </p:nvSpPr>
        <p:spPr>
          <a:xfrm>
            <a:off x="4827403" y="4748123"/>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utput - Arrow">
            <a:extLst>
              <a:ext uri="{FF2B5EF4-FFF2-40B4-BE49-F238E27FC236}">
                <a16:creationId xmlns:a16="http://schemas.microsoft.com/office/drawing/2014/main" id="{27833E17-04CE-E6AD-804B-EB51B8F41239}"/>
              </a:ext>
            </a:extLst>
          </p:cNvPr>
          <p:cNvSpPr/>
          <p:nvPr/>
        </p:nvSpPr>
        <p:spPr>
          <a:xfrm>
            <a:off x="7438073" y="3928275"/>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Name - Column">
            <a:extLst>
              <a:ext uri="{FF2B5EF4-FFF2-40B4-BE49-F238E27FC236}">
                <a16:creationId xmlns:a16="http://schemas.microsoft.com/office/drawing/2014/main" id="{9CFD6623-90F9-8CA0-585A-959ADF79ADE1}"/>
              </a:ext>
            </a:extLst>
          </p:cNvPr>
          <p:cNvSpPr/>
          <p:nvPr/>
        </p:nvSpPr>
        <p:spPr>
          <a:xfrm>
            <a:off x="5333994" y="3349977"/>
            <a:ext cx="792000" cy="30603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Age - Column">
            <a:extLst>
              <a:ext uri="{FF2B5EF4-FFF2-40B4-BE49-F238E27FC236}">
                <a16:creationId xmlns:a16="http://schemas.microsoft.com/office/drawing/2014/main" id="{F8908677-B9D0-5945-93E8-1112E85882A9}"/>
              </a:ext>
            </a:extLst>
          </p:cNvPr>
          <p:cNvSpPr/>
          <p:nvPr/>
        </p:nvSpPr>
        <p:spPr>
          <a:xfrm>
            <a:off x="6928707" y="3349977"/>
            <a:ext cx="468000" cy="30603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Select - Arrow">
            <a:extLst>
              <a:ext uri="{FF2B5EF4-FFF2-40B4-BE49-F238E27FC236}">
                <a16:creationId xmlns:a16="http://schemas.microsoft.com/office/drawing/2014/main" id="{44EEC309-5164-E750-8A98-948F7250CF9F}"/>
              </a:ext>
            </a:extLst>
          </p:cNvPr>
          <p:cNvSpPr/>
          <p:nvPr/>
        </p:nvSpPr>
        <p:spPr>
          <a:xfrm>
            <a:off x="161263" y="1585067"/>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utput">
            <a:extLst>
              <a:ext uri="{FF2B5EF4-FFF2-40B4-BE49-F238E27FC236}">
                <a16:creationId xmlns:a16="http://schemas.microsoft.com/office/drawing/2014/main" id="{56038AF1-3FFC-CE48-15B4-04B9F7CE57D9}"/>
              </a:ext>
            </a:extLst>
          </p:cNvPr>
          <p:cNvSpPr txBox="1"/>
          <p:nvPr/>
        </p:nvSpPr>
        <p:spPr>
          <a:xfrm>
            <a:off x="7178301" y="2911786"/>
            <a:ext cx="960176" cy="369332"/>
          </a:xfrm>
          <a:prstGeom prst="rect">
            <a:avLst/>
          </a:prstGeom>
          <a:noFill/>
        </p:spPr>
        <p:txBody>
          <a:bodyPr wrap="square" rtlCol="0">
            <a:spAutoFit/>
          </a:bodyPr>
          <a:lstStyle/>
          <a:p>
            <a:pPr algn="ctr"/>
            <a:r>
              <a:rPr lang="en-GB" b="1" dirty="0"/>
              <a:t>Output</a:t>
            </a:r>
          </a:p>
        </p:txBody>
      </p:sp>
      <p:sp>
        <p:nvSpPr>
          <p:cNvPr id="18" name="Pepper - Row">
            <a:extLst>
              <a:ext uri="{FF2B5EF4-FFF2-40B4-BE49-F238E27FC236}">
                <a16:creationId xmlns:a16="http://schemas.microsoft.com/office/drawing/2014/main" id="{D91C0E01-A6BE-4A60-8F93-0BBA5801C23F}"/>
              </a:ext>
            </a:extLst>
          </p:cNvPr>
          <p:cNvSpPr/>
          <p:nvPr/>
        </p:nvSpPr>
        <p:spPr>
          <a:xfrm>
            <a:off x="5311221" y="3725694"/>
            <a:ext cx="2124000" cy="312791"/>
          </a:xfrm>
          <a:prstGeom prst="rect">
            <a:avLst/>
          </a:prstGeom>
          <a:noFill/>
          <a:ln w="28575">
            <a:solidFill>
              <a:srgbClr val="FF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Snowy - Row">
            <a:extLst>
              <a:ext uri="{FF2B5EF4-FFF2-40B4-BE49-F238E27FC236}">
                <a16:creationId xmlns:a16="http://schemas.microsoft.com/office/drawing/2014/main" id="{CE0478C3-5F85-4F8D-AAFC-F12F58437907}"/>
              </a:ext>
            </a:extLst>
          </p:cNvPr>
          <p:cNvSpPr/>
          <p:nvPr/>
        </p:nvSpPr>
        <p:spPr>
          <a:xfrm>
            <a:off x="5308481" y="4382898"/>
            <a:ext cx="2124000" cy="312791"/>
          </a:xfrm>
          <a:prstGeom prst="rect">
            <a:avLst/>
          </a:prstGeom>
          <a:noFill/>
          <a:ln w="28575">
            <a:solidFill>
              <a:srgbClr val="FF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Kitty - Row">
            <a:extLst>
              <a:ext uri="{FF2B5EF4-FFF2-40B4-BE49-F238E27FC236}">
                <a16:creationId xmlns:a16="http://schemas.microsoft.com/office/drawing/2014/main" id="{BE13FF1D-AE89-48DE-9545-FC614FA1848F}"/>
              </a:ext>
            </a:extLst>
          </p:cNvPr>
          <p:cNvSpPr/>
          <p:nvPr/>
        </p:nvSpPr>
        <p:spPr>
          <a:xfrm>
            <a:off x="5308480" y="5346528"/>
            <a:ext cx="2124000" cy="312791"/>
          </a:xfrm>
          <a:prstGeom prst="rect">
            <a:avLst/>
          </a:prstGeom>
          <a:noFill/>
          <a:ln w="28575">
            <a:solidFill>
              <a:srgbClr val="FF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Pepper - Yellow">
            <a:extLst>
              <a:ext uri="{FF2B5EF4-FFF2-40B4-BE49-F238E27FC236}">
                <a16:creationId xmlns:a16="http://schemas.microsoft.com/office/drawing/2014/main" id="{E3E80C3B-A12B-4BB4-8CEF-16AB911AA2D2}"/>
              </a:ext>
            </a:extLst>
          </p:cNvPr>
          <p:cNvSpPr/>
          <p:nvPr/>
        </p:nvSpPr>
        <p:spPr>
          <a:xfrm>
            <a:off x="6135722" y="3725897"/>
            <a:ext cx="792000"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Snowy - Yellow">
            <a:extLst>
              <a:ext uri="{FF2B5EF4-FFF2-40B4-BE49-F238E27FC236}">
                <a16:creationId xmlns:a16="http://schemas.microsoft.com/office/drawing/2014/main" id="{F2A2FD4D-D5A1-4882-9270-445588B3BF14}"/>
              </a:ext>
            </a:extLst>
          </p:cNvPr>
          <p:cNvSpPr/>
          <p:nvPr/>
        </p:nvSpPr>
        <p:spPr>
          <a:xfrm>
            <a:off x="6135722" y="4387830"/>
            <a:ext cx="792000"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Kitty - Yellow">
            <a:extLst>
              <a:ext uri="{FF2B5EF4-FFF2-40B4-BE49-F238E27FC236}">
                <a16:creationId xmlns:a16="http://schemas.microsoft.com/office/drawing/2014/main" id="{02546B7F-2DFC-4F0E-BC48-161A956E6261}"/>
              </a:ext>
            </a:extLst>
          </p:cNvPr>
          <p:cNvSpPr/>
          <p:nvPr/>
        </p:nvSpPr>
        <p:spPr>
          <a:xfrm>
            <a:off x="6141738" y="5353678"/>
            <a:ext cx="792000"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Where - Arrow">
            <a:extLst>
              <a:ext uri="{FF2B5EF4-FFF2-40B4-BE49-F238E27FC236}">
                <a16:creationId xmlns:a16="http://schemas.microsoft.com/office/drawing/2014/main" id="{570E26B8-2533-45CC-B630-78104B4BF6E3}"/>
              </a:ext>
            </a:extLst>
          </p:cNvPr>
          <p:cNvSpPr/>
          <p:nvPr/>
        </p:nvSpPr>
        <p:spPr>
          <a:xfrm>
            <a:off x="161263" y="2224917"/>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Where 2 - Arrow">
            <a:extLst>
              <a:ext uri="{FF2B5EF4-FFF2-40B4-BE49-F238E27FC236}">
                <a16:creationId xmlns:a16="http://schemas.microsoft.com/office/drawing/2014/main" id="{9FC6139A-DFAA-47AE-9247-10271BCD7ACF}"/>
              </a:ext>
            </a:extLst>
          </p:cNvPr>
          <p:cNvSpPr/>
          <p:nvPr/>
        </p:nvSpPr>
        <p:spPr>
          <a:xfrm rot="5400000">
            <a:off x="6269019" y="2982044"/>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Where">
            <a:extLst>
              <a:ext uri="{FF2B5EF4-FFF2-40B4-BE49-F238E27FC236}">
                <a16:creationId xmlns:a16="http://schemas.microsoft.com/office/drawing/2014/main" id="{D1DD8C35-F278-4C99-90DE-19CCA4DEF251}"/>
              </a:ext>
            </a:extLst>
          </p:cNvPr>
          <p:cNvSpPr txBox="1"/>
          <p:nvPr/>
        </p:nvSpPr>
        <p:spPr>
          <a:xfrm>
            <a:off x="6020827" y="2554178"/>
            <a:ext cx="960176" cy="369332"/>
          </a:xfrm>
          <a:prstGeom prst="rect">
            <a:avLst/>
          </a:prstGeom>
          <a:noFill/>
        </p:spPr>
        <p:txBody>
          <a:bodyPr wrap="square" rtlCol="0">
            <a:spAutoFit/>
          </a:bodyPr>
          <a:lstStyle/>
          <a:p>
            <a:pPr algn="ctr"/>
            <a:r>
              <a:rPr lang="en-GB" b="1" dirty="0"/>
              <a:t>WHERE</a:t>
            </a:r>
          </a:p>
        </p:txBody>
      </p:sp>
      <p:cxnSp>
        <p:nvCxnSpPr>
          <p:cNvPr id="5" name="Name - Arrow">
            <a:extLst>
              <a:ext uri="{FF2B5EF4-FFF2-40B4-BE49-F238E27FC236}">
                <a16:creationId xmlns:a16="http://schemas.microsoft.com/office/drawing/2014/main" id="{74743580-1BBD-44D1-9B4B-3FCD69A573CA}"/>
              </a:ext>
            </a:extLst>
          </p:cNvPr>
          <p:cNvCxnSpPr>
            <a:cxnSpLocks/>
            <a:stCxn id="25" idx="1"/>
            <a:endCxn id="29" idx="0"/>
          </p:cNvCxnSpPr>
          <p:nvPr/>
        </p:nvCxnSpPr>
        <p:spPr>
          <a:xfrm flipH="1">
            <a:off x="5729994" y="2236567"/>
            <a:ext cx="342259" cy="1113410"/>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 name="Age - Arrow">
            <a:extLst>
              <a:ext uri="{FF2B5EF4-FFF2-40B4-BE49-F238E27FC236}">
                <a16:creationId xmlns:a16="http://schemas.microsoft.com/office/drawing/2014/main" id="{4A59694F-BFA9-47E0-AA51-53E4E5936D1D}"/>
              </a:ext>
            </a:extLst>
          </p:cNvPr>
          <p:cNvCxnSpPr>
            <a:cxnSpLocks/>
            <a:stCxn id="25" idx="3"/>
            <a:endCxn id="30" idx="0"/>
          </p:cNvCxnSpPr>
          <p:nvPr/>
        </p:nvCxnSpPr>
        <p:spPr>
          <a:xfrm>
            <a:off x="6923213" y="2236567"/>
            <a:ext cx="239494" cy="1113410"/>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6715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1000"/>
                                        <p:tgtEl>
                                          <p:spTgt spid="1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20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wipe(left)">
                                      <p:cBhvr>
                                        <p:cTn id="16" dur="1500"/>
                                        <p:tgtEl>
                                          <p:spTgt spid="6">
                                            <p:txEl>
                                              <p:pRg st="0" end="0"/>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wipe(left)">
                                      <p:cBhvr>
                                        <p:cTn id="20" dur="1500"/>
                                        <p:tgtEl>
                                          <p:spTgt spid="6">
                                            <p:txEl>
                                              <p:pRg st="1" end="1"/>
                                            </p:txEl>
                                          </p:spTgt>
                                        </p:tgtEl>
                                      </p:cBhvr>
                                    </p:animEffect>
                                  </p:childTnLst>
                                </p:cTn>
                              </p:par>
                            </p:childTnLst>
                          </p:cTn>
                        </p:par>
                        <p:par>
                          <p:cTn id="21" fill="hold">
                            <p:stCondLst>
                              <p:cond delay="3000"/>
                            </p:stCondLst>
                            <p:childTnLst>
                              <p:par>
                                <p:cTn id="22" presetID="22" presetClass="entr" presetSubtype="8" fill="hold" grpId="0" nodeType="after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wipe(left)">
                                      <p:cBhvr>
                                        <p:cTn id="24" dur="1500"/>
                                        <p:tgtEl>
                                          <p:spTgt spid="6">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9">
                                            <p:txEl>
                                              <p:pRg st="0" end="0"/>
                                            </p:txEl>
                                          </p:spTgt>
                                        </p:tgtEl>
                                        <p:attrNameLst>
                                          <p:attrName>style.visibility</p:attrName>
                                        </p:attrNameLst>
                                      </p:cBhvr>
                                      <p:to>
                                        <p:strVal val="visible"/>
                                      </p:to>
                                    </p:set>
                                    <p:animEffect transition="in" filter="wipe(left)">
                                      <p:cBhvr>
                                        <p:cTn id="29" dur="1000"/>
                                        <p:tgtEl>
                                          <p:spTgt spid="19">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9">
                                            <p:txEl>
                                              <p:pRg st="1" end="1"/>
                                            </p:txEl>
                                          </p:spTgt>
                                        </p:tgtEl>
                                        <p:attrNameLst>
                                          <p:attrName>style.visibility</p:attrName>
                                        </p:attrNameLst>
                                      </p:cBhvr>
                                      <p:to>
                                        <p:strVal val="visible"/>
                                      </p:to>
                                    </p:set>
                                    <p:animEffect transition="in" filter="wipe(left)">
                                      <p:cBhvr>
                                        <p:cTn id="34" dur="1000"/>
                                        <p:tgtEl>
                                          <p:spTgt spid="19">
                                            <p:txEl>
                                              <p:pRg st="1" end="1"/>
                                            </p:txEl>
                                          </p:spTgt>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19">
                                            <p:txEl>
                                              <p:pRg st="2" end="2"/>
                                            </p:txEl>
                                          </p:spTgt>
                                        </p:tgtEl>
                                        <p:attrNameLst>
                                          <p:attrName>style.visibility</p:attrName>
                                        </p:attrNameLst>
                                      </p:cBhvr>
                                      <p:to>
                                        <p:strVal val="visible"/>
                                      </p:to>
                                    </p:set>
                                    <p:animEffect transition="in" filter="wipe(left)">
                                      <p:cBhvr>
                                        <p:cTn id="38" dur="1000"/>
                                        <p:tgtEl>
                                          <p:spTgt spid="19">
                                            <p:txEl>
                                              <p:pRg st="2" end="2"/>
                                            </p:txEl>
                                          </p:spTgt>
                                        </p:tgtEl>
                                      </p:cBhvr>
                                    </p:animEffect>
                                  </p:childTnLst>
                                </p:cTn>
                              </p:par>
                            </p:childTnLst>
                          </p:cTn>
                        </p:par>
                        <p:par>
                          <p:cTn id="39" fill="hold">
                            <p:stCondLst>
                              <p:cond delay="2000"/>
                            </p:stCondLst>
                            <p:childTnLst>
                              <p:par>
                                <p:cTn id="40" presetID="22" presetClass="entr" presetSubtype="8" fill="hold" grpId="0" nodeType="afterEffect">
                                  <p:stCondLst>
                                    <p:cond delay="0"/>
                                  </p:stCondLst>
                                  <p:childTnLst>
                                    <p:set>
                                      <p:cBhvr>
                                        <p:cTn id="41" dur="1" fill="hold">
                                          <p:stCondLst>
                                            <p:cond delay="0"/>
                                          </p:stCondLst>
                                        </p:cTn>
                                        <p:tgtEl>
                                          <p:spTgt spid="19">
                                            <p:txEl>
                                              <p:pRg st="3" end="3"/>
                                            </p:txEl>
                                          </p:spTgt>
                                        </p:tgtEl>
                                        <p:attrNameLst>
                                          <p:attrName>style.visibility</p:attrName>
                                        </p:attrNameLst>
                                      </p:cBhvr>
                                      <p:to>
                                        <p:strVal val="visible"/>
                                      </p:to>
                                    </p:set>
                                    <p:animEffect transition="in" filter="wipe(left)">
                                      <p:cBhvr>
                                        <p:cTn id="42" dur="1000"/>
                                        <p:tgtEl>
                                          <p:spTgt spid="19">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left)">
                                      <p:cBhvr>
                                        <p:cTn id="47" dur="10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wipe(left)">
                                      <p:cBhvr>
                                        <p:cTn id="56" dur="1000"/>
                                        <p:tgtEl>
                                          <p:spTgt spid="26"/>
                                        </p:tgtEl>
                                      </p:cBhvr>
                                    </p:animEffect>
                                  </p:childTnLst>
                                </p:cTn>
                              </p:par>
                            </p:childTnLst>
                          </p:cTn>
                        </p:par>
                        <p:par>
                          <p:cTn id="57" fill="hold">
                            <p:stCondLst>
                              <p:cond delay="1500"/>
                            </p:stCondLst>
                            <p:childTnLst>
                              <p:par>
                                <p:cTn id="58" presetID="22" presetClass="entr" presetSubtype="8" fill="hold" nodeType="after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left)">
                                      <p:cBhvr>
                                        <p:cTn id="60" dur="2000"/>
                                        <p:tgtEl>
                                          <p:spTgt spid="2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xit" presetSubtype="8" fill="hold" grpId="1" nodeType="clickEffect">
                                  <p:stCondLst>
                                    <p:cond delay="0"/>
                                  </p:stCondLst>
                                  <p:childTnLst>
                                    <p:animEffect transition="out" filter="wipe(left)">
                                      <p:cBhvr>
                                        <p:cTn id="64" dur="500"/>
                                        <p:tgtEl>
                                          <p:spTgt spid="27"/>
                                        </p:tgtEl>
                                      </p:cBhvr>
                                    </p:animEffect>
                                    <p:set>
                                      <p:cBhvr>
                                        <p:cTn id="65" dur="1" fill="hold">
                                          <p:stCondLst>
                                            <p:cond delay="499"/>
                                          </p:stCondLst>
                                        </p:cTn>
                                        <p:tgtEl>
                                          <p:spTgt spid="27"/>
                                        </p:tgtEl>
                                        <p:attrNameLst>
                                          <p:attrName>style.visibility</p:attrName>
                                        </p:attrNameLst>
                                      </p:cBhvr>
                                      <p:to>
                                        <p:strVal val="hidden"/>
                                      </p:to>
                                    </p:set>
                                  </p:childTnLst>
                                </p:cTn>
                              </p:par>
                            </p:childTnLst>
                          </p:cTn>
                        </p:par>
                        <p:par>
                          <p:cTn id="66" fill="hold">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wipe(left)">
                                      <p:cBhvr>
                                        <p:cTn id="69" dur="1000"/>
                                        <p:tgtEl>
                                          <p:spTgt spid="3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wipe(left)">
                                      <p:cBhvr>
                                        <p:cTn id="74" dur="500"/>
                                        <p:tgtEl>
                                          <p:spTgt spid="37"/>
                                        </p:tgtEl>
                                      </p:cBhvr>
                                    </p:animEffect>
                                  </p:childTnLst>
                                </p:cTn>
                              </p:par>
                            </p:childTnLst>
                          </p:cTn>
                        </p:par>
                        <p:par>
                          <p:cTn id="75" fill="hold">
                            <p:stCondLst>
                              <p:cond delay="500"/>
                            </p:stCondLst>
                            <p:childTnLst>
                              <p:par>
                                <p:cTn id="76" presetID="22" presetClass="entr" presetSubtype="1" fill="hold" grpId="0" nodeType="afterEffect">
                                  <p:stCondLst>
                                    <p:cond delay="0"/>
                                  </p:stCondLst>
                                  <p:childTnLst>
                                    <p:set>
                                      <p:cBhvr>
                                        <p:cTn id="77" dur="1" fill="hold">
                                          <p:stCondLst>
                                            <p:cond delay="0"/>
                                          </p:stCondLst>
                                        </p:cTn>
                                        <p:tgtEl>
                                          <p:spTgt spid="36"/>
                                        </p:tgtEl>
                                        <p:attrNameLst>
                                          <p:attrName>style.visibility</p:attrName>
                                        </p:attrNameLst>
                                      </p:cBhvr>
                                      <p:to>
                                        <p:strVal val="visible"/>
                                      </p:to>
                                    </p:set>
                                    <p:animEffect transition="in" filter="wipe(up)">
                                      <p:cBhvr>
                                        <p:cTn id="78" dur="1000"/>
                                        <p:tgtEl>
                                          <p:spTgt spid="36"/>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
                                        </p:tgtEl>
                                        <p:attrNameLst>
                                          <p:attrName>style.visibility</p:attrName>
                                        </p:attrNameLst>
                                      </p:cBhvr>
                                      <p:to>
                                        <p:strVal val="visible"/>
                                      </p:to>
                                    </p:set>
                                    <p:animEffect transition="in" filter="wipe(left)">
                                      <p:cBhvr>
                                        <p:cTn id="83" dur="500"/>
                                        <p:tgtEl>
                                          <p:spTgt spid="2"/>
                                        </p:tgtEl>
                                      </p:cBhvr>
                                    </p:animEffect>
                                  </p:childTnLst>
                                </p:cTn>
                              </p:par>
                            </p:childTnLst>
                          </p:cTn>
                        </p:par>
                        <p:par>
                          <p:cTn id="84" fill="hold">
                            <p:stCondLst>
                              <p:cond delay="500"/>
                            </p:stCondLst>
                            <p:childTnLst>
                              <p:par>
                                <p:cTn id="85" presetID="22" presetClass="entr" presetSubtype="8" fill="hold" grpId="0" nodeType="after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wipe(left)">
                                      <p:cBhvr>
                                        <p:cTn id="87" dur="150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wipe(left)">
                                      <p:cBhvr>
                                        <p:cTn id="92" dur="500"/>
                                        <p:tgtEl>
                                          <p:spTgt spid="33"/>
                                        </p:tgtEl>
                                      </p:cBhvr>
                                    </p:animEffect>
                                  </p:childTnLst>
                                </p:cTn>
                              </p:par>
                            </p:childTnLst>
                          </p:cTn>
                        </p:par>
                        <p:par>
                          <p:cTn id="93" fill="hold">
                            <p:stCondLst>
                              <p:cond delay="500"/>
                            </p:stCondLst>
                            <p:childTnLst>
                              <p:par>
                                <p:cTn id="94" presetID="22" presetClass="entr" presetSubtype="8" fill="hold" grpId="0" nodeType="after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wipe(left)">
                                      <p:cBhvr>
                                        <p:cTn id="96" dur="1500"/>
                                        <p:tgtEl>
                                          <p:spTgt spid="20"/>
                                        </p:tgtEl>
                                      </p:cBhvr>
                                    </p:animEffect>
                                  </p:childTnLst>
                                </p:cTn>
                              </p:par>
                            </p:childTnLst>
                          </p:cTn>
                        </p:par>
                        <p:par>
                          <p:cTn id="97" fill="hold">
                            <p:stCondLst>
                              <p:cond delay="2000"/>
                            </p:stCondLst>
                            <p:childTnLst>
                              <p:par>
                                <p:cTn id="98" presetID="22" presetClass="entr" presetSubtype="8" fill="hold" grpId="0" nodeType="afterEffect">
                                  <p:stCondLst>
                                    <p:cond delay="0"/>
                                  </p:stCondLst>
                                  <p:childTnLst>
                                    <p:set>
                                      <p:cBhvr>
                                        <p:cTn id="99" dur="1" fill="hold">
                                          <p:stCondLst>
                                            <p:cond delay="0"/>
                                          </p:stCondLst>
                                        </p:cTn>
                                        <p:tgtEl>
                                          <p:spTgt spid="34"/>
                                        </p:tgtEl>
                                        <p:attrNameLst>
                                          <p:attrName>style.visibility</p:attrName>
                                        </p:attrNameLst>
                                      </p:cBhvr>
                                      <p:to>
                                        <p:strVal val="visible"/>
                                      </p:to>
                                    </p:set>
                                    <p:animEffect transition="in" filter="wipe(left)">
                                      <p:cBhvr>
                                        <p:cTn id="100" dur="500"/>
                                        <p:tgtEl>
                                          <p:spTgt spid="34"/>
                                        </p:tgtEl>
                                      </p:cBhvr>
                                    </p:animEffect>
                                  </p:childTnLst>
                                </p:cTn>
                              </p:par>
                            </p:childTnLst>
                          </p:cTn>
                        </p:par>
                        <p:par>
                          <p:cTn id="101" fill="hold">
                            <p:stCondLst>
                              <p:cond delay="2500"/>
                            </p:stCondLst>
                            <p:childTnLst>
                              <p:par>
                                <p:cTn id="102" presetID="22" presetClass="entr" presetSubtype="8" fill="hold" grpId="0" nodeType="afterEffect">
                                  <p:stCondLst>
                                    <p:cond delay="0"/>
                                  </p:stCondLst>
                                  <p:childTnLst>
                                    <p:set>
                                      <p:cBhvr>
                                        <p:cTn id="103" dur="1" fill="hold">
                                          <p:stCondLst>
                                            <p:cond delay="0"/>
                                          </p:stCondLst>
                                        </p:cTn>
                                        <p:tgtEl>
                                          <p:spTgt spid="21"/>
                                        </p:tgtEl>
                                        <p:attrNameLst>
                                          <p:attrName>style.visibility</p:attrName>
                                        </p:attrNameLst>
                                      </p:cBhvr>
                                      <p:to>
                                        <p:strVal val="visible"/>
                                      </p:to>
                                    </p:set>
                                    <p:animEffect transition="in" filter="wipe(left)">
                                      <p:cBhvr>
                                        <p:cTn id="104" dur="1500"/>
                                        <p:tgtEl>
                                          <p:spTgt spid="21"/>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xit" presetSubtype="8" fill="hold" grpId="1" nodeType="clickEffect">
                                  <p:stCondLst>
                                    <p:cond delay="0"/>
                                  </p:stCondLst>
                                  <p:childTnLst>
                                    <p:animEffect transition="out" filter="wipe(left)">
                                      <p:cBhvr>
                                        <p:cTn id="108" dur="500"/>
                                        <p:tgtEl>
                                          <p:spTgt spid="35"/>
                                        </p:tgtEl>
                                      </p:cBhvr>
                                    </p:animEffect>
                                    <p:set>
                                      <p:cBhvr>
                                        <p:cTn id="109" dur="1" fill="hold">
                                          <p:stCondLst>
                                            <p:cond delay="499"/>
                                          </p:stCondLst>
                                        </p:cTn>
                                        <p:tgtEl>
                                          <p:spTgt spid="35"/>
                                        </p:tgtEl>
                                        <p:attrNameLst>
                                          <p:attrName>style.visibility</p:attrName>
                                        </p:attrNameLst>
                                      </p:cBhvr>
                                      <p:to>
                                        <p:strVal val="hidden"/>
                                      </p:to>
                                    </p:set>
                                  </p:childTnLst>
                                </p:cTn>
                              </p:par>
                            </p:childTnLst>
                          </p:cTn>
                        </p:par>
                        <p:par>
                          <p:cTn id="110" fill="hold">
                            <p:stCondLst>
                              <p:cond delay="500"/>
                            </p:stCondLst>
                            <p:childTnLst>
                              <p:par>
                                <p:cTn id="111" presetID="22" presetClass="entr" presetSubtype="8" fill="hold" grpId="0" nodeType="afterEffect">
                                  <p:stCondLst>
                                    <p:cond delay="0"/>
                                  </p:stCondLst>
                                  <p:childTnLst>
                                    <p:set>
                                      <p:cBhvr>
                                        <p:cTn id="112" dur="1" fill="hold">
                                          <p:stCondLst>
                                            <p:cond delay="0"/>
                                          </p:stCondLst>
                                        </p:cTn>
                                        <p:tgtEl>
                                          <p:spTgt spid="31"/>
                                        </p:tgtEl>
                                        <p:attrNameLst>
                                          <p:attrName>style.visibility</p:attrName>
                                        </p:attrNameLst>
                                      </p:cBhvr>
                                      <p:to>
                                        <p:strVal val="visible"/>
                                      </p:to>
                                    </p:set>
                                    <p:animEffect transition="in" filter="wipe(left)">
                                      <p:cBhvr>
                                        <p:cTn id="113" dur="1000"/>
                                        <p:tgtEl>
                                          <p:spTgt spid="31"/>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25"/>
                                        </p:tgtEl>
                                        <p:attrNameLst>
                                          <p:attrName>style.visibility</p:attrName>
                                        </p:attrNameLst>
                                      </p:cBhvr>
                                      <p:to>
                                        <p:strVal val="visible"/>
                                      </p:to>
                                    </p:set>
                                    <p:animEffect transition="in" filter="wipe(left)">
                                      <p:cBhvr>
                                        <p:cTn id="118" dur="500"/>
                                        <p:tgtEl>
                                          <p:spTgt spid="25"/>
                                        </p:tgtEl>
                                      </p:cBhvr>
                                    </p:animEffect>
                                  </p:childTnLst>
                                </p:cTn>
                              </p:par>
                            </p:childTnLst>
                          </p:cTn>
                        </p:par>
                        <p:par>
                          <p:cTn id="119" fill="hold">
                            <p:stCondLst>
                              <p:cond delay="500"/>
                            </p:stCondLst>
                            <p:childTnLst>
                              <p:par>
                                <p:cTn id="120" presetID="22" presetClass="entr" presetSubtype="1" fill="hold" nodeType="afterEffect">
                                  <p:stCondLst>
                                    <p:cond delay="0"/>
                                  </p:stCondLst>
                                  <p:childTnLst>
                                    <p:set>
                                      <p:cBhvr>
                                        <p:cTn id="121" dur="1" fill="hold">
                                          <p:stCondLst>
                                            <p:cond delay="0"/>
                                          </p:stCondLst>
                                        </p:cTn>
                                        <p:tgtEl>
                                          <p:spTgt spid="5"/>
                                        </p:tgtEl>
                                        <p:attrNameLst>
                                          <p:attrName>style.visibility</p:attrName>
                                        </p:attrNameLst>
                                      </p:cBhvr>
                                      <p:to>
                                        <p:strVal val="visible"/>
                                      </p:to>
                                    </p:set>
                                    <p:animEffect transition="in" filter="wipe(up)">
                                      <p:cBhvr>
                                        <p:cTn id="122" dur="500"/>
                                        <p:tgtEl>
                                          <p:spTgt spid="5"/>
                                        </p:tgtEl>
                                      </p:cBhvr>
                                    </p:animEffect>
                                  </p:childTnLst>
                                </p:cTn>
                              </p:par>
                            </p:childTnLst>
                          </p:cTn>
                        </p:par>
                        <p:par>
                          <p:cTn id="123" fill="hold">
                            <p:stCondLst>
                              <p:cond delay="1000"/>
                            </p:stCondLst>
                            <p:childTnLst>
                              <p:par>
                                <p:cTn id="124" presetID="22" presetClass="entr" presetSubtype="1" fill="hold" grpId="0" nodeType="afterEffect">
                                  <p:stCondLst>
                                    <p:cond delay="0"/>
                                  </p:stCondLst>
                                  <p:childTnLst>
                                    <p:set>
                                      <p:cBhvr>
                                        <p:cTn id="125" dur="1" fill="hold">
                                          <p:stCondLst>
                                            <p:cond delay="0"/>
                                          </p:stCondLst>
                                        </p:cTn>
                                        <p:tgtEl>
                                          <p:spTgt spid="29"/>
                                        </p:tgtEl>
                                        <p:attrNameLst>
                                          <p:attrName>style.visibility</p:attrName>
                                        </p:attrNameLst>
                                      </p:cBhvr>
                                      <p:to>
                                        <p:strVal val="visible"/>
                                      </p:to>
                                    </p:set>
                                    <p:animEffect transition="in" filter="wipe(up)">
                                      <p:cBhvr>
                                        <p:cTn id="126" dur="1500"/>
                                        <p:tgtEl>
                                          <p:spTgt spid="29"/>
                                        </p:tgtEl>
                                      </p:cBhvr>
                                    </p:animEffect>
                                  </p:childTnLst>
                                </p:cTn>
                              </p:par>
                            </p:childTnLst>
                          </p:cTn>
                        </p:par>
                        <p:par>
                          <p:cTn id="127" fill="hold">
                            <p:stCondLst>
                              <p:cond delay="2500"/>
                            </p:stCondLst>
                            <p:childTnLst>
                              <p:par>
                                <p:cTn id="128" presetID="22" presetClass="entr" presetSubtype="1" fill="hold" nodeType="afterEffect">
                                  <p:stCondLst>
                                    <p:cond delay="0"/>
                                  </p:stCondLst>
                                  <p:childTnLst>
                                    <p:set>
                                      <p:cBhvr>
                                        <p:cTn id="129" dur="1" fill="hold">
                                          <p:stCondLst>
                                            <p:cond delay="0"/>
                                          </p:stCondLst>
                                        </p:cTn>
                                        <p:tgtEl>
                                          <p:spTgt spid="9"/>
                                        </p:tgtEl>
                                        <p:attrNameLst>
                                          <p:attrName>style.visibility</p:attrName>
                                        </p:attrNameLst>
                                      </p:cBhvr>
                                      <p:to>
                                        <p:strVal val="visible"/>
                                      </p:to>
                                    </p:set>
                                    <p:animEffect transition="in" filter="wipe(up)">
                                      <p:cBhvr>
                                        <p:cTn id="130" dur="500"/>
                                        <p:tgtEl>
                                          <p:spTgt spid="9"/>
                                        </p:tgtEl>
                                      </p:cBhvr>
                                    </p:animEffect>
                                  </p:childTnLst>
                                </p:cTn>
                              </p:par>
                            </p:childTnLst>
                          </p:cTn>
                        </p:par>
                        <p:par>
                          <p:cTn id="131" fill="hold">
                            <p:stCondLst>
                              <p:cond delay="3000"/>
                            </p:stCondLst>
                            <p:childTnLst>
                              <p:par>
                                <p:cTn id="132" presetID="22" presetClass="entr" presetSubtype="1" fill="hold" grpId="0" nodeType="afterEffect">
                                  <p:stCondLst>
                                    <p:cond delay="0"/>
                                  </p:stCondLst>
                                  <p:childTnLst>
                                    <p:set>
                                      <p:cBhvr>
                                        <p:cTn id="133" dur="1" fill="hold">
                                          <p:stCondLst>
                                            <p:cond delay="0"/>
                                          </p:stCondLst>
                                        </p:cTn>
                                        <p:tgtEl>
                                          <p:spTgt spid="30"/>
                                        </p:tgtEl>
                                        <p:attrNameLst>
                                          <p:attrName>style.visibility</p:attrName>
                                        </p:attrNameLst>
                                      </p:cBhvr>
                                      <p:to>
                                        <p:strVal val="visible"/>
                                      </p:to>
                                    </p:set>
                                    <p:animEffect transition="in" filter="wipe(up)">
                                      <p:cBhvr>
                                        <p:cTn id="134" dur="1500"/>
                                        <p:tgtEl>
                                          <p:spTgt spid="30"/>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xit" presetSubtype="8" fill="hold" grpId="1" nodeType="clickEffect">
                                  <p:stCondLst>
                                    <p:cond delay="0"/>
                                  </p:stCondLst>
                                  <p:childTnLst>
                                    <p:animEffect transition="out" filter="wipe(left)">
                                      <p:cBhvr>
                                        <p:cTn id="138" dur="500"/>
                                        <p:tgtEl>
                                          <p:spTgt spid="31"/>
                                        </p:tgtEl>
                                      </p:cBhvr>
                                    </p:animEffect>
                                    <p:set>
                                      <p:cBhvr>
                                        <p:cTn id="139" dur="1" fill="hold">
                                          <p:stCondLst>
                                            <p:cond delay="499"/>
                                          </p:stCondLst>
                                        </p:cTn>
                                        <p:tgtEl>
                                          <p:spTgt spid="31"/>
                                        </p:tgtEl>
                                        <p:attrNameLst>
                                          <p:attrName>style.visibility</p:attrName>
                                        </p:attrNameLst>
                                      </p:cBhvr>
                                      <p:to>
                                        <p:strVal val="hidden"/>
                                      </p:to>
                                    </p:set>
                                  </p:childTnLst>
                                </p:cTn>
                              </p:par>
                              <p:par>
                                <p:cTn id="140" presetID="22" presetClass="entr" presetSubtype="8" fill="hold" grpId="0" nodeType="withEffect">
                                  <p:stCondLst>
                                    <p:cond delay="0"/>
                                  </p:stCondLst>
                                  <p:childTnLst>
                                    <p:set>
                                      <p:cBhvr>
                                        <p:cTn id="141" dur="1" fill="hold">
                                          <p:stCondLst>
                                            <p:cond delay="0"/>
                                          </p:stCondLst>
                                        </p:cTn>
                                        <p:tgtEl>
                                          <p:spTgt spid="32"/>
                                        </p:tgtEl>
                                        <p:attrNameLst>
                                          <p:attrName>style.visibility</p:attrName>
                                        </p:attrNameLst>
                                      </p:cBhvr>
                                      <p:to>
                                        <p:strVal val="visible"/>
                                      </p:to>
                                    </p:set>
                                    <p:animEffect transition="in" filter="wipe(left)">
                                      <p:cBhvr>
                                        <p:cTn id="142" dur="500"/>
                                        <p:tgtEl>
                                          <p:spTgt spid="32"/>
                                        </p:tgtEl>
                                      </p:cBhvr>
                                    </p:animEffect>
                                  </p:childTnLst>
                                </p:cTn>
                              </p:par>
                            </p:childTnLst>
                          </p:cTn>
                        </p:par>
                        <p:par>
                          <p:cTn id="143" fill="hold">
                            <p:stCondLst>
                              <p:cond delay="500"/>
                            </p:stCondLst>
                            <p:childTnLst>
                              <p:par>
                                <p:cTn id="144" presetID="22" presetClass="entr" presetSubtype="8" fill="hold" grpId="0" nodeType="afterEffect">
                                  <p:stCondLst>
                                    <p:cond delay="0"/>
                                  </p:stCondLst>
                                  <p:childTnLst>
                                    <p:set>
                                      <p:cBhvr>
                                        <p:cTn id="145" dur="1" fill="hold">
                                          <p:stCondLst>
                                            <p:cond delay="0"/>
                                          </p:stCondLst>
                                        </p:cTn>
                                        <p:tgtEl>
                                          <p:spTgt spid="28"/>
                                        </p:tgtEl>
                                        <p:attrNameLst>
                                          <p:attrName>style.visibility</p:attrName>
                                        </p:attrNameLst>
                                      </p:cBhvr>
                                      <p:to>
                                        <p:strVal val="visible"/>
                                      </p:to>
                                    </p:set>
                                    <p:animEffect transition="in" filter="wipe(left)">
                                      <p:cBhvr>
                                        <p:cTn id="146" dur="1000"/>
                                        <p:tgtEl>
                                          <p:spTgt spid="28"/>
                                        </p:tgtEl>
                                      </p:cBhvr>
                                    </p:animEffect>
                                  </p:childTnLst>
                                </p:cTn>
                              </p:par>
                            </p:childTnLst>
                          </p:cTn>
                        </p:par>
                        <p:par>
                          <p:cTn id="147" fill="hold">
                            <p:stCondLst>
                              <p:cond delay="1500"/>
                            </p:stCondLst>
                            <p:childTnLst>
                              <p:par>
                                <p:cTn id="148" presetID="22" presetClass="entr" presetSubtype="8" fill="hold" nodeType="afterEffect">
                                  <p:stCondLst>
                                    <p:cond delay="0"/>
                                  </p:stCondLst>
                                  <p:childTnLst>
                                    <p:set>
                                      <p:cBhvr>
                                        <p:cTn id="149" dur="1" fill="hold">
                                          <p:stCondLst>
                                            <p:cond delay="0"/>
                                          </p:stCondLst>
                                        </p:cTn>
                                        <p:tgtEl>
                                          <p:spTgt spid="24"/>
                                        </p:tgtEl>
                                        <p:attrNameLst>
                                          <p:attrName>style.visibility</p:attrName>
                                        </p:attrNameLst>
                                      </p:cBhvr>
                                      <p:to>
                                        <p:strVal val="visible"/>
                                      </p:to>
                                    </p:set>
                                    <p:animEffect transition="in" filter="wipe(left)">
                                      <p:cBhvr>
                                        <p:cTn id="150"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17" grpId="0"/>
      <p:bldP spid="19" grpId="0" uiExpand="1" build="p"/>
      <p:bldP spid="27" grpId="0" animBg="1"/>
      <p:bldP spid="27" grpId="1" animBg="1"/>
      <p:bldP spid="10" grpId="0"/>
      <p:bldP spid="25" grpId="0"/>
      <p:bldP spid="26" grpId="0" animBg="1"/>
      <p:bldP spid="28" grpId="0" animBg="1"/>
      <p:bldP spid="29" grpId="0" animBg="1"/>
      <p:bldP spid="30" grpId="0" animBg="1"/>
      <p:bldP spid="31" grpId="0" animBg="1"/>
      <p:bldP spid="31" grpId="1" animBg="1"/>
      <p:bldP spid="32" grpId="0"/>
      <p:bldP spid="18" grpId="0" animBg="1"/>
      <p:bldP spid="20" grpId="0" animBg="1"/>
      <p:bldP spid="21" grpId="0" animBg="1"/>
      <p:bldP spid="2" grpId="0" animBg="1"/>
      <p:bldP spid="33" grpId="0" animBg="1"/>
      <p:bldP spid="34" grpId="0" animBg="1"/>
      <p:bldP spid="35" grpId="0" animBg="1"/>
      <p:bldP spid="35" grpId="1" animBg="1"/>
      <p:bldP spid="36" grpId="0" animBg="1"/>
      <p:bldP spid="37" grpId="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C76DEA-F650-51AB-7EE7-9B3064808EC0}"/>
              </a:ext>
            </a:extLst>
          </p:cNvPr>
          <p:cNvSpPr>
            <a:spLocks noGrp="1"/>
          </p:cNvSpPr>
          <p:nvPr>
            <p:ph type="title"/>
          </p:nvPr>
        </p:nvSpPr>
        <p:spPr/>
        <p:txBody>
          <a:bodyPr/>
          <a:lstStyle/>
          <a:p>
            <a:r>
              <a:rPr lang="en-GB" dirty="0"/>
              <a:t>Order of Operations (2)</a:t>
            </a:r>
          </a:p>
        </p:txBody>
      </p:sp>
      <p:sp>
        <p:nvSpPr>
          <p:cNvPr id="6" name="SQL">
            <a:extLst>
              <a:ext uri="{FF2B5EF4-FFF2-40B4-BE49-F238E27FC236}">
                <a16:creationId xmlns:a16="http://schemas.microsoft.com/office/drawing/2014/main" id="{C460184D-D803-F499-E82E-972FB39F9288}"/>
              </a:ext>
            </a:extLst>
          </p:cNvPr>
          <p:cNvSpPr>
            <a:spLocks noChangeArrowheads="1"/>
          </p:cNvSpPr>
          <p:nvPr/>
        </p:nvSpPr>
        <p:spPr bwMode="auto">
          <a:xfrm>
            <a:off x="619125" y="1524726"/>
            <a:ext cx="342914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name, age</a:t>
            </a:r>
          </a:p>
          <a:p>
            <a:pPr lvl="0" eaLnBrk="0" fontAlgn="base" hangingPunct="0">
              <a:spcBef>
                <a:spcPct val="0"/>
              </a:spcBef>
              <a:spcAft>
                <a:spcPct val="0"/>
              </a:spcAft>
            </a:pPr>
            <a:r>
              <a:rPr lang="en-US" altLang="en-US" sz="2000" dirty="0">
                <a:solidFill>
                  <a:srgbClr val="B2B2B2"/>
                </a:solidFill>
                <a:latin typeface="Consolas" panose="020B0609020204030204" pitchFamily="49" charset="0"/>
              </a:rPr>
              <a:t>2 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FROM</a:t>
            </a:r>
            <a:r>
              <a:rPr lang="en-US" altLang="en-US" sz="2000" dirty="0">
                <a:solidFill>
                  <a:srgbClr val="000000"/>
                </a:solidFill>
                <a:latin typeface="Consolas" panose="020B0609020204030204" pitchFamily="49" charset="0"/>
              </a:rPr>
              <a:t> Pet</a:t>
            </a:r>
          </a:p>
          <a:p>
            <a:pPr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3 </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A71D5D"/>
                </a:solidFill>
                <a:latin typeface="Consolas" panose="020B0609020204030204" pitchFamily="49" charset="0"/>
              </a:rPr>
              <a:t>WHERE</a:t>
            </a:r>
            <a:r>
              <a:rPr lang="en-US" altLang="en-US" sz="2000" dirty="0">
                <a:solidFill>
                  <a:srgbClr val="000000"/>
                </a:solidFill>
                <a:latin typeface="Consolas" panose="020B0609020204030204" pitchFamily="49" charset="0"/>
              </a:rPr>
              <a:t> type = "</a:t>
            </a:r>
            <a:r>
              <a:rPr lang="en-US" altLang="en-US" sz="2000" dirty="0">
                <a:solidFill>
                  <a:srgbClr val="183691"/>
                </a:solidFill>
                <a:latin typeface="Consolas" panose="020B0609020204030204" pitchFamily="49" charset="0"/>
              </a:rPr>
              <a:t>Cat</a:t>
            </a:r>
            <a:r>
              <a:rPr lang="en-US" altLang="en-US" sz="2000" dirty="0">
                <a:solidFill>
                  <a:srgbClr val="000000"/>
                </a:solidFill>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17" name="Pet">
            <a:extLst>
              <a:ext uri="{FF2B5EF4-FFF2-40B4-BE49-F238E27FC236}">
                <a16:creationId xmlns:a16="http://schemas.microsoft.com/office/drawing/2014/main" id="{37697A85-FE4A-5F49-87D3-DF60452AD532}"/>
              </a:ext>
            </a:extLst>
          </p:cNvPr>
          <p:cNvSpPr txBox="1"/>
          <p:nvPr/>
        </p:nvSpPr>
        <p:spPr>
          <a:xfrm>
            <a:off x="2660585" y="3091527"/>
            <a:ext cx="1771650" cy="369332"/>
          </a:xfrm>
          <a:prstGeom prst="rect">
            <a:avLst/>
          </a:prstGeom>
          <a:noFill/>
        </p:spPr>
        <p:txBody>
          <a:bodyPr wrap="square" rtlCol="0">
            <a:spAutoFit/>
          </a:bodyPr>
          <a:lstStyle/>
          <a:p>
            <a:r>
              <a:rPr lang="en-GB" b="1" dirty="0"/>
              <a:t>Table: Pet</a:t>
            </a:r>
          </a:p>
        </p:txBody>
      </p:sp>
      <p:sp>
        <p:nvSpPr>
          <p:cNvPr id="19" name="Order">
            <a:extLst>
              <a:ext uri="{FF2B5EF4-FFF2-40B4-BE49-F238E27FC236}">
                <a16:creationId xmlns:a16="http://schemas.microsoft.com/office/drawing/2014/main" id="{39027E70-266E-C921-B96A-180149336170}"/>
              </a:ext>
            </a:extLst>
          </p:cNvPr>
          <p:cNvSpPr txBox="1"/>
          <p:nvPr/>
        </p:nvSpPr>
        <p:spPr>
          <a:xfrm>
            <a:off x="7417818" y="500914"/>
            <a:ext cx="2590417" cy="1815882"/>
          </a:xfrm>
          <a:prstGeom prst="rect">
            <a:avLst/>
          </a:prstGeom>
          <a:noFill/>
        </p:spPr>
        <p:txBody>
          <a:bodyPr wrap="square" rtlCol="0">
            <a:spAutoFit/>
          </a:bodyPr>
          <a:lstStyle/>
          <a:p>
            <a:r>
              <a:rPr lang="en-GB" sz="2800" b="1" dirty="0">
                <a:solidFill>
                  <a:srgbClr val="7030A0"/>
                </a:solidFill>
              </a:rPr>
              <a:t>Order</a:t>
            </a:r>
            <a:r>
              <a:rPr lang="en-GB" sz="2800" dirty="0">
                <a:solidFill>
                  <a:srgbClr val="7030A0"/>
                </a:solidFill>
              </a:rPr>
              <a:t>:</a:t>
            </a:r>
          </a:p>
          <a:p>
            <a:pPr lvl="1"/>
            <a:r>
              <a:rPr lang="en-GB" sz="2800" dirty="0">
                <a:solidFill>
                  <a:srgbClr val="7030A0"/>
                </a:solidFill>
              </a:rPr>
              <a:t>1.   </a:t>
            </a:r>
          </a:p>
          <a:p>
            <a:pPr lvl="1"/>
            <a:r>
              <a:rPr lang="en-GB" sz="2800" dirty="0">
                <a:solidFill>
                  <a:srgbClr val="7030A0"/>
                </a:solidFill>
              </a:rPr>
              <a:t>2.   </a:t>
            </a:r>
          </a:p>
          <a:p>
            <a:pPr lvl="1"/>
            <a:r>
              <a:rPr lang="en-GB" sz="2800" dirty="0">
                <a:solidFill>
                  <a:srgbClr val="7030A0"/>
                </a:solidFill>
              </a:rPr>
              <a:t>3.   </a:t>
            </a:r>
          </a:p>
        </p:txBody>
      </p:sp>
      <p:graphicFrame>
        <p:nvGraphicFramePr>
          <p:cNvPr id="22" name="Pet - Table">
            <a:extLst>
              <a:ext uri="{FF2B5EF4-FFF2-40B4-BE49-F238E27FC236}">
                <a16:creationId xmlns:a16="http://schemas.microsoft.com/office/drawing/2014/main" id="{E1C47C29-B1FD-7991-E626-2F12DC1AFFDE}"/>
              </a:ext>
            </a:extLst>
          </p:cNvPr>
          <p:cNvGraphicFramePr>
            <a:graphicFrameLocks noGrp="1"/>
          </p:cNvGraphicFramePr>
          <p:nvPr/>
        </p:nvGraphicFramePr>
        <p:xfrm>
          <a:off x="2746308"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16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a:solidFill>
                            <a:schemeClr val="tx1"/>
                          </a:solidFill>
                          <a:effectLst/>
                        </a:rPr>
                        <a:t>Micky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a:solidFill>
                            <a:schemeClr val="tx1"/>
                          </a:solidFill>
                          <a:effectLst/>
                        </a:rPr>
                        <a:t>Minnie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graphicFrame>
        <p:nvGraphicFramePr>
          <p:cNvPr id="23" name="Temp - Table">
            <a:extLst>
              <a:ext uri="{FF2B5EF4-FFF2-40B4-BE49-F238E27FC236}">
                <a16:creationId xmlns:a16="http://schemas.microsoft.com/office/drawing/2014/main" id="{57FE39BF-DC05-E516-87E6-26364C7BBE24}"/>
              </a:ext>
            </a:extLst>
          </p:cNvPr>
          <p:cNvGraphicFramePr>
            <a:graphicFrameLocks noGrp="1"/>
          </p:cNvGraphicFramePr>
          <p:nvPr/>
        </p:nvGraphicFramePr>
        <p:xfrm>
          <a:off x="5340290"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16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a:solidFill>
                            <a:schemeClr val="tx1"/>
                          </a:solidFill>
                          <a:effectLst/>
                        </a:rPr>
                        <a:t>Micky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a:solidFill>
                            <a:schemeClr val="tx1"/>
                          </a:solidFill>
                          <a:effectLst/>
                        </a:rPr>
                        <a:t>Minnie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graphicFrame>
        <p:nvGraphicFramePr>
          <p:cNvPr id="24" name="Output - Table">
            <a:extLst>
              <a:ext uri="{FF2B5EF4-FFF2-40B4-BE49-F238E27FC236}">
                <a16:creationId xmlns:a16="http://schemas.microsoft.com/office/drawing/2014/main" id="{31F6E6FA-42D3-E5C9-36B8-B7C6109BDE21}"/>
              </a:ext>
            </a:extLst>
          </p:cNvPr>
          <p:cNvGraphicFramePr>
            <a:graphicFrameLocks noGrp="1"/>
          </p:cNvGraphicFramePr>
          <p:nvPr/>
        </p:nvGraphicFramePr>
        <p:xfrm>
          <a:off x="7941154" y="3412595"/>
          <a:ext cx="1254888" cy="129540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442405">
                  <a:extLst>
                    <a:ext uri="{9D8B030D-6E8A-4147-A177-3AD203B41FA5}">
                      <a16:colId xmlns:a16="http://schemas.microsoft.com/office/drawing/2014/main" val="3258369125"/>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Pepper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16</a:t>
                      </a: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7</a:t>
                      </a: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9</a:t>
                      </a:r>
                    </a:p>
                  </a:txBody>
                  <a:tcPr marL="9525" marR="9525" marT="9525" marB="9525" anchor="ctr"/>
                </a:tc>
                <a:extLst>
                  <a:ext uri="{0D108BD9-81ED-4DB2-BD59-A6C34878D82A}">
                    <a16:rowId xmlns:a16="http://schemas.microsoft.com/office/drawing/2014/main" val="812093042"/>
                  </a:ext>
                </a:extLst>
              </a:tr>
            </a:tbl>
          </a:graphicData>
        </a:graphic>
      </p:graphicFrame>
      <p:sp>
        <p:nvSpPr>
          <p:cNvPr id="26" name="Temp - Arrow">
            <a:extLst>
              <a:ext uri="{FF2B5EF4-FFF2-40B4-BE49-F238E27FC236}">
                <a16:creationId xmlns:a16="http://schemas.microsoft.com/office/drawing/2014/main" id="{0812AA0D-71D1-9B9D-4AED-E09E855A4185}"/>
              </a:ext>
            </a:extLst>
          </p:cNvPr>
          <p:cNvSpPr/>
          <p:nvPr/>
        </p:nvSpPr>
        <p:spPr>
          <a:xfrm>
            <a:off x="4827403" y="4748123"/>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utput - Arrow">
            <a:extLst>
              <a:ext uri="{FF2B5EF4-FFF2-40B4-BE49-F238E27FC236}">
                <a16:creationId xmlns:a16="http://schemas.microsoft.com/office/drawing/2014/main" id="{27833E17-04CE-E6AD-804B-EB51B8F41239}"/>
              </a:ext>
            </a:extLst>
          </p:cNvPr>
          <p:cNvSpPr/>
          <p:nvPr/>
        </p:nvSpPr>
        <p:spPr>
          <a:xfrm>
            <a:off x="7438073" y="3928275"/>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Name - Column">
            <a:extLst>
              <a:ext uri="{FF2B5EF4-FFF2-40B4-BE49-F238E27FC236}">
                <a16:creationId xmlns:a16="http://schemas.microsoft.com/office/drawing/2014/main" id="{9CFD6623-90F9-8CA0-585A-959ADF79ADE1}"/>
              </a:ext>
            </a:extLst>
          </p:cNvPr>
          <p:cNvSpPr/>
          <p:nvPr/>
        </p:nvSpPr>
        <p:spPr>
          <a:xfrm>
            <a:off x="5333994" y="3349977"/>
            <a:ext cx="792000" cy="30603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Age - Column">
            <a:extLst>
              <a:ext uri="{FF2B5EF4-FFF2-40B4-BE49-F238E27FC236}">
                <a16:creationId xmlns:a16="http://schemas.microsoft.com/office/drawing/2014/main" id="{F8908677-B9D0-5945-93E8-1112E85882A9}"/>
              </a:ext>
            </a:extLst>
          </p:cNvPr>
          <p:cNvSpPr/>
          <p:nvPr/>
        </p:nvSpPr>
        <p:spPr>
          <a:xfrm>
            <a:off x="6928707" y="3349977"/>
            <a:ext cx="468000" cy="30603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Pepper - Row">
            <a:extLst>
              <a:ext uri="{FF2B5EF4-FFF2-40B4-BE49-F238E27FC236}">
                <a16:creationId xmlns:a16="http://schemas.microsoft.com/office/drawing/2014/main" id="{D91C0E01-A6BE-4A60-8F93-0BBA5801C23F}"/>
              </a:ext>
            </a:extLst>
          </p:cNvPr>
          <p:cNvSpPr/>
          <p:nvPr/>
        </p:nvSpPr>
        <p:spPr>
          <a:xfrm>
            <a:off x="5311221" y="3725694"/>
            <a:ext cx="2124000" cy="312791"/>
          </a:xfrm>
          <a:prstGeom prst="rect">
            <a:avLst/>
          </a:prstGeom>
          <a:noFill/>
          <a:ln w="28575">
            <a:solidFill>
              <a:srgbClr val="FF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Snowy - Row">
            <a:extLst>
              <a:ext uri="{FF2B5EF4-FFF2-40B4-BE49-F238E27FC236}">
                <a16:creationId xmlns:a16="http://schemas.microsoft.com/office/drawing/2014/main" id="{CE0478C3-5F85-4F8D-AAFC-F12F58437907}"/>
              </a:ext>
            </a:extLst>
          </p:cNvPr>
          <p:cNvSpPr/>
          <p:nvPr/>
        </p:nvSpPr>
        <p:spPr>
          <a:xfrm>
            <a:off x="5308481" y="4382898"/>
            <a:ext cx="2124000" cy="312791"/>
          </a:xfrm>
          <a:prstGeom prst="rect">
            <a:avLst/>
          </a:prstGeom>
          <a:noFill/>
          <a:ln w="28575">
            <a:solidFill>
              <a:srgbClr val="FF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Kitty - Row">
            <a:extLst>
              <a:ext uri="{FF2B5EF4-FFF2-40B4-BE49-F238E27FC236}">
                <a16:creationId xmlns:a16="http://schemas.microsoft.com/office/drawing/2014/main" id="{BE13FF1D-AE89-48DE-9545-FC614FA1848F}"/>
              </a:ext>
            </a:extLst>
          </p:cNvPr>
          <p:cNvSpPr/>
          <p:nvPr/>
        </p:nvSpPr>
        <p:spPr>
          <a:xfrm>
            <a:off x="5308480" y="5346528"/>
            <a:ext cx="2124000" cy="312791"/>
          </a:xfrm>
          <a:prstGeom prst="rect">
            <a:avLst/>
          </a:prstGeom>
          <a:noFill/>
          <a:ln w="28575">
            <a:solidFill>
              <a:srgbClr val="FF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Pepper - Yellow">
            <a:extLst>
              <a:ext uri="{FF2B5EF4-FFF2-40B4-BE49-F238E27FC236}">
                <a16:creationId xmlns:a16="http://schemas.microsoft.com/office/drawing/2014/main" id="{E3E80C3B-A12B-4BB4-8CEF-16AB911AA2D2}"/>
              </a:ext>
            </a:extLst>
          </p:cNvPr>
          <p:cNvSpPr/>
          <p:nvPr/>
        </p:nvSpPr>
        <p:spPr>
          <a:xfrm>
            <a:off x="6135722" y="3725897"/>
            <a:ext cx="792000"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Snowy - Yellow">
            <a:extLst>
              <a:ext uri="{FF2B5EF4-FFF2-40B4-BE49-F238E27FC236}">
                <a16:creationId xmlns:a16="http://schemas.microsoft.com/office/drawing/2014/main" id="{F2A2FD4D-D5A1-4882-9270-445588B3BF14}"/>
              </a:ext>
            </a:extLst>
          </p:cNvPr>
          <p:cNvSpPr/>
          <p:nvPr/>
        </p:nvSpPr>
        <p:spPr>
          <a:xfrm>
            <a:off x="6135722" y="4387830"/>
            <a:ext cx="792000"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Kitty - Yellow">
            <a:extLst>
              <a:ext uri="{FF2B5EF4-FFF2-40B4-BE49-F238E27FC236}">
                <a16:creationId xmlns:a16="http://schemas.microsoft.com/office/drawing/2014/main" id="{02546B7F-2DFC-4F0E-BC48-161A956E6261}"/>
              </a:ext>
            </a:extLst>
          </p:cNvPr>
          <p:cNvSpPr/>
          <p:nvPr/>
        </p:nvSpPr>
        <p:spPr>
          <a:xfrm>
            <a:off x="6141738" y="5353678"/>
            <a:ext cx="792000"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Where 2 - Arrow">
            <a:extLst>
              <a:ext uri="{FF2B5EF4-FFF2-40B4-BE49-F238E27FC236}">
                <a16:creationId xmlns:a16="http://schemas.microsoft.com/office/drawing/2014/main" id="{9FC6139A-DFAA-47AE-9247-10271BCD7ACF}"/>
              </a:ext>
            </a:extLst>
          </p:cNvPr>
          <p:cNvSpPr/>
          <p:nvPr/>
        </p:nvSpPr>
        <p:spPr>
          <a:xfrm rot="5400000">
            <a:off x="6269019" y="2982044"/>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Name - Arrow">
            <a:extLst>
              <a:ext uri="{FF2B5EF4-FFF2-40B4-BE49-F238E27FC236}">
                <a16:creationId xmlns:a16="http://schemas.microsoft.com/office/drawing/2014/main" id="{74743580-1BBD-44D1-9B4B-3FCD69A573CA}"/>
              </a:ext>
            </a:extLst>
          </p:cNvPr>
          <p:cNvCxnSpPr>
            <a:cxnSpLocks/>
            <a:endCxn id="29" idx="0"/>
          </p:cNvCxnSpPr>
          <p:nvPr/>
        </p:nvCxnSpPr>
        <p:spPr>
          <a:xfrm flipH="1">
            <a:off x="5729994" y="2236567"/>
            <a:ext cx="342259" cy="1113410"/>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 name="Age - Arrow">
            <a:extLst>
              <a:ext uri="{FF2B5EF4-FFF2-40B4-BE49-F238E27FC236}">
                <a16:creationId xmlns:a16="http://schemas.microsoft.com/office/drawing/2014/main" id="{4A59694F-BFA9-47E0-AA51-53E4E5936D1D}"/>
              </a:ext>
            </a:extLst>
          </p:cNvPr>
          <p:cNvCxnSpPr>
            <a:cxnSpLocks/>
            <a:endCxn id="30" idx="0"/>
          </p:cNvCxnSpPr>
          <p:nvPr/>
        </p:nvCxnSpPr>
        <p:spPr>
          <a:xfrm>
            <a:off x="6923213" y="2236567"/>
            <a:ext cx="239494" cy="1113410"/>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16607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Filter Results: Number</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colour</a:t>
            </a:r>
            <a:r>
              <a:rPr lang="en-US" altLang="en-US" sz="4400" dirty="0">
                <a:solidFill>
                  <a:srgbClr val="000000"/>
                </a:solidFill>
                <a:latin typeface="Consolas" panose="020B0609020204030204" pitchFamily="49" charset="0"/>
              </a:rPr>
              <a:t>, score, height</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height &lt; </a:t>
            </a:r>
            <a:r>
              <a:rPr lang="en-US" altLang="en-US" sz="4400" dirty="0">
                <a:solidFill>
                  <a:srgbClr val="0086B3"/>
                </a:solidFill>
                <a:latin typeface="Consolas" panose="020B0609020204030204" pitchFamily="49" charset="0"/>
              </a:rPr>
              <a:t>1.1</a:t>
            </a:r>
            <a:r>
              <a:rPr lang="en-US" altLang="en-US" sz="4400" dirty="0">
                <a:solidFill>
                  <a:srgbClr val="000000"/>
                </a:solidFill>
                <a:latin typeface="Consolas" panose="020B0609020204030204" pitchFamily="49" charset="0"/>
              </a:rPr>
              <a:t>;</a:t>
            </a:r>
            <a:br>
              <a:rPr lang="en-US" altLang="en-US" sz="44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
        <p:nvSpPr>
          <p:cNvPr id="10" name="TextBox 9">
            <a:extLst>
              <a:ext uri="{FF2B5EF4-FFF2-40B4-BE49-F238E27FC236}">
                <a16:creationId xmlns:a16="http://schemas.microsoft.com/office/drawing/2014/main" id="{DF4BA8FF-524A-4C13-87BF-68801971FA28}"/>
              </a:ext>
            </a:extLst>
          </p:cNvPr>
          <p:cNvSpPr txBox="1"/>
          <p:nvPr/>
        </p:nvSpPr>
        <p:spPr>
          <a:xfrm>
            <a:off x="1610704" y="5665569"/>
            <a:ext cx="8970597" cy="646331"/>
          </a:xfrm>
          <a:prstGeom prst="rect">
            <a:avLst/>
          </a:prstGeom>
          <a:noFill/>
        </p:spPr>
        <p:txBody>
          <a:bodyPr wrap="none" rtlCol="0">
            <a:spAutoFit/>
          </a:bodyPr>
          <a:lstStyle/>
          <a:p>
            <a:pPr algn="ctr"/>
            <a:r>
              <a:rPr lang="en-GB" sz="3600" dirty="0">
                <a:solidFill>
                  <a:srgbClr val="7030A0"/>
                </a:solidFill>
              </a:rPr>
              <a:t>If the condition is </a:t>
            </a:r>
            <a:r>
              <a:rPr lang="en-GB" sz="3600" dirty="0">
                <a:solidFill>
                  <a:srgbClr val="7030A0"/>
                </a:solidFill>
                <a:latin typeface="Consolas" panose="020B0609020204030204" pitchFamily="49" charset="0"/>
              </a:rPr>
              <a:t>TRUE</a:t>
            </a:r>
            <a:r>
              <a:rPr lang="en-GB" sz="3600" dirty="0">
                <a:solidFill>
                  <a:srgbClr val="7030A0"/>
                </a:solidFill>
              </a:rPr>
              <a:t> the fields are displayed</a:t>
            </a:r>
            <a:endParaRPr lang="en-GB" sz="3600" dirty="0">
              <a:solidFill>
                <a:srgbClr val="7030A0"/>
              </a:solidFill>
              <a:latin typeface="Consolas" panose="020B0609020204030204" pitchFamily="49" charset="0"/>
            </a:endParaRPr>
          </a:p>
        </p:txBody>
      </p:sp>
      <p:grpSp>
        <p:nvGrpSpPr>
          <p:cNvPr id="4" name="Group 3">
            <a:extLst>
              <a:ext uri="{FF2B5EF4-FFF2-40B4-BE49-F238E27FC236}">
                <a16:creationId xmlns:a16="http://schemas.microsoft.com/office/drawing/2014/main" id="{432720F6-91B9-89B6-4B76-AEE68AF5098D}"/>
              </a:ext>
            </a:extLst>
          </p:cNvPr>
          <p:cNvGrpSpPr/>
          <p:nvPr/>
        </p:nvGrpSpPr>
        <p:grpSpPr>
          <a:xfrm>
            <a:off x="6134100" y="4001294"/>
            <a:ext cx="2195944" cy="1134107"/>
            <a:chOff x="6078651" y="2149231"/>
            <a:chExt cx="8132274" cy="1134107"/>
          </a:xfrm>
        </p:grpSpPr>
        <p:cxnSp>
          <p:nvCxnSpPr>
            <p:cNvPr id="8" name="Straight Connector 7">
              <a:extLst>
                <a:ext uri="{FF2B5EF4-FFF2-40B4-BE49-F238E27FC236}">
                  <a16:creationId xmlns:a16="http://schemas.microsoft.com/office/drawing/2014/main" id="{B6EC09FC-B0B0-944B-BFBC-36CF9AC74828}"/>
                </a:ext>
              </a:extLst>
            </p:cNvPr>
            <p:cNvCxnSpPr>
              <a:cxnSpLocks/>
            </p:cNvCxnSpPr>
            <p:nvPr/>
          </p:nvCxnSpPr>
          <p:spPr>
            <a:xfrm>
              <a:off x="8269096" y="2149231"/>
              <a:ext cx="3751385"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D87003C-85F5-2875-9F9C-98F107A43EBA}"/>
                </a:ext>
              </a:extLst>
            </p:cNvPr>
            <p:cNvCxnSpPr>
              <a:cxnSpLocks/>
            </p:cNvCxnSpPr>
            <p:nvPr/>
          </p:nvCxnSpPr>
          <p:spPr>
            <a:xfrm flipV="1">
              <a:off x="10144788" y="2149231"/>
              <a:ext cx="0" cy="18000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E44B587-6529-CB28-4761-5569B8233C52}"/>
                </a:ext>
              </a:extLst>
            </p:cNvPr>
            <p:cNvSpPr txBox="1"/>
            <p:nvPr/>
          </p:nvSpPr>
          <p:spPr>
            <a:xfrm>
              <a:off x="6078651" y="2329231"/>
              <a:ext cx="8132274" cy="954107"/>
            </a:xfrm>
            <a:prstGeom prst="rect">
              <a:avLst/>
            </a:prstGeom>
            <a:noFill/>
          </p:spPr>
          <p:txBody>
            <a:bodyPr wrap="square" rtlCol="0">
              <a:spAutoFit/>
            </a:bodyPr>
            <a:lstStyle/>
            <a:p>
              <a:pPr algn="ctr"/>
              <a:r>
                <a:rPr lang="en-GB" sz="2800" b="1" dirty="0">
                  <a:solidFill>
                    <a:srgbClr val="7030A0"/>
                  </a:solidFill>
                </a:rPr>
                <a:t>Integer or Real</a:t>
              </a:r>
            </a:p>
          </p:txBody>
        </p:sp>
      </p:grpSp>
    </p:spTree>
    <p:extLst>
      <p:ext uri="{BB962C8B-B14F-4D97-AF65-F5344CB8AC3E}">
        <p14:creationId xmlns:p14="http://schemas.microsoft.com/office/powerpoint/2010/main" val="2796949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3000"/>
                                        <p:tgtEl>
                                          <p:spTgt spid="3">
                                            <p:txEl>
                                              <p:pRg st="0" end="0"/>
                                            </p:txEl>
                                          </p:spTgt>
                                        </p:tgtEl>
                                      </p:cBhvr>
                                    </p:animEffect>
                                  </p:childTnLst>
                                </p:cTn>
                              </p:par>
                            </p:childTnLst>
                          </p:cTn>
                        </p:par>
                        <p:par>
                          <p:cTn id="8" fill="hold">
                            <p:stCondLst>
                              <p:cond delay="30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1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20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37"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arn(outVertical)">
                                      <p:cBhvr>
                                        <p:cTn id="21" dur="10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xEl>
                                              <p:pRg st="0" end="0"/>
                                            </p:txEl>
                                          </p:spTgt>
                                        </p:tgtEl>
                                        <p:attrNameLst>
                                          <p:attrName>style.visibility</p:attrName>
                                        </p:attrNameLst>
                                      </p:cBhvr>
                                      <p:to>
                                        <p:strVal val="visible"/>
                                      </p:to>
                                    </p:set>
                                    <p:animEffect transition="in" filter="wipe(left)">
                                      <p:cBhvr>
                                        <p:cTn id="26" dur="2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build="p"/>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Filter Results: Number</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colour</a:t>
            </a:r>
            <a:r>
              <a:rPr lang="en-US" altLang="en-US" sz="4400" dirty="0">
                <a:solidFill>
                  <a:srgbClr val="000000"/>
                </a:solidFill>
                <a:latin typeface="Consolas" panose="020B0609020204030204" pitchFamily="49" charset="0"/>
              </a:rPr>
              <a:t>, score, height</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height &lt; </a:t>
            </a:r>
            <a:r>
              <a:rPr lang="en-US" altLang="en-US" sz="4400" dirty="0">
                <a:solidFill>
                  <a:srgbClr val="0086B3"/>
                </a:solidFill>
                <a:latin typeface="Consolas" panose="020B0609020204030204" pitchFamily="49" charset="0"/>
              </a:rPr>
              <a:t>1.1</a:t>
            </a:r>
            <a:r>
              <a:rPr lang="en-US" altLang="en-US" sz="4400" dirty="0">
                <a:solidFill>
                  <a:srgbClr val="000000"/>
                </a:solidFill>
                <a:latin typeface="Consolas" panose="020B0609020204030204" pitchFamily="49" charset="0"/>
              </a:rPr>
              <a:t>;</a:t>
            </a:r>
            <a:br>
              <a:rPr lang="en-US" altLang="en-US" sz="44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
        <p:nvSpPr>
          <p:cNvPr id="5" name="TextBox 4">
            <a:extLst>
              <a:ext uri="{FF2B5EF4-FFF2-40B4-BE49-F238E27FC236}">
                <a16:creationId xmlns:a16="http://schemas.microsoft.com/office/drawing/2014/main" id="{5822FB63-4B4A-604A-FAE8-2ECE9D3336F1}"/>
              </a:ext>
            </a:extLst>
          </p:cNvPr>
          <p:cNvSpPr txBox="1"/>
          <p:nvPr/>
        </p:nvSpPr>
        <p:spPr>
          <a:xfrm>
            <a:off x="1484065" y="5665569"/>
            <a:ext cx="9223872" cy="646331"/>
          </a:xfrm>
          <a:prstGeom prst="rect">
            <a:avLst/>
          </a:prstGeom>
          <a:noFill/>
        </p:spPr>
        <p:txBody>
          <a:bodyPr wrap="none" rtlCol="0">
            <a:spAutoFit/>
          </a:bodyPr>
          <a:lstStyle/>
          <a:p>
            <a:pPr algn="ctr"/>
            <a:r>
              <a:rPr lang="en-GB" sz="3600" dirty="0">
                <a:solidFill>
                  <a:srgbClr val="7030A0"/>
                </a:solidFill>
              </a:rPr>
              <a:t>If the condition is </a:t>
            </a:r>
            <a:r>
              <a:rPr lang="en-GB" sz="3600" dirty="0">
                <a:solidFill>
                  <a:srgbClr val="7030A0"/>
                </a:solidFill>
                <a:latin typeface="Consolas" panose="020B0609020204030204" pitchFamily="49" charset="0"/>
              </a:rPr>
              <a:t>     </a:t>
            </a:r>
            <a:r>
              <a:rPr lang="en-GB" sz="3600" dirty="0">
                <a:solidFill>
                  <a:srgbClr val="7030A0"/>
                </a:solidFill>
              </a:rPr>
              <a:t> the fields are displayed</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34838621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Filter Results: Date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dob, </a:t>
            </a:r>
            <a:r>
              <a:rPr lang="en-US" altLang="en-US" sz="4400" dirty="0">
                <a:latin typeface="Consolas" panose="020B0609020204030204" pitchFamily="49" charset="0"/>
              </a:rPr>
              <a:t>start</a:t>
            </a:r>
            <a:r>
              <a:rPr lang="en-US" altLang="en-US" sz="4400" dirty="0">
                <a:solidFill>
                  <a:srgbClr val="000000"/>
                </a:solidFill>
                <a:latin typeface="Consolas" panose="020B0609020204030204" pitchFamily="49" charset="0"/>
              </a:rPr>
              <a:t>, nice</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dob &gt; </a:t>
            </a:r>
            <a:r>
              <a:rPr lang="en-US" altLang="en-US" sz="4400" dirty="0">
                <a:solidFill>
                  <a:srgbClr val="183691"/>
                </a:solidFill>
                <a:latin typeface="Consolas" panose="020B0609020204030204" pitchFamily="49" charset="0"/>
              </a:rPr>
              <a:t>"1999-12-31"</a:t>
            </a:r>
            <a:r>
              <a:rPr lang="en-US" altLang="en-US" sz="44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10" name="TextBox 9">
            <a:extLst>
              <a:ext uri="{FF2B5EF4-FFF2-40B4-BE49-F238E27FC236}">
                <a16:creationId xmlns:a16="http://schemas.microsoft.com/office/drawing/2014/main" id="{DF4BA8FF-524A-4C13-87BF-68801971FA28}"/>
              </a:ext>
            </a:extLst>
          </p:cNvPr>
          <p:cNvSpPr txBox="1"/>
          <p:nvPr/>
        </p:nvSpPr>
        <p:spPr>
          <a:xfrm>
            <a:off x="1610704" y="5665569"/>
            <a:ext cx="8970597" cy="646331"/>
          </a:xfrm>
          <a:prstGeom prst="rect">
            <a:avLst/>
          </a:prstGeom>
          <a:noFill/>
        </p:spPr>
        <p:txBody>
          <a:bodyPr wrap="none" rtlCol="0">
            <a:spAutoFit/>
          </a:bodyPr>
          <a:lstStyle/>
          <a:p>
            <a:pPr algn="ctr"/>
            <a:r>
              <a:rPr lang="en-GB" sz="3600" dirty="0">
                <a:solidFill>
                  <a:srgbClr val="7030A0"/>
                </a:solidFill>
              </a:rPr>
              <a:t>If the condition is </a:t>
            </a:r>
            <a:r>
              <a:rPr lang="en-GB" sz="3600" dirty="0">
                <a:solidFill>
                  <a:srgbClr val="7030A0"/>
                </a:solidFill>
                <a:latin typeface="Consolas" panose="020B0609020204030204" pitchFamily="49" charset="0"/>
              </a:rPr>
              <a:t>TRUE</a:t>
            </a:r>
            <a:r>
              <a:rPr lang="en-GB" sz="3600" dirty="0">
                <a:solidFill>
                  <a:srgbClr val="7030A0"/>
                </a:solidFill>
              </a:rPr>
              <a:t> the fields are displayed</a:t>
            </a:r>
            <a:endParaRPr lang="en-GB" sz="3600" dirty="0">
              <a:solidFill>
                <a:srgbClr val="7030A0"/>
              </a:solidFill>
              <a:latin typeface="Consolas" panose="020B0609020204030204" pitchFamily="49" charset="0"/>
            </a:endParaRPr>
          </a:p>
        </p:txBody>
      </p:sp>
      <p:grpSp>
        <p:nvGrpSpPr>
          <p:cNvPr id="4" name="Group 3">
            <a:extLst>
              <a:ext uri="{FF2B5EF4-FFF2-40B4-BE49-F238E27FC236}">
                <a16:creationId xmlns:a16="http://schemas.microsoft.com/office/drawing/2014/main" id="{860451F6-55B1-DDC3-8240-875A85DA400D}"/>
              </a:ext>
            </a:extLst>
          </p:cNvPr>
          <p:cNvGrpSpPr/>
          <p:nvPr/>
        </p:nvGrpSpPr>
        <p:grpSpPr>
          <a:xfrm>
            <a:off x="6193802" y="4001294"/>
            <a:ext cx="2906209" cy="707500"/>
            <a:chOff x="8269096" y="2149231"/>
            <a:chExt cx="3751385" cy="707500"/>
          </a:xfrm>
        </p:grpSpPr>
        <p:cxnSp>
          <p:nvCxnSpPr>
            <p:cNvPr id="8" name="Straight Connector 7">
              <a:extLst>
                <a:ext uri="{FF2B5EF4-FFF2-40B4-BE49-F238E27FC236}">
                  <a16:creationId xmlns:a16="http://schemas.microsoft.com/office/drawing/2014/main" id="{92AB2604-1114-296B-DF65-A3795D21E052}"/>
                </a:ext>
              </a:extLst>
            </p:cNvPr>
            <p:cNvCxnSpPr>
              <a:cxnSpLocks/>
            </p:cNvCxnSpPr>
            <p:nvPr/>
          </p:nvCxnSpPr>
          <p:spPr>
            <a:xfrm>
              <a:off x="8269096" y="2149231"/>
              <a:ext cx="3751385"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9B3FC9F-46AB-8266-0753-9469CEC6A5E8}"/>
                </a:ext>
              </a:extLst>
            </p:cNvPr>
            <p:cNvCxnSpPr>
              <a:cxnSpLocks/>
            </p:cNvCxnSpPr>
            <p:nvPr/>
          </p:nvCxnSpPr>
          <p:spPr>
            <a:xfrm flipV="1">
              <a:off x="10144788" y="2149231"/>
              <a:ext cx="0" cy="18000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CB964CF-78EC-A6B3-5C0F-DEB42908FC81}"/>
                </a:ext>
              </a:extLst>
            </p:cNvPr>
            <p:cNvSpPr txBox="1"/>
            <p:nvPr/>
          </p:nvSpPr>
          <p:spPr>
            <a:xfrm>
              <a:off x="8534911" y="2333511"/>
              <a:ext cx="3219752" cy="523220"/>
            </a:xfrm>
            <a:prstGeom prst="rect">
              <a:avLst/>
            </a:prstGeom>
            <a:noFill/>
          </p:spPr>
          <p:txBody>
            <a:bodyPr wrap="square" rtlCol="0">
              <a:spAutoFit/>
            </a:bodyPr>
            <a:lstStyle/>
            <a:p>
              <a:pPr algn="ctr"/>
              <a:r>
                <a:rPr lang="en-GB" sz="2800" b="1" dirty="0" err="1">
                  <a:solidFill>
                    <a:srgbClr val="7030A0"/>
                  </a:solidFill>
                </a:rPr>
                <a:t>YYYY</a:t>
              </a:r>
              <a:r>
                <a:rPr lang="en-GB" sz="2800" b="1" dirty="0">
                  <a:solidFill>
                    <a:srgbClr val="7030A0"/>
                  </a:solidFill>
                </a:rPr>
                <a:t>-MM-DD</a:t>
              </a:r>
            </a:p>
          </p:txBody>
        </p:sp>
      </p:grpSp>
    </p:spTree>
    <p:extLst>
      <p:ext uri="{BB962C8B-B14F-4D97-AF65-F5344CB8AC3E}">
        <p14:creationId xmlns:p14="http://schemas.microsoft.com/office/powerpoint/2010/main" val="3656827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250"/>
                                        <p:tgtEl>
                                          <p:spTgt spid="3">
                                            <p:txEl>
                                              <p:pRg st="0" end="0"/>
                                            </p:txEl>
                                          </p:spTgt>
                                        </p:tgtEl>
                                      </p:cBhvr>
                                    </p:animEffect>
                                  </p:childTnLst>
                                </p:cTn>
                              </p:par>
                            </p:childTnLst>
                          </p:cTn>
                        </p:par>
                        <p:par>
                          <p:cTn id="8" fill="hold">
                            <p:stCondLst>
                              <p:cond delay="225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20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2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37"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arn(outVertical)">
                                      <p:cBhvr>
                                        <p:cTn id="21" dur="10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xEl>
                                              <p:pRg st="0" end="0"/>
                                            </p:txEl>
                                          </p:spTgt>
                                        </p:tgtEl>
                                        <p:attrNameLst>
                                          <p:attrName>style.visibility</p:attrName>
                                        </p:attrNameLst>
                                      </p:cBhvr>
                                      <p:to>
                                        <p:strVal val="visible"/>
                                      </p:to>
                                    </p:set>
                                    <p:animEffect transition="in" filter="wipe(left)">
                                      <p:cBhvr>
                                        <p:cTn id="26" dur="2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build="p"/>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Filter Results: Date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dob, </a:t>
            </a:r>
            <a:r>
              <a:rPr lang="en-US" altLang="en-US" sz="4400" dirty="0">
                <a:latin typeface="Consolas" panose="020B0609020204030204" pitchFamily="49" charset="0"/>
              </a:rPr>
              <a:t>start</a:t>
            </a:r>
            <a:r>
              <a:rPr lang="en-US" altLang="en-US" sz="4400" dirty="0">
                <a:solidFill>
                  <a:srgbClr val="000000"/>
                </a:solidFill>
                <a:latin typeface="Consolas" panose="020B0609020204030204" pitchFamily="49" charset="0"/>
              </a:rPr>
              <a:t>, nice</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dob &gt; </a:t>
            </a:r>
            <a:r>
              <a:rPr lang="en-US" altLang="en-US" sz="4400" dirty="0">
                <a:solidFill>
                  <a:srgbClr val="183691"/>
                </a:solidFill>
                <a:latin typeface="Consolas" panose="020B0609020204030204" pitchFamily="49" charset="0"/>
              </a:rPr>
              <a:t>"1999-12-31"</a:t>
            </a:r>
            <a:r>
              <a:rPr lang="en-US" altLang="en-US" sz="44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4" name="TextBox 3">
            <a:extLst>
              <a:ext uri="{FF2B5EF4-FFF2-40B4-BE49-F238E27FC236}">
                <a16:creationId xmlns:a16="http://schemas.microsoft.com/office/drawing/2014/main" id="{14CEF0DA-2F39-457F-8C37-914C2EA08B19}"/>
              </a:ext>
            </a:extLst>
          </p:cNvPr>
          <p:cNvSpPr txBox="1"/>
          <p:nvPr/>
        </p:nvSpPr>
        <p:spPr>
          <a:xfrm>
            <a:off x="1484064" y="5665569"/>
            <a:ext cx="9223872" cy="646331"/>
          </a:xfrm>
          <a:prstGeom prst="rect">
            <a:avLst/>
          </a:prstGeom>
          <a:noFill/>
        </p:spPr>
        <p:txBody>
          <a:bodyPr wrap="none" rtlCol="0">
            <a:spAutoFit/>
          </a:bodyPr>
          <a:lstStyle/>
          <a:p>
            <a:pPr algn="ctr"/>
            <a:r>
              <a:rPr lang="en-GB" sz="3600" dirty="0">
                <a:solidFill>
                  <a:srgbClr val="7030A0"/>
                </a:solidFill>
              </a:rPr>
              <a:t>If the condition is </a:t>
            </a:r>
            <a:r>
              <a:rPr lang="en-GB" sz="3600" dirty="0">
                <a:solidFill>
                  <a:srgbClr val="7030A0"/>
                </a:solidFill>
                <a:latin typeface="Consolas" panose="020B0609020204030204" pitchFamily="49" charset="0"/>
              </a:rPr>
              <a:t>     </a:t>
            </a:r>
            <a:r>
              <a:rPr lang="en-GB" sz="3600" dirty="0">
                <a:solidFill>
                  <a:srgbClr val="7030A0"/>
                </a:solidFill>
              </a:rPr>
              <a:t> the fields are displayed</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8184046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Filter Results: Time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dob, </a:t>
            </a:r>
            <a:r>
              <a:rPr lang="en-US" altLang="en-US" sz="4400" dirty="0">
                <a:latin typeface="Consolas" panose="020B0609020204030204" pitchFamily="49" charset="0"/>
              </a:rPr>
              <a:t>start</a:t>
            </a:r>
            <a:r>
              <a:rPr lang="en-US" altLang="en-US" sz="4400" dirty="0">
                <a:solidFill>
                  <a:srgbClr val="000000"/>
                </a:solidFill>
                <a:latin typeface="Consolas" panose="020B0609020204030204" pitchFamily="49" charset="0"/>
              </a:rPr>
              <a:t>, nice</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 </a:t>
            </a:r>
            <a:r>
              <a:rPr lang="en-US" altLang="en-US" sz="4400" dirty="0">
                <a:latin typeface="Consolas" panose="020B0609020204030204" pitchFamily="49" charset="0"/>
              </a:rPr>
              <a:t>start</a:t>
            </a:r>
            <a:r>
              <a:rPr lang="en-US" altLang="en-US" sz="4400" dirty="0">
                <a:solidFill>
                  <a:srgbClr val="000000"/>
                </a:solidFill>
                <a:latin typeface="Consolas" panose="020B0609020204030204" pitchFamily="49" charset="0"/>
              </a:rPr>
              <a:t> &gt;= </a:t>
            </a:r>
            <a:r>
              <a:rPr lang="en-US" altLang="en-US" sz="4400" dirty="0">
                <a:solidFill>
                  <a:srgbClr val="183691"/>
                </a:solidFill>
                <a:latin typeface="Consolas" panose="020B0609020204030204" pitchFamily="49" charset="0"/>
              </a:rPr>
              <a:t>"13:10:00"</a:t>
            </a:r>
            <a:r>
              <a:rPr lang="en-US" altLang="en-US" sz="4400" dirty="0">
                <a:solidFill>
                  <a:srgbClr val="000000"/>
                </a:solidFill>
                <a:latin typeface="Consolas" panose="020B0609020204030204" pitchFamily="49" charset="0"/>
              </a:rPr>
              <a:t>;</a:t>
            </a:r>
            <a:r>
              <a:rPr lang="en-US" altLang="en-US" sz="4400" dirty="0">
                <a:solidFill>
                  <a:srgbClr val="B2B2B2"/>
                </a:solidFill>
                <a:latin typeface="Consolas" panose="020B0609020204030204" pitchFamily="49" charset="0"/>
              </a:rPr>
              <a:t> </a:t>
            </a:r>
            <a:br>
              <a:rPr lang="en-US" altLang="en-US" sz="44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
        <p:nvSpPr>
          <p:cNvPr id="10" name="TextBox 9">
            <a:extLst>
              <a:ext uri="{FF2B5EF4-FFF2-40B4-BE49-F238E27FC236}">
                <a16:creationId xmlns:a16="http://schemas.microsoft.com/office/drawing/2014/main" id="{DF4BA8FF-524A-4C13-87BF-68801971FA28}"/>
              </a:ext>
            </a:extLst>
          </p:cNvPr>
          <p:cNvSpPr txBox="1"/>
          <p:nvPr/>
        </p:nvSpPr>
        <p:spPr>
          <a:xfrm>
            <a:off x="1610702" y="5665569"/>
            <a:ext cx="8970597" cy="646331"/>
          </a:xfrm>
          <a:prstGeom prst="rect">
            <a:avLst/>
          </a:prstGeom>
          <a:noFill/>
        </p:spPr>
        <p:txBody>
          <a:bodyPr wrap="none" rtlCol="0">
            <a:spAutoFit/>
          </a:bodyPr>
          <a:lstStyle/>
          <a:p>
            <a:pPr algn="ctr"/>
            <a:r>
              <a:rPr lang="en-GB" sz="3600" dirty="0">
                <a:solidFill>
                  <a:srgbClr val="7030A0"/>
                </a:solidFill>
              </a:rPr>
              <a:t>If the condition is </a:t>
            </a:r>
            <a:r>
              <a:rPr lang="en-GB" sz="3600" dirty="0">
                <a:solidFill>
                  <a:srgbClr val="7030A0"/>
                </a:solidFill>
                <a:latin typeface="Consolas" panose="020B0609020204030204" pitchFamily="49" charset="0"/>
              </a:rPr>
              <a:t>TRUE</a:t>
            </a:r>
            <a:r>
              <a:rPr lang="en-GB" sz="3600" dirty="0">
                <a:solidFill>
                  <a:srgbClr val="7030A0"/>
                </a:solidFill>
              </a:rPr>
              <a:t> the fields are displayed</a:t>
            </a:r>
            <a:endParaRPr lang="en-GB" sz="3600" dirty="0">
              <a:solidFill>
                <a:srgbClr val="7030A0"/>
              </a:solidFill>
              <a:latin typeface="Consolas" panose="020B0609020204030204" pitchFamily="49" charset="0"/>
            </a:endParaRPr>
          </a:p>
        </p:txBody>
      </p:sp>
      <p:grpSp>
        <p:nvGrpSpPr>
          <p:cNvPr id="7" name="Group 6">
            <a:extLst>
              <a:ext uri="{FF2B5EF4-FFF2-40B4-BE49-F238E27FC236}">
                <a16:creationId xmlns:a16="http://schemas.microsoft.com/office/drawing/2014/main" id="{2B4E7A30-D1F0-3CDA-1468-D9BF41B96117}"/>
              </a:ext>
            </a:extLst>
          </p:cNvPr>
          <p:cNvGrpSpPr/>
          <p:nvPr/>
        </p:nvGrpSpPr>
        <p:grpSpPr>
          <a:xfrm>
            <a:off x="7157231" y="3991545"/>
            <a:ext cx="2353115" cy="707500"/>
            <a:chOff x="8269096" y="2149231"/>
            <a:chExt cx="3751385" cy="707500"/>
          </a:xfrm>
        </p:grpSpPr>
        <p:cxnSp>
          <p:nvCxnSpPr>
            <p:cNvPr id="8" name="Straight Connector 7">
              <a:extLst>
                <a:ext uri="{FF2B5EF4-FFF2-40B4-BE49-F238E27FC236}">
                  <a16:creationId xmlns:a16="http://schemas.microsoft.com/office/drawing/2014/main" id="{C6E16DF4-0F9F-CD08-4EA3-42E8C86AFD2D}"/>
                </a:ext>
              </a:extLst>
            </p:cNvPr>
            <p:cNvCxnSpPr>
              <a:cxnSpLocks/>
            </p:cNvCxnSpPr>
            <p:nvPr/>
          </p:nvCxnSpPr>
          <p:spPr>
            <a:xfrm>
              <a:off x="8269096" y="2149231"/>
              <a:ext cx="3751385"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B3EB81C-DBA9-D000-F007-8E2CCD88B8BF}"/>
                </a:ext>
              </a:extLst>
            </p:cNvPr>
            <p:cNvCxnSpPr>
              <a:cxnSpLocks/>
            </p:cNvCxnSpPr>
            <p:nvPr/>
          </p:nvCxnSpPr>
          <p:spPr>
            <a:xfrm flipV="1">
              <a:off x="10144788" y="2149231"/>
              <a:ext cx="0" cy="18000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3696ED5-948B-5EE0-11B6-C6D9C2D7321E}"/>
                </a:ext>
              </a:extLst>
            </p:cNvPr>
            <p:cNvSpPr txBox="1"/>
            <p:nvPr/>
          </p:nvSpPr>
          <p:spPr>
            <a:xfrm>
              <a:off x="8534911" y="2333511"/>
              <a:ext cx="3219752" cy="523220"/>
            </a:xfrm>
            <a:prstGeom prst="rect">
              <a:avLst/>
            </a:prstGeom>
            <a:noFill/>
          </p:spPr>
          <p:txBody>
            <a:bodyPr wrap="square" rtlCol="0">
              <a:spAutoFit/>
            </a:bodyPr>
            <a:lstStyle/>
            <a:p>
              <a:pPr algn="ctr"/>
              <a:r>
                <a:rPr lang="en-GB" sz="2800" b="1" dirty="0" err="1">
                  <a:solidFill>
                    <a:srgbClr val="7030A0"/>
                  </a:solidFill>
                </a:rPr>
                <a:t>HH:MM:SS</a:t>
              </a:r>
              <a:endParaRPr lang="en-GB" sz="2800" b="1" dirty="0">
                <a:solidFill>
                  <a:srgbClr val="7030A0"/>
                </a:solidFill>
              </a:endParaRPr>
            </a:p>
          </p:txBody>
        </p:sp>
      </p:grpSp>
    </p:spTree>
    <p:extLst>
      <p:ext uri="{BB962C8B-B14F-4D97-AF65-F5344CB8AC3E}">
        <p14:creationId xmlns:p14="http://schemas.microsoft.com/office/powerpoint/2010/main" val="970874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20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2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37"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outVertical)">
                                      <p:cBhvr>
                                        <p:cTn id="21" dur="1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xEl>
                                              <p:pRg st="0" end="0"/>
                                            </p:txEl>
                                          </p:spTgt>
                                        </p:tgtEl>
                                        <p:attrNameLst>
                                          <p:attrName>style.visibility</p:attrName>
                                        </p:attrNameLst>
                                      </p:cBhvr>
                                      <p:to>
                                        <p:strVal val="visible"/>
                                      </p:to>
                                    </p:set>
                                    <p:animEffect transition="in" filter="wipe(left)">
                                      <p:cBhvr>
                                        <p:cTn id="26" dur="2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build="p"/>
    </p:bld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Filter Results: Time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made, </a:t>
            </a:r>
            <a:r>
              <a:rPr lang="en-US" altLang="en-US" sz="4400" dirty="0">
                <a:latin typeface="Consolas" panose="020B0609020204030204" pitchFamily="49" charset="0"/>
              </a:rPr>
              <a:t>start</a:t>
            </a:r>
            <a:r>
              <a:rPr lang="en-US" altLang="en-US" sz="4400" dirty="0">
                <a:solidFill>
                  <a:srgbClr val="000000"/>
                </a:solidFill>
                <a:latin typeface="Consolas" panose="020B0609020204030204" pitchFamily="49" charset="0"/>
              </a:rPr>
              <a:t>, nice</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 </a:t>
            </a:r>
            <a:r>
              <a:rPr lang="en-US" altLang="en-US" sz="4400" dirty="0">
                <a:latin typeface="Consolas" panose="020B0609020204030204" pitchFamily="49" charset="0"/>
              </a:rPr>
              <a:t>start</a:t>
            </a:r>
            <a:r>
              <a:rPr lang="en-US" altLang="en-US" sz="4400" dirty="0">
                <a:solidFill>
                  <a:srgbClr val="000000"/>
                </a:solidFill>
                <a:latin typeface="Consolas" panose="020B0609020204030204" pitchFamily="49" charset="0"/>
              </a:rPr>
              <a:t> &gt;= </a:t>
            </a:r>
            <a:r>
              <a:rPr lang="en-US" altLang="en-US" sz="4400" dirty="0">
                <a:solidFill>
                  <a:srgbClr val="183691"/>
                </a:solidFill>
                <a:latin typeface="Consolas" panose="020B0609020204030204" pitchFamily="49" charset="0"/>
              </a:rPr>
              <a:t>"13:10:00"</a:t>
            </a:r>
            <a:r>
              <a:rPr lang="en-US" altLang="en-US" sz="4400" dirty="0">
                <a:solidFill>
                  <a:srgbClr val="000000"/>
                </a:solidFill>
                <a:latin typeface="Consolas" panose="020B0609020204030204" pitchFamily="49" charset="0"/>
              </a:rPr>
              <a:t>;</a:t>
            </a:r>
            <a:r>
              <a:rPr lang="en-US" altLang="en-US" sz="4400" dirty="0">
                <a:solidFill>
                  <a:srgbClr val="B2B2B2"/>
                </a:solidFill>
                <a:latin typeface="Consolas" panose="020B0609020204030204" pitchFamily="49" charset="0"/>
              </a:rPr>
              <a:t> </a:t>
            </a:r>
            <a:br>
              <a:rPr lang="en-US" altLang="en-US" sz="44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
        <p:nvSpPr>
          <p:cNvPr id="4" name="TextBox 3">
            <a:extLst>
              <a:ext uri="{FF2B5EF4-FFF2-40B4-BE49-F238E27FC236}">
                <a16:creationId xmlns:a16="http://schemas.microsoft.com/office/drawing/2014/main" id="{603AE2F4-C86D-42FE-AD98-E287192AF3B2}"/>
              </a:ext>
            </a:extLst>
          </p:cNvPr>
          <p:cNvSpPr txBox="1"/>
          <p:nvPr/>
        </p:nvSpPr>
        <p:spPr>
          <a:xfrm>
            <a:off x="1484064" y="5665569"/>
            <a:ext cx="9223872" cy="646331"/>
          </a:xfrm>
          <a:prstGeom prst="rect">
            <a:avLst/>
          </a:prstGeom>
          <a:noFill/>
        </p:spPr>
        <p:txBody>
          <a:bodyPr wrap="none" rtlCol="0">
            <a:spAutoFit/>
          </a:bodyPr>
          <a:lstStyle/>
          <a:p>
            <a:pPr algn="ctr"/>
            <a:r>
              <a:rPr lang="en-GB" sz="3600" dirty="0">
                <a:solidFill>
                  <a:srgbClr val="7030A0"/>
                </a:solidFill>
              </a:rPr>
              <a:t>If the condition is </a:t>
            </a:r>
            <a:r>
              <a:rPr lang="en-GB" sz="3600" dirty="0">
                <a:solidFill>
                  <a:srgbClr val="7030A0"/>
                </a:solidFill>
                <a:latin typeface="Consolas" panose="020B0609020204030204" pitchFamily="49" charset="0"/>
              </a:rPr>
              <a:t>     </a:t>
            </a:r>
            <a:r>
              <a:rPr lang="en-GB" sz="3600" dirty="0">
                <a:solidFill>
                  <a:srgbClr val="7030A0"/>
                </a:solidFill>
              </a:rPr>
              <a:t> the fields are displayed</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13687373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Filter Results: Boolean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nice = </a:t>
            </a:r>
            <a:r>
              <a:rPr lang="en-US" altLang="en-US" sz="4400" dirty="0">
                <a:solidFill>
                  <a:srgbClr val="A71D5D"/>
                </a:solidFill>
                <a:latin typeface="Consolas" panose="020B0609020204030204" pitchFamily="49" charset="0"/>
              </a:rPr>
              <a:t>TRUE</a:t>
            </a:r>
            <a:r>
              <a:rPr lang="en-US" altLang="en-US" sz="44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10" name="TextBox 9">
            <a:extLst>
              <a:ext uri="{FF2B5EF4-FFF2-40B4-BE49-F238E27FC236}">
                <a16:creationId xmlns:a16="http://schemas.microsoft.com/office/drawing/2014/main" id="{DF4BA8FF-524A-4C13-87BF-68801971FA28}"/>
              </a:ext>
            </a:extLst>
          </p:cNvPr>
          <p:cNvSpPr txBox="1"/>
          <p:nvPr/>
        </p:nvSpPr>
        <p:spPr>
          <a:xfrm>
            <a:off x="1909629" y="5665569"/>
            <a:ext cx="8372741" cy="646331"/>
          </a:xfrm>
          <a:prstGeom prst="rect">
            <a:avLst/>
          </a:prstGeom>
          <a:noFill/>
        </p:spPr>
        <p:txBody>
          <a:bodyPr wrap="none" rtlCol="0">
            <a:spAutoFit/>
          </a:bodyPr>
          <a:lstStyle/>
          <a:p>
            <a:pPr algn="ctr"/>
            <a:r>
              <a:rPr lang="en-GB" sz="3600" dirty="0">
                <a:solidFill>
                  <a:srgbClr val="7030A0"/>
                </a:solidFill>
              </a:rPr>
              <a:t>If the condition is </a:t>
            </a:r>
            <a:r>
              <a:rPr lang="en-GB" sz="3600" dirty="0">
                <a:solidFill>
                  <a:srgbClr val="7030A0"/>
                </a:solidFill>
                <a:latin typeface="Consolas" panose="020B0609020204030204" pitchFamily="49" charset="0"/>
              </a:rPr>
              <a:t>TRUE</a:t>
            </a:r>
            <a:r>
              <a:rPr lang="en-GB" sz="3600" dirty="0">
                <a:solidFill>
                  <a:srgbClr val="7030A0"/>
                </a:solidFill>
              </a:rPr>
              <a:t> the row is displayed</a:t>
            </a:r>
            <a:endParaRPr lang="en-GB" sz="3600" dirty="0">
              <a:solidFill>
                <a:srgbClr val="7030A0"/>
              </a:solidFill>
              <a:latin typeface="Consolas" panose="020B0609020204030204" pitchFamily="49" charset="0"/>
            </a:endParaRPr>
          </a:p>
        </p:txBody>
      </p:sp>
      <p:grpSp>
        <p:nvGrpSpPr>
          <p:cNvPr id="4" name="Group 3">
            <a:extLst>
              <a:ext uri="{FF2B5EF4-FFF2-40B4-BE49-F238E27FC236}">
                <a16:creationId xmlns:a16="http://schemas.microsoft.com/office/drawing/2014/main" id="{59CF0C5A-2A1C-0624-F18F-CDF39083B546}"/>
              </a:ext>
            </a:extLst>
          </p:cNvPr>
          <p:cNvGrpSpPr/>
          <p:nvPr/>
        </p:nvGrpSpPr>
        <p:grpSpPr>
          <a:xfrm>
            <a:off x="5719696" y="3897525"/>
            <a:ext cx="2195944" cy="703220"/>
            <a:chOff x="6078651" y="2149231"/>
            <a:chExt cx="8132274" cy="703220"/>
          </a:xfrm>
        </p:grpSpPr>
        <p:cxnSp>
          <p:nvCxnSpPr>
            <p:cNvPr id="8" name="Straight Connector 7">
              <a:extLst>
                <a:ext uri="{FF2B5EF4-FFF2-40B4-BE49-F238E27FC236}">
                  <a16:creationId xmlns:a16="http://schemas.microsoft.com/office/drawing/2014/main" id="{3B366A2D-DC00-4658-19CC-6A81A9EDFD2B}"/>
                </a:ext>
              </a:extLst>
            </p:cNvPr>
            <p:cNvCxnSpPr>
              <a:cxnSpLocks/>
            </p:cNvCxnSpPr>
            <p:nvPr/>
          </p:nvCxnSpPr>
          <p:spPr>
            <a:xfrm>
              <a:off x="8123452" y="2149231"/>
              <a:ext cx="3999581"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D3AABC-3D18-191B-9E7F-61C5E2646D32}"/>
                </a:ext>
              </a:extLst>
            </p:cNvPr>
            <p:cNvCxnSpPr>
              <a:cxnSpLocks/>
            </p:cNvCxnSpPr>
            <p:nvPr/>
          </p:nvCxnSpPr>
          <p:spPr>
            <a:xfrm flipV="1">
              <a:off x="10144788" y="2149231"/>
              <a:ext cx="0" cy="18000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18886A4-8AD0-5580-5EF7-80668B73DE08}"/>
                </a:ext>
              </a:extLst>
            </p:cNvPr>
            <p:cNvSpPr txBox="1"/>
            <p:nvPr/>
          </p:nvSpPr>
          <p:spPr>
            <a:xfrm>
              <a:off x="6078651" y="2329231"/>
              <a:ext cx="8132274" cy="523220"/>
            </a:xfrm>
            <a:prstGeom prst="rect">
              <a:avLst/>
            </a:prstGeom>
            <a:noFill/>
          </p:spPr>
          <p:txBody>
            <a:bodyPr wrap="square" rtlCol="0">
              <a:spAutoFit/>
            </a:bodyPr>
            <a:lstStyle/>
            <a:p>
              <a:pPr algn="ctr"/>
              <a:r>
                <a:rPr lang="en-GB" sz="2800" b="1" dirty="0">
                  <a:solidFill>
                    <a:srgbClr val="7030A0"/>
                  </a:solidFill>
                </a:rPr>
                <a:t>TRUE / FALSE</a:t>
              </a:r>
            </a:p>
          </p:txBody>
        </p:sp>
      </p:grpSp>
    </p:spTree>
    <p:extLst>
      <p:ext uri="{BB962C8B-B14F-4D97-AF65-F5344CB8AC3E}">
        <p14:creationId xmlns:p14="http://schemas.microsoft.com/office/powerpoint/2010/main" val="1736274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20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225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37"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arn(outVertical)">
                                      <p:cBhvr>
                                        <p:cTn id="21" dur="10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xEl>
                                              <p:pRg st="0" end="0"/>
                                            </p:txEl>
                                          </p:spTgt>
                                        </p:tgtEl>
                                        <p:attrNameLst>
                                          <p:attrName>style.visibility</p:attrName>
                                        </p:attrNameLst>
                                      </p:cBhvr>
                                      <p:to>
                                        <p:strVal val="visible"/>
                                      </p:to>
                                    </p:set>
                                    <p:animEffect transition="in" filter="wipe(left)">
                                      <p:cBhvr>
                                        <p:cTn id="26" dur="2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build="p"/>
    </p:bld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Filter Results: Boolean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nice = </a:t>
            </a:r>
            <a:r>
              <a:rPr lang="en-US" altLang="en-US" sz="4400" dirty="0">
                <a:solidFill>
                  <a:srgbClr val="A71D5D"/>
                </a:solidFill>
                <a:latin typeface="Consolas" panose="020B0609020204030204" pitchFamily="49" charset="0"/>
              </a:rPr>
              <a:t>TRUE</a:t>
            </a:r>
            <a:r>
              <a:rPr lang="en-US" altLang="en-US" sz="44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4" name="TextBox 3">
            <a:extLst>
              <a:ext uri="{FF2B5EF4-FFF2-40B4-BE49-F238E27FC236}">
                <a16:creationId xmlns:a16="http://schemas.microsoft.com/office/drawing/2014/main" id="{6338AAB7-A615-4C50-A03B-E1AB41A922B5}"/>
              </a:ext>
            </a:extLst>
          </p:cNvPr>
          <p:cNvSpPr txBox="1"/>
          <p:nvPr/>
        </p:nvSpPr>
        <p:spPr>
          <a:xfrm>
            <a:off x="1484064" y="5665569"/>
            <a:ext cx="9223872" cy="646331"/>
          </a:xfrm>
          <a:prstGeom prst="rect">
            <a:avLst/>
          </a:prstGeom>
          <a:noFill/>
        </p:spPr>
        <p:txBody>
          <a:bodyPr wrap="none" rtlCol="0">
            <a:spAutoFit/>
          </a:bodyPr>
          <a:lstStyle/>
          <a:p>
            <a:pPr algn="ctr"/>
            <a:r>
              <a:rPr lang="en-GB" sz="3600" dirty="0">
                <a:solidFill>
                  <a:srgbClr val="7030A0"/>
                </a:solidFill>
              </a:rPr>
              <a:t>If the condition is </a:t>
            </a:r>
            <a:r>
              <a:rPr lang="en-GB" sz="3600" dirty="0">
                <a:solidFill>
                  <a:srgbClr val="7030A0"/>
                </a:solidFill>
                <a:latin typeface="Consolas" panose="020B0609020204030204" pitchFamily="49" charset="0"/>
              </a:rPr>
              <a:t>     </a:t>
            </a:r>
            <a:r>
              <a:rPr lang="en-GB" sz="3600" dirty="0">
                <a:solidFill>
                  <a:srgbClr val="7030A0"/>
                </a:solidFill>
              </a:rPr>
              <a:t> the fields are displayed</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39084993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normAutofit/>
          </a:bodyPr>
          <a:lstStyle/>
          <a:p>
            <a:r>
              <a:rPr lang="en-GB" sz="3200" dirty="0"/>
              <a:t>Describe and use SQL order by operations</a:t>
            </a:r>
          </a:p>
        </p:txBody>
      </p:sp>
    </p:spTree>
    <p:extLst>
      <p:ext uri="{BB962C8B-B14F-4D97-AF65-F5344CB8AC3E}">
        <p14:creationId xmlns:p14="http://schemas.microsoft.com/office/powerpoint/2010/main" val="35907838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Sort Results – Small to Big</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1 </a:t>
            </a:r>
            <a:r>
              <a:rPr lang="en-US" altLang="en-US" sz="4200" dirty="0">
                <a:solidFill>
                  <a:srgbClr val="A71D5D"/>
                </a:solidFill>
                <a:latin typeface="Consolas" panose="020B0609020204030204" pitchFamily="49" charset="0"/>
              </a:rPr>
              <a:t>SELECT</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firstName</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lastName</a:t>
            </a:r>
            <a:r>
              <a:rPr lang="en-US" altLang="en-US" sz="42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2   </a:t>
            </a:r>
            <a:r>
              <a:rPr lang="en-US" altLang="en-US" sz="4200" dirty="0">
                <a:solidFill>
                  <a:srgbClr val="A71D5D"/>
                </a:solidFill>
                <a:latin typeface="Consolas" panose="020B0609020204030204" pitchFamily="49" charset="0"/>
              </a:rPr>
              <a:t>FROM</a:t>
            </a:r>
            <a:r>
              <a:rPr lang="en-US" altLang="en-US" sz="4200" dirty="0">
                <a:solidFill>
                  <a:srgbClr val="000000"/>
                </a:solidFill>
                <a:latin typeface="Consolas" panose="020B0609020204030204" pitchFamily="49" charset="0"/>
              </a:rPr>
              <a:t> Pupil</a:t>
            </a:r>
          </a:p>
          <a:p>
            <a:pPr mar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3   </a:t>
            </a:r>
            <a:r>
              <a:rPr lang="en-US" altLang="en-US" sz="4200" dirty="0">
                <a:solidFill>
                  <a:srgbClr val="A71D5D"/>
                </a:solidFill>
                <a:latin typeface="Consolas" panose="020B0609020204030204" pitchFamily="49" charset="0"/>
              </a:rPr>
              <a:t>WHERE</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lastName</a:t>
            </a:r>
            <a:r>
              <a:rPr lang="en-US" altLang="en-US" sz="4200" dirty="0">
                <a:solidFill>
                  <a:srgbClr val="000000"/>
                </a:solidFill>
                <a:latin typeface="Consolas" panose="020B0609020204030204" pitchFamily="49" charset="0"/>
              </a:rPr>
              <a:t> = </a:t>
            </a:r>
            <a:r>
              <a:rPr lang="en-US" altLang="en-US" sz="4200" dirty="0">
                <a:solidFill>
                  <a:srgbClr val="183691"/>
                </a:solidFill>
                <a:latin typeface="Consolas" panose="020B0609020204030204" pitchFamily="49" charset="0"/>
              </a:rPr>
              <a:t>"MacNeil"</a:t>
            </a:r>
            <a:endParaRPr lang="en-US" altLang="en-US" sz="42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4   </a:t>
            </a:r>
            <a:r>
              <a:rPr lang="en-US" altLang="en-US" sz="4200" dirty="0">
                <a:solidFill>
                  <a:srgbClr val="A71D5D"/>
                </a:solidFill>
                <a:latin typeface="Consolas" panose="020B0609020204030204" pitchFamily="49" charset="0"/>
              </a:rPr>
              <a:t>ORDER BY</a:t>
            </a:r>
            <a:r>
              <a:rPr lang="en-US" altLang="en-US" sz="4200" dirty="0">
                <a:solidFill>
                  <a:srgbClr val="000000"/>
                </a:solidFill>
                <a:latin typeface="Consolas" panose="020B0609020204030204" pitchFamily="49" charset="0"/>
              </a:rPr>
              <a:t> age </a:t>
            </a:r>
            <a:r>
              <a:rPr lang="en-US" altLang="en-US" sz="4200" dirty="0">
                <a:solidFill>
                  <a:srgbClr val="A71D5D"/>
                </a:solidFill>
                <a:latin typeface="Consolas" panose="020B0609020204030204" pitchFamily="49" charset="0"/>
              </a:rPr>
              <a:t>ASC</a:t>
            </a:r>
            <a:r>
              <a:rPr lang="en-US" altLang="en-US" sz="4200" dirty="0">
                <a:solidFill>
                  <a:srgbClr val="000000"/>
                </a:solidFill>
                <a:latin typeface="Consolas" panose="020B0609020204030204" pitchFamily="49" charset="0"/>
              </a:rPr>
              <a:t>;</a:t>
            </a:r>
            <a:endParaRPr lang="en-US" altLang="en-US" sz="4200" dirty="0">
              <a:latin typeface="Arial" panose="020B0604020202020204" pitchFamily="34" charset="0"/>
            </a:endParaRPr>
          </a:p>
        </p:txBody>
      </p:sp>
      <p:sp>
        <p:nvSpPr>
          <p:cNvPr id="9" name="Callout: Bent Line with No Border 8">
            <a:extLst>
              <a:ext uri="{FF2B5EF4-FFF2-40B4-BE49-F238E27FC236}">
                <a16:creationId xmlns:a16="http://schemas.microsoft.com/office/drawing/2014/main" id="{412E8916-E1C6-455C-96C6-1411BB246ADC}"/>
              </a:ext>
            </a:extLst>
          </p:cNvPr>
          <p:cNvSpPr/>
          <p:nvPr/>
        </p:nvSpPr>
        <p:spPr>
          <a:xfrm>
            <a:off x="2843495" y="4487045"/>
            <a:ext cx="1088727" cy="862642"/>
          </a:xfrm>
          <a:prstGeom prst="callout2">
            <a:avLst>
              <a:gd name="adj1" fmla="val 48750"/>
              <a:gd name="adj2" fmla="val 104056"/>
              <a:gd name="adj3" fmla="val 49417"/>
              <a:gd name="adj4" fmla="val 149796"/>
              <a:gd name="adj5" fmla="val -13080"/>
              <a:gd name="adj6" fmla="val 177443"/>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Field</a:t>
            </a:r>
          </a:p>
        </p:txBody>
      </p:sp>
      <p:sp>
        <p:nvSpPr>
          <p:cNvPr id="12" name="Callout: Bent Line with No Border 11">
            <a:extLst>
              <a:ext uri="{FF2B5EF4-FFF2-40B4-BE49-F238E27FC236}">
                <a16:creationId xmlns:a16="http://schemas.microsoft.com/office/drawing/2014/main" id="{47DDF0B2-A520-4AA2-A4DF-C894D27E74F3}"/>
              </a:ext>
            </a:extLst>
          </p:cNvPr>
          <p:cNvSpPr/>
          <p:nvPr/>
        </p:nvSpPr>
        <p:spPr>
          <a:xfrm>
            <a:off x="7738539" y="4476159"/>
            <a:ext cx="2133600" cy="862642"/>
          </a:xfrm>
          <a:prstGeom prst="callout2">
            <a:avLst>
              <a:gd name="adj1" fmla="val 52750"/>
              <a:gd name="adj2" fmla="val -2245"/>
              <a:gd name="adj3" fmla="val 52979"/>
              <a:gd name="adj4" fmla="val -32776"/>
              <a:gd name="adj5" fmla="val -9811"/>
              <a:gd name="adj6" fmla="val -4804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Order</a:t>
            </a:r>
          </a:p>
        </p:txBody>
      </p:sp>
      <p:sp>
        <p:nvSpPr>
          <p:cNvPr id="6" name="TextBox 5">
            <a:extLst>
              <a:ext uri="{FF2B5EF4-FFF2-40B4-BE49-F238E27FC236}">
                <a16:creationId xmlns:a16="http://schemas.microsoft.com/office/drawing/2014/main" id="{DF4BA8FF-524A-4C13-87BF-68801971FA28}"/>
              </a:ext>
            </a:extLst>
          </p:cNvPr>
          <p:cNvSpPr txBox="1"/>
          <p:nvPr/>
        </p:nvSpPr>
        <p:spPr>
          <a:xfrm>
            <a:off x="2699880" y="5221937"/>
            <a:ext cx="6792244" cy="1200329"/>
          </a:xfrm>
          <a:prstGeom prst="rect">
            <a:avLst/>
          </a:prstGeom>
          <a:noFill/>
        </p:spPr>
        <p:txBody>
          <a:bodyPr wrap="none" rtlCol="0">
            <a:spAutoFit/>
          </a:bodyPr>
          <a:lstStyle/>
          <a:p>
            <a:pPr algn="ctr"/>
            <a:r>
              <a:rPr lang="en-GB" sz="3600" dirty="0">
                <a:solidFill>
                  <a:srgbClr val="A71D5D"/>
                </a:solidFill>
                <a:latin typeface="Consolas" panose="020B0609020204030204" pitchFamily="49" charset="0"/>
              </a:rPr>
              <a:t>ASC</a:t>
            </a:r>
            <a:r>
              <a:rPr lang="en-GB" sz="3600" dirty="0"/>
              <a:t> = ascending</a:t>
            </a:r>
          </a:p>
          <a:p>
            <a:pPr algn="ctr"/>
            <a:r>
              <a:rPr lang="en-GB" sz="3600" dirty="0">
                <a:solidFill>
                  <a:srgbClr val="7030A0"/>
                </a:solidFill>
                <a:latin typeface="Consolas" panose="020B0609020204030204" pitchFamily="49" charset="0"/>
              </a:rPr>
              <a:t>(</a:t>
            </a:r>
            <a:r>
              <a:rPr lang="en-GB" sz="3600" dirty="0" err="1">
                <a:solidFill>
                  <a:srgbClr val="7030A0"/>
                </a:solidFill>
                <a:latin typeface="Consolas" panose="020B0609020204030204" pitchFamily="49" charset="0"/>
              </a:rPr>
              <a:t>a,b,c</a:t>
            </a:r>
            <a:r>
              <a:rPr lang="en-GB" sz="3600" dirty="0">
                <a:solidFill>
                  <a:srgbClr val="7030A0"/>
                </a:solidFill>
                <a:latin typeface="Consolas" panose="020B0609020204030204" pitchFamily="49" charset="0"/>
              </a:rPr>
              <a:t>, …			0,1,2, …)</a:t>
            </a:r>
          </a:p>
        </p:txBody>
      </p:sp>
    </p:spTree>
    <p:extLst>
      <p:ext uri="{BB962C8B-B14F-4D97-AF65-F5344CB8AC3E}">
        <p14:creationId xmlns:p14="http://schemas.microsoft.com/office/powerpoint/2010/main" val="2545018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10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xEl>
                                              <p:pRg st="0" end="0"/>
                                            </p:txEl>
                                          </p:spTgt>
                                        </p:tgtEl>
                                        <p:attrNameLst>
                                          <p:attrName>style.visibility</p:attrName>
                                        </p:attrNameLst>
                                      </p:cBhvr>
                                      <p:to>
                                        <p:strVal val="visible"/>
                                      </p:to>
                                    </p:set>
                                    <p:animEffect transition="in" filter="wipe(left)">
                                      <p:cBhvr>
                                        <p:cTn id="37" dur="2000"/>
                                        <p:tgtEl>
                                          <p:spTgt spid="6">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xEl>
                                              <p:pRg st="1" end="1"/>
                                            </p:txEl>
                                          </p:spTgt>
                                        </p:tgtEl>
                                        <p:attrNameLst>
                                          <p:attrName>style.visibility</p:attrName>
                                        </p:attrNameLst>
                                      </p:cBhvr>
                                      <p:to>
                                        <p:strVal val="visible"/>
                                      </p:to>
                                    </p:set>
                                    <p:animEffect transition="in" filter="wipe(left)">
                                      <p:cBhvr>
                                        <p:cTn id="42" dur="20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9" grpId="0" animBg="1"/>
      <p:bldP spid="12" grpId="0" animBg="1"/>
      <p:bldP spid="6" grpId="0" build="p"/>
    </p:bld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Sort Results – Small to Big</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1 </a:t>
            </a:r>
            <a:r>
              <a:rPr lang="en-US" altLang="en-US" sz="4200" dirty="0">
                <a:solidFill>
                  <a:srgbClr val="A71D5D"/>
                </a:solidFill>
                <a:latin typeface="Consolas" panose="020B0609020204030204" pitchFamily="49" charset="0"/>
              </a:rPr>
              <a:t>SELECT</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firstName</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lastName</a:t>
            </a:r>
            <a:r>
              <a:rPr lang="en-US" altLang="en-US" sz="42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2   </a:t>
            </a:r>
            <a:r>
              <a:rPr lang="en-US" altLang="en-US" sz="4200" dirty="0">
                <a:solidFill>
                  <a:srgbClr val="A71D5D"/>
                </a:solidFill>
                <a:latin typeface="Consolas" panose="020B0609020204030204" pitchFamily="49" charset="0"/>
              </a:rPr>
              <a:t>FROM</a:t>
            </a:r>
            <a:r>
              <a:rPr lang="en-US" altLang="en-US" sz="4200" dirty="0">
                <a:solidFill>
                  <a:srgbClr val="000000"/>
                </a:solidFill>
                <a:latin typeface="Consolas" panose="020B0609020204030204" pitchFamily="49" charset="0"/>
              </a:rPr>
              <a:t> Pupil</a:t>
            </a:r>
          </a:p>
          <a:p>
            <a:pPr mar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3   </a:t>
            </a:r>
            <a:r>
              <a:rPr lang="en-US" altLang="en-US" sz="4200" dirty="0">
                <a:solidFill>
                  <a:srgbClr val="A71D5D"/>
                </a:solidFill>
                <a:latin typeface="Consolas" panose="020B0609020204030204" pitchFamily="49" charset="0"/>
              </a:rPr>
              <a:t>WHERE</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lastName</a:t>
            </a:r>
            <a:r>
              <a:rPr lang="en-US" altLang="en-US" sz="4200" dirty="0">
                <a:solidFill>
                  <a:srgbClr val="000000"/>
                </a:solidFill>
                <a:latin typeface="Consolas" panose="020B0609020204030204" pitchFamily="49" charset="0"/>
              </a:rPr>
              <a:t> = </a:t>
            </a:r>
            <a:r>
              <a:rPr lang="en-US" altLang="en-US" sz="4200" dirty="0">
                <a:solidFill>
                  <a:srgbClr val="183691"/>
                </a:solidFill>
                <a:latin typeface="Consolas" panose="020B0609020204030204" pitchFamily="49" charset="0"/>
              </a:rPr>
              <a:t>"MacNeil"</a:t>
            </a:r>
            <a:endParaRPr lang="en-US" altLang="en-US" sz="42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4   </a:t>
            </a:r>
            <a:r>
              <a:rPr lang="en-US" altLang="en-US" sz="4200" dirty="0">
                <a:solidFill>
                  <a:srgbClr val="A71D5D"/>
                </a:solidFill>
                <a:latin typeface="Consolas" panose="020B0609020204030204" pitchFamily="49" charset="0"/>
              </a:rPr>
              <a:t>ORDER BY</a:t>
            </a:r>
            <a:r>
              <a:rPr lang="en-US" altLang="en-US" sz="4200" dirty="0">
                <a:solidFill>
                  <a:srgbClr val="000000"/>
                </a:solidFill>
                <a:latin typeface="Consolas" panose="020B0609020204030204" pitchFamily="49" charset="0"/>
              </a:rPr>
              <a:t> age </a:t>
            </a:r>
            <a:r>
              <a:rPr lang="en-US" altLang="en-US" sz="4200" dirty="0">
                <a:solidFill>
                  <a:srgbClr val="A71D5D"/>
                </a:solidFill>
                <a:latin typeface="Consolas" panose="020B0609020204030204" pitchFamily="49" charset="0"/>
              </a:rPr>
              <a:t>ASC</a:t>
            </a:r>
            <a:r>
              <a:rPr lang="en-US" altLang="en-US" sz="42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6" name="TextBox 5">
            <a:extLst>
              <a:ext uri="{FF2B5EF4-FFF2-40B4-BE49-F238E27FC236}">
                <a16:creationId xmlns:a16="http://schemas.microsoft.com/office/drawing/2014/main" id="{DF4BA8FF-524A-4C13-87BF-68801971FA28}"/>
              </a:ext>
            </a:extLst>
          </p:cNvPr>
          <p:cNvSpPr txBox="1"/>
          <p:nvPr/>
        </p:nvSpPr>
        <p:spPr>
          <a:xfrm>
            <a:off x="4483218" y="5221937"/>
            <a:ext cx="1277914" cy="646331"/>
          </a:xfrm>
          <a:prstGeom prst="rect">
            <a:avLst/>
          </a:prstGeom>
          <a:noFill/>
        </p:spPr>
        <p:txBody>
          <a:bodyPr wrap="none" rtlCol="0">
            <a:spAutoFit/>
          </a:bodyPr>
          <a:lstStyle/>
          <a:p>
            <a:r>
              <a:rPr lang="en-GB" sz="3600" dirty="0">
                <a:solidFill>
                  <a:srgbClr val="A71D5D"/>
                </a:solidFill>
                <a:latin typeface="Consolas" panose="020B0609020204030204" pitchFamily="49" charset="0"/>
              </a:rPr>
              <a:t>ASC</a:t>
            </a:r>
            <a:r>
              <a:rPr lang="en-GB" sz="3600" dirty="0"/>
              <a:t> =</a:t>
            </a:r>
          </a:p>
        </p:txBody>
      </p:sp>
    </p:spTree>
    <p:extLst>
      <p:ext uri="{BB962C8B-B14F-4D97-AF65-F5344CB8AC3E}">
        <p14:creationId xmlns:p14="http://schemas.microsoft.com/office/powerpoint/2010/main" val="6308243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Sort Results – Big to Small</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indent="0">
              <a:buNone/>
            </a:pPr>
            <a:r>
              <a:rPr lang="en-US" altLang="en-US" sz="4200" dirty="0">
                <a:solidFill>
                  <a:srgbClr val="B2B2B2"/>
                </a:solidFill>
                <a:latin typeface="Consolas" panose="020B0609020204030204" pitchFamily="49" charset="0"/>
              </a:rPr>
              <a:t>1 </a:t>
            </a:r>
            <a:r>
              <a:rPr lang="en-US" altLang="en-US" sz="4200" dirty="0">
                <a:solidFill>
                  <a:srgbClr val="A71D5D"/>
                </a:solidFill>
                <a:latin typeface="Consolas" panose="020B0609020204030204" pitchFamily="49" charset="0"/>
              </a:rPr>
              <a:t>SELECT</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firstName</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lastName</a:t>
            </a:r>
            <a:r>
              <a:rPr lang="en-US" altLang="en-US" sz="42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2   </a:t>
            </a:r>
            <a:r>
              <a:rPr lang="en-US" altLang="en-US" sz="4200" dirty="0">
                <a:solidFill>
                  <a:srgbClr val="A71D5D"/>
                </a:solidFill>
                <a:latin typeface="Consolas" panose="020B0609020204030204" pitchFamily="49" charset="0"/>
              </a:rPr>
              <a:t>FROM</a:t>
            </a:r>
            <a:r>
              <a:rPr lang="en-US" altLang="en-US" sz="42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3   </a:t>
            </a:r>
            <a:r>
              <a:rPr lang="en-US" altLang="en-US" sz="4200" dirty="0">
                <a:solidFill>
                  <a:srgbClr val="A71D5D"/>
                </a:solidFill>
                <a:latin typeface="Consolas" panose="020B0609020204030204" pitchFamily="49" charset="0"/>
              </a:rPr>
              <a:t>WHERE</a:t>
            </a:r>
            <a:r>
              <a:rPr lang="en-US" altLang="en-US" sz="4200" dirty="0">
                <a:solidFill>
                  <a:srgbClr val="000000"/>
                </a:solidFill>
                <a:latin typeface="Consolas" panose="020B0609020204030204" pitchFamily="49" charset="0"/>
              </a:rPr>
              <a:t> age = </a:t>
            </a:r>
            <a:r>
              <a:rPr lang="en-US" altLang="en-US" sz="4200" dirty="0">
                <a:solidFill>
                  <a:srgbClr val="0086B3"/>
                </a:solidFill>
                <a:latin typeface="Consolas" panose="020B0609020204030204" pitchFamily="49" charset="0"/>
              </a:rPr>
              <a:t>12</a:t>
            </a:r>
            <a:endParaRPr lang="en-US" altLang="en-US" sz="4200" dirty="0">
              <a:solidFill>
                <a:srgbClr val="000000"/>
              </a:solidFill>
              <a:latin typeface="Consolas" panose="020B0609020204030204" pitchFamily="49" charset="0"/>
            </a:endParaRPr>
          </a:p>
          <a:p>
            <a:pPr marL="0" indent="0">
              <a:buNone/>
            </a:pPr>
            <a:r>
              <a:rPr lang="en-US" altLang="en-US" sz="4200" dirty="0">
                <a:solidFill>
                  <a:srgbClr val="B2B2B2"/>
                </a:solidFill>
                <a:latin typeface="Consolas" panose="020B0609020204030204" pitchFamily="49" charset="0"/>
              </a:rPr>
              <a:t>4   </a:t>
            </a:r>
            <a:r>
              <a:rPr lang="en-US" altLang="en-US" sz="4200" dirty="0">
                <a:solidFill>
                  <a:srgbClr val="A71D5D"/>
                </a:solidFill>
                <a:latin typeface="Consolas" panose="020B0609020204030204" pitchFamily="49" charset="0"/>
              </a:rPr>
              <a:t>ORDER BY</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firstName</a:t>
            </a:r>
            <a:r>
              <a:rPr lang="en-US" altLang="en-US" sz="4200" dirty="0">
                <a:solidFill>
                  <a:srgbClr val="000000"/>
                </a:solidFill>
                <a:latin typeface="Consolas" panose="020B0609020204030204" pitchFamily="49" charset="0"/>
              </a:rPr>
              <a:t> </a:t>
            </a:r>
            <a:r>
              <a:rPr lang="en-US" altLang="en-US" sz="4200" dirty="0">
                <a:solidFill>
                  <a:srgbClr val="A71D5D"/>
                </a:solidFill>
                <a:latin typeface="Consolas" panose="020B0609020204030204" pitchFamily="49" charset="0"/>
              </a:rPr>
              <a:t>DESC</a:t>
            </a:r>
            <a:r>
              <a:rPr lang="en-US" altLang="en-US" sz="4200" dirty="0">
                <a:solidFill>
                  <a:srgbClr val="000000"/>
                </a:solidFill>
                <a:latin typeface="Consolas" panose="020B0609020204030204" pitchFamily="49" charset="0"/>
              </a:rPr>
              <a:t>;</a:t>
            </a:r>
            <a:endParaRPr lang="en-GB" sz="4200" dirty="0"/>
          </a:p>
        </p:txBody>
      </p:sp>
      <p:sp>
        <p:nvSpPr>
          <p:cNvPr id="6" name="TextBox 5">
            <a:extLst>
              <a:ext uri="{FF2B5EF4-FFF2-40B4-BE49-F238E27FC236}">
                <a16:creationId xmlns:a16="http://schemas.microsoft.com/office/drawing/2014/main" id="{DF4BA8FF-524A-4C13-87BF-68801971FA28}"/>
              </a:ext>
            </a:extLst>
          </p:cNvPr>
          <p:cNvSpPr txBox="1"/>
          <p:nvPr/>
        </p:nvSpPr>
        <p:spPr>
          <a:xfrm>
            <a:off x="2699880" y="5221937"/>
            <a:ext cx="6792244" cy="1200329"/>
          </a:xfrm>
          <a:prstGeom prst="rect">
            <a:avLst/>
          </a:prstGeom>
          <a:noFill/>
        </p:spPr>
        <p:txBody>
          <a:bodyPr wrap="none" rtlCol="0">
            <a:spAutoFit/>
          </a:bodyPr>
          <a:lstStyle/>
          <a:p>
            <a:pPr algn="ctr"/>
            <a:r>
              <a:rPr lang="en-GB" sz="3600" dirty="0">
                <a:solidFill>
                  <a:srgbClr val="A71D5D"/>
                </a:solidFill>
                <a:latin typeface="Consolas" panose="020B0609020204030204" pitchFamily="49" charset="0"/>
              </a:rPr>
              <a:t>DESC</a:t>
            </a:r>
            <a:r>
              <a:rPr lang="en-GB" sz="3600" dirty="0"/>
              <a:t> = descending</a:t>
            </a:r>
          </a:p>
          <a:p>
            <a:pPr algn="ctr"/>
            <a:r>
              <a:rPr lang="en-GB" sz="3600" dirty="0">
                <a:solidFill>
                  <a:srgbClr val="7030A0"/>
                </a:solidFill>
                <a:latin typeface="Consolas" panose="020B0609020204030204" pitchFamily="49" charset="0"/>
              </a:rPr>
              <a:t>(</a:t>
            </a:r>
            <a:r>
              <a:rPr lang="en-GB" sz="3600" dirty="0" err="1">
                <a:solidFill>
                  <a:srgbClr val="7030A0"/>
                </a:solidFill>
                <a:latin typeface="Consolas" panose="020B0609020204030204" pitchFamily="49" charset="0"/>
              </a:rPr>
              <a:t>z,y,x</a:t>
            </a:r>
            <a:r>
              <a:rPr lang="en-GB" sz="3600" dirty="0">
                <a:solidFill>
                  <a:srgbClr val="7030A0"/>
                </a:solidFill>
                <a:latin typeface="Consolas" panose="020B0609020204030204" pitchFamily="49" charset="0"/>
              </a:rPr>
              <a:t>, …			9,8,7, …)</a:t>
            </a:r>
          </a:p>
        </p:txBody>
      </p:sp>
    </p:spTree>
    <p:extLst>
      <p:ext uri="{BB962C8B-B14F-4D97-AF65-F5344CB8AC3E}">
        <p14:creationId xmlns:p14="http://schemas.microsoft.com/office/powerpoint/2010/main" val="2752439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wipe(left)">
                                      <p:cBhvr>
                                        <p:cTn id="27" dur="20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20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build="p"/>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Sort Results – Big to Small</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indent="0">
              <a:buNone/>
            </a:pPr>
            <a:r>
              <a:rPr lang="en-US" altLang="en-US" sz="4200" dirty="0">
                <a:solidFill>
                  <a:srgbClr val="B2B2B2"/>
                </a:solidFill>
                <a:latin typeface="Consolas" panose="020B0609020204030204" pitchFamily="49" charset="0"/>
              </a:rPr>
              <a:t>1 </a:t>
            </a:r>
            <a:r>
              <a:rPr lang="en-US" altLang="en-US" sz="4200" dirty="0">
                <a:solidFill>
                  <a:srgbClr val="A71D5D"/>
                </a:solidFill>
                <a:latin typeface="Consolas" panose="020B0609020204030204" pitchFamily="49" charset="0"/>
              </a:rPr>
              <a:t>SELECT</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firstName</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lastName</a:t>
            </a:r>
            <a:r>
              <a:rPr lang="en-US" altLang="en-US" sz="42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2   </a:t>
            </a:r>
            <a:r>
              <a:rPr lang="en-US" altLang="en-US" sz="4200" dirty="0">
                <a:solidFill>
                  <a:srgbClr val="A71D5D"/>
                </a:solidFill>
                <a:latin typeface="Consolas" panose="020B0609020204030204" pitchFamily="49" charset="0"/>
              </a:rPr>
              <a:t>FROM</a:t>
            </a:r>
            <a:r>
              <a:rPr lang="en-US" altLang="en-US" sz="42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3   </a:t>
            </a:r>
            <a:r>
              <a:rPr lang="en-US" altLang="en-US" sz="4200" dirty="0">
                <a:solidFill>
                  <a:srgbClr val="A71D5D"/>
                </a:solidFill>
                <a:latin typeface="Consolas" panose="020B0609020204030204" pitchFamily="49" charset="0"/>
              </a:rPr>
              <a:t>WHERE</a:t>
            </a:r>
            <a:r>
              <a:rPr lang="en-US" altLang="en-US" sz="4200" dirty="0">
                <a:solidFill>
                  <a:srgbClr val="000000"/>
                </a:solidFill>
                <a:latin typeface="Consolas" panose="020B0609020204030204" pitchFamily="49" charset="0"/>
              </a:rPr>
              <a:t> age = </a:t>
            </a:r>
            <a:r>
              <a:rPr lang="en-US" altLang="en-US" sz="4200" dirty="0">
                <a:solidFill>
                  <a:srgbClr val="0086B3"/>
                </a:solidFill>
                <a:latin typeface="Consolas" panose="020B0609020204030204" pitchFamily="49" charset="0"/>
              </a:rPr>
              <a:t>12</a:t>
            </a:r>
            <a:endParaRPr lang="en-US" altLang="en-US" sz="4200" dirty="0">
              <a:solidFill>
                <a:srgbClr val="000000"/>
              </a:solidFill>
              <a:latin typeface="Consolas" panose="020B0609020204030204" pitchFamily="49" charset="0"/>
            </a:endParaRPr>
          </a:p>
          <a:p>
            <a:pPr marL="0" indent="0">
              <a:buNone/>
            </a:pPr>
            <a:r>
              <a:rPr lang="en-US" altLang="en-US" sz="4200" dirty="0">
                <a:solidFill>
                  <a:srgbClr val="B2B2B2"/>
                </a:solidFill>
                <a:latin typeface="Consolas" panose="020B0609020204030204" pitchFamily="49" charset="0"/>
              </a:rPr>
              <a:t>4   </a:t>
            </a:r>
            <a:r>
              <a:rPr lang="en-US" altLang="en-US" sz="4200" dirty="0">
                <a:solidFill>
                  <a:srgbClr val="A71D5D"/>
                </a:solidFill>
                <a:latin typeface="Consolas" panose="020B0609020204030204" pitchFamily="49" charset="0"/>
              </a:rPr>
              <a:t>ORDER BY</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firstName</a:t>
            </a:r>
            <a:r>
              <a:rPr lang="en-US" altLang="en-US" sz="4200" dirty="0">
                <a:solidFill>
                  <a:srgbClr val="000000"/>
                </a:solidFill>
                <a:latin typeface="Consolas" panose="020B0609020204030204" pitchFamily="49" charset="0"/>
              </a:rPr>
              <a:t> </a:t>
            </a:r>
            <a:r>
              <a:rPr lang="en-US" altLang="en-US" sz="4200" dirty="0">
                <a:solidFill>
                  <a:srgbClr val="A71D5D"/>
                </a:solidFill>
                <a:latin typeface="Consolas" panose="020B0609020204030204" pitchFamily="49" charset="0"/>
              </a:rPr>
              <a:t>DESC</a:t>
            </a:r>
            <a:r>
              <a:rPr lang="en-US" altLang="en-US" sz="4200" dirty="0">
                <a:solidFill>
                  <a:srgbClr val="000000"/>
                </a:solidFill>
                <a:latin typeface="Consolas" panose="020B0609020204030204" pitchFamily="49" charset="0"/>
              </a:rPr>
              <a:t>;</a:t>
            </a:r>
            <a:endParaRPr lang="en-GB" sz="4200" dirty="0"/>
          </a:p>
        </p:txBody>
      </p:sp>
      <p:sp>
        <p:nvSpPr>
          <p:cNvPr id="6" name="TextBox 5">
            <a:extLst>
              <a:ext uri="{FF2B5EF4-FFF2-40B4-BE49-F238E27FC236}">
                <a16:creationId xmlns:a16="http://schemas.microsoft.com/office/drawing/2014/main" id="{DF4BA8FF-524A-4C13-87BF-68801971FA28}"/>
              </a:ext>
            </a:extLst>
          </p:cNvPr>
          <p:cNvSpPr txBox="1"/>
          <p:nvPr/>
        </p:nvSpPr>
        <p:spPr>
          <a:xfrm>
            <a:off x="4239402" y="5221937"/>
            <a:ext cx="1531188" cy="646331"/>
          </a:xfrm>
          <a:prstGeom prst="rect">
            <a:avLst/>
          </a:prstGeom>
          <a:noFill/>
        </p:spPr>
        <p:txBody>
          <a:bodyPr wrap="none" rtlCol="0">
            <a:spAutoFit/>
          </a:bodyPr>
          <a:lstStyle/>
          <a:p>
            <a:r>
              <a:rPr lang="en-GB" sz="3600" dirty="0">
                <a:solidFill>
                  <a:srgbClr val="A71D5D"/>
                </a:solidFill>
                <a:latin typeface="Consolas" panose="020B0609020204030204" pitchFamily="49" charset="0"/>
              </a:rPr>
              <a:t>DESC</a:t>
            </a:r>
            <a:r>
              <a:rPr lang="en-GB" sz="3600" dirty="0"/>
              <a:t> =</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23272857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B2C154-DD93-ED6C-9F89-4C46E62AADD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D7039D-DC4C-3007-1F96-6D1B58A2A3A3}"/>
              </a:ext>
            </a:extLst>
          </p:cNvPr>
          <p:cNvSpPr>
            <a:spLocks noGrp="1"/>
          </p:cNvSpPr>
          <p:nvPr>
            <p:ph type="title"/>
          </p:nvPr>
        </p:nvSpPr>
        <p:spPr/>
        <p:txBody>
          <a:bodyPr/>
          <a:lstStyle/>
          <a:p>
            <a:r>
              <a:rPr lang="en-GB" dirty="0"/>
              <a:t>Order of Operations (3)</a:t>
            </a:r>
          </a:p>
        </p:txBody>
      </p:sp>
      <p:sp>
        <p:nvSpPr>
          <p:cNvPr id="6" name="SQL">
            <a:extLst>
              <a:ext uri="{FF2B5EF4-FFF2-40B4-BE49-F238E27FC236}">
                <a16:creationId xmlns:a16="http://schemas.microsoft.com/office/drawing/2014/main" id="{BB3F14BF-DCE7-8211-AF0F-D5BAFB7215FB}"/>
              </a:ext>
            </a:extLst>
          </p:cNvPr>
          <p:cNvSpPr>
            <a:spLocks noChangeArrowheads="1"/>
          </p:cNvSpPr>
          <p:nvPr/>
        </p:nvSpPr>
        <p:spPr bwMode="auto">
          <a:xfrm>
            <a:off x="619125" y="1370838"/>
            <a:ext cx="342914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name, age</a:t>
            </a:r>
          </a:p>
          <a:p>
            <a:pPr lvl="0" eaLnBrk="0" fontAlgn="base" hangingPunct="0">
              <a:spcBef>
                <a:spcPct val="0"/>
              </a:spcBef>
              <a:spcAft>
                <a:spcPct val="0"/>
              </a:spcAft>
            </a:pPr>
            <a:r>
              <a:rPr lang="en-US" altLang="en-US" sz="2000" dirty="0">
                <a:solidFill>
                  <a:srgbClr val="B2B2B2"/>
                </a:solidFill>
                <a:latin typeface="Consolas" panose="020B0609020204030204" pitchFamily="49" charset="0"/>
              </a:rPr>
              <a:t>2 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FROM</a:t>
            </a:r>
            <a:r>
              <a:rPr lang="en-US" altLang="en-US" sz="2000" dirty="0">
                <a:solidFill>
                  <a:srgbClr val="000000"/>
                </a:solidFill>
                <a:latin typeface="Consolas" panose="020B0609020204030204" pitchFamily="49" charset="0"/>
              </a:rPr>
              <a:t> Pet</a:t>
            </a:r>
            <a:endParaRPr lang="en-US" altLang="en-US" sz="2000" dirty="0">
              <a:solidFill>
                <a:srgbClr val="B2B2B2"/>
              </a:solidFill>
              <a:latin typeface="Consolas" panose="020B0609020204030204" pitchFamily="49" charset="0"/>
            </a:endParaRPr>
          </a:p>
          <a:p>
            <a:pPr eaLnBrk="0" fontAlgn="base" hangingPunct="0">
              <a:spcBef>
                <a:spcPct val="0"/>
              </a:spcBef>
              <a:spcAft>
                <a:spcPct val="0"/>
              </a:spcAft>
            </a:pPr>
            <a:r>
              <a:rPr lang="en-US" altLang="en-US" sz="2000" dirty="0">
                <a:solidFill>
                  <a:srgbClr val="B2B2B2"/>
                </a:solidFill>
                <a:latin typeface="Consolas" panose="020B0609020204030204" pitchFamily="49" charset="0"/>
              </a:rPr>
              <a:t>3 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WHERE</a:t>
            </a:r>
            <a:r>
              <a:rPr lang="en-US" altLang="en-US" sz="2000" dirty="0">
                <a:solidFill>
                  <a:srgbClr val="000000"/>
                </a:solidFill>
                <a:latin typeface="Consolas" panose="020B0609020204030204" pitchFamily="49" charset="0"/>
              </a:rPr>
              <a:t> age &lt; </a:t>
            </a:r>
            <a:r>
              <a:rPr lang="en-US" altLang="en-US" sz="2000" dirty="0">
                <a:solidFill>
                  <a:srgbClr val="0086B3"/>
                </a:solidFill>
                <a:latin typeface="Consolas" panose="020B0609020204030204" pitchFamily="49" charset="0"/>
              </a:rPr>
              <a:t>5</a:t>
            </a:r>
            <a:endParaRPr lang="en-US" altLang="en-US" sz="2000" dirty="0">
              <a:solidFill>
                <a:srgbClr val="000000"/>
              </a:solidFill>
              <a:latin typeface="Consolas" panose="020B0609020204030204" pitchFamily="49" charset="0"/>
            </a:endParaRPr>
          </a:p>
          <a:p>
            <a:pPr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4 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ORDER BY</a:t>
            </a:r>
            <a:r>
              <a:rPr lang="en-US" altLang="en-US" sz="2000" dirty="0">
                <a:solidFill>
                  <a:srgbClr val="000000"/>
                </a:solidFill>
                <a:latin typeface="Consolas" panose="020B0609020204030204" pitchFamily="49" charset="0"/>
              </a:rPr>
              <a:t> type </a:t>
            </a:r>
            <a:r>
              <a:rPr lang="en-US" altLang="en-US" sz="2000" dirty="0">
                <a:solidFill>
                  <a:srgbClr val="A71D5D"/>
                </a:solidFill>
                <a:latin typeface="Consolas" panose="020B0609020204030204" pitchFamily="49" charset="0"/>
              </a:rPr>
              <a:t>DESC</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latin typeface="Consolas" panose="020B0609020204030204" pitchFamily="49" charset="0"/>
            </a:endParaRPr>
          </a:p>
        </p:txBody>
      </p:sp>
      <p:sp>
        <p:nvSpPr>
          <p:cNvPr id="17" name="Pet">
            <a:extLst>
              <a:ext uri="{FF2B5EF4-FFF2-40B4-BE49-F238E27FC236}">
                <a16:creationId xmlns:a16="http://schemas.microsoft.com/office/drawing/2014/main" id="{4CA12722-67FD-1D61-B738-175BB9CB27FD}"/>
              </a:ext>
            </a:extLst>
          </p:cNvPr>
          <p:cNvSpPr txBox="1"/>
          <p:nvPr/>
        </p:nvSpPr>
        <p:spPr>
          <a:xfrm>
            <a:off x="1365548" y="3091527"/>
            <a:ext cx="1771650" cy="369332"/>
          </a:xfrm>
          <a:prstGeom prst="rect">
            <a:avLst/>
          </a:prstGeom>
          <a:noFill/>
        </p:spPr>
        <p:txBody>
          <a:bodyPr wrap="square" rtlCol="0">
            <a:spAutoFit/>
          </a:bodyPr>
          <a:lstStyle/>
          <a:p>
            <a:r>
              <a:rPr lang="en-GB" b="1" dirty="0"/>
              <a:t>Table: Pet</a:t>
            </a:r>
          </a:p>
        </p:txBody>
      </p:sp>
      <p:sp>
        <p:nvSpPr>
          <p:cNvPr id="19" name="Order">
            <a:extLst>
              <a:ext uri="{FF2B5EF4-FFF2-40B4-BE49-F238E27FC236}">
                <a16:creationId xmlns:a16="http://schemas.microsoft.com/office/drawing/2014/main" id="{9AB8BED7-3D03-6733-7EEB-905B6A695BC7}"/>
              </a:ext>
            </a:extLst>
          </p:cNvPr>
          <p:cNvSpPr txBox="1"/>
          <p:nvPr/>
        </p:nvSpPr>
        <p:spPr>
          <a:xfrm>
            <a:off x="8794761" y="599622"/>
            <a:ext cx="2590417" cy="2246769"/>
          </a:xfrm>
          <a:prstGeom prst="rect">
            <a:avLst/>
          </a:prstGeom>
          <a:noFill/>
        </p:spPr>
        <p:txBody>
          <a:bodyPr wrap="square" rtlCol="0">
            <a:spAutoFit/>
          </a:bodyPr>
          <a:lstStyle/>
          <a:p>
            <a:r>
              <a:rPr lang="en-GB" sz="2800" b="1" dirty="0">
                <a:solidFill>
                  <a:srgbClr val="7030A0"/>
                </a:solidFill>
              </a:rPr>
              <a:t>Order</a:t>
            </a:r>
            <a:r>
              <a:rPr lang="en-GB" sz="2800" dirty="0">
                <a:solidFill>
                  <a:srgbClr val="7030A0"/>
                </a:solidFill>
              </a:rPr>
              <a:t>:</a:t>
            </a:r>
          </a:p>
          <a:p>
            <a:pPr lvl="1"/>
            <a:r>
              <a:rPr lang="en-GB" sz="2800" dirty="0">
                <a:solidFill>
                  <a:srgbClr val="7030A0"/>
                </a:solidFill>
              </a:rPr>
              <a:t>1.  FROM</a:t>
            </a:r>
          </a:p>
          <a:p>
            <a:pPr lvl="1"/>
            <a:r>
              <a:rPr lang="en-GB" sz="2800" dirty="0">
                <a:solidFill>
                  <a:srgbClr val="7030A0"/>
                </a:solidFill>
              </a:rPr>
              <a:t>2.  WHERE</a:t>
            </a:r>
          </a:p>
          <a:p>
            <a:pPr lvl="1"/>
            <a:r>
              <a:rPr lang="en-GB" sz="2800" dirty="0">
                <a:solidFill>
                  <a:srgbClr val="7030A0"/>
                </a:solidFill>
              </a:rPr>
              <a:t>3.  SELECT</a:t>
            </a:r>
          </a:p>
          <a:p>
            <a:pPr lvl="1"/>
            <a:r>
              <a:rPr lang="en-GB" sz="2800" dirty="0">
                <a:solidFill>
                  <a:srgbClr val="7030A0"/>
                </a:solidFill>
              </a:rPr>
              <a:t>4.  ORDER BY</a:t>
            </a:r>
          </a:p>
        </p:txBody>
      </p:sp>
      <p:sp>
        <p:nvSpPr>
          <p:cNvPr id="27" name="From - Arrow">
            <a:extLst>
              <a:ext uri="{FF2B5EF4-FFF2-40B4-BE49-F238E27FC236}">
                <a16:creationId xmlns:a16="http://schemas.microsoft.com/office/drawing/2014/main" id="{E57C248C-DECA-445B-3777-559FD76E0471}"/>
              </a:ext>
            </a:extLst>
          </p:cNvPr>
          <p:cNvSpPr/>
          <p:nvPr/>
        </p:nvSpPr>
        <p:spPr>
          <a:xfrm>
            <a:off x="154555" y="1757431"/>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om">
            <a:extLst>
              <a:ext uri="{FF2B5EF4-FFF2-40B4-BE49-F238E27FC236}">
                <a16:creationId xmlns:a16="http://schemas.microsoft.com/office/drawing/2014/main" id="{78B64078-CD33-E0CF-944C-B2B88EB38B02}"/>
              </a:ext>
            </a:extLst>
          </p:cNvPr>
          <p:cNvSpPr txBox="1"/>
          <p:nvPr/>
        </p:nvSpPr>
        <p:spPr>
          <a:xfrm>
            <a:off x="3409001" y="2911786"/>
            <a:ext cx="850960" cy="369332"/>
          </a:xfrm>
          <a:prstGeom prst="rect">
            <a:avLst/>
          </a:prstGeom>
          <a:noFill/>
        </p:spPr>
        <p:txBody>
          <a:bodyPr wrap="square" rtlCol="0">
            <a:spAutoFit/>
          </a:bodyPr>
          <a:lstStyle/>
          <a:p>
            <a:r>
              <a:rPr lang="en-GB" b="1" dirty="0"/>
              <a:t>FROM</a:t>
            </a:r>
          </a:p>
        </p:txBody>
      </p:sp>
      <p:graphicFrame>
        <p:nvGraphicFramePr>
          <p:cNvPr id="22" name="Pet - Table">
            <a:extLst>
              <a:ext uri="{FF2B5EF4-FFF2-40B4-BE49-F238E27FC236}">
                <a16:creationId xmlns:a16="http://schemas.microsoft.com/office/drawing/2014/main" id="{F1277B78-8984-8B58-5C2E-EDE193CCEAA9}"/>
              </a:ext>
            </a:extLst>
          </p:cNvPr>
          <p:cNvGraphicFramePr>
            <a:graphicFrameLocks noGrp="1"/>
          </p:cNvGraphicFramePr>
          <p:nvPr>
            <p:extLst>
              <p:ext uri="{D42A27DB-BD31-4B8C-83A1-F6EECF244321}">
                <p14:modId xmlns:p14="http://schemas.microsoft.com/office/powerpoint/2010/main" val="202258056"/>
              </p:ext>
            </p:extLst>
          </p:nvPr>
        </p:nvGraphicFramePr>
        <p:xfrm>
          <a:off x="1451271"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7</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a:solidFill>
                            <a:schemeClr val="tx1"/>
                          </a:solidFill>
                          <a:effectLst/>
                        </a:rPr>
                        <a:t>Minnie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graphicFrame>
        <p:nvGraphicFramePr>
          <p:cNvPr id="23" name="Temp - Table">
            <a:extLst>
              <a:ext uri="{FF2B5EF4-FFF2-40B4-BE49-F238E27FC236}">
                <a16:creationId xmlns:a16="http://schemas.microsoft.com/office/drawing/2014/main" id="{DA0004D0-54C5-7FE3-495E-2E40E17F56E7}"/>
              </a:ext>
            </a:extLst>
          </p:cNvPr>
          <p:cNvGraphicFramePr>
            <a:graphicFrameLocks noGrp="1"/>
          </p:cNvGraphicFramePr>
          <p:nvPr>
            <p:extLst>
              <p:ext uri="{D42A27DB-BD31-4B8C-83A1-F6EECF244321}">
                <p14:modId xmlns:p14="http://schemas.microsoft.com/office/powerpoint/2010/main" val="1455215032"/>
              </p:ext>
            </p:extLst>
          </p:nvPr>
        </p:nvGraphicFramePr>
        <p:xfrm>
          <a:off x="4081885"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9</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sp>
        <p:nvSpPr>
          <p:cNvPr id="25" name="Select">
            <a:extLst>
              <a:ext uri="{FF2B5EF4-FFF2-40B4-BE49-F238E27FC236}">
                <a16:creationId xmlns:a16="http://schemas.microsoft.com/office/drawing/2014/main" id="{2A49F281-A209-A6F3-A18C-72757AC1B916}"/>
              </a:ext>
            </a:extLst>
          </p:cNvPr>
          <p:cNvSpPr txBox="1"/>
          <p:nvPr/>
        </p:nvSpPr>
        <p:spPr>
          <a:xfrm>
            <a:off x="4754298" y="2081278"/>
            <a:ext cx="850960" cy="369332"/>
          </a:xfrm>
          <a:prstGeom prst="rect">
            <a:avLst/>
          </a:prstGeom>
          <a:noFill/>
        </p:spPr>
        <p:txBody>
          <a:bodyPr wrap="square" rtlCol="0">
            <a:spAutoFit/>
          </a:bodyPr>
          <a:lstStyle/>
          <a:p>
            <a:pPr algn="ctr"/>
            <a:r>
              <a:rPr lang="en-GB" b="1" dirty="0"/>
              <a:t>SELECT</a:t>
            </a:r>
          </a:p>
        </p:txBody>
      </p:sp>
      <p:sp>
        <p:nvSpPr>
          <p:cNvPr id="26" name="Temp - Arrow">
            <a:extLst>
              <a:ext uri="{FF2B5EF4-FFF2-40B4-BE49-F238E27FC236}">
                <a16:creationId xmlns:a16="http://schemas.microsoft.com/office/drawing/2014/main" id="{1A22687F-9CC3-77DA-888E-EB02C1FDEFA4}"/>
              </a:ext>
            </a:extLst>
          </p:cNvPr>
          <p:cNvSpPr/>
          <p:nvPr/>
        </p:nvSpPr>
        <p:spPr>
          <a:xfrm>
            <a:off x="3539502" y="4748123"/>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Select - Arrow">
            <a:extLst>
              <a:ext uri="{FF2B5EF4-FFF2-40B4-BE49-F238E27FC236}">
                <a16:creationId xmlns:a16="http://schemas.microsoft.com/office/drawing/2014/main" id="{B4BBE812-EAF4-B48F-6791-443B03AA852A}"/>
              </a:ext>
            </a:extLst>
          </p:cNvPr>
          <p:cNvSpPr/>
          <p:nvPr/>
        </p:nvSpPr>
        <p:spPr>
          <a:xfrm>
            <a:off x="154555" y="1430188"/>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utput">
            <a:extLst>
              <a:ext uri="{FF2B5EF4-FFF2-40B4-BE49-F238E27FC236}">
                <a16:creationId xmlns:a16="http://schemas.microsoft.com/office/drawing/2014/main" id="{12D80B6F-5F24-F5D0-D320-08DA8E3B3394}"/>
              </a:ext>
            </a:extLst>
          </p:cNvPr>
          <p:cNvSpPr txBox="1"/>
          <p:nvPr/>
        </p:nvSpPr>
        <p:spPr>
          <a:xfrm>
            <a:off x="8818306" y="2911786"/>
            <a:ext cx="960176" cy="369332"/>
          </a:xfrm>
          <a:prstGeom prst="rect">
            <a:avLst/>
          </a:prstGeom>
          <a:noFill/>
        </p:spPr>
        <p:txBody>
          <a:bodyPr wrap="square" rtlCol="0">
            <a:spAutoFit/>
          </a:bodyPr>
          <a:lstStyle/>
          <a:p>
            <a:pPr algn="ctr"/>
            <a:r>
              <a:rPr lang="en-GB" b="1" dirty="0"/>
              <a:t>Output</a:t>
            </a:r>
          </a:p>
        </p:txBody>
      </p:sp>
      <p:sp>
        <p:nvSpPr>
          <p:cNvPr id="20" name="Mickey - Row">
            <a:extLst>
              <a:ext uri="{FF2B5EF4-FFF2-40B4-BE49-F238E27FC236}">
                <a16:creationId xmlns:a16="http://schemas.microsoft.com/office/drawing/2014/main" id="{1853AA6B-7FD8-3E7E-8D9E-E7952D8BFB0D}"/>
              </a:ext>
            </a:extLst>
          </p:cNvPr>
          <p:cNvSpPr/>
          <p:nvPr/>
        </p:nvSpPr>
        <p:spPr>
          <a:xfrm>
            <a:off x="4035588" y="4712125"/>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oger - Row">
            <a:extLst>
              <a:ext uri="{FF2B5EF4-FFF2-40B4-BE49-F238E27FC236}">
                <a16:creationId xmlns:a16="http://schemas.microsoft.com/office/drawing/2014/main" id="{0D3CC910-5E9E-5935-6ED7-338DCE177882}"/>
              </a:ext>
            </a:extLst>
          </p:cNvPr>
          <p:cNvSpPr/>
          <p:nvPr/>
        </p:nvSpPr>
        <p:spPr>
          <a:xfrm>
            <a:off x="4035587" y="6005292"/>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Cindy - Row">
            <a:extLst>
              <a:ext uri="{FF2B5EF4-FFF2-40B4-BE49-F238E27FC236}">
                <a16:creationId xmlns:a16="http://schemas.microsoft.com/office/drawing/2014/main" id="{F42FD7F0-C7E3-F7C3-64B5-86175BE26E84}"/>
              </a:ext>
            </a:extLst>
          </p:cNvPr>
          <p:cNvSpPr/>
          <p:nvPr/>
        </p:nvSpPr>
        <p:spPr>
          <a:xfrm>
            <a:off x="4035278" y="4064352"/>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Mickey - Yellow">
            <a:extLst>
              <a:ext uri="{FF2B5EF4-FFF2-40B4-BE49-F238E27FC236}">
                <a16:creationId xmlns:a16="http://schemas.microsoft.com/office/drawing/2014/main" id="{55B3F266-3D66-01A5-0084-02B23DD79047}"/>
              </a:ext>
            </a:extLst>
          </p:cNvPr>
          <p:cNvSpPr/>
          <p:nvPr/>
        </p:nvSpPr>
        <p:spPr>
          <a:xfrm>
            <a:off x="5659147" y="4719669"/>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oger - Yellow">
            <a:extLst>
              <a:ext uri="{FF2B5EF4-FFF2-40B4-BE49-F238E27FC236}">
                <a16:creationId xmlns:a16="http://schemas.microsoft.com/office/drawing/2014/main" id="{CA1DF3E2-1B1A-F633-3A4A-4F5C43855F4B}"/>
              </a:ext>
            </a:extLst>
          </p:cNvPr>
          <p:cNvSpPr/>
          <p:nvPr/>
        </p:nvSpPr>
        <p:spPr>
          <a:xfrm>
            <a:off x="5656920" y="6007680"/>
            <a:ext cx="470841"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Where - Arrow">
            <a:extLst>
              <a:ext uri="{FF2B5EF4-FFF2-40B4-BE49-F238E27FC236}">
                <a16:creationId xmlns:a16="http://schemas.microsoft.com/office/drawing/2014/main" id="{87DF93C4-BB49-2411-07A1-6DBE208A0AFD}"/>
              </a:ext>
            </a:extLst>
          </p:cNvPr>
          <p:cNvSpPr/>
          <p:nvPr/>
        </p:nvSpPr>
        <p:spPr>
          <a:xfrm>
            <a:off x="154555" y="2048611"/>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Where 2 - Arrow">
            <a:extLst>
              <a:ext uri="{FF2B5EF4-FFF2-40B4-BE49-F238E27FC236}">
                <a16:creationId xmlns:a16="http://schemas.microsoft.com/office/drawing/2014/main" id="{A6189F44-41DB-CE81-6168-B5A995CDCC5B}"/>
              </a:ext>
            </a:extLst>
          </p:cNvPr>
          <p:cNvSpPr/>
          <p:nvPr/>
        </p:nvSpPr>
        <p:spPr>
          <a:xfrm rot="3278631">
            <a:off x="5277224" y="2865790"/>
            <a:ext cx="464567" cy="46799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 name="Where">
            <a:extLst>
              <a:ext uri="{FF2B5EF4-FFF2-40B4-BE49-F238E27FC236}">
                <a16:creationId xmlns:a16="http://schemas.microsoft.com/office/drawing/2014/main" id="{4655A23E-6F0D-4644-8D1D-8ACA1DC5679D}"/>
              </a:ext>
            </a:extLst>
          </p:cNvPr>
          <p:cNvSpPr txBox="1"/>
          <p:nvPr/>
        </p:nvSpPr>
        <p:spPr>
          <a:xfrm>
            <a:off x="4786092" y="2526778"/>
            <a:ext cx="908750" cy="369332"/>
          </a:xfrm>
          <a:prstGeom prst="rect">
            <a:avLst/>
          </a:prstGeom>
          <a:noFill/>
        </p:spPr>
        <p:txBody>
          <a:bodyPr wrap="square" rtlCol="0">
            <a:spAutoFit/>
          </a:bodyPr>
          <a:lstStyle/>
          <a:p>
            <a:pPr algn="ctr"/>
            <a:r>
              <a:rPr lang="en-GB" b="1" dirty="0"/>
              <a:t>WHERE</a:t>
            </a:r>
          </a:p>
        </p:txBody>
      </p:sp>
      <p:cxnSp>
        <p:nvCxnSpPr>
          <p:cNvPr id="5" name="Name - Arrow">
            <a:extLst>
              <a:ext uri="{FF2B5EF4-FFF2-40B4-BE49-F238E27FC236}">
                <a16:creationId xmlns:a16="http://schemas.microsoft.com/office/drawing/2014/main" id="{72F20B23-42BD-4059-0D74-45475F61A21A}"/>
              </a:ext>
            </a:extLst>
          </p:cNvPr>
          <p:cNvCxnSpPr>
            <a:cxnSpLocks/>
            <a:stCxn id="25" idx="1"/>
            <a:endCxn id="29" idx="0"/>
          </p:cNvCxnSpPr>
          <p:nvPr/>
        </p:nvCxnSpPr>
        <p:spPr>
          <a:xfrm flipH="1">
            <a:off x="4460434" y="2265944"/>
            <a:ext cx="293864" cy="111260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Age - Arrow">
            <a:extLst>
              <a:ext uri="{FF2B5EF4-FFF2-40B4-BE49-F238E27FC236}">
                <a16:creationId xmlns:a16="http://schemas.microsoft.com/office/drawing/2014/main" id="{89C05E4F-C462-0686-CC12-3E0009FCBBA6}"/>
              </a:ext>
            </a:extLst>
          </p:cNvPr>
          <p:cNvCxnSpPr>
            <a:cxnSpLocks/>
            <a:stCxn id="25" idx="3"/>
            <a:endCxn id="30" idx="0"/>
          </p:cNvCxnSpPr>
          <p:nvPr/>
        </p:nvCxnSpPr>
        <p:spPr>
          <a:xfrm>
            <a:off x="5605258" y="2265944"/>
            <a:ext cx="287889" cy="111260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 name="Cindy - Yellow">
            <a:extLst>
              <a:ext uri="{FF2B5EF4-FFF2-40B4-BE49-F238E27FC236}">
                <a16:creationId xmlns:a16="http://schemas.microsoft.com/office/drawing/2014/main" id="{868CB6FE-6953-CD77-7A9F-225AD4548CB6}"/>
              </a:ext>
            </a:extLst>
          </p:cNvPr>
          <p:cNvSpPr/>
          <p:nvPr/>
        </p:nvSpPr>
        <p:spPr>
          <a:xfrm>
            <a:off x="5659147" y="4065060"/>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Order By - Arrow">
            <a:extLst>
              <a:ext uri="{FF2B5EF4-FFF2-40B4-BE49-F238E27FC236}">
                <a16:creationId xmlns:a16="http://schemas.microsoft.com/office/drawing/2014/main" id="{A3030223-B6FA-1C0F-1B60-00D7CD4792DA}"/>
              </a:ext>
            </a:extLst>
          </p:cNvPr>
          <p:cNvSpPr/>
          <p:nvPr/>
        </p:nvSpPr>
        <p:spPr>
          <a:xfrm>
            <a:off x="147347" y="2349629"/>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 name="Sorted - Table">
            <a:extLst>
              <a:ext uri="{FF2B5EF4-FFF2-40B4-BE49-F238E27FC236}">
                <a16:creationId xmlns:a16="http://schemas.microsoft.com/office/drawing/2014/main" id="{23E04685-FE2C-E794-0AD6-95692BED2BED}"/>
              </a:ext>
            </a:extLst>
          </p:cNvPr>
          <p:cNvGraphicFramePr>
            <a:graphicFrameLocks noGrp="1"/>
          </p:cNvGraphicFramePr>
          <p:nvPr>
            <p:extLst>
              <p:ext uri="{D42A27DB-BD31-4B8C-83A1-F6EECF244321}">
                <p14:modId xmlns:p14="http://schemas.microsoft.com/office/powerpoint/2010/main" val="4029401190"/>
              </p:ext>
            </p:extLst>
          </p:nvPr>
        </p:nvGraphicFramePr>
        <p:xfrm>
          <a:off x="9378016" y="3429000"/>
          <a:ext cx="1254887" cy="16192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3</a:t>
                      </a:r>
                    </a:p>
                  </a:txBody>
                  <a:tcPr marL="9525" marR="9525" marT="9525" marB="9525" anchor="ctr"/>
                </a:tc>
                <a:extLst>
                  <a:ext uri="{0D108BD9-81ED-4DB2-BD59-A6C34878D82A}">
                    <a16:rowId xmlns:a16="http://schemas.microsoft.com/office/drawing/2014/main" val="627053109"/>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1</a:t>
                      </a:r>
                    </a:p>
                  </a:txBody>
                  <a:tcPr marL="9525" marR="9525" marT="9525" marB="9525" anchor="ctr"/>
                </a:tc>
                <a:extLst>
                  <a:ext uri="{0D108BD9-81ED-4DB2-BD59-A6C34878D82A}">
                    <a16:rowId xmlns:a16="http://schemas.microsoft.com/office/drawing/2014/main" val="3151915704"/>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1</a:t>
                      </a:r>
                    </a:p>
                  </a:txBody>
                  <a:tcPr marL="9525" marR="9525" marT="9525" marB="9525" anchor="ctr"/>
                </a:tc>
                <a:extLst>
                  <a:ext uri="{0D108BD9-81ED-4DB2-BD59-A6C34878D82A}">
                    <a16:rowId xmlns:a16="http://schemas.microsoft.com/office/drawing/2014/main" val="1193887924"/>
                  </a:ext>
                </a:extLst>
              </a:tr>
              <a:tr h="0">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Cindy</a:t>
                      </a: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4</a:t>
                      </a:r>
                    </a:p>
                  </a:txBody>
                  <a:tcPr marL="9525" marR="9525" marT="9525" marB="9525" anchor="ctr"/>
                </a:tc>
                <a:extLst>
                  <a:ext uri="{0D108BD9-81ED-4DB2-BD59-A6C34878D82A}">
                    <a16:rowId xmlns:a16="http://schemas.microsoft.com/office/drawing/2014/main" val="171917894"/>
                  </a:ext>
                </a:extLst>
              </a:tr>
            </a:tbl>
          </a:graphicData>
        </a:graphic>
      </p:graphicFrame>
      <p:sp>
        <p:nvSpPr>
          <p:cNvPr id="8" name="Minnie - Row">
            <a:extLst>
              <a:ext uri="{FF2B5EF4-FFF2-40B4-BE49-F238E27FC236}">
                <a16:creationId xmlns:a16="http://schemas.microsoft.com/office/drawing/2014/main" id="{DE26CC7C-F218-9CA9-C097-A8F3A953F8BD}"/>
              </a:ext>
            </a:extLst>
          </p:cNvPr>
          <p:cNvSpPr/>
          <p:nvPr/>
        </p:nvSpPr>
        <p:spPr>
          <a:xfrm>
            <a:off x="4035743" y="5047810"/>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Age - Column">
            <a:extLst>
              <a:ext uri="{FF2B5EF4-FFF2-40B4-BE49-F238E27FC236}">
                <a16:creationId xmlns:a16="http://schemas.microsoft.com/office/drawing/2014/main" id="{478C350C-C7E5-7A4A-CBD3-3128DC1AB01A}"/>
              </a:ext>
            </a:extLst>
          </p:cNvPr>
          <p:cNvSpPr/>
          <p:nvPr/>
        </p:nvSpPr>
        <p:spPr>
          <a:xfrm>
            <a:off x="5659147" y="3378552"/>
            <a:ext cx="468000" cy="297726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Name - Column">
            <a:extLst>
              <a:ext uri="{FF2B5EF4-FFF2-40B4-BE49-F238E27FC236}">
                <a16:creationId xmlns:a16="http://schemas.microsoft.com/office/drawing/2014/main" id="{E54C19DE-454B-F9EC-8F7B-CE1C4831318F}"/>
              </a:ext>
            </a:extLst>
          </p:cNvPr>
          <p:cNvSpPr/>
          <p:nvPr/>
        </p:nvSpPr>
        <p:spPr>
          <a:xfrm>
            <a:off x="4064434" y="3378552"/>
            <a:ext cx="792000" cy="297694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utput - Arrow">
            <a:extLst>
              <a:ext uri="{FF2B5EF4-FFF2-40B4-BE49-F238E27FC236}">
                <a16:creationId xmlns:a16="http://schemas.microsoft.com/office/drawing/2014/main" id="{41B03BC3-B622-38BA-3963-2997C3543829}"/>
              </a:ext>
            </a:extLst>
          </p:cNvPr>
          <p:cNvSpPr/>
          <p:nvPr/>
        </p:nvSpPr>
        <p:spPr>
          <a:xfrm>
            <a:off x="8853491" y="3944680"/>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Minnie - Yellow">
            <a:extLst>
              <a:ext uri="{FF2B5EF4-FFF2-40B4-BE49-F238E27FC236}">
                <a16:creationId xmlns:a16="http://schemas.microsoft.com/office/drawing/2014/main" id="{25E94918-C645-BFD4-5304-B5A80FA2722B}"/>
              </a:ext>
            </a:extLst>
          </p:cNvPr>
          <p:cNvSpPr/>
          <p:nvPr/>
        </p:nvSpPr>
        <p:spPr>
          <a:xfrm>
            <a:off x="5656921" y="5041067"/>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2" name="Temp - Table">
            <a:extLst>
              <a:ext uri="{FF2B5EF4-FFF2-40B4-BE49-F238E27FC236}">
                <a16:creationId xmlns:a16="http://schemas.microsoft.com/office/drawing/2014/main" id="{EF3A2748-AA90-BCC8-2993-A9CADABE91F9}"/>
              </a:ext>
            </a:extLst>
          </p:cNvPr>
          <p:cNvGraphicFramePr>
            <a:graphicFrameLocks noGrp="1"/>
          </p:cNvGraphicFramePr>
          <p:nvPr>
            <p:extLst>
              <p:ext uri="{D42A27DB-BD31-4B8C-83A1-F6EECF244321}">
                <p14:modId xmlns:p14="http://schemas.microsoft.com/office/powerpoint/2010/main" val="1662633397"/>
              </p:ext>
            </p:extLst>
          </p:nvPr>
        </p:nvGraphicFramePr>
        <p:xfrm>
          <a:off x="6721144"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Rabbit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Mouse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Mouse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4</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dirty="0">
                          <a:solidFill>
                            <a:schemeClr val="tx1"/>
                          </a:solidFill>
                          <a:effectLst/>
                        </a:rPr>
                        <a:t>Bonzo</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Pepper</a:t>
                      </a: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dirty="0">
                          <a:solidFill>
                            <a:schemeClr val="tx1"/>
                          </a:solidFill>
                          <a:effectLst/>
                        </a:rPr>
                        <a:t>Snowy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7</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Kitty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9</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sp>
        <p:nvSpPr>
          <p:cNvPr id="43" name="Temp - Arrow">
            <a:extLst>
              <a:ext uri="{FF2B5EF4-FFF2-40B4-BE49-F238E27FC236}">
                <a16:creationId xmlns:a16="http://schemas.microsoft.com/office/drawing/2014/main" id="{12735B52-F70C-8511-82FF-DD98CDFED39E}"/>
              </a:ext>
            </a:extLst>
          </p:cNvPr>
          <p:cNvSpPr/>
          <p:nvPr/>
        </p:nvSpPr>
        <p:spPr>
          <a:xfrm>
            <a:off x="6189455" y="4748755"/>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7" name="Group 56">
            <a:extLst>
              <a:ext uri="{FF2B5EF4-FFF2-40B4-BE49-F238E27FC236}">
                <a16:creationId xmlns:a16="http://schemas.microsoft.com/office/drawing/2014/main" id="{B1521731-A15D-3FBE-F181-C47FACE64AD9}"/>
              </a:ext>
            </a:extLst>
          </p:cNvPr>
          <p:cNvGrpSpPr/>
          <p:nvPr/>
        </p:nvGrpSpPr>
        <p:grpSpPr>
          <a:xfrm>
            <a:off x="6670761" y="3378552"/>
            <a:ext cx="2127050" cy="2977268"/>
            <a:chOff x="6346291" y="3378552"/>
            <a:chExt cx="2127050" cy="2977268"/>
          </a:xfrm>
        </p:grpSpPr>
        <p:sp>
          <p:nvSpPr>
            <p:cNvPr id="13" name="Mickey - Row">
              <a:extLst>
                <a:ext uri="{FF2B5EF4-FFF2-40B4-BE49-F238E27FC236}">
                  <a16:creationId xmlns:a16="http://schemas.microsoft.com/office/drawing/2014/main" id="{AB372B6C-3B4A-0882-48BF-C3ED76FEB0E1}"/>
                </a:ext>
              </a:extLst>
            </p:cNvPr>
            <p:cNvSpPr/>
            <p:nvPr/>
          </p:nvSpPr>
          <p:spPr>
            <a:xfrm>
              <a:off x="6348442" y="4399065"/>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Mickey - Yellow">
              <a:extLst>
                <a:ext uri="{FF2B5EF4-FFF2-40B4-BE49-F238E27FC236}">
                  <a16:creationId xmlns:a16="http://schemas.microsoft.com/office/drawing/2014/main" id="{D0420BFE-8246-C2E5-2285-39EB349C44AC}"/>
                </a:ext>
              </a:extLst>
            </p:cNvPr>
            <p:cNvSpPr/>
            <p:nvPr/>
          </p:nvSpPr>
          <p:spPr>
            <a:xfrm>
              <a:off x="7972001" y="4406609"/>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oger - Row">
              <a:extLst>
                <a:ext uri="{FF2B5EF4-FFF2-40B4-BE49-F238E27FC236}">
                  <a16:creationId xmlns:a16="http://schemas.microsoft.com/office/drawing/2014/main" id="{5CF9AEE8-7F06-6911-9BD5-2B20058A0ADF}"/>
                </a:ext>
              </a:extLst>
            </p:cNvPr>
            <p:cNvSpPr/>
            <p:nvPr/>
          </p:nvSpPr>
          <p:spPr>
            <a:xfrm>
              <a:off x="6346291" y="3750604"/>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oger - Yellow">
              <a:extLst>
                <a:ext uri="{FF2B5EF4-FFF2-40B4-BE49-F238E27FC236}">
                  <a16:creationId xmlns:a16="http://schemas.microsoft.com/office/drawing/2014/main" id="{C10201D1-6D69-AD5F-8101-06261FAA21C4}"/>
                </a:ext>
              </a:extLst>
            </p:cNvPr>
            <p:cNvSpPr/>
            <p:nvPr/>
          </p:nvSpPr>
          <p:spPr>
            <a:xfrm>
              <a:off x="7967624" y="3752992"/>
              <a:ext cx="470841"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Cindy - Row">
              <a:extLst>
                <a:ext uri="{FF2B5EF4-FFF2-40B4-BE49-F238E27FC236}">
                  <a16:creationId xmlns:a16="http://schemas.microsoft.com/office/drawing/2014/main" id="{30F0A1F3-8EE7-6C33-2345-466F0727ADCF}"/>
                </a:ext>
              </a:extLst>
            </p:cNvPr>
            <p:cNvSpPr/>
            <p:nvPr/>
          </p:nvSpPr>
          <p:spPr>
            <a:xfrm>
              <a:off x="6346291" y="4714735"/>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Cindy - Yellow">
              <a:extLst>
                <a:ext uri="{FF2B5EF4-FFF2-40B4-BE49-F238E27FC236}">
                  <a16:creationId xmlns:a16="http://schemas.microsoft.com/office/drawing/2014/main" id="{516288FD-4D61-14FF-351E-EB783B2321D0}"/>
                </a:ext>
              </a:extLst>
            </p:cNvPr>
            <p:cNvSpPr/>
            <p:nvPr/>
          </p:nvSpPr>
          <p:spPr>
            <a:xfrm>
              <a:off x="7970160" y="4715443"/>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Minnie - Row">
              <a:extLst>
                <a:ext uri="{FF2B5EF4-FFF2-40B4-BE49-F238E27FC236}">
                  <a16:creationId xmlns:a16="http://schemas.microsoft.com/office/drawing/2014/main" id="{64B2A77A-4EC4-537C-43DD-335601F3B2D6}"/>
                </a:ext>
              </a:extLst>
            </p:cNvPr>
            <p:cNvSpPr/>
            <p:nvPr/>
          </p:nvSpPr>
          <p:spPr>
            <a:xfrm>
              <a:off x="6349341" y="4068247"/>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Minnie - Yellow">
              <a:extLst>
                <a:ext uri="{FF2B5EF4-FFF2-40B4-BE49-F238E27FC236}">
                  <a16:creationId xmlns:a16="http://schemas.microsoft.com/office/drawing/2014/main" id="{4ECB4FCC-8F88-19AB-074B-ED37FDF7BF25}"/>
                </a:ext>
              </a:extLst>
            </p:cNvPr>
            <p:cNvSpPr/>
            <p:nvPr/>
          </p:nvSpPr>
          <p:spPr>
            <a:xfrm>
              <a:off x="7970519" y="4061504"/>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Age - Column">
              <a:extLst>
                <a:ext uri="{FF2B5EF4-FFF2-40B4-BE49-F238E27FC236}">
                  <a16:creationId xmlns:a16="http://schemas.microsoft.com/office/drawing/2014/main" id="{AA596A34-9643-938B-43CE-DB3B46EE8BF1}"/>
                </a:ext>
              </a:extLst>
            </p:cNvPr>
            <p:cNvSpPr/>
            <p:nvPr/>
          </p:nvSpPr>
          <p:spPr>
            <a:xfrm>
              <a:off x="7973936" y="3378552"/>
              <a:ext cx="468000" cy="297726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Name - Column">
              <a:extLst>
                <a:ext uri="{FF2B5EF4-FFF2-40B4-BE49-F238E27FC236}">
                  <a16:creationId xmlns:a16="http://schemas.microsoft.com/office/drawing/2014/main" id="{3D274248-AF25-F7EF-A10D-420DC757C823}"/>
                </a:ext>
              </a:extLst>
            </p:cNvPr>
            <p:cNvSpPr/>
            <p:nvPr/>
          </p:nvSpPr>
          <p:spPr>
            <a:xfrm>
              <a:off x="6379223" y="3378552"/>
              <a:ext cx="792000" cy="297694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8" name="Where 2 - Arrow">
            <a:extLst>
              <a:ext uri="{FF2B5EF4-FFF2-40B4-BE49-F238E27FC236}">
                <a16:creationId xmlns:a16="http://schemas.microsoft.com/office/drawing/2014/main" id="{2966E2E3-1095-3AA5-54F4-22EC69E21F63}"/>
              </a:ext>
            </a:extLst>
          </p:cNvPr>
          <p:cNvSpPr/>
          <p:nvPr/>
        </p:nvSpPr>
        <p:spPr>
          <a:xfrm rot="5400000">
            <a:off x="7602525" y="2816094"/>
            <a:ext cx="464567" cy="46799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9" name="Where">
            <a:extLst>
              <a:ext uri="{FF2B5EF4-FFF2-40B4-BE49-F238E27FC236}">
                <a16:creationId xmlns:a16="http://schemas.microsoft.com/office/drawing/2014/main" id="{1C4BE62B-40C5-DE8F-B8B5-D85D5F2A6A7A}"/>
              </a:ext>
            </a:extLst>
          </p:cNvPr>
          <p:cNvSpPr txBox="1"/>
          <p:nvPr/>
        </p:nvSpPr>
        <p:spPr>
          <a:xfrm>
            <a:off x="7278142" y="2474834"/>
            <a:ext cx="1147392" cy="369332"/>
          </a:xfrm>
          <a:prstGeom prst="rect">
            <a:avLst/>
          </a:prstGeom>
          <a:noFill/>
        </p:spPr>
        <p:txBody>
          <a:bodyPr wrap="square" rtlCol="0">
            <a:spAutoFit/>
          </a:bodyPr>
          <a:lstStyle/>
          <a:p>
            <a:pPr algn="ctr"/>
            <a:r>
              <a:rPr lang="en-GB" b="1" dirty="0"/>
              <a:t>ORDER BY</a:t>
            </a:r>
          </a:p>
        </p:txBody>
      </p:sp>
    </p:spTree>
    <p:extLst>
      <p:ext uri="{BB962C8B-B14F-4D97-AF65-F5344CB8AC3E}">
        <p14:creationId xmlns:p14="http://schemas.microsoft.com/office/powerpoint/2010/main" val="4078011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1000"/>
                                        <p:tgtEl>
                                          <p:spTgt spid="1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20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wipe(left)">
                                      <p:cBhvr>
                                        <p:cTn id="16" dur="1500"/>
                                        <p:tgtEl>
                                          <p:spTgt spid="6">
                                            <p:txEl>
                                              <p:pRg st="0" end="0"/>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wipe(left)">
                                      <p:cBhvr>
                                        <p:cTn id="20" dur="1500"/>
                                        <p:tgtEl>
                                          <p:spTgt spid="6">
                                            <p:txEl>
                                              <p:pRg st="1" end="1"/>
                                            </p:txEl>
                                          </p:spTgt>
                                        </p:tgtEl>
                                      </p:cBhvr>
                                    </p:animEffect>
                                  </p:childTnLst>
                                </p:cTn>
                              </p:par>
                            </p:childTnLst>
                          </p:cTn>
                        </p:par>
                        <p:par>
                          <p:cTn id="21" fill="hold">
                            <p:stCondLst>
                              <p:cond delay="3000"/>
                            </p:stCondLst>
                            <p:childTnLst>
                              <p:par>
                                <p:cTn id="22" presetID="22" presetClass="entr" presetSubtype="8" fill="hold" grpId="0" nodeType="after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wipe(left)">
                                      <p:cBhvr>
                                        <p:cTn id="24" dur="1500"/>
                                        <p:tgtEl>
                                          <p:spTgt spid="6">
                                            <p:txEl>
                                              <p:pRg st="2" end="2"/>
                                            </p:txEl>
                                          </p:spTgt>
                                        </p:tgtEl>
                                      </p:cBhvr>
                                    </p:animEffect>
                                  </p:childTnLst>
                                </p:cTn>
                              </p:par>
                            </p:childTnLst>
                          </p:cTn>
                        </p:par>
                        <p:par>
                          <p:cTn id="25" fill="hold">
                            <p:stCondLst>
                              <p:cond delay="4500"/>
                            </p:stCondLst>
                            <p:childTnLst>
                              <p:par>
                                <p:cTn id="26" presetID="22" presetClass="entr" presetSubtype="8" fill="hold" grpId="0" nodeType="after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wipe(left)">
                                      <p:cBhvr>
                                        <p:cTn id="28" dur="1500"/>
                                        <p:tgtEl>
                                          <p:spTgt spid="6">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xEl>
                                              <p:pRg st="0" end="0"/>
                                            </p:txEl>
                                          </p:spTgt>
                                        </p:tgtEl>
                                        <p:attrNameLst>
                                          <p:attrName>style.visibility</p:attrName>
                                        </p:attrNameLst>
                                      </p:cBhvr>
                                      <p:to>
                                        <p:strVal val="visible"/>
                                      </p:to>
                                    </p:set>
                                    <p:animEffect transition="in" filter="wipe(left)">
                                      <p:cBhvr>
                                        <p:cTn id="33" dur="1000"/>
                                        <p:tgtEl>
                                          <p:spTgt spid="19">
                                            <p:txEl>
                                              <p:pRg st="0" end="0"/>
                                            </p:txEl>
                                          </p:spTgt>
                                        </p:tgtEl>
                                      </p:cBhvr>
                                    </p:animEffect>
                                  </p:childTnLst>
                                </p:cTn>
                              </p:par>
                            </p:childTnLst>
                          </p:cTn>
                        </p:par>
                        <p:par>
                          <p:cTn id="34" fill="hold">
                            <p:stCondLst>
                              <p:cond delay="1000"/>
                            </p:stCondLst>
                            <p:childTnLst>
                              <p:par>
                                <p:cTn id="35" presetID="22" presetClass="entr" presetSubtype="8" fill="hold" grpId="0" nodeType="afterEffect">
                                  <p:stCondLst>
                                    <p:cond delay="0"/>
                                  </p:stCondLst>
                                  <p:childTnLst>
                                    <p:set>
                                      <p:cBhvr>
                                        <p:cTn id="36" dur="1" fill="hold">
                                          <p:stCondLst>
                                            <p:cond delay="0"/>
                                          </p:stCondLst>
                                        </p:cTn>
                                        <p:tgtEl>
                                          <p:spTgt spid="19">
                                            <p:txEl>
                                              <p:pRg st="1" end="1"/>
                                            </p:txEl>
                                          </p:spTgt>
                                        </p:tgtEl>
                                        <p:attrNameLst>
                                          <p:attrName>style.visibility</p:attrName>
                                        </p:attrNameLst>
                                      </p:cBhvr>
                                      <p:to>
                                        <p:strVal val="visible"/>
                                      </p:to>
                                    </p:set>
                                    <p:animEffect transition="in" filter="wipe(left)">
                                      <p:cBhvr>
                                        <p:cTn id="37" dur="1000"/>
                                        <p:tgtEl>
                                          <p:spTgt spid="19">
                                            <p:txEl>
                                              <p:pRg st="1" end="1"/>
                                            </p:txEl>
                                          </p:spTgt>
                                        </p:tgtEl>
                                      </p:cBhvr>
                                    </p:animEffect>
                                  </p:childTnLst>
                                </p:cTn>
                              </p:par>
                            </p:childTnLst>
                          </p:cTn>
                        </p:par>
                        <p:par>
                          <p:cTn id="38" fill="hold">
                            <p:stCondLst>
                              <p:cond delay="2000"/>
                            </p:stCondLst>
                            <p:childTnLst>
                              <p:par>
                                <p:cTn id="39" presetID="22" presetClass="entr" presetSubtype="8" fill="hold" grpId="0" nodeType="afterEffect">
                                  <p:stCondLst>
                                    <p:cond delay="0"/>
                                  </p:stCondLst>
                                  <p:childTnLst>
                                    <p:set>
                                      <p:cBhvr>
                                        <p:cTn id="40" dur="1" fill="hold">
                                          <p:stCondLst>
                                            <p:cond delay="0"/>
                                          </p:stCondLst>
                                        </p:cTn>
                                        <p:tgtEl>
                                          <p:spTgt spid="19">
                                            <p:txEl>
                                              <p:pRg st="2" end="2"/>
                                            </p:txEl>
                                          </p:spTgt>
                                        </p:tgtEl>
                                        <p:attrNameLst>
                                          <p:attrName>style.visibility</p:attrName>
                                        </p:attrNameLst>
                                      </p:cBhvr>
                                      <p:to>
                                        <p:strVal val="visible"/>
                                      </p:to>
                                    </p:set>
                                    <p:animEffect transition="in" filter="wipe(left)">
                                      <p:cBhvr>
                                        <p:cTn id="41" dur="1000"/>
                                        <p:tgtEl>
                                          <p:spTgt spid="19">
                                            <p:txEl>
                                              <p:pRg st="2" end="2"/>
                                            </p:txEl>
                                          </p:spTgt>
                                        </p:tgtEl>
                                      </p:cBhvr>
                                    </p:animEffect>
                                  </p:childTnLst>
                                </p:cTn>
                              </p:par>
                            </p:childTnLst>
                          </p:cTn>
                        </p:par>
                        <p:par>
                          <p:cTn id="42" fill="hold">
                            <p:stCondLst>
                              <p:cond delay="3000"/>
                            </p:stCondLst>
                            <p:childTnLst>
                              <p:par>
                                <p:cTn id="43" presetID="22" presetClass="entr" presetSubtype="8" fill="hold" grpId="0" nodeType="afterEffect">
                                  <p:stCondLst>
                                    <p:cond delay="0"/>
                                  </p:stCondLst>
                                  <p:childTnLst>
                                    <p:set>
                                      <p:cBhvr>
                                        <p:cTn id="44" dur="1" fill="hold">
                                          <p:stCondLst>
                                            <p:cond delay="0"/>
                                          </p:stCondLst>
                                        </p:cTn>
                                        <p:tgtEl>
                                          <p:spTgt spid="19">
                                            <p:txEl>
                                              <p:pRg st="3" end="3"/>
                                            </p:txEl>
                                          </p:spTgt>
                                        </p:tgtEl>
                                        <p:attrNameLst>
                                          <p:attrName>style.visibility</p:attrName>
                                        </p:attrNameLst>
                                      </p:cBhvr>
                                      <p:to>
                                        <p:strVal val="visible"/>
                                      </p:to>
                                    </p:set>
                                    <p:animEffect transition="in" filter="wipe(left)">
                                      <p:cBhvr>
                                        <p:cTn id="45" dur="1000"/>
                                        <p:tgtEl>
                                          <p:spTgt spid="19">
                                            <p:txEl>
                                              <p:pRg st="3" end="3"/>
                                            </p:txEl>
                                          </p:spTgt>
                                        </p:tgtEl>
                                      </p:cBhvr>
                                    </p:animEffect>
                                  </p:childTnLst>
                                </p:cTn>
                              </p:par>
                            </p:childTnLst>
                          </p:cTn>
                        </p:par>
                        <p:par>
                          <p:cTn id="46" fill="hold">
                            <p:stCondLst>
                              <p:cond delay="4000"/>
                            </p:stCondLst>
                            <p:childTnLst>
                              <p:par>
                                <p:cTn id="47" presetID="22" presetClass="entr" presetSubtype="8" fill="hold" grpId="0" nodeType="afterEffect">
                                  <p:stCondLst>
                                    <p:cond delay="0"/>
                                  </p:stCondLst>
                                  <p:childTnLst>
                                    <p:set>
                                      <p:cBhvr>
                                        <p:cTn id="48" dur="1" fill="hold">
                                          <p:stCondLst>
                                            <p:cond delay="0"/>
                                          </p:stCondLst>
                                        </p:cTn>
                                        <p:tgtEl>
                                          <p:spTgt spid="19">
                                            <p:txEl>
                                              <p:pRg st="4" end="4"/>
                                            </p:txEl>
                                          </p:spTgt>
                                        </p:tgtEl>
                                        <p:attrNameLst>
                                          <p:attrName>style.visibility</p:attrName>
                                        </p:attrNameLst>
                                      </p:cBhvr>
                                      <p:to>
                                        <p:strVal val="visible"/>
                                      </p:to>
                                    </p:set>
                                    <p:animEffect transition="in" filter="wipe(left)">
                                      <p:cBhvr>
                                        <p:cTn id="49" dur="1000"/>
                                        <p:tgtEl>
                                          <p:spTgt spid="19">
                                            <p:txEl>
                                              <p:pRg st="4" end="4"/>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wipe(left)">
                                      <p:cBhvr>
                                        <p:cTn id="54" dur="1000"/>
                                        <p:tgtEl>
                                          <p:spTgt spid="27"/>
                                        </p:tgtEl>
                                      </p:cBhvr>
                                    </p:animEffect>
                                  </p:childTnLst>
                                </p:cTn>
                              </p:par>
                            </p:childTnLst>
                          </p:cTn>
                        </p:par>
                        <p:par>
                          <p:cTn id="55" fill="hold">
                            <p:stCondLst>
                              <p:cond delay="1000"/>
                            </p:stCondLst>
                            <p:childTnLst>
                              <p:par>
                                <p:cTn id="56" presetID="22" presetClass="entr" presetSubtype="8" fill="hold" grpId="0" nodeType="after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wipe(left)">
                                      <p:cBhvr>
                                        <p:cTn id="58" dur="500"/>
                                        <p:tgtEl>
                                          <p:spTgt spid="10"/>
                                        </p:tgtEl>
                                      </p:cBhvr>
                                    </p:animEffect>
                                  </p:childTnLst>
                                </p:cTn>
                              </p:par>
                            </p:childTnLst>
                          </p:cTn>
                        </p:par>
                        <p:par>
                          <p:cTn id="59" fill="hold">
                            <p:stCondLst>
                              <p:cond delay="1500"/>
                            </p:stCondLst>
                            <p:childTnLst>
                              <p:par>
                                <p:cTn id="60" presetID="22" presetClass="entr" presetSubtype="8" fill="hold" grpId="0" nodeType="after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wipe(left)">
                                      <p:cBhvr>
                                        <p:cTn id="62" dur="1000"/>
                                        <p:tgtEl>
                                          <p:spTgt spid="26"/>
                                        </p:tgtEl>
                                      </p:cBhvr>
                                    </p:animEffect>
                                  </p:childTnLst>
                                </p:cTn>
                              </p:par>
                            </p:childTnLst>
                          </p:cTn>
                        </p:par>
                        <p:par>
                          <p:cTn id="63" fill="hold">
                            <p:stCondLst>
                              <p:cond delay="2500"/>
                            </p:stCondLst>
                            <p:childTnLst>
                              <p:par>
                                <p:cTn id="64" presetID="22" presetClass="entr" presetSubtype="8" fill="hold" nodeType="after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wipe(left)">
                                      <p:cBhvr>
                                        <p:cTn id="66" dur="2000"/>
                                        <p:tgtEl>
                                          <p:spTgt spid="2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xit" presetSubtype="8" fill="hold" grpId="1" nodeType="clickEffect">
                                  <p:stCondLst>
                                    <p:cond delay="0"/>
                                  </p:stCondLst>
                                  <p:childTnLst>
                                    <p:animEffect transition="out" filter="wipe(left)">
                                      <p:cBhvr>
                                        <p:cTn id="70" dur="500"/>
                                        <p:tgtEl>
                                          <p:spTgt spid="27"/>
                                        </p:tgtEl>
                                      </p:cBhvr>
                                    </p:animEffect>
                                    <p:set>
                                      <p:cBhvr>
                                        <p:cTn id="71" dur="1" fill="hold">
                                          <p:stCondLst>
                                            <p:cond delay="499"/>
                                          </p:stCondLst>
                                        </p:cTn>
                                        <p:tgtEl>
                                          <p:spTgt spid="27"/>
                                        </p:tgtEl>
                                        <p:attrNameLst>
                                          <p:attrName>style.visibility</p:attrName>
                                        </p:attrNameLst>
                                      </p:cBhvr>
                                      <p:to>
                                        <p:strVal val="hidden"/>
                                      </p:to>
                                    </p:set>
                                  </p:childTnLst>
                                </p:cTn>
                              </p:par>
                            </p:childTnLst>
                          </p:cTn>
                        </p:par>
                        <p:par>
                          <p:cTn id="72" fill="hold">
                            <p:stCondLst>
                              <p:cond delay="500"/>
                            </p:stCondLst>
                            <p:childTnLst>
                              <p:par>
                                <p:cTn id="73" presetID="22" presetClass="entr" presetSubtype="8" fill="hold" grpId="0" nodeType="after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wipe(left)">
                                      <p:cBhvr>
                                        <p:cTn id="75" dur="1000"/>
                                        <p:tgtEl>
                                          <p:spTgt spid="35"/>
                                        </p:tgtEl>
                                      </p:cBhvr>
                                    </p:animEffect>
                                  </p:childTnLst>
                                </p:cTn>
                              </p:par>
                            </p:childTnLst>
                          </p:cTn>
                        </p:par>
                        <p:par>
                          <p:cTn id="76" fill="hold">
                            <p:stCondLst>
                              <p:cond delay="1500"/>
                            </p:stCondLst>
                            <p:childTnLst>
                              <p:par>
                                <p:cTn id="77" presetID="22" presetClass="entr" presetSubtype="8" fill="hold" grpId="0" nodeType="after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wipe(left)">
                                      <p:cBhvr>
                                        <p:cTn id="79" dur="500"/>
                                        <p:tgtEl>
                                          <p:spTgt spid="37"/>
                                        </p:tgtEl>
                                      </p:cBhvr>
                                    </p:animEffect>
                                  </p:childTnLst>
                                </p:cTn>
                              </p:par>
                            </p:childTnLst>
                          </p:cTn>
                        </p:par>
                        <p:par>
                          <p:cTn id="80" fill="hold">
                            <p:stCondLst>
                              <p:cond delay="2000"/>
                            </p:stCondLst>
                            <p:childTnLst>
                              <p:par>
                                <p:cTn id="81" presetID="22" presetClass="entr" presetSubtype="1" fill="hold" grpId="0" nodeType="afterEffect">
                                  <p:stCondLst>
                                    <p:cond delay="0"/>
                                  </p:stCondLst>
                                  <p:childTnLst>
                                    <p:set>
                                      <p:cBhvr>
                                        <p:cTn id="82" dur="1" fill="hold">
                                          <p:stCondLst>
                                            <p:cond delay="0"/>
                                          </p:stCondLst>
                                        </p:cTn>
                                        <p:tgtEl>
                                          <p:spTgt spid="36"/>
                                        </p:tgtEl>
                                        <p:attrNameLst>
                                          <p:attrName>style.visibility</p:attrName>
                                        </p:attrNameLst>
                                      </p:cBhvr>
                                      <p:to>
                                        <p:strVal val="visible"/>
                                      </p:to>
                                    </p:set>
                                    <p:animEffect transition="in" filter="wipe(up)">
                                      <p:cBhvr>
                                        <p:cTn id="83" dur="1000"/>
                                        <p:tgtEl>
                                          <p:spTgt spid="36"/>
                                        </p:tgtEl>
                                      </p:cBhvr>
                                    </p:animEffect>
                                  </p:childTnLst>
                                </p:cTn>
                              </p:par>
                            </p:childTnLst>
                          </p:cTn>
                        </p:par>
                        <p:par>
                          <p:cTn id="84" fill="hold">
                            <p:stCondLst>
                              <p:cond delay="3000"/>
                            </p:stCondLst>
                            <p:childTnLst>
                              <p:par>
                                <p:cTn id="85" presetID="22" presetClass="entr" presetSubtype="8" fill="hold" grpId="0" nodeType="after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wipe(left)">
                                      <p:cBhvr>
                                        <p:cTn id="87" dur="500"/>
                                        <p:tgtEl>
                                          <p:spTgt spid="40"/>
                                        </p:tgtEl>
                                      </p:cBhvr>
                                    </p:animEffect>
                                  </p:childTnLst>
                                </p:cTn>
                              </p:par>
                            </p:childTnLst>
                          </p:cTn>
                        </p:par>
                        <p:par>
                          <p:cTn id="88" fill="hold">
                            <p:stCondLst>
                              <p:cond delay="3500"/>
                            </p:stCondLst>
                            <p:childTnLst>
                              <p:par>
                                <p:cTn id="89" presetID="22" presetClass="entr" presetSubtype="8" fill="hold" grpId="0" nodeType="afterEffect">
                                  <p:stCondLst>
                                    <p:cond delay="0"/>
                                  </p:stCondLst>
                                  <p:childTnLst>
                                    <p:set>
                                      <p:cBhvr>
                                        <p:cTn id="90" dur="1" fill="hold">
                                          <p:stCondLst>
                                            <p:cond delay="0"/>
                                          </p:stCondLst>
                                        </p:cTn>
                                        <p:tgtEl>
                                          <p:spTgt spid="7"/>
                                        </p:tgtEl>
                                        <p:attrNameLst>
                                          <p:attrName>style.visibility</p:attrName>
                                        </p:attrNameLst>
                                      </p:cBhvr>
                                      <p:to>
                                        <p:strVal val="visible"/>
                                      </p:to>
                                    </p:set>
                                    <p:animEffect transition="in" filter="wipe(left)">
                                      <p:cBhvr>
                                        <p:cTn id="91" dur="1500"/>
                                        <p:tgtEl>
                                          <p:spTgt spid="7"/>
                                        </p:tgtEl>
                                      </p:cBhvr>
                                    </p:animEffect>
                                  </p:childTnLst>
                                </p:cTn>
                              </p:par>
                            </p:childTnLst>
                          </p:cTn>
                        </p:par>
                        <p:par>
                          <p:cTn id="92" fill="hold">
                            <p:stCondLst>
                              <p:cond delay="5000"/>
                            </p:stCondLst>
                            <p:childTnLst>
                              <p:par>
                                <p:cTn id="93" presetID="22" presetClass="entr" presetSubtype="8" fill="hold" grpId="0" nodeType="after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wipe(left)">
                                      <p:cBhvr>
                                        <p:cTn id="95" dur="500"/>
                                        <p:tgtEl>
                                          <p:spTgt spid="33"/>
                                        </p:tgtEl>
                                      </p:cBhvr>
                                    </p:animEffect>
                                  </p:childTnLst>
                                </p:cTn>
                              </p:par>
                            </p:childTnLst>
                          </p:cTn>
                        </p:par>
                        <p:par>
                          <p:cTn id="96" fill="hold">
                            <p:stCondLst>
                              <p:cond delay="5500"/>
                            </p:stCondLst>
                            <p:childTnLst>
                              <p:par>
                                <p:cTn id="97" presetID="22" presetClass="entr" presetSubtype="8" fill="hold" grpId="0" nodeType="afterEffect">
                                  <p:stCondLst>
                                    <p:cond delay="0"/>
                                  </p:stCondLst>
                                  <p:childTnLst>
                                    <p:set>
                                      <p:cBhvr>
                                        <p:cTn id="98" dur="1" fill="hold">
                                          <p:stCondLst>
                                            <p:cond delay="0"/>
                                          </p:stCondLst>
                                        </p:cTn>
                                        <p:tgtEl>
                                          <p:spTgt spid="20"/>
                                        </p:tgtEl>
                                        <p:attrNameLst>
                                          <p:attrName>style.visibility</p:attrName>
                                        </p:attrNameLst>
                                      </p:cBhvr>
                                      <p:to>
                                        <p:strVal val="visible"/>
                                      </p:to>
                                    </p:set>
                                    <p:animEffect transition="in" filter="wipe(left)">
                                      <p:cBhvr>
                                        <p:cTn id="99" dur="1500"/>
                                        <p:tgtEl>
                                          <p:spTgt spid="20"/>
                                        </p:tgtEl>
                                      </p:cBhvr>
                                    </p:animEffect>
                                  </p:childTnLst>
                                </p:cTn>
                              </p:par>
                            </p:childTnLst>
                          </p:cTn>
                        </p:par>
                        <p:par>
                          <p:cTn id="100" fill="hold">
                            <p:stCondLst>
                              <p:cond delay="7000"/>
                            </p:stCondLst>
                            <p:childTnLst>
                              <p:par>
                                <p:cTn id="101" presetID="22" presetClass="entr" presetSubtype="8" fill="hold" grpId="0" nodeType="afterEffect">
                                  <p:stCondLst>
                                    <p:cond delay="0"/>
                                  </p:stCondLst>
                                  <p:childTnLst>
                                    <p:set>
                                      <p:cBhvr>
                                        <p:cTn id="102" dur="1" fill="hold">
                                          <p:stCondLst>
                                            <p:cond delay="0"/>
                                          </p:stCondLst>
                                        </p:cTn>
                                        <p:tgtEl>
                                          <p:spTgt spid="11"/>
                                        </p:tgtEl>
                                        <p:attrNameLst>
                                          <p:attrName>style.visibility</p:attrName>
                                        </p:attrNameLst>
                                      </p:cBhvr>
                                      <p:to>
                                        <p:strVal val="visible"/>
                                      </p:to>
                                    </p:set>
                                    <p:animEffect transition="in" filter="wipe(left)">
                                      <p:cBhvr>
                                        <p:cTn id="103" dur="500"/>
                                        <p:tgtEl>
                                          <p:spTgt spid="11"/>
                                        </p:tgtEl>
                                      </p:cBhvr>
                                    </p:animEffect>
                                  </p:childTnLst>
                                </p:cTn>
                              </p:par>
                            </p:childTnLst>
                          </p:cTn>
                        </p:par>
                        <p:par>
                          <p:cTn id="104" fill="hold">
                            <p:stCondLst>
                              <p:cond delay="7500"/>
                            </p:stCondLst>
                            <p:childTnLst>
                              <p:par>
                                <p:cTn id="105" presetID="22" presetClass="entr" presetSubtype="8" fill="hold" grpId="0" nodeType="afterEffect">
                                  <p:stCondLst>
                                    <p:cond delay="0"/>
                                  </p:stCondLst>
                                  <p:childTnLst>
                                    <p:set>
                                      <p:cBhvr>
                                        <p:cTn id="106" dur="1" fill="hold">
                                          <p:stCondLst>
                                            <p:cond delay="0"/>
                                          </p:stCondLst>
                                        </p:cTn>
                                        <p:tgtEl>
                                          <p:spTgt spid="8"/>
                                        </p:tgtEl>
                                        <p:attrNameLst>
                                          <p:attrName>style.visibility</p:attrName>
                                        </p:attrNameLst>
                                      </p:cBhvr>
                                      <p:to>
                                        <p:strVal val="visible"/>
                                      </p:to>
                                    </p:set>
                                    <p:animEffect transition="in" filter="wipe(left)">
                                      <p:cBhvr>
                                        <p:cTn id="107" dur="1500"/>
                                        <p:tgtEl>
                                          <p:spTgt spid="8"/>
                                        </p:tgtEl>
                                      </p:cBhvr>
                                    </p:animEffect>
                                  </p:childTnLst>
                                </p:cTn>
                              </p:par>
                            </p:childTnLst>
                          </p:cTn>
                        </p:par>
                        <p:par>
                          <p:cTn id="108" fill="hold">
                            <p:stCondLst>
                              <p:cond delay="9000"/>
                            </p:stCondLst>
                            <p:childTnLst>
                              <p:par>
                                <p:cTn id="109" presetID="22" presetClass="entr" presetSubtype="8" fill="hold" grpId="0" nodeType="afterEffect">
                                  <p:stCondLst>
                                    <p:cond delay="0"/>
                                  </p:stCondLst>
                                  <p:childTnLst>
                                    <p:set>
                                      <p:cBhvr>
                                        <p:cTn id="110" dur="1" fill="hold">
                                          <p:stCondLst>
                                            <p:cond delay="0"/>
                                          </p:stCondLst>
                                        </p:cTn>
                                        <p:tgtEl>
                                          <p:spTgt spid="34"/>
                                        </p:tgtEl>
                                        <p:attrNameLst>
                                          <p:attrName>style.visibility</p:attrName>
                                        </p:attrNameLst>
                                      </p:cBhvr>
                                      <p:to>
                                        <p:strVal val="visible"/>
                                      </p:to>
                                    </p:set>
                                    <p:animEffect transition="in" filter="wipe(left)">
                                      <p:cBhvr>
                                        <p:cTn id="111" dur="500"/>
                                        <p:tgtEl>
                                          <p:spTgt spid="34"/>
                                        </p:tgtEl>
                                      </p:cBhvr>
                                    </p:animEffect>
                                  </p:childTnLst>
                                </p:cTn>
                              </p:par>
                            </p:childTnLst>
                          </p:cTn>
                        </p:par>
                        <p:par>
                          <p:cTn id="112" fill="hold">
                            <p:stCondLst>
                              <p:cond delay="9500"/>
                            </p:stCondLst>
                            <p:childTnLst>
                              <p:par>
                                <p:cTn id="113" presetID="22" presetClass="entr" presetSubtype="8" fill="hold" grpId="0" nodeType="afterEffect">
                                  <p:stCondLst>
                                    <p:cond delay="0"/>
                                  </p:stCondLst>
                                  <p:childTnLst>
                                    <p:set>
                                      <p:cBhvr>
                                        <p:cTn id="114" dur="1" fill="hold">
                                          <p:stCondLst>
                                            <p:cond delay="0"/>
                                          </p:stCondLst>
                                        </p:cTn>
                                        <p:tgtEl>
                                          <p:spTgt spid="21"/>
                                        </p:tgtEl>
                                        <p:attrNameLst>
                                          <p:attrName>style.visibility</p:attrName>
                                        </p:attrNameLst>
                                      </p:cBhvr>
                                      <p:to>
                                        <p:strVal val="visible"/>
                                      </p:to>
                                    </p:set>
                                    <p:animEffect transition="in" filter="wipe(left)">
                                      <p:cBhvr>
                                        <p:cTn id="115" dur="1500"/>
                                        <p:tgtEl>
                                          <p:spTgt spid="21"/>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xit" presetSubtype="8" fill="hold" grpId="1" nodeType="clickEffect">
                                  <p:stCondLst>
                                    <p:cond delay="0"/>
                                  </p:stCondLst>
                                  <p:childTnLst>
                                    <p:animEffect transition="out" filter="wipe(left)">
                                      <p:cBhvr>
                                        <p:cTn id="119" dur="500"/>
                                        <p:tgtEl>
                                          <p:spTgt spid="35"/>
                                        </p:tgtEl>
                                      </p:cBhvr>
                                    </p:animEffect>
                                    <p:set>
                                      <p:cBhvr>
                                        <p:cTn id="120" dur="1" fill="hold">
                                          <p:stCondLst>
                                            <p:cond delay="499"/>
                                          </p:stCondLst>
                                        </p:cTn>
                                        <p:tgtEl>
                                          <p:spTgt spid="35"/>
                                        </p:tgtEl>
                                        <p:attrNameLst>
                                          <p:attrName>style.visibility</p:attrName>
                                        </p:attrNameLst>
                                      </p:cBhvr>
                                      <p:to>
                                        <p:strVal val="hidden"/>
                                      </p:to>
                                    </p:set>
                                  </p:childTnLst>
                                </p:cTn>
                              </p:par>
                            </p:childTnLst>
                          </p:cTn>
                        </p:par>
                        <p:par>
                          <p:cTn id="121" fill="hold">
                            <p:stCondLst>
                              <p:cond delay="500"/>
                            </p:stCondLst>
                            <p:childTnLst>
                              <p:par>
                                <p:cTn id="122" presetID="22" presetClass="entr" presetSubtype="8" fill="hold" grpId="0" nodeType="afterEffect">
                                  <p:stCondLst>
                                    <p:cond delay="0"/>
                                  </p:stCondLst>
                                  <p:childTnLst>
                                    <p:set>
                                      <p:cBhvr>
                                        <p:cTn id="123" dur="1" fill="hold">
                                          <p:stCondLst>
                                            <p:cond delay="0"/>
                                          </p:stCondLst>
                                        </p:cTn>
                                        <p:tgtEl>
                                          <p:spTgt spid="31"/>
                                        </p:tgtEl>
                                        <p:attrNameLst>
                                          <p:attrName>style.visibility</p:attrName>
                                        </p:attrNameLst>
                                      </p:cBhvr>
                                      <p:to>
                                        <p:strVal val="visible"/>
                                      </p:to>
                                    </p:set>
                                    <p:animEffect transition="in" filter="wipe(left)">
                                      <p:cBhvr>
                                        <p:cTn id="124" dur="1000"/>
                                        <p:tgtEl>
                                          <p:spTgt spid="31"/>
                                        </p:tgtEl>
                                      </p:cBhvr>
                                    </p:animEffect>
                                  </p:childTnLst>
                                </p:cTn>
                              </p:par>
                            </p:childTnLst>
                          </p:cTn>
                        </p:par>
                        <p:par>
                          <p:cTn id="125" fill="hold">
                            <p:stCondLst>
                              <p:cond delay="1500"/>
                            </p:stCondLst>
                            <p:childTnLst>
                              <p:par>
                                <p:cTn id="126" presetID="22" presetClass="entr" presetSubtype="8" fill="hold" grpId="0" nodeType="afterEffect">
                                  <p:stCondLst>
                                    <p:cond delay="0"/>
                                  </p:stCondLst>
                                  <p:childTnLst>
                                    <p:set>
                                      <p:cBhvr>
                                        <p:cTn id="127" dur="1" fill="hold">
                                          <p:stCondLst>
                                            <p:cond delay="0"/>
                                          </p:stCondLst>
                                        </p:cTn>
                                        <p:tgtEl>
                                          <p:spTgt spid="25"/>
                                        </p:tgtEl>
                                        <p:attrNameLst>
                                          <p:attrName>style.visibility</p:attrName>
                                        </p:attrNameLst>
                                      </p:cBhvr>
                                      <p:to>
                                        <p:strVal val="visible"/>
                                      </p:to>
                                    </p:set>
                                    <p:animEffect transition="in" filter="wipe(left)">
                                      <p:cBhvr>
                                        <p:cTn id="128" dur="500"/>
                                        <p:tgtEl>
                                          <p:spTgt spid="25"/>
                                        </p:tgtEl>
                                      </p:cBhvr>
                                    </p:animEffect>
                                  </p:childTnLst>
                                </p:cTn>
                              </p:par>
                            </p:childTnLst>
                          </p:cTn>
                        </p:par>
                        <p:par>
                          <p:cTn id="129" fill="hold">
                            <p:stCondLst>
                              <p:cond delay="2000"/>
                            </p:stCondLst>
                            <p:childTnLst>
                              <p:par>
                                <p:cTn id="130" presetID="22" presetClass="entr" presetSubtype="1" fill="hold" nodeType="afterEffect">
                                  <p:stCondLst>
                                    <p:cond delay="0"/>
                                  </p:stCondLst>
                                  <p:childTnLst>
                                    <p:set>
                                      <p:cBhvr>
                                        <p:cTn id="131" dur="1" fill="hold">
                                          <p:stCondLst>
                                            <p:cond delay="0"/>
                                          </p:stCondLst>
                                        </p:cTn>
                                        <p:tgtEl>
                                          <p:spTgt spid="5"/>
                                        </p:tgtEl>
                                        <p:attrNameLst>
                                          <p:attrName>style.visibility</p:attrName>
                                        </p:attrNameLst>
                                      </p:cBhvr>
                                      <p:to>
                                        <p:strVal val="visible"/>
                                      </p:to>
                                    </p:set>
                                    <p:animEffect transition="in" filter="wipe(up)">
                                      <p:cBhvr>
                                        <p:cTn id="132" dur="500"/>
                                        <p:tgtEl>
                                          <p:spTgt spid="5"/>
                                        </p:tgtEl>
                                      </p:cBhvr>
                                    </p:animEffect>
                                  </p:childTnLst>
                                </p:cTn>
                              </p:par>
                            </p:childTnLst>
                          </p:cTn>
                        </p:par>
                        <p:par>
                          <p:cTn id="133" fill="hold">
                            <p:stCondLst>
                              <p:cond delay="2500"/>
                            </p:stCondLst>
                            <p:childTnLst>
                              <p:par>
                                <p:cTn id="134" presetID="22" presetClass="entr" presetSubtype="1" fill="hold" grpId="0" nodeType="afterEffect">
                                  <p:stCondLst>
                                    <p:cond delay="0"/>
                                  </p:stCondLst>
                                  <p:childTnLst>
                                    <p:set>
                                      <p:cBhvr>
                                        <p:cTn id="135" dur="1" fill="hold">
                                          <p:stCondLst>
                                            <p:cond delay="0"/>
                                          </p:stCondLst>
                                        </p:cTn>
                                        <p:tgtEl>
                                          <p:spTgt spid="29"/>
                                        </p:tgtEl>
                                        <p:attrNameLst>
                                          <p:attrName>style.visibility</p:attrName>
                                        </p:attrNameLst>
                                      </p:cBhvr>
                                      <p:to>
                                        <p:strVal val="visible"/>
                                      </p:to>
                                    </p:set>
                                    <p:animEffect transition="in" filter="wipe(up)">
                                      <p:cBhvr>
                                        <p:cTn id="136" dur="1500"/>
                                        <p:tgtEl>
                                          <p:spTgt spid="29"/>
                                        </p:tgtEl>
                                      </p:cBhvr>
                                    </p:animEffect>
                                  </p:childTnLst>
                                </p:cTn>
                              </p:par>
                            </p:childTnLst>
                          </p:cTn>
                        </p:par>
                        <p:par>
                          <p:cTn id="137" fill="hold">
                            <p:stCondLst>
                              <p:cond delay="4000"/>
                            </p:stCondLst>
                            <p:childTnLst>
                              <p:par>
                                <p:cTn id="138" presetID="22" presetClass="entr" presetSubtype="1" fill="hold" nodeType="afterEffect">
                                  <p:stCondLst>
                                    <p:cond delay="0"/>
                                  </p:stCondLst>
                                  <p:childTnLst>
                                    <p:set>
                                      <p:cBhvr>
                                        <p:cTn id="139" dur="1" fill="hold">
                                          <p:stCondLst>
                                            <p:cond delay="0"/>
                                          </p:stCondLst>
                                        </p:cTn>
                                        <p:tgtEl>
                                          <p:spTgt spid="9"/>
                                        </p:tgtEl>
                                        <p:attrNameLst>
                                          <p:attrName>style.visibility</p:attrName>
                                        </p:attrNameLst>
                                      </p:cBhvr>
                                      <p:to>
                                        <p:strVal val="visible"/>
                                      </p:to>
                                    </p:set>
                                    <p:animEffect transition="in" filter="wipe(up)">
                                      <p:cBhvr>
                                        <p:cTn id="140" dur="500"/>
                                        <p:tgtEl>
                                          <p:spTgt spid="9"/>
                                        </p:tgtEl>
                                      </p:cBhvr>
                                    </p:animEffect>
                                  </p:childTnLst>
                                </p:cTn>
                              </p:par>
                            </p:childTnLst>
                          </p:cTn>
                        </p:par>
                        <p:par>
                          <p:cTn id="141" fill="hold">
                            <p:stCondLst>
                              <p:cond delay="4500"/>
                            </p:stCondLst>
                            <p:childTnLst>
                              <p:par>
                                <p:cTn id="142" presetID="22" presetClass="entr" presetSubtype="1" fill="hold" grpId="0" nodeType="afterEffect">
                                  <p:stCondLst>
                                    <p:cond delay="0"/>
                                  </p:stCondLst>
                                  <p:childTnLst>
                                    <p:set>
                                      <p:cBhvr>
                                        <p:cTn id="143" dur="1" fill="hold">
                                          <p:stCondLst>
                                            <p:cond delay="0"/>
                                          </p:stCondLst>
                                        </p:cTn>
                                        <p:tgtEl>
                                          <p:spTgt spid="30"/>
                                        </p:tgtEl>
                                        <p:attrNameLst>
                                          <p:attrName>style.visibility</p:attrName>
                                        </p:attrNameLst>
                                      </p:cBhvr>
                                      <p:to>
                                        <p:strVal val="visible"/>
                                      </p:to>
                                    </p:set>
                                    <p:animEffect transition="in" filter="wipe(up)">
                                      <p:cBhvr>
                                        <p:cTn id="144" dur="1500"/>
                                        <p:tgtEl>
                                          <p:spTgt spid="30"/>
                                        </p:tgtEl>
                                      </p:cBhvr>
                                    </p:animEffect>
                                  </p:childTnLst>
                                </p:cTn>
                              </p:par>
                            </p:childTnLst>
                          </p:cTn>
                        </p:par>
                        <p:par>
                          <p:cTn id="145" fill="hold">
                            <p:stCondLst>
                              <p:cond delay="6000"/>
                            </p:stCondLst>
                            <p:childTnLst>
                              <p:par>
                                <p:cTn id="146" presetID="22" presetClass="exit" presetSubtype="8" fill="hold" grpId="1" nodeType="afterEffect">
                                  <p:stCondLst>
                                    <p:cond delay="0"/>
                                  </p:stCondLst>
                                  <p:childTnLst>
                                    <p:animEffect transition="out" filter="wipe(left)">
                                      <p:cBhvr>
                                        <p:cTn id="147" dur="500"/>
                                        <p:tgtEl>
                                          <p:spTgt spid="31"/>
                                        </p:tgtEl>
                                      </p:cBhvr>
                                    </p:animEffect>
                                    <p:set>
                                      <p:cBhvr>
                                        <p:cTn id="148" dur="1" fill="hold">
                                          <p:stCondLst>
                                            <p:cond delay="499"/>
                                          </p:stCondLst>
                                        </p:cTn>
                                        <p:tgtEl>
                                          <p:spTgt spid="31"/>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3"/>
                                        </p:tgtEl>
                                        <p:attrNameLst>
                                          <p:attrName>style.visibility</p:attrName>
                                        </p:attrNameLst>
                                      </p:cBhvr>
                                      <p:to>
                                        <p:strVal val="visible"/>
                                      </p:to>
                                    </p:set>
                                    <p:animEffect transition="in" filter="wipe(left)">
                                      <p:cBhvr>
                                        <p:cTn id="153" dur="1000"/>
                                        <p:tgtEl>
                                          <p:spTgt spid="3"/>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grpId="0" nodeType="clickEffect">
                                  <p:stCondLst>
                                    <p:cond delay="0"/>
                                  </p:stCondLst>
                                  <p:childTnLst>
                                    <p:set>
                                      <p:cBhvr>
                                        <p:cTn id="157" dur="1" fill="hold">
                                          <p:stCondLst>
                                            <p:cond delay="0"/>
                                          </p:stCondLst>
                                        </p:cTn>
                                        <p:tgtEl>
                                          <p:spTgt spid="43"/>
                                        </p:tgtEl>
                                        <p:attrNameLst>
                                          <p:attrName>style.visibility</p:attrName>
                                        </p:attrNameLst>
                                      </p:cBhvr>
                                      <p:to>
                                        <p:strVal val="visible"/>
                                      </p:to>
                                    </p:set>
                                    <p:animEffect transition="in" filter="wipe(left)">
                                      <p:cBhvr>
                                        <p:cTn id="158" dur="1000"/>
                                        <p:tgtEl>
                                          <p:spTgt spid="43"/>
                                        </p:tgtEl>
                                      </p:cBhvr>
                                    </p:animEffect>
                                  </p:childTnLst>
                                </p:cTn>
                              </p:par>
                            </p:childTnLst>
                          </p:cTn>
                        </p:par>
                        <p:par>
                          <p:cTn id="159" fill="hold">
                            <p:stCondLst>
                              <p:cond delay="1000"/>
                            </p:stCondLst>
                            <p:childTnLst>
                              <p:par>
                                <p:cTn id="160" presetID="22" presetClass="entr" presetSubtype="8" fill="hold" grpId="0" nodeType="afterEffect">
                                  <p:stCondLst>
                                    <p:cond delay="0"/>
                                  </p:stCondLst>
                                  <p:childTnLst>
                                    <p:set>
                                      <p:cBhvr>
                                        <p:cTn id="161" dur="1" fill="hold">
                                          <p:stCondLst>
                                            <p:cond delay="0"/>
                                          </p:stCondLst>
                                        </p:cTn>
                                        <p:tgtEl>
                                          <p:spTgt spid="59"/>
                                        </p:tgtEl>
                                        <p:attrNameLst>
                                          <p:attrName>style.visibility</p:attrName>
                                        </p:attrNameLst>
                                      </p:cBhvr>
                                      <p:to>
                                        <p:strVal val="visible"/>
                                      </p:to>
                                    </p:set>
                                    <p:animEffect transition="in" filter="wipe(left)">
                                      <p:cBhvr>
                                        <p:cTn id="162" dur="500"/>
                                        <p:tgtEl>
                                          <p:spTgt spid="59"/>
                                        </p:tgtEl>
                                      </p:cBhvr>
                                    </p:animEffect>
                                  </p:childTnLst>
                                </p:cTn>
                              </p:par>
                            </p:childTnLst>
                          </p:cTn>
                        </p:par>
                        <p:par>
                          <p:cTn id="163" fill="hold">
                            <p:stCondLst>
                              <p:cond delay="1500"/>
                            </p:stCondLst>
                            <p:childTnLst>
                              <p:par>
                                <p:cTn id="164" presetID="22" presetClass="entr" presetSubtype="1" fill="hold" grpId="0" nodeType="afterEffect">
                                  <p:stCondLst>
                                    <p:cond delay="0"/>
                                  </p:stCondLst>
                                  <p:childTnLst>
                                    <p:set>
                                      <p:cBhvr>
                                        <p:cTn id="165" dur="1" fill="hold">
                                          <p:stCondLst>
                                            <p:cond delay="0"/>
                                          </p:stCondLst>
                                        </p:cTn>
                                        <p:tgtEl>
                                          <p:spTgt spid="58"/>
                                        </p:tgtEl>
                                        <p:attrNameLst>
                                          <p:attrName>style.visibility</p:attrName>
                                        </p:attrNameLst>
                                      </p:cBhvr>
                                      <p:to>
                                        <p:strVal val="visible"/>
                                      </p:to>
                                    </p:set>
                                    <p:animEffect transition="in" filter="wipe(up)">
                                      <p:cBhvr>
                                        <p:cTn id="166" dur="1000"/>
                                        <p:tgtEl>
                                          <p:spTgt spid="58"/>
                                        </p:tgtEl>
                                      </p:cBhvr>
                                    </p:animEffect>
                                  </p:childTnLst>
                                </p:cTn>
                              </p:par>
                            </p:childTnLst>
                          </p:cTn>
                        </p:par>
                      </p:childTnLst>
                    </p:cTn>
                  </p:par>
                  <p:par>
                    <p:cTn id="167" fill="hold">
                      <p:stCondLst>
                        <p:cond delay="indefinite"/>
                      </p:stCondLst>
                      <p:childTnLst>
                        <p:par>
                          <p:cTn id="168" fill="hold">
                            <p:stCondLst>
                              <p:cond delay="0"/>
                            </p:stCondLst>
                            <p:childTnLst>
                              <p:par>
                                <p:cTn id="169" presetID="22" presetClass="entr" presetSubtype="1" fill="hold" nodeType="clickEffect">
                                  <p:stCondLst>
                                    <p:cond delay="0"/>
                                  </p:stCondLst>
                                  <p:childTnLst>
                                    <p:set>
                                      <p:cBhvr>
                                        <p:cTn id="170" dur="1" fill="hold">
                                          <p:stCondLst>
                                            <p:cond delay="0"/>
                                          </p:stCondLst>
                                        </p:cTn>
                                        <p:tgtEl>
                                          <p:spTgt spid="12"/>
                                        </p:tgtEl>
                                        <p:attrNameLst>
                                          <p:attrName>style.visibility</p:attrName>
                                        </p:attrNameLst>
                                      </p:cBhvr>
                                      <p:to>
                                        <p:strVal val="visible"/>
                                      </p:to>
                                    </p:set>
                                    <p:animEffect transition="in" filter="wipe(up)">
                                      <p:cBhvr>
                                        <p:cTn id="171" dur="3000"/>
                                        <p:tgtEl>
                                          <p:spTgt spid="12"/>
                                        </p:tgtEl>
                                      </p:cBhvr>
                                    </p:animEffect>
                                  </p:childTnLst>
                                </p:cTn>
                              </p:par>
                              <p:par>
                                <p:cTn id="172" presetID="22" presetClass="entr" presetSubtype="1" fill="hold" nodeType="withEffect">
                                  <p:stCondLst>
                                    <p:cond delay="0"/>
                                  </p:stCondLst>
                                  <p:childTnLst>
                                    <p:set>
                                      <p:cBhvr>
                                        <p:cTn id="173" dur="1" fill="hold">
                                          <p:stCondLst>
                                            <p:cond delay="0"/>
                                          </p:stCondLst>
                                        </p:cTn>
                                        <p:tgtEl>
                                          <p:spTgt spid="57"/>
                                        </p:tgtEl>
                                        <p:attrNameLst>
                                          <p:attrName>style.visibility</p:attrName>
                                        </p:attrNameLst>
                                      </p:cBhvr>
                                      <p:to>
                                        <p:strVal val="visible"/>
                                      </p:to>
                                    </p:set>
                                    <p:animEffect transition="in" filter="wipe(up)">
                                      <p:cBhvr>
                                        <p:cTn id="174" dur="3000"/>
                                        <p:tgtEl>
                                          <p:spTgt spid="57"/>
                                        </p:tgtEl>
                                      </p:cBhvr>
                                    </p:animEffect>
                                  </p:childTnLst>
                                </p:cTn>
                              </p:par>
                            </p:childTnLst>
                          </p:cTn>
                        </p:par>
                        <p:par>
                          <p:cTn id="175" fill="hold">
                            <p:stCondLst>
                              <p:cond delay="3000"/>
                            </p:stCondLst>
                            <p:childTnLst>
                              <p:par>
                                <p:cTn id="176" presetID="22" presetClass="exit" presetSubtype="8" fill="hold" grpId="1" nodeType="afterEffect">
                                  <p:stCondLst>
                                    <p:cond delay="0"/>
                                  </p:stCondLst>
                                  <p:childTnLst>
                                    <p:animEffect transition="out" filter="wipe(left)">
                                      <p:cBhvr>
                                        <p:cTn id="177" dur="500"/>
                                        <p:tgtEl>
                                          <p:spTgt spid="3"/>
                                        </p:tgtEl>
                                      </p:cBhvr>
                                    </p:animEffect>
                                    <p:set>
                                      <p:cBhvr>
                                        <p:cTn id="178" dur="1" fill="hold">
                                          <p:stCondLst>
                                            <p:cond delay="499"/>
                                          </p:stCondLst>
                                        </p:cTn>
                                        <p:tgtEl>
                                          <p:spTgt spid="3"/>
                                        </p:tgtEl>
                                        <p:attrNameLst>
                                          <p:attrName>style.visibility</p:attrName>
                                        </p:attrNameLst>
                                      </p:cBhvr>
                                      <p:to>
                                        <p:strVal val="hidden"/>
                                      </p:to>
                                    </p:set>
                                  </p:childTnLst>
                                </p:cTn>
                              </p:par>
                            </p:childTnLst>
                          </p:cTn>
                        </p:par>
                      </p:childTnLst>
                    </p:cTn>
                  </p:par>
                  <p:par>
                    <p:cTn id="179" fill="hold">
                      <p:stCondLst>
                        <p:cond delay="indefinite"/>
                      </p:stCondLst>
                      <p:childTnLst>
                        <p:par>
                          <p:cTn id="180" fill="hold">
                            <p:stCondLst>
                              <p:cond delay="0"/>
                            </p:stCondLst>
                            <p:childTnLst>
                              <p:par>
                                <p:cTn id="181" presetID="22" presetClass="entr" presetSubtype="8" fill="hold" grpId="0" nodeType="clickEffect">
                                  <p:stCondLst>
                                    <p:cond delay="0"/>
                                  </p:stCondLst>
                                  <p:childTnLst>
                                    <p:set>
                                      <p:cBhvr>
                                        <p:cTn id="182" dur="1" fill="hold">
                                          <p:stCondLst>
                                            <p:cond delay="0"/>
                                          </p:stCondLst>
                                        </p:cTn>
                                        <p:tgtEl>
                                          <p:spTgt spid="32"/>
                                        </p:tgtEl>
                                        <p:attrNameLst>
                                          <p:attrName>style.visibility</p:attrName>
                                        </p:attrNameLst>
                                      </p:cBhvr>
                                      <p:to>
                                        <p:strVal val="visible"/>
                                      </p:to>
                                    </p:set>
                                    <p:animEffect transition="in" filter="wipe(left)">
                                      <p:cBhvr>
                                        <p:cTn id="183" dur="500"/>
                                        <p:tgtEl>
                                          <p:spTgt spid="32"/>
                                        </p:tgtEl>
                                      </p:cBhvr>
                                    </p:animEffect>
                                  </p:childTnLst>
                                </p:cTn>
                              </p:par>
                            </p:childTnLst>
                          </p:cTn>
                        </p:par>
                        <p:par>
                          <p:cTn id="184" fill="hold">
                            <p:stCondLst>
                              <p:cond delay="500"/>
                            </p:stCondLst>
                            <p:childTnLst>
                              <p:par>
                                <p:cTn id="185" presetID="22" presetClass="entr" presetSubtype="8" fill="hold" grpId="0" nodeType="afterEffect">
                                  <p:stCondLst>
                                    <p:cond delay="0"/>
                                  </p:stCondLst>
                                  <p:childTnLst>
                                    <p:set>
                                      <p:cBhvr>
                                        <p:cTn id="186" dur="1" fill="hold">
                                          <p:stCondLst>
                                            <p:cond delay="0"/>
                                          </p:stCondLst>
                                        </p:cTn>
                                        <p:tgtEl>
                                          <p:spTgt spid="38"/>
                                        </p:tgtEl>
                                        <p:attrNameLst>
                                          <p:attrName>style.visibility</p:attrName>
                                        </p:attrNameLst>
                                      </p:cBhvr>
                                      <p:to>
                                        <p:strVal val="visible"/>
                                      </p:to>
                                    </p:set>
                                    <p:animEffect transition="in" filter="wipe(left)">
                                      <p:cBhvr>
                                        <p:cTn id="187" dur="1000"/>
                                        <p:tgtEl>
                                          <p:spTgt spid="38"/>
                                        </p:tgtEl>
                                      </p:cBhvr>
                                    </p:animEffect>
                                  </p:childTnLst>
                                </p:cTn>
                              </p:par>
                            </p:childTnLst>
                          </p:cTn>
                        </p:par>
                        <p:par>
                          <p:cTn id="188" fill="hold">
                            <p:stCondLst>
                              <p:cond delay="1500"/>
                            </p:stCondLst>
                            <p:childTnLst>
                              <p:par>
                                <p:cTn id="189" presetID="22" presetClass="entr" presetSubtype="1" fill="hold" nodeType="afterEffect">
                                  <p:stCondLst>
                                    <p:cond delay="0"/>
                                  </p:stCondLst>
                                  <p:childTnLst>
                                    <p:set>
                                      <p:cBhvr>
                                        <p:cTn id="190" dur="1" fill="hold">
                                          <p:stCondLst>
                                            <p:cond delay="0"/>
                                          </p:stCondLst>
                                        </p:cTn>
                                        <p:tgtEl>
                                          <p:spTgt spid="2"/>
                                        </p:tgtEl>
                                        <p:attrNameLst>
                                          <p:attrName>style.visibility</p:attrName>
                                        </p:attrNameLst>
                                      </p:cBhvr>
                                      <p:to>
                                        <p:strVal val="visible"/>
                                      </p:to>
                                    </p:set>
                                    <p:animEffect transition="in" filter="wipe(up)">
                                      <p:cBhvr>
                                        <p:cTn id="191"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17" grpId="0"/>
      <p:bldP spid="19" grpId="0" uiExpand="1" build="p"/>
      <p:bldP spid="27" grpId="0" animBg="1"/>
      <p:bldP spid="27" grpId="1" animBg="1"/>
      <p:bldP spid="10" grpId="0"/>
      <p:bldP spid="25" grpId="0"/>
      <p:bldP spid="26" grpId="0" animBg="1"/>
      <p:bldP spid="31" grpId="0" animBg="1"/>
      <p:bldP spid="31" grpId="1" animBg="1"/>
      <p:bldP spid="32" grpId="0"/>
      <p:bldP spid="20" grpId="0" animBg="1"/>
      <p:bldP spid="21" grpId="0" animBg="1"/>
      <p:bldP spid="7" grpId="0" animBg="1"/>
      <p:bldP spid="33" grpId="0" animBg="1"/>
      <p:bldP spid="34" grpId="0" animBg="1"/>
      <p:bldP spid="35" grpId="0" animBg="1"/>
      <p:bldP spid="35" grpId="1" animBg="1"/>
      <p:bldP spid="36" grpId="0" animBg="1"/>
      <p:bldP spid="37" grpId="0"/>
      <p:bldP spid="40" grpId="0" animBg="1"/>
      <p:bldP spid="3" grpId="0" animBg="1"/>
      <p:bldP spid="3" grpId="1" animBg="1"/>
      <p:bldP spid="8" grpId="0" animBg="1"/>
      <p:bldP spid="30" grpId="0" animBg="1"/>
      <p:bldP spid="29" grpId="0" animBg="1"/>
      <p:bldP spid="38" grpId="0" animBg="1"/>
      <p:bldP spid="11" grpId="0" animBg="1"/>
      <p:bldP spid="43" grpId="0" animBg="1"/>
      <p:bldP spid="58" grpId="0" animBg="1"/>
      <p:bldP spid="59" grpId="0"/>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FFCA4F8-E5AA-ACCE-932A-63637F777E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1CF8388-E071-F307-5668-99A634416365}"/>
              </a:ext>
            </a:extLst>
          </p:cNvPr>
          <p:cNvSpPr>
            <a:spLocks noGrp="1"/>
          </p:cNvSpPr>
          <p:nvPr>
            <p:ph type="title"/>
          </p:nvPr>
        </p:nvSpPr>
        <p:spPr/>
        <p:txBody>
          <a:bodyPr/>
          <a:lstStyle/>
          <a:p>
            <a:r>
              <a:rPr lang="en-GB" dirty="0"/>
              <a:t>Order of Operations (3)</a:t>
            </a:r>
          </a:p>
        </p:txBody>
      </p:sp>
      <p:sp>
        <p:nvSpPr>
          <p:cNvPr id="6" name="SQL">
            <a:extLst>
              <a:ext uri="{FF2B5EF4-FFF2-40B4-BE49-F238E27FC236}">
                <a16:creationId xmlns:a16="http://schemas.microsoft.com/office/drawing/2014/main" id="{7A9967D0-25F8-6027-2672-A5C274C5A43B}"/>
              </a:ext>
            </a:extLst>
          </p:cNvPr>
          <p:cNvSpPr>
            <a:spLocks noChangeArrowheads="1"/>
          </p:cNvSpPr>
          <p:nvPr/>
        </p:nvSpPr>
        <p:spPr bwMode="auto">
          <a:xfrm>
            <a:off x="619125" y="1370838"/>
            <a:ext cx="342914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name, age</a:t>
            </a:r>
          </a:p>
          <a:p>
            <a:pPr lvl="0" eaLnBrk="0" fontAlgn="base" hangingPunct="0">
              <a:spcBef>
                <a:spcPct val="0"/>
              </a:spcBef>
              <a:spcAft>
                <a:spcPct val="0"/>
              </a:spcAft>
            </a:pPr>
            <a:r>
              <a:rPr lang="en-US" altLang="en-US" sz="2000" dirty="0">
                <a:solidFill>
                  <a:srgbClr val="B2B2B2"/>
                </a:solidFill>
                <a:latin typeface="Consolas" panose="020B0609020204030204" pitchFamily="49" charset="0"/>
              </a:rPr>
              <a:t>2 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FROM</a:t>
            </a:r>
            <a:r>
              <a:rPr lang="en-US" altLang="en-US" sz="2000" dirty="0">
                <a:solidFill>
                  <a:srgbClr val="000000"/>
                </a:solidFill>
                <a:latin typeface="Consolas" panose="020B0609020204030204" pitchFamily="49" charset="0"/>
              </a:rPr>
              <a:t> Pet</a:t>
            </a:r>
            <a:endParaRPr lang="en-US" altLang="en-US" sz="2000" dirty="0">
              <a:solidFill>
                <a:srgbClr val="B2B2B2"/>
              </a:solidFill>
              <a:latin typeface="Consolas" panose="020B0609020204030204" pitchFamily="49" charset="0"/>
            </a:endParaRPr>
          </a:p>
          <a:p>
            <a:pPr eaLnBrk="0" fontAlgn="base" hangingPunct="0">
              <a:spcBef>
                <a:spcPct val="0"/>
              </a:spcBef>
              <a:spcAft>
                <a:spcPct val="0"/>
              </a:spcAft>
            </a:pPr>
            <a:r>
              <a:rPr lang="en-US" altLang="en-US" sz="2000" dirty="0">
                <a:solidFill>
                  <a:srgbClr val="B2B2B2"/>
                </a:solidFill>
                <a:latin typeface="Consolas" panose="020B0609020204030204" pitchFamily="49" charset="0"/>
              </a:rPr>
              <a:t>3 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WHERE</a:t>
            </a:r>
            <a:r>
              <a:rPr lang="en-US" altLang="en-US" sz="2000" dirty="0">
                <a:solidFill>
                  <a:srgbClr val="000000"/>
                </a:solidFill>
                <a:latin typeface="Consolas" panose="020B0609020204030204" pitchFamily="49" charset="0"/>
              </a:rPr>
              <a:t> age &lt; </a:t>
            </a:r>
            <a:r>
              <a:rPr lang="en-US" altLang="en-US" sz="2000" dirty="0">
                <a:solidFill>
                  <a:srgbClr val="0086B3"/>
                </a:solidFill>
                <a:latin typeface="Consolas" panose="020B0609020204030204" pitchFamily="49" charset="0"/>
              </a:rPr>
              <a:t>5</a:t>
            </a:r>
            <a:endParaRPr lang="en-US" altLang="en-US" sz="2000" dirty="0">
              <a:solidFill>
                <a:srgbClr val="000000"/>
              </a:solidFill>
              <a:latin typeface="Consolas" panose="020B0609020204030204" pitchFamily="49" charset="0"/>
            </a:endParaRPr>
          </a:p>
          <a:p>
            <a:pPr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4 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ORDER BY</a:t>
            </a:r>
            <a:r>
              <a:rPr lang="en-US" altLang="en-US" sz="2000" dirty="0">
                <a:solidFill>
                  <a:srgbClr val="000000"/>
                </a:solidFill>
                <a:latin typeface="Consolas" panose="020B0609020204030204" pitchFamily="49" charset="0"/>
              </a:rPr>
              <a:t> type </a:t>
            </a:r>
            <a:r>
              <a:rPr lang="en-US" altLang="en-US" sz="2000" dirty="0">
                <a:solidFill>
                  <a:srgbClr val="A71D5D"/>
                </a:solidFill>
                <a:latin typeface="Consolas" panose="020B0609020204030204" pitchFamily="49" charset="0"/>
              </a:rPr>
              <a:t>DESC</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latin typeface="Consolas" panose="020B0609020204030204" pitchFamily="49" charset="0"/>
            </a:endParaRPr>
          </a:p>
        </p:txBody>
      </p:sp>
      <p:sp>
        <p:nvSpPr>
          <p:cNvPr id="17" name="Pet">
            <a:extLst>
              <a:ext uri="{FF2B5EF4-FFF2-40B4-BE49-F238E27FC236}">
                <a16:creationId xmlns:a16="http://schemas.microsoft.com/office/drawing/2014/main" id="{048D73FF-1701-3412-0A8F-292B7E9F2A7B}"/>
              </a:ext>
            </a:extLst>
          </p:cNvPr>
          <p:cNvSpPr txBox="1"/>
          <p:nvPr/>
        </p:nvSpPr>
        <p:spPr>
          <a:xfrm>
            <a:off x="1365548" y="3091527"/>
            <a:ext cx="1771650" cy="369332"/>
          </a:xfrm>
          <a:prstGeom prst="rect">
            <a:avLst/>
          </a:prstGeom>
          <a:noFill/>
        </p:spPr>
        <p:txBody>
          <a:bodyPr wrap="square" rtlCol="0">
            <a:spAutoFit/>
          </a:bodyPr>
          <a:lstStyle/>
          <a:p>
            <a:r>
              <a:rPr lang="en-GB" b="1" dirty="0"/>
              <a:t>Table: Pet</a:t>
            </a:r>
          </a:p>
        </p:txBody>
      </p:sp>
      <p:sp>
        <p:nvSpPr>
          <p:cNvPr id="19" name="Order">
            <a:extLst>
              <a:ext uri="{FF2B5EF4-FFF2-40B4-BE49-F238E27FC236}">
                <a16:creationId xmlns:a16="http://schemas.microsoft.com/office/drawing/2014/main" id="{728727D3-3E5E-0AC8-453A-AFE7E81505FF}"/>
              </a:ext>
            </a:extLst>
          </p:cNvPr>
          <p:cNvSpPr txBox="1"/>
          <p:nvPr/>
        </p:nvSpPr>
        <p:spPr>
          <a:xfrm>
            <a:off x="8794761" y="599622"/>
            <a:ext cx="2590417" cy="2246769"/>
          </a:xfrm>
          <a:prstGeom prst="rect">
            <a:avLst/>
          </a:prstGeom>
          <a:noFill/>
        </p:spPr>
        <p:txBody>
          <a:bodyPr wrap="square" rtlCol="0">
            <a:spAutoFit/>
          </a:bodyPr>
          <a:lstStyle/>
          <a:p>
            <a:r>
              <a:rPr lang="en-GB" sz="2800" b="1" dirty="0">
                <a:solidFill>
                  <a:srgbClr val="7030A0"/>
                </a:solidFill>
              </a:rPr>
              <a:t>Order</a:t>
            </a:r>
            <a:r>
              <a:rPr lang="en-GB" sz="2800" dirty="0">
                <a:solidFill>
                  <a:srgbClr val="7030A0"/>
                </a:solidFill>
              </a:rPr>
              <a:t>:</a:t>
            </a:r>
          </a:p>
          <a:p>
            <a:pPr lvl="1"/>
            <a:r>
              <a:rPr lang="en-GB" sz="2800" dirty="0">
                <a:solidFill>
                  <a:srgbClr val="7030A0"/>
                </a:solidFill>
              </a:rPr>
              <a:t>1.   </a:t>
            </a:r>
          </a:p>
          <a:p>
            <a:pPr lvl="1"/>
            <a:r>
              <a:rPr lang="en-GB" sz="2800" dirty="0">
                <a:solidFill>
                  <a:srgbClr val="7030A0"/>
                </a:solidFill>
              </a:rPr>
              <a:t>2.   </a:t>
            </a:r>
          </a:p>
          <a:p>
            <a:pPr lvl="1"/>
            <a:r>
              <a:rPr lang="en-GB" sz="2800" dirty="0">
                <a:solidFill>
                  <a:srgbClr val="7030A0"/>
                </a:solidFill>
              </a:rPr>
              <a:t>3.   </a:t>
            </a:r>
          </a:p>
          <a:p>
            <a:pPr lvl="1"/>
            <a:r>
              <a:rPr lang="en-GB" sz="2800" dirty="0">
                <a:solidFill>
                  <a:srgbClr val="7030A0"/>
                </a:solidFill>
              </a:rPr>
              <a:t>4.   </a:t>
            </a:r>
          </a:p>
        </p:txBody>
      </p:sp>
      <p:graphicFrame>
        <p:nvGraphicFramePr>
          <p:cNvPr id="22" name="Pet - Table">
            <a:extLst>
              <a:ext uri="{FF2B5EF4-FFF2-40B4-BE49-F238E27FC236}">
                <a16:creationId xmlns:a16="http://schemas.microsoft.com/office/drawing/2014/main" id="{8D645F94-F2AF-0D85-D633-375EFFD9B217}"/>
              </a:ext>
            </a:extLst>
          </p:cNvPr>
          <p:cNvGraphicFramePr>
            <a:graphicFrameLocks noGrp="1"/>
          </p:cNvGraphicFramePr>
          <p:nvPr/>
        </p:nvGraphicFramePr>
        <p:xfrm>
          <a:off x="1451271"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7</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a:solidFill>
                            <a:schemeClr val="tx1"/>
                          </a:solidFill>
                          <a:effectLst/>
                        </a:rPr>
                        <a:t>Minnie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graphicFrame>
        <p:nvGraphicFramePr>
          <p:cNvPr id="23" name="Temp - Table">
            <a:extLst>
              <a:ext uri="{FF2B5EF4-FFF2-40B4-BE49-F238E27FC236}">
                <a16:creationId xmlns:a16="http://schemas.microsoft.com/office/drawing/2014/main" id="{918FCA73-BB46-9AA3-F622-DDF10A58189D}"/>
              </a:ext>
            </a:extLst>
          </p:cNvPr>
          <p:cNvGraphicFramePr>
            <a:graphicFrameLocks noGrp="1"/>
          </p:cNvGraphicFramePr>
          <p:nvPr/>
        </p:nvGraphicFramePr>
        <p:xfrm>
          <a:off x="4081885"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9</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sp>
        <p:nvSpPr>
          <p:cNvPr id="26" name="Temp - Arrow">
            <a:extLst>
              <a:ext uri="{FF2B5EF4-FFF2-40B4-BE49-F238E27FC236}">
                <a16:creationId xmlns:a16="http://schemas.microsoft.com/office/drawing/2014/main" id="{71C78B85-BA8D-E660-E244-1C2F490EA32E}"/>
              </a:ext>
            </a:extLst>
          </p:cNvPr>
          <p:cNvSpPr/>
          <p:nvPr/>
        </p:nvSpPr>
        <p:spPr>
          <a:xfrm>
            <a:off x="3539502" y="4748123"/>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Mickey - Row">
            <a:extLst>
              <a:ext uri="{FF2B5EF4-FFF2-40B4-BE49-F238E27FC236}">
                <a16:creationId xmlns:a16="http://schemas.microsoft.com/office/drawing/2014/main" id="{72A6857F-B629-89D6-3CDC-7CD9CFF68388}"/>
              </a:ext>
            </a:extLst>
          </p:cNvPr>
          <p:cNvSpPr/>
          <p:nvPr/>
        </p:nvSpPr>
        <p:spPr>
          <a:xfrm>
            <a:off x="4035588" y="4712125"/>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oger - Row">
            <a:extLst>
              <a:ext uri="{FF2B5EF4-FFF2-40B4-BE49-F238E27FC236}">
                <a16:creationId xmlns:a16="http://schemas.microsoft.com/office/drawing/2014/main" id="{84DC86E9-6A7A-9291-E2BD-324640A17CEF}"/>
              </a:ext>
            </a:extLst>
          </p:cNvPr>
          <p:cNvSpPr/>
          <p:nvPr/>
        </p:nvSpPr>
        <p:spPr>
          <a:xfrm>
            <a:off x="4035587" y="6005292"/>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Cindy - Row">
            <a:extLst>
              <a:ext uri="{FF2B5EF4-FFF2-40B4-BE49-F238E27FC236}">
                <a16:creationId xmlns:a16="http://schemas.microsoft.com/office/drawing/2014/main" id="{AA4BAEFC-2A72-0490-A38D-E21129B8A0BE}"/>
              </a:ext>
            </a:extLst>
          </p:cNvPr>
          <p:cNvSpPr/>
          <p:nvPr/>
        </p:nvSpPr>
        <p:spPr>
          <a:xfrm>
            <a:off x="4035278" y="4064352"/>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Mickey - Yellow">
            <a:extLst>
              <a:ext uri="{FF2B5EF4-FFF2-40B4-BE49-F238E27FC236}">
                <a16:creationId xmlns:a16="http://schemas.microsoft.com/office/drawing/2014/main" id="{D72AA58F-04FA-8ED0-8120-0AF3163557CC}"/>
              </a:ext>
            </a:extLst>
          </p:cNvPr>
          <p:cNvSpPr/>
          <p:nvPr/>
        </p:nvSpPr>
        <p:spPr>
          <a:xfrm>
            <a:off x="5659147" y="4719669"/>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oger - Yellow">
            <a:extLst>
              <a:ext uri="{FF2B5EF4-FFF2-40B4-BE49-F238E27FC236}">
                <a16:creationId xmlns:a16="http://schemas.microsoft.com/office/drawing/2014/main" id="{4FE39ADB-6BD7-50F4-FA01-E2349798048D}"/>
              </a:ext>
            </a:extLst>
          </p:cNvPr>
          <p:cNvSpPr/>
          <p:nvPr/>
        </p:nvSpPr>
        <p:spPr>
          <a:xfrm>
            <a:off x="5656920" y="6007680"/>
            <a:ext cx="470841"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Where 2 - Arrow">
            <a:extLst>
              <a:ext uri="{FF2B5EF4-FFF2-40B4-BE49-F238E27FC236}">
                <a16:creationId xmlns:a16="http://schemas.microsoft.com/office/drawing/2014/main" id="{52753950-89E6-A591-8765-52B0EAF7B569}"/>
              </a:ext>
            </a:extLst>
          </p:cNvPr>
          <p:cNvSpPr/>
          <p:nvPr/>
        </p:nvSpPr>
        <p:spPr>
          <a:xfrm rot="3278631">
            <a:off x="5277224" y="2865790"/>
            <a:ext cx="464567" cy="46799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5" name="Name - Arrow">
            <a:extLst>
              <a:ext uri="{FF2B5EF4-FFF2-40B4-BE49-F238E27FC236}">
                <a16:creationId xmlns:a16="http://schemas.microsoft.com/office/drawing/2014/main" id="{C42D44E5-49D8-63FC-BB9A-FD7BE653FFD9}"/>
              </a:ext>
            </a:extLst>
          </p:cNvPr>
          <p:cNvCxnSpPr>
            <a:cxnSpLocks/>
            <a:endCxn id="29" idx="0"/>
          </p:cNvCxnSpPr>
          <p:nvPr/>
        </p:nvCxnSpPr>
        <p:spPr>
          <a:xfrm flipH="1">
            <a:off x="4460434" y="2265944"/>
            <a:ext cx="293864" cy="111260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Age - Arrow">
            <a:extLst>
              <a:ext uri="{FF2B5EF4-FFF2-40B4-BE49-F238E27FC236}">
                <a16:creationId xmlns:a16="http://schemas.microsoft.com/office/drawing/2014/main" id="{3D0EABB3-14AE-16A5-747D-A6DFE680D467}"/>
              </a:ext>
            </a:extLst>
          </p:cNvPr>
          <p:cNvCxnSpPr>
            <a:cxnSpLocks/>
            <a:endCxn id="30" idx="0"/>
          </p:cNvCxnSpPr>
          <p:nvPr/>
        </p:nvCxnSpPr>
        <p:spPr>
          <a:xfrm>
            <a:off x="5605258" y="2265944"/>
            <a:ext cx="287889" cy="111260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 name="Cindy - Yellow">
            <a:extLst>
              <a:ext uri="{FF2B5EF4-FFF2-40B4-BE49-F238E27FC236}">
                <a16:creationId xmlns:a16="http://schemas.microsoft.com/office/drawing/2014/main" id="{E380348A-9866-4B22-0708-C019333CDF81}"/>
              </a:ext>
            </a:extLst>
          </p:cNvPr>
          <p:cNvSpPr/>
          <p:nvPr/>
        </p:nvSpPr>
        <p:spPr>
          <a:xfrm>
            <a:off x="5659147" y="4065060"/>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 name="Sorted - Table">
            <a:extLst>
              <a:ext uri="{FF2B5EF4-FFF2-40B4-BE49-F238E27FC236}">
                <a16:creationId xmlns:a16="http://schemas.microsoft.com/office/drawing/2014/main" id="{F4B4ED92-6A03-C64E-1E8C-46D2DFC167A1}"/>
              </a:ext>
            </a:extLst>
          </p:cNvPr>
          <p:cNvGraphicFramePr>
            <a:graphicFrameLocks noGrp="1"/>
          </p:cNvGraphicFramePr>
          <p:nvPr/>
        </p:nvGraphicFramePr>
        <p:xfrm>
          <a:off x="9378016" y="3429000"/>
          <a:ext cx="1254887" cy="16192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3</a:t>
                      </a:r>
                    </a:p>
                  </a:txBody>
                  <a:tcPr marL="9525" marR="9525" marT="9525" marB="9525" anchor="ctr"/>
                </a:tc>
                <a:extLst>
                  <a:ext uri="{0D108BD9-81ED-4DB2-BD59-A6C34878D82A}">
                    <a16:rowId xmlns:a16="http://schemas.microsoft.com/office/drawing/2014/main" val="627053109"/>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1</a:t>
                      </a:r>
                    </a:p>
                  </a:txBody>
                  <a:tcPr marL="9525" marR="9525" marT="9525" marB="9525" anchor="ctr"/>
                </a:tc>
                <a:extLst>
                  <a:ext uri="{0D108BD9-81ED-4DB2-BD59-A6C34878D82A}">
                    <a16:rowId xmlns:a16="http://schemas.microsoft.com/office/drawing/2014/main" val="3151915704"/>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1</a:t>
                      </a:r>
                    </a:p>
                  </a:txBody>
                  <a:tcPr marL="9525" marR="9525" marT="9525" marB="9525" anchor="ctr"/>
                </a:tc>
                <a:extLst>
                  <a:ext uri="{0D108BD9-81ED-4DB2-BD59-A6C34878D82A}">
                    <a16:rowId xmlns:a16="http://schemas.microsoft.com/office/drawing/2014/main" val="1193887924"/>
                  </a:ext>
                </a:extLst>
              </a:tr>
              <a:tr h="0">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Cindy</a:t>
                      </a: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4</a:t>
                      </a:r>
                    </a:p>
                  </a:txBody>
                  <a:tcPr marL="9525" marR="9525" marT="9525" marB="9525" anchor="ctr"/>
                </a:tc>
                <a:extLst>
                  <a:ext uri="{0D108BD9-81ED-4DB2-BD59-A6C34878D82A}">
                    <a16:rowId xmlns:a16="http://schemas.microsoft.com/office/drawing/2014/main" val="171917894"/>
                  </a:ext>
                </a:extLst>
              </a:tr>
            </a:tbl>
          </a:graphicData>
        </a:graphic>
      </p:graphicFrame>
      <p:sp>
        <p:nvSpPr>
          <p:cNvPr id="8" name="Minnie - Row">
            <a:extLst>
              <a:ext uri="{FF2B5EF4-FFF2-40B4-BE49-F238E27FC236}">
                <a16:creationId xmlns:a16="http://schemas.microsoft.com/office/drawing/2014/main" id="{D12FFF68-5201-49F9-5D41-2F558C7DE6F6}"/>
              </a:ext>
            </a:extLst>
          </p:cNvPr>
          <p:cNvSpPr/>
          <p:nvPr/>
        </p:nvSpPr>
        <p:spPr>
          <a:xfrm>
            <a:off x="4035743" y="5047810"/>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Age - Column">
            <a:extLst>
              <a:ext uri="{FF2B5EF4-FFF2-40B4-BE49-F238E27FC236}">
                <a16:creationId xmlns:a16="http://schemas.microsoft.com/office/drawing/2014/main" id="{DD73F33F-E6B6-7BC6-2268-B34C4ABEC5F0}"/>
              </a:ext>
            </a:extLst>
          </p:cNvPr>
          <p:cNvSpPr/>
          <p:nvPr/>
        </p:nvSpPr>
        <p:spPr>
          <a:xfrm>
            <a:off x="5659147" y="3378552"/>
            <a:ext cx="468000" cy="297726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Name - Column">
            <a:extLst>
              <a:ext uri="{FF2B5EF4-FFF2-40B4-BE49-F238E27FC236}">
                <a16:creationId xmlns:a16="http://schemas.microsoft.com/office/drawing/2014/main" id="{5C1EE198-3541-77C9-4B9A-38BEF74E729C}"/>
              </a:ext>
            </a:extLst>
          </p:cNvPr>
          <p:cNvSpPr/>
          <p:nvPr/>
        </p:nvSpPr>
        <p:spPr>
          <a:xfrm>
            <a:off x="4064434" y="3378552"/>
            <a:ext cx="792000" cy="297694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utput - Arrow">
            <a:extLst>
              <a:ext uri="{FF2B5EF4-FFF2-40B4-BE49-F238E27FC236}">
                <a16:creationId xmlns:a16="http://schemas.microsoft.com/office/drawing/2014/main" id="{8463ADAD-AA6E-DE63-B873-355C12E34FEC}"/>
              </a:ext>
            </a:extLst>
          </p:cNvPr>
          <p:cNvSpPr/>
          <p:nvPr/>
        </p:nvSpPr>
        <p:spPr>
          <a:xfrm>
            <a:off x="8853491" y="3944680"/>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Minnie - Yellow">
            <a:extLst>
              <a:ext uri="{FF2B5EF4-FFF2-40B4-BE49-F238E27FC236}">
                <a16:creationId xmlns:a16="http://schemas.microsoft.com/office/drawing/2014/main" id="{61BFD07F-E345-2C66-B228-88772E586662}"/>
              </a:ext>
            </a:extLst>
          </p:cNvPr>
          <p:cNvSpPr/>
          <p:nvPr/>
        </p:nvSpPr>
        <p:spPr>
          <a:xfrm>
            <a:off x="5656921" y="5041067"/>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2" name="Temp - Table">
            <a:extLst>
              <a:ext uri="{FF2B5EF4-FFF2-40B4-BE49-F238E27FC236}">
                <a16:creationId xmlns:a16="http://schemas.microsoft.com/office/drawing/2014/main" id="{C180E248-4438-0FDA-4308-78FE143C9414}"/>
              </a:ext>
            </a:extLst>
          </p:cNvPr>
          <p:cNvGraphicFramePr>
            <a:graphicFrameLocks noGrp="1"/>
          </p:cNvGraphicFramePr>
          <p:nvPr/>
        </p:nvGraphicFramePr>
        <p:xfrm>
          <a:off x="6721144"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Rabbit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Mouse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Mouse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4</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dirty="0">
                          <a:solidFill>
                            <a:schemeClr val="tx1"/>
                          </a:solidFill>
                          <a:effectLst/>
                        </a:rPr>
                        <a:t>Bonzo</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Pepper</a:t>
                      </a: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dirty="0">
                          <a:solidFill>
                            <a:schemeClr val="tx1"/>
                          </a:solidFill>
                          <a:effectLst/>
                        </a:rPr>
                        <a:t>Snowy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7</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Kitty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9</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sp>
        <p:nvSpPr>
          <p:cNvPr id="43" name="Temp - Arrow">
            <a:extLst>
              <a:ext uri="{FF2B5EF4-FFF2-40B4-BE49-F238E27FC236}">
                <a16:creationId xmlns:a16="http://schemas.microsoft.com/office/drawing/2014/main" id="{06E620A0-6A84-6860-AE9B-6B154429152F}"/>
              </a:ext>
            </a:extLst>
          </p:cNvPr>
          <p:cNvSpPr/>
          <p:nvPr/>
        </p:nvSpPr>
        <p:spPr>
          <a:xfrm>
            <a:off x="6189455" y="4748755"/>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7" name="Group 56">
            <a:extLst>
              <a:ext uri="{FF2B5EF4-FFF2-40B4-BE49-F238E27FC236}">
                <a16:creationId xmlns:a16="http://schemas.microsoft.com/office/drawing/2014/main" id="{8B605A5F-FDFE-CCAE-5835-5B6812E7D67B}"/>
              </a:ext>
            </a:extLst>
          </p:cNvPr>
          <p:cNvGrpSpPr/>
          <p:nvPr/>
        </p:nvGrpSpPr>
        <p:grpSpPr>
          <a:xfrm>
            <a:off x="6670761" y="3378552"/>
            <a:ext cx="2127050" cy="2977268"/>
            <a:chOff x="6346291" y="3378552"/>
            <a:chExt cx="2127050" cy="2977268"/>
          </a:xfrm>
        </p:grpSpPr>
        <p:sp>
          <p:nvSpPr>
            <p:cNvPr id="13" name="Mickey - Row">
              <a:extLst>
                <a:ext uri="{FF2B5EF4-FFF2-40B4-BE49-F238E27FC236}">
                  <a16:creationId xmlns:a16="http://schemas.microsoft.com/office/drawing/2014/main" id="{4EB3D397-7C5A-45F0-E268-10439DAACE42}"/>
                </a:ext>
              </a:extLst>
            </p:cNvPr>
            <p:cNvSpPr/>
            <p:nvPr/>
          </p:nvSpPr>
          <p:spPr>
            <a:xfrm>
              <a:off x="6348442" y="4399065"/>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Mickey - Yellow">
              <a:extLst>
                <a:ext uri="{FF2B5EF4-FFF2-40B4-BE49-F238E27FC236}">
                  <a16:creationId xmlns:a16="http://schemas.microsoft.com/office/drawing/2014/main" id="{46A32B88-3A14-42D1-E951-698ECC96F955}"/>
                </a:ext>
              </a:extLst>
            </p:cNvPr>
            <p:cNvSpPr/>
            <p:nvPr/>
          </p:nvSpPr>
          <p:spPr>
            <a:xfrm>
              <a:off x="7972001" y="4406609"/>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oger - Row">
              <a:extLst>
                <a:ext uri="{FF2B5EF4-FFF2-40B4-BE49-F238E27FC236}">
                  <a16:creationId xmlns:a16="http://schemas.microsoft.com/office/drawing/2014/main" id="{6A2F9A8F-EE32-6CBE-EE7B-BBEB69216615}"/>
                </a:ext>
              </a:extLst>
            </p:cNvPr>
            <p:cNvSpPr/>
            <p:nvPr/>
          </p:nvSpPr>
          <p:spPr>
            <a:xfrm>
              <a:off x="6346291" y="3750604"/>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oger - Yellow">
              <a:extLst>
                <a:ext uri="{FF2B5EF4-FFF2-40B4-BE49-F238E27FC236}">
                  <a16:creationId xmlns:a16="http://schemas.microsoft.com/office/drawing/2014/main" id="{47B302FA-675D-52F0-2CC7-37C41D2C57DD}"/>
                </a:ext>
              </a:extLst>
            </p:cNvPr>
            <p:cNvSpPr/>
            <p:nvPr/>
          </p:nvSpPr>
          <p:spPr>
            <a:xfrm>
              <a:off x="7967624" y="3752992"/>
              <a:ext cx="470841"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Cindy - Row">
              <a:extLst>
                <a:ext uri="{FF2B5EF4-FFF2-40B4-BE49-F238E27FC236}">
                  <a16:creationId xmlns:a16="http://schemas.microsoft.com/office/drawing/2014/main" id="{512FB59B-EA2E-D074-61CB-0433AD08D4A3}"/>
                </a:ext>
              </a:extLst>
            </p:cNvPr>
            <p:cNvSpPr/>
            <p:nvPr/>
          </p:nvSpPr>
          <p:spPr>
            <a:xfrm>
              <a:off x="6346291" y="4714735"/>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Cindy - Yellow">
              <a:extLst>
                <a:ext uri="{FF2B5EF4-FFF2-40B4-BE49-F238E27FC236}">
                  <a16:creationId xmlns:a16="http://schemas.microsoft.com/office/drawing/2014/main" id="{311A32EC-A37B-58A2-2926-49B9DB48E2E6}"/>
                </a:ext>
              </a:extLst>
            </p:cNvPr>
            <p:cNvSpPr/>
            <p:nvPr/>
          </p:nvSpPr>
          <p:spPr>
            <a:xfrm>
              <a:off x="7970160" y="4715443"/>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Minnie - Row">
              <a:extLst>
                <a:ext uri="{FF2B5EF4-FFF2-40B4-BE49-F238E27FC236}">
                  <a16:creationId xmlns:a16="http://schemas.microsoft.com/office/drawing/2014/main" id="{C869C432-3E93-AD70-9298-986D85369A87}"/>
                </a:ext>
              </a:extLst>
            </p:cNvPr>
            <p:cNvSpPr/>
            <p:nvPr/>
          </p:nvSpPr>
          <p:spPr>
            <a:xfrm>
              <a:off x="6349341" y="4068247"/>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Minnie - Yellow">
              <a:extLst>
                <a:ext uri="{FF2B5EF4-FFF2-40B4-BE49-F238E27FC236}">
                  <a16:creationId xmlns:a16="http://schemas.microsoft.com/office/drawing/2014/main" id="{B12021C9-6F05-DB60-1DAE-4E9DD81553ED}"/>
                </a:ext>
              </a:extLst>
            </p:cNvPr>
            <p:cNvSpPr/>
            <p:nvPr/>
          </p:nvSpPr>
          <p:spPr>
            <a:xfrm>
              <a:off x="7970519" y="4061504"/>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Age - Column">
              <a:extLst>
                <a:ext uri="{FF2B5EF4-FFF2-40B4-BE49-F238E27FC236}">
                  <a16:creationId xmlns:a16="http://schemas.microsoft.com/office/drawing/2014/main" id="{8B3133B4-915A-B14E-F8BA-0F18C2BDAAA4}"/>
                </a:ext>
              </a:extLst>
            </p:cNvPr>
            <p:cNvSpPr/>
            <p:nvPr/>
          </p:nvSpPr>
          <p:spPr>
            <a:xfrm>
              <a:off x="7973936" y="3378552"/>
              <a:ext cx="468000" cy="297726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Name - Column">
              <a:extLst>
                <a:ext uri="{FF2B5EF4-FFF2-40B4-BE49-F238E27FC236}">
                  <a16:creationId xmlns:a16="http://schemas.microsoft.com/office/drawing/2014/main" id="{EDAC069A-3839-3222-7807-9DAFF06CB68C}"/>
                </a:ext>
              </a:extLst>
            </p:cNvPr>
            <p:cNvSpPr/>
            <p:nvPr/>
          </p:nvSpPr>
          <p:spPr>
            <a:xfrm>
              <a:off x="6379223" y="3378552"/>
              <a:ext cx="792000" cy="297694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8" name="Where 2 - Arrow">
            <a:extLst>
              <a:ext uri="{FF2B5EF4-FFF2-40B4-BE49-F238E27FC236}">
                <a16:creationId xmlns:a16="http://schemas.microsoft.com/office/drawing/2014/main" id="{7BF6D11B-30C9-37AA-340F-B0069CEBD316}"/>
              </a:ext>
            </a:extLst>
          </p:cNvPr>
          <p:cNvSpPr/>
          <p:nvPr/>
        </p:nvSpPr>
        <p:spPr>
          <a:xfrm rot="5400000">
            <a:off x="7602525" y="2816094"/>
            <a:ext cx="464567" cy="46799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0924755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2C154-DD93-ED6C-9F89-4C46E62AADD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D7039D-DC4C-3007-1F96-6D1B58A2A3A3}"/>
              </a:ext>
            </a:extLst>
          </p:cNvPr>
          <p:cNvSpPr>
            <a:spLocks noGrp="1"/>
          </p:cNvSpPr>
          <p:nvPr>
            <p:ph type="title"/>
          </p:nvPr>
        </p:nvSpPr>
        <p:spPr/>
        <p:txBody>
          <a:bodyPr/>
          <a:lstStyle/>
          <a:p>
            <a:r>
              <a:rPr lang="en-GB" dirty="0"/>
              <a:t>Order of Operations (3)</a:t>
            </a:r>
          </a:p>
        </p:txBody>
      </p:sp>
      <p:sp>
        <p:nvSpPr>
          <p:cNvPr id="6" name="SQL">
            <a:extLst>
              <a:ext uri="{FF2B5EF4-FFF2-40B4-BE49-F238E27FC236}">
                <a16:creationId xmlns:a16="http://schemas.microsoft.com/office/drawing/2014/main" id="{BB3F14BF-DCE7-8211-AF0F-D5BAFB7215FB}"/>
              </a:ext>
            </a:extLst>
          </p:cNvPr>
          <p:cNvSpPr>
            <a:spLocks noChangeArrowheads="1"/>
          </p:cNvSpPr>
          <p:nvPr/>
        </p:nvSpPr>
        <p:spPr bwMode="auto">
          <a:xfrm>
            <a:off x="619125" y="1370838"/>
            <a:ext cx="342914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name, age</a:t>
            </a:r>
          </a:p>
          <a:p>
            <a:pPr lvl="0" eaLnBrk="0" fontAlgn="base" hangingPunct="0">
              <a:spcBef>
                <a:spcPct val="0"/>
              </a:spcBef>
              <a:spcAft>
                <a:spcPct val="0"/>
              </a:spcAft>
            </a:pPr>
            <a:r>
              <a:rPr lang="en-US" altLang="en-US" sz="2000" dirty="0">
                <a:solidFill>
                  <a:srgbClr val="B2B2B2"/>
                </a:solidFill>
                <a:latin typeface="Consolas" panose="020B0609020204030204" pitchFamily="49" charset="0"/>
              </a:rPr>
              <a:t>2 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FROM</a:t>
            </a:r>
            <a:r>
              <a:rPr lang="en-US" altLang="en-US" sz="2000" dirty="0">
                <a:solidFill>
                  <a:srgbClr val="000000"/>
                </a:solidFill>
                <a:latin typeface="Consolas" panose="020B0609020204030204" pitchFamily="49" charset="0"/>
              </a:rPr>
              <a:t> Pet</a:t>
            </a:r>
            <a:endParaRPr lang="en-US" altLang="en-US" sz="2000" dirty="0">
              <a:solidFill>
                <a:srgbClr val="B2B2B2"/>
              </a:solidFill>
              <a:latin typeface="Consolas" panose="020B0609020204030204" pitchFamily="49" charset="0"/>
            </a:endParaRPr>
          </a:p>
          <a:p>
            <a:pPr eaLnBrk="0" fontAlgn="base" hangingPunct="0">
              <a:spcBef>
                <a:spcPct val="0"/>
              </a:spcBef>
              <a:spcAft>
                <a:spcPct val="0"/>
              </a:spcAft>
            </a:pPr>
            <a:r>
              <a:rPr lang="en-US" altLang="en-US" sz="2000" dirty="0">
                <a:solidFill>
                  <a:srgbClr val="B2B2B2"/>
                </a:solidFill>
                <a:latin typeface="Consolas" panose="020B0609020204030204" pitchFamily="49" charset="0"/>
              </a:rPr>
              <a:t>3 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WHERE</a:t>
            </a:r>
            <a:r>
              <a:rPr lang="en-US" altLang="en-US" sz="2000" dirty="0">
                <a:solidFill>
                  <a:srgbClr val="000000"/>
                </a:solidFill>
                <a:latin typeface="Consolas" panose="020B0609020204030204" pitchFamily="49" charset="0"/>
              </a:rPr>
              <a:t> age &lt; </a:t>
            </a:r>
            <a:r>
              <a:rPr lang="en-US" altLang="en-US" sz="2000" dirty="0">
                <a:solidFill>
                  <a:srgbClr val="0086B3"/>
                </a:solidFill>
                <a:latin typeface="Consolas" panose="020B0609020204030204" pitchFamily="49" charset="0"/>
              </a:rPr>
              <a:t>5</a:t>
            </a:r>
            <a:endParaRPr lang="en-US" altLang="en-US" sz="2000" dirty="0">
              <a:solidFill>
                <a:srgbClr val="000000"/>
              </a:solidFill>
              <a:latin typeface="Consolas" panose="020B0609020204030204" pitchFamily="49" charset="0"/>
            </a:endParaRPr>
          </a:p>
          <a:p>
            <a:pPr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4 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ORDER BY</a:t>
            </a:r>
            <a:r>
              <a:rPr lang="en-US" altLang="en-US" sz="2000" dirty="0">
                <a:solidFill>
                  <a:srgbClr val="000000"/>
                </a:solidFill>
                <a:latin typeface="Consolas" panose="020B0609020204030204" pitchFamily="49" charset="0"/>
              </a:rPr>
              <a:t> type </a:t>
            </a:r>
            <a:r>
              <a:rPr lang="en-US" altLang="en-US" sz="2000" dirty="0">
                <a:solidFill>
                  <a:srgbClr val="A71D5D"/>
                </a:solidFill>
                <a:latin typeface="Consolas" panose="020B0609020204030204" pitchFamily="49" charset="0"/>
              </a:rPr>
              <a:t>DESC</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latin typeface="Consolas" panose="020B0609020204030204" pitchFamily="49" charset="0"/>
            </a:endParaRPr>
          </a:p>
        </p:txBody>
      </p:sp>
      <p:sp>
        <p:nvSpPr>
          <p:cNvPr id="17" name="Pet">
            <a:extLst>
              <a:ext uri="{FF2B5EF4-FFF2-40B4-BE49-F238E27FC236}">
                <a16:creationId xmlns:a16="http://schemas.microsoft.com/office/drawing/2014/main" id="{4CA12722-67FD-1D61-B738-175BB9CB27FD}"/>
              </a:ext>
            </a:extLst>
          </p:cNvPr>
          <p:cNvSpPr txBox="1"/>
          <p:nvPr/>
        </p:nvSpPr>
        <p:spPr>
          <a:xfrm>
            <a:off x="269542" y="3412965"/>
            <a:ext cx="1771650" cy="369332"/>
          </a:xfrm>
          <a:prstGeom prst="rect">
            <a:avLst/>
          </a:prstGeom>
          <a:noFill/>
        </p:spPr>
        <p:txBody>
          <a:bodyPr wrap="square" rtlCol="0">
            <a:spAutoFit/>
          </a:bodyPr>
          <a:lstStyle/>
          <a:p>
            <a:r>
              <a:rPr lang="en-GB" b="1" dirty="0"/>
              <a:t>Table: Pet</a:t>
            </a:r>
          </a:p>
        </p:txBody>
      </p:sp>
      <p:sp>
        <p:nvSpPr>
          <p:cNvPr id="19" name="Order">
            <a:extLst>
              <a:ext uri="{FF2B5EF4-FFF2-40B4-BE49-F238E27FC236}">
                <a16:creationId xmlns:a16="http://schemas.microsoft.com/office/drawing/2014/main" id="{9AB8BED7-3D03-6733-7EEB-905B6A695BC7}"/>
              </a:ext>
            </a:extLst>
          </p:cNvPr>
          <p:cNvSpPr txBox="1"/>
          <p:nvPr/>
        </p:nvSpPr>
        <p:spPr>
          <a:xfrm>
            <a:off x="8794761" y="599622"/>
            <a:ext cx="2590417" cy="2246769"/>
          </a:xfrm>
          <a:prstGeom prst="rect">
            <a:avLst/>
          </a:prstGeom>
          <a:noFill/>
        </p:spPr>
        <p:txBody>
          <a:bodyPr wrap="square" rtlCol="0">
            <a:spAutoFit/>
          </a:bodyPr>
          <a:lstStyle/>
          <a:p>
            <a:r>
              <a:rPr lang="en-GB" sz="2800" b="1" dirty="0">
                <a:solidFill>
                  <a:srgbClr val="7030A0"/>
                </a:solidFill>
              </a:rPr>
              <a:t>Order</a:t>
            </a:r>
            <a:r>
              <a:rPr lang="en-GB" sz="2800" dirty="0">
                <a:solidFill>
                  <a:srgbClr val="7030A0"/>
                </a:solidFill>
              </a:rPr>
              <a:t>:</a:t>
            </a:r>
          </a:p>
          <a:p>
            <a:pPr lvl="1"/>
            <a:r>
              <a:rPr lang="en-GB" sz="2800" dirty="0">
                <a:solidFill>
                  <a:srgbClr val="7030A0"/>
                </a:solidFill>
              </a:rPr>
              <a:t>1.  FROM</a:t>
            </a:r>
          </a:p>
          <a:p>
            <a:pPr lvl="1"/>
            <a:r>
              <a:rPr lang="en-GB" sz="2800" dirty="0">
                <a:solidFill>
                  <a:srgbClr val="7030A0"/>
                </a:solidFill>
              </a:rPr>
              <a:t>2.  WHERE</a:t>
            </a:r>
          </a:p>
          <a:p>
            <a:pPr lvl="1"/>
            <a:r>
              <a:rPr lang="en-GB" sz="2800" dirty="0">
                <a:solidFill>
                  <a:srgbClr val="7030A0"/>
                </a:solidFill>
              </a:rPr>
              <a:t>3.  SELECT</a:t>
            </a:r>
          </a:p>
          <a:p>
            <a:pPr lvl="1"/>
            <a:r>
              <a:rPr lang="en-GB" sz="2800" dirty="0">
                <a:solidFill>
                  <a:srgbClr val="7030A0"/>
                </a:solidFill>
              </a:rPr>
              <a:t>4.  ORDER BY</a:t>
            </a:r>
          </a:p>
        </p:txBody>
      </p:sp>
      <p:sp>
        <p:nvSpPr>
          <p:cNvPr id="27" name="From - Arrow">
            <a:extLst>
              <a:ext uri="{FF2B5EF4-FFF2-40B4-BE49-F238E27FC236}">
                <a16:creationId xmlns:a16="http://schemas.microsoft.com/office/drawing/2014/main" id="{E57C248C-DECA-445B-3777-559FD76E0471}"/>
              </a:ext>
            </a:extLst>
          </p:cNvPr>
          <p:cNvSpPr/>
          <p:nvPr/>
        </p:nvSpPr>
        <p:spPr>
          <a:xfrm>
            <a:off x="154555" y="1757431"/>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om">
            <a:extLst>
              <a:ext uri="{FF2B5EF4-FFF2-40B4-BE49-F238E27FC236}">
                <a16:creationId xmlns:a16="http://schemas.microsoft.com/office/drawing/2014/main" id="{78B64078-CD33-E0CF-944C-B2B88EB38B02}"/>
              </a:ext>
            </a:extLst>
          </p:cNvPr>
          <p:cNvSpPr txBox="1"/>
          <p:nvPr/>
        </p:nvSpPr>
        <p:spPr>
          <a:xfrm>
            <a:off x="2274895" y="3233224"/>
            <a:ext cx="850960" cy="369332"/>
          </a:xfrm>
          <a:prstGeom prst="rect">
            <a:avLst/>
          </a:prstGeom>
          <a:noFill/>
        </p:spPr>
        <p:txBody>
          <a:bodyPr wrap="square" rtlCol="0">
            <a:spAutoFit/>
          </a:bodyPr>
          <a:lstStyle/>
          <a:p>
            <a:r>
              <a:rPr lang="en-GB" b="1" dirty="0"/>
              <a:t>FROM</a:t>
            </a:r>
          </a:p>
        </p:txBody>
      </p:sp>
      <p:graphicFrame>
        <p:nvGraphicFramePr>
          <p:cNvPr id="22" name="Pet - Table">
            <a:extLst>
              <a:ext uri="{FF2B5EF4-FFF2-40B4-BE49-F238E27FC236}">
                <a16:creationId xmlns:a16="http://schemas.microsoft.com/office/drawing/2014/main" id="{F1277B78-8984-8B58-5C2E-EDE193CCEAA9}"/>
              </a:ext>
            </a:extLst>
          </p:cNvPr>
          <p:cNvGraphicFramePr>
            <a:graphicFrameLocks noGrp="1"/>
          </p:cNvGraphicFramePr>
          <p:nvPr>
            <p:extLst>
              <p:ext uri="{D42A27DB-BD31-4B8C-83A1-F6EECF244321}">
                <p14:modId xmlns:p14="http://schemas.microsoft.com/office/powerpoint/2010/main" val="1386805415"/>
              </p:ext>
            </p:extLst>
          </p:nvPr>
        </p:nvGraphicFramePr>
        <p:xfrm>
          <a:off x="355265" y="3734033"/>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7</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a:solidFill>
                            <a:schemeClr val="tx1"/>
                          </a:solidFill>
                          <a:effectLst/>
                        </a:rPr>
                        <a:t>Minnie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graphicFrame>
        <p:nvGraphicFramePr>
          <p:cNvPr id="23" name="Temp - Table">
            <a:extLst>
              <a:ext uri="{FF2B5EF4-FFF2-40B4-BE49-F238E27FC236}">
                <a16:creationId xmlns:a16="http://schemas.microsoft.com/office/drawing/2014/main" id="{DA0004D0-54C5-7FE3-495E-2E40E17F56E7}"/>
              </a:ext>
            </a:extLst>
          </p:cNvPr>
          <p:cNvGraphicFramePr>
            <a:graphicFrameLocks noGrp="1"/>
          </p:cNvGraphicFramePr>
          <p:nvPr>
            <p:extLst>
              <p:ext uri="{D42A27DB-BD31-4B8C-83A1-F6EECF244321}">
                <p14:modId xmlns:p14="http://schemas.microsoft.com/office/powerpoint/2010/main" val="409024738"/>
              </p:ext>
            </p:extLst>
          </p:nvPr>
        </p:nvGraphicFramePr>
        <p:xfrm>
          <a:off x="2917299" y="3734033"/>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9</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sp>
        <p:nvSpPr>
          <p:cNvPr id="26" name="Temp - Arrow">
            <a:extLst>
              <a:ext uri="{FF2B5EF4-FFF2-40B4-BE49-F238E27FC236}">
                <a16:creationId xmlns:a16="http://schemas.microsoft.com/office/drawing/2014/main" id="{1A22687F-9CC3-77DA-888E-EB02C1FDEFA4}"/>
              </a:ext>
            </a:extLst>
          </p:cNvPr>
          <p:cNvSpPr/>
          <p:nvPr/>
        </p:nvSpPr>
        <p:spPr>
          <a:xfrm>
            <a:off x="2415091" y="4101389"/>
            <a:ext cx="464567" cy="2160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Select - Arrow">
            <a:extLst>
              <a:ext uri="{FF2B5EF4-FFF2-40B4-BE49-F238E27FC236}">
                <a16:creationId xmlns:a16="http://schemas.microsoft.com/office/drawing/2014/main" id="{B4BBE812-EAF4-B48F-6791-443B03AA852A}"/>
              </a:ext>
            </a:extLst>
          </p:cNvPr>
          <p:cNvSpPr/>
          <p:nvPr/>
        </p:nvSpPr>
        <p:spPr>
          <a:xfrm>
            <a:off x="154555" y="1430188"/>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utput">
            <a:extLst>
              <a:ext uri="{FF2B5EF4-FFF2-40B4-BE49-F238E27FC236}">
                <a16:creationId xmlns:a16="http://schemas.microsoft.com/office/drawing/2014/main" id="{12D80B6F-5F24-F5D0-D320-08DA8E3B3394}"/>
              </a:ext>
            </a:extLst>
          </p:cNvPr>
          <p:cNvSpPr txBox="1"/>
          <p:nvPr/>
        </p:nvSpPr>
        <p:spPr>
          <a:xfrm>
            <a:off x="10743788" y="3231735"/>
            <a:ext cx="960176" cy="369332"/>
          </a:xfrm>
          <a:prstGeom prst="rect">
            <a:avLst/>
          </a:prstGeom>
          <a:noFill/>
        </p:spPr>
        <p:txBody>
          <a:bodyPr wrap="square" rtlCol="0">
            <a:spAutoFit/>
          </a:bodyPr>
          <a:lstStyle/>
          <a:p>
            <a:pPr algn="ctr"/>
            <a:r>
              <a:rPr lang="en-GB" b="1" dirty="0"/>
              <a:t>Output</a:t>
            </a:r>
          </a:p>
        </p:txBody>
      </p:sp>
      <p:sp>
        <p:nvSpPr>
          <p:cNvPr id="20" name="Mickey - Row">
            <a:extLst>
              <a:ext uri="{FF2B5EF4-FFF2-40B4-BE49-F238E27FC236}">
                <a16:creationId xmlns:a16="http://schemas.microsoft.com/office/drawing/2014/main" id="{1853AA6B-7FD8-3E7E-8D9E-E7952D8BFB0D}"/>
              </a:ext>
            </a:extLst>
          </p:cNvPr>
          <p:cNvSpPr/>
          <p:nvPr/>
        </p:nvSpPr>
        <p:spPr>
          <a:xfrm>
            <a:off x="2871002" y="5033563"/>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oger - Row">
            <a:extLst>
              <a:ext uri="{FF2B5EF4-FFF2-40B4-BE49-F238E27FC236}">
                <a16:creationId xmlns:a16="http://schemas.microsoft.com/office/drawing/2014/main" id="{0D3CC910-5E9E-5935-6ED7-338DCE177882}"/>
              </a:ext>
            </a:extLst>
          </p:cNvPr>
          <p:cNvSpPr/>
          <p:nvPr/>
        </p:nvSpPr>
        <p:spPr>
          <a:xfrm>
            <a:off x="2871001" y="6326730"/>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Cindy - Row">
            <a:extLst>
              <a:ext uri="{FF2B5EF4-FFF2-40B4-BE49-F238E27FC236}">
                <a16:creationId xmlns:a16="http://schemas.microsoft.com/office/drawing/2014/main" id="{F42FD7F0-C7E3-F7C3-64B5-86175BE26E84}"/>
              </a:ext>
            </a:extLst>
          </p:cNvPr>
          <p:cNvSpPr/>
          <p:nvPr/>
        </p:nvSpPr>
        <p:spPr>
          <a:xfrm>
            <a:off x="2870692" y="4385790"/>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Mickey - Yellow">
            <a:extLst>
              <a:ext uri="{FF2B5EF4-FFF2-40B4-BE49-F238E27FC236}">
                <a16:creationId xmlns:a16="http://schemas.microsoft.com/office/drawing/2014/main" id="{55B3F266-3D66-01A5-0084-02B23DD79047}"/>
              </a:ext>
            </a:extLst>
          </p:cNvPr>
          <p:cNvSpPr/>
          <p:nvPr/>
        </p:nvSpPr>
        <p:spPr>
          <a:xfrm>
            <a:off x="4494561" y="5041107"/>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oger - Yellow">
            <a:extLst>
              <a:ext uri="{FF2B5EF4-FFF2-40B4-BE49-F238E27FC236}">
                <a16:creationId xmlns:a16="http://schemas.microsoft.com/office/drawing/2014/main" id="{CA1DF3E2-1B1A-F633-3A4A-4F5C43855F4B}"/>
              </a:ext>
            </a:extLst>
          </p:cNvPr>
          <p:cNvSpPr/>
          <p:nvPr/>
        </p:nvSpPr>
        <p:spPr>
          <a:xfrm>
            <a:off x="4492334" y="6329118"/>
            <a:ext cx="470841"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Where - Arrow">
            <a:extLst>
              <a:ext uri="{FF2B5EF4-FFF2-40B4-BE49-F238E27FC236}">
                <a16:creationId xmlns:a16="http://schemas.microsoft.com/office/drawing/2014/main" id="{87DF93C4-BB49-2411-07A1-6DBE208A0AFD}"/>
              </a:ext>
            </a:extLst>
          </p:cNvPr>
          <p:cNvSpPr/>
          <p:nvPr/>
        </p:nvSpPr>
        <p:spPr>
          <a:xfrm>
            <a:off x="154555" y="2048611"/>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Where">
            <a:extLst>
              <a:ext uri="{FF2B5EF4-FFF2-40B4-BE49-F238E27FC236}">
                <a16:creationId xmlns:a16="http://schemas.microsoft.com/office/drawing/2014/main" id="{4655A23E-6F0D-4644-8D1D-8ACA1DC5679D}"/>
              </a:ext>
            </a:extLst>
          </p:cNvPr>
          <p:cNvSpPr txBox="1"/>
          <p:nvPr/>
        </p:nvSpPr>
        <p:spPr>
          <a:xfrm>
            <a:off x="4275374" y="2930420"/>
            <a:ext cx="908750" cy="369332"/>
          </a:xfrm>
          <a:prstGeom prst="rect">
            <a:avLst/>
          </a:prstGeom>
          <a:noFill/>
        </p:spPr>
        <p:txBody>
          <a:bodyPr wrap="square" rtlCol="0">
            <a:spAutoFit/>
          </a:bodyPr>
          <a:lstStyle/>
          <a:p>
            <a:pPr algn="ctr"/>
            <a:r>
              <a:rPr lang="en-GB" b="1" dirty="0"/>
              <a:t>WHERE</a:t>
            </a:r>
          </a:p>
        </p:txBody>
      </p:sp>
      <p:sp>
        <p:nvSpPr>
          <p:cNvPr id="40" name="Cindy - Yellow">
            <a:extLst>
              <a:ext uri="{FF2B5EF4-FFF2-40B4-BE49-F238E27FC236}">
                <a16:creationId xmlns:a16="http://schemas.microsoft.com/office/drawing/2014/main" id="{868CB6FE-6953-CD77-7A9F-225AD4548CB6}"/>
              </a:ext>
            </a:extLst>
          </p:cNvPr>
          <p:cNvSpPr/>
          <p:nvPr/>
        </p:nvSpPr>
        <p:spPr>
          <a:xfrm>
            <a:off x="4494561" y="4386498"/>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Order By - Arrow">
            <a:extLst>
              <a:ext uri="{FF2B5EF4-FFF2-40B4-BE49-F238E27FC236}">
                <a16:creationId xmlns:a16="http://schemas.microsoft.com/office/drawing/2014/main" id="{A3030223-B6FA-1C0F-1B60-00D7CD4792DA}"/>
              </a:ext>
            </a:extLst>
          </p:cNvPr>
          <p:cNvSpPr/>
          <p:nvPr/>
        </p:nvSpPr>
        <p:spPr>
          <a:xfrm>
            <a:off x="147347" y="2349629"/>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 name="Output - Table">
            <a:extLst>
              <a:ext uri="{FF2B5EF4-FFF2-40B4-BE49-F238E27FC236}">
                <a16:creationId xmlns:a16="http://schemas.microsoft.com/office/drawing/2014/main" id="{23E04685-FE2C-E794-0AD6-95692BED2BED}"/>
              </a:ext>
            </a:extLst>
          </p:cNvPr>
          <p:cNvGraphicFramePr>
            <a:graphicFrameLocks noGrp="1"/>
          </p:cNvGraphicFramePr>
          <p:nvPr>
            <p:extLst>
              <p:ext uri="{D42A27DB-BD31-4B8C-83A1-F6EECF244321}">
                <p14:modId xmlns:p14="http://schemas.microsoft.com/office/powerpoint/2010/main" val="4254803125"/>
              </p:ext>
            </p:extLst>
          </p:nvPr>
        </p:nvGraphicFramePr>
        <p:xfrm>
          <a:off x="10596433" y="3750438"/>
          <a:ext cx="1254887" cy="16192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3</a:t>
                      </a:r>
                    </a:p>
                  </a:txBody>
                  <a:tcPr marL="9525" marR="9525" marT="9525" marB="9525" anchor="ctr"/>
                </a:tc>
                <a:extLst>
                  <a:ext uri="{0D108BD9-81ED-4DB2-BD59-A6C34878D82A}">
                    <a16:rowId xmlns:a16="http://schemas.microsoft.com/office/drawing/2014/main" val="627053109"/>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1</a:t>
                      </a:r>
                    </a:p>
                  </a:txBody>
                  <a:tcPr marL="9525" marR="9525" marT="9525" marB="9525" anchor="ctr"/>
                </a:tc>
                <a:extLst>
                  <a:ext uri="{0D108BD9-81ED-4DB2-BD59-A6C34878D82A}">
                    <a16:rowId xmlns:a16="http://schemas.microsoft.com/office/drawing/2014/main" val="3151915704"/>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1</a:t>
                      </a:r>
                    </a:p>
                  </a:txBody>
                  <a:tcPr marL="9525" marR="9525" marT="9525" marB="9525" anchor="ctr"/>
                </a:tc>
                <a:extLst>
                  <a:ext uri="{0D108BD9-81ED-4DB2-BD59-A6C34878D82A}">
                    <a16:rowId xmlns:a16="http://schemas.microsoft.com/office/drawing/2014/main" val="1193887924"/>
                  </a:ext>
                </a:extLst>
              </a:tr>
              <a:tr h="0">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Cindy</a:t>
                      </a: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4</a:t>
                      </a:r>
                    </a:p>
                  </a:txBody>
                  <a:tcPr marL="9525" marR="9525" marT="9525" marB="9525" anchor="ctr"/>
                </a:tc>
                <a:extLst>
                  <a:ext uri="{0D108BD9-81ED-4DB2-BD59-A6C34878D82A}">
                    <a16:rowId xmlns:a16="http://schemas.microsoft.com/office/drawing/2014/main" val="171917894"/>
                  </a:ext>
                </a:extLst>
              </a:tr>
            </a:tbl>
          </a:graphicData>
        </a:graphic>
      </p:graphicFrame>
      <p:sp>
        <p:nvSpPr>
          <p:cNvPr id="8" name="Minnie - Row">
            <a:extLst>
              <a:ext uri="{FF2B5EF4-FFF2-40B4-BE49-F238E27FC236}">
                <a16:creationId xmlns:a16="http://schemas.microsoft.com/office/drawing/2014/main" id="{DE26CC7C-F218-9CA9-C097-A8F3A953F8BD}"/>
              </a:ext>
            </a:extLst>
          </p:cNvPr>
          <p:cNvSpPr/>
          <p:nvPr/>
        </p:nvSpPr>
        <p:spPr>
          <a:xfrm>
            <a:off x="2871157" y="5369248"/>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utput - Arrow">
            <a:extLst>
              <a:ext uri="{FF2B5EF4-FFF2-40B4-BE49-F238E27FC236}">
                <a16:creationId xmlns:a16="http://schemas.microsoft.com/office/drawing/2014/main" id="{41B03BC3-B622-38BA-3963-2997C3543829}"/>
              </a:ext>
            </a:extLst>
          </p:cNvPr>
          <p:cNvSpPr/>
          <p:nvPr/>
        </p:nvSpPr>
        <p:spPr>
          <a:xfrm>
            <a:off x="10119468" y="4101389"/>
            <a:ext cx="464567" cy="2160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Minnie - Yellow">
            <a:extLst>
              <a:ext uri="{FF2B5EF4-FFF2-40B4-BE49-F238E27FC236}">
                <a16:creationId xmlns:a16="http://schemas.microsoft.com/office/drawing/2014/main" id="{25E94918-C645-BFD4-5304-B5A80FA2722B}"/>
              </a:ext>
            </a:extLst>
          </p:cNvPr>
          <p:cNvSpPr/>
          <p:nvPr/>
        </p:nvSpPr>
        <p:spPr>
          <a:xfrm>
            <a:off x="4492335" y="5362505"/>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2" name="ORDER BY - Table">
            <a:extLst>
              <a:ext uri="{FF2B5EF4-FFF2-40B4-BE49-F238E27FC236}">
                <a16:creationId xmlns:a16="http://schemas.microsoft.com/office/drawing/2014/main" id="{EF3A2748-AA90-BCC8-2993-A9CADABE91F9}"/>
              </a:ext>
            </a:extLst>
          </p:cNvPr>
          <p:cNvGraphicFramePr>
            <a:graphicFrameLocks noGrp="1"/>
          </p:cNvGraphicFramePr>
          <p:nvPr>
            <p:extLst>
              <p:ext uri="{D42A27DB-BD31-4B8C-83A1-F6EECF244321}">
                <p14:modId xmlns:p14="http://schemas.microsoft.com/office/powerpoint/2010/main" val="1281395437"/>
              </p:ext>
            </p:extLst>
          </p:nvPr>
        </p:nvGraphicFramePr>
        <p:xfrm>
          <a:off x="8052208" y="3734033"/>
          <a:ext cx="2042287" cy="16192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Rabbit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Mouse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Mouse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4</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bl>
          </a:graphicData>
        </a:graphic>
      </p:graphicFrame>
      <p:grpSp>
        <p:nvGrpSpPr>
          <p:cNvPr id="57" name="Group 56">
            <a:extLst>
              <a:ext uri="{FF2B5EF4-FFF2-40B4-BE49-F238E27FC236}">
                <a16:creationId xmlns:a16="http://schemas.microsoft.com/office/drawing/2014/main" id="{B1521731-A15D-3FBE-F181-C47FACE64AD9}"/>
              </a:ext>
            </a:extLst>
          </p:cNvPr>
          <p:cNvGrpSpPr/>
          <p:nvPr/>
        </p:nvGrpSpPr>
        <p:grpSpPr>
          <a:xfrm>
            <a:off x="8034757" y="3699990"/>
            <a:ext cx="2062713" cy="1669258"/>
            <a:chOff x="6379223" y="3378552"/>
            <a:chExt cx="2062713" cy="1669258"/>
          </a:xfrm>
        </p:grpSpPr>
        <p:sp>
          <p:nvSpPr>
            <p:cNvPr id="39" name="Age - Column">
              <a:extLst>
                <a:ext uri="{FF2B5EF4-FFF2-40B4-BE49-F238E27FC236}">
                  <a16:creationId xmlns:a16="http://schemas.microsoft.com/office/drawing/2014/main" id="{AA596A34-9643-938B-43CE-DB3B46EE8BF1}"/>
                </a:ext>
              </a:extLst>
            </p:cNvPr>
            <p:cNvSpPr/>
            <p:nvPr/>
          </p:nvSpPr>
          <p:spPr>
            <a:xfrm>
              <a:off x="7973936" y="3378552"/>
              <a:ext cx="468000" cy="166925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Name - Column">
              <a:extLst>
                <a:ext uri="{FF2B5EF4-FFF2-40B4-BE49-F238E27FC236}">
                  <a16:creationId xmlns:a16="http://schemas.microsoft.com/office/drawing/2014/main" id="{3D274248-AF25-F7EF-A10D-420DC757C823}"/>
                </a:ext>
              </a:extLst>
            </p:cNvPr>
            <p:cNvSpPr/>
            <p:nvPr/>
          </p:nvSpPr>
          <p:spPr>
            <a:xfrm>
              <a:off x="6379223" y="3378552"/>
              <a:ext cx="792000" cy="166925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8" name="ORDER BY - Arrow">
            <a:extLst>
              <a:ext uri="{FF2B5EF4-FFF2-40B4-BE49-F238E27FC236}">
                <a16:creationId xmlns:a16="http://schemas.microsoft.com/office/drawing/2014/main" id="{2966E2E3-1095-3AA5-54F4-22EC69E21F63}"/>
              </a:ext>
            </a:extLst>
          </p:cNvPr>
          <p:cNvSpPr/>
          <p:nvPr/>
        </p:nvSpPr>
        <p:spPr>
          <a:xfrm rot="5400000">
            <a:off x="8955566" y="3230020"/>
            <a:ext cx="464567" cy="46799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9" name="ORDER BY">
            <a:extLst>
              <a:ext uri="{FF2B5EF4-FFF2-40B4-BE49-F238E27FC236}">
                <a16:creationId xmlns:a16="http://schemas.microsoft.com/office/drawing/2014/main" id="{1C4BE62B-40C5-DE8F-B8B5-D85D5F2A6A7A}"/>
              </a:ext>
            </a:extLst>
          </p:cNvPr>
          <p:cNvSpPr txBox="1"/>
          <p:nvPr/>
        </p:nvSpPr>
        <p:spPr>
          <a:xfrm>
            <a:off x="8591293" y="2930420"/>
            <a:ext cx="1147392" cy="369332"/>
          </a:xfrm>
          <a:prstGeom prst="rect">
            <a:avLst/>
          </a:prstGeom>
          <a:noFill/>
        </p:spPr>
        <p:txBody>
          <a:bodyPr wrap="square" rtlCol="0">
            <a:spAutoFit/>
          </a:bodyPr>
          <a:lstStyle/>
          <a:p>
            <a:pPr algn="ctr"/>
            <a:r>
              <a:rPr lang="en-GB" b="1" dirty="0"/>
              <a:t>ORDER BY</a:t>
            </a:r>
          </a:p>
        </p:txBody>
      </p:sp>
      <p:graphicFrame>
        <p:nvGraphicFramePr>
          <p:cNvPr id="62" name="WHERE - Table">
            <a:extLst>
              <a:ext uri="{FF2B5EF4-FFF2-40B4-BE49-F238E27FC236}">
                <a16:creationId xmlns:a16="http://schemas.microsoft.com/office/drawing/2014/main" id="{2B9122F8-6167-4D85-A839-C4D5DBB12F55}"/>
              </a:ext>
            </a:extLst>
          </p:cNvPr>
          <p:cNvGraphicFramePr>
            <a:graphicFrameLocks noGrp="1"/>
          </p:cNvGraphicFramePr>
          <p:nvPr>
            <p:extLst>
              <p:ext uri="{D42A27DB-BD31-4B8C-83A1-F6EECF244321}">
                <p14:modId xmlns:p14="http://schemas.microsoft.com/office/powerpoint/2010/main" val="2163529132"/>
              </p:ext>
            </p:extLst>
          </p:nvPr>
        </p:nvGraphicFramePr>
        <p:xfrm>
          <a:off x="5480011" y="3727104"/>
          <a:ext cx="2042287" cy="16192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4</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Mouse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Mouse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sp>
        <p:nvSpPr>
          <p:cNvPr id="43" name="WHERE - Arrow">
            <a:extLst>
              <a:ext uri="{FF2B5EF4-FFF2-40B4-BE49-F238E27FC236}">
                <a16:creationId xmlns:a16="http://schemas.microsoft.com/office/drawing/2014/main" id="{12735B52-F70C-8511-82FF-DD98CDFED39E}"/>
              </a:ext>
            </a:extLst>
          </p:cNvPr>
          <p:cNvSpPr/>
          <p:nvPr/>
        </p:nvSpPr>
        <p:spPr>
          <a:xfrm>
            <a:off x="4976723" y="4101389"/>
            <a:ext cx="464567" cy="2160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Select">
            <a:extLst>
              <a:ext uri="{FF2B5EF4-FFF2-40B4-BE49-F238E27FC236}">
                <a16:creationId xmlns:a16="http://schemas.microsoft.com/office/drawing/2014/main" id="{1A04EDAE-5F98-49A8-AA3B-FEA2F8FF27D5}"/>
              </a:ext>
            </a:extLst>
          </p:cNvPr>
          <p:cNvSpPr txBox="1"/>
          <p:nvPr/>
        </p:nvSpPr>
        <p:spPr>
          <a:xfrm>
            <a:off x="6157046" y="2930420"/>
            <a:ext cx="850960" cy="369332"/>
          </a:xfrm>
          <a:prstGeom prst="rect">
            <a:avLst/>
          </a:prstGeom>
          <a:noFill/>
        </p:spPr>
        <p:txBody>
          <a:bodyPr wrap="square" rtlCol="0">
            <a:spAutoFit/>
          </a:bodyPr>
          <a:lstStyle/>
          <a:p>
            <a:pPr algn="ctr"/>
            <a:r>
              <a:rPr lang="en-GB" b="1" dirty="0"/>
              <a:t>SELECT</a:t>
            </a:r>
          </a:p>
        </p:txBody>
      </p:sp>
      <p:cxnSp>
        <p:nvCxnSpPr>
          <p:cNvPr id="71" name="Name - Arrow">
            <a:extLst>
              <a:ext uri="{FF2B5EF4-FFF2-40B4-BE49-F238E27FC236}">
                <a16:creationId xmlns:a16="http://schemas.microsoft.com/office/drawing/2014/main" id="{5EFE38C2-8439-4C5F-9F74-44013184CA32}"/>
              </a:ext>
            </a:extLst>
          </p:cNvPr>
          <p:cNvCxnSpPr>
            <a:cxnSpLocks/>
            <a:stCxn id="63" idx="1"/>
            <a:endCxn id="76" idx="0"/>
          </p:cNvCxnSpPr>
          <p:nvPr/>
        </p:nvCxnSpPr>
        <p:spPr>
          <a:xfrm flipH="1">
            <a:off x="5858560" y="3115086"/>
            <a:ext cx="298486" cy="57797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Age - Arrow">
            <a:extLst>
              <a:ext uri="{FF2B5EF4-FFF2-40B4-BE49-F238E27FC236}">
                <a16:creationId xmlns:a16="http://schemas.microsoft.com/office/drawing/2014/main" id="{CB1B2BAC-3D1A-47A0-875C-8C332C63A9A8}"/>
              </a:ext>
            </a:extLst>
          </p:cNvPr>
          <p:cNvCxnSpPr>
            <a:cxnSpLocks/>
            <a:stCxn id="63" idx="3"/>
            <a:endCxn id="75" idx="0"/>
          </p:cNvCxnSpPr>
          <p:nvPr/>
        </p:nvCxnSpPr>
        <p:spPr>
          <a:xfrm>
            <a:off x="7008006" y="3115086"/>
            <a:ext cx="283267" cy="57797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5" name="Age - Column">
            <a:extLst>
              <a:ext uri="{FF2B5EF4-FFF2-40B4-BE49-F238E27FC236}">
                <a16:creationId xmlns:a16="http://schemas.microsoft.com/office/drawing/2014/main" id="{C0AD6763-50D9-4E2A-B402-55C2BB0C7BE6}"/>
              </a:ext>
            </a:extLst>
          </p:cNvPr>
          <p:cNvSpPr/>
          <p:nvPr/>
        </p:nvSpPr>
        <p:spPr>
          <a:xfrm>
            <a:off x="7057273" y="3693061"/>
            <a:ext cx="468000" cy="166670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Name - Column">
            <a:extLst>
              <a:ext uri="{FF2B5EF4-FFF2-40B4-BE49-F238E27FC236}">
                <a16:creationId xmlns:a16="http://schemas.microsoft.com/office/drawing/2014/main" id="{6EEFB8EA-38EB-40F0-ACDB-32F4A15C8012}"/>
              </a:ext>
            </a:extLst>
          </p:cNvPr>
          <p:cNvSpPr/>
          <p:nvPr/>
        </p:nvSpPr>
        <p:spPr>
          <a:xfrm>
            <a:off x="5462560" y="3693061"/>
            <a:ext cx="792000" cy="166670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Temp - Arrow">
            <a:extLst>
              <a:ext uri="{FF2B5EF4-FFF2-40B4-BE49-F238E27FC236}">
                <a16:creationId xmlns:a16="http://schemas.microsoft.com/office/drawing/2014/main" id="{505D6E70-C3F4-46DC-93B3-A56DCF57F48A}"/>
              </a:ext>
            </a:extLst>
          </p:cNvPr>
          <p:cNvSpPr/>
          <p:nvPr/>
        </p:nvSpPr>
        <p:spPr>
          <a:xfrm>
            <a:off x="7550229" y="4101389"/>
            <a:ext cx="464567" cy="2160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Where Down - Arrow">
            <a:extLst>
              <a:ext uri="{FF2B5EF4-FFF2-40B4-BE49-F238E27FC236}">
                <a16:creationId xmlns:a16="http://schemas.microsoft.com/office/drawing/2014/main" id="{D731AF1B-DA28-4086-B857-F0B6326C3AFB}"/>
              </a:ext>
            </a:extLst>
          </p:cNvPr>
          <p:cNvSpPr/>
          <p:nvPr/>
        </p:nvSpPr>
        <p:spPr>
          <a:xfrm rot="5400000">
            <a:off x="4498837" y="3233708"/>
            <a:ext cx="464567" cy="46799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500093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1000"/>
                                        <p:tgtEl>
                                          <p:spTgt spid="1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20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wipe(left)">
                                      <p:cBhvr>
                                        <p:cTn id="16" dur="1500"/>
                                        <p:tgtEl>
                                          <p:spTgt spid="6">
                                            <p:txEl>
                                              <p:pRg st="0" end="0"/>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wipe(left)">
                                      <p:cBhvr>
                                        <p:cTn id="20" dur="1500"/>
                                        <p:tgtEl>
                                          <p:spTgt spid="6">
                                            <p:txEl>
                                              <p:pRg st="1" end="1"/>
                                            </p:txEl>
                                          </p:spTgt>
                                        </p:tgtEl>
                                      </p:cBhvr>
                                    </p:animEffect>
                                  </p:childTnLst>
                                </p:cTn>
                              </p:par>
                            </p:childTnLst>
                          </p:cTn>
                        </p:par>
                        <p:par>
                          <p:cTn id="21" fill="hold">
                            <p:stCondLst>
                              <p:cond delay="3000"/>
                            </p:stCondLst>
                            <p:childTnLst>
                              <p:par>
                                <p:cTn id="22" presetID="22" presetClass="entr" presetSubtype="8" fill="hold" grpId="0" nodeType="after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wipe(left)">
                                      <p:cBhvr>
                                        <p:cTn id="24" dur="1500"/>
                                        <p:tgtEl>
                                          <p:spTgt spid="6">
                                            <p:txEl>
                                              <p:pRg st="2" end="2"/>
                                            </p:txEl>
                                          </p:spTgt>
                                        </p:tgtEl>
                                      </p:cBhvr>
                                    </p:animEffect>
                                  </p:childTnLst>
                                </p:cTn>
                              </p:par>
                            </p:childTnLst>
                          </p:cTn>
                        </p:par>
                        <p:par>
                          <p:cTn id="25" fill="hold">
                            <p:stCondLst>
                              <p:cond delay="4500"/>
                            </p:stCondLst>
                            <p:childTnLst>
                              <p:par>
                                <p:cTn id="26" presetID="22" presetClass="entr" presetSubtype="8" fill="hold" grpId="0" nodeType="after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wipe(left)">
                                      <p:cBhvr>
                                        <p:cTn id="28" dur="1500"/>
                                        <p:tgtEl>
                                          <p:spTgt spid="6">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xEl>
                                              <p:pRg st="0" end="0"/>
                                            </p:txEl>
                                          </p:spTgt>
                                        </p:tgtEl>
                                        <p:attrNameLst>
                                          <p:attrName>style.visibility</p:attrName>
                                        </p:attrNameLst>
                                      </p:cBhvr>
                                      <p:to>
                                        <p:strVal val="visible"/>
                                      </p:to>
                                    </p:set>
                                    <p:animEffect transition="in" filter="wipe(left)">
                                      <p:cBhvr>
                                        <p:cTn id="33" dur="1000"/>
                                        <p:tgtEl>
                                          <p:spTgt spid="19">
                                            <p:txEl>
                                              <p:pRg st="0" end="0"/>
                                            </p:txEl>
                                          </p:spTgt>
                                        </p:tgtEl>
                                      </p:cBhvr>
                                    </p:animEffect>
                                  </p:childTnLst>
                                </p:cTn>
                              </p:par>
                            </p:childTnLst>
                          </p:cTn>
                        </p:par>
                        <p:par>
                          <p:cTn id="34" fill="hold">
                            <p:stCondLst>
                              <p:cond delay="1000"/>
                            </p:stCondLst>
                            <p:childTnLst>
                              <p:par>
                                <p:cTn id="35" presetID="22" presetClass="entr" presetSubtype="8" fill="hold" grpId="0" nodeType="afterEffect">
                                  <p:stCondLst>
                                    <p:cond delay="0"/>
                                  </p:stCondLst>
                                  <p:childTnLst>
                                    <p:set>
                                      <p:cBhvr>
                                        <p:cTn id="36" dur="1" fill="hold">
                                          <p:stCondLst>
                                            <p:cond delay="0"/>
                                          </p:stCondLst>
                                        </p:cTn>
                                        <p:tgtEl>
                                          <p:spTgt spid="19">
                                            <p:txEl>
                                              <p:pRg st="1" end="1"/>
                                            </p:txEl>
                                          </p:spTgt>
                                        </p:tgtEl>
                                        <p:attrNameLst>
                                          <p:attrName>style.visibility</p:attrName>
                                        </p:attrNameLst>
                                      </p:cBhvr>
                                      <p:to>
                                        <p:strVal val="visible"/>
                                      </p:to>
                                    </p:set>
                                    <p:animEffect transition="in" filter="wipe(left)">
                                      <p:cBhvr>
                                        <p:cTn id="37" dur="1000"/>
                                        <p:tgtEl>
                                          <p:spTgt spid="19">
                                            <p:txEl>
                                              <p:pRg st="1" end="1"/>
                                            </p:txEl>
                                          </p:spTgt>
                                        </p:tgtEl>
                                      </p:cBhvr>
                                    </p:animEffect>
                                  </p:childTnLst>
                                </p:cTn>
                              </p:par>
                            </p:childTnLst>
                          </p:cTn>
                        </p:par>
                        <p:par>
                          <p:cTn id="38" fill="hold">
                            <p:stCondLst>
                              <p:cond delay="2000"/>
                            </p:stCondLst>
                            <p:childTnLst>
                              <p:par>
                                <p:cTn id="39" presetID="22" presetClass="entr" presetSubtype="8" fill="hold" grpId="0" nodeType="afterEffect">
                                  <p:stCondLst>
                                    <p:cond delay="0"/>
                                  </p:stCondLst>
                                  <p:childTnLst>
                                    <p:set>
                                      <p:cBhvr>
                                        <p:cTn id="40" dur="1" fill="hold">
                                          <p:stCondLst>
                                            <p:cond delay="0"/>
                                          </p:stCondLst>
                                        </p:cTn>
                                        <p:tgtEl>
                                          <p:spTgt spid="19">
                                            <p:txEl>
                                              <p:pRg st="2" end="2"/>
                                            </p:txEl>
                                          </p:spTgt>
                                        </p:tgtEl>
                                        <p:attrNameLst>
                                          <p:attrName>style.visibility</p:attrName>
                                        </p:attrNameLst>
                                      </p:cBhvr>
                                      <p:to>
                                        <p:strVal val="visible"/>
                                      </p:to>
                                    </p:set>
                                    <p:animEffect transition="in" filter="wipe(left)">
                                      <p:cBhvr>
                                        <p:cTn id="41" dur="1000"/>
                                        <p:tgtEl>
                                          <p:spTgt spid="19">
                                            <p:txEl>
                                              <p:pRg st="2" end="2"/>
                                            </p:txEl>
                                          </p:spTgt>
                                        </p:tgtEl>
                                      </p:cBhvr>
                                    </p:animEffect>
                                  </p:childTnLst>
                                </p:cTn>
                              </p:par>
                            </p:childTnLst>
                          </p:cTn>
                        </p:par>
                        <p:par>
                          <p:cTn id="42" fill="hold">
                            <p:stCondLst>
                              <p:cond delay="3000"/>
                            </p:stCondLst>
                            <p:childTnLst>
                              <p:par>
                                <p:cTn id="43" presetID="22" presetClass="entr" presetSubtype="8" fill="hold" grpId="0" nodeType="afterEffect">
                                  <p:stCondLst>
                                    <p:cond delay="0"/>
                                  </p:stCondLst>
                                  <p:childTnLst>
                                    <p:set>
                                      <p:cBhvr>
                                        <p:cTn id="44" dur="1" fill="hold">
                                          <p:stCondLst>
                                            <p:cond delay="0"/>
                                          </p:stCondLst>
                                        </p:cTn>
                                        <p:tgtEl>
                                          <p:spTgt spid="19">
                                            <p:txEl>
                                              <p:pRg st="3" end="3"/>
                                            </p:txEl>
                                          </p:spTgt>
                                        </p:tgtEl>
                                        <p:attrNameLst>
                                          <p:attrName>style.visibility</p:attrName>
                                        </p:attrNameLst>
                                      </p:cBhvr>
                                      <p:to>
                                        <p:strVal val="visible"/>
                                      </p:to>
                                    </p:set>
                                    <p:animEffect transition="in" filter="wipe(left)">
                                      <p:cBhvr>
                                        <p:cTn id="45" dur="1000"/>
                                        <p:tgtEl>
                                          <p:spTgt spid="19">
                                            <p:txEl>
                                              <p:pRg st="3" end="3"/>
                                            </p:txEl>
                                          </p:spTgt>
                                        </p:tgtEl>
                                      </p:cBhvr>
                                    </p:animEffect>
                                  </p:childTnLst>
                                </p:cTn>
                              </p:par>
                            </p:childTnLst>
                          </p:cTn>
                        </p:par>
                        <p:par>
                          <p:cTn id="46" fill="hold">
                            <p:stCondLst>
                              <p:cond delay="4000"/>
                            </p:stCondLst>
                            <p:childTnLst>
                              <p:par>
                                <p:cTn id="47" presetID="22" presetClass="entr" presetSubtype="8" fill="hold" grpId="0" nodeType="afterEffect">
                                  <p:stCondLst>
                                    <p:cond delay="0"/>
                                  </p:stCondLst>
                                  <p:childTnLst>
                                    <p:set>
                                      <p:cBhvr>
                                        <p:cTn id="48" dur="1" fill="hold">
                                          <p:stCondLst>
                                            <p:cond delay="0"/>
                                          </p:stCondLst>
                                        </p:cTn>
                                        <p:tgtEl>
                                          <p:spTgt spid="19">
                                            <p:txEl>
                                              <p:pRg st="4" end="4"/>
                                            </p:txEl>
                                          </p:spTgt>
                                        </p:tgtEl>
                                        <p:attrNameLst>
                                          <p:attrName>style.visibility</p:attrName>
                                        </p:attrNameLst>
                                      </p:cBhvr>
                                      <p:to>
                                        <p:strVal val="visible"/>
                                      </p:to>
                                    </p:set>
                                    <p:animEffect transition="in" filter="wipe(left)">
                                      <p:cBhvr>
                                        <p:cTn id="49" dur="1000"/>
                                        <p:tgtEl>
                                          <p:spTgt spid="19">
                                            <p:txEl>
                                              <p:pRg st="4" end="4"/>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wipe(left)">
                                      <p:cBhvr>
                                        <p:cTn id="54" dur="1000"/>
                                        <p:tgtEl>
                                          <p:spTgt spid="27"/>
                                        </p:tgtEl>
                                      </p:cBhvr>
                                    </p:animEffect>
                                  </p:childTnLst>
                                </p:cTn>
                              </p:par>
                            </p:childTnLst>
                          </p:cTn>
                        </p:par>
                        <p:par>
                          <p:cTn id="55" fill="hold">
                            <p:stCondLst>
                              <p:cond delay="1000"/>
                            </p:stCondLst>
                            <p:childTnLst>
                              <p:par>
                                <p:cTn id="56" presetID="22" presetClass="entr" presetSubtype="8" fill="hold" grpId="0" nodeType="after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wipe(left)">
                                      <p:cBhvr>
                                        <p:cTn id="58" dur="500"/>
                                        <p:tgtEl>
                                          <p:spTgt spid="10"/>
                                        </p:tgtEl>
                                      </p:cBhvr>
                                    </p:animEffect>
                                  </p:childTnLst>
                                </p:cTn>
                              </p:par>
                            </p:childTnLst>
                          </p:cTn>
                        </p:par>
                        <p:par>
                          <p:cTn id="59" fill="hold">
                            <p:stCondLst>
                              <p:cond delay="1500"/>
                            </p:stCondLst>
                            <p:childTnLst>
                              <p:par>
                                <p:cTn id="60" presetID="22" presetClass="entr" presetSubtype="8" fill="hold" grpId="0" nodeType="after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wipe(left)">
                                      <p:cBhvr>
                                        <p:cTn id="62" dur="1000"/>
                                        <p:tgtEl>
                                          <p:spTgt spid="26"/>
                                        </p:tgtEl>
                                      </p:cBhvr>
                                    </p:animEffect>
                                  </p:childTnLst>
                                </p:cTn>
                              </p:par>
                            </p:childTnLst>
                          </p:cTn>
                        </p:par>
                        <p:par>
                          <p:cTn id="63" fill="hold">
                            <p:stCondLst>
                              <p:cond delay="2500"/>
                            </p:stCondLst>
                            <p:childTnLst>
                              <p:par>
                                <p:cTn id="64" presetID="22" presetClass="entr" presetSubtype="8" fill="hold" nodeType="after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wipe(left)">
                                      <p:cBhvr>
                                        <p:cTn id="66" dur="2000"/>
                                        <p:tgtEl>
                                          <p:spTgt spid="2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xit" presetSubtype="8" fill="hold" grpId="1" nodeType="clickEffect">
                                  <p:stCondLst>
                                    <p:cond delay="0"/>
                                  </p:stCondLst>
                                  <p:childTnLst>
                                    <p:animEffect transition="out" filter="wipe(left)">
                                      <p:cBhvr>
                                        <p:cTn id="70" dur="500"/>
                                        <p:tgtEl>
                                          <p:spTgt spid="27"/>
                                        </p:tgtEl>
                                      </p:cBhvr>
                                    </p:animEffect>
                                    <p:set>
                                      <p:cBhvr>
                                        <p:cTn id="71" dur="1" fill="hold">
                                          <p:stCondLst>
                                            <p:cond delay="499"/>
                                          </p:stCondLst>
                                        </p:cTn>
                                        <p:tgtEl>
                                          <p:spTgt spid="27"/>
                                        </p:tgtEl>
                                        <p:attrNameLst>
                                          <p:attrName>style.visibility</p:attrName>
                                        </p:attrNameLst>
                                      </p:cBhvr>
                                      <p:to>
                                        <p:strVal val="hidden"/>
                                      </p:to>
                                    </p:set>
                                  </p:childTnLst>
                                </p:cTn>
                              </p:par>
                            </p:childTnLst>
                          </p:cTn>
                        </p:par>
                        <p:par>
                          <p:cTn id="72" fill="hold">
                            <p:stCondLst>
                              <p:cond delay="500"/>
                            </p:stCondLst>
                            <p:childTnLst>
                              <p:par>
                                <p:cTn id="73" presetID="22" presetClass="entr" presetSubtype="8" fill="hold" grpId="0" nodeType="after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wipe(left)">
                                      <p:cBhvr>
                                        <p:cTn id="75" dur="1000"/>
                                        <p:tgtEl>
                                          <p:spTgt spid="35"/>
                                        </p:tgtEl>
                                      </p:cBhvr>
                                    </p:animEffect>
                                  </p:childTnLst>
                                </p:cTn>
                              </p:par>
                            </p:childTnLst>
                          </p:cTn>
                        </p:par>
                        <p:par>
                          <p:cTn id="76" fill="hold">
                            <p:stCondLst>
                              <p:cond delay="1500"/>
                            </p:stCondLst>
                            <p:childTnLst>
                              <p:par>
                                <p:cTn id="77" presetID="22" presetClass="entr" presetSubtype="8" fill="hold" grpId="0" nodeType="after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wipe(left)">
                                      <p:cBhvr>
                                        <p:cTn id="79" dur="500"/>
                                        <p:tgtEl>
                                          <p:spTgt spid="37"/>
                                        </p:tgtEl>
                                      </p:cBhvr>
                                    </p:animEffect>
                                  </p:childTnLst>
                                </p:cTn>
                              </p:par>
                            </p:childTnLst>
                          </p:cTn>
                        </p:par>
                        <p:par>
                          <p:cTn id="80" fill="hold">
                            <p:stCondLst>
                              <p:cond delay="2000"/>
                            </p:stCondLst>
                            <p:childTnLst>
                              <p:par>
                                <p:cTn id="81" presetID="22" presetClass="entr" presetSubtype="1" fill="hold" grpId="0" nodeType="afterEffect">
                                  <p:stCondLst>
                                    <p:cond delay="0"/>
                                  </p:stCondLst>
                                  <p:childTnLst>
                                    <p:set>
                                      <p:cBhvr>
                                        <p:cTn id="82" dur="1" fill="hold">
                                          <p:stCondLst>
                                            <p:cond delay="0"/>
                                          </p:stCondLst>
                                        </p:cTn>
                                        <p:tgtEl>
                                          <p:spTgt spid="84"/>
                                        </p:tgtEl>
                                        <p:attrNameLst>
                                          <p:attrName>style.visibility</p:attrName>
                                        </p:attrNameLst>
                                      </p:cBhvr>
                                      <p:to>
                                        <p:strVal val="visible"/>
                                      </p:to>
                                    </p:set>
                                    <p:animEffect transition="in" filter="wipe(up)">
                                      <p:cBhvr>
                                        <p:cTn id="83" dur="1000"/>
                                        <p:tgtEl>
                                          <p:spTgt spid="84"/>
                                        </p:tgtEl>
                                      </p:cBhvr>
                                    </p:animEffect>
                                  </p:childTnLst>
                                </p:cTn>
                              </p:par>
                            </p:childTnLst>
                          </p:cTn>
                        </p:par>
                        <p:par>
                          <p:cTn id="84" fill="hold">
                            <p:stCondLst>
                              <p:cond delay="3000"/>
                            </p:stCondLst>
                            <p:childTnLst>
                              <p:par>
                                <p:cTn id="85" presetID="22" presetClass="entr" presetSubtype="1" fill="hold" grpId="0" nodeType="after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wipe(up)">
                                      <p:cBhvr>
                                        <p:cTn id="87" dur="500"/>
                                        <p:tgtEl>
                                          <p:spTgt spid="40"/>
                                        </p:tgtEl>
                                      </p:cBhvr>
                                    </p:animEffect>
                                  </p:childTnLst>
                                </p:cTn>
                              </p:par>
                            </p:childTnLst>
                          </p:cTn>
                        </p:par>
                        <p:par>
                          <p:cTn id="88" fill="hold">
                            <p:stCondLst>
                              <p:cond delay="3500"/>
                            </p:stCondLst>
                            <p:childTnLst>
                              <p:par>
                                <p:cTn id="89" presetID="22" presetClass="entr" presetSubtype="8" fill="hold" grpId="0" nodeType="afterEffect">
                                  <p:stCondLst>
                                    <p:cond delay="0"/>
                                  </p:stCondLst>
                                  <p:childTnLst>
                                    <p:set>
                                      <p:cBhvr>
                                        <p:cTn id="90" dur="1" fill="hold">
                                          <p:stCondLst>
                                            <p:cond delay="0"/>
                                          </p:stCondLst>
                                        </p:cTn>
                                        <p:tgtEl>
                                          <p:spTgt spid="7"/>
                                        </p:tgtEl>
                                        <p:attrNameLst>
                                          <p:attrName>style.visibility</p:attrName>
                                        </p:attrNameLst>
                                      </p:cBhvr>
                                      <p:to>
                                        <p:strVal val="visible"/>
                                      </p:to>
                                    </p:set>
                                    <p:animEffect transition="in" filter="wipe(left)">
                                      <p:cBhvr>
                                        <p:cTn id="91" dur="1500"/>
                                        <p:tgtEl>
                                          <p:spTgt spid="7"/>
                                        </p:tgtEl>
                                      </p:cBhvr>
                                    </p:animEffect>
                                  </p:childTnLst>
                                </p:cTn>
                              </p:par>
                            </p:childTnLst>
                          </p:cTn>
                        </p:par>
                        <p:par>
                          <p:cTn id="92" fill="hold">
                            <p:stCondLst>
                              <p:cond delay="5000"/>
                            </p:stCondLst>
                            <p:childTnLst>
                              <p:par>
                                <p:cTn id="93" presetID="22" presetClass="entr" presetSubtype="1" fill="hold" grpId="0" nodeType="after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wipe(up)">
                                      <p:cBhvr>
                                        <p:cTn id="95" dur="500"/>
                                        <p:tgtEl>
                                          <p:spTgt spid="33"/>
                                        </p:tgtEl>
                                      </p:cBhvr>
                                    </p:animEffect>
                                  </p:childTnLst>
                                </p:cTn>
                              </p:par>
                            </p:childTnLst>
                          </p:cTn>
                        </p:par>
                        <p:par>
                          <p:cTn id="96" fill="hold">
                            <p:stCondLst>
                              <p:cond delay="5500"/>
                            </p:stCondLst>
                            <p:childTnLst>
                              <p:par>
                                <p:cTn id="97" presetID="22" presetClass="entr" presetSubtype="8" fill="hold" grpId="0" nodeType="afterEffect">
                                  <p:stCondLst>
                                    <p:cond delay="0"/>
                                  </p:stCondLst>
                                  <p:childTnLst>
                                    <p:set>
                                      <p:cBhvr>
                                        <p:cTn id="98" dur="1" fill="hold">
                                          <p:stCondLst>
                                            <p:cond delay="0"/>
                                          </p:stCondLst>
                                        </p:cTn>
                                        <p:tgtEl>
                                          <p:spTgt spid="20"/>
                                        </p:tgtEl>
                                        <p:attrNameLst>
                                          <p:attrName>style.visibility</p:attrName>
                                        </p:attrNameLst>
                                      </p:cBhvr>
                                      <p:to>
                                        <p:strVal val="visible"/>
                                      </p:to>
                                    </p:set>
                                    <p:animEffect transition="in" filter="wipe(left)">
                                      <p:cBhvr>
                                        <p:cTn id="99" dur="1500"/>
                                        <p:tgtEl>
                                          <p:spTgt spid="20"/>
                                        </p:tgtEl>
                                      </p:cBhvr>
                                    </p:animEffect>
                                  </p:childTnLst>
                                </p:cTn>
                              </p:par>
                            </p:childTnLst>
                          </p:cTn>
                        </p:par>
                        <p:par>
                          <p:cTn id="100" fill="hold">
                            <p:stCondLst>
                              <p:cond delay="7000"/>
                            </p:stCondLst>
                            <p:childTnLst>
                              <p:par>
                                <p:cTn id="101" presetID="22" presetClass="entr" presetSubtype="1" fill="hold" grpId="0" nodeType="afterEffect">
                                  <p:stCondLst>
                                    <p:cond delay="0"/>
                                  </p:stCondLst>
                                  <p:childTnLst>
                                    <p:set>
                                      <p:cBhvr>
                                        <p:cTn id="102" dur="1" fill="hold">
                                          <p:stCondLst>
                                            <p:cond delay="0"/>
                                          </p:stCondLst>
                                        </p:cTn>
                                        <p:tgtEl>
                                          <p:spTgt spid="11"/>
                                        </p:tgtEl>
                                        <p:attrNameLst>
                                          <p:attrName>style.visibility</p:attrName>
                                        </p:attrNameLst>
                                      </p:cBhvr>
                                      <p:to>
                                        <p:strVal val="visible"/>
                                      </p:to>
                                    </p:set>
                                    <p:animEffect transition="in" filter="wipe(up)">
                                      <p:cBhvr>
                                        <p:cTn id="103" dur="500"/>
                                        <p:tgtEl>
                                          <p:spTgt spid="11"/>
                                        </p:tgtEl>
                                      </p:cBhvr>
                                    </p:animEffect>
                                  </p:childTnLst>
                                </p:cTn>
                              </p:par>
                            </p:childTnLst>
                          </p:cTn>
                        </p:par>
                        <p:par>
                          <p:cTn id="104" fill="hold">
                            <p:stCondLst>
                              <p:cond delay="7500"/>
                            </p:stCondLst>
                            <p:childTnLst>
                              <p:par>
                                <p:cTn id="105" presetID="22" presetClass="entr" presetSubtype="8" fill="hold" grpId="0" nodeType="afterEffect">
                                  <p:stCondLst>
                                    <p:cond delay="0"/>
                                  </p:stCondLst>
                                  <p:childTnLst>
                                    <p:set>
                                      <p:cBhvr>
                                        <p:cTn id="106" dur="1" fill="hold">
                                          <p:stCondLst>
                                            <p:cond delay="0"/>
                                          </p:stCondLst>
                                        </p:cTn>
                                        <p:tgtEl>
                                          <p:spTgt spid="8"/>
                                        </p:tgtEl>
                                        <p:attrNameLst>
                                          <p:attrName>style.visibility</p:attrName>
                                        </p:attrNameLst>
                                      </p:cBhvr>
                                      <p:to>
                                        <p:strVal val="visible"/>
                                      </p:to>
                                    </p:set>
                                    <p:animEffect transition="in" filter="wipe(left)">
                                      <p:cBhvr>
                                        <p:cTn id="107" dur="1500"/>
                                        <p:tgtEl>
                                          <p:spTgt spid="8"/>
                                        </p:tgtEl>
                                      </p:cBhvr>
                                    </p:animEffect>
                                  </p:childTnLst>
                                </p:cTn>
                              </p:par>
                            </p:childTnLst>
                          </p:cTn>
                        </p:par>
                        <p:par>
                          <p:cTn id="108" fill="hold">
                            <p:stCondLst>
                              <p:cond delay="9000"/>
                            </p:stCondLst>
                            <p:childTnLst>
                              <p:par>
                                <p:cTn id="109" presetID="22" presetClass="entr" presetSubtype="1" fill="hold" grpId="0" nodeType="afterEffect">
                                  <p:stCondLst>
                                    <p:cond delay="0"/>
                                  </p:stCondLst>
                                  <p:childTnLst>
                                    <p:set>
                                      <p:cBhvr>
                                        <p:cTn id="110" dur="1" fill="hold">
                                          <p:stCondLst>
                                            <p:cond delay="0"/>
                                          </p:stCondLst>
                                        </p:cTn>
                                        <p:tgtEl>
                                          <p:spTgt spid="34"/>
                                        </p:tgtEl>
                                        <p:attrNameLst>
                                          <p:attrName>style.visibility</p:attrName>
                                        </p:attrNameLst>
                                      </p:cBhvr>
                                      <p:to>
                                        <p:strVal val="visible"/>
                                      </p:to>
                                    </p:set>
                                    <p:animEffect transition="in" filter="wipe(up)">
                                      <p:cBhvr>
                                        <p:cTn id="111" dur="500"/>
                                        <p:tgtEl>
                                          <p:spTgt spid="34"/>
                                        </p:tgtEl>
                                      </p:cBhvr>
                                    </p:animEffect>
                                  </p:childTnLst>
                                </p:cTn>
                              </p:par>
                            </p:childTnLst>
                          </p:cTn>
                        </p:par>
                        <p:par>
                          <p:cTn id="112" fill="hold">
                            <p:stCondLst>
                              <p:cond delay="9500"/>
                            </p:stCondLst>
                            <p:childTnLst>
                              <p:par>
                                <p:cTn id="113" presetID="22" presetClass="entr" presetSubtype="8" fill="hold" grpId="0" nodeType="afterEffect">
                                  <p:stCondLst>
                                    <p:cond delay="0"/>
                                  </p:stCondLst>
                                  <p:childTnLst>
                                    <p:set>
                                      <p:cBhvr>
                                        <p:cTn id="114" dur="1" fill="hold">
                                          <p:stCondLst>
                                            <p:cond delay="0"/>
                                          </p:stCondLst>
                                        </p:cTn>
                                        <p:tgtEl>
                                          <p:spTgt spid="21"/>
                                        </p:tgtEl>
                                        <p:attrNameLst>
                                          <p:attrName>style.visibility</p:attrName>
                                        </p:attrNameLst>
                                      </p:cBhvr>
                                      <p:to>
                                        <p:strVal val="visible"/>
                                      </p:to>
                                    </p:set>
                                    <p:animEffect transition="in" filter="wipe(left)">
                                      <p:cBhvr>
                                        <p:cTn id="115" dur="1500"/>
                                        <p:tgtEl>
                                          <p:spTgt spid="21"/>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43"/>
                                        </p:tgtEl>
                                        <p:attrNameLst>
                                          <p:attrName>style.visibility</p:attrName>
                                        </p:attrNameLst>
                                      </p:cBhvr>
                                      <p:to>
                                        <p:strVal val="visible"/>
                                      </p:to>
                                    </p:set>
                                    <p:animEffect transition="in" filter="wipe(left)">
                                      <p:cBhvr>
                                        <p:cTn id="120" dur="1000"/>
                                        <p:tgtEl>
                                          <p:spTgt spid="43"/>
                                        </p:tgtEl>
                                      </p:cBhvr>
                                    </p:animEffect>
                                  </p:childTnLst>
                                </p:cTn>
                              </p:par>
                            </p:childTnLst>
                          </p:cTn>
                        </p:par>
                        <p:par>
                          <p:cTn id="121" fill="hold">
                            <p:stCondLst>
                              <p:cond delay="1000"/>
                            </p:stCondLst>
                            <p:childTnLst>
                              <p:par>
                                <p:cTn id="122" presetID="22" presetClass="entr" presetSubtype="8" fill="hold" nodeType="afterEffect">
                                  <p:stCondLst>
                                    <p:cond delay="0"/>
                                  </p:stCondLst>
                                  <p:childTnLst>
                                    <p:set>
                                      <p:cBhvr>
                                        <p:cTn id="123" dur="1" fill="hold">
                                          <p:stCondLst>
                                            <p:cond delay="0"/>
                                          </p:stCondLst>
                                        </p:cTn>
                                        <p:tgtEl>
                                          <p:spTgt spid="62"/>
                                        </p:tgtEl>
                                        <p:attrNameLst>
                                          <p:attrName>style.visibility</p:attrName>
                                        </p:attrNameLst>
                                      </p:cBhvr>
                                      <p:to>
                                        <p:strVal val="visible"/>
                                      </p:to>
                                    </p:set>
                                    <p:animEffect transition="in" filter="wipe(left)">
                                      <p:cBhvr>
                                        <p:cTn id="124" dur="2000"/>
                                        <p:tgtEl>
                                          <p:spTgt spid="62"/>
                                        </p:tgtEl>
                                      </p:cBhvr>
                                    </p:animEffect>
                                  </p:childTnLst>
                                </p:cTn>
                              </p:par>
                            </p:childTnLst>
                          </p:cTn>
                        </p:par>
                        <p:par>
                          <p:cTn id="125" fill="hold">
                            <p:stCondLst>
                              <p:cond delay="3000"/>
                            </p:stCondLst>
                            <p:childTnLst>
                              <p:par>
                                <p:cTn id="126" presetID="22" presetClass="exit" presetSubtype="8" fill="hold" grpId="1" nodeType="afterEffect">
                                  <p:stCondLst>
                                    <p:cond delay="0"/>
                                  </p:stCondLst>
                                  <p:childTnLst>
                                    <p:animEffect transition="out" filter="wipe(left)">
                                      <p:cBhvr>
                                        <p:cTn id="127" dur="500"/>
                                        <p:tgtEl>
                                          <p:spTgt spid="35"/>
                                        </p:tgtEl>
                                      </p:cBhvr>
                                    </p:animEffect>
                                    <p:set>
                                      <p:cBhvr>
                                        <p:cTn id="128" dur="1" fill="hold">
                                          <p:stCondLst>
                                            <p:cond delay="499"/>
                                          </p:stCondLst>
                                        </p:cTn>
                                        <p:tgtEl>
                                          <p:spTgt spid="35"/>
                                        </p:tgtEl>
                                        <p:attrNameLst>
                                          <p:attrName>style.visibility</p:attrName>
                                        </p:attrNameLst>
                                      </p:cBhvr>
                                      <p:to>
                                        <p:strVal val="hidden"/>
                                      </p:to>
                                    </p:se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31"/>
                                        </p:tgtEl>
                                        <p:attrNameLst>
                                          <p:attrName>style.visibility</p:attrName>
                                        </p:attrNameLst>
                                      </p:cBhvr>
                                      <p:to>
                                        <p:strVal val="visible"/>
                                      </p:to>
                                    </p:set>
                                    <p:animEffect transition="in" filter="wipe(left)">
                                      <p:cBhvr>
                                        <p:cTn id="133" dur="1000"/>
                                        <p:tgtEl>
                                          <p:spTgt spid="31"/>
                                        </p:tgtEl>
                                      </p:cBhvr>
                                    </p:animEffect>
                                  </p:childTnLst>
                                </p:cTn>
                              </p:par>
                            </p:childTnLst>
                          </p:cTn>
                        </p:par>
                        <p:par>
                          <p:cTn id="134" fill="hold">
                            <p:stCondLst>
                              <p:cond delay="4000"/>
                            </p:stCondLst>
                            <p:childTnLst>
                              <p:par>
                                <p:cTn id="135" presetID="22" presetClass="entr" presetSubtype="8" fill="hold" grpId="0" nodeType="afterEffect">
                                  <p:stCondLst>
                                    <p:cond delay="0"/>
                                  </p:stCondLst>
                                  <p:childTnLst>
                                    <p:set>
                                      <p:cBhvr>
                                        <p:cTn id="136" dur="1" fill="hold">
                                          <p:stCondLst>
                                            <p:cond delay="0"/>
                                          </p:stCondLst>
                                        </p:cTn>
                                        <p:tgtEl>
                                          <p:spTgt spid="63"/>
                                        </p:tgtEl>
                                        <p:attrNameLst>
                                          <p:attrName>style.visibility</p:attrName>
                                        </p:attrNameLst>
                                      </p:cBhvr>
                                      <p:to>
                                        <p:strVal val="visible"/>
                                      </p:to>
                                    </p:set>
                                    <p:animEffect transition="in" filter="wipe(left)">
                                      <p:cBhvr>
                                        <p:cTn id="137" dur="500"/>
                                        <p:tgtEl>
                                          <p:spTgt spid="63"/>
                                        </p:tgtEl>
                                      </p:cBhvr>
                                    </p:animEffect>
                                  </p:childTnLst>
                                </p:cTn>
                              </p:par>
                            </p:childTnLst>
                          </p:cTn>
                        </p:par>
                        <p:par>
                          <p:cTn id="138" fill="hold">
                            <p:stCondLst>
                              <p:cond delay="4500"/>
                            </p:stCondLst>
                            <p:childTnLst>
                              <p:par>
                                <p:cTn id="139" presetID="22" presetClass="entr" presetSubtype="1" fill="hold" nodeType="afterEffect">
                                  <p:stCondLst>
                                    <p:cond delay="0"/>
                                  </p:stCondLst>
                                  <p:childTnLst>
                                    <p:set>
                                      <p:cBhvr>
                                        <p:cTn id="140" dur="1" fill="hold">
                                          <p:stCondLst>
                                            <p:cond delay="0"/>
                                          </p:stCondLst>
                                        </p:cTn>
                                        <p:tgtEl>
                                          <p:spTgt spid="71"/>
                                        </p:tgtEl>
                                        <p:attrNameLst>
                                          <p:attrName>style.visibility</p:attrName>
                                        </p:attrNameLst>
                                      </p:cBhvr>
                                      <p:to>
                                        <p:strVal val="visible"/>
                                      </p:to>
                                    </p:set>
                                    <p:animEffect transition="in" filter="wipe(up)">
                                      <p:cBhvr>
                                        <p:cTn id="141" dur="500"/>
                                        <p:tgtEl>
                                          <p:spTgt spid="71"/>
                                        </p:tgtEl>
                                      </p:cBhvr>
                                    </p:animEffect>
                                  </p:childTnLst>
                                </p:cTn>
                              </p:par>
                            </p:childTnLst>
                          </p:cTn>
                        </p:par>
                        <p:par>
                          <p:cTn id="142" fill="hold">
                            <p:stCondLst>
                              <p:cond delay="5000"/>
                            </p:stCondLst>
                            <p:childTnLst>
                              <p:par>
                                <p:cTn id="143" presetID="22" presetClass="entr" presetSubtype="1" fill="hold" grpId="0" nodeType="afterEffect">
                                  <p:stCondLst>
                                    <p:cond delay="0"/>
                                  </p:stCondLst>
                                  <p:childTnLst>
                                    <p:set>
                                      <p:cBhvr>
                                        <p:cTn id="144" dur="1" fill="hold">
                                          <p:stCondLst>
                                            <p:cond delay="0"/>
                                          </p:stCondLst>
                                        </p:cTn>
                                        <p:tgtEl>
                                          <p:spTgt spid="76"/>
                                        </p:tgtEl>
                                        <p:attrNameLst>
                                          <p:attrName>style.visibility</p:attrName>
                                        </p:attrNameLst>
                                      </p:cBhvr>
                                      <p:to>
                                        <p:strVal val="visible"/>
                                      </p:to>
                                    </p:set>
                                    <p:animEffect transition="in" filter="wipe(up)">
                                      <p:cBhvr>
                                        <p:cTn id="145" dur="1000"/>
                                        <p:tgtEl>
                                          <p:spTgt spid="76"/>
                                        </p:tgtEl>
                                      </p:cBhvr>
                                    </p:animEffect>
                                  </p:childTnLst>
                                </p:cTn>
                              </p:par>
                            </p:childTnLst>
                          </p:cTn>
                        </p:par>
                        <p:par>
                          <p:cTn id="146" fill="hold">
                            <p:stCondLst>
                              <p:cond delay="6000"/>
                            </p:stCondLst>
                            <p:childTnLst>
                              <p:par>
                                <p:cTn id="147" presetID="22" presetClass="entr" presetSubtype="1" fill="hold" nodeType="afterEffect">
                                  <p:stCondLst>
                                    <p:cond delay="0"/>
                                  </p:stCondLst>
                                  <p:childTnLst>
                                    <p:set>
                                      <p:cBhvr>
                                        <p:cTn id="148" dur="1" fill="hold">
                                          <p:stCondLst>
                                            <p:cond delay="0"/>
                                          </p:stCondLst>
                                        </p:cTn>
                                        <p:tgtEl>
                                          <p:spTgt spid="72"/>
                                        </p:tgtEl>
                                        <p:attrNameLst>
                                          <p:attrName>style.visibility</p:attrName>
                                        </p:attrNameLst>
                                      </p:cBhvr>
                                      <p:to>
                                        <p:strVal val="visible"/>
                                      </p:to>
                                    </p:set>
                                    <p:animEffect transition="in" filter="wipe(up)">
                                      <p:cBhvr>
                                        <p:cTn id="149" dur="500"/>
                                        <p:tgtEl>
                                          <p:spTgt spid="72"/>
                                        </p:tgtEl>
                                      </p:cBhvr>
                                    </p:animEffect>
                                  </p:childTnLst>
                                </p:cTn>
                              </p:par>
                            </p:childTnLst>
                          </p:cTn>
                        </p:par>
                        <p:par>
                          <p:cTn id="150" fill="hold">
                            <p:stCondLst>
                              <p:cond delay="6500"/>
                            </p:stCondLst>
                            <p:childTnLst>
                              <p:par>
                                <p:cTn id="151" presetID="22" presetClass="entr" presetSubtype="1" fill="hold" grpId="0" nodeType="afterEffect">
                                  <p:stCondLst>
                                    <p:cond delay="0"/>
                                  </p:stCondLst>
                                  <p:childTnLst>
                                    <p:set>
                                      <p:cBhvr>
                                        <p:cTn id="152" dur="1" fill="hold">
                                          <p:stCondLst>
                                            <p:cond delay="0"/>
                                          </p:stCondLst>
                                        </p:cTn>
                                        <p:tgtEl>
                                          <p:spTgt spid="75"/>
                                        </p:tgtEl>
                                        <p:attrNameLst>
                                          <p:attrName>style.visibility</p:attrName>
                                        </p:attrNameLst>
                                      </p:cBhvr>
                                      <p:to>
                                        <p:strVal val="visible"/>
                                      </p:to>
                                    </p:set>
                                    <p:animEffect transition="in" filter="wipe(up)">
                                      <p:cBhvr>
                                        <p:cTn id="153" dur="1000"/>
                                        <p:tgtEl>
                                          <p:spTgt spid="75"/>
                                        </p:tgtEl>
                                      </p:cBhvr>
                                    </p:animEffect>
                                  </p:childTnLst>
                                </p:cTn>
                              </p:par>
                            </p:childTnLst>
                          </p:cTn>
                        </p:par>
                        <p:par>
                          <p:cTn id="154" fill="hold">
                            <p:stCondLst>
                              <p:cond delay="7500"/>
                            </p:stCondLst>
                            <p:childTnLst>
                              <p:par>
                                <p:cTn id="155" presetID="22" presetClass="exit" presetSubtype="8" fill="hold" grpId="1" nodeType="afterEffect">
                                  <p:stCondLst>
                                    <p:cond delay="0"/>
                                  </p:stCondLst>
                                  <p:childTnLst>
                                    <p:animEffect transition="out" filter="wipe(left)">
                                      <p:cBhvr>
                                        <p:cTn id="156" dur="500"/>
                                        <p:tgtEl>
                                          <p:spTgt spid="31"/>
                                        </p:tgtEl>
                                      </p:cBhvr>
                                    </p:animEffect>
                                    <p:set>
                                      <p:cBhvr>
                                        <p:cTn id="157" dur="1" fill="hold">
                                          <p:stCondLst>
                                            <p:cond delay="499"/>
                                          </p:stCondLst>
                                        </p:cTn>
                                        <p:tgtEl>
                                          <p:spTgt spid="31"/>
                                        </p:tgtEl>
                                        <p:attrNameLst>
                                          <p:attrName>style.visibility</p:attrName>
                                        </p:attrNameLst>
                                      </p:cBhvr>
                                      <p:to>
                                        <p:strVal val="hidden"/>
                                      </p:to>
                                    </p:se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grpId="0" nodeType="clickEffect">
                                  <p:stCondLst>
                                    <p:cond delay="0"/>
                                  </p:stCondLst>
                                  <p:childTnLst>
                                    <p:set>
                                      <p:cBhvr>
                                        <p:cTn id="161" dur="1" fill="hold">
                                          <p:stCondLst>
                                            <p:cond delay="0"/>
                                          </p:stCondLst>
                                        </p:cTn>
                                        <p:tgtEl>
                                          <p:spTgt spid="3"/>
                                        </p:tgtEl>
                                        <p:attrNameLst>
                                          <p:attrName>style.visibility</p:attrName>
                                        </p:attrNameLst>
                                      </p:cBhvr>
                                      <p:to>
                                        <p:strVal val="visible"/>
                                      </p:to>
                                    </p:set>
                                    <p:animEffect transition="in" filter="wipe(left)">
                                      <p:cBhvr>
                                        <p:cTn id="162" dur="1000"/>
                                        <p:tgtEl>
                                          <p:spTgt spid="3"/>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78"/>
                                        </p:tgtEl>
                                        <p:attrNameLst>
                                          <p:attrName>style.visibility</p:attrName>
                                        </p:attrNameLst>
                                      </p:cBhvr>
                                      <p:to>
                                        <p:strVal val="visible"/>
                                      </p:to>
                                    </p:set>
                                    <p:animEffect transition="in" filter="wipe(left)">
                                      <p:cBhvr>
                                        <p:cTn id="167" dur="1000"/>
                                        <p:tgtEl>
                                          <p:spTgt spid="78"/>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ntr" presetSubtype="1" fill="hold" nodeType="clickEffect">
                                  <p:stCondLst>
                                    <p:cond delay="0"/>
                                  </p:stCondLst>
                                  <p:childTnLst>
                                    <p:set>
                                      <p:cBhvr>
                                        <p:cTn id="171" dur="1" fill="hold">
                                          <p:stCondLst>
                                            <p:cond delay="0"/>
                                          </p:stCondLst>
                                        </p:cTn>
                                        <p:tgtEl>
                                          <p:spTgt spid="12"/>
                                        </p:tgtEl>
                                        <p:attrNameLst>
                                          <p:attrName>style.visibility</p:attrName>
                                        </p:attrNameLst>
                                      </p:cBhvr>
                                      <p:to>
                                        <p:strVal val="visible"/>
                                      </p:to>
                                    </p:set>
                                    <p:animEffect transition="in" filter="wipe(up)">
                                      <p:cBhvr>
                                        <p:cTn id="172" dur="2000"/>
                                        <p:tgtEl>
                                          <p:spTgt spid="12"/>
                                        </p:tgtEl>
                                      </p:cBhvr>
                                    </p:animEffect>
                                  </p:childTnLst>
                                </p:cTn>
                              </p:par>
                              <p:par>
                                <p:cTn id="173" presetID="22" presetClass="entr" presetSubtype="1" fill="hold" nodeType="withEffect">
                                  <p:stCondLst>
                                    <p:cond delay="0"/>
                                  </p:stCondLst>
                                  <p:childTnLst>
                                    <p:set>
                                      <p:cBhvr>
                                        <p:cTn id="174" dur="1" fill="hold">
                                          <p:stCondLst>
                                            <p:cond delay="0"/>
                                          </p:stCondLst>
                                        </p:cTn>
                                        <p:tgtEl>
                                          <p:spTgt spid="57"/>
                                        </p:tgtEl>
                                        <p:attrNameLst>
                                          <p:attrName>style.visibility</p:attrName>
                                        </p:attrNameLst>
                                      </p:cBhvr>
                                      <p:to>
                                        <p:strVal val="visible"/>
                                      </p:to>
                                    </p:set>
                                    <p:animEffect transition="in" filter="wipe(up)">
                                      <p:cBhvr>
                                        <p:cTn id="175" dur="2000"/>
                                        <p:tgtEl>
                                          <p:spTgt spid="57"/>
                                        </p:tgtEl>
                                      </p:cBhvr>
                                    </p:animEffect>
                                  </p:childTnLst>
                                </p:cTn>
                              </p:par>
                            </p:childTnLst>
                          </p:cTn>
                        </p:par>
                        <p:par>
                          <p:cTn id="176" fill="hold">
                            <p:stCondLst>
                              <p:cond delay="2000"/>
                            </p:stCondLst>
                            <p:childTnLst>
                              <p:par>
                                <p:cTn id="177" presetID="22" presetClass="entr" presetSubtype="8" fill="hold" grpId="0" nodeType="afterEffect">
                                  <p:stCondLst>
                                    <p:cond delay="0"/>
                                  </p:stCondLst>
                                  <p:childTnLst>
                                    <p:set>
                                      <p:cBhvr>
                                        <p:cTn id="178" dur="1" fill="hold">
                                          <p:stCondLst>
                                            <p:cond delay="0"/>
                                          </p:stCondLst>
                                        </p:cTn>
                                        <p:tgtEl>
                                          <p:spTgt spid="59"/>
                                        </p:tgtEl>
                                        <p:attrNameLst>
                                          <p:attrName>style.visibility</p:attrName>
                                        </p:attrNameLst>
                                      </p:cBhvr>
                                      <p:to>
                                        <p:strVal val="visible"/>
                                      </p:to>
                                    </p:set>
                                    <p:animEffect transition="in" filter="wipe(left)">
                                      <p:cBhvr>
                                        <p:cTn id="179" dur="500"/>
                                        <p:tgtEl>
                                          <p:spTgt spid="59"/>
                                        </p:tgtEl>
                                      </p:cBhvr>
                                    </p:animEffect>
                                  </p:childTnLst>
                                </p:cTn>
                              </p:par>
                            </p:childTnLst>
                          </p:cTn>
                        </p:par>
                        <p:par>
                          <p:cTn id="180" fill="hold">
                            <p:stCondLst>
                              <p:cond delay="2500"/>
                            </p:stCondLst>
                            <p:childTnLst>
                              <p:par>
                                <p:cTn id="181" presetID="22" presetClass="entr" presetSubtype="1" fill="hold" grpId="0" nodeType="afterEffect">
                                  <p:stCondLst>
                                    <p:cond delay="0"/>
                                  </p:stCondLst>
                                  <p:childTnLst>
                                    <p:set>
                                      <p:cBhvr>
                                        <p:cTn id="182" dur="1" fill="hold">
                                          <p:stCondLst>
                                            <p:cond delay="0"/>
                                          </p:stCondLst>
                                        </p:cTn>
                                        <p:tgtEl>
                                          <p:spTgt spid="58"/>
                                        </p:tgtEl>
                                        <p:attrNameLst>
                                          <p:attrName>style.visibility</p:attrName>
                                        </p:attrNameLst>
                                      </p:cBhvr>
                                      <p:to>
                                        <p:strVal val="visible"/>
                                      </p:to>
                                    </p:set>
                                    <p:animEffect transition="in" filter="wipe(up)">
                                      <p:cBhvr>
                                        <p:cTn id="183" dur="1000"/>
                                        <p:tgtEl>
                                          <p:spTgt spid="58"/>
                                        </p:tgtEl>
                                      </p:cBhvr>
                                    </p:animEffect>
                                  </p:childTnLst>
                                </p:cTn>
                              </p:par>
                            </p:childTnLst>
                          </p:cTn>
                        </p:par>
                        <p:par>
                          <p:cTn id="184" fill="hold">
                            <p:stCondLst>
                              <p:cond delay="3500"/>
                            </p:stCondLst>
                            <p:childTnLst>
                              <p:par>
                                <p:cTn id="185" presetID="22" presetClass="exit" presetSubtype="8" fill="hold" grpId="1" nodeType="afterEffect">
                                  <p:stCondLst>
                                    <p:cond delay="0"/>
                                  </p:stCondLst>
                                  <p:childTnLst>
                                    <p:animEffect transition="out" filter="wipe(left)">
                                      <p:cBhvr>
                                        <p:cTn id="186" dur="500"/>
                                        <p:tgtEl>
                                          <p:spTgt spid="3"/>
                                        </p:tgtEl>
                                      </p:cBhvr>
                                    </p:animEffect>
                                    <p:set>
                                      <p:cBhvr>
                                        <p:cTn id="187" dur="1" fill="hold">
                                          <p:stCondLst>
                                            <p:cond delay="499"/>
                                          </p:stCondLst>
                                        </p:cTn>
                                        <p:tgtEl>
                                          <p:spTgt spid="3"/>
                                        </p:tgtEl>
                                        <p:attrNameLst>
                                          <p:attrName>style.visibility</p:attrName>
                                        </p:attrNameLst>
                                      </p:cBhvr>
                                      <p:to>
                                        <p:strVal val="hidden"/>
                                      </p:to>
                                    </p:set>
                                  </p:childTnLst>
                                </p:cTn>
                              </p:par>
                            </p:childTnLst>
                          </p:cTn>
                        </p:par>
                      </p:childTnLst>
                    </p:cTn>
                  </p:par>
                  <p:par>
                    <p:cTn id="188" fill="hold">
                      <p:stCondLst>
                        <p:cond delay="indefinite"/>
                      </p:stCondLst>
                      <p:childTnLst>
                        <p:par>
                          <p:cTn id="189" fill="hold">
                            <p:stCondLst>
                              <p:cond delay="0"/>
                            </p:stCondLst>
                            <p:childTnLst>
                              <p:par>
                                <p:cTn id="190" presetID="22" presetClass="entr" presetSubtype="8" fill="hold" grpId="0" nodeType="clickEffect">
                                  <p:stCondLst>
                                    <p:cond delay="0"/>
                                  </p:stCondLst>
                                  <p:childTnLst>
                                    <p:set>
                                      <p:cBhvr>
                                        <p:cTn id="191" dur="1" fill="hold">
                                          <p:stCondLst>
                                            <p:cond delay="0"/>
                                          </p:stCondLst>
                                        </p:cTn>
                                        <p:tgtEl>
                                          <p:spTgt spid="38"/>
                                        </p:tgtEl>
                                        <p:attrNameLst>
                                          <p:attrName>style.visibility</p:attrName>
                                        </p:attrNameLst>
                                      </p:cBhvr>
                                      <p:to>
                                        <p:strVal val="visible"/>
                                      </p:to>
                                    </p:set>
                                    <p:animEffect transition="in" filter="wipe(left)">
                                      <p:cBhvr>
                                        <p:cTn id="192" dur="1000"/>
                                        <p:tgtEl>
                                          <p:spTgt spid="38"/>
                                        </p:tgtEl>
                                      </p:cBhvr>
                                    </p:animEffect>
                                  </p:childTnLst>
                                </p:cTn>
                              </p:par>
                            </p:childTnLst>
                          </p:cTn>
                        </p:par>
                        <p:par>
                          <p:cTn id="193" fill="hold">
                            <p:stCondLst>
                              <p:cond delay="1000"/>
                            </p:stCondLst>
                            <p:childTnLst>
                              <p:par>
                                <p:cTn id="194" presetID="22" presetClass="entr" presetSubtype="8" fill="hold" grpId="0" nodeType="afterEffect">
                                  <p:stCondLst>
                                    <p:cond delay="0"/>
                                  </p:stCondLst>
                                  <p:childTnLst>
                                    <p:set>
                                      <p:cBhvr>
                                        <p:cTn id="195" dur="1" fill="hold">
                                          <p:stCondLst>
                                            <p:cond delay="0"/>
                                          </p:stCondLst>
                                        </p:cTn>
                                        <p:tgtEl>
                                          <p:spTgt spid="32"/>
                                        </p:tgtEl>
                                        <p:attrNameLst>
                                          <p:attrName>style.visibility</p:attrName>
                                        </p:attrNameLst>
                                      </p:cBhvr>
                                      <p:to>
                                        <p:strVal val="visible"/>
                                      </p:to>
                                    </p:set>
                                    <p:animEffect transition="in" filter="wipe(left)">
                                      <p:cBhvr>
                                        <p:cTn id="196" dur="500"/>
                                        <p:tgtEl>
                                          <p:spTgt spid="32"/>
                                        </p:tgtEl>
                                      </p:cBhvr>
                                    </p:animEffect>
                                  </p:childTnLst>
                                </p:cTn>
                              </p:par>
                            </p:childTnLst>
                          </p:cTn>
                        </p:par>
                        <p:par>
                          <p:cTn id="197" fill="hold">
                            <p:stCondLst>
                              <p:cond delay="1500"/>
                            </p:stCondLst>
                            <p:childTnLst>
                              <p:par>
                                <p:cTn id="198" presetID="22" presetClass="entr" presetSubtype="1" fill="hold" nodeType="afterEffect">
                                  <p:stCondLst>
                                    <p:cond delay="0"/>
                                  </p:stCondLst>
                                  <p:childTnLst>
                                    <p:set>
                                      <p:cBhvr>
                                        <p:cTn id="199" dur="1" fill="hold">
                                          <p:stCondLst>
                                            <p:cond delay="0"/>
                                          </p:stCondLst>
                                        </p:cTn>
                                        <p:tgtEl>
                                          <p:spTgt spid="2"/>
                                        </p:tgtEl>
                                        <p:attrNameLst>
                                          <p:attrName>style.visibility</p:attrName>
                                        </p:attrNameLst>
                                      </p:cBhvr>
                                      <p:to>
                                        <p:strVal val="visible"/>
                                      </p:to>
                                    </p:set>
                                    <p:animEffect transition="in" filter="wipe(up)">
                                      <p:cBhvr>
                                        <p:cTn id="200"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17" grpId="0"/>
      <p:bldP spid="19" grpId="0" uiExpand="1" build="p"/>
      <p:bldP spid="27" grpId="0" animBg="1"/>
      <p:bldP spid="27" grpId="1" animBg="1"/>
      <p:bldP spid="10" grpId="0"/>
      <p:bldP spid="26" grpId="0" animBg="1"/>
      <p:bldP spid="31" grpId="0" animBg="1"/>
      <p:bldP spid="31" grpId="1" animBg="1"/>
      <p:bldP spid="32" grpId="0"/>
      <p:bldP spid="20" grpId="0" animBg="1"/>
      <p:bldP spid="21" grpId="0" animBg="1"/>
      <p:bldP spid="7" grpId="0" animBg="1"/>
      <p:bldP spid="33" grpId="0" animBg="1"/>
      <p:bldP spid="34" grpId="0" animBg="1"/>
      <p:bldP spid="35" grpId="0" animBg="1"/>
      <p:bldP spid="35" grpId="1" animBg="1"/>
      <p:bldP spid="37" grpId="0"/>
      <p:bldP spid="40" grpId="0" animBg="1"/>
      <p:bldP spid="3" grpId="0" animBg="1"/>
      <p:bldP spid="3" grpId="1" animBg="1"/>
      <p:bldP spid="8" grpId="0" animBg="1"/>
      <p:bldP spid="38" grpId="0" animBg="1"/>
      <p:bldP spid="11" grpId="0" animBg="1"/>
      <p:bldP spid="58" grpId="0" animBg="1"/>
      <p:bldP spid="59" grpId="0"/>
      <p:bldP spid="43" grpId="0" animBg="1"/>
      <p:bldP spid="63" grpId="0"/>
      <p:bldP spid="75" grpId="0" animBg="1"/>
      <p:bldP spid="76" grpId="0" animBg="1"/>
      <p:bldP spid="78" grpId="0" animBg="1"/>
      <p:bldP spid="84"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B2C154-DD93-ED6C-9F89-4C46E62AADD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D7039D-DC4C-3007-1F96-6D1B58A2A3A3}"/>
              </a:ext>
            </a:extLst>
          </p:cNvPr>
          <p:cNvSpPr>
            <a:spLocks noGrp="1"/>
          </p:cNvSpPr>
          <p:nvPr>
            <p:ph type="title"/>
          </p:nvPr>
        </p:nvSpPr>
        <p:spPr/>
        <p:txBody>
          <a:bodyPr/>
          <a:lstStyle/>
          <a:p>
            <a:r>
              <a:rPr lang="en-GB" dirty="0"/>
              <a:t>Order of Operations (3)</a:t>
            </a:r>
          </a:p>
        </p:txBody>
      </p:sp>
      <p:sp>
        <p:nvSpPr>
          <p:cNvPr id="6" name="SQL">
            <a:extLst>
              <a:ext uri="{FF2B5EF4-FFF2-40B4-BE49-F238E27FC236}">
                <a16:creationId xmlns:a16="http://schemas.microsoft.com/office/drawing/2014/main" id="{BB3F14BF-DCE7-8211-AF0F-D5BAFB7215FB}"/>
              </a:ext>
            </a:extLst>
          </p:cNvPr>
          <p:cNvSpPr>
            <a:spLocks noChangeArrowheads="1"/>
          </p:cNvSpPr>
          <p:nvPr/>
        </p:nvSpPr>
        <p:spPr bwMode="auto">
          <a:xfrm>
            <a:off x="619125" y="1370838"/>
            <a:ext cx="342914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name, age</a:t>
            </a:r>
          </a:p>
          <a:p>
            <a:pPr lvl="0" eaLnBrk="0" fontAlgn="base" hangingPunct="0">
              <a:spcBef>
                <a:spcPct val="0"/>
              </a:spcBef>
              <a:spcAft>
                <a:spcPct val="0"/>
              </a:spcAft>
            </a:pPr>
            <a:r>
              <a:rPr lang="en-US" altLang="en-US" sz="2000" dirty="0">
                <a:solidFill>
                  <a:srgbClr val="B2B2B2"/>
                </a:solidFill>
                <a:latin typeface="Consolas" panose="020B0609020204030204" pitchFamily="49" charset="0"/>
              </a:rPr>
              <a:t>2 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FROM</a:t>
            </a:r>
            <a:r>
              <a:rPr lang="en-US" altLang="en-US" sz="2000" dirty="0">
                <a:solidFill>
                  <a:srgbClr val="000000"/>
                </a:solidFill>
                <a:latin typeface="Consolas" panose="020B0609020204030204" pitchFamily="49" charset="0"/>
              </a:rPr>
              <a:t> Pet</a:t>
            </a:r>
            <a:endParaRPr lang="en-US" altLang="en-US" sz="2000" dirty="0">
              <a:solidFill>
                <a:srgbClr val="B2B2B2"/>
              </a:solidFill>
              <a:latin typeface="Consolas" panose="020B0609020204030204" pitchFamily="49" charset="0"/>
            </a:endParaRPr>
          </a:p>
          <a:p>
            <a:pPr eaLnBrk="0" fontAlgn="base" hangingPunct="0">
              <a:spcBef>
                <a:spcPct val="0"/>
              </a:spcBef>
              <a:spcAft>
                <a:spcPct val="0"/>
              </a:spcAft>
            </a:pPr>
            <a:r>
              <a:rPr lang="en-US" altLang="en-US" sz="2000" dirty="0">
                <a:solidFill>
                  <a:srgbClr val="B2B2B2"/>
                </a:solidFill>
                <a:latin typeface="Consolas" panose="020B0609020204030204" pitchFamily="49" charset="0"/>
              </a:rPr>
              <a:t>3 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WHERE</a:t>
            </a:r>
            <a:r>
              <a:rPr lang="en-US" altLang="en-US" sz="2000" dirty="0">
                <a:solidFill>
                  <a:srgbClr val="000000"/>
                </a:solidFill>
                <a:latin typeface="Consolas" panose="020B0609020204030204" pitchFamily="49" charset="0"/>
              </a:rPr>
              <a:t> age &lt; </a:t>
            </a:r>
            <a:r>
              <a:rPr lang="en-US" altLang="en-US" sz="2000" dirty="0">
                <a:solidFill>
                  <a:srgbClr val="0086B3"/>
                </a:solidFill>
                <a:latin typeface="Consolas" panose="020B0609020204030204" pitchFamily="49" charset="0"/>
              </a:rPr>
              <a:t>5</a:t>
            </a:r>
            <a:endParaRPr lang="en-US" altLang="en-US" sz="2000" dirty="0">
              <a:solidFill>
                <a:srgbClr val="000000"/>
              </a:solidFill>
              <a:latin typeface="Consolas" panose="020B0609020204030204" pitchFamily="49" charset="0"/>
            </a:endParaRPr>
          </a:p>
          <a:p>
            <a:pPr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4 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ORDER BY</a:t>
            </a:r>
            <a:r>
              <a:rPr lang="en-US" altLang="en-US" sz="2000" dirty="0">
                <a:solidFill>
                  <a:srgbClr val="000000"/>
                </a:solidFill>
                <a:latin typeface="Consolas" panose="020B0609020204030204" pitchFamily="49" charset="0"/>
              </a:rPr>
              <a:t> type </a:t>
            </a:r>
            <a:r>
              <a:rPr lang="en-US" altLang="en-US" sz="2000" dirty="0">
                <a:solidFill>
                  <a:srgbClr val="A71D5D"/>
                </a:solidFill>
                <a:latin typeface="Consolas" panose="020B0609020204030204" pitchFamily="49" charset="0"/>
              </a:rPr>
              <a:t>DESC</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latin typeface="Consolas" panose="020B0609020204030204" pitchFamily="49" charset="0"/>
            </a:endParaRPr>
          </a:p>
        </p:txBody>
      </p:sp>
      <p:sp>
        <p:nvSpPr>
          <p:cNvPr id="17" name="Pet">
            <a:extLst>
              <a:ext uri="{FF2B5EF4-FFF2-40B4-BE49-F238E27FC236}">
                <a16:creationId xmlns:a16="http://schemas.microsoft.com/office/drawing/2014/main" id="{4CA12722-67FD-1D61-B738-175BB9CB27FD}"/>
              </a:ext>
            </a:extLst>
          </p:cNvPr>
          <p:cNvSpPr txBox="1"/>
          <p:nvPr/>
        </p:nvSpPr>
        <p:spPr>
          <a:xfrm>
            <a:off x="269542" y="3412965"/>
            <a:ext cx="1771650" cy="369332"/>
          </a:xfrm>
          <a:prstGeom prst="rect">
            <a:avLst/>
          </a:prstGeom>
          <a:noFill/>
        </p:spPr>
        <p:txBody>
          <a:bodyPr wrap="square" rtlCol="0">
            <a:spAutoFit/>
          </a:bodyPr>
          <a:lstStyle/>
          <a:p>
            <a:r>
              <a:rPr lang="en-GB" b="1" dirty="0"/>
              <a:t>Table: Pet</a:t>
            </a:r>
          </a:p>
        </p:txBody>
      </p:sp>
      <p:sp>
        <p:nvSpPr>
          <p:cNvPr id="19" name="Order">
            <a:extLst>
              <a:ext uri="{FF2B5EF4-FFF2-40B4-BE49-F238E27FC236}">
                <a16:creationId xmlns:a16="http://schemas.microsoft.com/office/drawing/2014/main" id="{9AB8BED7-3D03-6733-7EEB-905B6A695BC7}"/>
              </a:ext>
            </a:extLst>
          </p:cNvPr>
          <p:cNvSpPr txBox="1"/>
          <p:nvPr/>
        </p:nvSpPr>
        <p:spPr>
          <a:xfrm>
            <a:off x="8794761" y="599622"/>
            <a:ext cx="2590417" cy="2246769"/>
          </a:xfrm>
          <a:prstGeom prst="rect">
            <a:avLst/>
          </a:prstGeom>
          <a:noFill/>
        </p:spPr>
        <p:txBody>
          <a:bodyPr wrap="square" rtlCol="0">
            <a:spAutoFit/>
          </a:bodyPr>
          <a:lstStyle/>
          <a:p>
            <a:r>
              <a:rPr lang="en-GB" sz="2800" b="1" dirty="0">
                <a:solidFill>
                  <a:srgbClr val="7030A0"/>
                </a:solidFill>
              </a:rPr>
              <a:t>Order</a:t>
            </a:r>
            <a:r>
              <a:rPr lang="en-GB" sz="2800" dirty="0">
                <a:solidFill>
                  <a:srgbClr val="7030A0"/>
                </a:solidFill>
              </a:rPr>
              <a:t>:</a:t>
            </a:r>
          </a:p>
          <a:p>
            <a:pPr lvl="1"/>
            <a:r>
              <a:rPr lang="en-GB" sz="2800" dirty="0">
                <a:solidFill>
                  <a:srgbClr val="7030A0"/>
                </a:solidFill>
              </a:rPr>
              <a:t>1.   </a:t>
            </a:r>
          </a:p>
          <a:p>
            <a:pPr lvl="1"/>
            <a:r>
              <a:rPr lang="en-GB" sz="2800" dirty="0">
                <a:solidFill>
                  <a:srgbClr val="7030A0"/>
                </a:solidFill>
              </a:rPr>
              <a:t>2.   </a:t>
            </a:r>
          </a:p>
          <a:p>
            <a:pPr lvl="1"/>
            <a:r>
              <a:rPr lang="en-GB" sz="2800" dirty="0">
                <a:solidFill>
                  <a:srgbClr val="7030A0"/>
                </a:solidFill>
              </a:rPr>
              <a:t>3.   </a:t>
            </a:r>
          </a:p>
          <a:p>
            <a:pPr lvl="1"/>
            <a:r>
              <a:rPr lang="en-GB" sz="2800" dirty="0">
                <a:solidFill>
                  <a:srgbClr val="7030A0"/>
                </a:solidFill>
              </a:rPr>
              <a:t>4.  </a:t>
            </a:r>
          </a:p>
        </p:txBody>
      </p:sp>
      <p:graphicFrame>
        <p:nvGraphicFramePr>
          <p:cNvPr id="22" name="Pet - Table">
            <a:extLst>
              <a:ext uri="{FF2B5EF4-FFF2-40B4-BE49-F238E27FC236}">
                <a16:creationId xmlns:a16="http://schemas.microsoft.com/office/drawing/2014/main" id="{F1277B78-8984-8B58-5C2E-EDE193CCEAA9}"/>
              </a:ext>
            </a:extLst>
          </p:cNvPr>
          <p:cNvGraphicFramePr>
            <a:graphicFrameLocks noGrp="1"/>
          </p:cNvGraphicFramePr>
          <p:nvPr/>
        </p:nvGraphicFramePr>
        <p:xfrm>
          <a:off x="355265" y="3734033"/>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7</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a:solidFill>
                            <a:schemeClr val="tx1"/>
                          </a:solidFill>
                          <a:effectLst/>
                        </a:rPr>
                        <a:t>Minnie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graphicFrame>
        <p:nvGraphicFramePr>
          <p:cNvPr id="23" name="Temp - Table">
            <a:extLst>
              <a:ext uri="{FF2B5EF4-FFF2-40B4-BE49-F238E27FC236}">
                <a16:creationId xmlns:a16="http://schemas.microsoft.com/office/drawing/2014/main" id="{DA0004D0-54C5-7FE3-495E-2E40E17F56E7}"/>
              </a:ext>
            </a:extLst>
          </p:cNvPr>
          <p:cNvGraphicFramePr>
            <a:graphicFrameLocks noGrp="1"/>
          </p:cNvGraphicFramePr>
          <p:nvPr/>
        </p:nvGraphicFramePr>
        <p:xfrm>
          <a:off x="2917299" y="3734033"/>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9</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sp>
        <p:nvSpPr>
          <p:cNvPr id="26" name="Temp - Arrow">
            <a:extLst>
              <a:ext uri="{FF2B5EF4-FFF2-40B4-BE49-F238E27FC236}">
                <a16:creationId xmlns:a16="http://schemas.microsoft.com/office/drawing/2014/main" id="{1A22687F-9CC3-77DA-888E-EB02C1FDEFA4}"/>
              </a:ext>
            </a:extLst>
          </p:cNvPr>
          <p:cNvSpPr/>
          <p:nvPr/>
        </p:nvSpPr>
        <p:spPr>
          <a:xfrm>
            <a:off x="2415091" y="4101389"/>
            <a:ext cx="464567" cy="2160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Mickey - Row">
            <a:extLst>
              <a:ext uri="{FF2B5EF4-FFF2-40B4-BE49-F238E27FC236}">
                <a16:creationId xmlns:a16="http://schemas.microsoft.com/office/drawing/2014/main" id="{1853AA6B-7FD8-3E7E-8D9E-E7952D8BFB0D}"/>
              </a:ext>
            </a:extLst>
          </p:cNvPr>
          <p:cNvSpPr/>
          <p:nvPr/>
        </p:nvSpPr>
        <p:spPr>
          <a:xfrm>
            <a:off x="2871002" y="5033563"/>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oger - Row">
            <a:extLst>
              <a:ext uri="{FF2B5EF4-FFF2-40B4-BE49-F238E27FC236}">
                <a16:creationId xmlns:a16="http://schemas.microsoft.com/office/drawing/2014/main" id="{0D3CC910-5E9E-5935-6ED7-338DCE177882}"/>
              </a:ext>
            </a:extLst>
          </p:cNvPr>
          <p:cNvSpPr/>
          <p:nvPr/>
        </p:nvSpPr>
        <p:spPr>
          <a:xfrm>
            <a:off x="2871001" y="6326730"/>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Cindy - Row">
            <a:extLst>
              <a:ext uri="{FF2B5EF4-FFF2-40B4-BE49-F238E27FC236}">
                <a16:creationId xmlns:a16="http://schemas.microsoft.com/office/drawing/2014/main" id="{F42FD7F0-C7E3-F7C3-64B5-86175BE26E84}"/>
              </a:ext>
            </a:extLst>
          </p:cNvPr>
          <p:cNvSpPr/>
          <p:nvPr/>
        </p:nvSpPr>
        <p:spPr>
          <a:xfrm>
            <a:off x="2870692" y="4385790"/>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Mickey - Yellow">
            <a:extLst>
              <a:ext uri="{FF2B5EF4-FFF2-40B4-BE49-F238E27FC236}">
                <a16:creationId xmlns:a16="http://schemas.microsoft.com/office/drawing/2014/main" id="{55B3F266-3D66-01A5-0084-02B23DD79047}"/>
              </a:ext>
            </a:extLst>
          </p:cNvPr>
          <p:cNvSpPr/>
          <p:nvPr/>
        </p:nvSpPr>
        <p:spPr>
          <a:xfrm>
            <a:off x="4494561" y="5041107"/>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oger - Yellow">
            <a:extLst>
              <a:ext uri="{FF2B5EF4-FFF2-40B4-BE49-F238E27FC236}">
                <a16:creationId xmlns:a16="http://schemas.microsoft.com/office/drawing/2014/main" id="{CA1DF3E2-1B1A-F633-3A4A-4F5C43855F4B}"/>
              </a:ext>
            </a:extLst>
          </p:cNvPr>
          <p:cNvSpPr/>
          <p:nvPr/>
        </p:nvSpPr>
        <p:spPr>
          <a:xfrm>
            <a:off x="4492334" y="6329118"/>
            <a:ext cx="470841"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Cindy - Yellow">
            <a:extLst>
              <a:ext uri="{FF2B5EF4-FFF2-40B4-BE49-F238E27FC236}">
                <a16:creationId xmlns:a16="http://schemas.microsoft.com/office/drawing/2014/main" id="{868CB6FE-6953-CD77-7A9F-225AD4548CB6}"/>
              </a:ext>
            </a:extLst>
          </p:cNvPr>
          <p:cNvSpPr/>
          <p:nvPr/>
        </p:nvSpPr>
        <p:spPr>
          <a:xfrm>
            <a:off x="4494561" y="4386498"/>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 name="Output - Table">
            <a:extLst>
              <a:ext uri="{FF2B5EF4-FFF2-40B4-BE49-F238E27FC236}">
                <a16:creationId xmlns:a16="http://schemas.microsoft.com/office/drawing/2014/main" id="{23E04685-FE2C-E794-0AD6-95692BED2BED}"/>
              </a:ext>
            </a:extLst>
          </p:cNvPr>
          <p:cNvGraphicFramePr>
            <a:graphicFrameLocks noGrp="1"/>
          </p:cNvGraphicFramePr>
          <p:nvPr/>
        </p:nvGraphicFramePr>
        <p:xfrm>
          <a:off x="10596433" y="3750438"/>
          <a:ext cx="1254887" cy="16192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3</a:t>
                      </a:r>
                    </a:p>
                  </a:txBody>
                  <a:tcPr marL="9525" marR="9525" marT="9525" marB="9525" anchor="ctr"/>
                </a:tc>
                <a:extLst>
                  <a:ext uri="{0D108BD9-81ED-4DB2-BD59-A6C34878D82A}">
                    <a16:rowId xmlns:a16="http://schemas.microsoft.com/office/drawing/2014/main" val="627053109"/>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1</a:t>
                      </a:r>
                    </a:p>
                  </a:txBody>
                  <a:tcPr marL="9525" marR="9525" marT="9525" marB="9525" anchor="ctr"/>
                </a:tc>
                <a:extLst>
                  <a:ext uri="{0D108BD9-81ED-4DB2-BD59-A6C34878D82A}">
                    <a16:rowId xmlns:a16="http://schemas.microsoft.com/office/drawing/2014/main" val="3151915704"/>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1</a:t>
                      </a:r>
                    </a:p>
                  </a:txBody>
                  <a:tcPr marL="9525" marR="9525" marT="9525" marB="9525" anchor="ctr"/>
                </a:tc>
                <a:extLst>
                  <a:ext uri="{0D108BD9-81ED-4DB2-BD59-A6C34878D82A}">
                    <a16:rowId xmlns:a16="http://schemas.microsoft.com/office/drawing/2014/main" val="1193887924"/>
                  </a:ext>
                </a:extLst>
              </a:tr>
              <a:tr h="0">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Cindy</a:t>
                      </a: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4</a:t>
                      </a:r>
                    </a:p>
                  </a:txBody>
                  <a:tcPr marL="9525" marR="9525" marT="9525" marB="9525" anchor="ctr"/>
                </a:tc>
                <a:extLst>
                  <a:ext uri="{0D108BD9-81ED-4DB2-BD59-A6C34878D82A}">
                    <a16:rowId xmlns:a16="http://schemas.microsoft.com/office/drawing/2014/main" val="171917894"/>
                  </a:ext>
                </a:extLst>
              </a:tr>
            </a:tbl>
          </a:graphicData>
        </a:graphic>
      </p:graphicFrame>
      <p:sp>
        <p:nvSpPr>
          <p:cNvPr id="8" name="Minnie - Row">
            <a:extLst>
              <a:ext uri="{FF2B5EF4-FFF2-40B4-BE49-F238E27FC236}">
                <a16:creationId xmlns:a16="http://schemas.microsoft.com/office/drawing/2014/main" id="{DE26CC7C-F218-9CA9-C097-A8F3A953F8BD}"/>
              </a:ext>
            </a:extLst>
          </p:cNvPr>
          <p:cNvSpPr/>
          <p:nvPr/>
        </p:nvSpPr>
        <p:spPr>
          <a:xfrm>
            <a:off x="2871157" y="5369248"/>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utput - Arrow">
            <a:extLst>
              <a:ext uri="{FF2B5EF4-FFF2-40B4-BE49-F238E27FC236}">
                <a16:creationId xmlns:a16="http://schemas.microsoft.com/office/drawing/2014/main" id="{41B03BC3-B622-38BA-3963-2997C3543829}"/>
              </a:ext>
            </a:extLst>
          </p:cNvPr>
          <p:cNvSpPr/>
          <p:nvPr/>
        </p:nvSpPr>
        <p:spPr>
          <a:xfrm>
            <a:off x="10119468" y="4101389"/>
            <a:ext cx="464567" cy="2160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Minnie - Yellow">
            <a:extLst>
              <a:ext uri="{FF2B5EF4-FFF2-40B4-BE49-F238E27FC236}">
                <a16:creationId xmlns:a16="http://schemas.microsoft.com/office/drawing/2014/main" id="{25E94918-C645-BFD4-5304-B5A80FA2722B}"/>
              </a:ext>
            </a:extLst>
          </p:cNvPr>
          <p:cNvSpPr/>
          <p:nvPr/>
        </p:nvSpPr>
        <p:spPr>
          <a:xfrm>
            <a:off x="4492335" y="5362505"/>
            <a:ext cx="469742"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2" name="ORDER BY - Table">
            <a:extLst>
              <a:ext uri="{FF2B5EF4-FFF2-40B4-BE49-F238E27FC236}">
                <a16:creationId xmlns:a16="http://schemas.microsoft.com/office/drawing/2014/main" id="{EF3A2748-AA90-BCC8-2993-A9CADABE91F9}"/>
              </a:ext>
            </a:extLst>
          </p:cNvPr>
          <p:cNvGraphicFramePr>
            <a:graphicFrameLocks noGrp="1"/>
          </p:cNvGraphicFramePr>
          <p:nvPr/>
        </p:nvGraphicFramePr>
        <p:xfrm>
          <a:off x="8052208" y="3734033"/>
          <a:ext cx="2042287" cy="16192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Rabbit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Mouse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Mouse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4</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bl>
          </a:graphicData>
        </a:graphic>
      </p:graphicFrame>
      <p:grpSp>
        <p:nvGrpSpPr>
          <p:cNvPr id="57" name="Group 56">
            <a:extLst>
              <a:ext uri="{FF2B5EF4-FFF2-40B4-BE49-F238E27FC236}">
                <a16:creationId xmlns:a16="http://schemas.microsoft.com/office/drawing/2014/main" id="{B1521731-A15D-3FBE-F181-C47FACE64AD9}"/>
              </a:ext>
            </a:extLst>
          </p:cNvPr>
          <p:cNvGrpSpPr/>
          <p:nvPr/>
        </p:nvGrpSpPr>
        <p:grpSpPr>
          <a:xfrm>
            <a:off x="8034757" y="3699990"/>
            <a:ext cx="2062713" cy="1669258"/>
            <a:chOff x="6379223" y="3378552"/>
            <a:chExt cx="2062713" cy="1669258"/>
          </a:xfrm>
        </p:grpSpPr>
        <p:sp>
          <p:nvSpPr>
            <p:cNvPr id="39" name="Age - Column">
              <a:extLst>
                <a:ext uri="{FF2B5EF4-FFF2-40B4-BE49-F238E27FC236}">
                  <a16:creationId xmlns:a16="http://schemas.microsoft.com/office/drawing/2014/main" id="{AA596A34-9643-938B-43CE-DB3B46EE8BF1}"/>
                </a:ext>
              </a:extLst>
            </p:cNvPr>
            <p:cNvSpPr/>
            <p:nvPr/>
          </p:nvSpPr>
          <p:spPr>
            <a:xfrm>
              <a:off x="7973936" y="3378552"/>
              <a:ext cx="468000" cy="166925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Name - Column">
              <a:extLst>
                <a:ext uri="{FF2B5EF4-FFF2-40B4-BE49-F238E27FC236}">
                  <a16:creationId xmlns:a16="http://schemas.microsoft.com/office/drawing/2014/main" id="{3D274248-AF25-F7EF-A10D-420DC757C823}"/>
                </a:ext>
              </a:extLst>
            </p:cNvPr>
            <p:cNvSpPr/>
            <p:nvPr/>
          </p:nvSpPr>
          <p:spPr>
            <a:xfrm>
              <a:off x="6379223" y="3378552"/>
              <a:ext cx="792000" cy="166925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8" name="ORDER BY - Arrow">
            <a:extLst>
              <a:ext uri="{FF2B5EF4-FFF2-40B4-BE49-F238E27FC236}">
                <a16:creationId xmlns:a16="http://schemas.microsoft.com/office/drawing/2014/main" id="{2966E2E3-1095-3AA5-54F4-22EC69E21F63}"/>
              </a:ext>
            </a:extLst>
          </p:cNvPr>
          <p:cNvSpPr/>
          <p:nvPr/>
        </p:nvSpPr>
        <p:spPr>
          <a:xfrm rot="5400000">
            <a:off x="8955566" y="3230020"/>
            <a:ext cx="464567" cy="46799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aphicFrame>
        <p:nvGraphicFramePr>
          <p:cNvPr id="62" name="WHERE - Table">
            <a:extLst>
              <a:ext uri="{FF2B5EF4-FFF2-40B4-BE49-F238E27FC236}">
                <a16:creationId xmlns:a16="http://schemas.microsoft.com/office/drawing/2014/main" id="{2B9122F8-6167-4D85-A839-C4D5DBB12F55}"/>
              </a:ext>
            </a:extLst>
          </p:cNvPr>
          <p:cNvGraphicFramePr>
            <a:graphicFrameLocks noGrp="1"/>
          </p:cNvGraphicFramePr>
          <p:nvPr/>
        </p:nvGraphicFramePr>
        <p:xfrm>
          <a:off x="5480011" y="3727104"/>
          <a:ext cx="2042287" cy="16192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4</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Mouse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Mouse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sp>
        <p:nvSpPr>
          <p:cNvPr id="43" name="WHERE - Arrow">
            <a:extLst>
              <a:ext uri="{FF2B5EF4-FFF2-40B4-BE49-F238E27FC236}">
                <a16:creationId xmlns:a16="http://schemas.microsoft.com/office/drawing/2014/main" id="{12735B52-F70C-8511-82FF-DD98CDFED39E}"/>
              </a:ext>
            </a:extLst>
          </p:cNvPr>
          <p:cNvSpPr/>
          <p:nvPr/>
        </p:nvSpPr>
        <p:spPr>
          <a:xfrm>
            <a:off x="4976723" y="4101389"/>
            <a:ext cx="464567" cy="2160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1" name="Name - Arrow">
            <a:extLst>
              <a:ext uri="{FF2B5EF4-FFF2-40B4-BE49-F238E27FC236}">
                <a16:creationId xmlns:a16="http://schemas.microsoft.com/office/drawing/2014/main" id="{5EFE38C2-8439-4C5F-9F74-44013184CA32}"/>
              </a:ext>
            </a:extLst>
          </p:cNvPr>
          <p:cNvCxnSpPr>
            <a:cxnSpLocks/>
            <a:endCxn id="76" idx="0"/>
          </p:cNvCxnSpPr>
          <p:nvPr/>
        </p:nvCxnSpPr>
        <p:spPr>
          <a:xfrm flipH="1">
            <a:off x="5858560" y="3115086"/>
            <a:ext cx="298486" cy="57797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Age - Arrow">
            <a:extLst>
              <a:ext uri="{FF2B5EF4-FFF2-40B4-BE49-F238E27FC236}">
                <a16:creationId xmlns:a16="http://schemas.microsoft.com/office/drawing/2014/main" id="{CB1B2BAC-3D1A-47A0-875C-8C332C63A9A8}"/>
              </a:ext>
            </a:extLst>
          </p:cNvPr>
          <p:cNvCxnSpPr>
            <a:cxnSpLocks/>
            <a:endCxn id="75" idx="0"/>
          </p:cNvCxnSpPr>
          <p:nvPr/>
        </p:nvCxnSpPr>
        <p:spPr>
          <a:xfrm>
            <a:off x="7008006" y="3115086"/>
            <a:ext cx="283267" cy="57797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5" name="Age - Column">
            <a:extLst>
              <a:ext uri="{FF2B5EF4-FFF2-40B4-BE49-F238E27FC236}">
                <a16:creationId xmlns:a16="http://schemas.microsoft.com/office/drawing/2014/main" id="{C0AD6763-50D9-4E2A-B402-55C2BB0C7BE6}"/>
              </a:ext>
            </a:extLst>
          </p:cNvPr>
          <p:cNvSpPr/>
          <p:nvPr/>
        </p:nvSpPr>
        <p:spPr>
          <a:xfrm>
            <a:off x="7057273" y="3693061"/>
            <a:ext cx="468000" cy="166670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Name - Column">
            <a:extLst>
              <a:ext uri="{FF2B5EF4-FFF2-40B4-BE49-F238E27FC236}">
                <a16:creationId xmlns:a16="http://schemas.microsoft.com/office/drawing/2014/main" id="{6EEFB8EA-38EB-40F0-ACDB-32F4A15C8012}"/>
              </a:ext>
            </a:extLst>
          </p:cNvPr>
          <p:cNvSpPr/>
          <p:nvPr/>
        </p:nvSpPr>
        <p:spPr>
          <a:xfrm>
            <a:off x="5462560" y="3693061"/>
            <a:ext cx="792000" cy="166670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Temp - Arrow">
            <a:extLst>
              <a:ext uri="{FF2B5EF4-FFF2-40B4-BE49-F238E27FC236}">
                <a16:creationId xmlns:a16="http://schemas.microsoft.com/office/drawing/2014/main" id="{505D6E70-C3F4-46DC-93B3-A56DCF57F48A}"/>
              </a:ext>
            </a:extLst>
          </p:cNvPr>
          <p:cNvSpPr/>
          <p:nvPr/>
        </p:nvSpPr>
        <p:spPr>
          <a:xfrm>
            <a:off x="7550229" y="4101389"/>
            <a:ext cx="464567" cy="2160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Where Down - Arrow">
            <a:extLst>
              <a:ext uri="{FF2B5EF4-FFF2-40B4-BE49-F238E27FC236}">
                <a16:creationId xmlns:a16="http://schemas.microsoft.com/office/drawing/2014/main" id="{D731AF1B-DA28-4086-B857-F0B6326C3AFB}"/>
              </a:ext>
            </a:extLst>
          </p:cNvPr>
          <p:cNvSpPr/>
          <p:nvPr/>
        </p:nvSpPr>
        <p:spPr>
          <a:xfrm rot="5400000">
            <a:off x="4498837" y="3233708"/>
            <a:ext cx="464567" cy="46799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4922749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Sort Results – Multiple fields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825625"/>
            <a:ext cx="10515600" cy="4351338"/>
          </a:xfrm>
        </p:spPr>
        <p:txBody>
          <a:bodyPr>
            <a:normAutofit/>
          </a:bodyPr>
          <a:lstStyle/>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1 </a:t>
            </a:r>
            <a:r>
              <a:rPr lang="en-US" altLang="en-US" sz="4200" dirty="0">
                <a:solidFill>
                  <a:srgbClr val="A71D5D"/>
                </a:solidFill>
                <a:latin typeface="Consolas" panose="020B0609020204030204" pitchFamily="49" charset="0"/>
              </a:rPr>
              <a:t>SELECT</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firstName</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lastName</a:t>
            </a:r>
            <a:r>
              <a:rPr lang="en-US" altLang="en-US" sz="42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2   </a:t>
            </a:r>
            <a:r>
              <a:rPr lang="en-US" altLang="en-US" sz="4200" dirty="0">
                <a:solidFill>
                  <a:srgbClr val="A71D5D"/>
                </a:solidFill>
                <a:latin typeface="Consolas" panose="020B0609020204030204" pitchFamily="49" charset="0"/>
              </a:rPr>
              <a:t>FROM</a:t>
            </a:r>
            <a:r>
              <a:rPr lang="en-US" altLang="en-US" sz="42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3   </a:t>
            </a:r>
            <a:r>
              <a:rPr lang="en-US" altLang="en-US" sz="4200" dirty="0">
                <a:solidFill>
                  <a:srgbClr val="A71D5D"/>
                </a:solidFill>
                <a:latin typeface="Consolas" panose="020B0609020204030204" pitchFamily="49" charset="0"/>
              </a:rPr>
              <a:t>WHERE</a:t>
            </a:r>
            <a:r>
              <a:rPr lang="en-US" altLang="en-US" sz="4200" dirty="0">
                <a:solidFill>
                  <a:srgbClr val="000000"/>
                </a:solidFill>
                <a:latin typeface="Consolas" panose="020B0609020204030204" pitchFamily="49" charset="0"/>
              </a:rPr>
              <a:t> age &gt;= </a:t>
            </a:r>
            <a:r>
              <a:rPr lang="en-US" altLang="en-US" sz="4200" dirty="0">
                <a:solidFill>
                  <a:srgbClr val="0086B3"/>
                </a:solidFill>
                <a:latin typeface="Consolas" panose="020B0609020204030204" pitchFamily="49" charset="0"/>
              </a:rPr>
              <a:t>11</a:t>
            </a:r>
            <a:endParaRPr lang="en-US" altLang="en-US" sz="42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4   </a:t>
            </a:r>
            <a:r>
              <a:rPr lang="en-US" altLang="en-US" sz="4200" dirty="0">
                <a:solidFill>
                  <a:srgbClr val="A71D5D"/>
                </a:solidFill>
                <a:latin typeface="Consolas" panose="020B0609020204030204" pitchFamily="49" charset="0"/>
              </a:rPr>
              <a:t>ORDER BY</a:t>
            </a:r>
            <a:r>
              <a:rPr lang="en-US" altLang="en-US" sz="4200" dirty="0">
                <a:solidFill>
                  <a:srgbClr val="000000"/>
                </a:solidFill>
                <a:latin typeface="Consolas" panose="020B0609020204030204" pitchFamily="49" charset="0"/>
              </a:rPr>
              <a:t> age </a:t>
            </a:r>
            <a:r>
              <a:rPr lang="en-US" altLang="en-US" sz="4200" dirty="0">
                <a:solidFill>
                  <a:srgbClr val="A71D5D"/>
                </a:solidFill>
                <a:latin typeface="Consolas" panose="020B0609020204030204" pitchFamily="49" charset="0"/>
              </a:rPr>
              <a:t>DESC</a:t>
            </a:r>
            <a:r>
              <a:rPr lang="en-US" altLang="en-US" sz="42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5            </a:t>
            </a:r>
            <a:r>
              <a:rPr lang="en-US" altLang="en-US" sz="4200" dirty="0" err="1">
                <a:solidFill>
                  <a:srgbClr val="000000"/>
                </a:solidFill>
                <a:latin typeface="Consolas" panose="020B0609020204030204" pitchFamily="49" charset="0"/>
              </a:rPr>
              <a:t>lastName</a:t>
            </a:r>
            <a:r>
              <a:rPr lang="en-US" altLang="en-US" sz="4200" dirty="0">
                <a:solidFill>
                  <a:srgbClr val="000000"/>
                </a:solidFill>
                <a:latin typeface="Consolas" panose="020B0609020204030204" pitchFamily="49" charset="0"/>
              </a:rPr>
              <a:t> </a:t>
            </a:r>
            <a:r>
              <a:rPr lang="en-US" altLang="en-US" sz="4200" dirty="0">
                <a:solidFill>
                  <a:srgbClr val="A71D5D"/>
                </a:solidFill>
                <a:latin typeface="Consolas" panose="020B0609020204030204" pitchFamily="49" charset="0"/>
              </a:rPr>
              <a:t>ASC</a:t>
            </a:r>
            <a:r>
              <a:rPr lang="en-US" altLang="en-US" sz="4200" dirty="0">
                <a:solidFill>
                  <a:srgbClr val="000000"/>
                </a:solidFill>
                <a:latin typeface="Consolas" panose="020B0609020204030204" pitchFamily="49" charset="0"/>
              </a:rPr>
              <a:t>;</a:t>
            </a:r>
            <a:br>
              <a:rPr lang="en-US" altLang="en-US" sz="4200" dirty="0">
                <a:solidFill>
                  <a:srgbClr val="000000"/>
                </a:solidFill>
                <a:latin typeface="Consolas" panose="020B0609020204030204" pitchFamily="49" charset="0"/>
              </a:rPr>
            </a:br>
            <a:endParaRPr lang="en-US" altLang="en-US" sz="4200" dirty="0">
              <a:latin typeface="Arial" panose="020B0604020202020204" pitchFamily="34" charset="0"/>
            </a:endParaRPr>
          </a:p>
          <a:p>
            <a:pPr>
              <a:lnSpc>
                <a:spcPct val="120000"/>
              </a:lnSpc>
            </a:pPr>
            <a:endParaRPr lang="en-GB" sz="4200" dirty="0"/>
          </a:p>
        </p:txBody>
      </p:sp>
      <p:sp>
        <p:nvSpPr>
          <p:cNvPr id="12" name="Callout: Bent Line with No Border 11">
            <a:extLst>
              <a:ext uri="{FF2B5EF4-FFF2-40B4-BE49-F238E27FC236}">
                <a16:creationId xmlns:a16="http://schemas.microsoft.com/office/drawing/2014/main" id="{47DDF0B2-A520-4AA2-A4DF-C894D27E74F3}"/>
              </a:ext>
            </a:extLst>
          </p:cNvPr>
          <p:cNvSpPr/>
          <p:nvPr/>
        </p:nvSpPr>
        <p:spPr>
          <a:xfrm>
            <a:off x="8767196" y="3138652"/>
            <a:ext cx="2133600" cy="862642"/>
          </a:xfrm>
          <a:prstGeom prst="callout2">
            <a:avLst>
              <a:gd name="adj1" fmla="val 49806"/>
              <a:gd name="adj2" fmla="val -311"/>
              <a:gd name="adj3" fmla="val 49666"/>
              <a:gd name="adj4" fmla="val -30127"/>
              <a:gd name="adj5" fmla="val 122742"/>
              <a:gd name="adj6" fmla="val -67432"/>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Comma</a:t>
            </a:r>
          </a:p>
        </p:txBody>
      </p:sp>
      <p:sp>
        <p:nvSpPr>
          <p:cNvPr id="5" name="Callout: Bent Line with No Border 4">
            <a:extLst>
              <a:ext uri="{FF2B5EF4-FFF2-40B4-BE49-F238E27FC236}">
                <a16:creationId xmlns:a16="http://schemas.microsoft.com/office/drawing/2014/main" id="{C4785491-7496-4582-835E-442310508A91}"/>
              </a:ext>
            </a:extLst>
          </p:cNvPr>
          <p:cNvSpPr/>
          <p:nvPr/>
        </p:nvSpPr>
        <p:spPr>
          <a:xfrm flipH="1">
            <a:off x="1392523" y="4562292"/>
            <a:ext cx="2133600" cy="862642"/>
          </a:xfrm>
          <a:prstGeom prst="callout2">
            <a:avLst>
              <a:gd name="adj1" fmla="val 49806"/>
              <a:gd name="adj2" fmla="val -311"/>
              <a:gd name="adj3" fmla="val 49666"/>
              <a:gd name="adj4" fmla="val -30127"/>
              <a:gd name="adj5" fmla="val -31087"/>
              <a:gd name="adj6" fmla="val -54888"/>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1st sort</a:t>
            </a:r>
          </a:p>
        </p:txBody>
      </p:sp>
      <p:sp>
        <p:nvSpPr>
          <p:cNvPr id="6" name="Callout: Bent Line with No Border 5">
            <a:extLst>
              <a:ext uri="{FF2B5EF4-FFF2-40B4-BE49-F238E27FC236}">
                <a16:creationId xmlns:a16="http://schemas.microsoft.com/office/drawing/2014/main" id="{59C09FE8-141C-499C-8AF0-744EF09E0A1B}"/>
              </a:ext>
            </a:extLst>
          </p:cNvPr>
          <p:cNvSpPr/>
          <p:nvPr/>
        </p:nvSpPr>
        <p:spPr>
          <a:xfrm flipH="1">
            <a:off x="1392523" y="5292468"/>
            <a:ext cx="2133600" cy="862642"/>
          </a:xfrm>
          <a:prstGeom prst="callout2">
            <a:avLst>
              <a:gd name="adj1" fmla="val 49806"/>
              <a:gd name="adj2" fmla="val -311"/>
              <a:gd name="adj3" fmla="val 49666"/>
              <a:gd name="adj4" fmla="val -30127"/>
              <a:gd name="adj5" fmla="val -31087"/>
              <a:gd name="adj6" fmla="val -54888"/>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2nd sort</a:t>
            </a:r>
          </a:p>
        </p:txBody>
      </p:sp>
      <p:sp>
        <p:nvSpPr>
          <p:cNvPr id="7" name="TextBox 6">
            <a:extLst>
              <a:ext uri="{FF2B5EF4-FFF2-40B4-BE49-F238E27FC236}">
                <a16:creationId xmlns:a16="http://schemas.microsoft.com/office/drawing/2014/main" id="{DFBCD4FE-B2C2-4A7E-BA42-AFCA68B5BE18}"/>
              </a:ext>
            </a:extLst>
          </p:cNvPr>
          <p:cNvSpPr txBox="1"/>
          <p:nvPr/>
        </p:nvSpPr>
        <p:spPr>
          <a:xfrm>
            <a:off x="4236967" y="6019512"/>
            <a:ext cx="7432869" cy="584775"/>
          </a:xfrm>
          <a:prstGeom prst="rect">
            <a:avLst/>
          </a:prstGeom>
          <a:noFill/>
        </p:spPr>
        <p:txBody>
          <a:bodyPr wrap="none" rtlCol="0">
            <a:spAutoFit/>
          </a:bodyPr>
          <a:lstStyle/>
          <a:p>
            <a:pPr algn="ctr"/>
            <a:r>
              <a:rPr lang="en-GB" sz="3200" b="1" dirty="0">
                <a:solidFill>
                  <a:srgbClr val="7030A0"/>
                </a:solidFill>
              </a:rPr>
              <a:t>When </a:t>
            </a:r>
            <a:r>
              <a:rPr lang="en-GB" sz="3200" b="1" dirty="0">
                <a:latin typeface="Consolas" panose="020B0609020204030204" pitchFamily="49" charset="0"/>
              </a:rPr>
              <a:t>age</a:t>
            </a:r>
            <a:r>
              <a:rPr lang="en-GB" sz="3200" b="1" dirty="0">
                <a:solidFill>
                  <a:srgbClr val="7030A0"/>
                </a:solidFill>
              </a:rPr>
              <a:t> is the same, sorts by </a:t>
            </a:r>
            <a:r>
              <a:rPr lang="en-GB" sz="3200" b="1" dirty="0" err="1">
                <a:latin typeface="Consolas" panose="020B0609020204030204" pitchFamily="49" charset="0"/>
              </a:rPr>
              <a:t>lastName</a:t>
            </a:r>
            <a:endParaRPr lang="en-GB" sz="4000" dirty="0">
              <a:latin typeface="Consolas" panose="020B0609020204030204" pitchFamily="49" charset="0"/>
            </a:endParaRPr>
          </a:p>
        </p:txBody>
      </p:sp>
    </p:spTree>
    <p:extLst>
      <p:ext uri="{BB962C8B-B14F-4D97-AF65-F5344CB8AC3E}">
        <p14:creationId xmlns:p14="http://schemas.microsoft.com/office/powerpoint/2010/main" val="818983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10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10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10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animEffect transition="in" filter="wipe(left)">
                                      <p:cBhvr>
                                        <p:cTn id="47"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animBg="1"/>
      <p:bldP spid="5" grpId="0" animBg="1"/>
      <p:bldP spid="6" grpId="0" animBg="1"/>
      <p:bldP spid="7" grpId="0" build="p"/>
    </p:bld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Sort Results – Multiple fields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1 </a:t>
            </a:r>
            <a:r>
              <a:rPr lang="en-US" altLang="en-US" sz="4200" dirty="0">
                <a:solidFill>
                  <a:srgbClr val="A71D5D"/>
                </a:solidFill>
                <a:latin typeface="Consolas" panose="020B0609020204030204" pitchFamily="49" charset="0"/>
              </a:rPr>
              <a:t>SELECT</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firstName</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lastName</a:t>
            </a:r>
            <a:r>
              <a:rPr lang="en-US" altLang="en-US" sz="42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2   </a:t>
            </a:r>
            <a:r>
              <a:rPr lang="en-US" altLang="en-US" sz="4200" dirty="0">
                <a:solidFill>
                  <a:srgbClr val="A71D5D"/>
                </a:solidFill>
                <a:latin typeface="Consolas" panose="020B0609020204030204" pitchFamily="49" charset="0"/>
              </a:rPr>
              <a:t>FROM</a:t>
            </a:r>
            <a:r>
              <a:rPr lang="en-US" altLang="en-US" sz="42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3   </a:t>
            </a:r>
            <a:r>
              <a:rPr lang="en-US" altLang="en-US" sz="4200" dirty="0">
                <a:solidFill>
                  <a:srgbClr val="A71D5D"/>
                </a:solidFill>
                <a:latin typeface="Consolas" panose="020B0609020204030204" pitchFamily="49" charset="0"/>
              </a:rPr>
              <a:t>WHERE</a:t>
            </a:r>
            <a:r>
              <a:rPr lang="en-US" altLang="en-US" sz="4200" dirty="0">
                <a:solidFill>
                  <a:srgbClr val="000000"/>
                </a:solidFill>
                <a:latin typeface="Consolas" panose="020B0609020204030204" pitchFamily="49" charset="0"/>
              </a:rPr>
              <a:t> age &gt;= </a:t>
            </a:r>
            <a:r>
              <a:rPr lang="en-US" altLang="en-US" sz="4200" dirty="0">
                <a:solidFill>
                  <a:srgbClr val="0086B3"/>
                </a:solidFill>
                <a:latin typeface="Consolas" panose="020B0609020204030204" pitchFamily="49" charset="0"/>
              </a:rPr>
              <a:t>11</a:t>
            </a:r>
            <a:endParaRPr lang="en-US" altLang="en-US" sz="42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4   </a:t>
            </a:r>
            <a:r>
              <a:rPr lang="en-US" altLang="en-US" sz="4200" dirty="0">
                <a:solidFill>
                  <a:srgbClr val="A71D5D"/>
                </a:solidFill>
                <a:latin typeface="Consolas" panose="020B0609020204030204" pitchFamily="49" charset="0"/>
              </a:rPr>
              <a:t>ORDER BY</a:t>
            </a:r>
            <a:r>
              <a:rPr lang="en-US" altLang="en-US" sz="4200" dirty="0">
                <a:solidFill>
                  <a:srgbClr val="000000"/>
                </a:solidFill>
                <a:latin typeface="Consolas" panose="020B0609020204030204" pitchFamily="49" charset="0"/>
              </a:rPr>
              <a:t> age </a:t>
            </a:r>
            <a:r>
              <a:rPr lang="en-US" altLang="en-US" sz="4200" dirty="0">
                <a:solidFill>
                  <a:srgbClr val="A71D5D"/>
                </a:solidFill>
                <a:latin typeface="Consolas" panose="020B0609020204030204" pitchFamily="49" charset="0"/>
              </a:rPr>
              <a:t>DESC</a:t>
            </a:r>
            <a:r>
              <a:rPr lang="en-US" altLang="en-US" sz="42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5            </a:t>
            </a:r>
            <a:r>
              <a:rPr lang="en-US" altLang="en-US" sz="4200" dirty="0" err="1">
                <a:solidFill>
                  <a:srgbClr val="000000"/>
                </a:solidFill>
                <a:latin typeface="Consolas" panose="020B0609020204030204" pitchFamily="49" charset="0"/>
              </a:rPr>
              <a:t>lastName</a:t>
            </a:r>
            <a:r>
              <a:rPr lang="en-US" altLang="en-US" sz="4200" dirty="0">
                <a:solidFill>
                  <a:srgbClr val="000000"/>
                </a:solidFill>
                <a:latin typeface="Consolas" panose="020B0609020204030204" pitchFamily="49" charset="0"/>
              </a:rPr>
              <a:t> </a:t>
            </a:r>
            <a:r>
              <a:rPr lang="en-US" altLang="en-US" sz="4200" dirty="0">
                <a:solidFill>
                  <a:srgbClr val="A71D5D"/>
                </a:solidFill>
                <a:latin typeface="Consolas" panose="020B0609020204030204" pitchFamily="49" charset="0"/>
              </a:rPr>
              <a:t>ASC</a:t>
            </a:r>
            <a:r>
              <a:rPr lang="en-US" altLang="en-US" sz="4200" dirty="0">
                <a:solidFill>
                  <a:srgbClr val="000000"/>
                </a:solidFill>
                <a:latin typeface="Consolas" panose="020B0609020204030204" pitchFamily="49" charset="0"/>
              </a:rPr>
              <a:t>;</a:t>
            </a:r>
            <a:br>
              <a:rPr lang="en-US" altLang="en-US" sz="4200" dirty="0">
                <a:solidFill>
                  <a:srgbClr val="000000"/>
                </a:solidFill>
                <a:latin typeface="Consolas" panose="020B0609020204030204" pitchFamily="49" charset="0"/>
              </a:rPr>
            </a:br>
            <a:endParaRPr lang="en-US" altLang="en-US" sz="4200" dirty="0">
              <a:latin typeface="Arial" panose="020B0604020202020204" pitchFamily="34" charset="0"/>
            </a:endParaRPr>
          </a:p>
          <a:p>
            <a:pPr>
              <a:lnSpc>
                <a:spcPct val="120000"/>
              </a:lnSpc>
            </a:pPr>
            <a:endParaRPr lang="en-GB" sz="4200" dirty="0"/>
          </a:p>
        </p:txBody>
      </p:sp>
    </p:spTree>
    <p:extLst>
      <p:ext uri="{BB962C8B-B14F-4D97-AF65-F5344CB8AC3E}">
        <p14:creationId xmlns:p14="http://schemas.microsoft.com/office/powerpoint/2010/main" val="30194062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normAutofit/>
          </a:bodyPr>
          <a:lstStyle/>
          <a:p>
            <a:r>
              <a:rPr lang="en-GB" sz="3200" dirty="0"/>
              <a:t>Describe and use AND / OR in SQL operations</a:t>
            </a:r>
          </a:p>
        </p:txBody>
      </p:sp>
    </p:spTree>
    <p:extLst>
      <p:ext uri="{BB962C8B-B14F-4D97-AF65-F5344CB8AC3E}">
        <p14:creationId xmlns:p14="http://schemas.microsoft.com/office/powerpoint/2010/main" val="35894672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Filter Results: Complex - AND</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colour</a:t>
            </a:r>
            <a:r>
              <a:rPr lang="en-US" altLang="en-US" sz="4400" dirty="0">
                <a:solidFill>
                  <a:srgbClr val="000000"/>
                </a:solidFill>
                <a:latin typeface="Consolas" panose="020B0609020204030204" pitchFamily="49" charset="0"/>
              </a:rPr>
              <a:t> = </a:t>
            </a:r>
            <a:r>
              <a:rPr lang="en-US" altLang="en-US" sz="4400" dirty="0">
                <a:solidFill>
                  <a:srgbClr val="183691"/>
                </a:solidFill>
                <a:latin typeface="Consolas" panose="020B0609020204030204" pitchFamily="49" charset="0"/>
              </a:rPr>
              <a:t>"Green"</a:t>
            </a:r>
            <a:endParaRPr lang="en-US" altLang="en-US" sz="44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4     </a:t>
            </a:r>
            <a:r>
              <a:rPr lang="en-US" altLang="en-US" sz="4400" dirty="0">
                <a:solidFill>
                  <a:srgbClr val="A71D5D"/>
                </a:solidFill>
                <a:latin typeface="Consolas" panose="020B0609020204030204" pitchFamily="49" charset="0"/>
              </a:rPr>
              <a:t>AND</a:t>
            </a:r>
            <a:r>
              <a:rPr lang="en-US" altLang="en-US" sz="4400" dirty="0">
                <a:solidFill>
                  <a:srgbClr val="000000"/>
                </a:solidFill>
                <a:latin typeface="Consolas" panose="020B0609020204030204" pitchFamily="49" charset="0"/>
              </a:rPr>
              <a:t> nice = </a:t>
            </a:r>
            <a:r>
              <a:rPr lang="en-US" altLang="en-US" sz="4400" dirty="0">
                <a:solidFill>
                  <a:srgbClr val="A71D5D"/>
                </a:solidFill>
                <a:latin typeface="Consolas" panose="020B0609020204030204" pitchFamily="49" charset="0"/>
              </a:rPr>
              <a:t>FALSE</a:t>
            </a:r>
            <a:r>
              <a:rPr lang="en-US" altLang="en-US" sz="44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12" name="TextBox 11">
            <a:extLst>
              <a:ext uri="{FF2B5EF4-FFF2-40B4-BE49-F238E27FC236}">
                <a16:creationId xmlns:a16="http://schemas.microsoft.com/office/drawing/2014/main" id="{AF313AC3-2051-D946-A4BD-CB8D61AE849C}"/>
              </a:ext>
            </a:extLst>
          </p:cNvPr>
          <p:cNvSpPr txBox="1"/>
          <p:nvPr/>
        </p:nvSpPr>
        <p:spPr>
          <a:xfrm>
            <a:off x="1228353" y="5975354"/>
            <a:ext cx="9735294" cy="646331"/>
          </a:xfrm>
          <a:prstGeom prst="rect">
            <a:avLst/>
          </a:prstGeom>
          <a:noFill/>
        </p:spPr>
        <p:txBody>
          <a:bodyPr wrap="none" rtlCol="0">
            <a:spAutoFit/>
          </a:bodyPr>
          <a:lstStyle/>
          <a:p>
            <a:pPr algn="ctr"/>
            <a:r>
              <a:rPr lang="en-GB" sz="3600" dirty="0">
                <a:solidFill>
                  <a:srgbClr val="7030A0"/>
                </a:solidFill>
              </a:rPr>
              <a:t>If the overall condition is </a:t>
            </a:r>
            <a:r>
              <a:rPr lang="en-GB" sz="3600" dirty="0">
                <a:solidFill>
                  <a:srgbClr val="7030A0"/>
                </a:solidFill>
                <a:latin typeface="Consolas" panose="020B0609020204030204" pitchFamily="49" charset="0"/>
              </a:rPr>
              <a:t>TRUE</a:t>
            </a:r>
            <a:r>
              <a:rPr lang="en-GB" sz="3600" dirty="0">
                <a:solidFill>
                  <a:srgbClr val="7030A0"/>
                </a:solidFill>
              </a:rPr>
              <a:t> the row is displayed</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283012492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20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2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225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animEffect transition="in" filter="wipe(left)">
                                      <p:cBhvr>
                                        <p:cTn id="25"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build="p"/>
    </p:bldLst>
  </p:timing>
</p:sld>
</file>

<file path=ppt/slides/slide64.xml><?xml version="1.0" encoding="utf-8"?>
<p:sld xmlns:a="http://schemas.openxmlformats.org/drawingml/2006/main" xmlns:r="http://schemas.openxmlformats.org/officeDocument/2006/relationships" xmlns:p="http://schemas.openxmlformats.org/presentationml/2006/main" show="0">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Filter Results: Complex - AND</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colour</a:t>
            </a:r>
            <a:r>
              <a:rPr lang="en-US" altLang="en-US" sz="4400" dirty="0">
                <a:solidFill>
                  <a:srgbClr val="000000"/>
                </a:solidFill>
                <a:latin typeface="Consolas" panose="020B0609020204030204" pitchFamily="49" charset="0"/>
              </a:rPr>
              <a:t> = </a:t>
            </a:r>
            <a:r>
              <a:rPr lang="en-US" altLang="en-US" sz="4400" dirty="0">
                <a:solidFill>
                  <a:srgbClr val="183691"/>
                </a:solidFill>
                <a:latin typeface="Consolas" panose="020B0609020204030204" pitchFamily="49" charset="0"/>
              </a:rPr>
              <a:t>"Green"</a:t>
            </a:r>
            <a:endParaRPr lang="en-US" altLang="en-US" sz="44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4     </a:t>
            </a:r>
            <a:r>
              <a:rPr lang="en-US" altLang="en-US" sz="4400" dirty="0">
                <a:solidFill>
                  <a:srgbClr val="A71D5D"/>
                </a:solidFill>
                <a:latin typeface="Consolas" panose="020B0609020204030204" pitchFamily="49" charset="0"/>
              </a:rPr>
              <a:t>AND</a:t>
            </a:r>
            <a:r>
              <a:rPr lang="en-US" altLang="en-US" sz="4400" dirty="0">
                <a:solidFill>
                  <a:srgbClr val="000000"/>
                </a:solidFill>
                <a:latin typeface="Consolas" panose="020B0609020204030204" pitchFamily="49" charset="0"/>
              </a:rPr>
              <a:t> nice = </a:t>
            </a:r>
            <a:r>
              <a:rPr lang="en-US" altLang="en-US" sz="4400" dirty="0">
                <a:solidFill>
                  <a:srgbClr val="A71D5D"/>
                </a:solidFill>
                <a:latin typeface="Consolas" panose="020B0609020204030204" pitchFamily="49" charset="0"/>
              </a:rPr>
              <a:t>FALSE</a:t>
            </a:r>
            <a:r>
              <a:rPr lang="en-US" altLang="en-US" sz="44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12" name="TextBox 11">
            <a:extLst>
              <a:ext uri="{FF2B5EF4-FFF2-40B4-BE49-F238E27FC236}">
                <a16:creationId xmlns:a16="http://schemas.microsoft.com/office/drawing/2014/main" id="{AF313AC3-2051-D946-A4BD-CB8D61AE849C}"/>
              </a:ext>
            </a:extLst>
          </p:cNvPr>
          <p:cNvSpPr txBox="1"/>
          <p:nvPr/>
        </p:nvSpPr>
        <p:spPr>
          <a:xfrm>
            <a:off x="1061648" y="5975354"/>
            <a:ext cx="10068718" cy="646331"/>
          </a:xfrm>
          <a:prstGeom prst="rect">
            <a:avLst/>
          </a:prstGeom>
          <a:noFill/>
        </p:spPr>
        <p:txBody>
          <a:bodyPr wrap="none" rtlCol="0">
            <a:spAutoFit/>
          </a:bodyPr>
          <a:lstStyle/>
          <a:p>
            <a:pPr algn="ctr"/>
            <a:r>
              <a:rPr lang="en-GB" sz="3600" dirty="0">
                <a:solidFill>
                  <a:srgbClr val="7030A0"/>
                </a:solidFill>
              </a:rPr>
              <a:t>If the               condition is              the row is displayed</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3697990193"/>
      </p:ext>
    </p:extLst>
  </p:cSld>
  <p:clrMapOvr>
    <a:overrideClrMapping bg1="lt1" tx1="dk1" bg2="lt2" tx2="dk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Filter Results: Complex - OR</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colour</a:t>
            </a:r>
            <a:r>
              <a:rPr lang="en-US" altLang="en-US" sz="4400" dirty="0">
                <a:solidFill>
                  <a:srgbClr val="000000"/>
                </a:solidFill>
                <a:latin typeface="Consolas" panose="020B0609020204030204" pitchFamily="49" charset="0"/>
              </a:rPr>
              <a:t> = </a:t>
            </a:r>
            <a:r>
              <a:rPr lang="en-US" altLang="en-US" sz="4400" dirty="0">
                <a:solidFill>
                  <a:srgbClr val="183691"/>
                </a:solidFill>
                <a:latin typeface="Consolas" panose="020B0609020204030204" pitchFamily="49" charset="0"/>
              </a:rPr>
              <a:t>"Green"</a:t>
            </a:r>
            <a:endParaRPr lang="en-US" altLang="en-US" sz="44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4      </a:t>
            </a:r>
            <a:r>
              <a:rPr lang="en-US" altLang="en-US" sz="4400" dirty="0">
                <a:solidFill>
                  <a:srgbClr val="A71D5D"/>
                </a:solidFill>
                <a:latin typeface="Consolas" panose="020B0609020204030204" pitchFamily="49" charset="0"/>
              </a:rPr>
              <a:t>OR</a:t>
            </a:r>
            <a:r>
              <a:rPr lang="en-US" altLang="en-US" sz="4400" dirty="0">
                <a:solidFill>
                  <a:srgbClr val="000000"/>
                </a:solidFill>
                <a:latin typeface="Consolas" panose="020B0609020204030204" pitchFamily="49" charset="0"/>
              </a:rPr>
              <a:t> nice = </a:t>
            </a:r>
            <a:r>
              <a:rPr lang="en-US" altLang="en-US" sz="4400" dirty="0">
                <a:solidFill>
                  <a:srgbClr val="A71D5D"/>
                </a:solidFill>
                <a:latin typeface="Consolas" panose="020B0609020204030204" pitchFamily="49" charset="0"/>
              </a:rPr>
              <a:t>FALSE</a:t>
            </a:r>
            <a:r>
              <a:rPr lang="en-US" altLang="en-US" sz="44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12" name="TextBox 11">
            <a:extLst>
              <a:ext uri="{FF2B5EF4-FFF2-40B4-BE49-F238E27FC236}">
                <a16:creationId xmlns:a16="http://schemas.microsoft.com/office/drawing/2014/main" id="{AF313AC3-2051-D946-A4BD-CB8D61AE849C}"/>
              </a:ext>
            </a:extLst>
          </p:cNvPr>
          <p:cNvSpPr txBox="1"/>
          <p:nvPr/>
        </p:nvSpPr>
        <p:spPr>
          <a:xfrm>
            <a:off x="1228353" y="5975354"/>
            <a:ext cx="9735294" cy="646331"/>
          </a:xfrm>
          <a:prstGeom prst="rect">
            <a:avLst/>
          </a:prstGeom>
          <a:noFill/>
        </p:spPr>
        <p:txBody>
          <a:bodyPr wrap="none" rtlCol="0">
            <a:spAutoFit/>
          </a:bodyPr>
          <a:lstStyle/>
          <a:p>
            <a:pPr algn="ctr"/>
            <a:r>
              <a:rPr lang="en-GB" sz="3600" dirty="0">
                <a:solidFill>
                  <a:srgbClr val="7030A0"/>
                </a:solidFill>
              </a:rPr>
              <a:t>If the overall condition is </a:t>
            </a:r>
            <a:r>
              <a:rPr lang="en-GB" sz="3600" dirty="0">
                <a:solidFill>
                  <a:srgbClr val="7030A0"/>
                </a:solidFill>
                <a:latin typeface="Consolas" panose="020B0609020204030204" pitchFamily="49" charset="0"/>
              </a:rPr>
              <a:t>TRUE</a:t>
            </a:r>
            <a:r>
              <a:rPr lang="en-GB" sz="3600" dirty="0">
                <a:solidFill>
                  <a:srgbClr val="7030A0"/>
                </a:solidFill>
              </a:rPr>
              <a:t> the row is displayed</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297699211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20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2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225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animEffect transition="in" filter="wipe(left)">
                                      <p:cBhvr>
                                        <p:cTn id="25"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build="p"/>
    </p:bldLst>
  </p:timing>
</p:sld>
</file>

<file path=ppt/slides/slide66.xml><?xml version="1.0" encoding="utf-8"?>
<p:sld xmlns:a="http://schemas.openxmlformats.org/drawingml/2006/main" xmlns:r="http://schemas.openxmlformats.org/officeDocument/2006/relationships" xmlns:p="http://schemas.openxmlformats.org/presentationml/2006/main" show="0">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Filter Results: Complex - OR</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colour</a:t>
            </a:r>
            <a:r>
              <a:rPr lang="en-US" altLang="en-US" sz="4400" dirty="0">
                <a:solidFill>
                  <a:srgbClr val="000000"/>
                </a:solidFill>
                <a:latin typeface="Consolas" panose="020B0609020204030204" pitchFamily="49" charset="0"/>
              </a:rPr>
              <a:t> = </a:t>
            </a:r>
            <a:r>
              <a:rPr lang="en-US" altLang="en-US" sz="4400" dirty="0">
                <a:solidFill>
                  <a:srgbClr val="183691"/>
                </a:solidFill>
                <a:latin typeface="Consolas" panose="020B0609020204030204" pitchFamily="49" charset="0"/>
              </a:rPr>
              <a:t>"Green"</a:t>
            </a:r>
            <a:endParaRPr lang="en-US" altLang="en-US" sz="44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4      </a:t>
            </a:r>
            <a:r>
              <a:rPr lang="en-US" altLang="en-US" sz="4400" dirty="0">
                <a:solidFill>
                  <a:srgbClr val="A71D5D"/>
                </a:solidFill>
                <a:latin typeface="Consolas" panose="020B0609020204030204" pitchFamily="49" charset="0"/>
              </a:rPr>
              <a:t>OR</a:t>
            </a:r>
            <a:r>
              <a:rPr lang="en-US" altLang="en-US" sz="4400" dirty="0">
                <a:solidFill>
                  <a:srgbClr val="000000"/>
                </a:solidFill>
                <a:latin typeface="Consolas" panose="020B0609020204030204" pitchFamily="49" charset="0"/>
              </a:rPr>
              <a:t> nice = </a:t>
            </a:r>
            <a:r>
              <a:rPr lang="en-US" altLang="en-US" sz="4400" dirty="0">
                <a:solidFill>
                  <a:srgbClr val="A71D5D"/>
                </a:solidFill>
                <a:latin typeface="Consolas" panose="020B0609020204030204" pitchFamily="49" charset="0"/>
              </a:rPr>
              <a:t>FALSE</a:t>
            </a:r>
            <a:r>
              <a:rPr lang="en-US" altLang="en-US" sz="44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12" name="TextBox 11">
            <a:extLst>
              <a:ext uri="{FF2B5EF4-FFF2-40B4-BE49-F238E27FC236}">
                <a16:creationId xmlns:a16="http://schemas.microsoft.com/office/drawing/2014/main" id="{AF313AC3-2051-D946-A4BD-CB8D61AE849C}"/>
              </a:ext>
            </a:extLst>
          </p:cNvPr>
          <p:cNvSpPr txBox="1"/>
          <p:nvPr/>
        </p:nvSpPr>
        <p:spPr>
          <a:xfrm>
            <a:off x="1061648" y="5975354"/>
            <a:ext cx="10068718" cy="646331"/>
          </a:xfrm>
          <a:prstGeom prst="rect">
            <a:avLst/>
          </a:prstGeom>
          <a:noFill/>
        </p:spPr>
        <p:txBody>
          <a:bodyPr wrap="none" rtlCol="0">
            <a:spAutoFit/>
          </a:bodyPr>
          <a:lstStyle/>
          <a:p>
            <a:pPr algn="ctr"/>
            <a:r>
              <a:rPr lang="en-GB" sz="3600" dirty="0">
                <a:solidFill>
                  <a:srgbClr val="7030A0"/>
                </a:solidFill>
              </a:rPr>
              <a:t>If the               condition is              the row is displayed</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3497065734"/>
      </p:ext>
    </p:extLst>
  </p:cSld>
  <p:clrMapOvr>
    <a:overrideClrMapping bg1="lt1" tx1="dk1" bg2="lt2" tx2="dk2" accent1="accent1" accent2="accent2" accent3="accent3" accent4="accent4" accent5="accent5" accent6="accent6" hlink="hlink" folHlink="folHlink"/>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Filter Results: Complex!</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colour</a:t>
            </a:r>
            <a:r>
              <a:rPr lang="en-US" altLang="en-US" sz="4400" dirty="0">
                <a:solidFill>
                  <a:srgbClr val="000000"/>
                </a:solidFill>
                <a:latin typeface="Consolas" panose="020B0609020204030204" pitchFamily="49" charset="0"/>
              </a:rPr>
              <a:t> = </a:t>
            </a:r>
            <a:r>
              <a:rPr lang="en-US" altLang="en-US" sz="4400" dirty="0">
                <a:solidFill>
                  <a:srgbClr val="183691"/>
                </a:solidFill>
                <a:latin typeface="Consolas" panose="020B0609020204030204" pitchFamily="49" charset="0"/>
              </a:rPr>
              <a:t>"Green"</a:t>
            </a:r>
            <a:endParaRPr lang="en-US" altLang="en-US" sz="44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4      </a:t>
            </a:r>
            <a:r>
              <a:rPr lang="en-US" altLang="en-US" sz="4400" dirty="0">
                <a:solidFill>
                  <a:srgbClr val="A71D5D"/>
                </a:solidFill>
                <a:latin typeface="Consolas" panose="020B0609020204030204" pitchFamily="49" charset="0"/>
              </a:rPr>
              <a:t>OR</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colour</a:t>
            </a:r>
            <a:r>
              <a:rPr lang="en-US" altLang="en-US" sz="4400" dirty="0">
                <a:solidFill>
                  <a:srgbClr val="000000"/>
                </a:solidFill>
                <a:latin typeface="Consolas" panose="020B0609020204030204" pitchFamily="49" charset="0"/>
              </a:rPr>
              <a:t> = </a:t>
            </a:r>
            <a:r>
              <a:rPr lang="en-US" altLang="en-US" sz="4400" dirty="0">
                <a:solidFill>
                  <a:srgbClr val="183691"/>
                </a:solidFill>
                <a:latin typeface="Consolas" panose="020B0609020204030204" pitchFamily="49" charset="0"/>
              </a:rPr>
              <a:t>"Violet"</a:t>
            </a:r>
            <a:r>
              <a:rPr lang="en-US" altLang="en-US" sz="44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5     </a:t>
            </a:r>
            <a:r>
              <a:rPr lang="en-US" altLang="en-US" sz="4400" dirty="0">
                <a:solidFill>
                  <a:srgbClr val="A71D5D"/>
                </a:solidFill>
                <a:latin typeface="Consolas" panose="020B0609020204030204" pitchFamily="49" charset="0"/>
              </a:rPr>
              <a:t>AND</a:t>
            </a:r>
            <a:r>
              <a:rPr lang="en-US" altLang="en-US" sz="4400" dirty="0">
                <a:solidFill>
                  <a:srgbClr val="000000"/>
                </a:solidFill>
                <a:latin typeface="Consolas" panose="020B0609020204030204" pitchFamily="49" charset="0"/>
              </a:rPr>
              <a:t> nice = </a:t>
            </a:r>
            <a:r>
              <a:rPr lang="en-US" altLang="en-US" sz="4400" dirty="0">
                <a:solidFill>
                  <a:srgbClr val="A71D5D"/>
                </a:solidFill>
                <a:latin typeface="Consolas" panose="020B0609020204030204" pitchFamily="49" charset="0"/>
              </a:rPr>
              <a:t>FALSE</a:t>
            </a:r>
            <a:r>
              <a:rPr lang="en-US" altLang="en-US" sz="44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12" name="TextBox 11">
            <a:extLst>
              <a:ext uri="{FF2B5EF4-FFF2-40B4-BE49-F238E27FC236}">
                <a16:creationId xmlns:a16="http://schemas.microsoft.com/office/drawing/2014/main" id="{AF313AC3-2051-D946-A4BD-CB8D61AE849C}"/>
              </a:ext>
            </a:extLst>
          </p:cNvPr>
          <p:cNvSpPr txBox="1"/>
          <p:nvPr/>
        </p:nvSpPr>
        <p:spPr>
          <a:xfrm>
            <a:off x="1228353" y="5975354"/>
            <a:ext cx="9735294" cy="646331"/>
          </a:xfrm>
          <a:prstGeom prst="rect">
            <a:avLst/>
          </a:prstGeom>
          <a:noFill/>
        </p:spPr>
        <p:txBody>
          <a:bodyPr wrap="none" rtlCol="0">
            <a:spAutoFit/>
          </a:bodyPr>
          <a:lstStyle/>
          <a:p>
            <a:pPr algn="ctr"/>
            <a:r>
              <a:rPr lang="en-GB" sz="3600" dirty="0">
                <a:solidFill>
                  <a:srgbClr val="7030A0"/>
                </a:solidFill>
              </a:rPr>
              <a:t>If the overall condition is </a:t>
            </a:r>
            <a:r>
              <a:rPr lang="en-GB" sz="3600" dirty="0">
                <a:solidFill>
                  <a:srgbClr val="7030A0"/>
                </a:solidFill>
                <a:latin typeface="Consolas" panose="020B0609020204030204" pitchFamily="49" charset="0"/>
              </a:rPr>
              <a:t>TRUE</a:t>
            </a:r>
            <a:r>
              <a:rPr lang="en-GB" sz="3600" dirty="0">
                <a:solidFill>
                  <a:srgbClr val="7030A0"/>
                </a:solidFill>
              </a:rPr>
              <a:t> the row is displayed</a:t>
            </a:r>
            <a:endParaRPr lang="en-GB" sz="3600" dirty="0">
              <a:solidFill>
                <a:srgbClr val="7030A0"/>
              </a:solidFill>
              <a:latin typeface="Consolas" panose="020B0609020204030204" pitchFamily="49" charset="0"/>
            </a:endParaRPr>
          </a:p>
        </p:txBody>
      </p:sp>
      <p:grpSp>
        <p:nvGrpSpPr>
          <p:cNvPr id="6" name="Group 5">
            <a:extLst>
              <a:ext uri="{FF2B5EF4-FFF2-40B4-BE49-F238E27FC236}">
                <a16:creationId xmlns:a16="http://schemas.microsoft.com/office/drawing/2014/main" id="{B8534C20-C1CB-4A7A-B7AC-6BB11132EE15}"/>
              </a:ext>
            </a:extLst>
          </p:cNvPr>
          <p:cNvGrpSpPr/>
          <p:nvPr/>
        </p:nvGrpSpPr>
        <p:grpSpPr>
          <a:xfrm>
            <a:off x="8413987" y="1827468"/>
            <a:ext cx="3464514" cy="2668586"/>
            <a:chOff x="8256431" y="1380903"/>
            <a:chExt cx="3464514" cy="2668586"/>
          </a:xfrm>
        </p:grpSpPr>
        <p:sp>
          <p:nvSpPr>
            <p:cNvPr id="5" name="Rectangle 4">
              <a:extLst>
                <a:ext uri="{FF2B5EF4-FFF2-40B4-BE49-F238E27FC236}">
                  <a16:creationId xmlns:a16="http://schemas.microsoft.com/office/drawing/2014/main" id="{3A2C89A4-6DE3-4DAB-AF80-8A8E82E7F79A}"/>
                </a:ext>
              </a:extLst>
            </p:cNvPr>
            <p:cNvSpPr/>
            <p:nvPr/>
          </p:nvSpPr>
          <p:spPr>
            <a:xfrm>
              <a:off x="8256431" y="1380903"/>
              <a:ext cx="3464514" cy="1200329"/>
            </a:xfrm>
            <a:prstGeom prst="rect">
              <a:avLst/>
            </a:prstGeom>
          </p:spPr>
          <p:txBody>
            <a:bodyPr wrap="square">
              <a:spAutoFit/>
            </a:bodyPr>
            <a:lstStyle/>
            <a:p>
              <a:r>
                <a:rPr lang="en-GB" sz="3600" b="1" dirty="0">
                  <a:solidFill>
                    <a:srgbClr val="7030A0"/>
                  </a:solidFill>
                  <a:latin typeface="Consolas" panose="020B0609020204030204" pitchFamily="49" charset="0"/>
                </a:rPr>
                <a:t>Use brackets for clarity</a:t>
              </a:r>
              <a:endParaRPr lang="en-GB" sz="3600" b="1" dirty="0"/>
            </a:p>
          </p:txBody>
        </p:sp>
        <p:sp>
          <p:nvSpPr>
            <p:cNvPr id="4" name="Arrow: Bent-Up 3">
              <a:extLst>
                <a:ext uri="{FF2B5EF4-FFF2-40B4-BE49-F238E27FC236}">
                  <a16:creationId xmlns:a16="http://schemas.microsoft.com/office/drawing/2014/main" id="{30E87908-1EAB-4528-8776-4B1B0F4F6DF3}"/>
                </a:ext>
              </a:extLst>
            </p:cNvPr>
            <p:cNvSpPr/>
            <p:nvPr/>
          </p:nvSpPr>
          <p:spPr>
            <a:xfrm rot="16200000" flipH="1">
              <a:off x="9072575" y="2949601"/>
              <a:ext cx="1468256" cy="731520"/>
            </a:xfrm>
            <a:prstGeom prst="bentUpArrow">
              <a:avLst>
                <a:gd name="adj1" fmla="val 21753"/>
                <a:gd name="adj2" fmla="val 34740"/>
                <a:gd name="adj3" fmla="val 25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98872982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20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2500"/>
                                        <p:tgtEl>
                                          <p:spTgt spid="3">
                                            <p:txEl>
                                              <p:pRg st="2" end="2"/>
                                            </p:txEl>
                                          </p:spTgt>
                                        </p:tgtEl>
                                      </p:cBhvr>
                                    </p:animEffect>
                                  </p:childTnLst>
                                </p:cTn>
                              </p:par>
                            </p:childTnLst>
                          </p:cTn>
                        </p:par>
                        <p:par>
                          <p:cTn id="16" fill="hold">
                            <p:stCondLst>
                              <p:cond delay="5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2500"/>
                                        <p:tgtEl>
                                          <p:spTgt spid="3">
                                            <p:txEl>
                                              <p:pRg st="3" end="3"/>
                                            </p:txEl>
                                          </p:spTgt>
                                        </p:tgtEl>
                                      </p:cBhvr>
                                    </p:animEffect>
                                  </p:childTnLst>
                                </p:cTn>
                              </p:par>
                            </p:childTnLst>
                          </p:cTn>
                        </p:par>
                        <p:par>
                          <p:cTn id="20" fill="hold">
                            <p:stCondLst>
                              <p:cond delay="8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2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2">
                                            <p:txEl>
                                              <p:pRg st="0" end="0"/>
                                            </p:txEl>
                                          </p:spTgt>
                                        </p:tgtEl>
                                        <p:attrNameLst>
                                          <p:attrName>style.visibility</p:attrName>
                                        </p:attrNameLst>
                                      </p:cBhvr>
                                      <p:to>
                                        <p:strVal val="visible"/>
                                      </p:to>
                                    </p:set>
                                    <p:animEffect transition="in" filter="wipe(left)">
                                      <p:cBhvr>
                                        <p:cTn id="28" dur="2000"/>
                                        <p:tgtEl>
                                          <p:spTgt spid="12">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up)">
                                      <p:cBhvr>
                                        <p:cTn id="33"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build="p"/>
    </p:bldLst>
  </p:timing>
</p:sld>
</file>

<file path=ppt/slides/slide68.xml><?xml version="1.0" encoding="utf-8"?>
<p:sld xmlns:a="http://schemas.openxmlformats.org/drawingml/2006/main" xmlns:r="http://schemas.openxmlformats.org/officeDocument/2006/relationships" xmlns:p="http://schemas.openxmlformats.org/presentationml/2006/main" show="0">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Filter Results: Complex!</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colour</a:t>
            </a:r>
            <a:r>
              <a:rPr lang="en-US" altLang="en-US" sz="4400" dirty="0">
                <a:solidFill>
                  <a:srgbClr val="000000"/>
                </a:solidFill>
                <a:latin typeface="Consolas" panose="020B0609020204030204" pitchFamily="49" charset="0"/>
              </a:rPr>
              <a:t> = </a:t>
            </a:r>
            <a:r>
              <a:rPr lang="en-US" altLang="en-US" sz="4400" dirty="0">
                <a:solidFill>
                  <a:srgbClr val="183691"/>
                </a:solidFill>
                <a:latin typeface="Consolas" panose="020B0609020204030204" pitchFamily="49" charset="0"/>
              </a:rPr>
              <a:t>"Green"</a:t>
            </a:r>
            <a:endParaRPr lang="en-US" altLang="en-US" sz="44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4      </a:t>
            </a:r>
            <a:r>
              <a:rPr lang="en-US" altLang="en-US" sz="4400" dirty="0">
                <a:solidFill>
                  <a:srgbClr val="A71D5D"/>
                </a:solidFill>
                <a:latin typeface="Consolas" panose="020B0609020204030204" pitchFamily="49" charset="0"/>
              </a:rPr>
              <a:t>OR</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colour</a:t>
            </a:r>
            <a:r>
              <a:rPr lang="en-US" altLang="en-US" sz="4400" dirty="0">
                <a:solidFill>
                  <a:srgbClr val="000000"/>
                </a:solidFill>
                <a:latin typeface="Consolas" panose="020B0609020204030204" pitchFamily="49" charset="0"/>
              </a:rPr>
              <a:t> = </a:t>
            </a:r>
            <a:r>
              <a:rPr lang="en-US" altLang="en-US" sz="4400" dirty="0">
                <a:solidFill>
                  <a:srgbClr val="183691"/>
                </a:solidFill>
                <a:latin typeface="Consolas" panose="020B0609020204030204" pitchFamily="49" charset="0"/>
              </a:rPr>
              <a:t>"Violet"</a:t>
            </a:r>
            <a:r>
              <a:rPr lang="en-US" altLang="en-US" sz="44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5     </a:t>
            </a:r>
            <a:r>
              <a:rPr lang="en-US" altLang="en-US" sz="4400" dirty="0">
                <a:solidFill>
                  <a:srgbClr val="A71D5D"/>
                </a:solidFill>
                <a:latin typeface="Consolas" panose="020B0609020204030204" pitchFamily="49" charset="0"/>
              </a:rPr>
              <a:t>AND</a:t>
            </a:r>
            <a:r>
              <a:rPr lang="en-US" altLang="en-US" sz="4400" dirty="0">
                <a:solidFill>
                  <a:srgbClr val="000000"/>
                </a:solidFill>
                <a:latin typeface="Consolas" panose="020B0609020204030204" pitchFamily="49" charset="0"/>
              </a:rPr>
              <a:t> nice = </a:t>
            </a:r>
            <a:r>
              <a:rPr lang="en-US" altLang="en-US" sz="4400" dirty="0">
                <a:solidFill>
                  <a:srgbClr val="A71D5D"/>
                </a:solidFill>
                <a:latin typeface="Consolas" panose="020B0609020204030204" pitchFamily="49" charset="0"/>
              </a:rPr>
              <a:t>FALSE</a:t>
            </a:r>
            <a:r>
              <a:rPr lang="en-US" altLang="en-US" sz="44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6" name="TextBox 5">
            <a:extLst>
              <a:ext uri="{FF2B5EF4-FFF2-40B4-BE49-F238E27FC236}">
                <a16:creationId xmlns:a16="http://schemas.microsoft.com/office/drawing/2014/main" id="{1350B37A-7342-47C8-B677-C965C745D8E8}"/>
              </a:ext>
            </a:extLst>
          </p:cNvPr>
          <p:cNvSpPr txBox="1"/>
          <p:nvPr/>
        </p:nvSpPr>
        <p:spPr>
          <a:xfrm>
            <a:off x="1061648" y="5975354"/>
            <a:ext cx="10068718" cy="646331"/>
          </a:xfrm>
          <a:prstGeom prst="rect">
            <a:avLst/>
          </a:prstGeom>
          <a:noFill/>
        </p:spPr>
        <p:txBody>
          <a:bodyPr wrap="none" rtlCol="0">
            <a:spAutoFit/>
          </a:bodyPr>
          <a:lstStyle/>
          <a:p>
            <a:pPr algn="ctr"/>
            <a:r>
              <a:rPr lang="en-GB" sz="3600" dirty="0">
                <a:solidFill>
                  <a:srgbClr val="7030A0"/>
                </a:solidFill>
              </a:rPr>
              <a:t>If the               condition is              the row is displayed</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762284221"/>
      </p:ext>
    </p:extLst>
  </p:cSld>
  <p:clrMapOvr>
    <a:overrideClrMapping bg1="lt1" tx1="dk1" bg2="lt2" tx2="dk2" accent1="accent1" accent2="accent2" accent3="accent3" accent4="accent4" accent5="accent5" accent6="accent6" hlink="hlink" folHlink="folHlink"/>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2C154-DD93-ED6C-9F89-4C46E62AADD5}"/>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B4D7039D-DC4C-3007-1F96-6D1B58A2A3A3}"/>
              </a:ext>
            </a:extLst>
          </p:cNvPr>
          <p:cNvSpPr>
            <a:spLocks noGrp="1"/>
          </p:cNvSpPr>
          <p:nvPr>
            <p:ph type="title"/>
          </p:nvPr>
        </p:nvSpPr>
        <p:spPr/>
        <p:txBody>
          <a:bodyPr/>
          <a:lstStyle/>
          <a:p>
            <a:r>
              <a:rPr lang="en-GB" dirty="0"/>
              <a:t>Order of Operations (4)</a:t>
            </a:r>
          </a:p>
        </p:txBody>
      </p:sp>
      <p:sp>
        <p:nvSpPr>
          <p:cNvPr id="17" name="Pet - Text">
            <a:extLst>
              <a:ext uri="{FF2B5EF4-FFF2-40B4-BE49-F238E27FC236}">
                <a16:creationId xmlns:a16="http://schemas.microsoft.com/office/drawing/2014/main" id="{4CA12722-67FD-1D61-B738-175BB9CB27FD}"/>
              </a:ext>
            </a:extLst>
          </p:cNvPr>
          <p:cNvSpPr txBox="1"/>
          <p:nvPr/>
        </p:nvSpPr>
        <p:spPr>
          <a:xfrm>
            <a:off x="274510" y="3318733"/>
            <a:ext cx="1771650" cy="369332"/>
          </a:xfrm>
          <a:prstGeom prst="rect">
            <a:avLst/>
          </a:prstGeom>
          <a:noFill/>
        </p:spPr>
        <p:txBody>
          <a:bodyPr wrap="square" rtlCol="0">
            <a:spAutoFit/>
          </a:bodyPr>
          <a:lstStyle/>
          <a:p>
            <a:r>
              <a:rPr lang="en-GB" b="1" dirty="0"/>
              <a:t>Table: Pet</a:t>
            </a:r>
          </a:p>
        </p:txBody>
      </p:sp>
      <p:graphicFrame>
        <p:nvGraphicFramePr>
          <p:cNvPr id="22" name="Pet - Table">
            <a:extLst>
              <a:ext uri="{FF2B5EF4-FFF2-40B4-BE49-F238E27FC236}">
                <a16:creationId xmlns:a16="http://schemas.microsoft.com/office/drawing/2014/main" id="{F1277B78-8984-8B58-5C2E-EDE193CCEAA9}"/>
              </a:ext>
            </a:extLst>
          </p:cNvPr>
          <p:cNvGraphicFramePr>
            <a:graphicFrameLocks noGrp="1"/>
          </p:cNvGraphicFramePr>
          <p:nvPr>
            <p:extLst>
              <p:ext uri="{D42A27DB-BD31-4B8C-83A1-F6EECF244321}">
                <p14:modId xmlns:p14="http://schemas.microsoft.com/office/powerpoint/2010/main" val="4242883919"/>
              </p:ext>
            </p:extLst>
          </p:nvPr>
        </p:nvGraphicFramePr>
        <p:xfrm>
          <a:off x="360233" y="3639801"/>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7</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a:solidFill>
                            <a:schemeClr val="tx1"/>
                          </a:solidFill>
                          <a:effectLst/>
                        </a:rPr>
                        <a:t>Minnie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sp>
        <p:nvSpPr>
          <p:cNvPr id="6" name="SQL Statement">
            <a:extLst>
              <a:ext uri="{FF2B5EF4-FFF2-40B4-BE49-F238E27FC236}">
                <a16:creationId xmlns:a16="http://schemas.microsoft.com/office/drawing/2014/main" id="{BB3F14BF-DCE7-8211-AF0F-D5BAFB7215FB}"/>
              </a:ext>
            </a:extLst>
          </p:cNvPr>
          <p:cNvSpPr>
            <a:spLocks noChangeArrowheads="1"/>
          </p:cNvSpPr>
          <p:nvPr/>
        </p:nvSpPr>
        <p:spPr bwMode="auto">
          <a:xfrm>
            <a:off x="619125" y="1376445"/>
            <a:ext cx="328808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name, age</a:t>
            </a:r>
          </a:p>
          <a:p>
            <a:pPr lvl="0" eaLnBrk="0" fontAlgn="base" hangingPunct="0">
              <a:spcBef>
                <a:spcPct val="0"/>
              </a:spcBef>
              <a:spcAft>
                <a:spcPct val="0"/>
              </a:spcAft>
            </a:pPr>
            <a:r>
              <a:rPr lang="en-US" altLang="en-US" sz="2000" dirty="0">
                <a:solidFill>
                  <a:srgbClr val="B2B2B2"/>
                </a:solidFill>
                <a:latin typeface="Consolas" panose="020B0609020204030204" pitchFamily="49" charset="0"/>
              </a:rPr>
              <a:t>2 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FROM</a:t>
            </a:r>
            <a:r>
              <a:rPr lang="en-US" altLang="en-US" sz="2000" dirty="0">
                <a:solidFill>
                  <a:srgbClr val="000000"/>
                </a:solidFill>
                <a:latin typeface="Consolas" panose="020B0609020204030204" pitchFamily="49" charset="0"/>
              </a:rPr>
              <a:t> Pet</a:t>
            </a:r>
            <a:endParaRPr lang="en-US" altLang="en-US" sz="2000" dirty="0">
              <a:solidFill>
                <a:srgbClr val="B2B2B2"/>
              </a:solidFill>
              <a:latin typeface="Consolas" panose="020B0609020204030204" pitchFamily="49" charset="0"/>
            </a:endParaRPr>
          </a:p>
          <a:p>
            <a:pPr eaLnBrk="0" fontAlgn="base" hangingPunct="0">
              <a:spcBef>
                <a:spcPct val="0"/>
              </a:spcBef>
              <a:spcAft>
                <a:spcPct val="0"/>
              </a:spcAft>
            </a:pPr>
            <a:r>
              <a:rPr lang="en-US" altLang="en-US" sz="2000" dirty="0">
                <a:solidFill>
                  <a:srgbClr val="B2B2B2"/>
                </a:solidFill>
                <a:latin typeface="Consolas" panose="020B0609020204030204" pitchFamily="49" charset="0"/>
              </a:rPr>
              <a:t>3 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WHERE</a:t>
            </a:r>
            <a:r>
              <a:rPr lang="en-US" altLang="en-US" sz="2000" dirty="0">
                <a:solidFill>
                  <a:srgbClr val="000000"/>
                </a:solidFill>
                <a:latin typeface="Consolas" panose="020B0609020204030204" pitchFamily="49" charset="0"/>
              </a:rPr>
              <a:t> type = "</a:t>
            </a:r>
            <a:r>
              <a:rPr lang="en-US" altLang="en-US" sz="2000" dirty="0">
                <a:solidFill>
                  <a:srgbClr val="183691"/>
                </a:solidFill>
                <a:latin typeface="Consolas" panose="020B0609020204030204" pitchFamily="49" charset="0"/>
              </a:rPr>
              <a:t>Cat</a:t>
            </a:r>
            <a:r>
              <a:rPr lang="en-US" altLang="en-US" sz="2000" dirty="0">
                <a:solidFill>
                  <a:srgbClr val="000000"/>
                </a:solidFill>
                <a:latin typeface="Consolas" panose="020B0609020204030204" pitchFamily="49" charset="0"/>
              </a:rPr>
              <a:t>"</a:t>
            </a:r>
          </a:p>
          <a:p>
            <a:pPr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4 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AND </a:t>
            </a:r>
            <a:r>
              <a:rPr lang="en-US" altLang="en-US" sz="2000" dirty="0">
                <a:solidFill>
                  <a:srgbClr val="000000"/>
                </a:solidFill>
                <a:latin typeface="Consolas" panose="020B0609020204030204" pitchFamily="49" charset="0"/>
              </a:rPr>
              <a:t>age &lt; </a:t>
            </a:r>
            <a:r>
              <a:rPr lang="en-US" altLang="en-US" sz="2000" dirty="0">
                <a:solidFill>
                  <a:srgbClr val="0086B3"/>
                </a:solidFill>
                <a:latin typeface="Consolas" panose="020B0609020204030204" pitchFamily="49" charset="0"/>
              </a:rPr>
              <a:t>10</a:t>
            </a:r>
          </a:p>
          <a:p>
            <a:pPr eaLnBrk="0" fontAlgn="base" hangingPunct="0">
              <a:spcBef>
                <a:spcPct val="0"/>
              </a:spcBef>
              <a:spcAft>
                <a:spcPct val="0"/>
              </a:spcAft>
            </a:pPr>
            <a:r>
              <a:rPr lang="en-US" altLang="en-US" sz="2000" dirty="0">
                <a:solidFill>
                  <a:srgbClr val="B2B2B2"/>
                </a:solidFill>
                <a:latin typeface="Consolas" panose="020B0609020204030204" pitchFamily="49" charset="0"/>
              </a:rPr>
              <a:t>5 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ORDER BY</a:t>
            </a:r>
            <a:r>
              <a:rPr lang="en-US" altLang="en-US" sz="2000" dirty="0">
                <a:solidFill>
                  <a:srgbClr val="000000"/>
                </a:solidFill>
                <a:latin typeface="Consolas" panose="020B0609020204030204" pitchFamily="49" charset="0"/>
              </a:rPr>
              <a:t> name </a:t>
            </a:r>
            <a:r>
              <a:rPr lang="en-US" altLang="en-US" sz="2000" dirty="0">
                <a:solidFill>
                  <a:srgbClr val="A71D5D"/>
                </a:solidFill>
                <a:latin typeface="Consolas" panose="020B0609020204030204" pitchFamily="49" charset="0"/>
              </a:rPr>
              <a:t>ASC</a:t>
            </a:r>
            <a:r>
              <a:rPr lang="en-US" altLang="en-US" sz="2000" dirty="0">
                <a:solidFill>
                  <a:srgbClr val="000000"/>
                </a:solidFill>
                <a:latin typeface="Consolas" panose="020B0609020204030204" pitchFamily="49" charset="0"/>
              </a:rPr>
              <a:t>;</a:t>
            </a:r>
            <a:endParaRPr lang="en-US" altLang="en-US" sz="2000" dirty="0">
              <a:latin typeface="Consolas" panose="020B0609020204030204" pitchFamily="49" charset="0"/>
            </a:endParaRPr>
          </a:p>
        </p:txBody>
      </p:sp>
      <p:sp>
        <p:nvSpPr>
          <p:cNvPr id="19" name="Order of Operations">
            <a:extLst>
              <a:ext uri="{FF2B5EF4-FFF2-40B4-BE49-F238E27FC236}">
                <a16:creationId xmlns:a16="http://schemas.microsoft.com/office/drawing/2014/main" id="{9AB8BED7-3D03-6733-7EEB-905B6A695BC7}"/>
              </a:ext>
            </a:extLst>
          </p:cNvPr>
          <p:cNvSpPr txBox="1"/>
          <p:nvPr/>
        </p:nvSpPr>
        <p:spPr>
          <a:xfrm>
            <a:off x="8794761" y="599622"/>
            <a:ext cx="2590417" cy="2246769"/>
          </a:xfrm>
          <a:prstGeom prst="rect">
            <a:avLst/>
          </a:prstGeom>
          <a:noFill/>
        </p:spPr>
        <p:txBody>
          <a:bodyPr wrap="square" rtlCol="0">
            <a:spAutoFit/>
          </a:bodyPr>
          <a:lstStyle/>
          <a:p>
            <a:r>
              <a:rPr lang="en-GB" sz="2800" b="1" dirty="0">
                <a:solidFill>
                  <a:srgbClr val="7030A0"/>
                </a:solidFill>
              </a:rPr>
              <a:t>Order</a:t>
            </a:r>
            <a:r>
              <a:rPr lang="en-GB" sz="2800" dirty="0">
                <a:solidFill>
                  <a:srgbClr val="7030A0"/>
                </a:solidFill>
              </a:rPr>
              <a:t>:</a:t>
            </a:r>
          </a:p>
          <a:p>
            <a:pPr lvl="1"/>
            <a:r>
              <a:rPr lang="en-GB" sz="2800" dirty="0">
                <a:solidFill>
                  <a:srgbClr val="7030A0"/>
                </a:solidFill>
              </a:rPr>
              <a:t>1.  FROM</a:t>
            </a:r>
          </a:p>
          <a:p>
            <a:pPr lvl="1"/>
            <a:r>
              <a:rPr lang="en-GB" sz="2800" dirty="0">
                <a:solidFill>
                  <a:srgbClr val="7030A0"/>
                </a:solidFill>
              </a:rPr>
              <a:t>2.  WHERE</a:t>
            </a:r>
          </a:p>
          <a:p>
            <a:pPr lvl="1"/>
            <a:r>
              <a:rPr lang="en-GB" sz="2800" dirty="0">
                <a:solidFill>
                  <a:srgbClr val="7030A0"/>
                </a:solidFill>
              </a:rPr>
              <a:t>3.  SELECT</a:t>
            </a:r>
          </a:p>
          <a:p>
            <a:pPr lvl="1"/>
            <a:r>
              <a:rPr lang="en-GB" sz="2800" dirty="0">
                <a:solidFill>
                  <a:srgbClr val="7030A0"/>
                </a:solidFill>
              </a:rPr>
              <a:t>4.  ORDER BY</a:t>
            </a:r>
          </a:p>
        </p:txBody>
      </p:sp>
      <p:sp>
        <p:nvSpPr>
          <p:cNvPr id="31" name="SELECT - Arrow - SQL">
            <a:extLst>
              <a:ext uri="{FF2B5EF4-FFF2-40B4-BE49-F238E27FC236}">
                <a16:creationId xmlns:a16="http://schemas.microsoft.com/office/drawing/2014/main" id="{B4BBE812-EAF4-B48F-6791-443B03AA852A}"/>
              </a:ext>
            </a:extLst>
          </p:cNvPr>
          <p:cNvSpPr/>
          <p:nvPr/>
        </p:nvSpPr>
        <p:spPr>
          <a:xfrm>
            <a:off x="154555" y="1430188"/>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FROM - Arrow - SQL">
            <a:extLst>
              <a:ext uri="{FF2B5EF4-FFF2-40B4-BE49-F238E27FC236}">
                <a16:creationId xmlns:a16="http://schemas.microsoft.com/office/drawing/2014/main" id="{E57C248C-DECA-445B-3777-559FD76E0471}"/>
              </a:ext>
            </a:extLst>
          </p:cNvPr>
          <p:cNvSpPr/>
          <p:nvPr/>
        </p:nvSpPr>
        <p:spPr>
          <a:xfrm>
            <a:off x="154555" y="1757431"/>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WHERE - Arrow - SQL">
            <a:extLst>
              <a:ext uri="{FF2B5EF4-FFF2-40B4-BE49-F238E27FC236}">
                <a16:creationId xmlns:a16="http://schemas.microsoft.com/office/drawing/2014/main" id="{87DF93C4-BB49-2411-07A1-6DBE208A0AFD}"/>
              </a:ext>
            </a:extLst>
          </p:cNvPr>
          <p:cNvSpPr/>
          <p:nvPr/>
        </p:nvSpPr>
        <p:spPr>
          <a:xfrm>
            <a:off x="154555" y="2048611"/>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RDER BY - Arrow - SQL">
            <a:extLst>
              <a:ext uri="{FF2B5EF4-FFF2-40B4-BE49-F238E27FC236}">
                <a16:creationId xmlns:a16="http://schemas.microsoft.com/office/drawing/2014/main" id="{27507C8B-6A72-4468-91DA-42267C8E3EE3}"/>
              </a:ext>
            </a:extLst>
          </p:cNvPr>
          <p:cNvSpPr/>
          <p:nvPr/>
        </p:nvSpPr>
        <p:spPr>
          <a:xfrm>
            <a:off x="163554" y="2654071"/>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OM - Text">
            <a:extLst>
              <a:ext uri="{FF2B5EF4-FFF2-40B4-BE49-F238E27FC236}">
                <a16:creationId xmlns:a16="http://schemas.microsoft.com/office/drawing/2014/main" id="{78B64078-CD33-E0CF-944C-B2B88EB38B02}"/>
              </a:ext>
            </a:extLst>
          </p:cNvPr>
          <p:cNvSpPr txBox="1"/>
          <p:nvPr/>
        </p:nvSpPr>
        <p:spPr>
          <a:xfrm>
            <a:off x="2260813" y="3138992"/>
            <a:ext cx="850960" cy="369332"/>
          </a:xfrm>
          <a:prstGeom prst="rect">
            <a:avLst/>
          </a:prstGeom>
          <a:noFill/>
        </p:spPr>
        <p:txBody>
          <a:bodyPr wrap="square" rtlCol="0">
            <a:spAutoFit/>
          </a:bodyPr>
          <a:lstStyle/>
          <a:p>
            <a:r>
              <a:rPr lang="en-GB" b="1" dirty="0"/>
              <a:t>FROM</a:t>
            </a:r>
          </a:p>
        </p:txBody>
      </p:sp>
      <p:sp>
        <p:nvSpPr>
          <p:cNvPr id="26" name="WHERE - Arrow - Left">
            <a:extLst>
              <a:ext uri="{FF2B5EF4-FFF2-40B4-BE49-F238E27FC236}">
                <a16:creationId xmlns:a16="http://schemas.microsoft.com/office/drawing/2014/main" id="{1A22687F-9CC3-77DA-888E-EB02C1FDEFA4}"/>
              </a:ext>
            </a:extLst>
          </p:cNvPr>
          <p:cNvSpPr/>
          <p:nvPr/>
        </p:nvSpPr>
        <p:spPr>
          <a:xfrm>
            <a:off x="2420059" y="4007157"/>
            <a:ext cx="464567" cy="2160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3" name="WHERE - Table">
            <a:extLst>
              <a:ext uri="{FF2B5EF4-FFF2-40B4-BE49-F238E27FC236}">
                <a16:creationId xmlns:a16="http://schemas.microsoft.com/office/drawing/2014/main" id="{DA0004D0-54C5-7FE3-495E-2E40E17F56E7}"/>
              </a:ext>
            </a:extLst>
          </p:cNvPr>
          <p:cNvGraphicFramePr>
            <a:graphicFrameLocks noGrp="1"/>
          </p:cNvGraphicFramePr>
          <p:nvPr>
            <p:extLst>
              <p:ext uri="{D42A27DB-BD31-4B8C-83A1-F6EECF244321}">
                <p14:modId xmlns:p14="http://schemas.microsoft.com/office/powerpoint/2010/main" val="4211868279"/>
              </p:ext>
            </p:extLst>
          </p:nvPr>
        </p:nvGraphicFramePr>
        <p:xfrm>
          <a:off x="2903217" y="3639801"/>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Pepper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rPr>
                        <a:t>Snowy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9</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sp>
        <p:nvSpPr>
          <p:cNvPr id="37" name="WHERE - Text">
            <a:extLst>
              <a:ext uri="{FF2B5EF4-FFF2-40B4-BE49-F238E27FC236}">
                <a16:creationId xmlns:a16="http://schemas.microsoft.com/office/drawing/2014/main" id="{4655A23E-6F0D-4644-8D1D-8ACA1DC5679D}"/>
              </a:ext>
            </a:extLst>
          </p:cNvPr>
          <p:cNvSpPr txBox="1"/>
          <p:nvPr/>
        </p:nvSpPr>
        <p:spPr>
          <a:xfrm>
            <a:off x="4039692" y="2895292"/>
            <a:ext cx="908750" cy="369332"/>
          </a:xfrm>
          <a:prstGeom prst="rect">
            <a:avLst/>
          </a:prstGeom>
          <a:noFill/>
        </p:spPr>
        <p:txBody>
          <a:bodyPr wrap="square" rtlCol="0">
            <a:spAutoFit/>
          </a:bodyPr>
          <a:lstStyle/>
          <a:p>
            <a:pPr algn="ctr"/>
            <a:r>
              <a:rPr lang="en-GB" b="1" dirty="0"/>
              <a:t>WHERE</a:t>
            </a:r>
          </a:p>
        </p:txBody>
      </p:sp>
      <p:cxnSp>
        <p:nvCxnSpPr>
          <p:cNvPr id="51" name="WHERE - Arrow - Type">
            <a:extLst>
              <a:ext uri="{FF2B5EF4-FFF2-40B4-BE49-F238E27FC236}">
                <a16:creationId xmlns:a16="http://schemas.microsoft.com/office/drawing/2014/main" id="{B2D81B2D-4987-42CA-8D6D-43906A2EC175}"/>
              </a:ext>
            </a:extLst>
          </p:cNvPr>
          <p:cNvCxnSpPr>
            <a:cxnSpLocks/>
            <a:stCxn id="37" idx="2"/>
          </p:cNvCxnSpPr>
          <p:nvPr/>
        </p:nvCxnSpPr>
        <p:spPr>
          <a:xfrm flipH="1">
            <a:off x="4195656" y="3264624"/>
            <a:ext cx="298411" cy="362872"/>
          </a:xfrm>
          <a:prstGeom prst="straightConnector1">
            <a:avLst/>
          </a:prstGeom>
          <a:ln w="28575">
            <a:solidFill>
              <a:srgbClr val="FFFF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2" name="WHERE - Arrow - Age">
            <a:extLst>
              <a:ext uri="{FF2B5EF4-FFF2-40B4-BE49-F238E27FC236}">
                <a16:creationId xmlns:a16="http://schemas.microsoft.com/office/drawing/2014/main" id="{9333E855-31ED-4E6B-82EC-DCA7F6CBC7F6}"/>
              </a:ext>
            </a:extLst>
          </p:cNvPr>
          <p:cNvCxnSpPr>
            <a:cxnSpLocks/>
            <a:stCxn id="37" idx="2"/>
          </p:cNvCxnSpPr>
          <p:nvPr/>
        </p:nvCxnSpPr>
        <p:spPr>
          <a:xfrm>
            <a:off x="4494067" y="3264624"/>
            <a:ext cx="209327" cy="362872"/>
          </a:xfrm>
          <a:prstGeom prst="straightConnector1">
            <a:avLst/>
          </a:prstGeom>
          <a:ln w="28575">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49" name="Pepper - Yellow">
            <a:extLst>
              <a:ext uri="{FF2B5EF4-FFF2-40B4-BE49-F238E27FC236}">
                <a16:creationId xmlns:a16="http://schemas.microsoft.com/office/drawing/2014/main" id="{8E30FF34-BC35-4A8B-A41B-A0E7794E8E93}"/>
              </a:ext>
            </a:extLst>
          </p:cNvPr>
          <p:cNvSpPr/>
          <p:nvPr/>
        </p:nvSpPr>
        <p:spPr>
          <a:xfrm>
            <a:off x="3713567" y="3986027"/>
            <a:ext cx="788106" cy="294526"/>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Snowy - Yellow">
            <a:extLst>
              <a:ext uri="{FF2B5EF4-FFF2-40B4-BE49-F238E27FC236}">
                <a16:creationId xmlns:a16="http://schemas.microsoft.com/office/drawing/2014/main" id="{BFF977AB-31E8-4CF0-AC67-B3BA3353BB9D}"/>
              </a:ext>
            </a:extLst>
          </p:cNvPr>
          <p:cNvSpPr/>
          <p:nvPr/>
        </p:nvSpPr>
        <p:spPr>
          <a:xfrm>
            <a:off x="3715666" y="4617463"/>
            <a:ext cx="788105"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Snowy - Purple">
            <a:extLst>
              <a:ext uri="{FF2B5EF4-FFF2-40B4-BE49-F238E27FC236}">
                <a16:creationId xmlns:a16="http://schemas.microsoft.com/office/drawing/2014/main" id="{6EE97270-3EB8-4AD7-8307-1840358483FD}"/>
              </a:ext>
            </a:extLst>
          </p:cNvPr>
          <p:cNvSpPr/>
          <p:nvPr/>
        </p:nvSpPr>
        <p:spPr>
          <a:xfrm>
            <a:off x="4511470" y="4616304"/>
            <a:ext cx="432901" cy="312791"/>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Snowy - Row">
            <a:extLst>
              <a:ext uri="{FF2B5EF4-FFF2-40B4-BE49-F238E27FC236}">
                <a16:creationId xmlns:a16="http://schemas.microsoft.com/office/drawing/2014/main" id="{83271580-F433-4F4F-8561-2DA25E02F2D3}"/>
              </a:ext>
            </a:extLst>
          </p:cNvPr>
          <p:cNvSpPr/>
          <p:nvPr/>
        </p:nvSpPr>
        <p:spPr>
          <a:xfrm>
            <a:off x="2852577" y="4620397"/>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Kitty - Yellow">
            <a:extLst>
              <a:ext uri="{FF2B5EF4-FFF2-40B4-BE49-F238E27FC236}">
                <a16:creationId xmlns:a16="http://schemas.microsoft.com/office/drawing/2014/main" id="{9B7BDE56-4A4F-4D90-B635-8437BD30F9B3}"/>
              </a:ext>
            </a:extLst>
          </p:cNvPr>
          <p:cNvSpPr/>
          <p:nvPr/>
        </p:nvSpPr>
        <p:spPr>
          <a:xfrm>
            <a:off x="3715667" y="5583557"/>
            <a:ext cx="785649"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Kitty - Purple">
            <a:extLst>
              <a:ext uri="{FF2B5EF4-FFF2-40B4-BE49-F238E27FC236}">
                <a16:creationId xmlns:a16="http://schemas.microsoft.com/office/drawing/2014/main" id="{9475256E-05FD-409B-9B61-B36D8E8FAE33}"/>
              </a:ext>
            </a:extLst>
          </p:cNvPr>
          <p:cNvSpPr/>
          <p:nvPr/>
        </p:nvSpPr>
        <p:spPr>
          <a:xfrm>
            <a:off x="4508178" y="5591177"/>
            <a:ext cx="432000" cy="312791"/>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Kitty - Row">
            <a:extLst>
              <a:ext uri="{FF2B5EF4-FFF2-40B4-BE49-F238E27FC236}">
                <a16:creationId xmlns:a16="http://schemas.microsoft.com/office/drawing/2014/main" id="{02B25370-6891-4B68-8B6D-5A83B5C508E4}"/>
              </a:ext>
            </a:extLst>
          </p:cNvPr>
          <p:cNvSpPr/>
          <p:nvPr/>
        </p:nvSpPr>
        <p:spPr>
          <a:xfrm>
            <a:off x="2852576" y="5584027"/>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SELECT - Arrow">
            <a:extLst>
              <a:ext uri="{FF2B5EF4-FFF2-40B4-BE49-F238E27FC236}">
                <a16:creationId xmlns:a16="http://schemas.microsoft.com/office/drawing/2014/main" id="{12735B52-F70C-8511-82FF-DD98CDFED39E}"/>
              </a:ext>
            </a:extLst>
          </p:cNvPr>
          <p:cNvSpPr/>
          <p:nvPr/>
        </p:nvSpPr>
        <p:spPr>
          <a:xfrm>
            <a:off x="4962641" y="4007157"/>
            <a:ext cx="464567" cy="2160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SELECT - Text">
            <a:extLst>
              <a:ext uri="{FF2B5EF4-FFF2-40B4-BE49-F238E27FC236}">
                <a16:creationId xmlns:a16="http://schemas.microsoft.com/office/drawing/2014/main" id="{1A04EDAE-5F98-49A8-AA3B-FEA2F8FF27D5}"/>
              </a:ext>
            </a:extLst>
          </p:cNvPr>
          <p:cNvSpPr txBox="1"/>
          <p:nvPr/>
        </p:nvSpPr>
        <p:spPr>
          <a:xfrm>
            <a:off x="6180411" y="2918110"/>
            <a:ext cx="850960" cy="369332"/>
          </a:xfrm>
          <a:prstGeom prst="rect">
            <a:avLst/>
          </a:prstGeom>
          <a:noFill/>
        </p:spPr>
        <p:txBody>
          <a:bodyPr wrap="square" rtlCol="0">
            <a:spAutoFit/>
          </a:bodyPr>
          <a:lstStyle/>
          <a:p>
            <a:pPr algn="ctr"/>
            <a:r>
              <a:rPr lang="en-GB" b="1" dirty="0"/>
              <a:t>SELECT</a:t>
            </a:r>
          </a:p>
        </p:txBody>
      </p:sp>
      <p:graphicFrame>
        <p:nvGraphicFramePr>
          <p:cNvPr id="62" name="SELECT - Table">
            <a:extLst>
              <a:ext uri="{FF2B5EF4-FFF2-40B4-BE49-F238E27FC236}">
                <a16:creationId xmlns:a16="http://schemas.microsoft.com/office/drawing/2014/main" id="{2B9122F8-6167-4D85-A839-C4D5DBB12F55}"/>
              </a:ext>
            </a:extLst>
          </p:cNvPr>
          <p:cNvGraphicFramePr>
            <a:graphicFrameLocks noGrp="1"/>
          </p:cNvGraphicFramePr>
          <p:nvPr>
            <p:extLst>
              <p:ext uri="{D42A27DB-BD31-4B8C-83A1-F6EECF244321}">
                <p14:modId xmlns:p14="http://schemas.microsoft.com/office/powerpoint/2010/main" val="604546246"/>
              </p:ext>
            </p:extLst>
          </p:nvPr>
        </p:nvGraphicFramePr>
        <p:xfrm>
          <a:off x="5465929" y="3632872"/>
          <a:ext cx="2042287" cy="9715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Snowy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7</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rPr>
                        <a:t>Kitty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9</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bl>
          </a:graphicData>
        </a:graphic>
      </p:graphicFrame>
      <p:cxnSp>
        <p:nvCxnSpPr>
          <p:cNvPr id="71" name="SELECT - Arrow -  Name">
            <a:extLst>
              <a:ext uri="{FF2B5EF4-FFF2-40B4-BE49-F238E27FC236}">
                <a16:creationId xmlns:a16="http://schemas.microsoft.com/office/drawing/2014/main" id="{5EFE38C2-8439-4C5F-9F74-44013184CA32}"/>
              </a:ext>
            </a:extLst>
          </p:cNvPr>
          <p:cNvCxnSpPr>
            <a:cxnSpLocks/>
            <a:stCxn id="63" idx="1"/>
            <a:endCxn id="76" idx="0"/>
          </p:cNvCxnSpPr>
          <p:nvPr/>
        </p:nvCxnSpPr>
        <p:spPr>
          <a:xfrm flipH="1">
            <a:off x="5844478" y="3102776"/>
            <a:ext cx="335933" cy="49605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ELECT - Arrow -  Age">
            <a:extLst>
              <a:ext uri="{FF2B5EF4-FFF2-40B4-BE49-F238E27FC236}">
                <a16:creationId xmlns:a16="http://schemas.microsoft.com/office/drawing/2014/main" id="{CB1B2BAC-3D1A-47A0-875C-8C332C63A9A8}"/>
              </a:ext>
            </a:extLst>
          </p:cNvPr>
          <p:cNvCxnSpPr>
            <a:cxnSpLocks/>
            <a:stCxn id="63" idx="3"/>
            <a:endCxn id="75" idx="0"/>
          </p:cNvCxnSpPr>
          <p:nvPr/>
        </p:nvCxnSpPr>
        <p:spPr>
          <a:xfrm>
            <a:off x="7031371" y="3102776"/>
            <a:ext cx="245820" cy="49605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6" name="SEELCT - Name - Column">
            <a:extLst>
              <a:ext uri="{FF2B5EF4-FFF2-40B4-BE49-F238E27FC236}">
                <a16:creationId xmlns:a16="http://schemas.microsoft.com/office/drawing/2014/main" id="{6EEFB8EA-38EB-40F0-ACDB-32F4A15C8012}"/>
              </a:ext>
            </a:extLst>
          </p:cNvPr>
          <p:cNvSpPr/>
          <p:nvPr/>
        </p:nvSpPr>
        <p:spPr>
          <a:xfrm>
            <a:off x="5448478" y="3598828"/>
            <a:ext cx="792000" cy="10440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SELECT - Age - Column">
            <a:extLst>
              <a:ext uri="{FF2B5EF4-FFF2-40B4-BE49-F238E27FC236}">
                <a16:creationId xmlns:a16="http://schemas.microsoft.com/office/drawing/2014/main" id="{C0AD6763-50D9-4E2A-B402-55C2BB0C7BE6}"/>
              </a:ext>
            </a:extLst>
          </p:cNvPr>
          <p:cNvSpPr/>
          <p:nvPr/>
        </p:nvSpPr>
        <p:spPr>
          <a:xfrm>
            <a:off x="7043191" y="3598829"/>
            <a:ext cx="468000" cy="10440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RDER BY - Arrow">
            <a:extLst>
              <a:ext uri="{FF2B5EF4-FFF2-40B4-BE49-F238E27FC236}">
                <a16:creationId xmlns:a16="http://schemas.microsoft.com/office/drawing/2014/main" id="{41B03BC3-B622-38BA-3963-2997C3543829}"/>
              </a:ext>
            </a:extLst>
          </p:cNvPr>
          <p:cNvSpPr/>
          <p:nvPr/>
        </p:nvSpPr>
        <p:spPr>
          <a:xfrm>
            <a:off x="7533547" y="3956710"/>
            <a:ext cx="464567" cy="2160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34" name="ORDER BY - Table">
            <a:extLst>
              <a:ext uri="{FF2B5EF4-FFF2-40B4-BE49-F238E27FC236}">
                <a16:creationId xmlns:a16="http://schemas.microsoft.com/office/drawing/2014/main" id="{E0BBC3ED-5980-4555-A8A3-099E898A9ACE}"/>
              </a:ext>
            </a:extLst>
          </p:cNvPr>
          <p:cNvGraphicFramePr>
            <a:graphicFrameLocks noGrp="1"/>
          </p:cNvGraphicFramePr>
          <p:nvPr>
            <p:extLst>
              <p:ext uri="{D42A27DB-BD31-4B8C-83A1-F6EECF244321}">
                <p14:modId xmlns:p14="http://schemas.microsoft.com/office/powerpoint/2010/main" val="3383287365"/>
              </p:ext>
            </p:extLst>
          </p:nvPr>
        </p:nvGraphicFramePr>
        <p:xfrm>
          <a:off x="8039726" y="3632651"/>
          <a:ext cx="2042287" cy="9715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Kitty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9</a:t>
                      </a: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Snowy</a:t>
                      </a: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7</a:t>
                      </a:r>
                    </a:p>
                  </a:txBody>
                  <a:tcPr marL="9525" marR="9525" marT="9525" marB="9525" anchor="ctr"/>
                </a:tc>
                <a:extLst>
                  <a:ext uri="{0D108BD9-81ED-4DB2-BD59-A6C34878D82A}">
                    <a16:rowId xmlns:a16="http://schemas.microsoft.com/office/drawing/2014/main" val="3759566993"/>
                  </a:ext>
                </a:extLst>
              </a:tr>
            </a:tbl>
          </a:graphicData>
        </a:graphic>
      </p:graphicFrame>
      <p:sp>
        <p:nvSpPr>
          <p:cNvPr id="39" name="ORDER BY - Name - Column">
            <a:extLst>
              <a:ext uri="{FF2B5EF4-FFF2-40B4-BE49-F238E27FC236}">
                <a16:creationId xmlns:a16="http://schemas.microsoft.com/office/drawing/2014/main" id="{06443A74-850B-4B68-B57B-3EBF9399648C}"/>
              </a:ext>
            </a:extLst>
          </p:cNvPr>
          <p:cNvSpPr/>
          <p:nvPr/>
        </p:nvSpPr>
        <p:spPr>
          <a:xfrm>
            <a:off x="8022275" y="3598607"/>
            <a:ext cx="792000" cy="10440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RDER BY - Age - Column">
            <a:extLst>
              <a:ext uri="{FF2B5EF4-FFF2-40B4-BE49-F238E27FC236}">
                <a16:creationId xmlns:a16="http://schemas.microsoft.com/office/drawing/2014/main" id="{83B5CED2-59DA-499C-8C7B-D1D61E8D6792}"/>
              </a:ext>
            </a:extLst>
          </p:cNvPr>
          <p:cNvSpPr/>
          <p:nvPr/>
        </p:nvSpPr>
        <p:spPr>
          <a:xfrm>
            <a:off x="9616988" y="3598608"/>
            <a:ext cx="468000" cy="10440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ORDER BY - Text">
            <a:extLst>
              <a:ext uri="{FF2B5EF4-FFF2-40B4-BE49-F238E27FC236}">
                <a16:creationId xmlns:a16="http://schemas.microsoft.com/office/drawing/2014/main" id="{92C33A5A-F732-4833-95E5-AEA73B84F742}"/>
              </a:ext>
            </a:extLst>
          </p:cNvPr>
          <p:cNvSpPr txBox="1"/>
          <p:nvPr/>
        </p:nvSpPr>
        <p:spPr>
          <a:xfrm>
            <a:off x="5270782" y="5150435"/>
            <a:ext cx="1147392" cy="369332"/>
          </a:xfrm>
          <a:prstGeom prst="rect">
            <a:avLst/>
          </a:prstGeom>
          <a:noFill/>
        </p:spPr>
        <p:txBody>
          <a:bodyPr wrap="square" rtlCol="0">
            <a:spAutoFit/>
          </a:bodyPr>
          <a:lstStyle/>
          <a:p>
            <a:pPr algn="ctr"/>
            <a:r>
              <a:rPr lang="en-GB" b="1" dirty="0"/>
              <a:t>ORDER BY</a:t>
            </a:r>
          </a:p>
        </p:txBody>
      </p:sp>
      <p:sp>
        <p:nvSpPr>
          <p:cNvPr id="50" name="ORDER BY - Arrow">
            <a:extLst>
              <a:ext uri="{FF2B5EF4-FFF2-40B4-BE49-F238E27FC236}">
                <a16:creationId xmlns:a16="http://schemas.microsoft.com/office/drawing/2014/main" id="{C1F0A221-96ED-45E7-B859-646BBC60627E}"/>
              </a:ext>
            </a:extLst>
          </p:cNvPr>
          <p:cNvSpPr/>
          <p:nvPr/>
        </p:nvSpPr>
        <p:spPr>
          <a:xfrm rot="16200000">
            <a:off x="5612195" y="4695095"/>
            <a:ext cx="464567" cy="46799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2" name="Output - Text">
            <a:extLst>
              <a:ext uri="{FF2B5EF4-FFF2-40B4-BE49-F238E27FC236}">
                <a16:creationId xmlns:a16="http://schemas.microsoft.com/office/drawing/2014/main" id="{12D80B6F-5F24-F5D0-D320-08DA8E3B3394}"/>
              </a:ext>
            </a:extLst>
          </p:cNvPr>
          <p:cNvSpPr txBox="1"/>
          <p:nvPr/>
        </p:nvSpPr>
        <p:spPr>
          <a:xfrm>
            <a:off x="9861060" y="3134067"/>
            <a:ext cx="960176" cy="369332"/>
          </a:xfrm>
          <a:prstGeom prst="rect">
            <a:avLst/>
          </a:prstGeom>
          <a:noFill/>
        </p:spPr>
        <p:txBody>
          <a:bodyPr wrap="square" rtlCol="0">
            <a:spAutoFit/>
          </a:bodyPr>
          <a:lstStyle/>
          <a:p>
            <a:pPr algn="ctr"/>
            <a:r>
              <a:rPr lang="en-GB" b="1" dirty="0"/>
              <a:t>Output</a:t>
            </a:r>
          </a:p>
        </p:txBody>
      </p:sp>
      <p:sp>
        <p:nvSpPr>
          <p:cNvPr id="40" name="Output - Arrow">
            <a:extLst>
              <a:ext uri="{FF2B5EF4-FFF2-40B4-BE49-F238E27FC236}">
                <a16:creationId xmlns:a16="http://schemas.microsoft.com/office/drawing/2014/main" id="{3B5A7066-A7FC-4D8E-A7A4-C42F5958AFC7}"/>
              </a:ext>
            </a:extLst>
          </p:cNvPr>
          <p:cNvSpPr/>
          <p:nvPr/>
        </p:nvSpPr>
        <p:spPr>
          <a:xfrm>
            <a:off x="10102480" y="3956710"/>
            <a:ext cx="464567" cy="2160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 name="Output - Table">
            <a:extLst>
              <a:ext uri="{FF2B5EF4-FFF2-40B4-BE49-F238E27FC236}">
                <a16:creationId xmlns:a16="http://schemas.microsoft.com/office/drawing/2014/main" id="{23E04685-FE2C-E794-0AD6-95692BED2BED}"/>
              </a:ext>
            </a:extLst>
          </p:cNvPr>
          <p:cNvGraphicFramePr>
            <a:graphicFrameLocks noGrp="1"/>
          </p:cNvGraphicFramePr>
          <p:nvPr>
            <p:extLst>
              <p:ext uri="{D42A27DB-BD31-4B8C-83A1-F6EECF244321}">
                <p14:modId xmlns:p14="http://schemas.microsoft.com/office/powerpoint/2010/main" val="1798606384"/>
              </p:ext>
            </p:extLst>
          </p:nvPr>
        </p:nvGraphicFramePr>
        <p:xfrm>
          <a:off x="10590566" y="3605759"/>
          <a:ext cx="1254887" cy="9715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Kitty</a:t>
                      </a: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9</a:t>
                      </a:r>
                    </a:p>
                  </a:txBody>
                  <a:tcPr marL="9525" marR="9525" marT="9525" marB="9525" anchor="ctr"/>
                </a:tc>
                <a:extLst>
                  <a:ext uri="{0D108BD9-81ED-4DB2-BD59-A6C34878D82A}">
                    <a16:rowId xmlns:a16="http://schemas.microsoft.com/office/drawing/2014/main" val="627053109"/>
                  </a:ext>
                </a:extLst>
              </a:tr>
              <a:tr h="0">
                <a:tc>
                  <a:txBody>
                    <a:bodyPr/>
                    <a:lstStyle/>
                    <a:p>
                      <a:pPr algn="l"/>
                      <a:r>
                        <a:rPr lang="en-GB" sz="2000" b="0" dirty="0">
                          <a:solidFill>
                            <a:schemeClr val="tx1"/>
                          </a:solidFill>
                          <a:effectLst/>
                        </a:rPr>
                        <a:t>Snowy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7</a:t>
                      </a:r>
                    </a:p>
                  </a:txBody>
                  <a:tcPr marL="9525" marR="9525" marT="9525" marB="9525" anchor="ctr"/>
                </a:tc>
                <a:extLst>
                  <a:ext uri="{0D108BD9-81ED-4DB2-BD59-A6C34878D82A}">
                    <a16:rowId xmlns:a16="http://schemas.microsoft.com/office/drawing/2014/main" val="3151915704"/>
                  </a:ext>
                </a:extLst>
              </a:tr>
            </a:tbl>
          </a:graphicData>
        </a:graphic>
      </p:graphicFrame>
    </p:spTree>
    <p:extLst>
      <p:ext uri="{BB962C8B-B14F-4D97-AF65-F5344CB8AC3E}">
        <p14:creationId xmlns:p14="http://schemas.microsoft.com/office/powerpoint/2010/main" val="3427929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1000"/>
                                        <p:tgtEl>
                                          <p:spTgt spid="1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20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wipe(left)">
                                      <p:cBhvr>
                                        <p:cTn id="16" dur="1500"/>
                                        <p:tgtEl>
                                          <p:spTgt spid="6">
                                            <p:txEl>
                                              <p:pRg st="0" end="0"/>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wipe(left)">
                                      <p:cBhvr>
                                        <p:cTn id="20" dur="1500"/>
                                        <p:tgtEl>
                                          <p:spTgt spid="6">
                                            <p:txEl>
                                              <p:pRg st="1" end="1"/>
                                            </p:txEl>
                                          </p:spTgt>
                                        </p:tgtEl>
                                      </p:cBhvr>
                                    </p:animEffect>
                                  </p:childTnLst>
                                </p:cTn>
                              </p:par>
                            </p:childTnLst>
                          </p:cTn>
                        </p:par>
                        <p:par>
                          <p:cTn id="21" fill="hold">
                            <p:stCondLst>
                              <p:cond delay="3000"/>
                            </p:stCondLst>
                            <p:childTnLst>
                              <p:par>
                                <p:cTn id="22" presetID="22" presetClass="entr" presetSubtype="8" fill="hold" grpId="0" nodeType="after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wipe(left)">
                                      <p:cBhvr>
                                        <p:cTn id="24" dur="1500"/>
                                        <p:tgtEl>
                                          <p:spTgt spid="6">
                                            <p:txEl>
                                              <p:pRg st="2" end="2"/>
                                            </p:txEl>
                                          </p:spTgt>
                                        </p:tgtEl>
                                      </p:cBhvr>
                                    </p:animEffect>
                                  </p:childTnLst>
                                </p:cTn>
                              </p:par>
                            </p:childTnLst>
                          </p:cTn>
                        </p:par>
                        <p:par>
                          <p:cTn id="25" fill="hold">
                            <p:stCondLst>
                              <p:cond delay="4500"/>
                            </p:stCondLst>
                            <p:childTnLst>
                              <p:par>
                                <p:cTn id="26" presetID="22" presetClass="entr" presetSubtype="8" fill="hold" grpId="0" nodeType="after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wipe(left)">
                                      <p:cBhvr>
                                        <p:cTn id="28" dur="1500"/>
                                        <p:tgtEl>
                                          <p:spTgt spid="6">
                                            <p:txEl>
                                              <p:pRg st="3" end="3"/>
                                            </p:txEl>
                                          </p:spTgt>
                                        </p:tgtEl>
                                      </p:cBhvr>
                                    </p:animEffect>
                                  </p:childTnLst>
                                </p:cTn>
                              </p:par>
                            </p:childTnLst>
                          </p:cTn>
                        </p:par>
                        <p:par>
                          <p:cTn id="29" fill="hold">
                            <p:stCondLst>
                              <p:cond delay="6000"/>
                            </p:stCondLst>
                            <p:childTnLst>
                              <p:par>
                                <p:cTn id="30" presetID="22" presetClass="entr" presetSubtype="8" fill="hold" grpId="0" nodeType="after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wipe(left)">
                                      <p:cBhvr>
                                        <p:cTn id="32" dur="1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
                                            <p:txEl>
                                              <p:pRg st="0" end="0"/>
                                            </p:txEl>
                                          </p:spTgt>
                                        </p:tgtEl>
                                        <p:attrNameLst>
                                          <p:attrName>style.visibility</p:attrName>
                                        </p:attrNameLst>
                                      </p:cBhvr>
                                      <p:to>
                                        <p:strVal val="visible"/>
                                      </p:to>
                                    </p:set>
                                    <p:animEffect transition="in" filter="wipe(left)">
                                      <p:cBhvr>
                                        <p:cTn id="37" dur="1000"/>
                                        <p:tgtEl>
                                          <p:spTgt spid="19">
                                            <p:txEl>
                                              <p:pRg st="0" end="0"/>
                                            </p:txEl>
                                          </p:spTgt>
                                        </p:tgtEl>
                                      </p:cBhvr>
                                    </p:animEffect>
                                  </p:childTnLst>
                                </p:cTn>
                              </p:par>
                            </p:childTnLst>
                          </p:cTn>
                        </p:par>
                        <p:par>
                          <p:cTn id="38" fill="hold">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wipe(left)">
                                      <p:cBhvr>
                                        <p:cTn id="41" dur="1000"/>
                                        <p:tgtEl>
                                          <p:spTgt spid="19">
                                            <p:txEl>
                                              <p:pRg st="1" end="1"/>
                                            </p:txEl>
                                          </p:spTgt>
                                        </p:tgtEl>
                                      </p:cBhvr>
                                    </p:animEffect>
                                  </p:childTnLst>
                                </p:cTn>
                              </p:par>
                            </p:childTnLst>
                          </p:cTn>
                        </p:par>
                        <p:par>
                          <p:cTn id="42" fill="hold">
                            <p:stCondLst>
                              <p:cond delay="2000"/>
                            </p:stCondLst>
                            <p:childTnLst>
                              <p:par>
                                <p:cTn id="43" presetID="22" presetClass="entr" presetSubtype="8" fill="hold" grpId="0" nodeType="afterEffect">
                                  <p:stCondLst>
                                    <p:cond delay="0"/>
                                  </p:stCondLst>
                                  <p:childTnLst>
                                    <p:set>
                                      <p:cBhvr>
                                        <p:cTn id="44" dur="1" fill="hold">
                                          <p:stCondLst>
                                            <p:cond delay="0"/>
                                          </p:stCondLst>
                                        </p:cTn>
                                        <p:tgtEl>
                                          <p:spTgt spid="19">
                                            <p:txEl>
                                              <p:pRg st="2" end="2"/>
                                            </p:txEl>
                                          </p:spTgt>
                                        </p:tgtEl>
                                        <p:attrNameLst>
                                          <p:attrName>style.visibility</p:attrName>
                                        </p:attrNameLst>
                                      </p:cBhvr>
                                      <p:to>
                                        <p:strVal val="visible"/>
                                      </p:to>
                                    </p:set>
                                    <p:animEffect transition="in" filter="wipe(left)">
                                      <p:cBhvr>
                                        <p:cTn id="45" dur="1000"/>
                                        <p:tgtEl>
                                          <p:spTgt spid="19">
                                            <p:txEl>
                                              <p:pRg st="2" end="2"/>
                                            </p:txEl>
                                          </p:spTgt>
                                        </p:tgtEl>
                                      </p:cBhvr>
                                    </p:animEffect>
                                  </p:childTnLst>
                                </p:cTn>
                              </p:par>
                            </p:childTnLst>
                          </p:cTn>
                        </p:par>
                        <p:par>
                          <p:cTn id="46" fill="hold">
                            <p:stCondLst>
                              <p:cond delay="3000"/>
                            </p:stCondLst>
                            <p:childTnLst>
                              <p:par>
                                <p:cTn id="47" presetID="22" presetClass="entr" presetSubtype="8" fill="hold" grpId="0" nodeType="afterEffect">
                                  <p:stCondLst>
                                    <p:cond delay="0"/>
                                  </p:stCondLst>
                                  <p:childTnLst>
                                    <p:set>
                                      <p:cBhvr>
                                        <p:cTn id="48" dur="1" fill="hold">
                                          <p:stCondLst>
                                            <p:cond delay="0"/>
                                          </p:stCondLst>
                                        </p:cTn>
                                        <p:tgtEl>
                                          <p:spTgt spid="19">
                                            <p:txEl>
                                              <p:pRg st="3" end="3"/>
                                            </p:txEl>
                                          </p:spTgt>
                                        </p:tgtEl>
                                        <p:attrNameLst>
                                          <p:attrName>style.visibility</p:attrName>
                                        </p:attrNameLst>
                                      </p:cBhvr>
                                      <p:to>
                                        <p:strVal val="visible"/>
                                      </p:to>
                                    </p:set>
                                    <p:animEffect transition="in" filter="wipe(left)">
                                      <p:cBhvr>
                                        <p:cTn id="49" dur="1000"/>
                                        <p:tgtEl>
                                          <p:spTgt spid="19">
                                            <p:txEl>
                                              <p:pRg st="3" end="3"/>
                                            </p:txEl>
                                          </p:spTgt>
                                        </p:tgtEl>
                                      </p:cBhvr>
                                    </p:animEffect>
                                  </p:childTnLst>
                                </p:cTn>
                              </p:par>
                            </p:childTnLst>
                          </p:cTn>
                        </p:par>
                        <p:par>
                          <p:cTn id="50" fill="hold">
                            <p:stCondLst>
                              <p:cond delay="4000"/>
                            </p:stCondLst>
                            <p:childTnLst>
                              <p:par>
                                <p:cTn id="51" presetID="22" presetClass="entr" presetSubtype="8" fill="hold" grpId="0" nodeType="afterEffect">
                                  <p:stCondLst>
                                    <p:cond delay="0"/>
                                  </p:stCondLst>
                                  <p:childTnLst>
                                    <p:set>
                                      <p:cBhvr>
                                        <p:cTn id="52" dur="1" fill="hold">
                                          <p:stCondLst>
                                            <p:cond delay="0"/>
                                          </p:stCondLst>
                                        </p:cTn>
                                        <p:tgtEl>
                                          <p:spTgt spid="19">
                                            <p:txEl>
                                              <p:pRg st="4" end="4"/>
                                            </p:txEl>
                                          </p:spTgt>
                                        </p:tgtEl>
                                        <p:attrNameLst>
                                          <p:attrName>style.visibility</p:attrName>
                                        </p:attrNameLst>
                                      </p:cBhvr>
                                      <p:to>
                                        <p:strVal val="visible"/>
                                      </p:to>
                                    </p:set>
                                    <p:animEffect transition="in" filter="wipe(left)">
                                      <p:cBhvr>
                                        <p:cTn id="53" dur="1000"/>
                                        <p:tgtEl>
                                          <p:spTgt spid="19">
                                            <p:txEl>
                                              <p:pRg st="4" end="4"/>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wipe(left)">
                                      <p:cBhvr>
                                        <p:cTn id="58" dur="1000"/>
                                        <p:tgtEl>
                                          <p:spTgt spid="27"/>
                                        </p:tgtEl>
                                      </p:cBhvr>
                                    </p:animEffect>
                                  </p:childTnLst>
                                </p:cTn>
                              </p:par>
                            </p:childTnLst>
                          </p:cTn>
                        </p:par>
                        <p:par>
                          <p:cTn id="59" fill="hold">
                            <p:stCondLst>
                              <p:cond delay="1000"/>
                            </p:stCondLst>
                            <p:childTnLst>
                              <p:par>
                                <p:cTn id="60" presetID="22" presetClass="entr" presetSubtype="8" fill="hold" grpId="0" nodeType="after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wipe(left)">
                                      <p:cBhvr>
                                        <p:cTn id="62" dur="500"/>
                                        <p:tgtEl>
                                          <p:spTgt spid="10"/>
                                        </p:tgtEl>
                                      </p:cBhvr>
                                    </p:animEffect>
                                  </p:childTnLst>
                                </p:cTn>
                              </p:par>
                            </p:childTnLst>
                          </p:cTn>
                        </p:par>
                        <p:par>
                          <p:cTn id="63" fill="hold">
                            <p:stCondLst>
                              <p:cond delay="1500"/>
                            </p:stCondLst>
                            <p:childTnLst>
                              <p:par>
                                <p:cTn id="64" presetID="22" presetClass="entr" presetSubtype="8" fill="hold" grpId="0" nodeType="after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wipe(left)">
                                      <p:cBhvr>
                                        <p:cTn id="66" dur="1000"/>
                                        <p:tgtEl>
                                          <p:spTgt spid="26"/>
                                        </p:tgtEl>
                                      </p:cBhvr>
                                    </p:animEffect>
                                  </p:childTnLst>
                                </p:cTn>
                              </p:par>
                            </p:childTnLst>
                          </p:cTn>
                        </p:par>
                        <p:par>
                          <p:cTn id="67" fill="hold">
                            <p:stCondLst>
                              <p:cond delay="2500"/>
                            </p:stCondLst>
                            <p:childTnLst>
                              <p:par>
                                <p:cTn id="68" presetID="22" presetClass="entr" presetSubtype="8" fill="hold" nodeType="after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wipe(left)">
                                      <p:cBhvr>
                                        <p:cTn id="70" dur="200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xit" presetSubtype="8" fill="hold" grpId="1" nodeType="clickEffect">
                                  <p:stCondLst>
                                    <p:cond delay="0"/>
                                  </p:stCondLst>
                                  <p:childTnLst>
                                    <p:animEffect transition="out" filter="wipe(left)">
                                      <p:cBhvr>
                                        <p:cTn id="74" dur="500"/>
                                        <p:tgtEl>
                                          <p:spTgt spid="27"/>
                                        </p:tgtEl>
                                      </p:cBhvr>
                                    </p:animEffect>
                                    <p:set>
                                      <p:cBhvr>
                                        <p:cTn id="75" dur="1" fill="hold">
                                          <p:stCondLst>
                                            <p:cond delay="499"/>
                                          </p:stCondLst>
                                        </p:cTn>
                                        <p:tgtEl>
                                          <p:spTgt spid="27"/>
                                        </p:tgtEl>
                                        <p:attrNameLst>
                                          <p:attrName>style.visibility</p:attrName>
                                        </p:attrNameLst>
                                      </p:cBhvr>
                                      <p:to>
                                        <p:strVal val="hidden"/>
                                      </p:to>
                                    </p:set>
                                  </p:childTnLst>
                                </p:cTn>
                              </p:par>
                            </p:childTnLst>
                          </p:cTn>
                        </p:par>
                        <p:par>
                          <p:cTn id="76" fill="hold">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35"/>
                                        </p:tgtEl>
                                        <p:attrNameLst>
                                          <p:attrName>style.visibility</p:attrName>
                                        </p:attrNameLst>
                                      </p:cBhvr>
                                      <p:to>
                                        <p:strVal val="visible"/>
                                      </p:to>
                                    </p:set>
                                    <p:animEffect transition="in" filter="wipe(left)">
                                      <p:cBhvr>
                                        <p:cTn id="79" dur="1000"/>
                                        <p:tgtEl>
                                          <p:spTgt spid="35"/>
                                        </p:tgtEl>
                                      </p:cBhvr>
                                    </p:animEffect>
                                  </p:childTnLst>
                                </p:cTn>
                              </p:par>
                            </p:childTnLst>
                          </p:cTn>
                        </p:par>
                        <p:par>
                          <p:cTn id="80" fill="hold">
                            <p:stCondLst>
                              <p:cond delay="1500"/>
                            </p:stCondLst>
                            <p:childTnLst>
                              <p:par>
                                <p:cTn id="81" presetID="22" presetClass="entr" presetSubtype="8" fill="hold" grpId="0" nodeType="after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wipe(left)">
                                      <p:cBhvr>
                                        <p:cTn id="83" dur="500"/>
                                        <p:tgtEl>
                                          <p:spTgt spid="37"/>
                                        </p:tgtEl>
                                      </p:cBhvr>
                                    </p:animEffect>
                                  </p:childTnLst>
                                </p:cTn>
                              </p:par>
                            </p:childTnLst>
                          </p:cTn>
                        </p:par>
                        <p:par>
                          <p:cTn id="84" fill="hold">
                            <p:stCondLst>
                              <p:cond delay="2000"/>
                            </p:stCondLst>
                            <p:childTnLst>
                              <p:par>
                                <p:cTn id="85" presetID="22" presetClass="entr" presetSubtype="1" fill="hold" nodeType="afterEffect">
                                  <p:stCondLst>
                                    <p:cond delay="0"/>
                                  </p:stCondLst>
                                  <p:childTnLst>
                                    <p:set>
                                      <p:cBhvr>
                                        <p:cTn id="86" dur="1" fill="hold">
                                          <p:stCondLst>
                                            <p:cond delay="0"/>
                                          </p:stCondLst>
                                        </p:cTn>
                                        <p:tgtEl>
                                          <p:spTgt spid="51"/>
                                        </p:tgtEl>
                                        <p:attrNameLst>
                                          <p:attrName>style.visibility</p:attrName>
                                        </p:attrNameLst>
                                      </p:cBhvr>
                                      <p:to>
                                        <p:strVal val="visible"/>
                                      </p:to>
                                    </p:set>
                                    <p:animEffect transition="in" filter="wipe(up)">
                                      <p:cBhvr>
                                        <p:cTn id="87" dur="500"/>
                                        <p:tgtEl>
                                          <p:spTgt spid="51"/>
                                        </p:tgtEl>
                                      </p:cBhvr>
                                    </p:animEffect>
                                  </p:childTnLst>
                                </p:cTn>
                              </p:par>
                            </p:childTnLst>
                          </p:cTn>
                        </p:par>
                        <p:par>
                          <p:cTn id="88" fill="hold">
                            <p:stCondLst>
                              <p:cond delay="2500"/>
                            </p:stCondLst>
                            <p:childTnLst>
                              <p:par>
                                <p:cTn id="89" presetID="22" presetClass="entr" presetSubtype="1" fill="hold" nodeType="afterEffect">
                                  <p:stCondLst>
                                    <p:cond delay="0"/>
                                  </p:stCondLst>
                                  <p:childTnLst>
                                    <p:set>
                                      <p:cBhvr>
                                        <p:cTn id="90" dur="1" fill="hold">
                                          <p:stCondLst>
                                            <p:cond delay="0"/>
                                          </p:stCondLst>
                                        </p:cTn>
                                        <p:tgtEl>
                                          <p:spTgt spid="52"/>
                                        </p:tgtEl>
                                        <p:attrNameLst>
                                          <p:attrName>style.visibility</p:attrName>
                                        </p:attrNameLst>
                                      </p:cBhvr>
                                      <p:to>
                                        <p:strVal val="visible"/>
                                      </p:to>
                                    </p:set>
                                    <p:animEffect transition="in" filter="wipe(up)">
                                      <p:cBhvr>
                                        <p:cTn id="91" dur="500"/>
                                        <p:tgtEl>
                                          <p:spTgt spid="52"/>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49"/>
                                        </p:tgtEl>
                                        <p:attrNameLst>
                                          <p:attrName>style.visibility</p:attrName>
                                        </p:attrNameLst>
                                      </p:cBhvr>
                                      <p:to>
                                        <p:strVal val="visible"/>
                                      </p:to>
                                    </p:set>
                                    <p:animEffect transition="in" filter="wipe(left)">
                                      <p:cBhvr>
                                        <p:cTn id="96" dur="500"/>
                                        <p:tgtEl>
                                          <p:spTgt spid="49"/>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45"/>
                                        </p:tgtEl>
                                        <p:attrNameLst>
                                          <p:attrName>style.visibility</p:attrName>
                                        </p:attrNameLst>
                                      </p:cBhvr>
                                      <p:to>
                                        <p:strVal val="visible"/>
                                      </p:to>
                                    </p:set>
                                    <p:animEffect transition="in" filter="wipe(left)">
                                      <p:cBhvr>
                                        <p:cTn id="101" dur="500"/>
                                        <p:tgtEl>
                                          <p:spTgt spid="45"/>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47"/>
                                        </p:tgtEl>
                                        <p:attrNameLst>
                                          <p:attrName>style.visibility</p:attrName>
                                        </p:attrNameLst>
                                      </p:cBhvr>
                                      <p:to>
                                        <p:strVal val="visible"/>
                                      </p:to>
                                    </p:set>
                                    <p:animEffect transition="in" filter="wipe(left)">
                                      <p:cBhvr>
                                        <p:cTn id="106" dur="500"/>
                                        <p:tgtEl>
                                          <p:spTgt spid="47"/>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wipe(left)">
                                      <p:cBhvr>
                                        <p:cTn id="111" dur="1500"/>
                                        <p:tgtEl>
                                          <p:spTgt spid="42"/>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46"/>
                                        </p:tgtEl>
                                        <p:attrNameLst>
                                          <p:attrName>style.visibility</p:attrName>
                                        </p:attrNameLst>
                                      </p:cBhvr>
                                      <p:to>
                                        <p:strVal val="visible"/>
                                      </p:to>
                                    </p:set>
                                    <p:animEffect transition="in" filter="wipe(left)">
                                      <p:cBhvr>
                                        <p:cTn id="116" dur="500"/>
                                        <p:tgtEl>
                                          <p:spTgt spid="46"/>
                                        </p:tgtEl>
                                      </p:cBhvr>
                                    </p:animEffect>
                                  </p:childTnLst>
                                </p:cTn>
                              </p:par>
                            </p:childTnLst>
                          </p:cTn>
                        </p:par>
                        <p:par>
                          <p:cTn id="117" fill="hold">
                            <p:stCondLst>
                              <p:cond delay="500"/>
                            </p:stCondLst>
                            <p:childTnLst>
                              <p:par>
                                <p:cTn id="118" presetID="22" presetClass="entr" presetSubtype="8" fill="hold" grpId="0" nodeType="afterEffect">
                                  <p:stCondLst>
                                    <p:cond delay="0"/>
                                  </p:stCondLst>
                                  <p:childTnLst>
                                    <p:set>
                                      <p:cBhvr>
                                        <p:cTn id="119" dur="1" fill="hold">
                                          <p:stCondLst>
                                            <p:cond delay="0"/>
                                          </p:stCondLst>
                                        </p:cTn>
                                        <p:tgtEl>
                                          <p:spTgt spid="48"/>
                                        </p:tgtEl>
                                        <p:attrNameLst>
                                          <p:attrName>style.visibility</p:attrName>
                                        </p:attrNameLst>
                                      </p:cBhvr>
                                      <p:to>
                                        <p:strVal val="visible"/>
                                      </p:to>
                                    </p:set>
                                    <p:animEffect transition="in" filter="wipe(left)">
                                      <p:cBhvr>
                                        <p:cTn id="120" dur="500"/>
                                        <p:tgtEl>
                                          <p:spTgt spid="48"/>
                                        </p:tgtEl>
                                      </p:cBhvr>
                                    </p:animEffect>
                                  </p:childTnLst>
                                </p:cTn>
                              </p:par>
                            </p:childTnLst>
                          </p:cTn>
                        </p:par>
                        <p:par>
                          <p:cTn id="121" fill="hold">
                            <p:stCondLst>
                              <p:cond delay="1000"/>
                            </p:stCondLst>
                            <p:childTnLst>
                              <p:par>
                                <p:cTn id="122" presetID="22" presetClass="entr" presetSubtype="8" fill="hold" grpId="0" nodeType="afterEffect">
                                  <p:stCondLst>
                                    <p:cond delay="0"/>
                                  </p:stCondLst>
                                  <p:childTnLst>
                                    <p:set>
                                      <p:cBhvr>
                                        <p:cTn id="123" dur="1" fill="hold">
                                          <p:stCondLst>
                                            <p:cond delay="0"/>
                                          </p:stCondLst>
                                        </p:cTn>
                                        <p:tgtEl>
                                          <p:spTgt spid="44"/>
                                        </p:tgtEl>
                                        <p:attrNameLst>
                                          <p:attrName>style.visibility</p:attrName>
                                        </p:attrNameLst>
                                      </p:cBhvr>
                                      <p:to>
                                        <p:strVal val="visible"/>
                                      </p:to>
                                    </p:set>
                                    <p:animEffect transition="in" filter="wipe(left)">
                                      <p:cBhvr>
                                        <p:cTn id="124" dur="1500"/>
                                        <p:tgtEl>
                                          <p:spTgt spid="44"/>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43"/>
                                        </p:tgtEl>
                                        <p:attrNameLst>
                                          <p:attrName>style.visibility</p:attrName>
                                        </p:attrNameLst>
                                      </p:cBhvr>
                                      <p:to>
                                        <p:strVal val="visible"/>
                                      </p:to>
                                    </p:set>
                                    <p:animEffect transition="in" filter="wipe(left)">
                                      <p:cBhvr>
                                        <p:cTn id="129" dur="1000"/>
                                        <p:tgtEl>
                                          <p:spTgt spid="43"/>
                                        </p:tgtEl>
                                      </p:cBhvr>
                                    </p:animEffect>
                                  </p:childTnLst>
                                </p:cTn>
                              </p:par>
                            </p:childTnLst>
                          </p:cTn>
                        </p:par>
                        <p:par>
                          <p:cTn id="130" fill="hold">
                            <p:stCondLst>
                              <p:cond delay="1000"/>
                            </p:stCondLst>
                            <p:childTnLst>
                              <p:par>
                                <p:cTn id="131" presetID="22" presetClass="entr" presetSubtype="8" fill="hold" nodeType="afterEffect">
                                  <p:stCondLst>
                                    <p:cond delay="0"/>
                                  </p:stCondLst>
                                  <p:childTnLst>
                                    <p:set>
                                      <p:cBhvr>
                                        <p:cTn id="132" dur="1" fill="hold">
                                          <p:stCondLst>
                                            <p:cond delay="0"/>
                                          </p:stCondLst>
                                        </p:cTn>
                                        <p:tgtEl>
                                          <p:spTgt spid="62"/>
                                        </p:tgtEl>
                                        <p:attrNameLst>
                                          <p:attrName>style.visibility</p:attrName>
                                        </p:attrNameLst>
                                      </p:cBhvr>
                                      <p:to>
                                        <p:strVal val="visible"/>
                                      </p:to>
                                    </p:set>
                                    <p:animEffect transition="in" filter="wipe(left)">
                                      <p:cBhvr>
                                        <p:cTn id="133" dur="2000"/>
                                        <p:tgtEl>
                                          <p:spTgt spid="62"/>
                                        </p:tgtEl>
                                      </p:cBhvr>
                                    </p:animEffect>
                                  </p:childTnLst>
                                </p:cTn>
                              </p:par>
                            </p:childTnLst>
                          </p:cTn>
                        </p:par>
                        <p:par>
                          <p:cTn id="134" fill="hold">
                            <p:stCondLst>
                              <p:cond delay="3000"/>
                            </p:stCondLst>
                            <p:childTnLst>
                              <p:par>
                                <p:cTn id="135" presetID="22" presetClass="exit" presetSubtype="8" fill="hold" grpId="1" nodeType="afterEffect">
                                  <p:stCondLst>
                                    <p:cond delay="0"/>
                                  </p:stCondLst>
                                  <p:childTnLst>
                                    <p:animEffect transition="out" filter="wipe(left)">
                                      <p:cBhvr>
                                        <p:cTn id="136" dur="500"/>
                                        <p:tgtEl>
                                          <p:spTgt spid="35"/>
                                        </p:tgtEl>
                                      </p:cBhvr>
                                    </p:animEffect>
                                    <p:set>
                                      <p:cBhvr>
                                        <p:cTn id="137" dur="1" fill="hold">
                                          <p:stCondLst>
                                            <p:cond delay="499"/>
                                          </p:stCondLst>
                                        </p:cTn>
                                        <p:tgtEl>
                                          <p:spTgt spid="35"/>
                                        </p:tgtEl>
                                        <p:attrNameLst>
                                          <p:attrName>style.visibility</p:attrName>
                                        </p:attrNameLst>
                                      </p:cBhvr>
                                      <p:to>
                                        <p:strVal val="hidden"/>
                                      </p:to>
                                    </p:se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31"/>
                                        </p:tgtEl>
                                        <p:attrNameLst>
                                          <p:attrName>style.visibility</p:attrName>
                                        </p:attrNameLst>
                                      </p:cBhvr>
                                      <p:to>
                                        <p:strVal val="visible"/>
                                      </p:to>
                                    </p:set>
                                    <p:animEffect transition="in" filter="wipe(left)">
                                      <p:cBhvr>
                                        <p:cTn id="142" dur="1000"/>
                                        <p:tgtEl>
                                          <p:spTgt spid="31"/>
                                        </p:tgtEl>
                                      </p:cBhvr>
                                    </p:animEffect>
                                  </p:childTnLst>
                                </p:cTn>
                              </p:par>
                            </p:childTnLst>
                          </p:cTn>
                        </p:par>
                        <p:par>
                          <p:cTn id="143" fill="hold">
                            <p:stCondLst>
                              <p:cond delay="1000"/>
                            </p:stCondLst>
                            <p:childTnLst>
                              <p:par>
                                <p:cTn id="144" presetID="22" presetClass="entr" presetSubtype="8" fill="hold" grpId="0" nodeType="afterEffect">
                                  <p:stCondLst>
                                    <p:cond delay="0"/>
                                  </p:stCondLst>
                                  <p:childTnLst>
                                    <p:set>
                                      <p:cBhvr>
                                        <p:cTn id="145" dur="1" fill="hold">
                                          <p:stCondLst>
                                            <p:cond delay="0"/>
                                          </p:stCondLst>
                                        </p:cTn>
                                        <p:tgtEl>
                                          <p:spTgt spid="63"/>
                                        </p:tgtEl>
                                        <p:attrNameLst>
                                          <p:attrName>style.visibility</p:attrName>
                                        </p:attrNameLst>
                                      </p:cBhvr>
                                      <p:to>
                                        <p:strVal val="visible"/>
                                      </p:to>
                                    </p:set>
                                    <p:animEffect transition="in" filter="wipe(left)">
                                      <p:cBhvr>
                                        <p:cTn id="146" dur="500"/>
                                        <p:tgtEl>
                                          <p:spTgt spid="63"/>
                                        </p:tgtEl>
                                      </p:cBhvr>
                                    </p:animEffect>
                                  </p:childTnLst>
                                </p:cTn>
                              </p:par>
                            </p:childTnLst>
                          </p:cTn>
                        </p:par>
                        <p:par>
                          <p:cTn id="147" fill="hold">
                            <p:stCondLst>
                              <p:cond delay="1500"/>
                            </p:stCondLst>
                            <p:childTnLst>
                              <p:par>
                                <p:cTn id="148" presetID="22" presetClass="entr" presetSubtype="1" fill="hold" nodeType="afterEffect">
                                  <p:stCondLst>
                                    <p:cond delay="0"/>
                                  </p:stCondLst>
                                  <p:childTnLst>
                                    <p:set>
                                      <p:cBhvr>
                                        <p:cTn id="149" dur="1" fill="hold">
                                          <p:stCondLst>
                                            <p:cond delay="0"/>
                                          </p:stCondLst>
                                        </p:cTn>
                                        <p:tgtEl>
                                          <p:spTgt spid="71"/>
                                        </p:tgtEl>
                                        <p:attrNameLst>
                                          <p:attrName>style.visibility</p:attrName>
                                        </p:attrNameLst>
                                      </p:cBhvr>
                                      <p:to>
                                        <p:strVal val="visible"/>
                                      </p:to>
                                    </p:set>
                                    <p:animEffect transition="in" filter="wipe(up)">
                                      <p:cBhvr>
                                        <p:cTn id="150" dur="500"/>
                                        <p:tgtEl>
                                          <p:spTgt spid="71"/>
                                        </p:tgtEl>
                                      </p:cBhvr>
                                    </p:animEffect>
                                  </p:childTnLst>
                                </p:cTn>
                              </p:par>
                            </p:childTnLst>
                          </p:cTn>
                        </p:par>
                        <p:par>
                          <p:cTn id="151" fill="hold">
                            <p:stCondLst>
                              <p:cond delay="2000"/>
                            </p:stCondLst>
                            <p:childTnLst>
                              <p:par>
                                <p:cTn id="152" presetID="22" presetClass="entr" presetSubtype="1" fill="hold" grpId="0" nodeType="afterEffect">
                                  <p:stCondLst>
                                    <p:cond delay="0"/>
                                  </p:stCondLst>
                                  <p:childTnLst>
                                    <p:set>
                                      <p:cBhvr>
                                        <p:cTn id="153" dur="1" fill="hold">
                                          <p:stCondLst>
                                            <p:cond delay="0"/>
                                          </p:stCondLst>
                                        </p:cTn>
                                        <p:tgtEl>
                                          <p:spTgt spid="76"/>
                                        </p:tgtEl>
                                        <p:attrNameLst>
                                          <p:attrName>style.visibility</p:attrName>
                                        </p:attrNameLst>
                                      </p:cBhvr>
                                      <p:to>
                                        <p:strVal val="visible"/>
                                      </p:to>
                                    </p:set>
                                    <p:animEffect transition="in" filter="wipe(up)">
                                      <p:cBhvr>
                                        <p:cTn id="154" dur="1000"/>
                                        <p:tgtEl>
                                          <p:spTgt spid="76"/>
                                        </p:tgtEl>
                                      </p:cBhvr>
                                    </p:animEffect>
                                  </p:childTnLst>
                                </p:cTn>
                              </p:par>
                            </p:childTnLst>
                          </p:cTn>
                        </p:par>
                        <p:par>
                          <p:cTn id="155" fill="hold">
                            <p:stCondLst>
                              <p:cond delay="3000"/>
                            </p:stCondLst>
                            <p:childTnLst>
                              <p:par>
                                <p:cTn id="156" presetID="22" presetClass="entr" presetSubtype="1" fill="hold" nodeType="afterEffect">
                                  <p:stCondLst>
                                    <p:cond delay="0"/>
                                  </p:stCondLst>
                                  <p:childTnLst>
                                    <p:set>
                                      <p:cBhvr>
                                        <p:cTn id="157" dur="1" fill="hold">
                                          <p:stCondLst>
                                            <p:cond delay="0"/>
                                          </p:stCondLst>
                                        </p:cTn>
                                        <p:tgtEl>
                                          <p:spTgt spid="72"/>
                                        </p:tgtEl>
                                        <p:attrNameLst>
                                          <p:attrName>style.visibility</p:attrName>
                                        </p:attrNameLst>
                                      </p:cBhvr>
                                      <p:to>
                                        <p:strVal val="visible"/>
                                      </p:to>
                                    </p:set>
                                    <p:animEffect transition="in" filter="wipe(up)">
                                      <p:cBhvr>
                                        <p:cTn id="158" dur="500"/>
                                        <p:tgtEl>
                                          <p:spTgt spid="72"/>
                                        </p:tgtEl>
                                      </p:cBhvr>
                                    </p:animEffect>
                                  </p:childTnLst>
                                </p:cTn>
                              </p:par>
                            </p:childTnLst>
                          </p:cTn>
                        </p:par>
                        <p:par>
                          <p:cTn id="159" fill="hold">
                            <p:stCondLst>
                              <p:cond delay="3500"/>
                            </p:stCondLst>
                            <p:childTnLst>
                              <p:par>
                                <p:cTn id="160" presetID="22" presetClass="entr" presetSubtype="1" fill="hold" grpId="0" nodeType="afterEffect">
                                  <p:stCondLst>
                                    <p:cond delay="0"/>
                                  </p:stCondLst>
                                  <p:childTnLst>
                                    <p:set>
                                      <p:cBhvr>
                                        <p:cTn id="161" dur="1" fill="hold">
                                          <p:stCondLst>
                                            <p:cond delay="0"/>
                                          </p:stCondLst>
                                        </p:cTn>
                                        <p:tgtEl>
                                          <p:spTgt spid="75"/>
                                        </p:tgtEl>
                                        <p:attrNameLst>
                                          <p:attrName>style.visibility</p:attrName>
                                        </p:attrNameLst>
                                      </p:cBhvr>
                                      <p:to>
                                        <p:strVal val="visible"/>
                                      </p:to>
                                    </p:set>
                                    <p:animEffect transition="in" filter="wipe(up)">
                                      <p:cBhvr>
                                        <p:cTn id="162" dur="1000"/>
                                        <p:tgtEl>
                                          <p:spTgt spid="75"/>
                                        </p:tgtEl>
                                      </p:cBhvr>
                                    </p:animEffect>
                                  </p:childTnLst>
                                </p:cTn>
                              </p:par>
                            </p:childTnLst>
                          </p:cTn>
                        </p:par>
                        <p:par>
                          <p:cTn id="163" fill="hold">
                            <p:stCondLst>
                              <p:cond delay="4500"/>
                            </p:stCondLst>
                            <p:childTnLst>
                              <p:par>
                                <p:cTn id="164" presetID="22" presetClass="exit" presetSubtype="8" fill="hold" grpId="1" nodeType="afterEffect">
                                  <p:stCondLst>
                                    <p:cond delay="0"/>
                                  </p:stCondLst>
                                  <p:childTnLst>
                                    <p:animEffect transition="out" filter="wipe(left)">
                                      <p:cBhvr>
                                        <p:cTn id="165" dur="500"/>
                                        <p:tgtEl>
                                          <p:spTgt spid="31"/>
                                        </p:tgtEl>
                                      </p:cBhvr>
                                    </p:animEffect>
                                    <p:set>
                                      <p:cBhvr>
                                        <p:cTn id="166" dur="1" fill="hold">
                                          <p:stCondLst>
                                            <p:cond delay="499"/>
                                          </p:stCondLst>
                                        </p:cTn>
                                        <p:tgtEl>
                                          <p:spTgt spid="31"/>
                                        </p:tgtEl>
                                        <p:attrNameLst>
                                          <p:attrName>style.visibility</p:attrName>
                                        </p:attrNameLst>
                                      </p:cBhvr>
                                      <p:to>
                                        <p:strVal val="hidden"/>
                                      </p:to>
                                    </p:set>
                                  </p:childTnLst>
                                </p:cTn>
                              </p:par>
                            </p:childTnLst>
                          </p:cTn>
                        </p:par>
                      </p:childTnLst>
                    </p:cTn>
                  </p:par>
                  <p:par>
                    <p:cTn id="167" fill="hold">
                      <p:stCondLst>
                        <p:cond delay="indefinite"/>
                      </p:stCondLst>
                      <p:childTnLst>
                        <p:par>
                          <p:cTn id="168" fill="hold">
                            <p:stCondLst>
                              <p:cond delay="0"/>
                            </p:stCondLst>
                            <p:childTnLst>
                              <p:par>
                                <p:cTn id="169" presetID="22" presetClass="entr" presetSubtype="8" fill="hold" grpId="0" nodeType="clickEffect">
                                  <p:stCondLst>
                                    <p:cond delay="0"/>
                                  </p:stCondLst>
                                  <p:childTnLst>
                                    <p:set>
                                      <p:cBhvr>
                                        <p:cTn id="170" dur="1" fill="hold">
                                          <p:stCondLst>
                                            <p:cond delay="0"/>
                                          </p:stCondLst>
                                        </p:cTn>
                                        <p:tgtEl>
                                          <p:spTgt spid="33"/>
                                        </p:tgtEl>
                                        <p:attrNameLst>
                                          <p:attrName>style.visibility</p:attrName>
                                        </p:attrNameLst>
                                      </p:cBhvr>
                                      <p:to>
                                        <p:strVal val="visible"/>
                                      </p:to>
                                    </p:set>
                                    <p:animEffect transition="in" filter="wipe(left)">
                                      <p:cBhvr>
                                        <p:cTn id="171" dur="1000"/>
                                        <p:tgtEl>
                                          <p:spTgt spid="33"/>
                                        </p:tgtEl>
                                      </p:cBhvr>
                                    </p:animEffect>
                                  </p:childTnLst>
                                </p:cTn>
                              </p:par>
                            </p:childTnLst>
                          </p:cTn>
                        </p:par>
                        <p:par>
                          <p:cTn id="172" fill="hold">
                            <p:stCondLst>
                              <p:cond delay="1000"/>
                            </p:stCondLst>
                            <p:childTnLst>
                              <p:par>
                                <p:cTn id="173" presetID="22" presetClass="entr" presetSubtype="8" fill="hold" grpId="0" nodeType="afterEffect">
                                  <p:stCondLst>
                                    <p:cond delay="0"/>
                                  </p:stCondLst>
                                  <p:childTnLst>
                                    <p:set>
                                      <p:cBhvr>
                                        <p:cTn id="174" dur="1" fill="hold">
                                          <p:stCondLst>
                                            <p:cond delay="0"/>
                                          </p:stCondLst>
                                        </p:cTn>
                                        <p:tgtEl>
                                          <p:spTgt spid="53"/>
                                        </p:tgtEl>
                                        <p:attrNameLst>
                                          <p:attrName>style.visibility</p:attrName>
                                        </p:attrNameLst>
                                      </p:cBhvr>
                                      <p:to>
                                        <p:strVal val="visible"/>
                                      </p:to>
                                    </p:set>
                                    <p:animEffect transition="in" filter="wipe(left)">
                                      <p:cBhvr>
                                        <p:cTn id="175" dur="500"/>
                                        <p:tgtEl>
                                          <p:spTgt spid="53"/>
                                        </p:tgtEl>
                                      </p:cBhvr>
                                    </p:animEffect>
                                  </p:childTnLst>
                                </p:cTn>
                              </p:par>
                            </p:childTnLst>
                          </p:cTn>
                        </p:par>
                        <p:par>
                          <p:cTn id="176" fill="hold">
                            <p:stCondLst>
                              <p:cond delay="1500"/>
                            </p:stCondLst>
                            <p:childTnLst>
                              <p:par>
                                <p:cTn id="177" presetID="22" presetClass="entr" presetSubtype="4" fill="hold" grpId="0" nodeType="afterEffect">
                                  <p:stCondLst>
                                    <p:cond delay="0"/>
                                  </p:stCondLst>
                                  <p:childTnLst>
                                    <p:set>
                                      <p:cBhvr>
                                        <p:cTn id="178" dur="1" fill="hold">
                                          <p:stCondLst>
                                            <p:cond delay="0"/>
                                          </p:stCondLst>
                                        </p:cTn>
                                        <p:tgtEl>
                                          <p:spTgt spid="50"/>
                                        </p:tgtEl>
                                        <p:attrNameLst>
                                          <p:attrName>style.visibility</p:attrName>
                                        </p:attrNameLst>
                                      </p:cBhvr>
                                      <p:to>
                                        <p:strVal val="visible"/>
                                      </p:to>
                                    </p:set>
                                    <p:animEffect transition="in" filter="wipe(down)">
                                      <p:cBhvr>
                                        <p:cTn id="179" dur="1000"/>
                                        <p:tgtEl>
                                          <p:spTgt spid="50"/>
                                        </p:tgtEl>
                                      </p:cBhvr>
                                    </p:animEffect>
                                  </p:childTnLst>
                                </p:cTn>
                              </p:par>
                            </p:childTnLst>
                          </p:cTn>
                        </p:par>
                      </p:childTnLst>
                    </p:cTn>
                  </p:par>
                  <p:par>
                    <p:cTn id="180" fill="hold">
                      <p:stCondLst>
                        <p:cond delay="indefinite"/>
                      </p:stCondLst>
                      <p:childTnLst>
                        <p:par>
                          <p:cTn id="181" fill="hold">
                            <p:stCondLst>
                              <p:cond delay="0"/>
                            </p:stCondLst>
                            <p:childTnLst>
                              <p:par>
                                <p:cTn id="182" presetID="22" presetClass="entr" presetSubtype="8" fill="hold" grpId="0" nodeType="clickEffect">
                                  <p:stCondLst>
                                    <p:cond delay="0"/>
                                  </p:stCondLst>
                                  <p:childTnLst>
                                    <p:set>
                                      <p:cBhvr>
                                        <p:cTn id="183" dur="1" fill="hold">
                                          <p:stCondLst>
                                            <p:cond delay="0"/>
                                          </p:stCondLst>
                                        </p:cTn>
                                        <p:tgtEl>
                                          <p:spTgt spid="38"/>
                                        </p:tgtEl>
                                        <p:attrNameLst>
                                          <p:attrName>style.visibility</p:attrName>
                                        </p:attrNameLst>
                                      </p:cBhvr>
                                      <p:to>
                                        <p:strVal val="visible"/>
                                      </p:to>
                                    </p:set>
                                    <p:animEffect transition="in" filter="wipe(left)">
                                      <p:cBhvr>
                                        <p:cTn id="184" dur="1000"/>
                                        <p:tgtEl>
                                          <p:spTgt spid="38"/>
                                        </p:tgtEl>
                                      </p:cBhvr>
                                    </p:animEffect>
                                  </p:childTnLst>
                                </p:cTn>
                              </p:par>
                            </p:childTnLst>
                          </p:cTn>
                        </p:par>
                        <p:par>
                          <p:cTn id="185" fill="hold">
                            <p:stCondLst>
                              <p:cond delay="1000"/>
                            </p:stCondLst>
                            <p:childTnLst>
                              <p:par>
                                <p:cTn id="186" presetID="22" presetClass="entr" presetSubtype="8" fill="hold" nodeType="afterEffect">
                                  <p:stCondLst>
                                    <p:cond delay="0"/>
                                  </p:stCondLst>
                                  <p:childTnLst>
                                    <p:set>
                                      <p:cBhvr>
                                        <p:cTn id="187" dur="1" fill="hold">
                                          <p:stCondLst>
                                            <p:cond delay="0"/>
                                          </p:stCondLst>
                                        </p:cTn>
                                        <p:tgtEl>
                                          <p:spTgt spid="34"/>
                                        </p:tgtEl>
                                        <p:attrNameLst>
                                          <p:attrName>style.visibility</p:attrName>
                                        </p:attrNameLst>
                                      </p:cBhvr>
                                      <p:to>
                                        <p:strVal val="visible"/>
                                      </p:to>
                                    </p:set>
                                    <p:animEffect transition="in" filter="wipe(left)">
                                      <p:cBhvr>
                                        <p:cTn id="188" dur="2000"/>
                                        <p:tgtEl>
                                          <p:spTgt spid="34"/>
                                        </p:tgtEl>
                                      </p:cBhvr>
                                    </p:animEffect>
                                  </p:childTnLst>
                                </p:cTn>
                              </p:par>
                              <p:par>
                                <p:cTn id="189" presetID="22" presetClass="entr" presetSubtype="8" fill="hold" grpId="0" nodeType="withEffect">
                                  <p:stCondLst>
                                    <p:cond delay="0"/>
                                  </p:stCondLst>
                                  <p:childTnLst>
                                    <p:set>
                                      <p:cBhvr>
                                        <p:cTn id="190" dur="1" fill="hold">
                                          <p:stCondLst>
                                            <p:cond delay="0"/>
                                          </p:stCondLst>
                                        </p:cTn>
                                        <p:tgtEl>
                                          <p:spTgt spid="39"/>
                                        </p:tgtEl>
                                        <p:attrNameLst>
                                          <p:attrName>style.visibility</p:attrName>
                                        </p:attrNameLst>
                                      </p:cBhvr>
                                      <p:to>
                                        <p:strVal val="visible"/>
                                      </p:to>
                                    </p:set>
                                    <p:animEffect transition="in" filter="wipe(left)">
                                      <p:cBhvr>
                                        <p:cTn id="191" dur="1000"/>
                                        <p:tgtEl>
                                          <p:spTgt spid="39"/>
                                        </p:tgtEl>
                                      </p:cBhvr>
                                    </p:animEffect>
                                  </p:childTnLst>
                                </p:cTn>
                              </p:par>
                              <p:par>
                                <p:cTn id="192" presetID="22" presetClass="entr" presetSubtype="8" fill="hold" grpId="0" nodeType="withEffect">
                                  <p:stCondLst>
                                    <p:cond delay="1000"/>
                                  </p:stCondLst>
                                  <p:childTnLst>
                                    <p:set>
                                      <p:cBhvr>
                                        <p:cTn id="193" dur="1" fill="hold">
                                          <p:stCondLst>
                                            <p:cond delay="0"/>
                                          </p:stCondLst>
                                        </p:cTn>
                                        <p:tgtEl>
                                          <p:spTgt spid="36"/>
                                        </p:tgtEl>
                                        <p:attrNameLst>
                                          <p:attrName>style.visibility</p:attrName>
                                        </p:attrNameLst>
                                      </p:cBhvr>
                                      <p:to>
                                        <p:strVal val="visible"/>
                                      </p:to>
                                    </p:set>
                                    <p:animEffect transition="in" filter="wipe(left)">
                                      <p:cBhvr>
                                        <p:cTn id="194" dur="1000"/>
                                        <p:tgtEl>
                                          <p:spTgt spid="36"/>
                                        </p:tgtEl>
                                      </p:cBhvr>
                                    </p:animEffect>
                                  </p:childTnLst>
                                </p:cTn>
                              </p:par>
                            </p:childTnLst>
                          </p:cTn>
                        </p:par>
                        <p:par>
                          <p:cTn id="195" fill="hold">
                            <p:stCondLst>
                              <p:cond delay="3000"/>
                            </p:stCondLst>
                            <p:childTnLst>
                              <p:par>
                                <p:cTn id="196" presetID="22" presetClass="exit" presetSubtype="8" fill="hold" grpId="1" nodeType="afterEffect">
                                  <p:stCondLst>
                                    <p:cond delay="0"/>
                                  </p:stCondLst>
                                  <p:childTnLst>
                                    <p:animEffect transition="out" filter="wipe(left)">
                                      <p:cBhvr>
                                        <p:cTn id="197" dur="500"/>
                                        <p:tgtEl>
                                          <p:spTgt spid="33"/>
                                        </p:tgtEl>
                                      </p:cBhvr>
                                    </p:animEffect>
                                    <p:set>
                                      <p:cBhvr>
                                        <p:cTn id="198" dur="1" fill="hold">
                                          <p:stCondLst>
                                            <p:cond delay="499"/>
                                          </p:stCondLst>
                                        </p:cTn>
                                        <p:tgtEl>
                                          <p:spTgt spid="33"/>
                                        </p:tgtEl>
                                        <p:attrNameLst>
                                          <p:attrName>style.visibility</p:attrName>
                                        </p:attrNameLst>
                                      </p:cBhvr>
                                      <p:to>
                                        <p:strVal val="hidden"/>
                                      </p:to>
                                    </p:set>
                                  </p:childTnLst>
                                </p:cTn>
                              </p:par>
                            </p:childTnLst>
                          </p:cTn>
                        </p:par>
                      </p:childTnLst>
                    </p:cTn>
                  </p:par>
                  <p:par>
                    <p:cTn id="199" fill="hold">
                      <p:stCondLst>
                        <p:cond delay="indefinite"/>
                      </p:stCondLst>
                      <p:childTnLst>
                        <p:par>
                          <p:cTn id="200" fill="hold">
                            <p:stCondLst>
                              <p:cond delay="0"/>
                            </p:stCondLst>
                            <p:childTnLst>
                              <p:par>
                                <p:cTn id="201" presetID="22" presetClass="entr" presetSubtype="8" fill="hold" grpId="0" nodeType="clickEffect">
                                  <p:stCondLst>
                                    <p:cond delay="0"/>
                                  </p:stCondLst>
                                  <p:childTnLst>
                                    <p:set>
                                      <p:cBhvr>
                                        <p:cTn id="202" dur="1" fill="hold">
                                          <p:stCondLst>
                                            <p:cond delay="0"/>
                                          </p:stCondLst>
                                        </p:cTn>
                                        <p:tgtEl>
                                          <p:spTgt spid="32"/>
                                        </p:tgtEl>
                                        <p:attrNameLst>
                                          <p:attrName>style.visibility</p:attrName>
                                        </p:attrNameLst>
                                      </p:cBhvr>
                                      <p:to>
                                        <p:strVal val="visible"/>
                                      </p:to>
                                    </p:set>
                                    <p:animEffect transition="in" filter="wipe(left)">
                                      <p:cBhvr>
                                        <p:cTn id="203" dur="500"/>
                                        <p:tgtEl>
                                          <p:spTgt spid="32"/>
                                        </p:tgtEl>
                                      </p:cBhvr>
                                    </p:animEffect>
                                  </p:childTnLst>
                                </p:cTn>
                              </p:par>
                            </p:childTnLst>
                          </p:cTn>
                        </p:par>
                        <p:par>
                          <p:cTn id="204" fill="hold">
                            <p:stCondLst>
                              <p:cond delay="500"/>
                            </p:stCondLst>
                            <p:childTnLst>
                              <p:par>
                                <p:cTn id="205" presetID="22" presetClass="entr" presetSubtype="8" fill="hold" grpId="0" nodeType="afterEffect">
                                  <p:stCondLst>
                                    <p:cond delay="0"/>
                                  </p:stCondLst>
                                  <p:childTnLst>
                                    <p:set>
                                      <p:cBhvr>
                                        <p:cTn id="206" dur="1" fill="hold">
                                          <p:stCondLst>
                                            <p:cond delay="0"/>
                                          </p:stCondLst>
                                        </p:cTn>
                                        <p:tgtEl>
                                          <p:spTgt spid="40"/>
                                        </p:tgtEl>
                                        <p:attrNameLst>
                                          <p:attrName>style.visibility</p:attrName>
                                        </p:attrNameLst>
                                      </p:cBhvr>
                                      <p:to>
                                        <p:strVal val="visible"/>
                                      </p:to>
                                    </p:set>
                                    <p:animEffect transition="in" filter="wipe(left)">
                                      <p:cBhvr>
                                        <p:cTn id="207" dur="1000"/>
                                        <p:tgtEl>
                                          <p:spTgt spid="40"/>
                                        </p:tgtEl>
                                      </p:cBhvr>
                                    </p:animEffect>
                                  </p:childTnLst>
                                </p:cTn>
                              </p:par>
                            </p:childTnLst>
                          </p:cTn>
                        </p:par>
                        <p:par>
                          <p:cTn id="208" fill="hold">
                            <p:stCondLst>
                              <p:cond delay="1500"/>
                            </p:stCondLst>
                            <p:childTnLst>
                              <p:par>
                                <p:cTn id="209" presetID="22" presetClass="entr" presetSubtype="1" fill="hold" nodeType="afterEffect">
                                  <p:stCondLst>
                                    <p:cond delay="0"/>
                                  </p:stCondLst>
                                  <p:childTnLst>
                                    <p:set>
                                      <p:cBhvr>
                                        <p:cTn id="210" dur="1" fill="hold">
                                          <p:stCondLst>
                                            <p:cond delay="0"/>
                                          </p:stCondLst>
                                        </p:cTn>
                                        <p:tgtEl>
                                          <p:spTgt spid="2"/>
                                        </p:tgtEl>
                                        <p:attrNameLst>
                                          <p:attrName>style.visibility</p:attrName>
                                        </p:attrNameLst>
                                      </p:cBhvr>
                                      <p:to>
                                        <p:strVal val="visible"/>
                                      </p:to>
                                    </p:set>
                                    <p:animEffect transition="in" filter="wipe(up)">
                                      <p:cBhvr>
                                        <p:cTn id="211"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6" grpId="0" uiExpand="1" build="p"/>
      <p:bldP spid="19" grpId="0" uiExpand="1" build="p"/>
      <p:bldP spid="31" grpId="0" animBg="1"/>
      <p:bldP spid="31" grpId="1" animBg="1"/>
      <p:bldP spid="27" grpId="0" animBg="1"/>
      <p:bldP spid="27" grpId="1" animBg="1"/>
      <p:bldP spid="35" grpId="0" animBg="1"/>
      <p:bldP spid="35" grpId="1" animBg="1"/>
      <p:bldP spid="33" grpId="0" animBg="1"/>
      <p:bldP spid="33" grpId="1" animBg="1"/>
      <p:bldP spid="10" grpId="0"/>
      <p:bldP spid="26" grpId="0" animBg="1"/>
      <p:bldP spid="37" grpId="0"/>
      <p:bldP spid="49" grpId="0" animBg="1"/>
      <p:bldP spid="45" grpId="0" animBg="1"/>
      <p:bldP spid="47" grpId="0" animBg="1"/>
      <p:bldP spid="42" grpId="0" animBg="1"/>
      <p:bldP spid="46" grpId="0" animBg="1"/>
      <p:bldP spid="48" grpId="0" animBg="1"/>
      <p:bldP spid="44" grpId="0" animBg="1"/>
      <p:bldP spid="43" grpId="0" animBg="1"/>
      <p:bldP spid="63" grpId="0"/>
      <p:bldP spid="76" grpId="0" animBg="1"/>
      <p:bldP spid="75" grpId="0" animBg="1"/>
      <p:bldP spid="38" grpId="0" animBg="1"/>
      <p:bldP spid="39" grpId="0" animBg="1"/>
      <p:bldP spid="36" grpId="0" animBg="1"/>
      <p:bldP spid="53" grpId="0"/>
      <p:bldP spid="50" grpId="0" animBg="1"/>
      <p:bldP spid="32" grpId="0"/>
      <p:bldP spid="40" grpId="0" animBg="1"/>
    </p:bld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B2C154-DD93-ED6C-9F89-4C46E62AADD5}"/>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B4D7039D-DC4C-3007-1F96-6D1B58A2A3A3}"/>
              </a:ext>
            </a:extLst>
          </p:cNvPr>
          <p:cNvSpPr>
            <a:spLocks noGrp="1"/>
          </p:cNvSpPr>
          <p:nvPr>
            <p:ph type="title"/>
          </p:nvPr>
        </p:nvSpPr>
        <p:spPr/>
        <p:txBody>
          <a:bodyPr/>
          <a:lstStyle/>
          <a:p>
            <a:r>
              <a:rPr lang="en-GB" dirty="0"/>
              <a:t>Order of Operations (4)</a:t>
            </a:r>
          </a:p>
        </p:txBody>
      </p:sp>
      <p:sp>
        <p:nvSpPr>
          <p:cNvPr id="17" name="Pet - Text">
            <a:extLst>
              <a:ext uri="{FF2B5EF4-FFF2-40B4-BE49-F238E27FC236}">
                <a16:creationId xmlns:a16="http://schemas.microsoft.com/office/drawing/2014/main" id="{4CA12722-67FD-1D61-B738-175BB9CB27FD}"/>
              </a:ext>
            </a:extLst>
          </p:cNvPr>
          <p:cNvSpPr txBox="1"/>
          <p:nvPr/>
        </p:nvSpPr>
        <p:spPr>
          <a:xfrm>
            <a:off x="274510" y="3318733"/>
            <a:ext cx="1771650" cy="369332"/>
          </a:xfrm>
          <a:prstGeom prst="rect">
            <a:avLst/>
          </a:prstGeom>
          <a:noFill/>
        </p:spPr>
        <p:txBody>
          <a:bodyPr wrap="square" rtlCol="0">
            <a:spAutoFit/>
          </a:bodyPr>
          <a:lstStyle/>
          <a:p>
            <a:r>
              <a:rPr lang="en-GB" b="1" dirty="0"/>
              <a:t>Table: Pet</a:t>
            </a:r>
          </a:p>
        </p:txBody>
      </p:sp>
      <p:graphicFrame>
        <p:nvGraphicFramePr>
          <p:cNvPr id="22" name="Pet - Table">
            <a:extLst>
              <a:ext uri="{FF2B5EF4-FFF2-40B4-BE49-F238E27FC236}">
                <a16:creationId xmlns:a16="http://schemas.microsoft.com/office/drawing/2014/main" id="{F1277B78-8984-8B58-5C2E-EDE193CCEAA9}"/>
              </a:ext>
            </a:extLst>
          </p:cNvPr>
          <p:cNvGraphicFramePr>
            <a:graphicFrameLocks noGrp="1"/>
          </p:cNvGraphicFramePr>
          <p:nvPr/>
        </p:nvGraphicFramePr>
        <p:xfrm>
          <a:off x="360233" y="3639801"/>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7</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a:solidFill>
                            <a:schemeClr val="tx1"/>
                          </a:solidFill>
                          <a:effectLst/>
                        </a:rPr>
                        <a:t>Minnie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sp>
        <p:nvSpPr>
          <p:cNvPr id="6" name="SQL Statement">
            <a:extLst>
              <a:ext uri="{FF2B5EF4-FFF2-40B4-BE49-F238E27FC236}">
                <a16:creationId xmlns:a16="http://schemas.microsoft.com/office/drawing/2014/main" id="{BB3F14BF-DCE7-8211-AF0F-D5BAFB7215FB}"/>
              </a:ext>
            </a:extLst>
          </p:cNvPr>
          <p:cNvSpPr>
            <a:spLocks noChangeArrowheads="1"/>
          </p:cNvSpPr>
          <p:nvPr/>
        </p:nvSpPr>
        <p:spPr bwMode="auto">
          <a:xfrm>
            <a:off x="619125" y="1376445"/>
            <a:ext cx="328808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name, age</a:t>
            </a:r>
          </a:p>
          <a:p>
            <a:pPr lvl="0" eaLnBrk="0" fontAlgn="base" hangingPunct="0">
              <a:spcBef>
                <a:spcPct val="0"/>
              </a:spcBef>
              <a:spcAft>
                <a:spcPct val="0"/>
              </a:spcAft>
            </a:pPr>
            <a:r>
              <a:rPr lang="en-US" altLang="en-US" sz="2000" dirty="0">
                <a:solidFill>
                  <a:srgbClr val="B2B2B2"/>
                </a:solidFill>
                <a:latin typeface="Consolas" panose="020B0609020204030204" pitchFamily="49" charset="0"/>
              </a:rPr>
              <a:t>2 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FROM</a:t>
            </a:r>
            <a:r>
              <a:rPr lang="en-US" altLang="en-US" sz="2000" dirty="0">
                <a:solidFill>
                  <a:srgbClr val="000000"/>
                </a:solidFill>
                <a:latin typeface="Consolas" panose="020B0609020204030204" pitchFamily="49" charset="0"/>
              </a:rPr>
              <a:t> Pet</a:t>
            </a:r>
            <a:endParaRPr lang="en-US" altLang="en-US" sz="2000" dirty="0">
              <a:solidFill>
                <a:srgbClr val="B2B2B2"/>
              </a:solidFill>
              <a:latin typeface="Consolas" panose="020B0609020204030204" pitchFamily="49" charset="0"/>
            </a:endParaRPr>
          </a:p>
          <a:p>
            <a:pPr eaLnBrk="0" fontAlgn="base" hangingPunct="0">
              <a:spcBef>
                <a:spcPct val="0"/>
              </a:spcBef>
              <a:spcAft>
                <a:spcPct val="0"/>
              </a:spcAft>
            </a:pPr>
            <a:r>
              <a:rPr lang="en-US" altLang="en-US" sz="2000" dirty="0">
                <a:solidFill>
                  <a:srgbClr val="B2B2B2"/>
                </a:solidFill>
                <a:latin typeface="Consolas" panose="020B0609020204030204" pitchFamily="49" charset="0"/>
              </a:rPr>
              <a:t>3 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WHERE</a:t>
            </a:r>
            <a:r>
              <a:rPr lang="en-US" altLang="en-US" sz="2000" dirty="0">
                <a:solidFill>
                  <a:srgbClr val="000000"/>
                </a:solidFill>
                <a:latin typeface="Consolas" panose="020B0609020204030204" pitchFamily="49" charset="0"/>
              </a:rPr>
              <a:t> type = "</a:t>
            </a:r>
            <a:r>
              <a:rPr lang="en-US" altLang="en-US" sz="2000" dirty="0">
                <a:solidFill>
                  <a:srgbClr val="183691"/>
                </a:solidFill>
                <a:latin typeface="Consolas" panose="020B0609020204030204" pitchFamily="49" charset="0"/>
              </a:rPr>
              <a:t>Cat</a:t>
            </a:r>
            <a:r>
              <a:rPr lang="en-US" altLang="en-US" sz="2000" dirty="0">
                <a:solidFill>
                  <a:srgbClr val="000000"/>
                </a:solidFill>
                <a:latin typeface="Consolas" panose="020B0609020204030204" pitchFamily="49" charset="0"/>
              </a:rPr>
              <a:t>"</a:t>
            </a:r>
          </a:p>
          <a:p>
            <a:pPr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4 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AND </a:t>
            </a:r>
            <a:r>
              <a:rPr lang="en-US" altLang="en-US" sz="2000" dirty="0">
                <a:solidFill>
                  <a:srgbClr val="000000"/>
                </a:solidFill>
                <a:latin typeface="Consolas" panose="020B0609020204030204" pitchFamily="49" charset="0"/>
              </a:rPr>
              <a:t>age &lt; </a:t>
            </a:r>
            <a:r>
              <a:rPr lang="en-US" altLang="en-US" sz="2000" dirty="0">
                <a:solidFill>
                  <a:srgbClr val="0086B3"/>
                </a:solidFill>
                <a:latin typeface="Consolas" panose="020B0609020204030204" pitchFamily="49" charset="0"/>
              </a:rPr>
              <a:t>10</a:t>
            </a:r>
          </a:p>
          <a:p>
            <a:pPr eaLnBrk="0" fontAlgn="base" hangingPunct="0">
              <a:spcBef>
                <a:spcPct val="0"/>
              </a:spcBef>
              <a:spcAft>
                <a:spcPct val="0"/>
              </a:spcAft>
            </a:pPr>
            <a:r>
              <a:rPr lang="en-US" altLang="en-US" sz="2000" dirty="0">
                <a:solidFill>
                  <a:srgbClr val="B2B2B2"/>
                </a:solidFill>
                <a:latin typeface="Consolas" panose="020B0609020204030204" pitchFamily="49" charset="0"/>
              </a:rPr>
              <a:t>5 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ORDER BY</a:t>
            </a:r>
            <a:r>
              <a:rPr lang="en-US" altLang="en-US" sz="2000" dirty="0">
                <a:solidFill>
                  <a:srgbClr val="000000"/>
                </a:solidFill>
                <a:latin typeface="Consolas" panose="020B0609020204030204" pitchFamily="49" charset="0"/>
              </a:rPr>
              <a:t> name </a:t>
            </a:r>
            <a:r>
              <a:rPr lang="en-US" altLang="en-US" sz="2000" dirty="0">
                <a:solidFill>
                  <a:srgbClr val="A71D5D"/>
                </a:solidFill>
                <a:latin typeface="Consolas" panose="020B0609020204030204" pitchFamily="49" charset="0"/>
              </a:rPr>
              <a:t>ASC</a:t>
            </a:r>
            <a:r>
              <a:rPr lang="en-US" altLang="en-US" sz="2000" dirty="0">
                <a:solidFill>
                  <a:srgbClr val="000000"/>
                </a:solidFill>
                <a:latin typeface="Consolas" panose="020B0609020204030204" pitchFamily="49" charset="0"/>
              </a:rPr>
              <a:t>;</a:t>
            </a:r>
            <a:endParaRPr lang="en-US" altLang="en-US" sz="2000" dirty="0">
              <a:latin typeface="Consolas" panose="020B0609020204030204" pitchFamily="49" charset="0"/>
            </a:endParaRPr>
          </a:p>
        </p:txBody>
      </p:sp>
      <p:sp>
        <p:nvSpPr>
          <p:cNvPr id="19" name="Order of Operations">
            <a:extLst>
              <a:ext uri="{FF2B5EF4-FFF2-40B4-BE49-F238E27FC236}">
                <a16:creationId xmlns:a16="http://schemas.microsoft.com/office/drawing/2014/main" id="{9AB8BED7-3D03-6733-7EEB-905B6A695BC7}"/>
              </a:ext>
            </a:extLst>
          </p:cNvPr>
          <p:cNvSpPr txBox="1"/>
          <p:nvPr/>
        </p:nvSpPr>
        <p:spPr>
          <a:xfrm>
            <a:off x="8794761" y="599622"/>
            <a:ext cx="2590417" cy="2246769"/>
          </a:xfrm>
          <a:prstGeom prst="rect">
            <a:avLst/>
          </a:prstGeom>
          <a:noFill/>
        </p:spPr>
        <p:txBody>
          <a:bodyPr wrap="square" rtlCol="0">
            <a:spAutoFit/>
          </a:bodyPr>
          <a:lstStyle/>
          <a:p>
            <a:r>
              <a:rPr lang="en-GB" sz="2800" b="1" dirty="0">
                <a:solidFill>
                  <a:srgbClr val="7030A0"/>
                </a:solidFill>
              </a:rPr>
              <a:t>Order</a:t>
            </a:r>
            <a:r>
              <a:rPr lang="en-GB" sz="2800" dirty="0">
                <a:solidFill>
                  <a:srgbClr val="7030A0"/>
                </a:solidFill>
              </a:rPr>
              <a:t>:</a:t>
            </a:r>
          </a:p>
          <a:p>
            <a:pPr lvl="1"/>
            <a:r>
              <a:rPr lang="en-GB" sz="2800" dirty="0">
                <a:solidFill>
                  <a:srgbClr val="7030A0"/>
                </a:solidFill>
              </a:rPr>
              <a:t>1.  </a:t>
            </a:r>
          </a:p>
          <a:p>
            <a:pPr lvl="1"/>
            <a:r>
              <a:rPr lang="en-GB" sz="2800" dirty="0">
                <a:solidFill>
                  <a:srgbClr val="7030A0"/>
                </a:solidFill>
              </a:rPr>
              <a:t>2.  </a:t>
            </a:r>
          </a:p>
          <a:p>
            <a:pPr lvl="1"/>
            <a:r>
              <a:rPr lang="en-GB" sz="2800" dirty="0">
                <a:solidFill>
                  <a:srgbClr val="7030A0"/>
                </a:solidFill>
              </a:rPr>
              <a:t>3.  </a:t>
            </a:r>
          </a:p>
          <a:p>
            <a:pPr lvl="1"/>
            <a:r>
              <a:rPr lang="en-GB" sz="2800" dirty="0">
                <a:solidFill>
                  <a:srgbClr val="7030A0"/>
                </a:solidFill>
              </a:rPr>
              <a:t>4.  </a:t>
            </a:r>
          </a:p>
        </p:txBody>
      </p:sp>
      <p:sp>
        <p:nvSpPr>
          <p:cNvPr id="26" name="WHERE - Arrow - Left">
            <a:extLst>
              <a:ext uri="{FF2B5EF4-FFF2-40B4-BE49-F238E27FC236}">
                <a16:creationId xmlns:a16="http://schemas.microsoft.com/office/drawing/2014/main" id="{1A22687F-9CC3-77DA-888E-EB02C1FDEFA4}"/>
              </a:ext>
            </a:extLst>
          </p:cNvPr>
          <p:cNvSpPr/>
          <p:nvPr/>
        </p:nvSpPr>
        <p:spPr>
          <a:xfrm>
            <a:off x="2420059" y="4007157"/>
            <a:ext cx="464567" cy="2160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3" name="WHERE - Table">
            <a:extLst>
              <a:ext uri="{FF2B5EF4-FFF2-40B4-BE49-F238E27FC236}">
                <a16:creationId xmlns:a16="http://schemas.microsoft.com/office/drawing/2014/main" id="{DA0004D0-54C5-7FE3-495E-2E40E17F56E7}"/>
              </a:ext>
            </a:extLst>
          </p:cNvPr>
          <p:cNvGraphicFramePr>
            <a:graphicFrameLocks noGrp="1"/>
          </p:cNvGraphicFramePr>
          <p:nvPr/>
        </p:nvGraphicFramePr>
        <p:xfrm>
          <a:off x="2903217" y="3639801"/>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Pepper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rPr>
                        <a:t>Snowy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9</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cxnSp>
        <p:nvCxnSpPr>
          <p:cNvPr id="51" name="WHERE - Arrow - Type">
            <a:extLst>
              <a:ext uri="{FF2B5EF4-FFF2-40B4-BE49-F238E27FC236}">
                <a16:creationId xmlns:a16="http://schemas.microsoft.com/office/drawing/2014/main" id="{B2D81B2D-4987-42CA-8D6D-43906A2EC175}"/>
              </a:ext>
            </a:extLst>
          </p:cNvPr>
          <p:cNvCxnSpPr>
            <a:cxnSpLocks/>
          </p:cNvCxnSpPr>
          <p:nvPr/>
        </p:nvCxnSpPr>
        <p:spPr>
          <a:xfrm flipH="1">
            <a:off x="4195656" y="3264624"/>
            <a:ext cx="298411" cy="362872"/>
          </a:xfrm>
          <a:prstGeom prst="straightConnector1">
            <a:avLst/>
          </a:prstGeom>
          <a:ln w="28575">
            <a:solidFill>
              <a:srgbClr val="FFFF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2" name="WHERE - Arrow - Age">
            <a:extLst>
              <a:ext uri="{FF2B5EF4-FFF2-40B4-BE49-F238E27FC236}">
                <a16:creationId xmlns:a16="http://schemas.microsoft.com/office/drawing/2014/main" id="{9333E855-31ED-4E6B-82EC-DCA7F6CBC7F6}"/>
              </a:ext>
            </a:extLst>
          </p:cNvPr>
          <p:cNvCxnSpPr>
            <a:cxnSpLocks/>
          </p:cNvCxnSpPr>
          <p:nvPr/>
        </p:nvCxnSpPr>
        <p:spPr>
          <a:xfrm>
            <a:off x="4494067" y="3264624"/>
            <a:ext cx="209327" cy="362872"/>
          </a:xfrm>
          <a:prstGeom prst="straightConnector1">
            <a:avLst/>
          </a:prstGeom>
          <a:ln w="28575">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49" name="Pepper - Yellow">
            <a:extLst>
              <a:ext uri="{FF2B5EF4-FFF2-40B4-BE49-F238E27FC236}">
                <a16:creationId xmlns:a16="http://schemas.microsoft.com/office/drawing/2014/main" id="{8E30FF34-BC35-4A8B-A41B-A0E7794E8E93}"/>
              </a:ext>
            </a:extLst>
          </p:cNvPr>
          <p:cNvSpPr/>
          <p:nvPr/>
        </p:nvSpPr>
        <p:spPr>
          <a:xfrm>
            <a:off x="3713567" y="3986027"/>
            <a:ext cx="788106" cy="294526"/>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Snowy - Yellow">
            <a:extLst>
              <a:ext uri="{FF2B5EF4-FFF2-40B4-BE49-F238E27FC236}">
                <a16:creationId xmlns:a16="http://schemas.microsoft.com/office/drawing/2014/main" id="{BFF977AB-31E8-4CF0-AC67-B3BA3353BB9D}"/>
              </a:ext>
            </a:extLst>
          </p:cNvPr>
          <p:cNvSpPr/>
          <p:nvPr/>
        </p:nvSpPr>
        <p:spPr>
          <a:xfrm>
            <a:off x="3715666" y="4617463"/>
            <a:ext cx="788105"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Snowy - Purple">
            <a:extLst>
              <a:ext uri="{FF2B5EF4-FFF2-40B4-BE49-F238E27FC236}">
                <a16:creationId xmlns:a16="http://schemas.microsoft.com/office/drawing/2014/main" id="{6EE97270-3EB8-4AD7-8307-1840358483FD}"/>
              </a:ext>
            </a:extLst>
          </p:cNvPr>
          <p:cNvSpPr/>
          <p:nvPr/>
        </p:nvSpPr>
        <p:spPr>
          <a:xfrm>
            <a:off x="4511470" y="4616304"/>
            <a:ext cx="432901" cy="312791"/>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Snowy - Row">
            <a:extLst>
              <a:ext uri="{FF2B5EF4-FFF2-40B4-BE49-F238E27FC236}">
                <a16:creationId xmlns:a16="http://schemas.microsoft.com/office/drawing/2014/main" id="{83271580-F433-4F4F-8561-2DA25E02F2D3}"/>
              </a:ext>
            </a:extLst>
          </p:cNvPr>
          <p:cNvSpPr/>
          <p:nvPr/>
        </p:nvSpPr>
        <p:spPr>
          <a:xfrm>
            <a:off x="2852577" y="4620397"/>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Kitty - Yellow">
            <a:extLst>
              <a:ext uri="{FF2B5EF4-FFF2-40B4-BE49-F238E27FC236}">
                <a16:creationId xmlns:a16="http://schemas.microsoft.com/office/drawing/2014/main" id="{9B7BDE56-4A4F-4D90-B635-8437BD30F9B3}"/>
              </a:ext>
            </a:extLst>
          </p:cNvPr>
          <p:cNvSpPr/>
          <p:nvPr/>
        </p:nvSpPr>
        <p:spPr>
          <a:xfrm>
            <a:off x="3715667" y="5583557"/>
            <a:ext cx="785649" cy="312791"/>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Kitty - Purple">
            <a:extLst>
              <a:ext uri="{FF2B5EF4-FFF2-40B4-BE49-F238E27FC236}">
                <a16:creationId xmlns:a16="http://schemas.microsoft.com/office/drawing/2014/main" id="{9475256E-05FD-409B-9B61-B36D8E8FAE33}"/>
              </a:ext>
            </a:extLst>
          </p:cNvPr>
          <p:cNvSpPr/>
          <p:nvPr/>
        </p:nvSpPr>
        <p:spPr>
          <a:xfrm>
            <a:off x="4508178" y="5591177"/>
            <a:ext cx="432000" cy="312791"/>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Kitty - Row">
            <a:extLst>
              <a:ext uri="{FF2B5EF4-FFF2-40B4-BE49-F238E27FC236}">
                <a16:creationId xmlns:a16="http://schemas.microsoft.com/office/drawing/2014/main" id="{02B25370-6891-4B68-8B6D-5A83B5C508E4}"/>
              </a:ext>
            </a:extLst>
          </p:cNvPr>
          <p:cNvSpPr/>
          <p:nvPr/>
        </p:nvSpPr>
        <p:spPr>
          <a:xfrm>
            <a:off x="2852576" y="5584027"/>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SELECT - Arrow">
            <a:extLst>
              <a:ext uri="{FF2B5EF4-FFF2-40B4-BE49-F238E27FC236}">
                <a16:creationId xmlns:a16="http://schemas.microsoft.com/office/drawing/2014/main" id="{12735B52-F70C-8511-82FF-DD98CDFED39E}"/>
              </a:ext>
            </a:extLst>
          </p:cNvPr>
          <p:cNvSpPr/>
          <p:nvPr/>
        </p:nvSpPr>
        <p:spPr>
          <a:xfrm>
            <a:off x="4962641" y="4007157"/>
            <a:ext cx="464567" cy="2160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62" name="SELECT - Table">
            <a:extLst>
              <a:ext uri="{FF2B5EF4-FFF2-40B4-BE49-F238E27FC236}">
                <a16:creationId xmlns:a16="http://schemas.microsoft.com/office/drawing/2014/main" id="{2B9122F8-6167-4D85-A839-C4D5DBB12F55}"/>
              </a:ext>
            </a:extLst>
          </p:cNvPr>
          <p:cNvGraphicFramePr>
            <a:graphicFrameLocks noGrp="1"/>
          </p:cNvGraphicFramePr>
          <p:nvPr/>
        </p:nvGraphicFramePr>
        <p:xfrm>
          <a:off x="5465929" y="3632872"/>
          <a:ext cx="2042287" cy="9715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Snowy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7</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rPr>
                        <a:t>Kitty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dirty="0">
                          <a:solidFill>
                            <a:schemeClr val="tx1"/>
                          </a:solidFill>
                          <a:effectLst/>
                        </a:rPr>
                        <a:t>9</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bl>
          </a:graphicData>
        </a:graphic>
      </p:graphicFrame>
      <p:cxnSp>
        <p:nvCxnSpPr>
          <p:cNvPr id="71" name="SELECT - Arrow -  Name">
            <a:extLst>
              <a:ext uri="{FF2B5EF4-FFF2-40B4-BE49-F238E27FC236}">
                <a16:creationId xmlns:a16="http://schemas.microsoft.com/office/drawing/2014/main" id="{5EFE38C2-8439-4C5F-9F74-44013184CA32}"/>
              </a:ext>
            </a:extLst>
          </p:cNvPr>
          <p:cNvCxnSpPr>
            <a:cxnSpLocks/>
            <a:endCxn id="76" idx="0"/>
          </p:cNvCxnSpPr>
          <p:nvPr/>
        </p:nvCxnSpPr>
        <p:spPr>
          <a:xfrm flipH="1">
            <a:off x="5844478" y="3102776"/>
            <a:ext cx="335933" cy="49605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ELECT - Arrow -  Age">
            <a:extLst>
              <a:ext uri="{FF2B5EF4-FFF2-40B4-BE49-F238E27FC236}">
                <a16:creationId xmlns:a16="http://schemas.microsoft.com/office/drawing/2014/main" id="{CB1B2BAC-3D1A-47A0-875C-8C332C63A9A8}"/>
              </a:ext>
            </a:extLst>
          </p:cNvPr>
          <p:cNvCxnSpPr>
            <a:cxnSpLocks/>
            <a:endCxn id="75" idx="0"/>
          </p:cNvCxnSpPr>
          <p:nvPr/>
        </p:nvCxnSpPr>
        <p:spPr>
          <a:xfrm>
            <a:off x="7031371" y="3102776"/>
            <a:ext cx="245820" cy="49605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6" name="SEELCT - Name - Column">
            <a:extLst>
              <a:ext uri="{FF2B5EF4-FFF2-40B4-BE49-F238E27FC236}">
                <a16:creationId xmlns:a16="http://schemas.microsoft.com/office/drawing/2014/main" id="{6EEFB8EA-38EB-40F0-ACDB-32F4A15C8012}"/>
              </a:ext>
            </a:extLst>
          </p:cNvPr>
          <p:cNvSpPr/>
          <p:nvPr/>
        </p:nvSpPr>
        <p:spPr>
          <a:xfrm>
            <a:off x="5448478" y="3598828"/>
            <a:ext cx="792000" cy="10440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SELECT - Age - Column">
            <a:extLst>
              <a:ext uri="{FF2B5EF4-FFF2-40B4-BE49-F238E27FC236}">
                <a16:creationId xmlns:a16="http://schemas.microsoft.com/office/drawing/2014/main" id="{C0AD6763-50D9-4E2A-B402-55C2BB0C7BE6}"/>
              </a:ext>
            </a:extLst>
          </p:cNvPr>
          <p:cNvSpPr/>
          <p:nvPr/>
        </p:nvSpPr>
        <p:spPr>
          <a:xfrm>
            <a:off x="7043191" y="3598829"/>
            <a:ext cx="468000" cy="10440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RDER BY - Arrow">
            <a:extLst>
              <a:ext uri="{FF2B5EF4-FFF2-40B4-BE49-F238E27FC236}">
                <a16:creationId xmlns:a16="http://schemas.microsoft.com/office/drawing/2014/main" id="{41B03BC3-B622-38BA-3963-2997C3543829}"/>
              </a:ext>
            </a:extLst>
          </p:cNvPr>
          <p:cNvSpPr/>
          <p:nvPr/>
        </p:nvSpPr>
        <p:spPr>
          <a:xfrm>
            <a:off x="7533547" y="3956710"/>
            <a:ext cx="464567" cy="2160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34" name="ORDER BY - Table">
            <a:extLst>
              <a:ext uri="{FF2B5EF4-FFF2-40B4-BE49-F238E27FC236}">
                <a16:creationId xmlns:a16="http://schemas.microsoft.com/office/drawing/2014/main" id="{E0BBC3ED-5980-4555-A8A3-099E898A9ACE}"/>
              </a:ext>
            </a:extLst>
          </p:cNvPr>
          <p:cNvGraphicFramePr>
            <a:graphicFrameLocks noGrp="1"/>
          </p:cNvGraphicFramePr>
          <p:nvPr/>
        </p:nvGraphicFramePr>
        <p:xfrm>
          <a:off x="8039726" y="3632651"/>
          <a:ext cx="2042287" cy="9715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Kitty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9</a:t>
                      </a: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Snowy</a:t>
                      </a: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7</a:t>
                      </a:r>
                    </a:p>
                  </a:txBody>
                  <a:tcPr marL="9525" marR="9525" marT="9525" marB="9525" anchor="ctr"/>
                </a:tc>
                <a:extLst>
                  <a:ext uri="{0D108BD9-81ED-4DB2-BD59-A6C34878D82A}">
                    <a16:rowId xmlns:a16="http://schemas.microsoft.com/office/drawing/2014/main" val="3759566993"/>
                  </a:ext>
                </a:extLst>
              </a:tr>
            </a:tbl>
          </a:graphicData>
        </a:graphic>
      </p:graphicFrame>
      <p:sp>
        <p:nvSpPr>
          <p:cNvPr id="39" name="ORDER BY - Name - Column">
            <a:extLst>
              <a:ext uri="{FF2B5EF4-FFF2-40B4-BE49-F238E27FC236}">
                <a16:creationId xmlns:a16="http://schemas.microsoft.com/office/drawing/2014/main" id="{06443A74-850B-4B68-B57B-3EBF9399648C}"/>
              </a:ext>
            </a:extLst>
          </p:cNvPr>
          <p:cNvSpPr/>
          <p:nvPr/>
        </p:nvSpPr>
        <p:spPr>
          <a:xfrm>
            <a:off x="8022275" y="3598607"/>
            <a:ext cx="792000" cy="10440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RDER BY - Age - Column">
            <a:extLst>
              <a:ext uri="{FF2B5EF4-FFF2-40B4-BE49-F238E27FC236}">
                <a16:creationId xmlns:a16="http://schemas.microsoft.com/office/drawing/2014/main" id="{83B5CED2-59DA-499C-8C7B-D1D61E8D6792}"/>
              </a:ext>
            </a:extLst>
          </p:cNvPr>
          <p:cNvSpPr/>
          <p:nvPr/>
        </p:nvSpPr>
        <p:spPr>
          <a:xfrm>
            <a:off x="9616988" y="3598608"/>
            <a:ext cx="468000" cy="10440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ORDER BY - Arrow">
            <a:extLst>
              <a:ext uri="{FF2B5EF4-FFF2-40B4-BE49-F238E27FC236}">
                <a16:creationId xmlns:a16="http://schemas.microsoft.com/office/drawing/2014/main" id="{C1F0A221-96ED-45E7-B859-646BBC60627E}"/>
              </a:ext>
            </a:extLst>
          </p:cNvPr>
          <p:cNvSpPr/>
          <p:nvPr/>
        </p:nvSpPr>
        <p:spPr>
          <a:xfrm rot="16200000">
            <a:off x="5612195" y="4695095"/>
            <a:ext cx="464567" cy="46799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0" name="Output - Arrow">
            <a:extLst>
              <a:ext uri="{FF2B5EF4-FFF2-40B4-BE49-F238E27FC236}">
                <a16:creationId xmlns:a16="http://schemas.microsoft.com/office/drawing/2014/main" id="{3B5A7066-A7FC-4D8E-A7A4-C42F5958AFC7}"/>
              </a:ext>
            </a:extLst>
          </p:cNvPr>
          <p:cNvSpPr/>
          <p:nvPr/>
        </p:nvSpPr>
        <p:spPr>
          <a:xfrm>
            <a:off x="10102480" y="3956710"/>
            <a:ext cx="464567" cy="2160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 name="Output - Table">
            <a:extLst>
              <a:ext uri="{FF2B5EF4-FFF2-40B4-BE49-F238E27FC236}">
                <a16:creationId xmlns:a16="http://schemas.microsoft.com/office/drawing/2014/main" id="{23E04685-FE2C-E794-0AD6-95692BED2BED}"/>
              </a:ext>
            </a:extLst>
          </p:cNvPr>
          <p:cNvGraphicFramePr>
            <a:graphicFrameLocks noGrp="1"/>
          </p:cNvGraphicFramePr>
          <p:nvPr/>
        </p:nvGraphicFramePr>
        <p:xfrm>
          <a:off x="10590566" y="3605759"/>
          <a:ext cx="1254887" cy="9715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Kitty</a:t>
                      </a: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9</a:t>
                      </a:r>
                    </a:p>
                  </a:txBody>
                  <a:tcPr marL="9525" marR="9525" marT="9525" marB="9525" anchor="ctr"/>
                </a:tc>
                <a:extLst>
                  <a:ext uri="{0D108BD9-81ED-4DB2-BD59-A6C34878D82A}">
                    <a16:rowId xmlns:a16="http://schemas.microsoft.com/office/drawing/2014/main" val="627053109"/>
                  </a:ext>
                </a:extLst>
              </a:tr>
              <a:tr h="0">
                <a:tc>
                  <a:txBody>
                    <a:bodyPr/>
                    <a:lstStyle/>
                    <a:p>
                      <a:pPr algn="l"/>
                      <a:r>
                        <a:rPr lang="en-GB" sz="2000" b="0" dirty="0">
                          <a:solidFill>
                            <a:schemeClr val="tx1"/>
                          </a:solidFill>
                          <a:effectLst/>
                        </a:rPr>
                        <a:t>Snowy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ctr"/>
                      <a:r>
                        <a:rPr lang="en-GB" sz="2000" b="0" i="0" dirty="0">
                          <a:solidFill>
                            <a:schemeClr val="tx1"/>
                          </a:solidFill>
                          <a:effectLst/>
                          <a:latin typeface="Calibri" panose="020F0502020204030204" pitchFamily="34" charset="0"/>
                          <a:cs typeface="Calibri" panose="020F0502020204030204" pitchFamily="34" charset="0"/>
                        </a:rPr>
                        <a:t>7</a:t>
                      </a:r>
                    </a:p>
                  </a:txBody>
                  <a:tcPr marL="9525" marR="9525" marT="9525" marB="9525" anchor="ctr"/>
                </a:tc>
                <a:extLst>
                  <a:ext uri="{0D108BD9-81ED-4DB2-BD59-A6C34878D82A}">
                    <a16:rowId xmlns:a16="http://schemas.microsoft.com/office/drawing/2014/main" val="3151915704"/>
                  </a:ext>
                </a:extLst>
              </a:tr>
            </a:tbl>
          </a:graphicData>
        </a:graphic>
      </p:graphicFrame>
    </p:spTree>
    <p:extLst>
      <p:ext uri="{BB962C8B-B14F-4D97-AF65-F5344CB8AC3E}">
        <p14:creationId xmlns:p14="http://schemas.microsoft.com/office/powerpoint/2010/main" val="24472932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Prison Task</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a:lnSpc>
                <a:spcPct val="120000"/>
              </a:lnSpc>
            </a:pPr>
            <a:r>
              <a:rPr lang="en-GB" sz="4200" dirty="0"/>
              <a:t>Complete the Prison tasks</a:t>
            </a:r>
          </a:p>
        </p:txBody>
      </p:sp>
    </p:spTree>
    <p:extLst>
      <p:ext uri="{BB962C8B-B14F-4D97-AF65-F5344CB8AC3E}">
        <p14:creationId xmlns:p14="http://schemas.microsoft.com/office/powerpoint/2010/main" val="27970757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Doing It All!</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lnSpcReduction="10000"/>
          </a:bodyPr>
          <a:lstStyle/>
          <a:p>
            <a:pPr marL="0" lvl="0" indent="0" eaLnBrk="0" fontAlgn="base" hangingPunct="0">
              <a:lnSpc>
                <a:spcPct val="11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firstName</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lastName</a:t>
            </a:r>
            <a:r>
              <a:rPr lang="en-US" altLang="en-US" sz="4400" dirty="0">
                <a:solidFill>
                  <a:srgbClr val="000000"/>
                </a:solidFill>
                <a:latin typeface="Consolas" panose="020B0609020204030204" pitchFamily="49" charset="0"/>
              </a:rPr>
              <a:t>, age</a:t>
            </a:r>
          </a:p>
          <a:p>
            <a:pPr marL="0" lvl="0" indent="0" eaLnBrk="0" fontAlgn="base" hangingPunct="0">
              <a:lnSpc>
                <a:spcPct val="11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pupil</a:t>
            </a:r>
          </a:p>
          <a:p>
            <a:pPr marL="0" lvl="0" indent="0" eaLnBrk="0" fontAlgn="base" hangingPunct="0">
              <a:lnSpc>
                <a:spcPct val="11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lastName</a:t>
            </a:r>
            <a:r>
              <a:rPr lang="en-US" altLang="en-US" sz="4400" dirty="0">
                <a:solidFill>
                  <a:srgbClr val="000000"/>
                </a:solidFill>
                <a:latin typeface="Consolas" panose="020B0609020204030204" pitchFamily="49" charset="0"/>
              </a:rPr>
              <a:t> = </a:t>
            </a:r>
            <a:r>
              <a:rPr lang="en-US" altLang="en-US" sz="4400" dirty="0">
                <a:solidFill>
                  <a:srgbClr val="183691"/>
                </a:solidFill>
                <a:latin typeface="Consolas" panose="020B0609020204030204" pitchFamily="49" charset="0"/>
              </a:rPr>
              <a:t>"Smith"</a:t>
            </a:r>
            <a:endParaRPr lang="en-US" altLang="en-US" sz="4400" dirty="0">
              <a:solidFill>
                <a:srgbClr val="000000"/>
              </a:solidFill>
              <a:latin typeface="Consolas" panose="020B0609020204030204" pitchFamily="49" charset="0"/>
            </a:endParaRPr>
          </a:p>
          <a:p>
            <a:pPr marL="0" lvl="0" indent="0" eaLnBrk="0" fontAlgn="base" hangingPunct="0">
              <a:lnSpc>
                <a:spcPct val="110000"/>
              </a:lnSpc>
              <a:spcBef>
                <a:spcPct val="0"/>
              </a:spcBef>
              <a:spcAft>
                <a:spcPct val="0"/>
              </a:spcAft>
              <a:buNone/>
            </a:pPr>
            <a:r>
              <a:rPr lang="en-US" altLang="en-US" sz="4400" dirty="0">
                <a:solidFill>
                  <a:srgbClr val="B2B2B2"/>
                </a:solidFill>
                <a:latin typeface="Consolas" panose="020B0609020204030204" pitchFamily="49" charset="0"/>
              </a:rPr>
              <a:t>4     </a:t>
            </a:r>
            <a:r>
              <a:rPr lang="en-US" altLang="en-US" sz="4400" dirty="0">
                <a:solidFill>
                  <a:srgbClr val="A71D5D"/>
                </a:solidFill>
                <a:latin typeface="Consolas" panose="020B0609020204030204" pitchFamily="49" charset="0"/>
              </a:rPr>
              <a:t>AND</a:t>
            </a:r>
            <a:r>
              <a:rPr lang="en-US" altLang="en-US" sz="4400" dirty="0">
                <a:solidFill>
                  <a:srgbClr val="000000"/>
                </a:solidFill>
                <a:latin typeface="Consolas" panose="020B0609020204030204" pitchFamily="49" charset="0"/>
              </a:rPr>
              <a:t> age &gt;= </a:t>
            </a:r>
            <a:r>
              <a:rPr lang="en-US" altLang="en-US" sz="4400" dirty="0">
                <a:solidFill>
                  <a:srgbClr val="0086B3"/>
                </a:solidFill>
                <a:latin typeface="Consolas" panose="020B0609020204030204" pitchFamily="49" charset="0"/>
              </a:rPr>
              <a:t>12</a:t>
            </a:r>
            <a:endParaRPr lang="en-US" altLang="en-US" sz="4400" dirty="0">
              <a:solidFill>
                <a:srgbClr val="000000"/>
              </a:solidFill>
              <a:latin typeface="Consolas" panose="020B0609020204030204" pitchFamily="49" charset="0"/>
            </a:endParaRPr>
          </a:p>
          <a:p>
            <a:pPr marL="0" lvl="0" indent="0" eaLnBrk="0" fontAlgn="base" hangingPunct="0">
              <a:lnSpc>
                <a:spcPct val="110000"/>
              </a:lnSpc>
              <a:spcBef>
                <a:spcPct val="0"/>
              </a:spcBef>
              <a:spcAft>
                <a:spcPct val="0"/>
              </a:spcAft>
              <a:buNone/>
            </a:pPr>
            <a:r>
              <a:rPr lang="en-US" altLang="en-US" sz="4400" dirty="0">
                <a:solidFill>
                  <a:srgbClr val="B2B2B2"/>
                </a:solidFill>
                <a:latin typeface="Consolas" panose="020B0609020204030204" pitchFamily="49" charset="0"/>
              </a:rPr>
              <a:t>5   </a:t>
            </a:r>
            <a:r>
              <a:rPr lang="en-US" altLang="en-US" sz="4400" dirty="0">
                <a:solidFill>
                  <a:srgbClr val="A71D5D"/>
                </a:solidFill>
                <a:latin typeface="Consolas" panose="020B0609020204030204" pitchFamily="49" charset="0"/>
              </a:rPr>
              <a:t>ORDER BY</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firstName</a:t>
            </a:r>
            <a:r>
              <a:rPr lang="en-US" altLang="en-US" sz="4400" dirty="0">
                <a:solidFill>
                  <a:srgbClr val="000000"/>
                </a:solidFill>
                <a:latin typeface="Consolas" panose="020B0609020204030204" pitchFamily="49" charset="0"/>
              </a:rPr>
              <a:t> </a:t>
            </a:r>
            <a:r>
              <a:rPr lang="en-US" altLang="en-US" sz="4400" dirty="0">
                <a:solidFill>
                  <a:srgbClr val="A71D5D"/>
                </a:solidFill>
                <a:latin typeface="Consolas" panose="020B0609020204030204" pitchFamily="49" charset="0"/>
              </a:rPr>
              <a:t>ASC</a:t>
            </a:r>
            <a:r>
              <a:rPr lang="en-US" altLang="en-US" sz="4400" dirty="0">
                <a:solidFill>
                  <a:srgbClr val="000000"/>
                </a:solidFill>
                <a:latin typeface="Consolas" panose="020B0609020204030204" pitchFamily="49" charset="0"/>
              </a:rPr>
              <a:t>,</a:t>
            </a:r>
          </a:p>
          <a:p>
            <a:pPr marL="0" lvl="0" indent="0" eaLnBrk="0" fontAlgn="base" hangingPunct="0">
              <a:lnSpc>
                <a:spcPct val="110000"/>
              </a:lnSpc>
              <a:spcBef>
                <a:spcPct val="0"/>
              </a:spcBef>
              <a:spcAft>
                <a:spcPct val="0"/>
              </a:spcAft>
              <a:buNone/>
            </a:pPr>
            <a:r>
              <a:rPr lang="en-US" altLang="en-US" sz="4400" dirty="0">
                <a:solidFill>
                  <a:srgbClr val="B2B2B2"/>
                </a:solidFill>
                <a:latin typeface="Consolas" panose="020B0609020204030204" pitchFamily="49" charset="0"/>
              </a:rPr>
              <a:t>6            </a:t>
            </a:r>
            <a:r>
              <a:rPr lang="en-US" altLang="en-US" sz="4400" dirty="0">
                <a:solidFill>
                  <a:srgbClr val="000000"/>
                </a:solidFill>
                <a:latin typeface="Consolas" panose="020B0609020204030204" pitchFamily="49" charset="0"/>
              </a:rPr>
              <a:t>age </a:t>
            </a:r>
            <a:r>
              <a:rPr lang="en-US" altLang="en-US" sz="4400" dirty="0">
                <a:solidFill>
                  <a:srgbClr val="A71D5D"/>
                </a:solidFill>
                <a:latin typeface="Consolas" panose="020B0609020204030204" pitchFamily="49" charset="0"/>
              </a:rPr>
              <a:t>DESC</a:t>
            </a:r>
            <a:r>
              <a:rPr lang="en-US" altLang="en-US" sz="44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2723771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Doing It All!</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100" dirty="0">
                <a:solidFill>
                  <a:srgbClr val="B2B2B2"/>
                </a:solidFill>
                <a:latin typeface="Consolas" panose="020B0609020204030204" pitchFamily="49" charset="0"/>
              </a:rPr>
              <a:t>1 </a:t>
            </a:r>
            <a:r>
              <a:rPr lang="en-US" altLang="en-US" sz="4100" dirty="0">
                <a:solidFill>
                  <a:srgbClr val="A71D5D"/>
                </a:solidFill>
                <a:latin typeface="Consolas" panose="020B0609020204030204" pitchFamily="49" charset="0"/>
              </a:rPr>
              <a:t>SELECT</a:t>
            </a:r>
            <a:r>
              <a:rPr lang="en-US" altLang="en-US" sz="4100" dirty="0">
                <a:solidFill>
                  <a:srgbClr val="000000"/>
                </a:solidFill>
                <a:latin typeface="Consolas" panose="020B0609020204030204" pitchFamily="49" charset="0"/>
              </a:rPr>
              <a:t> </a:t>
            </a:r>
            <a:r>
              <a:rPr lang="en-US" altLang="en-US" sz="4100" dirty="0" err="1">
                <a:solidFill>
                  <a:srgbClr val="000000"/>
                </a:solidFill>
                <a:latin typeface="Consolas" panose="020B0609020204030204" pitchFamily="49" charset="0"/>
              </a:rPr>
              <a:t>firstName</a:t>
            </a:r>
            <a:r>
              <a:rPr lang="en-US" altLang="en-US" sz="4100" dirty="0">
                <a:solidFill>
                  <a:srgbClr val="000000"/>
                </a:solidFill>
                <a:latin typeface="Consolas" panose="020B0609020204030204" pitchFamily="49" charset="0"/>
              </a:rPr>
              <a:t>, </a:t>
            </a:r>
            <a:r>
              <a:rPr lang="en-US" altLang="en-US" sz="4100" dirty="0" err="1">
                <a:solidFill>
                  <a:srgbClr val="000000"/>
                </a:solidFill>
                <a:latin typeface="Consolas" panose="020B0609020204030204" pitchFamily="49" charset="0"/>
              </a:rPr>
              <a:t>lastName</a:t>
            </a:r>
            <a:r>
              <a:rPr lang="en-US" altLang="en-US" sz="41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100" dirty="0">
                <a:solidFill>
                  <a:srgbClr val="B2B2B2"/>
                </a:solidFill>
                <a:latin typeface="Consolas" panose="020B0609020204030204" pitchFamily="49" charset="0"/>
              </a:rPr>
              <a:t>2   </a:t>
            </a:r>
            <a:r>
              <a:rPr lang="en-US" altLang="en-US" sz="4100" dirty="0">
                <a:solidFill>
                  <a:srgbClr val="A71D5D"/>
                </a:solidFill>
                <a:latin typeface="Consolas" panose="020B0609020204030204" pitchFamily="49" charset="0"/>
              </a:rPr>
              <a:t>FROM</a:t>
            </a:r>
            <a:r>
              <a:rPr lang="en-US" altLang="en-US" sz="41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100" dirty="0">
                <a:solidFill>
                  <a:srgbClr val="B2B2B2"/>
                </a:solidFill>
                <a:latin typeface="Consolas" panose="020B0609020204030204" pitchFamily="49" charset="0"/>
              </a:rPr>
              <a:t>3   </a:t>
            </a:r>
            <a:r>
              <a:rPr lang="en-US" altLang="en-US" sz="4100" dirty="0">
                <a:solidFill>
                  <a:srgbClr val="A71D5D"/>
                </a:solidFill>
                <a:latin typeface="Consolas" panose="020B0609020204030204" pitchFamily="49" charset="0"/>
              </a:rPr>
              <a:t>WHERE</a:t>
            </a:r>
            <a:r>
              <a:rPr lang="en-US" altLang="en-US" sz="4100" dirty="0">
                <a:solidFill>
                  <a:srgbClr val="000000"/>
                </a:solidFill>
                <a:latin typeface="Consolas" panose="020B0609020204030204" pitchFamily="49" charset="0"/>
              </a:rPr>
              <a:t> </a:t>
            </a:r>
            <a:r>
              <a:rPr lang="en-US" altLang="en-US" sz="4100" dirty="0" err="1">
                <a:solidFill>
                  <a:srgbClr val="000000"/>
                </a:solidFill>
                <a:latin typeface="Consolas" panose="020B0609020204030204" pitchFamily="49" charset="0"/>
              </a:rPr>
              <a:t>lastName</a:t>
            </a:r>
            <a:r>
              <a:rPr lang="en-US" altLang="en-US" sz="4100" dirty="0">
                <a:solidFill>
                  <a:srgbClr val="000000"/>
                </a:solidFill>
                <a:latin typeface="Consolas" panose="020B0609020204030204" pitchFamily="49" charset="0"/>
              </a:rPr>
              <a:t> = </a:t>
            </a:r>
            <a:r>
              <a:rPr lang="en-US" altLang="en-US" sz="4100" dirty="0">
                <a:solidFill>
                  <a:srgbClr val="183691"/>
                </a:solidFill>
                <a:latin typeface="Consolas" panose="020B0609020204030204" pitchFamily="49" charset="0"/>
              </a:rPr>
              <a:t>"Smith"</a:t>
            </a:r>
            <a:endParaRPr lang="en-US" altLang="en-US" sz="41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100" dirty="0">
                <a:solidFill>
                  <a:srgbClr val="B2B2B2"/>
                </a:solidFill>
                <a:latin typeface="Consolas" panose="020B0609020204030204" pitchFamily="49" charset="0"/>
              </a:rPr>
              <a:t>4     </a:t>
            </a:r>
            <a:r>
              <a:rPr lang="en-US" altLang="en-US" sz="4100" dirty="0">
                <a:solidFill>
                  <a:srgbClr val="A71D5D"/>
                </a:solidFill>
                <a:latin typeface="Consolas" panose="020B0609020204030204" pitchFamily="49" charset="0"/>
              </a:rPr>
              <a:t>AND</a:t>
            </a:r>
            <a:r>
              <a:rPr lang="en-US" altLang="en-US" sz="4100" dirty="0">
                <a:solidFill>
                  <a:srgbClr val="000000"/>
                </a:solidFill>
                <a:latin typeface="Consolas" panose="020B0609020204030204" pitchFamily="49" charset="0"/>
              </a:rPr>
              <a:t> age &gt;= </a:t>
            </a:r>
            <a:r>
              <a:rPr lang="en-US" altLang="en-US" sz="4100" dirty="0">
                <a:solidFill>
                  <a:srgbClr val="0086B3"/>
                </a:solidFill>
                <a:latin typeface="Consolas" panose="020B0609020204030204" pitchFamily="49" charset="0"/>
              </a:rPr>
              <a:t>12</a:t>
            </a:r>
            <a:endParaRPr lang="en-US" altLang="en-US" sz="41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100" dirty="0">
                <a:solidFill>
                  <a:srgbClr val="B2B2B2"/>
                </a:solidFill>
                <a:latin typeface="Consolas" panose="020B0609020204030204" pitchFamily="49" charset="0"/>
              </a:rPr>
              <a:t>5   </a:t>
            </a:r>
            <a:r>
              <a:rPr lang="en-US" altLang="en-US" sz="4100" dirty="0">
                <a:solidFill>
                  <a:srgbClr val="A71D5D"/>
                </a:solidFill>
                <a:latin typeface="Consolas" panose="020B0609020204030204" pitchFamily="49" charset="0"/>
              </a:rPr>
              <a:t>ORDER BY</a:t>
            </a:r>
            <a:r>
              <a:rPr lang="en-US" altLang="en-US" sz="4100" dirty="0">
                <a:solidFill>
                  <a:srgbClr val="000000"/>
                </a:solidFill>
                <a:latin typeface="Consolas" panose="020B0609020204030204" pitchFamily="49" charset="0"/>
              </a:rPr>
              <a:t> </a:t>
            </a:r>
            <a:r>
              <a:rPr lang="en-US" altLang="en-US" sz="4100" dirty="0" err="1">
                <a:solidFill>
                  <a:srgbClr val="000000"/>
                </a:solidFill>
                <a:latin typeface="Consolas" panose="020B0609020204030204" pitchFamily="49" charset="0"/>
              </a:rPr>
              <a:t>firstName</a:t>
            </a:r>
            <a:r>
              <a:rPr lang="en-US" altLang="en-US" sz="4100" dirty="0">
                <a:solidFill>
                  <a:srgbClr val="000000"/>
                </a:solidFill>
                <a:latin typeface="Consolas" panose="020B0609020204030204" pitchFamily="49" charset="0"/>
              </a:rPr>
              <a:t> </a:t>
            </a:r>
            <a:r>
              <a:rPr lang="en-US" altLang="en-US" sz="4100" dirty="0">
                <a:solidFill>
                  <a:srgbClr val="A71D5D"/>
                </a:solidFill>
                <a:latin typeface="Consolas" panose="020B0609020204030204" pitchFamily="49" charset="0"/>
              </a:rPr>
              <a:t>ASC</a:t>
            </a:r>
            <a:r>
              <a:rPr lang="en-US" altLang="en-US" sz="4100" dirty="0">
                <a:solidFill>
                  <a:srgbClr val="000000"/>
                </a:solidFill>
                <a:latin typeface="Consolas" panose="020B0609020204030204" pitchFamily="49" charset="0"/>
              </a:rPr>
              <a:t>, </a:t>
            </a:r>
            <a:r>
              <a:rPr lang="en-US" altLang="en-US" sz="4100" dirty="0">
                <a:solidFill>
                  <a:srgbClr val="B2B2B2"/>
                </a:solidFill>
                <a:latin typeface="Consolas" panose="020B0609020204030204" pitchFamily="49" charset="0"/>
              </a:rPr>
              <a:t>6            </a:t>
            </a:r>
            <a:r>
              <a:rPr lang="en-US" altLang="en-US" sz="4100" dirty="0">
                <a:solidFill>
                  <a:srgbClr val="000000"/>
                </a:solidFill>
                <a:latin typeface="Consolas" panose="020B0609020204030204" pitchFamily="49" charset="0"/>
              </a:rPr>
              <a:t>age </a:t>
            </a:r>
            <a:r>
              <a:rPr lang="en-US" altLang="en-US" sz="4100" dirty="0">
                <a:solidFill>
                  <a:srgbClr val="A71D5D"/>
                </a:solidFill>
                <a:latin typeface="Consolas" panose="020B0609020204030204" pitchFamily="49" charset="0"/>
              </a:rPr>
              <a:t>DESC</a:t>
            </a:r>
            <a:r>
              <a:rPr lang="en-US" altLang="en-US" sz="4100" dirty="0">
                <a:solidFill>
                  <a:srgbClr val="000000"/>
                </a:solidFill>
                <a:latin typeface="Consolas" panose="020B0609020204030204" pitchFamily="49" charset="0"/>
              </a:rPr>
              <a:t>;</a:t>
            </a:r>
            <a:endParaRPr lang="en-US" altLang="en-US" sz="4100" dirty="0">
              <a:latin typeface="Arial" panose="020B0604020202020204" pitchFamily="34" charset="0"/>
            </a:endParaRPr>
          </a:p>
        </p:txBody>
      </p:sp>
    </p:spTree>
    <p:extLst>
      <p:ext uri="{BB962C8B-B14F-4D97-AF65-F5344CB8AC3E}">
        <p14:creationId xmlns:p14="http://schemas.microsoft.com/office/powerpoint/2010/main" val="13430845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D0BEE-2342-41E9-ADC7-8B1CDA3D11FA}"/>
              </a:ext>
            </a:extLst>
          </p:cNvPr>
          <p:cNvSpPr>
            <a:spLocks noGrp="1"/>
          </p:cNvSpPr>
          <p:nvPr>
            <p:ph type="title"/>
          </p:nvPr>
        </p:nvSpPr>
        <p:spPr/>
        <p:txBody>
          <a:bodyPr/>
          <a:lstStyle/>
          <a:p>
            <a:r>
              <a:rPr lang="en-GB" dirty="0"/>
              <a:t>Santa's List</a:t>
            </a:r>
          </a:p>
        </p:txBody>
      </p:sp>
      <p:sp>
        <p:nvSpPr>
          <p:cNvPr id="8" name="TextBox 7">
            <a:extLst>
              <a:ext uri="{FF2B5EF4-FFF2-40B4-BE49-F238E27FC236}">
                <a16:creationId xmlns:a16="http://schemas.microsoft.com/office/drawing/2014/main" id="{7D00045F-E068-4D3F-A6EB-9B8562941AC4}"/>
              </a:ext>
            </a:extLst>
          </p:cNvPr>
          <p:cNvSpPr txBox="1"/>
          <p:nvPr/>
        </p:nvSpPr>
        <p:spPr>
          <a:xfrm>
            <a:off x="838200" y="1690688"/>
            <a:ext cx="11103429" cy="4524315"/>
          </a:xfrm>
          <a:prstGeom prst="rect">
            <a:avLst/>
          </a:prstGeom>
          <a:noFill/>
        </p:spPr>
        <p:txBody>
          <a:bodyPr wrap="square" rtlCol="0">
            <a:spAutoFit/>
          </a:bodyPr>
          <a:lstStyle/>
          <a:p>
            <a:r>
              <a:rPr lang="en-GB" sz="3200" dirty="0"/>
              <a:t>Write a SQL statement to help Santa</a:t>
            </a:r>
          </a:p>
          <a:p>
            <a:r>
              <a:rPr lang="en-GB" sz="3200" dirty="0"/>
              <a:t>with delivering presents.</a:t>
            </a:r>
          </a:p>
          <a:p>
            <a:endParaRPr lang="en-GB" sz="3200" dirty="0"/>
          </a:p>
          <a:p>
            <a:r>
              <a:rPr lang="en-GB" sz="3200" dirty="0"/>
              <a:t>He wants to know the forename, </a:t>
            </a:r>
          </a:p>
          <a:p>
            <a:r>
              <a:rPr lang="en-GB" sz="3200" dirty="0"/>
              <a:t>surname, and gift ID for everyone </a:t>
            </a:r>
          </a:p>
          <a:p>
            <a:r>
              <a:rPr lang="en-GB" sz="3200" dirty="0"/>
              <a:t>who has been nice this year.</a:t>
            </a:r>
          </a:p>
          <a:p>
            <a:endParaRPr lang="en-GB" sz="3200" dirty="0"/>
          </a:p>
          <a:p>
            <a:r>
              <a:rPr lang="en-GB" sz="3200" dirty="0"/>
              <a:t>He wants to deliver the presents in </a:t>
            </a:r>
          </a:p>
          <a:p>
            <a:r>
              <a:rPr lang="en-GB" sz="3200" dirty="0"/>
              <a:t>reverse order for surnames but alphabetical for forenames.</a:t>
            </a:r>
          </a:p>
        </p:txBody>
      </p:sp>
      <p:grpSp>
        <p:nvGrpSpPr>
          <p:cNvPr id="7" name="Group 6">
            <a:extLst>
              <a:ext uri="{FF2B5EF4-FFF2-40B4-BE49-F238E27FC236}">
                <a16:creationId xmlns:a16="http://schemas.microsoft.com/office/drawing/2014/main" id="{806E4F47-4AC7-4FE1-8831-8C61AC4BA39E}"/>
              </a:ext>
            </a:extLst>
          </p:cNvPr>
          <p:cNvGrpSpPr/>
          <p:nvPr/>
        </p:nvGrpSpPr>
        <p:grpSpPr>
          <a:xfrm>
            <a:off x="8005767" y="1690688"/>
            <a:ext cx="3348033" cy="2862322"/>
            <a:chOff x="2997509" y="1690688"/>
            <a:chExt cx="3348033" cy="2862322"/>
          </a:xfrm>
        </p:grpSpPr>
        <p:sp>
          <p:nvSpPr>
            <p:cNvPr id="4" name="TextBox 3">
              <a:extLst>
                <a:ext uri="{FF2B5EF4-FFF2-40B4-BE49-F238E27FC236}">
                  <a16:creationId xmlns:a16="http://schemas.microsoft.com/office/drawing/2014/main" id="{F9578B56-32C7-4DB0-B023-458E8479DA80}"/>
                </a:ext>
              </a:extLst>
            </p:cNvPr>
            <p:cNvSpPr txBox="1"/>
            <p:nvPr/>
          </p:nvSpPr>
          <p:spPr>
            <a:xfrm>
              <a:off x="2997510" y="1690688"/>
              <a:ext cx="1635704" cy="2862322"/>
            </a:xfrm>
            <a:prstGeom prst="rect">
              <a:avLst/>
            </a:prstGeom>
            <a:solidFill>
              <a:schemeClr val="accent3">
                <a:lumMod val="20000"/>
                <a:lumOff val="80000"/>
              </a:schemeClr>
            </a:solidFill>
            <a:ln>
              <a:solidFill>
                <a:schemeClr val="tx1"/>
              </a:solidFill>
            </a:ln>
          </p:spPr>
          <p:txBody>
            <a:bodyPr wrap="square" rtlCol="0">
              <a:spAutoFit/>
            </a:bodyPr>
            <a:lstStyle/>
            <a:p>
              <a:r>
                <a:rPr lang="en-GB" sz="3600" b="1" dirty="0">
                  <a:highlight>
                    <a:srgbClr val="C0C0C0"/>
                  </a:highlight>
                </a:rPr>
                <a:t>   </a:t>
              </a:r>
              <a:endParaRPr lang="en-GB" sz="3600" dirty="0"/>
            </a:p>
            <a:p>
              <a:r>
                <a:rPr lang="en-GB" sz="3600" dirty="0" err="1"/>
                <a:t>giftID</a:t>
              </a:r>
              <a:endParaRPr lang="en-GB" sz="3600" dirty="0"/>
            </a:p>
            <a:p>
              <a:r>
                <a:rPr lang="en-GB" sz="3600" dirty="0"/>
                <a:t>first</a:t>
              </a:r>
            </a:p>
            <a:p>
              <a:r>
                <a:rPr lang="en-GB" sz="3600" dirty="0"/>
                <a:t>last</a:t>
              </a:r>
            </a:p>
            <a:p>
              <a:r>
                <a:rPr lang="en-GB" sz="3600" dirty="0"/>
                <a:t>nice</a:t>
              </a:r>
            </a:p>
          </p:txBody>
        </p:sp>
        <p:sp>
          <p:nvSpPr>
            <p:cNvPr id="6" name="TextBox 5">
              <a:extLst>
                <a:ext uri="{FF2B5EF4-FFF2-40B4-BE49-F238E27FC236}">
                  <a16:creationId xmlns:a16="http://schemas.microsoft.com/office/drawing/2014/main" id="{0C82AEF5-B5EF-4BF9-BB0D-2B5245D13EC2}"/>
                </a:ext>
              </a:extLst>
            </p:cNvPr>
            <p:cNvSpPr txBox="1"/>
            <p:nvPr/>
          </p:nvSpPr>
          <p:spPr>
            <a:xfrm>
              <a:off x="4633214" y="1690688"/>
              <a:ext cx="1712328" cy="2862322"/>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endParaRPr lang="en-GB" sz="3600" dirty="0"/>
            </a:p>
            <a:p>
              <a:r>
                <a:rPr lang="en-GB" sz="3600" dirty="0"/>
                <a:t>number</a:t>
              </a:r>
            </a:p>
            <a:p>
              <a:r>
                <a:rPr lang="en-GB" sz="3600" dirty="0"/>
                <a:t>text</a:t>
              </a:r>
            </a:p>
            <a:p>
              <a:r>
                <a:rPr lang="en-GB" sz="3600" dirty="0"/>
                <a:t>text</a:t>
              </a:r>
            </a:p>
            <a:p>
              <a:r>
                <a:rPr lang="en-GB" sz="3600" dirty="0" err="1"/>
                <a:t>boolean</a:t>
              </a:r>
              <a:endParaRPr lang="en-GB" sz="3600" dirty="0"/>
            </a:p>
          </p:txBody>
        </p:sp>
        <p:sp>
          <p:nvSpPr>
            <p:cNvPr id="5" name="TextBox 4">
              <a:extLst>
                <a:ext uri="{FF2B5EF4-FFF2-40B4-BE49-F238E27FC236}">
                  <a16:creationId xmlns:a16="http://schemas.microsoft.com/office/drawing/2014/main" id="{5BD2BA1D-A577-43E9-837C-FB8E6AD7A108}"/>
                </a:ext>
              </a:extLst>
            </p:cNvPr>
            <p:cNvSpPr txBox="1"/>
            <p:nvPr/>
          </p:nvSpPr>
          <p:spPr>
            <a:xfrm>
              <a:off x="2997509" y="1690688"/>
              <a:ext cx="3348033" cy="646331"/>
            </a:xfrm>
            <a:prstGeom prst="rect">
              <a:avLst/>
            </a:prstGeom>
            <a:solidFill>
              <a:schemeClr val="bg2">
                <a:lumMod val="90000"/>
              </a:schemeClr>
            </a:solidFill>
            <a:ln>
              <a:solidFill>
                <a:schemeClr val="tx1"/>
              </a:solidFill>
            </a:ln>
          </p:spPr>
          <p:txBody>
            <a:bodyPr wrap="square" rtlCol="0">
              <a:spAutoFit/>
            </a:bodyPr>
            <a:lstStyle/>
            <a:p>
              <a:r>
                <a:rPr lang="en-GB" sz="3600" b="1" dirty="0"/>
                <a:t>gift</a:t>
              </a:r>
            </a:p>
          </p:txBody>
        </p:sp>
      </p:grpSp>
    </p:spTree>
    <p:extLst>
      <p:ext uri="{BB962C8B-B14F-4D97-AF65-F5344CB8AC3E}">
        <p14:creationId xmlns:p14="http://schemas.microsoft.com/office/powerpoint/2010/main" val="2111382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1000"/>
                                        <p:tgtEl>
                                          <p:spTgt spid="8">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Effect transition="in" filter="wipe(left)">
                                      <p:cBhvr>
                                        <p:cTn id="11" dur="750"/>
                                        <p:tgtEl>
                                          <p:spTgt spid="8">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2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wipe(left)">
                                      <p:cBhvr>
                                        <p:cTn id="21" dur="1000"/>
                                        <p:tgtEl>
                                          <p:spTgt spid="8">
                                            <p:txEl>
                                              <p:pRg st="3" end="3"/>
                                            </p:txEl>
                                          </p:spTgt>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Effect transition="in" filter="wipe(left)">
                                      <p:cBhvr>
                                        <p:cTn id="25" dur="1000"/>
                                        <p:tgtEl>
                                          <p:spTgt spid="8">
                                            <p:txEl>
                                              <p:pRg st="4" end="4"/>
                                            </p:txEl>
                                          </p:spTgt>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animEffect transition="in" filter="wipe(left)">
                                      <p:cBhvr>
                                        <p:cTn id="29" dur="1000"/>
                                        <p:tgtEl>
                                          <p:spTgt spid="8">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8">
                                            <p:txEl>
                                              <p:pRg st="7" end="7"/>
                                            </p:txEl>
                                          </p:spTgt>
                                        </p:tgtEl>
                                        <p:attrNameLst>
                                          <p:attrName>style.visibility</p:attrName>
                                        </p:attrNameLst>
                                      </p:cBhvr>
                                      <p:to>
                                        <p:strVal val="visible"/>
                                      </p:to>
                                    </p:set>
                                    <p:animEffect transition="in" filter="wipe(left)">
                                      <p:cBhvr>
                                        <p:cTn id="34" dur="1000"/>
                                        <p:tgtEl>
                                          <p:spTgt spid="8">
                                            <p:txEl>
                                              <p:pRg st="7" end="7"/>
                                            </p:txEl>
                                          </p:spTgt>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8">
                                            <p:txEl>
                                              <p:pRg st="8" end="8"/>
                                            </p:txEl>
                                          </p:spTgt>
                                        </p:tgtEl>
                                        <p:attrNameLst>
                                          <p:attrName>style.visibility</p:attrName>
                                        </p:attrNameLst>
                                      </p:cBhvr>
                                      <p:to>
                                        <p:strVal val="visible"/>
                                      </p:to>
                                    </p:set>
                                    <p:animEffect transition="in" filter="wipe(left)">
                                      <p:cBhvr>
                                        <p:cTn id="38" dur="20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Santa's List - SQL</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1 </a:t>
            </a:r>
            <a:r>
              <a:rPr lang="en-US" altLang="en-US" sz="4200" dirty="0">
                <a:solidFill>
                  <a:srgbClr val="A71D5D"/>
                </a:solidFill>
                <a:latin typeface="Consolas" panose="020B0609020204030204" pitchFamily="49" charset="0"/>
              </a:rPr>
              <a:t>SELECT</a:t>
            </a:r>
            <a:r>
              <a:rPr lang="en-US" altLang="en-US" sz="4200" dirty="0">
                <a:solidFill>
                  <a:srgbClr val="000000"/>
                </a:solidFill>
                <a:latin typeface="Consolas" panose="020B0609020204030204" pitchFamily="49" charset="0"/>
              </a:rPr>
              <a:t> first, last, </a:t>
            </a:r>
            <a:r>
              <a:rPr lang="en-US" altLang="en-US" sz="4200" dirty="0" err="1">
                <a:solidFill>
                  <a:srgbClr val="000000"/>
                </a:solidFill>
                <a:latin typeface="Consolas" panose="020B0609020204030204" pitchFamily="49" charset="0"/>
              </a:rPr>
              <a:t>giftID</a:t>
            </a:r>
            <a:endParaRPr lang="en-US" altLang="en-US" sz="42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2   </a:t>
            </a:r>
            <a:r>
              <a:rPr lang="en-US" altLang="en-US" sz="4200" dirty="0">
                <a:solidFill>
                  <a:srgbClr val="A71D5D"/>
                </a:solidFill>
                <a:latin typeface="Consolas" panose="020B0609020204030204" pitchFamily="49" charset="0"/>
              </a:rPr>
              <a:t>FROM</a:t>
            </a:r>
            <a:r>
              <a:rPr lang="en-US" altLang="en-US" sz="4200" dirty="0">
                <a:solidFill>
                  <a:srgbClr val="000000"/>
                </a:solidFill>
                <a:latin typeface="Consolas" panose="020B0609020204030204" pitchFamily="49" charset="0"/>
              </a:rPr>
              <a:t> gift</a:t>
            </a: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3   </a:t>
            </a:r>
            <a:r>
              <a:rPr lang="en-US" altLang="en-US" sz="4200" dirty="0">
                <a:solidFill>
                  <a:srgbClr val="A71D5D"/>
                </a:solidFill>
                <a:latin typeface="Consolas" panose="020B0609020204030204" pitchFamily="49" charset="0"/>
              </a:rPr>
              <a:t>WHERE</a:t>
            </a:r>
            <a:r>
              <a:rPr lang="en-US" altLang="en-US" sz="4200" dirty="0">
                <a:solidFill>
                  <a:srgbClr val="000000"/>
                </a:solidFill>
                <a:latin typeface="Consolas" panose="020B0609020204030204" pitchFamily="49" charset="0"/>
              </a:rPr>
              <a:t> nice = </a:t>
            </a:r>
            <a:r>
              <a:rPr lang="en-US" altLang="en-US" sz="4000" dirty="0">
                <a:solidFill>
                  <a:srgbClr val="A71D5D"/>
                </a:solidFill>
                <a:latin typeface="Consolas" panose="020B0609020204030204" pitchFamily="49" charset="0"/>
              </a:rPr>
              <a:t>TRUE</a:t>
            </a:r>
            <a:endParaRPr lang="en-US" altLang="en-US" sz="42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4   </a:t>
            </a:r>
            <a:r>
              <a:rPr lang="en-US" altLang="en-US" sz="4200" dirty="0">
                <a:solidFill>
                  <a:srgbClr val="A71D5D"/>
                </a:solidFill>
                <a:latin typeface="Consolas" panose="020B0609020204030204" pitchFamily="49" charset="0"/>
              </a:rPr>
              <a:t>ORDER BY</a:t>
            </a:r>
            <a:r>
              <a:rPr lang="en-US" altLang="en-US" sz="4200" dirty="0">
                <a:solidFill>
                  <a:srgbClr val="000000"/>
                </a:solidFill>
                <a:latin typeface="Consolas" panose="020B0609020204030204" pitchFamily="49" charset="0"/>
              </a:rPr>
              <a:t> last </a:t>
            </a:r>
            <a:r>
              <a:rPr lang="en-US" altLang="en-US" sz="4200" dirty="0">
                <a:solidFill>
                  <a:srgbClr val="A71D5D"/>
                </a:solidFill>
                <a:latin typeface="Consolas" panose="020B0609020204030204" pitchFamily="49" charset="0"/>
              </a:rPr>
              <a:t>DESC</a:t>
            </a:r>
            <a:r>
              <a:rPr lang="en-US" altLang="en-US" sz="42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200" dirty="0">
                <a:solidFill>
                  <a:srgbClr val="B2B2B2"/>
                </a:solidFill>
                <a:latin typeface="Consolas" panose="020B0609020204030204" pitchFamily="49" charset="0"/>
              </a:rPr>
              <a:t>5     </a:t>
            </a:r>
            <a:r>
              <a:rPr lang="en-US" altLang="en-US" sz="4200" dirty="0">
                <a:solidFill>
                  <a:srgbClr val="000000"/>
                </a:solidFill>
                <a:latin typeface="Consolas" panose="020B0609020204030204" pitchFamily="49" charset="0"/>
              </a:rPr>
              <a:t>first </a:t>
            </a:r>
            <a:r>
              <a:rPr lang="en-US" altLang="en-US" sz="4200" dirty="0">
                <a:solidFill>
                  <a:srgbClr val="A71D5D"/>
                </a:solidFill>
                <a:latin typeface="Consolas" panose="020B0609020204030204" pitchFamily="49" charset="0"/>
              </a:rPr>
              <a:t>ASC</a:t>
            </a:r>
            <a:r>
              <a:rPr lang="en-US" altLang="en-US" sz="4200" dirty="0">
                <a:solidFill>
                  <a:srgbClr val="000000"/>
                </a:solidFill>
                <a:latin typeface="Consolas" panose="020B0609020204030204" pitchFamily="49" charset="0"/>
              </a:rPr>
              <a:t>;</a:t>
            </a:r>
            <a:br>
              <a:rPr lang="en-US" altLang="en-US" sz="4200" dirty="0">
                <a:solidFill>
                  <a:srgbClr val="000000"/>
                </a:solidFill>
                <a:latin typeface="Consolas" panose="020B0609020204030204" pitchFamily="49" charset="0"/>
              </a:rPr>
            </a:br>
            <a:endParaRPr lang="en-US" altLang="en-US" sz="4200" dirty="0">
              <a:latin typeface="Arial" panose="020B0604020202020204" pitchFamily="34" charset="0"/>
            </a:endParaRPr>
          </a:p>
          <a:p>
            <a:pPr>
              <a:lnSpc>
                <a:spcPct val="120000"/>
              </a:lnSpc>
            </a:pPr>
            <a:endParaRPr lang="en-GB" sz="4200" dirty="0"/>
          </a:p>
        </p:txBody>
      </p:sp>
      <p:grpSp>
        <p:nvGrpSpPr>
          <p:cNvPr id="5" name="Group 4">
            <a:extLst>
              <a:ext uri="{FF2B5EF4-FFF2-40B4-BE49-F238E27FC236}">
                <a16:creationId xmlns:a16="http://schemas.microsoft.com/office/drawing/2014/main" id="{5158795E-4509-49D9-9430-5E3771C3DA3B}"/>
              </a:ext>
            </a:extLst>
          </p:cNvPr>
          <p:cNvGrpSpPr/>
          <p:nvPr/>
        </p:nvGrpSpPr>
        <p:grpSpPr>
          <a:xfrm>
            <a:off x="8005767" y="3449578"/>
            <a:ext cx="3348033" cy="2862322"/>
            <a:chOff x="2997509" y="1690688"/>
            <a:chExt cx="3348033" cy="2862322"/>
          </a:xfrm>
        </p:grpSpPr>
        <p:sp>
          <p:nvSpPr>
            <p:cNvPr id="6" name="TextBox 5">
              <a:extLst>
                <a:ext uri="{FF2B5EF4-FFF2-40B4-BE49-F238E27FC236}">
                  <a16:creationId xmlns:a16="http://schemas.microsoft.com/office/drawing/2014/main" id="{01874BD1-A196-48C3-BD84-7782EF92C462}"/>
                </a:ext>
              </a:extLst>
            </p:cNvPr>
            <p:cNvSpPr txBox="1"/>
            <p:nvPr/>
          </p:nvSpPr>
          <p:spPr>
            <a:xfrm>
              <a:off x="2997510" y="1690688"/>
              <a:ext cx="1635704" cy="2862322"/>
            </a:xfrm>
            <a:prstGeom prst="rect">
              <a:avLst/>
            </a:prstGeom>
            <a:solidFill>
              <a:schemeClr val="accent3">
                <a:lumMod val="20000"/>
                <a:lumOff val="80000"/>
              </a:schemeClr>
            </a:solidFill>
            <a:ln>
              <a:solidFill>
                <a:schemeClr val="tx1"/>
              </a:solidFill>
            </a:ln>
          </p:spPr>
          <p:txBody>
            <a:bodyPr wrap="square" rtlCol="0">
              <a:spAutoFit/>
            </a:bodyPr>
            <a:lstStyle/>
            <a:p>
              <a:r>
                <a:rPr lang="en-GB" sz="3600" b="1" dirty="0">
                  <a:highlight>
                    <a:srgbClr val="C0C0C0"/>
                  </a:highlight>
                </a:rPr>
                <a:t>   </a:t>
              </a:r>
            </a:p>
            <a:p>
              <a:r>
                <a:rPr lang="en-GB" sz="3600" dirty="0" err="1"/>
                <a:t>giftID</a:t>
              </a:r>
              <a:endParaRPr lang="en-GB" sz="3600" dirty="0"/>
            </a:p>
            <a:p>
              <a:r>
                <a:rPr lang="en-GB" sz="3600" dirty="0"/>
                <a:t>first</a:t>
              </a:r>
            </a:p>
            <a:p>
              <a:r>
                <a:rPr lang="en-GB" sz="3600" dirty="0"/>
                <a:t>last</a:t>
              </a:r>
            </a:p>
            <a:p>
              <a:r>
                <a:rPr lang="en-GB" sz="3600" dirty="0"/>
                <a:t>nice</a:t>
              </a:r>
            </a:p>
          </p:txBody>
        </p:sp>
        <p:sp>
          <p:nvSpPr>
            <p:cNvPr id="7" name="TextBox 6">
              <a:extLst>
                <a:ext uri="{FF2B5EF4-FFF2-40B4-BE49-F238E27FC236}">
                  <a16:creationId xmlns:a16="http://schemas.microsoft.com/office/drawing/2014/main" id="{75E5E1DB-3BA0-4A48-B0F0-F57150E41230}"/>
                </a:ext>
              </a:extLst>
            </p:cNvPr>
            <p:cNvSpPr txBox="1"/>
            <p:nvPr/>
          </p:nvSpPr>
          <p:spPr>
            <a:xfrm>
              <a:off x="4633214" y="1690688"/>
              <a:ext cx="1712328" cy="2862322"/>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dirty="0"/>
                <a:t>number</a:t>
              </a:r>
            </a:p>
            <a:p>
              <a:r>
                <a:rPr lang="en-GB" sz="3600" dirty="0"/>
                <a:t>text</a:t>
              </a:r>
            </a:p>
            <a:p>
              <a:r>
                <a:rPr lang="en-GB" sz="3600" dirty="0"/>
                <a:t>text</a:t>
              </a:r>
            </a:p>
            <a:p>
              <a:r>
                <a:rPr lang="en-GB" sz="3600" dirty="0" err="1"/>
                <a:t>boolean</a:t>
              </a:r>
              <a:endParaRPr lang="en-GB" sz="3600" dirty="0"/>
            </a:p>
          </p:txBody>
        </p:sp>
        <p:sp>
          <p:nvSpPr>
            <p:cNvPr id="8" name="TextBox 7">
              <a:extLst>
                <a:ext uri="{FF2B5EF4-FFF2-40B4-BE49-F238E27FC236}">
                  <a16:creationId xmlns:a16="http://schemas.microsoft.com/office/drawing/2014/main" id="{7E6EB94D-8327-4A33-9265-A7636A8D791F}"/>
                </a:ext>
              </a:extLst>
            </p:cNvPr>
            <p:cNvSpPr txBox="1"/>
            <p:nvPr/>
          </p:nvSpPr>
          <p:spPr>
            <a:xfrm>
              <a:off x="2997509" y="1690688"/>
              <a:ext cx="3348033" cy="646331"/>
            </a:xfrm>
            <a:prstGeom prst="rect">
              <a:avLst/>
            </a:prstGeom>
            <a:solidFill>
              <a:schemeClr val="bg2">
                <a:lumMod val="90000"/>
              </a:schemeClr>
            </a:solidFill>
            <a:ln>
              <a:solidFill>
                <a:schemeClr val="tx1"/>
              </a:solidFill>
            </a:ln>
          </p:spPr>
          <p:txBody>
            <a:bodyPr wrap="square" rtlCol="0">
              <a:spAutoFit/>
            </a:bodyPr>
            <a:lstStyle/>
            <a:p>
              <a:r>
                <a:rPr lang="en-GB" sz="3600" b="1" dirty="0"/>
                <a:t>gift</a:t>
              </a:r>
            </a:p>
          </p:txBody>
        </p:sp>
      </p:grpSp>
    </p:spTree>
    <p:extLst>
      <p:ext uri="{BB962C8B-B14F-4D97-AF65-F5344CB8AC3E}">
        <p14:creationId xmlns:p14="http://schemas.microsoft.com/office/powerpoint/2010/main" val="3199892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175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1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left)">
                                      <p:cBhvr>
                                        <p:cTn id="22" dur="1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left)">
                                      <p:cBhvr>
                                        <p:cTn id="27" dur="1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left)">
                                      <p:cBhvr>
                                        <p:cTn id="32" dur="12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Video Games Task</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a:lnSpc>
                <a:spcPct val="120000"/>
              </a:lnSpc>
            </a:pPr>
            <a:r>
              <a:rPr lang="en-GB" sz="4200" dirty="0"/>
              <a:t>Complete the Video Games tasks</a:t>
            </a:r>
          </a:p>
        </p:txBody>
      </p:sp>
    </p:spTree>
    <p:extLst>
      <p:ext uri="{BB962C8B-B14F-4D97-AF65-F5344CB8AC3E}">
        <p14:creationId xmlns:p14="http://schemas.microsoft.com/office/powerpoint/2010/main" val="9270049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r>
              <a:rPr lang="en-GB" dirty="0"/>
              <a:t>Describe and use SQL </a:t>
            </a:r>
            <a:r>
              <a:rPr lang="en-GB" dirty="0" err="1"/>
              <a:t>equi</a:t>
            </a:r>
            <a:r>
              <a:rPr lang="en-GB" dirty="0"/>
              <a:t>-joins between tables</a:t>
            </a:r>
          </a:p>
        </p:txBody>
      </p:sp>
    </p:spTree>
    <p:extLst>
      <p:ext uri="{BB962C8B-B14F-4D97-AF65-F5344CB8AC3E}">
        <p14:creationId xmlns:p14="http://schemas.microsoft.com/office/powerpoint/2010/main" val="33269178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AC65A-FD1A-BA1D-1BF6-AAC2517F365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4C665E2-9D1A-B958-6DD2-7F3DD5C473A6}"/>
              </a:ext>
            </a:extLst>
          </p:cNvPr>
          <p:cNvSpPr>
            <a:spLocks noGrp="1"/>
          </p:cNvSpPr>
          <p:nvPr>
            <p:ph type="title"/>
          </p:nvPr>
        </p:nvSpPr>
        <p:spPr/>
        <p:txBody>
          <a:bodyPr/>
          <a:lstStyle/>
          <a:p>
            <a:r>
              <a:rPr lang="en-GB" dirty="0"/>
              <a:t>Primary Key (PK)</a:t>
            </a:r>
          </a:p>
        </p:txBody>
      </p:sp>
      <p:grpSp>
        <p:nvGrpSpPr>
          <p:cNvPr id="13" name="taxi">
            <a:extLst>
              <a:ext uri="{FF2B5EF4-FFF2-40B4-BE49-F238E27FC236}">
                <a16:creationId xmlns:a16="http://schemas.microsoft.com/office/drawing/2014/main" id="{EA65587E-0D48-7FFF-BECE-C5976BE8844D}"/>
              </a:ext>
            </a:extLst>
          </p:cNvPr>
          <p:cNvGrpSpPr/>
          <p:nvPr/>
        </p:nvGrpSpPr>
        <p:grpSpPr>
          <a:xfrm>
            <a:off x="2808915" y="2290135"/>
            <a:ext cx="1704313" cy="2308324"/>
            <a:chOff x="2197100" y="1720840"/>
            <a:chExt cx="1704313" cy="2308324"/>
          </a:xfrm>
        </p:grpSpPr>
        <p:sp>
          <p:nvSpPr>
            <p:cNvPr id="14" name="TextBox 13">
              <a:extLst>
                <a:ext uri="{FF2B5EF4-FFF2-40B4-BE49-F238E27FC236}">
                  <a16:creationId xmlns:a16="http://schemas.microsoft.com/office/drawing/2014/main" id="{72694D17-6DCF-F900-E224-247D65BB7BF3}"/>
                </a:ext>
              </a:extLst>
            </p:cNvPr>
            <p:cNvSpPr txBox="1"/>
            <p:nvPr/>
          </p:nvSpPr>
          <p:spPr>
            <a:xfrm>
              <a:off x="2197100" y="1720840"/>
              <a:ext cx="1704313" cy="2308324"/>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u="sng" dirty="0" err="1">
                  <a:latin typeface="Consolas" panose="020B0609020204030204" pitchFamily="49" charset="0"/>
                </a:rPr>
                <a:t>taxiID</a:t>
              </a:r>
              <a:endParaRPr lang="en-GB" sz="3600" u="sng" dirty="0">
                <a:latin typeface="Consolas" panose="020B0609020204030204" pitchFamily="49" charset="0"/>
              </a:endParaRPr>
            </a:p>
            <a:p>
              <a:r>
                <a:rPr lang="en-GB" sz="3600" dirty="0">
                  <a:latin typeface="Consolas" panose="020B0609020204030204" pitchFamily="49" charset="0"/>
                </a:rPr>
                <a:t>make</a:t>
              </a:r>
            </a:p>
            <a:p>
              <a:r>
                <a:rPr lang="en-GB" sz="3600" dirty="0">
                  <a:latin typeface="Consolas" panose="020B0609020204030204" pitchFamily="49" charset="0"/>
                </a:rPr>
                <a:t>colour</a:t>
              </a:r>
            </a:p>
          </p:txBody>
        </p:sp>
        <p:sp>
          <p:nvSpPr>
            <p:cNvPr id="15" name="TextBox 14">
              <a:extLst>
                <a:ext uri="{FF2B5EF4-FFF2-40B4-BE49-F238E27FC236}">
                  <a16:creationId xmlns:a16="http://schemas.microsoft.com/office/drawing/2014/main" id="{7B42CFA8-7291-9A65-F0A3-5D0456261D5A}"/>
                </a:ext>
              </a:extLst>
            </p:cNvPr>
            <p:cNvSpPr txBox="1"/>
            <p:nvPr/>
          </p:nvSpPr>
          <p:spPr>
            <a:xfrm>
              <a:off x="2197100" y="1720840"/>
              <a:ext cx="1704313" cy="646331"/>
            </a:xfrm>
            <a:prstGeom prst="rect">
              <a:avLst/>
            </a:prstGeom>
            <a:solidFill>
              <a:schemeClr val="bg2">
                <a:lumMod val="90000"/>
              </a:schemeClr>
            </a:solidFill>
            <a:ln>
              <a:solidFill>
                <a:schemeClr val="tx1"/>
              </a:solidFill>
            </a:ln>
          </p:spPr>
          <p:txBody>
            <a:bodyPr wrap="square" rtlCol="0">
              <a:spAutoFit/>
            </a:bodyPr>
            <a:lstStyle/>
            <a:p>
              <a:r>
                <a:rPr lang="en-GB" sz="3600" b="1" dirty="0">
                  <a:latin typeface="Consolas" panose="020B0609020204030204" pitchFamily="49" charset="0"/>
                </a:rPr>
                <a:t>Taxi</a:t>
              </a:r>
              <a:endParaRPr lang="en-GB" sz="3600" b="1" dirty="0"/>
            </a:p>
          </p:txBody>
        </p:sp>
      </p:grpSp>
      <p:graphicFrame>
        <p:nvGraphicFramePr>
          <p:cNvPr id="8" name="Table 7">
            <a:extLst>
              <a:ext uri="{FF2B5EF4-FFF2-40B4-BE49-F238E27FC236}">
                <a16:creationId xmlns:a16="http://schemas.microsoft.com/office/drawing/2014/main" id="{B0C2A4DE-D301-E7BF-3F87-C1DA54AF1A30}"/>
              </a:ext>
            </a:extLst>
          </p:cNvPr>
          <p:cNvGraphicFramePr>
            <a:graphicFrameLocks noGrp="1"/>
          </p:cNvGraphicFramePr>
          <p:nvPr>
            <p:extLst>
              <p:ext uri="{D42A27DB-BD31-4B8C-83A1-F6EECF244321}">
                <p14:modId xmlns:p14="http://schemas.microsoft.com/office/powerpoint/2010/main" val="1807896098"/>
              </p:ext>
            </p:extLst>
          </p:nvPr>
        </p:nvGraphicFramePr>
        <p:xfrm>
          <a:off x="5665160" y="2290135"/>
          <a:ext cx="4888541" cy="2565400"/>
        </p:xfrm>
        <a:graphic>
          <a:graphicData uri="http://schemas.openxmlformats.org/drawingml/2006/table">
            <a:tbl>
              <a:tblPr>
                <a:tableStyleId>{2D5ABB26-0587-4C30-8999-92F81FD0307C}</a:tableStyleId>
              </a:tblPr>
              <a:tblGrid>
                <a:gridCol w="1582845">
                  <a:extLst>
                    <a:ext uri="{9D8B030D-6E8A-4147-A177-3AD203B41FA5}">
                      <a16:colId xmlns:a16="http://schemas.microsoft.com/office/drawing/2014/main" val="472702329"/>
                    </a:ext>
                  </a:extLst>
                </a:gridCol>
                <a:gridCol w="1361169">
                  <a:extLst>
                    <a:ext uri="{9D8B030D-6E8A-4147-A177-3AD203B41FA5}">
                      <a16:colId xmlns:a16="http://schemas.microsoft.com/office/drawing/2014/main" val="2690132748"/>
                    </a:ext>
                  </a:extLst>
                </a:gridCol>
                <a:gridCol w="1944527">
                  <a:extLst>
                    <a:ext uri="{9D8B030D-6E8A-4147-A177-3AD203B41FA5}">
                      <a16:colId xmlns:a16="http://schemas.microsoft.com/office/drawing/2014/main" val="4184799364"/>
                    </a:ext>
                  </a:extLst>
                </a:gridCol>
              </a:tblGrid>
              <a:tr h="299399">
                <a:tc>
                  <a:txBody>
                    <a:bodyPr/>
                    <a:lstStyle/>
                    <a:p>
                      <a:r>
                        <a:rPr lang="en-GB" sz="3200" b="1" u="none" dirty="0" err="1">
                          <a:solidFill>
                            <a:srgbClr val="FF0000"/>
                          </a:solidFill>
                          <a:latin typeface="Consolas" panose="020B0609020204030204" pitchFamily="49" charset="0"/>
                        </a:rPr>
                        <a:t>taxiID</a:t>
                      </a:r>
                      <a:endParaRPr lang="en-GB" sz="3200" b="1" u="none" dirty="0">
                        <a:solidFill>
                          <a:srgbClr val="FF0000"/>
                        </a:solidFill>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GB" sz="3200" b="1" dirty="0">
                          <a:latin typeface="Consolas" panose="020B0609020204030204" pitchFamily="49" charset="0"/>
                        </a:rPr>
                        <a:t>make</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GB" sz="3200" b="1" dirty="0">
                          <a:latin typeface="Consolas" panose="020B0609020204030204" pitchFamily="49" charset="0"/>
                        </a:rPr>
                        <a:t>colour</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71788421"/>
                  </a:ext>
                </a:extLst>
              </a:tr>
              <a:tr h="0">
                <a:tc>
                  <a:txBody>
                    <a:bodyPr/>
                    <a:lstStyle/>
                    <a:p>
                      <a:pPr algn="l"/>
                      <a:r>
                        <a:rPr lang="en-GB" sz="3200" dirty="0">
                          <a:effectLst/>
                          <a:latin typeface="Consolas" panose="020B0609020204030204" pitchFamily="49" charset="0"/>
                        </a:rPr>
                        <a:t>5</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Ford</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Teal</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1143260"/>
                  </a:ext>
                </a:extLst>
              </a:tr>
              <a:tr h="0">
                <a:tc>
                  <a:txBody>
                    <a:bodyPr/>
                    <a:lstStyle/>
                    <a:p>
                      <a:pPr algn="l"/>
                      <a:r>
                        <a:rPr lang="en-GB" sz="3200">
                          <a:effectLst/>
                          <a:latin typeface="Consolas" panose="020B0609020204030204" pitchFamily="49" charset="0"/>
                        </a:rPr>
                        <a:t>12</a:t>
                      </a:r>
                      <a:endParaRPr lang="en-GB" sz="3200" b="0" i="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Buick</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Crimson</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63023525"/>
                  </a:ext>
                </a:extLst>
              </a:tr>
              <a:tr h="0">
                <a:tc>
                  <a:txBody>
                    <a:bodyPr/>
                    <a:lstStyle/>
                    <a:p>
                      <a:pPr algn="l"/>
                      <a:r>
                        <a:rPr lang="en-GB" sz="3200">
                          <a:effectLst/>
                          <a:latin typeface="Consolas" panose="020B0609020204030204" pitchFamily="49" charset="0"/>
                        </a:rPr>
                        <a:t>13</a:t>
                      </a:r>
                      <a:endParaRPr lang="en-GB" sz="3200" b="0" i="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Buick</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Teal</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48718805"/>
                  </a:ext>
                </a:extLst>
              </a:tr>
              <a:tr h="0">
                <a:tc>
                  <a:txBody>
                    <a:bodyPr/>
                    <a:lstStyle/>
                    <a:p>
                      <a:pPr algn="l"/>
                      <a:r>
                        <a:rPr lang="en-GB" sz="3200">
                          <a:effectLst/>
                          <a:latin typeface="Consolas" panose="020B0609020204030204" pitchFamily="49" charset="0"/>
                        </a:rPr>
                        <a:t>17</a:t>
                      </a:r>
                      <a:endParaRPr lang="en-GB" sz="3200" b="0" i="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Ford</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Mauve</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45826846"/>
                  </a:ext>
                </a:extLst>
              </a:tr>
            </a:tbl>
          </a:graphicData>
        </a:graphic>
      </p:graphicFrame>
      <p:sp>
        <p:nvSpPr>
          <p:cNvPr id="23" name="Keys">
            <a:extLst>
              <a:ext uri="{FF2B5EF4-FFF2-40B4-BE49-F238E27FC236}">
                <a16:creationId xmlns:a16="http://schemas.microsoft.com/office/drawing/2014/main" id="{BE12CF5F-1BE6-861F-88CA-3629610ACDEE}"/>
              </a:ext>
            </a:extLst>
          </p:cNvPr>
          <p:cNvSpPr txBox="1"/>
          <p:nvPr/>
        </p:nvSpPr>
        <p:spPr>
          <a:xfrm>
            <a:off x="5665160" y="1690431"/>
            <a:ext cx="1201291" cy="646331"/>
          </a:xfrm>
          <a:prstGeom prst="rect">
            <a:avLst/>
          </a:prstGeom>
          <a:noFill/>
        </p:spPr>
        <p:txBody>
          <a:bodyPr wrap="none" rtlCol="0">
            <a:spAutoFit/>
          </a:bodyPr>
          <a:lstStyle/>
          <a:p>
            <a:r>
              <a:rPr lang="en-GB" sz="3600" b="1" dirty="0">
                <a:solidFill>
                  <a:srgbClr val="7030A0"/>
                </a:solidFill>
              </a:rPr>
              <a:t>Table</a:t>
            </a:r>
            <a:endParaRPr lang="en-GB" sz="3600" b="1" u="sng" dirty="0">
              <a:solidFill>
                <a:srgbClr val="7030A0"/>
              </a:solidFill>
            </a:endParaRPr>
          </a:p>
        </p:txBody>
      </p:sp>
      <p:sp>
        <p:nvSpPr>
          <p:cNvPr id="25" name="Callout: Bent Line with No Border 8">
            <a:extLst>
              <a:ext uri="{FF2B5EF4-FFF2-40B4-BE49-F238E27FC236}">
                <a16:creationId xmlns:a16="http://schemas.microsoft.com/office/drawing/2014/main" id="{B3C6986C-ACAA-4B1B-398B-3E2FDD22811B}"/>
              </a:ext>
            </a:extLst>
          </p:cNvPr>
          <p:cNvSpPr/>
          <p:nvPr/>
        </p:nvSpPr>
        <p:spPr>
          <a:xfrm>
            <a:off x="6769686" y="5265723"/>
            <a:ext cx="4747389" cy="546932"/>
          </a:xfrm>
          <a:prstGeom prst="callout2">
            <a:avLst>
              <a:gd name="adj1" fmla="val 51215"/>
              <a:gd name="adj2" fmla="val -583"/>
              <a:gd name="adj3" fmla="val 52593"/>
              <a:gd name="adj4" fmla="val -10044"/>
              <a:gd name="adj5" fmla="val -58400"/>
              <a:gd name="adj6" fmla="val -13818"/>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200" dirty="0">
                <a:solidFill>
                  <a:srgbClr val="7030A0"/>
                </a:solidFill>
              </a:rPr>
              <a:t>Primary Key: </a:t>
            </a:r>
            <a:r>
              <a:rPr lang="en-GB" sz="3200" b="1" dirty="0">
                <a:solidFill>
                  <a:srgbClr val="7030A0"/>
                </a:solidFill>
              </a:rPr>
              <a:t>unique value</a:t>
            </a:r>
          </a:p>
        </p:txBody>
      </p:sp>
      <p:sp>
        <p:nvSpPr>
          <p:cNvPr id="26" name="Keys">
            <a:extLst>
              <a:ext uri="{FF2B5EF4-FFF2-40B4-BE49-F238E27FC236}">
                <a16:creationId xmlns:a16="http://schemas.microsoft.com/office/drawing/2014/main" id="{85E6E209-8179-0CBE-26A4-AE69CEB0EEA0}"/>
              </a:ext>
            </a:extLst>
          </p:cNvPr>
          <p:cNvSpPr txBox="1"/>
          <p:nvPr/>
        </p:nvSpPr>
        <p:spPr>
          <a:xfrm>
            <a:off x="2808915" y="1690431"/>
            <a:ext cx="1305678" cy="646331"/>
          </a:xfrm>
          <a:prstGeom prst="rect">
            <a:avLst/>
          </a:prstGeom>
          <a:noFill/>
        </p:spPr>
        <p:txBody>
          <a:bodyPr wrap="none" rtlCol="0">
            <a:spAutoFit/>
          </a:bodyPr>
          <a:lstStyle/>
          <a:p>
            <a:r>
              <a:rPr lang="en-GB" sz="3600" b="1" dirty="0">
                <a:solidFill>
                  <a:srgbClr val="7030A0"/>
                </a:solidFill>
              </a:rPr>
              <a:t>Entity</a:t>
            </a:r>
            <a:endParaRPr lang="en-GB" sz="3600" b="1" u="sng" dirty="0">
              <a:solidFill>
                <a:srgbClr val="7030A0"/>
              </a:solidFill>
            </a:endParaRPr>
          </a:p>
        </p:txBody>
      </p:sp>
      <p:sp>
        <p:nvSpPr>
          <p:cNvPr id="2" name="Callout: Bent Line with No Border 8">
            <a:extLst>
              <a:ext uri="{FF2B5EF4-FFF2-40B4-BE49-F238E27FC236}">
                <a16:creationId xmlns:a16="http://schemas.microsoft.com/office/drawing/2014/main" id="{14B06F77-A786-B656-BBA0-7D64280D7A57}"/>
              </a:ext>
            </a:extLst>
          </p:cNvPr>
          <p:cNvSpPr/>
          <p:nvPr/>
        </p:nvSpPr>
        <p:spPr>
          <a:xfrm>
            <a:off x="1411831" y="5265723"/>
            <a:ext cx="4253329" cy="546932"/>
          </a:xfrm>
          <a:prstGeom prst="callout2">
            <a:avLst>
              <a:gd name="adj1" fmla="val 51215"/>
              <a:gd name="adj2" fmla="val -583"/>
              <a:gd name="adj3" fmla="val 52593"/>
              <a:gd name="adj4" fmla="val -10044"/>
              <a:gd name="adj5" fmla="val -362588"/>
              <a:gd name="adj6" fmla="val 30373"/>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200" dirty="0">
                <a:solidFill>
                  <a:srgbClr val="7030A0"/>
                </a:solidFill>
              </a:rPr>
              <a:t>Primary Key: </a:t>
            </a:r>
            <a:r>
              <a:rPr lang="en-GB" sz="3200" b="1" u="sng" dirty="0">
                <a:solidFill>
                  <a:srgbClr val="7030A0"/>
                </a:solidFill>
              </a:rPr>
              <a:t>underlined</a:t>
            </a:r>
          </a:p>
        </p:txBody>
      </p:sp>
      <p:sp>
        <p:nvSpPr>
          <p:cNvPr id="5" name="TextBox 4">
            <a:extLst>
              <a:ext uri="{FF2B5EF4-FFF2-40B4-BE49-F238E27FC236}">
                <a16:creationId xmlns:a16="http://schemas.microsoft.com/office/drawing/2014/main" id="{E1FECD34-CF1B-4B92-8A2C-67AF04EDB2E8}"/>
              </a:ext>
            </a:extLst>
          </p:cNvPr>
          <p:cNvSpPr txBox="1"/>
          <p:nvPr/>
        </p:nvSpPr>
        <p:spPr>
          <a:xfrm>
            <a:off x="891210" y="6187531"/>
            <a:ext cx="10409581" cy="584775"/>
          </a:xfrm>
          <a:prstGeom prst="rect">
            <a:avLst/>
          </a:prstGeom>
          <a:noFill/>
        </p:spPr>
        <p:txBody>
          <a:bodyPr wrap="none" rtlCol="0">
            <a:spAutoFit/>
          </a:bodyPr>
          <a:lstStyle/>
          <a:p>
            <a:pPr algn="ctr"/>
            <a:r>
              <a:rPr lang="en-GB" sz="3200" i="1" dirty="0">
                <a:solidFill>
                  <a:srgbClr val="7030A0"/>
                </a:solidFill>
              </a:rPr>
              <a:t>Every</a:t>
            </a:r>
            <a:r>
              <a:rPr lang="en-GB" sz="3200" dirty="0">
                <a:solidFill>
                  <a:srgbClr val="7030A0"/>
                </a:solidFill>
              </a:rPr>
              <a:t> table has a </a:t>
            </a:r>
            <a:r>
              <a:rPr lang="en-GB" sz="3200" b="1" dirty="0">
                <a:solidFill>
                  <a:srgbClr val="7030A0"/>
                </a:solidFill>
              </a:rPr>
              <a:t>PK</a:t>
            </a:r>
            <a:r>
              <a:rPr lang="en-GB" sz="3200" dirty="0">
                <a:solidFill>
                  <a:srgbClr val="7030A0"/>
                </a:solidFill>
              </a:rPr>
              <a:t> – used to identify records and link tables</a:t>
            </a:r>
          </a:p>
        </p:txBody>
      </p:sp>
    </p:spTree>
    <p:extLst>
      <p:ext uri="{BB962C8B-B14F-4D97-AF65-F5344CB8AC3E}">
        <p14:creationId xmlns:p14="http://schemas.microsoft.com/office/powerpoint/2010/main" val="3421085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wipe(left)">
                                      <p:cBhvr>
                                        <p:cTn id="7" dur="1000"/>
                                        <p:tgtEl>
                                          <p:spTgt spid="26">
                                            <p:txEl>
                                              <p:pRg st="0" end="0"/>
                                            </p:txEl>
                                          </p:spTgt>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20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20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3">
                                            <p:txEl>
                                              <p:pRg st="0" end="0"/>
                                            </p:txEl>
                                          </p:spTgt>
                                        </p:tgtEl>
                                        <p:attrNameLst>
                                          <p:attrName>style.visibility</p:attrName>
                                        </p:attrNameLst>
                                      </p:cBhvr>
                                      <p:to>
                                        <p:strVal val="visible"/>
                                      </p:to>
                                    </p:set>
                                    <p:animEffect transition="in" filter="wipe(left)">
                                      <p:cBhvr>
                                        <p:cTn id="21" dur="1000"/>
                                        <p:tgtEl>
                                          <p:spTgt spid="23">
                                            <p:txEl>
                                              <p:pRg st="0" end="0"/>
                                            </p:txEl>
                                          </p:spTgt>
                                        </p:tgtEl>
                                      </p:cBhvr>
                                    </p:animEffect>
                                  </p:childTnLst>
                                </p:cTn>
                              </p:par>
                            </p:childTnLst>
                          </p:cTn>
                        </p:par>
                        <p:par>
                          <p:cTn id="22" fill="hold">
                            <p:stCondLst>
                              <p:cond delay="1000"/>
                            </p:stCondLst>
                            <p:childTnLst>
                              <p:par>
                                <p:cTn id="23" presetID="22" presetClass="entr" presetSubtype="1"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up)">
                                      <p:cBhvr>
                                        <p:cTn id="25" dur="20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wipe(left)">
                                      <p:cBhvr>
                                        <p:cTn id="30" dur="2000"/>
                                        <p:tgtEl>
                                          <p:spTgt spid="2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4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uiExpand="1" build="p"/>
      <p:bldP spid="25" grpId="0" animBg="1"/>
      <p:bldP spid="26" grpId="0" uiExpand="1" build="p"/>
      <p:bldP spid="2" grpId="0" animBg="1"/>
      <p:bldP spid="5" grpId="0"/>
    </p:bld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8F22A1C-FA05-84B3-6981-2B7890158C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647C95C-2047-B2FA-D767-732CBEE6A83F}"/>
              </a:ext>
            </a:extLst>
          </p:cNvPr>
          <p:cNvSpPr>
            <a:spLocks noGrp="1"/>
          </p:cNvSpPr>
          <p:nvPr>
            <p:ph type="title"/>
          </p:nvPr>
        </p:nvSpPr>
        <p:spPr/>
        <p:txBody>
          <a:bodyPr/>
          <a:lstStyle/>
          <a:p>
            <a:r>
              <a:rPr lang="en-GB" dirty="0"/>
              <a:t>Primary Key (PK)</a:t>
            </a:r>
          </a:p>
        </p:txBody>
      </p:sp>
      <p:grpSp>
        <p:nvGrpSpPr>
          <p:cNvPr id="13" name="taxi">
            <a:extLst>
              <a:ext uri="{FF2B5EF4-FFF2-40B4-BE49-F238E27FC236}">
                <a16:creationId xmlns:a16="http://schemas.microsoft.com/office/drawing/2014/main" id="{4A762D2C-B9E3-A0EC-18DC-6C85D61BF521}"/>
              </a:ext>
            </a:extLst>
          </p:cNvPr>
          <p:cNvGrpSpPr/>
          <p:nvPr/>
        </p:nvGrpSpPr>
        <p:grpSpPr>
          <a:xfrm>
            <a:off x="2808915" y="2290135"/>
            <a:ext cx="1704313" cy="2308324"/>
            <a:chOff x="2197100" y="1720840"/>
            <a:chExt cx="1704313" cy="2308324"/>
          </a:xfrm>
        </p:grpSpPr>
        <p:sp>
          <p:nvSpPr>
            <p:cNvPr id="14" name="TextBox 13">
              <a:extLst>
                <a:ext uri="{FF2B5EF4-FFF2-40B4-BE49-F238E27FC236}">
                  <a16:creationId xmlns:a16="http://schemas.microsoft.com/office/drawing/2014/main" id="{E309C57A-AA90-4D10-15A4-88CA662CEB7A}"/>
                </a:ext>
              </a:extLst>
            </p:cNvPr>
            <p:cNvSpPr txBox="1"/>
            <p:nvPr/>
          </p:nvSpPr>
          <p:spPr>
            <a:xfrm>
              <a:off x="2197100" y="1720840"/>
              <a:ext cx="1704313" cy="2308324"/>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u="sng" dirty="0" err="1">
                  <a:latin typeface="Consolas" panose="020B0609020204030204" pitchFamily="49" charset="0"/>
                </a:rPr>
                <a:t>taxiID</a:t>
              </a:r>
              <a:endParaRPr lang="en-GB" sz="3600" u="sng" dirty="0">
                <a:latin typeface="Consolas" panose="020B0609020204030204" pitchFamily="49" charset="0"/>
              </a:endParaRPr>
            </a:p>
            <a:p>
              <a:r>
                <a:rPr lang="en-GB" sz="3600" dirty="0">
                  <a:latin typeface="Consolas" panose="020B0609020204030204" pitchFamily="49" charset="0"/>
                </a:rPr>
                <a:t>make</a:t>
              </a:r>
            </a:p>
            <a:p>
              <a:r>
                <a:rPr lang="en-GB" sz="3600" dirty="0">
                  <a:latin typeface="Consolas" panose="020B0609020204030204" pitchFamily="49" charset="0"/>
                </a:rPr>
                <a:t>colour</a:t>
              </a:r>
            </a:p>
          </p:txBody>
        </p:sp>
        <p:sp>
          <p:nvSpPr>
            <p:cNvPr id="15" name="TextBox 14">
              <a:extLst>
                <a:ext uri="{FF2B5EF4-FFF2-40B4-BE49-F238E27FC236}">
                  <a16:creationId xmlns:a16="http://schemas.microsoft.com/office/drawing/2014/main" id="{3C4C048A-1422-1B5A-1428-537EB8672848}"/>
                </a:ext>
              </a:extLst>
            </p:cNvPr>
            <p:cNvSpPr txBox="1"/>
            <p:nvPr/>
          </p:nvSpPr>
          <p:spPr>
            <a:xfrm>
              <a:off x="2197100" y="1720840"/>
              <a:ext cx="1704313" cy="646331"/>
            </a:xfrm>
            <a:prstGeom prst="rect">
              <a:avLst/>
            </a:prstGeom>
            <a:solidFill>
              <a:schemeClr val="bg2">
                <a:lumMod val="90000"/>
              </a:schemeClr>
            </a:solidFill>
            <a:ln>
              <a:solidFill>
                <a:schemeClr val="tx1"/>
              </a:solidFill>
            </a:ln>
          </p:spPr>
          <p:txBody>
            <a:bodyPr wrap="square" rtlCol="0">
              <a:spAutoFit/>
            </a:bodyPr>
            <a:lstStyle/>
            <a:p>
              <a:r>
                <a:rPr lang="en-GB" sz="3600" b="1" dirty="0">
                  <a:latin typeface="Consolas" panose="020B0609020204030204" pitchFamily="49" charset="0"/>
                </a:rPr>
                <a:t>Taxi</a:t>
              </a:r>
              <a:endParaRPr lang="en-GB" sz="3600" b="1" dirty="0"/>
            </a:p>
          </p:txBody>
        </p:sp>
      </p:grpSp>
      <p:graphicFrame>
        <p:nvGraphicFramePr>
          <p:cNvPr id="8" name="Table 7">
            <a:extLst>
              <a:ext uri="{FF2B5EF4-FFF2-40B4-BE49-F238E27FC236}">
                <a16:creationId xmlns:a16="http://schemas.microsoft.com/office/drawing/2014/main" id="{48F31396-050C-5190-1FBB-002FEAD892F5}"/>
              </a:ext>
            </a:extLst>
          </p:cNvPr>
          <p:cNvGraphicFramePr>
            <a:graphicFrameLocks noGrp="1"/>
          </p:cNvGraphicFramePr>
          <p:nvPr>
            <p:extLst>
              <p:ext uri="{D42A27DB-BD31-4B8C-83A1-F6EECF244321}">
                <p14:modId xmlns:p14="http://schemas.microsoft.com/office/powerpoint/2010/main" val="3577695080"/>
              </p:ext>
            </p:extLst>
          </p:nvPr>
        </p:nvGraphicFramePr>
        <p:xfrm>
          <a:off x="5665160" y="2290135"/>
          <a:ext cx="4888541" cy="2565400"/>
        </p:xfrm>
        <a:graphic>
          <a:graphicData uri="http://schemas.openxmlformats.org/drawingml/2006/table">
            <a:tbl>
              <a:tblPr>
                <a:tableStyleId>{2D5ABB26-0587-4C30-8999-92F81FD0307C}</a:tableStyleId>
              </a:tblPr>
              <a:tblGrid>
                <a:gridCol w="1582845">
                  <a:extLst>
                    <a:ext uri="{9D8B030D-6E8A-4147-A177-3AD203B41FA5}">
                      <a16:colId xmlns:a16="http://schemas.microsoft.com/office/drawing/2014/main" val="472702329"/>
                    </a:ext>
                  </a:extLst>
                </a:gridCol>
                <a:gridCol w="1361169">
                  <a:extLst>
                    <a:ext uri="{9D8B030D-6E8A-4147-A177-3AD203B41FA5}">
                      <a16:colId xmlns:a16="http://schemas.microsoft.com/office/drawing/2014/main" val="2690132748"/>
                    </a:ext>
                  </a:extLst>
                </a:gridCol>
                <a:gridCol w="1944527">
                  <a:extLst>
                    <a:ext uri="{9D8B030D-6E8A-4147-A177-3AD203B41FA5}">
                      <a16:colId xmlns:a16="http://schemas.microsoft.com/office/drawing/2014/main" val="4184799364"/>
                    </a:ext>
                  </a:extLst>
                </a:gridCol>
              </a:tblGrid>
              <a:tr h="299399">
                <a:tc>
                  <a:txBody>
                    <a:bodyPr/>
                    <a:lstStyle/>
                    <a:p>
                      <a:r>
                        <a:rPr lang="en-GB" sz="3200" b="1" dirty="0" err="1">
                          <a:solidFill>
                            <a:srgbClr val="FF0000"/>
                          </a:solidFill>
                          <a:latin typeface="Consolas" panose="020B0609020204030204" pitchFamily="49" charset="0"/>
                        </a:rPr>
                        <a:t>taxiID</a:t>
                      </a:r>
                      <a:endParaRPr lang="en-GB" sz="3200" b="1" dirty="0">
                        <a:solidFill>
                          <a:srgbClr val="FF0000"/>
                        </a:solidFill>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GB" sz="3200" b="1" dirty="0">
                          <a:latin typeface="Consolas" panose="020B0609020204030204" pitchFamily="49" charset="0"/>
                        </a:rPr>
                        <a:t>make</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GB" sz="3200" b="1" dirty="0">
                          <a:latin typeface="Consolas" panose="020B0609020204030204" pitchFamily="49" charset="0"/>
                        </a:rPr>
                        <a:t>colour</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71788421"/>
                  </a:ext>
                </a:extLst>
              </a:tr>
              <a:tr h="0">
                <a:tc>
                  <a:txBody>
                    <a:bodyPr/>
                    <a:lstStyle/>
                    <a:p>
                      <a:pPr algn="l"/>
                      <a:r>
                        <a:rPr lang="en-GB" sz="3200" dirty="0">
                          <a:effectLst/>
                          <a:latin typeface="Consolas" panose="020B0609020204030204" pitchFamily="49" charset="0"/>
                        </a:rPr>
                        <a:t>5</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Ford</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Teal</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1143260"/>
                  </a:ext>
                </a:extLst>
              </a:tr>
              <a:tr h="0">
                <a:tc>
                  <a:txBody>
                    <a:bodyPr/>
                    <a:lstStyle/>
                    <a:p>
                      <a:pPr algn="l"/>
                      <a:r>
                        <a:rPr lang="en-GB" sz="3200">
                          <a:effectLst/>
                          <a:latin typeface="Consolas" panose="020B0609020204030204" pitchFamily="49" charset="0"/>
                        </a:rPr>
                        <a:t>12</a:t>
                      </a:r>
                      <a:endParaRPr lang="en-GB" sz="3200" b="0" i="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Buick</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Crimson</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63023525"/>
                  </a:ext>
                </a:extLst>
              </a:tr>
              <a:tr h="0">
                <a:tc>
                  <a:txBody>
                    <a:bodyPr/>
                    <a:lstStyle/>
                    <a:p>
                      <a:pPr algn="l"/>
                      <a:r>
                        <a:rPr lang="en-GB" sz="3200">
                          <a:effectLst/>
                          <a:latin typeface="Consolas" panose="020B0609020204030204" pitchFamily="49" charset="0"/>
                        </a:rPr>
                        <a:t>13</a:t>
                      </a:r>
                      <a:endParaRPr lang="en-GB" sz="3200" b="0" i="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Buick</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Teal</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48718805"/>
                  </a:ext>
                </a:extLst>
              </a:tr>
              <a:tr h="0">
                <a:tc>
                  <a:txBody>
                    <a:bodyPr/>
                    <a:lstStyle/>
                    <a:p>
                      <a:pPr algn="l"/>
                      <a:r>
                        <a:rPr lang="en-GB" sz="3200">
                          <a:effectLst/>
                          <a:latin typeface="Consolas" panose="020B0609020204030204" pitchFamily="49" charset="0"/>
                        </a:rPr>
                        <a:t>17</a:t>
                      </a:r>
                      <a:endParaRPr lang="en-GB" sz="3200" b="0" i="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Ford</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Mauve</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45826846"/>
                  </a:ext>
                </a:extLst>
              </a:tr>
            </a:tbl>
          </a:graphicData>
        </a:graphic>
      </p:graphicFrame>
    </p:spTree>
    <p:extLst>
      <p:ext uri="{BB962C8B-B14F-4D97-AF65-F5344CB8AC3E}">
        <p14:creationId xmlns:p14="http://schemas.microsoft.com/office/powerpoint/2010/main" val="227985790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7E058-E4A1-2D17-379A-D17AE8EB7D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43FE3B5-CCED-531B-9D75-74B02F9FCCD3}"/>
              </a:ext>
            </a:extLst>
          </p:cNvPr>
          <p:cNvSpPr>
            <a:spLocks noGrp="1"/>
          </p:cNvSpPr>
          <p:nvPr>
            <p:ph type="title"/>
          </p:nvPr>
        </p:nvSpPr>
        <p:spPr/>
        <p:txBody>
          <a:bodyPr/>
          <a:lstStyle/>
          <a:p>
            <a:r>
              <a:rPr lang="en-GB" dirty="0"/>
              <a:t>Foreign Key (FK)</a:t>
            </a:r>
          </a:p>
        </p:txBody>
      </p:sp>
      <p:graphicFrame>
        <p:nvGraphicFramePr>
          <p:cNvPr id="8" name="Table 7">
            <a:extLst>
              <a:ext uri="{FF2B5EF4-FFF2-40B4-BE49-F238E27FC236}">
                <a16:creationId xmlns:a16="http://schemas.microsoft.com/office/drawing/2014/main" id="{42287C8D-C1EF-C053-7A75-739971CA7A2A}"/>
              </a:ext>
            </a:extLst>
          </p:cNvPr>
          <p:cNvGraphicFramePr>
            <a:graphicFrameLocks noGrp="1"/>
          </p:cNvGraphicFramePr>
          <p:nvPr>
            <p:extLst>
              <p:ext uri="{D42A27DB-BD31-4B8C-83A1-F6EECF244321}">
                <p14:modId xmlns:p14="http://schemas.microsoft.com/office/powerpoint/2010/main" val="890077922"/>
              </p:ext>
            </p:extLst>
          </p:nvPr>
        </p:nvGraphicFramePr>
        <p:xfrm>
          <a:off x="838200" y="2195505"/>
          <a:ext cx="4888541" cy="2565400"/>
        </p:xfrm>
        <a:graphic>
          <a:graphicData uri="http://schemas.openxmlformats.org/drawingml/2006/table">
            <a:tbl>
              <a:tblPr>
                <a:tableStyleId>{2D5ABB26-0587-4C30-8999-92F81FD0307C}</a:tableStyleId>
              </a:tblPr>
              <a:tblGrid>
                <a:gridCol w="1582845">
                  <a:extLst>
                    <a:ext uri="{9D8B030D-6E8A-4147-A177-3AD203B41FA5}">
                      <a16:colId xmlns:a16="http://schemas.microsoft.com/office/drawing/2014/main" val="472702329"/>
                    </a:ext>
                  </a:extLst>
                </a:gridCol>
                <a:gridCol w="1361169">
                  <a:extLst>
                    <a:ext uri="{9D8B030D-6E8A-4147-A177-3AD203B41FA5}">
                      <a16:colId xmlns:a16="http://schemas.microsoft.com/office/drawing/2014/main" val="2690132748"/>
                    </a:ext>
                  </a:extLst>
                </a:gridCol>
                <a:gridCol w="1944527">
                  <a:extLst>
                    <a:ext uri="{9D8B030D-6E8A-4147-A177-3AD203B41FA5}">
                      <a16:colId xmlns:a16="http://schemas.microsoft.com/office/drawing/2014/main" val="4184799364"/>
                    </a:ext>
                  </a:extLst>
                </a:gridCol>
              </a:tblGrid>
              <a:tr h="299399">
                <a:tc>
                  <a:txBody>
                    <a:bodyPr/>
                    <a:lstStyle/>
                    <a:p>
                      <a:r>
                        <a:rPr lang="en-GB" sz="3200" b="1" u="none" dirty="0" err="1">
                          <a:solidFill>
                            <a:srgbClr val="FF0000"/>
                          </a:solidFill>
                          <a:latin typeface="Consolas" panose="020B0609020204030204" pitchFamily="49" charset="0"/>
                        </a:rPr>
                        <a:t>taxiID</a:t>
                      </a:r>
                      <a:endParaRPr lang="en-GB" sz="3200" b="1" u="none" dirty="0">
                        <a:solidFill>
                          <a:srgbClr val="FF0000"/>
                        </a:solidFill>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GB" sz="3200" b="1" dirty="0">
                          <a:latin typeface="Consolas" panose="020B0609020204030204" pitchFamily="49" charset="0"/>
                        </a:rPr>
                        <a:t>make</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GB" sz="3200" b="1" dirty="0">
                          <a:latin typeface="Consolas" panose="020B0609020204030204" pitchFamily="49" charset="0"/>
                        </a:rPr>
                        <a:t>colour</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71788421"/>
                  </a:ext>
                </a:extLst>
              </a:tr>
              <a:tr h="0">
                <a:tc>
                  <a:txBody>
                    <a:bodyPr/>
                    <a:lstStyle/>
                    <a:p>
                      <a:pPr algn="l"/>
                      <a:r>
                        <a:rPr lang="en-GB" sz="3200" dirty="0">
                          <a:effectLst/>
                          <a:latin typeface="Consolas" panose="020B0609020204030204" pitchFamily="49" charset="0"/>
                        </a:rPr>
                        <a:t>5</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Ford</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Teal</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1143260"/>
                  </a:ext>
                </a:extLst>
              </a:tr>
              <a:tr h="0">
                <a:tc>
                  <a:txBody>
                    <a:bodyPr/>
                    <a:lstStyle/>
                    <a:p>
                      <a:pPr algn="l"/>
                      <a:r>
                        <a:rPr lang="en-GB" sz="3200">
                          <a:effectLst/>
                          <a:latin typeface="Consolas" panose="020B0609020204030204" pitchFamily="49" charset="0"/>
                        </a:rPr>
                        <a:t>12</a:t>
                      </a:r>
                      <a:endParaRPr lang="en-GB" sz="3200" b="0" i="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Buick</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Crimson</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63023525"/>
                  </a:ext>
                </a:extLst>
              </a:tr>
              <a:tr h="0">
                <a:tc>
                  <a:txBody>
                    <a:bodyPr/>
                    <a:lstStyle/>
                    <a:p>
                      <a:pPr algn="l"/>
                      <a:r>
                        <a:rPr lang="en-GB" sz="3200">
                          <a:effectLst/>
                          <a:latin typeface="Consolas" panose="020B0609020204030204" pitchFamily="49" charset="0"/>
                        </a:rPr>
                        <a:t>13</a:t>
                      </a:r>
                      <a:endParaRPr lang="en-GB" sz="3200" b="0" i="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Buick</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Teal</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48718805"/>
                  </a:ext>
                </a:extLst>
              </a:tr>
              <a:tr h="0">
                <a:tc>
                  <a:txBody>
                    <a:bodyPr/>
                    <a:lstStyle/>
                    <a:p>
                      <a:pPr algn="l"/>
                      <a:r>
                        <a:rPr lang="en-GB" sz="3200" dirty="0">
                          <a:effectLst/>
                          <a:latin typeface="Consolas" panose="020B0609020204030204" pitchFamily="49" charset="0"/>
                        </a:rPr>
                        <a:t>17</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Ford</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Mauve</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45826846"/>
                  </a:ext>
                </a:extLst>
              </a:tr>
            </a:tbl>
          </a:graphicData>
        </a:graphic>
      </p:graphicFrame>
      <p:sp>
        <p:nvSpPr>
          <p:cNvPr id="23" name="Keys">
            <a:extLst>
              <a:ext uri="{FF2B5EF4-FFF2-40B4-BE49-F238E27FC236}">
                <a16:creationId xmlns:a16="http://schemas.microsoft.com/office/drawing/2014/main" id="{15E655EB-CF46-A8D3-7818-966EECB3F463}"/>
              </a:ext>
            </a:extLst>
          </p:cNvPr>
          <p:cNvSpPr txBox="1"/>
          <p:nvPr/>
        </p:nvSpPr>
        <p:spPr>
          <a:xfrm>
            <a:off x="838200" y="1690688"/>
            <a:ext cx="2175147" cy="646331"/>
          </a:xfrm>
          <a:prstGeom prst="rect">
            <a:avLst/>
          </a:prstGeom>
          <a:noFill/>
        </p:spPr>
        <p:txBody>
          <a:bodyPr wrap="none" rtlCol="0">
            <a:spAutoFit/>
          </a:bodyPr>
          <a:lstStyle/>
          <a:p>
            <a:r>
              <a:rPr lang="en-GB" sz="3600" b="1" dirty="0">
                <a:solidFill>
                  <a:srgbClr val="7030A0"/>
                </a:solidFill>
              </a:rPr>
              <a:t>Table: Taxi</a:t>
            </a:r>
            <a:endParaRPr lang="en-GB" sz="3600" b="1" u="sng" dirty="0">
              <a:solidFill>
                <a:srgbClr val="7030A0"/>
              </a:solidFill>
            </a:endParaRPr>
          </a:p>
        </p:txBody>
      </p:sp>
      <p:sp>
        <p:nvSpPr>
          <p:cNvPr id="25" name="Callout: Bent Line with No Border 8">
            <a:extLst>
              <a:ext uri="{FF2B5EF4-FFF2-40B4-BE49-F238E27FC236}">
                <a16:creationId xmlns:a16="http://schemas.microsoft.com/office/drawing/2014/main" id="{E3BFB660-B402-AC52-ADE2-671F7DDCB522}"/>
              </a:ext>
            </a:extLst>
          </p:cNvPr>
          <p:cNvSpPr/>
          <p:nvPr/>
        </p:nvSpPr>
        <p:spPr>
          <a:xfrm>
            <a:off x="1359487" y="5322873"/>
            <a:ext cx="2240964" cy="546932"/>
          </a:xfrm>
          <a:prstGeom prst="callout2">
            <a:avLst>
              <a:gd name="adj1" fmla="val 49256"/>
              <a:gd name="adj2" fmla="val 1"/>
              <a:gd name="adj3" fmla="val 48675"/>
              <a:gd name="adj4" fmla="val -10470"/>
              <a:gd name="adj5" fmla="val -96714"/>
              <a:gd name="adj6" fmla="val -10340"/>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200" dirty="0">
                <a:solidFill>
                  <a:srgbClr val="7030A0"/>
                </a:solidFill>
              </a:rPr>
              <a:t>Primary Key</a:t>
            </a:r>
            <a:endParaRPr lang="en-GB" sz="3200" b="1" dirty="0">
              <a:solidFill>
                <a:srgbClr val="7030A0"/>
              </a:solidFill>
            </a:endParaRPr>
          </a:p>
        </p:txBody>
      </p:sp>
      <p:graphicFrame>
        <p:nvGraphicFramePr>
          <p:cNvPr id="3" name="Table 2">
            <a:extLst>
              <a:ext uri="{FF2B5EF4-FFF2-40B4-BE49-F238E27FC236}">
                <a16:creationId xmlns:a16="http://schemas.microsoft.com/office/drawing/2014/main" id="{BF6C8320-3B62-7F41-0D45-F63A303F3AD5}"/>
              </a:ext>
            </a:extLst>
          </p:cNvPr>
          <p:cNvGraphicFramePr>
            <a:graphicFrameLocks noGrp="1"/>
          </p:cNvGraphicFramePr>
          <p:nvPr>
            <p:extLst>
              <p:ext uri="{D42A27DB-BD31-4B8C-83A1-F6EECF244321}">
                <p14:modId xmlns:p14="http://schemas.microsoft.com/office/powerpoint/2010/main" val="1948255901"/>
              </p:ext>
            </p:extLst>
          </p:nvPr>
        </p:nvGraphicFramePr>
        <p:xfrm>
          <a:off x="6465261" y="2195505"/>
          <a:ext cx="4552951" cy="3078480"/>
        </p:xfrm>
        <a:graphic>
          <a:graphicData uri="http://schemas.openxmlformats.org/drawingml/2006/table">
            <a:tbl>
              <a:tblPr>
                <a:tableStyleId>{2D5ABB26-0587-4C30-8999-92F81FD0307C}</a:tableStyleId>
              </a:tblPr>
              <a:tblGrid>
                <a:gridCol w="1592263">
                  <a:extLst>
                    <a:ext uri="{9D8B030D-6E8A-4147-A177-3AD203B41FA5}">
                      <a16:colId xmlns:a16="http://schemas.microsoft.com/office/drawing/2014/main" val="472702329"/>
                    </a:ext>
                  </a:extLst>
                </a:gridCol>
                <a:gridCol w="1592263">
                  <a:extLst>
                    <a:ext uri="{9D8B030D-6E8A-4147-A177-3AD203B41FA5}">
                      <a16:colId xmlns:a16="http://schemas.microsoft.com/office/drawing/2014/main" val="2690132748"/>
                    </a:ext>
                  </a:extLst>
                </a:gridCol>
                <a:gridCol w="1368425">
                  <a:extLst>
                    <a:ext uri="{9D8B030D-6E8A-4147-A177-3AD203B41FA5}">
                      <a16:colId xmlns:a16="http://schemas.microsoft.com/office/drawing/2014/main" val="4184799364"/>
                    </a:ext>
                  </a:extLst>
                </a:gridCol>
              </a:tblGrid>
              <a:tr h="299399">
                <a:tc>
                  <a:txBody>
                    <a:bodyPr/>
                    <a:lstStyle/>
                    <a:p>
                      <a:r>
                        <a:rPr lang="en-GB" sz="3200" b="1" u="none" dirty="0" err="1">
                          <a:latin typeface="Consolas" panose="020B0609020204030204" pitchFamily="49" charset="0"/>
                        </a:rPr>
                        <a:t>tripID</a:t>
                      </a:r>
                      <a:endParaRPr lang="en-GB" sz="3200" b="1" u="none" dirty="0">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GB" sz="3200" b="1" dirty="0" err="1">
                          <a:solidFill>
                            <a:srgbClr val="FF0000"/>
                          </a:solidFill>
                          <a:latin typeface="Consolas" panose="020B0609020204030204" pitchFamily="49" charset="0"/>
                        </a:rPr>
                        <a:t>taxiID</a:t>
                      </a:r>
                      <a:endParaRPr lang="en-GB" sz="3200" b="1" dirty="0">
                        <a:solidFill>
                          <a:srgbClr val="FF0000"/>
                        </a:solidFill>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GB" sz="3200" b="1" dirty="0">
                          <a:latin typeface="Consolas" panose="020B0609020204030204" pitchFamily="49" charset="0"/>
                        </a:rPr>
                        <a:t>cost</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71788421"/>
                  </a:ext>
                </a:extLst>
              </a:tr>
              <a:tr h="0">
                <a:tc>
                  <a:txBody>
                    <a:bodyPr/>
                    <a:lstStyle/>
                    <a:p>
                      <a:pPr algn="l"/>
                      <a:r>
                        <a:rPr lang="en-GB" sz="3200" dirty="0">
                          <a:effectLst/>
                          <a:latin typeface="Consolas" panose="020B0609020204030204" pitchFamily="49" charset="0"/>
                        </a:rPr>
                        <a:t>1</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17</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b="0" i="0" dirty="0">
                          <a:solidFill>
                            <a:srgbClr val="000000"/>
                          </a:solidFill>
                          <a:effectLst/>
                          <a:latin typeface="Consolas" panose="020B0609020204030204" pitchFamily="49" charset="0"/>
                        </a:rPr>
                        <a:t>7.75</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1143260"/>
                  </a:ext>
                </a:extLst>
              </a:tr>
              <a:tr h="0">
                <a:tc>
                  <a:txBody>
                    <a:bodyPr/>
                    <a:lstStyle/>
                    <a:p>
                      <a:pPr algn="l"/>
                      <a:r>
                        <a:rPr lang="en-GB" sz="3200" dirty="0">
                          <a:effectLst/>
                          <a:latin typeface="Consolas" panose="020B0609020204030204" pitchFamily="49" charset="0"/>
                        </a:rPr>
                        <a:t>2</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5</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b="0" i="0" dirty="0">
                          <a:solidFill>
                            <a:srgbClr val="000000"/>
                          </a:solidFill>
                          <a:effectLst/>
                          <a:latin typeface="Consolas" panose="020B0609020204030204" pitchFamily="49" charset="0"/>
                        </a:rPr>
                        <a:t>21.80</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63023525"/>
                  </a:ext>
                </a:extLst>
              </a:tr>
              <a:tr h="0">
                <a:tc>
                  <a:txBody>
                    <a:bodyPr/>
                    <a:lstStyle/>
                    <a:p>
                      <a:pPr algn="l"/>
                      <a:r>
                        <a:rPr lang="en-GB" sz="3200" dirty="0">
                          <a:effectLst/>
                          <a:latin typeface="Consolas" panose="020B0609020204030204" pitchFamily="49" charset="0"/>
                        </a:rPr>
                        <a:t>3</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12</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b="0" i="0" dirty="0">
                          <a:solidFill>
                            <a:srgbClr val="000000"/>
                          </a:solidFill>
                          <a:effectLst/>
                          <a:latin typeface="Consolas" panose="020B0609020204030204" pitchFamily="49" charset="0"/>
                        </a:rPr>
                        <a:t>5.20</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48718805"/>
                  </a:ext>
                </a:extLst>
              </a:tr>
              <a:tr h="0">
                <a:tc>
                  <a:txBody>
                    <a:bodyPr/>
                    <a:lstStyle/>
                    <a:p>
                      <a:pPr algn="l"/>
                      <a:r>
                        <a:rPr lang="en-GB" sz="3200" b="0" i="0" dirty="0">
                          <a:solidFill>
                            <a:srgbClr val="000000"/>
                          </a:solidFill>
                          <a:effectLst/>
                          <a:latin typeface="Consolas" panose="020B0609020204030204" pitchFamily="49" charset="0"/>
                        </a:rPr>
                        <a:t>4</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17</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b="0" i="0" dirty="0">
                          <a:solidFill>
                            <a:srgbClr val="000000"/>
                          </a:solidFill>
                          <a:effectLst/>
                          <a:latin typeface="Consolas" panose="020B0609020204030204" pitchFamily="49" charset="0"/>
                        </a:rPr>
                        <a:t>11.00</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45826846"/>
                  </a:ext>
                </a:extLst>
              </a:tr>
              <a:tr h="0">
                <a:tc>
                  <a:txBody>
                    <a:bodyPr/>
                    <a:lstStyle/>
                    <a:p>
                      <a:pPr algn="l"/>
                      <a:r>
                        <a:rPr lang="en-GB" sz="3200" b="0" i="0" dirty="0">
                          <a:solidFill>
                            <a:srgbClr val="000000"/>
                          </a:solidFill>
                          <a:effectLst/>
                          <a:latin typeface="Consolas" panose="020B0609020204030204" pitchFamily="49" charset="0"/>
                        </a:rPr>
                        <a:t>5</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b="0" i="0" dirty="0">
                          <a:solidFill>
                            <a:srgbClr val="000000"/>
                          </a:solidFill>
                          <a:effectLst/>
                          <a:latin typeface="Consolas" panose="020B0609020204030204" pitchFamily="49" charset="0"/>
                        </a:rPr>
                        <a:t>13</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b="0" i="0" dirty="0">
                          <a:solidFill>
                            <a:srgbClr val="000000"/>
                          </a:solidFill>
                          <a:effectLst/>
                          <a:latin typeface="Consolas" panose="020B0609020204030204" pitchFamily="49" charset="0"/>
                        </a:rPr>
                        <a:t>9.25</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58362907"/>
                  </a:ext>
                </a:extLst>
              </a:tr>
            </a:tbl>
          </a:graphicData>
        </a:graphic>
      </p:graphicFrame>
      <p:sp>
        <p:nvSpPr>
          <p:cNvPr id="5" name="Keys">
            <a:extLst>
              <a:ext uri="{FF2B5EF4-FFF2-40B4-BE49-F238E27FC236}">
                <a16:creationId xmlns:a16="http://schemas.microsoft.com/office/drawing/2014/main" id="{30982C2F-1B07-2C27-F182-8D5B538204D3}"/>
              </a:ext>
            </a:extLst>
          </p:cNvPr>
          <p:cNvSpPr txBox="1"/>
          <p:nvPr/>
        </p:nvSpPr>
        <p:spPr>
          <a:xfrm>
            <a:off x="6436045" y="1690688"/>
            <a:ext cx="2163477" cy="646331"/>
          </a:xfrm>
          <a:prstGeom prst="rect">
            <a:avLst/>
          </a:prstGeom>
          <a:noFill/>
        </p:spPr>
        <p:txBody>
          <a:bodyPr wrap="none" rtlCol="0">
            <a:spAutoFit/>
          </a:bodyPr>
          <a:lstStyle/>
          <a:p>
            <a:r>
              <a:rPr lang="en-GB" sz="3600" b="1" dirty="0">
                <a:solidFill>
                  <a:srgbClr val="7030A0"/>
                </a:solidFill>
              </a:rPr>
              <a:t>Table: Trip</a:t>
            </a:r>
            <a:endParaRPr lang="en-GB" sz="3600" b="1" u="sng" dirty="0">
              <a:solidFill>
                <a:srgbClr val="7030A0"/>
              </a:solidFill>
            </a:endParaRPr>
          </a:p>
        </p:txBody>
      </p:sp>
      <p:sp>
        <p:nvSpPr>
          <p:cNvPr id="7" name="Callout: Bent Line with No Border 8">
            <a:extLst>
              <a:ext uri="{FF2B5EF4-FFF2-40B4-BE49-F238E27FC236}">
                <a16:creationId xmlns:a16="http://schemas.microsoft.com/office/drawing/2014/main" id="{0B778F1C-E849-D6D2-FE49-1A07B813AE62}"/>
              </a:ext>
            </a:extLst>
          </p:cNvPr>
          <p:cNvSpPr/>
          <p:nvPr/>
        </p:nvSpPr>
        <p:spPr>
          <a:xfrm flipH="1">
            <a:off x="203200" y="6014683"/>
            <a:ext cx="7369322" cy="546932"/>
          </a:xfrm>
          <a:prstGeom prst="callout2">
            <a:avLst>
              <a:gd name="adj1" fmla="val 50127"/>
              <a:gd name="adj2" fmla="val -82"/>
              <a:gd name="adj3" fmla="val 48892"/>
              <a:gd name="adj4" fmla="val -10060"/>
              <a:gd name="adj5" fmla="val -132706"/>
              <a:gd name="adj6" fmla="val -10072"/>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3200" dirty="0">
                <a:solidFill>
                  <a:srgbClr val="7030A0"/>
                </a:solidFill>
              </a:rPr>
              <a:t>Foreign Key: </a:t>
            </a:r>
            <a:r>
              <a:rPr lang="en-GB" sz="3200" b="1" dirty="0">
                <a:solidFill>
                  <a:srgbClr val="7030A0"/>
                </a:solidFill>
              </a:rPr>
              <a:t>Primary Key of another table</a:t>
            </a:r>
          </a:p>
        </p:txBody>
      </p:sp>
      <p:sp>
        <p:nvSpPr>
          <p:cNvPr id="9" name="Callout: Bent Line with No Border 8">
            <a:extLst>
              <a:ext uri="{FF2B5EF4-FFF2-40B4-BE49-F238E27FC236}">
                <a16:creationId xmlns:a16="http://schemas.microsoft.com/office/drawing/2014/main" id="{0143EC99-5F2C-25C0-63F5-91FC5EFD8561}"/>
              </a:ext>
            </a:extLst>
          </p:cNvPr>
          <p:cNvSpPr/>
          <p:nvPr/>
        </p:nvSpPr>
        <p:spPr>
          <a:xfrm flipH="1">
            <a:off x="4224297" y="5322873"/>
            <a:ext cx="2240964" cy="546932"/>
          </a:xfrm>
          <a:prstGeom prst="callout2">
            <a:avLst>
              <a:gd name="adj1" fmla="val 50562"/>
              <a:gd name="adj2" fmla="val 55"/>
              <a:gd name="adj3" fmla="val 50634"/>
              <a:gd name="adj4" fmla="val -9938"/>
              <a:gd name="adj5" fmla="val -8476"/>
              <a:gd name="adj6" fmla="val -10057"/>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3200" dirty="0">
                <a:solidFill>
                  <a:srgbClr val="7030A0"/>
                </a:solidFill>
              </a:rPr>
              <a:t>Primary Key</a:t>
            </a:r>
            <a:endParaRPr lang="en-GB" sz="3200" b="1" dirty="0">
              <a:solidFill>
                <a:srgbClr val="7030A0"/>
              </a:solidFill>
            </a:endParaRPr>
          </a:p>
        </p:txBody>
      </p:sp>
    </p:spTree>
    <p:extLst>
      <p:ext uri="{BB962C8B-B14F-4D97-AF65-F5344CB8AC3E}">
        <p14:creationId xmlns:p14="http://schemas.microsoft.com/office/powerpoint/2010/main" val="1018795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1000"/>
                                        <p:tgtEl>
                                          <p:spTgt spid="23">
                                            <p:txEl>
                                              <p:pRg st="0" end="0"/>
                                            </p:txEl>
                                          </p:spTgt>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20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wipe(left)">
                                      <p:cBhvr>
                                        <p:cTn id="16" dur="1000"/>
                                        <p:tgtEl>
                                          <p:spTgt spid="5">
                                            <p:txEl>
                                              <p:pRg st="0" end="0"/>
                                            </p:txEl>
                                          </p:spTgt>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up)">
                                      <p:cBhvr>
                                        <p:cTn id="20" dur="2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wipe(left)">
                                      <p:cBhvr>
                                        <p:cTn id="25" dur="20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20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left)">
                                      <p:cBhvr>
                                        <p:cTn id="35" dur="4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uiExpand="1" build="p"/>
      <p:bldP spid="25" grpId="0" animBg="1"/>
      <p:bldP spid="5" grpId="0" uiExpand="1" build="p"/>
      <p:bldP spid="7" grpId="0" animBg="1"/>
      <p:bldP spid="9" grpId="0" animBg="1"/>
    </p:bld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E86A5F8-9D2F-DB16-E2BA-5329BEDC9C7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0120949-EFD5-8A0F-E12D-5450647EB0E5}"/>
              </a:ext>
            </a:extLst>
          </p:cNvPr>
          <p:cNvSpPr>
            <a:spLocks noGrp="1"/>
          </p:cNvSpPr>
          <p:nvPr>
            <p:ph type="title"/>
          </p:nvPr>
        </p:nvSpPr>
        <p:spPr/>
        <p:txBody>
          <a:bodyPr/>
          <a:lstStyle/>
          <a:p>
            <a:r>
              <a:rPr lang="en-GB" dirty="0"/>
              <a:t>Foreign Key (FK)</a:t>
            </a:r>
          </a:p>
        </p:txBody>
      </p:sp>
      <p:graphicFrame>
        <p:nvGraphicFramePr>
          <p:cNvPr id="8" name="Table 7">
            <a:extLst>
              <a:ext uri="{FF2B5EF4-FFF2-40B4-BE49-F238E27FC236}">
                <a16:creationId xmlns:a16="http://schemas.microsoft.com/office/drawing/2014/main" id="{01009E7C-3343-7E78-A738-6B72AF88D957}"/>
              </a:ext>
            </a:extLst>
          </p:cNvPr>
          <p:cNvGraphicFramePr>
            <a:graphicFrameLocks noGrp="1"/>
          </p:cNvGraphicFramePr>
          <p:nvPr/>
        </p:nvGraphicFramePr>
        <p:xfrm>
          <a:off x="838200" y="2195505"/>
          <a:ext cx="4888541" cy="2565400"/>
        </p:xfrm>
        <a:graphic>
          <a:graphicData uri="http://schemas.openxmlformats.org/drawingml/2006/table">
            <a:tbl>
              <a:tblPr>
                <a:tableStyleId>{2D5ABB26-0587-4C30-8999-92F81FD0307C}</a:tableStyleId>
              </a:tblPr>
              <a:tblGrid>
                <a:gridCol w="1582845">
                  <a:extLst>
                    <a:ext uri="{9D8B030D-6E8A-4147-A177-3AD203B41FA5}">
                      <a16:colId xmlns:a16="http://schemas.microsoft.com/office/drawing/2014/main" val="472702329"/>
                    </a:ext>
                  </a:extLst>
                </a:gridCol>
                <a:gridCol w="1361169">
                  <a:extLst>
                    <a:ext uri="{9D8B030D-6E8A-4147-A177-3AD203B41FA5}">
                      <a16:colId xmlns:a16="http://schemas.microsoft.com/office/drawing/2014/main" val="2690132748"/>
                    </a:ext>
                  </a:extLst>
                </a:gridCol>
                <a:gridCol w="1944527">
                  <a:extLst>
                    <a:ext uri="{9D8B030D-6E8A-4147-A177-3AD203B41FA5}">
                      <a16:colId xmlns:a16="http://schemas.microsoft.com/office/drawing/2014/main" val="4184799364"/>
                    </a:ext>
                  </a:extLst>
                </a:gridCol>
              </a:tblGrid>
              <a:tr h="299399">
                <a:tc>
                  <a:txBody>
                    <a:bodyPr/>
                    <a:lstStyle/>
                    <a:p>
                      <a:r>
                        <a:rPr lang="en-GB" sz="3200" b="1" u="none" dirty="0" err="1">
                          <a:solidFill>
                            <a:srgbClr val="FF0000"/>
                          </a:solidFill>
                          <a:latin typeface="Consolas" panose="020B0609020204030204" pitchFamily="49" charset="0"/>
                        </a:rPr>
                        <a:t>taxiID</a:t>
                      </a:r>
                      <a:endParaRPr lang="en-GB" sz="3200" b="1" u="none" dirty="0">
                        <a:solidFill>
                          <a:srgbClr val="FF0000"/>
                        </a:solidFill>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GB" sz="3200" b="1" dirty="0">
                          <a:latin typeface="Consolas" panose="020B0609020204030204" pitchFamily="49" charset="0"/>
                        </a:rPr>
                        <a:t>make</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GB" sz="3200" b="1" dirty="0">
                          <a:latin typeface="Consolas" panose="020B0609020204030204" pitchFamily="49" charset="0"/>
                        </a:rPr>
                        <a:t>colour</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71788421"/>
                  </a:ext>
                </a:extLst>
              </a:tr>
              <a:tr h="0">
                <a:tc>
                  <a:txBody>
                    <a:bodyPr/>
                    <a:lstStyle/>
                    <a:p>
                      <a:pPr algn="l"/>
                      <a:r>
                        <a:rPr lang="en-GB" sz="3200" dirty="0">
                          <a:effectLst/>
                          <a:latin typeface="Consolas" panose="020B0609020204030204" pitchFamily="49" charset="0"/>
                        </a:rPr>
                        <a:t>5</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Ford</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Teal</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1143260"/>
                  </a:ext>
                </a:extLst>
              </a:tr>
              <a:tr h="0">
                <a:tc>
                  <a:txBody>
                    <a:bodyPr/>
                    <a:lstStyle/>
                    <a:p>
                      <a:pPr algn="l"/>
                      <a:r>
                        <a:rPr lang="en-GB" sz="3200">
                          <a:effectLst/>
                          <a:latin typeface="Consolas" panose="020B0609020204030204" pitchFamily="49" charset="0"/>
                        </a:rPr>
                        <a:t>12</a:t>
                      </a:r>
                      <a:endParaRPr lang="en-GB" sz="3200" b="0" i="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Buick</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Crimson</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63023525"/>
                  </a:ext>
                </a:extLst>
              </a:tr>
              <a:tr h="0">
                <a:tc>
                  <a:txBody>
                    <a:bodyPr/>
                    <a:lstStyle/>
                    <a:p>
                      <a:pPr algn="l"/>
                      <a:r>
                        <a:rPr lang="en-GB" sz="3200">
                          <a:effectLst/>
                          <a:latin typeface="Consolas" panose="020B0609020204030204" pitchFamily="49" charset="0"/>
                        </a:rPr>
                        <a:t>13</a:t>
                      </a:r>
                      <a:endParaRPr lang="en-GB" sz="3200" b="0" i="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Buick</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Teal</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48718805"/>
                  </a:ext>
                </a:extLst>
              </a:tr>
              <a:tr h="0">
                <a:tc>
                  <a:txBody>
                    <a:bodyPr/>
                    <a:lstStyle/>
                    <a:p>
                      <a:pPr algn="l"/>
                      <a:r>
                        <a:rPr lang="en-GB" sz="3200" dirty="0">
                          <a:effectLst/>
                          <a:latin typeface="Consolas" panose="020B0609020204030204" pitchFamily="49" charset="0"/>
                        </a:rPr>
                        <a:t>17</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Ford</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Mauve</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45826846"/>
                  </a:ext>
                </a:extLst>
              </a:tr>
            </a:tbl>
          </a:graphicData>
        </a:graphic>
      </p:graphicFrame>
      <p:graphicFrame>
        <p:nvGraphicFramePr>
          <p:cNvPr id="3" name="Table 2">
            <a:extLst>
              <a:ext uri="{FF2B5EF4-FFF2-40B4-BE49-F238E27FC236}">
                <a16:creationId xmlns:a16="http://schemas.microsoft.com/office/drawing/2014/main" id="{C3005A74-E6D7-2B6B-4EA7-005BEE7621E9}"/>
              </a:ext>
            </a:extLst>
          </p:cNvPr>
          <p:cNvGraphicFramePr>
            <a:graphicFrameLocks noGrp="1"/>
          </p:cNvGraphicFramePr>
          <p:nvPr>
            <p:extLst>
              <p:ext uri="{D42A27DB-BD31-4B8C-83A1-F6EECF244321}">
                <p14:modId xmlns:p14="http://schemas.microsoft.com/office/powerpoint/2010/main" val="3116073464"/>
              </p:ext>
            </p:extLst>
          </p:nvPr>
        </p:nvGraphicFramePr>
        <p:xfrm>
          <a:off x="6465261" y="2195505"/>
          <a:ext cx="4552951" cy="3078480"/>
        </p:xfrm>
        <a:graphic>
          <a:graphicData uri="http://schemas.openxmlformats.org/drawingml/2006/table">
            <a:tbl>
              <a:tblPr>
                <a:tableStyleId>{2D5ABB26-0587-4C30-8999-92F81FD0307C}</a:tableStyleId>
              </a:tblPr>
              <a:tblGrid>
                <a:gridCol w="1592263">
                  <a:extLst>
                    <a:ext uri="{9D8B030D-6E8A-4147-A177-3AD203B41FA5}">
                      <a16:colId xmlns:a16="http://schemas.microsoft.com/office/drawing/2014/main" val="472702329"/>
                    </a:ext>
                  </a:extLst>
                </a:gridCol>
                <a:gridCol w="1592263">
                  <a:extLst>
                    <a:ext uri="{9D8B030D-6E8A-4147-A177-3AD203B41FA5}">
                      <a16:colId xmlns:a16="http://schemas.microsoft.com/office/drawing/2014/main" val="2690132748"/>
                    </a:ext>
                  </a:extLst>
                </a:gridCol>
                <a:gridCol w="1368425">
                  <a:extLst>
                    <a:ext uri="{9D8B030D-6E8A-4147-A177-3AD203B41FA5}">
                      <a16:colId xmlns:a16="http://schemas.microsoft.com/office/drawing/2014/main" val="4184799364"/>
                    </a:ext>
                  </a:extLst>
                </a:gridCol>
              </a:tblGrid>
              <a:tr h="299399">
                <a:tc>
                  <a:txBody>
                    <a:bodyPr/>
                    <a:lstStyle/>
                    <a:p>
                      <a:r>
                        <a:rPr lang="en-GB" sz="3200" b="1" u="none" dirty="0" err="1">
                          <a:latin typeface="Consolas" panose="020B0609020204030204" pitchFamily="49" charset="0"/>
                        </a:rPr>
                        <a:t>tripID</a:t>
                      </a:r>
                      <a:endParaRPr lang="en-GB" sz="3200" b="1" u="none" dirty="0">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GB" sz="3200" b="1" dirty="0" err="1">
                          <a:solidFill>
                            <a:srgbClr val="FF0000"/>
                          </a:solidFill>
                          <a:latin typeface="Consolas" panose="020B0609020204030204" pitchFamily="49" charset="0"/>
                        </a:rPr>
                        <a:t>taxiID</a:t>
                      </a:r>
                      <a:endParaRPr lang="en-GB" sz="3200" b="1" dirty="0">
                        <a:solidFill>
                          <a:srgbClr val="FF0000"/>
                        </a:solidFill>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GB" sz="3200" b="1" dirty="0">
                          <a:latin typeface="Consolas" panose="020B0609020204030204" pitchFamily="49" charset="0"/>
                        </a:rPr>
                        <a:t>cost</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71788421"/>
                  </a:ext>
                </a:extLst>
              </a:tr>
              <a:tr h="0">
                <a:tc>
                  <a:txBody>
                    <a:bodyPr/>
                    <a:lstStyle/>
                    <a:p>
                      <a:pPr algn="l"/>
                      <a:r>
                        <a:rPr lang="en-GB" sz="3200" dirty="0">
                          <a:effectLst/>
                          <a:latin typeface="Consolas" panose="020B0609020204030204" pitchFamily="49" charset="0"/>
                        </a:rPr>
                        <a:t>1</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17</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b="0" i="0" dirty="0">
                          <a:solidFill>
                            <a:srgbClr val="000000"/>
                          </a:solidFill>
                          <a:effectLst/>
                          <a:latin typeface="Consolas" panose="020B0609020204030204" pitchFamily="49" charset="0"/>
                        </a:rPr>
                        <a:t>7.75</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1143260"/>
                  </a:ext>
                </a:extLst>
              </a:tr>
              <a:tr h="0">
                <a:tc>
                  <a:txBody>
                    <a:bodyPr/>
                    <a:lstStyle/>
                    <a:p>
                      <a:pPr algn="l"/>
                      <a:r>
                        <a:rPr lang="en-GB" sz="3200" dirty="0">
                          <a:effectLst/>
                          <a:latin typeface="Consolas" panose="020B0609020204030204" pitchFamily="49" charset="0"/>
                        </a:rPr>
                        <a:t>2</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5</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b="0" i="0" dirty="0">
                          <a:solidFill>
                            <a:srgbClr val="000000"/>
                          </a:solidFill>
                          <a:effectLst/>
                          <a:latin typeface="Consolas" panose="020B0609020204030204" pitchFamily="49" charset="0"/>
                        </a:rPr>
                        <a:t>21.80</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63023525"/>
                  </a:ext>
                </a:extLst>
              </a:tr>
              <a:tr h="0">
                <a:tc>
                  <a:txBody>
                    <a:bodyPr/>
                    <a:lstStyle/>
                    <a:p>
                      <a:pPr algn="l"/>
                      <a:r>
                        <a:rPr lang="en-GB" sz="3200" dirty="0">
                          <a:effectLst/>
                          <a:latin typeface="Consolas" panose="020B0609020204030204" pitchFamily="49" charset="0"/>
                        </a:rPr>
                        <a:t>3</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12</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b="0" i="0" dirty="0">
                          <a:solidFill>
                            <a:srgbClr val="000000"/>
                          </a:solidFill>
                          <a:effectLst/>
                          <a:latin typeface="Consolas" panose="020B0609020204030204" pitchFamily="49" charset="0"/>
                        </a:rPr>
                        <a:t>5.20</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48718805"/>
                  </a:ext>
                </a:extLst>
              </a:tr>
              <a:tr h="0">
                <a:tc>
                  <a:txBody>
                    <a:bodyPr/>
                    <a:lstStyle/>
                    <a:p>
                      <a:pPr algn="l"/>
                      <a:r>
                        <a:rPr lang="en-GB" sz="3200" b="0" i="0" dirty="0">
                          <a:solidFill>
                            <a:srgbClr val="000000"/>
                          </a:solidFill>
                          <a:effectLst/>
                          <a:latin typeface="Consolas" panose="020B0609020204030204" pitchFamily="49" charset="0"/>
                        </a:rPr>
                        <a:t>4</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dirty="0">
                          <a:effectLst/>
                          <a:latin typeface="Consolas" panose="020B0609020204030204" pitchFamily="49" charset="0"/>
                        </a:rPr>
                        <a:t>17</a:t>
                      </a:r>
                      <a:endParaRPr lang="en-GB" sz="3200" b="0" i="0" dirty="0">
                        <a:solidFill>
                          <a:srgbClr val="000000"/>
                        </a:solidFill>
                        <a:effectLst/>
                        <a:latin typeface="Consolas" panose="020B0609020204030204" pitchFamily="49"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b="0" i="0" dirty="0">
                          <a:solidFill>
                            <a:srgbClr val="000000"/>
                          </a:solidFill>
                          <a:effectLst/>
                          <a:latin typeface="Consolas" panose="020B0609020204030204" pitchFamily="49" charset="0"/>
                        </a:rPr>
                        <a:t>11.00</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45826846"/>
                  </a:ext>
                </a:extLst>
              </a:tr>
              <a:tr h="0">
                <a:tc>
                  <a:txBody>
                    <a:bodyPr/>
                    <a:lstStyle/>
                    <a:p>
                      <a:pPr algn="l"/>
                      <a:r>
                        <a:rPr lang="en-GB" sz="3200" b="0" i="0" dirty="0">
                          <a:solidFill>
                            <a:srgbClr val="000000"/>
                          </a:solidFill>
                          <a:effectLst/>
                          <a:latin typeface="Consolas" panose="020B0609020204030204" pitchFamily="49" charset="0"/>
                        </a:rPr>
                        <a:t>5</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b="0" i="0" dirty="0">
                          <a:solidFill>
                            <a:srgbClr val="000000"/>
                          </a:solidFill>
                          <a:effectLst/>
                          <a:latin typeface="Consolas" panose="020B0609020204030204" pitchFamily="49" charset="0"/>
                        </a:rPr>
                        <a:t>13</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GB" sz="3200" b="0" i="0" dirty="0">
                          <a:solidFill>
                            <a:srgbClr val="000000"/>
                          </a:solidFill>
                          <a:effectLst/>
                          <a:latin typeface="Consolas" panose="020B0609020204030204" pitchFamily="49" charset="0"/>
                        </a:rPr>
                        <a:t>9.25</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58362907"/>
                  </a:ext>
                </a:extLst>
              </a:tr>
            </a:tbl>
          </a:graphicData>
        </a:graphic>
      </p:graphicFrame>
    </p:spTree>
    <p:extLst>
      <p:ext uri="{BB962C8B-B14F-4D97-AF65-F5344CB8AC3E}">
        <p14:creationId xmlns:p14="http://schemas.microsoft.com/office/powerpoint/2010/main" val="238036581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8BD93-1B88-24BD-91B5-9760F737906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7294DEE-B4CF-D499-E8FD-C32133FC7688}"/>
              </a:ext>
            </a:extLst>
          </p:cNvPr>
          <p:cNvSpPr>
            <a:spLocks noGrp="1"/>
          </p:cNvSpPr>
          <p:nvPr>
            <p:ph type="title"/>
          </p:nvPr>
        </p:nvSpPr>
        <p:spPr/>
        <p:txBody>
          <a:bodyPr/>
          <a:lstStyle/>
          <a:p>
            <a:r>
              <a:rPr lang="en-GB" dirty="0"/>
              <a:t>Relationship – Two Entities</a:t>
            </a:r>
          </a:p>
        </p:txBody>
      </p:sp>
      <p:sp>
        <p:nvSpPr>
          <p:cNvPr id="7" name="Keys">
            <a:extLst>
              <a:ext uri="{FF2B5EF4-FFF2-40B4-BE49-F238E27FC236}">
                <a16:creationId xmlns:a16="http://schemas.microsoft.com/office/drawing/2014/main" id="{7339F5D7-E547-051B-8358-27ED8DD864DC}"/>
              </a:ext>
            </a:extLst>
          </p:cNvPr>
          <p:cNvSpPr txBox="1"/>
          <p:nvPr/>
        </p:nvSpPr>
        <p:spPr>
          <a:xfrm>
            <a:off x="838200" y="5429398"/>
            <a:ext cx="5317225" cy="1200329"/>
          </a:xfrm>
          <a:prstGeom prst="rect">
            <a:avLst/>
          </a:prstGeom>
          <a:noFill/>
        </p:spPr>
        <p:txBody>
          <a:bodyPr wrap="none" rtlCol="0">
            <a:spAutoFit/>
          </a:bodyPr>
          <a:lstStyle/>
          <a:p>
            <a:r>
              <a:rPr lang="en-GB" sz="3600" dirty="0">
                <a:solidFill>
                  <a:srgbClr val="7030A0"/>
                </a:solidFill>
              </a:rPr>
              <a:t>Primary Key: </a:t>
            </a:r>
            <a:r>
              <a:rPr lang="en-GB" sz="3600" u="sng" dirty="0">
                <a:solidFill>
                  <a:srgbClr val="7030A0"/>
                </a:solidFill>
              </a:rPr>
              <a:t>underlined</a:t>
            </a:r>
          </a:p>
          <a:p>
            <a:r>
              <a:rPr lang="en-GB" sz="3600" dirty="0">
                <a:solidFill>
                  <a:srgbClr val="7030A0"/>
                </a:solidFill>
              </a:rPr>
              <a:t>Foreign Key: suffixed with *</a:t>
            </a:r>
          </a:p>
        </p:txBody>
      </p:sp>
      <p:sp>
        <p:nvSpPr>
          <p:cNvPr id="2" name="Description">
            <a:extLst>
              <a:ext uri="{FF2B5EF4-FFF2-40B4-BE49-F238E27FC236}">
                <a16:creationId xmlns:a16="http://schemas.microsoft.com/office/drawing/2014/main" id="{C718EF25-5E66-0EC0-D41D-E53FB2DD5A22}"/>
              </a:ext>
            </a:extLst>
          </p:cNvPr>
          <p:cNvSpPr txBox="1"/>
          <p:nvPr/>
        </p:nvSpPr>
        <p:spPr>
          <a:xfrm>
            <a:off x="3918294" y="3003676"/>
            <a:ext cx="3105529" cy="1200329"/>
          </a:xfrm>
          <a:prstGeom prst="rect">
            <a:avLst/>
          </a:prstGeom>
          <a:noFill/>
        </p:spPr>
        <p:txBody>
          <a:bodyPr wrap="none" rtlCol="0">
            <a:spAutoFit/>
          </a:bodyPr>
          <a:lstStyle/>
          <a:p>
            <a:pPr algn="ctr"/>
            <a:r>
              <a:rPr lang="en-GB" sz="3600" dirty="0">
                <a:solidFill>
                  <a:srgbClr val="7030A0"/>
                </a:solidFill>
              </a:rPr>
              <a:t>A taxi can make</a:t>
            </a:r>
          </a:p>
          <a:p>
            <a:pPr algn="ctr"/>
            <a:r>
              <a:rPr lang="en-GB" sz="3600" dirty="0">
                <a:solidFill>
                  <a:srgbClr val="7030A0"/>
                </a:solidFill>
              </a:rPr>
              <a:t>many journeys</a:t>
            </a:r>
          </a:p>
        </p:txBody>
      </p:sp>
      <p:sp>
        <p:nvSpPr>
          <p:cNvPr id="12" name="Verb">
            <a:extLst>
              <a:ext uri="{FF2B5EF4-FFF2-40B4-BE49-F238E27FC236}">
                <a16:creationId xmlns:a16="http://schemas.microsoft.com/office/drawing/2014/main" id="{763FD95B-C871-A100-D5DF-AB0EF148E82E}"/>
              </a:ext>
            </a:extLst>
          </p:cNvPr>
          <p:cNvSpPr txBox="1"/>
          <p:nvPr/>
        </p:nvSpPr>
        <p:spPr>
          <a:xfrm>
            <a:off x="4703157" y="1515546"/>
            <a:ext cx="1380058" cy="646331"/>
          </a:xfrm>
          <a:prstGeom prst="rect">
            <a:avLst/>
          </a:prstGeom>
          <a:noFill/>
        </p:spPr>
        <p:txBody>
          <a:bodyPr wrap="none" rtlCol="0">
            <a:spAutoFit/>
          </a:bodyPr>
          <a:lstStyle/>
          <a:p>
            <a:pPr algn="ctr"/>
            <a:r>
              <a:rPr lang="en-GB" sz="3600" dirty="0"/>
              <a:t>makes</a:t>
            </a:r>
            <a:endParaRPr lang="en-GB" sz="2800" dirty="0"/>
          </a:p>
        </p:txBody>
      </p:sp>
      <p:grpSp>
        <p:nvGrpSpPr>
          <p:cNvPr id="13" name="taxi">
            <a:extLst>
              <a:ext uri="{FF2B5EF4-FFF2-40B4-BE49-F238E27FC236}">
                <a16:creationId xmlns:a16="http://schemas.microsoft.com/office/drawing/2014/main" id="{09E0208B-192F-170B-23ED-09D5F9E4C9CD}"/>
              </a:ext>
            </a:extLst>
          </p:cNvPr>
          <p:cNvGrpSpPr/>
          <p:nvPr/>
        </p:nvGrpSpPr>
        <p:grpSpPr>
          <a:xfrm>
            <a:off x="943143" y="1688137"/>
            <a:ext cx="1957587" cy="3416320"/>
            <a:chOff x="2197100" y="1720840"/>
            <a:chExt cx="1957587" cy="3416320"/>
          </a:xfrm>
        </p:grpSpPr>
        <p:sp>
          <p:nvSpPr>
            <p:cNvPr id="14" name="TextBox 13">
              <a:extLst>
                <a:ext uri="{FF2B5EF4-FFF2-40B4-BE49-F238E27FC236}">
                  <a16:creationId xmlns:a16="http://schemas.microsoft.com/office/drawing/2014/main" id="{FB7DE14A-DEFF-0A36-8296-2883E7534727}"/>
                </a:ext>
              </a:extLst>
            </p:cNvPr>
            <p:cNvSpPr txBox="1"/>
            <p:nvPr/>
          </p:nvSpPr>
          <p:spPr>
            <a:xfrm>
              <a:off x="2197100" y="1720840"/>
              <a:ext cx="1957587" cy="3416320"/>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u="sng" dirty="0" err="1">
                  <a:latin typeface="Consolas" panose="020B0609020204030204" pitchFamily="49" charset="0"/>
                </a:rPr>
                <a:t>taxiID</a:t>
              </a:r>
              <a:endParaRPr lang="en-GB" sz="3600" u="sng" dirty="0">
                <a:latin typeface="Consolas" panose="020B0609020204030204" pitchFamily="49" charset="0"/>
              </a:endParaRPr>
            </a:p>
            <a:p>
              <a:r>
                <a:rPr lang="en-GB" sz="3600" dirty="0" err="1">
                  <a:latin typeface="Consolas" panose="020B0609020204030204" pitchFamily="49" charset="0"/>
                </a:rPr>
                <a:t>taxiReg</a:t>
              </a:r>
              <a:endParaRPr lang="en-GB" sz="3600" dirty="0">
                <a:latin typeface="Consolas" panose="020B0609020204030204" pitchFamily="49" charset="0"/>
              </a:endParaRPr>
            </a:p>
            <a:p>
              <a:r>
                <a:rPr lang="en-GB" sz="3600" dirty="0">
                  <a:latin typeface="Consolas" panose="020B0609020204030204" pitchFamily="49" charset="0"/>
                </a:rPr>
                <a:t>make</a:t>
              </a:r>
            </a:p>
            <a:p>
              <a:r>
                <a:rPr lang="en-GB" sz="3600" dirty="0">
                  <a:latin typeface="Consolas" panose="020B0609020204030204" pitchFamily="49" charset="0"/>
                </a:rPr>
                <a:t>model</a:t>
              </a:r>
            </a:p>
            <a:p>
              <a:r>
                <a:rPr lang="en-GB" sz="3600" dirty="0">
                  <a:latin typeface="Consolas" panose="020B0609020204030204" pitchFamily="49" charset="0"/>
                </a:rPr>
                <a:t>colour</a:t>
              </a:r>
            </a:p>
          </p:txBody>
        </p:sp>
        <p:sp>
          <p:nvSpPr>
            <p:cNvPr id="15" name="TextBox 14">
              <a:extLst>
                <a:ext uri="{FF2B5EF4-FFF2-40B4-BE49-F238E27FC236}">
                  <a16:creationId xmlns:a16="http://schemas.microsoft.com/office/drawing/2014/main" id="{17E8DD76-82F5-EBED-53C5-A86AFF405E65}"/>
                </a:ext>
              </a:extLst>
            </p:cNvPr>
            <p:cNvSpPr txBox="1"/>
            <p:nvPr/>
          </p:nvSpPr>
          <p:spPr>
            <a:xfrm>
              <a:off x="2197100" y="1720840"/>
              <a:ext cx="1957587" cy="646331"/>
            </a:xfrm>
            <a:prstGeom prst="rect">
              <a:avLst/>
            </a:prstGeom>
            <a:solidFill>
              <a:schemeClr val="bg2">
                <a:lumMod val="90000"/>
              </a:schemeClr>
            </a:solidFill>
            <a:ln>
              <a:solidFill>
                <a:schemeClr val="tx1"/>
              </a:solidFill>
            </a:ln>
          </p:spPr>
          <p:txBody>
            <a:bodyPr wrap="square" rtlCol="0">
              <a:spAutoFit/>
            </a:bodyPr>
            <a:lstStyle/>
            <a:p>
              <a:r>
                <a:rPr lang="en-GB" sz="3600" b="1" dirty="0">
                  <a:latin typeface="Consolas" panose="020B0609020204030204" pitchFamily="49" charset="0"/>
                </a:rPr>
                <a:t>Taxi</a:t>
              </a:r>
              <a:endParaRPr lang="en-GB" sz="3600" b="1" dirty="0"/>
            </a:p>
          </p:txBody>
        </p:sp>
      </p:grpSp>
      <p:grpSp>
        <p:nvGrpSpPr>
          <p:cNvPr id="16" name="1:M">
            <a:extLst>
              <a:ext uri="{FF2B5EF4-FFF2-40B4-BE49-F238E27FC236}">
                <a16:creationId xmlns:a16="http://schemas.microsoft.com/office/drawing/2014/main" id="{9B8B19A6-2260-2C61-6682-4E398288D9ED}"/>
              </a:ext>
            </a:extLst>
          </p:cNvPr>
          <p:cNvGrpSpPr/>
          <p:nvPr/>
        </p:nvGrpSpPr>
        <p:grpSpPr>
          <a:xfrm>
            <a:off x="2900730" y="1858766"/>
            <a:ext cx="5357883" cy="359999"/>
            <a:chOff x="4502107" y="5300546"/>
            <a:chExt cx="3207592" cy="359999"/>
          </a:xfrm>
        </p:grpSpPr>
        <p:cxnSp>
          <p:nvCxnSpPr>
            <p:cNvPr id="17" name="Straight Connector 16">
              <a:extLst>
                <a:ext uri="{FF2B5EF4-FFF2-40B4-BE49-F238E27FC236}">
                  <a16:creationId xmlns:a16="http://schemas.microsoft.com/office/drawing/2014/main" id="{DA71695C-75D6-7FA2-EDF7-663F16D6E33F}"/>
                </a:ext>
              </a:extLst>
            </p:cNvPr>
            <p:cNvCxnSpPr>
              <a:cxnSpLocks/>
            </p:cNvCxnSpPr>
            <p:nvPr/>
          </p:nvCxnSpPr>
          <p:spPr>
            <a:xfrm flipV="1">
              <a:off x="4502107" y="5489248"/>
              <a:ext cx="3207592"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1322E0E-E674-A201-DDD8-064E9155D3FC}"/>
                </a:ext>
              </a:extLst>
            </p:cNvPr>
            <p:cNvCxnSpPr/>
            <p:nvPr/>
          </p:nvCxnSpPr>
          <p:spPr>
            <a:xfrm flipV="1">
              <a:off x="7391400" y="5300546"/>
              <a:ext cx="318299" cy="18870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B87C0CC-A0A5-5425-34AA-7DC13A524165}"/>
                </a:ext>
              </a:extLst>
            </p:cNvPr>
            <p:cNvCxnSpPr/>
            <p:nvPr/>
          </p:nvCxnSpPr>
          <p:spPr>
            <a:xfrm>
              <a:off x="7391400" y="5489247"/>
              <a:ext cx="318299" cy="17129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 name="journey">
            <a:extLst>
              <a:ext uri="{FF2B5EF4-FFF2-40B4-BE49-F238E27FC236}">
                <a16:creationId xmlns:a16="http://schemas.microsoft.com/office/drawing/2014/main" id="{F4AA4CDB-0909-672F-A034-B9BE7CD52B47}"/>
              </a:ext>
            </a:extLst>
          </p:cNvPr>
          <p:cNvGrpSpPr/>
          <p:nvPr/>
        </p:nvGrpSpPr>
        <p:grpSpPr>
          <a:xfrm>
            <a:off x="8239563" y="1688137"/>
            <a:ext cx="2717412" cy="4524315"/>
            <a:chOff x="7175029" y="1690688"/>
            <a:chExt cx="2717412" cy="4524315"/>
          </a:xfrm>
        </p:grpSpPr>
        <p:sp>
          <p:nvSpPr>
            <p:cNvPr id="21" name="TextBox 20">
              <a:extLst>
                <a:ext uri="{FF2B5EF4-FFF2-40B4-BE49-F238E27FC236}">
                  <a16:creationId xmlns:a16="http://schemas.microsoft.com/office/drawing/2014/main" id="{13FC6549-5292-849D-6638-4E2A62944BAD}"/>
                </a:ext>
              </a:extLst>
            </p:cNvPr>
            <p:cNvSpPr txBox="1"/>
            <p:nvPr/>
          </p:nvSpPr>
          <p:spPr>
            <a:xfrm>
              <a:off x="7175030" y="1690688"/>
              <a:ext cx="2717411" cy="4524315"/>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latin typeface="Consolas" panose="020B0609020204030204" pitchFamily="49" charset="0"/>
                </a:rPr>
                <a:t>journey</a:t>
              </a:r>
            </a:p>
            <a:p>
              <a:r>
                <a:rPr lang="en-GB" sz="3600" u="sng" dirty="0" err="1">
                  <a:latin typeface="Consolas" panose="020B0609020204030204" pitchFamily="49" charset="0"/>
                </a:rPr>
                <a:t>journeyID</a:t>
              </a:r>
              <a:endParaRPr lang="en-GB" sz="3600" u="sng" dirty="0">
                <a:latin typeface="Consolas" panose="020B0609020204030204" pitchFamily="49" charset="0"/>
              </a:endParaRPr>
            </a:p>
            <a:p>
              <a:r>
                <a:rPr lang="en-GB" sz="3600" dirty="0" err="1">
                  <a:latin typeface="Consolas" panose="020B0609020204030204" pitchFamily="49" charset="0"/>
                </a:rPr>
                <a:t>taxiID</a:t>
              </a:r>
              <a:r>
                <a:rPr lang="en-GB" sz="3600" dirty="0">
                  <a:latin typeface="Consolas" panose="020B0609020204030204" pitchFamily="49" charset="0"/>
                </a:rPr>
                <a:t>*</a:t>
              </a:r>
            </a:p>
            <a:p>
              <a:r>
                <a:rPr lang="en-GB" sz="3600" dirty="0" err="1">
                  <a:latin typeface="Consolas" panose="020B0609020204030204" pitchFamily="49" charset="0"/>
                </a:rPr>
                <a:t>pickUpDate</a:t>
              </a:r>
              <a:endParaRPr lang="en-GB" sz="3600" dirty="0">
                <a:latin typeface="Consolas" panose="020B0609020204030204" pitchFamily="49" charset="0"/>
              </a:endParaRPr>
            </a:p>
            <a:p>
              <a:r>
                <a:rPr lang="en-GB" sz="3600" dirty="0" err="1">
                  <a:latin typeface="Consolas" panose="020B0609020204030204" pitchFamily="49" charset="0"/>
                </a:rPr>
                <a:t>pickUpTime</a:t>
              </a:r>
              <a:endParaRPr lang="en-GB" sz="3600" dirty="0">
                <a:latin typeface="Consolas" panose="020B0609020204030204" pitchFamily="49" charset="0"/>
              </a:endParaRPr>
            </a:p>
            <a:p>
              <a:r>
                <a:rPr lang="en-GB" sz="3600" dirty="0" err="1">
                  <a:latin typeface="Consolas" panose="020B0609020204030204" pitchFamily="49" charset="0"/>
                </a:rPr>
                <a:t>pax</a:t>
              </a:r>
              <a:endParaRPr lang="en-GB" sz="3600" dirty="0">
                <a:latin typeface="Consolas" panose="020B0609020204030204" pitchFamily="49" charset="0"/>
              </a:endParaRPr>
            </a:p>
            <a:p>
              <a:r>
                <a:rPr lang="en-GB" sz="3600" dirty="0" err="1">
                  <a:latin typeface="Consolas" panose="020B0609020204030204" pitchFamily="49" charset="0"/>
                </a:rPr>
                <a:t>pickUp</a:t>
              </a:r>
              <a:endParaRPr lang="en-GB" sz="3600" dirty="0">
                <a:latin typeface="Consolas" panose="020B0609020204030204" pitchFamily="49" charset="0"/>
              </a:endParaRPr>
            </a:p>
            <a:p>
              <a:r>
                <a:rPr lang="en-GB" sz="3600" dirty="0" err="1">
                  <a:latin typeface="Consolas" panose="020B0609020204030204" pitchFamily="49" charset="0"/>
                </a:rPr>
                <a:t>dropOff</a:t>
              </a:r>
              <a:endParaRPr lang="en-GB" sz="3600" dirty="0">
                <a:latin typeface="Consolas" panose="020B0609020204030204" pitchFamily="49" charset="0"/>
              </a:endParaRPr>
            </a:p>
          </p:txBody>
        </p:sp>
        <p:sp>
          <p:nvSpPr>
            <p:cNvPr id="22" name="TextBox 21">
              <a:extLst>
                <a:ext uri="{FF2B5EF4-FFF2-40B4-BE49-F238E27FC236}">
                  <a16:creationId xmlns:a16="http://schemas.microsoft.com/office/drawing/2014/main" id="{89A5EB07-D890-D071-5C41-45A369B763B8}"/>
                </a:ext>
              </a:extLst>
            </p:cNvPr>
            <p:cNvSpPr txBox="1"/>
            <p:nvPr/>
          </p:nvSpPr>
          <p:spPr>
            <a:xfrm>
              <a:off x="7175029" y="1690688"/>
              <a:ext cx="2717411" cy="646331"/>
            </a:xfrm>
            <a:prstGeom prst="rect">
              <a:avLst/>
            </a:prstGeom>
            <a:solidFill>
              <a:schemeClr val="bg2">
                <a:lumMod val="90000"/>
              </a:schemeClr>
            </a:solidFill>
            <a:ln>
              <a:solidFill>
                <a:schemeClr val="tx1"/>
              </a:solidFill>
            </a:ln>
          </p:spPr>
          <p:txBody>
            <a:bodyPr wrap="square" rtlCol="0">
              <a:spAutoFit/>
            </a:bodyPr>
            <a:lstStyle/>
            <a:p>
              <a:r>
                <a:rPr lang="en-GB" sz="3600" b="1" dirty="0">
                  <a:latin typeface="Consolas" panose="020B0609020204030204" pitchFamily="49" charset="0"/>
                </a:rPr>
                <a:t>Journey</a:t>
              </a:r>
              <a:endParaRPr lang="en-GB" sz="3600" b="1" dirty="0"/>
            </a:p>
          </p:txBody>
        </p:sp>
      </p:grpSp>
    </p:spTree>
    <p:extLst>
      <p:ext uri="{BB962C8B-B14F-4D97-AF65-F5344CB8AC3E}">
        <p14:creationId xmlns:p14="http://schemas.microsoft.com/office/powerpoint/2010/main" val="3241636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1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10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animEffect transition="in" filter="wipe(left)">
                                      <p:cBhvr>
                                        <p:cTn id="27" dur="1500"/>
                                        <p:tgtEl>
                                          <p:spTgt spid="2">
                                            <p:txEl>
                                              <p:pRg st="0" end="0"/>
                                            </p:txEl>
                                          </p:spTgt>
                                        </p:tgtEl>
                                      </p:cBhvr>
                                    </p:animEffect>
                                  </p:childTnLst>
                                </p:cTn>
                              </p:par>
                            </p:childTnLst>
                          </p:cTn>
                        </p:par>
                        <p:par>
                          <p:cTn id="28" fill="hold">
                            <p:stCondLst>
                              <p:cond delay="1500"/>
                            </p:stCondLst>
                            <p:childTnLst>
                              <p:par>
                                <p:cTn id="29" presetID="22" presetClass="entr" presetSubtype="8" fill="hold" grpId="0" nodeType="afterEffect">
                                  <p:stCondLst>
                                    <p:cond delay="0"/>
                                  </p:stCondLst>
                                  <p:childTnLst>
                                    <p:set>
                                      <p:cBhvr>
                                        <p:cTn id="30" dur="1" fill="hold">
                                          <p:stCondLst>
                                            <p:cond delay="0"/>
                                          </p:stCondLst>
                                        </p:cTn>
                                        <p:tgtEl>
                                          <p:spTgt spid="2">
                                            <p:txEl>
                                              <p:pRg st="1" end="1"/>
                                            </p:txEl>
                                          </p:spTgt>
                                        </p:tgtEl>
                                        <p:attrNameLst>
                                          <p:attrName>style.visibility</p:attrName>
                                        </p:attrNameLst>
                                      </p:cBhvr>
                                      <p:to>
                                        <p:strVal val="visible"/>
                                      </p:to>
                                    </p:set>
                                    <p:animEffect transition="in" filter="wipe(left)">
                                      <p:cBhvr>
                                        <p:cTn id="31" dur="1500"/>
                                        <p:tgtEl>
                                          <p:spTgt spid="2">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
                                            <p:txEl>
                                              <p:pRg st="0" end="0"/>
                                            </p:txEl>
                                          </p:spTgt>
                                        </p:tgtEl>
                                        <p:attrNameLst>
                                          <p:attrName>style.visibility</p:attrName>
                                        </p:attrNameLst>
                                      </p:cBhvr>
                                      <p:to>
                                        <p:strVal val="visible"/>
                                      </p:to>
                                    </p:set>
                                    <p:animEffect transition="in" filter="wipe(left)">
                                      <p:cBhvr>
                                        <p:cTn id="36" dur="2000"/>
                                        <p:tgtEl>
                                          <p:spTgt spid="7">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7">
                                            <p:txEl>
                                              <p:pRg st="1" end="1"/>
                                            </p:txEl>
                                          </p:spTgt>
                                        </p:tgtEl>
                                        <p:attrNameLst>
                                          <p:attrName>style.visibility</p:attrName>
                                        </p:attrNameLst>
                                      </p:cBhvr>
                                      <p:to>
                                        <p:strVal val="visible"/>
                                      </p:to>
                                    </p:set>
                                    <p:animEffect transition="in" filter="wipe(left)">
                                      <p:cBhvr>
                                        <p:cTn id="41" dur="20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2" grpId="0" uiExpand="1" build="p"/>
      <p:bldP spid="12" grpId="0"/>
    </p:bldLst>
  </p:timing>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Relationship – Two Entities</a:t>
            </a:r>
          </a:p>
        </p:txBody>
      </p:sp>
      <p:grpSp>
        <p:nvGrpSpPr>
          <p:cNvPr id="13" name="Group 12">
            <a:extLst>
              <a:ext uri="{FF2B5EF4-FFF2-40B4-BE49-F238E27FC236}">
                <a16:creationId xmlns:a16="http://schemas.microsoft.com/office/drawing/2014/main" id="{999086BD-AB94-47EE-8DB1-32155A3F5AD8}"/>
              </a:ext>
            </a:extLst>
          </p:cNvPr>
          <p:cNvGrpSpPr/>
          <p:nvPr/>
        </p:nvGrpSpPr>
        <p:grpSpPr>
          <a:xfrm>
            <a:off x="943143" y="1688137"/>
            <a:ext cx="1957587" cy="3416320"/>
            <a:chOff x="2197100" y="1720840"/>
            <a:chExt cx="1957587" cy="3416320"/>
          </a:xfrm>
        </p:grpSpPr>
        <p:sp>
          <p:nvSpPr>
            <p:cNvPr id="14" name="TextBox 13">
              <a:extLst>
                <a:ext uri="{FF2B5EF4-FFF2-40B4-BE49-F238E27FC236}">
                  <a16:creationId xmlns:a16="http://schemas.microsoft.com/office/drawing/2014/main" id="{9C2CD2B3-59E7-4006-BA07-7A4091453049}"/>
                </a:ext>
              </a:extLst>
            </p:cNvPr>
            <p:cNvSpPr txBox="1"/>
            <p:nvPr/>
          </p:nvSpPr>
          <p:spPr>
            <a:xfrm>
              <a:off x="2197100" y="1720840"/>
              <a:ext cx="1957587" cy="3416320"/>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u="sng" dirty="0" err="1">
                  <a:latin typeface="Consolas" panose="020B0609020204030204" pitchFamily="49" charset="0"/>
                </a:rPr>
                <a:t>taxiID</a:t>
              </a:r>
              <a:endParaRPr lang="en-GB" sz="3600" u="sng" dirty="0">
                <a:latin typeface="Consolas" panose="020B0609020204030204" pitchFamily="49" charset="0"/>
              </a:endParaRPr>
            </a:p>
            <a:p>
              <a:r>
                <a:rPr lang="en-GB" sz="3600" dirty="0" err="1">
                  <a:latin typeface="Consolas" panose="020B0609020204030204" pitchFamily="49" charset="0"/>
                </a:rPr>
                <a:t>taxiReg</a:t>
              </a:r>
              <a:endParaRPr lang="en-GB" sz="3600" dirty="0">
                <a:latin typeface="Consolas" panose="020B0609020204030204" pitchFamily="49" charset="0"/>
              </a:endParaRPr>
            </a:p>
            <a:p>
              <a:r>
                <a:rPr lang="en-GB" sz="3600" dirty="0">
                  <a:latin typeface="Consolas" panose="020B0609020204030204" pitchFamily="49" charset="0"/>
                </a:rPr>
                <a:t>make</a:t>
              </a:r>
            </a:p>
            <a:p>
              <a:r>
                <a:rPr lang="en-GB" sz="3600" dirty="0">
                  <a:latin typeface="Consolas" panose="020B0609020204030204" pitchFamily="49" charset="0"/>
                </a:rPr>
                <a:t>model</a:t>
              </a:r>
            </a:p>
            <a:p>
              <a:r>
                <a:rPr lang="en-GB" sz="3600" dirty="0">
                  <a:latin typeface="Consolas" panose="020B0609020204030204" pitchFamily="49" charset="0"/>
                </a:rPr>
                <a:t>colour</a:t>
              </a:r>
            </a:p>
          </p:txBody>
        </p:sp>
        <p:sp>
          <p:nvSpPr>
            <p:cNvPr id="15" name="TextBox 14">
              <a:extLst>
                <a:ext uri="{FF2B5EF4-FFF2-40B4-BE49-F238E27FC236}">
                  <a16:creationId xmlns:a16="http://schemas.microsoft.com/office/drawing/2014/main" id="{1FD6EF7E-F059-430F-9A1F-C89FC42961D2}"/>
                </a:ext>
              </a:extLst>
            </p:cNvPr>
            <p:cNvSpPr txBox="1"/>
            <p:nvPr/>
          </p:nvSpPr>
          <p:spPr>
            <a:xfrm>
              <a:off x="2197100" y="1720840"/>
              <a:ext cx="1957587" cy="646331"/>
            </a:xfrm>
            <a:prstGeom prst="rect">
              <a:avLst/>
            </a:prstGeom>
            <a:solidFill>
              <a:schemeClr val="bg2">
                <a:lumMod val="90000"/>
              </a:schemeClr>
            </a:solidFill>
            <a:ln>
              <a:solidFill>
                <a:schemeClr val="tx1"/>
              </a:solidFill>
            </a:ln>
          </p:spPr>
          <p:txBody>
            <a:bodyPr wrap="square" rtlCol="0">
              <a:spAutoFit/>
            </a:bodyPr>
            <a:lstStyle/>
            <a:p>
              <a:r>
                <a:rPr lang="en-GB" sz="3600" b="1" dirty="0">
                  <a:latin typeface="Consolas" panose="020B0609020204030204" pitchFamily="49" charset="0"/>
                </a:rPr>
                <a:t>Taxi</a:t>
              </a:r>
              <a:endParaRPr lang="en-GB" sz="3600" b="1" dirty="0"/>
            </a:p>
          </p:txBody>
        </p:sp>
      </p:grpSp>
      <p:grpSp>
        <p:nvGrpSpPr>
          <p:cNvPr id="20" name="Group 19">
            <a:extLst>
              <a:ext uri="{FF2B5EF4-FFF2-40B4-BE49-F238E27FC236}">
                <a16:creationId xmlns:a16="http://schemas.microsoft.com/office/drawing/2014/main" id="{875D6F1B-A908-4F59-B0B7-94D23EF5C00E}"/>
              </a:ext>
            </a:extLst>
          </p:cNvPr>
          <p:cNvGrpSpPr/>
          <p:nvPr/>
        </p:nvGrpSpPr>
        <p:grpSpPr>
          <a:xfrm>
            <a:off x="8239563" y="1688137"/>
            <a:ext cx="2717412" cy="4524315"/>
            <a:chOff x="7175029" y="1690688"/>
            <a:chExt cx="2717412" cy="4524315"/>
          </a:xfrm>
        </p:grpSpPr>
        <p:sp>
          <p:nvSpPr>
            <p:cNvPr id="21" name="TextBox 20">
              <a:extLst>
                <a:ext uri="{FF2B5EF4-FFF2-40B4-BE49-F238E27FC236}">
                  <a16:creationId xmlns:a16="http://schemas.microsoft.com/office/drawing/2014/main" id="{CA7597C4-25C2-42B3-87E4-2179334B1E12}"/>
                </a:ext>
              </a:extLst>
            </p:cNvPr>
            <p:cNvSpPr txBox="1"/>
            <p:nvPr/>
          </p:nvSpPr>
          <p:spPr>
            <a:xfrm>
              <a:off x="7175030" y="1690688"/>
              <a:ext cx="2717411" cy="4524315"/>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latin typeface="Consolas" panose="020B0609020204030204" pitchFamily="49" charset="0"/>
                </a:rPr>
                <a:t>journey</a:t>
              </a:r>
            </a:p>
            <a:p>
              <a:r>
                <a:rPr lang="en-GB" sz="3600" u="sng" dirty="0" err="1">
                  <a:latin typeface="Consolas" panose="020B0609020204030204" pitchFamily="49" charset="0"/>
                </a:rPr>
                <a:t>journeyID</a:t>
              </a:r>
              <a:endParaRPr lang="en-GB" sz="3600" u="sng" dirty="0">
                <a:latin typeface="Consolas" panose="020B0609020204030204" pitchFamily="49" charset="0"/>
              </a:endParaRPr>
            </a:p>
            <a:p>
              <a:r>
                <a:rPr lang="en-GB" sz="3600" dirty="0" err="1">
                  <a:latin typeface="Consolas" panose="020B0609020204030204" pitchFamily="49" charset="0"/>
                </a:rPr>
                <a:t>taxiID</a:t>
              </a:r>
              <a:r>
                <a:rPr lang="en-GB" sz="3600" dirty="0">
                  <a:latin typeface="Consolas" panose="020B0609020204030204" pitchFamily="49" charset="0"/>
                </a:rPr>
                <a:t>*</a:t>
              </a:r>
            </a:p>
            <a:p>
              <a:r>
                <a:rPr lang="en-GB" sz="3600" dirty="0" err="1">
                  <a:latin typeface="Consolas" panose="020B0609020204030204" pitchFamily="49" charset="0"/>
                </a:rPr>
                <a:t>pickUpDate</a:t>
              </a:r>
              <a:endParaRPr lang="en-GB" sz="3600" dirty="0">
                <a:latin typeface="Consolas" panose="020B0609020204030204" pitchFamily="49" charset="0"/>
              </a:endParaRPr>
            </a:p>
            <a:p>
              <a:r>
                <a:rPr lang="en-GB" sz="3600" dirty="0" err="1">
                  <a:latin typeface="Consolas" panose="020B0609020204030204" pitchFamily="49" charset="0"/>
                </a:rPr>
                <a:t>pickUpTime</a:t>
              </a:r>
              <a:endParaRPr lang="en-GB" sz="3600" dirty="0">
                <a:latin typeface="Consolas" panose="020B0609020204030204" pitchFamily="49" charset="0"/>
              </a:endParaRPr>
            </a:p>
            <a:p>
              <a:r>
                <a:rPr lang="en-GB" sz="3600" dirty="0" err="1">
                  <a:latin typeface="Consolas" panose="020B0609020204030204" pitchFamily="49" charset="0"/>
                </a:rPr>
                <a:t>pax</a:t>
              </a:r>
              <a:endParaRPr lang="en-GB" sz="3600" dirty="0">
                <a:latin typeface="Consolas" panose="020B0609020204030204" pitchFamily="49" charset="0"/>
              </a:endParaRPr>
            </a:p>
            <a:p>
              <a:r>
                <a:rPr lang="en-GB" sz="3600" dirty="0" err="1">
                  <a:latin typeface="Consolas" panose="020B0609020204030204" pitchFamily="49" charset="0"/>
                </a:rPr>
                <a:t>pickUp</a:t>
              </a:r>
              <a:endParaRPr lang="en-GB" sz="3600" dirty="0">
                <a:latin typeface="Consolas" panose="020B0609020204030204" pitchFamily="49" charset="0"/>
              </a:endParaRPr>
            </a:p>
            <a:p>
              <a:r>
                <a:rPr lang="en-GB" sz="3600" dirty="0" err="1">
                  <a:latin typeface="Consolas" panose="020B0609020204030204" pitchFamily="49" charset="0"/>
                </a:rPr>
                <a:t>dropOff</a:t>
              </a:r>
              <a:endParaRPr lang="en-GB" sz="3600" dirty="0">
                <a:latin typeface="Consolas" panose="020B0609020204030204" pitchFamily="49" charset="0"/>
              </a:endParaRPr>
            </a:p>
          </p:txBody>
        </p:sp>
        <p:sp>
          <p:nvSpPr>
            <p:cNvPr id="22" name="TextBox 21">
              <a:extLst>
                <a:ext uri="{FF2B5EF4-FFF2-40B4-BE49-F238E27FC236}">
                  <a16:creationId xmlns:a16="http://schemas.microsoft.com/office/drawing/2014/main" id="{2EE40C53-3243-472A-883B-FF608A0E334A}"/>
                </a:ext>
              </a:extLst>
            </p:cNvPr>
            <p:cNvSpPr txBox="1"/>
            <p:nvPr/>
          </p:nvSpPr>
          <p:spPr>
            <a:xfrm>
              <a:off x="7175029" y="1690688"/>
              <a:ext cx="2717411" cy="646331"/>
            </a:xfrm>
            <a:prstGeom prst="rect">
              <a:avLst/>
            </a:prstGeom>
            <a:solidFill>
              <a:schemeClr val="bg2">
                <a:lumMod val="90000"/>
              </a:schemeClr>
            </a:solidFill>
            <a:ln>
              <a:solidFill>
                <a:schemeClr val="tx1"/>
              </a:solidFill>
            </a:ln>
          </p:spPr>
          <p:txBody>
            <a:bodyPr wrap="square" rtlCol="0">
              <a:spAutoFit/>
            </a:bodyPr>
            <a:lstStyle/>
            <a:p>
              <a:r>
                <a:rPr lang="en-GB" sz="3600" b="1" dirty="0">
                  <a:latin typeface="Consolas" panose="020B0609020204030204" pitchFamily="49" charset="0"/>
                </a:rPr>
                <a:t>Journey</a:t>
              </a:r>
              <a:endParaRPr lang="en-GB" sz="3600" b="1" dirty="0"/>
            </a:p>
          </p:txBody>
        </p:sp>
      </p:grpSp>
    </p:spTree>
    <p:extLst>
      <p:ext uri="{BB962C8B-B14F-4D97-AF65-F5344CB8AC3E}">
        <p14:creationId xmlns:p14="http://schemas.microsoft.com/office/powerpoint/2010/main" val="3931349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Entity: Address</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extLst>
              <p:ext uri="{D42A27DB-BD31-4B8C-83A1-F6EECF244321}">
                <p14:modId xmlns:p14="http://schemas.microsoft.com/office/powerpoint/2010/main" val="2255422287"/>
              </p:ext>
            </p:extLst>
          </p:nvPr>
        </p:nvGraphicFramePr>
        <p:xfrm>
          <a:off x="838200" y="1825625"/>
          <a:ext cx="10407650" cy="4053840"/>
        </p:xfrm>
        <a:graphic>
          <a:graphicData uri="http://schemas.openxmlformats.org/drawingml/2006/table">
            <a:tbl>
              <a:tblPr firstRow="1" bandRow="1">
                <a:tableStyleId>{5C22544A-7EE6-4342-B048-85BDC9FD1C3A}</a:tableStyleId>
              </a:tblPr>
              <a:tblGrid>
                <a:gridCol w="2235200">
                  <a:extLst>
                    <a:ext uri="{9D8B030D-6E8A-4147-A177-3AD203B41FA5}">
                      <a16:colId xmlns:a16="http://schemas.microsoft.com/office/drawing/2014/main" val="1632358923"/>
                    </a:ext>
                  </a:extLst>
                </a:gridCol>
                <a:gridCol w="901700">
                  <a:extLst>
                    <a:ext uri="{9D8B030D-6E8A-4147-A177-3AD203B41FA5}">
                      <a16:colId xmlns:a16="http://schemas.microsoft.com/office/drawing/2014/main" val="3505833113"/>
                    </a:ext>
                  </a:extLst>
                </a:gridCol>
                <a:gridCol w="838200">
                  <a:extLst>
                    <a:ext uri="{9D8B030D-6E8A-4147-A177-3AD203B41FA5}">
                      <a16:colId xmlns:a16="http://schemas.microsoft.com/office/drawing/2014/main" val="315362434"/>
                    </a:ext>
                  </a:extLst>
                </a:gridCol>
                <a:gridCol w="1524000">
                  <a:extLst>
                    <a:ext uri="{9D8B030D-6E8A-4147-A177-3AD203B41FA5}">
                      <a16:colId xmlns:a16="http://schemas.microsoft.com/office/drawing/2014/main" val="415971381"/>
                    </a:ext>
                  </a:extLst>
                </a:gridCol>
                <a:gridCol w="1409700">
                  <a:extLst>
                    <a:ext uri="{9D8B030D-6E8A-4147-A177-3AD203B41FA5}">
                      <a16:colId xmlns:a16="http://schemas.microsoft.com/office/drawing/2014/main" val="2971574360"/>
                    </a:ext>
                  </a:extLst>
                </a:gridCol>
                <a:gridCol w="3498850">
                  <a:extLst>
                    <a:ext uri="{9D8B030D-6E8A-4147-A177-3AD203B41FA5}">
                      <a16:colId xmlns:a16="http://schemas.microsoft.com/office/drawing/2014/main" val="2515431282"/>
                    </a:ext>
                  </a:extLst>
                </a:gridCol>
              </a:tblGrid>
              <a:tr h="370840">
                <a:tc>
                  <a:txBody>
                    <a:bodyPr/>
                    <a:lstStyle/>
                    <a:p>
                      <a:pPr algn="ctr"/>
                      <a:r>
                        <a:rPr lang="en-GB" sz="3200" dirty="0"/>
                        <a:t>Attribute</a:t>
                      </a:r>
                    </a:p>
                  </a:txBody>
                  <a:tcPr/>
                </a:tc>
                <a:tc>
                  <a:txBody>
                    <a:bodyPr/>
                    <a:lstStyle/>
                    <a:p>
                      <a:pPr algn="ctr"/>
                      <a:r>
                        <a:rPr lang="en-GB" sz="3200" dirty="0"/>
                        <a:t>Key</a:t>
                      </a:r>
                    </a:p>
                  </a:txBody>
                  <a:tcPr/>
                </a:tc>
                <a:tc>
                  <a:txBody>
                    <a:bodyPr/>
                    <a:lstStyle/>
                    <a:p>
                      <a:pPr algn="ctr"/>
                      <a:r>
                        <a:rPr lang="en-GB" sz="3200" dirty="0"/>
                        <a:t>Size</a:t>
                      </a:r>
                    </a:p>
                  </a:txBody>
                  <a:tcPr/>
                </a:tc>
                <a:tc>
                  <a:txBody>
                    <a:bodyPr/>
                    <a:lstStyle/>
                    <a:p>
                      <a:pPr algn="ctr"/>
                      <a:r>
                        <a:rPr lang="en-GB" sz="3200" dirty="0"/>
                        <a:t>Type</a:t>
                      </a:r>
                    </a:p>
                  </a:txBody>
                  <a:tcPr/>
                </a:tc>
                <a:tc>
                  <a:txBody>
                    <a:bodyPr/>
                    <a:lstStyle/>
                    <a:p>
                      <a:pPr algn="ctr"/>
                      <a:r>
                        <a:rPr lang="en-GB" sz="3200" dirty="0" err="1"/>
                        <a:t>Req'd</a:t>
                      </a:r>
                      <a:endParaRPr lang="en-GB" sz="3200" dirty="0"/>
                    </a:p>
                  </a:txBody>
                  <a:tcPr/>
                </a:tc>
                <a:tc>
                  <a:txBody>
                    <a:bodyPr/>
                    <a:lstStyle/>
                    <a:p>
                      <a:pPr algn="ctr"/>
                      <a:r>
                        <a:rPr lang="en-GB" sz="3200" dirty="0"/>
                        <a:t>Validation</a:t>
                      </a:r>
                    </a:p>
                  </a:txBody>
                  <a:tcPr/>
                </a:tc>
                <a:extLst>
                  <a:ext uri="{0D108BD9-81ED-4DB2-BD59-A6C34878D82A}">
                    <a16:rowId xmlns:a16="http://schemas.microsoft.com/office/drawing/2014/main" val="3459615676"/>
                  </a:ext>
                </a:extLst>
              </a:tr>
              <a:tr h="370840">
                <a:tc>
                  <a:txBody>
                    <a:bodyPr/>
                    <a:lstStyle/>
                    <a:p>
                      <a:r>
                        <a:rPr lang="en-GB" sz="3200" dirty="0" err="1">
                          <a:latin typeface="Consolas" panose="020B0609020204030204" pitchFamily="49" charset="0"/>
                        </a:rPr>
                        <a:t>addressID</a:t>
                      </a:r>
                      <a:endParaRPr lang="en-GB" sz="3200" dirty="0">
                        <a:latin typeface="Consolas" panose="020B0609020204030204" pitchFamily="49" charset="0"/>
                      </a:endParaRPr>
                    </a:p>
                  </a:txBody>
                  <a:tcPr/>
                </a:tc>
                <a:tc>
                  <a:txBody>
                    <a:bodyPr/>
                    <a:lstStyle/>
                    <a:p>
                      <a:pPr algn="ctr"/>
                      <a:r>
                        <a:rPr lang="en-GB" sz="3200" dirty="0"/>
                        <a:t>PK</a:t>
                      </a:r>
                    </a:p>
                  </a:txBody>
                  <a:tcPr/>
                </a:tc>
                <a:tc>
                  <a:txBody>
                    <a:bodyPr/>
                    <a:lstStyle/>
                    <a:p>
                      <a:pPr algn="ctr"/>
                      <a:endParaRPr lang="en-GB" sz="3200" dirty="0"/>
                    </a:p>
                  </a:txBody>
                  <a:tcPr/>
                </a:tc>
                <a:tc>
                  <a:txBody>
                    <a:bodyPr/>
                    <a:lstStyle/>
                    <a:p>
                      <a:r>
                        <a:rPr lang="en-GB" sz="3200" dirty="0"/>
                        <a:t>number</a:t>
                      </a:r>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1127765656"/>
                  </a:ext>
                </a:extLst>
              </a:tr>
              <a:tr h="370840">
                <a:tc>
                  <a:txBody>
                    <a:bodyPr/>
                    <a:lstStyle/>
                    <a:p>
                      <a:r>
                        <a:rPr lang="en-GB" sz="3200" dirty="0" err="1">
                          <a:latin typeface="Consolas" panose="020B0609020204030204" pitchFamily="49" charset="0"/>
                        </a:rPr>
                        <a:t>pupilID</a:t>
                      </a:r>
                      <a:endParaRPr lang="en-GB" sz="3200" dirty="0">
                        <a:latin typeface="Consolas" panose="020B0609020204030204" pitchFamily="49" charset="0"/>
                      </a:endParaRPr>
                    </a:p>
                  </a:txBody>
                  <a:tcPr/>
                </a:tc>
                <a:tc>
                  <a:txBody>
                    <a:bodyPr/>
                    <a:lstStyle/>
                    <a:p>
                      <a:pPr algn="ctr"/>
                      <a:r>
                        <a:rPr lang="en-GB" sz="3200" dirty="0"/>
                        <a:t>FK</a:t>
                      </a:r>
                    </a:p>
                  </a:txBody>
                  <a:tcPr/>
                </a:tc>
                <a:tc>
                  <a:txBody>
                    <a:bodyPr/>
                    <a:lstStyle/>
                    <a:p>
                      <a:pPr algn="ctr"/>
                      <a:endParaRPr lang="en-GB" sz="3200" dirty="0"/>
                    </a:p>
                  </a:txBody>
                  <a:tcPr/>
                </a:tc>
                <a:tc>
                  <a:txBody>
                    <a:bodyPr/>
                    <a:lstStyle/>
                    <a:p>
                      <a:r>
                        <a:rPr lang="en-GB" sz="3200" dirty="0"/>
                        <a:t>number</a:t>
                      </a:r>
                    </a:p>
                  </a:txBody>
                  <a:tcPr/>
                </a:tc>
                <a:tc>
                  <a:txBody>
                    <a:bodyPr/>
                    <a:lstStyle/>
                    <a:p>
                      <a:pPr algn="ctr"/>
                      <a:r>
                        <a:rPr lang="en-GB" sz="3200" dirty="0"/>
                        <a:t>Y</a:t>
                      </a:r>
                    </a:p>
                  </a:txBody>
                  <a:tcPr/>
                </a:tc>
                <a:tc>
                  <a:txBody>
                    <a:bodyPr/>
                    <a:lstStyle/>
                    <a:p>
                      <a:r>
                        <a:rPr lang="en-GB" sz="3200" dirty="0"/>
                        <a:t>Exists in pupil table</a:t>
                      </a:r>
                    </a:p>
                  </a:txBody>
                  <a:tcPr/>
                </a:tc>
                <a:extLst>
                  <a:ext uri="{0D108BD9-81ED-4DB2-BD59-A6C34878D82A}">
                    <a16:rowId xmlns:a16="http://schemas.microsoft.com/office/drawing/2014/main" val="2924661129"/>
                  </a:ext>
                </a:extLst>
              </a:tr>
              <a:tr h="370840">
                <a:tc>
                  <a:txBody>
                    <a:bodyPr/>
                    <a:lstStyle/>
                    <a:p>
                      <a:r>
                        <a:rPr lang="en-GB" sz="3200" dirty="0" err="1">
                          <a:latin typeface="Consolas" panose="020B0609020204030204" pitchFamily="49" charset="0"/>
                        </a:rPr>
                        <a:t>firstLine</a:t>
                      </a:r>
                      <a:endParaRPr lang="en-GB" sz="3200" dirty="0">
                        <a:latin typeface="Consolas" panose="020B0609020204030204" pitchFamily="49" charset="0"/>
                      </a:endParaRPr>
                    </a:p>
                  </a:txBody>
                  <a:tcPr/>
                </a:tc>
                <a:tc>
                  <a:txBody>
                    <a:bodyPr/>
                    <a:lstStyle/>
                    <a:p>
                      <a:pPr algn="ctr"/>
                      <a:endParaRPr lang="en-GB" sz="3200" dirty="0"/>
                    </a:p>
                  </a:txBody>
                  <a:tcPr/>
                </a:tc>
                <a:tc>
                  <a:txBody>
                    <a:bodyPr/>
                    <a:lstStyle/>
                    <a:p>
                      <a:pPr algn="ctr"/>
                      <a:r>
                        <a:rPr lang="en-GB" sz="3200" dirty="0"/>
                        <a:t>20</a:t>
                      </a:r>
                    </a:p>
                  </a:txBody>
                  <a:tcPr/>
                </a:tc>
                <a:tc>
                  <a:txBody>
                    <a:bodyPr/>
                    <a:lstStyle/>
                    <a:p>
                      <a:r>
                        <a:rPr lang="en-GB" sz="3200" dirty="0"/>
                        <a:t>text</a:t>
                      </a:r>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3885493841"/>
                  </a:ext>
                </a:extLst>
              </a:tr>
              <a:tr h="370840">
                <a:tc>
                  <a:txBody>
                    <a:bodyPr/>
                    <a:lstStyle/>
                    <a:p>
                      <a:r>
                        <a:rPr lang="en-GB" sz="3200" dirty="0">
                          <a:latin typeface="Consolas" panose="020B0609020204030204" pitchFamily="49" charset="0"/>
                        </a:rPr>
                        <a:t>town</a:t>
                      </a:r>
                    </a:p>
                  </a:txBody>
                  <a:tcPr/>
                </a:tc>
                <a:tc>
                  <a:txBody>
                    <a:bodyPr/>
                    <a:lstStyle/>
                    <a:p>
                      <a:pPr algn="ctr"/>
                      <a:endParaRPr lang="en-GB" sz="3200" dirty="0"/>
                    </a:p>
                  </a:txBody>
                  <a:tcPr/>
                </a:tc>
                <a:tc>
                  <a:txBody>
                    <a:bodyPr/>
                    <a:lstStyle/>
                    <a:p>
                      <a:pPr algn="ctr"/>
                      <a:r>
                        <a:rPr lang="en-GB" sz="3200" dirty="0"/>
                        <a:t>15</a:t>
                      </a:r>
                    </a:p>
                  </a:txBody>
                  <a:tcPr/>
                </a:tc>
                <a:tc>
                  <a:txBody>
                    <a:bodyPr/>
                    <a:lstStyle/>
                    <a:p>
                      <a:r>
                        <a:rPr lang="en-GB" sz="3200" dirty="0"/>
                        <a:t>text</a:t>
                      </a:r>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2412372412"/>
                  </a:ext>
                </a:extLst>
              </a:tr>
              <a:tr h="370840">
                <a:tc>
                  <a:txBody>
                    <a:bodyPr/>
                    <a:lstStyle/>
                    <a:p>
                      <a:r>
                        <a:rPr lang="en-GB" sz="3200" dirty="0">
                          <a:latin typeface="Consolas" panose="020B0609020204030204" pitchFamily="49" charset="0"/>
                        </a:rPr>
                        <a:t>postcode</a:t>
                      </a:r>
                    </a:p>
                  </a:txBody>
                  <a:tcPr/>
                </a:tc>
                <a:tc>
                  <a:txBody>
                    <a:bodyPr/>
                    <a:lstStyle/>
                    <a:p>
                      <a:pPr algn="ctr"/>
                      <a:endParaRPr lang="en-GB" sz="3200" dirty="0"/>
                    </a:p>
                  </a:txBody>
                  <a:tcPr/>
                </a:tc>
                <a:tc>
                  <a:txBody>
                    <a:bodyPr/>
                    <a:lstStyle/>
                    <a:p>
                      <a:pPr algn="ctr"/>
                      <a:r>
                        <a:rPr lang="en-GB" sz="3200" dirty="0"/>
                        <a:t>8</a:t>
                      </a:r>
                    </a:p>
                  </a:txBody>
                  <a:tcPr/>
                </a:tc>
                <a:tc>
                  <a:txBody>
                    <a:bodyPr/>
                    <a:lstStyle/>
                    <a:p>
                      <a:r>
                        <a:rPr lang="en-GB" sz="3200" dirty="0"/>
                        <a:t>text</a:t>
                      </a:r>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3843481262"/>
                  </a:ext>
                </a:extLst>
              </a:tr>
              <a:tr h="370840">
                <a:tc>
                  <a:txBody>
                    <a:bodyPr/>
                    <a:lstStyle/>
                    <a:p>
                      <a:r>
                        <a:rPr lang="en-GB" sz="3200" dirty="0">
                          <a:latin typeface="Consolas" panose="020B0609020204030204" pitchFamily="49" charset="0"/>
                        </a:rPr>
                        <a:t>phone</a:t>
                      </a:r>
                    </a:p>
                  </a:txBody>
                  <a:tcPr/>
                </a:tc>
                <a:tc>
                  <a:txBody>
                    <a:bodyPr/>
                    <a:lstStyle/>
                    <a:p>
                      <a:pPr algn="ctr"/>
                      <a:endParaRPr lang="en-GB" sz="3200" dirty="0"/>
                    </a:p>
                  </a:txBody>
                  <a:tcPr/>
                </a:tc>
                <a:tc>
                  <a:txBody>
                    <a:bodyPr/>
                    <a:lstStyle/>
                    <a:p>
                      <a:pPr algn="ctr"/>
                      <a:r>
                        <a:rPr lang="en-GB" sz="3200" dirty="0"/>
                        <a:t>15</a:t>
                      </a:r>
                    </a:p>
                  </a:txBody>
                  <a:tcPr/>
                </a:tc>
                <a:tc>
                  <a:txBody>
                    <a:bodyPr/>
                    <a:lstStyle/>
                    <a:p>
                      <a:r>
                        <a:rPr lang="en-GB" sz="3200" dirty="0"/>
                        <a:t>text</a:t>
                      </a:r>
                    </a:p>
                  </a:txBody>
                  <a:tcPr/>
                </a:tc>
                <a:tc>
                  <a:txBody>
                    <a:bodyPr/>
                    <a:lstStyle/>
                    <a:p>
                      <a:pPr algn="ctr"/>
                      <a:endParaRPr lang="en-GB" sz="3200" dirty="0"/>
                    </a:p>
                  </a:txBody>
                  <a:tcPr/>
                </a:tc>
                <a:tc>
                  <a:txBody>
                    <a:bodyPr/>
                    <a:lstStyle/>
                    <a:p>
                      <a:endParaRPr lang="en-GB" sz="3200" dirty="0"/>
                    </a:p>
                  </a:txBody>
                  <a:tcPr/>
                </a:tc>
                <a:extLst>
                  <a:ext uri="{0D108BD9-81ED-4DB2-BD59-A6C34878D82A}">
                    <a16:rowId xmlns:a16="http://schemas.microsoft.com/office/drawing/2014/main" val="1487565366"/>
                  </a:ext>
                </a:extLst>
              </a:tr>
            </a:tbl>
          </a:graphicData>
        </a:graphic>
      </p:graphicFrame>
    </p:spTree>
    <p:extLst>
      <p:ext uri="{BB962C8B-B14F-4D97-AF65-F5344CB8AC3E}">
        <p14:creationId xmlns:p14="http://schemas.microsoft.com/office/powerpoint/2010/main" val="2174581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Relationship – Two Entities</a:t>
            </a:r>
          </a:p>
        </p:txBody>
      </p:sp>
      <p:sp>
        <p:nvSpPr>
          <p:cNvPr id="5" name="TextBox 4">
            <a:extLst>
              <a:ext uri="{FF2B5EF4-FFF2-40B4-BE49-F238E27FC236}">
                <a16:creationId xmlns:a16="http://schemas.microsoft.com/office/drawing/2014/main" id="{9E8D577D-F9B0-4C26-95CB-954FFDF61DBD}"/>
              </a:ext>
            </a:extLst>
          </p:cNvPr>
          <p:cNvSpPr txBox="1"/>
          <p:nvPr/>
        </p:nvSpPr>
        <p:spPr>
          <a:xfrm>
            <a:off x="2197100" y="1720840"/>
            <a:ext cx="2464136" cy="2862322"/>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latin typeface="Consolas" panose="020B0609020204030204" pitchFamily="49" charset="0"/>
              </a:rPr>
              <a:t>Pupil</a:t>
            </a:r>
          </a:p>
          <a:p>
            <a:r>
              <a:rPr lang="en-GB" sz="3600" u="sng" dirty="0" err="1">
                <a:latin typeface="Consolas" panose="020B0609020204030204" pitchFamily="49" charset="0"/>
              </a:rPr>
              <a:t>pupilID</a:t>
            </a:r>
            <a:endParaRPr lang="en-GB" sz="3600" u="sng" dirty="0">
              <a:latin typeface="Consolas" panose="020B0609020204030204" pitchFamily="49" charset="0"/>
            </a:endParaRPr>
          </a:p>
          <a:p>
            <a:r>
              <a:rPr lang="en-GB" sz="3600" dirty="0" err="1">
                <a:latin typeface="Consolas" panose="020B0609020204030204" pitchFamily="49" charset="0"/>
              </a:rPr>
              <a:t>firstName</a:t>
            </a:r>
            <a:endParaRPr lang="en-GB" sz="3600" dirty="0">
              <a:latin typeface="Consolas" panose="020B0609020204030204" pitchFamily="49" charset="0"/>
            </a:endParaRPr>
          </a:p>
          <a:p>
            <a:r>
              <a:rPr lang="en-GB" sz="3600" dirty="0" err="1">
                <a:latin typeface="Consolas" panose="020B0609020204030204" pitchFamily="49" charset="0"/>
              </a:rPr>
              <a:t>lastName</a:t>
            </a:r>
            <a:endParaRPr lang="en-GB" sz="3600" dirty="0">
              <a:latin typeface="Consolas" panose="020B0609020204030204" pitchFamily="49" charset="0"/>
            </a:endParaRPr>
          </a:p>
          <a:p>
            <a:r>
              <a:rPr lang="en-GB" sz="3600" dirty="0">
                <a:latin typeface="Consolas" panose="020B0609020204030204" pitchFamily="49" charset="0"/>
              </a:rPr>
              <a:t>age</a:t>
            </a:r>
          </a:p>
        </p:txBody>
      </p:sp>
      <p:sp>
        <p:nvSpPr>
          <p:cNvPr id="6" name="TextBox 5">
            <a:extLst>
              <a:ext uri="{FF2B5EF4-FFF2-40B4-BE49-F238E27FC236}">
                <a16:creationId xmlns:a16="http://schemas.microsoft.com/office/drawing/2014/main" id="{06B8E8D6-C037-4571-B1CB-E4BD14A48ED7}"/>
              </a:ext>
            </a:extLst>
          </p:cNvPr>
          <p:cNvSpPr txBox="1"/>
          <p:nvPr/>
        </p:nvSpPr>
        <p:spPr>
          <a:xfrm>
            <a:off x="7175030" y="1690688"/>
            <a:ext cx="2464136" cy="3970318"/>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latin typeface="Consolas" panose="020B0609020204030204" pitchFamily="49" charset="0"/>
              </a:rPr>
              <a:t>Address</a:t>
            </a:r>
          </a:p>
          <a:p>
            <a:r>
              <a:rPr lang="en-GB" sz="3600" u="sng" dirty="0" err="1">
                <a:latin typeface="Consolas" panose="020B0609020204030204" pitchFamily="49" charset="0"/>
              </a:rPr>
              <a:t>addressID</a:t>
            </a:r>
            <a:endParaRPr lang="en-GB" sz="3600" u="sng" dirty="0">
              <a:latin typeface="Consolas" panose="020B0609020204030204" pitchFamily="49" charset="0"/>
            </a:endParaRPr>
          </a:p>
          <a:p>
            <a:r>
              <a:rPr lang="en-GB" sz="3600" dirty="0" err="1">
                <a:latin typeface="Consolas" panose="020B0609020204030204" pitchFamily="49" charset="0"/>
              </a:rPr>
              <a:t>pupilID</a:t>
            </a:r>
            <a:r>
              <a:rPr lang="en-GB" sz="3600" dirty="0">
                <a:latin typeface="Consolas" panose="020B0609020204030204" pitchFamily="49" charset="0"/>
              </a:rPr>
              <a:t>*</a:t>
            </a:r>
          </a:p>
          <a:p>
            <a:r>
              <a:rPr lang="en-GB" sz="3600" dirty="0" err="1">
                <a:latin typeface="Consolas" panose="020B0609020204030204" pitchFamily="49" charset="0"/>
              </a:rPr>
              <a:t>firstLine</a:t>
            </a:r>
            <a:endParaRPr lang="en-GB" sz="3600" dirty="0">
              <a:latin typeface="Consolas" panose="020B0609020204030204" pitchFamily="49" charset="0"/>
            </a:endParaRPr>
          </a:p>
          <a:p>
            <a:r>
              <a:rPr lang="en-GB" sz="3600" dirty="0">
                <a:latin typeface="Consolas" panose="020B0609020204030204" pitchFamily="49" charset="0"/>
              </a:rPr>
              <a:t>town</a:t>
            </a:r>
          </a:p>
          <a:p>
            <a:r>
              <a:rPr lang="en-GB" sz="3600" dirty="0">
                <a:latin typeface="Consolas" panose="020B0609020204030204" pitchFamily="49" charset="0"/>
              </a:rPr>
              <a:t>postcode</a:t>
            </a:r>
          </a:p>
          <a:p>
            <a:r>
              <a:rPr lang="en-GB" sz="3600" dirty="0">
                <a:latin typeface="Consolas" panose="020B0609020204030204" pitchFamily="49" charset="0"/>
              </a:rPr>
              <a:t>phone</a:t>
            </a:r>
          </a:p>
        </p:txBody>
      </p:sp>
      <p:sp>
        <p:nvSpPr>
          <p:cNvPr id="7" name="TextBox 6">
            <a:extLst>
              <a:ext uri="{FF2B5EF4-FFF2-40B4-BE49-F238E27FC236}">
                <a16:creationId xmlns:a16="http://schemas.microsoft.com/office/drawing/2014/main" id="{663E3461-DC5D-48CF-AE13-69B629EAA16E}"/>
              </a:ext>
            </a:extLst>
          </p:cNvPr>
          <p:cNvSpPr txBox="1"/>
          <p:nvPr/>
        </p:nvSpPr>
        <p:spPr>
          <a:xfrm>
            <a:off x="838200" y="5429398"/>
            <a:ext cx="3476593" cy="1200329"/>
          </a:xfrm>
          <a:prstGeom prst="rect">
            <a:avLst/>
          </a:prstGeom>
          <a:noFill/>
        </p:spPr>
        <p:txBody>
          <a:bodyPr wrap="none" rtlCol="0">
            <a:spAutoFit/>
          </a:bodyPr>
          <a:lstStyle/>
          <a:p>
            <a:r>
              <a:rPr lang="en-GB" sz="3600" dirty="0"/>
              <a:t>PK </a:t>
            </a:r>
            <a:r>
              <a:rPr lang="en-GB" sz="3600" u="sng" dirty="0"/>
              <a:t>underlined</a:t>
            </a:r>
          </a:p>
          <a:p>
            <a:r>
              <a:rPr lang="en-GB" sz="3600" dirty="0"/>
              <a:t>FK suffixed with *</a:t>
            </a:r>
          </a:p>
        </p:txBody>
      </p:sp>
      <p:grpSp>
        <p:nvGrpSpPr>
          <p:cNvPr id="11" name="Group 10">
            <a:extLst>
              <a:ext uri="{FF2B5EF4-FFF2-40B4-BE49-F238E27FC236}">
                <a16:creationId xmlns:a16="http://schemas.microsoft.com/office/drawing/2014/main" id="{EA523B19-3371-47B4-882A-6F1A2FFF861B}"/>
              </a:ext>
            </a:extLst>
          </p:cNvPr>
          <p:cNvGrpSpPr/>
          <p:nvPr/>
        </p:nvGrpSpPr>
        <p:grpSpPr>
          <a:xfrm>
            <a:off x="4706633" y="2625725"/>
            <a:ext cx="2468397" cy="726923"/>
            <a:chOff x="4706633" y="2625725"/>
            <a:chExt cx="2468397" cy="726923"/>
          </a:xfrm>
        </p:grpSpPr>
        <p:cxnSp>
          <p:nvCxnSpPr>
            <p:cNvPr id="9" name="Connector: Elbow 8">
              <a:extLst>
                <a:ext uri="{FF2B5EF4-FFF2-40B4-BE49-F238E27FC236}">
                  <a16:creationId xmlns:a16="http://schemas.microsoft.com/office/drawing/2014/main" id="{DE6C70CF-28C5-4A35-AB1C-6B47F69960AF}"/>
                </a:ext>
              </a:extLst>
            </p:cNvPr>
            <p:cNvCxnSpPr>
              <a:cxnSpLocks/>
            </p:cNvCxnSpPr>
            <p:nvPr/>
          </p:nvCxnSpPr>
          <p:spPr>
            <a:xfrm>
              <a:off x="4706633" y="2625725"/>
              <a:ext cx="2468397" cy="555625"/>
            </a:xfrm>
            <a:prstGeom prst="bentConnector3">
              <a:avLst>
                <a:gd name="adj1"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EE39CD5-A3E2-4C6B-B6C6-44406F130310}"/>
                </a:ext>
              </a:extLst>
            </p:cNvPr>
            <p:cNvCxnSpPr/>
            <p:nvPr/>
          </p:nvCxnSpPr>
          <p:spPr>
            <a:xfrm flipV="1">
              <a:off x="6856731" y="2992649"/>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C1BDB88-072E-4894-8A83-315D54A757D4}"/>
                </a:ext>
              </a:extLst>
            </p:cNvPr>
            <p:cNvCxnSpPr/>
            <p:nvPr/>
          </p:nvCxnSpPr>
          <p:spPr>
            <a:xfrm>
              <a:off x="6856731" y="3181350"/>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95813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10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wipe(left)">
                                      <p:cBhvr>
                                        <p:cTn id="22" dur="20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Effect transition="in" filter="wipe(left)">
                                      <p:cBhvr>
                                        <p:cTn id="27" dur="20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uiExpand="1" build="p"/>
    </p:bldLst>
  </p:timing>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Relationship – Two Entities</a:t>
            </a:r>
          </a:p>
        </p:txBody>
      </p:sp>
      <p:sp>
        <p:nvSpPr>
          <p:cNvPr id="5" name="TextBox 4">
            <a:extLst>
              <a:ext uri="{FF2B5EF4-FFF2-40B4-BE49-F238E27FC236}">
                <a16:creationId xmlns:a16="http://schemas.microsoft.com/office/drawing/2014/main" id="{9E8D577D-F9B0-4C26-95CB-954FFDF61DBD}"/>
              </a:ext>
            </a:extLst>
          </p:cNvPr>
          <p:cNvSpPr txBox="1"/>
          <p:nvPr/>
        </p:nvSpPr>
        <p:spPr>
          <a:xfrm>
            <a:off x="2197100" y="1720840"/>
            <a:ext cx="2464136" cy="2862322"/>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latin typeface="Consolas" panose="020B0609020204030204" pitchFamily="49" charset="0"/>
              </a:rPr>
              <a:t>Pupil</a:t>
            </a:r>
          </a:p>
          <a:p>
            <a:r>
              <a:rPr lang="en-GB" sz="3600" u="sng" dirty="0" err="1">
                <a:latin typeface="Consolas" panose="020B0609020204030204" pitchFamily="49" charset="0"/>
              </a:rPr>
              <a:t>pupilID</a:t>
            </a:r>
            <a:endParaRPr lang="en-GB" sz="3600" u="sng" dirty="0">
              <a:latin typeface="Consolas" panose="020B0609020204030204" pitchFamily="49" charset="0"/>
            </a:endParaRPr>
          </a:p>
          <a:p>
            <a:r>
              <a:rPr lang="en-GB" sz="3600" dirty="0" err="1">
                <a:latin typeface="Consolas" panose="020B0609020204030204" pitchFamily="49" charset="0"/>
              </a:rPr>
              <a:t>firstName</a:t>
            </a:r>
            <a:endParaRPr lang="en-GB" sz="3600" dirty="0">
              <a:latin typeface="Consolas" panose="020B0609020204030204" pitchFamily="49" charset="0"/>
            </a:endParaRPr>
          </a:p>
          <a:p>
            <a:r>
              <a:rPr lang="en-GB" sz="3600" dirty="0" err="1">
                <a:latin typeface="Consolas" panose="020B0609020204030204" pitchFamily="49" charset="0"/>
              </a:rPr>
              <a:t>lastName</a:t>
            </a:r>
            <a:endParaRPr lang="en-GB" sz="3600" dirty="0">
              <a:latin typeface="Consolas" panose="020B0609020204030204" pitchFamily="49" charset="0"/>
            </a:endParaRPr>
          </a:p>
          <a:p>
            <a:r>
              <a:rPr lang="en-GB" sz="3600" dirty="0">
                <a:latin typeface="Consolas" panose="020B0609020204030204" pitchFamily="49" charset="0"/>
              </a:rPr>
              <a:t>age</a:t>
            </a:r>
          </a:p>
        </p:txBody>
      </p:sp>
      <p:sp>
        <p:nvSpPr>
          <p:cNvPr id="6" name="TextBox 5">
            <a:extLst>
              <a:ext uri="{FF2B5EF4-FFF2-40B4-BE49-F238E27FC236}">
                <a16:creationId xmlns:a16="http://schemas.microsoft.com/office/drawing/2014/main" id="{06B8E8D6-C037-4571-B1CB-E4BD14A48ED7}"/>
              </a:ext>
            </a:extLst>
          </p:cNvPr>
          <p:cNvSpPr txBox="1"/>
          <p:nvPr/>
        </p:nvSpPr>
        <p:spPr>
          <a:xfrm>
            <a:off x="7175030" y="1690688"/>
            <a:ext cx="2464136" cy="3970318"/>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latin typeface="Consolas" panose="020B0609020204030204" pitchFamily="49" charset="0"/>
              </a:rPr>
              <a:t>Address</a:t>
            </a:r>
          </a:p>
          <a:p>
            <a:r>
              <a:rPr lang="en-GB" sz="3600" u="sng" dirty="0" err="1">
                <a:latin typeface="Consolas" panose="020B0609020204030204" pitchFamily="49" charset="0"/>
              </a:rPr>
              <a:t>addressID</a:t>
            </a:r>
            <a:endParaRPr lang="en-GB" sz="3600" u="sng" dirty="0">
              <a:latin typeface="Consolas" panose="020B0609020204030204" pitchFamily="49" charset="0"/>
            </a:endParaRPr>
          </a:p>
          <a:p>
            <a:r>
              <a:rPr lang="en-GB" sz="3600" dirty="0" err="1">
                <a:latin typeface="Consolas" panose="020B0609020204030204" pitchFamily="49" charset="0"/>
              </a:rPr>
              <a:t>pupilID</a:t>
            </a:r>
            <a:r>
              <a:rPr lang="en-GB" sz="3600" dirty="0">
                <a:latin typeface="Consolas" panose="020B0609020204030204" pitchFamily="49" charset="0"/>
              </a:rPr>
              <a:t>*</a:t>
            </a:r>
          </a:p>
          <a:p>
            <a:r>
              <a:rPr lang="en-GB" sz="3600" dirty="0" err="1">
                <a:latin typeface="Consolas" panose="020B0609020204030204" pitchFamily="49" charset="0"/>
              </a:rPr>
              <a:t>firstLine</a:t>
            </a:r>
            <a:endParaRPr lang="en-GB" sz="3600" dirty="0">
              <a:latin typeface="Consolas" panose="020B0609020204030204" pitchFamily="49" charset="0"/>
            </a:endParaRPr>
          </a:p>
          <a:p>
            <a:r>
              <a:rPr lang="en-GB" sz="3600" dirty="0">
                <a:latin typeface="Consolas" panose="020B0609020204030204" pitchFamily="49" charset="0"/>
              </a:rPr>
              <a:t>town</a:t>
            </a:r>
          </a:p>
          <a:p>
            <a:r>
              <a:rPr lang="en-GB" sz="3600" dirty="0">
                <a:latin typeface="Consolas" panose="020B0609020204030204" pitchFamily="49" charset="0"/>
              </a:rPr>
              <a:t>postcode</a:t>
            </a:r>
          </a:p>
          <a:p>
            <a:r>
              <a:rPr lang="en-GB" sz="3600" dirty="0">
                <a:latin typeface="Consolas" panose="020B0609020204030204" pitchFamily="49" charset="0"/>
              </a:rPr>
              <a:t>phone</a:t>
            </a:r>
          </a:p>
        </p:txBody>
      </p:sp>
      <p:sp>
        <p:nvSpPr>
          <p:cNvPr id="7" name="TextBox 6">
            <a:extLst>
              <a:ext uri="{FF2B5EF4-FFF2-40B4-BE49-F238E27FC236}">
                <a16:creationId xmlns:a16="http://schemas.microsoft.com/office/drawing/2014/main" id="{663E3461-DC5D-48CF-AE13-69B629EAA16E}"/>
              </a:ext>
            </a:extLst>
          </p:cNvPr>
          <p:cNvSpPr txBox="1"/>
          <p:nvPr/>
        </p:nvSpPr>
        <p:spPr>
          <a:xfrm>
            <a:off x="838200" y="5429398"/>
            <a:ext cx="663964" cy="1200329"/>
          </a:xfrm>
          <a:prstGeom prst="rect">
            <a:avLst/>
          </a:prstGeom>
          <a:noFill/>
        </p:spPr>
        <p:txBody>
          <a:bodyPr wrap="none" rtlCol="0">
            <a:spAutoFit/>
          </a:bodyPr>
          <a:lstStyle/>
          <a:p>
            <a:r>
              <a:rPr lang="en-GB" sz="3600" dirty="0"/>
              <a:t>PK</a:t>
            </a:r>
          </a:p>
          <a:p>
            <a:r>
              <a:rPr lang="en-GB" sz="3600" dirty="0"/>
              <a:t>FK</a:t>
            </a:r>
          </a:p>
        </p:txBody>
      </p:sp>
    </p:spTree>
    <p:extLst>
      <p:ext uri="{BB962C8B-B14F-4D97-AF65-F5344CB8AC3E}">
        <p14:creationId xmlns:p14="http://schemas.microsoft.com/office/powerpoint/2010/main" val="24285752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err="1"/>
              <a:t>Equi</a:t>
            </a:r>
            <a:r>
              <a:rPr lang="en-GB" dirty="0"/>
              <a:t>-join - Generic</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Table1, Table2</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Table1.PK = Table2.FK;</a:t>
            </a:r>
            <a:endParaRPr lang="en-US" altLang="en-US" sz="4800" dirty="0">
              <a:latin typeface="Arial" panose="020B0604020202020204" pitchFamily="34" charset="0"/>
            </a:endParaRPr>
          </a:p>
        </p:txBody>
      </p:sp>
      <p:grpSp>
        <p:nvGrpSpPr>
          <p:cNvPr id="6" name="Group 5">
            <a:extLst>
              <a:ext uri="{FF2B5EF4-FFF2-40B4-BE49-F238E27FC236}">
                <a16:creationId xmlns:a16="http://schemas.microsoft.com/office/drawing/2014/main" id="{94F41D77-4B53-4FF3-9C09-6CD60C13ACB3}"/>
              </a:ext>
            </a:extLst>
          </p:cNvPr>
          <p:cNvGrpSpPr/>
          <p:nvPr/>
        </p:nvGrpSpPr>
        <p:grpSpPr>
          <a:xfrm>
            <a:off x="3704056" y="3728567"/>
            <a:ext cx="2596297" cy="1206699"/>
            <a:chOff x="3298091" y="3860323"/>
            <a:chExt cx="2962851" cy="1206699"/>
          </a:xfrm>
        </p:grpSpPr>
        <p:sp>
          <p:nvSpPr>
            <p:cNvPr id="7" name="Right Brace 6">
              <a:extLst>
                <a:ext uri="{FF2B5EF4-FFF2-40B4-BE49-F238E27FC236}">
                  <a16:creationId xmlns:a16="http://schemas.microsoft.com/office/drawing/2014/main" id="{16CB1B13-8FA4-4529-93F3-B363F5B19B18}"/>
                </a:ext>
              </a:extLst>
            </p:cNvPr>
            <p:cNvSpPr/>
            <p:nvPr/>
          </p:nvSpPr>
          <p:spPr>
            <a:xfrm rot="5400000">
              <a:off x="4437776" y="2720639"/>
              <a:ext cx="683481" cy="2962850"/>
            </a:xfrm>
            <a:prstGeom prst="rightBrace">
              <a:avLst>
                <a:gd name="adj1" fmla="val 0"/>
                <a:gd name="adj2" fmla="val 50000"/>
              </a:avLst>
            </a:prstGeom>
            <a:noFill/>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TextBox 7">
              <a:extLst>
                <a:ext uri="{FF2B5EF4-FFF2-40B4-BE49-F238E27FC236}">
                  <a16:creationId xmlns:a16="http://schemas.microsoft.com/office/drawing/2014/main" id="{A5A4A7A0-95E7-4433-A585-4126E53B4B2E}"/>
                </a:ext>
              </a:extLst>
            </p:cNvPr>
            <p:cNvSpPr txBox="1"/>
            <p:nvPr/>
          </p:nvSpPr>
          <p:spPr>
            <a:xfrm>
              <a:off x="3298091" y="4543802"/>
              <a:ext cx="2962851" cy="523220"/>
            </a:xfrm>
            <a:prstGeom prst="rect">
              <a:avLst/>
            </a:prstGeom>
            <a:noFill/>
          </p:spPr>
          <p:txBody>
            <a:bodyPr wrap="square" rtlCol="0">
              <a:spAutoFit/>
            </a:bodyPr>
            <a:lstStyle/>
            <a:p>
              <a:pPr algn="ctr"/>
              <a:r>
                <a:rPr lang="en-GB" sz="2800" b="1" dirty="0">
                  <a:solidFill>
                    <a:srgbClr val="7030A0"/>
                  </a:solidFill>
                </a:rPr>
                <a:t>Primary Key</a:t>
              </a:r>
            </a:p>
          </p:txBody>
        </p:sp>
      </p:grpSp>
      <p:grpSp>
        <p:nvGrpSpPr>
          <p:cNvPr id="9" name="Group 8">
            <a:extLst>
              <a:ext uri="{FF2B5EF4-FFF2-40B4-BE49-F238E27FC236}">
                <a16:creationId xmlns:a16="http://schemas.microsoft.com/office/drawing/2014/main" id="{85CAE0F8-4356-48B6-B0EE-7E399F8401F6}"/>
              </a:ext>
            </a:extLst>
          </p:cNvPr>
          <p:cNvGrpSpPr/>
          <p:nvPr/>
        </p:nvGrpSpPr>
        <p:grpSpPr>
          <a:xfrm>
            <a:off x="7033044" y="3728566"/>
            <a:ext cx="2596298" cy="1206700"/>
            <a:chOff x="3298090" y="3860322"/>
            <a:chExt cx="2977820" cy="1206700"/>
          </a:xfrm>
        </p:grpSpPr>
        <p:sp>
          <p:nvSpPr>
            <p:cNvPr id="11" name="Right Brace 10">
              <a:extLst>
                <a:ext uri="{FF2B5EF4-FFF2-40B4-BE49-F238E27FC236}">
                  <a16:creationId xmlns:a16="http://schemas.microsoft.com/office/drawing/2014/main" id="{8941768D-BBE6-4409-9B4F-6C95FBFA3CDB}"/>
                </a:ext>
              </a:extLst>
            </p:cNvPr>
            <p:cNvSpPr/>
            <p:nvPr/>
          </p:nvSpPr>
          <p:spPr>
            <a:xfrm rot="5400000">
              <a:off x="4445261" y="2713153"/>
              <a:ext cx="683479" cy="2977818"/>
            </a:xfrm>
            <a:prstGeom prst="rightBrace">
              <a:avLst>
                <a:gd name="adj1" fmla="val 0"/>
                <a:gd name="adj2" fmla="val 50000"/>
              </a:avLst>
            </a:prstGeom>
            <a:noFill/>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 name="TextBox 11">
              <a:extLst>
                <a:ext uri="{FF2B5EF4-FFF2-40B4-BE49-F238E27FC236}">
                  <a16:creationId xmlns:a16="http://schemas.microsoft.com/office/drawing/2014/main" id="{5F253C26-1DA4-45E1-8342-2A519A925C27}"/>
                </a:ext>
              </a:extLst>
            </p:cNvPr>
            <p:cNvSpPr txBox="1"/>
            <p:nvPr/>
          </p:nvSpPr>
          <p:spPr>
            <a:xfrm>
              <a:off x="3298090" y="4543802"/>
              <a:ext cx="2977820" cy="523220"/>
            </a:xfrm>
            <a:prstGeom prst="rect">
              <a:avLst/>
            </a:prstGeom>
            <a:noFill/>
          </p:spPr>
          <p:txBody>
            <a:bodyPr wrap="square" rtlCol="0">
              <a:spAutoFit/>
            </a:bodyPr>
            <a:lstStyle/>
            <a:p>
              <a:pPr algn="ctr"/>
              <a:r>
                <a:rPr lang="en-GB" sz="2800" b="1" dirty="0">
                  <a:solidFill>
                    <a:srgbClr val="7030A0"/>
                  </a:solidFill>
                </a:rPr>
                <a:t>Foreign Key</a:t>
              </a:r>
            </a:p>
          </p:txBody>
        </p:sp>
      </p:grpSp>
      <p:sp>
        <p:nvSpPr>
          <p:cNvPr id="4" name="Callout: Bent Line with No Border 3">
            <a:extLst>
              <a:ext uri="{FF2B5EF4-FFF2-40B4-BE49-F238E27FC236}">
                <a16:creationId xmlns:a16="http://schemas.microsoft.com/office/drawing/2014/main" id="{AEA6DA72-342C-5C4F-0234-290FC2ACD1BE}"/>
              </a:ext>
            </a:extLst>
          </p:cNvPr>
          <p:cNvSpPr/>
          <p:nvPr/>
        </p:nvSpPr>
        <p:spPr>
          <a:xfrm>
            <a:off x="8566849" y="1359674"/>
            <a:ext cx="2596296" cy="862642"/>
          </a:xfrm>
          <a:prstGeom prst="callout2">
            <a:avLst>
              <a:gd name="adj1" fmla="val 52750"/>
              <a:gd name="adj2" fmla="val -2245"/>
              <a:gd name="adj3" fmla="val 52979"/>
              <a:gd name="adj4" fmla="val -32545"/>
              <a:gd name="adj5" fmla="val 136243"/>
              <a:gd name="adj6" fmla="val -47535"/>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Multiple tables</a:t>
            </a:r>
          </a:p>
        </p:txBody>
      </p:sp>
      <p:sp>
        <p:nvSpPr>
          <p:cNvPr id="5" name="TextBox 4">
            <a:extLst>
              <a:ext uri="{FF2B5EF4-FFF2-40B4-BE49-F238E27FC236}">
                <a16:creationId xmlns:a16="http://schemas.microsoft.com/office/drawing/2014/main" id="{6A1CBB54-C918-447C-DDC3-F9CB8966BB63}"/>
              </a:ext>
            </a:extLst>
          </p:cNvPr>
          <p:cNvSpPr txBox="1"/>
          <p:nvPr/>
        </p:nvSpPr>
        <p:spPr>
          <a:xfrm>
            <a:off x="1584205" y="5916286"/>
            <a:ext cx="9023624" cy="646331"/>
          </a:xfrm>
          <a:prstGeom prst="rect">
            <a:avLst/>
          </a:prstGeom>
          <a:noFill/>
        </p:spPr>
        <p:txBody>
          <a:bodyPr wrap="none" rtlCol="0">
            <a:spAutoFit/>
          </a:bodyPr>
          <a:lstStyle/>
          <a:p>
            <a:pPr algn="ctr"/>
            <a:r>
              <a:rPr lang="en-GB" sz="3600" dirty="0">
                <a:solidFill>
                  <a:srgbClr val="FF0000"/>
                </a:solidFill>
              </a:rPr>
              <a:t>Field name qualified: </a:t>
            </a:r>
            <a:r>
              <a:rPr lang="en-GB" sz="3600" dirty="0" err="1">
                <a:latin typeface="Consolas" panose="020B0609020204030204" pitchFamily="49" charset="0"/>
              </a:rPr>
              <a:t>tableName.fieldName</a:t>
            </a:r>
            <a:endParaRPr lang="en-GB" sz="3600" dirty="0">
              <a:latin typeface="Consolas" panose="020B0609020204030204" pitchFamily="49" charset="0"/>
            </a:endParaRPr>
          </a:p>
        </p:txBody>
      </p:sp>
      <p:sp>
        <p:nvSpPr>
          <p:cNvPr id="10" name="Callout: Bent Line with No Border 9">
            <a:extLst>
              <a:ext uri="{FF2B5EF4-FFF2-40B4-BE49-F238E27FC236}">
                <a16:creationId xmlns:a16="http://schemas.microsoft.com/office/drawing/2014/main" id="{D1AA1584-D545-5444-4C4E-8DDF02C0FBDD}"/>
              </a:ext>
            </a:extLst>
          </p:cNvPr>
          <p:cNvSpPr/>
          <p:nvPr/>
        </p:nvSpPr>
        <p:spPr>
          <a:xfrm>
            <a:off x="8922866" y="5314321"/>
            <a:ext cx="2596296" cy="862642"/>
          </a:xfrm>
          <a:prstGeom prst="callout2">
            <a:avLst>
              <a:gd name="adj1" fmla="val 52750"/>
              <a:gd name="adj2" fmla="val -2245"/>
              <a:gd name="adj3" fmla="val 52979"/>
              <a:gd name="adj4" fmla="val -32545"/>
              <a:gd name="adj5" fmla="val 101325"/>
              <a:gd name="adj6" fmla="val -32619"/>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Dot, no spaces</a:t>
            </a:r>
          </a:p>
        </p:txBody>
      </p:sp>
    </p:spTree>
    <p:extLst>
      <p:ext uri="{BB962C8B-B14F-4D97-AF65-F5344CB8AC3E}">
        <p14:creationId xmlns:p14="http://schemas.microsoft.com/office/powerpoint/2010/main" val="955029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left)">
                                      <p:cBhvr>
                                        <p:cTn id="22" dur="2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10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up)">
                                      <p:cBhvr>
                                        <p:cTn id="32" dur="10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Effect transition="in" filter="wipe(left)">
                                      <p:cBhvr>
                                        <p:cTn id="37" dur="3000"/>
                                        <p:tgtEl>
                                          <p:spTgt spid="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build="p"/>
      <p:bldP spid="10" grpId="0" animBg="1"/>
    </p:bldLst>
  </p:timing>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err="1"/>
              <a:t>Equi</a:t>
            </a:r>
            <a:r>
              <a:rPr lang="en-GB" dirty="0"/>
              <a:t>-join - Generic</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Table1, Table2</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Table1.PK = Table2.FK;</a:t>
            </a:r>
            <a:endParaRPr lang="en-US" altLang="en-US" sz="4800" dirty="0">
              <a:latin typeface="Arial" panose="020B0604020202020204" pitchFamily="34" charset="0"/>
            </a:endParaRPr>
          </a:p>
        </p:txBody>
      </p:sp>
      <p:sp>
        <p:nvSpPr>
          <p:cNvPr id="4" name="TextBox 3">
            <a:extLst>
              <a:ext uri="{FF2B5EF4-FFF2-40B4-BE49-F238E27FC236}">
                <a16:creationId xmlns:a16="http://schemas.microsoft.com/office/drawing/2014/main" id="{5EFB4FAF-1ED0-1A8F-7F29-6C7FB17CB6B3}"/>
              </a:ext>
            </a:extLst>
          </p:cNvPr>
          <p:cNvSpPr txBox="1"/>
          <p:nvPr/>
        </p:nvSpPr>
        <p:spPr>
          <a:xfrm>
            <a:off x="1584205" y="5916286"/>
            <a:ext cx="9023624" cy="646331"/>
          </a:xfrm>
          <a:prstGeom prst="rect">
            <a:avLst/>
          </a:prstGeom>
          <a:noFill/>
        </p:spPr>
        <p:txBody>
          <a:bodyPr wrap="none" rtlCol="0">
            <a:spAutoFit/>
          </a:bodyPr>
          <a:lstStyle/>
          <a:p>
            <a:pPr algn="ctr"/>
            <a:r>
              <a:rPr lang="en-GB" sz="3600" dirty="0">
                <a:solidFill>
                  <a:srgbClr val="FF0000"/>
                </a:solidFill>
              </a:rPr>
              <a:t>Field name qualified: </a:t>
            </a:r>
            <a:r>
              <a:rPr lang="en-GB" sz="3600" dirty="0" err="1">
                <a:latin typeface="Consolas" panose="020B0609020204030204" pitchFamily="49" charset="0"/>
              </a:rPr>
              <a:t>tableName.fieldName</a:t>
            </a:r>
            <a:endParaRPr lang="en-GB" sz="3600" dirty="0">
              <a:latin typeface="Consolas" panose="020B0609020204030204" pitchFamily="49" charset="0"/>
            </a:endParaRPr>
          </a:p>
        </p:txBody>
      </p:sp>
    </p:spTree>
    <p:extLst>
      <p:ext uri="{BB962C8B-B14F-4D97-AF65-F5344CB8AC3E}">
        <p14:creationId xmlns:p14="http://schemas.microsoft.com/office/powerpoint/2010/main" val="3710722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err="1"/>
              <a:t>Equi</a:t>
            </a:r>
            <a:r>
              <a:rPr lang="en-GB" dirty="0"/>
              <a:t>-join - Example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553737" y="1888113"/>
            <a:ext cx="11226800" cy="4351338"/>
          </a:xfrm>
        </p:spPr>
        <p:txBody>
          <a:bodyPr>
            <a:normAutofit/>
          </a:bodyPr>
          <a:lstStyle/>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1 </a:t>
            </a:r>
            <a:r>
              <a:rPr lang="en-US" altLang="en-US" sz="3600" dirty="0">
                <a:solidFill>
                  <a:srgbClr val="A71D5D"/>
                </a:solidFill>
                <a:latin typeface="Consolas" panose="020B0609020204030204" pitchFamily="49" charset="0"/>
              </a:rPr>
              <a:t>SELECT</a:t>
            </a:r>
            <a:r>
              <a:rPr lang="en-US" altLang="en-US" sz="3600" dirty="0">
                <a:solidFill>
                  <a:srgbClr val="000000"/>
                </a:solidFill>
                <a:latin typeface="Consolas" panose="020B0609020204030204" pitchFamily="49" charset="0"/>
              </a:rPr>
              <a:t> </a:t>
            </a:r>
            <a:r>
              <a:rPr lang="en-US" altLang="en-US" sz="3600" dirty="0" err="1">
                <a:solidFill>
                  <a:srgbClr val="000000"/>
                </a:solidFill>
                <a:latin typeface="Consolas" panose="020B0609020204030204" pitchFamily="49" charset="0"/>
              </a:rPr>
              <a:t>Taxi.taxiID</a:t>
            </a:r>
            <a:r>
              <a:rPr lang="en-US" altLang="en-US" sz="3600" dirty="0">
                <a:solidFill>
                  <a:srgbClr val="000000"/>
                </a:solidFill>
                <a:latin typeface="Consolas" panose="020B0609020204030204" pitchFamily="49" charset="0"/>
              </a:rPr>
              <a:t>, </a:t>
            </a:r>
            <a:r>
              <a:rPr lang="en-US" altLang="en-US" sz="3600" dirty="0" err="1">
                <a:solidFill>
                  <a:srgbClr val="000000"/>
                </a:solidFill>
                <a:latin typeface="Consolas" panose="020B0609020204030204" pitchFamily="49" charset="0"/>
              </a:rPr>
              <a:t>pickUpDate</a:t>
            </a:r>
            <a:r>
              <a:rPr lang="en-US" altLang="en-US" sz="3600" dirty="0">
                <a:solidFill>
                  <a:srgbClr val="000000"/>
                </a:solidFill>
                <a:latin typeface="Consolas" panose="020B0609020204030204" pitchFamily="49" charset="0"/>
              </a:rPr>
              <a:t>, pax</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2   </a:t>
            </a:r>
            <a:r>
              <a:rPr lang="en-US" altLang="en-US" sz="3600" dirty="0">
                <a:solidFill>
                  <a:srgbClr val="A71D5D"/>
                </a:solidFill>
                <a:latin typeface="Consolas" panose="020B0609020204030204" pitchFamily="49" charset="0"/>
              </a:rPr>
              <a:t>FROM</a:t>
            </a:r>
            <a:r>
              <a:rPr lang="en-US" altLang="en-US" sz="3600" dirty="0">
                <a:solidFill>
                  <a:srgbClr val="000000"/>
                </a:solidFill>
                <a:latin typeface="Consolas" panose="020B0609020204030204" pitchFamily="49" charset="0"/>
              </a:rPr>
              <a:t> Taxi, Journey</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3   </a:t>
            </a:r>
            <a:r>
              <a:rPr lang="en-US" altLang="en-US" sz="3600" dirty="0">
                <a:solidFill>
                  <a:srgbClr val="A71D5D"/>
                </a:solidFill>
                <a:latin typeface="Consolas" panose="020B0609020204030204" pitchFamily="49" charset="0"/>
              </a:rPr>
              <a:t>WHERE</a:t>
            </a:r>
            <a:r>
              <a:rPr lang="en-US" altLang="en-US" sz="3600" dirty="0">
                <a:solidFill>
                  <a:srgbClr val="000000"/>
                </a:solidFill>
                <a:latin typeface="Consolas" panose="020B0609020204030204" pitchFamily="49" charset="0"/>
              </a:rPr>
              <a:t> </a:t>
            </a:r>
            <a:r>
              <a:rPr lang="en-US" altLang="en-US" sz="3600" dirty="0" err="1">
                <a:solidFill>
                  <a:srgbClr val="000000"/>
                </a:solidFill>
                <a:latin typeface="Consolas" panose="020B0609020204030204" pitchFamily="49" charset="0"/>
              </a:rPr>
              <a:t>Taxi.taxiID</a:t>
            </a:r>
            <a:r>
              <a:rPr lang="en-US" altLang="en-US" sz="3600" dirty="0">
                <a:solidFill>
                  <a:srgbClr val="000000"/>
                </a:solidFill>
                <a:latin typeface="Consolas" panose="020B0609020204030204" pitchFamily="49" charset="0"/>
              </a:rPr>
              <a:t> = </a:t>
            </a:r>
            <a:r>
              <a:rPr lang="en-US" altLang="en-US" sz="3600" dirty="0" err="1">
                <a:solidFill>
                  <a:srgbClr val="000000"/>
                </a:solidFill>
                <a:latin typeface="Consolas" panose="020B0609020204030204" pitchFamily="49" charset="0"/>
              </a:rPr>
              <a:t>Journey.taxiID</a:t>
            </a:r>
            <a:r>
              <a:rPr lang="en-US" altLang="en-US" sz="3600" dirty="0">
                <a:solidFill>
                  <a:srgbClr val="000000"/>
                </a:solidFill>
                <a:latin typeface="Consolas" panose="020B0609020204030204" pitchFamily="49" charset="0"/>
              </a:rPr>
              <a:t>;</a:t>
            </a:r>
            <a:endParaRPr lang="en-US" altLang="en-US" sz="4400" dirty="0">
              <a:latin typeface="Arial" panose="020B0604020202020204" pitchFamily="34" charset="0"/>
            </a:endParaRPr>
          </a:p>
        </p:txBody>
      </p:sp>
      <p:grpSp>
        <p:nvGrpSpPr>
          <p:cNvPr id="6" name="Group 5">
            <a:extLst>
              <a:ext uri="{FF2B5EF4-FFF2-40B4-BE49-F238E27FC236}">
                <a16:creationId xmlns:a16="http://schemas.microsoft.com/office/drawing/2014/main" id="{94F41D77-4B53-4FF3-9C09-6CD60C13ACB3}"/>
              </a:ext>
            </a:extLst>
          </p:cNvPr>
          <p:cNvGrpSpPr/>
          <p:nvPr/>
        </p:nvGrpSpPr>
        <p:grpSpPr>
          <a:xfrm>
            <a:off x="3113974" y="3631081"/>
            <a:ext cx="2791526" cy="1206699"/>
            <a:chOff x="3298092" y="3860323"/>
            <a:chExt cx="2962850" cy="1206699"/>
          </a:xfrm>
        </p:grpSpPr>
        <p:sp>
          <p:nvSpPr>
            <p:cNvPr id="7" name="Right Brace 6">
              <a:extLst>
                <a:ext uri="{FF2B5EF4-FFF2-40B4-BE49-F238E27FC236}">
                  <a16:creationId xmlns:a16="http://schemas.microsoft.com/office/drawing/2014/main" id="{16CB1B13-8FA4-4529-93F3-B363F5B19B18}"/>
                </a:ext>
              </a:extLst>
            </p:cNvPr>
            <p:cNvSpPr/>
            <p:nvPr/>
          </p:nvSpPr>
          <p:spPr>
            <a:xfrm rot="5400000">
              <a:off x="4437776" y="2720639"/>
              <a:ext cx="683481" cy="2962850"/>
            </a:xfrm>
            <a:prstGeom prst="rightBrace">
              <a:avLst>
                <a:gd name="adj1" fmla="val 0"/>
                <a:gd name="adj2" fmla="val 50000"/>
              </a:avLst>
            </a:prstGeom>
            <a:noFill/>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TextBox 7">
              <a:extLst>
                <a:ext uri="{FF2B5EF4-FFF2-40B4-BE49-F238E27FC236}">
                  <a16:creationId xmlns:a16="http://schemas.microsoft.com/office/drawing/2014/main" id="{A5A4A7A0-95E7-4433-A585-4126E53B4B2E}"/>
                </a:ext>
              </a:extLst>
            </p:cNvPr>
            <p:cNvSpPr txBox="1"/>
            <p:nvPr/>
          </p:nvSpPr>
          <p:spPr>
            <a:xfrm>
              <a:off x="3737084" y="4543802"/>
              <a:ext cx="2097452" cy="523220"/>
            </a:xfrm>
            <a:prstGeom prst="rect">
              <a:avLst/>
            </a:prstGeom>
            <a:noFill/>
          </p:spPr>
          <p:txBody>
            <a:bodyPr wrap="square" rtlCol="0">
              <a:spAutoFit/>
            </a:bodyPr>
            <a:lstStyle/>
            <a:p>
              <a:pPr algn="ctr"/>
              <a:r>
                <a:rPr lang="en-GB" sz="2800" b="1" dirty="0">
                  <a:solidFill>
                    <a:srgbClr val="7030A0"/>
                  </a:solidFill>
                </a:rPr>
                <a:t>Primary Key</a:t>
              </a:r>
            </a:p>
          </p:txBody>
        </p:sp>
      </p:grpSp>
      <p:grpSp>
        <p:nvGrpSpPr>
          <p:cNvPr id="9" name="Group 8">
            <a:extLst>
              <a:ext uri="{FF2B5EF4-FFF2-40B4-BE49-F238E27FC236}">
                <a16:creationId xmlns:a16="http://schemas.microsoft.com/office/drawing/2014/main" id="{85CAE0F8-4356-48B6-B0EE-7E399F8401F6}"/>
              </a:ext>
            </a:extLst>
          </p:cNvPr>
          <p:cNvGrpSpPr/>
          <p:nvPr/>
        </p:nvGrpSpPr>
        <p:grpSpPr>
          <a:xfrm>
            <a:off x="6618930" y="3631082"/>
            <a:ext cx="3553770" cy="1206700"/>
            <a:chOff x="3298092" y="3860322"/>
            <a:chExt cx="2977818" cy="1206700"/>
          </a:xfrm>
        </p:grpSpPr>
        <p:sp>
          <p:nvSpPr>
            <p:cNvPr id="11" name="Right Brace 10">
              <a:extLst>
                <a:ext uri="{FF2B5EF4-FFF2-40B4-BE49-F238E27FC236}">
                  <a16:creationId xmlns:a16="http://schemas.microsoft.com/office/drawing/2014/main" id="{8941768D-BBE6-4409-9B4F-6C95FBFA3CDB}"/>
                </a:ext>
              </a:extLst>
            </p:cNvPr>
            <p:cNvSpPr/>
            <p:nvPr/>
          </p:nvSpPr>
          <p:spPr>
            <a:xfrm rot="5400000">
              <a:off x="4445261" y="2713153"/>
              <a:ext cx="683479" cy="2977818"/>
            </a:xfrm>
            <a:prstGeom prst="rightBrace">
              <a:avLst>
                <a:gd name="adj1" fmla="val 0"/>
                <a:gd name="adj2" fmla="val 50000"/>
              </a:avLst>
            </a:prstGeom>
            <a:noFill/>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 name="TextBox 11">
              <a:extLst>
                <a:ext uri="{FF2B5EF4-FFF2-40B4-BE49-F238E27FC236}">
                  <a16:creationId xmlns:a16="http://schemas.microsoft.com/office/drawing/2014/main" id="{5F253C26-1DA4-45E1-8342-2A519A925C27}"/>
                </a:ext>
              </a:extLst>
            </p:cNvPr>
            <p:cNvSpPr txBox="1"/>
            <p:nvPr/>
          </p:nvSpPr>
          <p:spPr>
            <a:xfrm>
              <a:off x="3792877" y="4543802"/>
              <a:ext cx="2008497" cy="523220"/>
            </a:xfrm>
            <a:prstGeom prst="rect">
              <a:avLst/>
            </a:prstGeom>
            <a:noFill/>
          </p:spPr>
          <p:txBody>
            <a:bodyPr wrap="square" rtlCol="0">
              <a:spAutoFit/>
            </a:bodyPr>
            <a:lstStyle/>
            <a:p>
              <a:pPr algn="ctr"/>
              <a:r>
                <a:rPr lang="en-GB" sz="2800" b="1" dirty="0">
                  <a:solidFill>
                    <a:srgbClr val="7030A0"/>
                  </a:solidFill>
                </a:rPr>
                <a:t>Foreign Key</a:t>
              </a:r>
            </a:p>
          </p:txBody>
        </p:sp>
      </p:grpSp>
      <p:sp>
        <p:nvSpPr>
          <p:cNvPr id="13" name="Callout: Bent Line with No Border 12">
            <a:extLst>
              <a:ext uri="{FF2B5EF4-FFF2-40B4-BE49-F238E27FC236}">
                <a16:creationId xmlns:a16="http://schemas.microsoft.com/office/drawing/2014/main" id="{0929D270-263B-40FE-B047-5F7676BBB754}"/>
              </a:ext>
            </a:extLst>
          </p:cNvPr>
          <p:cNvSpPr/>
          <p:nvPr/>
        </p:nvSpPr>
        <p:spPr>
          <a:xfrm>
            <a:off x="4754976" y="5107071"/>
            <a:ext cx="5433240" cy="862642"/>
          </a:xfrm>
          <a:prstGeom prst="callout2">
            <a:avLst>
              <a:gd name="adj1" fmla="val 50174"/>
              <a:gd name="adj2" fmla="val -24"/>
              <a:gd name="adj3" fmla="val 51139"/>
              <a:gd name="adj4" fmla="val -13508"/>
              <a:gd name="adj5" fmla="val 109858"/>
              <a:gd name="adj6" fmla="val -13471"/>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Field name in more than one table!</a:t>
            </a:r>
          </a:p>
        </p:txBody>
      </p:sp>
      <p:sp>
        <p:nvSpPr>
          <p:cNvPr id="14" name="TextBox 13">
            <a:extLst>
              <a:ext uri="{FF2B5EF4-FFF2-40B4-BE49-F238E27FC236}">
                <a16:creationId xmlns:a16="http://schemas.microsoft.com/office/drawing/2014/main" id="{DF4BA8FF-524A-4C13-87BF-68801971FA28}"/>
              </a:ext>
            </a:extLst>
          </p:cNvPr>
          <p:cNvSpPr txBox="1"/>
          <p:nvPr/>
        </p:nvSpPr>
        <p:spPr>
          <a:xfrm>
            <a:off x="666086" y="5916286"/>
            <a:ext cx="10859832" cy="646331"/>
          </a:xfrm>
          <a:prstGeom prst="rect">
            <a:avLst/>
          </a:prstGeom>
          <a:noFill/>
        </p:spPr>
        <p:txBody>
          <a:bodyPr wrap="none" rtlCol="0">
            <a:spAutoFit/>
          </a:bodyPr>
          <a:lstStyle/>
          <a:p>
            <a:pPr algn="ctr"/>
            <a:r>
              <a:rPr lang="en-GB" sz="3600" dirty="0" err="1">
                <a:latin typeface="Consolas" panose="020B0609020204030204" pitchFamily="49" charset="0"/>
              </a:rPr>
              <a:t>taxiID</a:t>
            </a:r>
            <a:r>
              <a:rPr lang="en-GB" sz="3600" dirty="0">
                <a:latin typeface="Arial" panose="020B0604020202020204" pitchFamily="34" charset="0"/>
                <a:cs typeface="Arial" panose="020B0604020202020204" pitchFamily="34" charset="0"/>
              </a:rPr>
              <a:t> </a:t>
            </a:r>
            <a:r>
              <a:rPr lang="en-GB" sz="3600" dirty="0"/>
              <a:t>is </a:t>
            </a:r>
            <a:r>
              <a:rPr lang="en-GB" sz="3600" dirty="0">
                <a:solidFill>
                  <a:srgbClr val="FF0000"/>
                </a:solidFill>
              </a:rPr>
              <a:t>ambiguous</a:t>
            </a:r>
            <a:r>
              <a:rPr lang="en-GB" sz="3600" dirty="0"/>
              <a:t>, so qualified with the table names</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4015496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10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
                                            <p:txEl>
                                              <p:pRg st="0" end="0"/>
                                            </p:txEl>
                                          </p:spTgt>
                                        </p:tgtEl>
                                        <p:attrNameLst>
                                          <p:attrName>style.visibility</p:attrName>
                                        </p:attrNameLst>
                                      </p:cBhvr>
                                      <p:to>
                                        <p:strVal val="visible"/>
                                      </p:to>
                                    </p:set>
                                    <p:animEffect transition="in" filter="wipe(left)">
                                      <p:cBhvr>
                                        <p:cTn id="32" dur="2000"/>
                                        <p:tgtEl>
                                          <p:spTgt spid="1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3" grpId="0" animBg="1"/>
      <p:bldP spid="14" grpId="0" build="p"/>
    </p:bld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err="1"/>
              <a:t>Equi</a:t>
            </a:r>
            <a:r>
              <a:rPr lang="en-GB" dirty="0"/>
              <a:t>-join - Example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553737" y="1888113"/>
            <a:ext cx="11226800" cy="4351338"/>
          </a:xfrm>
        </p:spPr>
        <p:txBody>
          <a:bodyPr>
            <a:normAutofit/>
          </a:bodyPr>
          <a:lstStyle/>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1 </a:t>
            </a:r>
            <a:r>
              <a:rPr lang="en-US" altLang="en-US" sz="3600" dirty="0">
                <a:solidFill>
                  <a:srgbClr val="A71D5D"/>
                </a:solidFill>
                <a:latin typeface="Consolas" panose="020B0609020204030204" pitchFamily="49" charset="0"/>
              </a:rPr>
              <a:t>SELECT</a:t>
            </a:r>
            <a:r>
              <a:rPr lang="en-US" altLang="en-US" sz="3600" dirty="0">
                <a:solidFill>
                  <a:srgbClr val="000000"/>
                </a:solidFill>
                <a:latin typeface="Consolas" panose="020B0609020204030204" pitchFamily="49" charset="0"/>
              </a:rPr>
              <a:t> </a:t>
            </a:r>
            <a:r>
              <a:rPr lang="en-US" altLang="en-US" sz="3600" dirty="0" err="1">
                <a:solidFill>
                  <a:srgbClr val="000000"/>
                </a:solidFill>
                <a:latin typeface="Consolas" panose="020B0609020204030204" pitchFamily="49" charset="0"/>
              </a:rPr>
              <a:t>Taxi.taxiID</a:t>
            </a:r>
            <a:r>
              <a:rPr lang="en-US" altLang="en-US" sz="3600" dirty="0">
                <a:solidFill>
                  <a:srgbClr val="000000"/>
                </a:solidFill>
                <a:latin typeface="Consolas" panose="020B0609020204030204" pitchFamily="49" charset="0"/>
              </a:rPr>
              <a:t>, </a:t>
            </a:r>
            <a:r>
              <a:rPr lang="en-US" altLang="en-US" sz="3600" dirty="0" err="1">
                <a:solidFill>
                  <a:srgbClr val="000000"/>
                </a:solidFill>
                <a:latin typeface="Consolas" panose="020B0609020204030204" pitchFamily="49" charset="0"/>
              </a:rPr>
              <a:t>pickUpDate</a:t>
            </a:r>
            <a:r>
              <a:rPr lang="en-US" altLang="en-US" sz="3600" dirty="0">
                <a:solidFill>
                  <a:srgbClr val="000000"/>
                </a:solidFill>
                <a:latin typeface="Consolas" panose="020B0609020204030204" pitchFamily="49" charset="0"/>
              </a:rPr>
              <a:t>, </a:t>
            </a:r>
            <a:r>
              <a:rPr lang="en-US" altLang="en-US" sz="3600" dirty="0" err="1">
                <a:solidFill>
                  <a:srgbClr val="000000"/>
                </a:solidFill>
                <a:latin typeface="Consolas" panose="020B0609020204030204" pitchFamily="49" charset="0"/>
              </a:rPr>
              <a:t>pax</a:t>
            </a:r>
            <a:endParaRPr lang="en-US" altLang="en-US" sz="36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2   </a:t>
            </a:r>
            <a:r>
              <a:rPr lang="en-US" altLang="en-US" sz="3600" dirty="0">
                <a:solidFill>
                  <a:srgbClr val="A71D5D"/>
                </a:solidFill>
                <a:latin typeface="Consolas" panose="020B0609020204030204" pitchFamily="49" charset="0"/>
              </a:rPr>
              <a:t>FROM</a:t>
            </a:r>
            <a:r>
              <a:rPr lang="en-US" altLang="en-US" sz="3600" dirty="0">
                <a:solidFill>
                  <a:srgbClr val="000000"/>
                </a:solidFill>
                <a:latin typeface="Consolas" panose="020B0609020204030204" pitchFamily="49" charset="0"/>
              </a:rPr>
              <a:t> Taxi, Journey</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3   </a:t>
            </a:r>
            <a:r>
              <a:rPr lang="en-US" altLang="en-US" sz="3600" dirty="0">
                <a:solidFill>
                  <a:srgbClr val="A71D5D"/>
                </a:solidFill>
                <a:latin typeface="Consolas" panose="020B0609020204030204" pitchFamily="49" charset="0"/>
              </a:rPr>
              <a:t>WHERE</a:t>
            </a:r>
            <a:r>
              <a:rPr lang="en-US" altLang="en-US" sz="3600" dirty="0">
                <a:solidFill>
                  <a:srgbClr val="000000"/>
                </a:solidFill>
                <a:latin typeface="Consolas" panose="020B0609020204030204" pitchFamily="49" charset="0"/>
              </a:rPr>
              <a:t> </a:t>
            </a:r>
            <a:r>
              <a:rPr lang="en-US" altLang="en-US" sz="3600" dirty="0" err="1">
                <a:solidFill>
                  <a:srgbClr val="000000"/>
                </a:solidFill>
                <a:latin typeface="Consolas" panose="020B0609020204030204" pitchFamily="49" charset="0"/>
              </a:rPr>
              <a:t>Taxi.taxiID</a:t>
            </a:r>
            <a:r>
              <a:rPr lang="en-US" altLang="en-US" sz="3600" dirty="0">
                <a:solidFill>
                  <a:srgbClr val="000000"/>
                </a:solidFill>
                <a:latin typeface="Consolas" panose="020B0609020204030204" pitchFamily="49" charset="0"/>
              </a:rPr>
              <a:t> = </a:t>
            </a:r>
            <a:r>
              <a:rPr lang="en-US" altLang="en-US" sz="3600" dirty="0" err="1">
                <a:solidFill>
                  <a:srgbClr val="000000"/>
                </a:solidFill>
                <a:latin typeface="Consolas" panose="020B0609020204030204" pitchFamily="49" charset="0"/>
              </a:rPr>
              <a:t>Journey.taxiID</a:t>
            </a:r>
            <a:r>
              <a:rPr lang="en-US" altLang="en-US" sz="3600" dirty="0">
                <a:solidFill>
                  <a:srgbClr val="000000"/>
                </a:solidFill>
                <a:latin typeface="Consolas" panose="020B0609020204030204" pitchFamily="49" charset="0"/>
              </a:rPr>
              <a:t>;</a:t>
            </a:r>
            <a:endParaRPr lang="en-US" altLang="en-US" sz="4400" dirty="0">
              <a:latin typeface="Arial" panose="020B0604020202020204" pitchFamily="34" charset="0"/>
            </a:endParaRPr>
          </a:p>
        </p:txBody>
      </p:sp>
      <p:sp>
        <p:nvSpPr>
          <p:cNvPr id="14" name="TextBox 13">
            <a:extLst>
              <a:ext uri="{FF2B5EF4-FFF2-40B4-BE49-F238E27FC236}">
                <a16:creationId xmlns:a16="http://schemas.microsoft.com/office/drawing/2014/main" id="{DF4BA8FF-524A-4C13-87BF-68801971FA28}"/>
              </a:ext>
            </a:extLst>
          </p:cNvPr>
          <p:cNvSpPr txBox="1"/>
          <p:nvPr/>
        </p:nvSpPr>
        <p:spPr>
          <a:xfrm>
            <a:off x="343885" y="5916286"/>
            <a:ext cx="11504240" cy="646331"/>
          </a:xfrm>
          <a:prstGeom prst="rect">
            <a:avLst/>
          </a:prstGeom>
          <a:noFill/>
        </p:spPr>
        <p:txBody>
          <a:bodyPr wrap="none" rtlCol="0">
            <a:spAutoFit/>
          </a:bodyPr>
          <a:lstStyle/>
          <a:p>
            <a:pPr algn="ctr"/>
            <a:r>
              <a:rPr lang="en-GB" sz="3600" dirty="0" err="1">
                <a:latin typeface="Consolas" panose="020B0609020204030204" pitchFamily="49" charset="0"/>
              </a:rPr>
              <a:t>taxiID</a:t>
            </a:r>
            <a:r>
              <a:rPr lang="en-GB" sz="3600" dirty="0">
                <a:latin typeface="Arial" panose="020B0604020202020204" pitchFamily="34" charset="0"/>
                <a:cs typeface="Arial" panose="020B0604020202020204" pitchFamily="34" charset="0"/>
              </a:rPr>
              <a:t> </a:t>
            </a:r>
            <a:r>
              <a:rPr lang="en-GB" sz="3600" dirty="0"/>
              <a:t>is                           , so qualified with the table names</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3963149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
                                            <p:txEl>
                                              <p:pRg st="0" end="0"/>
                                            </p:txEl>
                                          </p:spTgt>
                                        </p:tgtEl>
                                        <p:attrNameLst>
                                          <p:attrName>style.visibility</p:attrName>
                                        </p:attrNameLst>
                                      </p:cBhvr>
                                      <p:to>
                                        <p:strVal val="visible"/>
                                      </p:to>
                                    </p:set>
                                    <p:animEffect transition="in" filter="wipe(left)">
                                      <p:cBhvr>
                                        <p:cTn id="22" dur="20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4"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C76DEA-F650-51AB-7EE7-9B3064808EC0}"/>
              </a:ext>
            </a:extLst>
          </p:cNvPr>
          <p:cNvSpPr>
            <a:spLocks noGrp="1"/>
          </p:cNvSpPr>
          <p:nvPr>
            <p:ph type="title"/>
          </p:nvPr>
        </p:nvSpPr>
        <p:spPr/>
        <p:txBody>
          <a:bodyPr/>
          <a:lstStyle/>
          <a:p>
            <a:r>
              <a:rPr lang="en-GB" dirty="0"/>
              <a:t>Order of Operations (5)</a:t>
            </a:r>
          </a:p>
        </p:txBody>
      </p:sp>
      <p:sp>
        <p:nvSpPr>
          <p:cNvPr id="6" name="SQL">
            <a:extLst>
              <a:ext uri="{FF2B5EF4-FFF2-40B4-BE49-F238E27FC236}">
                <a16:creationId xmlns:a16="http://schemas.microsoft.com/office/drawing/2014/main" id="{C460184D-D803-F499-E82E-972FB39F9288}"/>
              </a:ext>
            </a:extLst>
          </p:cNvPr>
          <p:cNvSpPr>
            <a:spLocks noChangeArrowheads="1"/>
          </p:cNvSpPr>
          <p:nvPr/>
        </p:nvSpPr>
        <p:spPr bwMode="auto">
          <a:xfrm>
            <a:off x="619125" y="1678614"/>
            <a:ext cx="328808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name, company</a:t>
            </a:r>
          </a:p>
          <a:p>
            <a:pPr lvl="0" eaLnBrk="0" fontAlgn="base" hangingPunct="0">
              <a:spcBef>
                <a:spcPct val="0"/>
              </a:spcBef>
              <a:spcAft>
                <a:spcPct val="0"/>
              </a:spcAft>
            </a:pPr>
            <a:r>
              <a:rPr lang="en-US" altLang="en-US" sz="2000" dirty="0">
                <a:solidFill>
                  <a:srgbClr val="B2B2B2"/>
                </a:solidFill>
                <a:latin typeface="Consolas" panose="020B0609020204030204" pitchFamily="49" charset="0"/>
              </a:rPr>
              <a:t>2 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FROM</a:t>
            </a:r>
            <a:r>
              <a:rPr lang="en-US" altLang="en-US" sz="2000" dirty="0">
                <a:solidFill>
                  <a:srgbClr val="000000"/>
                </a:solidFill>
                <a:latin typeface="Consolas" panose="020B0609020204030204" pitchFamily="49" charset="0"/>
              </a:rPr>
              <a:t> Pet, Insurer</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latin typeface="Consolas" panose="020B0609020204030204" pitchFamily="49" charset="0"/>
            </a:endParaRPr>
          </a:p>
        </p:txBody>
      </p:sp>
      <p:sp>
        <p:nvSpPr>
          <p:cNvPr id="17" name="Pet">
            <a:extLst>
              <a:ext uri="{FF2B5EF4-FFF2-40B4-BE49-F238E27FC236}">
                <a16:creationId xmlns:a16="http://schemas.microsoft.com/office/drawing/2014/main" id="{37697A85-FE4A-5F49-87D3-DF60452AD532}"/>
              </a:ext>
            </a:extLst>
          </p:cNvPr>
          <p:cNvSpPr txBox="1"/>
          <p:nvPr/>
        </p:nvSpPr>
        <p:spPr>
          <a:xfrm>
            <a:off x="501700" y="2767538"/>
            <a:ext cx="1771650" cy="369332"/>
          </a:xfrm>
          <a:prstGeom prst="rect">
            <a:avLst/>
          </a:prstGeom>
          <a:noFill/>
        </p:spPr>
        <p:txBody>
          <a:bodyPr wrap="square" rtlCol="0">
            <a:spAutoFit/>
          </a:bodyPr>
          <a:lstStyle/>
          <a:p>
            <a:r>
              <a:rPr lang="en-GB" b="1" dirty="0"/>
              <a:t>Table: Pet</a:t>
            </a:r>
          </a:p>
        </p:txBody>
      </p:sp>
      <p:sp>
        <p:nvSpPr>
          <p:cNvPr id="19" name="Order">
            <a:extLst>
              <a:ext uri="{FF2B5EF4-FFF2-40B4-BE49-F238E27FC236}">
                <a16:creationId xmlns:a16="http://schemas.microsoft.com/office/drawing/2014/main" id="{39027E70-266E-C921-B96A-180149336170}"/>
              </a:ext>
            </a:extLst>
          </p:cNvPr>
          <p:cNvSpPr txBox="1"/>
          <p:nvPr/>
        </p:nvSpPr>
        <p:spPr>
          <a:xfrm>
            <a:off x="7417818" y="494976"/>
            <a:ext cx="2590417" cy="1384995"/>
          </a:xfrm>
          <a:prstGeom prst="rect">
            <a:avLst/>
          </a:prstGeom>
          <a:noFill/>
        </p:spPr>
        <p:txBody>
          <a:bodyPr wrap="square" rtlCol="0">
            <a:spAutoFit/>
          </a:bodyPr>
          <a:lstStyle/>
          <a:p>
            <a:r>
              <a:rPr lang="en-GB" sz="2800" b="1" dirty="0">
                <a:solidFill>
                  <a:srgbClr val="7030A0"/>
                </a:solidFill>
              </a:rPr>
              <a:t>Order</a:t>
            </a:r>
            <a:r>
              <a:rPr lang="en-GB" sz="2800" dirty="0">
                <a:solidFill>
                  <a:srgbClr val="7030A0"/>
                </a:solidFill>
              </a:rPr>
              <a:t>:</a:t>
            </a:r>
          </a:p>
          <a:p>
            <a:pPr lvl="1"/>
            <a:r>
              <a:rPr lang="en-GB" sz="2800" dirty="0">
                <a:solidFill>
                  <a:srgbClr val="7030A0"/>
                </a:solidFill>
              </a:rPr>
              <a:t>1.  FROM</a:t>
            </a:r>
          </a:p>
          <a:p>
            <a:pPr lvl="1"/>
            <a:r>
              <a:rPr lang="en-GB" sz="2800" dirty="0">
                <a:solidFill>
                  <a:srgbClr val="7030A0"/>
                </a:solidFill>
              </a:rPr>
              <a:t>2.  SELECT</a:t>
            </a:r>
          </a:p>
        </p:txBody>
      </p:sp>
      <p:sp>
        <p:nvSpPr>
          <p:cNvPr id="10" name="From">
            <a:extLst>
              <a:ext uri="{FF2B5EF4-FFF2-40B4-BE49-F238E27FC236}">
                <a16:creationId xmlns:a16="http://schemas.microsoft.com/office/drawing/2014/main" id="{BC0A24A5-7704-6A36-CD80-4ED2C2F64BD2}"/>
              </a:ext>
            </a:extLst>
          </p:cNvPr>
          <p:cNvSpPr txBox="1"/>
          <p:nvPr/>
        </p:nvSpPr>
        <p:spPr>
          <a:xfrm>
            <a:off x="3251923" y="2420529"/>
            <a:ext cx="850960" cy="369332"/>
          </a:xfrm>
          <a:prstGeom prst="rect">
            <a:avLst/>
          </a:prstGeom>
          <a:noFill/>
        </p:spPr>
        <p:txBody>
          <a:bodyPr wrap="square" rtlCol="0">
            <a:spAutoFit/>
          </a:bodyPr>
          <a:lstStyle/>
          <a:p>
            <a:r>
              <a:rPr lang="en-GB" b="1" dirty="0"/>
              <a:t>FROM</a:t>
            </a:r>
          </a:p>
        </p:txBody>
      </p:sp>
      <p:graphicFrame>
        <p:nvGraphicFramePr>
          <p:cNvPr id="22" name="Pet - Table">
            <a:extLst>
              <a:ext uri="{FF2B5EF4-FFF2-40B4-BE49-F238E27FC236}">
                <a16:creationId xmlns:a16="http://schemas.microsoft.com/office/drawing/2014/main" id="{E1C47C29-B1FD-7991-E626-2F12DC1AFFDE}"/>
              </a:ext>
            </a:extLst>
          </p:cNvPr>
          <p:cNvGraphicFramePr>
            <a:graphicFrameLocks noGrp="1"/>
          </p:cNvGraphicFramePr>
          <p:nvPr>
            <p:extLst>
              <p:ext uri="{D42A27DB-BD31-4B8C-83A1-F6EECF244321}">
                <p14:modId xmlns:p14="http://schemas.microsoft.com/office/powerpoint/2010/main" val="2097342570"/>
              </p:ext>
            </p:extLst>
          </p:nvPr>
        </p:nvGraphicFramePr>
        <p:xfrm>
          <a:off x="587423" y="3088606"/>
          <a:ext cx="2152143" cy="129540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536575">
                  <a:extLst>
                    <a:ext uri="{9D8B030D-6E8A-4147-A177-3AD203B41FA5}">
                      <a16:colId xmlns:a16="http://schemas.microsoft.com/office/drawing/2014/main" val="3258369125"/>
                    </a:ext>
                  </a:extLst>
                </a:gridCol>
                <a:gridCol w="803085">
                  <a:extLst>
                    <a:ext uri="{9D8B030D-6E8A-4147-A177-3AD203B41FA5}">
                      <a16:colId xmlns:a16="http://schemas.microsoft.com/office/drawing/2014/main" val="3431466674"/>
                    </a:ext>
                  </a:extLst>
                </a:gridCol>
              </a:tblGrid>
              <a:tr h="0">
                <a:tc>
                  <a:txBody>
                    <a:bodyPr/>
                    <a:lstStyle/>
                    <a:p>
                      <a:pPr algn="l"/>
                      <a:r>
                        <a:rPr lang="en-GB" sz="2000" b="0" i="0" dirty="0">
                          <a:solidFill>
                            <a:schemeClr val="bg1"/>
                          </a:solidFill>
                          <a:effectLst/>
                          <a:latin typeface="+mn-lt"/>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mn-lt"/>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mn-lt"/>
                          <a:cs typeface="Calibri" panose="020F0502020204030204" pitchFamily="34" charset="0"/>
                        </a:rPr>
                        <a:t>insurer</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latin typeface="+mn-lt"/>
                        </a:rPr>
                        <a:t>Cindy</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latin typeface="+mn-lt"/>
                        </a:rPr>
                        <a:t>Dog</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2</a:t>
                      </a: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latin typeface="+mn-lt"/>
                        </a:rPr>
                        <a:t>Snowy</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latin typeface="+mn-lt"/>
                        </a:rPr>
                        <a:t>Cat</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1</a:t>
                      </a: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a:solidFill>
                            <a:schemeClr val="tx1"/>
                          </a:solidFill>
                          <a:effectLst/>
                          <a:latin typeface="+mn-lt"/>
                        </a:rPr>
                        <a:t>Kitty</a:t>
                      </a:r>
                      <a:endParaRPr lang="en-GB" sz="2000" b="0" i="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a:solidFill>
                            <a:schemeClr val="tx1"/>
                          </a:solidFill>
                          <a:effectLst/>
                          <a:latin typeface="+mn-lt"/>
                        </a:rPr>
                        <a:t>Cat</a:t>
                      </a:r>
                      <a:endParaRPr lang="en-GB" sz="2000" b="0" i="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1</a:t>
                      </a:r>
                    </a:p>
                  </a:txBody>
                  <a:tcPr marL="9525" marR="9525" marT="9525" marB="9525" anchor="ctr"/>
                </a:tc>
                <a:extLst>
                  <a:ext uri="{0D108BD9-81ED-4DB2-BD59-A6C34878D82A}">
                    <a16:rowId xmlns:a16="http://schemas.microsoft.com/office/drawing/2014/main" val="812093042"/>
                  </a:ext>
                </a:extLst>
              </a:tr>
            </a:tbl>
          </a:graphicData>
        </a:graphic>
      </p:graphicFrame>
      <p:graphicFrame>
        <p:nvGraphicFramePr>
          <p:cNvPr id="23" name="Temp - Table">
            <a:extLst>
              <a:ext uri="{FF2B5EF4-FFF2-40B4-BE49-F238E27FC236}">
                <a16:creationId xmlns:a16="http://schemas.microsoft.com/office/drawing/2014/main" id="{57FE39BF-DC05-E516-87E6-26364C7BBE24}"/>
              </a:ext>
            </a:extLst>
          </p:cNvPr>
          <p:cNvGraphicFramePr>
            <a:graphicFrameLocks noGrp="1"/>
          </p:cNvGraphicFramePr>
          <p:nvPr>
            <p:extLst>
              <p:ext uri="{D42A27DB-BD31-4B8C-83A1-F6EECF244321}">
                <p14:modId xmlns:p14="http://schemas.microsoft.com/office/powerpoint/2010/main" val="1926296195"/>
              </p:ext>
            </p:extLst>
          </p:nvPr>
        </p:nvGraphicFramePr>
        <p:xfrm>
          <a:off x="4894972" y="3300868"/>
          <a:ext cx="3107310" cy="2933700"/>
        </p:xfrm>
        <a:graphic>
          <a:graphicData uri="http://schemas.openxmlformats.org/drawingml/2006/table">
            <a:tbl>
              <a:tblPr firstRow="1" bandRow="1">
                <a:tableStyleId>{5C22544A-7EE6-4342-B048-85BDC9FD1C3A}</a:tableStyleId>
              </a:tblPr>
              <a:tblGrid>
                <a:gridCol w="733616">
                  <a:extLst>
                    <a:ext uri="{9D8B030D-6E8A-4147-A177-3AD203B41FA5}">
                      <a16:colId xmlns:a16="http://schemas.microsoft.com/office/drawing/2014/main" val="2854243258"/>
                    </a:ext>
                  </a:extLst>
                </a:gridCol>
                <a:gridCol w="485775">
                  <a:extLst>
                    <a:ext uri="{9D8B030D-6E8A-4147-A177-3AD203B41FA5}">
                      <a16:colId xmlns:a16="http://schemas.microsoft.com/office/drawing/2014/main" val="3258369125"/>
                    </a:ext>
                  </a:extLst>
                </a:gridCol>
                <a:gridCol w="724091">
                  <a:extLst>
                    <a:ext uri="{9D8B030D-6E8A-4147-A177-3AD203B41FA5}">
                      <a16:colId xmlns:a16="http://schemas.microsoft.com/office/drawing/2014/main" val="3431466674"/>
                    </a:ext>
                  </a:extLst>
                </a:gridCol>
                <a:gridCol w="244475">
                  <a:extLst>
                    <a:ext uri="{9D8B030D-6E8A-4147-A177-3AD203B41FA5}">
                      <a16:colId xmlns:a16="http://schemas.microsoft.com/office/drawing/2014/main" val="994748769"/>
                    </a:ext>
                  </a:extLst>
                </a:gridCol>
                <a:gridCol w="919353">
                  <a:extLst>
                    <a:ext uri="{9D8B030D-6E8A-4147-A177-3AD203B41FA5}">
                      <a16:colId xmlns:a16="http://schemas.microsoft.com/office/drawing/2014/main" val="2564927205"/>
                    </a:ext>
                  </a:extLst>
                </a:gridCol>
              </a:tblGrid>
              <a:tr h="0">
                <a:tc>
                  <a:txBody>
                    <a:bodyPr/>
                    <a:lstStyle/>
                    <a:p>
                      <a:pPr algn="l"/>
                      <a:r>
                        <a:rPr lang="en-GB" sz="1800" b="0" i="0" dirty="0">
                          <a:solidFill>
                            <a:schemeClr val="bg1"/>
                          </a:solidFill>
                          <a:effectLst/>
                          <a:latin typeface="+mn-lt"/>
                          <a:cs typeface="Calibri" panose="020F0502020204030204" pitchFamily="34" charset="0"/>
                        </a:rPr>
                        <a:t>name</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type</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insurer</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id</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company</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Dog</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0</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Dog</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1659393023"/>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Dog</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417314715"/>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0</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777826486"/>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2705716962"/>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3471423699"/>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0</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1904147145"/>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976741720"/>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2806725075"/>
                  </a:ext>
                </a:extLst>
              </a:tr>
            </a:tbl>
          </a:graphicData>
        </a:graphic>
      </p:graphicFrame>
      <p:sp>
        <p:nvSpPr>
          <p:cNvPr id="25" name="Select">
            <a:extLst>
              <a:ext uri="{FF2B5EF4-FFF2-40B4-BE49-F238E27FC236}">
                <a16:creationId xmlns:a16="http://schemas.microsoft.com/office/drawing/2014/main" id="{35683CAD-1E2A-EA31-E6BB-C707B14B8F0A}"/>
              </a:ext>
            </a:extLst>
          </p:cNvPr>
          <p:cNvSpPr txBox="1"/>
          <p:nvPr/>
        </p:nvSpPr>
        <p:spPr>
          <a:xfrm>
            <a:off x="5968717" y="2302842"/>
            <a:ext cx="850960" cy="369332"/>
          </a:xfrm>
          <a:prstGeom prst="rect">
            <a:avLst/>
          </a:prstGeom>
          <a:noFill/>
        </p:spPr>
        <p:txBody>
          <a:bodyPr wrap="square" rtlCol="0">
            <a:spAutoFit/>
          </a:bodyPr>
          <a:lstStyle/>
          <a:p>
            <a:pPr algn="ctr"/>
            <a:r>
              <a:rPr lang="en-GB" b="1" dirty="0"/>
              <a:t>SELECT</a:t>
            </a:r>
          </a:p>
        </p:txBody>
      </p:sp>
      <p:sp>
        <p:nvSpPr>
          <p:cNvPr id="28" name="Output - Arrow">
            <a:extLst>
              <a:ext uri="{FF2B5EF4-FFF2-40B4-BE49-F238E27FC236}">
                <a16:creationId xmlns:a16="http://schemas.microsoft.com/office/drawing/2014/main" id="{27833E17-04CE-E6AD-804B-EB51B8F41239}"/>
              </a:ext>
            </a:extLst>
          </p:cNvPr>
          <p:cNvSpPr/>
          <p:nvPr/>
        </p:nvSpPr>
        <p:spPr>
          <a:xfrm>
            <a:off x="8529428" y="4575835"/>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Name - Column">
            <a:extLst>
              <a:ext uri="{FF2B5EF4-FFF2-40B4-BE49-F238E27FC236}">
                <a16:creationId xmlns:a16="http://schemas.microsoft.com/office/drawing/2014/main" id="{9CFD6623-90F9-8CA0-585A-959ADF79ADE1}"/>
              </a:ext>
            </a:extLst>
          </p:cNvPr>
          <p:cNvSpPr/>
          <p:nvPr/>
        </p:nvSpPr>
        <p:spPr>
          <a:xfrm>
            <a:off x="4869626" y="3270149"/>
            <a:ext cx="720000" cy="299631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Age - Column">
            <a:extLst>
              <a:ext uri="{FF2B5EF4-FFF2-40B4-BE49-F238E27FC236}">
                <a16:creationId xmlns:a16="http://schemas.microsoft.com/office/drawing/2014/main" id="{F8908677-B9D0-5945-93E8-1112E85882A9}"/>
              </a:ext>
            </a:extLst>
          </p:cNvPr>
          <p:cNvSpPr/>
          <p:nvPr/>
        </p:nvSpPr>
        <p:spPr>
          <a:xfrm>
            <a:off x="7074196" y="3267983"/>
            <a:ext cx="928086" cy="299631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Select - Arrow">
            <a:extLst>
              <a:ext uri="{FF2B5EF4-FFF2-40B4-BE49-F238E27FC236}">
                <a16:creationId xmlns:a16="http://schemas.microsoft.com/office/drawing/2014/main" id="{44EEC309-5164-E750-8A98-948F7250CF9F}"/>
              </a:ext>
            </a:extLst>
          </p:cNvPr>
          <p:cNvSpPr/>
          <p:nvPr/>
        </p:nvSpPr>
        <p:spPr>
          <a:xfrm>
            <a:off x="149292" y="1743803"/>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utput">
            <a:extLst>
              <a:ext uri="{FF2B5EF4-FFF2-40B4-BE49-F238E27FC236}">
                <a16:creationId xmlns:a16="http://schemas.microsoft.com/office/drawing/2014/main" id="{56038AF1-3FFC-CE48-15B4-04B9F7CE57D9}"/>
              </a:ext>
            </a:extLst>
          </p:cNvPr>
          <p:cNvSpPr txBox="1"/>
          <p:nvPr/>
        </p:nvSpPr>
        <p:spPr>
          <a:xfrm>
            <a:off x="8281623" y="3963255"/>
            <a:ext cx="960176" cy="369332"/>
          </a:xfrm>
          <a:prstGeom prst="rect">
            <a:avLst/>
          </a:prstGeom>
          <a:noFill/>
        </p:spPr>
        <p:txBody>
          <a:bodyPr wrap="square" rtlCol="0">
            <a:spAutoFit/>
          </a:bodyPr>
          <a:lstStyle/>
          <a:p>
            <a:pPr algn="ctr"/>
            <a:r>
              <a:rPr lang="en-GB" b="1" dirty="0"/>
              <a:t>Output</a:t>
            </a:r>
          </a:p>
        </p:txBody>
      </p:sp>
      <p:sp>
        <p:nvSpPr>
          <p:cNvPr id="35" name="From - Arrow">
            <a:extLst>
              <a:ext uri="{FF2B5EF4-FFF2-40B4-BE49-F238E27FC236}">
                <a16:creationId xmlns:a16="http://schemas.microsoft.com/office/drawing/2014/main" id="{570E26B8-2533-45CC-B630-78104B4BF6E3}"/>
              </a:ext>
            </a:extLst>
          </p:cNvPr>
          <p:cNvSpPr/>
          <p:nvPr/>
        </p:nvSpPr>
        <p:spPr>
          <a:xfrm>
            <a:off x="154554" y="2072324"/>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Name - Arrow">
            <a:extLst>
              <a:ext uri="{FF2B5EF4-FFF2-40B4-BE49-F238E27FC236}">
                <a16:creationId xmlns:a16="http://schemas.microsoft.com/office/drawing/2014/main" id="{74743580-1BBD-44D1-9B4B-3FCD69A573CA}"/>
              </a:ext>
            </a:extLst>
          </p:cNvPr>
          <p:cNvCxnSpPr>
            <a:cxnSpLocks/>
            <a:stCxn id="25" idx="2"/>
          </p:cNvCxnSpPr>
          <p:nvPr/>
        </p:nvCxnSpPr>
        <p:spPr>
          <a:xfrm flipH="1">
            <a:off x="5589626" y="2672174"/>
            <a:ext cx="804571" cy="563910"/>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 name="Age - Arrow">
            <a:extLst>
              <a:ext uri="{FF2B5EF4-FFF2-40B4-BE49-F238E27FC236}">
                <a16:creationId xmlns:a16="http://schemas.microsoft.com/office/drawing/2014/main" id="{4A59694F-BFA9-47E0-AA51-53E4E5936D1D}"/>
              </a:ext>
            </a:extLst>
          </p:cNvPr>
          <p:cNvCxnSpPr>
            <a:cxnSpLocks/>
            <a:stCxn id="25" idx="2"/>
          </p:cNvCxnSpPr>
          <p:nvPr/>
        </p:nvCxnSpPr>
        <p:spPr>
          <a:xfrm>
            <a:off x="6394197" y="2672174"/>
            <a:ext cx="679999" cy="563910"/>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2" name="Insurer">
            <a:extLst>
              <a:ext uri="{FF2B5EF4-FFF2-40B4-BE49-F238E27FC236}">
                <a16:creationId xmlns:a16="http://schemas.microsoft.com/office/drawing/2014/main" id="{94BF93ED-DCBC-929A-3978-645514F34654}"/>
              </a:ext>
            </a:extLst>
          </p:cNvPr>
          <p:cNvSpPr txBox="1"/>
          <p:nvPr/>
        </p:nvSpPr>
        <p:spPr>
          <a:xfrm>
            <a:off x="501700" y="4793841"/>
            <a:ext cx="1771650" cy="369332"/>
          </a:xfrm>
          <a:prstGeom prst="rect">
            <a:avLst/>
          </a:prstGeom>
          <a:noFill/>
        </p:spPr>
        <p:txBody>
          <a:bodyPr wrap="square" rtlCol="0">
            <a:spAutoFit/>
          </a:bodyPr>
          <a:lstStyle/>
          <a:p>
            <a:r>
              <a:rPr lang="en-GB" b="1" dirty="0"/>
              <a:t>Table: Insurer</a:t>
            </a:r>
          </a:p>
        </p:txBody>
      </p:sp>
      <p:graphicFrame>
        <p:nvGraphicFramePr>
          <p:cNvPr id="3" name="Pet - Insurer">
            <a:extLst>
              <a:ext uri="{FF2B5EF4-FFF2-40B4-BE49-F238E27FC236}">
                <a16:creationId xmlns:a16="http://schemas.microsoft.com/office/drawing/2014/main" id="{DED03D99-A09A-68ED-29D5-FF622C9224CD}"/>
              </a:ext>
            </a:extLst>
          </p:cNvPr>
          <p:cNvGraphicFramePr>
            <a:graphicFrameLocks noGrp="1"/>
          </p:cNvGraphicFramePr>
          <p:nvPr>
            <p:extLst>
              <p:ext uri="{D42A27DB-BD31-4B8C-83A1-F6EECF244321}">
                <p14:modId xmlns:p14="http://schemas.microsoft.com/office/powerpoint/2010/main" val="1862856747"/>
              </p:ext>
            </p:extLst>
          </p:nvPr>
        </p:nvGraphicFramePr>
        <p:xfrm>
          <a:off x="587423" y="5114909"/>
          <a:ext cx="1285431" cy="1295400"/>
        </p:xfrm>
        <a:graphic>
          <a:graphicData uri="http://schemas.openxmlformats.org/drawingml/2006/table">
            <a:tbl>
              <a:tblPr firstRow="1" bandRow="1">
                <a:tableStyleId>{5C22544A-7EE6-4342-B048-85BDC9FD1C3A}</a:tableStyleId>
              </a:tblPr>
              <a:tblGrid>
                <a:gridCol w="268288">
                  <a:extLst>
                    <a:ext uri="{9D8B030D-6E8A-4147-A177-3AD203B41FA5}">
                      <a16:colId xmlns:a16="http://schemas.microsoft.com/office/drawing/2014/main" val="2854243258"/>
                    </a:ext>
                  </a:extLst>
                </a:gridCol>
                <a:gridCol w="1017143">
                  <a:extLst>
                    <a:ext uri="{9D8B030D-6E8A-4147-A177-3AD203B41FA5}">
                      <a16:colId xmlns:a16="http://schemas.microsoft.com/office/drawing/2014/main" val="3258369125"/>
                    </a:ext>
                  </a:extLst>
                </a:gridCol>
              </a:tblGrid>
              <a:tr h="0">
                <a:tc>
                  <a:txBody>
                    <a:bodyPr/>
                    <a:lstStyle/>
                    <a:p>
                      <a:pPr algn="l"/>
                      <a:r>
                        <a:rPr lang="en-GB" sz="2000" b="0" i="0" dirty="0">
                          <a:solidFill>
                            <a:schemeClr val="bg1"/>
                          </a:solidFill>
                          <a:effectLst/>
                          <a:latin typeface="+mn-lt"/>
                          <a:cs typeface="Calibri" panose="020F0502020204030204" pitchFamily="34" charset="0"/>
                        </a:rPr>
                        <a:t>id</a:t>
                      </a:r>
                    </a:p>
                  </a:txBody>
                  <a:tcPr marL="9525" marR="9525" marT="9525" marB="9525" anchor="ctr"/>
                </a:tc>
                <a:tc>
                  <a:txBody>
                    <a:bodyPr/>
                    <a:lstStyle/>
                    <a:p>
                      <a:pPr algn="l"/>
                      <a:r>
                        <a:rPr lang="en-GB" sz="2000" b="0" i="0" dirty="0">
                          <a:solidFill>
                            <a:schemeClr val="bg1"/>
                          </a:solidFill>
                          <a:effectLst/>
                          <a:latin typeface="+mn-lt"/>
                          <a:cs typeface="Calibri" panose="020F0502020204030204" pitchFamily="34" charset="0"/>
                        </a:rPr>
                        <a:t>company</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latin typeface="+mn-lt"/>
                        </a:rPr>
                        <a:t>0</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latin typeface="+mn-lt"/>
                        </a:rPr>
                        <a:t>1</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latin typeface="+mn-lt"/>
                        </a:rPr>
                        <a:t>2</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err="1">
                          <a:solidFill>
                            <a:schemeClr val="tx1"/>
                          </a:solidFill>
                          <a:effectLst/>
                          <a:latin typeface="+mn-lt"/>
                          <a:cs typeface="Calibri" panose="020F0502020204030204" pitchFamily="34" charset="0"/>
                        </a:rPr>
                        <a:t>PetSure</a:t>
                      </a:r>
                      <a:endParaRPr lang="en-GB" sz="20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bl>
          </a:graphicData>
        </a:graphic>
      </p:graphicFrame>
      <p:graphicFrame>
        <p:nvGraphicFramePr>
          <p:cNvPr id="43" name="Output - Table">
            <a:extLst>
              <a:ext uri="{FF2B5EF4-FFF2-40B4-BE49-F238E27FC236}">
                <a16:creationId xmlns:a16="http://schemas.microsoft.com/office/drawing/2014/main" id="{568C7E54-FFF5-6232-653C-F1481651CB4C}"/>
              </a:ext>
            </a:extLst>
          </p:cNvPr>
          <p:cNvGraphicFramePr>
            <a:graphicFrameLocks noGrp="1"/>
          </p:cNvGraphicFramePr>
          <p:nvPr>
            <p:extLst>
              <p:ext uri="{D42A27DB-BD31-4B8C-83A1-F6EECF244321}">
                <p14:modId xmlns:p14="http://schemas.microsoft.com/office/powerpoint/2010/main" val="1578517460"/>
              </p:ext>
            </p:extLst>
          </p:nvPr>
        </p:nvGraphicFramePr>
        <p:xfrm>
          <a:off x="9595568" y="3299781"/>
          <a:ext cx="1652969" cy="2933700"/>
        </p:xfrm>
        <a:graphic>
          <a:graphicData uri="http://schemas.openxmlformats.org/drawingml/2006/table">
            <a:tbl>
              <a:tblPr firstRow="1" bandRow="1">
                <a:tableStyleId>{5C22544A-7EE6-4342-B048-85BDC9FD1C3A}</a:tableStyleId>
              </a:tblPr>
              <a:tblGrid>
                <a:gridCol w="733616">
                  <a:extLst>
                    <a:ext uri="{9D8B030D-6E8A-4147-A177-3AD203B41FA5}">
                      <a16:colId xmlns:a16="http://schemas.microsoft.com/office/drawing/2014/main" val="2854243258"/>
                    </a:ext>
                  </a:extLst>
                </a:gridCol>
                <a:gridCol w="919353">
                  <a:extLst>
                    <a:ext uri="{9D8B030D-6E8A-4147-A177-3AD203B41FA5}">
                      <a16:colId xmlns:a16="http://schemas.microsoft.com/office/drawing/2014/main" val="2564927205"/>
                    </a:ext>
                  </a:extLst>
                </a:gridCol>
              </a:tblGrid>
              <a:tr h="0">
                <a:tc>
                  <a:txBody>
                    <a:bodyPr/>
                    <a:lstStyle/>
                    <a:p>
                      <a:pPr algn="l"/>
                      <a:r>
                        <a:rPr lang="en-GB" sz="1800" b="0" i="0" dirty="0">
                          <a:solidFill>
                            <a:schemeClr val="bg1"/>
                          </a:solidFill>
                          <a:effectLst/>
                          <a:latin typeface="+mn-lt"/>
                          <a:cs typeface="Calibri" panose="020F0502020204030204" pitchFamily="34" charset="0"/>
                        </a:rPr>
                        <a:t>name</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company</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1659393023"/>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417314715"/>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777826486"/>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2705716962"/>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3471423699"/>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1904147145"/>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976741720"/>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2806725075"/>
                  </a:ext>
                </a:extLst>
              </a:tr>
            </a:tbl>
          </a:graphicData>
        </a:graphic>
      </p:graphicFrame>
      <p:sp>
        <p:nvSpPr>
          <p:cNvPr id="44" name="From - Brace">
            <a:extLst>
              <a:ext uri="{FF2B5EF4-FFF2-40B4-BE49-F238E27FC236}">
                <a16:creationId xmlns:a16="http://schemas.microsoft.com/office/drawing/2014/main" id="{4AB582EA-E161-553B-E130-D03025BDF6D6}"/>
              </a:ext>
            </a:extLst>
          </p:cNvPr>
          <p:cNvSpPr/>
          <p:nvPr/>
        </p:nvSpPr>
        <p:spPr>
          <a:xfrm>
            <a:off x="3443509" y="3460080"/>
            <a:ext cx="594061" cy="2495550"/>
          </a:xfrm>
          <a:prstGeom prst="rightBrace">
            <a:avLst>
              <a:gd name="adj1" fmla="val 56609"/>
              <a:gd name="adj2" fmla="val 50000"/>
            </a:avLst>
          </a:prstGeom>
          <a:noFill/>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1" name="Order">
            <a:extLst>
              <a:ext uri="{FF2B5EF4-FFF2-40B4-BE49-F238E27FC236}">
                <a16:creationId xmlns:a16="http://schemas.microsoft.com/office/drawing/2014/main" id="{A84125A0-FE9B-4B5B-4183-B7CDBBEF9D4C}"/>
              </a:ext>
            </a:extLst>
          </p:cNvPr>
          <p:cNvSpPr txBox="1"/>
          <p:nvPr/>
        </p:nvSpPr>
        <p:spPr>
          <a:xfrm>
            <a:off x="3343494" y="3480475"/>
            <a:ext cx="396064" cy="523220"/>
          </a:xfrm>
          <a:prstGeom prst="rect">
            <a:avLst/>
          </a:prstGeom>
          <a:noFill/>
        </p:spPr>
        <p:txBody>
          <a:bodyPr wrap="square" rtlCol="0">
            <a:spAutoFit/>
          </a:bodyPr>
          <a:lstStyle/>
          <a:p>
            <a:pPr algn="ctr"/>
            <a:r>
              <a:rPr lang="en-GB" sz="2800" b="1" dirty="0">
                <a:solidFill>
                  <a:srgbClr val="7030A0"/>
                </a:solidFill>
              </a:rPr>
              <a:t>3</a:t>
            </a:r>
          </a:p>
        </p:txBody>
      </p:sp>
      <p:sp>
        <p:nvSpPr>
          <p:cNvPr id="52" name="Order">
            <a:extLst>
              <a:ext uri="{FF2B5EF4-FFF2-40B4-BE49-F238E27FC236}">
                <a16:creationId xmlns:a16="http://schemas.microsoft.com/office/drawing/2014/main" id="{BCEA5CB0-5749-1A40-A7A8-2A13550A9ECB}"/>
              </a:ext>
            </a:extLst>
          </p:cNvPr>
          <p:cNvSpPr txBox="1"/>
          <p:nvPr/>
        </p:nvSpPr>
        <p:spPr>
          <a:xfrm>
            <a:off x="3351452" y="5429809"/>
            <a:ext cx="396064" cy="523220"/>
          </a:xfrm>
          <a:prstGeom prst="rect">
            <a:avLst/>
          </a:prstGeom>
          <a:noFill/>
        </p:spPr>
        <p:txBody>
          <a:bodyPr wrap="square" rtlCol="0">
            <a:spAutoFit/>
          </a:bodyPr>
          <a:lstStyle/>
          <a:p>
            <a:pPr algn="ctr"/>
            <a:r>
              <a:rPr lang="en-GB" sz="2800" b="1" dirty="0">
                <a:solidFill>
                  <a:srgbClr val="7030A0"/>
                </a:solidFill>
              </a:rPr>
              <a:t>3</a:t>
            </a:r>
          </a:p>
        </p:txBody>
      </p:sp>
      <p:sp>
        <p:nvSpPr>
          <p:cNvPr id="53" name="Order">
            <a:extLst>
              <a:ext uri="{FF2B5EF4-FFF2-40B4-BE49-F238E27FC236}">
                <a16:creationId xmlns:a16="http://schemas.microsoft.com/office/drawing/2014/main" id="{92831D18-72D2-C4FA-FD15-A525AFB4E5C5}"/>
              </a:ext>
            </a:extLst>
          </p:cNvPr>
          <p:cNvSpPr txBox="1"/>
          <p:nvPr/>
        </p:nvSpPr>
        <p:spPr>
          <a:xfrm>
            <a:off x="4080831" y="4444136"/>
            <a:ext cx="558311" cy="523220"/>
          </a:xfrm>
          <a:prstGeom prst="rect">
            <a:avLst/>
          </a:prstGeom>
          <a:noFill/>
        </p:spPr>
        <p:txBody>
          <a:bodyPr wrap="square" rtlCol="0" anchor="ctr">
            <a:spAutoFit/>
          </a:bodyPr>
          <a:lstStyle/>
          <a:p>
            <a:pPr algn="ctr"/>
            <a:r>
              <a:rPr lang="en-GB" sz="2800" b="1" dirty="0">
                <a:solidFill>
                  <a:srgbClr val="7030A0"/>
                </a:solidFill>
              </a:rPr>
              <a:t>9</a:t>
            </a:r>
          </a:p>
        </p:txBody>
      </p:sp>
      <p:sp>
        <p:nvSpPr>
          <p:cNvPr id="54" name="Order">
            <a:extLst>
              <a:ext uri="{FF2B5EF4-FFF2-40B4-BE49-F238E27FC236}">
                <a16:creationId xmlns:a16="http://schemas.microsoft.com/office/drawing/2014/main" id="{FF73204C-FADD-6664-F4EE-878B598637DD}"/>
              </a:ext>
            </a:extLst>
          </p:cNvPr>
          <p:cNvSpPr txBox="1"/>
          <p:nvPr/>
        </p:nvSpPr>
        <p:spPr>
          <a:xfrm>
            <a:off x="3352887" y="4451518"/>
            <a:ext cx="396064" cy="523220"/>
          </a:xfrm>
          <a:prstGeom prst="rect">
            <a:avLst/>
          </a:prstGeom>
          <a:noFill/>
        </p:spPr>
        <p:txBody>
          <a:bodyPr wrap="square" rtlCol="0">
            <a:spAutoFit/>
          </a:bodyPr>
          <a:lstStyle/>
          <a:p>
            <a:pPr algn="ctr"/>
            <a:r>
              <a:rPr lang="en-GB" sz="2800" b="1" dirty="0">
                <a:solidFill>
                  <a:srgbClr val="7030A0"/>
                </a:solidFill>
              </a:rPr>
              <a:t>×</a:t>
            </a:r>
          </a:p>
        </p:txBody>
      </p:sp>
      <p:sp>
        <p:nvSpPr>
          <p:cNvPr id="26" name="Nonsense">
            <a:extLst>
              <a:ext uri="{FF2B5EF4-FFF2-40B4-BE49-F238E27FC236}">
                <a16:creationId xmlns:a16="http://schemas.microsoft.com/office/drawing/2014/main" id="{51A85133-9936-421C-ADA9-CC0C711D817F}"/>
              </a:ext>
            </a:extLst>
          </p:cNvPr>
          <p:cNvSpPr txBox="1"/>
          <p:nvPr/>
        </p:nvSpPr>
        <p:spPr>
          <a:xfrm>
            <a:off x="9175848" y="2747797"/>
            <a:ext cx="2480449" cy="584775"/>
          </a:xfrm>
          <a:prstGeom prst="rect">
            <a:avLst/>
          </a:prstGeom>
          <a:noFill/>
        </p:spPr>
        <p:txBody>
          <a:bodyPr wrap="square" rtlCol="0">
            <a:spAutoFit/>
          </a:bodyPr>
          <a:lstStyle/>
          <a:p>
            <a:pPr algn="ctr"/>
            <a:r>
              <a:rPr lang="en-GB" sz="3200" b="1" dirty="0">
                <a:solidFill>
                  <a:srgbClr val="FF0000"/>
                </a:solidFill>
              </a:rPr>
              <a:t>No </a:t>
            </a:r>
            <a:r>
              <a:rPr lang="en-GB" sz="3200" b="1" dirty="0" err="1">
                <a:solidFill>
                  <a:srgbClr val="FF0000"/>
                </a:solidFill>
              </a:rPr>
              <a:t>equi</a:t>
            </a:r>
            <a:r>
              <a:rPr lang="en-GB" sz="3200" b="1" dirty="0">
                <a:solidFill>
                  <a:srgbClr val="FF0000"/>
                </a:solidFill>
              </a:rPr>
              <a:t>-join</a:t>
            </a:r>
          </a:p>
        </p:txBody>
      </p:sp>
      <p:sp>
        <p:nvSpPr>
          <p:cNvPr id="7" name="Wrong">
            <a:extLst>
              <a:ext uri="{FF2B5EF4-FFF2-40B4-BE49-F238E27FC236}">
                <a16:creationId xmlns:a16="http://schemas.microsoft.com/office/drawing/2014/main" id="{A35A661D-58BB-43A0-B5BA-FA8551E8C962}"/>
              </a:ext>
            </a:extLst>
          </p:cNvPr>
          <p:cNvSpPr/>
          <p:nvPr/>
        </p:nvSpPr>
        <p:spPr>
          <a:xfrm>
            <a:off x="11233100" y="4304433"/>
            <a:ext cx="914400" cy="914400"/>
          </a:xfrm>
          <a:prstGeom prst="mathMultiply">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Nonsense">
            <a:extLst>
              <a:ext uri="{FF2B5EF4-FFF2-40B4-BE49-F238E27FC236}">
                <a16:creationId xmlns:a16="http://schemas.microsoft.com/office/drawing/2014/main" id="{9EBF274B-66FC-4484-8533-22FFBDFC1CFA}"/>
              </a:ext>
            </a:extLst>
          </p:cNvPr>
          <p:cNvSpPr txBox="1"/>
          <p:nvPr/>
        </p:nvSpPr>
        <p:spPr>
          <a:xfrm>
            <a:off x="9175848" y="6199913"/>
            <a:ext cx="2480449" cy="646331"/>
          </a:xfrm>
          <a:prstGeom prst="rect">
            <a:avLst/>
          </a:prstGeom>
          <a:noFill/>
        </p:spPr>
        <p:txBody>
          <a:bodyPr wrap="square" rtlCol="0">
            <a:spAutoFit/>
          </a:bodyPr>
          <a:lstStyle/>
          <a:p>
            <a:pPr algn="ctr"/>
            <a:r>
              <a:rPr lang="en-GB" sz="3600" b="1" dirty="0">
                <a:solidFill>
                  <a:srgbClr val="FF0000"/>
                </a:solidFill>
              </a:rPr>
              <a:t>Nonsense!</a:t>
            </a:r>
          </a:p>
        </p:txBody>
      </p:sp>
    </p:spTree>
    <p:extLst>
      <p:ext uri="{BB962C8B-B14F-4D97-AF65-F5344CB8AC3E}">
        <p14:creationId xmlns:p14="http://schemas.microsoft.com/office/powerpoint/2010/main" val="3929749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20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up)">
                                      <p:cBhvr>
                                        <p:cTn id="20" dur="2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wipe(left)">
                                      <p:cBhvr>
                                        <p:cTn id="25" dur="1500"/>
                                        <p:tgtEl>
                                          <p:spTgt spid="6">
                                            <p:txEl>
                                              <p:pRg st="0" end="0"/>
                                            </p:txEl>
                                          </p:spTgt>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animEffect transition="in" filter="wipe(left)">
                                      <p:cBhvr>
                                        <p:cTn id="29" dur="1500"/>
                                        <p:tgtEl>
                                          <p:spTgt spid="6">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9">
                                            <p:txEl>
                                              <p:pRg st="0" end="0"/>
                                            </p:txEl>
                                          </p:spTgt>
                                        </p:tgtEl>
                                        <p:attrNameLst>
                                          <p:attrName>style.visibility</p:attrName>
                                        </p:attrNameLst>
                                      </p:cBhvr>
                                      <p:to>
                                        <p:strVal val="visible"/>
                                      </p:to>
                                    </p:set>
                                    <p:animEffect transition="in" filter="wipe(left)">
                                      <p:cBhvr>
                                        <p:cTn id="34" dur="1000"/>
                                        <p:tgtEl>
                                          <p:spTgt spid="19">
                                            <p:txEl>
                                              <p:pRg st="0" end="0"/>
                                            </p:txEl>
                                          </p:spTgt>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19">
                                            <p:txEl>
                                              <p:pRg st="1" end="1"/>
                                            </p:txEl>
                                          </p:spTgt>
                                        </p:tgtEl>
                                        <p:attrNameLst>
                                          <p:attrName>style.visibility</p:attrName>
                                        </p:attrNameLst>
                                      </p:cBhvr>
                                      <p:to>
                                        <p:strVal val="visible"/>
                                      </p:to>
                                    </p:set>
                                    <p:animEffect transition="in" filter="wipe(left)">
                                      <p:cBhvr>
                                        <p:cTn id="38" dur="1000"/>
                                        <p:tgtEl>
                                          <p:spTgt spid="19">
                                            <p:txEl>
                                              <p:pRg st="1" end="1"/>
                                            </p:txEl>
                                          </p:spTgt>
                                        </p:tgtEl>
                                      </p:cBhvr>
                                    </p:animEffect>
                                  </p:childTnLst>
                                </p:cTn>
                              </p:par>
                            </p:childTnLst>
                          </p:cTn>
                        </p:par>
                        <p:par>
                          <p:cTn id="39" fill="hold">
                            <p:stCondLst>
                              <p:cond delay="2000"/>
                            </p:stCondLst>
                            <p:childTnLst>
                              <p:par>
                                <p:cTn id="40" presetID="22" presetClass="entr" presetSubtype="8" fill="hold" grpId="0" nodeType="afterEffect">
                                  <p:stCondLst>
                                    <p:cond delay="0"/>
                                  </p:stCondLst>
                                  <p:childTnLst>
                                    <p:set>
                                      <p:cBhvr>
                                        <p:cTn id="41" dur="1" fill="hold">
                                          <p:stCondLst>
                                            <p:cond delay="0"/>
                                          </p:stCondLst>
                                        </p:cTn>
                                        <p:tgtEl>
                                          <p:spTgt spid="19">
                                            <p:txEl>
                                              <p:pRg st="2" end="2"/>
                                            </p:txEl>
                                          </p:spTgt>
                                        </p:tgtEl>
                                        <p:attrNameLst>
                                          <p:attrName>style.visibility</p:attrName>
                                        </p:attrNameLst>
                                      </p:cBhvr>
                                      <p:to>
                                        <p:strVal val="visible"/>
                                      </p:to>
                                    </p:set>
                                    <p:animEffect transition="in" filter="wipe(left)">
                                      <p:cBhvr>
                                        <p:cTn id="42" dur="1000"/>
                                        <p:tgtEl>
                                          <p:spTgt spid="19">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wipe(left)">
                                      <p:cBhvr>
                                        <p:cTn id="47" dur="10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44"/>
                                        </p:tgtEl>
                                        <p:attrNameLst>
                                          <p:attrName>style.visibility</p:attrName>
                                        </p:attrNameLst>
                                      </p:cBhvr>
                                      <p:to>
                                        <p:strVal val="visible"/>
                                      </p:to>
                                    </p:set>
                                    <p:animEffect transition="in" filter="wipe(left)">
                                      <p:cBhvr>
                                        <p:cTn id="56" dur="1000"/>
                                        <p:tgtEl>
                                          <p:spTgt spid="4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51">
                                            <p:txEl>
                                              <p:pRg st="0" end="0"/>
                                            </p:txEl>
                                          </p:spTgt>
                                        </p:tgtEl>
                                        <p:attrNameLst>
                                          <p:attrName>style.visibility</p:attrName>
                                        </p:attrNameLst>
                                      </p:cBhvr>
                                      <p:to>
                                        <p:strVal val="visible"/>
                                      </p:to>
                                    </p:set>
                                    <p:animEffect transition="in" filter="wipe(left)">
                                      <p:cBhvr>
                                        <p:cTn id="61" dur="500"/>
                                        <p:tgtEl>
                                          <p:spTgt spid="51">
                                            <p:txEl>
                                              <p:pRg st="0" end="0"/>
                                            </p:txEl>
                                          </p:spTgt>
                                        </p:tgtEl>
                                      </p:cBhvr>
                                    </p:animEffect>
                                  </p:childTnLst>
                                </p:cTn>
                              </p:par>
                            </p:childTnLst>
                          </p:cTn>
                        </p:par>
                        <p:par>
                          <p:cTn id="62" fill="hold">
                            <p:stCondLst>
                              <p:cond delay="500"/>
                            </p:stCondLst>
                            <p:childTnLst>
                              <p:par>
                                <p:cTn id="63" presetID="22" presetClass="entr" presetSubtype="8" fill="hold" grpId="0" nodeType="afterEffect" nodePh="1">
                                  <p:stCondLst>
                                    <p:cond delay="0"/>
                                  </p:stCondLst>
                                  <p:endCondLst>
                                    <p:cond evt="begin" delay="0">
                                      <p:tn val="63"/>
                                    </p:cond>
                                  </p:endCondLst>
                                  <p:childTnLst>
                                    <p:set>
                                      <p:cBhvr>
                                        <p:cTn id="64" dur="1" fill="hold">
                                          <p:stCondLst>
                                            <p:cond delay="0"/>
                                          </p:stCondLst>
                                        </p:cTn>
                                        <p:tgtEl>
                                          <p:spTgt spid="54">
                                            <p:txEl>
                                              <p:pRg st="0" end="0"/>
                                            </p:txEl>
                                          </p:spTgt>
                                        </p:tgtEl>
                                        <p:attrNameLst>
                                          <p:attrName>style.visibility</p:attrName>
                                        </p:attrNameLst>
                                      </p:cBhvr>
                                      <p:to>
                                        <p:strVal val="visible"/>
                                      </p:to>
                                    </p:set>
                                    <p:animEffect transition="in" filter="wipe(left)">
                                      <p:cBhvr>
                                        <p:cTn id="65" dur="500"/>
                                        <p:tgtEl>
                                          <p:spTgt spid="54">
                                            <p:txEl>
                                              <p:pRg st="0" end="0"/>
                                            </p:txEl>
                                          </p:spTgt>
                                        </p:tgtEl>
                                      </p:cBhvr>
                                    </p:animEffect>
                                  </p:childTnLst>
                                </p:cTn>
                              </p:par>
                            </p:childTnLst>
                          </p:cTn>
                        </p:par>
                        <p:par>
                          <p:cTn id="66" fill="hold">
                            <p:stCondLst>
                              <p:cond delay="1000"/>
                            </p:stCondLst>
                            <p:childTnLst>
                              <p:par>
                                <p:cTn id="67" presetID="22" presetClass="entr" presetSubtype="8" fill="hold" grpId="0" nodeType="afterEffect">
                                  <p:stCondLst>
                                    <p:cond delay="0"/>
                                  </p:stCondLst>
                                  <p:childTnLst>
                                    <p:set>
                                      <p:cBhvr>
                                        <p:cTn id="68" dur="1" fill="hold">
                                          <p:stCondLst>
                                            <p:cond delay="0"/>
                                          </p:stCondLst>
                                        </p:cTn>
                                        <p:tgtEl>
                                          <p:spTgt spid="52">
                                            <p:txEl>
                                              <p:pRg st="0" end="0"/>
                                            </p:txEl>
                                          </p:spTgt>
                                        </p:tgtEl>
                                        <p:attrNameLst>
                                          <p:attrName>style.visibility</p:attrName>
                                        </p:attrNameLst>
                                      </p:cBhvr>
                                      <p:to>
                                        <p:strVal val="visible"/>
                                      </p:to>
                                    </p:set>
                                    <p:animEffect transition="in" filter="wipe(left)">
                                      <p:cBhvr>
                                        <p:cTn id="69" dur="500"/>
                                        <p:tgtEl>
                                          <p:spTgt spid="52">
                                            <p:txEl>
                                              <p:pRg st="0" end="0"/>
                                            </p:txEl>
                                          </p:spTgt>
                                        </p:tgtEl>
                                      </p:cBhvr>
                                    </p:animEffect>
                                  </p:childTnLst>
                                </p:cTn>
                              </p:par>
                            </p:childTnLst>
                          </p:cTn>
                        </p:par>
                        <p:par>
                          <p:cTn id="70" fill="hold">
                            <p:stCondLst>
                              <p:cond delay="1500"/>
                            </p:stCondLst>
                            <p:childTnLst>
                              <p:par>
                                <p:cTn id="71" presetID="22" presetClass="entr" presetSubtype="8" fill="hold" grpId="0" nodeType="afterEffect">
                                  <p:stCondLst>
                                    <p:cond delay="0"/>
                                  </p:stCondLst>
                                  <p:childTnLst>
                                    <p:set>
                                      <p:cBhvr>
                                        <p:cTn id="72" dur="1" fill="hold">
                                          <p:stCondLst>
                                            <p:cond delay="0"/>
                                          </p:stCondLst>
                                        </p:cTn>
                                        <p:tgtEl>
                                          <p:spTgt spid="53">
                                            <p:txEl>
                                              <p:pRg st="0" end="0"/>
                                            </p:txEl>
                                          </p:spTgt>
                                        </p:tgtEl>
                                        <p:attrNameLst>
                                          <p:attrName>style.visibility</p:attrName>
                                        </p:attrNameLst>
                                      </p:cBhvr>
                                      <p:to>
                                        <p:strVal val="visible"/>
                                      </p:to>
                                    </p:set>
                                    <p:animEffect transition="in" filter="wipe(left)">
                                      <p:cBhvr>
                                        <p:cTn id="73" dur="500"/>
                                        <p:tgtEl>
                                          <p:spTgt spid="53">
                                            <p:txEl>
                                              <p:pRg st="0" end="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wipe(left)">
                                      <p:cBhvr>
                                        <p:cTn id="78" dur="2000"/>
                                        <p:tgtEl>
                                          <p:spTgt spid="2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xit" presetSubtype="8" fill="hold" grpId="1" nodeType="clickEffect">
                                  <p:stCondLst>
                                    <p:cond delay="0"/>
                                  </p:stCondLst>
                                  <p:childTnLst>
                                    <p:animEffect transition="out" filter="wipe(left)">
                                      <p:cBhvr>
                                        <p:cTn id="82" dur="500"/>
                                        <p:tgtEl>
                                          <p:spTgt spid="35"/>
                                        </p:tgtEl>
                                      </p:cBhvr>
                                    </p:animEffect>
                                    <p:set>
                                      <p:cBhvr>
                                        <p:cTn id="83" dur="1" fill="hold">
                                          <p:stCondLst>
                                            <p:cond delay="499"/>
                                          </p:stCondLst>
                                        </p:cTn>
                                        <p:tgtEl>
                                          <p:spTgt spid="35"/>
                                        </p:tgtEl>
                                        <p:attrNameLst>
                                          <p:attrName>style.visibility</p:attrName>
                                        </p:attrNameLst>
                                      </p:cBhvr>
                                      <p:to>
                                        <p:strVal val="hidden"/>
                                      </p:to>
                                    </p:set>
                                  </p:childTnLst>
                                </p:cTn>
                              </p:par>
                            </p:childTnLst>
                          </p:cTn>
                        </p:par>
                        <p:par>
                          <p:cTn id="84" fill="hold">
                            <p:stCondLst>
                              <p:cond delay="500"/>
                            </p:stCondLst>
                            <p:childTnLst>
                              <p:par>
                                <p:cTn id="85" presetID="22" presetClass="entr" presetSubtype="8" fill="hold" grpId="0" nodeType="after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wipe(left)">
                                      <p:cBhvr>
                                        <p:cTn id="87" dur="1000"/>
                                        <p:tgtEl>
                                          <p:spTgt spid="31"/>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wipe(left)">
                                      <p:cBhvr>
                                        <p:cTn id="92" dur="500"/>
                                        <p:tgtEl>
                                          <p:spTgt spid="25"/>
                                        </p:tgtEl>
                                      </p:cBhvr>
                                    </p:animEffect>
                                  </p:childTnLst>
                                </p:cTn>
                              </p:par>
                            </p:childTnLst>
                          </p:cTn>
                        </p:par>
                        <p:par>
                          <p:cTn id="93" fill="hold">
                            <p:stCondLst>
                              <p:cond delay="500"/>
                            </p:stCondLst>
                            <p:childTnLst>
                              <p:par>
                                <p:cTn id="94" presetID="22" presetClass="entr" presetSubtype="1" fill="hold" nodeType="afterEffect">
                                  <p:stCondLst>
                                    <p:cond delay="0"/>
                                  </p:stCondLst>
                                  <p:childTnLst>
                                    <p:set>
                                      <p:cBhvr>
                                        <p:cTn id="95" dur="1" fill="hold">
                                          <p:stCondLst>
                                            <p:cond delay="0"/>
                                          </p:stCondLst>
                                        </p:cTn>
                                        <p:tgtEl>
                                          <p:spTgt spid="5"/>
                                        </p:tgtEl>
                                        <p:attrNameLst>
                                          <p:attrName>style.visibility</p:attrName>
                                        </p:attrNameLst>
                                      </p:cBhvr>
                                      <p:to>
                                        <p:strVal val="visible"/>
                                      </p:to>
                                    </p:set>
                                    <p:animEffect transition="in" filter="wipe(up)">
                                      <p:cBhvr>
                                        <p:cTn id="96" dur="500"/>
                                        <p:tgtEl>
                                          <p:spTgt spid="5"/>
                                        </p:tgtEl>
                                      </p:cBhvr>
                                    </p:animEffect>
                                  </p:childTnLst>
                                </p:cTn>
                              </p:par>
                            </p:childTnLst>
                          </p:cTn>
                        </p:par>
                        <p:par>
                          <p:cTn id="97" fill="hold">
                            <p:stCondLst>
                              <p:cond delay="1000"/>
                            </p:stCondLst>
                            <p:childTnLst>
                              <p:par>
                                <p:cTn id="98" presetID="22" presetClass="entr" presetSubtype="1" fill="hold" grpId="0" nodeType="afterEffect">
                                  <p:stCondLst>
                                    <p:cond delay="0"/>
                                  </p:stCondLst>
                                  <p:childTnLst>
                                    <p:set>
                                      <p:cBhvr>
                                        <p:cTn id="99" dur="1" fill="hold">
                                          <p:stCondLst>
                                            <p:cond delay="0"/>
                                          </p:stCondLst>
                                        </p:cTn>
                                        <p:tgtEl>
                                          <p:spTgt spid="29"/>
                                        </p:tgtEl>
                                        <p:attrNameLst>
                                          <p:attrName>style.visibility</p:attrName>
                                        </p:attrNameLst>
                                      </p:cBhvr>
                                      <p:to>
                                        <p:strVal val="visible"/>
                                      </p:to>
                                    </p:set>
                                    <p:animEffect transition="in" filter="wipe(up)">
                                      <p:cBhvr>
                                        <p:cTn id="100" dur="1500"/>
                                        <p:tgtEl>
                                          <p:spTgt spid="29"/>
                                        </p:tgtEl>
                                      </p:cBhvr>
                                    </p:animEffect>
                                  </p:childTnLst>
                                </p:cTn>
                              </p:par>
                            </p:childTnLst>
                          </p:cTn>
                        </p:par>
                        <p:par>
                          <p:cTn id="101" fill="hold">
                            <p:stCondLst>
                              <p:cond delay="2500"/>
                            </p:stCondLst>
                            <p:childTnLst>
                              <p:par>
                                <p:cTn id="102" presetID="22" presetClass="entr" presetSubtype="1" fill="hold" nodeType="afterEffect">
                                  <p:stCondLst>
                                    <p:cond delay="0"/>
                                  </p:stCondLst>
                                  <p:childTnLst>
                                    <p:set>
                                      <p:cBhvr>
                                        <p:cTn id="103" dur="1" fill="hold">
                                          <p:stCondLst>
                                            <p:cond delay="0"/>
                                          </p:stCondLst>
                                        </p:cTn>
                                        <p:tgtEl>
                                          <p:spTgt spid="9"/>
                                        </p:tgtEl>
                                        <p:attrNameLst>
                                          <p:attrName>style.visibility</p:attrName>
                                        </p:attrNameLst>
                                      </p:cBhvr>
                                      <p:to>
                                        <p:strVal val="visible"/>
                                      </p:to>
                                    </p:set>
                                    <p:animEffect transition="in" filter="wipe(up)">
                                      <p:cBhvr>
                                        <p:cTn id="104" dur="500"/>
                                        <p:tgtEl>
                                          <p:spTgt spid="9"/>
                                        </p:tgtEl>
                                      </p:cBhvr>
                                    </p:animEffect>
                                  </p:childTnLst>
                                </p:cTn>
                              </p:par>
                            </p:childTnLst>
                          </p:cTn>
                        </p:par>
                        <p:par>
                          <p:cTn id="105" fill="hold">
                            <p:stCondLst>
                              <p:cond delay="3000"/>
                            </p:stCondLst>
                            <p:childTnLst>
                              <p:par>
                                <p:cTn id="106" presetID="22" presetClass="entr" presetSubtype="1" fill="hold" grpId="0" nodeType="afterEffect">
                                  <p:stCondLst>
                                    <p:cond delay="0"/>
                                  </p:stCondLst>
                                  <p:childTnLst>
                                    <p:set>
                                      <p:cBhvr>
                                        <p:cTn id="107" dur="1" fill="hold">
                                          <p:stCondLst>
                                            <p:cond delay="0"/>
                                          </p:stCondLst>
                                        </p:cTn>
                                        <p:tgtEl>
                                          <p:spTgt spid="30"/>
                                        </p:tgtEl>
                                        <p:attrNameLst>
                                          <p:attrName>style.visibility</p:attrName>
                                        </p:attrNameLst>
                                      </p:cBhvr>
                                      <p:to>
                                        <p:strVal val="visible"/>
                                      </p:to>
                                    </p:set>
                                    <p:animEffect transition="in" filter="wipe(up)">
                                      <p:cBhvr>
                                        <p:cTn id="108" dur="1500"/>
                                        <p:tgtEl>
                                          <p:spTgt spid="30"/>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xit" presetSubtype="8" fill="hold" grpId="1" nodeType="clickEffect">
                                  <p:stCondLst>
                                    <p:cond delay="0"/>
                                  </p:stCondLst>
                                  <p:childTnLst>
                                    <p:animEffect transition="out" filter="wipe(left)">
                                      <p:cBhvr>
                                        <p:cTn id="112" dur="500"/>
                                        <p:tgtEl>
                                          <p:spTgt spid="31"/>
                                        </p:tgtEl>
                                      </p:cBhvr>
                                    </p:animEffect>
                                    <p:set>
                                      <p:cBhvr>
                                        <p:cTn id="113" dur="1" fill="hold">
                                          <p:stCondLst>
                                            <p:cond delay="499"/>
                                          </p:stCondLst>
                                        </p:cTn>
                                        <p:tgtEl>
                                          <p:spTgt spid="31"/>
                                        </p:tgtEl>
                                        <p:attrNameLst>
                                          <p:attrName>style.visibility</p:attrName>
                                        </p:attrNameLst>
                                      </p:cBhvr>
                                      <p:to>
                                        <p:strVal val="hidden"/>
                                      </p:to>
                                    </p:set>
                                  </p:childTnLst>
                                </p:cTn>
                              </p:par>
                            </p:childTnLst>
                          </p:cTn>
                        </p:par>
                        <p:par>
                          <p:cTn id="114" fill="hold">
                            <p:stCondLst>
                              <p:cond delay="500"/>
                            </p:stCondLst>
                            <p:childTnLst>
                              <p:par>
                                <p:cTn id="115" presetID="22" presetClass="entr" presetSubtype="8" fill="hold" grpId="0" nodeType="afterEffect">
                                  <p:stCondLst>
                                    <p:cond delay="0"/>
                                  </p:stCondLst>
                                  <p:childTnLst>
                                    <p:set>
                                      <p:cBhvr>
                                        <p:cTn id="116" dur="1" fill="hold">
                                          <p:stCondLst>
                                            <p:cond delay="0"/>
                                          </p:stCondLst>
                                        </p:cTn>
                                        <p:tgtEl>
                                          <p:spTgt spid="32"/>
                                        </p:tgtEl>
                                        <p:attrNameLst>
                                          <p:attrName>style.visibility</p:attrName>
                                        </p:attrNameLst>
                                      </p:cBhvr>
                                      <p:to>
                                        <p:strVal val="visible"/>
                                      </p:to>
                                    </p:set>
                                    <p:animEffect transition="in" filter="wipe(left)">
                                      <p:cBhvr>
                                        <p:cTn id="117" dur="500"/>
                                        <p:tgtEl>
                                          <p:spTgt spid="32"/>
                                        </p:tgtEl>
                                      </p:cBhvr>
                                    </p:animEffect>
                                  </p:childTnLst>
                                </p:cTn>
                              </p:par>
                            </p:childTnLst>
                          </p:cTn>
                        </p:par>
                        <p:par>
                          <p:cTn id="118" fill="hold">
                            <p:stCondLst>
                              <p:cond delay="1000"/>
                            </p:stCondLst>
                            <p:childTnLst>
                              <p:par>
                                <p:cTn id="119" presetID="22" presetClass="entr" presetSubtype="8" fill="hold" grpId="0" nodeType="afterEffect">
                                  <p:stCondLst>
                                    <p:cond delay="0"/>
                                  </p:stCondLst>
                                  <p:childTnLst>
                                    <p:set>
                                      <p:cBhvr>
                                        <p:cTn id="120" dur="1" fill="hold">
                                          <p:stCondLst>
                                            <p:cond delay="0"/>
                                          </p:stCondLst>
                                        </p:cTn>
                                        <p:tgtEl>
                                          <p:spTgt spid="28"/>
                                        </p:tgtEl>
                                        <p:attrNameLst>
                                          <p:attrName>style.visibility</p:attrName>
                                        </p:attrNameLst>
                                      </p:cBhvr>
                                      <p:to>
                                        <p:strVal val="visible"/>
                                      </p:to>
                                    </p:set>
                                    <p:animEffect transition="in" filter="wipe(left)">
                                      <p:cBhvr>
                                        <p:cTn id="121" dur="1000"/>
                                        <p:tgtEl>
                                          <p:spTgt spid="28"/>
                                        </p:tgtEl>
                                      </p:cBhvr>
                                    </p:animEffect>
                                  </p:childTnLst>
                                </p:cTn>
                              </p:par>
                            </p:childTnLst>
                          </p:cTn>
                        </p:par>
                        <p:par>
                          <p:cTn id="122" fill="hold">
                            <p:stCondLst>
                              <p:cond delay="2000"/>
                            </p:stCondLst>
                            <p:childTnLst>
                              <p:par>
                                <p:cTn id="123" presetID="22" presetClass="entr" presetSubtype="8" fill="hold" nodeType="afterEffect">
                                  <p:stCondLst>
                                    <p:cond delay="0"/>
                                  </p:stCondLst>
                                  <p:childTnLst>
                                    <p:set>
                                      <p:cBhvr>
                                        <p:cTn id="124" dur="1" fill="hold">
                                          <p:stCondLst>
                                            <p:cond delay="0"/>
                                          </p:stCondLst>
                                        </p:cTn>
                                        <p:tgtEl>
                                          <p:spTgt spid="43"/>
                                        </p:tgtEl>
                                        <p:attrNameLst>
                                          <p:attrName>style.visibility</p:attrName>
                                        </p:attrNameLst>
                                      </p:cBhvr>
                                      <p:to>
                                        <p:strVal val="visible"/>
                                      </p:to>
                                    </p:set>
                                    <p:animEffect transition="in" filter="wipe(left)">
                                      <p:cBhvr>
                                        <p:cTn id="125" dur="2000"/>
                                        <p:tgtEl>
                                          <p:spTgt spid="43"/>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grpId="0" nodeType="clickEffect">
                                  <p:stCondLst>
                                    <p:cond delay="0"/>
                                  </p:stCondLst>
                                  <p:childTnLst>
                                    <p:set>
                                      <p:cBhvr>
                                        <p:cTn id="129" dur="1" fill="hold">
                                          <p:stCondLst>
                                            <p:cond delay="0"/>
                                          </p:stCondLst>
                                        </p:cTn>
                                        <p:tgtEl>
                                          <p:spTgt spid="26"/>
                                        </p:tgtEl>
                                        <p:attrNameLst>
                                          <p:attrName>style.visibility</p:attrName>
                                        </p:attrNameLst>
                                      </p:cBhvr>
                                      <p:to>
                                        <p:strVal val="visible"/>
                                      </p:to>
                                    </p:set>
                                    <p:animEffect transition="in" filter="fade">
                                      <p:cBhvr>
                                        <p:cTn id="130" dur="2000"/>
                                        <p:tgtEl>
                                          <p:spTgt spid="26"/>
                                        </p:tgtEl>
                                      </p:cBhvr>
                                    </p:animEffect>
                                  </p:childTnLst>
                                </p:cTn>
                              </p:par>
                              <p:par>
                                <p:cTn id="131" presetID="45" presetClass="entr" presetSubtype="0" fill="hold" grpId="0" nodeType="withEffect">
                                  <p:stCondLst>
                                    <p:cond delay="0"/>
                                  </p:stCondLst>
                                  <p:childTnLst>
                                    <p:set>
                                      <p:cBhvr>
                                        <p:cTn id="132" dur="1" fill="hold">
                                          <p:stCondLst>
                                            <p:cond delay="0"/>
                                          </p:stCondLst>
                                        </p:cTn>
                                        <p:tgtEl>
                                          <p:spTgt spid="7"/>
                                        </p:tgtEl>
                                        <p:attrNameLst>
                                          <p:attrName>style.visibility</p:attrName>
                                        </p:attrNameLst>
                                      </p:cBhvr>
                                      <p:to>
                                        <p:strVal val="visible"/>
                                      </p:to>
                                    </p:set>
                                    <p:animEffect transition="in" filter="fade">
                                      <p:cBhvr>
                                        <p:cTn id="133" dur="2000"/>
                                        <p:tgtEl>
                                          <p:spTgt spid="7"/>
                                        </p:tgtEl>
                                      </p:cBhvr>
                                    </p:animEffect>
                                    <p:anim calcmode="lin" valueType="num">
                                      <p:cBhvr>
                                        <p:cTn id="134" dur="2000" fill="hold"/>
                                        <p:tgtEl>
                                          <p:spTgt spid="7"/>
                                        </p:tgtEl>
                                        <p:attrNameLst>
                                          <p:attrName>ppt_w</p:attrName>
                                        </p:attrNameLst>
                                      </p:cBhvr>
                                      <p:tavLst>
                                        <p:tav tm="0" fmla="#ppt_w*sin(2.5*pi*$)">
                                          <p:val>
                                            <p:fltVal val="0"/>
                                          </p:val>
                                        </p:tav>
                                        <p:tav tm="100000">
                                          <p:val>
                                            <p:fltVal val="1"/>
                                          </p:val>
                                        </p:tav>
                                      </p:tavLst>
                                    </p:anim>
                                    <p:anim calcmode="lin" valueType="num">
                                      <p:cBhvr>
                                        <p:cTn id="135" dur="2000" fill="hold"/>
                                        <p:tgtEl>
                                          <p:spTgt spid="7"/>
                                        </p:tgtEl>
                                        <p:attrNameLst>
                                          <p:attrName>ppt_h</p:attrName>
                                        </p:attrNameLst>
                                      </p:cBhvr>
                                      <p:tavLst>
                                        <p:tav tm="0">
                                          <p:val>
                                            <p:strVal val="#ppt_h"/>
                                          </p:val>
                                        </p:tav>
                                        <p:tav tm="100000">
                                          <p:val>
                                            <p:strVal val="#ppt_h"/>
                                          </p:val>
                                        </p:tav>
                                      </p:tavLst>
                                    </p:anim>
                                  </p:childTnLst>
                                </p:cTn>
                              </p:par>
                            </p:childTnLst>
                          </p:cTn>
                        </p:par>
                        <p:par>
                          <p:cTn id="136" fill="hold">
                            <p:stCondLst>
                              <p:cond delay="2000"/>
                            </p:stCondLst>
                            <p:childTnLst>
                              <p:par>
                                <p:cTn id="137" presetID="10" presetClass="entr" presetSubtype="0" fill="hold" grpId="0" nodeType="afterEffect">
                                  <p:stCondLst>
                                    <p:cond delay="0"/>
                                  </p:stCondLst>
                                  <p:childTnLst>
                                    <p:set>
                                      <p:cBhvr>
                                        <p:cTn id="138" dur="1" fill="hold">
                                          <p:stCondLst>
                                            <p:cond delay="0"/>
                                          </p:stCondLst>
                                        </p:cTn>
                                        <p:tgtEl>
                                          <p:spTgt spid="33"/>
                                        </p:tgtEl>
                                        <p:attrNameLst>
                                          <p:attrName>style.visibility</p:attrName>
                                        </p:attrNameLst>
                                      </p:cBhvr>
                                      <p:to>
                                        <p:strVal val="visible"/>
                                      </p:to>
                                    </p:set>
                                    <p:animEffect transition="in" filter="fade">
                                      <p:cBhvr>
                                        <p:cTn id="139"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17" grpId="0"/>
      <p:bldP spid="19" grpId="0" uiExpand="1" build="p"/>
      <p:bldP spid="10" grpId="0"/>
      <p:bldP spid="25" grpId="0"/>
      <p:bldP spid="28" grpId="0" animBg="1"/>
      <p:bldP spid="29" grpId="0" animBg="1"/>
      <p:bldP spid="30" grpId="0" animBg="1"/>
      <p:bldP spid="31" grpId="0" animBg="1"/>
      <p:bldP spid="31" grpId="1" animBg="1"/>
      <p:bldP spid="32" grpId="0"/>
      <p:bldP spid="35" grpId="0" animBg="1"/>
      <p:bldP spid="35" grpId="1" animBg="1"/>
      <p:bldP spid="2" grpId="0"/>
      <p:bldP spid="44" grpId="0" animBg="1"/>
      <p:bldP spid="51" grpId="0" uiExpand="1" build="p"/>
      <p:bldP spid="52" grpId="0" uiExpand="1" build="p"/>
      <p:bldP spid="53" grpId="0" uiExpand="1" build="p"/>
      <p:bldP spid="54" grpId="0" uiExpand="1" build="p"/>
      <p:bldP spid="26" grpId="0"/>
      <p:bldP spid="7" grpId="0" animBg="1"/>
      <p:bldP spid="33" grpId="0"/>
    </p:bldLst>
  </p:timing>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C76DEA-F650-51AB-7EE7-9B3064808EC0}"/>
              </a:ext>
            </a:extLst>
          </p:cNvPr>
          <p:cNvSpPr>
            <a:spLocks noGrp="1"/>
          </p:cNvSpPr>
          <p:nvPr>
            <p:ph type="title"/>
          </p:nvPr>
        </p:nvSpPr>
        <p:spPr/>
        <p:txBody>
          <a:bodyPr/>
          <a:lstStyle/>
          <a:p>
            <a:r>
              <a:rPr lang="en-GB" dirty="0"/>
              <a:t>Order of Operations (5)</a:t>
            </a:r>
          </a:p>
        </p:txBody>
      </p:sp>
      <p:sp>
        <p:nvSpPr>
          <p:cNvPr id="6" name="SQL">
            <a:extLst>
              <a:ext uri="{FF2B5EF4-FFF2-40B4-BE49-F238E27FC236}">
                <a16:creationId xmlns:a16="http://schemas.microsoft.com/office/drawing/2014/main" id="{C460184D-D803-F499-E82E-972FB39F9288}"/>
              </a:ext>
            </a:extLst>
          </p:cNvPr>
          <p:cNvSpPr>
            <a:spLocks noChangeArrowheads="1"/>
          </p:cNvSpPr>
          <p:nvPr/>
        </p:nvSpPr>
        <p:spPr bwMode="auto">
          <a:xfrm>
            <a:off x="619125" y="1678614"/>
            <a:ext cx="328808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name, company</a:t>
            </a:r>
          </a:p>
          <a:p>
            <a:pPr lvl="0" eaLnBrk="0" fontAlgn="base" hangingPunct="0">
              <a:spcBef>
                <a:spcPct val="0"/>
              </a:spcBef>
              <a:spcAft>
                <a:spcPct val="0"/>
              </a:spcAft>
            </a:pPr>
            <a:r>
              <a:rPr lang="en-US" altLang="en-US" sz="2000" dirty="0">
                <a:solidFill>
                  <a:srgbClr val="B2B2B2"/>
                </a:solidFill>
                <a:latin typeface="Consolas" panose="020B0609020204030204" pitchFamily="49" charset="0"/>
              </a:rPr>
              <a:t>2 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FROM</a:t>
            </a:r>
            <a:r>
              <a:rPr lang="en-US" altLang="en-US" sz="2000" dirty="0">
                <a:solidFill>
                  <a:srgbClr val="000000"/>
                </a:solidFill>
                <a:latin typeface="Consolas" panose="020B0609020204030204" pitchFamily="49" charset="0"/>
              </a:rPr>
              <a:t> Pet, Insurer</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latin typeface="Consolas" panose="020B0609020204030204" pitchFamily="49" charset="0"/>
            </a:endParaRPr>
          </a:p>
        </p:txBody>
      </p:sp>
      <p:sp>
        <p:nvSpPr>
          <p:cNvPr id="17" name="Pet">
            <a:extLst>
              <a:ext uri="{FF2B5EF4-FFF2-40B4-BE49-F238E27FC236}">
                <a16:creationId xmlns:a16="http://schemas.microsoft.com/office/drawing/2014/main" id="{37697A85-FE4A-5F49-87D3-DF60452AD532}"/>
              </a:ext>
            </a:extLst>
          </p:cNvPr>
          <p:cNvSpPr txBox="1"/>
          <p:nvPr/>
        </p:nvSpPr>
        <p:spPr>
          <a:xfrm>
            <a:off x="501700" y="2767538"/>
            <a:ext cx="1771650" cy="369332"/>
          </a:xfrm>
          <a:prstGeom prst="rect">
            <a:avLst/>
          </a:prstGeom>
          <a:noFill/>
        </p:spPr>
        <p:txBody>
          <a:bodyPr wrap="square" rtlCol="0">
            <a:spAutoFit/>
          </a:bodyPr>
          <a:lstStyle/>
          <a:p>
            <a:r>
              <a:rPr lang="en-GB" b="1" dirty="0"/>
              <a:t>Table: Pet</a:t>
            </a:r>
          </a:p>
        </p:txBody>
      </p:sp>
      <p:sp>
        <p:nvSpPr>
          <p:cNvPr id="19" name="Order">
            <a:extLst>
              <a:ext uri="{FF2B5EF4-FFF2-40B4-BE49-F238E27FC236}">
                <a16:creationId xmlns:a16="http://schemas.microsoft.com/office/drawing/2014/main" id="{39027E70-266E-C921-B96A-180149336170}"/>
              </a:ext>
            </a:extLst>
          </p:cNvPr>
          <p:cNvSpPr txBox="1"/>
          <p:nvPr/>
        </p:nvSpPr>
        <p:spPr>
          <a:xfrm>
            <a:off x="7417818" y="494976"/>
            <a:ext cx="2590417" cy="1384995"/>
          </a:xfrm>
          <a:prstGeom prst="rect">
            <a:avLst/>
          </a:prstGeom>
          <a:noFill/>
        </p:spPr>
        <p:txBody>
          <a:bodyPr wrap="square" rtlCol="0">
            <a:spAutoFit/>
          </a:bodyPr>
          <a:lstStyle/>
          <a:p>
            <a:r>
              <a:rPr lang="en-GB" sz="2800" b="1" dirty="0">
                <a:solidFill>
                  <a:srgbClr val="7030A0"/>
                </a:solidFill>
              </a:rPr>
              <a:t>Order</a:t>
            </a:r>
            <a:r>
              <a:rPr lang="en-GB" sz="2800" dirty="0">
                <a:solidFill>
                  <a:srgbClr val="7030A0"/>
                </a:solidFill>
              </a:rPr>
              <a:t>:</a:t>
            </a:r>
          </a:p>
          <a:p>
            <a:pPr lvl="1"/>
            <a:r>
              <a:rPr lang="en-GB" sz="2800" dirty="0">
                <a:solidFill>
                  <a:srgbClr val="7030A0"/>
                </a:solidFill>
              </a:rPr>
              <a:t>1.   </a:t>
            </a:r>
          </a:p>
          <a:p>
            <a:pPr lvl="1"/>
            <a:r>
              <a:rPr lang="en-GB" sz="2800" dirty="0">
                <a:solidFill>
                  <a:srgbClr val="7030A0"/>
                </a:solidFill>
              </a:rPr>
              <a:t>2.   </a:t>
            </a:r>
          </a:p>
        </p:txBody>
      </p:sp>
      <p:graphicFrame>
        <p:nvGraphicFramePr>
          <p:cNvPr id="22" name="Pet - Table">
            <a:extLst>
              <a:ext uri="{FF2B5EF4-FFF2-40B4-BE49-F238E27FC236}">
                <a16:creationId xmlns:a16="http://schemas.microsoft.com/office/drawing/2014/main" id="{E1C47C29-B1FD-7991-E626-2F12DC1AFFDE}"/>
              </a:ext>
            </a:extLst>
          </p:cNvPr>
          <p:cNvGraphicFramePr>
            <a:graphicFrameLocks noGrp="1"/>
          </p:cNvGraphicFramePr>
          <p:nvPr/>
        </p:nvGraphicFramePr>
        <p:xfrm>
          <a:off x="587423" y="3088606"/>
          <a:ext cx="2152143" cy="129540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536575">
                  <a:extLst>
                    <a:ext uri="{9D8B030D-6E8A-4147-A177-3AD203B41FA5}">
                      <a16:colId xmlns:a16="http://schemas.microsoft.com/office/drawing/2014/main" val="3258369125"/>
                    </a:ext>
                  </a:extLst>
                </a:gridCol>
                <a:gridCol w="803085">
                  <a:extLst>
                    <a:ext uri="{9D8B030D-6E8A-4147-A177-3AD203B41FA5}">
                      <a16:colId xmlns:a16="http://schemas.microsoft.com/office/drawing/2014/main" val="3431466674"/>
                    </a:ext>
                  </a:extLst>
                </a:gridCol>
              </a:tblGrid>
              <a:tr h="0">
                <a:tc>
                  <a:txBody>
                    <a:bodyPr/>
                    <a:lstStyle/>
                    <a:p>
                      <a:pPr algn="l"/>
                      <a:r>
                        <a:rPr lang="en-GB" sz="2000" b="0" i="0" dirty="0">
                          <a:solidFill>
                            <a:schemeClr val="bg1"/>
                          </a:solidFill>
                          <a:effectLst/>
                          <a:latin typeface="+mn-lt"/>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mn-lt"/>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mn-lt"/>
                          <a:cs typeface="Calibri" panose="020F0502020204030204" pitchFamily="34" charset="0"/>
                        </a:rPr>
                        <a:t>insurer</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latin typeface="+mn-lt"/>
                        </a:rPr>
                        <a:t>Cindy</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latin typeface="+mn-lt"/>
                        </a:rPr>
                        <a:t>Dog</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2</a:t>
                      </a: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latin typeface="+mn-lt"/>
                        </a:rPr>
                        <a:t>Snowy</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latin typeface="+mn-lt"/>
                        </a:rPr>
                        <a:t>Cat</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1</a:t>
                      </a: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a:solidFill>
                            <a:schemeClr val="tx1"/>
                          </a:solidFill>
                          <a:effectLst/>
                          <a:latin typeface="+mn-lt"/>
                        </a:rPr>
                        <a:t>Kitty</a:t>
                      </a:r>
                      <a:endParaRPr lang="en-GB" sz="2000" b="0" i="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a:solidFill>
                            <a:schemeClr val="tx1"/>
                          </a:solidFill>
                          <a:effectLst/>
                          <a:latin typeface="+mn-lt"/>
                        </a:rPr>
                        <a:t>Cat</a:t>
                      </a:r>
                      <a:endParaRPr lang="en-GB" sz="2000" b="0" i="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1</a:t>
                      </a:r>
                    </a:p>
                  </a:txBody>
                  <a:tcPr marL="9525" marR="9525" marT="9525" marB="9525" anchor="ctr"/>
                </a:tc>
                <a:extLst>
                  <a:ext uri="{0D108BD9-81ED-4DB2-BD59-A6C34878D82A}">
                    <a16:rowId xmlns:a16="http://schemas.microsoft.com/office/drawing/2014/main" val="812093042"/>
                  </a:ext>
                </a:extLst>
              </a:tr>
            </a:tbl>
          </a:graphicData>
        </a:graphic>
      </p:graphicFrame>
      <p:graphicFrame>
        <p:nvGraphicFramePr>
          <p:cNvPr id="23" name="Temp - Table">
            <a:extLst>
              <a:ext uri="{FF2B5EF4-FFF2-40B4-BE49-F238E27FC236}">
                <a16:creationId xmlns:a16="http://schemas.microsoft.com/office/drawing/2014/main" id="{57FE39BF-DC05-E516-87E6-26364C7BBE24}"/>
              </a:ext>
            </a:extLst>
          </p:cNvPr>
          <p:cNvGraphicFramePr>
            <a:graphicFrameLocks noGrp="1"/>
          </p:cNvGraphicFramePr>
          <p:nvPr>
            <p:extLst>
              <p:ext uri="{D42A27DB-BD31-4B8C-83A1-F6EECF244321}">
                <p14:modId xmlns:p14="http://schemas.microsoft.com/office/powerpoint/2010/main" val="1061928418"/>
              </p:ext>
            </p:extLst>
          </p:nvPr>
        </p:nvGraphicFramePr>
        <p:xfrm>
          <a:off x="4894972" y="3300868"/>
          <a:ext cx="3107310" cy="2933700"/>
        </p:xfrm>
        <a:graphic>
          <a:graphicData uri="http://schemas.openxmlformats.org/drawingml/2006/table">
            <a:tbl>
              <a:tblPr firstRow="1" bandRow="1">
                <a:tableStyleId>{5C22544A-7EE6-4342-B048-85BDC9FD1C3A}</a:tableStyleId>
              </a:tblPr>
              <a:tblGrid>
                <a:gridCol w="733616">
                  <a:extLst>
                    <a:ext uri="{9D8B030D-6E8A-4147-A177-3AD203B41FA5}">
                      <a16:colId xmlns:a16="http://schemas.microsoft.com/office/drawing/2014/main" val="2854243258"/>
                    </a:ext>
                  </a:extLst>
                </a:gridCol>
                <a:gridCol w="485775">
                  <a:extLst>
                    <a:ext uri="{9D8B030D-6E8A-4147-A177-3AD203B41FA5}">
                      <a16:colId xmlns:a16="http://schemas.microsoft.com/office/drawing/2014/main" val="3258369125"/>
                    </a:ext>
                  </a:extLst>
                </a:gridCol>
                <a:gridCol w="724091">
                  <a:extLst>
                    <a:ext uri="{9D8B030D-6E8A-4147-A177-3AD203B41FA5}">
                      <a16:colId xmlns:a16="http://schemas.microsoft.com/office/drawing/2014/main" val="3431466674"/>
                    </a:ext>
                  </a:extLst>
                </a:gridCol>
                <a:gridCol w="244475">
                  <a:extLst>
                    <a:ext uri="{9D8B030D-6E8A-4147-A177-3AD203B41FA5}">
                      <a16:colId xmlns:a16="http://schemas.microsoft.com/office/drawing/2014/main" val="994748769"/>
                    </a:ext>
                  </a:extLst>
                </a:gridCol>
                <a:gridCol w="919353">
                  <a:extLst>
                    <a:ext uri="{9D8B030D-6E8A-4147-A177-3AD203B41FA5}">
                      <a16:colId xmlns:a16="http://schemas.microsoft.com/office/drawing/2014/main" val="2564927205"/>
                    </a:ext>
                  </a:extLst>
                </a:gridCol>
              </a:tblGrid>
              <a:tr h="0">
                <a:tc>
                  <a:txBody>
                    <a:bodyPr/>
                    <a:lstStyle/>
                    <a:p>
                      <a:pPr algn="l"/>
                      <a:r>
                        <a:rPr lang="en-GB" sz="1800" b="0" i="0" dirty="0">
                          <a:solidFill>
                            <a:schemeClr val="bg1"/>
                          </a:solidFill>
                          <a:effectLst/>
                          <a:latin typeface="+mn-lt"/>
                          <a:cs typeface="Calibri" panose="020F0502020204030204" pitchFamily="34" charset="0"/>
                        </a:rPr>
                        <a:t>name</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type</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insurer</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id</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company</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Dog</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0</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Dog</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1659393023"/>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Dog</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417314715"/>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0</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777826486"/>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2705716962"/>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3471423699"/>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0</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1904147145"/>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976741720"/>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2806725075"/>
                  </a:ext>
                </a:extLst>
              </a:tr>
            </a:tbl>
          </a:graphicData>
        </a:graphic>
      </p:graphicFrame>
      <p:sp>
        <p:nvSpPr>
          <p:cNvPr id="28" name="Output - Arrow">
            <a:extLst>
              <a:ext uri="{FF2B5EF4-FFF2-40B4-BE49-F238E27FC236}">
                <a16:creationId xmlns:a16="http://schemas.microsoft.com/office/drawing/2014/main" id="{27833E17-04CE-E6AD-804B-EB51B8F41239}"/>
              </a:ext>
            </a:extLst>
          </p:cNvPr>
          <p:cNvSpPr/>
          <p:nvPr/>
        </p:nvSpPr>
        <p:spPr>
          <a:xfrm>
            <a:off x="8529428" y="4575835"/>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Name - Column">
            <a:extLst>
              <a:ext uri="{FF2B5EF4-FFF2-40B4-BE49-F238E27FC236}">
                <a16:creationId xmlns:a16="http://schemas.microsoft.com/office/drawing/2014/main" id="{9CFD6623-90F9-8CA0-585A-959ADF79ADE1}"/>
              </a:ext>
            </a:extLst>
          </p:cNvPr>
          <p:cNvSpPr/>
          <p:nvPr/>
        </p:nvSpPr>
        <p:spPr>
          <a:xfrm>
            <a:off x="4869626" y="3270149"/>
            <a:ext cx="720000" cy="299631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Age - Column">
            <a:extLst>
              <a:ext uri="{FF2B5EF4-FFF2-40B4-BE49-F238E27FC236}">
                <a16:creationId xmlns:a16="http://schemas.microsoft.com/office/drawing/2014/main" id="{F8908677-B9D0-5945-93E8-1112E85882A9}"/>
              </a:ext>
            </a:extLst>
          </p:cNvPr>
          <p:cNvSpPr/>
          <p:nvPr/>
        </p:nvSpPr>
        <p:spPr>
          <a:xfrm>
            <a:off x="7074196" y="3267983"/>
            <a:ext cx="928086" cy="299631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Name - Arrow">
            <a:extLst>
              <a:ext uri="{FF2B5EF4-FFF2-40B4-BE49-F238E27FC236}">
                <a16:creationId xmlns:a16="http://schemas.microsoft.com/office/drawing/2014/main" id="{74743580-1BBD-44D1-9B4B-3FCD69A573CA}"/>
              </a:ext>
            </a:extLst>
          </p:cNvPr>
          <p:cNvCxnSpPr>
            <a:cxnSpLocks/>
            <a:endCxn id="29" idx="0"/>
          </p:cNvCxnSpPr>
          <p:nvPr/>
        </p:nvCxnSpPr>
        <p:spPr>
          <a:xfrm flipH="1">
            <a:off x="5229626" y="2704073"/>
            <a:ext cx="1164571" cy="566076"/>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 name="Age - Arrow">
            <a:extLst>
              <a:ext uri="{FF2B5EF4-FFF2-40B4-BE49-F238E27FC236}">
                <a16:creationId xmlns:a16="http://schemas.microsoft.com/office/drawing/2014/main" id="{4A59694F-BFA9-47E0-AA51-53E4E5936D1D}"/>
              </a:ext>
            </a:extLst>
          </p:cNvPr>
          <p:cNvCxnSpPr>
            <a:cxnSpLocks/>
            <a:endCxn id="30" idx="0"/>
          </p:cNvCxnSpPr>
          <p:nvPr/>
        </p:nvCxnSpPr>
        <p:spPr>
          <a:xfrm>
            <a:off x="6394197" y="2704073"/>
            <a:ext cx="1144042" cy="563910"/>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2" name="Insurer">
            <a:extLst>
              <a:ext uri="{FF2B5EF4-FFF2-40B4-BE49-F238E27FC236}">
                <a16:creationId xmlns:a16="http://schemas.microsoft.com/office/drawing/2014/main" id="{94BF93ED-DCBC-929A-3978-645514F34654}"/>
              </a:ext>
            </a:extLst>
          </p:cNvPr>
          <p:cNvSpPr txBox="1"/>
          <p:nvPr/>
        </p:nvSpPr>
        <p:spPr>
          <a:xfrm>
            <a:off x="501700" y="4793841"/>
            <a:ext cx="1771650" cy="369332"/>
          </a:xfrm>
          <a:prstGeom prst="rect">
            <a:avLst/>
          </a:prstGeom>
          <a:noFill/>
        </p:spPr>
        <p:txBody>
          <a:bodyPr wrap="square" rtlCol="0">
            <a:spAutoFit/>
          </a:bodyPr>
          <a:lstStyle/>
          <a:p>
            <a:r>
              <a:rPr lang="en-GB" b="1" dirty="0"/>
              <a:t>Table: Insurer</a:t>
            </a:r>
          </a:p>
        </p:txBody>
      </p:sp>
      <p:graphicFrame>
        <p:nvGraphicFramePr>
          <p:cNvPr id="3" name="Pet - Insurer">
            <a:extLst>
              <a:ext uri="{FF2B5EF4-FFF2-40B4-BE49-F238E27FC236}">
                <a16:creationId xmlns:a16="http://schemas.microsoft.com/office/drawing/2014/main" id="{DED03D99-A09A-68ED-29D5-FF622C9224CD}"/>
              </a:ext>
            </a:extLst>
          </p:cNvPr>
          <p:cNvGraphicFramePr>
            <a:graphicFrameLocks noGrp="1"/>
          </p:cNvGraphicFramePr>
          <p:nvPr/>
        </p:nvGraphicFramePr>
        <p:xfrm>
          <a:off x="587423" y="5114909"/>
          <a:ext cx="1285431" cy="1295400"/>
        </p:xfrm>
        <a:graphic>
          <a:graphicData uri="http://schemas.openxmlformats.org/drawingml/2006/table">
            <a:tbl>
              <a:tblPr firstRow="1" bandRow="1">
                <a:tableStyleId>{5C22544A-7EE6-4342-B048-85BDC9FD1C3A}</a:tableStyleId>
              </a:tblPr>
              <a:tblGrid>
                <a:gridCol w="268288">
                  <a:extLst>
                    <a:ext uri="{9D8B030D-6E8A-4147-A177-3AD203B41FA5}">
                      <a16:colId xmlns:a16="http://schemas.microsoft.com/office/drawing/2014/main" val="2854243258"/>
                    </a:ext>
                  </a:extLst>
                </a:gridCol>
                <a:gridCol w="1017143">
                  <a:extLst>
                    <a:ext uri="{9D8B030D-6E8A-4147-A177-3AD203B41FA5}">
                      <a16:colId xmlns:a16="http://schemas.microsoft.com/office/drawing/2014/main" val="3258369125"/>
                    </a:ext>
                  </a:extLst>
                </a:gridCol>
              </a:tblGrid>
              <a:tr h="0">
                <a:tc>
                  <a:txBody>
                    <a:bodyPr/>
                    <a:lstStyle/>
                    <a:p>
                      <a:pPr algn="l"/>
                      <a:r>
                        <a:rPr lang="en-GB" sz="2000" b="0" i="0" dirty="0">
                          <a:solidFill>
                            <a:schemeClr val="bg1"/>
                          </a:solidFill>
                          <a:effectLst/>
                          <a:latin typeface="+mn-lt"/>
                          <a:cs typeface="Calibri" panose="020F0502020204030204" pitchFamily="34" charset="0"/>
                        </a:rPr>
                        <a:t>id</a:t>
                      </a:r>
                    </a:p>
                  </a:txBody>
                  <a:tcPr marL="9525" marR="9525" marT="9525" marB="9525" anchor="ctr"/>
                </a:tc>
                <a:tc>
                  <a:txBody>
                    <a:bodyPr/>
                    <a:lstStyle/>
                    <a:p>
                      <a:pPr algn="l"/>
                      <a:r>
                        <a:rPr lang="en-GB" sz="2000" b="0" i="0" dirty="0">
                          <a:solidFill>
                            <a:schemeClr val="bg1"/>
                          </a:solidFill>
                          <a:effectLst/>
                          <a:latin typeface="+mn-lt"/>
                          <a:cs typeface="Calibri" panose="020F0502020204030204" pitchFamily="34" charset="0"/>
                        </a:rPr>
                        <a:t>company</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latin typeface="+mn-lt"/>
                        </a:rPr>
                        <a:t>0</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latin typeface="+mn-lt"/>
                        </a:rPr>
                        <a:t>1</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latin typeface="+mn-lt"/>
                        </a:rPr>
                        <a:t>2</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err="1">
                          <a:solidFill>
                            <a:schemeClr val="tx1"/>
                          </a:solidFill>
                          <a:effectLst/>
                          <a:latin typeface="+mn-lt"/>
                          <a:cs typeface="Calibri" panose="020F0502020204030204" pitchFamily="34" charset="0"/>
                        </a:rPr>
                        <a:t>PetSure</a:t>
                      </a:r>
                      <a:endParaRPr lang="en-GB" sz="20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bl>
          </a:graphicData>
        </a:graphic>
      </p:graphicFrame>
      <p:graphicFrame>
        <p:nvGraphicFramePr>
          <p:cNvPr id="43" name="Output - Table">
            <a:extLst>
              <a:ext uri="{FF2B5EF4-FFF2-40B4-BE49-F238E27FC236}">
                <a16:creationId xmlns:a16="http://schemas.microsoft.com/office/drawing/2014/main" id="{568C7E54-FFF5-6232-653C-F1481651CB4C}"/>
              </a:ext>
            </a:extLst>
          </p:cNvPr>
          <p:cNvGraphicFramePr>
            <a:graphicFrameLocks noGrp="1"/>
          </p:cNvGraphicFramePr>
          <p:nvPr/>
        </p:nvGraphicFramePr>
        <p:xfrm>
          <a:off x="9595568" y="3299781"/>
          <a:ext cx="1652969" cy="2933700"/>
        </p:xfrm>
        <a:graphic>
          <a:graphicData uri="http://schemas.openxmlformats.org/drawingml/2006/table">
            <a:tbl>
              <a:tblPr firstRow="1" bandRow="1">
                <a:tableStyleId>{5C22544A-7EE6-4342-B048-85BDC9FD1C3A}</a:tableStyleId>
              </a:tblPr>
              <a:tblGrid>
                <a:gridCol w="733616">
                  <a:extLst>
                    <a:ext uri="{9D8B030D-6E8A-4147-A177-3AD203B41FA5}">
                      <a16:colId xmlns:a16="http://schemas.microsoft.com/office/drawing/2014/main" val="2854243258"/>
                    </a:ext>
                  </a:extLst>
                </a:gridCol>
                <a:gridCol w="919353">
                  <a:extLst>
                    <a:ext uri="{9D8B030D-6E8A-4147-A177-3AD203B41FA5}">
                      <a16:colId xmlns:a16="http://schemas.microsoft.com/office/drawing/2014/main" val="2564927205"/>
                    </a:ext>
                  </a:extLst>
                </a:gridCol>
              </a:tblGrid>
              <a:tr h="0">
                <a:tc>
                  <a:txBody>
                    <a:bodyPr/>
                    <a:lstStyle/>
                    <a:p>
                      <a:pPr algn="l"/>
                      <a:r>
                        <a:rPr lang="en-GB" sz="1800" b="0" i="0" dirty="0">
                          <a:solidFill>
                            <a:schemeClr val="bg1"/>
                          </a:solidFill>
                          <a:effectLst/>
                          <a:latin typeface="+mn-lt"/>
                          <a:cs typeface="Calibri" panose="020F0502020204030204" pitchFamily="34" charset="0"/>
                        </a:rPr>
                        <a:t>name</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company</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1659393023"/>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417314715"/>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777826486"/>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2705716962"/>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3471423699"/>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1904147145"/>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976741720"/>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2806725075"/>
                  </a:ext>
                </a:extLst>
              </a:tr>
            </a:tbl>
          </a:graphicData>
        </a:graphic>
      </p:graphicFrame>
      <p:sp>
        <p:nvSpPr>
          <p:cNvPr id="44" name="From - Brace">
            <a:extLst>
              <a:ext uri="{FF2B5EF4-FFF2-40B4-BE49-F238E27FC236}">
                <a16:creationId xmlns:a16="http://schemas.microsoft.com/office/drawing/2014/main" id="{4AB582EA-E161-553B-E130-D03025BDF6D6}"/>
              </a:ext>
            </a:extLst>
          </p:cNvPr>
          <p:cNvSpPr/>
          <p:nvPr/>
        </p:nvSpPr>
        <p:spPr>
          <a:xfrm>
            <a:off x="3443509" y="3460080"/>
            <a:ext cx="594061" cy="2495550"/>
          </a:xfrm>
          <a:prstGeom prst="rightBrace">
            <a:avLst>
              <a:gd name="adj1" fmla="val 56609"/>
              <a:gd name="adj2" fmla="val 50000"/>
            </a:avLst>
          </a:prstGeom>
          <a:noFill/>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1579592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20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up)">
                                      <p:cBhvr>
                                        <p:cTn id="20" dur="2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wipe(left)">
                                      <p:cBhvr>
                                        <p:cTn id="25" dur="1500"/>
                                        <p:tgtEl>
                                          <p:spTgt spid="6">
                                            <p:txEl>
                                              <p:pRg st="0" end="0"/>
                                            </p:txEl>
                                          </p:spTgt>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animEffect transition="in" filter="wipe(left)">
                                      <p:cBhvr>
                                        <p:cTn id="29" dur="1500"/>
                                        <p:tgtEl>
                                          <p:spTgt spid="6">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9">
                                            <p:txEl>
                                              <p:pRg st="0" end="0"/>
                                            </p:txEl>
                                          </p:spTgt>
                                        </p:tgtEl>
                                        <p:attrNameLst>
                                          <p:attrName>style.visibility</p:attrName>
                                        </p:attrNameLst>
                                      </p:cBhvr>
                                      <p:to>
                                        <p:strVal val="visible"/>
                                      </p:to>
                                    </p:set>
                                    <p:animEffect transition="in" filter="wipe(left)">
                                      <p:cBhvr>
                                        <p:cTn id="34" dur="1000"/>
                                        <p:tgtEl>
                                          <p:spTgt spid="19">
                                            <p:txEl>
                                              <p:pRg st="0" end="0"/>
                                            </p:txEl>
                                          </p:spTgt>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19">
                                            <p:txEl>
                                              <p:pRg st="1" end="1"/>
                                            </p:txEl>
                                          </p:spTgt>
                                        </p:tgtEl>
                                        <p:attrNameLst>
                                          <p:attrName>style.visibility</p:attrName>
                                        </p:attrNameLst>
                                      </p:cBhvr>
                                      <p:to>
                                        <p:strVal val="visible"/>
                                      </p:to>
                                    </p:set>
                                    <p:animEffect transition="in" filter="wipe(left)">
                                      <p:cBhvr>
                                        <p:cTn id="38" dur="1000"/>
                                        <p:tgtEl>
                                          <p:spTgt spid="19">
                                            <p:txEl>
                                              <p:pRg st="1" end="1"/>
                                            </p:txEl>
                                          </p:spTgt>
                                        </p:tgtEl>
                                      </p:cBhvr>
                                    </p:animEffect>
                                  </p:childTnLst>
                                </p:cTn>
                              </p:par>
                            </p:childTnLst>
                          </p:cTn>
                        </p:par>
                        <p:par>
                          <p:cTn id="39" fill="hold">
                            <p:stCondLst>
                              <p:cond delay="2000"/>
                            </p:stCondLst>
                            <p:childTnLst>
                              <p:par>
                                <p:cTn id="40" presetID="22" presetClass="entr" presetSubtype="8" fill="hold" grpId="0" nodeType="afterEffect">
                                  <p:stCondLst>
                                    <p:cond delay="0"/>
                                  </p:stCondLst>
                                  <p:childTnLst>
                                    <p:set>
                                      <p:cBhvr>
                                        <p:cTn id="41" dur="1" fill="hold">
                                          <p:stCondLst>
                                            <p:cond delay="0"/>
                                          </p:stCondLst>
                                        </p:cTn>
                                        <p:tgtEl>
                                          <p:spTgt spid="19">
                                            <p:txEl>
                                              <p:pRg st="2" end="2"/>
                                            </p:txEl>
                                          </p:spTgt>
                                        </p:tgtEl>
                                        <p:attrNameLst>
                                          <p:attrName>style.visibility</p:attrName>
                                        </p:attrNameLst>
                                      </p:cBhvr>
                                      <p:to>
                                        <p:strVal val="visible"/>
                                      </p:to>
                                    </p:set>
                                    <p:animEffect transition="in" filter="wipe(left)">
                                      <p:cBhvr>
                                        <p:cTn id="42" dur="1000"/>
                                        <p:tgtEl>
                                          <p:spTgt spid="19">
                                            <p:txEl>
                                              <p:pRg st="2" end="2"/>
                                            </p:txEl>
                                          </p:spTgt>
                                        </p:tgtEl>
                                      </p:cBhvr>
                                    </p:animEffect>
                                  </p:childTnLst>
                                </p:cTn>
                              </p:par>
                            </p:childTnLst>
                          </p:cTn>
                        </p:par>
                        <p:par>
                          <p:cTn id="43" fill="hold">
                            <p:stCondLst>
                              <p:cond delay="3000"/>
                            </p:stCondLst>
                            <p:childTnLst>
                              <p:par>
                                <p:cTn id="44" presetID="22" presetClass="entr" presetSubtype="8" fill="hold" grpId="0" nodeType="after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wipe(left)">
                                      <p:cBhvr>
                                        <p:cTn id="46" dur="1000"/>
                                        <p:tgtEl>
                                          <p:spTgt spid="4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wipe(left)">
                                      <p:cBhvr>
                                        <p:cTn id="51" dur="2000"/>
                                        <p:tgtEl>
                                          <p:spTgt spid="23"/>
                                        </p:tgtEl>
                                      </p:cBhvr>
                                    </p:animEffect>
                                  </p:childTnLst>
                                </p:cTn>
                              </p:par>
                            </p:childTnLst>
                          </p:cTn>
                        </p:par>
                        <p:par>
                          <p:cTn id="52" fill="hold">
                            <p:stCondLst>
                              <p:cond delay="2000"/>
                            </p:stCondLst>
                            <p:childTnLst>
                              <p:par>
                                <p:cTn id="53" presetID="22" presetClass="entr" presetSubtype="1" fill="hold" nodeType="after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up)">
                                      <p:cBhvr>
                                        <p:cTn id="55" dur="500"/>
                                        <p:tgtEl>
                                          <p:spTgt spid="5"/>
                                        </p:tgtEl>
                                      </p:cBhvr>
                                    </p:animEffect>
                                  </p:childTnLst>
                                </p:cTn>
                              </p:par>
                            </p:childTnLst>
                          </p:cTn>
                        </p:par>
                        <p:par>
                          <p:cTn id="56" fill="hold">
                            <p:stCondLst>
                              <p:cond delay="2500"/>
                            </p:stCondLst>
                            <p:childTnLst>
                              <p:par>
                                <p:cTn id="57" presetID="22" presetClass="entr" presetSubtype="1"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wipe(up)">
                                      <p:cBhvr>
                                        <p:cTn id="59" dur="1500"/>
                                        <p:tgtEl>
                                          <p:spTgt spid="29"/>
                                        </p:tgtEl>
                                      </p:cBhvr>
                                    </p:animEffect>
                                  </p:childTnLst>
                                </p:cTn>
                              </p:par>
                            </p:childTnLst>
                          </p:cTn>
                        </p:par>
                        <p:par>
                          <p:cTn id="60" fill="hold">
                            <p:stCondLst>
                              <p:cond delay="4000"/>
                            </p:stCondLst>
                            <p:childTnLst>
                              <p:par>
                                <p:cTn id="61" presetID="22" presetClass="entr" presetSubtype="1" fill="hold" nodeType="after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wipe(up)">
                                      <p:cBhvr>
                                        <p:cTn id="63" dur="500"/>
                                        <p:tgtEl>
                                          <p:spTgt spid="9"/>
                                        </p:tgtEl>
                                      </p:cBhvr>
                                    </p:animEffect>
                                  </p:childTnLst>
                                </p:cTn>
                              </p:par>
                            </p:childTnLst>
                          </p:cTn>
                        </p:par>
                        <p:par>
                          <p:cTn id="64" fill="hold">
                            <p:stCondLst>
                              <p:cond delay="4500"/>
                            </p:stCondLst>
                            <p:childTnLst>
                              <p:par>
                                <p:cTn id="65" presetID="22" presetClass="entr" presetSubtype="1" fill="hold" grpId="0" nodeType="after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wipe(up)">
                                      <p:cBhvr>
                                        <p:cTn id="67" dur="1500"/>
                                        <p:tgtEl>
                                          <p:spTgt spid="30"/>
                                        </p:tgtEl>
                                      </p:cBhvr>
                                    </p:animEffect>
                                  </p:childTnLst>
                                </p:cTn>
                              </p:par>
                            </p:childTnLst>
                          </p:cTn>
                        </p:par>
                        <p:par>
                          <p:cTn id="68" fill="hold">
                            <p:stCondLst>
                              <p:cond delay="6000"/>
                            </p:stCondLst>
                            <p:childTnLst>
                              <p:par>
                                <p:cTn id="69" presetID="22" presetClass="entr" presetSubtype="8" fill="hold" grpId="0" nodeType="after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71" dur="1000"/>
                                        <p:tgtEl>
                                          <p:spTgt spid="28"/>
                                        </p:tgtEl>
                                      </p:cBhvr>
                                    </p:animEffect>
                                  </p:childTnLst>
                                </p:cTn>
                              </p:par>
                            </p:childTnLst>
                          </p:cTn>
                        </p:par>
                        <p:par>
                          <p:cTn id="72" fill="hold">
                            <p:stCondLst>
                              <p:cond delay="7000"/>
                            </p:stCondLst>
                            <p:childTnLst>
                              <p:par>
                                <p:cTn id="73" presetID="22" presetClass="entr" presetSubtype="8" fill="hold" nodeType="after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wipe(left)">
                                      <p:cBhvr>
                                        <p:cTn id="75" dur="2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17" grpId="0"/>
      <p:bldP spid="19" grpId="0" uiExpand="1" build="p"/>
      <p:bldP spid="28" grpId="0" animBg="1"/>
      <p:bldP spid="29" grpId="0" animBg="1"/>
      <p:bldP spid="30" grpId="0" animBg="1"/>
      <p:bldP spid="2" grpId="0"/>
      <p:bldP spid="44"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C76DEA-F650-51AB-7EE7-9B3064808EC0}"/>
              </a:ext>
            </a:extLst>
          </p:cNvPr>
          <p:cNvSpPr>
            <a:spLocks noGrp="1"/>
          </p:cNvSpPr>
          <p:nvPr>
            <p:ph type="title"/>
          </p:nvPr>
        </p:nvSpPr>
        <p:spPr/>
        <p:txBody>
          <a:bodyPr/>
          <a:lstStyle/>
          <a:p>
            <a:r>
              <a:rPr lang="en-GB" dirty="0"/>
              <a:t>Order of Operations (6)</a:t>
            </a:r>
          </a:p>
        </p:txBody>
      </p:sp>
      <p:sp>
        <p:nvSpPr>
          <p:cNvPr id="6" name="SQL">
            <a:extLst>
              <a:ext uri="{FF2B5EF4-FFF2-40B4-BE49-F238E27FC236}">
                <a16:creationId xmlns:a16="http://schemas.microsoft.com/office/drawing/2014/main" id="{C460184D-D803-F499-E82E-972FB39F9288}"/>
              </a:ext>
            </a:extLst>
          </p:cNvPr>
          <p:cNvSpPr>
            <a:spLocks noChangeArrowheads="1"/>
          </p:cNvSpPr>
          <p:nvPr/>
        </p:nvSpPr>
        <p:spPr bwMode="auto">
          <a:xfrm>
            <a:off x="619125" y="1524726"/>
            <a:ext cx="512191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name, company</a:t>
            </a:r>
          </a:p>
          <a:p>
            <a:pPr lvl="0" eaLnBrk="0" fontAlgn="base" hangingPunct="0">
              <a:spcBef>
                <a:spcPct val="0"/>
              </a:spcBef>
              <a:spcAft>
                <a:spcPct val="0"/>
              </a:spcAft>
            </a:pPr>
            <a:r>
              <a:rPr lang="en-US" altLang="en-US" sz="2000" dirty="0">
                <a:solidFill>
                  <a:srgbClr val="B2B2B2"/>
                </a:solidFill>
                <a:latin typeface="Consolas" panose="020B0609020204030204" pitchFamily="49" charset="0"/>
              </a:rPr>
              <a:t>2 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FROM</a:t>
            </a:r>
            <a:r>
              <a:rPr lang="en-US" altLang="en-US" sz="2000" dirty="0">
                <a:solidFill>
                  <a:srgbClr val="000000"/>
                </a:solidFill>
                <a:latin typeface="Consolas" panose="020B0609020204030204" pitchFamily="49" charset="0"/>
              </a:rPr>
              <a:t> Pet, Insurer</a:t>
            </a:r>
          </a:p>
          <a:p>
            <a:pPr eaLnBrk="0" fontAlgn="base" hangingPunct="0">
              <a:spcBef>
                <a:spcPct val="0"/>
              </a:spcBef>
              <a:spcAft>
                <a:spcPct val="0"/>
              </a:spcAft>
            </a:pPr>
            <a:r>
              <a:rPr lang="en-US" altLang="en-US" sz="2000" dirty="0">
                <a:solidFill>
                  <a:srgbClr val="B2B2B2"/>
                </a:solidFill>
                <a:latin typeface="Consolas" panose="020B0609020204030204" pitchFamily="49" charset="0"/>
              </a:rPr>
              <a:t>3 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WHERE</a:t>
            </a:r>
            <a:r>
              <a:rPr lang="en-US" altLang="en-US" sz="2000" dirty="0">
                <a:solidFill>
                  <a:srgbClr val="000000"/>
                </a:solidFill>
                <a:latin typeface="Consolas" panose="020B0609020204030204" pitchFamily="49" charset="0"/>
              </a:rPr>
              <a:t> </a:t>
            </a:r>
            <a:r>
              <a:rPr lang="en-US" altLang="en-US" sz="2000" dirty="0" err="1">
                <a:solidFill>
                  <a:srgbClr val="000000"/>
                </a:solidFill>
                <a:latin typeface="Consolas" panose="020B0609020204030204" pitchFamily="49" charset="0"/>
              </a:rPr>
              <a:t>Pet.insurer</a:t>
            </a:r>
            <a:r>
              <a:rPr lang="en-US" altLang="en-US" sz="2000" dirty="0">
                <a:solidFill>
                  <a:srgbClr val="000000"/>
                </a:solidFill>
                <a:latin typeface="Consolas" panose="020B0609020204030204" pitchFamily="49" charset="0"/>
              </a:rPr>
              <a:t> = Insurer.id;</a:t>
            </a:r>
            <a:endParaRPr lang="en-US" altLang="en-US" sz="2000" dirty="0">
              <a:latin typeface="Consolas" panose="020B0609020204030204" pitchFamily="49" charset="0"/>
            </a:endParaRPr>
          </a:p>
        </p:txBody>
      </p:sp>
      <p:sp>
        <p:nvSpPr>
          <p:cNvPr id="17" name="Pet">
            <a:extLst>
              <a:ext uri="{FF2B5EF4-FFF2-40B4-BE49-F238E27FC236}">
                <a16:creationId xmlns:a16="http://schemas.microsoft.com/office/drawing/2014/main" id="{37697A85-FE4A-5F49-87D3-DF60452AD532}"/>
              </a:ext>
            </a:extLst>
          </p:cNvPr>
          <p:cNvSpPr txBox="1"/>
          <p:nvPr/>
        </p:nvSpPr>
        <p:spPr>
          <a:xfrm>
            <a:off x="501700" y="3001464"/>
            <a:ext cx="1771650" cy="369332"/>
          </a:xfrm>
          <a:prstGeom prst="rect">
            <a:avLst/>
          </a:prstGeom>
          <a:noFill/>
        </p:spPr>
        <p:txBody>
          <a:bodyPr wrap="square" rtlCol="0">
            <a:spAutoFit/>
          </a:bodyPr>
          <a:lstStyle/>
          <a:p>
            <a:r>
              <a:rPr lang="en-GB" b="1" dirty="0"/>
              <a:t>Table: Pet</a:t>
            </a:r>
          </a:p>
        </p:txBody>
      </p:sp>
      <p:sp>
        <p:nvSpPr>
          <p:cNvPr id="19" name="Order">
            <a:extLst>
              <a:ext uri="{FF2B5EF4-FFF2-40B4-BE49-F238E27FC236}">
                <a16:creationId xmlns:a16="http://schemas.microsoft.com/office/drawing/2014/main" id="{39027E70-266E-C921-B96A-180149336170}"/>
              </a:ext>
            </a:extLst>
          </p:cNvPr>
          <p:cNvSpPr txBox="1"/>
          <p:nvPr/>
        </p:nvSpPr>
        <p:spPr>
          <a:xfrm>
            <a:off x="7417818" y="494976"/>
            <a:ext cx="2590417" cy="1815882"/>
          </a:xfrm>
          <a:prstGeom prst="rect">
            <a:avLst/>
          </a:prstGeom>
          <a:noFill/>
        </p:spPr>
        <p:txBody>
          <a:bodyPr wrap="square" rtlCol="0">
            <a:spAutoFit/>
          </a:bodyPr>
          <a:lstStyle/>
          <a:p>
            <a:r>
              <a:rPr lang="en-GB" sz="2800" b="1" dirty="0">
                <a:solidFill>
                  <a:srgbClr val="7030A0"/>
                </a:solidFill>
              </a:rPr>
              <a:t>Order</a:t>
            </a:r>
            <a:r>
              <a:rPr lang="en-GB" sz="2800" dirty="0">
                <a:solidFill>
                  <a:srgbClr val="7030A0"/>
                </a:solidFill>
              </a:rPr>
              <a:t>:</a:t>
            </a:r>
          </a:p>
          <a:p>
            <a:pPr lvl="1"/>
            <a:r>
              <a:rPr lang="en-GB" sz="2800" dirty="0">
                <a:solidFill>
                  <a:srgbClr val="7030A0"/>
                </a:solidFill>
              </a:rPr>
              <a:t>1.  FROM</a:t>
            </a:r>
          </a:p>
          <a:p>
            <a:pPr lvl="1"/>
            <a:r>
              <a:rPr lang="en-GB" sz="2800" dirty="0">
                <a:solidFill>
                  <a:srgbClr val="7030A0"/>
                </a:solidFill>
              </a:rPr>
              <a:t>2.  WHERE</a:t>
            </a:r>
          </a:p>
          <a:p>
            <a:pPr lvl="1"/>
            <a:r>
              <a:rPr lang="en-GB" sz="2800" dirty="0">
                <a:solidFill>
                  <a:srgbClr val="7030A0"/>
                </a:solidFill>
              </a:rPr>
              <a:t>3.  SELECT</a:t>
            </a:r>
          </a:p>
        </p:txBody>
      </p:sp>
      <p:sp>
        <p:nvSpPr>
          <p:cNvPr id="10" name="From">
            <a:extLst>
              <a:ext uri="{FF2B5EF4-FFF2-40B4-BE49-F238E27FC236}">
                <a16:creationId xmlns:a16="http://schemas.microsoft.com/office/drawing/2014/main" id="{BC0A24A5-7704-6A36-CD80-4ED2C2F64BD2}"/>
              </a:ext>
            </a:extLst>
          </p:cNvPr>
          <p:cNvSpPr txBox="1"/>
          <p:nvPr/>
        </p:nvSpPr>
        <p:spPr>
          <a:xfrm>
            <a:off x="3251923" y="2747055"/>
            <a:ext cx="850960" cy="369332"/>
          </a:xfrm>
          <a:prstGeom prst="rect">
            <a:avLst/>
          </a:prstGeom>
          <a:noFill/>
        </p:spPr>
        <p:txBody>
          <a:bodyPr wrap="square" rtlCol="0">
            <a:spAutoFit/>
          </a:bodyPr>
          <a:lstStyle/>
          <a:p>
            <a:r>
              <a:rPr lang="en-GB" b="1" dirty="0"/>
              <a:t>FROM</a:t>
            </a:r>
          </a:p>
        </p:txBody>
      </p:sp>
      <p:graphicFrame>
        <p:nvGraphicFramePr>
          <p:cNvPr id="22" name="Pet - Table">
            <a:extLst>
              <a:ext uri="{FF2B5EF4-FFF2-40B4-BE49-F238E27FC236}">
                <a16:creationId xmlns:a16="http://schemas.microsoft.com/office/drawing/2014/main" id="{E1C47C29-B1FD-7991-E626-2F12DC1AFFDE}"/>
              </a:ext>
            </a:extLst>
          </p:cNvPr>
          <p:cNvGraphicFramePr>
            <a:graphicFrameLocks noGrp="1"/>
          </p:cNvGraphicFramePr>
          <p:nvPr>
            <p:extLst>
              <p:ext uri="{D42A27DB-BD31-4B8C-83A1-F6EECF244321}">
                <p14:modId xmlns:p14="http://schemas.microsoft.com/office/powerpoint/2010/main" val="3414445329"/>
              </p:ext>
            </p:extLst>
          </p:nvPr>
        </p:nvGraphicFramePr>
        <p:xfrm>
          <a:off x="587423" y="3322532"/>
          <a:ext cx="2152143" cy="129540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536575">
                  <a:extLst>
                    <a:ext uri="{9D8B030D-6E8A-4147-A177-3AD203B41FA5}">
                      <a16:colId xmlns:a16="http://schemas.microsoft.com/office/drawing/2014/main" val="3258369125"/>
                    </a:ext>
                  </a:extLst>
                </a:gridCol>
                <a:gridCol w="803085">
                  <a:extLst>
                    <a:ext uri="{9D8B030D-6E8A-4147-A177-3AD203B41FA5}">
                      <a16:colId xmlns:a16="http://schemas.microsoft.com/office/drawing/2014/main" val="3431466674"/>
                    </a:ext>
                  </a:extLst>
                </a:gridCol>
              </a:tblGrid>
              <a:tr h="0">
                <a:tc>
                  <a:txBody>
                    <a:bodyPr/>
                    <a:lstStyle/>
                    <a:p>
                      <a:pPr algn="l"/>
                      <a:r>
                        <a:rPr lang="en-GB" sz="2000" b="0" i="0" dirty="0">
                          <a:solidFill>
                            <a:schemeClr val="bg1"/>
                          </a:solidFill>
                          <a:effectLst/>
                          <a:latin typeface="+mn-lt"/>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mn-lt"/>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mn-lt"/>
                          <a:cs typeface="Calibri" panose="020F0502020204030204" pitchFamily="34" charset="0"/>
                        </a:rPr>
                        <a:t>insurer</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latin typeface="+mn-lt"/>
                        </a:rPr>
                        <a:t>Cindy</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latin typeface="+mn-lt"/>
                        </a:rPr>
                        <a:t>Dog</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2</a:t>
                      </a: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latin typeface="+mn-lt"/>
                        </a:rPr>
                        <a:t>Snowy</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latin typeface="+mn-lt"/>
                        </a:rPr>
                        <a:t>Cat</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1</a:t>
                      </a: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a:solidFill>
                            <a:schemeClr val="tx1"/>
                          </a:solidFill>
                          <a:effectLst/>
                          <a:latin typeface="+mn-lt"/>
                        </a:rPr>
                        <a:t>Kitty</a:t>
                      </a:r>
                      <a:endParaRPr lang="en-GB" sz="2000" b="0" i="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a:solidFill>
                            <a:schemeClr val="tx1"/>
                          </a:solidFill>
                          <a:effectLst/>
                          <a:latin typeface="+mn-lt"/>
                        </a:rPr>
                        <a:t>Cat</a:t>
                      </a:r>
                      <a:endParaRPr lang="en-GB" sz="2000" b="0" i="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1</a:t>
                      </a:r>
                    </a:p>
                  </a:txBody>
                  <a:tcPr marL="9525" marR="9525" marT="9525" marB="9525" anchor="ctr"/>
                </a:tc>
                <a:extLst>
                  <a:ext uri="{0D108BD9-81ED-4DB2-BD59-A6C34878D82A}">
                    <a16:rowId xmlns:a16="http://schemas.microsoft.com/office/drawing/2014/main" val="812093042"/>
                  </a:ext>
                </a:extLst>
              </a:tr>
            </a:tbl>
          </a:graphicData>
        </a:graphic>
      </p:graphicFrame>
      <p:graphicFrame>
        <p:nvGraphicFramePr>
          <p:cNvPr id="23" name="Temp - Table">
            <a:extLst>
              <a:ext uri="{FF2B5EF4-FFF2-40B4-BE49-F238E27FC236}">
                <a16:creationId xmlns:a16="http://schemas.microsoft.com/office/drawing/2014/main" id="{57FE39BF-DC05-E516-87E6-26364C7BBE24}"/>
              </a:ext>
            </a:extLst>
          </p:cNvPr>
          <p:cNvGraphicFramePr>
            <a:graphicFrameLocks noGrp="1"/>
          </p:cNvGraphicFramePr>
          <p:nvPr>
            <p:extLst>
              <p:ext uri="{D42A27DB-BD31-4B8C-83A1-F6EECF244321}">
                <p14:modId xmlns:p14="http://schemas.microsoft.com/office/powerpoint/2010/main" val="4118541189"/>
              </p:ext>
            </p:extLst>
          </p:nvPr>
        </p:nvGraphicFramePr>
        <p:xfrm>
          <a:off x="4820545" y="3471000"/>
          <a:ext cx="3107310" cy="2933700"/>
        </p:xfrm>
        <a:graphic>
          <a:graphicData uri="http://schemas.openxmlformats.org/drawingml/2006/table">
            <a:tbl>
              <a:tblPr firstRow="1" bandRow="1">
                <a:tableStyleId>{5C22544A-7EE6-4342-B048-85BDC9FD1C3A}</a:tableStyleId>
              </a:tblPr>
              <a:tblGrid>
                <a:gridCol w="733616">
                  <a:extLst>
                    <a:ext uri="{9D8B030D-6E8A-4147-A177-3AD203B41FA5}">
                      <a16:colId xmlns:a16="http://schemas.microsoft.com/office/drawing/2014/main" val="2854243258"/>
                    </a:ext>
                  </a:extLst>
                </a:gridCol>
                <a:gridCol w="485775">
                  <a:extLst>
                    <a:ext uri="{9D8B030D-6E8A-4147-A177-3AD203B41FA5}">
                      <a16:colId xmlns:a16="http://schemas.microsoft.com/office/drawing/2014/main" val="3258369125"/>
                    </a:ext>
                  </a:extLst>
                </a:gridCol>
                <a:gridCol w="724091">
                  <a:extLst>
                    <a:ext uri="{9D8B030D-6E8A-4147-A177-3AD203B41FA5}">
                      <a16:colId xmlns:a16="http://schemas.microsoft.com/office/drawing/2014/main" val="3431466674"/>
                    </a:ext>
                  </a:extLst>
                </a:gridCol>
                <a:gridCol w="244475">
                  <a:extLst>
                    <a:ext uri="{9D8B030D-6E8A-4147-A177-3AD203B41FA5}">
                      <a16:colId xmlns:a16="http://schemas.microsoft.com/office/drawing/2014/main" val="994748769"/>
                    </a:ext>
                  </a:extLst>
                </a:gridCol>
                <a:gridCol w="919353">
                  <a:extLst>
                    <a:ext uri="{9D8B030D-6E8A-4147-A177-3AD203B41FA5}">
                      <a16:colId xmlns:a16="http://schemas.microsoft.com/office/drawing/2014/main" val="2564927205"/>
                    </a:ext>
                  </a:extLst>
                </a:gridCol>
              </a:tblGrid>
              <a:tr h="0">
                <a:tc>
                  <a:txBody>
                    <a:bodyPr/>
                    <a:lstStyle/>
                    <a:p>
                      <a:pPr algn="l"/>
                      <a:r>
                        <a:rPr lang="en-GB" sz="1800" b="0" i="0" dirty="0">
                          <a:solidFill>
                            <a:schemeClr val="bg1"/>
                          </a:solidFill>
                          <a:effectLst/>
                          <a:latin typeface="+mn-lt"/>
                          <a:cs typeface="Calibri" panose="020F0502020204030204" pitchFamily="34" charset="0"/>
                        </a:rPr>
                        <a:t>name</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type</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insurer</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id</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company</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Dog</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0</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Dog</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1659393023"/>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Dog</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417314715"/>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0</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777826486"/>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2705716962"/>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3471423699"/>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0</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1904147145"/>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976741720"/>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2806725075"/>
                  </a:ext>
                </a:extLst>
              </a:tr>
            </a:tbl>
          </a:graphicData>
        </a:graphic>
      </p:graphicFrame>
      <p:sp>
        <p:nvSpPr>
          <p:cNvPr id="25" name="Select">
            <a:extLst>
              <a:ext uri="{FF2B5EF4-FFF2-40B4-BE49-F238E27FC236}">
                <a16:creationId xmlns:a16="http://schemas.microsoft.com/office/drawing/2014/main" id="{35683CAD-1E2A-EA31-E6BB-C707B14B8F0A}"/>
              </a:ext>
            </a:extLst>
          </p:cNvPr>
          <p:cNvSpPr txBox="1"/>
          <p:nvPr/>
        </p:nvSpPr>
        <p:spPr>
          <a:xfrm>
            <a:off x="5894289" y="1996155"/>
            <a:ext cx="850960" cy="369332"/>
          </a:xfrm>
          <a:prstGeom prst="rect">
            <a:avLst/>
          </a:prstGeom>
          <a:noFill/>
        </p:spPr>
        <p:txBody>
          <a:bodyPr wrap="square" rtlCol="0">
            <a:spAutoFit/>
          </a:bodyPr>
          <a:lstStyle/>
          <a:p>
            <a:pPr algn="ctr"/>
            <a:r>
              <a:rPr lang="en-GB" b="1" dirty="0"/>
              <a:t>SELECT</a:t>
            </a:r>
          </a:p>
        </p:txBody>
      </p:sp>
      <p:sp>
        <p:nvSpPr>
          <p:cNvPr id="28" name="Output - Arrow">
            <a:extLst>
              <a:ext uri="{FF2B5EF4-FFF2-40B4-BE49-F238E27FC236}">
                <a16:creationId xmlns:a16="http://schemas.microsoft.com/office/drawing/2014/main" id="{27833E17-04CE-E6AD-804B-EB51B8F41239}"/>
              </a:ext>
            </a:extLst>
          </p:cNvPr>
          <p:cNvSpPr/>
          <p:nvPr/>
        </p:nvSpPr>
        <p:spPr>
          <a:xfrm>
            <a:off x="8529428" y="4096941"/>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Name - Column">
            <a:extLst>
              <a:ext uri="{FF2B5EF4-FFF2-40B4-BE49-F238E27FC236}">
                <a16:creationId xmlns:a16="http://schemas.microsoft.com/office/drawing/2014/main" id="{9CFD6623-90F9-8CA0-585A-959ADF79ADE1}"/>
              </a:ext>
            </a:extLst>
          </p:cNvPr>
          <p:cNvSpPr/>
          <p:nvPr/>
        </p:nvSpPr>
        <p:spPr>
          <a:xfrm>
            <a:off x="4795199" y="3452832"/>
            <a:ext cx="720000" cy="299631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Age - Column">
            <a:extLst>
              <a:ext uri="{FF2B5EF4-FFF2-40B4-BE49-F238E27FC236}">
                <a16:creationId xmlns:a16="http://schemas.microsoft.com/office/drawing/2014/main" id="{F8908677-B9D0-5945-93E8-1112E85882A9}"/>
              </a:ext>
            </a:extLst>
          </p:cNvPr>
          <p:cNvSpPr/>
          <p:nvPr/>
        </p:nvSpPr>
        <p:spPr>
          <a:xfrm>
            <a:off x="6999769" y="3450667"/>
            <a:ext cx="928086" cy="299848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Where - Arrow">
            <a:extLst>
              <a:ext uri="{FF2B5EF4-FFF2-40B4-BE49-F238E27FC236}">
                <a16:creationId xmlns:a16="http://schemas.microsoft.com/office/drawing/2014/main" id="{44EEC309-5164-E750-8A98-948F7250CF9F}"/>
              </a:ext>
            </a:extLst>
          </p:cNvPr>
          <p:cNvSpPr/>
          <p:nvPr/>
        </p:nvSpPr>
        <p:spPr>
          <a:xfrm>
            <a:off x="149292" y="2223308"/>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utput">
            <a:extLst>
              <a:ext uri="{FF2B5EF4-FFF2-40B4-BE49-F238E27FC236}">
                <a16:creationId xmlns:a16="http://schemas.microsoft.com/office/drawing/2014/main" id="{56038AF1-3FFC-CE48-15B4-04B9F7CE57D9}"/>
              </a:ext>
            </a:extLst>
          </p:cNvPr>
          <p:cNvSpPr txBox="1"/>
          <p:nvPr/>
        </p:nvSpPr>
        <p:spPr>
          <a:xfrm>
            <a:off x="8281623" y="3501968"/>
            <a:ext cx="960176" cy="369332"/>
          </a:xfrm>
          <a:prstGeom prst="rect">
            <a:avLst/>
          </a:prstGeom>
          <a:noFill/>
        </p:spPr>
        <p:txBody>
          <a:bodyPr wrap="square" rtlCol="0">
            <a:spAutoFit/>
          </a:bodyPr>
          <a:lstStyle/>
          <a:p>
            <a:pPr algn="ctr"/>
            <a:r>
              <a:rPr lang="en-GB" b="1" dirty="0"/>
              <a:t>Output</a:t>
            </a:r>
          </a:p>
        </p:txBody>
      </p:sp>
      <p:sp>
        <p:nvSpPr>
          <p:cNvPr id="35" name="From - Arrow">
            <a:extLst>
              <a:ext uri="{FF2B5EF4-FFF2-40B4-BE49-F238E27FC236}">
                <a16:creationId xmlns:a16="http://schemas.microsoft.com/office/drawing/2014/main" id="{570E26B8-2533-45CC-B630-78104B4BF6E3}"/>
              </a:ext>
            </a:extLst>
          </p:cNvPr>
          <p:cNvSpPr/>
          <p:nvPr/>
        </p:nvSpPr>
        <p:spPr>
          <a:xfrm>
            <a:off x="154554" y="1905059"/>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Name - Arrow">
            <a:extLst>
              <a:ext uri="{FF2B5EF4-FFF2-40B4-BE49-F238E27FC236}">
                <a16:creationId xmlns:a16="http://schemas.microsoft.com/office/drawing/2014/main" id="{74743580-1BBD-44D1-9B4B-3FCD69A573CA}"/>
              </a:ext>
            </a:extLst>
          </p:cNvPr>
          <p:cNvCxnSpPr>
            <a:cxnSpLocks/>
            <a:stCxn id="25" idx="2"/>
          </p:cNvCxnSpPr>
          <p:nvPr/>
        </p:nvCxnSpPr>
        <p:spPr>
          <a:xfrm flipH="1">
            <a:off x="5321300" y="2365487"/>
            <a:ext cx="998469" cy="1039681"/>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 name="Age - Arrow">
            <a:extLst>
              <a:ext uri="{FF2B5EF4-FFF2-40B4-BE49-F238E27FC236}">
                <a16:creationId xmlns:a16="http://schemas.microsoft.com/office/drawing/2014/main" id="{4A59694F-BFA9-47E0-AA51-53E4E5936D1D}"/>
              </a:ext>
            </a:extLst>
          </p:cNvPr>
          <p:cNvCxnSpPr>
            <a:cxnSpLocks/>
            <a:stCxn id="25" idx="2"/>
          </p:cNvCxnSpPr>
          <p:nvPr/>
        </p:nvCxnSpPr>
        <p:spPr>
          <a:xfrm>
            <a:off x="6319769" y="2365487"/>
            <a:ext cx="931931" cy="1039681"/>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2" name="Insurer">
            <a:extLst>
              <a:ext uri="{FF2B5EF4-FFF2-40B4-BE49-F238E27FC236}">
                <a16:creationId xmlns:a16="http://schemas.microsoft.com/office/drawing/2014/main" id="{94BF93ED-DCBC-929A-3978-645514F34654}"/>
              </a:ext>
            </a:extLst>
          </p:cNvPr>
          <p:cNvSpPr txBox="1"/>
          <p:nvPr/>
        </p:nvSpPr>
        <p:spPr>
          <a:xfrm>
            <a:off x="501700" y="5027767"/>
            <a:ext cx="1771650" cy="369332"/>
          </a:xfrm>
          <a:prstGeom prst="rect">
            <a:avLst/>
          </a:prstGeom>
          <a:noFill/>
        </p:spPr>
        <p:txBody>
          <a:bodyPr wrap="square" rtlCol="0">
            <a:spAutoFit/>
          </a:bodyPr>
          <a:lstStyle/>
          <a:p>
            <a:r>
              <a:rPr lang="en-GB" b="1" dirty="0"/>
              <a:t>Table: Insurer</a:t>
            </a:r>
          </a:p>
        </p:txBody>
      </p:sp>
      <p:graphicFrame>
        <p:nvGraphicFramePr>
          <p:cNvPr id="3" name="Pet - Insurer">
            <a:extLst>
              <a:ext uri="{FF2B5EF4-FFF2-40B4-BE49-F238E27FC236}">
                <a16:creationId xmlns:a16="http://schemas.microsoft.com/office/drawing/2014/main" id="{DED03D99-A09A-68ED-29D5-FF622C9224CD}"/>
              </a:ext>
            </a:extLst>
          </p:cNvPr>
          <p:cNvGraphicFramePr>
            <a:graphicFrameLocks noGrp="1"/>
          </p:cNvGraphicFramePr>
          <p:nvPr>
            <p:extLst>
              <p:ext uri="{D42A27DB-BD31-4B8C-83A1-F6EECF244321}">
                <p14:modId xmlns:p14="http://schemas.microsoft.com/office/powerpoint/2010/main" val="3344836484"/>
              </p:ext>
            </p:extLst>
          </p:nvPr>
        </p:nvGraphicFramePr>
        <p:xfrm>
          <a:off x="587423" y="5348835"/>
          <a:ext cx="1285431" cy="1295400"/>
        </p:xfrm>
        <a:graphic>
          <a:graphicData uri="http://schemas.openxmlformats.org/drawingml/2006/table">
            <a:tbl>
              <a:tblPr firstRow="1" bandRow="1">
                <a:tableStyleId>{5C22544A-7EE6-4342-B048-85BDC9FD1C3A}</a:tableStyleId>
              </a:tblPr>
              <a:tblGrid>
                <a:gridCol w="268288">
                  <a:extLst>
                    <a:ext uri="{9D8B030D-6E8A-4147-A177-3AD203B41FA5}">
                      <a16:colId xmlns:a16="http://schemas.microsoft.com/office/drawing/2014/main" val="2854243258"/>
                    </a:ext>
                  </a:extLst>
                </a:gridCol>
                <a:gridCol w="1017143">
                  <a:extLst>
                    <a:ext uri="{9D8B030D-6E8A-4147-A177-3AD203B41FA5}">
                      <a16:colId xmlns:a16="http://schemas.microsoft.com/office/drawing/2014/main" val="3258369125"/>
                    </a:ext>
                  </a:extLst>
                </a:gridCol>
              </a:tblGrid>
              <a:tr h="0">
                <a:tc>
                  <a:txBody>
                    <a:bodyPr/>
                    <a:lstStyle/>
                    <a:p>
                      <a:pPr algn="l"/>
                      <a:r>
                        <a:rPr lang="en-GB" sz="2000" b="0" i="0" dirty="0">
                          <a:solidFill>
                            <a:schemeClr val="bg1"/>
                          </a:solidFill>
                          <a:effectLst/>
                          <a:latin typeface="+mn-lt"/>
                          <a:cs typeface="Calibri" panose="020F0502020204030204" pitchFamily="34" charset="0"/>
                        </a:rPr>
                        <a:t>id</a:t>
                      </a:r>
                    </a:p>
                  </a:txBody>
                  <a:tcPr marL="9525" marR="9525" marT="9525" marB="9525" anchor="ctr"/>
                </a:tc>
                <a:tc>
                  <a:txBody>
                    <a:bodyPr/>
                    <a:lstStyle/>
                    <a:p>
                      <a:pPr algn="l"/>
                      <a:r>
                        <a:rPr lang="en-GB" sz="2000" b="0" i="0" dirty="0">
                          <a:solidFill>
                            <a:schemeClr val="bg1"/>
                          </a:solidFill>
                          <a:effectLst/>
                          <a:latin typeface="+mn-lt"/>
                          <a:cs typeface="Calibri" panose="020F0502020204030204" pitchFamily="34" charset="0"/>
                        </a:rPr>
                        <a:t>company</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latin typeface="+mn-lt"/>
                        </a:rPr>
                        <a:t>0</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latin typeface="+mn-lt"/>
                        </a:rPr>
                        <a:t>1</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latin typeface="+mn-lt"/>
                        </a:rPr>
                        <a:t>2</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err="1">
                          <a:solidFill>
                            <a:schemeClr val="tx1"/>
                          </a:solidFill>
                          <a:effectLst/>
                          <a:latin typeface="+mn-lt"/>
                          <a:cs typeface="Calibri" panose="020F0502020204030204" pitchFamily="34" charset="0"/>
                        </a:rPr>
                        <a:t>PetSure</a:t>
                      </a:r>
                      <a:endParaRPr lang="en-GB" sz="20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bl>
          </a:graphicData>
        </a:graphic>
      </p:graphicFrame>
      <p:graphicFrame>
        <p:nvGraphicFramePr>
          <p:cNvPr id="43" name="Output - Table">
            <a:extLst>
              <a:ext uri="{FF2B5EF4-FFF2-40B4-BE49-F238E27FC236}">
                <a16:creationId xmlns:a16="http://schemas.microsoft.com/office/drawing/2014/main" id="{568C7E54-FFF5-6232-653C-F1481651CB4C}"/>
              </a:ext>
            </a:extLst>
          </p:cNvPr>
          <p:cNvGraphicFramePr>
            <a:graphicFrameLocks noGrp="1"/>
          </p:cNvGraphicFramePr>
          <p:nvPr>
            <p:extLst>
              <p:ext uri="{D42A27DB-BD31-4B8C-83A1-F6EECF244321}">
                <p14:modId xmlns:p14="http://schemas.microsoft.com/office/powerpoint/2010/main" val="840418785"/>
              </p:ext>
            </p:extLst>
          </p:nvPr>
        </p:nvGraphicFramePr>
        <p:xfrm>
          <a:off x="9595568" y="3469916"/>
          <a:ext cx="1652969" cy="1173480"/>
        </p:xfrm>
        <a:graphic>
          <a:graphicData uri="http://schemas.openxmlformats.org/drawingml/2006/table">
            <a:tbl>
              <a:tblPr firstRow="1" bandRow="1">
                <a:tableStyleId>{5C22544A-7EE6-4342-B048-85BDC9FD1C3A}</a:tableStyleId>
              </a:tblPr>
              <a:tblGrid>
                <a:gridCol w="733616">
                  <a:extLst>
                    <a:ext uri="{9D8B030D-6E8A-4147-A177-3AD203B41FA5}">
                      <a16:colId xmlns:a16="http://schemas.microsoft.com/office/drawing/2014/main" val="2854243258"/>
                    </a:ext>
                  </a:extLst>
                </a:gridCol>
                <a:gridCol w="919353">
                  <a:extLst>
                    <a:ext uri="{9D8B030D-6E8A-4147-A177-3AD203B41FA5}">
                      <a16:colId xmlns:a16="http://schemas.microsoft.com/office/drawing/2014/main" val="2564927205"/>
                    </a:ext>
                  </a:extLst>
                </a:gridCol>
              </a:tblGrid>
              <a:tr h="0">
                <a:tc>
                  <a:txBody>
                    <a:bodyPr/>
                    <a:lstStyle/>
                    <a:p>
                      <a:pPr algn="l"/>
                      <a:r>
                        <a:rPr lang="en-GB" sz="1800" b="0" i="0" dirty="0">
                          <a:solidFill>
                            <a:schemeClr val="bg1"/>
                          </a:solidFill>
                          <a:effectLst/>
                          <a:latin typeface="+mn-lt"/>
                          <a:cs typeface="Calibri" panose="020F0502020204030204" pitchFamily="34" charset="0"/>
                        </a:rPr>
                        <a:t>name</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company</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417314715"/>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2705716962"/>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976741720"/>
                  </a:ext>
                </a:extLst>
              </a:tr>
            </a:tbl>
          </a:graphicData>
        </a:graphic>
      </p:graphicFrame>
      <p:sp>
        <p:nvSpPr>
          <p:cNvPr id="44" name="From - Brace">
            <a:extLst>
              <a:ext uri="{FF2B5EF4-FFF2-40B4-BE49-F238E27FC236}">
                <a16:creationId xmlns:a16="http://schemas.microsoft.com/office/drawing/2014/main" id="{4AB582EA-E161-553B-E130-D03025BDF6D6}"/>
              </a:ext>
            </a:extLst>
          </p:cNvPr>
          <p:cNvSpPr/>
          <p:nvPr/>
        </p:nvSpPr>
        <p:spPr>
          <a:xfrm>
            <a:off x="3443509" y="3694006"/>
            <a:ext cx="594061" cy="2495550"/>
          </a:xfrm>
          <a:prstGeom prst="rightBrace">
            <a:avLst>
              <a:gd name="adj1" fmla="val 56609"/>
              <a:gd name="adj2" fmla="val 50000"/>
            </a:avLst>
          </a:prstGeom>
          <a:noFill/>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1" name="Order">
            <a:extLst>
              <a:ext uri="{FF2B5EF4-FFF2-40B4-BE49-F238E27FC236}">
                <a16:creationId xmlns:a16="http://schemas.microsoft.com/office/drawing/2014/main" id="{A84125A0-FE9B-4B5B-4183-B7CDBBEF9D4C}"/>
              </a:ext>
            </a:extLst>
          </p:cNvPr>
          <p:cNvSpPr txBox="1"/>
          <p:nvPr/>
        </p:nvSpPr>
        <p:spPr>
          <a:xfrm>
            <a:off x="3343494" y="3714401"/>
            <a:ext cx="396064" cy="523220"/>
          </a:xfrm>
          <a:prstGeom prst="rect">
            <a:avLst/>
          </a:prstGeom>
          <a:noFill/>
        </p:spPr>
        <p:txBody>
          <a:bodyPr wrap="square" rtlCol="0">
            <a:spAutoFit/>
          </a:bodyPr>
          <a:lstStyle/>
          <a:p>
            <a:pPr algn="ctr"/>
            <a:r>
              <a:rPr lang="en-GB" sz="2800" b="1" dirty="0">
                <a:solidFill>
                  <a:srgbClr val="7030A0"/>
                </a:solidFill>
              </a:rPr>
              <a:t>3</a:t>
            </a:r>
          </a:p>
        </p:txBody>
      </p:sp>
      <p:sp>
        <p:nvSpPr>
          <p:cNvPr id="52" name="Order">
            <a:extLst>
              <a:ext uri="{FF2B5EF4-FFF2-40B4-BE49-F238E27FC236}">
                <a16:creationId xmlns:a16="http://schemas.microsoft.com/office/drawing/2014/main" id="{BCEA5CB0-5749-1A40-A7A8-2A13550A9ECB}"/>
              </a:ext>
            </a:extLst>
          </p:cNvPr>
          <p:cNvSpPr txBox="1"/>
          <p:nvPr/>
        </p:nvSpPr>
        <p:spPr>
          <a:xfrm>
            <a:off x="3351452" y="5663735"/>
            <a:ext cx="396064" cy="523220"/>
          </a:xfrm>
          <a:prstGeom prst="rect">
            <a:avLst/>
          </a:prstGeom>
          <a:noFill/>
        </p:spPr>
        <p:txBody>
          <a:bodyPr wrap="square" rtlCol="0">
            <a:spAutoFit/>
          </a:bodyPr>
          <a:lstStyle/>
          <a:p>
            <a:pPr algn="ctr"/>
            <a:r>
              <a:rPr lang="en-GB" sz="2800" b="1" dirty="0">
                <a:solidFill>
                  <a:srgbClr val="7030A0"/>
                </a:solidFill>
              </a:rPr>
              <a:t>3</a:t>
            </a:r>
          </a:p>
        </p:txBody>
      </p:sp>
      <p:sp>
        <p:nvSpPr>
          <p:cNvPr id="53" name="Order">
            <a:extLst>
              <a:ext uri="{FF2B5EF4-FFF2-40B4-BE49-F238E27FC236}">
                <a16:creationId xmlns:a16="http://schemas.microsoft.com/office/drawing/2014/main" id="{92831D18-72D2-C4FA-FD15-A525AFB4E5C5}"/>
              </a:ext>
            </a:extLst>
          </p:cNvPr>
          <p:cNvSpPr txBox="1"/>
          <p:nvPr/>
        </p:nvSpPr>
        <p:spPr>
          <a:xfrm>
            <a:off x="4080831" y="4678062"/>
            <a:ext cx="558311" cy="523220"/>
          </a:xfrm>
          <a:prstGeom prst="rect">
            <a:avLst/>
          </a:prstGeom>
          <a:noFill/>
        </p:spPr>
        <p:txBody>
          <a:bodyPr wrap="square" rtlCol="0" anchor="ctr">
            <a:spAutoFit/>
          </a:bodyPr>
          <a:lstStyle/>
          <a:p>
            <a:pPr algn="ctr"/>
            <a:r>
              <a:rPr lang="en-GB" sz="2800" b="1" dirty="0">
                <a:solidFill>
                  <a:srgbClr val="7030A0"/>
                </a:solidFill>
              </a:rPr>
              <a:t>9</a:t>
            </a:r>
          </a:p>
        </p:txBody>
      </p:sp>
      <p:sp>
        <p:nvSpPr>
          <p:cNvPr id="54" name="Order">
            <a:extLst>
              <a:ext uri="{FF2B5EF4-FFF2-40B4-BE49-F238E27FC236}">
                <a16:creationId xmlns:a16="http://schemas.microsoft.com/office/drawing/2014/main" id="{FF73204C-FADD-6664-F4EE-878B598637DD}"/>
              </a:ext>
            </a:extLst>
          </p:cNvPr>
          <p:cNvSpPr txBox="1"/>
          <p:nvPr/>
        </p:nvSpPr>
        <p:spPr>
          <a:xfrm>
            <a:off x="3352887" y="4685444"/>
            <a:ext cx="396064" cy="523220"/>
          </a:xfrm>
          <a:prstGeom prst="rect">
            <a:avLst/>
          </a:prstGeom>
          <a:noFill/>
        </p:spPr>
        <p:txBody>
          <a:bodyPr wrap="square" rtlCol="0">
            <a:spAutoFit/>
          </a:bodyPr>
          <a:lstStyle/>
          <a:p>
            <a:pPr algn="ctr"/>
            <a:r>
              <a:rPr lang="en-GB" sz="2800" b="1" dirty="0">
                <a:solidFill>
                  <a:srgbClr val="7030A0"/>
                </a:solidFill>
              </a:rPr>
              <a:t>×</a:t>
            </a:r>
          </a:p>
        </p:txBody>
      </p:sp>
      <p:sp>
        <p:nvSpPr>
          <p:cNvPr id="26" name="Select - Arrow">
            <a:extLst>
              <a:ext uri="{FF2B5EF4-FFF2-40B4-BE49-F238E27FC236}">
                <a16:creationId xmlns:a16="http://schemas.microsoft.com/office/drawing/2014/main" id="{A4913A86-8E20-4DDA-AAA9-F82A2BA73778}"/>
              </a:ext>
            </a:extLst>
          </p:cNvPr>
          <p:cNvSpPr/>
          <p:nvPr/>
        </p:nvSpPr>
        <p:spPr>
          <a:xfrm>
            <a:off x="156727" y="1583975"/>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Cindy - Row">
            <a:extLst>
              <a:ext uri="{FF2B5EF4-FFF2-40B4-BE49-F238E27FC236}">
                <a16:creationId xmlns:a16="http://schemas.microsoft.com/office/drawing/2014/main" id="{58BEFD8E-59D7-4B59-AD8D-56CF2F8CD107}"/>
              </a:ext>
            </a:extLst>
          </p:cNvPr>
          <p:cNvSpPr/>
          <p:nvPr/>
        </p:nvSpPr>
        <p:spPr>
          <a:xfrm>
            <a:off x="4758704" y="4345740"/>
            <a:ext cx="320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Cindy - Purple">
            <a:extLst>
              <a:ext uri="{FF2B5EF4-FFF2-40B4-BE49-F238E27FC236}">
                <a16:creationId xmlns:a16="http://schemas.microsoft.com/office/drawing/2014/main" id="{2138EE6B-2A89-465B-8D74-A2F0DB965B5D}"/>
              </a:ext>
            </a:extLst>
          </p:cNvPr>
          <p:cNvSpPr/>
          <p:nvPr/>
        </p:nvSpPr>
        <p:spPr>
          <a:xfrm>
            <a:off x="6770055" y="4351721"/>
            <a:ext cx="229174" cy="288000"/>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Cindy - Yellow">
            <a:extLst>
              <a:ext uri="{FF2B5EF4-FFF2-40B4-BE49-F238E27FC236}">
                <a16:creationId xmlns:a16="http://schemas.microsoft.com/office/drawing/2014/main" id="{40519916-002C-4B50-9CAD-882322014126}"/>
              </a:ext>
            </a:extLst>
          </p:cNvPr>
          <p:cNvSpPr/>
          <p:nvPr/>
        </p:nvSpPr>
        <p:spPr>
          <a:xfrm>
            <a:off x="6045503" y="4351721"/>
            <a:ext cx="706825" cy="288000"/>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Snowy - Row">
            <a:extLst>
              <a:ext uri="{FF2B5EF4-FFF2-40B4-BE49-F238E27FC236}">
                <a16:creationId xmlns:a16="http://schemas.microsoft.com/office/drawing/2014/main" id="{590FF629-1C6B-4A73-9B6F-1A3047E0C351}"/>
              </a:ext>
            </a:extLst>
          </p:cNvPr>
          <p:cNvSpPr/>
          <p:nvPr/>
        </p:nvSpPr>
        <p:spPr>
          <a:xfrm>
            <a:off x="4758704" y="4932480"/>
            <a:ext cx="320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Snowy - Purple">
            <a:extLst>
              <a:ext uri="{FF2B5EF4-FFF2-40B4-BE49-F238E27FC236}">
                <a16:creationId xmlns:a16="http://schemas.microsoft.com/office/drawing/2014/main" id="{2059C02D-22B0-4CF8-88BE-A139FCC5E365}"/>
              </a:ext>
            </a:extLst>
          </p:cNvPr>
          <p:cNvSpPr/>
          <p:nvPr/>
        </p:nvSpPr>
        <p:spPr>
          <a:xfrm>
            <a:off x="6770055" y="4942271"/>
            <a:ext cx="229174" cy="288000"/>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Snowy - Yellow">
            <a:extLst>
              <a:ext uri="{FF2B5EF4-FFF2-40B4-BE49-F238E27FC236}">
                <a16:creationId xmlns:a16="http://schemas.microsoft.com/office/drawing/2014/main" id="{A908B61F-A960-4A63-B920-885CE28F0894}"/>
              </a:ext>
            </a:extLst>
          </p:cNvPr>
          <p:cNvSpPr/>
          <p:nvPr/>
        </p:nvSpPr>
        <p:spPr>
          <a:xfrm>
            <a:off x="6045503" y="4942271"/>
            <a:ext cx="706825" cy="288000"/>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Kitty - Row">
            <a:extLst>
              <a:ext uri="{FF2B5EF4-FFF2-40B4-BE49-F238E27FC236}">
                <a16:creationId xmlns:a16="http://schemas.microsoft.com/office/drawing/2014/main" id="{26C3B023-4A76-47DA-A8DB-F1CCF91F3D0B}"/>
              </a:ext>
            </a:extLst>
          </p:cNvPr>
          <p:cNvSpPr/>
          <p:nvPr/>
        </p:nvSpPr>
        <p:spPr>
          <a:xfrm>
            <a:off x="4758704" y="5810304"/>
            <a:ext cx="320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Kitty - Purple">
            <a:extLst>
              <a:ext uri="{FF2B5EF4-FFF2-40B4-BE49-F238E27FC236}">
                <a16:creationId xmlns:a16="http://schemas.microsoft.com/office/drawing/2014/main" id="{D34CE510-4BD9-46EC-99AA-DBE7BD04F483}"/>
              </a:ext>
            </a:extLst>
          </p:cNvPr>
          <p:cNvSpPr/>
          <p:nvPr/>
        </p:nvSpPr>
        <p:spPr>
          <a:xfrm>
            <a:off x="6770055" y="5820095"/>
            <a:ext cx="229174" cy="288000"/>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Kitty - Yellow">
            <a:extLst>
              <a:ext uri="{FF2B5EF4-FFF2-40B4-BE49-F238E27FC236}">
                <a16:creationId xmlns:a16="http://schemas.microsoft.com/office/drawing/2014/main" id="{F09336A1-7B8C-4DEF-A7AB-2B0BC362A9E8}"/>
              </a:ext>
            </a:extLst>
          </p:cNvPr>
          <p:cNvSpPr/>
          <p:nvPr/>
        </p:nvSpPr>
        <p:spPr>
          <a:xfrm>
            <a:off x="6045503" y="5820095"/>
            <a:ext cx="706825" cy="288000"/>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Where">
            <a:extLst>
              <a:ext uri="{FF2B5EF4-FFF2-40B4-BE49-F238E27FC236}">
                <a16:creationId xmlns:a16="http://schemas.microsoft.com/office/drawing/2014/main" id="{D9C491AC-88F8-426C-A43D-B2F060D5E6AD}"/>
              </a:ext>
            </a:extLst>
          </p:cNvPr>
          <p:cNvSpPr txBox="1"/>
          <p:nvPr/>
        </p:nvSpPr>
        <p:spPr>
          <a:xfrm>
            <a:off x="5845106" y="2687757"/>
            <a:ext cx="908750" cy="369332"/>
          </a:xfrm>
          <a:prstGeom prst="rect">
            <a:avLst/>
          </a:prstGeom>
          <a:noFill/>
        </p:spPr>
        <p:txBody>
          <a:bodyPr wrap="square" rtlCol="0">
            <a:spAutoFit/>
          </a:bodyPr>
          <a:lstStyle/>
          <a:p>
            <a:pPr algn="ctr"/>
            <a:r>
              <a:rPr lang="en-GB" b="1" dirty="0"/>
              <a:t>WHERE</a:t>
            </a:r>
          </a:p>
        </p:txBody>
      </p:sp>
      <p:cxnSp>
        <p:nvCxnSpPr>
          <p:cNvPr id="8" name="Where Arrow - insurer">
            <a:extLst>
              <a:ext uri="{FF2B5EF4-FFF2-40B4-BE49-F238E27FC236}">
                <a16:creationId xmlns:a16="http://schemas.microsoft.com/office/drawing/2014/main" id="{82F3C0C0-627A-4352-B521-71A74C69D03B}"/>
              </a:ext>
            </a:extLst>
          </p:cNvPr>
          <p:cNvCxnSpPr>
            <a:cxnSpLocks/>
          </p:cNvCxnSpPr>
          <p:nvPr/>
        </p:nvCxnSpPr>
        <p:spPr>
          <a:xfrm flipH="1">
            <a:off x="6208143" y="3058728"/>
            <a:ext cx="324000" cy="396000"/>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9" name="Where Arrow - id">
            <a:extLst>
              <a:ext uri="{FF2B5EF4-FFF2-40B4-BE49-F238E27FC236}">
                <a16:creationId xmlns:a16="http://schemas.microsoft.com/office/drawing/2014/main" id="{B9A62A42-1BDC-4ED8-8925-BD8226428803}"/>
              </a:ext>
            </a:extLst>
          </p:cNvPr>
          <p:cNvCxnSpPr>
            <a:cxnSpLocks/>
          </p:cNvCxnSpPr>
          <p:nvPr/>
        </p:nvCxnSpPr>
        <p:spPr>
          <a:xfrm>
            <a:off x="6530573" y="3057089"/>
            <a:ext cx="324000" cy="396000"/>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6502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2000"/>
                                        <p:tgtEl>
                                          <p:spTgt spid="22"/>
                                        </p:tgtEl>
                                      </p:cBhvr>
                                    </p:animEffect>
                                  </p:childTnLst>
                                </p:cTn>
                              </p:par>
                            </p:childTnLst>
                          </p:cTn>
                        </p:par>
                        <p:par>
                          <p:cTn id="12" fill="hold">
                            <p:stCondLst>
                              <p:cond delay="2500"/>
                            </p:stCondLst>
                            <p:childTnLst>
                              <p:par>
                                <p:cTn id="13" presetID="22" presetClass="entr" presetSubtype="8"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3000"/>
                            </p:stCondLst>
                            <p:childTnLst>
                              <p:par>
                                <p:cTn id="17" presetID="22" presetClass="entr" presetSubtype="1"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up)">
                                      <p:cBhvr>
                                        <p:cTn id="19" dur="2000"/>
                                        <p:tgtEl>
                                          <p:spTgt spid="3"/>
                                        </p:tgtEl>
                                      </p:cBhvr>
                                    </p:animEffect>
                                  </p:childTnLst>
                                </p:cTn>
                              </p:par>
                            </p:childTnLst>
                          </p:cTn>
                        </p:par>
                        <p:par>
                          <p:cTn id="20" fill="hold">
                            <p:stCondLst>
                              <p:cond delay="5000"/>
                            </p:stCondLst>
                            <p:childTnLst>
                              <p:par>
                                <p:cTn id="21" presetID="22" presetClass="entr" presetSubtype="8" fill="hold" grpId="0" nodeType="after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wipe(left)">
                                      <p:cBhvr>
                                        <p:cTn id="23" dur="1500"/>
                                        <p:tgtEl>
                                          <p:spTgt spid="6">
                                            <p:txEl>
                                              <p:pRg st="0" end="0"/>
                                            </p:txEl>
                                          </p:spTgt>
                                        </p:tgtEl>
                                      </p:cBhvr>
                                    </p:animEffect>
                                  </p:childTnLst>
                                </p:cTn>
                              </p:par>
                            </p:childTnLst>
                          </p:cTn>
                        </p:par>
                        <p:par>
                          <p:cTn id="24" fill="hold">
                            <p:stCondLst>
                              <p:cond delay="6500"/>
                            </p:stCondLst>
                            <p:childTnLst>
                              <p:par>
                                <p:cTn id="25" presetID="22" presetClass="entr" presetSubtype="8" fill="hold" grpId="0" nodeType="after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animEffect transition="in" filter="wipe(left)">
                                      <p:cBhvr>
                                        <p:cTn id="27" dur="1500"/>
                                        <p:tgtEl>
                                          <p:spTgt spid="6">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2" end="2"/>
                                            </p:txEl>
                                          </p:spTgt>
                                        </p:tgtEl>
                                        <p:attrNameLst>
                                          <p:attrName>style.visibility</p:attrName>
                                        </p:attrNameLst>
                                      </p:cBhvr>
                                      <p:to>
                                        <p:strVal val="visible"/>
                                      </p:to>
                                    </p:set>
                                    <p:animEffect transition="in" filter="wipe(left)">
                                      <p:cBhvr>
                                        <p:cTn id="32" dur="2500"/>
                                        <p:tgtEl>
                                          <p:spTgt spid="6">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
                                            <p:txEl>
                                              <p:pRg st="0" end="0"/>
                                            </p:txEl>
                                          </p:spTgt>
                                        </p:tgtEl>
                                        <p:attrNameLst>
                                          <p:attrName>style.visibility</p:attrName>
                                        </p:attrNameLst>
                                      </p:cBhvr>
                                      <p:to>
                                        <p:strVal val="visible"/>
                                      </p:to>
                                    </p:set>
                                    <p:animEffect transition="in" filter="wipe(left)">
                                      <p:cBhvr>
                                        <p:cTn id="37" dur="1000"/>
                                        <p:tgtEl>
                                          <p:spTgt spid="19">
                                            <p:txEl>
                                              <p:pRg st="0" end="0"/>
                                            </p:txEl>
                                          </p:spTgt>
                                        </p:tgtEl>
                                      </p:cBhvr>
                                    </p:animEffect>
                                  </p:childTnLst>
                                </p:cTn>
                              </p:par>
                            </p:childTnLst>
                          </p:cTn>
                        </p:par>
                        <p:par>
                          <p:cTn id="38" fill="hold">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wipe(left)">
                                      <p:cBhvr>
                                        <p:cTn id="41" dur="1000"/>
                                        <p:tgtEl>
                                          <p:spTgt spid="19">
                                            <p:txEl>
                                              <p:pRg st="1" end="1"/>
                                            </p:txEl>
                                          </p:spTgt>
                                        </p:tgtEl>
                                      </p:cBhvr>
                                    </p:animEffect>
                                  </p:childTnLst>
                                </p:cTn>
                              </p:par>
                            </p:childTnLst>
                          </p:cTn>
                        </p:par>
                        <p:par>
                          <p:cTn id="42" fill="hold">
                            <p:stCondLst>
                              <p:cond delay="2000"/>
                            </p:stCondLst>
                            <p:childTnLst>
                              <p:par>
                                <p:cTn id="43" presetID="22" presetClass="entr" presetSubtype="8" fill="hold" grpId="0" nodeType="afterEffect">
                                  <p:stCondLst>
                                    <p:cond delay="0"/>
                                  </p:stCondLst>
                                  <p:childTnLst>
                                    <p:set>
                                      <p:cBhvr>
                                        <p:cTn id="44" dur="1" fill="hold">
                                          <p:stCondLst>
                                            <p:cond delay="0"/>
                                          </p:stCondLst>
                                        </p:cTn>
                                        <p:tgtEl>
                                          <p:spTgt spid="19">
                                            <p:txEl>
                                              <p:pRg st="2" end="2"/>
                                            </p:txEl>
                                          </p:spTgt>
                                        </p:tgtEl>
                                        <p:attrNameLst>
                                          <p:attrName>style.visibility</p:attrName>
                                        </p:attrNameLst>
                                      </p:cBhvr>
                                      <p:to>
                                        <p:strVal val="visible"/>
                                      </p:to>
                                    </p:set>
                                    <p:animEffect transition="in" filter="wipe(left)">
                                      <p:cBhvr>
                                        <p:cTn id="45" dur="1000"/>
                                        <p:tgtEl>
                                          <p:spTgt spid="19">
                                            <p:txEl>
                                              <p:pRg st="2" end="2"/>
                                            </p:txEl>
                                          </p:spTgt>
                                        </p:tgtEl>
                                      </p:cBhvr>
                                    </p:animEffect>
                                  </p:childTnLst>
                                </p:cTn>
                              </p:par>
                            </p:childTnLst>
                          </p:cTn>
                        </p:par>
                        <p:par>
                          <p:cTn id="46" fill="hold">
                            <p:stCondLst>
                              <p:cond delay="3000"/>
                            </p:stCondLst>
                            <p:childTnLst>
                              <p:par>
                                <p:cTn id="47" presetID="22" presetClass="entr" presetSubtype="8" fill="hold" grpId="0" nodeType="afterEffect">
                                  <p:stCondLst>
                                    <p:cond delay="0"/>
                                  </p:stCondLst>
                                  <p:childTnLst>
                                    <p:set>
                                      <p:cBhvr>
                                        <p:cTn id="48" dur="1" fill="hold">
                                          <p:stCondLst>
                                            <p:cond delay="0"/>
                                          </p:stCondLst>
                                        </p:cTn>
                                        <p:tgtEl>
                                          <p:spTgt spid="19">
                                            <p:txEl>
                                              <p:pRg st="3" end="3"/>
                                            </p:txEl>
                                          </p:spTgt>
                                        </p:tgtEl>
                                        <p:attrNameLst>
                                          <p:attrName>style.visibility</p:attrName>
                                        </p:attrNameLst>
                                      </p:cBhvr>
                                      <p:to>
                                        <p:strVal val="visible"/>
                                      </p:to>
                                    </p:set>
                                    <p:animEffect transition="in" filter="wipe(left)">
                                      <p:cBhvr>
                                        <p:cTn id="49" dur="1000"/>
                                        <p:tgtEl>
                                          <p:spTgt spid="19">
                                            <p:txEl>
                                              <p:pRg st="3" end="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wipe(left)">
                                      <p:cBhvr>
                                        <p:cTn id="54" dur="1000"/>
                                        <p:tgtEl>
                                          <p:spTgt spid="3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wipe(left)">
                                      <p:cBhvr>
                                        <p:cTn id="59" dur="500"/>
                                        <p:tgtEl>
                                          <p:spTgt spid="10"/>
                                        </p:tgtEl>
                                      </p:cBhvr>
                                    </p:animEffect>
                                  </p:childTnLst>
                                </p:cTn>
                              </p:par>
                            </p:childTnLst>
                          </p:cTn>
                        </p:par>
                        <p:par>
                          <p:cTn id="60" fill="hold">
                            <p:stCondLst>
                              <p:cond delay="500"/>
                            </p:stCondLst>
                            <p:childTnLst>
                              <p:par>
                                <p:cTn id="61" presetID="22" presetClass="entr" presetSubtype="8" fill="hold" grpId="0" nodeType="after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wipe(left)">
                                      <p:cBhvr>
                                        <p:cTn id="63" dur="1000"/>
                                        <p:tgtEl>
                                          <p:spTgt spid="44"/>
                                        </p:tgtEl>
                                      </p:cBhvr>
                                    </p:animEffect>
                                  </p:childTnLst>
                                </p:cTn>
                              </p:par>
                            </p:childTnLst>
                          </p:cTn>
                        </p:par>
                        <p:par>
                          <p:cTn id="64" fill="hold">
                            <p:stCondLst>
                              <p:cond delay="1500"/>
                            </p:stCondLst>
                            <p:childTnLst>
                              <p:par>
                                <p:cTn id="65" presetID="22" presetClass="entr" presetSubtype="8" fill="hold" grpId="0" nodeType="afterEffect">
                                  <p:stCondLst>
                                    <p:cond delay="0"/>
                                  </p:stCondLst>
                                  <p:childTnLst>
                                    <p:set>
                                      <p:cBhvr>
                                        <p:cTn id="66" dur="1" fill="hold">
                                          <p:stCondLst>
                                            <p:cond delay="0"/>
                                          </p:stCondLst>
                                        </p:cTn>
                                        <p:tgtEl>
                                          <p:spTgt spid="51">
                                            <p:txEl>
                                              <p:pRg st="0" end="0"/>
                                            </p:txEl>
                                          </p:spTgt>
                                        </p:tgtEl>
                                        <p:attrNameLst>
                                          <p:attrName>style.visibility</p:attrName>
                                        </p:attrNameLst>
                                      </p:cBhvr>
                                      <p:to>
                                        <p:strVal val="visible"/>
                                      </p:to>
                                    </p:set>
                                    <p:animEffect transition="in" filter="wipe(left)">
                                      <p:cBhvr>
                                        <p:cTn id="67" dur="500"/>
                                        <p:tgtEl>
                                          <p:spTgt spid="51">
                                            <p:txEl>
                                              <p:pRg st="0" end="0"/>
                                            </p:txEl>
                                          </p:spTgt>
                                        </p:tgtEl>
                                      </p:cBhvr>
                                    </p:animEffect>
                                  </p:childTnLst>
                                </p:cTn>
                              </p:par>
                            </p:childTnLst>
                          </p:cTn>
                        </p:par>
                        <p:par>
                          <p:cTn id="68" fill="hold">
                            <p:stCondLst>
                              <p:cond delay="2000"/>
                            </p:stCondLst>
                            <p:childTnLst>
                              <p:par>
                                <p:cTn id="69" presetID="22" presetClass="entr" presetSubtype="8" fill="hold" grpId="0" nodeType="afterEffect" nodePh="1">
                                  <p:stCondLst>
                                    <p:cond delay="0"/>
                                  </p:stCondLst>
                                  <p:endCondLst>
                                    <p:cond evt="begin" delay="0">
                                      <p:tn val="69"/>
                                    </p:cond>
                                  </p:endCondLst>
                                  <p:childTnLst>
                                    <p:set>
                                      <p:cBhvr>
                                        <p:cTn id="70" dur="1" fill="hold">
                                          <p:stCondLst>
                                            <p:cond delay="0"/>
                                          </p:stCondLst>
                                        </p:cTn>
                                        <p:tgtEl>
                                          <p:spTgt spid="54">
                                            <p:txEl>
                                              <p:pRg st="0" end="0"/>
                                            </p:txEl>
                                          </p:spTgt>
                                        </p:tgtEl>
                                        <p:attrNameLst>
                                          <p:attrName>style.visibility</p:attrName>
                                        </p:attrNameLst>
                                      </p:cBhvr>
                                      <p:to>
                                        <p:strVal val="visible"/>
                                      </p:to>
                                    </p:set>
                                    <p:animEffect transition="in" filter="wipe(left)">
                                      <p:cBhvr>
                                        <p:cTn id="71" dur="500"/>
                                        <p:tgtEl>
                                          <p:spTgt spid="54">
                                            <p:txEl>
                                              <p:pRg st="0" end="0"/>
                                            </p:txEl>
                                          </p:spTgt>
                                        </p:tgtEl>
                                      </p:cBhvr>
                                    </p:animEffect>
                                  </p:childTnLst>
                                </p:cTn>
                              </p:par>
                            </p:childTnLst>
                          </p:cTn>
                        </p:par>
                        <p:par>
                          <p:cTn id="72" fill="hold">
                            <p:stCondLst>
                              <p:cond delay="2500"/>
                            </p:stCondLst>
                            <p:childTnLst>
                              <p:par>
                                <p:cTn id="73" presetID="22" presetClass="entr" presetSubtype="8" fill="hold" grpId="0" nodeType="afterEffect">
                                  <p:stCondLst>
                                    <p:cond delay="0"/>
                                  </p:stCondLst>
                                  <p:childTnLst>
                                    <p:set>
                                      <p:cBhvr>
                                        <p:cTn id="74" dur="1" fill="hold">
                                          <p:stCondLst>
                                            <p:cond delay="0"/>
                                          </p:stCondLst>
                                        </p:cTn>
                                        <p:tgtEl>
                                          <p:spTgt spid="52">
                                            <p:txEl>
                                              <p:pRg st="0" end="0"/>
                                            </p:txEl>
                                          </p:spTgt>
                                        </p:tgtEl>
                                        <p:attrNameLst>
                                          <p:attrName>style.visibility</p:attrName>
                                        </p:attrNameLst>
                                      </p:cBhvr>
                                      <p:to>
                                        <p:strVal val="visible"/>
                                      </p:to>
                                    </p:set>
                                    <p:animEffect transition="in" filter="wipe(left)">
                                      <p:cBhvr>
                                        <p:cTn id="75" dur="500"/>
                                        <p:tgtEl>
                                          <p:spTgt spid="52">
                                            <p:txEl>
                                              <p:pRg st="0" end="0"/>
                                            </p:txEl>
                                          </p:spTgt>
                                        </p:tgtEl>
                                      </p:cBhvr>
                                    </p:animEffect>
                                  </p:childTnLst>
                                </p:cTn>
                              </p:par>
                            </p:childTnLst>
                          </p:cTn>
                        </p:par>
                        <p:par>
                          <p:cTn id="76" fill="hold">
                            <p:stCondLst>
                              <p:cond delay="3000"/>
                            </p:stCondLst>
                            <p:childTnLst>
                              <p:par>
                                <p:cTn id="77" presetID="22" presetClass="entr" presetSubtype="8" fill="hold" grpId="0" nodeType="afterEffect">
                                  <p:stCondLst>
                                    <p:cond delay="0"/>
                                  </p:stCondLst>
                                  <p:childTnLst>
                                    <p:set>
                                      <p:cBhvr>
                                        <p:cTn id="78" dur="1" fill="hold">
                                          <p:stCondLst>
                                            <p:cond delay="0"/>
                                          </p:stCondLst>
                                        </p:cTn>
                                        <p:tgtEl>
                                          <p:spTgt spid="53">
                                            <p:txEl>
                                              <p:pRg st="0" end="0"/>
                                            </p:txEl>
                                          </p:spTgt>
                                        </p:tgtEl>
                                        <p:attrNameLst>
                                          <p:attrName>style.visibility</p:attrName>
                                        </p:attrNameLst>
                                      </p:cBhvr>
                                      <p:to>
                                        <p:strVal val="visible"/>
                                      </p:to>
                                    </p:set>
                                    <p:animEffect transition="in" filter="wipe(left)">
                                      <p:cBhvr>
                                        <p:cTn id="79" dur="500"/>
                                        <p:tgtEl>
                                          <p:spTgt spid="53">
                                            <p:txEl>
                                              <p:pRg st="0" end="0"/>
                                            </p:txEl>
                                          </p:spTgt>
                                        </p:tgtEl>
                                      </p:cBhvr>
                                    </p:animEffect>
                                  </p:childTnLst>
                                </p:cTn>
                              </p:par>
                            </p:childTnLst>
                          </p:cTn>
                        </p:par>
                        <p:par>
                          <p:cTn id="80" fill="hold">
                            <p:stCondLst>
                              <p:cond delay="3500"/>
                            </p:stCondLst>
                            <p:childTnLst>
                              <p:par>
                                <p:cTn id="81" presetID="22" presetClass="entr" presetSubtype="8" fill="hold" nodeType="after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wipe(left)">
                                      <p:cBhvr>
                                        <p:cTn id="83" dur="2000"/>
                                        <p:tgtEl>
                                          <p:spTgt spid="2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xit" presetSubtype="8" fill="hold" grpId="1" nodeType="clickEffect">
                                  <p:stCondLst>
                                    <p:cond delay="0"/>
                                  </p:stCondLst>
                                  <p:childTnLst>
                                    <p:animEffect transition="out" filter="wipe(left)">
                                      <p:cBhvr>
                                        <p:cTn id="87" dur="500"/>
                                        <p:tgtEl>
                                          <p:spTgt spid="35"/>
                                        </p:tgtEl>
                                      </p:cBhvr>
                                    </p:animEffect>
                                    <p:set>
                                      <p:cBhvr>
                                        <p:cTn id="88" dur="1" fill="hold">
                                          <p:stCondLst>
                                            <p:cond delay="499"/>
                                          </p:stCondLst>
                                        </p:cTn>
                                        <p:tgtEl>
                                          <p:spTgt spid="35"/>
                                        </p:tgtEl>
                                        <p:attrNameLst>
                                          <p:attrName>style.visibility</p:attrName>
                                        </p:attrNameLst>
                                      </p:cBhvr>
                                      <p:to>
                                        <p:strVal val="hidden"/>
                                      </p:to>
                                    </p:set>
                                  </p:childTnLst>
                                </p:cTn>
                              </p:par>
                            </p:childTnLst>
                          </p:cTn>
                        </p:par>
                        <p:par>
                          <p:cTn id="89" fill="hold">
                            <p:stCondLst>
                              <p:cond delay="500"/>
                            </p:stCondLst>
                            <p:childTnLst>
                              <p:par>
                                <p:cTn id="90" presetID="22" presetClass="entr" presetSubtype="8" fill="hold" grpId="0" nodeType="after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wipe(left)">
                                      <p:cBhvr>
                                        <p:cTn id="92" dur="1000"/>
                                        <p:tgtEl>
                                          <p:spTgt spid="31"/>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48"/>
                                        </p:tgtEl>
                                        <p:attrNameLst>
                                          <p:attrName>style.visibility</p:attrName>
                                        </p:attrNameLst>
                                      </p:cBhvr>
                                      <p:to>
                                        <p:strVal val="visible"/>
                                      </p:to>
                                    </p:set>
                                    <p:animEffect transition="in" filter="wipe(left)">
                                      <p:cBhvr>
                                        <p:cTn id="97" dur="500"/>
                                        <p:tgtEl>
                                          <p:spTgt spid="48"/>
                                        </p:tgtEl>
                                      </p:cBhvr>
                                    </p:animEffect>
                                  </p:childTnLst>
                                </p:cTn>
                              </p:par>
                            </p:childTnLst>
                          </p:cTn>
                        </p:par>
                        <p:par>
                          <p:cTn id="98" fill="hold">
                            <p:stCondLst>
                              <p:cond delay="500"/>
                            </p:stCondLst>
                            <p:childTnLst>
                              <p:par>
                                <p:cTn id="99" presetID="22" presetClass="entr" presetSubtype="1" fill="hold" nodeType="afterEffect">
                                  <p:stCondLst>
                                    <p:cond delay="0"/>
                                  </p:stCondLst>
                                  <p:childTnLst>
                                    <p:set>
                                      <p:cBhvr>
                                        <p:cTn id="100" dur="1" fill="hold">
                                          <p:stCondLst>
                                            <p:cond delay="0"/>
                                          </p:stCondLst>
                                        </p:cTn>
                                        <p:tgtEl>
                                          <p:spTgt spid="8"/>
                                        </p:tgtEl>
                                        <p:attrNameLst>
                                          <p:attrName>style.visibility</p:attrName>
                                        </p:attrNameLst>
                                      </p:cBhvr>
                                      <p:to>
                                        <p:strVal val="visible"/>
                                      </p:to>
                                    </p:set>
                                    <p:animEffect transition="in" filter="wipe(up)">
                                      <p:cBhvr>
                                        <p:cTn id="101" dur="1000"/>
                                        <p:tgtEl>
                                          <p:spTgt spid="8"/>
                                        </p:tgtEl>
                                      </p:cBhvr>
                                    </p:animEffect>
                                  </p:childTnLst>
                                </p:cTn>
                              </p:par>
                              <p:par>
                                <p:cTn id="102" presetID="22" presetClass="entr" presetSubtype="1" fill="hold" nodeType="withEffect">
                                  <p:stCondLst>
                                    <p:cond delay="0"/>
                                  </p:stCondLst>
                                  <p:childTnLst>
                                    <p:set>
                                      <p:cBhvr>
                                        <p:cTn id="103" dur="1" fill="hold">
                                          <p:stCondLst>
                                            <p:cond delay="0"/>
                                          </p:stCondLst>
                                        </p:cTn>
                                        <p:tgtEl>
                                          <p:spTgt spid="49"/>
                                        </p:tgtEl>
                                        <p:attrNameLst>
                                          <p:attrName>style.visibility</p:attrName>
                                        </p:attrNameLst>
                                      </p:cBhvr>
                                      <p:to>
                                        <p:strVal val="visible"/>
                                      </p:to>
                                    </p:set>
                                    <p:animEffect transition="in" filter="wipe(up)">
                                      <p:cBhvr>
                                        <p:cTn id="104" dur="1000"/>
                                        <p:tgtEl>
                                          <p:spTgt spid="49"/>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wipe(left)">
                                      <p:cBhvr>
                                        <p:cTn id="109" dur="500"/>
                                        <p:tgtEl>
                                          <p:spTgt spid="38"/>
                                        </p:tgtEl>
                                      </p:cBhvr>
                                    </p:animEffect>
                                  </p:childTnLst>
                                </p:cTn>
                              </p:par>
                            </p:childTnLst>
                          </p:cTn>
                        </p:par>
                        <p:par>
                          <p:cTn id="110" fill="hold">
                            <p:stCondLst>
                              <p:cond delay="500"/>
                            </p:stCondLst>
                            <p:childTnLst>
                              <p:par>
                                <p:cTn id="111" presetID="22" presetClass="entr" presetSubtype="8" fill="hold" grpId="0" nodeType="afterEffect">
                                  <p:stCondLst>
                                    <p:cond delay="0"/>
                                  </p:stCondLst>
                                  <p:childTnLst>
                                    <p:set>
                                      <p:cBhvr>
                                        <p:cTn id="112" dur="1" fill="hold">
                                          <p:stCondLst>
                                            <p:cond delay="0"/>
                                          </p:stCondLst>
                                        </p:cTn>
                                        <p:tgtEl>
                                          <p:spTgt spid="37"/>
                                        </p:tgtEl>
                                        <p:attrNameLst>
                                          <p:attrName>style.visibility</p:attrName>
                                        </p:attrNameLst>
                                      </p:cBhvr>
                                      <p:to>
                                        <p:strVal val="visible"/>
                                      </p:to>
                                    </p:set>
                                    <p:animEffect transition="in" filter="wipe(left)">
                                      <p:cBhvr>
                                        <p:cTn id="113" dur="500"/>
                                        <p:tgtEl>
                                          <p:spTgt spid="37"/>
                                        </p:tgtEl>
                                      </p:cBhvr>
                                    </p:animEffect>
                                  </p:childTnLst>
                                </p:cTn>
                              </p:par>
                            </p:childTnLst>
                          </p:cTn>
                        </p:par>
                        <p:par>
                          <p:cTn id="114" fill="hold">
                            <p:stCondLst>
                              <p:cond delay="1000"/>
                            </p:stCondLst>
                            <p:childTnLst>
                              <p:par>
                                <p:cTn id="115" presetID="22" presetClass="entr" presetSubtype="8" fill="hold" grpId="0" nodeType="afterEffect">
                                  <p:stCondLst>
                                    <p:cond delay="0"/>
                                  </p:stCondLst>
                                  <p:childTnLst>
                                    <p:set>
                                      <p:cBhvr>
                                        <p:cTn id="116" dur="1" fill="hold">
                                          <p:stCondLst>
                                            <p:cond delay="0"/>
                                          </p:stCondLst>
                                        </p:cTn>
                                        <p:tgtEl>
                                          <p:spTgt spid="36"/>
                                        </p:tgtEl>
                                        <p:attrNameLst>
                                          <p:attrName>style.visibility</p:attrName>
                                        </p:attrNameLst>
                                      </p:cBhvr>
                                      <p:to>
                                        <p:strVal val="visible"/>
                                      </p:to>
                                    </p:set>
                                    <p:animEffect transition="in" filter="wipe(left)">
                                      <p:cBhvr>
                                        <p:cTn id="117" dur="1500"/>
                                        <p:tgtEl>
                                          <p:spTgt spid="36"/>
                                        </p:tgtEl>
                                      </p:cBhvr>
                                    </p:animEffect>
                                  </p:childTnLst>
                                </p:cTn>
                              </p:par>
                            </p:childTnLst>
                          </p:cTn>
                        </p:par>
                        <p:par>
                          <p:cTn id="118" fill="hold">
                            <p:stCondLst>
                              <p:cond delay="2500"/>
                            </p:stCondLst>
                            <p:childTnLst>
                              <p:par>
                                <p:cTn id="119" presetID="22" presetClass="entr" presetSubtype="8" fill="hold" grpId="0" nodeType="afterEffect">
                                  <p:stCondLst>
                                    <p:cond delay="0"/>
                                  </p:stCondLst>
                                  <p:childTnLst>
                                    <p:set>
                                      <p:cBhvr>
                                        <p:cTn id="120" dur="1" fill="hold">
                                          <p:stCondLst>
                                            <p:cond delay="0"/>
                                          </p:stCondLst>
                                        </p:cTn>
                                        <p:tgtEl>
                                          <p:spTgt spid="41"/>
                                        </p:tgtEl>
                                        <p:attrNameLst>
                                          <p:attrName>style.visibility</p:attrName>
                                        </p:attrNameLst>
                                      </p:cBhvr>
                                      <p:to>
                                        <p:strVal val="visible"/>
                                      </p:to>
                                    </p:set>
                                    <p:animEffect transition="in" filter="wipe(left)">
                                      <p:cBhvr>
                                        <p:cTn id="121" dur="500"/>
                                        <p:tgtEl>
                                          <p:spTgt spid="41"/>
                                        </p:tgtEl>
                                      </p:cBhvr>
                                    </p:animEffect>
                                  </p:childTnLst>
                                </p:cTn>
                              </p:par>
                            </p:childTnLst>
                          </p:cTn>
                        </p:par>
                        <p:par>
                          <p:cTn id="122" fill="hold">
                            <p:stCondLst>
                              <p:cond delay="3000"/>
                            </p:stCondLst>
                            <p:childTnLst>
                              <p:par>
                                <p:cTn id="123" presetID="22" presetClass="entr" presetSubtype="8" fill="hold" grpId="0" nodeType="afterEffect">
                                  <p:stCondLst>
                                    <p:cond delay="0"/>
                                  </p:stCondLst>
                                  <p:childTnLst>
                                    <p:set>
                                      <p:cBhvr>
                                        <p:cTn id="124" dur="1" fill="hold">
                                          <p:stCondLst>
                                            <p:cond delay="0"/>
                                          </p:stCondLst>
                                        </p:cTn>
                                        <p:tgtEl>
                                          <p:spTgt spid="40"/>
                                        </p:tgtEl>
                                        <p:attrNameLst>
                                          <p:attrName>style.visibility</p:attrName>
                                        </p:attrNameLst>
                                      </p:cBhvr>
                                      <p:to>
                                        <p:strVal val="visible"/>
                                      </p:to>
                                    </p:set>
                                    <p:animEffect transition="in" filter="wipe(left)">
                                      <p:cBhvr>
                                        <p:cTn id="125" dur="500"/>
                                        <p:tgtEl>
                                          <p:spTgt spid="40"/>
                                        </p:tgtEl>
                                      </p:cBhvr>
                                    </p:animEffect>
                                  </p:childTnLst>
                                </p:cTn>
                              </p:par>
                            </p:childTnLst>
                          </p:cTn>
                        </p:par>
                        <p:par>
                          <p:cTn id="126" fill="hold">
                            <p:stCondLst>
                              <p:cond delay="3500"/>
                            </p:stCondLst>
                            <p:childTnLst>
                              <p:par>
                                <p:cTn id="127" presetID="22" presetClass="entr" presetSubtype="8" fill="hold" grpId="0" nodeType="afterEffect">
                                  <p:stCondLst>
                                    <p:cond delay="0"/>
                                  </p:stCondLst>
                                  <p:childTnLst>
                                    <p:set>
                                      <p:cBhvr>
                                        <p:cTn id="128" dur="1" fill="hold">
                                          <p:stCondLst>
                                            <p:cond delay="0"/>
                                          </p:stCondLst>
                                        </p:cTn>
                                        <p:tgtEl>
                                          <p:spTgt spid="39"/>
                                        </p:tgtEl>
                                        <p:attrNameLst>
                                          <p:attrName>style.visibility</p:attrName>
                                        </p:attrNameLst>
                                      </p:cBhvr>
                                      <p:to>
                                        <p:strVal val="visible"/>
                                      </p:to>
                                    </p:set>
                                    <p:animEffect transition="in" filter="wipe(left)">
                                      <p:cBhvr>
                                        <p:cTn id="129" dur="1500"/>
                                        <p:tgtEl>
                                          <p:spTgt spid="39"/>
                                        </p:tgtEl>
                                      </p:cBhvr>
                                    </p:animEffect>
                                  </p:childTnLst>
                                </p:cTn>
                              </p:par>
                            </p:childTnLst>
                          </p:cTn>
                        </p:par>
                        <p:par>
                          <p:cTn id="130" fill="hold">
                            <p:stCondLst>
                              <p:cond delay="5000"/>
                            </p:stCondLst>
                            <p:childTnLst>
                              <p:par>
                                <p:cTn id="131" presetID="22" presetClass="entr" presetSubtype="8" fill="hold" grpId="0" nodeType="afterEffect">
                                  <p:stCondLst>
                                    <p:cond delay="0"/>
                                  </p:stCondLst>
                                  <p:childTnLst>
                                    <p:set>
                                      <p:cBhvr>
                                        <p:cTn id="132" dur="1" fill="hold">
                                          <p:stCondLst>
                                            <p:cond delay="0"/>
                                          </p:stCondLst>
                                        </p:cTn>
                                        <p:tgtEl>
                                          <p:spTgt spid="46"/>
                                        </p:tgtEl>
                                        <p:attrNameLst>
                                          <p:attrName>style.visibility</p:attrName>
                                        </p:attrNameLst>
                                      </p:cBhvr>
                                      <p:to>
                                        <p:strVal val="visible"/>
                                      </p:to>
                                    </p:set>
                                    <p:animEffect transition="in" filter="wipe(left)">
                                      <p:cBhvr>
                                        <p:cTn id="133" dur="500"/>
                                        <p:tgtEl>
                                          <p:spTgt spid="46"/>
                                        </p:tgtEl>
                                      </p:cBhvr>
                                    </p:animEffect>
                                  </p:childTnLst>
                                </p:cTn>
                              </p:par>
                            </p:childTnLst>
                          </p:cTn>
                        </p:par>
                        <p:par>
                          <p:cTn id="134" fill="hold">
                            <p:stCondLst>
                              <p:cond delay="5500"/>
                            </p:stCondLst>
                            <p:childTnLst>
                              <p:par>
                                <p:cTn id="135" presetID="22" presetClass="entr" presetSubtype="8" fill="hold" grpId="0" nodeType="afterEffect">
                                  <p:stCondLst>
                                    <p:cond delay="0"/>
                                  </p:stCondLst>
                                  <p:childTnLst>
                                    <p:set>
                                      <p:cBhvr>
                                        <p:cTn id="136" dur="1" fill="hold">
                                          <p:stCondLst>
                                            <p:cond delay="0"/>
                                          </p:stCondLst>
                                        </p:cTn>
                                        <p:tgtEl>
                                          <p:spTgt spid="45"/>
                                        </p:tgtEl>
                                        <p:attrNameLst>
                                          <p:attrName>style.visibility</p:attrName>
                                        </p:attrNameLst>
                                      </p:cBhvr>
                                      <p:to>
                                        <p:strVal val="visible"/>
                                      </p:to>
                                    </p:set>
                                    <p:animEffect transition="in" filter="wipe(left)">
                                      <p:cBhvr>
                                        <p:cTn id="137" dur="500"/>
                                        <p:tgtEl>
                                          <p:spTgt spid="45"/>
                                        </p:tgtEl>
                                      </p:cBhvr>
                                    </p:animEffect>
                                  </p:childTnLst>
                                </p:cTn>
                              </p:par>
                            </p:childTnLst>
                          </p:cTn>
                        </p:par>
                        <p:par>
                          <p:cTn id="138" fill="hold">
                            <p:stCondLst>
                              <p:cond delay="6000"/>
                            </p:stCondLst>
                            <p:childTnLst>
                              <p:par>
                                <p:cTn id="139" presetID="22" presetClass="entr" presetSubtype="8" fill="hold" grpId="0" nodeType="afterEffect">
                                  <p:stCondLst>
                                    <p:cond delay="0"/>
                                  </p:stCondLst>
                                  <p:childTnLst>
                                    <p:set>
                                      <p:cBhvr>
                                        <p:cTn id="140" dur="1" fill="hold">
                                          <p:stCondLst>
                                            <p:cond delay="0"/>
                                          </p:stCondLst>
                                        </p:cTn>
                                        <p:tgtEl>
                                          <p:spTgt spid="42"/>
                                        </p:tgtEl>
                                        <p:attrNameLst>
                                          <p:attrName>style.visibility</p:attrName>
                                        </p:attrNameLst>
                                      </p:cBhvr>
                                      <p:to>
                                        <p:strVal val="visible"/>
                                      </p:to>
                                    </p:set>
                                    <p:animEffect transition="in" filter="wipe(left)">
                                      <p:cBhvr>
                                        <p:cTn id="141" dur="1500"/>
                                        <p:tgtEl>
                                          <p:spTgt spid="42"/>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xit" presetSubtype="8" fill="hold" grpId="1" nodeType="clickEffect">
                                  <p:stCondLst>
                                    <p:cond delay="0"/>
                                  </p:stCondLst>
                                  <p:childTnLst>
                                    <p:animEffect transition="out" filter="wipe(left)">
                                      <p:cBhvr>
                                        <p:cTn id="145" dur="500"/>
                                        <p:tgtEl>
                                          <p:spTgt spid="31"/>
                                        </p:tgtEl>
                                      </p:cBhvr>
                                    </p:animEffect>
                                    <p:set>
                                      <p:cBhvr>
                                        <p:cTn id="146" dur="1" fill="hold">
                                          <p:stCondLst>
                                            <p:cond delay="499"/>
                                          </p:stCondLst>
                                        </p:cTn>
                                        <p:tgtEl>
                                          <p:spTgt spid="31"/>
                                        </p:tgtEl>
                                        <p:attrNameLst>
                                          <p:attrName>style.visibility</p:attrName>
                                        </p:attrNameLst>
                                      </p:cBhvr>
                                      <p:to>
                                        <p:strVal val="hidden"/>
                                      </p:to>
                                    </p:set>
                                  </p:childTnLst>
                                </p:cTn>
                              </p:par>
                            </p:childTnLst>
                          </p:cTn>
                        </p:par>
                        <p:par>
                          <p:cTn id="147" fill="hold">
                            <p:stCondLst>
                              <p:cond delay="500"/>
                            </p:stCondLst>
                            <p:childTnLst>
                              <p:par>
                                <p:cTn id="148" presetID="22" presetClass="entr" presetSubtype="8" fill="hold" grpId="0" nodeType="afterEffect">
                                  <p:stCondLst>
                                    <p:cond delay="0"/>
                                  </p:stCondLst>
                                  <p:childTnLst>
                                    <p:set>
                                      <p:cBhvr>
                                        <p:cTn id="149" dur="1" fill="hold">
                                          <p:stCondLst>
                                            <p:cond delay="0"/>
                                          </p:stCondLst>
                                        </p:cTn>
                                        <p:tgtEl>
                                          <p:spTgt spid="26"/>
                                        </p:tgtEl>
                                        <p:attrNameLst>
                                          <p:attrName>style.visibility</p:attrName>
                                        </p:attrNameLst>
                                      </p:cBhvr>
                                      <p:to>
                                        <p:strVal val="visible"/>
                                      </p:to>
                                    </p:set>
                                    <p:animEffect transition="in" filter="wipe(left)">
                                      <p:cBhvr>
                                        <p:cTn id="150" dur="1000"/>
                                        <p:tgtEl>
                                          <p:spTgt spid="26"/>
                                        </p:tgtEl>
                                      </p:cBhvr>
                                    </p:animEffect>
                                  </p:childTnLst>
                                </p:cTn>
                              </p:par>
                            </p:childTnLst>
                          </p:cTn>
                        </p:par>
                      </p:childTnLst>
                    </p:cTn>
                  </p:par>
                  <p:par>
                    <p:cTn id="151" fill="hold">
                      <p:stCondLst>
                        <p:cond delay="indefinite"/>
                      </p:stCondLst>
                      <p:childTnLst>
                        <p:par>
                          <p:cTn id="152" fill="hold">
                            <p:stCondLst>
                              <p:cond delay="0"/>
                            </p:stCondLst>
                            <p:childTnLst>
                              <p:par>
                                <p:cTn id="153" presetID="22" presetClass="entr" presetSubtype="8" fill="hold" grpId="0" nodeType="clickEffect">
                                  <p:stCondLst>
                                    <p:cond delay="0"/>
                                  </p:stCondLst>
                                  <p:childTnLst>
                                    <p:set>
                                      <p:cBhvr>
                                        <p:cTn id="154" dur="1" fill="hold">
                                          <p:stCondLst>
                                            <p:cond delay="0"/>
                                          </p:stCondLst>
                                        </p:cTn>
                                        <p:tgtEl>
                                          <p:spTgt spid="25"/>
                                        </p:tgtEl>
                                        <p:attrNameLst>
                                          <p:attrName>style.visibility</p:attrName>
                                        </p:attrNameLst>
                                      </p:cBhvr>
                                      <p:to>
                                        <p:strVal val="visible"/>
                                      </p:to>
                                    </p:set>
                                    <p:animEffect transition="in" filter="wipe(left)">
                                      <p:cBhvr>
                                        <p:cTn id="155" dur="500"/>
                                        <p:tgtEl>
                                          <p:spTgt spid="25"/>
                                        </p:tgtEl>
                                      </p:cBhvr>
                                    </p:animEffect>
                                  </p:childTnLst>
                                </p:cTn>
                              </p:par>
                            </p:childTnLst>
                          </p:cTn>
                        </p:par>
                        <p:par>
                          <p:cTn id="156" fill="hold">
                            <p:stCondLst>
                              <p:cond delay="500"/>
                            </p:stCondLst>
                            <p:childTnLst>
                              <p:par>
                                <p:cTn id="157" presetID="22" presetClass="entr" presetSubtype="1" fill="hold" nodeType="afterEffect">
                                  <p:stCondLst>
                                    <p:cond delay="0"/>
                                  </p:stCondLst>
                                  <p:childTnLst>
                                    <p:set>
                                      <p:cBhvr>
                                        <p:cTn id="158" dur="1" fill="hold">
                                          <p:stCondLst>
                                            <p:cond delay="0"/>
                                          </p:stCondLst>
                                        </p:cTn>
                                        <p:tgtEl>
                                          <p:spTgt spid="5"/>
                                        </p:tgtEl>
                                        <p:attrNameLst>
                                          <p:attrName>style.visibility</p:attrName>
                                        </p:attrNameLst>
                                      </p:cBhvr>
                                      <p:to>
                                        <p:strVal val="visible"/>
                                      </p:to>
                                    </p:set>
                                    <p:animEffect transition="in" filter="wipe(up)">
                                      <p:cBhvr>
                                        <p:cTn id="159" dur="500"/>
                                        <p:tgtEl>
                                          <p:spTgt spid="5"/>
                                        </p:tgtEl>
                                      </p:cBhvr>
                                    </p:animEffect>
                                  </p:childTnLst>
                                </p:cTn>
                              </p:par>
                            </p:childTnLst>
                          </p:cTn>
                        </p:par>
                        <p:par>
                          <p:cTn id="160" fill="hold">
                            <p:stCondLst>
                              <p:cond delay="1000"/>
                            </p:stCondLst>
                            <p:childTnLst>
                              <p:par>
                                <p:cTn id="161" presetID="22" presetClass="entr" presetSubtype="1" fill="hold" grpId="0" nodeType="afterEffect">
                                  <p:stCondLst>
                                    <p:cond delay="0"/>
                                  </p:stCondLst>
                                  <p:childTnLst>
                                    <p:set>
                                      <p:cBhvr>
                                        <p:cTn id="162" dur="1" fill="hold">
                                          <p:stCondLst>
                                            <p:cond delay="0"/>
                                          </p:stCondLst>
                                        </p:cTn>
                                        <p:tgtEl>
                                          <p:spTgt spid="29"/>
                                        </p:tgtEl>
                                        <p:attrNameLst>
                                          <p:attrName>style.visibility</p:attrName>
                                        </p:attrNameLst>
                                      </p:cBhvr>
                                      <p:to>
                                        <p:strVal val="visible"/>
                                      </p:to>
                                    </p:set>
                                    <p:animEffect transition="in" filter="wipe(up)">
                                      <p:cBhvr>
                                        <p:cTn id="163" dur="1500"/>
                                        <p:tgtEl>
                                          <p:spTgt spid="29"/>
                                        </p:tgtEl>
                                      </p:cBhvr>
                                    </p:animEffect>
                                  </p:childTnLst>
                                </p:cTn>
                              </p:par>
                            </p:childTnLst>
                          </p:cTn>
                        </p:par>
                        <p:par>
                          <p:cTn id="164" fill="hold">
                            <p:stCondLst>
                              <p:cond delay="2500"/>
                            </p:stCondLst>
                            <p:childTnLst>
                              <p:par>
                                <p:cTn id="165" presetID="22" presetClass="entr" presetSubtype="1" fill="hold" nodeType="afterEffect">
                                  <p:stCondLst>
                                    <p:cond delay="0"/>
                                  </p:stCondLst>
                                  <p:childTnLst>
                                    <p:set>
                                      <p:cBhvr>
                                        <p:cTn id="166" dur="1" fill="hold">
                                          <p:stCondLst>
                                            <p:cond delay="0"/>
                                          </p:stCondLst>
                                        </p:cTn>
                                        <p:tgtEl>
                                          <p:spTgt spid="9"/>
                                        </p:tgtEl>
                                        <p:attrNameLst>
                                          <p:attrName>style.visibility</p:attrName>
                                        </p:attrNameLst>
                                      </p:cBhvr>
                                      <p:to>
                                        <p:strVal val="visible"/>
                                      </p:to>
                                    </p:set>
                                    <p:animEffect transition="in" filter="wipe(up)">
                                      <p:cBhvr>
                                        <p:cTn id="167" dur="500"/>
                                        <p:tgtEl>
                                          <p:spTgt spid="9"/>
                                        </p:tgtEl>
                                      </p:cBhvr>
                                    </p:animEffect>
                                  </p:childTnLst>
                                </p:cTn>
                              </p:par>
                            </p:childTnLst>
                          </p:cTn>
                        </p:par>
                        <p:par>
                          <p:cTn id="168" fill="hold">
                            <p:stCondLst>
                              <p:cond delay="3000"/>
                            </p:stCondLst>
                            <p:childTnLst>
                              <p:par>
                                <p:cTn id="169" presetID="22" presetClass="entr" presetSubtype="1" fill="hold" grpId="0" nodeType="afterEffect">
                                  <p:stCondLst>
                                    <p:cond delay="0"/>
                                  </p:stCondLst>
                                  <p:childTnLst>
                                    <p:set>
                                      <p:cBhvr>
                                        <p:cTn id="170" dur="1" fill="hold">
                                          <p:stCondLst>
                                            <p:cond delay="0"/>
                                          </p:stCondLst>
                                        </p:cTn>
                                        <p:tgtEl>
                                          <p:spTgt spid="30"/>
                                        </p:tgtEl>
                                        <p:attrNameLst>
                                          <p:attrName>style.visibility</p:attrName>
                                        </p:attrNameLst>
                                      </p:cBhvr>
                                      <p:to>
                                        <p:strVal val="visible"/>
                                      </p:to>
                                    </p:set>
                                    <p:animEffect transition="in" filter="wipe(up)">
                                      <p:cBhvr>
                                        <p:cTn id="171" dur="1500"/>
                                        <p:tgtEl>
                                          <p:spTgt spid="30"/>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xit" presetSubtype="8" fill="hold" grpId="1" nodeType="clickEffect">
                                  <p:stCondLst>
                                    <p:cond delay="0"/>
                                  </p:stCondLst>
                                  <p:childTnLst>
                                    <p:animEffect transition="out" filter="wipe(left)">
                                      <p:cBhvr>
                                        <p:cTn id="175" dur="500"/>
                                        <p:tgtEl>
                                          <p:spTgt spid="26"/>
                                        </p:tgtEl>
                                      </p:cBhvr>
                                    </p:animEffect>
                                    <p:set>
                                      <p:cBhvr>
                                        <p:cTn id="176" dur="1" fill="hold">
                                          <p:stCondLst>
                                            <p:cond delay="499"/>
                                          </p:stCondLst>
                                        </p:cTn>
                                        <p:tgtEl>
                                          <p:spTgt spid="26"/>
                                        </p:tgtEl>
                                        <p:attrNameLst>
                                          <p:attrName>style.visibility</p:attrName>
                                        </p:attrNameLst>
                                      </p:cBhvr>
                                      <p:to>
                                        <p:strVal val="hidden"/>
                                      </p:to>
                                    </p:set>
                                  </p:childTnLst>
                                </p:cTn>
                              </p:par>
                            </p:childTnLst>
                          </p:cTn>
                        </p:par>
                        <p:par>
                          <p:cTn id="177" fill="hold">
                            <p:stCondLst>
                              <p:cond delay="500"/>
                            </p:stCondLst>
                            <p:childTnLst>
                              <p:par>
                                <p:cTn id="178" presetID="22" presetClass="entr" presetSubtype="8" fill="hold" grpId="0" nodeType="afterEffect">
                                  <p:stCondLst>
                                    <p:cond delay="0"/>
                                  </p:stCondLst>
                                  <p:childTnLst>
                                    <p:set>
                                      <p:cBhvr>
                                        <p:cTn id="179" dur="1" fill="hold">
                                          <p:stCondLst>
                                            <p:cond delay="0"/>
                                          </p:stCondLst>
                                        </p:cTn>
                                        <p:tgtEl>
                                          <p:spTgt spid="32"/>
                                        </p:tgtEl>
                                        <p:attrNameLst>
                                          <p:attrName>style.visibility</p:attrName>
                                        </p:attrNameLst>
                                      </p:cBhvr>
                                      <p:to>
                                        <p:strVal val="visible"/>
                                      </p:to>
                                    </p:set>
                                    <p:animEffect transition="in" filter="wipe(left)">
                                      <p:cBhvr>
                                        <p:cTn id="180" dur="500"/>
                                        <p:tgtEl>
                                          <p:spTgt spid="32"/>
                                        </p:tgtEl>
                                      </p:cBhvr>
                                    </p:animEffect>
                                  </p:childTnLst>
                                </p:cTn>
                              </p:par>
                            </p:childTnLst>
                          </p:cTn>
                        </p:par>
                        <p:par>
                          <p:cTn id="181" fill="hold">
                            <p:stCondLst>
                              <p:cond delay="1000"/>
                            </p:stCondLst>
                            <p:childTnLst>
                              <p:par>
                                <p:cTn id="182" presetID="22" presetClass="entr" presetSubtype="8" fill="hold" grpId="0" nodeType="afterEffect">
                                  <p:stCondLst>
                                    <p:cond delay="0"/>
                                  </p:stCondLst>
                                  <p:childTnLst>
                                    <p:set>
                                      <p:cBhvr>
                                        <p:cTn id="183" dur="1" fill="hold">
                                          <p:stCondLst>
                                            <p:cond delay="0"/>
                                          </p:stCondLst>
                                        </p:cTn>
                                        <p:tgtEl>
                                          <p:spTgt spid="28"/>
                                        </p:tgtEl>
                                        <p:attrNameLst>
                                          <p:attrName>style.visibility</p:attrName>
                                        </p:attrNameLst>
                                      </p:cBhvr>
                                      <p:to>
                                        <p:strVal val="visible"/>
                                      </p:to>
                                    </p:set>
                                    <p:animEffect transition="in" filter="wipe(left)">
                                      <p:cBhvr>
                                        <p:cTn id="184" dur="1000"/>
                                        <p:tgtEl>
                                          <p:spTgt spid="28"/>
                                        </p:tgtEl>
                                      </p:cBhvr>
                                    </p:animEffect>
                                  </p:childTnLst>
                                </p:cTn>
                              </p:par>
                            </p:childTnLst>
                          </p:cTn>
                        </p:par>
                        <p:par>
                          <p:cTn id="185" fill="hold">
                            <p:stCondLst>
                              <p:cond delay="2000"/>
                            </p:stCondLst>
                            <p:childTnLst>
                              <p:par>
                                <p:cTn id="186" presetID="22" presetClass="entr" presetSubtype="8" fill="hold" nodeType="afterEffect">
                                  <p:stCondLst>
                                    <p:cond delay="0"/>
                                  </p:stCondLst>
                                  <p:childTnLst>
                                    <p:set>
                                      <p:cBhvr>
                                        <p:cTn id="187" dur="1" fill="hold">
                                          <p:stCondLst>
                                            <p:cond delay="0"/>
                                          </p:stCondLst>
                                        </p:cTn>
                                        <p:tgtEl>
                                          <p:spTgt spid="43"/>
                                        </p:tgtEl>
                                        <p:attrNameLst>
                                          <p:attrName>style.visibility</p:attrName>
                                        </p:attrNameLst>
                                      </p:cBhvr>
                                      <p:to>
                                        <p:strVal val="visible"/>
                                      </p:to>
                                    </p:set>
                                    <p:animEffect transition="in" filter="wipe(left)">
                                      <p:cBhvr>
                                        <p:cTn id="188" dur="2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17" grpId="0"/>
      <p:bldP spid="19" grpId="0" uiExpand="1" build="p"/>
      <p:bldP spid="10" grpId="0"/>
      <p:bldP spid="25" grpId="0"/>
      <p:bldP spid="28" grpId="0" animBg="1"/>
      <p:bldP spid="29" grpId="0" animBg="1"/>
      <p:bldP spid="30" grpId="0" animBg="1"/>
      <p:bldP spid="31" grpId="0" animBg="1"/>
      <p:bldP spid="31" grpId="1" animBg="1"/>
      <p:bldP spid="32" grpId="0"/>
      <p:bldP spid="35" grpId="0" animBg="1"/>
      <p:bldP spid="35" grpId="1" animBg="1"/>
      <p:bldP spid="2" grpId="0"/>
      <p:bldP spid="44" grpId="0" animBg="1"/>
      <p:bldP spid="51" grpId="0" uiExpand="1" build="p"/>
      <p:bldP spid="52" grpId="0" uiExpand="1" build="p"/>
      <p:bldP spid="53" grpId="0" uiExpand="1" build="p"/>
      <p:bldP spid="54" grpId="0" uiExpand="1" build="p"/>
      <p:bldP spid="26" grpId="0" animBg="1"/>
      <p:bldP spid="26" grpId="1" animBg="1"/>
      <p:bldP spid="36" grpId="0" animBg="1"/>
      <p:bldP spid="37" grpId="0" animBg="1"/>
      <p:bldP spid="38" grpId="0" animBg="1"/>
      <p:bldP spid="39" grpId="0" animBg="1"/>
      <p:bldP spid="40" grpId="0" animBg="1"/>
      <p:bldP spid="41" grpId="0" animBg="1"/>
      <p:bldP spid="42" grpId="0" animBg="1"/>
      <p:bldP spid="45" grpId="0" animBg="1"/>
      <p:bldP spid="46" grpId="0" animBg="1"/>
      <p:bldP spid="48" grpId="0"/>
    </p:bldLst>
  </p:timing>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C76DEA-F650-51AB-7EE7-9B3064808EC0}"/>
              </a:ext>
            </a:extLst>
          </p:cNvPr>
          <p:cNvSpPr>
            <a:spLocks noGrp="1"/>
          </p:cNvSpPr>
          <p:nvPr>
            <p:ph type="title"/>
          </p:nvPr>
        </p:nvSpPr>
        <p:spPr/>
        <p:txBody>
          <a:bodyPr/>
          <a:lstStyle/>
          <a:p>
            <a:r>
              <a:rPr lang="en-GB" dirty="0"/>
              <a:t>Order of Operations (6)</a:t>
            </a:r>
          </a:p>
        </p:txBody>
      </p:sp>
      <p:sp>
        <p:nvSpPr>
          <p:cNvPr id="6" name="SQL">
            <a:extLst>
              <a:ext uri="{FF2B5EF4-FFF2-40B4-BE49-F238E27FC236}">
                <a16:creationId xmlns:a16="http://schemas.microsoft.com/office/drawing/2014/main" id="{C460184D-D803-F499-E82E-972FB39F9288}"/>
              </a:ext>
            </a:extLst>
          </p:cNvPr>
          <p:cNvSpPr>
            <a:spLocks noChangeArrowheads="1"/>
          </p:cNvSpPr>
          <p:nvPr/>
        </p:nvSpPr>
        <p:spPr bwMode="auto">
          <a:xfrm>
            <a:off x="619125" y="1524726"/>
            <a:ext cx="512191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name, company</a:t>
            </a:r>
          </a:p>
          <a:p>
            <a:pPr lvl="0" eaLnBrk="0" fontAlgn="base" hangingPunct="0">
              <a:spcBef>
                <a:spcPct val="0"/>
              </a:spcBef>
              <a:spcAft>
                <a:spcPct val="0"/>
              </a:spcAft>
            </a:pPr>
            <a:r>
              <a:rPr lang="en-US" altLang="en-US" sz="2000" dirty="0">
                <a:solidFill>
                  <a:srgbClr val="B2B2B2"/>
                </a:solidFill>
                <a:latin typeface="Consolas" panose="020B0609020204030204" pitchFamily="49" charset="0"/>
              </a:rPr>
              <a:t>2 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FROM</a:t>
            </a:r>
            <a:r>
              <a:rPr lang="en-US" altLang="en-US" sz="2000" dirty="0">
                <a:solidFill>
                  <a:srgbClr val="000000"/>
                </a:solidFill>
                <a:latin typeface="Consolas" panose="020B0609020204030204" pitchFamily="49" charset="0"/>
              </a:rPr>
              <a:t> Pet, Insurer</a:t>
            </a:r>
          </a:p>
          <a:p>
            <a:pPr eaLnBrk="0" fontAlgn="base" hangingPunct="0">
              <a:spcBef>
                <a:spcPct val="0"/>
              </a:spcBef>
              <a:spcAft>
                <a:spcPct val="0"/>
              </a:spcAft>
            </a:pPr>
            <a:r>
              <a:rPr lang="en-US" altLang="en-US" sz="2000" dirty="0">
                <a:solidFill>
                  <a:srgbClr val="B2B2B2"/>
                </a:solidFill>
                <a:latin typeface="Consolas" panose="020B0609020204030204" pitchFamily="49" charset="0"/>
              </a:rPr>
              <a:t>3 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WHERE</a:t>
            </a:r>
            <a:r>
              <a:rPr lang="en-US" altLang="en-US" sz="2000" dirty="0">
                <a:solidFill>
                  <a:srgbClr val="000000"/>
                </a:solidFill>
                <a:latin typeface="Consolas" panose="020B0609020204030204" pitchFamily="49" charset="0"/>
              </a:rPr>
              <a:t> </a:t>
            </a:r>
            <a:r>
              <a:rPr lang="en-US" altLang="en-US" sz="2000" dirty="0" err="1">
                <a:solidFill>
                  <a:srgbClr val="000000"/>
                </a:solidFill>
                <a:latin typeface="Consolas" panose="020B0609020204030204" pitchFamily="49" charset="0"/>
              </a:rPr>
              <a:t>Pet.insurer</a:t>
            </a:r>
            <a:r>
              <a:rPr lang="en-US" altLang="en-US" sz="2000" dirty="0">
                <a:solidFill>
                  <a:srgbClr val="000000"/>
                </a:solidFill>
                <a:latin typeface="Consolas" panose="020B0609020204030204" pitchFamily="49" charset="0"/>
              </a:rPr>
              <a:t> = Insurer.id;</a:t>
            </a:r>
            <a:endParaRPr lang="en-US" altLang="en-US" sz="2000" dirty="0">
              <a:latin typeface="Consolas" panose="020B0609020204030204" pitchFamily="49" charset="0"/>
            </a:endParaRPr>
          </a:p>
        </p:txBody>
      </p:sp>
      <p:sp>
        <p:nvSpPr>
          <p:cNvPr id="17" name="Pet">
            <a:extLst>
              <a:ext uri="{FF2B5EF4-FFF2-40B4-BE49-F238E27FC236}">
                <a16:creationId xmlns:a16="http://schemas.microsoft.com/office/drawing/2014/main" id="{37697A85-FE4A-5F49-87D3-DF60452AD532}"/>
              </a:ext>
            </a:extLst>
          </p:cNvPr>
          <p:cNvSpPr txBox="1"/>
          <p:nvPr/>
        </p:nvSpPr>
        <p:spPr>
          <a:xfrm>
            <a:off x="501700" y="3001464"/>
            <a:ext cx="1771650" cy="369332"/>
          </a:xfrm>
          <a:prstGeom prst="rect">
            <a:avLst/>
          </a:prstGeom>
          <a:noFill/>
        </p:spPr>
        <p:txBody>
          <a:bodyPr wrap="square" rtlCol="0">
            <a:spAutoFit/>
          </a:bodyPr>
          <a:lstStyle/>
          <a:p>
            <a:r>
              <a:rPr lang="en-GB" b="1" dirty="0"/>
              <a:t>Table: Pet</a:t>
            </a:r>
          </a:p>
        </p:txBody>
      </p:sp>
      <p:sp>
        <p:nvSpPr>
          <p:cNvPr id="19" name="Order">
            <a:extLst>
              <a:ext uri="{FF2B5EF4-FFF2-40B4-BE49-F238E27FC236}">
                <a16:creationId xmlns:a16="http://schemas.microsoft.com/office/drawing/2014/main" id="{39027E70-266E-C921-B96A-180149336170}"/>
              </a:ext>
            </a:extLst>
          </p:cNvPr>
          <p:cNvSpPr txBox="1"/>
          <p:nvPr/>
        </p:nvSpPr>
        <p:spPr>
          <a:xfrm>
            <a:off x="7417818" y="494976"/>
            <a:ext cx="2590417" cy="1815882"/>
          </a:xfrm>
          <a:prstGeom prst="rect">
            <a:avLst/>
          </a:prstGeom>
          <a:noFill/>
        </p:spPr>
        <p:txBody>
          <a:bodyPr wrap="square" rtlCol="0">
            <a:spAutoFit/>
          </a:bodyPr>
          <a:lstStyle/>
          <a:p>
            <a:r>
              <a:rPr lang="en-GB" sz="2800" b="1" dirty="0">
                <a:solidFill>
                  <a:srgbClr val="7030A0"/>
                </a:solidFill>
              </a:rPr>
              <a:t>Order</a:t>
            </a:r>
            <a:r>
              <a:rPr lang="en-GB" sz="2800" dirty="0">
                <a:solidFill>
                  <a:srgbClr val="7030A0"/>
                </a:solidFill>
              </a:rPr>
              <a:t>:</a:t>
            </a:r>
          </a:p>
          <a:p>
            <a:pPr lvl="1"/>
            <a:r>
              <a:rPr lang="en-GB" sz="2800" dirty="0">
                <a:solidFill>
                  <a:srgbClr val="7030A0"/>
                </a:solidFill>
              </a:rPr>
              <a:t>1.   </a:t>
            </a:r>
          </a:p>
          <a:p>
            <a:pPr lvl="1"/>
            <a:r>
              <a:rPr lang="en-GB" sz="2800" dirty="0">
                <a:solidFill>
                  <a:srgbClr val="7030A0"/>
                </a:solidFill>
              </a:rPr>
              <a:t>2.   </a:t>
            </a:r>
          </a:p>
          <a:p>
            <a:pPr lvl="1"/>
            <a:r>
              <a:rPr lang="en-GB" sz="2800" dirty="0">
                <a:solidFill>
                  <a:srgbClr val="7030A0"/>
                </a:solidFill>
              </a:rPr>
              <a:t>3.   </a:t>
            </a:r>
          </a:p>
        </p:txBody>
      </p:sp>
      <p:graphicFrame>
        <p:nvGraphicFramePr>
          <p:cNvPr id="22" name="Pet - Table">
            <a:extLst>
              <a:ext uri="{FF2B5EF4-FFF2-40B4-BE49-F238E27FC236}">
                <a16:creationId xmlns:a16="http://schemas.microsoft.com/office/drawing/2014/main" id="{E1C47C29-B1FD-7991-E626-2F12DC1AFFDE}"/>
              </a:ext>
            </a:extLst>
          </p:cNvPr>
          <p:cNvGraphicFramePr>
            <a:graphicFrameLocks noGrp="1"/>
          </p:cNvGraphicFramePr>
          <p:nvPr/>
        </p:nvGraphicFramePr>
        <p:xfrm>
          <a:off x="587423" y="3322532"/>
          <a:ext cx="2152143" cy="129540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536575">
                  <a:extLst>
                    <a:ext uri="{9D8B030D-6E8A-4147-A177-3AD203B41FA5}">
                      <a16:colId xmlns:a16="http://schemas.microsoft.com/office/drawing/2014/main" val="3258369125"/>
                    </a:ext>
                  </a:extLst>
                </a:gridCol>
                <a:gridCol w="803085">
                  <a:extLst>
                    <a:ext uri="{9D8B030D-6E8A-4147-A177-3AD203B41FA5}">
                      <a16:colId xmlns:a16="http://schemas.microsoft.com/office/drawing/2014/main" val="3431466674"/>
                    </a:ext>
                  </a:extLst>
                </a:gridCol>
              </a:tblGrid>
              <a:tr h="0">
                <a:tc>
                  <a:txBody>
                    <a:bodyPr/>
                    <a:lstStyle/>
                    <a:p>
                      <a:pPr algn="l"/>
                      <a:r>
                        <a:rPr lang="en-GB" sz="2000" b="0" i="0" dirty="0">
                          <a:solidFill>
                            <a:schemeClr val="bg1"/>
                          </a:solidFill>
                          <a:effectLst/>
                          <a:latin typeface="+mn-lt"/>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mn-lt"/>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mn-lt"/>
                          <a:cs typeface="Calibri" panose="020F0502020204030204" pitchFamily="34" charset="0"/>
                        </a:rPr>
                        <a:t>insurer</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latin typeface="+mn-lt"/>
                        </a:rPr>
                        <a:t>Cindy</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latin typeface="+mn-lt"/>
                        </a:rPr>
                        <a:t>Dog</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2</a:t>
                      </a: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latin typeface="+mn-lt"/>
                        </a:rPr>
                        <a:t>Snowy</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latin typeface="+mn-lt"/>
                        </a:rPr>
                        <a:t>Cat</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1</a:t>
                      </a: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a:solidFill>
                            <a:schemeClr val="tx1"/>
                          </a:solidFill>
                          <a:effectLst/>
                          <a:latin typeface="+mn-lt"/>
                        </a:rPr>
                        <a:t>Kitty</a:t>
                      </a:r>
                      <a:endParaRPr lang="en-GB" sz="2000" b="0" i="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a:solidFill>
                            <a:schemeClr val="tx1"/>
                          </a:solidFill>
                          <a:effectLst/>
                          <a:latin typeface="+mn-lt"/>
                        </a:rPr>
                        <a:t>Cat</a:t>
                      </a:r>
                      <a:endParaRPr lang="en-GB" sz="2000" b="0" i="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1</a:t>
                      </a:r>
                    </a:p>
                  </a:txBody>
                  <a:tcPr marL="9525" marR="9525" marT="9525" marB="9525" anchor="ctr"/>
                </a:tc>
                <a:extLst>
                  <a:ext uri="{0D108BD9-81ED-4DB2-BD59-A6C34878D82A}">
                    <a16:rowId xmlns:a16="http://schemas.microsoft.com/office/drawing/2014/main" val="812093042"/>
                  </a:ext>
                </a:extLst>
              </a:tr>
            </a:tbl>
          </a:graphicData>
        </a:graphic>
      </p:graphicFrame>
      <p:graphicFrame>
        <p:nvGraphicFramePr>
          <p:cNvPr id="23" name="Temp - Table">
            <a:extLst>
              <a:ext uri="{FF2B5EF4-FFF2-40B4-BE49-F238E27FC236}">
                <a16:creationId xmlns:a16="http://schemas.microsoft.com/office/drawing/2014/main" id="{57FE39BF-DC05-E516-87E6-26364C7BBE24}"/>
              </a:ext>
            </a:extLst>
          </p:cNvPr>
          <p:cNvGraphicFramePr>
            <a:graphicFrameLocks noGrp="1"/>
          </p:cNvGraphicFramePr>
          <p:nvPr/>
        </p:nvGraphicFramePr>
        <p:xfrm>
          <a:off x="4820545" y="3471000"/>
          <a:ext cx="3107310" cy="2933700"/>
        </p:xfrm>
        <a:graphic>
          <a:graphicData uri="http://schemas.openxmlformats.org/drawingml/2006/table">
            <a:tbl>
              <a:tblPr firstRow="1" bandRow="1">
                <a:tableStyleId>{5C22544A-7EE6-4342-B048-85BDC9FD1C3A}</a:tableStyleId>
              </a:tblPr>
              <a:tblGrid>
                <a:gridCol w="733616">
                  <a:extLst>
                    <a:ext uri="{9D8B030D-6E8A-4147-A177-3AD203B41FA5}">
                      <a16:colId xmlns:a16="http://schemas.microsoft.com/office/drawing/2014/main" val="2854243258"/>
                    </a:ext>
                  </a:extLst>
                </a:gridCol>
                <a:gridCol w="485775">
                  <a:extLst>
                    <a:ext uri="{9D8B030D-6E8A-4147-A177-3AD203B41FA5}">
                      <a16:colId xmlns:a16="http://schemas.microsoft.com/office/drawing/2014/main" val="3258369125"/>
                    </a:ext>
                  </a:extLst>
                </a:gridCol>
                <a:gridCol w="724091">
                  <a:extLst>
                    <a:ext uri="{9D8B030D-6E8A-4147-A177-3AD203B41FA5}">
                      <a16:colId xmlns:a16="http://schemas.microsoft.com/office/drawing/2014/main" val="3431466674"/>
                    </a:ext>
                  </a:extLst>
                </a:gridCol>
                <a:gridCol w="244475">
                  <a:extLst>
                    <a:ext uri="{9D8B030D-6E8A-4147-A177-3AD203B41FA5}">
                      <a16:colId xmlns:a16="http://schemas.microsoft.com/office/drawing/2014/main" val="994748769"/>
                    </a:ext>
                  </a:extLst>
                </a:gridCol>
                <a:gridCol w="919353">
                  <a:extLst>
                    <a:ext uri="{9D8B030D-6E8A-4147-A177-3AD203B41FA5}">
                      <a16:colId xmlns:a16="http://schemas.microsoft.com/office/drawing/2014/main" val="2564927205"/>
                    </a:ext>
                  </a:extLst>
                </a:gridCol>
              </a:tblGrid>
              <a:tr h="0">
                <a:tc>
                  <a:txBody>
                    <a:bodyPr/>
                    <a:lstStyle/>
                    <a:p>
                      <a:pPr algn="l"/>
                      <a:r>
                        <a:rPr lang="en-GB" sz="1800" b="0" i="0" dirty="0">
                          <a:solidFill>
                            <a:schemeClr val="bg1"/>
                          </a:solidFill>
                          <a:effectLst/>
                          <a:latin typeface="+mn-lt"/>
                          <a:cs typeface="Calibri" panose="020F0502020204030204" pitchFamily="34" charset="0"/>
                        </a:rPr>
                        <a:t>name</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type</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insurer</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id</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company</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Dog</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0</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Dog</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1659393023"/>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Dog</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417314715"/>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0</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777826486"/>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2705716962"/>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3471423699"/>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0</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1904147145"/>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976741720"/>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dirty="0">
                          <a:solidFill>
                            <a:schemeClr val="tx1"/>
                          </a:solidFill>
                          <a:effectLst/>
                          <a:latin typeface="+mn-lt"/>
                        </a:rPr>
                        <a:t>Cat</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1</a:t>
                      </a:r>
                    </a:p>
                  </a:txBody>
                  <a:tcPr marL="9525" marR="9525" marT="9525" marB="9525" anchor="ctr"/>
                </a:tc>
                <a:tc>
                  <a:txBody>
                    <a:bodyPr/>
                    <a:lstStyle/>
                    <a:p>
                      <a:pPr algn="l"/>
                      <a:r>
                        <a:rPr lang="en-GB" sz="1800" b="0" i="0" dirty="0">
                          <a:solidFill>
                            <a:schemeClr val="tx1"/>
                          </a:solidFill>
                          <a:effectLst/>
                          <a:latin typeface="+mn-lt"/>
                          <a:cs typeface="Calibri" panose="020F0502020204030204" pitchFamily="34" charset="0"/>
                        </a:rPr>
                        <a:t>2</a:t>
                      </a: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2806725075"/>
                  </a:ext>
                </a:extLst>
              </a:tr>
            </a:tbl>
          </a:graphicData>
        </a:graphic>
      </p:graphicFrame>
      <p:sp>
        <p:nvSpPr>
          <p:cNvPr id="28" name="Output - Arrow">
            <a:extLst>
              <a:ext uri="{FF2B5EF4-FFF2-40B4-BE49-F238E27FC236}">
                <a16:creationId xmlns:a16="http://schemas.microsoft.com/office/drawing/2014/main" id="{27833E17-04CE-E6AD-804B-EB51B8F41239}"/>
              </a:ext>
            </a:extLst>
          </p:cNvPr>
          <p:cNvSpPr/>
          <p:nvPr/>
        </p:nvSpPr>
        <p:spPr>
          <a:xfrm>
            <a:off x="8529428" y="4096941"/>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Name - Column">
            <a:extLst>
              <a:ext uri="{FF2B5EF4-FFF2-40B4-BE49-F238E27FC236}">
                <a16:creationId xmlns:a16="http://schemas.microsoft.com/office/drawing/2014/main" id="{9CFD6623-90F9-8CA0-585A-959ADF79ADE1}"/>
              </a:ext>
            </a:extLst>
          </p:cNvPr>
          <p:cNvSpPr/>
          <p:nvPr/>
        </p:nvSpPr>
        <p:spPr>
          <a:xfrm>
            <a:off x="4795199" y="3429648"/>
            <a:ext cx="720000" cy="299631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Age - Column">
            <a:extLst>
              <a:ext uri="{FF2B5EF4-FFF2-40B4-BE49-F238E27FC236}">
                <a16:creationId xmlns:a16="http://schemas.microsoft.com/office/drawing/2014/main" id="{F8908677-B9D0-5945-93E8-1112E85882A9}"/>
              </a:ext>
            </a:extLst>
          </p:cNvPr>
          <p:cNvSpPr/>
          <p:nvPr/>
        </p:nvSpPr>
        <p:spPr>
          <a:xfrm>
            <a:off x="6999769" y="3427483"/>
            <a:ext cx="928086" cy="299848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Name - Arrow">
            <a:extLst>
              <a:ext uri="{FF2B5EF4-FFF2-40B4-BE49-F238E27FC236}">
                <a16:creationId xmlns:a16="http://schemas.microsoft.com/office/drawing/2014/main" id="{74743580-1BBD-44D1-9B4B-3FCD69A573CA}"/>
              </a:ext>
            </a:extLst>
          </p:cNvPr>
          <p:cNvCxnSpPr>
            <a:cxnSpLocks/>
          </p:cNvCxnSpPr>
          <p:nvPr/>
        </p:nvCxnSpPr>
        <p:spPr>
          <a:xfrm flipH="1">
            <a:off x="5353216" y="2365487"/>
            <a:ext cx="966553" cy="1014328"/>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 name="Age - Arrow">
            <a:extLst>
              <a:ext uri="{FF2B5EF4-FFF2-40B4-BE49-F238E27FC236}">
                <a16:creationId xmlns:a16="http://schemas.microsoft.com/office/drawing/2014/main" id="{4A59694F-BFA9-47E0-AA51-53E4E5936D1D}"/>
              </a:ext>
            </a:extLst>
          </p:cNvPr>
          <p:cNvCxnSpPr>
            <a:cxnSpLocks/>
          </p:cNvCxnSpPr>
          <p:nvPr/>
        </p:nvCxnSpPr>
        <p:spPr>
          <a:xfrm>
            <a:off x="6319769" y="2365487"/>
            <a:ext cx="881143" cy="1006058"/>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2" name="Insurer">
            <a:extLst>
              <a:ext uri="{FF2B5EF4-FFF2-40B4-BE49-F238E27FC236}">
                <a16:creationId xmlns:a16="http://schemas.microsoft.com/office/drawing/2014/main" id="{94BF93ED-DCBC-929A-3978-645514F34654}"/>
              </a:ext>
            </a:extLst>
          </p:cNvPr>
          <p:cNvSpPr txBox="1"/>
          <p:nvPr/>
        </p:nvSpPr>
        <p:spPr>
          <a:xfrm>
            <a:off x="501700" y="5027767"/>
            <a:ext cx="1771650" cy="369332"/>
          </a:xfrm>
          <a:prstGeom prst="rect">
            <a:avLst/>
          </a:prstGeom>
          <a:noFill/>
        </p:spPr>
        <p:txBody>
          <a:bodyPr wrap="square" rtlCol="0">
            <a:spAutoFit/>
          </a:bodyPr>
          <a:lstStyle/>
          <a:p>
            <a:r>
              <a:rPr lang="en-GB" b="1" dirty="0"/>
              <a:t>Table: Insurer</a:t>
            </a:r>
          </a:p>
        </p:txBody>
      </p:sp>
      <p:graphicFrame>
        <p:nvGraphicFramePr>
          <p:cNvPr id="3" name="Pet - Insurer">
            <a:extLst>
              <a:ext uri="{FF2B5EF4-FFF2-40B4-BE49-F238E27FC236}">
                <a16:creationId xmlns:a16="http://schemas.microsoft.com/office/drawing/2014/main" id="{DED03D99-A09A-68ED-29D5-FF622C9224CD}"/>
              </a:ext>
            </a:extLst>
          </p:cNvPr>
          <p:cNvGraphicFramePr>
            <a:graphicFrameLocks noGrp="1"/>
          </p:cNvGraphicFramePr>
          <p:nvPr/>
        </p:nvGraphicFramePr>
        <p:xfrm>
          <a:off x="587423" y="5348835"/>
          <a:ext cx="1285431" cy="1295400"/>
        </p:xfrm>
        <a:graphic>
          <a:graphicData uri="http://schemas.openxmlformats.org/drawingml/2006/table">
            <a:tbl>
              <a:tblPr firstRow="1" bandRow="1">
                <a:tableStyleId>{5C22544A-7EE6-4342-B048-85BDC9FD1C3A}</a:tableStyleId>
              </a:tblPr>
              <a:tblGrid>
                <a:gridCol w="268288">
                  <a:extLst>
                    <a:ext uri="{9D8B030D-6E8A-4147-A177-3AD203B41FA5}">
                      <a16:colId xmlns:a16="http://schemas.microsoft.com/office/drawing/2014/main" val="2854243258"/>
                    </a:ext>
                  </a:extLst>
                </a:gridCol>
                <a:gridCol w="1017143">
                  <a:extLst>
                    <a:ext uri="{9D8B030D-6E8A-4147-A177-3AD203B41FA5}">
                      <a16:colId xmlns:a16="http://schemas.microsoft.com/office/drawing/2014/main" val="3258369125"/>
                    </a:ext>
                  </a:extLst>
                </a:gridCol>
              </a:tblGrid>
              <a:tr h="0">
                <a:tc>
                  <a:txBody>
                    <a:bodyPr/>
                    <a:lstStyle/>
                    <a:p>
                      <a:pPr algn="l"/>
                      <a:r>
                        <a:rPr lang="en-GB" sz="2000" b="0" i="0" dirty="0">
                          <a:solidFill>
                            <a:schemeClr val="bg1"/>
                          </a:solidFill>
                          <a:effectLst/>
                          <a:latin typeface="+mn-lt"/>
                          <a:cs typeface="Calibri" panose="020F0502020204030204" pitchFamily="34" charset="0"/>
                        </a:rPr>
                        <a:t>id</a:t>
                      </a:r>
                    </a:p>
                  </a:txBody>
                  <a:tcPr marL="9525" marR="9525" marT="9525" marB="9525" anchor="ctr"/>
                </a:tc>
                <a:tc>
                  <a:txBody>
                    <a:bodyPr/>
                    <a:lstStyle/>
                    <a:p>
                      <a:pPr algn="l"/>
                      <a:r>
                        <a:rPr lang="en-GB" sz="2000" b="0" i="0" dirty="0">
                          <a:solidFill>
                            <a:schemeClr val="bg1"/>
                          </a:solidFill>
                          <a:effectLst/>
                          <a:latin typeface="+mn-lt"/>
                          <a:cs typeface="Calibri" panose="020F0502020204030204" pitchFamily="34" charset="0"/>
                        </a:rPr>
                        <a:t>company</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latin typeface="+mn-lt"/>
                        </a:rPr>
                        <a:t>0</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None</a:t>
                      </a: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latin typeface="+mn-lt"/>
                        </a:rPr>
                        <a:t>1</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latin typeface="+mn-lt"/>
                        </a:rPr>
                        <a:t>2</a:t>
                      </a:r>
                      <a:endParaRPr lang="en-GB" sz="20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2000" b="0" i="0" dirty="0" err="1">
                          <a:solidFill>
                            <a:schemeClr val="tx1"/>
                          </a:solidFill>
                          <a:effectLst/>
                          <a:latin typeface="+mn-lt"/>
                          <a:cs typeface="Calibri" panose="020F0502020204030204" pitchFamily="34" charset="0"/>
                        </a:rPr>
                        <a:t>PetSure</a:t>
                      </a:r>
                      <a:endParaRPr lang="en-GB" sz="20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bl>
          </a:graphicData>
        </a:graphic>
      </p:graphicFrame>
      <p:graphicFrame>
        <p:nvGraphicFramePr>
          <p:cNvPr id="43" name="Output - Table">
            <a:extLst>
              <a:ext uri="{FF2B5EF4-FFF2-40B4-BE49-F238E27FC236}">
                <a16:creationId xmlns:a16="http://schemas.microsoft.com/office/drawing/2014/main" id="{568C7E54-FFF5-6232-653C-F1481651CB4C}"/>
              </a:ext>
            </a:extLst>
          </p:cNvPr>
          <p:cNvGraphicFramePr>
            <a:graphicFrameLocks noGrp="1"/>
          </p:cNvGraphicFramePr>
          <p:nvPr/>
        </p:nvGraphicFramePr>
        <p:xfrm>
          <a:off x="9595568" y="3469916"/>
          <a:ext cx="1652969" cy="1173480"/>
        </p:xfrm>
        <a:graphic>
          <a:graphicData uri="http://schemas.openxmlformats.org/drawingml/2006/table">
            <a:tbl>
              <a:tblPr firstRow="1" bandRow="1">
                <a:tableStyleId>{5C22544A-7EE6-4342-B048-85BDC9FD1C3A}</a:tableStyleId>
              </a:tblPr>
              <a:tblGrid>
                <a:gridCol w="733616">
                  <a:extLst>
                    <a:ext uri="{9D8B030D-6E8A-4147-A177-3AD203B41FA5}">
                      <a16:colId xmlns:a16="http://schemas.microsoft.com/office/drawing/2014/main" val="2854243258"/>
                    </a:ext>
                  </a:extLst>
                </a:gridCol>
                <a:gridCol w="919353">
                  <a:extLst>
                    <a:ext uri="{9D8B030D-6E8A-4147-A177-3AD203B41FA5}">
                      <a16:colId xmlns:a16="http://schemas.microsoft.com/office/drawing/2014/main" val="2564927205"/>
                    </a:ext>
                  </a:extLst>
                </a:gridCol>
              </a:tblGrid>
              <a:tr h="0">
                <a:tc>
                  <a:txBody>
                    <a:bodyPr/>
                    <a:lstStyle/>
                    <a:p>
                      <a:pPr algn="l"/>
                      <a:r>
                        <a:rPr lang="en-GB" sz="1800" b="0" i="0" dirty="0">
                          <a:solidFill>
                            <a:schemeClr val="bg1"/>
                          </a:solidFill>
                          <a:effectLst/>
                          <a:latin typeface="+mn-lt"/>
                          <a:cs typeface="Calibri" panose="020F0502020204030204" pitchFamily="34" charset="0"/>
                        </a:rPr>
                        <a:t>name</a:t>
                      </a:r>
                    </a:p>
                  </a:txBody>
                  <a:tcPr marL="9525" marR="9525" marT="9525" marB="9525" anchor="ctr"/>
                </a:tc>
                <a:tc>
                  <a:txBody>
                    <a:bodyPr/>
                    <a:lstStyle/>
                    <a:p>
                      <a:pPr algn="l"/>
                      <a:r>
                        <a:rPr lang="en-GB" sz="1800" b="0" i="0" dirty="0">
                          <a:solidFill>
                            <a:schemeClr val="bg1"/>
                          </a:solidFill>
                          <a:effectLst/>
                          <a:latin typeface="+mn-lt"/>
                          <a:cs typeface="Calibri" panose="020F0502020204030204" pitchFamily="34" charset="0"/>
                        </a:rPr>
                        <a:t>company</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1800" b="0" dirty="0">
                          <a:solidFill>
                            <a:schemeClr val="tx1"/>
                          </a:solidFill>
                          <a:effectLst/>
                          <a:latin typeface="+mn-lt"/>
                        </a:rPr>
                        <a:t>Cindy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algn="l"/>
                      <a:r>
                        <a:rPr lang="en-GB" sz="1800" b="0" i="0" dirty="0" err="1">
                          <a:solidFill>
                            <a:schemeClr val="tx1"/>
                          </a:solidFill>
                          <a:effectLst/>
                          <a:latin typeface="+mn-lt"/>
                          <a:cs typeface="Calibri" panose="020F0502020204030204" pitchFamily="34" charset="0"/>
                        </a:rPr>
                        <a:t>PetSure</a:t>
                      </a:r>
                      <a:endParaRPr lang="en-GB" sz="1800" b="0" i="0" dirty="0">
                        <a:solidFill>
                          <a:schemeClr val="tx1"/>
                        </a:solidFill>
                        <a:effectLst/>
                        <a:latin typeface="+mn-lt"/>
                        <a:cs typeface="Calibri" panose="020F0502020204030204" pitchFamily="34" charset="0"/>
                      </a:endParaRPr>
                    </a:p>
                  </a:txBody>
                  <a:tcPr marL="9525" marR="9525" marT="9525" marB="9525" anchor="ctr"/>
                </a:tc>
                <a:extLst>
                  <a:ext uri="{0D108BD9-81ED-4DB2-BD59-A6C34878D82A}">
                    <a16:rowId xmlns:a16="http://schemas.microsoft.com/office/drawing/2014/main" val="417314715"/>
                  </a:ext>
                </a:extLst>
              </a:tr>
              <a:tr h="0">
                <a:tc>
                  <a:txBody>
                    <a:bodyPr/>
                    <a:lstStyle/>
                    <a:p>
                      <a:pPr algn="l"/>
                      <a:r>
                        <a:rPr lang="en-GB" sz="1800" b="0" dirty="0">
                          <a:solidFill>
                            <a:schemeClr val="tx1"/>
                          </a:solidFill>
                          <a:effectLst/>
                          <a:latin typeface="+mn-lt"/>
                        </a:rPr>
                        <a:t>Snowy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2705716962"/>
                  </a:ext>
                </a:extLst>
              </a:tr>
              <a:tr h="0">
                <a:tc>
                  <a:txBody>
                    <a:bodyPr/>
                    <a:lstStyle/>
                    <a:p>
                      <a:pPr algn="l"/>
                      <a:r>
                        <a:rPr lang="en-GB" sz="1800" b="0" dirty="0">
                          <a:solidFill>
                            <a:schemeClr val="tx1"/>
                          </a:solidFill>
                          <a:effectLst/>
                          <a:latin typeface="+mn-lt"/>
                        </a:rPr>
                        <a:t>Kitty</a:t>
                      </a:r>
                      <a:endParaRPr lang="en-GB" sz="1800" b="0" i="0" dirty="0">
                        <a:solidFill>
                          <a:schemeClr val="tx1"/>
                        </a:solidFill>
                        <a:effectLst/>
                        <a:latin typeface="+mn-lt"/>
                        <a:cs typeface="Calibri" panose="020F0502020204030204" pitchFamily="34" charset="0"/>
                      </a:endParaRP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cs typeface="Calibri" panose="020F0502020204030204" pitchFamily="34" charset="0"/>
                        </a:rPr>
                        <a:t>9 Lives</a:t>
                      </a:r>
                    </a:p>
                  </a:txBody>
                  <a:tcPr marL="9525" marR="9525" marT="9525" marB="9525" anchor="ctr"/>
                </a:tc>
                <a:extLst>
                  <a:ext uri="{0D108BD9-81ED-4DB2-BD59-A6C34878D82A}">
                    <a16:rowId xmlns:a16="http://schemas.microsoft.com/office/drawing/2014/main" val="976741720"/>
                  </a:ext>
                </a:extLst>
              </a:tr>
            </a:tbl>
          </a:graphicData>
        </a:graphic>
      </p:graphicFrame>
      <p:sp>
        <p:nvSpPr>
          <p:cNvPr id="44" name="From - Brace">
            <a:extLst>
              <a:ext uri="{FF2B5EF4-FFF2-40B4-BE49-F238E27FC236}">
                <a16:creationId xmlns:a16="http://schemas.microsoft.com/office/drawing/2014/main" id="{4AB582EA-E161-553B-E130-D03025BDF6D6}"/>
              </a:ext>
            </a:extLst>
          </p:cNvPr>
          <p:cNvSpPr/>
          <p:nvPr/>
        </p:nvSpPr>
        <p:spPr>
          <a:xfrm>
            <a:off x="3443509" y="3694006"/>
            <a:ext cx="594061" cy="2495550"/>
          </a:xfrm>
          <a:prstGeom prst="rightBrace">
            <a:avLst>
              <a:gd name="adj1" fmla="val 56609"/>
              <a:gd name="adj2" fmla="val 50000"/>
            </a:avLst>
          </a:prstGeom>
          <a:noFill/>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6" name="Cindy - Row">
            <a:extLst>
              <a:ext uri="{FF2B5EF4-FFF2-40B4-BE49-F238E27FC236}">
                <a16:creationId xmlns:a16="http://schemas.microsoft.com/office/drawing/2014/main" id="{58BEFD8E-59D7-4B59-AD8D-56CF2F8CD107}"/>
              </a:ext>
            </a:extLst>
          </p:cNvPr>
          <p:cNvSpPr/>
          <p:nvPr/>
        </p:nvSpPr>
        <p:spPr>
          <a:xfrm>
            <a:off x="4758704" y="4345740"/>
            <a:ext cx="320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Cindy - Purple">
            <a:extLst>
              <a:ext uri="{FF2B5EF4-FFF2-40B4-BE49-F238E27FC236}">
                <a16:creationId xmlns:a16="http://schemas.microsoft.com/office/drawing/2014/main" id="{2138EE6B-2A89-465B-8D74-A2F0DB965B5D}"/>
              </a:ext>
            </a:extLst>
          </p:cNvPr>
          <p:cNvSpPr/>
          <p:nvPr/>
        </p:nvSpPr>
        <p:spPr>
          <a:xfrm>
            <a:off x="6770055" y="4351721"/>
            <a:ext cx="229174" cy="288000"/>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Cindy - Yellow">
            <a:extLst>
              <a:ext uri="{FF2B5EF4-FFF2-40B4-BE49-F238E27FC236}">
                <a16:creationId xmlns:a16="http://schemas.microsoft.com/office/drawing/2014/main" id="{40519916-002C-4B50-9CAD-882322014126}"/>
              </a:ext>
            </a:extLst>
          </p:cNvPr>
          <p:cNvSpPr/>
          <p:nvPr/>
        </p:nvSpPr>
        <p:spPr>
          <a:xfrm>
            <a:off x="6045503" y="4351721"/>
            <a:ext cx="706825" cy="288000"/>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Snowy - Row">
            <a:extLst>
              <a:ext uri="{FF2B5EF4-FFF2-40B4-BE49-F238E27FC236}">
                <a16:creationId xmlns:a16="http://schemas.microsoft.com/office/drawing/2014/main" id="{590FF629-1C6B-4A73-9B6F-1A3047E0C351}"/>
              </a:ext>
            </a:extLst>
          </p:cNvPr>
          <p:cNvSpPr/>
          <p:nvPr/>
        </p:nvSpPr>
        <p:spPr>
          <a:xfrm>
            <a:off x="4758704" y="4932480"/>
            <a:ext cx="320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Snowy - Purple">
            <a:extLst>
              <a:ext uri="{FF2B5EF4-FFF2-40B4-BE49-F238E27FC236}">
                <a16:creationId xmlns:a16="http://schemas.microsoft.com/office/drawing/2014/main" id="{2059C02D-22B0-4CF8-88BE-A139FCC5E365}"/>
              </a:ext>
            </a:extLst>
          </p:cNvPr>
          <p:cNvSpPr/>
          <p:nvPr/>
        </p:nvSpPr>
        <p:spPr>
          <a:xfrm>
            <a:off x="6770055" y="4942271"/>
            <a:ext cx="229174" cy="288000"/>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Snowy - Yellow">
            <a:extLst>
              <a:ext uri="{FF2B5EF4-FFF2-40B4-BE49-F238E27FC236}">
                <a16:creationId xmlns:a16="http://schemas.microsoft.com/office/drawing/2014/main" id="{A908B61F-A960-4A63-B920-885CE28F0894}"/>
              </a:ext>
            </a:extLst>
          </p:cNvPr>
          <p:cNvSpPr/>
          <p:nvPr/>
        </p:nvSpPr>
        <p:spPr>
          <a:xfrm>
            <a:off x="6045503" y="4942271"/>
            <a:ext cx="706825" cy="288000"/>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Kitty - Row">
            <a:extLst>
              <a:ext uri="{FF2B5EF4-FFF2-40B4-BE49-F238E27FC236}">
                <a16:creationId xmlns:a16="http://schemas.microsoft.com/office/drawing/2014/main" id="{26C3B023-4A76-47DA-A8DB-F1CCF91F3D0B}"/>
              </a:ext>
            </a:extLst>
          </p:cNvPr>
          <p:cNvSpPr/>
          <p:nvPr/>
        </p:nvSpPr>
        <p:spPr>
          <a:xfrm>
            <a:off x="4758704" y="5810304"/>
            <a:ext cx="320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Kitty - Purple">
            <a:extLst>
              <a:ext uri="{FF2B5EF4-FFF2-40B4-BE49-F238E27FC236}">
                <a16:creationId xmlns:a16="http://schemas.microsoft.com/office/drawing/2014/main" id="{D34CE510-4BD9-46EC-99AA-DBE7BD04F483}"/>
              </a:ext>
            </a:extLst>
          </p:cNvPr>
          <p:cNvSpPr/>
          <p:nvPr/>
        </p:nvSpPr>
        <p:spPr>
          <a:xfrm>
            <a:off x="6770055" y="5820095"/>
            <a:ext cx="229174" cy="288000"/>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Kitty - Yellow">
            <a:extLst>
              <a:ext uri="{FF2B5EF4-FFF2-40B4-BE49-F238E27FC236}">
                <a16:creationId xmlns:a16="http://schemas.microsoft.com/office/drawing/2014/main" id="{F09336A1-7B8C-4DEF-A7AB-2B0BC362A9E8}"/>
              </a:ext>
            </a:extLst>
          </p:cNvPr>
          <p:cNvSpPr/>
          <p:nvPr/>
        </p:nvSpPr>
        <p:spPr>
          <a:xfrm>
            <a:off x="6045503" y="5820095"/>
            <a:ext cx="706825" cy="288000"/>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Where Arrow - insurer">
            <a:extLst>
              <a:ext uri="{FF2B5EF4-FFF2-40B4-BE49-F238E27FC236}">
                <a16:creationId xmlns:a16="http://schemas.microsoft.com/office/drawing/2014/main" id="{82F3C0C0-627A-4352-B521-71A74C69D03B}"/>
              </a:ext>
            </a:extLst>
          </p:cNvPr>
          <p:cNvCxnSpPr>
            <a:cxnSpLocks/>
          </p:cNvCxnSpPr>
          <p:nvPr/>
        </p:nvCxnSpPr>
        <p:spPr>
          <a:xfrm flipH="1">
            <a:off x="6208143" y="3058728"/>
            <a:ext cx="324000" cy="396000"/>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9" name="Where Arrow - id">
            <a:extLst>
              <a:ext uri="{FF2B5EF4-FFF2-40B4-BE49-F238E27FC236}">
                <a16:creationId xmlns:a16="http://schemas.microsoft.com/office/drawing/2014/main" id="{B9A62A42-1BDC-4ED8-8925-BD8226428803}"/>
              </a:ext>
            </a:extLst>
          </p:cNvPr>
          <p:cNvCxnSpPr>
            <a:cxnSpLocks/>
          </p:cNvCxnSpPr>
          <p:nvPr/>
        </p:nvCxnSpPr>
        <p:spPr>
          <a:xfrm>
            <a:off x="6530573" y="3057089"/>
            <a:ext cx="324000" cy="396000"/>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3418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2000"/>
                                        <p:tgtEl>
                                          <p:spTgt spid="22"/>
                                        </p:tgtEl>
                                      </p:cBhvr>
                                    </p:animEffect>
                                  </p:childTnLst>
                                </p:cTn>
                              </p:par>
                            </p:childTnLst>
                          </p:cTn>
                        </p:par>
                        <p:par>
                          <p:cTn id="12" fill="hold">
                            <p:stCondLst>
                              <p:cond delay="2500"/>
                            </p:stCondLst>
                            <p:childTnLst>
                              <p:par>
                                <p:cTn id="13" presetID="22" presetClass="entr" presetSubtype="8"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3000"/>
                            </p:stCondLst>
                            <p:childTnLst>
                              <p:par>
                                <p:cTn id="17" presetID="22" presetClass="entr" presetSubtype="1"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up)">
                                      <p:cBhvr>
                                        <p:cTn id="19" dur="2000"/>
                                        <p:tgtEl>
                                          <p:spTgt spid="3"/>
                                        </p:tgtEl>
                                      </p:cBhvr>
                                    </p:animEffect>
                                  </p:childTnLst>
                                </p:cTn>
                              </p:par>
                            </p:childTnLst>
                          </p:cTn>
                        </p:par>
                        <p:par>
                          <p:cTn id="20" fill="hold">
                            <p:stCondLst>
                              <p:cond delay="5000"/>
                            </p:stCondLst>
                            <p:childTnLst>
                              <p:par>
                                <p:cTn id="21" presetID="22" presetClass="entr" presetSubtype="8" fill="hold" grpId="0" nodeType="after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wipe(left)">
                                      <p:cBhvr>
                                        <p:cTn id="23" dur="1500"/>
                                        <p:tgtEl>
                                          <p:spTgt spid="6">
                                            <p:txEl>
                                              <p:pRg st="0" end="0"/>
                                            </p:txEl>
                                          </p:spTgt>
                                        </p:tgtEl>
                                      </p:cBhvr>
                                    </p:animEffect>
                                  </p:childTnLst>
                                </p:cTn>
                              </p:par>
                            </p:childTnLst>
                          </p:cTn>
                        </p:par>
                        <p:par>
                          <p:cTn id="24" fill="hold">
                            <p:stCondLst>
                              <p:cond delay="6500"/>
                            </p:stCondLst>
                            <p:childTnLst>
                              <p:par>
                                <p:cTn id="25" presetID="22" presetClass="entr" presetSubtype="8" fill="hold" grpId="0" nodeType="after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animEffect transition="in" filter="wipe(left)">
                                      <p:cBhvr>
                                        <p:cTn id="27" dur="1500"/>
                                        <p:tgtEl>
                                          <p:spTgt spid="6">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2" end="2"/>
                                            </p:txEl>
                                          </p:spTgt>
                                        </p:tgtEl>
                                        <p:attrNameLst>
                                          <p:attrName>style.visibility</p:attrName>
                                        </p:attrNameLst>
                                      </p:cBhvr>
                                      <p:to>
                                        <p:strVal val="visible"/>
                                      </p:to>
                                    </p:set>
                                    <p:animEffect transition="in" filter="wipe(left)">
                                      <p:cBhvr>
                                        <p:cTn id="32" dur="2500"/>
                                        <p:tgtEl>
                                          <p:spTgt spid="6">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
                                            <p:txEl>
                                              <p:pRg st="0" end="0"/>
                                            </p:txEl>
                                          </p:spTgt>
                                        </p:tgtEl>
                                        <p:attrNameLst>
                                          <p:attrName>style.visibility</p:attrName>
                                        </p:attrNameLst>
                                      </p:cBhvr>
                                      <p:to>
                                        <p:strVal val="visible"/>
                                      </p:to>
                                    </p:set>
                                    <p:animEffect transition="in" filter="wipe(left)">
                                      <p:cBhvr>
                                        <p:cTn id="37" dur="1000"/>
                                        <p:tgtEl>
                                          <p:spTgt spid="19">
                                            <p:txEl>
                                              <p:pRg st="0" end="0"/>
                                            </p:txEl>
                                          </p:spTgt>
                                        </p:tgtEl>
                                      </p:cBhvr>
                                    </p:animEffect>
                                  </p:childTnLst>
                                </p:cTn>
                              </p:par>
                            </p:childTnLst>
                          </p:cTn>
                        </p:par>
                        <p:par>
                          <p:cTn id="38" fill="hold">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wipe(left)">
                                      <p:cBhvr>
                                        <p:cTn id="41" dur="1000"/>
                                        <p:tgtEl>
                                          <p:spTgt spid="19">
                                            <p:txEl>
                                              <p:pRg st="1" end="1"/>
                                            </p:txEl>
                                          </p:spTgt>
                                        </p:tgtEl>
                                      </p:cBhvr>
                                    </p:animEffect>
                                  </p:childTnLst>
                                </p:cTn>
                              </p:par>
                            </p:childTnLst>
                          </p:cTn>
                        </p:par>
                        <p:par>
                          <p:cTn id="42" fill="hold">
                            <p:stCondLst>
                              <p:cond delay="2000"/>
                            </p:stCondLst>
                            <p:childTnLst>
                              <p:par>
                                <p:cTn id="43" presetID="22" presetClass="entr" presetSubtype="8" fill="hold" grpId="0" nodeType="afterEffect">
                                  <p:stCondLst>
                                    <p:cond delay="0"/>
                                  </p:stCondLst>
                                  <p:childTnLst>
                                    <p:set>
                                      <p:cBhvr>
                                        <p:cTn id="44" dur="1" fill="hold">
                                          <p:stCondLst>
                                            <p:cond delay="0"/>
                                          </p:stCondLst>
                                        </p:cTn>
                                        <p:tgtEl>
                                          <p:spTgt spid="19">
                                            <p:txEl>
                                              <p:pRg st="2" end="2"/>
                                            </p:txEl>
                                          </p:spTgt>
                                        </p:tgtEl>
                                        <p:attrNameLst>
                                          <p:attrName>style.visibility</p:attrName>
                                        </p:attrNameLst>
                                      </p:cBhvr>
                                      <p:to>
                                        <p:strVal val="visible"/>
                                      </p:to>
                                    </p:set>
                                    <p:animEffect transition="in" filter="wipe(left)">
                                      <p:cBhvr>
                                        <p:cTn id="45" dur="1000"/>
                                        <p:tgtEl>
                                          <p:spTgt spid="19">
                                            <p:txEl>
                                              <p:pRg st="2" end="2"/>
                                            </p:txEl>
                                          </p:spTgt>
                                        </p:tgtEl>
                                      </p:cBhvr>
                                    </p:animEffect>
                                  </p:childTnLst>
                                </p:cTn>
                              </p:par>
                            </p:childTnLst>
                          </p:cTn>
                        </p:par>
                        <p:par>
                          <p:cTn id="46" fill="hold">
                            <p:stCondLst>
                              <p:cond delay="3000"/>
                            </p:stCondLst>
                            <p:childTnLst>
                              <p:par>
                                <p:cTn id="47" presetID="22" presetClass="entr" presetSubtype="8" fill="hold" grpId="0" nodeType="afterEffect">
                                  <p:stCondLst>
                                    <p:cond delay="0"/>
                                  </p:stCondLst>
                                  <p:childTnLst>
                                    <p:set>
                                      <p:cBhvr>
                                        <p:cTn id="48" dur="1" fill="hold">
                                          <p:stCondLst>
                                            <p:cond delay="0"/>
                                          </p:stCondLst>
                                        </p:cTn>
                                        <p:tgtEl>
                                          <p:spTgt spid="19">
                                            <p:txEl>
                                              <p:pRg st="3" end="3"/>
                                            </p:txEl>
                                          </p:spTgt>
                                        </p:tgtEl>
                                        <p:attrNameLst>
                                          <p:attrName>style.visibility</p:attrName>
                                        </p:attrNameLst>
                                      </p:cBhvr>
                                      <p:to>
                                        <p:strVal val="visible"/>
                                      </p:to>
                                    </p:set>
                                    <p:animEffect transition="in" filter="wipe(left)">
                                      <p:cBhvr>
                                        <p:cTn id="49" dur="1000"/>
                                        <p:tgtEl>
                                          <p:spTgt spid="19">
                                            <p:txEl>
                                              <p:pRg st="3" end="3"/>
                                            </p:txEl>
                                          </p:spTgt>
                                        </p:tgtEl>
                                      </p:cBhvr>
                                    </p:animEffect>
                                  </p:childTnLst>
                                </p:cTn>
                              </p:par>
                            </p:childTnLst>
                          </p:cTn>
                        </p:par>
                        <p:par>
                          <p:cTn id="50" fill="hold">
                            <p:stCondLst>
                              <p:cond delay="4000"/>
                            </p:stCondLst>
                            <p:childTnLst>
                              <p:par>
                                <p:cTn id="51" presetID="22" presetClass="entr" presetSubtype="8" fill="hold" grpId="0" nodeType="afterEffect">
                                  <p:stCondLst>
                                    <p:cond delay="0"/>
                                  </p:stCondLst>
                                  <p:childTnLst>
                                    <p:set>
                                      <p:cBhvr>
                                        <p:cTn id="52" dur="1" fill="hold">
                                          <p:stCondLst>
                                            <p:cond delay="0"/>
                                          </p:stCondLst>
                                        </p:cTn>
                                        <p:tgtEl>
                                          <p:spTgt spid="44"/>
                                        </p:tgtEl>
                                        <p:attrNameLst>
                                          <p:attrName>style.visibility</p:attrName>
                                        </p:attrNameLst>
                                      </p:cBhvr>
                                      <p:to>
                                        <p:strVal val="visible"/>
                                      </p:to>
                                    </p:set>
                                    <p:animEffect transition="in" filter="wipe(left)">
                                      <p:cBhvr>
                                        <p:cTn id="53" dur="1000"/>
                                        <p:tgtEl>
                                          <p:spTgt spid="44"/>
                                        </p:tgtEl>
                                      </p:cBhvr>
                                    </p:animEffect>
                                  </p:childTnLst>
                                </p:cTn>
                              </p:par>
                            </p:childTnLst>
                          </p:cTn>
                        </p:par>
                        <p:par>
                          <p:cTn id="54" fill="hold">
                            <p:stCondLst>
                              <p:cond delay="5000"/>
                            </p:stCondLst>
                            <p:childTnLst>
                              <p:par>
                                <p:cTn id="55" presetID="22" presetClass="entr" presetSubtype="8" fill="hold" nodeType="after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wipe(left)">
                                      <p:cBhvr>
                                        <p:cTn id="57" dur="2000"/>
                                        <p:tgtEl>
                                          <p:spTgt spid="23"/>
                                        </p:tgtEl>
                                      </p:cBhvr>
                                    </p:animEffect>
                                  </p:childTnLst>
                                </p:cTn>
                              </p:par>
                            </p:childTnLst>
                          </p:cTn>
                        </p:par>
                        <p:par>
                          <p:cTn id="58" fill="hold">
                            <p:stCondLst>
                              <p:cond delay="7000"/>
                            </p:stCondLst>
                            <p:childTnLst>
                              <p:par>
                                <p:cTn id="59" presetID="22" presetClass="entr" presetSubtype="1" fill="hold" nodeType="after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wipe(up)">
                                      <p:cBhvr>
                                        <p:cTn id="61" dur="1000"/>
                                        <p:tgtEl>
                                          <p:spTgt spid="8"/>
                                        </p:tgtEl>
                                      </p:cBhvr>
                                    </p:animEffect>
                                  </p:childTnLst>
                                </p:cTn>
                              </p:par>
                              <p:par>
                                <p:cTn id="62" presetID="22" presetClass="entr" presetSubtype="1" fill="hold" nodeType="withEffect">
                                  <p:stCondLst>
                                    <p:cond delay="0"/>
                                  </p:stCondLst>
                                  <p:childTnLst>
                                    <p:set>
                                      <p:cBhvr>
                                        <p:cTn id="63" dur="1" fill="hold">
                                          <p:stCondLst>
                                            <p:cond delay="0"/>
                                          </p:stCondLst>
                                        </p:cTn>
                                        <p:tgtEl>
                                          <p:spTgt spid="49"/>
                                        </p:tgtEl>
                                        <p:attrNameLst>
                                          <p:attrName>style.visibility</p:attrName>
                                        </p:attrNameLst>
                                      </p:cBhvr>
                                      <p:to>
                                        <p:strVal val="visible"/>
                                      </p:to>
                                    </p:set>
                                    <p:animEffect transition="in" filter="wipe(up)">
                                      <p:cBhvr>
                                        <p:cTn id="64" dur="1000"/>
                                        <p:tgtEl>
                                          <p:spTgt spid="4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wipe(left)">
                                      <p:cBhvr>
                                        <p:cTn id="69" dur="500"/>
                                        <p:tgtEl>
                                          <p:spTgt spid="38"/>
                                        </p:tgtEl>
                                      </p:cBhvr>
                                    </p:animEffect>
                                  </p:childTnLst>
                                </p:cTn>
                              </p:par>
                            </p:childTnLst>
                          </p:cTn>
                        </p:par>
                        <p:par>
                          <p:cTn id="70" fill="hold">
                            <p:stCondLst>
                              <p:cond delay="500"/>
                            </p:stCondLst>
                            <p:childTnLst>
                              <p:par>
                                <p:cTn id="71" presetID="22" presetClass="entr" presetSubtype="8" fill="hold" grpId="0" nodeType="after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wipe(left)">
                                      <p:cBhvr>
                                        <p:cTn id="73" dur="500"/>
                                        <p:tgtEl>
                                          <p:spTgt spid="37"/>
                                        </p:tgtEl>
                                      </p:cBhvr>
                                    </p:animEffect>
                                  </p:childTnLst>
                                </p:cTn>
                              </p:par>
                            </p:childTnLst>
                          </p:cTn>
                        </p:par>
                        <p:par>
                          <p:cTn id="74" fill="hold">
                            <p:stCondLst>
                              <p:cond delay="1000"/>
                            </p:stCondLst>
                            <p:childTnLst>
                              <p:par>
                                <p:cTn id="75" presetID="22" presetClass="entr" presetSubtype="8" fill="hold" grpId="0" nodeType="after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wipe(left)">
                                      <p:cBhvr>
                                        <p:cTn id="77" dur="1500"/>
                                        <p:tgtEl>
                                          <p:spTgt spid="36"/>
                                        </p:tgtEl>
                                      </p:cBhvr>
                                    </p:animEffect>
                                  </p:childTnLst>
                                </p:cTn>
                              </p:par>
                            </p:childTnLst>
                          </p:cTn>
                        </p:par>
                        <p:par>
                          <p:cTn id="78" fill="hold">
                            <p:stCondLst>
                              <p:cond delay="2500"/>
                            </p:stCondLst>
                            <p:childTnLst>
                              <p:par>
                                <p:cTn id="79" presetID="22" presetClass="entr" presetSubtype="8" fill="hold" grpId="0" nodeType="afterEffect">
                                  <p:stCondLst>
                                    <p:cond delay="0"/>
                                  </p:stCondLst>
                                  <p:childTnLst>
                                    <p:set>
                                      <p:cBhvr>
                                        <p:cTn id="80" dur="1" fill="hold">
                                          <p:stCondLst>
                                            <p:cond delay="0"/>
                                          </p:stCondLst>
                                        </p:cTn>
                                        <p:tgtEl>
                                          <p:spTgt spid="41"/>
                                        </p:tgtEl>
                                        <p:attrNameLst>
                                          <p:attrName>style.visibility</p:attrName>
                                        </p:attrNameLst>
                                      </p:cBhvr>
                                      <p:to>
                                        <p:strVal val="visible"/>
                                      </p:to>
                                    </p:set>
                                    <p:animEffect transition="in" filter="wipe(left)">
                                      <p:cBhvr>
                                        <p:cTn id="81" dur="500"/>
                                        <p:tgtEl>
                                          <p:spTgt spid="41"/>
                                        </p:tgtEl>
                                      </p:cBhvr>
                                    </p:animEffect>
                                  </p:childTnLst>
                                </p:cTn>
                              </p:par>
                            </p:childTnLst>
                          </p:cTn>
                        </p:par>
                        <p:par>
                          <p:cTn id="82" fill="hold">
                            <p:stCondLst>
                              <p:cond delay="3000"/>
                            </p:stCondLst>
                            <p:childTnLst>
                              <p:par>
                                <p:cTn id="83" presetID="22" presetClass="entr" presetSubtype="8" fill="hold" grpId="0" nodeType="afterEffect">
                                  <p:stCondLst>
                                    <p:cond delay="0"/>
                                  </p:stCondLst>
                                  <p:childTnLst>
                                    <p:set>
                                      <p:cBhvr>
                                        <p:cTn id="84" dur="1" fill="hold">
                                          <p:stCondLst>
                                            <p:cond delay="0"/>
                                          </p:stCondLst>
                                        </p:cTn>
                                        <p:tgtEl>
                                          <p:spTgt spid="40"/>
                                        </p:tgtEl>
                                        <p:attrNameLst>
                                          <p:attrName>style.visibility</p:attrName>
                                        </p:attrNameLst>
                                      </p:cBhvr>
                                      <p:to>
                                        <p:strVal val="visible"/>
                                      </p:to>
                                    </p:set>
                                    <p:animEffect transition="in" filter="wipe(left)">
                                      <p:cBhvr>
                                        <p:cTn id="85" dur="500"/>
                                        <p:tgtEl>
                                          <p:spTgt spid="40"/>
                                        </p:tgtEl>
                                      </p:cBhvr>
                                    </p:animEffect>
                                  </p:childTnLst>
                                </p:cTn>
                              </p:par>
                            </p:childTnLst>
                          </p:cTn>
                        </p:par>
                        <p:par>
                          <p:cTn id="86" fill="hold">
                            <p:stCondLst>
                              <p:cond delay="3500"/>
                            </p:stCondLst>
                            <p:childTnLst>
                              <p:par>
                                <p:cTn id="87" presetID="22" presetClass="entr" presetSubtype="8" fill="hold" grpId="0" nodeType="after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wipe(left)">
                                      <p:cBhvr>
                                        <p:cTn id="89" dur="1500"/>
                                        <p:tgtEl>
                                          <p:spTgt spid="39"/>
                                        </p:tgtEl>
                                      </p:cBhvr>
                                    </p:animEffect>
                                  </p:childTnLst>
                                </p:cTn>
                              </p:par>
                            </p:childTnLst>
                          </p:cTn>
                        </p:par>
                        <p:par>
                          <p:cTn id="90" fill="hold">
                            <p:stCondLst>
                              <p:cond delay="5000"/>
                            </p:stCondLst>
                            <p:childTnLst>
                              <p:par>
                                <p:cTn id="91" presetID="22" presetClass="entr" presetSubtype="8" fill="hold" grpId="0" nodeType="afterEffect">
                                  <p:stCondLst>
                                    <p:cond delay="0"/>
                                  </p:stCondLst>
                                  <p:childTnLst>
                                    <p:set>
                                      <p:cBhvr>
                                        <p:cTn id="92" dur="1" fill="hold">
                                          <p:stCondLst>
                                            <p:cond delay="0"/>
                                          </p:stCondLst>
                                        </p:cTn>
                                        <p:tgtEl>
                                          <p:spTgt spid="46"/>
                                        </p:tgtEl>
                                        <p:attrNameLst>
                                          <p:attrName>style.visibility</p:attrName>
                                        </p:attrNameLst>
                                      </p:cBhvr>
                                      <p:to>
                                        <p:strVal val="visible"/>
                                      </p:to>
                                    </p:set>
                                    <p:animEffect transition="in" filter="wipe(left)">
                                      <p:cBhvr>
                                        <p:cTn id="93" dur="500"/>
                                        <p:tgtEl>
                                          <p:spTgt spid="46"/>
                                        </p:tgtEl>
                                      </p:cBhvr>
                                    </p:animEffect>
                                  </p:childTnLst>
                                </p:cTn>
                              </p:par>
                            </p:childTnLst>
                          </p:cTn>
                        </p:par>
                        <p:par>
                          <p:cTn id="94" fill="hold">
                            <p:stCondLst>
                              <p:cond delay="5500"/>
                            </p:stCondLst>
                            <p:childTnLst>
                              <p:par>
                                <p:cTn id="95" presetID="22" presetClass="entr" presetSubtype="8" fill="hold" grpId="0" nodeType="afterEffect">
                                  <p:stCondLst>
                                    <p:cond delay="0"/>
                                  </p:stCondLst>
                                  <p:childTnLst>
                                    <p:set>
                                      <p:cBhvr>
                                        <p:cTn id="96" dur="1" fill="hold">
                                          <p:stCondLst>
                                            <p:cond delay="0"/>
                                          </p:stCondLst>
                                        </p:cTn>
                                        <p:tgtEl>
                                          <p:spTgt spid="45"/>
                                        </p:tgtEl>
                                        <p:attrNameLst>
                                          <p:attrName>style.visibility</p:attrName>
                                        </p:attrNameLst>
                                      </p:cBhvr>
                                      <p:to>
                                        <p:strVal val="visible"/>
                                      </p:to>
                                    </p:set>
                                    <p:animEffect transition="in" filter="wipe(left)">
                                      <p:cBhvr>
                                        <p:cTn id="97" dur="500"/>
                                        <p:tgtEl>
                                          <p:spTgt spid="45"/>
                                        </p:tgtEl>
                                      </p:cBhvr>
                                    </p:animEffect>
                                  </p:childTnLst>
                                </p:cTn>
                              </p:par>
                            </p:childTnLst>
                          </p:cTn>
                        </p:par>
                        <p:par>
                          <p:cTn id="98" fill="hold">
                            <p:stCondLst>
                              <p:cond delay="6000"/>
                            </p:stCondLst>
                            <p:childTnLst>
                              <p:par>
                                <p:cTn id="99" presetID="22" presetClass="entr" presetSubtype="8" fill="hold" grpId="0" nodeType="afterEffect">
                                  <p:stCondLst>
                                    <p:cond delay="0"/>
                                  </p:stCondLst>
                                  <p:childTnLst>
                                    <p:set>
                                      <p:cBhvr>
                                        <p:cTn id="100" dur="1" fill="hold">
                                          <p:stCondLst>
                                            <p:cond delay="0"/>
                                          </p:stCondLst>
                                        </p:cTn>
                                        <p:tgtEl>
                                          <p:spTgt spid="42"/>
                                        </p:tgtEl>
                                        <p:attrNameLst>
                                          <p:attrName>style.visibility</p:attrName>
                                        </p:attrNameLst>
                                      </p:cBhvr>
                                      <p:to>
                                        <p:strVal val="visible"/>
                                      </p:to>
                                    </p:set>
                                    <p:animEffect transition="in" filter="wipe(left)">
                                      <p:cBhvr>
                                        <p:cTn id="101" dur="1500"/>
                                        <p:tgtEl>
                                          <p:spTgt spid="42"/>
                                        </p:tgtEl>
                                      </p:cBhvr>
                                    </p:animEffect>
                                  </p:childTnLst>
                                </p:cTn>
                              </p:par>
                            </p:childTnLst>
                          </p:cTn>
                        </p:par>
                        <p:par>
                          <p:cTn id="102" fill="hold">
                            <p:stCondLst>
                              <p:cond delay="7500"/>
                            </p:stCondLst>
                            <p:childTnLst>
                              <p:par>
                                <p:cTn id="103" presetID="22" presetClass="entr" presetSubtype="1" fill="hold" nodeType="afterEffect">
                                  <p:stCondLst>
                                    <p:cond delay="0"/>
                                  </p:stCondLst>
                                  <p:childTnLst>
                                    <p:set>
                                      <p:cBhvr>
                                        <p:cTn id="104" dur="1" fill="hold">
                                          <p:stCondLst>
                                            <p:cond delay="0"/>
                                          </p:stCondLst>
                                        </p:cTn>
                                        <p:tgtEl>
                                          <p:spTgt spid="5"/>
                                        </p:tgtEl>
                                        <p:attrNameLst>
                                          <p:attrName>style.visibility</p:attrName>
                                        </p:attrNameLst>
                                      </p:cBhvr>
                                      <p:to>
                                        <p:strVal val="visible"/>
                                      </p:to>
                                    </p:set>
                                    <p:animEffect transition="in" filter="wipe(up)">
                                      <p:cBhvr>
                                        <p:cTn id="105" dur="500"/>
                                        <p:tgtEl>
                                          <p:spTgt spid="5"/>
                                        </p:tgtEl>
                                      </p:cBhvr>
                                    </p:animEffect>
                                  </p:childTnLst>
                                </p:cTn>
                              </p:par>
                            </p:childTnLst>
                          </p:cTn>
                        </p:par>
                        <p:par>
                          <p:cTn id="106" fill="hold">
                            <p:stCondLst>
                              <p:cond delay="8000"/>
                            </p:stCondLst>
                            <p:childTnLst>
                              <p:par>
                                <p:cTn id="107" presetID="22" presetClass="entr" presetSubtype="1" fill="hold" grpId="0" nodeType="afterEffect">
                                  <p:stCondLst>
                                    <p:cond delay="0"/>
                                  </p:stCondLst>
                                  <p:childTnLst>
                                    <p:set>
                                      <p:cBhvr>
                                        <p:cTn id="108" dur="1" fill="hold">
                                          <p:stCondLst>
                                            <p:cond delay="0"/>
                                          </p:stCondLst>
                                        </p:cTn>
                                        <p:tgtEl>
                                          <p:spTgt spid="29"/>
                                        </p:tgtEl>
                                        <p:attrNameLst>
                                          <p:attrName>style.visibility</p:attrName>
                                        </p:attrNameLst>
                                      </p:cBhvr>
                                      <p:to>
                                        <p:strVal val="visible"/>
                                      </p:to>
                                    </p:set>
                                    <p:animEffect transition="in" filter="wipe(up)">
                                      <p:cBhvr>
                                        <p:cTn id="109" dur="1500"/>
                                        <p:tgtEl>
                                          <p:spTgt spid="29"/>
                                        </p:tgtEl>
                                      </p:cBhvr>
                                    </p:animEffect>
                                  </p:childTnLst>
                                </p:cTn>
                              </p:par>
                            </p:childTnLst>
                          </p:cTn>
                        </p:par>
                        <p:par>
                          <p:cTn id="110" fill="hold">
                            <p:stCondLst>
                              <p:cond delay="9500"/>
                            </p:stCondLst>
                            <p:childTnLst>
                              <p:par>
                                <p:cTn id="111" presetID="22" presetClass="entr" presetSubtype="1" fill="hold" nodeType="afterEffect">
                                  <p:stCondLst>
                                    <p:cond delay="0"/>
                                  </p:stCondLst>
                                  <p:childTnLst>
                                    <p:set>
                                      <p:cBhvr>
                                        <p:cTn id="112" dur="1" fill="hold">
                                          <p:stCondLst>
                                            <p:cond delay="0"/>
                                          </p:stCondLst>
                                        </p:cTn>
                                        <p:tgtEl>
                                          <p:spTgt spid="9"/>
                                        </p:tgtEl>
                                        <p:attrNameLst>
                                          <p:attrName>style.visibility</p:attrName>
                                        </p:attrNameLst>
                                      </p:cBhvr>
                                      <p:to>
                                        <p:strVal val="visible"/>
                                      </p:to>
                                    </p:set>
                                    <p:animEffect transition="in" filter="wipe(up)">
                                      <p:cBhvr>
                                        <p:cTn id="113" dur="500"/>
                                        <p:tgtEl>
                                          <p:spTgt spid="9"/>
                                        </p:tgtEl>
                                      </p:cBhvr>
                                    </p:animEffect>
                                  </p:childTnLst>
                                </p:cTn>
                              </p:par>
                            </p:childTnLst>
                          </p:cTn>
                        </p:par>
                        <p:par>
                          <p:cTn id="114" fill="hold">
                            <p:stCondLst>
                              <p:cond delay="10000"/>
                            </p:stCondLst>
                            <p:childTnLst>
                              <p:par>
                                <p:cTn id="115" presetID="22" presetClass="entr" presetSubtype="1" fill="hold" grpId="0" nodeType="afterEffect">
                                  <p:stCondLst>
                                    <p:cond delay="0"/>
                                  </p:stCondLst>
                                  <p:childTnLst>
                                    <p:set>
                                      <p:cBhvr>
                                        <p:cTn id="116" dur="1" fill="hold">
                                          <p:stCondLst>
                                            <p:cond delay="0"/>
                                          </p:stCondLst>
                                        </p:cTn>
                                        <p:tgtEl>
                                          <p:spTgt spid="30"/>
                                        </p:tgtEl>
                                        <p:attrNameLst>
                                          <p:attrName>style.visibility</p:attrName>
                                        </p:attrNameLst>
                                      </p:cBhvr>
                                      <p:to>
                                        <p:strVal val="visible"/>
                                      </p:to>
                                    </p:set>
                                    <p:animEffect transition="in" filter="wipe(up)">
                                      <p:cBhvr>
                                        <p:cTn id="117" dur="1500"/>
                                        <p:tgtEl>
                                          <p:spTgt spid="30"/>
                                        </p:tgtEl>
                                      </p:cBhvr>
                                    </p:animEffect>
                                  </p:childTnLst>
                                </p:cTn>
                              </p:par>
                            </p:childTnLst>
                          </p:cTn>
                        </p:par>
                        <p:par>
                          <p:cTn id="118" fill="hold">
                            <p:stCondLst>
                              <p:cond delay="11500"/>
                            </p:stCondLst>
                            <p:childTnLst>
                              <p:par>
                                <p:cTn id="119" presetID="22" presetClass="entr" presetSubtype="8" fill="hold" grpId="0" nodeType="afterEffect">
                                  <p:stCondLst>
                                    <p:cond delay="0"/>
                                  </p:stCondLst>
                                  <p:childTnLst>
                                    <p:set>
                                      <p:cBhvr>
                                        <p:cTn id="120" dur="1" fill="hold">
                                          <p:stCondLst>
                                            <p:cond delay="0"/>
                                          </p:stCondLst>
                                        </p:cTn>
                                        <p:tgtEl>
                                          <p:spTgt spid="28"/>
                                        </p:tgtEl>
                                        <p:attrNameLst>
                                          <p:attrName>style.visibility</p:attrName>
                                        </p:attrNameLst>
                                      </p:cBhvr>
                                      <p:to>
                                        <p:strVal val="visible"/>
                                      </p:to>
                                    </p:set>
                                    <p:animEffect transition="in" filter="wipe(left)">
                                      <p:cBhvr>
                                        <p:cTn id="121" dur="1000"/>
                                        <p:tgtEl>
                                          <p:spTgt spid="28"/>
                                        </p:tgtEl>
                                      </p:cBhvr>
                                    </p:animEffect>
                                  </p:childTnLst>
                                </p:cTn>
                              </p:par>
                            </p:childTnLst>
                          </p:cTn>
                        </p:par>
                        <p:par>
                          <p:cTn id="122" fill="hold">
                            <p:stCondLst>
                              <p:cond delay="12500"/>
                            </p:stCondLst>
                            <p:childTnLst>
                              <p:par>
                                <p:cTn id="123" presetID="22" presetClass="entr" presetSubtype="8" fill="hold" nodeType="afterEffect">
                                  <p:stCondLst>
                                    <p:cond delay="0"/>
                                  </p:stCondLst>
                                  <p:childTnLst>
                                    <p:set>
                                      <p:cBhvr>
                                        <p:cTn id="124" dur="1" fill="hold">
                                          <p:stCondLst>
                                            <p:cond delay="0"/>
                                          </p:stCondLst>
                                        </p:cTn>
                                        <p:tgtEl>
                                          <p:spTgt spid="43"/>
                                        </p:tgtEl>
                                        <p:attrNameLst>
                                          <p:attrName>style.visibility</p:attrName>
                                        </p:attrNameLst>
                                      </p:cBhvr>
                                      <p:to>
                                        <p:strVal val="visible"/>
                                      </p:to>
                                    </p:set>
                                    <p:animEffect transition="in" filter="wipe(left)">
                                      <p:cBhvr>
                                        <p:cTn id="125" dur="2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17" grpId="0"/>
      <p:bldP spid="19" grpId="0" uiExpand="1" build="p"/>
      <p:bldP spid="28" grpId="0" animBg="1"/>
      <p:bldP spid="29" grpId="0" animBg="1"/>
      <p:bldP spid="30" grpId="0" animBg="1"/>
      <p:bldP spid="2" grpId="0"/>
      <p:bldP spid="44" grpId="0" animBg="1"/>
      <p:bldP spid="36" grpId="0" animBg="1"/>
      <p:bldP spid="37" grpId="0" animBg="1"/>
      <p:bldP spid="38" grpId="0" animBg="1"/>
      <p:bldP spid="39" grpId="0" animBg="1"/>
      <p:bldP spid="40" grpId="0" animBg="1"/>
      <p:bldP spid="41" grpId="0" animBg="1"/>
      <p:bldP spid="42" grpId="0" animBg="1"/>
      <p:bldP spid="45" grpId="0" animBg="1"/>
      <p:bldP spid="46"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r>
              <a:rPr lang="en-GB" dirty="0"/>
              <a:t>Describe and use SQL insert operations</a:t>
            </a:r>
          </a:p>
        </p:txBody>
      </p:sp>
    </p:spTree>
    <p:extLst>
      <p:ext uri="{BB962C8B-B14F-4D97-AF65-F5344CB8AC3E}">
        <p14:creationId xmlns:p14="http://schemas.microsoft.com/office/powerpoint/2010/main" val="417838752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Add Data – Single Record (1) – Example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825625"/>
            <a:ext cx="10922000" cy="4351338"/>
          </a:xfrm>
        </p:spPr>
        <p:txBody>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INSERT INTO</a:t>
            </a:r>
            <a:r>
              <a:rPr lang="en-US" altLang="en-US" sz="44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VALUES</a:t>
            </a:r>
            <a:r>
              <a:rPr lang="en-US" altLang="en-US" sz="4400" dirty="0">
                <a:solidFill>
                  <a:srgbClr val="000000"/>
                </a:solidFill>
                <a:latin typeface="Consolas" panose="020B0609020204030204" pitchFamily="49" charset="0"/>
              </a:rPr>
              <a:t> (</a:t>
            </a:r>
            <a:r>
              <a:rPr lang="en-US" altLang="en-US" sz="4400" dirty="0">
                <a:solidFill>
                  <a:srgbClr val="0086B3"/>
                </a:solidFill>
                <a:latin typeface="Consolas" panose="020B0609020204030204" pitchFamily="49" charset="0"/>
              </a:rPr>
              <a:t>2</a:t>
            </a:r>
            <a:r>
              <a:rPr lang="en-US" altLang="en-US" sz="4400" dirty="0">
                <a:solidFill>
                  <a:srgbClr val="000000"/>
                </a:solidFill>
                <a:latin typeface="Consolas" panose="020B0609020204030204" pitchFamily="49" charset="0"/>
              </a:rPr>
              <a:t>, </a:t>
            </a:r>
            <a:r>
              <a:rPr lang="en-US" altLang="en-US" sz="4400" dirty="0">
                <a:solidFill>
                  <a:srgbClr val="0086B3"/>
                </a:solidFill>
                <a:latin typeface="Consolas" panose="020B0609020204030204" pitchFamily="49" charset="0"/>
              </a:rPr>
              <a:t>2</a:t>
            </a:r>
            <a:r>
              <a:rPr lang="en-US" altLang="en-US" sz="4400" dirty="0">
                <a:solidFill>
                  <a:srgbClr val="000000"/>
                </a:solidFill>
                <a:latin typeface="Consolas" panose="020B0609020204030204" pitchFamily="49" charset="0"/>
              </a:rPr>
              <a:t>, </a:t>
            </a:r>
            <a:r>
              <a:rPr lang="en-US" altLang="en-US" sz="4400" dirty="0">
                <a:solidFill>
                  <a:srgbClr val="183691"/>
                </a:solidFill>
                <a:latin typeface="Consolas" panose="020B0609020204030204" pitchFamily="49" charset="0"/>
              </a:rPr>
              <a:t>"Tom"</a:t>
            </a:r>
            <a:r>
              <a:rPr lang="en-US" altLang="en-US" sz="4400" dirty="0">
                <a:solidFill>
                  <a:srgbClr val="000000"/>
                </a:solidFill>
                <a:latin typeface="Consolas" panose="020B0609020204030204" pitchFamily="49" charset="0"/>
              </a:rPr>
              <a:t>, </a:t>
            </a:r>
            <a:r>
              <a:rPr lang="en-US" altLang="en-US" sz="4400" dirty="0">
                <a:solidFill>
                  <a:srgbClr val="183691"/>
                </a:solidFill>
                <a:latin typeface="Consolas" panose="020B0609020204030204" pitchFamily="49" charset="0"/>
              </a:rPr>
              <a:t>"Fox"</a:t>
            </a:r>
            <a:r>
              <a:rPr lang="en-US" altLang="en-US" sz="44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400" dirty="0">
                <a:solidFill>
                  <a:srgbClr val="000000"/>
                </a:solidFill>
                <a:latin typeface="Consolas" panose="020B0609020204030204" pitchFamily="49" charset="0"/>
              </a:rPr>
              <a:t>       </a:t>
            </a:r>
            <a:r>
              <a:rPr lang="en-US" altLang="en-US" sz="4400" dirty="0">
                <a:solidFill>
                  <a:srgbClr val="183691"/>
                </a:solidFill>
                <a:latin typeface="Consolas" panose="020B0609020204030204" pitchFamily="49" charset="0"/>
              </a:rPr>
              <a:t>"2000-10-23"</a:t>
            </a:r>
            <a:r>
              <a:rPr lang="en-US" altLang="en-US" sz="4400" dirty="0">
                <a:solidFill>
                  <a:srgbClr val="000000"/>
                </a:solidFill>
                <a:latin typeface="Consolas" panose="020B0609020204030204" pitchFamily="49" charset="0"/>
              </a:rPr>
              <a:t>, </a:t>
            </a:r>
            <a:r>
              <a:rPr lang="en-US" altLang="en-US" sz="4400" dirty="0">
                <a:solidFill>
                  <a:srgbClr val="0086B3"/>
                </a:solidFill>
                <a:latin typeface="Consolas" panose="020B0609020204030204" pitchFamily="49" charset="0"/>
              </a:rPr>
              <a:t>22</a:t>
            </a:r>
            <a:r>
              <a:rPr lang="en-US" altLang="en-US" sz="4400" dirty="0">
                <a:solidFill>
                  <a:srgbClr val="000000"/>
                </a:solidFill>
                <a:latin typeface="Consolas" panose="020B0609020204030204" pitchFamily="49" charset="0"/>
              </a:rPr>
              <a:t>, </a:t>
            </a:r>
            <a:r>
              <a:rPr lang="en-US" altLang="en-US" sz="4400" dirty="0">
                <a:solidFill>
                  <a:srgbClr val="A71D5D"/>
                </a:solidFill>
                <a:latin typeface="Consolas" panose="020B0609020204030204" pitchFamily="49" charset="0"/>
              </a:rPr>
              <a:t>FALSE</a:t>
            </a:r>
            <a:r>
              <a:rPr lang="en-US" altLang="en-US" sz="4400" dirty="0">
                <a:solidFill>
                  <a:srgbClr val="000000"/>
                </a:solidFill>
                <a:latin typeface="Consolas" panose="020B0609020204030204" pitchFamily="49" charset="0"/>
              </a:rPr>
              <a:t>);</a:t>
            </a:r>
            <a:br>
              <a:rPr lang="en-US" altLang="en-US" sz="44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
        <p:nvSpPr>
          <p:cNvPr id="6" name="Callout: Bent Line with No Border 3">
            <a:extLst>
              <a:ext uri="{FF2B5EF4-FFF2-40B4-BE49-F238E27FC236}">
                <a16:creationId xmlns:a16="http://schemas.microsoft.com/office/drawing/2014/main" id="{77E8332C-AADD-4F2B-B0E2-AC0B43D6AE90}"/>
              </a:ext>
            </a:extLst>
          </p:cNvPr>
          <p:cNvSpPr/>
          <p:nvPr/>
        </p:nvSpPr>
        <p:spPr>
          <a:xfrm>
            <a:off x="8070157" y="1091740"/>
            <a:ext cx="1258570" cy="862642"/>
          </a:xfrm>
          <a:prstGeom prst="callout2">
            <a:avLst>
              <a:gd name="adj1" fmla="val 52750"/>
              <a:gd name="adj2" fmla="val -2245"/>
              <a:gd name="adj3" fmla="val 52979"/>
              <a:gd name="adj4" fmla="val -49644"/>
              <a:gd name="adj5" fmla="val 103172"/>
              <a:gd name="adj6" fmla="val -9823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Table</a:t>
            </a:r>
          </a:p>
        </p:txBody>
      </p:sp>
      <p:sp>
        <p:nvSpPr>
          <p:cNvPr id="7" name="Callout: Bent Line with No Border 8">
            <a:extLst>
              <a:ext uri="{FF2B5EF4-FFF2-40B4-BE49-F238E27FC236}">
                <a16:creationId xmlns:a16="http://schemas.microsoft.com/office/drawing/2014/main" id="{412E8916-E1C6-455C-96C6-1411BB246ADC}"/>
              </a:ext>
            </a:extLst>
          </p:cNvPr>
          <p:cNvSpPr/>
          <p:nvPr/>
        </p:nvSpPr>
        <p:spPr>
          <a:xfrm>
            <a:off x="612824" y="4047157"/>
            <a:ext cx="3291840" cy="862642"/>
          </a:xfrm>
          <a:prstGeom prst="callout2">
            <a:avLst>
              <a:gd name="adj1" fmla="val 48750"/>
              <a:gd name="adj2" fmla="val 104056"/>
              <a:gd name="adj3" fmla="val 49417"/>
              <a:gd name="adj4" fmla="val 129889"/>
              <a:gd name="adj5" fmla="val 3088"/>
              <a:gd name="adj6" fmla="val 13695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Values in table order</a:t>
            </a:r>
          </a:p>
        </p:txBody>
      </p:sp>
      <p:sp>
        <p:nvSpPr>
          <p:cNvPr id="8" name="TextBox 7">
            <a:extLst>
              <a:ext uri="{FF2B5EF4-FFF2-40B4-BE49-F238E27FC236}">
                <a16:creationId xmlns:a16="http://schemas.microsoft.com/office/drawing/2014/main" id="{DF4BA8FF-524A-4C13-87BF-68801971FA28}"/>
              </a:ext>
            </a:extLst>
          </p:cNvPr>
          <p:cNvSpPr txBox="1"/>
          <p:nvPr/>
        </p:nvSpPr>
        <p:spPr>
          <a:xfrm>
            <a:off x="1398116" y="4903618"/>
            <a:ext cx="8074967" cy="1569660"/>
          </a:xfrm>
          <a:prstGeom prst="rect">
            <a:avLst/>
          </a:prstGeom>
          <a:noFill/>
        </p:spPr>
        <p:txBody>
          <a:bodyPr wrap="none" rtlCol="0">
            <a:spAutoFit/>
          </a:bodyPr>
          <a:lstStyle/>
          <a:p>
            <a:pPr algn="ctr"/>
            <a:r>
              <a:rPr lang="en-GB" sz="3600" dirty="0">
                <a:solidFill>
                  <a:srgbClr val="7030A0"/>
                </a:solidFill>
              </a:rPr>
              <a:t>PK and all validation rules must be met</a:t>
            </a:r>
          </a:p>
          <a:p>
            <a:pPr algn="ctr"/>
            <a:endParaRPr lang="en-GB" sz="2400" dirty="0">
              <a:solidFill>
                <a:srgbClr val="7030A0"/>
              </a:solidFill>
              <a:latin typeface="Consolas" panose="020B0609020204030204" pitchFamily="49" charset="0"/>
            </a:endParaRPr>
          </a:p>
          <a:p>
            <a:pPr algn="ctr"/>
            <a:r>
              <a:rPr lang="en-GB" sz="3600" dirty="0">
                <a:solidFill>
                  <a:srgbClr val="7030A0"/>
                </a:solidFill>
              </a:rPr>
              <a:t>If a validation rule fails, no data is inserted</a:t>
            </a:r>
            <a:endParaRPr lang="en-GB" sz="3600" dirty="0">
              <a:solidFill>
                <a:srgbClr val="7030A0"/>
              </a:solidFill>
              <a:latin typeface="Consolas" panose="020B0609020204030204" pitchFamily="49" charset="0"/>
            </a:endParaRPr>
          </a:p>
        </p:txBody>
      </p:sp>
      <p:pic>
        <p:nvPicPr>
          <p:cNvPr id="4" name="Picture 3">
            <a:extLst>
              <a:ext uri="{FF2B5EF4-FFF2-40B4-BE49-F238E27FC236}">
                <a16:creationId xmlns:a16="http://schemas.microsoft.com/office/drawing/2014/main" id="{DF398829-DC2A-B151-516C-44CD1A4788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0520" y="4001294"/>
            <a:ext cx="1341956" cy="2782104"/>
          </a:xfrm>
          <a:prstGeom prst="rect">
            <a:avLst/>
          </a:prstGeom>
        </p:spPr>
      </p:pic>
    </p:spTree>
    <p:extLst>
      <p:ext uri="{BB962C8B-B14F-4D97-AF65-F5344CB8AC3E}">
        <p14:creationId xmlns:p14="http://schemas.microsoft.com/office/powerpoint/2010/main" val="4222611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500"/>
                                        <p:tgtEl>
                                          <p:spTgt spid="3">
                                            <p:txEl>
                                              <p:pRg st="1" end="1"/>
                                            </p:txEl>
                                          </p:spTgt>
                                        </p:tgtEl>
                                      </p:cBhvr>
                                    </p:animEffect>
                                  </p:childTnLst>
                                </p:cTn>
                              </p:par>
                            </p:childTnLst>
                          </p:cTn>
                        </p:par>
                        <p:par>
                          <p:cTn id="13" fill="hold">
                            <p:stCondLst>
                              <p:cond delay="2500"/>
                            </p:stCondLst>
                            <p:childTnLst>
                              <p:par>
                                <p:cTn id="14" presetID="22" presetClass="entr" presetSubtype="8"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2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animEffect transition="in" filter="wipe(left)">
                                      <p:cBhvr>
                                        <p:cTn id="31" dur="2000"/>
                                        <p:tgtEl>
                                          <p:spTgt spid="8">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8">
                                            <p:txEl>
                                              <p:pRg st="2" end="2"/>
                                            </p:txEl>
                                          </p:spTgt>
                                        </p:tgtEl>
                                        <p:attrNameLst>
                                          <p:attrName>style.visibility</p:attrName>
                                        </p:attrNameLst>
                                      </p:cBhvr>
                                      <p:to>
                                        <p:strVal val="visible"/>
                                      </p:to>
                                    </p:set>
                                    <p:animEffect transition="in" filter="wipe(left)">
                                      <p:cBhvr>
                                        <p:cTn id="36" dur="20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P spid="8" grpId="0" build="p"/>
    </p:bldLst>
  </p:timing>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Add Data – Single Record (1) – Example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825625"/>
            <a:ext cx="10922000" cy="4351338"/>
          </a:xfrm>
        </p:spPr>
        <p:txBody>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INSERT INTO</a:t>
            </a:r>
            <a:r>
              <a:rPr lang="en-US" altLang="en-US" sz="4400" dirty="0">
                <a:solidFill>
                  <a:srgbClr val="000000"/>
                </a:solidFill>
                <a:latin typeface="Consolas" panose="020B0609020204030204" pitchFamily="49" charset="0"/>
              </a:rPr>
              <a:t> Pupil</a:t>
            </a:r>
            <a:br>
              <a:rPr lang="en-US" altLang="en-US" sz="4400" dirty="0">
                <a:solidFill>
                  <a:srgbClr val="000000"/>
                </a:solidFill>
                <a:latin typeface="Consolas" panose="020B0609020204030204" pitchFamily="49" charset="0"/>
              </a:rPr>
            </a:b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VALUES</a:t>
            </a:r>
            <a:r>
              <a:rPr lang="en-US" altLang="en-US" sz="4400" dirty="0">
                <a:solidFill>
                  <a:srgbClr val="000000"/>
                </a:solidFill>
                <a:latin typeface="Consolas" panose="020B0609020204030204" pitchFamily="49" charset="0"/>
              </a:rPr>
              <a:t> (</a:t>
            </a:r>
            <a:r>
              <a:rPr lang="en-US" altLang="en-US" sz="4400" dirty="0">
                <a:solidFill>
                  <a:srgbClr val="0086B3"/>
                </a:solidFill>
                <a:latin typeface="Consolas" panose="020B0609020204030204" pitchFamily="49" charset="0"/>
              </a:rPr>
              <a:t>2</a:t>
            </a:r>
            <a:r>
              <a:rPr lang="en-US" altLang="en-US" sz="4400" dirty="0">
                <a:solidFill>
                  <a:srgbClr val="000000"/>
                </a:solidFill>
                <a:latin typeface="Consolas" panose="020B0609020204030204" pitchFamily="49" charset="0"/>
              </a:rPr>
              <a:t>, </a:t>
            </a:r>
            <a:r>
              <a:rPr lang="en-US" altLang="en-US" sz="4400" dirty="0">
                <a:solidFill>
                  <a:srgbClr val="0086B3"/>
                </a:solidFill>
                <a:latin typeface="Consolas" panose="020B0609020204030204" pitchFamily="49" charset="0"/>
              </a:rPr>
              <a:t>2</a:t>
            </a:r>
            <a:r>
              <a:rPr lang="en-US" altLang="en-US" sz="4400" dirty="0">
                <a:solidFill>
                  <a:srgbClr val="000000"/>
                </a:solidFill>
                <a:latin typeface="Consolas" panose="020B0609020204030204" pitchFamily="49" charset="0"/>
              </a:rPr>
              <a:t>, </a:t>
            </a:r>
            <a:r>
              <a:rPr lang="en-US" altLang="en-US" sz="4400" dirty="0">
                <a:solidFill>
                  <a:srgbClr val="183691"/>
                </a:solidFill>
                <a:latin typeface="Consolas" panose="020B0609020204030204" pitchFamily="49" charset="0"/>
              </a:rPr>
              <a:t>"Tom"</a:t>
            </a:r>
            <a:r>
              <a:rPr lang="en-US" altLang="en-US" sz="4400" dirty="0">
                <a:solidFill>
                  <a:srgbClr val="000000"/>
                </a:solidFill>
                <a:latin typeface="Consolas" panose="020B0609020204030204" pitchFamily="49" charset="0"/>
              </a:rPr>
              <a:t>, </a:t>
            </a:r>
            <a:r>
              <a:rPr lang="en-US" altLang="en-US" sz="4400" dirty="0">
                <a:solidFill>
                  <a:srgbClr val="183691"/>
                </a:solidFill>
                <a:latin typeface="Consolas" panose="020B0609020204030204" pitchFamily="49" charset="0"/>
              </a:rPr>
              <a:t>"Fox"</a:t>
            </a:r>
            <a:r>
              <a:rPr lang="en-US" altLang="en-US" sz="44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400" dirty="0">
                <a:solidFill>
                  <a:srgbClr val="000000"/>
                </a:solidFill>
                <a:latin typeface="Consolas" panose="020B0609020204030204" pitchFamily="49" charset="0"/>
              </a:rPr>
              <a:t>       </a:t>
            </a:r>
            <a:r>
              <a:rPr lang="en-US" altLang="en-US" sz="4400" dirty="0">
                <a:solidFill>
                  <a:srgbClr val="183691"/>
                </a:solidFill>
                <a:latin typeface="Consolas" panose="020B0609020204030204" pitchFamily="49" charset="0"/>
              </a:rPr>
              <a:t>"2000-10-23"</a:t>
            </a:r>
            <a:r>
              <a:rPr lang="en-US" altLang="en-US" sz="4400" dirty="0">
                <a:solidFill>
                  <a:srgbClr val="000000"/>
                </a:solidFill>
                <a:latin typeface="Consolas" panose="020B0609020204030204" pitchFamily="49" charset="0"/>
              </a:rPr>
              <a:t>, </a:t>
            </a:r>
            <a:r>
              <a:rPr lang="en-US" altLang="en-US" sz="4400" dirty="0">
                <a:solidFill>
                  <a:srgbClr val="0086B3"/>
                </a:solidFill>
                <a:latin typeface="Consolas" panose="020B0609020204030204" pitchFamily="49" charset="0"/>
              </a:rPr>
              <a:t>22</a:t>
            </a:r>
            <a:r>
              <a:rPr lang="en-US" altLang="en-US" sz="4400" dirty="0">
                <a:solidFill>
                  <a:srgbClr val="000000"/>
                </a:solidFill>
                <a:latin typeface="Consolas" panose="020B0609020204030204" pitchFamily="49" charset="0"/>
              </a:rPr>
              <a:t>, </a:t>
            </a:r>
            <a:r>
              <a:rPr lang="en-US" altLang="en-US" sz="4400" dirty="0">
                <a:solidFill>
                  <a:srgbClr val="A71D5D"/>
                </a:solidFill>
                <a:latin typeface="Consolas" panose="020B0609020204030204" pitchFamily="49" charset="0"/>
              </a:rPr>
              <a:t>FALSE</a:t>
            </a:r>
            <a:r>
              <a:rPr lang="en-US" altLang="en-US" sz="4400" dirty="0">
                <a:solidFill>
                  <a:srgbClr val="000000"/>
                </a:solidFill>
                <a:latin typeface="Consolas" panose="020B0609020204030204" pitchFamily="49" charset="0"/>
              </a:rPr>
              <a:t>);</a:t>
            </a:r>
            <a:br>
              <a:rPr lang="en-US" altLang="en-US" sz="44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pic>
        <p:nvPicPr>
          <p:cNvPr id="6" name="Picture 5">
            <a:extLst>
              <a:ext uri="{FF2B5EF4-FFF2-40B4-BE49-F238E27FC236}">
                <a16:creationId xmlns:a16="http://schemas.microsoft.com/office/drawing/2014/main" id="{F34E53EA-672F-798A-60D2-8A00D17693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0519" y="4001293"/>
            <a:ext cx="1353531" cy="2806101"/>
          </a:xfrm>
          <a:prstGeom prst="rect">
            <a:avLst/>
          </a:prstGeom>
        </p:spPr>
      </p:pic>
    </p:spTree>
    <p:extLst>
      <p:ext uri="{BB962C8B-B14F-4D97-AF65-F5344CB8AC3E}">
        <p14:creationId xmlns:p14="http://schemas.microsoft.com/office/powerpoint/2010/main" val="283784137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9CF4B-3EA2-0A99-2C63-8565E373C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749025-99FB-CCCE-2414-09997F4A8845}"/>
              </a:ext>
            </a:extLst>
          </p:cNvPr>
          <p:cNvSpPr>
            <a:spLocks noGrp="1"/>
          </p:cNvSpPr>
          <p:nvPr>
            <p:ph type="title"/>
          </p:nvPr>
        </p:nvSpPr>
        <p:spPr/>
        <p:txBody>
          <a:bodyPr/>
          <a:lstStyle/>
          <a:p>
            <a:r>
              <a:rPr lang="en-GB" dirty="0"/>
              <a:t>Add Data – Single Record (2) – Example</a:t>
            </a:r>
          </a:p>
        </p:txBody>
      </p:sp>
      <p:sp>
        <p:nvSpPr>
          <p:cNvPr id="3" name="Content Placeholder 2">
            <a:extLst>
              <a:ext uri="{FF2B5EF4-FFF2-40B4-BE49-F238E27FC236}">
                <a16:creationId xmlns:a16="http://schemas.microsoft.com/office/drawing/2014/main" id="{7306360E-CDB0-5519-669C-C23382CC6A49}"/>
              </a:ext>
            </a:extLst>
          </p:cNvPr>
          <p:cNvSpPr>
            <a:spLocks noGrp="1"/>
          </p:cNvSpPr>
          <p:nvPr>
            <p:ph idx="1"/>
          </p:nvPr>
        </p:nvSpPr>
        <p:spPr>
          <a:xfrm>
            <a:off x="838200" y="1825625"/>
            <a:ext cx="10773294" cy="4351338"/>
          </a:xfrm>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INSERT INTO</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Datatypes</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VALUES</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1001</a:t>
            </a:r>
            <a:r>
              <a:rPr lang="en-US" altLang="en-US" sz="4000" dirty="0">
                <a:latin typeface="Consolas" panose="020B0609020204030204" pitchFamily="49" charset="0"/>
              </a:rPr>
              <a:t>, </a:t>
            </a:r>
            <a:r>
              <a:rPr lang="en-US" altLang="en-US" sz="4000" dirty="0">
                <a:solidFill>
                  <a:srgbClr val="A71D5D"/>
                </a:solidFill>
                <a:latin typeface="Consolas" panose="020B0609020204030204" pitchFamily="49" charset="0"/>
              </a:rPr>
              <a:t>NULL</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 </a:t>
            </a:r>
            <a:r>
              <a:rPr lang="en-US" altLang="en-US" sz="4000" dirty="0">
                <a:solidFill>
                  <a:srgbClr val="A71D5D"/>
                </a:solidFill>
                <a:latin typeface="Consolas" panose="020B0609020204030204" pitchFamily="49" charset="0"/>
              </a:rPr>
              <a:t>NULL</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 </a:t>
            </a:r>
            <a:r>
              <a:rPr lang="en-US" altLang="en-US" sz="4000" dirty="0">
                <a:solidFill>
                  <a:srgbClr val="A71D5D"/>
                </a:solidFill>
                <a:latin typeface="Consolas" panose="020B0609020204030204" pitchFamily="49" charset="0"/>
              </a:rPr>
              <a:t>NULL</a:t>
            </a:r>
            <a:r>
              <a:rPr lang="en-US" altLang="en-US" sz="4000" dirty="0">
                <a:solidFill>
                  <a:srgbClr val="000000"/>
                </a:solidFill>
                <a:latin typeface="Consolas" panose="020B0609020204030204" pitchFamily="49" charset="0"/>
              </a:rPr>
              <a:t>,</a:t>
            </a:r>
            <a:br>
              <a:rPr lang="en-US" altLang="en-US" sz="4000" dirty="0">
                <a:solidFill>
                  <a:srgbClr val="183691"/>
                </a:solidFill>
                <a:latin typeface="Consolas" panose="020B0609020204030204" pitchFamily="49" charset="0"/>
              </a:rPr>
            </a:br>
            <a:r>
              <a:rPr lang="en-US" altLang="en-US" sz="4000" dirty="0">
                <a:solidFill>
                  <a:srgbClr val="183691"/>
                </a:solidFill>
                <a:latin typeface="Consolas" panose="020B0609020204030204" pitchFamily="49" charset="0"/>
              </a:rPr>
              <a:t>            </a:t>
            </a:r>
            <a:r>
              <a:rPr lang="en-US" altLang="en-US" sz="4000" dirty="0">
                <a:solidFill>
                  <a:srgbClr val="A71D5D"/>
                </a:solidFill>
                <a:latin typeface="Consolas" panose="020B0609020204030204" pitchFamily="49" charset="0"/>
              </a:rPr>
              <a:t>NULL</a:t>
            </a:r>
            <a:r>
              <a:rPr lang="en-US" altLang="en-US" sz="4000" dirty="0">
                <a:solidFill>
                  <a:srgbClr val="000000"/>
                </a:solidFill>
                <a:latin typeface="Consolas" panose="020B0609020204030204" pitchFamily="49" charset="0"/>
              </a:rPr>
              <a:t>,</a:t>
            </a:r>
            <a:r>
              <a:rPr lang="en-US" altLang="en-US" sz="4000" dirty="0">
                <a:solidFill>
                  <a:srgbClr val="A71D5D"/>
                </a:solidFill>
                <a:latin typeface="Consolas" panose="020B0609020204030204" pitchFamily="49" charset="0"/>
              </a:rPr>
              <a:t> NULL</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 FALSE</a:t>
            </a:r>
            <a:r>
              <a:rPr lang="en-US" altLang="en-US" sz="4000" dirty="0">
                <a:solidFill>
                  <a:srgbClr val="000000"/>
                </a:solidFill>
                <a:latin typeface="Consolas" panose="020B0609020204030204" pitchFamily="49" charset="0"/>
              </a:rPr>
              <a:t>);</a:t>
            </a:r>
            <a:br>
              <a:rPr lang="en-US" altLang="en-US" sz="4000" dirty="0">
                <a:solidFill>
                  <a:srgbClr val="000000"/>
                </a:solidFill>
                <a:latin typeface="Consolas" panose="020B0609020204030204" pitchFamily="49" charset="0"/>
              </a:rPr>
            </a:br>
            <a:endParaRPr lang="en-US" altLang="en-US" sz="4800" dirty="0">
              <a:latin typeface="Arial" panose="020B0604020202020204" pitchFamily="34" charset="0"/>
            </a:endParaRPr>
          </a:p>
        </p:txBody>
      </p:sp>
      <p:sp>
        <p:nvSpPr>
          <p:cNvPr id="4" name="Callout: Bent Line with No Border 8">
            <a:extLst>
              <a:ext uri="{FF2B5EF4-FFF2-40B4-BE49-F238E27FC236}">
                <a16:creationId xmlns:a16="http://schemas.microsoft.com/office/drawing/2014/main" id="{81BEBBED-B231-6136-A3F8-2F452E644786}"/>
              </a:ext>
            </a:extLst>
          </p:cNvPr>
          <p:cNvSpPr/>
          <p:nvPr/>
        </p:nvSpPr>
        <p:spPr>
          <a:xfrm>
            <a:off x="930222" y="3744114"/>
            <a:ext cx="3291840" cy="862642"/>
          </a:xfrm>
          <a:prstGeom prst="callout2">
            <a:avLst>
              <a:gd name="adj1" fmla="val 49854"/>
              <a:gd name="adj2" fmla="val 100102"/>
              <a:gd name="adj3" fmla="val 49417"/>
              <a:gd name="adj4" fmla="val 129889"/>
              <a:gd name="adj5" fmla="val 3088"/>
              <a:gd name="adj6" fmla="val 13695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Values in table order</a:t>
            </a:r>
          </a:p>
        </p:txBody>
      </p:sp>
      <p:sp>
        <p:nvSpPr>
          <p:cNvPr id="7" name="TextBox 6">
            <a:extLst>
              <a:ext uri="{FF2B5EF4-FFF2-40B4-BE49-F238E27FC236}">
                <a16:creationId xmlns:a16="http://schemas.microsoft.com/office/drawing/2014/main" id="{EF7A69E0-4E03-2636-8FEC-43A8EFE367D8}"/>
              </a:ext>
            </a:extLst>
          </p:cNvPr>
          <p:cNvSpPr txBox="1"/>
          <p:nvPr/>
        </p:nvSpPr>
        <p:spPr>
          <a:xfrm>
            <a:off x="2" y="4716635"/>
            <a:ext cx="9951718" cy="2123658"/>
          </a:xfrm>
          <a:prstGeom prst="rect">
            <a:avLst/>
          </a:prstGeom>
          <a:noFill/>
        </p:spPr>
        <p:txBody>
          <a:bodyPr wrap="square" rtlCol="0">
            <a:spAutoFit/>
          </a:bodyPr>
          <a:lstStyle/>
          <a:p>
            <a:pPr algn="ctr"/>
            <a:r>
              <a:rPr lang="en-GB" sz="3600" dirty="0">
                <a:solidFill>
                  <a:srgbClr val="A71D5D"/>
                </a:solidFill>
              </a:rPr>
              <a:t>NULL</a:t>
            </a:r>
            <a:r>
              <a:rPr lang="en-GB" sz="3600" dirty="0">
                <a:solidFill>
                  <a:srgbClr val="7030A0"/>
                </a:solidFill>
              </a:rPr>
              <a:t> can be used when no value is available,</a:t>
            </a:r>
          </a:p>
          <a:p>
            <a:pPr algn="ctr"/>
            <a:r>
              <a:rPr lang="en-GB" sz="3600" dirty="0">
                <a:solidFill>
                  <a:srgbClr val="7030A0"/>
                </a:solidFill>
              </a:rPr>
              <a:t>but PK and all validation rules must be met</a:t>
            </a:r>
          </a:p>
          <a:p>
            <a:pPr algn="ctr"/>
            <a:endParaRPr lang="en-GB" sz="2400" dirty="0">
              <a:solidFill>
                <a:srgbClr val="7030A0"/>
              </a:solidFill>
              <a:latin typeface="Consolas" panose="020B0609020204030204" pitchFamily="49" charset="0"/>
            </a:endParaRPr>
          </a:p>
          <a:p>
            <a:pPr algn="ctr"/>
            <a:r>
              <a:rPr lang="en-GB" sz="3600" dirty="0">
                <a:solidFill>
                  <a:srgbClr val="7030A0"/>
                </a:solidFill>
              </a:rPr>
              <a:t>If a validation rule fails, no data is inserted</a:t>
            </a:r>
            <a:endParaRPr lang="en-GB" sz="3600" dirty="0">
              <a:solidFill>
                <a:srgbClr val="7030A0"/>
              </a:solidFill>
              <a:latin typeface="Consolas" panose="020B0609020204030204" pitchFamily="49" charset="0"/>
            </a:endParaRPr>
          </a:p>
        </p:txBody>
      </p:sp>
      <p:pic>
        <p:nvPicPr>
          <p:cNvPr id="10" name="Picture 9">
            <a:extLst>
              <a:ext uri="{FF2B5EF4-FFF2-40B4-BE49-F238E27FC236}">
                <a16:creationId xmlns:a16="http://schemas.microsoft.com/office/drawing/2014/main" id="{C87E85EE-4907-5EE4-F65E-A2E77EF3EF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13540" y="3429000"/>
            <a:ext cx="1752600" cy="3238500"/>
          </a:xfrm>
          <a:prstGeom prst="rect">
            <a:avLst/>
          </a:prstGeom>
        </p:spPr>
      </p:pic>
    </p:spTree>
    <p:extLst>
      <p:ext uri="{BB962C8B-B14F-4D97-AF65-F5344CB8AC3E}">
        <p14:creationId xmlns:p14="http://schemas.microsoft.com/office/powerpoint/2010/main" val="2275838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wipe(left)">
                                      <p:cBhvr>
                                        <p:cTn id="22" dur="20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Effect transition="in" filter="wipe(left)">
                                      <p:cBhvr>
                                        <p:cTn id="27" dur="2000"/>
                                        <p:tgtEl>
                                          <p:spTgt spid="7">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animEffect transition="in" filter="wipe(left)">
                                      <p:cBhvr>
                                        <p:cTn id="32" dur="20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7" grpId="0" build="p"/>
    </p:bldLst>
  </p:timing>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19345DC-6C31-748D-8420-E64F92243F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56091F-452F-84E1-FC0A-F50D0EBA903F}"/>
              </a:ext>
            </a:extLst>
          </p:cNvPr>
          <p:cNvSpPr>
            <a:spLocks noGrp="1"/>
          </p:cNvSpPr>
          <p:nvPr>
            <p:ph type="title"/>
          </p:nvPr>
        </p:nvSpPr>
        <p:spPr/>
        <p:txBody>
          <a:bodyPr/>
          <a:lstStyle/>
          <a:p>
            <a:r>
              <a:rPr lang="en-GB" dirty="0"/>
              <a:t>Add Data – Single Record (2) – Example</a:t>
            </a:r>
          </a:p>
        </p:txBody>
      </p:sp>
      <p:sp>
        <p:nvSpPr>
          <p:cNvPr id="3" name="Content Placeholder 2">
            <a:extLst>
              <a:ext uri="{FF2B5EF4-FFF2-40B4-BE49-F238E27FC236}">
                <a16:creationId xmlns:a16="http://schemas.microsoft.com/office/drawing/2014/main" id="{79772BBC-BE43-683F-4299-664C13FA0031}"/>
              </a:ext>
            </a:extLst>
          </p:cNvPr>
          <p:cNvSpPr>
            <a:spLocks noGrp="1"/>
          </p:cNvSpPr>
          <p:nvPr>
            <p:ph idx="1"/>
          </p:nvPr>
        </p:nvSpPr>
        <p:spPr>
          <a:xfrm>
            <a:off x="838200" y="1825625"/>
            <a:ext cx="10773294" cy="4351338"/>
          </a:xfrm>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INSERT INTO</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Datatypes</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VALUES</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1001</a:t>
            </a:r>
            <a:r>
              <a:rPr lang="en-US" altLang="en-US" sz="4000" dirty="0">
                <a:latin typeface="Consolas" panose="020B0609020204030204" pitchFamily="49" charset="0"/>
              </a:rPr>
              <a:t>, </a:t>
            </a:r>
            <a:r>
              <a:rPr lang="en-US" altLang="en-US" sz="4000" dirty="0">
                <a:solidFill>
                  <a:srgbClr val="A71D5D"/>
                </a:solidFill>
                <a:latin typeface="Consolas" panose="020B0609020204030204" pitchFamily="49" charset="0"/>
              </a:rPr>
              <a:t>NULL</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 </a:t>
            </a:r>
            <a:r>
              <a:rPr lang="en-US" altLang="en-US" sz="4000" dirty="0">
                <a:solidFill>
                  <a:srgbClr val="A71D5D"/>
                </a:solidFill>
                <a:latin typeface="Consolas" panose="020B0609020204030204" pitchFamily="49" charset="0"/>
              </a:rPr>
              <a:t>NULL</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 </a:t>
            </a:r>
            <a:r>
              <a:rPr lang="en-US" altLang="en-US" sz="4000" dirty="0">
                <a:solidFill>
                  <a:srgbClr val="A71D5D"/>
                </a:solidFill>
                <a:latin typeface="Consolas" panose="020B0609020204030204" pitchFamily="49" charset="0"/>
              </a:rPr>
              <a:t>NULL</a:t>
            </a:r>
            <a:r>
              <a:rPr lang="en-US" altLang="en-US" sz="4000" dirty="0">
                <a:solidFill>
                  <a:srgbClr val="000000"/>
                </a:solidFill>
                <a:latin typeface="Consolas" panose="020B0609020204030204" pitchFamily="49" charset="0"/>
              </a:rPr>
              <a:t>,</a:t>
            </a:r>
            <a:br>
              <a:rPr lang="en-US" altLang="en-US" sz="4000" dirty="0">
                <a:solidFill>
                  <a:srgbClr val="183691"/>
                </a:solidFill>
                <a:latin typeface="Consolas" panose="020B0609020204030204" pitchFamily="49" charset="0"/>
              </a:rPr>
            </a:br>
            <a:r>
              <a:rPr lang="en-US" altLang="en-US" sz="4000" dirty="0">
                <a:solidFill>
                  <a:srgbClr val="183691"/>
                </a:solidFill>
                <a:latin typeface="Consolas" panose="020B0609020204030204" pitchFamily="49" charset="0"/>
              </a:rPr>
              <a:t>            </a:t>
            </a:r>
            <a:r>
              <a:rPr lang="en-US" altLang="en-US" sz="4000" dirty="0">
                <a:solidFill>
                  <a:srgbClr val="A71D5D"/>
                </a:solidFill>
                <a:latin typeface="Consolas" panose="020B0609020204030204" pitchFamily="49" charset="0"/>
              </a:rPr>
              <a:t>NULL</a:t>
            </a:r>
            <a:r>
              <a:rPr lang="en-US" altLang="en-US" sz="4000" dirty="0">
                <a:solidFill>
                  <a:srgbClr val="000000"/>
                </a:solidFill>
                <a:latin typeface="Consolas" panose="020B0609020204030204" pitchFamily="49" charset="0"/>
              </a:rPr>
              <a:t>,</a:t>
            </a:r>
            <a:r>
              <a:rPr lang="en-US" altLang="en-US" sz="4000" dirty="0">
                <a:solidFill>
                  <a:srgbClr val="A71D5D"/>
                </a:solidFill>
                <a:latin typeface="Consolas" panose="020B0609020204030204" pitchFamily="49" charset="0"/>
              </a:rPr>
              <a:t> NULL</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 FALSE</a:t>
            </a:r>
            <a:r>
              <a:rPr lang="en-US" altLang="en-US" sz="4000" dirty="0">
                <a:solidFill>
                  <a:srgbClr val="000000"/>
                </a:solidFill>
                <a:latin typeface="Consolas" panose="020B0609020204030204" pitchFamily="49" charset="0"/>
              </a:rPr>
              <a:t>);</a:t>
            </a:r>
            <a:br>
              <a:rPr lang="en-US" altLang="en-US" sz="4000" dirty="0">
                <a:solidFill>
                  <a:srgbClr val="000000"/>
                </a:solidFill>
                <a:latin typeface="Consolas" panose="020B0609020204030204" pitchFamily="49" charset="0"/>
              </a:rPr>
            </a:br>
            <a:endParaRPr lang="en-US" altLang="en-US" sz="4800" dirty="0">
              <a:latin typeface="Arial" panose="020B0604020202020204" pitchFamily="34" charset="0"/>
            </a:endParaRPr>
          </a:p>
        </p:txBody>
      </p:sp>
      <p:sp>
        <p:nvSpPr>
          <p:cNvPr id="7" name="TextBox 6">
            <a:extLst>
              <a:ext uri="{FF2B5EF4-FFF2-40B4-BE49-F238E27FC236}">
                <a16:creationId xmlns:a16="http://schemas.microsoft.com/office/drawing/2014/main" id="{CFC4D925-BD84-AB03-E98E-1B56D295E961}"/>
              </a:ext>
            </a:extLst>
          </p:cNvPr>
          <p:cNvSpPr txBox="1"/>
          <p:nvPr/>
        </p:nvSpPr>
        <p:spPr>
          <a:xfrm>
            <a:off x="2" y="4716635"/>
            <a:ext cx="9951718" cy="2123658"/>
          </a:xfrm>
          <a:prstGeom prst="rect">
            <a:avLst/>
          </a:prstGeom>
          <a:noFill/>
        </p:spPr>
        <p:txBody>
          <a:bodyPr wrap="square" rtlCol="0">
            <a:spAutoFit/>
          </a:bodyPr>
          <a:lstStyle/>
          <a:p>
            <a:pPr algn="ctr"/>
            <a:endParaRPr lang="en-GB" sz="3600" dirty="0">
              <a:solidFill>
                <a:srgbClr val="7030A0"/>
              </a:solidFill>
            </a:endParaRPr>
          </a:p>
          <a:p>
            <a:pPr algn="ctr"/>
            <a:r>
              <a:rPr lang="en-GB" sz="3600" dirty="0">
                <a:solidFill>
                  <a:srgbClr val="7030A0"/>
                </a:solidFill>
              </a:rPr>
              <a:t>but PK and all validation rules must be met</a:t>
            </a:r>
          </a:p>
          <a:p>
            <a:pPr algn="ctr"/>
            <a:endParaRPr lang="en-GB" sz="2400" dirty="0">
              <a:solidFill>
                <a:srgbClr val="7030A0"/>
              </a:solidFill>
              <a:latin typeface="Consolas" panose="020B0609020204030204" pitchFamily="49" charset="0"/>
            </a:endParaRPr>
          </a:p>
          <a:p>
            <a:pPr algn="ctr"/>
            <a:r>
              <a:rPr lang="en-GB" sz="3600" dirty="0">
                <a:solidFill>
                  <a:srgbClr val="7030A0"/>
                </a:solidFill>
              </a:rPr>
              <a:t>If a validation rule fails, no data is inserted</a:t>
            </a:r>
            <a:endParaRPr lang="en-GB" sz="3600" dirty="0">
              <a:solidFill>
                <a:srgbClr val="7030A0"/>
              </a:solidFill>
              <a:latin typeface="Consolas" panose="020B0609020204030204" pitchFamily="49" charset="0"/>
            </a:endParaRPr>
          </a:p>
        </p:txBody>
      </p:sp>
      <p:pic>
        <p:nvPicPr>
          <p:cNvPr id="10" name="Picture 9">
            <a:extLst>
              <a:ext uri="{FF2B5EF4-FFF2-40B4-BE49-F238E27FC236}">
                <a16:creationId xmlns:a16="http://schemas.microsoft.com/office/drawing/2014/main" id="{BC1A91A5-EFF0-1759-C2D6-E0B83E278A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13544" y="3429000"/>
            <a:ext cx="1752600" cy="3238500"/>
          </a:xfrm>
          <a:prstGeom prst="rect">
            <a:avLst/>
          </a:prstGeom>
        </p:spPr>
      </p:pic>
    </p:spTree>
    <p:extLst>
      <p:ext uri="{BB962C8B-B14F-4D97-AF65-F5344CB8AC3E}">
        <p14:creationId xmlns:p14="http://schemas.microsoft.com/office/powerpoint/2010/main" val="139799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wipe(left)">
                                      <p:cBhvr>
                                        <p:cTn id="17" dur="20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20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DBD5C-77C7-352F-9C12-FEE38CECAA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59CFF-5D06-DAD8-A9D9-9F2AE9CD2894}"/>
              </a:ext>
            </a:extLst>
          </p:cNvPr>
          <p:cNvSpPr>
            <a:spLocks noGrp="1"/>
          </p:cNvSpPr>
          <p:nvPr>
            <p:ph type="title"/>
          </p:nvPr>
        </p:nvSpPr>
        <p:spPr/>
        <p:txBody>
          <a:bodyPr/>
          <a:lstStyle/>
          <a:p>
            <a:r>
              <a:rPr lang="en-GB" dirty="0"/>
              <a:t>Add Data – Multiple Records – Example</a:t>
            </a:r>
          </a:p>
        </p:txBody>
      </p:sp>
      <p:sp>
        <p:nvSpPr>
          <p:cNvPr id="3" name="Content Placeholder 2">
            <a:extLst>
              <a:ext uri="{FF2B5EF4-FFF2-40B4-BE49-F238E27FC236}">
                <a16:creationId xmlns:a16="http://schemas.microsoft.com/office/drawing/2014/main" id="{2E0E1C93-E526-A9A9-7F89-D6D33D95AC12}"/>
              </a:ext>
            </a:extLst>
          </p:cNvPr>
          <p:cNvSpPr>
            <a:spLocks noGrp="1"/>
          </p:cNvSpPr>
          <p:nvPr>
            <p:ph idx="1"/>
          </p:nvPr>
        </p:nvSpPr>
        <p:spPr>
          <a:xfrm>
            <a:off x="838200" y="1825625"/>
            <a:ext cx="10773294" cy="4351338"/>
          </a:xfrm>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INSERT INTO</a:t>
            </a:r>
            <a:r>
              <a:rPr lang="en-US" altLang="en-US" sz="4000" dirty="0">
                <a:solidFill>
                  <a:srgbClr val="000000"/>
                </a:solidFill>
                <a:latin typeface="Consolas" panose="020B0609020204030204" pitchFamily="49" charset="0"/>
              </a:rPr>
              <a:t> Pet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VALUES</a:t>
            </a:r>
            <a:r>
              <a:rPr lang="en-US" altLang="en-US" sz="4000" dirty="0">
                <a:solidFill>
                  <a:srgbClr val="000000"/>
                </a:solidFill>
                <a:latin typeface="Consolas" panose="020B0609020204030204" pitchFamily="49" charset="0"/>
              </a:rPr>
              <a:t> (</a:t>
            </a:r>
            <a:r>
              <a:rPr lang="en-US" altLang="en-US" sz="4000" dirty="0">
                <a:solidFill>
                  <a:srgbClr val="183691"/>
                </a:solidFill>
                <a:latin typeface="Consolas" panose="020B0609020204030204" pitchFamily="49" charset="0"/>
              </a:rPr>
              <a:t>"Monty"</a:t>
            </a:r>
            <a:r>
              <a:rPr lang="en-US" altLang="en-US" sz="4000" dirty="0">
                <a:solidFill>
                  <a:srgbClr val="000000"/>
                </a:solidFill>
                <a:latin typeface="Consolas" panose="020B0609020204030204" pitchFamily="49" charset="0"/>
              </a:rPr>
              <a:t>, </a:t>
            </a:r>
            <a:r>
              <a:rPr lang="en-US" altLang="en-US" sz="4000" dirty="0">
                <a:solidFill>
                  <a:srgbClr val="183691"/>
                </a:solidFill>
                <a:latin typeface="Consolas" panose="020B0609020204030204" pitchFamily="49" charset="0"/>
              </a:rPr>
              <a:t>"Dog"</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2</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2</a:t>
            </a:r>
            <a:r>
              <a:rPr lang="en-US" altLang="en-US" sz="4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"Roland"</a:t>
            </a:r>
            <a:r>
              <a:rPr lang="en-US" altLang="en-US" sz="4000" dirty="0">
                <a:solidFill>
                  <a:srgbClr val="000000"/>
                </a:solidFill>
                <a:latin typeface="Consolas" panose="020B0609020204030204" pitchFamily="49" charset="0"/>
              </a:rPr>
              <a:t>, </a:t>
            </a:r>
            <a:r>
              <a:rPr lang="en-US" altLang="en-US" sz="4000" dirty="0">
                <a:solidFill>
                  <a:srgbClr val="183691"/>
                </a:solidFill>
                <a:latin typeface="Consolas" panose="020B0609020204030204" pitchFamily="49" charset="0"/>
              </a:rPr>
              <a:t>"Mouse"</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1</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0</a:t>
            </a:r>
            <a:r>
              <a:rPr lang="en-US" altLang="en-US" sz="4000" dirty="0">
                <a:solidFill>
                  <a:srgbClr val="000000"/>
                </a:solidFill>
                <a:latin typeface="Consolas" panose="020B0609020204030204" pitchFamily="49" charset="0"/>
              </a:rPr>
              <a:t>);</a:t>
            </a:r>
            <a:br>
              <a:rPr lang="en-US" altLang="en-US" sz="4000" dirty="0">
                <a:solidFill>
                  <a:srgbClr val="000000"/>
                </a:solidFill>
                <a:latin typeface="Consolas" panose="020B0609020204030204" pitchFamily="49" charset="0"/>
              </a:rPr>
            </a:br>
            <a:endParaRPr lang="en-US" altLang="en-US" sz="5400" dirty="0">
              <a:latin typeface="Arial" panose="020B0604020202020204" pitchFamily="34" charset="0"/>
            </a:endParaRPr>
          </a:p>
          <a:p>
            <a:pPr marL="0" lvl="0" indent="0" eaLnBrk="0" fontAlgn="base" hangingPunct="0">
              <a:lnSpc>
                <a:spcPct val="100000"/>
              </a:lnSpc>
              <a:spcBef>
                <a:spcPct val="0"/>
              </a:spcBef>
              <a:spcAft>
                <a:spcPct val="0"/>
              </a:spcAft>
              <a:buNone/>
            </a:pPr>
            <a:br>
              <a:rPr lang="en-US" altLang="en-US" sz="4000" dirty="0">
                <a:solidFill>
                  <a:srgbClr val="000000"/>
                </a:solidFill>
                <a:latin typeface="Consolas" panose="020B0609020204030204" pitchFamily="49" charset="0"/>
              </a:rPr>
            </a:br>
            <a:endParaRPr lang="en-US" altLang="en-US" sz="4800" dirty="0">
              <a:latin typeface="Arial" panose="020B0604020202020204" pitchFamily="34" charset="0"/>
            </a:endParaRPr>
          </a:p>
        </p:txBody>
      </p:sp>
      <p:sp>
        <p:nvSpPr>
          <p:cNvPr id="4" name="Callout: Bent Line with No Border 8">
            <a:extLst>
              <a:ext uri="{FF2B5EF4-FFF2-40B4-BE49-F238E27FC236}">
                <a16:creationId xmlns:a16="http://schemas.microsoft.com/office/drawing/2014/main" id="{F2BEF3FC-7388-EA2F-FFCB-D37B842730C4}"/>
              </a:ext>
            </a:extLst>
          </p:cNvPr>
          <p:cNvSpPr/>
          <p:nvPr/>
        </p:nvSpPr>
        <p:spPr>
          <a:xfrm>
            <a:off x="838200" y="3786525"/>
            <a:ext cx="3291840" cy="862642"/>
          </a:xfrm>
          <a:prstGeom prst="callout2">
            <a:avLst>
              <a:gd name="adj1" fmla="val 49854"/>
              <a:gd name="adj2" fmla="val 100102"/>
              <a:gd name="adj3" fmla="val 49417"/>
              <a:gd name="adj4" fmla="val 129889"/>
              <a:gd name="adj5" fmla="val 3088"/>
              <a:gd name="adj6" fmla="val 13695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Values in table order</a:t>
            </a:r>
          </a:p>
        </p:txBody>
      </p:sp>
      <p:sp>
        <p:nvSpPr>
          <p:cNvPr id="7" name="TextBox 6">
            <a:extLst>
              <a:ext uri="{FF2B5EF4-FFF2-40B4-BE49-F238E27FC236}">
                <a16:creationId xmlns:a16="http://schemas.microsoft.com/office/drawing/2014/main" id="{5EDAEA0F-21C3-0196-1449-192C034B3DD2}"/>
              </a:ext>
            </a:extLst>
          </p:cNvPr>
          <p:cNvSpPr txBox="1"/>
          <p:nvPr/>
        </p:nvSpPr>
        <p:spPr>
          <a:xfrm>
            <a:off x="2" y="4897640"/>
            <a:ext cx="10430392" cy="1569660"/>
          </a:xfrm>
          <a:prstGeom prst="rect">
            <a:avLst/>
          </a:prstGeom>
          <a:noFill/>
        </p:spPr>
        <p:txBody>
          <a:bodyPr wrap="square" rtlCol="0">
            <a:spAutoFit/>
          </a:bodyPr>
          <a:lstStyle/>
          <a:p>
            <a:pPr algn="ctr"/>
            <a:r>
              <a:rPr lang="en-GB" sz="3600" dirty="0">
                <a:solidFill>
                  <a:srgbClr val="7030A0"/>
                </a:solidFill>
              </a:rPr>
              <a:t>PK and all validation rules must be met</a:t>
            </a:r>
          </a:p>
          <a:p>
            <a:pPr algn="ctr"/>
            <a:endParaRPr lang="en-GB" sz="2400" dirty="0">
              <a:solidFill>
                <a:srgbClr val="7030A0"/>
              </a:solidFill>
              <a:latin typeface="Consolas" panose="020B0609020204030204" pitchFamily="49" charset="0"/>
            </a:endParaRPr>
          </a:p>
          <a:p>
            <a:pPr algn="ctr"/>
            <a:r>
              <a:rPr lang="en-GB" sz="3600" dirty="0">
                <a:solidFill>
                  <a:srgbClr val="7030A0"/>
                </a:solidFill>
              </a:rPr>
              <a:t>If a validation rule fails, no data is inserted</a:t>
            </a:r>
            <a:endParaRPr lang="en-GB" sz="3600" dirty="0">
              <a:solidFill>
                <a:srgbClr val="7030A0"/>
              </a:solidFill>
              <a:latin typeface="Consolas" panose="020B0609020204030204" pitchFamily="49" charset="0"/>
            </a:endParaRPr>
          </a:p>
        </p:txBody>
      </p:sp>
      <p:pic>
        <p:nvPicPr>
          <p:cNvPr id="13" name="Picture 12">
            <a:extLst>
              <a:ext uri="{FF2B5EF4-FFF2-40B4-BE49-F238E27FC236}">
                <a16:creationId xmlns:a16="http://schemas.microsoft.com/office/drawing/2014/main" id="{656375C2-54C0-BBF0-DD6E-7AC717F23D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85037" y="4217846"/>
            <a:ext cx="1181100" cy="2286000"/>
          </a:xfrm>
          <a:prstGeom prst="rect">
            <a:avLst/>
          </a:prstGeom>
        </p:spPr>
      </p:pic>
      <p:sp>
        <p:nvSpPr>
          <p:cNvPr id="14" name="Callout: Bent Line with No Border 3">
            <a:extLst>
              <a:ext uri="{FF2B5EF4-FFF2-40B4-BE49-F238E27FC236}">
                <a16:creationId xmlns:a16="http://schemas.microsoft.com/office/drawing/2014/main" id="{029110F2-0DC4-A3F3-7131-F6191AD79C79}"/>
              </a:ext>
            </a:extLst>
          </p:cNvPr>
          <p:cNvSpPr/>
          <p:nvPr/>
        </p:nvSpPr>
        <p:spPr>
          <a:xfrm>
            <a:off x="10789635" y="1535288"/>
            <a:ext cx="1402363" cy="862642"/>
          </a:xfrm>
          <a:prstGeom prst="callout2">
            <a:avLst>
              <a:gd name="adj1" fmla="val 50368"/>
              <a:gd name="adj2" fmla="val -2245"/>
              <a:gd name="adj3" fmla="val 50597"/>
              <a:gd name="adj4" fmla="val -18873"/>
              <a:gd name="adj5" fmla="val 137473"/>
              <a:gd name="adj6" fmla="val -3392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Comma</a:t>
            </a:r>
          </a:p>
        </p:txBody>
      </p:sp>
    </p:spTree>
    <p:extLst>
      <p:ext uri="{BB962C8B-B14F-4D97-AF65-F5344CB8AC3E}">
        <p14:creationId xmlns:p14="http://schemas.microsoft.com/office/powerpoint/2010/main" val="3985395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2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wipe(left)">
                                      <p:cBhvr>
                                        <p:cTn id="32" dur="2000"/>
                                        <p:tgtEl>
                                          <p:spTgt spid="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xEl>
                                              <p:pRg st="2" end="2"/>
                                            </p:txEl>
                                          </p:spTgt>
                                        </p:tgtEl>
                                        <p:attrNameLst>
                                          <p:attrName>style.visibility</p:attrName>
                                        </p:attrNameLst>
                                      </p:cBhvr>
                                      <p:to>
                                        <p:strVal val="visible"/>
                                      </p:to>
                                    </p:set>
                                    <p:animEffect transition="in" filter="wipe(left)">
                                      <p:cBhvr>
                                        <p:cTn id="37" dur="2000"/>
                                        <p:tgtEl>
                                          <p:spTgt spid="7">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7" grpId="0" build="p"/>
      <p:bldP spid="14" grpId="0" animBg="1"/>
    </p:bldLst>
  </p:timing>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5756C6-B7B9-7319-7E35-D9FDD57F34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7B97D9-3D77-CF48-CAFE-34818DDBE4C7}"/>
              </a:ext>
            </a:extLst>
          </p:cNvPr>
          <p:cNvSpPr>
            <a:spLocks noGrp="1"/>
          </p:cNvSpPr>
          <p:nvPr>
            <p:ph type="title"/>
          </p:nvPr>
        </p:nvSpPr>
        <p:spPr/>
        <p:txBody>
          <a:bodyPr/>
          <a:lstStyle/>
          <a:p>
            <a:r>
              <a:rPr lang="en-GB" dirty="0"/>
              <a:t>Add Data – Multiple Records – Example</a:t>
            </a:r>
          </a:p>
        </p:txBody>
      </p:sp>
      <p:sp>
        <p:nvSpPr>
          <p:cNvPr id="3" name="Content Placeholder 2">
            <a:extLst>
              <a:ext uri="{FF2B5EF4-FFF2-40B4-BE49-F238E27FC236}">
                <a16:creationId xmlns:a16="http://schemas.microsoft.com/office/drawing/2014/main" id="{92301FAF-DB90-9848-5BD6-5FD1B69C59E0}"/>
              </a:ext>
            </a:extLst>
          </p:cNvPr>
          <p:cNvSpPr>
            <a:spLocks noGrp="1"/>
          </p:cNvSpPr>
          <p:nvPr>
            <p:ph idx="1"/>
          </p:nvPr>
        </p:nvSpPr>
        <p:spPr>
          <a:xfrm>
            <a:off x="838200" y="1825625"/>
            <a:ext cx="10773294" cy="4351338"/>
          </a:xfrm>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INSERT INTO</a:t>
            </a:r>
            <a:r>
              <a:rPr lang="en-US" altLang="en-US" sz="4000" dirty="0">
                <a:solidFill>
                  <a:srgbClr val="000000"/>
                </a:solidFill>
                <a:latin typeface="Consolas" panose="020B0609020204030204" pitchFamily="49" charset="0"/>
              </a:rPr>
              <a:t> Pet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VALUES</a:t>
            </a:r>
            <a:r>
              <a:rPr lang="en-US" altLang="en-US" sz="4000" dirty="0">
                <a:solidFill>
                  <a:srgbClr val="000000"/>
                </a:solidFill>
                <a:latin typeface="Consolas" panose="020B0609020204030204" pitchFamily="49" charset="0"/>
              </a:rPr>
              <a:t> (</a:t>
            </a:r>
            <a:r>
              <a:rPr lang="en-US" altLang="en-US" sz="4000" dirty="0">
                <a:solidFill>
                  <a:srgbClr val="183691"/>
                </a:solidFill>
                <a:latin typeface="Consolas" panose="020B0609020204030204" pitchFamily="49" charset="0"/>
              </a:rPr>
              <a:t>"Monty"</a:t>
            </a:r>
            <a:r>
              <a:rPr lang="en-US" altLang="en-US" sz="4000" dirty="0">
                <a:solidFill>
                  <a:srgbClr val="000000"/>
                </a:solidFill>
                <a:latin typeface="Consolas" panose="020B0609020204030204" pitchFamily="49" charset="0"/>
              </a:rPr>
              <a:t>, </a:t>
            </a:r>
            <a:r>
              <a:rPr lang="en-US" altLang="en-US" sz="4000" dirty="0">
                <a:solidFill>
                  <a:srgbClr val="183691"/>
                </a:solidFill>
                <a:latin typeface="Consolas" panose="020B0609020204030204" pitchFamily="49" charset="0"/>
              </a:rPr>
              <a:t>"Dog"</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2</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2</a:t>
            </a:r>
            <a:r>
              <a:rPr lang="en-US" altLang="en-US" sz="4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"Roland"</a:t>
            </a:r>
            <a:r>
              <a:rPr lang="en-US" altLang="en-US" sz="4000" dirty="0">
                <a:solidFill>
                  <a:srgbClr val="000000"/>
                </a:solidFill>
                <a:latin typeface="Consolas" panose="020B0609020204030204" pitchFamily="49" charset="0"/>
              </a:rPr>
              <a:t>, </a:t>
            </a:r>
            <a:r>
              <a:rPr lang="en-US" altLang="en-US" sz="4000" dirty="0">
                <a:solidFill>
                  <a:srgbClr val="183691"/>
                </a:solidFill>
                <a:latin typeface="Consolas" panose="020B0609020204030204" pitchFamily="49" charset="0"/>
              </a:rPr>
              <a:t>"Mouse"</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1</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0</a:t>
            </a:r>
            <a:r>
              <a:rPr lang="en-US" altLang="en-US" sz="4000" dirty="0">
                <a:solidFill>
                  <a:srgbClr val="000000"/>
                </a:solidFill>
                <a:latin typeface="Consolas" panose="020B0609020204030204" pitchFamily="49" charset="0"/>
              </a:rPr>
              <a:t>);</a:t>
            </a:r>
            <a:br>
              <a:rPr lang="en-US" altLang="en-US" sz="4000" dirty="0">
                <a:solidFill>
                  <a:srgbClr val="000000"/>
                </a:solidFill>
                <a:latin typeface="Consolas" panose="020B0609020204030204" pitchFamily="49" charset="0"/>
              </a:rPr>
            </a:br>
            <a:endParaRPr lang="en-US" altLang="en-US" sz="5400" dirty="0">
              <a:latin typeface="Arial" panose="020B0604020202020204" pitchFamily="34" charset="0"/>
            </a:endParaRPr>
          </a:p>
          <a:p>
            <a:pPr marL="0" lvl="0" indent="0" eaLnBrk="0" fontAlgn="base" hangingPunct="0">
              <a:lnSpc>
                <a:spcPct val="100000"/>
              </a:lnSpc>
              <a:spcBef>
                <a:spcPct val="0"/>
              </a:spcBef>
              <a:spcAft>
                <a:spcPct val="0"/>
              </a:spcAft>
              <a:buNone/>
            </a:pPr>
            <a:br>
              <a:rPr lang="en-US" altLang="en-US" sz="4000" dirty="0">
                <a:solidFill>
                  <a:srgbClr val="000000"/>
                </a:solidFill>
                <a:latin typeface="Consolas" panose="020B0609020204030204" pitchFamily="49" charset="0"/>
              </a:rPr>
            </a:br>
            <a:endParaRPr lang="en-US" altLang="en-US" sz="4800" dirty="0">
              <a:latin typeface="Arial" panose="020B0604020202020204" pitchFamily="34" charset="0"/>
            </a:endParaRPr>
          </a:p>
        </p:txBody>
      </p:sp>
      <p:sp>
        <p:nvSpPr>
          <p:cNvPr id="7" name="TextBox 6">
            <a:extLst>
              <a:ext uri="{FF2B5EF4-FFF2-40B4-BE49-F238E27FC236}">
                <a16:creationId xmlns:a16="http://schemas.microsoft.com/office/drawing/2014/main" id="{F803A1AA-0F70-D7A6-F874-39F582955F78}"/>
              </a:ext>
            </a:extLst>
          </p:cNvPr>
          <p:cNvSpPr txBox="1"/>
          <p:nvPr/>
        </p:nvSpPr>
        <p:spPr>
          <a:xfrm>
            <a:off x="2" y="4897640"/>
            <a:ext cx="10430392" cy="1569660"/>
          </a:xfrm>
          <a:prstGeom prst="rect">
            <a:avLst/>
          </a:prstGeom>
          <a:noFill/>
        </p:spPr>
        <p:txBody>
          <a:bodyPr wrap="square" rtlCol="0">
            <a:spAutoFit/>
          </a:bodyPr>
          <a:lstStyle/>
          <a:p>
            <a:pPr algn="ctr"/>
            <a:r>
              <a:rPr lang="en-GB" sz="3600" dirty="0">
                <a:solidFill>
                  <a:srgbClr val="7030A0"/>
                </a:solidFill>
              </a:rPr>
              <a:t>PK and all validation rules must be met</a:t>
            </a:r>
          </a:p>
          <a:p>
            <a:pPr algn="ctr"/>
            <a:endParaRPr lang="en-GB" sz="2400" dirty="0">
              <a:solidFill>
                <a:srgbClr val="7030A0"/>
              </a:solidFill>
              <a:latin typeface="Consolas" panose="020B0609020204030204" pitchFamily="49" charset="0"/>
            </a:endParaRPr>
          </a:p>
          <a:p>
            <a:pPr algn="ctr"/>
            <a:r>
              <a:rPr lang="en-GB" sz="3600" dirty="0">
                <a:solidFill>
                  <a:srgbClr val="7030A0"/>
                </a:solidFill>
              </a:rPr>
              <a:t>If a validation rule fails, no data is inserted</a:t>
            </a:r>
            <a:endParaRPr lang="en-GB" sz="3600" dirty="0">
              <a:solidFill>
                <a:srgbClr val="7030A0"/>
              </a:solidFill>
              <a:latin typeface="Consolas" panose="020B0609020204030204" pitchFamily="49" charset="0"/>
            </a:endParaRPr>
          </a:p>
        </p:txBody>
      </p:sp>
      <p:pic>
        <p:nvPicPr>
          <p:cNvPr id="13" name="Picture 12">
            <a:extLst>
              <a:ext uri="{FF2B5EF4-FFF2-40B4-BE49-F238E27FC236}">
                <a16:creationId xmlns:a16="http://schemas.microsoft.com/office/drawing/2014/main" id="{C95F7D0C-CB25-4E1E-2515-C438B8B377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85041" y="4217846"/>
            <a:ext cx="1181100" cy="2286000"/>
          </a:xfrm>
          <a:prstGeom prst="rect">
            <a:avLst/>
          </a:prstGeom>
        </p:spPr>
      </p:pic>
    </p:spTree>
    <p:extLst>
      <p:ext uri="{BB962C8B-B14F-4D97-AF65-F5344CB8AC3E}">
        <p14:creationId xmlns:p14="http://schemas.microsoft.com/office/powerpoint/2010/main" val="2330917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2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wipe(left)">
                                      <p:cBhvr>
                                        <p:cTn id="27" dur="20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2" end="2"/>
                                            </p:txEl>
                                          </p:spTgt>
                                        </p:tgtEl>
                                        <p:attrNameLst>
                                          <p:attrName>style.visibility</p:attrName>
                                        </p:attrNameLst>
                                      </p:cBhvr>
                                      <p:to>
                                        <p:strVal val="visible"/>
                                      </p:to>
                                    </p:set>
                                    <p:animEffect transition="in" filter="wipe(left)">
                                      <p:cBhvr>
                                        <p:cTn id="32" dur="20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Add Data – Some Fields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INSERT INTO Table</a:t>
            </a:r>
            <a:r>
              <a:rPr lang="en-US" altLang="en-US" sz="4000" dirty="0">
                <a:solidFill>
                  <a:srgbClr val="000000"/>
                </a:solidFill>
                <a:latin typeface="Consolas" panose="020B0609020204030204" pitchFamily="49" charset="0"/>
              </a:rPr>
              <a:t> (field1, field2)</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VALUES</a:t>
            </a:r>
            <a:r>
              <a:rPr lang="en-US" altLang="en-US" sz="4000" dirty="0">
                <a:solidFill>
                  <a:srgbClr val="000000"/>
                </a:solidFill>
                <a:latin typeface="Consolas" panose="020B0609020204030204" pitchFamily="49" charset="0"/>
              </a:rPr>
              <a:t> (value1, value2);</a:t>
            </a:r>
            <a:endParaRPr lang="en-US" altLang="en-US" sz="4800" dirty="0">
              <a:latin typeface="Arial" panose="020B0604020202020204" pitchFamily="34" charset="0"/>
            </a:endParaRPr>
          </a:p>
        </p:txBody>
      </p:sp>
      <p:sp>
        <p:nvSpPr>
          <p:cNvPr id="6" name="Callout: Bent Line with No Border 3">
            <a:extLst>
              <a:ext uri="{FF2B5EF4-FFF2-40B4-BE49-F238E27FC236}">
                <a16:creationId xmlns:a16="http://schemas.microsoft.com/office/drawing/2014/main" id="{77E8332C-AADD-4F2B-B0E2-AC0B43D6AE90}"/>
              </a:ext>
            </a:extLst>
          </p:cNvPr>
          <p:cNvSpPr/>
          <p:nvPr/>
        </p:nvSpPr>
        <p:spPr>
          <a:xfrm>
            <a:off x="9564220" y="836127"/>
            <a:ext cx="1280160" cy="862642"/>
          </a:xfrm>
          <a:prstGeom prst="callout2">
            <a:avLst>
              <a:gd name="adj1" fmla="val 52750"/>
              <a:gd name="adj2" fmla="val -2245"/>
              <a:gd name="adj3" fmla="val 52979"/>
              <a:gd name="adj4" fmla="val -49644"/>
              <a:gd name="adj5" fmla="val 124372"/>
              <a:gd name="adj6" fmla="val -6323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Fields</a:t>
            </a:r>
          </a:p>
        </p:txBody>
      </p:sp>
      <p:sp>
        <p:nvSpPr>
          <p:cNvPr id="7" name="Callout: Bent Line with No Border 8">
            <a:extLst>
              <a:ext uri="{FF2B5EF4-FFF2-40B4-BE49-F238E27FC236}">
                <a16:creationId xmlns:a16="http://schemas.microsoft.com/office/drawing/2014/main" id="{412E8916-E1C6-455C-96C6-1411BB246ADC}"/>
              </a:ext>
            </a:extLst>
          </p:cNvPr>
          <p:cNvSpPr/>
          <p:nvPr/>
        </p:nvSpPr>
        <p:spPr>
          <a:xfrm>
            <a:off x="1904433" y="3441700"/>
            <a:ext cx="3291840" cy="862642"/>
          </a:xfrm>
          <a:prstGeom prst="callout2">
            <a:avLst>
              <a:gd name="adj1" fmla="val 48750"/>
              <a:gd name="adj2" fmla="val 104056"/>
              <a:gd name="adj3" fmla="val 49417"/>
              <a:gd name="adj4" fmla="val 129889"/>
              <a:gd name="adj5" fmla="val -32513"/>
              <a:gd name="adj6" fmla="val 13485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Values in field order</a:t>
            </a:r>
          </a:p>
        </p:txBody>
      </p:sp>
      <p:sp>
        <p:nvSpPr>
          <p:cNvPr id="8" name="TextBox 7">
            <a:extLst>
              <a:ext uri="{FF2B5EF4-FFF2-40B4-BE49-F238E27FC236}">
                <a16:creationId xmlns:a16="http://schemas.microsoft.com/office/drawing/2014/main" id="{DF4BA8FF-524A-4C13-87BF-68801971FA28}"/>
              </a:ext>
            </a:extLst>
          </p:cNvPr>
          <p:cNvSpPr txBox="1"/>
          <p:nvPr/>
        </p:nvSpPr>
        <p:spPr>
          <a:xfrm>
            <a:off x="2058516" y="4918858"/>
            <a:ext cx="8074967" cy="1631216"/>
          </a:xfrm>
          <a:prstGeom prst="rect">
            <a:avLst/>
          </a:prstGeom>
          <a:noFill/>
        </p:spPr>
        <p:txBody>
          <a:bodyPr wrap="none" rtlCol="0">
            <a:spAutoFit/>
          </a:bodyPr>
          <a:lstStyle/>
          <a:p>
            <a:pPr algn="ctr"/>
            <a:r>
              <a:rPr lang="en-GB" sz="3600" dirty="0">
                <a:solidFill>
                  <a:srgbClr val="7030A0"/>
                </a:solidFill>
              </a:rPr>
              <a:t>All validation rules must be met</a:t>
            </a:r>
          </a:p>
          <a:p>
            <a:pPr algn="ctr"/>
            <a:endParaRPr lang="en-GB" sz="2400" dirty="0">
              <a:solidFill>
                <a:srgbClr val="7030A0"/>
              </a:solidFill>
              <a:latin typeface="Consolas" panose="020B0609020204030204" pitchFamily="49" charset="0"/>
            </a:endParaRPr>
          </a:p>
          <a:p>
            <a:pPr algn="ctr"/>
            <a:r>
              <a:rPr lang="en-GB" sz="3600" dirty="0">
                <a:solidFill>
                  <a:srgbClr val="7030A0"/>
                </a:solidFill>
              </a:rPr>
              <a:t>If a validation rule fails, no data is inserted</a:t>
            </a:r>
            <a:endParaRPr lang="en-GB" sz="3600" dirty="0">
              <a:solidFill>
                <a:srgbClr val="7030A0"/>
              </a:solidFill>
              <a:latin typeface="Consolas" panose="020B0609020204030204" pitchFamily="49" charset="0"/>
            </a:endParaRPr>
          </a:p>
        </p:txBody>
      </p:sp>
      <p:sp>
        <p:nvSpPr>
          <p:cNvPr id="9" name="TextBox 8">
            <a:extLst>
              <a:ext uri="{FF2B5EF4-FFF2-40B4-BE49-F238E27FC236}">
                <a16:creationId xmlns:a16="http://schemas.microsoft.com/office/drawing/2014/main" id="{DF4BA8FF-524A-4C13-87BF-68801971FA28}"/>
              </a:ext>
            </a:extLst>
          </p:cNvPr>
          <p:cNvSpPr txBox="1"/>
          <p:nvPr/>
        </p:nvSpPr>
        <p:spPr>
          <a:xfrm>
            <a:off x="8289174" y="3583592"/>
            <a:ext cx="3322320" cy="1200329"/>
          </a:xfrm>
          <a:prstGeom prst="rect">
            <a:avLst/>
          </a:prstGeom>
          <a:noFill/>
        </p:spPr>
        <p:txBody>
          <a:bodyPr wrap="square" rtlCol="0">
            <a:spAutoFit/>
          </a:bodyPr>
          <a:lstStyle/>
          <a:p>
            <a:pPr algn="ctr"/>
            <a:r>
              <a:rPr lang="en-GB" sz="3600" b="1" dirty="0">
                <a:solidFill>
                  <a:srgbClr val="FF0000"/>
                </a:solidFill>
              </a:rPr>
              <a:t>Same</a:t>
            </a:r>
            <a:r>
              <a:rPr lang="en-GB" sz="3600" dirty="0"/>
              <a:t> </a:t>
            </a:r>
            <a:r>
              <a:rPr lang="en-GB" sz="3600" dirty="0">
                <a:solidFill>
                  <a:srgbClr val="7030A0"/>
                </a:solidFill>
              </a:rPr>
              <a:t>number of fields and values</a:t>
            </a:r>
          </a:p>
        </p:txBody>
      </p:sp>
    </p:spTree>
    <p:extLst>
      <p:ext uri="{BB962C8B-B14F-4D97-AF65-F5344CB8AC3E}">
        <p14:creationId xmlns:p14="http://schemas.microsoft.com/office/powerpoint/2010/main" val="1083383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3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1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2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xEl>
                                              <p:pRg st="0" end="0"/>
                                            </p:txEl>
                                          </p:spTgt>
                                        </p:tgtEl>
                                        <p:attrNameLst>
                                          <p:attrName>style.visibility</p:attrName>
                                        </p:attrNameLst>
                                      </p:cBhvr>
                                      <p:to>
                                        <p:strVal val="visible"/>
                                      </p:to>
                                    </p:set>
                                    <p:animEffect transition="in" filter="wipe(left)">
                                      <p:cBhvr>
                                        <p:cTn id="32" dur="2000"/>
                                        <p:tgtEl>
                                          <p:spTgt spid="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xEl>
                                              <p:pRg st="2" end="2"/>
                                            </p:txEl>
                                          </p:spTgt>
                                        </p:tgtEl>
                                        <p:attrNameLst>
                                          <p:attrName>style.visibility</p:attrName>
                                        </p:attrNameLst>
                                      </p:cBhvr>
                                      <p:to>
                                        <p:strVal val="visible"/>
                                      </p:to>
                                    </p:set>
                                    <p:animEffect transition="in" filter="wipe(left)">
                                      <p:cBhvr>
                                        <p:cTn id="37" dur="20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P spid="8" grpId="0" build="p"/>
      <p:bldP spid="9" grpId="0"/>
    </p:bldLst>
  </p:timing>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Add Data – Some Fields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INSERT INTO Table</a:t>
            </a:r>
            <a:r>
              <a:rPr lang="en-US" altLang="en-US" sz="4000" dirty="0">
                <a:solidFill>
                  <a:srgbClr val="000000"/>
                </a:solidFill>
                <a:latin typeface="Consolas" panose="020B0609020204030204" pitchFamily="49" charset="0"/>
              </a:rPr>
              <a:t> (field1, field2)</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VALUES</a:t>
            </a:r>
            <a:r>
              <a:rPr lang="en-US" altLang="en-US" sz="4000" dirty="0">
                <a:solidFill>
                  <a:srgbClr val="000000"/>
                </a:solidFill>
                <a:latin typeface="Consolas" panose="020B0609020204030204" pitchFamily="49" charset="0"/>
              </a:rPr>
              <a:t> (value1, value2);</a:t>
            </a:r>
            <a:endParaRPr lang="en-US" altLang="en-US" sz="4800" dirty="0">
              <a:latin typeface="Arial" panose="020B0604020202020204" pitchFamily="34" charset="0"/>
            </a:endParaRPr>
          </a:p>
        </p:txBody>
      </p:sp>
      <p:sp>
        <p:nvSpPr>
          <p:cNvPr id="8" name="TextBox 7">
            <a:extLst>
              <a:ext uri="{FF2B5EF4-FFF2-40B4-BE49-F238E27FC236}">
                <a16:creationId xmlns:a16="http://schemas.microsoft.com/office/drawing/2014/main" id="{DF4BA8FF-524A-4C13-87BF-68801971FA28}"/>
              </a:ext>
            </a:extLst>
          </p:cNvPr>
          <p:cNvSpPr txBox="1"/>
          <p:nvPr/>
        </p:nvSpPr>
        <p:spPr>
          <a:xfrm>
            <a:off x="2058516" y="4918858"/>
            <a:ext cx="8074967" cy="1631216"/>
          </a:xfrm>
          <a:prstGeom prst="rect">
            <a:avLst/>
          </a:prstGeom>
          <a:noFill/>
        </p:spPr>
        <p:txBody>
          <a:bodyPr wrap="none" rtlCol="0">
            <a:spAutoFit/>
          </a:bodyPr>
          <a:lstStyle/>
          <a:p>
            <a:pPr algn="ctr"/>
            <a:endParaRPr lang="en-GB" sz="3600" dirty="0">
              <a:solidFill>
                <a:srgbClr val="7030A0"/>
              </a:solidFill>
            </a:endParaRPr>
          </a:p>
          <a:p>
            <a:pPr algn="ctr"/>
            <a:endParaRPr lang="en-GB" sz="2400" dirty="0">
              <a:solidFill>
                <a:srgbClr val="7030A0"/>
              </a:solidFill>
              <a:latin typeface="Consolas" panose="020B0609020204030204" pitchFamily="49" charset="0"/>
            </a:endParaRPr>
          </a:p>
          <a:p>
            <a:pPr algn="ctr"/>
            <a:r>
              <a:rPr lang="en-GB" sz="3600" dirty="0">
                <a:solidFill>
                  <a:srgbClr val="7030A0"/>
                </a:solidFill>
              </a:rPr>
              <a:t>If a validation rule fails, no data is inserted</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86451274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Add Data – Some Fields – Example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825625"/>
            <a:ext cx="10773294" cy="4351338"/>
          </a:xfrm>
        </p:spPr>
        <p:txBody>
          <a:bodyPr>
            <a:normAutofit/>
          </a:bodyPr>
          <a:lstStyle/>
          <a:p>
            <a:pPr marL="0" lvl="0" indent="0" eaLnBrk="0" fontAlgn="base" hangingPunct="0">
              <a:lnSpc>
                <a:spcPct val="100000"/>
              </a:lnSpc>
              <a:spcBef>
                <a:spcPct val="0"/>
              </a:spcBef>
              <a:spcAft>
                <a:spcPct val="0"/>
              </a:spcAft>
              <a:buNone/>
            </a:pPr>
            <a:endParaRPr lang="en-US" altLang="en-US" sz="4000" dirty="0">
              <a:solidFill>
                <a:srgbClr val="B2B2B2"/>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INSERT INTO</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Datatypes</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nice</a:t>
            </a:r>
            <a:r>
              <a:rPr lang="en-US" altLang="en-US" sz="4000" dirty="0">
                <a:solidFill>
                  <a:srgbClr val="000000"/>
                </a:solidFill>
                <a:latin typeface="Consolas" panose="020B0609020204030204" pitchFamily="49" charset="0"/>
              </a:rPr>
              <a:t>, </a:t>
            </a:r>
            <a:r>
              <a:rPr lang="en-US" altLang="en-US" sz="4000" dirty="0" err="1">
                <a:solidFill>
                  <a:srgbClr val="0086B3"/>
                </a:solidFill>
                <a:latin typeface="Consolas" panose="020B0609020204030204" pitchFamily="49" charset="0"/>
              </a:rPr>
              <a:t>rowID</a:t>
            </a:r>
            <a:r>
              <a:rPr lang="en-US" altLang="en-US" sz="4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VALUES</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TRUE</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1002</a:t>
            </a:r>
            <a:r>
              <a:rPr lang="en-US" altLang="en-US" sz="4000" dirty="0">
                <a:solidFill>
                  <a:srgbClr val="000000"/>
                </a:solidFill>
                <a:latin typeface="Consolas" panose="020B0609020204030204" pitchFamily="49" charset="0"/>
              </a:rPr>
              <a:t>);</a:t>
            </a:r>
            <a:br>
              <a:rPr lang="en-US" altLang="en-US" sz="4000" dirty="0">
                <a:solidFill>
                  <a:srgbClr val="000000"/>
                </a:solidFill>
                <a:latin typeface="Consolas" panose="020B0609020204030204" pitchFamily="49" charset="0"/>
              </a:rPr>
            </a:br>
            <a:endParaRPr lang="en-US" altLang="en-US" sz="4800" dirty="0">
              <a:latin typeface="Arial" panose="020B0604020202020204" pitchFamily="34" charset="0"/>
            </a:endParaRPr>
          </a:p>
        </p:txBody>
      </p:sp>
      <p:sp>
        <p:nvSpPr>
          <p:cNvPr id="5" name="Callout: Bent Line with No Border 8">
            <a:extLst>
              <a:ext uri="{FF2B5EF4-FFF2-40B4-BE49-F238E27FC236}">
                <a16:creationId xmlns:a16="http://schemas.microsoft.com/office/drawing/2014/main" id="{44FEFF9E-B37B-D61A-0BB0-4A87C663B88F}"/>
              </a:ext>
            </a:extLst>
          </p:cNvPr>
          <p:cNvSpPr/>
          <p:nvPr/>
        </p:nvSpPr>
        <p:spPr>
          <a:xfrm>
            <a:off x="1169585" y="4001294"/>
            <a:ext cx="2500656" cy="862642"/>
          </a:xfrm>
          <a:prstGeom prst="callout2">
            <a:avLst>
              <a:gd name="adj1" fmla="val 49241"/>
              <a:gd name="adj2" fmla="val 100162"/>
              <a:gd name="adj3" fmla="val 48124"/>
              <a:gd name="adj4" fmla="val 125200"/>
              <a:gd name="adj5" fmla="val -31220"/>
              <a:gd name="adj6" fmla="val 131087"/>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Values in same</a:t>
            </a:r>
          </a:p>
          <a:p>
            <a:pPr algn="r"/>
            <a:r>
              <a:rPr lang="en-GB" sz="2800" b="1" dirty="0">
                <a:solidFill>
                  <a:srgbClr val="7030A0"/>
                </a:solidFill>
              </a:rPr>
              <a:t> order as fields</a:t>
            </a:r>
          </a:p>
        </p:txBody>
      </p:sp>
      <p:sp>
        <p:nvSpPr>
          <p:cNvPr id="6" name="Callout: Bent Line with No Border 8">
            <a:extLst>
              <a:ext uri="{FF2B5EF4-FFF2-40B4-BE49-F238E27FC236}">
                <a16:creationId xmlns:a16="http://schemas.microsoft.com/office/drawing/2014/main" id="{8C82E73A-9351-440B-AD5A-91B4FA5E208F}"/>
              </a:ext>
            </a:extLst>
          </p:cNvPr>
          <p:cNvSpPr/>
          <p:nvPr/>
        </p:nvSpPr>
        <p:spPr>
          <a:xfrm>
            <a:off x="4074277" y="1504636"/>
            <a:ext cx="2952033" cy="862642"/>
          </a:xfrm>
          <a:prstGeom prst="callout2">
            <a:avLst>
              <a:gd name="adj1" fmla="val 50222"/>
              <a:gd name="adj2" fmla="val 100724"/>
              <a:gd name="adj3" fmla="val 50087"/>
              <a:gd name="adj4" fmla="val 121224"/>
              <a:gd name="adj5" fmla="val 119875"/>
              <a:gd name="adj6" fmla="val 131065"/>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Fields in any order</a:t>
            </a:r>
          </a:p>
        </p:txBody>
      </p:sp>
      <p:pic>
        <p:nvPicPr>
          <p:cNvPr id="4" name="Picture 3">
            <a:extLst>
              <a:ext uri="{FF2B5EF4-FFF2-40B4-BE49-F238E27FC236}">
                <a16:creationId xmlns:a16="http://schemas.microsoft.com/office/drawing/2014/main" id="{A23D4659-DB2A-6E80-1762-FC291C94C9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58894" y="3429000"/>
            <a:ext cx="1752600" cy="3238500"/>
          </a:xfrm>
          <a:prstGeom prst="rect">
            <a:avLst/>
          </a:prstGeom>
        </p:spPr>
      </p:pic>
    </p:spTree>
    <p:extLst>
      <p:ext uri="{BB962C8B-B14F-4D97-AF65-F5344CB8AC3E}">
        <p14:creationId xmlns:p14="http://schemas.microsoft.com/office/powerpoint/2010/main" val="3173619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3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2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1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Lst>
  </p:timing>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Add Data – Some Fields – Example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825625"/>
            <a:ext cx="10773294" cy="4351338"/>
          </a:xfrm>
        </p:spPr>
        <p:txBody>
          <a:bodyPr>
            <a:normAutofit/>
          </a:bodyPr>
          <a:lstStyle/>
          <a:p>
            <a:pPr marL="0" lvl="0" indent="0" eaLnBrk="0" fontAlgn="base" hangingPunct="0">
              <a:lnSpc>
                <a:spcPct val="100000"/>
              </a:lnSpc>
              <a:spcBef>
                <a:spcPct val="0"/>
              </a:spcBef>
              <a:spcAft>
                <a:spcPct val="0"/>
              </a:spcAft>
              <a:buNone/>
            </a:pPr>
            <a:endParaRPr lang="en-US" altLang="en-US" sz="4000" dirty="0">
              <a:solidFill>
                <a:srgbClr val="B2B2B2"/>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INSERT INTO</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Datatypes</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nice</a:t>
            </a:r>
            <a:r>
              <a:rPr lang="en-US" altLang="en-US" sz="4000" dirty="0">
                <a:solidFill>
                  <a:srgbClr val="000000"/>
                </a:solidFill>
                <a:latin typeface="Consolas" panose="020B0609020204030204" pitchFamily="49" charset="0"/>
              </a:rPr>
              <a:t>, </a:t>
            </a:r>
            <a:r>
              <a:rPr lang="en-US" altLang="en-US" sz="4000" dirty="0" err="1">
                <a:solidFill>
                  <a:srgbClr val="0086B3"/>
                </a:solidFill>
                <a:latin typeface="Consolas" panose="020B0609020204030204" pitchFamily="49" charset="0"/>
              </a:rPr>
              <a:t>rowID</a:t>
            </a:r>
            <a:r>
              <a:rPr lang="en-US" altLang="en-US" sz="4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VALUES</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TRUE</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1002</a:t>
            </a:r>
            <a:r>
              <a:rPr lang="en-US" altLang="en-US" sz="4000" dirty="0">
                <a:solidFill>
                  <a:srgbClr val="000000"/>
                </a:solidFill>
                <a:latin typeface="Consolas" panose="020B0609020204030204" pitchFamily="49" charset="0"/>
              </a:rPr>
              <a:t>);</a:t>
            </a:r>
            <a:br>
              <a:rPr lang="en-US" altLang="en-US" sz="4000" dirty="0">
                <a:solidFill>
                  <a:srgbClr val="000000"/>
                </a:solidFill>
                <a:latin typeface="Consolas" panose="020B0609020204030204" pitchFamily="49" charset="0"/>
              </a:rPr>
            </a:br>
            <a:endParaRPr lang="en-US" altLang="en-US" sz="4800" dirty="0">
              <a:latin typeface="Arial" panose="020B0604020202020204" pitchFamily="34" charset="0"/>
            </a:endParaRPr>
          </a:p>
        </p:txBody>
      </p:sp>
      <p:pic>
        <p:nvPicPr>
          <p:cNvPr id="4" name="Picture 3">
            <a:extLst>
              <a:ext uri="{FF2B5EF4-FFF2-40B4-BE49-F238E27FC236}">
                <a16:creationId xmlns:a16="http://schemas.microsoft.com/office/drawing/2014/main" id="{66ACFDEB-1C93-6348-D109-D902309446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58894" y="3429000"/>
            <a:ext cx="1752600" cy="3238500"/>
          </a:xfrm>
          <a:prstGeom prst="rect">
            <a:avLst/>
          </a:prstGeom>
        </p:spPr>
      </p:pic>
    </p:spTree>
    <p:extLst>
      <p:ext uri="{BB962C8B-B14F-4D97-AF65-F5344CB8AC3E}">
        <p14:creationId xmlns:p14="http://schemas.microsoft.com/office/powerpoint/2010/main" val="9893959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r>
              <a:rPr lang="en-GB" dirty="0"/>
              <a:t>Describe and use SQL update operations</a:t>
            </a:r>
          </a:p>
        </p:txBody>
      </p:sp>
    </p:spTree>
    <p:extLst>
      <p:ext uri="{BB962C8B-B14F-4D97-AF65-F5344CB8AC3E}">
        <p14:creationId xmlns:p14="http://schemas.microsoft.com/office/powerpoint/2010/main" val="330449468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Change Data</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UPDATE</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SET</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colour</a:t>
            </a:r>
            <a:r>
              <a:rPr lang="en-US" altLang="en-US" sz="4400" dirty="0">
                <a:solidFill>
                  <a:srgbClr val="000000"/>
                </a:solidFill>
                <a:latin typeface="Consolas" panose="020B0609020204030204" pitchFamily="49" charset="0"/>
              </a:rPr>
              <a:t> = </a:t>
            </a:r>
            <a:r>
              <a:rPr lang="en-US" altLang="en-US" sz="4400" dirty="0">
                <a:solidFill>
                  <a:srgbClr val="183691"/>
                </a:solidFill>
                <a:latin typeface="Consolas" panose="020B0609020204030204" pitchFamily="49" charset="0"/>
              </a:rPr>
              <a:t>"Mauve"</a:t>
            </a:r>
            <a:endParaRPr lang="en-US" altLang="en-US" sz="44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colour</a:t>
            </a:r>
            <a:r>
              <a:rPr lang="en-US" altLang="en-US" sz="4400" dirty="0">
                <a:solidFill>
                  <a:srgbClr val="000000"/>
                </a:solidFill>
                <a:latin typeface="Consolas" panose="020B0609020204030204" pitchFamily="49" charset="0"/>
              </a:rPr>
              <a:t> = </a:t>
            </a:r>
            <a:r>
              <a:rPr lang="en-US" altLang="en-US" sz="4400" dirty="0">
                <a:solidFill>
                  <a:srgbClr val="183691"/>
                </a:solidFill>
                <a:latin typeface="Consolas" panose="020B0609020204030204" pitchFamily="49" charset="0"/>
              </a:rPr>
              <a:t>"</a:t>
            </a:r>
            <a:r>
              <a:rPr lang="en-US" altLang="en-US" sz="4400" dirty="0" err="1">
                <a:solidFill>
                  <a:srgbClr val="183691"/>
                </a:solidFill>
                <a:latin typeface="Consolas" panose="020B0609020204030204" pitchFamily="49" charset="0"/>
              </a:rPr>
              <a:t>Mauv</a:t>
            </a:r>
            <a:r>
              <a:rPr lang="en-US" altLang="en-US" sz="4400" dirty="0">
                <a:solidFill>
                  <a:srgbClr val="183691"/>
                </a:solidFill>
                <a:latin typeface="Consolas" panose="020B0609020204030204" pitchFamily="49" charset="0"/>
              </a:rPr>
              <a:t>"</a:t>
            </a:r>
            <a:r>
              <a:rPr lang="en-US" altLang="en-US" sz="4400" dirty="0">
                <a:solidFill>
                  <a:srgbClr val="000000"/>
                </a:solidFill>
                <a:latin typeface="Consolas" panose="020B0609020204030204" pitchFamily="49" charset="0"/>
              </a:rPr>
              <a:t>;</a:t>
            </a:r>
            <a:endParaRPr lang="en-US" altLang="en-US" sz="6000" dirty="0">
              <a:latin typeface="Arial" panose="020B0604020202020204" pitchFamily="34" charset="0"/>
            </a:endParaRPr>
          </a:p>
        </p:txBody>
      </p:sp>
      <p:sp>
        <p:nvSpPr>
          <p:cNvPr id="6" name="Callout: Bent Line with No Border 3">
            <a:extLst>
              <a:ext uri="{FF2B5EF4-FFF2-40B4-BE49-F238E27FC236}">
                <a16:creationId xmlns:a16="http://schemas.microsoft.com/office/drawing/2014/main" id="{77E8332C-AADD-4F2B-B0E2-AC0B43D6AE90}"/>
              </a:ext>
            </a:extLst>
          </p:cNvPr>
          <p:cNvSpPr/>
          <p:nvPr/>
        </p:nvSpPr>
        <p:spPr>
          <a:xfrm>
            <a:off x="7416095" y="1331516"/>
            <a:ext cx="1085850" cy="718344"/>
          </a:xfrm>
          <a:prstGeom prst="callout2">
            <a:avLst>
              <a:gd name="adj1" fmla="val 49990"/>
              <a:gd name="adj2" fmla="val -52"/>
              <a:gd name="adj3" fmla="val 50311"/>
              <a:gd name="adj4" fmla="val -43860"/>
              <a:gd name="adj5" fmla="val 104481"/>
              <a:gd name="adj6" fmla="val -9241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Table</a:t>
            </a:r>
          </a:p>
        </p:txBody>
      </p:sp>
      <p:sp>
        <p:nvSpPr>
          <p:cNvPr id="9" name="Callout: Bent Line with No Border 3">
            <a:extLst>
              <a:ext uri="{FF2B5EF4-FFF2-40B4-BE49-F238E27FC236}">
                <a16:creationId xmlns:a16="http://schemas.microsoft.com/office/drawing/2014/main" id="{77E8332C-AADD-4F2B-B0E2-AC0B43D6AE90}"/>
              </a:ext>
            </a:extLst>
          </p:cNvPr>
          <p:cNvSpPr/>
          <p:nvPr/>
        </p:nvSpPr>
        <p:spPr>
          <a:xfrm>
            <a:off x="9252920" y="1956862"/>
            <a:ext cx="2654036" cy="862642"/>
          </a:xfrm>
          <a:prstGeom prst="callout2">
            <a:avLst>
              <a:gd name="adj1" fmla="val 50910"/>
              <a:gd name="adj2" fmla="val -1058"/>
              <a:gd name="adj3" fmla="val 50697"/>
              <a:gd name="adj4" fmla="val -11665"/>
              <a:gd name="adj5" fmla="val 76367"/>
              <a:gd name="adj6" fmla="val -35585"/>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Field to update</a:t>
            </a:r>
          </a:p>
          <a:p>
            <a:r>
              <a:rPr lang="en-GB" sz="2800" b="1" dirty="0">
                <a:solidFill>
                  <a:srgbClr val="7030A0"/>
                </a:solidFill>
              </a:rPr>
              <a:t>with new value</a:t>
            </a:r>
          </a:p>
        </p:txBody>
      </p:sp>
      <p:sp>
        <p:nvSpPr>
          <p:cNvPr id="11" name="TextBox 10">
            <a:extLst>
              <a:ext uri="{FF2B5EF4-FFF2-40B4-BE49-F238E27FC236}">
                <a16:creationId xmlns:a16="http://schemas.microsoft.com/office/drawing/2014/main" id="{DF4BA8FF-524A-4C13-87BF-68801971FA28}"/>
              </a:ext>
            </a:extLst>
          </p:cNvPr>
          <p:cNvSpPr txBox="1"/>
          <p:nvPr/>
        </p:nvSpPr>
        <p:spPr>
          <a:xfrm>
            <a:off x="1736601" y="5115849"/>
            <a:ext cx="8718797" cy="1631216"/>
          </a:xfrm>
          <a:prstGeom prst="rect">
            <a:avLst/>
          </a:prstGeom>
          <a:noFill/>
        </p:spPr>
        <p:txBody>
          <a:bodyPr wrap="none" rtlCol="0">
            <a:spAutoFit/>
          </a:bodyPr>
          <a:lstStyle/>
          <a:p>
            <a:pPr algn="ctr"/>
            <a:r>
              <a:rPr lang="en-GB" sz="3600" dirty="0">
                <a:solidFill>
                  <a:srgbClr val="7030A0"/>
                </a:solidFill>
              </a:rPr>
              <a:t>Updates</a:t>
            </a:r>
            <a:r>
              <a:rPr lang="en-GB" sz="3600" dirty="0"/>
              <a:t> </a:t>
            </a:r>
            <a:r>
              <a:rPr lang="en-GB" sz="3600" b="1" i="1" dirty="0">
                <a:solidFill>
                  <a:srgbClr val="FF0000"/>
                </a:solidFill>
              </a:rPr>
              <a:t>all</a:t>
            </a:r>
            <a:r>
              <a:rPr lang="en-GB" sz="3600" dirty="0"/>
              <a:t> </a:t>
            </a:r>
            <a:r>
              <a:rPr lang="en-GB" sz="3600" dirty="0">
                <a:solidFill>
                  <a:srgbClr val="7030A0"/>
                </a:solidFill>
              </a:rPr>
              <a:t>records that match the condition!</a:t>
            </a:r>
          </a:p>
          <a:p>
            <a:pPr algn="ctr"/>
            <a:endParaRPr lang="en-GB" sz="2800" dirty="0">
              <a:solidFill>
                <a:srgbClr val="7030A0"/>
              </a:solidFill>
              <a:latin typeface="Consolas" panose="020B0609020204030204" pitchFamily="49" charset="0"/>
            </a:endParaRPr>
          </a:p>
          <a:p>
            <a:pPr algn="ctr"/>
            <a:r>
              <a:rPr lang="en-GB" sz="3600" dirty="0">
                <a:solidFill>
                  <a:srgbClr val="7030A0"/>
                </a:solidFill>
              </a:rPr>
              <a:t>If a validation rule fails, no data is updated</a:t>
            </a:r>
            <a:endParaRPr lang="en-GB" sz="3600" dirty="0">
              <a:solidFill>
                <a:srgbClr val="7030A0"/>
              </a:solidFill>
              <a:latin typeface="Consolas" panose="020B0609020204030204" pitchFamily="49" charset="0"/>
            </a:endParaRPr>
          </a:p>
        </p:txBody>
      </p:sp>
      <p:sp>
        <p:nvSpPr>
          <p:cNvPr id="7" name="TextBox 6">
            <a:extLst>
              <a:ext uri="{FF2B5EF4-FFF2-40B4-BE49-F238E27FC236}">
                <a16:creationId xmlns:a16="http://schemas.microsoft.com/office/drawing/2014/main" id="{E239E10E-AA44-C822-F751-FA77E1000038}"/>
              </a:ext>
            </a:extLst>
          </p:cNvPr>
          <p:cNvSpPr txBox="1"/>
          <p:nvPr/>
        </p:nvSpPr>
        <p:spPr>
          <a:xfrm>
            <a:off x="7708235" y="-5485"/>
            <a:ext cx="4483765" cy="1200329"/>
          </a:xfrm>
          <a:prstGeom prst="rect">
            <a:avLst/>
          </a:prstGeom>
          <a:noFill/>
          <a:ln w="19050">
            <a:solidFill>
              <a:srgbClr val="FF0000"/>
            </a:solidFill>
          </a:ln>
        </p:spPr>
        <p:txBody>
          <a:bodyPr wrap="square" rtlCol="0">
            <a:spAutoFit/>
          </a:bodyPr>
          <a:lstStyle/>
          <a:p>
            <a:r>
              <a:rPr lang="en-GB" sz="3600" dirty="0">
                <a:solidFill>
                  <a:srgbClr val="FF0000"/>
                </a:solidFill>
                <a:latin typeface="Consolas" panose="020B0609020204030204" pitchFamily="49" charset="0"/>
              </a:rPr>
              <a:t>Tip</a:t>
            </a:r>
            <a:r>
              <a:rPr lang="en-GB" sz="3600" dirty="0">
                <a:solidFill>
                  <a:srgbClr val="7030A0"/>
                </a:solidFill>
                <a:latin typeface="Consolas" panose="020B0609020204030204" pitchFamily="49" charset="0"/>
              </a:rPr>
              <a:t>: Use SELECT with WHERE first!</a:t>
            </a:r>
          </a:p>
        </p:txBody>
      </p:sp>
    </p:spTree>
    <p:extLst>
      <p:ext uri="{BB962C8B-B14F-4D97-AF65-F5344CB8AC3E}">
        <p14:creationId xmlns:p14="http://schemas.microsoft.com/office/powerpoint/2010/main" val="3407202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xEl>
                                              <p:pRg st="0" end="0"/>
                                            </p:txEl>
                                          </p:spTgt>
                                        </p:tgtEl>
                                        <p:attrNameLst>
                                          <p:attrName>style.visibility</p:attrName>
                                        </p:attrNameLst>
                                      </p:cBhvr>
                                      <p:to>
                                        <p:strVal val="visible"/>
                                      </p:to>
                                    </p:set>
                                    <p:animEffect transition="in" filter="wipe(left)">
                                      <p:cBhvr>
                                        <p:cTn id="32" dur="2000"/>
                                        <p:tgtEl>
                                          <p:spTgt spid="11">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xEl>
                                              <p:pRg st="2" end="2"/>
                                            </p:txEl>
                                          </p:spTgt>
                                        </p:tgtEl>
                                        <p:attrNameLst>
                                          <p:attrName>style.visibility</p:attrName>
                                        </p:attrNameLst>
                                      </p:cBhvr>
                                      <p:to>
                                        <p:strVal val="visible"/>
                                      </p:to>
                                    </p:set>
                                    <p:animEffect transition="in" filter="wipe(left)">
                                      <p:cBhvr>
                                        <p:cTn id="37" dur="2000"/>
                                        <p:tgtEl>
                                          <p:spTgt spid="11">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9" grpId="0" animBg="1"/>
      <p:bldP spid="11" grpId="0" uiExpand="1" build="p"/>
      <p:bldP spid="7" grpId="0" animBg="1"/>
    </p:bldLst>
  </p:timing>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Change Data</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UPDATE</a:t>
            </a:r>
            <a:r>
              <a:rPr lang="en-US" altLang="en-US" sz="4400"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SET</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colour</a:t>
            </a:r>
            <a:r>
              <a:rPr lang="en-US" altLang="en-US" sz="4400" dirty="0">
                <a:solidFill>
                  <a:srgbClr val="000000"/>
                </a:solidFill>
                <a:latin typeface="Consolas" panose="020B0609020204030204" pitchFamily="49" charset="0"/>
              </a:rPr>
              <a:t> = </a:t>
            </a:r>
            <a:r>
              <a:rPr lang="en-US" altLang="en-US" sz="4400" dirty="0">
                <a:solidFill>
                  <a:srgbClr val="183691"/>
                </a:solidFill>
                <a:latin typeface="Consolas" panose="020B0609020204030204" pitchFamily="49" charset="0"/>
              </a:rPr>
              <a:t>"Mauve"</a:t>
            </a:r>
            <a:endParaRPr lang="en-US" altLang="en-US" sz="44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colour</a:t>
            </a:r>
            <a:r>
              <a:rPr lang="en-US" altLang="en-US" sz="4400" dirty="0">
                <a:solidFill>
                  <a:srgbClr val="000000"/>
                </a:solidFill>
                <a:latin typeface="Consolas" panose="020B0609020204030204" pitchFamily="49" charset="0"/>
              </a:rPr>
              <a:t> = </a:t>
            </a:r>
            <a:r>
              <a:rPr lang="en-US" altLang="en-US" sz="4400" dirty="0">
                <a:solidFill>
                  <a:srgbClr val="183691"/>
                </a:solidFill>
                <a:latin typeface="Consolas" panose="020B0609020204030204" pitchFamily="49" charset="0"/>
              </a:rPr>
              <a:t>"</a:t>
            </a:r>
            <a:r>
              <a:rPr lang="en-US" altLang="en-US" sz="4400" dirty="0" err="1">
                <a:solidFill>
                  <a:srgbClr val="183691"/>
                </a:solidFill>
                <a:latin typeface="Consolas" panose="020B0609020204030204" pitchFamily="49" charset="0"/>
              </a:rPr>
              <a:t>Mauv</a:t>
            </a:r>
            <a:r>
              <a:rPr lang="en-US" altLang="en-US" sz="4400" dirty="0">
                <a:solidFill>
                  <a:srgbClr val="183691"/>
                </a:solidFill>
                <a:latin typeface="Consolas" panose="020B0609020204030204" pitchFamily="49" charset="0"/>
              </a:rPr>
              <a:t>"</a:t>
            </a:r>
            <a:r>
              <a:rPr lang="en-US" altLang="en-US" sz="4400" dirty="0">
                <a:solidFill>
                  <a:srgbClr val="000000"/>
                </a:solidFill>
                <a:latin typeface="Consolas" panose="020B0609020204030204" pitchFamily="49" charset="0"/>
              </a:rPr>
              <a:t>;</a:t>
            </a:r>
            <a:endParaRPr lang="en-US" altLang="en-US" sz="6000" dirty="0">
              <a:latin typeface="Arial" panose="020B0604020202020204" pitchFamily="34" charset="0"/>
            </a:endParaRPr>
          </a:p>
        </p:txBody>
      </p:sp>
      <p:sp>
        <p:nvSpPr>
          <p:cNvPr id="5" name="TextBox 4">
            <a:extLst>
              <a:ext uri="{FF2B5EF4-FFF2-40B4-BE49-F238E27FC236}">
                <a16:creationId xmlns:a16="http://schemas.microsoft.com/office/drawing/2014/main" id="{32C88DB2-4D2B-79F2-D24D-8D005D8CED13}"/>
              </a:ext>
            </a:extLst>
          </p:cNvPr>
          <p:cNvSpPr txBox="1"/>
          <p:nvPr/>
        </p:nvSpPr>
        <p:spPr>
          <a:xfrm>
            <a:off x="2046238" y="6079439"/>
            <a:ext cx="8099525" cy="646331"/>
          </a:xfrm>
          <a:prstGeom prst="rect">
            <a:avLst/>
          </a:prstGeom>
          <a:noFill/>
        </p:spPr>
        <p:txBody>
          <a:bodyPr wrap="none" rtlCol="0">
            <a:spAutoFit/>
          </a:bodyPr>
          <a:lstStyle/>
          <a:p>
            <a:pPr algn="ctr"/>
            <a:r>
              <a:rPr lang="en-GB" sz="3600" dirty="0">
                <a:solidFill>
                  <a:srgbClr val="7030A0"/>
                </a:solidFill>
              </a:rPr>
              <a:t>If a validation rule fails, no data is updated</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332801152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50D6E-A7AE-40F1-B520-C3C5A5B9033C}"/>
              </a:ext>
            </a:extLst>
          </p:cNvPr>
          <p:cNvSpPr>
            <a:spLocks noGrp="1"/>
          </p:cNvSpPr>
          <p:nvPr>
            <p:ph type="title"/>
          </p:nvPr>
        </p:nvSpPr>
        <p:spPr/>
        <p:txBody>
          <a:bodyPr/>
          <a:lstStyle/>
          <a:p>
            <a:r>
              <a:rPr lang="en-GB" dirty="0"/>
              <a:t>Change Data – In stages</a:t>
            </a:r>
          </a:p>
        </p:txBody>
      </p:sp>
      <p:sp>
        <p:nvSpPr>
          <p:cNvPr id="5" name="Text Placeholder 4">
            <a:extLst>
              <a:ext uri="{FF2B5EF4-FFF2-40B4-BE49-F238E27FC236}">
                <a16:creationId xmlns:a16="http://schemas.microsoft.com/office/drawing/2014/main" id="{000FA1C3-5832-49DF-B768-CBF372ADFA59}"/>
              </a:ext>
            </a:extLst>
          </p:cNvPr>
          <p:cNvSpPr>
            <a:spLocks noGrp="1"/>
          </p:cNvSpPr>
          <p:nvPr>
            <p:ph type="body" idx="1"/>
          </p:nvPr>
        </p:nvSpPr>
        <p:spPr/>
        <p:txBody>
          <a:bodyPr>
            <a:normAutofit/>
          </a:bodyPr>
          <a:lstStyle/>
          <a:p>
            <a:r>
              <a:rPr lang="en-GB" sz="3600" dirty="0"/>
              <a:t>Step 1</a:t>
            </a:r>
          </a:p>
        </p:txBody>
      </p:sp>
      <p:sp>
        <p:nvSpPr>
          <p:cNvPr id="3" name="Content Placeholder 2">
            <a:extLst>
              <a:ext uri="{FF2B5EF4-FFF2-40B4-BE49-F238E27FC236}">
                <a16:creationId xmlns:a16="http://schemas.microsoft.com/office/drawing/2014/main" id="{95A0844E-7BAE-4F4A-A1DA-DD7BE74B9B74}"/>
              </a:ext>
            </a:extLst>
          </p:cNvPr>
          <p:cNvSpPr>
            <a:spLocks noGrp="1"/>
          </p:cNvSpPr>
          <p:nvPr>
            <p:ph sz="half" idx="2"/>
          </p:nvPr>
        </p:nvSpPr>
        <p:spPr>
          <a:xfrm>
            <a:off x="729797" y="2505075"/>
            <a:ext cx="5290004" cy="3684588"/>
          </a:xfrm>
        </p:spPr>
        <p:txBody>
          <a:bodyPr/>
          <a:lstStyle/>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1 </a:t>
            </a:r>
            <a:r>
              <a:rPr lang="en-US" altLang="en-US" dirty="0">
                <a:solidFill>
                  <a:srgbClr val="A71D5D"/>
                </a:solidFill>
                <a:latin typeface="Consolas" panose="020B0609020204030204" pitchFamily="49" charset="0"/>
              </a:rPr>
              <a:t>SELECT </a:t>
            </a:r>
            <a:r>
              <a:rPr lang="en-US" altLang="en-US"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2   </a:t>
            </a:r>
            <a:r>
              <a:rPr lang="en-US" altLang="en-US" dirty="0">
                <a:solidFill>
                  <a:srgbClr val="A71D5D"/>
                </a:solidFill>
                <a:latin typeface="Consolas" panose="020B0609020204030204" pitchFamily="49" charset="0"/>
              </a:rPr>
              <a:t>FROM</a:t>
            </a:r>
            <a:r>
              <a:rPr lang="en-US" altLang="en-US"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3   </a:t>
            </a:r>
            <a:r>
              <a:rPr lang="en-US" altLang="en-US" dirty="0">
                <a:solidFill>
                  <a:srgbClr val="A71D5D"/>
                </a:solidFill>
                <a:latin typeface="Consolas" panose="020B0609020204030204" pitchFamily="49" charset="0"/>
              </a:rPr>
              <a:t>WHERE</a:t>
            </a:r>
            <a:r>
              <a:rPr lang="en-US" altLang="en-US" dirty="0">
                <a:solidFill>
                  <a:srgbClr val="000000"/>
                </a:solidFill>
                <a:latin typeface="Consolas" panose="020B0609020204030204" pitchFamily="49" charset="0"/>
              </a:rPr>
              <a:t> </a:t>
            </a:r>
            <a:r>
              <a:rPr lang="en-US" altLang="en-US" dirty="0" err="1">
                <a:solidFill>
                  <a:srgbClr val="000000"/>
                </a:solidFill>
                <a:latin typeface="Consolas" panose="020B0609020204030204" pitchFamily="49" charset="0"/>
              </a:rPr>
              <a:t>colour</a:t>
            </a:r>
            <a:r>
              <a:rPr lang="en-US" altLang="en-US" dirty="0">
                <a:solidFill>
                  <a:srgbClr val="000000"/>
                </a:solidFill>
                <a:latin typeface="Consolas" panose="020B0609020204030204" pitchFamily="49" charset="0"/>
              </a:rPr>
              <a:t> = </a:t>
            </a:r>
            <a:r>
              <a:rPr lang="en-US" altLang="en-US" dirty="0">
                <a:solidFill>
                  <a:srgbClr val="183691"/>
                </a:solidFill>
                <a:latin typeface="Consolas" panose="020B0609020204030204" pitchFamily="49" charset="0"/>
              </a:rPr>
              <a:t>"</a:t>
            </a:r>
            <a:r>
              <a:rPr lang="en-US" altLang="en-US" dirty="0" err="1">
                <a:solidFill>
                  <a:srgbClr val="183691"/>
                </a:solidFill>
                <a:latin typeface="Consolas" panose="020B0609020204030204" pitchFamily="49" charset="0"/>
              </a:rPr>
              <a:t>Mauv</a:t>
            </a:r>
            <a:r>
              <a:rPr lang="en-US" altLang="en-US" dirty="0">
                <a:solidFill>
                  <a:srgbClr val="183691"/>
                </a:solidFill>
                <a:latin typeface="Consolas" panose="020B0609020204030204" pitchFamily="49" charset="0"/>
              </a:rPr>
              <a:t>"</a:t>
            </a:r>
            <a:r>
              <a:rPr lang="en-US" altLang="en-US" dirty="0">
                <a:solidFill>
                  <a:srgbClr val="000000"/>
                </a:solidFill>
                <a:latin typeface="Consolas" panose="020B0609020204030204" pitchFamily="49" charset="0"/>
              </a:rPr>
              <a:t>;</a:t>
            </a:r>
            <a:endParaRPr lang="en-US" altLang="en-US" sz="4000" dirty="0">
              <a:latin typeface="Arial" panose="020B0604020202020204" pitchFamily="34" charset="0"/>
            </a:endParaRPr>
          </a:p>
          <a:p>
            <a:pPr marL="0" indent="0">
              <a:buNone/>
            </a:pPr>
            <a:endParaRPr lang="en-GB" dirty="0"/>
          </a:p>
        </p:txBody>
      </p:sp>
      <p:sp>
        <p:nvSpPr>
          <p:cNvPr id="6" name="Text Placeholder 5">
            <a:extLst>
              <a:ext uri="{FF2B5EF4-FFF2-40B4-BE49-F238E27FC236}">
                <a16:creationId xmlns:a16="http://schemas.microsoft.com/office/drawing/2014/main" id="{8577C599-C84A-46C7-BB62-6C336B2F005F}"/>
              </a:ext>
            </a:extLst>
          </p:cNvPr>
          <p:cNvSpPr>
            <a:spLocks noGrp="1"/>
          </p:cNvSpPr>
          <p:nvPr>
            <p:ph type="body" sz="quarter" idx="3"/>
          </p:nvPr>
        </p:nvSpPr>
        <p:spPr/>
        <p:txBody>
          <a:bodyPr>
            <a:normAutofit/>
          </a:bodyPr>
          <a:lstStyle/>
          <a:p>
            <a:r>
              <a:rPr lang="en-GB" sz="3600" dirty="0"/>
              <a:t>Step 2</a:t>
            </a:r>
          </a:p>
        </p:txBody>
      </p:sp>
      <p:sp>
        <p:nvSpPr>
          <p:cNvPr id="4" name="Content Placeholder 3">
            <a:extLst>
              <a:ext uri="{FF2B5EF4-FFF2-40B4-BE49-F238E27FC236}">
                <a16:creationId xmlns:a16="http://schemas.microsoft.com/office/drawing/2014/main" id="{D6A3CFF1-8569-4597-ADB2-1CADEA342D2F}"/>
              </a:ext>
            </a:extLst>
          </p:cNvPr>
          <p:cNvSpPr>
            <a:spLocks noGrp="1"/>
          </p:cNvSpPr>
          <p:nvPr>
            <p:ph sz="quarter" idx="4"/>
          </p:nvPr>
        </p:nvSpPr>
        <p:spPr>
          <a:xfrm>
            <a:off x="6172200" y="2505075"/>
            <a:ext cx="5290004" cy="3684588"/>
          </a:xfrm>
        </p:spPr>
        <p:txBody>
          <a:bodyPr/>
          <a:lstStyle/>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1 </a:t>
            </a:r>
            <a:r>
              <a:rPr lang="en-US" altLang="en-US" dirty="0">
                <a:solidFill>
                  <a:srgbClr val="A71D5D"/>
                </a:solidFill>
                <a:latin typeface="Consolas" panose="020B0609020204030204" pitchFamily="49" charset="0"/>
              </a:rPr>
              <a:t>UPDATE</a:t>
            </a:r>
            <a:r>
              <a:rPr lang="en-US" altLang="en-US"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2   </a:t>
            </a:r>
            <a:r>
              <a:rPr lang="en-US" altLang="en-US" dirty="0">
                <a:solidFill>
                  <a:srgbClr val="A71D5D"/>
                </a:solidFill>
                <a:latin typeface="Consolas" panose="020B0609020204030204" pitchFamily="49" charset="0"/>
              </a:rPr>
              <a:t>SET</a:t>
            </a:r>
            <a:r>
              <a:rPr lang="en-US" altLang="en-US" dirty="0">
                <a:solidFill>
                  <a:srgbClr val="000000"/>
                </a:solidFill>
                <a:latin typeface="Consolas" panose="020B0609020204030204" pitchFamily="49" charset="0"/>
              </a:rPr>
              <a:t> </a:t>
            </a:r>
            <a:r>
              <a:rPr lang="en-US" altLang="en-US" dirty="0" err="1">
                <a:solidFill>
                  <a:srgbClr val="000000"/>
                </a:solidFill>
                <a:latin typeface="Consolas" panose="020B0609020204030204" pitchFamily="49" charset="0"/>
              </a:rPr>
              <a:t>colour</a:t>
            </a:r>
            <a:r>
              <a:rPr lang="en-US" altLang="en-US" dirty="0">
                <a:solidFill>
                  <a:srgbClr val="000000"/>
                </a:solidFill>
                <a:latin typeface="Consolas" panose="020B0609020204030204" pitchFamily="49" charset="0"/>
              </a:rPr>
              <a:t> = </a:t>
            </a:r>
            <a:r>
              <a:rPr lang="en-US" altLang="en-US" dirty="0">
                <a:solidFill>
                  <a:srgbClr val="183691"/>
                </a:solidFill>
                <a:latin typeface="Consolas" panose="020B0609020204030204" pitchFamily="49" charset="0"/>
              </a:rPr>
              <a:t>"Mauve"</a:t>
            </a:r>
            <a:endParaRPr lang="en-US" altLang="en-US"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3   </a:t>
            </a:r>
            <a:r>
              <a:rPr lang="en-US" altLang="en-US" dirty="0">
                <a:solidFill>
                  <a:srgbClr val="A71D5D"/>
                </a:solidFill>
                <a:latin typeface="Consolas" panose="020B0609020204030204" pitchFamily="49" charset="0"/>
              </a:rPr>
              <a:t>WHERE</a:t>
            </a:r>
            <a:r>
              <a:rPr lang="en-US" altLang="en-US" dirty="0">
                <a:solidFill>
                  <a:srgbClr val="000000"/>
                </a:solidFill>
                <a:latin typeface="Consolas" panose="020B0609020204030204" pitchFamily="49" charset="0"/>
              </a:rPr>
              <a:t> </a:t>
            </a:r>
            <a:r>
              <a:rPr lang="en-US" altLang="en-US" dirty="0" err="1">
                <a:solidFill>
                  <a:srgbClr val="000000"/>
                </a:solidFill>
                <a:latin typeface="Consolas" panose="020B0609020204030204" pitchFamily="49" charset="0"/>
              </a:rPr>
              <a:t>colour</a:t>
            </a:r>
            <a:r>
              <a:rPr lang="en-US" altLang="en-US" dirty="0">
                <a:solidFill>
                  <a:srgbClr val="000000"/>
                </a:solidFill>
                <a:latin typeface="Consolas" panose="020B0609020204030204" pitchFamily="49" charset="0"/>
              </a:rPr>
              <a:t> = </a:t>
            </a:r>
            <a:r>
              <a:rPr lang="en-US" altLang="en-US" dirty="0">
                <a:solidFill>
                  <a:srgbClr val="183691"/>
                </a:solidFill>
                <a:latin typeface="Consolas" panose="020B0609020204030204" pitchFamily="49" charset="0"/>
              </a:rPr>
              <a:t>"</a:t>
            </a:r>
            <a:r>
              <a:rPr lang="en-US" altLang="en-US" dirty="0" err="1">
                <a:solidFill>
                  <a:srgbClr val="183691"/>
                </a:solidFill>
                <a:latin typeface="Consolas" panose="020B0609020204030204" pitchFamily="49" charset="0"/>
              </a:rPr>
              <a:t>Mauv</a:t>
            </a:r>
            <a:r>
              <a:rPr lang="en-US" altLang="en-US" dirty="0">
                <a:solidFill>
                  <a:srgbClr val="183691"/>
                </a:solidFill>
                <a:latin typeface="Consolas" panose="020B0609020204030204" pitchFamily="49" charset="0"/>
              </a:rPr>
              <a:t>"</a:t>
            </a:r>
            <a:r>
              <a:rPr lang="en-US" altLang="en-US" dirty="0">
                <a:solidFill>
                  <a:srgbClr val="000000"/>
                </a:solidFill>
                <a:latin typeface="Consolas" panose="020B0609020204030204" pitchFamily="49" charset="0"/>
              </a:rPr>
              <a:t>;</a:t>
            </a:r>
            <a:endParaRPr lang="en-US" altLang="en-US" sz="4000" dirty="0">
              <a:latin typeface="Arial" panose="020B0604020202020204" pitchFamily="34" charset="0"/>
            </a:endParaRPr>
          </a:p>
          <a:p>
            <a:pPr marL="0" indent="0">
              <a:buNone/>
            </a:pPr>
            <a:endParaRPr lang="en-GB" dirty="0"/>
          </a:p>
        </p:txBody>
      </p:sp>
      <p:sp>
        <p:nvSpPr>
          <p:cNvPr id="7" name="TextBox 6">
            <a:extLst>
              <a:ext uri="{FF2B5EF4-FFF2-40B4-BE49-F238E27FC236}">
                <a16:creationId xmlns:a16="http://schemas.microsoft.com/office/drawing/2014/main" id="{3D7C5561-49CA-4DD0-9A81-A755A354B542}"/>
              </a:ext>
            </a:extLst>
          </p:cNvPr>
          <p:cNvSpPr txBox="1"/>
          <p:nvPr/>
        </p:nvSpPr>
        <p:spPr>
          <a:xfrm>
            <a:off x="3187768" y="4698363"/>
            <a:ext cx="5816464" cy="769441"/>
          </a:xfrm>
          <a:prstGeom prst="rect">
            <a:avLst/>
          </a:prstGeom>
          <a:noFill/>
        </p:spPr>
        <p:txBody>
          <a:bodyPr wrap="none" rtlCol="0">
            <a:spAutoFit/>
          </a:bodyPr>
          <a:lstStyle/>
          <a:p>
            <a:r>
              <a:rPr lang="en-GB" sz="4400" dirty="0">
                <a:solidFill>
                  <a:srgbClr val="7030A0"/>
                </a:solidFill>
              </a:rPr>
              <a:t>Copy the </a:t>
            </a:r>
            <a:r>
              <a:rPr lang="en-GB" sz="4400" dirty="0">
                <a:solidFill>
                  <a:srgbClr val="A71D5D"/>
                </a:solidFill>
              </a:rPr>
              <a:t>WHERE</a:t>
            </a:r>
            <a:r>
              <a:rPr lang="en-GB" sz="4400" dirty="0">
                <a:solidFill>
                  <a:srgbClr val="7030A0"/>
                </a:solidFill>
              </a:rPr>
              <a:t> clause!</a:t>
            </a:r>
          </a:p>
        </p:txBody>
      </p:sp>
      <p:sp>
        <p:nvSpPr>
          <p:cNvPr id="8" name="Arc 7">
            <a:extLst>
              <a:ext uri="{FF2B5EF4-FFF2-40B4-BE49-F238E27FC236}">
                <a16:creationId xmlns:a16="http://schemas.microsoft.com/office/drawing/2014/main" id="{6F055A38-53AB-4D21-B310-4508FD3AA00E}"/>
              </a:ext>
            </a:extLst>
          </p:cNvPr>
          <p:cNvSpPr/>
          <p:nvPr/>
        </p:nvSpPr>
        <p:spPr>
          <a:xfrm rot="10800000" flipH="1">
            <a:off x="5573400" y="3238500"/>
            <a:ext cx="1487800" cy="1325562"/>
          </a:xfrm>
          <a:prstGeom prst="arc">
            <a:avLst>
              <a:gd name="adj1" fmla="val 10934631"/>
              <a:gd name="adj2" fmla="val 21444232"/>
            </a:avLst>
          </a:prstGeom>
          <a:ln w="381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9" name="Text Placeholder 4">
            <a:extLst>
              <a:ext uri="{FF2B5EF4-FFF2-40B4-BE49-F238E27FC236}">
                <a16:creationId xmlns:a16="http://schemas.microsoft.com/office/drawing/2014/main" id="{6BC444EA-344C-4AF7-9C47-709AD41F4E57}"/>
              </a:ext>
            </a:extLst>
          </p:cNvPr>
          <p:cNvSpPr txBox="1">
            <a:spLocks/>
          </p:cNvSpPr>
          <p:nvPr/>
        </p:nvSpPr>
        <p:spPr>
          <a:xfrm>
            <a:off x="3505994" y="5608953"/>
            <a:ext cx="5157787" cy="823912"/>
          </a:xfrm>
          <a:prstGeom prst="rect">
            <a:avLst/>
          </a:prstGeom>
        </p:spPr>
        <p:txBody>
          <a:bodyPr vert="horz" lIns="91440" tIns="45720" rIns="91440" bIns="45720" rtlCol="0" anchor="b">
            <a:normAutofit/>
          </a:bodyPr>
          <a:lstStyle>
            <a:lvl1pPr marL="0" indent="0" algn="l" defTabSz="914400" rtl="0" eaLnBrk="1" latinLnBrk="0" hangingPunct="1">
              <a:lnSpc>
                <a:spcPct val="120000"/>
              </a:lnSpc>
              <a:spcBef>
                <a:spcPts val="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120000"/>
              </a:lnSpc>
              <a:spcBef>
                <a:spcPts val="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20000"/>
              </a:lnSpc>
              <a:spcBef>
                <a:spcPts val="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20000"/>
              </a:lnSpc>
              <a:spcBef>
                <a:spcPts val="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20000"/>
              </a:lnSpc>
              <a:spcBef>
                <a:spcPts val="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GB" sz="3600" dirty="0"/>
              <a:t>Step 3 </a:t>
            </a:r>
            <a:r>
              <a:rPr lang="en-GB" sz="3600" dirty="0">
                <a:solidFill>
                  <a:srgbClr val="7030A0"/>
                </a:solidFill>
              </a:rPr>
              <a:t>– Run Step 1 again</a:t>
            </a:r>
          </a:p>
        </p:txBody>
      </p:sp>
    </p:spTree>
    <p:extLst>
      <p:ext uri="{BB962C8B-B14F-4D97-AF65-F5344CB8AC3E}">
        <p14:creationId xmlns:p14="http://schemas.microsoft.com/office/powerpoint/2010/main" val="2545875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left)">
                                      <p:cBhvr>
                                        <p:cTn id="15" dur="1000"/>
                                        <p:tgtEl>
                                          <p:spTgt spid="3">
                                            <p:txEl>
                                              <p:pRg st="1" end="1"/>
                                            </p:txEl>
                                          </p:spTgt>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1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Effect transition="in" filter="wipe(left)">
                                      <p:cBhvr>
                                        <p:cTn id="24" dur="500"/>
                                        <p:tgtEl>
                                          <p:spTgt spid="6">
                                            <p:txEl>
                                              <p:pRg st="0" end="0"/>
                                            </p:txEl>
                                          </p:spTgt>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4">
                                            <p:txEl>
                                              <p:pRg st="0" end="0"/>
                                            </p:txEl>
                                          </p:spTgt>
                                        </p:tgtEl>
                                        <p:attrNameLst>
                                          <p:attrName>style.visibility</p:attrName>
                                        </p:attrNameLst>
                                      </p:cBhvr>
                                      <p:to>
                                        <p:strVal val="visible"/>
                                      </p:to>
                                    </p:set>
                                    <p:animEffect transition="in" filter="wipe(left)">
                                      <p:cBhvr>
                                        <p:cTn id="28" dur="1000"/>
                                        <p:tgtEl>
                                          <p:spTgt spid="4">
                                            <p:txEl>
                                              <p:pRg st="0" end="0"/>
                                            </p:txEl>
                                          </p:spTgt>
                                        </p:tgtEl>
                                      </p:cBhvr>
                                    </p:animEffect>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4">
                                            <p:txEl>
                                              <p:pRg st="1" end="1"/>
                                            </p:txEl>
                                          </p:spTgt>
                                        </p:tgtEl>
                                        <p:attrNameLst>
                                          <p:attrName>style.visibility</p:attrName>
                                        </p:attrNameLst>
                                      </p:cBhvr>
                                      <p:to>
                                        <p:strVal val="visible"/>
                                      </p:to>
                                    </p:set>
                                    <p:animEffect transition="in" filter="wipe(left)">
                                      <p:cBhvr>
                                        <p:cTn id="32" dur="1500"/>
                                        <p:tgtEl>
                                          <p:spTgt spid="4">
                                            <p:txEl>
                                              <p:pRg st="1" end="1"/>
                                            </p:txEl>
                                          </p:spTgt>
                                        </p:tgtEl>
                                      </p:cBhvr>
                                    </p:animEffect>
                                  </p:childTnLst>
                                </p:cTn>
                              </p:par>
                            </p:childTnLst>
                          </p:cTn>
                        </p:par>
                        <p:par>
                          <p:cTn id="33" fill="hold">
                            <p:stCondLst>
                              <p:cond delay="3000"/>
                            </p:stCondLst>
                            <p:childTnLst>
                              <p:par>
                                <p:cTn id="34" presetID="22" presetClass="entr" presetSubtype="8" fill="hold" grpId="0" nodeType="afterEffect">
                                  <p:stCondLst>
                                    <p:cond delay="0"/>
                                  </p:stCondLst>
                                  <p:childTnLst>
                                    <p:set>
                                      <p:cBhvr>
                                        <p:cTn id="35" dur="1" fill="hold">
                                          <p:stCondLst>
                                            <p:cond delay="0"/>
                                          </p:stCondLst>
                                        </p:cTn>
                                        <p:tgtEl>
                                          <p:spTgt spid="4">
                                            <p:txEl>
                                              <p:pRg st="2" end="2"/>
                                            </p:txEl>
                                          </p:spTgt>
                                        </p:tgtEl>
                                        <p:attrNameLst>
                                          <p:attrName>style.visibility</p:attrName>
                                        </p:attrNameLst>
                                      </p:cBhvr>
                                      <p:to>
                                        <p:strVal val="visible"/>
                                      </p:to>
                                    </p:set>
                                    <p:animEffect transition="in" filter="wipe(left)">
                                      <p:cBhvr>
                                        <p:cTn id="36" dur="1500"/>
                                        <p:tgtEl>
                                          <p:spTgt spid="4">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left)">
                                      <p:cBhvr>
                                        <p:cTn id="41" dur="1000"/>
                                        <p:tgtEl>
                                          <p:spTgt spid="8"/>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left)">
                                      <p:cBhvr>
                                        <p:cTn id="45" dur="20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9">
                                            <p:txEl>
                                              <p:pRg st="0" end="0"/>
                                            </p:txEl>
                                          </p:spTgt>
                                        </p:tgtEl>
                                        <p:attrNameLst>
                                          <p:attrName>style.visibility</p:attrName>
                                        </p:attrNameLst>
                                      </p:cBhvr>
                                      <p:to>
                                        <p:strVal val="visible"/>
                                      </p:to>
                                    </p:set>
                                    <p:animEffect transition="in" filter="wipe(left)">
                                      <p:cBhvr>
                                        <p:cTn id="50" dur="2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3" grpId="0" uiExpand="1" build="p"/>
      <p:bldP spid="6" grpId="0" build="p"/>
      <p:bldP spid="4" grpId="0" uiExpand="1" build="p"/>
      <p:bldP spid="7" grpId="0"/>
      <p:bldP spid="8" grpId="0" animBg="1"/>
      <p:bldP spid="9" grpId="0" build="p"/>
    </p:bldLst>
  </p:timing>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50D6E-A7AE-40F1-B520-C3C5A5B9033C}"/>
              </a:ext>
            </a:extLst>
          </p:cNvPr>
          <p:cNvSpPr>
            <a:spLocks noGrp="1"/>
          </p:cNvSpPr>
          <p:nvPr>
            <p:ph type="title"/>
          </p:nvPr>
        </p:nvSpPr>
        <p:spPr/>
        <p:txBody>
          <a:bodyPr/>
          <a:lstStyle/>
          <a:p>
            <a:r>
              <a:rPr lang="en-GB" dirty="0"/>
              <a:t>Change Data – In stages</a:t>
            </a:r>
          </a:p>
        </p:txBody>
      </p:sp>
      <p:sp>
        <p:nvSpPr>
          <p:cNvPr id="5" name="Text Placeholder 4">
            <a:extLst>
              <a:ext uri="{FF2B5EF4-FFF2-40B4-BE49-F238E27FC236}">
                <a16:creationId xmlns:a16="http://schemas.microsoft.com/office/drawing/2014/main" id="{000FA1C3-5832-49DF-B768-CBF372ADFA59}"/>
              </a:ext>
            </a:extLst>
          </p:cNvPr>
          <p:cNvSpPr>
            <a:spLocks noGrp="1"/>
          </p:cNvSpPr>
          <p:nvPr>
            <p:ph type="body" idx="1"/>
          </p:nvPr>
        </p:nvSpPr>
        <p:spPr/>
        <p:txBody>
          <a:bodyPr>
            <a:normAutofit/>
          </a:bodyPr>
          <a:lstStyle/>
          <a:p>
            <a:endParaRPr lang="en-GB" sz="3600" dirty="0"/>
          </a:p>
        </p:txBody>
      </p:sp>
      <p:sp>
        <p:nvSpPr>
          <p:cNvPr id="3" name="Content Placeholder 2">
            <a:extLst>
              <a:ext uri="{FF2B5EF4-FFF2-40B4-BE49-F238E27FC236}">
                <a16:creationId xmlns:a16="http://schemas.microsoft.com/office/drawing/2014/main" id="{95A0844E-7BAE-4F4A-A1DA-DD7BE74B9B74}"/>
              </a:ext>
            </a:extLst>
          </p:cNvPr>
          <p:cNvSpPr>
            <a:spLocks noGrp="1"/>
          </p:cNvSpPr>
          <p:nvPr>
            <p:ph sz="half" idx="2"/>
          </p:nvPr>
        </p:nvSpPr>
        <p:spPr>
          <a:xfrm>
            <a:off x="707572" y="2505075"/>
            <a:ext cx="5290004" cy="3684588"/>
          </a:xfrm>
        </p:spPr>
        <p:txBody>
          <a:bodyPr/>
          <a:lstStyle/>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1 </a:t>
            </a:r>
            <a:r>
              <a:rPr lang="en-US" altLang="en-US" dirty="0">
                <a:solidFill>
                  <a:srgbClr val="A71D5D"/>
                </a:solidFill>
                <a:latin typeface="Consolas" panose="020B0609020204030204" pitchFamily="49" charset="0"/>
              </a:rPr>
              <a:t>SELECT </a:t>
            </a:r>
            <a:r>
              <a:rPr lang="en-US" altLang="en-US"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2   </a:t>
            </a:r>
            <a:r>
              <a:rPr lang="en-US" altLang="en-US" dirty="0">
                <a:solidFill>
                  <a:srgbClr val="A71D5D"/>
                </a:solidFill>
                <a:latin typeface="Consolas" panose="020B0609020204030204" pitchFamily="49" charset="0"/>
              </a:rPr>
              <a:t>FROM</a:t>
            </a:r>
            <a:r>
              <a:rPr lang="en-US" altLang="en-US"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3   </a:t>
            </a:r>
            <a:r>
              <a:rPr lang="en-US" altLang="en-US" dirty="0">
                <a:solidFill>
                  <a:srgbClr val="A71D5D"/>
                </a:solidFill>
                <a:latin typeface="Consolas" panose="020B0609020204030204" pitchFamily="49" charset="0"/>
              </a:rPr>
              <a:t>WHERE</a:t>
            </a:r>
            <a:r>
              <a:rPr lang="en-US" altLang="en-US" dirty="0">
                <a:solidFill>
                  <a:srgbClr val="000000"/>
                </a:solidFill>
                <a:latin typeface="Consolas" panose="020B0609020204030204" pitchFamily="49" charset="0"/>
              </a:rPr>
              <a:t> </a:t>
            </a:r>
            <a:r>
              <a:rPr lang="en-US" altLang="en-US" dirty="0" err="1">
                <a:solidFill>
                  <a:srgbClr val="000000"/>
                </a:solidFill>
                <a:latin typeface="Consolas" panose="020B0609020204030204" pitchFamily="49" charset="0"/>
              </a:rPr>
              <a:t>colour</a:t>
            </a:r>
            <a:r>
              <a:rPr lang="en-US" altLang="en-US" dirty="0">
                <a:solidFill>
                  <a:srgbClr val="000000"/>
                </a:solidFill>
                <a:latin typeface="Consolas" panose="020B0609020204030204" pitchFamily="49" charset="0"/>
              </a:rPr>
              <a:t> = </a:t>
            </a:r>
            <a:r>
              <a:rPr lang="en-US" altLang="en-US" dirty="0">
                <a:solidFill>
                  <a:srgbClr val="183691"/>
                </a:solidFill>
                <a:latin typeface="Consolas" panose="020B0609020204030204" pitchFamily="49" charset="0"/>
              </a:rPr>
              <a:t>"</a:t>
            </a:r>
            <a:r>
              <a:rPr lang="en-US" altLang="en-US" dirty="0" err="1">
                <a:solidFill>
                  <a:srgbClr val="183691"/>
                </a:solidFill>
                <a:latin typeface="Consolas" panose="020B0609020204030204" pitchFamily="49" charset="0"/>
              </a:rPr>
              <a:t>Mauv</a:t>
            </a:r>
            <a:r>
              <a:rPr lang="en-US" altLang="en-US" dirty="0">
                <a:solidFill>
                  <a:srgbClr val="183691"/>
                </a:solidFill>
                <a:latin typeface="Consolas" panose="020B0609020204030204" pitchFamily="49" charset="0"/>
              </a:rPr>
              <a:t>"</a:t>
            </a:r>
            <a:r>
              <a:rPr lang="en-US" altLang="en-US" dirty="0">
                <a:solidFill>
                  <a:srgbClr val="000000"/>
                </a:solidFill>
                <a:latin typeface="Consolas" panose="020B0609020204030204" pitchFamily="49" charset="0"/>
              </a:rPr>
              <a:t>;</a:t>
            </a:r>
            <a:endParaRPr lang="en-US" altLang="en-US" sz="4000" dirty="0">
              <a:latin typeface="Arial" panose="020B0604020202020204" pitchFamily="34" charset="0"/>
            </a:endParaRPr>
          </a:p>
          <a:p>
            <a:pPr marL="0" indent="0">
              <a:buNone/>
            </a:pPr>
            <a:endParaRPr lang="en-GB" dirty="0"/>
          </a:p>
        </p:txBody>
      </p:sp>
      <p:sp>
        <p:nvSpPr>
          <p:cNvPr id="6" name="Text Placeholder 5">
            <a:extLst>
              <a:ext uri="{FF2B5EF4-FFF2-40B4-BE49-F238E27FC236}">
                <a16:creationId xmlns:a16="http://schemas.microsoft.com/office/drawing/2014/main" id="{8577C599-C84A-46C7-BB62-6C336B2F005F}"/>
              </a:ext>
            </a:extLst>
          </p:cNvPr>
          <p:cNvSpPr>
            <a:spLocks noGrp="1"/>
          </p:cNvSpPr>
          <p:nvPr>
            <p:ph type="body" sz="quarter" idx="3"/>
          </p:nvPr>
        </p:nvSpPr>
        <p:spPr/>
        <p:txBody>
          <a:bodyPr>
            <a:normAutofit/>
          </a:bodyPr>
          <a:lstStyle/>
          <a:p>
            <a:endParaRPr lang="en-GB" sz="3600" dirty="0"/>
          </a:p>
        </p:txBody>
      </p:sp>
      <p:sp>
        <p:nvSpPr>
          <p:cNvPr id="4" name="Content Placeholder 3">
            <a:extLst>
              <a:ext uri="{FF2B5EF4-FFF2-40B4-BE49-F238E27FC236}">
                <a16:creationId xmlns:a16="http://schemas.microsoft.com/office/drawing/2014/main" id="{D6A3CFF1-8569-4597-ADB2-1CADEA342D2F}"/>
              </a:ext>
            </a:extLst>
          </p:cNvPr>
          <p:cNvSpPr>
            <a:spLocks noGrp="1"/>
          </p:cNvSpPr>
          <p:nvPr>
            <p:ph sz="quarter" idx="4"/>
          </p:nvPr>
        </p:nvSpPr>
        <p:spPr>
          <a:xfrm>
            <a:off x="6172200" y="2505075"/>
            <a:ext cx="5290004" cy="3684588"/>
          </a:xfrm>
        </p:spPr>
        <p:txBody>
          <a:bodyPr/>
          <a:lstStyle/>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1 </a:t>
            </a:r>
            <a:r>
              <a:rPr lang="en-US" altLang="en-US" dirty="0">
                <a:solidFill>
                  <a:srgbClr val="A71D5D"/>
                </a:solidFill>
                <a:latin typeface="Consolas" panose="020B0609020204030204" pitchFamily="49" charset="0"/>
              </a:rPr>
              <a:t>UPDATE</a:t>
            </a:r>
            <a:r>
              <a:rPr lang="en-US" altLang="en-US" dirty="0">
                <a:solidFill>
                  <a:srgbClr val="000000"/>
                </a:solidFill>
                <a:latin typeface="Consolas" panose="020B0609020204030204" pitchFamily="49" charset="0"/>
              </a:rPr>
              <a:t> Datatypes</a:t>
            </a:r>
          </a:p>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2   </a:t>
            </a:r>
            <a:r>
              <a:rPr lang="en-US" altLang="en-US" dirty="0">
                <a:solidFill>
                  <a:srgbClr val="A71D5D"/>
                </a:solidFill>
                <a:latin typeface="Consolas" panose="020B0609020204030204" pitchFamily="49" charset="0"/>
              </a:rPr>
              <a:t>SET</a:t>
            </a:r>
            <a:r>
              <a:rPr lang="en-US" altLang="en-US" dirty="0">
                <a:solidFill>
                  <a:srgbClr val="000000"/>
                </a:solidFill>
                <a:latin typeface="Consolas" panose="020B0609020204030204" pitchFamily="49" charset="0"/>
              </a:rPr>
              <a:t> </a:t>
            </a:r>
            <a:r>
              <a:rPr lang="en-US" altLang="en-US" dirty="0" err="1">
                <a:solidFill>
                  <a:srgbClr val="000000"/>
                </a:solidFill>
                <a:latin typeface="Consolas" panose="020B0609020204030204" pitchFamily="49" charset="0"/>
              </a:rPr>
              <a:t>colour</a:t>
            </a:r>
            <a:r>
              <a:rPr lang="en-US" altLang="en-US" dirty="0">
                <a:solidFill>
                  <a:srgbClr val="000000"/>
                </a:solidFill>
                <a:latin typeface="Consolas" panose="020B0609020204030204" pitchFamily="49" charset="0"/>
              </a:rPr>
              <a:t> = </a:t>
            </a:r>
            <a:r>
              <a:rPr lang="en-US" altLang="en-US" dirty="0">
                <a:solidFill>
                  <a:srgbClr val="183691"/>
                </a:solidFill>
                <a:latin typeface="Consolas" panose="020B0609020204030204" pitchFamily="49" charset="0"/>
              </a:rPr>
              <a:t>"Mauve"</a:t>
            </a:r>
            <a:endParaRPr lang="en-US" altLang="en-US"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3   </a:t>
            </a:r>
            <a:r>
              <a:rPr lang="en-US" altLang="en-US" dirty="0">
                <a:solidFill>
                  <a:srgbClr val="A71D5D"/>
                </a:solidFill>
                <a:latin typeface="Consolas" panose="020B0609020204030204" pitchFamily="49" charset="0"/>
              </a:rPr>
              <a:t>WHERE</a:t>
            </a:r>
            <a:r>
              <a:rPr lang="en-US" altLang="en-US" dirty="0">
                <a:solidFill>
                  <a:srgbClr val="000000"/>
                </a:solidFill>
                <a:latin typeface="Consolas" panose="020B0609020204030204" pitchFamily="49" charset="0"/>
              </a:rPr>
              <a:t> </a:t>
            </a:r>
            <a:r>
              <a:rPr lang="en-US" altLang="en-US" dirty="0" err="1">
                <a:solidFill>
                  <a:srgbClr val="000000"/>
                </a:solidFill>
                <a:latin typeface="Consolas" panose="020B0609020204030204" pitchFamily="49" charset="0"/>
              </a:rPr>
              <a:t>colour</a:t>
            </a:r>
            <a:r>
              <a:rPr lang="en-US" altLang="en-US" dirty="0">
                <a:solidFill>
                  <a:srgbClr val="000000"/>
                </a:solidFill>
                <a:latin typeface="Consolas" panose="020B0609020204030204" pitchFamily="49" charset="0"/>
              </a:rPr>
              <a:t> = </a:t>
            </a:r>
            <a:r>
              <a:rPr lang="en-US" altLang="en-US" dirty="0">
                <a:solidFill>
                  <a:srgbClr val="183691"/>
                </a:solidFill>
                <a:latin typeface="Consolas" panose="020B0609020204030204" pitchFamily="49" charset="0"/>
              </a:rPr>
              <a:t>"</a:t>
            </a:r>
            <a:r>
              <a:rPr lang="en-US" altLang="en-US" dirty="0" err="1">
                <a:solidFill>
                  <a:srgbClr val="183691"/>
                </a:solidFill>
                <a:latin typeface="Consolas" panose="020B0609020204030204" pitchFamily="49" charset="0"/>
              </a:rPr>
              <a:t>Mauv</a:t>
            </a:r>
            <a:r>
              <a:rPr lang="en-US" altLang="en-US" dirty="0">
                <a:solidFill>
                  <a:srgbClr val="183691"/>
                </a:solidFill>
                <a:latin typeface="Consolas" panose="020B0609020204030204" pitchFamily="49" charset="0"/>
              </a:rPr>
              <a:t>"</a:t>
            </a:r>
            <a:r>
              <a:rPr lang="en-US" altLang="en-US" dirty="0">
                <a:solidFill>
                  <a:srgbClr val="000000"/>
                </a:solidFill>
                <a:latin typeface="Consolas" panose="020B0609020204030204" pitchFamily="49" charset="0"/>
              </a:rPr>
              <a:t>;</a:t>
            </a:r>
            <a:endParaRPr lang="en-US" altLang="en-US" sz="4000" dirty="0">
              <a:latin typeface="Arial" panose="020B0604020202020204" pitchFamily="34" charset="0"/>
            </a:endParaRPr>
          </a:p>
          <a:p>
            <a:pPr marL="0" indent="0">
              <a:buNone/>
            </a:pPr>
            <a:endParaRPr lang="en-GB" dirty="0"/>
          </a:p>
        </p:txBody>
      </p:sp>
      <p:sp>
        <p:nvSpPr>
          <p:cNvPr id="7" name="Text Placeholder 4">
            <a:extLst>
              <a:ext uri="{FF2B5EF4-FFF2-40B4-BE49-F238E27FC236}">
                <a16:creationId xmlns:a16="http://schemas.microsoft.com/office/drawing/2014/main" id="{41751C26-6A04-C944-CDD6-9316AA4E0BC6}"/>
              </a:ext>
            </a:extLst>
          </p:cNvPr>
          <p:cNvSpPr txBox="1">
            <a:spLocks/>
          </p:cNvSpPr>
          <p:nvPr/>
        </p:nvSpPr>
        <p:spPr>
          <a:xfrm>
            <a:off x="3607738" y="5608953"/>
            <a:ext cx="4976525" cy="823912"/>
          </a:xfrm>
          <a:prstGeom prst="rect">
            <a:avLst/>
          </a:prstGeom>
        </p:spPr>
        <p:txBody>
          <a:bodyPr vert="horz" lIns="91440" tIns="45720" rIns="91440" bIns="45720" rtlCol="0" anchor="b">
            <a:normAutofit/>
          </a:bodyPr>
          <a:lstStyle>
            <a:lvl1pPr marL="0" indent="0" algn="l" defTabSz="914400" rtl="0" eaLnBrk="1" latinLnBrk="0" hangingPunct="1">
              <a:lnSpc>
                <a:spcPct val="120000"/>
              </a:lnSpc>
              <a:spcBef>
                <a:spcPts val="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120000"/>
              </a:lnSpc>
              <a:spcBef>
                <a:spcPts val="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20000"/>
              </a:lnSpc>
              <a:spcBef>
                <a:spcPts val="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20000"/>
              </a:lnSpc>
              <a:spcBef>
                <a:spcPts val="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20000"/>
              </a:lnSpc>
              <a:spcBef>
                <a:spcPts val="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GB" sz="3600" dirty="0"/>
              <a:t>Step 3 </a:t>
            </a:r>
            <a:r>
              <a:rPr lang="en-GB" sz="3600" dirty="0">
                <a:solidFill>
                  <a:srgbClr val="7030A0"/>
                </a:solidFill>
              </a:rPr>
              <a:t>– </a:t>
            </a:r>
          </a:p>
        </p:txBody>
      </p:sp>
    </p:spTree>
    <p:extLst>
      <p:ext uri="{BB962C8B-B14F-4D97-AF65-F5344CB8AC3E}">
        <p14:creationId xmlns:p14="http://schemas.microsoft.com/office/powerpoint/2010/main" val="45642896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Change Data – Multiple fields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UPDATE</a:t>
            </a:r>
            <a:r>
              <a:rPr lang="en-US" altLang="en-US" sz="44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SET</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lastName</a:t>
            </a:r>
            <a:r>
              <a:rPr lang="en-US" altLang="en-US" sz="4400" dirty="0">
                <a:solidFill>
                  <a:srgbClr val="000000"/>
                </a:solidFill>
                <a:latin typeface="Consolas" panose="020B0609020204030204" pitchFamily="49" charset="0"/>
              </a:rPr>
              <a:t> = </a:t>
            </a:r>
            <a:r>
              <a:rPr lang="en-US" altLang="en-US" sz="4400" dirty="0">
                <a:solidFill>
                  <a:srgbClr val="183691"/>
                </a:solidFill>
                <a:latin typeface="Consolas" panose="020B0609020204030204" pitchFamily="49" charset="0"/>
              </a:rPr>
              <a:t>"Box"</a:t>
            </a:r>
            <a:r>
              <a:rPr lang="en-US" altLang="en-US" sz="44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3       </a:t>
            </a:r>
            <a:r>
              <a:rPr lang="en-US" altLang="en-US" sz="4400" dirty="0" err="1">
                <a:solidFill>
                  <a:srgbClr val="000000"/>
                </a:solidFill>
                <a:latin typeface="Consolas" panose="020B0609020204030204" pitchFamily="49" charset="0"/>
              </a:rPr>
              <a:t>addressID</a:t>
            </a:r>
            <a:r>
              <a:rPr lang="en-US" altLang="en-US" sz="4400" dirty="0">
                <a:solidFill>
                  <a:srgbClr val="000000"/>
                </a:solidFill>
                <a:latin typeface="Consolas" panose="020B0609020204030204" pitchFamily="49" charset="0"/>
              </a:rPr>
              <a:t> = </a:t>
            </a:r>
            <a:r>
              <a:rPr lang="en-US" altLang="en-US" sz="4400" dirty="0">
                <a:solidFill>
                  <a:srgbClr val="0086B3"/>
                </a:solidFill>
                <a:latin typeface="Consolas" panose="020B0609020204030204" pitchFamily="49" charset="0"/>
              </a:rPr>
              <a:t>17</a:t>
            </a:r>
            <a:endParaRPr lang="en-US" altLang="en-US" sz="44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4 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pupilID</a:t>
            </a:r>
            <a:r>
              <a:rPr lang="en-US" altLang="en-US" sz="4400" dirty="0">
                <a:solidFill>
                  <a:srgbClr val="000000"/>
                </a:solidFill>
                <a:latin typeface="Consolas" panose="020B0609020204030204" pitchFamily="49" charset="0"/>
              </a:rPr>
              <a:t> = </a:t>
            </a:r>
            <a:r>
              <a:rPr lang="en-US" altLang="en-US" sz="4400" dirty="0">
                <a:solidFill>
                  <a:srgbClr val="0086B3"/>
                </a:solidFill>
                <a:latin typeface="Consolas" panose="020B0609020204030204" pitchFamily="49" charset="0"/>
              </a:rPr>
              <a:t>2</a:t>
            </a:r>
            <a:r>
              <a:rPr lang="en-US" altLang="en-US" sz="4400" dirty="0">
                <a:solidFill>
                  <a:srgbClr val="000000"/>
                </a:solidFill>
                <a:latin typeface="Consolas" panose="020B0609020204030204" pitchFamily="49" charset="0"/>
              </a:rPr>
              <a:t>;</a:t>
            </a:r>
            <a:endParaRPr lang="en-US" altLang="en-US" sz="6000" dirty="0">
              <a:latin typeface="Arial" panose="020B0604020202020204" pitchFamily="34" charset="0"/>
            </a:endParaRPr>
          </a:p>
        </p:txBody>
      </p:sp>
      <p:sp>
        <p:nvSpPr>
          <p:cNvPr id="6" name="Callout: Bent Line with No Border 3">
            <a:extLst>
              <a:ext uri="{FF2B5EF4-FFF2-40B4-BE49-F238E27FC236}">
                <a16:creationId xmlns:a16="http://schemas.microsoft.com/office/drawing/2014/main" id="{77E8332C-AADD-4F2B-B0E2-AC0B43D6AE90}"/>
              </a:ext>
            </a:extLst>
          </p:cNvPr>
          <p:cNvSpPr/>
          <p:nvPr/>
        </p:nvSpPr>
        <p:spPr>
          <a:xfrm>
            <a:off x="9731682" y="2104805"/>
            <a:ext cx="1327150" cy="718344"/>
          </a:xfrm>
          <a:prstGeom prst="callout2">
            <a:avLst>
              <a:gd name="adj1" fmla="val 49990"/>
              <a:gd name="adj2" fmla="val -52"/>
              <a:gd name="adj3" fmla="val 50311"/>
              <a:gd name="adj4" fmla="val -43860"/>
              <a:gd name="adj5" fmla="val 111750"/>
              <a:gd name="adj6" fmla="val -8720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comma</a:t>
            </a:r>
          </a:p>
        </p:txBody>
      </p:sp>
      <p:sp>
        <p:nvSpPr>
          <p:cNvPr id="7" name="TextBox 6">
            <a:extLst>
              <a:ext uri="{FF2B5EF4-FFF2-40B4-BE49-F238E27FC236}">
                <a16:creationId xmlns:a16="http://schemas.microsoft.com/office/drawing/2014/main" id="{AD414FCB-BBD2-57F0-E5DF-35C9E0F2C5A4}"/>
              </a:ext>
            </a:extLst>
          </p:cNvPr>
          <p:cNvSpPr txBox="1"/>
          <p:nvPr/>
        </p:nvSpPr>
        <p:spPr>
          <a:xfrm>
            <a:off x="7708235" y="-5485"/>
            <a:ext cx="4483765" cy="1200329"/>
          </a:xfrm>
          <a:prstGeom prst="rect">
            <a:avLst/>
          </a:prstGeom>
          <a:noFill/>
          <a:ln w="19050">
            <a:solidFill>
              <a:srgbClr val="FF0000"/>
            </a:solidFill>
          </a:ln>
        </p:spPr>
        <p:txBody>
          <a:bodyPr wrap="square" rtlCol="0">
            <a:spAutoFit/>
          </a:bodyPr>
          <a:lstStyle/>
          <a:p>
            <a:r>
              <a:rPr lang="en-GB" sz="3600" dirty="0">
                <a:solidFill>
                  <a:srgbClr val="FF0000"/>
                </a:solidFill>
                <a:latin typeface="Consolas" panose="020B0609020204030204" pitchFamily="49" charset="0"/>
              </a:rPr>
              <a:t>Tip</a:t>
            </a:r>
            <a:r>
              <a:rPr lang="en-GB" sz="3600" dirty="0">
                <a:solidFill>
                  <a:srgbClr val="7030A0"/>
                </a:solidFill>
                <a:latin typeface="Consolas" panose="020B0609020204030204" pitchFamily="49" charset="0"/>
              </a:rPr>
              <a:t>: Use SELECT with WHERE first!</a:t>
            </a:r>
          </a:p>
        </p:txBody>
      </p:sp>
      <p:sp>
        <p:nvSpPr>
          <p:cNvPr id="8" name="TextBox 7">
            <a:extLst>
              <a:ext uri="{FF2B5EF4-FFF2-40B4-BE49-F238E27FC236}">
                <a16:creationId xmlns:a16="http://schemas.microsoft.com/office/drawing/2014/main" id="{B283BD82-FC96-C90C-169D-C505080B3876}"/>
              </a:ext>
            </a:extLst>
          </p:cNvPr>
          <p:cNvSpPr txBox="1"/>
          <p:nvPr/>
        </p:nvSpPr>
        <p:spPr>
          <a:xfrm>
            <a:off x="1736601" y="5104560"/>
            <a:ext cx="8718797" cy="1631216"/>
          </a:xfrm>
          <a:prstGeom prst="rect">
            <a:avLst/>
          </a:prstGeom>
          <a:noFill/>
        </p:spPr>
        <p:txBody>
          <a:bodyPr wrap="none" rtlCol="0">
            <a:spAutoFit/>
          </a:bodyPr>
          <a:lstStyle/>
          <a:p>
            <a:pPr algn="ctr"/>
            <a:r>
              <a:rPr lang="en-GB" sz="3600" dirty="0">
                <a:solidFill>
                  <a:srgbClr val="7030A0"/>
                </a:solidFill>
              </a:rPr>
              <a:t>Updates</a:t>
            </a:r>
            <a:r>
              <a:rPr lang="en-GB" sz="3600" dirty="0"/>
              <a:t> </a:t>
            </a:r>
            <a:r>
              <a:rPr lang="en-GB" sz="3600" b="1" i="1" dirty="0">
                <a:solidFill>
                  <a:srgbClr val="FF0000"/>
                </a:solidFill>
              </a:rPr>
              <a:t>all</a:t>
            </a:r>
            <a:r>
              <a:rPr lang="en-GB" sz="3600" dirty="0"/>
              <a:t> </a:t>
            </a:r>
            <a:r>
              <a:rPr lang="en-GB" sz="3600" dirty="0">
                <a:solidFill>
                  <a:srgbClr val="7030A0"/>
                </a:solidFill>
              </a:rPr>
              <a:t>records that match the condition!</a:t>
            </a:r>
          </a:p>
          <a:p>
            <a:pPr algn="ctr"/>
            <a:endParaRPr lang="en-GB" sz="2800" dirty="0">
              <a:solidFill>
                <a:srgbClr val="7030A0"/>
              </a:solidFill>
              <a:latin typeface="Consolas" panose="020B0609020204030204" pitchFamily="49" charset="0"/>
            </a:endParaRPr>
          </a:p>
          <a:p>
            <a:pPr algn="ctr"/>
            <a:r>
              <a:rPr lang="en-GB" sz="3600" dirty="0">
                <a:solidFill>
                  <a:srgbClr val="7030A0"/>
                </a:solidFill>
              </a:rPr>
              <a:t>If a validation rule fails, no data is updated</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1563702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25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75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xEl>
                                              <p:pRg st="0" end="0"/>
                                            </p:txEl>
                                          </p:spTgt>
                                        </p:tgtEl>
                                        <p:attrNameLst>
                                          <p:attrName>style.visibility</p:attrName>
                                        </p:attrNameLst>
                                      </p:cBhvr>
                                      <p:to>
                                        <p:strVal val="visible"/>
                                      </p:to>
                                    </p:set>
                                    <p:animEffect transition="in" filter="wipe(left)">
                                      <p:cBhvr>
                                        <p:cTn id="32" dur="2000"/>
                                        <p:tgtEl>
                                          <p:spTgt spid="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xEl>
                                              <p:pRg st="2" end="2"/>
                                            </p:txEl>
                                          </p:spTgt>
                                        </p:tgtEl>
                                        <p:attrNameLst>
                                          <p:attrName>style.visibility</p:attrName>
                                        </p:attrNameLst>
                                      </p:cBhvr>
                                      <p:to>
                                        <p:strVal val="visible"/>
                                      </p:to>
                                    </p:set>
                                    <p:animEffect transition="in" filter="wipe(left)">
                                      <p:cBhvr>
                                        <p:cTn id="37" dur="2000"/>
                                        <p:tgtEl>
                                          <p:spTgt spid="8">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
                                            <p:bg/>
                                          </p:spTgt>
                                        </p:tgtEl>
                                        <p:attrNameLst>
                                          <p:attrName>style.visibility</p:attrName>
                                        </p:attrNameLst>
                                      </p:cBhvr>
                                      <p:to>
                                        <p:strVal val="visible"/>
                                      </p:to>
                                    </p:set>
                                    <p:animEffect transition="in" filter="wipe(left)">
                                      <p:cBhvr>
                                        <p:cTn id="42" dur="2000"/>
                                        <p:tgtEl>
                                          <p:spTgt spid="7">
                                            <p:bg/>
                                          </p:spTgt>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7">
                                            <p:txEl>
                                              <p:pRg st="0" end="0"/>
                                            </p:txEl>
                                          </p:spTgt>
                                        </p:tgtEl>
                                        <p:attrNameLst>
                                          <p:attrName>style.visibility</p:attrName>
                                        </p:attrNameLst>
                                      </p:cBhvr>
                                      <p:to>
                                        <p:strVal val="visible"/>
                                      </p:to>
                                    </p:set>
                                    <p:animEffect transition="in" filter="wipe(left)">
                                      <p:cBhvr>
                                        <p:cTn id="45"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build="allAtOnce" animBg="1"/>
      <p:bldP spid="8" grpId="0" uiExpand="1" build="p"/>
    </p:bldLst>
  </p:timing>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Change Data – Multiple fields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UPDATE</a:t>
            </a:r>
            <a:r>
              <a:rPr lang="en-US" altLang="en-US" sz="4400" dirty="0">
                <a:solidFill>
                  <a:srgbClr val="000000"/>
                </a:solidFill>
                <a:latin typeface="Consolas" panose="020B0609020204030204" pitchFamily="49" charset="0"/>
              </a:rPr>
              <a:t> Pupil</a:t>
            </a:r>
            <a:br>
              <a:rPr lang="en-US" altLang="en-US" sz="4400" dirty="0">
                <a:solidFill>
                  <a:srgbClr val="000000"/>
                </a:solidFill>
                <a:latin typeface="Consolas" panose="020B0609020204030204" pitchFamily="49" charset="0"/>
              </a:rPr>
            </a:b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SET</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lastName</a:t>
            </a:r>
            <a:r>
              <a:rPr lang="en-US" altLang="en-US" sz="4400" dirty="0">
                <a:solidFill>
                  <a:srgbClr val="000000"/>
                </a:solidFill>
                <a:latin typeface="Consolas" panose="020B0609020204030204" pitchFamily="49" charset="0"/>
              </a:rPr>
              <a:t> = </a:t>
            </a:r>
            <a:r>
              <a:rPr lang="en-US" altLang="en-US" sz="4400" dirty="0">
                <a:solidFill>
                  <a:srgbClr val="183691"/>
                </a:solidFill>
                <a:latin typeface="Consolas" panose="020B0609020204030204" pitchFamily="49" charset="0"/>
              </a:rPr>
              <a:t>"Box"</a:t>
            </a:r>
            <a:r>
              <a:rPr lang="en-US" altLang="en-US" sz="4400" dirty="0">
                <a:solidFill>
                  <a:srgbClr val="000000"/>
                </a:solidFill>
                <a:latin typeface="Consolas" panose="020B0609020204030204" pitchFamily="49" charset="0"/>
              </a:rPr>
              <a:t>,</a:t>
            </a:r>
            <a:br>
              <a:rPr lang="en-US" altLang="en-US" sz="4400" dirty="0">
                <a:solidFill>
                  <a:srgbClr val="000000"/>
                </a:solidFill>
                <a:latin typeface="Consolas" panose="020B0609020204030204" pitchFamily="49" charset="0"/>
              </a:rPr>
            </a:br>
            <a:r>
              <a:rPr lang="en-US" altLang="en-US" sz="4400" dirty="0">
                <a:solidFill>
                  <a:srgbClr val="B2B2B2"/>
                </a:solidFill>
                <a:latin typeface="Consolas" panose="020B0609020204030204" pitchFamily="49" charset="0"/>
              </a:rPr>
              <a:t>3       </a:t>
            </a:r>
            <a:r>
              <a:rPr lang="en-US" altLang="en-US" sz="4400" dirty="0" err="1">
                <a:solidFill>
                  <a:srgbClr val="000000"/>
                </a:solidFill>
                <a:latin typeface="Consolas" panose="020B0609020204030204" pitchFamily="49" charset="0"/>
              </a:rPr>
              <a:t>addressID</a:t>
            </a:r>
            <a:r>
              <a:rPr lang="en-US" altLang="en-US" sz="4400" dirty="0">
                <a:solidFill>
                  <a:srgbClr val="000000"/>
                </a:solidFill>
                <a:latin typeface="Consolas" panose="020B0609020204030204" pitchFamily="49" charset="0"/>
              </a:rPr>
              <a:t> = </a:t>
            </a:r>
            <a:r>
              <a:rPr lang="en-US" altLang="en-US" sz="4400" dirty="0">
                <a:solidFill>
                  <a:srgbClr val="0086B3"/>
                </a:solidFill>
                <a:latin typeface="Consolas" panose="020B0609020204030204" pitchFamily="49" charset="0"/>
              </a:rPr>
              <a:t>17</a:t>
            </a:r>
            <a:br>
              <a:rPr lang="en-US" altLang="en-US" sz="4400" dirty="0">
                <a:solidFill>
                  <a:srgbClr val="000000"/>
                </a:solidFill>
                <a:latin typeface="Consolas" panose="020B0609020204030204" pitchFamily="49" charset="0"/>
              </a:rPr>
            </a:br>
            <a:r>
              <a:rPr lang="en-US" altLang="en-US" sz="4400" dirty="0">
                <a:solidFill>
                  <a:srgbClr val="B2B2B2"/>
                </a:solidFill>
                <a:latin typeface="Consolas" panose="020B0609020204030204" pitchFamily="49" charset="0"/>
              </a:rPr>
              <a:t>4 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pupilID</a:t>
            </a:r>
            <a:r>
              <a:rPr lang="en-US" altLang="en-US" sz="4400" dirty="0">
                <a:solidFill>
                  <a:srgbClr val="000000"/>
                </a:solidFill>
                <a:latin typeface="Consolas" panose="020B0609020204030204" pitchFamily="49" charset="0"/>
              </a:rPr>
              <a:t> = </a:t>
            </a:r>
            <a:r>
              <a:rPr lang="en-US" altLang="en-US" sz="4400" dirty="0">
                <a:solidFill>
                  <a:srgbClr val="0086B3"/>
                </a:solidFill>
                <a:latin typeface="Consolas" panose="020B0609020204030204" pitchFamily="49" charset="0"/>
              </a:rPr>
              <a:t>2</a:t>
            </a:r>
            <a:r>
              <a:rPr lang="en-US" altLang="en-US" sz="4400" dirty="0">
                <a:solidFill>
                  <a:srgbClr val="000000"/>
                </a:solidFill>
                <a:latin typeface="Consolas" panose="020B0609020204030204" pitchFamily="49" charset="0"/>
              </a:rPr>
              <a:t>;</a:t>
            </a:r>
            <a:endParaRPr lang="en-US" altLang="en-US" sz="6000" dirty="0">
              <a:latin typeface="Arial" panose="020B0604020202020204" pitchFamily="34" charset="0"/>
            </a:endParaRPr>
          </a:p>
        </p:txBody>
      </p:sp>
      <p:sp>
        <p:nvSpPr>
          <p:cNvPr id="4" name="TextBox 3">
            <a:extLst>
              <a:ext uri="{FF2B5EF4-FFF2-40B4-BE49-F238E27FC236}">
                <a16:creationId xmlns:a16="http://schemas.microsoft.com/office/drawing/2014/main" id="{88744E53-6521-DB39-3E4D-AA698E15D4D0}"/>
              </a:ext>
            </a:extLst>
          </p:cNvPr>
          <p:cNvSpPr txBox="1"/>
          <p:nvPr/>
        </p:nvSpPr>
        <p:spPr>
          <a:xfrm>
            <a:off x="2046238" y="6079439"/>
            <a:ext cx="8099525" cy="646331"/>
          </a:xfrm>
          <a:prstGeom prst="rect">
            <a:avLst/>
          </a:prstGeom>
          <a:noFill/>
        </p:spPr>
        <p:txBody>
          <a:bodyPr wrap="none" rtlCol="0">
            <a:spAutoFit/>
          </a:bodyPr>
          <a:lstStyle/>
          <a:p>
            <a:pPr algn="ctr"/>
            <a:r>
              <a:rPr lang="en-GB" sz="3600" dirty="0">
                <a:solidFill>
                  <a:srgbClr val="7030A0"/>
                </a:solidFill>
              </a:rPr>
              <a:t>If a validation rule fails, no data is updated</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292753262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r>
              <a:rPr lang="en-GB" dirty="0"/>
              <a:t>Describe and use SQL delete operations</a:t>
            </a:r>
          </a:p>
        </p:txBody>
      </p:sp>
    </p:spTree>
    <p:extLst>
      <p:ext uri="{BB962C8B-B14F-4D97-AF65-F5344CB8AC3E}">
        <p14:creationId xmlns:p14="http://schemas.microsoft.com/office/powerpoint/2010/main" val="323082119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Remove Data</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DELETE FROM</a:t>
            </a:r>
            <a:r>
              <a:rPr lang="en-US" altLang="en-US" sz="44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pupilID</a:t>
            </a:r>
            <a:r>
              <a:rPr lang="en-US" altLang="en-US" sz="4400" dirty="0">
                <a:solidFill>
                  <a:srgbClr val="000000"/>
                </a:solidFill>
                <a:latin typeface="Consolas" panose="020B0609020204030204" pitchFamily="49" charset="0"/>
              </a:rPr>
              <a:t> = </a:t>
            </a:r>
            <a:r>
              <a:rPr lang="en-US" altLang="en-US" sz="4400" dirty="0">
                <a:solidFill>
                  <a:srgbClr val="0086B3"/>
                </a:solidFill>
                <a:latin typeface="Consolas" panose="020B0609020204030204" pitchFamily="49" charset="0"/>
              </a:rPr>
              <a:t>2</a:t>
            </a:r>
            <a:r>
              <a:rPr lang="en-US" altLang="en-US" sz="4400" dirty="0">
                <a:solidFill>
                  <a:srgbClr val="000000"/>
                </a:solidFill>
                <a:latin typeface="Consolas" panose="020B0609020204030204" pitchFamily="49" charset="0"/>
              </a:rPr>
              <a:t>;</a:t>
            </a:r>
            <a:endParaRPr lang="en-US" altLang="en-US" sz="6000" dirty="0">
              <a:latin typeface="Arial" panose="020B0604020202020204" pitchFamily="34" charset="0"/>
            </a:endParaRPr>
          </a:p>
        </p:txBody>
      </p:sp>
      <p:sp>
        <p:nvSpPr>
          <p:cNvPr id="7" name="TextBox 6">
            <a:extLst>
              <a:ext uri="{FF2B5EF4-FFF2-40B4-BE49-F238E27FC236}">
                <a16:creationId xmlns:a16="http://schemas.microsoft.com/office/drawing/2014/main" id="{DF4BA8FF-524A-4C13-87BF-68801971FA28}"/>
              </a:ext>
            </a:extLst>
          </p:cNvPr>
          <p:cNvSpPr txBox="1"/>
          <p:nvPr/>
        </p:nvSpPr>
        <p:spPr>
          <a:xfrm>
            <a:off x="1812647" y="5360818"/>
            <a:ext cx="8566705" cy="646331"/>
          </a:xfrm>
          <a:prstGeom prst="rect">
            <a:avLst/>
          </a:prstGeom>
          <a:noFill/>
        </p:spPr>
        <p:txBody>
          <a:bodyPr wrap="none" rtlCol="0">
            <a:spAutoFit/>
          </a:bodyPr>
          <a:lstStyle/>
          <a:p>
            <a:pPr algn="ctr"/>
            <a:r>
              <a:rPr lang="en-GB" sz="3600" dirty="0">
                <a:solidFill>
                  <a:srgbClr val="7030A0"/>
                </a:solidFill>
              </a:rPr>
              <a:t>Deletes</a:t>
            </a:r>
            <a:r>
              <a:rPr lang="en-GB" sz="3600" dirty="0"/>
              <a:t> </a:t>
            </a:r>
            <a:r>
              <a:rPr lang="en-GB" sz="3600" b="1" i="1" dirty="0">
                <a:solidFill>
                  <a:srgbClr val="FF0000"/>
                </a:solidFill>
              </a:rPr>
              <a:t>all</a:t>
            </a:r>
            <a:r>
              <a:rPr lang="en-GB" sz="3600" dirty="0"/>
              <a:t> </a:t>
            </a:r>
            <a:r>
              <a:rPr lang="en-GB" sz="3600" dirty="0">
                <a:solidFill>
                  <a:srgbClr val="7030A0"/>
                </a:solidFill>
              </a:rPr>
              <a:t>records that match the condition!</a:t>
            </a:r>
            <a:endParaRPr lang="en-GB" sz="3600" dirty="0">
              <a:solidFill>
                <a:srgbClr val="7030A0"/>
              </a:solidFill>
              <a:latin typeface="Consolas" panose="020B0609020204030204" pitchFamily="49" charset="0"/>
            </a:endParaRPr>
          </a:p>
        </p:txBody>
      </p:sp>
      <p:sp>
        <p:nvSpPr>
          <p:cNvPr id="4" name="Callout: Bent Line with No Border 3">
            <a:extLst>
              <a:ext uri="{FF2B5EF4-FFF2-40B4-BE49-F238E27FC236}">
                <a16:creationId xmlns:a16="http://schemas.microsoft.com/office/drawing/2014/main" id="{E047F7BC-FA07-FA57-5095-E57424A36FC7}"/>
              </a:ext>
            </a:extLst>
          </p:cNvPr>
          <p:cNvSpPr/>
          <p:nvPr/>
        </p:nvSpPr>
        <p:spPr>
          <a:xfrm>
            <a:off x="7723719" y="1167606"/>
            <a:ext cx="1085850" cy="718344"/>
          </a:xfrm>
          <a:prstGeom prst="callout2">
            <a:avLst>
              <a:gd name="adj1" fmla="val 49990"/>
              <a:gd name="adj2" fmla="val -52"/>
              <a:gd name="adj3" fmla="val 50311"/>
              <a:gd name="adj4" fmla="val -43860"/>
              <a:gd name="adj5" fmla="val 104481"/>
              <a:gd name="adj6" fmla="val -9241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Table</a:t>
            </a:r>
          </a:p>
        </p:txBody>
      </p:sp>
      <p:sp>
        <p:nvSpPr>
          <p:cNvPr id="6" name="TextBox 5">
            <a:extLst>
              <a:ext uri="{FF2B5EF4-FFF2-40B4-BE49-F238E27FC236}">
                <a16:creationId xmlns:a16="http://schemas.microsoft.com/office/drawing/2014/main" id="{D2799C50-5B8F-A5A7-D5BE-93FD79B0C67A}"/>
              </a:ext>
            </a:extLst>
          </p:cNvPr>
          <p:cNvSpPr txBox="1"/>
          <p:nvPr/>
        </p:nvSpPr>
        <p:spPr>
          <a:xfrm>
            <a:off x="7708235" y="-5485"/>
            <a:ext cx="4483765" cy="1200329"/>
          </a:xfrm>
          <a:prstGeom prst="rect">
            <a:avLst/>
          </a:prstGeom>
          <a:noFill/>
          <a:ln w="19050">
            <a:solidFill>
              <a:srgbClr val="FF0000"/>
            </a:solidFill>
          </a:ln>
        </p:spPr>
        <p:txBody>
          <a:bodyPr wrap="square" rtlCol="0">
            <a:spAutoFit/>
          </a:bodyPr>
          <a:lstStyle/>
          <a:p>
            <a:r>
              <a:rPr lang="en-GB" sz="3600" dirty="0">
                <a:solidFill>
                  <a:srgbClr val="FF0000"/>
                </a:solidFill>
                <a:latin typeface="Consolas" panose="020B0609020204030204" pitchFamily="49" charset="0"/>
              </a:rPr>
              <a:t>Tip</a:t>
            </a:r>
            <a:r>
              <a:rPr lang="en-GB" sz="3600" dirty="0">
                <a:solidFill>
                  <a:srgbClr val="7030A0"/>
                </a:solidFill>
                <a:latin typeface="Consolas" panose="020B0609020204030204" pitchFamily="49" charset="0"/>
              </a:rPr>
              <a:t>: Use SELECT with WHERE first!</a:t>
            </a:r>
          </a:p>
        </p:txBody>
      </p:sp>
    </p:spTree>
    <p:extLst>
      <p:ext uri="{BB962C8B-B14F-4D97-AF65-F5344CB8AC3E}">
        <p14:creationId xmlns:p14="http://schemas.microsoft.com/office/powerpoint/2010/main" val="1681721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7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wipe(left)">
                                      <p:cBhvr>
                                        <p:cTn id="22" dur="20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build="p"/>
      <p:bldP spid="4" grpId="0" animBg="1"/>
      <p:bldP spid="6" grpId="0" animBg="1"/>
    </p:bldLst>
  </p:timing>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Remove Data</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DELETE FROM</a:t>
            </a:r>
            <a:r>
              <a:rPr lang="en-US" altLang="en-US" sz="44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WHERE</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pupilID</a:t>
            </a:r>
            <a:r>
              <a:rPr lang="en-US" altLang="en-US" sz="4400" dirty="0">
                <a:solidFill>
                  <a:srgbClr val="000000"/>
                </a:solidFill>
                <a:latin typeface="Consolas" panose="020B0609020204030204" pitchFamily="49" charset="0"/>
              </a:rPr>
              <a:t> = </a:t>
            </a:r>
            <a:r>
              <a:rPr lang="en-US" altLang="en-US" sz="4400" dirty="0">
                <a:solidFill>
                  <a:srgbClr val="0086B3"/>
                </a:solidFill>
                <a:latin typeface="Consolas" panose="020B0609020204030204" pitchFamily="49" charset="0"/>
              </a:rPr>
              <a:t>2</a:t>
            </a:r>
            <a:r>
              <a:rPr lang="en-US" altLang="en-US" sz="4400" dirty="0">
                <a:solidFill>
                  <a:srgbClr val="000000"/>
                </a:solidFill>
                <a:latin typeface="Consolas" panose="020B0609020204030204" pitchFamily="49" charset="0"/>
              </a:rPr>
              <a:t>;</a:t>
            </a:r>
            <a:endParaRPr lang="en-US" altLang="en-US" sz="6000" dirty="0">
              <a:latin typeface="Arial" panose="020B0604020202020204" pitchFamily="34" charset="0"/>
            </a:endParaRPr>
          </a:p>
        </p:txBody>
      </p:sp>
    </p:spTree>
    <p:extLst>
      <p:ext uri="{BB962C8B-B14F-4D97-AF65-F5344CB8AC3E}">
        <p14:creationId xmlns:p14="http://schemas.microsoft.com/office/powerpoint/2010/main" val="147991231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50D6E-A7AE-40F1-B520-C3C5A5B9033C}"/>
              </a:ext>
            </a:extLst>
          </p:cNvPr>
          <p:cNvSpPr>
            <a:spLocks noGrp="1"/>
          </p:cNvSpPr>
          <p:nvPr>
            <p:ph type="title"/>
          </p:nvPr>
        </p:nvSpPr>
        <p:spPr/>
        <p:txBody>
          <a:bodyPr/>
          <a:lstStyle/>
          <a:p>
            <a:r>
              <a:rPr lang="en-GB" dirty="0"/>
              <a:t>Remove Data – In stages</a:t>
            </a:r>
          </a:p>
        </p:txBody>
      </p:sp>
      <p:sp>
        <p:nvSpPr>
          <p:cNvPr id="5" name="Text Placeholder 4">
            <a:extLst>
              <a:ext uri="{FF2B5EF4-FFF2-40B4-BE49-F238E27FC236}">
                <a16:creationId xmlns:a16="http://schemas.microsoft.com/office/drawing/2014/main" id="{000FA1C3-5832-49DF-B768-CBF372ADFA59}"/>
              </a:ext>
            </a:extLst>
          </p:cNvPr>
          <p:cNvSpPr>
            <a:spLocks noGrp="1"/>
          </p:cNvSpPr>
          <p:nvPr>
            <p:ph type="body" idx="1"/>
          </p:nvPr>
        </p:nvSpPr>
        <p:spPr/>
        <p:txBody>
          <a:bodyPr>
            <a:normAutofit/>
          </a:bodyPr>
          <a:lstStyle/>
          <a:p>
            <a:r>
              <a:rPr lang="en-GB" sz="3600"/>
              <a:t>Step 1</a:t>
            </a:r>
            <a:endParaRPr lang="en-GB" sz="3600" dirty="0"/>
          </a:p>
        </p:txBody>
      </p:sp>
      <p:sp>
        <p:nvSpPr>
          <p:cNvPr id="3" name="Content Placeholder 2">
            <a:extLst>
              <a:ext uri="{FF2B5EF4-FFF2-40B4-BE49-F238E27FC236}">
                <a16:creationId xmlns:a16="http://schemas.microsoft.com/office/drawing/2014/main" id="{95A0844E-7BAE-4F4A-A1DA-DD7BE74B9B74}"/>
              </a:ext>
            </a:extLst>
          </p:cNvPr>
          <p:cNvSpPr>
            <a:spLocks noGrp="1"/>
          </p:cNvSpPr>
          <p:nvPr>
            <p:ph sz="half" idx="2"/>
          </p:nvPr>
        </p:nvSpPr>
        <p:spPr>
          <a:xfrm>
            <a:off x="836612" y="2505075"/>
            <a:ext cx="5160964" cy="3684588"/>
          </a:xfrm>
        </p:spPr>
        <p:txBody>
          <a:bodyPr/>
          <a:lstStyle/>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1 </a:t>
            </a:r>
            <a:r>
              <a:rPr lang="en-US" altLang="en-US" dirty="0">
                <a:solidFill>
                  <a:srgbClr val="A71D5D"/>
                </a:solidFill>
                <a:latin typeface="Consolas" panose="020B0609020204030204" pitchFamily="49" charset="0"/>
              </a:rPr>
              <a:t>SELECT </a:t>
            </a:r>
            <a:r>
              <a:rPr lang="en-US" altLang="en-US"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2   </a:t>
            </a:r>
            <a:r>
              <a:rPr lang="en-US" altLang="en-US" dirty="0">
                <a:solidFill>
                  <a:srgbClr val="A71D5D"/>
                </a:solidFill>
                <a:latin typeface="Consolas" panose="020B0609020204030204" pitchFamily="49" charset="0"/>
              </a:rPr>
              <a:t>FROM</a:t>
            </a:r>
            <a:r>
              <a:rPr lang="en-US" altLang="en-US"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2   </a:t>
            </a:r>
            <a:r>
              <a:rPr lang="en-US" altLang="en-US" dirty="0">
                <a:solidFill>
                  <a:srgbClr val="A71D5D"/>
                </a:solidFill>
                <a:latin typeface="Consolas" panose="020B0609020204030204" pitchFamily="49" charset="0"/>
              </a:rPr>
              <a:t>WHERE</a:t>
            </a:r>
            <a:r>
              <a:rPr lang="en-US" altLang="en-US" dirty="0">
                <a:solidFill>
                  <a:srgbClr val="000000"/>
                </a:solidFill>
                <a:latin typeface="Consolas" panose="020B0609020204030204" pitchFamily="49" charset="0"/>
              </a:rPr>
              <a:t> </a:t>
            </a:r>
            <a:r>
              <a:rPr lang="en-US" altLang="en-US" dirty="0" err="1">
                <a:solidFill>
                  <a:srgbClr val="000000"/>
                </a:solidFill>
                <a:latin typeface="Consolas" panose="020B0609020204030204" pitchFamily="49" charset="0"/>
              </a:rPr>
              <a:t>pupilID</a:t>
            </a:r>
            <a:r>
              <a:rPr lang="en-US" altLang="en-US" dirty="0">
                <a:solidFill>
                  <a:srgbClr val="000000"/>
                </a:solidFill>
                <a:latin typeface="Consolas" panose="020B0609020204030204" pitchFamily="49" charset="0"/>
              </a:rPr>
              <a:t> = </a:t>
            </a:r>
            <a:r>
              <a:rPr lang="en-US" altLang="en-US" dirty="0">
                <a:solidFill>
                  <a:srgbClr val="0086B3"/>
                </a:solidFill>
                <a:latin typeface="Consolas" panose="020B0609020204030204" pitchFamily="49" charset="0"/>
              </a:rPr>
              <a:t>2</a:t>
            </a:r>
            <a:r>
              <a:rPr lang="en-US" altLang="en-US" dirty="0">
                <a:solidFill>
                  <a:srgbClr val="000000"/>
                </a:solidFill>
                <a:latin typeface="Consolas" panose="020B0609020204030204" pitchFamily="49" charset="0"/>
              </a:rPr>
              <a:t>;</a:t>
            </a:r>
            <a:endParaRPr lang="en-US" altLang="en-US" sz="4000" dirty="0">
              <a:latin typeface="Arial" panose="020B0604020202020204" pitchFamily="34" charset="0"/>
            </a:endParaRPr>
          </a:p>
          <a:p>
            <a:pPr marL="0" indent="0">
              <a:buNone/>
            </a:pPr>
            <a:endParaRPr lang="en-GB" dirty="0"/>
          </a:p>
        </p:txBody>
      </p:sp>
      <p:sp>
        <p:nvSpPr>
          <p:cNvPr id="6" name="Text Placeholder 5">
            <a:extLst>
              <a:ext uri="{FF2B5EF4-FFF2-40B4-BE49-F238E27FC236}">
                <a16:creationId xmlns:a16="http://schemas.microsoft.com/office/drawing/2014/main" id="{8577C599-C84A-46C7-BB62-6C336B2F005F}"/>
              </a:ext>
            </a:extLst>
          </p:cNvPr>
          <p:cNvSpPr>
            <a:spLocks noGrp="1"/>
          </p:cNvSpPr>
          <p:nvPr>
            <p:ph type="body" sz="quarter" idx="3"/>
          </p:nvPr>
        </p:nvSpPr>
        <p:spPr/>
        <p:txBody>
          <a:bodyPr>
            <a:normAutofit/>
          </a:bodyPr>
          <a:lstStyle/>
          <a:p>
            <a:r>
              <a:rPr lang="en-GB" sz="3600"/>
              <a:t>Step 2</a:t>
            </a:r>
            <a:endParaRPr lang="en-GB" sz="3600" dirty="0"/>
          </a:p>
        </p:txBody>
      </p:sp>
      <p:sp>
        <p:nvSpPr>
          <p:cNvPr id="4" name="Content Placeholder 3">
            <a:extLst>
              <a:ext uri="{FF2B5EF4-FFF2-40B4-BE49-F238E27FC236}">
                <a16:creationId xmlns:a16="http://schemas.microsoft.com/office/drawing/2014/main" id="{D6A3CFF1-8569-4597-ADB2-1CADEA342D2F}"/>
              </a:ext>
            </a:extLst>
          </p:cNvPr>
          <p:cNvSpPr>
            <a:spLocks noGrp="1"/>
          </p:cNvSpPr>
          <p:nvPr>
            <p:ph sz="quarter" idx="4"/>
          </p:nvPr>
        </p:nvSpPr>
        <p:spPr>
          <a:xfrm>
            <a:off x="6172200" y="2505075"/>
            <a:ext cx="5180012" cy="3684588"/>
          </a:xfrm>
        </p:spPr>
        <p:txBody>
          <a:bodyPr/>
          <a:lstStyle/>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1 </a:t>
            </a:r>
            <a:r>
              <a:rPr lang="en-US" altLang="en-US" dirty="0">
                <a:solidFill>
                  <a:srgbClr val="A71D5D"/>
                </a:solidFill>
                <a:latin typeface="Consolas" panose="020B0609020204030204" pitchFamily="49" charset="0"/>
              </a:rPr>
              <a:t>DELETE FROM</a:t>
            </a:r>
            <a:r>
              <a:rPr lang="en-US" altLang="en-US"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2   </a:t>
            </a:r>
            <a:r>
              <a:rPr lang="en-US" altLang="en-US" dirty="0">
                <a:solidFill>
                  <a:srgbClr val="A71D5D"/>
                </a:solidFill>
                <a:latin typeface="Consolas" panose="020B0609020204030204" pitchFamily="49" charset="0"/>
              </a:rPr>
              <a:t>WHERE</a:t>
            </a:r>
            <a:r>
              <a:rPr lang="en-US" altLang="en-US" dirty="0">
                <a:solidFill>
                  <a:srgbClr val="000000"/>
                </a:solidFill>
                <a:latin typeface="Consolas" panose="020B0609020204030204" pitchFamily="49" charset="0"/>
              </a:rPr>
              <a:t> </a:t>
            </a:r>
            <a:r>
              <a:rPr lang="en-US" altLang="en-US" dirty="0" err="1">
                <a:solidFill>
                  <a:srgbClr val="000000"/>
                </a:solidFill>
                <a:latin typeface="Consolas" panose="020B0609020204030204" pitchFamily="49" charset="0"/>
              </a:rPr>
              <a:t>pupilID</a:t>
            </a:r>
            <a:r>
              <a:rPr lang="en-US" altLang="en-US" dirty="0">
                <a:solidFill>
                  <a:srgbClr val="000000"/>
                </a:solidFill>
                <a:latin typeface="Consolas" panose="020B0609020204030204" pitchFamily="49" charset="0"/>
              </a:rPr>
              <a:t> = </a:t>
            </a:r>
            <a:r>
              <a:rPr lang="en-US" altLang="en-US" dirty="0">
                <a:solidFill>
                  <a:srgbClr val="0086B3"/>
                </a:solidFill>
                <a:latin typeface="Consolas" panose="020B0609020204030204" pitchFamily="49" charset="0"/>
              </a:rPr>
              <a:t>2</a:t>
            </a:r>
            <a:r>
              <a:rPr lang="en-US" altLang="en-US" dirty="0">
                <a:solidFill>
                  <a:srgbClr val="000000"/>
                </a:solidFill>
                <a:latin typeface="Consolas" panose="020B0609020204030204" pitchFamily="49" charset="0"/>
              </a:rPr>
              <a:t>;</a:t>
            </a:r>
            <a:endParaRPr lang="en-US" altLang="en-US" sz="4000" dirty="0">
              <a:latin typeface="Arial" panose="020B0604020202020204" pitchFamily="34" charset="0"/>
            </a:endParaRPr>
          </a:p>
          <a:p>
            <a:pPr marL="0" indent="0">
              <a:buNone/>
            </a:pPr>
            <a:endParaRPr lang="en-GB" dirty="0"/>
          </a:p>
        </p:txBody>
      </p:sp>
      <p:sp>
        <p:nvSpPr>
          <p:cNvPr id="7" name="TextBox 6">
            <a:extLst>
              <a:ext uri="{FF2B5EF4-FFF2-40B4-BE49-F238E27FC236}">
                <a16:creationId xmlns:a16="http://schemas.microsoft.com/office/drawing/2014/main" id="{3D7C5561-49CA-4DD0-9A81-A755A354B542}"/>
              </a:ext>
            </a:extLst>
          </p:cNvPr>
          <p:cNvSpPr txBox="1"/>
          <p:nvPr/>
        </p:nvSpPr>
        <p:spPr>
          <a:xfrm>
            <a:off x="3187768" y="4912766"/>
            <a:ext cx="5816464" cy="769441"/>
          </a:xfrm>
          <a:prstGeom prst="rect">
            <a:avLst/>
          </a:prstGeom>
          <a:noFill/>
        </p:spPr>
        <p:txBody>
          <a:bodyPr wrap="none" rtlCol="0">
            <a:spAutoFit/>
          </a:bodyPr>
          <a:lstStyle/>
          <a:p>
            <a:r>
              <a:rPr lang="en-GB" sz="4400" dirty="0">
                <a:solidFill>
                  <a:srgbClr val="7030A0"/>
                </a:solidFill>
              </a:rPr>
              <a:t>Copy the </a:t>
            </a:r>
            <a:r>
              <a:rPr lang="en-GB" sz="4400" dirty="0">
                <a:solidFill>
                  <a:srgbClr val="A71D5D"/>
                </a:solidFill>
              </a:rPr>
              <a:t>WHERE</a:t>
            </a:r>
            <a:r>
              <a:rPr lang="en-GB" sz="4400" dirty="0">
                <a:solidFill>
                  <a:srgbClr val="7030A0"/>
                </a:solidFill>
              </a:rPr>
              <a:t> clause!</a:t>
            </a:r>
          </a:p>
        </p:txBody>
      </p:sp>
      <p:sp>
        <p:nvSpPr>
          <p:cNvPr id="8" name="Arc 7">
            <a:extLst>
              <a:ext uri="{FF2B5EF4-FFF2-40B4-BE49-F238E27FC236}">
                <a16:creationId xmlns:a16="http://schemas.microsoft.com/office/drawing/2014/main" id="{6F055A38-53AB-4D21-B310-4508FD3AA00E}"/>
              </a:ext>
            </a:extLst>
          </p:cNvPr>
          <p:cNvSpPr/>
          <p:nvPr/>
        </p:nvSpPr>
        <p:spPr>
          <a:xfrm rot="10800000" flipH="1">
            <a:off x="5225143" y="3238500"/>
            <a:ext cx="1836057" cy="1325562"/>
          </a:xfrm>
          <a:prstGeom prst="arc">
            <a:avLst>
              <a:gd name="adj1" fmla="val 10934631"/>
              <a:gd name="adj2" fmla="val 21444232"/>
            </a:avLst>
          </a:prstGeom>
          <a:ln w="38100">
            <a:solidFill>
              <a:schemeClr val="accent6">
                <a:lumMod val="75000"/>
              </a:schemeClr>
            </a:solidFill>
            <a:headEnd w="lg" len="lg"/>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9" name="Text Placeholder 4">
            <a:extLst>
              <a:ext uri="{FF2B5EF4-FFF2-40B4-BE49-F238E27FC236}">
                <a16:creationId xmlns:a16="http://schemas.microsoft.com/office/drawing/2014/main" id="{F407117B-6C1A-4EDA-96A7-C25A850F00DB}"/>
              </a:ext>
            </a:extLst>
          </p:cNvPr>
          <p:cNvSpPr txBox="1">
            <a:spLocks/>
          </p:cNvSpPr>
          <p:nvPr/>
        </p:nvSpPr>
        <p:spPr>
          <a:xfrm>
            <a:off x="3505994" y="5608953"/>
            <a:ext cx="5157787" cy="823912"/>
          </a:xfrm>
          <a:prstGeom prst="rect">
            <a:avLst/>
          </a:prstGeom>
        </p:spPr>
        <p:txBody>
          <a:bodyPr vert="horz" lIns="91440" tIns="45720" rIns="91440" bIns="45720" rtlCol="0" anchor="b">
            <a:normAutofit/>
          </a:bodyPr>
          <a:lstStyle>
            <a:lvl1pPr marL="0" indent="0" algn="l" defTabSz="914400" rtl="0" eaLnBrk="1" latinLnBrk="0" hangingPunct="1">
              <a:lnSpc>
                <a:spcPct val="120000"/>
              </a:lnSpc>
              <a:spcBef>
                <a:spcPts val="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120000"/>
              </a:lnSpc>
              <a:spcBef>
                <a:spcPts val="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20000"/>
              </a:lnSpc>
              <a:spcBef>
                <a:spcPts val="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20000"/>
              </a:lnSpc>
              <a:spcBef>
                <a:spcPts val="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20000"/>
              </a:lnSpc>
              <a:spcBef>
                <a:spcPts val="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GB" sz="3600" dirty="0"/>
              <a:t>Step 3 </a:t>
            </a:r>
            <a:r>
              <a:rPr lang="en-GB" sz="3600" dirty="0">
                <a:solidFill>
                  <a:srgbClr val="7030A0"/>
                </a:solidFill>
              </a:rPr>
              <a:t>– Run Step 1 again</a:t>
            </a:r>
          </a:p>
        </p:txBody>
      </p:sp>
    </p:spTree>
    <p:extLst>
      <p:ext uri="{BB962C8B-B14F-4D97-AF65-F5344CB8AC3E}">
        <p14:creationId xmlns:p14="http://schemas.microsoft.com/office/powerpoint/2010/main" val="2351112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left)">
                                      <p:cBhvr>
                                        <p:cTn id="15" dur="1000"/>
                                        <p:tgtEl>
                                          <p:spTgt spid="3">
                                            <p:txEl>
                                              <p:pRg st="1" end="1"/>
                                            </p:txEl>
                                          </p:spTgt>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10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Effect transition="in" filter="wipe(left)">
                                      <p:cBhvr>
                                        <p:cTn id="24" dur="500"/>
                                        <p:tgtEl>
                                          <p:spTgt spid="6">
                                            <p:txEl>
                                              <p:pRg st="0" end="0"/>
                                            </p:txEl>
                                          </p:spTgt>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4">
                                            <p:txEl>
                                              <p:pRg st="0" end="0"/>
                                            </p:txEl>
                                          </p:spTgt>
                                        </p:tgtEl>
                                        <p:attrNameLst>
                                          <p:attrName>style.visibility</p:attrName>
                                        </p:attrNameLst>
                                      </p:cBhvr>
                                      <p:to>
                                        <p:strVal val="visible"/>
                                      </p:to>
                                    </p:set>
                                    <p:animEffect transition="in" filter="wipe(left)">
                                      <p:cBhvr>
                                        <p:cTn id="28" dur="1000"/>
                                        <p:tgtEl>
                                          <p:spTgt spid="4">
                                            <p:txEl>
                                              <p:pRg st="0" end="0"/>
                                            </p:txEl>
                                          </p:spTgt>
                                        </p:tgtEl>
                                      </p:cBhvr>
                                    </p:animEffect>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4">
                                            <p:txEl>
                                              <p:pRg st="1" end="1"/>
                                            </p:txEl>
                                          </p:spTgt>
                                        </p:tgtEl>
                                        <p:attrNameLst>
                                          <p:attrName>style.visibility</p:attrName>
                                        </p:attrNameLst>
                                      </p:cBhvr>
                                      <p:to>
                                        <p:strVal val="visible"/>
                                      </p:to>
                                    </p:set>
                                    <p:animEffect transition="in" filter="wipe(left)">
                                      <p:cBhvr>
                                        <p:cTn id="32" dur="1000"/>
                                        <p:tgtEl>
                                          <p:spTgt spid="4">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1000"/>
                                        <p:tgtEl>
                                          <p:spTgt spid="8"/>
                                        </p:tgtEl>
                                      </p:cBhvr>
                                    </p:animEffect>
                                  </p:childTnLst>
                                </p:cTn>
                              </p:par>
                            </p:childTnLst>
                          </p:cTn>
                        </p:par>
                        <p:par>
                          <p:cTn id="38" fill="hold">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20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9">
                                            <p:txEl>
                                              <p:pRg st="0" end="0"/>
                                            </p:txEl>
                                          </p:spTgt>
                                        </p:tgtEl>
                                        <p:attrNameLst>
                                          <p:attrName>style.visibility</p:attrName>
                                        </p:attrNameLst>
                                      </p:cBhvr>
                                      <p:to>
                                        <p:strVal val="visible"/>
                                      </p:to>
                                    </p:set>
                                    <p:animEffect transition="in" filter="wipe(left)">
                                      <p:cBhvr>
                                        <p:cTn id="46" dur="2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3" grpId="0" uiExpand="1" build="p"/>
      <p:bldP spid="6" grpId="0" build="p"/>
      <p:bldP spid="4" grpId="0" uiExpand="1" build="p"/>
      <p:bldP spid="7" grpId="0"/>
      <p:bldP spid="8" grpId="0" animBg="1"/>
      <p:bldP spid="9" grpId="0" build="p"/>
    </p:bldLst>
  </p:timing>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50D6E-A7AE-40F1-B520-C3C5A5B9033C}"/>
              </a:ext>
            </a:extLst>
          </p:cNvPr>
          <p:cNvSpPr>
            <a:spLocks noGrp="1"/>
          </p:cNvSpPr>
          <p:nvPr>
            <p:ph type="title"/>
          </p:nvPr>
        </p:nvSpPr>
        <p:spPr/>
        <p:txBody>
          <a:bodyPr/>
          <a:lstStyle/>
          <a:p>
            <a:r>
              <a:rPr lang="en-GB" dirty="0"/>
              <a:t>Remove Data – In stages</a:t>
            </a:r>
          </a:p>
        </p:txBody>
      </p:sp>
      <p:sp>
        <p:nvSpPr>
          <p:cNvPr id="5" name="Text Placeholder 4">
            <a:extLst>
              <a:ext uri="{FF2B5EF4-FFF2-40B4-BE49-F238E27FC236}">
                <a16:creationId xmlns:a16="http://schemas.microsoft.com/office/drawing/2014/main" id="{000FA1C3-5832-49DF-B768-CBF372ADFA59}"/>
              </a:ext>
            </a:extLst>
          </p:cNvPr>
          <p:cNvSpPr>
            <a:spLocks noGrp="1"/>
          </p:cNvSpPr>
          <p:nvPr>
            <p:ph type="body" idx="1"/>
          </p:nvPr>
        </p:nvSpPr>
        <p:spPr/>
        <p:txBody>
          <a:bodyPr>
            <a:normAutofit/>
          </a:bodyPr>
          <a:lstStyle/>
          <a:p>
            <a:endParaRPr lang="en-GB" sz="3600" dirty="0"/>
          </a:p>
        </p:txBody>
      </p:sp>
      <p:sp>
        <p:nvSpPr>
          <p:cNvPr id="3" name="Content Placeholder 2">
            <a:extLst>
              <a:ext uri="{FF2B5EF4-FFF2-40B4-BE49-F238E27FC236}">
                <a16:creationId xmlns:a16="http://schemas.microsoft.com/office/drawing/2014/main" id="{95A0844E-7BAE-4F4A-A1DA-DD7BE74B9B74}"/>
              </a:ext>
            </a:extLst>
          </p:cNvPr>
          <p:cNvSpPr>
            <a:spLocks noGrp="1"/>
          </p:cNvSpPr>
          <p:nvPr>
            <p:ph sz="half" idx="2"/>
          </p:nvPr>
        </p:nvSpPr>
        <p:spPr>
          <a:xfrm>
            <a:off x="836612" y="2505075"/>
            <a:ext cx="5160964" cy="3684588"/>
          </a:xfrm>
        </p:spPr>
        <p:txBody>
          <a:bodyPr/>
          <a:lstStyle/>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1 </a:t>
            </a:r>
            <a:r>
              <a:rPr lang="en-US" altLang="en-US" dirty="0">
                <a:solidFill>
                  <a:srgbClr val="A71D5D"/>
                </a:solidFill>
                <a:latin typeface="Consolas" panose="020B0609020204030204" pitchFamily="49" charset="0"/>
              </a:rPr>
              <a:t>SELECT </a:t>
            </a:r>
            <a:r>
              <a:rPr lang="en-US" altLang="en-US"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2   </a:t>
            </a:r>
            <a:r>
              <a:rPr lang="en-US" altLang="en-US" dirty="0">
                <a:solidFill>
                  <a:srgbClr val="A71D5D"/>
                </a:solidFill>
                <a:latin typeface="Consolas" panose="020B0609020204030204" pitchFamily="49" charset="0"/>
              </a:rPr>
              <a:t>FROM</a:t>
            </a:r>
            <a:r>
              <a:rPr lang="en-US" altLang="en-US"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2   </a:t>
            </a:r>
            <a:r>
              <a:rPr lang="en-US" altLang="en-US" dirty="0">
                <a:solidFill>
                  <a:srgbClr val="A71D5D"/>
                </a:solidFill>
                <a:latin typeface="Consolas" panose="020B0609020204030204" pitchFamily="49" charset="0"/>
              </a:rPr>
              <a:t>WHERE</a:t>
            </a:r>
            <a:r>
              <a:rPr lang="en-US" altLang="en-US" dirty="0">
                <a:solidFill>
                  <a:srgbClr val="000000"/>
                </a:solidFill>
                <a:latin typeface="Consolas" panose="020B0609020204030204" pitchFamily="49" charset="0"/>
              </a:rPr>
              <a:t> </a:t>
            </a:r>
            <a:r>
              <a:rPr lang="en-US" altLang="en-US" dirty="0" err="1">
                <a:solidFill>
                  <a:srgbClr val="000000"/>
                </a:solidFill>
                <a:latin typeface="Consolas" panose="020B0609020204030204" pitchFamily="49" charset="0"/>
              </a:rPr>
              <a:t>pupilID</a:t>
            </a:r>
            <a:r>
              <a:rPr lang="en-US" altLang="en-US" dirty="0">
                <a:solidFill>
                  <a:srgbClr val="000000"/>
                </a:solidFill>
                <a:latin typeface="Consolas" panose="020B0609020204030204" pitchFamily="49" charset="0"/>
              </a:rPr>
              <a:t> = </a:t>
            </a:r>
            <a:r>
              <a:rPr lang="en-US" altLang="en-US" dirty="0">
                <a:solidFill>
                  <a:srgbClr val="0086B3"/>
                </a:solidFill>
                <a:latin typeface="Consolas" panose="020B0609020204030204" pitchFamily="49" charset="0"/>
              </a:rPr>
              <a:t>2</a:t>
            </a:r>
            <a:r>
              <a:rPr lang="en-US" altLang="en-US" dirty="0">
                <a:solidFill>
                  <a:srgbClr val="000000"/>
                </a:solidFill>
                <a:latin typeface="Consolas" panose="020B0609020204030204" pitchFamily="49" charset="0"/>
              </a:rPr>
              <a:t>;</a:t>
            </a:r>
            <a:endParaRPr lang="en-US" altLang="en-US" sz="4000" dirty="0">
              <a:latin typeface="Arial" panose="020B0604020202020204" pitchFamily="34" charset="0"/>
            </a:endParaRPr>
          </a:p>
          <a:p>
            <a:pPr marL="0" indent="0">
              <a:buNone/>
            </a:pPr>
            <a:endParaRPr lang="en-GB" dirty="0"/>
          </a:p>
        </p:txBody>
      </p:sp>
      <p:sp>
        <p:nvSpPr>
          <p:cNvPr id="6" name="Text Placeholder 5">
            <a:extLst>
              <a:ext uri="{FF2B5EF4-FFF2-40B4-BE49-F238E27FC236}">
                <a16:creationId xmlns:a16="http://schemas.microsoft.com/office/drawing/2014/main" id="{8577C599-C84A-46C7-BB62-6C336B2F005F}"/>
              </a:ext>
            </a:extLst>
          </p:cNvPr>
          <p:cNvSpPr>
            <a:spLocks noGrp="1"/>
          </p:cNvSpPr>
          <p:nvPr>
            <p:ph type="body" sz="quarter" idx="3"/>
          </p:nvPr>
        </p:nvSpPr>
        <p:spPr/>
        <p:txBody>
          <a:bodyPr>
            <a:normAutofit/>
          </a:bodyPr>
          <a:lstStyle/>
          <a:p>
            <a:endParaRPr lang="en-GB" sz="3600" dirty="0"/>
          </a:p>
        </p:txBody>
      </p:sp>
      <p:sp>
        <p:nvSpPr>
          <p:cNvPr id="4" name="Content Placeholder 3">
            <a:extLst>
              <a:ext uri="{FF2B5EF4-FFF2-40B4-BE49-F238E27FC236}">
                <a16:creationId xmlns:a16="http://schemas.microsoft.com/office/drawing/2014/main" id="{D6A3CFF1-8569-4597-ADB2-1CADEA342D2F}"/>
              </a:ext>
            </a:extLst>
          </p:cNvPr>
          <p:cNvSpPr>
            <a:spLocks noGrp="1"/>
          </p:cNvSpPr>
          <p:nvPr>
            <p:ph sz="quarter" idx="4"/>
          </p:nvPr>
        </p:nvSpPr>
        <p:spPr>
          <a:xfrm>
            <a:off x="6172200" y="2505075"/>
            <a:ext cx="5180012" cy="3684588"/>
          </a:xfrm>
        </p:spPr>
        <p:txBody>
          <a:bodyPr/>
          <a:lstStyle/>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1 </a:t>
            </a:r>
            <a:r>
              <a:rPr lang="en-US" altLang="en-US" dirty="0">
                <a:solidFill>
                  <a:srgbClr val="A71D5D"/>
                </a:solidFill>
                <a:latin typeface="Consolas" panose="020B0609020204030204" pitchFamily="49" charset="0"/>
              </a:rPr>
              <a:t>DELETE FROM</a:t>
            </a:r>
            <a:r>
              <a:rPr lang="en-US" altLang="en-US"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dirty="0">
                <a:solidFill>
                  <a:srgbClr val="B2B2B2"/>
                </a:solidFill>
                <a:latin typeface="Consolas" panose="020B0609020204030204" pitchFamily="49" charset="0"/>
              </a:rPr>
              <a:t>2   </a:t>
            </a:r>
            <a:r>
              <a:rPr lang="en-US" altLang="en-US" dirty="0">
                <a:solidFill>
                  <a:srgbClr val="A71D5D"/>
                </a:solidFill>
                <a:latin typeface="Consolas" panose="020B0609020204030204" pitchFamily="49" charset="0"/>
              </a:rPr>
              <a:t>WHERE</a:t>
            </a:r>
            <a:r>
              <a:rPr lang="en-US" altLang="en-US" dirty="0">
                <a:solidFill>
                  <a:srgbClr val="000000"/>
                </a:solidFill>
                <a:latin typeface="Consolas" panose="020B0609020204030204" pitchFamily="49" charset="0"/>
              </a:rPr>
              <a:t> </a:t>
            </a:r>
            <a:r>
              <a:rPr lang="en-US" altLang="en-US" dirty="0" err="1">
                <a:solidFill>
                  <a:srgbClr val="000000"/>
                </a:solidFill>
                <a:latin typeface="Consolas" panose="020B0609020204030204" pitchFamily="49" charset="0"/>
              </a:rPr>
              <a:t>pupilID</a:t>
            </a:r>
            <a:r>
              <a:rPr lang="en-US" altLang="en-US" dirty="0">
                <a:solidFill>
                  <a:srgbClr val="000000"/>
                </a:solidFill>
                <a:latin typeface="Consolas" panose="020B0609020204030204" pitchFamily="49" charset="0"/>
              </a:rPr>
              <a:t> = </a:t>
            </a:r>
            <a:r>
              <a:rPr lang="en-US" altLang="en-US" dirty="0">
                <a:solidFill>
                  <a:srgbClr val="0086B3"/>
                </a:solidFill>
                <a:latin typeface="Consolas" panose="020B0609020204030204" pitchFamily="49" charset="0"/>
              </a:rPr>
              <a:t>2</a:t>
            </a:r>
            <a:r>
              <a:rPr lang="en-US" altLang="en-US" dirty="0">
                <a:solidFill>
                  <a:srgbClr val="000000"/>
                </a:solidFill>
                <a:latin typeface="Consolas" panose="020B0609020204030204" pitchFamily="49" charset="0"/>
              </a:rPr>
              <a:t>;</a:t>
            </a:r>
            <a:endParaRPr lang="en-US" altLang="en-US" sz="4000" dirty="0">
              <a:latin typeface="Arial" panose="020B0604020202020204" pitchFamily="34" charset="0"/>
            </a:endParaRPr>
          </a:p>
          <a:p>
            <a:pPr marL="0" indent="0">
              <a:buNone/>
            </a:pPr>
            <a:endParaRPr lang="en-GB" dirty="0"/>
          </a:p>
        </p:txBody>
      </p:sp>
      <p:sp>
        <p:nvSpPr>
          <p:cNvPr id="7" name="Text Placeholder 4">
            <a:extLst>
              <a:ext uri="{FF2B5EF4-FFF2-40B4-BE49-F238E27FC236}">
                <a16:creationId xmlns:a16="http://schemas.microsoft.com/office/drawing/2014/main" id="{4F13AA94-9389-A23C-9F7B-78D9F5F9BC32}"/>
              </a:ext>
            </a:extLst>
          </p:cNvPr>
          <p:cNvSpPr txBox="1">
            <a:spLocks/>
          </p:cNvSpPr>
          <p:nvPr/>
        </p:nvSpPr>
        <p:spPr>
          <a:xfrm>
            <a:off x="3607738" y="5608953"/>
            <a:ext cx="4976525" cy="823912"/>
          </a:xfrm>
          <a:prstGeom prst="rect">
            <a:avLst/>
          </a:prstGeom>
        </p:spPr>
        <p:txBody>
          <a:bodyPr vert="horz" lIns="91440" tIns="45720" rIns="91440" bIns="45720" rtlCol="0" anchor="b">
            <a:normAutofit/>
          </a:bodyPr>
          <a:lstStyle>
            <a:lvl1pPr marL="0" indent="0" algn="l" defTabSz="914400" rtl="0" eaLnBrk="1" latinLnBrk="0" hangingPunct="1">
              <a:lnSpc>
                <a:spcPct val="120000"/>
              </a:lnSpc>
              <a:spcBef>
                <a:spcPts val="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120000"/>
              </a:lnSpc>
              <a:spcBef>
                <a:spcPts val="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20000"/>
              </a:lnSpc>
              <a:spcBef>
                <a:spcPts val="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20000"/>
              </a:lnSpc>
              <a:spcBef>
                <a:spcPts val="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20000"/>
              </a:lnSpc>
              <a:spcBef>
                <a:spcPts val="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GB" sz="3600" dirty="0"/>
              <a:t>Step 3 </a:t>
            </a:r>
            <a:r>
              <a:rPr lang="en-GB" sz="3600" dirty="0">
                <a:solidFill>
                  <a:srgbClr val="7030A0"/>
                </a:solidFill>
              </a:rPr>
              <a:t>– </a:t>
            </a:r>
          </a:p>
        </p:txBody>
      </p:sp>
    </p:spTree>
    <p:extLst>
      <p:ext uri="{BB962C8B-B14F-4D97-AF65-F5344CB8AC3E}">
        <p14:creationId xmlns:p14="http://schemas.microsoft.com/office/powerpoint/2010/main" val="328941127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7F073F-C049-47E9-959D-70C4FC9FE669}"/>
              </a:ext>
            </a:extLst>
          </p:cNvPr>
          <p:cNvSpPr>
            <a:spLocks noGrp="1"/>
          </p:cNvSpPr>
          <p:nvPr>
            <p:ph type="title"/>
          </p:nvPr>
        </p:nvSpPr>
        <p:spPr/>
        <p:txBody>
          <a:bodyPr/>
          <a:lstStyle/>
          <a:p>
            <a:r>
              <a:rPr lang="en-GB" dirty="0"/>
              <a:t>SQL Queries - Overview</a:t>
            </a:r>
          </a:p>
        </p:txBody>
      </p:sp>
      <p:sp>
        <p:nvSpPr>
          <p:cNvPr id="5" name="TextBox 4">
            <a:extLst>
              <a:ext uri="{FF2B5EF4-FFF2-40B4-BE49-F238E27FC236}">
                <a16:creationId xmlns:a16="http://schemas.microsoft.com/office/drawing/2014/main" id="{BAA89BB4-3AB4-4ECE-8A4E-BAE9D9416378}"/>
              </a:ext>
            </a:extLst>
          </p:cNvPr>
          <p:cNvSpPr txBox="1"/>
          <p:nvPr/>
        </p:nvSpPr>
        <p:spPr>
          <a:xfrm>
            <a:off x="838200" y="1686391"/>
            <a:ext cx="6296917" cy="2400657"/>
          </a:xfrm>
          <a:prstGeom prst="rect">
            <a:avLst/>
          </a:prstGeom>
          <a:noFill/>
        </p:spPr>
        <p:txBody>
          <a:bodyPr wrap="none" rtlCol="0">
            <a:spAutoFit/>
          </a:bodyPr>
          <a:lstStyle/>
          <a:p>
            <a:r>
              <a:rPr lang="en-GB" sz="2800" b="1" dirty="0">
                <a:solidFill>
                  <a:srgbClr val="0070C0"/>
                </a:solidFill>
              </a:rPr>
              <a:t>View</a:t>
            </a:r>
          </a:p>
          <a:p>
            <a:endParaRPr lang="en-GB" sz="1000" dirty="0"/>
          </a:p>
          <a:p>
            <a:r>
              <a:rPr lang="en-GB" sz="2800" dirty="0">
                <a:latin typeface="Consolas" panose="020B0609020204030204" pitchFamily="49" charset="0"/>
              </a:rPr>
              <a:t>SELECT field(s)</a:t>
            </a:r>
          </a:p>
          <a:p>
            <a:r>
              <a:rPr lang="en-GB" sz="2800" dirty="0">
                <a:latin typeface="Consolas" panose="020B0609020204030204" pitchFamily="49" charset="0"/>
              </a:rPr>
              <a:t>  FROM Table(s)</a:t>
            </a:r>
          </a:p>
          <a:p>
            <a:r>
              <a:rPr lang="en-GB" sz="2800" dirty="0">
                <a:latin typeface="Consolas" panose="020B0609020204030204" pitchFamily="49" charset="0"/>
              </a:rPr>
              <a:t>  </a:t>
            </a:r>
            <a:r>
              <a:rPr lang="en-GB" sz="2800" i="1" dirty="0">
                <a:latin typeface="Consolas" panose="020B0609020204030204" pitchFamily="49" charset="0"/>
              </a:rPr>
              <a:t>WHERE condition(s) </a:t>
            </a:r>
            <a:r>
              <a:rPr lang="en-GB" sz="2800" b="1" i="1" dirty="0" err="1">
                <a:solidFill>
                  <a:srgbClr val="00B050"/>
                </a:solidFill>
                <a:latin typeface="Consolas" panose="020B0609020204030204" pitchFamily="49" charset="0"/>
              </a:rPr>
              <a:t>equi</a:t>
            </a:r>
            <a:r>
              <a:rPr lang="en-GB" sz="2800" b="1" i="1" dirty="0">
                <a:solidFill>
                  <a:srgbClr val="00B050"/>
                </a:solidFill>
                <a:latin typeface="Consolas" panose="020B0609020204030204" pitchFamily="49" charset="0"/>
              </a:rPr>
              <a:t>-join?</a:t>
            </a:r>
            <a:endParaRPr lang="en-GB" sz="2800" b="1" i="1" dirty="0">
              <a:latin typeface="Consolas" panose="020B0609020204030204" pitchFamily="49" charset="0"/>
            </a:endParaRPr>
          </a:p>
          <a:p>
            <a:r>
              <a:rPr lang="en-GB" sz="2800" i="1" dirty="0">
                <a:latin typeface="Consolas" panose="020B0609020204030204" pitchFamily="49" charset="0"/>
              </a:rPr>
              <a:t>  ORDER BY field(s) ASC </a:t>
            </a:r>
            <a:r>
              <a:rPr lang="en-GB" sz="2800" i="1" dirty="0">
                <a:solidFill>
                  <a:srgbClr val="7030A0"/>
                </a:solidFill>
                <a:latin typeface="Consolas" panose="020B0609020204030204" pitchFamily="49" charset="0"/>
              </a:rPr>
              <a:t>|</a:t>
            </a:r>
            <a:r>
              <a:rPr lang="en-GB" sz="2800" i="1" dirty="0">
                <a:latin typeface="Consolas" panose="020B0609020204030204" pitchFamily="49" charset="0"/>
              </a:rPr>
              <a:t> DESC</a:t>
            </a:r>
            <a:r>
              <a:rPr lang="en-GB" sz="2800" dirty="0">
                <a:latin typeface="Consolas" panose="020B0609020204030204" pitchFamily="49" charset="0"/>
              </a:rPr>
              <a:t>;</a:t>
            </a:r>
          </a:p>
        </p:txBody>
      </p:sp>
      <p:sp>
        <p:nvSpPr>
          <p:cNvPr id="6" name="TextBox 5">
            <a:extLst>
              <a:ext uri="{FF2B5EF4-FFF2-40B4-BE49-F238E27FC236}">
                <a16:creationId xmlns:a16="http://schemas.microsoft.com/office/drawing/2014/main" id="{194818A1-3C4F-43CB-A0EC-9F156FA116B6}"/>
              </a:ext>
            </a:extLst>
          </p:cNvPr>
          <p:cNvSpPr txBox="1"/>
          <p:nvPr/>
        </p:nvSpPr>
        <p:spPr>
          <a:xfrm>
            <a:off x="7817254" y="1686390"/>
            <a:ext cx="3536546" cy="2400657"/>
          </a:xfrm>
          <a:prstGeom prst="rect">
            <a:avLst/>
          </a:prstGeom>
          <a:noFill/>
        </p:spPr>
        <p:txBody>
          <a:bodyPr wrap="none" rtlCol="0">
            <a:spAutoFit/>
          </a:bodyPr>
          <a:lstStyle/>
          <a:p>
            <a:r>
              <a:rPr lang="en-GB" sz="2800" b="1" dirty="0">
                <a:solidFill>
                  <a:srgbClr val="0070C0"/>
                </a:solidFill>
              </a:rPr>
              <a:t>Add</a:t>
            </a:r>
          </a:p>
          <a:p>
            <a:endParaRPr lang="en-GB" sz="1000" dirty="0"/>
          </a:p>
          <a:p>
            <a:r>
              <a:rPr lang="en-GB" sz="2800" dirty="0">
                <a:latin typeface="Consolas" panose="020B0609020204030204" pitchFamily="49" charset="0"/>
              </a:rPr>
              <a:t>INSERT INTO Table</a:t>
            </a:r>
          </a:p>
          <a:p>
            <a:r>
              <a:rPr lang="en-GB" sz="2800" dirty="0">
                <a:latin typeface="Consolas" panose="020B0609020204030204" pitchFamily="49" charset="0"/>
              </a:rPr>
              <a:t>  VALUES (…);</a:t>
            </a:r>
          </a:p>
          <a:p>
            <a:endParaRPr lang="en-GB" sz="2800" dirty="0">
              <a:latin typeface="Consolas" panose="020B0609020204030204" pitchFamily="49" charset="0"/>
            </a:endParaRPr>
          </a:p>
          <a:p>
            <a:pPr algn="ctr"/>
            <a:r>
              <a:rPr lang="en-GB" sz="2800" b="1" dirty="0">
                <a:solidFill>
                  <a:srgbClr val="00B050"/>
                </a:solidFill>
                <a:latin typeface="Consolas" panose="020B0609020204030204" pitchFamily="49" charset="0"/>
              </a:rPr>
              <a:t>(+ variations)</a:t>
            </a:r>
          </a:p>
        </p:txBody>
      </p:sp>
      <p:sp>
        <p:nvSpPr>
          <p:cNvPr id="7" name="TextBox 6">
            <a:extLst>
              <a:ext uri="{FF2B5EF4-FFF2-40B4-BE49-F238E27FC236}">
                <a16:creationId xmlns:a16="http://schemas.microsoft.com/office/drawing/2014/main" id="{A7748392-0430-47F2-9A73-6449587C132E}"/>
              </a:ext>
            </a:extLst>
          </p:cNvPr>
          <p:cNvSpPr txBox="1"/>
          <p:nvPr/>
        </p:nvSpPr>
        <p:spPr>
          <a:xfrm>
            <a:off x="838200" y="4461550"/>
            <a:ext cx="5113900" cy="2031325"/>
          </a:xfrm>
          <a:prstGeom prst="rect">
            <a:avLst/>
          </a:prstGeom>
          <a:noFill/>
        </p:spPr>
        <p:txBody>
          <a:bodyPr wrap="none" rtlCol="0">
            <a:spAutoFit/>
          </a:bodyPr>
          <a:lstStyle/>
          <a:p>
            <a:r>
              <a:rPr lang="en-GB" sz="2800" b="1" dirty="0">
                <a:solidFill>
                  <a:srgbClr val="0070C0"/>
                </a:solidFill>
              </a:rPr>
              <a:t>Modify - </a:t>
            </a:r>
            <a:r>
              <a:rPr lang="en-GB" sz="2800" b="1" dirty="0">
                <a:solidFill>
                  <a:srgbClr val="FF0000"/>
                </a:solidFill>
              </a:rPr>
              <a:t>Danger!</a:t>
            </a:r>
            <a:endParaRPr lang="en-GB" sz="2800" b="1" dirty="0">
              <a:solidFill>
                <a:srgbClr val="0070C0"/>
              </a:solidFill>
            </a:endParaRPr>
          </a:p>
          <a:p>
            <a:endParaRPr lang="en-GB" sz="1000" dirty="0"/>
          </a:p>
          <a:p>
            <a:r>
              <a:rPr lang="en-GB" sz="2800" dirty="0">
                <a:latin typeface="Consolas" panose="020B0609020204030204" pitchFamily="49" charset="0"/>
              </a:rPr>
              <a:t>UPDATE Table</a:t>
            </a:r>
          </a:p>
          <a:p>
            <a:r>
              <a:rPr lang="en-GB" sz="2800" dirty="0">
                <a:latin typeface="Consolas" panose="020B0609020204030204" pitchFamily="49" charset="0"/>
              </a:rPr>
              <a:t>  SET field(s) = value(s)</a:t>
            </a:r>
          </a:p>
          <a:p>
            <a:r>
              <a:rPr lang="en-GB" sz="2800" dirty="0">
                <a:latin typeface="Consolas" panose="020B0609020204030204" pitchFamily="49" charset="0"/>
              </a:rPr>
              <a:t>  </a:t>
            </a:r>
            <a:r>
              <a:rPr lang="en-GB" sz="2800" i="1" dirty="0">
                <a:latin typeface="Consolas" panose="020B0609020204030204" pitchFamily="49" charset="0"/>
              </a:rPr>
              <a:t>WHERE condition(s)</a:t>
            </a:r>
            <a:r>
              <a:rPr lang="en-GB" sz="2800" dirty="0">
                <a:latin typeface="Consolas" panose="020B0609020204030204" pitchFamily="49" charset="0"/>
              </a:rPr>
              <a:t>;</a:t>
            </a:r>
          </a:p>
        </p:txBody>
      </p:sp>
      <p:sp>
        <p:nvSpPr>
          <p:cNvPr id="8" name="TextBox 7">
            <a:extLst>
              <a:ext uri="{FF2B5EF4-FFF2-40B4-BE49-F238E27FC236}">
                <a16:creationId xmlns:a16="http://schemas.microsoft.com/office/drawing/2014/main" id="{8E9F13E4-7830-4921-B255-D2BF3B973DB4}"/>
              </a:ext>
            </a:extLst>
          </p:cNvPr>
          <p:cNvSpPr txBox="1"/>
          <p:nvPr/>
        </p:nvSpPr>
        <p:spPr>
          <a:xfrm>
            <a:off x="7028577" y="4461550"/>
            <a:ext cx="4325223" cy="1538883"/>
          </a:xfrm>
          <a:prstGeom prst="rect">
            <a:avLst/>
          </a:prstGeom>
          <a:noFill/>
        </p:spPr>
        <p:txBody>
          <a:bodyPr wrap="none" rtlCol="0">
            <a:spAutoFit/>
          </a:bodyPr>
          <a:lstStyle/>
          <a:p>
            <a:r>
              <a:rPr lang="en-GB" sz="2800" b="1" dirty="0">
                <a:solidFill>
                  <a:srgbClr val="0070C0"/>
                </a:solidFill>
              </a:rPr>
              <a:t>Remove - </a:t>
            </a:r>
            <a:r>
              <a:rPr lang="en-GB" sz="2800" b="1" dirty="0">
                <a:solidFill>
                  <a:srgbClr val="FF0000"/>
                </a:solidFill>
              </a:rPr>
              <a:t>Danger!</a:t>
            </a:r>
            <a:endParaRPr lang="en-GB" sz="2800" b="1" dirty="0">
              <a:solidFill>
                <a:srgbClr val="0070C0"/>
              </a:solidFill>
            </a:endParaRPr>
          </a:p>
          <a:p>
            <a:endParaRPr lang="en-GB" sz="1000" dirty="0"/>
          </a:p>
          <a:p>
            <a:r>
              <a:rPr lang="en-GB" sz="2800" dirty="0">
                <a:latin typeface="Consolas" panose="020B0609020204030204" pitchFamily="49" charset="0"/>
              </a:rPr>
              <a:t>DELETE FROM Table</a:t>
            </a:r>
          </a:p>
          <a:p>
            <a:r>
              <a:rPr lang="en-GB" sz="2800" dirty="0">
                <a:latin typeface="Consolas" panose="020B0609020204030204" pitchFamily="49" charset="0"/>
              </a:rPr>
              <a:t>  </a:t>
            </a:r>
            <a:r>
              <a:rPr lang="en-GB" sz="2800" i="1" dirty="0">
                <a:latin typeface="Consolas" panose="020B0609020204030204" pitchFamily="49" charset="0"/>
              </a:rPr>
              <a:t>WHERE condition(s)</a:t>
            </a:r>
            <a:r>
              <a:rPr lang="en-GB" sz="2800" dirty="0">
                <a:latin typeface="Consolas" panose="020B0609020204030204" pitchFamily="49" charset="0"/>
              </a:rPr>
              <a:t>;</a:t>
            </a:r>
          </a:p>
        </p:txBody>
      </p:sp>
      <p:sp>
        <p:nvSpPr>
          <p:cNvPr id="9" name="TextBox 8">
            <a:extLst>
              <a:ext uri="{FF2B5EF4-FFF2-40B4-BE49-F238E27FC236}">
                <a16:creationId xmlns:a16="http://schemas.microsoft.com/office/drawing/2014/main" id="{D90CCF84-79A0-4860-8BAA-EEB57D73FB33}"/>
              </a:ext>
            </a:extLst>
          </p:cNvPr>
          <p:cNvSpPr txBox="1"/>
          <p:nvPr/>
        </p:nvSpPr>
        <p:spPr>
          <a:xfrm>
            <a:off x="5952100" y="6231265"/>
            <a:ext cx="5705408" cy="523220"/>
          </a:xfrm>
          <a:prstGeom prst="rect">
            <a:avLst/>
          </a:prstGeom>
          <a:noFill/>
        </p:spPr>
        <p:txBody>
          <a:bodyPr wrap="none" rtlCol="0">
            <a:spAutoFit/>
          </a:bodyPr>
          <a:lstStyle/>
          <a:p>
            <a:r>
              <a:rPr lang="en-GB" sz="2800" b="1" i="1" dirty="0">
                <a:solidFill>
                  <a:srgbClr val="7030A0"/>
                </a:solidFill>
                <a:latin typeface="Consolas" panose="020B0609020204030204" pitchFamily="49" charset="0"/>
              </a:rPr>
              <a:t>Italic = Optional SQL clause</a:t>
            </a:r>
          </a:p>
        </p:txBody>
      </p:sp>
    </p:spTree>
    <p:extLst>
      <p:ext uri="{BB962C8B-B14F-4D97-AF65-F5344CB8AC3E}">
        <p14:creationId xmlns:p14="http://schemas.microsoft.com/office/powerpoint/2010/main" val="2352829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750"/>
                                        <p:tgtEl>
                                          <p:spTgt spid="5">
                                            <p:txEl>
                                              <p:pRg st="2" end="2"/>
                                            </p:txEl>
                                          </p:spTgt>
                                        </p:tgtEl>
                                      </p:cBhvr>
                                    </p:animEffect>
                                  </p:childTnLst>
                                </p:cTn>
                              </p:par>
                            </p:childTnLst>
                          </p:cTn>
                        </p:par>
                        <p:par>
                          <p:cTn id="13" fill="hold">
                            <p:stCondLst>
                              <p:cond delay="750"/>
                            </p:stCondLst>
                            <p:childTnLst>
                              <p:par>
                                <p:cTn id="14" presetID="22" presetClass="entr" presetSubtype="8" fill="hold" grpId="0" nodeType="after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wipe(left)">
                                      <p:cBhvr>
                                        <p:cTn id="16" dur="750"/>
                                        <p:tgtEl>
                                          <p:spTgt spid="5">
                                            <p:txEl>
                                              <p:pRg st="3" end="3"/>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wipe(left)">
                                      <p:cBhvr>
                                        <p:cTn id="20" dur="1500"/>
                                        <p:tgtEl>
                                          <p:spTgt spid="5">
                                            <p:txEl>
                                              <p:pRg st="4" end="4"/>
                                            </p:txEl>
                                          </p:spTgt>
                                        </p:tgtEl>
                                      </p:cBhvr>
                                    </p:animEffect>
                                  </p:childTnLst>
                                </p:cTn>
                              </p:par>
                            </p:childTnLst>
                          </p:cTn>
                        </p:par>
                        <p:par>
                          <p:cTn id="21" fill="hold">
                            <p:stCondLst>
                              <p:cond delay="3000"/>
                            </p:stCondLst>
                            <p:childTnLst>
                              <p:par>
                                <p:cTn id="22" presetID="22" presetClass="entr" presetSubtype="8" fill="hold" grpId="0" nodeType="after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wipe(left)">
                                      <p:cBhvr>
                                        <p:cTn id="24" dur="1500"/>
                                        <p:tgtEl>
                                          <p:spTgt spid="5">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
                                            <p:txEl>
                                              <p:pRg st="0" end="0"/>
                                            </p:txEl>
                                          </p:spTgt>
                                        </p:tgtEl>
                                        <p:attrNameLst>
                                          <p:attrName>style.visibility</p:attrName>
                                        </p:attrNameLst>
                                      </p:cBhvr>
                                      <p:to>
                                        <p:strVal val="visible"/>
                                      </p:to>
                                    </p:set>
                                    <p:animEffect transition="in" filter="wipe(left)">
                                      <p:cBhvr>
                                        <p:cTn id="29" dur="500"/>
                                        <p:tgtEl>
                                          <p:spTgt spid="6">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6">
                                            <p:txEl>
                                              <p:pRg st="2" end="2"/>
                                            </p:txEl>
                                          </p:spTgt>
                                        </p:tgtEl>
                                        <p:attrNameLst>
                                          <p:attrName>style.visibility</p:attrName>
                                        </p:attrNameLst>
                                      </p:cBhvr>
                                      <p:to>
                                        <p:strVal val="visible"/>
                                      </p:to>
                                    </p:set>
                                    <p:animEffect transition="in" filter="wipe(left)">
                                      <p:cBhvr>
                                        <p:cTn id="34" dur="1000"/>
                                        <p:tgtEl>
                                          <p:spTgt spid="6">
                                            <p:txEl>
                                              <p:pRg st="2" end="2"/>
                                            </p:txEl>
                                          </p:spTgt>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6">
                                            <p:txEl>
                                              <p:pRg st="3" end="3"/>
                                            </p:txEl>
                                          </p:spTgt>
                                        </p:tgtEl>
                                        <p:attrNameLst>
                                          <p:attrName>style.visibility</p:attrName>
                                        </p:attrNameLst>
                                      </p:cBhvr>
                                      <p:to>
                                        <p:strVal val="visible"/>
                                      </p:to>
                                    </p:set>
                                    <p:animEffect transition="in" filter="wipe(left)">
                                      <p:cBhvr>
                                        <p:cTn id="38" dur="1000"/>
                                        <p:tgtEl>
                                          <p:spTgt spid="6">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6">
                                            <p:txEl>
                                              <p:pRg st="5" end="5"/>
                                            </p:txEl>
                                          </p:spTgt>
                                        </p:tgtEl>
                                        <p:attrNameLst>
                                          <p:attrName>style.visibility</p:attrName>
                                        </p:attrNameLst>
                                      </p:cBhvr>
                                      <p:to>
                                        <p:strVal val="visible"/>
                                      </p:to>
                                    </p:set>
                                    <p:animEffect transition="in" filter="wipe(left)">
                                      <p:cBhvr>
                                        <p:cTn id="43" dur="1000"/>
                                        <p:tgtEl>
                                          <p:spTgt spid="6">
                                            <p:txEl>
                                              <p:pRg st="5" end="5"/>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7">
                                            <p:txEl>
                                              <p:pRg st="0" end="0"/>
                                            </p:txEl>
                                          </p:spTgt>
                                        </p:tgtEl>
                                        <p:attrNameLst>
                                          <p:attrName>style.visibility</p:attrName>
                                        </p:attrNameLst>
                                      </p:cBhvr>
                                      <p:to>
                                        <p:strVal val="visible"/>
                                      </p:to>
                                    </p:set>
                                    <p:animEffect transition="in" filter="wipe(left)">
                                      <p:cBhvr>
                                        <p:cTn id="48" dur="1500"/>
                                        <p:tgtEl>
                                          <p:spTgt spid="7">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7">
                                            <p:txEl>
                                              <p:pRg st="2" end="2"/>
                                            </p:txEl>
                                          </p:spTgt>
                                        </p:tgtEl>
                                        <p:attrNameLst>
                                          <p:attrName>style.visibility</p:attrName>
                                        </p:attrNameLst>
                                      </p:cBhvr>
                                      <p:to>
                                        <p:strVal val="visible"/>
                                      </p:to>
                                    </p:set>
                                    <p:animEffect transition="in" filter="wipe(left)">
                                      <p:cBhvr>
                                        <p:cTn id="53" dur="750"/>
                                        <p:tgtEl>
                                          <p:spTgt spid="7">
                                            <p:txEl>
                                              <p:pRg st="2" end="2"/>
                                            </p:txEl>
                                          </p:spTgt>
                                        </p:tgtEl>
                                      </p:cBhvr>
                                    </p:animEffect>
                                  </p:childTnLst>
                                </p:cTn>
                              </p:par>
                            </p:childTnLst>
                          </p:cTn>
                        </p:par>
                        <p:par>
                          <p:cTn id="54" fill="hold">
                            <p:stCondLst>
                              <p:cond delay="750"/>
                            </p:stCondLst>
                            <p:childTnLst>
                              <p:par>
                                <p:cTn id="55" presetID="22" presetClass="entr" presetSubtype="8" fill="hold" grpId="0" nodeType="afterEffect">
                                  <p:stCondLst>
                                    <p:cond delay="0"/>
                                  </p:stCondLst>
                                  <p:childTnLst>
                                    <p:set>
                                      <p:cBhvr>
                                        <p:cTn id="56" dur="1" fill="hold">
                                          <p:stCondLst>
                                            <p:cond delay="0"/>
                                          </p:stCondLst>
                                        </p:cTn>
                                        <p:tgtEl>
                                          <p:spTgt spid="7">
                                            <p:txEl>
                                              <p:pRg st="3" end="3"/>
                                            </p:txEl>
                                          </p:spTgt>
                                        </p:tgtEl>
                                        <p:attrNameLst>
                                          <p:attrName>style.visibility</p:attrName>
                                        </p:attrNameLst>
                                      </p:cBhvr>
                                      <p:to>
                                        <p:strVal val="visible"/>
                                      </p:to>
                                    </p:set>
                                    <p:animEffect transition="in" filter="wipe(left)">
                                      <p:cBhvr>
                                        <p:cTn id="57" dur="1500"/>
                                        <p:tgtEl>
                                          <p:spTgt spid="7">
                                            <p:txEl>
                                              <p:pRg st="3" end="3"/>
                                            </p:txEl>
                                          </p:spTgt>
                                        </p:tgtEl>
                                      </p:cBhvr>
                                    </p:animEffect>
                                  </p:childTnLst>
                                </p:cTn>
                              </p:par>
                            </p:childTnLst>
                          </p:cTn>
                        </p:par>
                        <p:par>
                          <p:cTn id="58" fill="hold">
                            <p:stCondLst>
                              <p:cond delay="2250"/>
                            </p:stCondLst>
                            <p:childTnLst>
                              <p:par>
                                <p:cTn id="59" presetID="22" presetClass="entr" presetSubtype="8" fill="hold" grpId="0" nodeType="afterEffect">
                                  <p:stCondLst>
                                    <p:cond delay="0"/>
                                  </p:stCondLst>
                                  <p:childTnLst>
                                    <p:set>
                                      <p:cBhvr>
                                        <p:cTn id="60" dur="1" fill="hold">
                                          <p:stCondLst>
                                            <p:cond delay="0"/>
                                          </p:stCondLst>
                                        </p:cTn>
                                        <p:tgtEl>
                                          <p:spTgt spid="7">
                                            <p:txEl>
                                              <p:pRg st="4" end="4"/>
                                            </p:txEl>
                                          </p:spTgt>
                                        </p:tgtEl>
                                        <p:attrNameLst>
                                          <p:attrName>style.visibility</p:attrName>
                                        </p:attrNameLst>
                                      </p:cBhvr>
                                      <p:to>
                                        <p:strVal val="visible"/>
                                      </p:to>
                                    </p:set>
                                    <p:animEffect transition="in" filter="wipe(left)">
                                      <p:cBhvr>
                                        <p:cTn id="61" dur="1250"/>
                                        <p:tgtEl>
                                          <p:spTgt spid="7">
                                            <p:txEl>
                                              <p:pRg st="4" end="4"/>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8">
                                            <p:txEl>
                                              <p:pRg st="0" end="0"/>
                                            </p:txEl>
                                          </p:spTgt>
                                        </p:tgtEl>
                                        <p:attrNameLst>
                                          <p:attrName>style.visibility</p:attrName>
                                        </p:attrNameLst>
                                      </p:cBhvr>
                                      <p:to>
                                        <p:strVal val="visible"/>
                                      </p:to>
                                    </p:set>
                                    <p:animEffect transition="in" filter="wipe(left)">
                                      <p:cBhvr>
                                        <p:cTn id="66" dur="1500"/>
                                        <p:tgtEl>
                                          <p:spTgt spid="8">
                                            <p:txEl>
                                              <p:pRg st="0" end="0"/>
                                            </p:txEl>
                                          </p:spTgt>
                                        </p:tgtEl>
                                      </p:cBhvr>
                                    </p:animEffect>
                                  </p:childTnLst>
                                </p:cTn>
                              </p:par>
                            </p:childTnLst>
                          </p:cTn>
                        </p:par>
                        <p:par>
                          <p:cTn id="67" fill="hold">
                            <p:stCondLst>
                              <p:cond delay="1500"/>
                            </p:stCondLst>
                            <p:childTnLst>
                              <p:par>
                                <p:cTn id="68" presetID="22" presetClass="entr" presetSubtype="8" fill="hold" grpId="0" nodeType="afterEffect">
                                  <p:stCondLst>
                                    <p:cond delay="0"/>
                                  </p:stCondLst>
                                  <p:childTnLst>
                                    <p:set>
                                      <p:cBhvr>
                                        <p:cTn id="69" dur="1" fill="hold">
                                          <p:stCondLst>
                                            <p:cond delay="0"/>
                                          </p:stCondLst>
                                        </p:cTn>
                                        <p:tgtEl>
                                          <p:spTgt spid="8">
                                            <p:txEl>
                                              <p:pRg st="2" end="2"/>
                                            </p:txEl>
                                          </p:spTgt>
                                        </p:tgtEl>
                                        <p:attrNameLst>
                                          <p:attrName>style.visibility</p:attrName>
                                        </p:attrNameLst>
                                      </p:cBhvr>
                                      <p:to>
                                        <p:strVal val="visible"/>
                                      </p:to>
                                    </p:set>
                                    <p:animEffect transition="in" filter="wipe(left)">
                                      <p:cBhvr>
                                        <p:cTn id="70" dur="1500"/>
                                        <p:tgtEl>
                                          <p:spTgt spid="8">
                                            <p:txEl>
                                              <p:pRg st="2" end="2"/>
                                            </p:txEl>
                                          </p:spTgt>
                                        </p:tgtEl>
                                      </p:cBhvr>
                                    </p:animEffect>
                                  </p:childTnLst>
                                </p:cTn>
                              </p:par>
                            </p:childTnLst>
                          </p:cTn>
                        </p:par>
                        <p:par>
                          <p:cTn id="71" fill="hold">
                            <p:stCondLst>
                              <p:cond delay="3000"/>
                            </p:stCondLst>
                            <p:childTnLst>
                              <p:par>
                                <p:cTn id="72" presetID="22" presetClass="entr" presetSubtype="8" fill="hold" grpId="0" nodeType="afterEffect">
                                  <p:stCondLst>
                                    <p:cond delay="0"/>
                                  </p:stCondLst>
                                  <p:childTnLst>
                                    <p:set>
                                      <p:cBhvr>
                                        <p:cTn id="73" dur="1" fill="hold">
                                          <p:stCondLst>
                                            <p:cond delay="0"/>
                                          </p:stCondLst>
                                        </p:cTn>
                                        <p:tgtEl>
                                          <p:spTgt spid="8">
                                            <p:txEl>
                                              <p:pRg st="3" end="3"/>
                                            </p:txEl>
                                          </p:spTgt>
                                        </p:tgtEl>
                                        <p:attrNameLst>
                                          <p:attrName>style.visibility</p:attrName>
                                        </p:attrNameLst>
                                      </p:cBhvr>
                                      <p:to>
                                        <p:strVal val="visible"/>
                                      </p:to>
                                    </p:set>
                                    <p:animEffect transition="in" filter="wipe(left)">
                                      <p:cBhvr>
                                        <p:cTn id="74" dur="1500"/>
                                        <p:tgtEl>
                                          <p:spTgt spid="8">
                                            <p:txEl>
                                              <p:pRg st="3" end="3"/>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9">
                                            <p:txEl>
                                              <p:pRg st="0" end="0"/>
                                            </p:txEl>
                                          </p:spTgt>
                                        </p:tgtEl>
                                        <p:attrNameLst>
                                          <p:attrName>style.visibility</p:attrName>
                                        </p:attrNameLst>
                                      </p:cBhvr>
                                      <p:to>
                                        <p:strVal val="visible"/>
                                      </p:to>
                                    </p:set>
                                    <p:animEffect transition="in" filter="wipe(left)">
                                      <p:cBhvr>
                                        <p:cTn id="79" dur="2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uiExpand="1" build="p"/>
      <p:bldP spid="7" grpId="0" uiExpand="1" build="p"/>
      <p:bldP spid="8" grpId="0" uiExpand="1" build="p"/>
      <p:bldP spid="9" grpId="0" uiExpand="1" build="p"/>
    </p:bldLst>
  </p:timing>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7F073F-C049-47E9-959D-70C4FC9FE669}"/>
              </a:ext>
            </a:extLst>
          </p:cNvPr>
          <p:cNvSpPr>
            <a:spLocks noGrp="1"/>
          </p:cNvSpPr>
          <p:nvPr>
            <p:ph type="title"/>
          </p:nvPr>
        </p:nvSpPr>
        <p:spPr/>
        <p:txBody>
          <a:bodyPr/>
          <a:lstStyle/>
          <a:p>
            <a:r>
              <a:rPr lang="en-GB" dirty="0"/>
              <a:t>SQL Queries - Overview</a:t>
            </a:r>
          </a:p>
        </p:txBody>
      </p:sp>
      <p:sp>
        <p:nvSpPr>
          <p:cNvPr id="5" name="TextBox 4">
            <a:extLst>
              <a:ext uri="{FF2B5EF4-FFF2-40B4-BE49-F238E27FC236}">
                <a16:creationId xmlns:a16="http://schemas.microsoft.com/office/drawing/2014/main" id="{BAA89BB4-3AB4-4ECE-8A4E-BAE9D9416378}"/>
              </a:ext>
            </a:extLst>
          </p:cNvPr>
          <p:cNvSpPr txBox="1"/>
          <p:nvPr/>
        </p:nvSpPr>
        <p:spPr>
          <a:xfrm>
            <a:off x="838200" y="1686391"/>
            <a:ext cx="6296917" cy="2400657"/>
          </a:xfrm>
          <a:prstGeom prst="rect">
            <a:avLst/>
          </a:prstGeom>
          <a:noFill/>
        </p:spPr>
        <p:txBody>
          <a:bodyPr wrap="none" rtlCol="0">
            <a:spAutoFit/>
          </a:bodyPr>
          <a:lstStyle/>
          <a:p>
            <a:endParaRPr lang="en-GB" sz="2800" b="1" dirty="0">
              <a:solidFill>
                <a:srgbClr val="7030A0"/>
              </a:solidFill>
            </a:endParaRPr>
          </a:p>
          <a:p>
            <a:endParaRPr lang="en-GB" sz="1000" dirty="0"/>
          </a:p>
          <a:p>
            <a:r>
              <a:rPr lang="en-GB" sz="2800" dirty="0">
                <a:latin typeface="Consolas" panose="020B0609020204030204" pitchFamily="49" charset="0"/>
              </a:rPr>
              <a:t>SELECT field(s)</a:t>
            </a:r>
          </a:p>
          <a:p>
            <a:r>
              <a:rPr lang="en-GB" sz="2800" dirty="0">
                <a:latin typeface="Consolas" panose="020B0609020204030204" pitchFamily="49" charset="0"/>
              </a:rPr>
              <a:t>  FROM Table(s)</a:t>
            </a:r>
          </a:p>
          <a:p>
            <a:r>
              <a:rPr lang="en-GB" sz="2800" dirty="0">
                <a:latin typeface="Consolas" panose="020B0609020204030204" pitchFamily="49" charset="0"/>
              </a:rPr>
              <a:t>  </a:t>
            </a:r>
            <a:r>
              <a:rPr lang="en-GB" sz="2800" i="1" dirty="0">
                <a:latin typeface="Consolas" panose="020B0609020204030204" pitchFamily="49" charset="0"/>
              </a:rPr>
              <a:t>WHERE condition(s)</a:t>
            </a:r>
          </a:p>
          <a:p>
            <a:r>
              <a:rPr lang="en-GB" sz="2800" i="1" dirty="0">
                <a:latin typeface="Consolas" panose="020B0609020204030204" pitchFamily="49" charset="0"/>
              </a:rPr>
              <a:t>  ORDER BY field(s) ASC </a:t>
            </a:r>
            <a:r>
              <a:rPr lang="en-GB" sz="2800" i="1" dirty="0">
                <a:solidFill>
                  <a:srgbClr val="7030A0"/>
                </a:solidFill>
                <a:latin typeface="Consolas" panose="020B0609020204030204" pitchFamily="49" charset="0"/>
              </a:rPr>
              <a:t>|</a:t>
            </a:r>
            <a:r>
              <a:rPr lang="en-GB" sz="2800" i="1" dirty="0">
                <a:latin typeface="Consolas" panose="020B0609020204030204" pitchFamily="49" charset="0"/>
              </a:rPr>
              <a:t> DESC</a:t>
            </a:r>
            <a:r>
              <a:rPr lang="en-GB" sz="2800" dirty="0">
                <a:latin typeface="Consolas" panose="020B0609020204030204" pitchFamily="49" charset="0"/>
              </a:rPr>
              <a:t>;</a:t>
            </a:r>
          </a:p>
        </p:txBody>
      </p:sp>
      <p:sp>
        <p:nvSpPr>
          <p:cNvPr id="6" name="TextBox 5">
            <a:extLst>
              <a:ext uri="{FF2B5EF4-FFF2-40B4-BE49-F238E27FC236}">
                <a16:creationId xmlns:a16="http://schemas.microsoft.com/office/drawing/2014/main" id="{194818A1-3C4F-43CB-A0EC-9F156FA116B6}"/>
              </a:ext>
            </a:extLst>
          </p:cNvPr>
          <p:cNvSpPr txBox="1"/>
          <p:nvPr/>
        </p:nvSpPr>
        <p:spPr>
          <a:xfrm>
            <a:off x="7817254" y="1686390"/>
            <a:ext cx="3536546" cy="2400657"/>
          </a:xfrm>
          <a:prstGeom prst="rect">
            <a:avLst/>
          </a:prstGeom>
          <a:noFill/>
        </p:spPr>
        <p:txBody>
          <a:bodyPr wrap="none" rtlCol="0">
            <a:spAutoFit/>
          </a:bodyPr>
          <a:lstStyle/>
          <a:p>
            <a:endParaRPr lang="en-GB" sz="2800" b="1" dirty="0">
              <a:solidFill>
                <a:srgbClr val="7030A0"/>
              </a:solidFill>
            </a:endParaRPr>
          </a:p>
          <a:p>
            <a:endParaRPr lang="en-GB" sz="1000" dirty="0"/>
          </a:p>
          <a:p>
            <a:r>
              <a:rPr lang="en-GB" sz="2800" dirty="0">
                <a:latin typeface="Consolas" panose="020B0609020204030204" pitchFamily="49" charset="0"/>
              </a:rPr>
              <a:t>INSERT INTO Table</a:t>
            </a:r>
          </a:p>
          <a:p>
            <a:r>
              <a:rPr lang="en-GB" sz="2800" dirty="0">
                <a:latin typeface="Consolas" panose="020B0609020204030204" pitchFamily="49" charset="0"/>
              </a:rPr>
              <a:t>  VALUES (…);</a:t>
            </a:r>
          </a:p>
          <a:p>
            <a:endParaRPr lang="en-GB" sz="2800" dirty="0">
              <a:latin typeface="Consolas" panose="020B0609020204030204" pitchFamily="49" charset="0"/>
            </a:endParaRPr>
          </a:p>
          <a:p>
            <a:pPr algn="ctr"/>
            <a:endParaRPr lang="en-GB" sz="2800" dirty="0">
              <a:solidFill>
                <a:srgbClr val="00B050"/>
              </a:solidFill>
              <a:latin typeface="Consolas" panose="020B0609020204030204" pitchFamily="49" charset="0"/>
            </a:endParaRPr>
          </a:p>
        </p:txBody>
      </p:sp>
      <p:sp>
        <p:nvSpPr>
          <p:cNvPr id="7" name="TextBox 6">
            <a:extLst>
              <a:ext uri="{FF2B5EF4-FFF2-40B4-BE49-F238E27FC236}">
                <a16:creationId xmlns:a16="http://schemas.microsoft.com/office/drawing/2014/main" id="{A7748392-0430-47F2-9A73-6449587C132E}"/>
              </a:ext>
            </a:extLst>
          </p:cNvPr>
          <p:cNvSpPr txBox="1"/>
          <p:nvPr/>
        </p:nvSpPr>
        <p:spPr>
          <a:xfrm>
            <a:off x="838200" y="4461550"/>
            <a:ext cx="5113900" cy="2031325"/>
          </a:xfrm>
          <a:prstGeom prst="rect">
            <a:avLst/>
          </a:prstGeom>
          <a:noFill/>
        </p:spPr>
        <p:txBody>
          <a:bodyPr wrap="none" rtlCol="0">
            <a:spAutoFit/>
          </a:bodyPr>
          <a:lstStyle/>
          <a:p>
            <a:endParaRPr lang="en-GB" sz="2800" b="1" dirty="0">
              <a:solidFill>
                <a:srgbClr val="FF0000"/>
              </a:solidFill>
            </a:endParaRPr>
          </a:p>
          <a:p>
            <a:endParaRPr lang="en-GB" sz="1000" dirty="0"/>
          </a:p>
          <a:p>
            <a:r>
              <a:rPr lang="en-GB" sz="2800" dirty="0">
                <a:latin typeface="Consolas" panose="020B0609020204030204" pitchFamily="49" charset="0"/>
              </a:rPr>
              <a:t>UPDATE Table</a:t>
            </a:r>
          </a:p>
          <a:p>
            <a:r>
              <a:rPr lang="en-GB" sz="2800" dirty="0">
                <a:latin typeface="Consolas" panose="020B0609020204030204" pitchFamily="49" charset="0"/>
              </a:rPr>
              <a:t>  SET field(s) = value(s)</a:t>
            </a:r>
          </a:p>
          <a:p>
            <a:r>
              <a:rPr lang="en-GB" sz="2800" dirty="0">
                <a:latin typeface="Consolas" panose="020B0609020204030204" pitchFamily="49" charset="0"/>
              </a:rPr>
              <a:t>  </a:t>
            </a:r>
            <a:r>
              <a:rPr lang="en-GB" sz="2800" i="1" dirty="0">
                <a:latin typeface="Consolas" panose="020B0609020204030204" pitchFamily="49" charset="0"/>
              </a:rPr>
              <a:t>WHERE condition(s)</a:t>
            </a:r>
            <a:r>
              <a:rPr lang="en-GB" sz="2800" dirty="0">
                <a:latin typeface="Consolas" panose="020B0609020204030204" pitchFamily="49" charset="0"/>
              </a:rPr>
              <a:t>;</a:t>
            </a:r>
          </a:p>
        </p:txBody>
      </p:sp>
      <p:sp>
        <p:nvSpPr>
          <p:cNvPr id="8" name="TextBox 7">
            <a:extLst>
              <a:ext uri="{FF2B5EF4-FFF2-40B4-BE49-F238E27FC236}">
                <a16:creationId xmlns:a16="http://schemas.microsoft.com/office/drawing/2014/main" id="{8E9F13E4-7830-4921-B255-D2BF3B973DB4}"/>
              </a:ext>
            </a:extLst>
          </p:cNvPr>
          <p:cNvSpPr txBox="1"/>
          <p:nvPr/>
        </p:nvSpPr>
        <p:spPr>
          <a:xfrm>
            <a:off x="7028577" y="4461550"/>
            <a:ext cx="4325223" cy="1538883"/>
          </a:xfrm>
          <a:prstGeom prst="rect">
            <a:avLst/>
          </a:prstGeom>
          <a:noFill/>
        </p:spPr>
        <p:txBody>
          <a:bodyPr wrap="none" rtlCol="0">
            <a:spAutoFit/>
          </a:bodyPr>
          <a:lstStyle/>
          <a:p>
            <a:endParaRPr lang="en-GB" sz="2800" b="1" dirty="0">
              <a:solidFill>
                <a:srgbClr val="FF0000"/>
              </a:solidFill>
            </a:endParaRPr>
          </a:p>
          <a:p>
            <a:endParaRPr lang="en-GB" sz="1000" dirty="0"/>
          </a:p>
          <a:p>
            <a:r>
              <a:rPr lang="en-GB" sz="2800" dirty="0">
                <a:latin typeface="Consolas" panose="020B0609020204030204" pitchFamily="49" charset="0"/>
              </a:rPr>
              <a:t>DELETE FROM Table</a:t>
            </a:r>
          </a:p>
          <a:p>
            <a:r>
              <a:rPr lang="en-GB" sz="2800" dirty="0">
                <a:latin typeface="Consolas" panose="020B0609020204030204" pitchFamily="49" charset="0"/>
              </a:rPr>
              <a:t>  </a:t>
            </a:r>
            <a:r>
              <a:rPr lang="en-GB" sz="2800" i="1" dirty="0">
                <a:latin typeface="Consolas" panose="020B0609020204030204" pitchFamily="49" charset="0"/>
              </a:rPr>
              <a:t>WHERE condition(s);</a:t>
            </a:r>
          </a:p>
        </p:txBody>
      </p:sp>
    </p:spTree>
    <p:extLst>
      <p:ext uri="{BB962C8B-B14F-4D97-AF65-F5344CB8AC3E}">
        <p14:creationId xmlns:p14="http://schemas.microsoft.com/office/powerpoint/2010/main" val="14220006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Membership Task</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a:lnSpc>
                <a:spcPct val="120000"/>
              </a:lnSpc>
            </a:pPr>
            <a:r>
              <a:rPr lang="en-GB" sz="4200" dirty="0"/>
              <a:t>Complete the Membership tasks</a:t>
            </a:r>
          </a:p>
        </p:txBody>
      </p:sp>
    </p:spTree>
    <p:extLst>
      <p:ext uri="{BB962C8B-B14F-4D97-AF65-F5344CB8AC3E}">
        <p14:creationId xmlns:p14="http://schemas.microsoft.com/office/powerpoint/2010/main" val="393627584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Plan – N5 Year 2</a:t>
            </a:r>
          </a:p>
        </p:txBody>
      </p:sp>
      <p:graphicFrame>
        <p:nvGraphicFramePr>
          <p:cNvPr id="5" name="Content Placeholder 4"/>
          <p:cNvGraphicFramePr>
            <a:graphicFrameLocks noGrp="1"/>
          </p:cNvGraphicFramePr>
          <p:nvPr>
            <p:ph idx="1"/>
          </p:nvPr>
        </p:nvGraphicFramePr>
        <p:xfrm>
          <a:off x="2042160" y="1825625"/>
          <a:ext cx="810768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Straight Arrow Connector 3"/>
          <p:cNvCxnSpPr/>
          <p:nvPr/>
        </p:nvCxnSpPr>
        <p:spPr>
          <a:xfrm>
            <a:off x="762000" y="2994663"/>
            <a:ext cx="1080000" cy="0"/>
          </a:xfrm>
          <a:prstGeom prst="straightConnector1">
            <a:avLst/>
          </a:prstGeom>
          <a:ln w="762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10393680" y="2994663"/>
            <a:ext cx="1080000" cy="0"/>
          </a:xfrm>
          <a:prstGeom prst="straightConnector1">
            <a:avLst/>
          </a:prstGeom>
          <a:ln w="762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481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graphicEl>
                                              <a:dgm id="{DFA48299-B840-4714-A5F6-769C74D74113}"/>
                                            </p:graphicEl>
                                          </p:spTgt>
                                        </p:tgtEl>
                                        <p:attrNameLst>
                                          <p:attrName>style.visibility</p:attrName>
                                        </p:attrNameLst>
                                      </p:cBhvr>
                                      <p:to>
                                        <p:strVal val="visible"/>
                                      </p:to>
                                    </p:set>
                                    <p:animEffect transition="in" filter="wipe(left)">
                                      <p:cBhvr>
                                        <p:cTn id="7" dur="500"/>
                                        <p:tgtEl>
                                          <p:spTgt spid="5">
                                            <p:graphicEl>
                                              <a:dgm id="{DFA48299-B840-4714-A5F6-769C74D74113}"/>
                                            </p:graphic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graphicEl>
                                              <a:dgm id="{19C32B8D-512E-49A1-A0E6-109384C61E4D}"/>
                                            </p:graphicEl>
                                          </p:spTgt>
                                        </p:tgtEl>
                                        <p:attrNameLst>
                                          <p:attrName>style.visibility</p:attrName>
                                        </p:attrNameLst>
                                      </p:cBhvr>
                                      <p:to>
                                        <p:strVal val="visible"/>
                                      </p:to>
                                    </p:set>
                                    <p:animEffect transition="in" filter="wipe(left)">
                                      <p:cBhvr>
                                        <p:cTn id="11" dur="2000"/>
                                        <p:tgtEl>
                                          <p:spTgt spid="5">
                                            <p:graphicEl>
                                              <a:dgm id="{19C32B8D-512E-49A1-A0E6-109384C61E4D}"/>
                                            </p:graphic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
                                            <p:graphicEl>
                                              <a:dgm id="{AAD30B60-88C6-4919-B6DD-9F480459E84E}"/>
                                            </p:graphicEl>
                                          </p:spTgt>
                                        </p:tgtEl>
                                        <p:attrNameLst>
                                          <p:attrName>style.visibility</p:attrName>
                                        </p:attrNameLst>
                                      </p:cBhvr>
                                      <p:to>
                                        <p:strVal val="visible"/>
                                      </p:to>
                                    </p:set>
                                    <p:animEffect transition="in" filter="wipe(left)">
                                      <p:cBhvr>
                                        <p:cTn id="16" dur="500"/>
                                        <p:tgtEl>
                                          <p:spTgt spid="5">
                                            <p:graphicEl>
                                              <a:dgm id="{AAD30B60-88C6-4919-B6DD-9F480459E84E}"/>
                                            </p:graphicEl>
                                          </p:spTgt>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5">
                                            <p:graphicEl>
                                              <a:dgm id="{0DFDFC6D-8604-4378-B6A3-6A6720006C95}"/>
                                            </p:graphicEl>
                                          </p:spTgt>
                                        </p:tgtEl>
                                        <p:attrNameLst>
                                          <p:attrName>style.visibility</p:attrName>
                                        </p:attrNameLst>
                                      </p:cBhvr>
                                      <p:to>
                                        <p:strVal val="visible"/>
                                      </p:to>
                                    </p:set>
                                    <p:animEffect transition="in" filter="wipe(left)">
                                      <p:cBhvr>
                                        <p:cTn id="20" dur="2000"/>
                                        <p:tgtEl>
                                          <p:spTgt spid="5">
                                            <p:graphicEl>
                                              <a:dgm id="{0DFDFC6D-8604-4378-B6A3-6A6720006C95}"/>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
                                            <p:graphicEl>
                                              <a:dgm id="{17253025-0BE3-46B4-B2C8-BFD879D75B26}"/>
                                            </p:graphicEl>
                                          </p:spTgt>
                                        </p:tgtEl>
                                        <p:attrNameLst>
                                          <p:attrName>style.visibility</p:attrName>
                                        </p:attrNameLst>
                                      </p:cBhvr>
                                      <p:to>
                                        <p:strVal val="visible"/>
                                      </p:to>
                                    </p:set>
                                    <p:animEffect transition="in" filter="wipe(left)">
                                      <p:cBhvr>
                                        <p:cTn id="25" dur="500"/>
                                        <p:tgtEl>
                                          <p:spTgt spid="5">
                                            <p:graphicEl>
                                              <a:dgm id="{17253025-0BE3-46B4-B2C8-BFD879D75B26}"/>
                                            </p:graphicEl>
                                          </p:spTgt>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5">
                                            <p:graphicEl>
                                              <a:dgm id="{B2D4CD90-7709-4B59-AC85-D09667CFC12B}"/>
                                            </p:graphicEl>
                                          </p:spTgt>
                                        </p:tgtEl>
                                        <p:attrNameLst>
                                          <p:attrName>style.visibility</p:attrName>
                                        </p:attrNameLst>
                                      </p:cBhvr>
                                      <p:to>
                                        <p:strVal val="visible"/>
                                      </p:to>
                                    </p:set>
                                    <p:animEffect transition="in" filter="wipe(left)">
                                      <p:cBhvr>
                                        <p:cTn id="29" dur="2000"/>
                                        <p:tgtEl>
                                          <p:spTgt spid="5">
                                            <p:graphicEl>
                                              <a:dgm id="{B2D4CD90-7709-4B59-AC85-D09667CFC12B}"/>
                                            </p:graphic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
                                            <p:graphicEl>
                                              <a:dgm id="{056CCBB6-5CE0-4348-89C6-99FB2D3AB62B}"/>
                                            </p:graphicEl>
                                          </p:spTgt>
                                        </p:tgtEl>
                                        <p:attrNameLst>
                                          <p:attrName>style.visibility</p:attrName>
                                        </p:attrNameLst>
                                      </p:cBhvr>
                                      <p:to>
                                        <p:strVal val="visible"/>
                                      </p:to>
                                    </p:set>
                                    <p:animEffect transition="in" filter="wipe(left)">
                                      <p:cBhvr>
                                        <p:cTn id="34" dur="500"/>
                                        <p:tgtEl>
                                          <p:spTgt spid="5">
                                            <p:graphicEl>
                                              <a:dgm id="{056CCBB6-5CE0-4348-89C6-99FB2D3AB62B}"/>
                                            </p:graphicEl>
                                          </p:spTgt>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5">
                                            <p:graphicEl>
                                              <a:dgm id="{90709722-0E94-45E4-BEDD-48CB660682DD}"/>
                                            </p:graphicEl>
                                          </p:spTgt>
                                        </p:tgtEl>
                                        <p:attrNameLst>
                                          <p:attrName>style.visibility</p:attrName>
                                        </p:attrNameLst>
                                      </p:cBhvr>
                                      <p:to>
                                        <p:strVal val="visible"/>
                                      </p:to>
                                    </p:set>
                                    <p:animEffect transition="in" filter="wipe(left)">
                                      <p:cBhvr>
                                        <p:cTn id="38" dur="2000"/>
                                        <p:tgtEl>
                                          <p:spTgt spid="5">
                                            <p:graphicEl>
                                              <a:dgm id="{90709722-0E94-45E4-BEDD-48CB660682DD}"/>
                                            </p:graphic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
                                            <p:graphicEl>
                                              <a:dgm id="{EB2E52AE-8FCF-47D0-B499-CFCFAF1883A9}"/>
                                            </p:graphicEl>
                                          </p:spTgt>
                                        </p:tgtEl>
                                        <p:attrNameLst>
                                          <p:attrName>style.visibility</p:attrName>
                                        </p:attrNameLst>
                                      </p:cBhvr>
                                      <p:to>
                                        <p:strVal val="visible"/>
                                      </p:to>
                                    </p:set>
                                    <p:animEffect transition="in" filter="wipe(left)">
                                      <p:cBhvr>
                                        <p:cTn id="43" dur="500"/>
                                        <p:tgtEl>
                                          <p:spTgt spid="5">
                                            <p:graphicEl>
                                              <a:dgm id="{EB2E52AE-8FCF-47D0-B499-CFCFAF1883A9}"/>
                                            </p:graphicEl>
                                          </p:spTgt>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5">
                                            <p:graphicEl>
                                              <a:dgm id="{C92F1771-01AA-4FF3-B7EC-0229DB7A592C}"/>
                                            </p:graphicEl>
                                          </p:spTgt>
                                        </p:tgtEl>
                                        <p:attrNameLst>
                                          <p:attrName>style.visibility</p:attrName>
                                        </p:attrNameLst>
                                      </p:cBhvr>
                                      <p:to>
                                        <p:strVal val="visible"/>
                                      </p:to>
                                    </p:set>
                                    <p:animEffect transition="in" filter="wipe(left)">
                                      <p:cBhvr>
                                        <p:cTn id="47" dur="2000"/>
                                        <p:tgtEl>
                                          <p:spTgt spid="5">
                                            <p:graphicEl>
                                              <a:dgm id="{C92F1771-01AA-4FF3-B7EC-0229DB7A592C}"/>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wipe(left)">
                                      <p:cBhvr>
                                        <p:cTn id="52" dur="1500"/>
                                        <p:tgtEl>
                                          <p:spTgt spid="4"/>
                                        </p:tgtEl>
                                      </p:cBhvr>
                                    </p:animEffect>
                                  </p:childTnLst>
                                </p:cTn>
                              </p:par>
                              <p:par>
                                <p:cTn id="53" presetID="22" presetClass="entr" presetSubtype="2" fill="hold" nodeType="with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wipe(right)">
                                      <p:cBhvr>
                                        <p:cTn id="55"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00886-4568-405D-A477-82C7E4CA49F9}"/>
              </a:ext>
            </a:extLst>
          </p:cNvPr>
          <p:cNvSpPr>
            <a:spLocks noGrp="1"/>
          </p:cNvSpPr>
          <p:nvPr>
            <p:ph type="title"/>
          </p:nvPr>
        </p:nvSpPr>
        <p:spPr/>
        <p:txBody>
          <a:bodyPr/>
          <a:lstStyle/>
          <a:p>
            <a:r>
              <a:rPr lang="en-GB"/>
              <a:t>Assessment</a:t>
            </a:r>
          </a:p>
        </p:txBody>
      </p:sp>
      <p:sp>
        <p:nvSpPr>
          <p:cNvPr id="3" name="Text Placeholder 2">
            <a:extLst>
              <a:ext uri="{FF2B5EF4-FFF2-40B4-BE49-F238E27FC236}">
                <a16:creationId xmlns:a16="http://schemas.microsoft.com/office/drawing/2014/main" id="{800ECB73-0608-4B44-882B-9BBB8EADD3EA}"/>
              </a:ext>
            </a:extLst>
          </p:cNvPr>
          <p:cNvSpPr>
            <a:spLocks noGrp="1"/>
          </p:cNvSpPr>
          <p:nvPr>
            <p:ph type="body" idx="1"/>
          </p:nvPr>
        </p:nvSpPr>
        <p:spPr/>
        <p:txBody>
          <a:bodyPr/>
          <a:lstStyle/>
          <a:p>
            <a:r>
              <a:rPr lang="en-GB" dirty="0"/>
              <a:t>Assignment – 33%</a:t>
            </a:r>
          </a:p>
        </p:txBody>
      </p:sp>
      <p:sp>
        <p:nvSpPr>
          <p:cNvPr id="4" name="Content Placeholder 3">
            <a:extLst>
              <a:ext uri="{FF2B5EF4-FFF2-40B4-BE49-F238E27FC236}">
                <a16:creationId xmlns:a16="http://schemas.microsoft.com/office/drawing/2014/main" id="{6C837FB6-A567-497F-93B1-2DEE87ED18D6}"/>
              </a:ext>
            </a:extLst>
          </p:cNvPr>
          <p:cNvSpPr>
            <a:spLocks noGrp="1"/>
          </p:cNvSpPr>
          <p:nvPr>
            <p:ph sz="half" idx="2"/>
          </p:nvPr>
        </p:nvSpPr>
        <p:spPr/>
        <p:txBody>
          <a:bodyPr/>
          <a:lstStyle/>
          <a:p>
            <a:pPr indent="0"/>
            <a:r>
              <a:rPr lang="en-GB" dirty="0"/>
              <a:t>SDD		67%</a:t>
            </a:r>
          </a:p>
          <a:p>
            <a:pPr indent="0"/>
            <a:r>
              <a:rPr lang="en-GB" dirty="0"/>
              <a:t>DDD		33%</a:t>
            </a:r>
          </a:p>
          <a:p>
            <a:pPr indent="0"/>
            <a:endParaRPr lang="en-GB" dirty="0"/>
          </a:p>
          <a:p>
            <a:pPr indent="0">
              <a:buNone/>
            </a:pPr>
            <a:endParaRPr lang="en-GB" dirty="0"/>
          </a:p>
          <a:p>
            <a:pPr indent="0"/>
            <a:r>
              <a:rPr lang="en-GB" b="1" dirty="0"/>
              <a:t>Marks		40</a:t>
            </a:r>
          </a:p>
        </p:txBody>
      </p:sp>
      <p:sp>
        <p:nvSpPr>
          <p:cNvPr id="5" name="Text Placeholder 4">
            <a:extLst>
              <a:ext uri="{FF2B5EF4-FFF2-40B4-BE49-F238E27FC236}">
                <a16:creationId xmlns:a16="http://schemas.microsoft.com/office/drawing/2014/main" id="{23B492CD-F51E-4517-A552-72BB03A9DDC1}"/>
              </a:ext>
            </a:extLst>
          </p:cNvPr>
          <p:cNvSpPr>
            <a:spLocks noGrp="1"/>
          </p:cNvSpPr>
          <p:nvPr>
            <p:ph type="body" sz="quarter" idx="3"/>
          </p:nvPr>
        </p:nvSpPr>
        <p:spPr/>
        <p:txBody>
          <a:bodyPr/>
          <a:lstStyle/>
          <a:p>
            <a:r>
              <a:rPr lang="en-GB" dirty="0"/>
              <a:t>Question Paper – 67%</a:t>
            </a:r>
          </a:p>
        </p:txBody>
      </p:sp>
      <p:sp>
        <p:nvSpPr>
          <p:cNvPr id="6" name="Content Placeholder 5">
            <a:extLst>
              <a:ext uri="{FF2B5EF4-FFF2-40B4-BE49-F238E27FC236}">
                <a16:creationId xmlns:a16="http://schemas.microsoft.com/office/drawing/2014/main" id="{85EA51F6-ECFD-4D1F-BF54-C5C44552D6D8}"/>
              </a:ext>
            </a:extLst>
          </p:cNvPr>
          <p:cNvSpPr>
            <a:spLocks noGrp="1"/>
          </p:cNvSpPr>
          <p:nvPr>
            <p:ph sz="quarter" idx="4"/>
          </p:nvPr>
        </p:nvSpPr>
        <p:spPr/>
        <p:txBody>
          <a:bodyPr>
            <a:normAutofit/>
          </a:bodyPr>
          <a:lstStyle/>
          <a:p>
            <a:pPr indent="0"/>
            <a:r>
              <a:rPr lang="en-GB" dirty="0"/>
              <a:t>SDD		54%</a:t>
            </a:r>
          </a:p>
          <a:p>
            <a:pPr indent="0"/>
            <a:r>
              <a:rPr lang="en-GB" dirty="0"/>
              <a:t>DDD		33%</a:t>
            </a:r>
          </a:p>
          <a:p>
            <a:pPr indent="0"/>
            <a:r>
              <a:rPr lang="en-GB" dirty="0"/>
              <a:t>Comp Sys		13%</a:t>
            </a:r>
          </a:p>
          <a:p>
            <a:pPr marL="0" indent="0">
              <a:buNone/>
            </a:pPr>
            <a:endParaRPr lang="en-GB" dirty="0"/>
          </a:p>
          <a:p>
            <a:pPr indent="0"/>
            <a:r>
              <a:rPr lang="en-GB" b="1" dirty="0"/>
              <a:t>Marks		80</a:t>
            </a:r>
          </a:p>
        </p:txBody>
      </p:sp>
      <p:sp>
        <p:nvSpPr>
          <p:cNvPr id="7" name="TextBox 6"/>
          <p:cNvSpPr txBox="1"/>
          <p:nvPr/>
        </p:nvSpPr>
        <p:spPr>
          <a:xfrm>
            <a:off x="4053485" y="5897275"/>
            <a:ext cx="3888180" cy="584775"/>
          </a:xfrm>
          <a:prstGeom prst="rect">
            <a:avLst/>
          </a:prstGeom>
          <a:noFill/>
        </p:spPr>
        <p:txBody>
          <a:bodyPr wrap="none" rtlCol="0">
            <a:spAutoFit/>
          </a:bodyPr>
          <a:lstStyle/>
          <a:p>
            <a:r>
              <a:rPr lang="en-GB" sz="3200" b="1" dirty="0">
                <a:solidFill>
                  <a:srgbClr val="FF0000"/>
                </a:solidFill>
              </a:rPr>
              <a:t>Final grade out of 120</a:t>
            </a:r>
          </a:p>
        </p:txBody>
      </p:sp>
    </p:spTree>
    <p:extLst>
      <p:ext uri="{BB962C8B-B14F-4D97-AF65-F5344CB8AC3E}">
        <p14:creationId xmlns:p14="http://schemas.microsoft.com/office/powerpoint/2010/main" val="3244162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left)">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wipe(left)">
                                      <p:cBhvr>
                                        <p:cTn id="22" dur="500"/>
                                        <p:tgtEl>
                                          <p:spTgt spid="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wipe(left)">
                                      <p:cBhvr>
                                        <p:cTn id="27" dur="500"/>
                                        <p:tgtEl>
                                          <p:spTgt spid="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wipe(left)">
                                      <p:cBhvr>
                                        <p:cTn id="32" dur="500"/>
                                        <p:tgtEl>
                                          <p:spTgt spid="4">
                                            <p:txEl>
                                              <p:pRg st="4" end="4"/>
                                            </p:txEl>
                                          </p:spTgt>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6">
                                            <p:txEl>
                                              <p:pRg st="1" end="1"/>
                                            </p:txEl>
                                          </p:spTgt>
                                        </p:tgtEl>
                                        <p:attrNameLst>
                                          <p:attrName>style.visibility</p:attrName>
                                        </p:attrNameLst>
                                      </p:cBhvr>
                                      <p:to>
                                        <p:strVal val="visible"/>
                                      </p:to>
                                    </p:set>
                                    <p:animEffect transition="in" filter="wipe(left)">
                                      <p:cBhvr>
                                        <p:cTn id="36" dur="500"/>
                                        <p:tgtEl>
                                          <p:spTgt spid="6">
                                            <p:txEl>
                                              <p:pRg st="1" end="1"/>
                                            </p:txEl>
                                          </p:spTgt>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6">
                                            <p:txEl>
                                              <p:pRg st="2" end="2"/>
                                            </p:txEl>
                                          </p:spTgt>
                                        </p:tgtEl>
                                        <p:attrNameLst>
                                          <p:attrName>style.visibility</p:attrName>
                                        </p:attrNameLst>
                                      </p:cBhvr>
                                      <p:to>
                                        <p:strVal val="visible"/>
                                      </p:to>
                                    </p:set>
                                    <p:animEffect transition="in" filter="wipe(left)">
                                      <p:cBhvr>
                                        <p:cTn id="40" dur="500"/>
                                        <p:tgtEl>
                                          <p:spTgt spid="6">
                                            <p:txEl>
                                              <p:pRg st="2" end="2"/>
                                            </p:txEl>
                                          </p:spTgt>
                                        </p:tgtEl>
                                      </p:cBhvr>
                                    </p:animEffect>
                                  </p:childTnLst>
                                </p:cTn>
                              </p:par>
                            </p:childTnLst>
                          </p:cTn>
                        </p:par>
                        <p:par>
                          <p:cTn id="41" fill="hold">
                            <p:stCondLst>
                              <p:cond delay="15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fade">
                                      <p:cBhvr>
                                        <p:cTn id="4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6" grpId="0" uiExpand="1" build="p"/>
      <p:bldP spid="7"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547A0-88C7-29D0-1307-5BCED1457C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CF40F9-12DF-5CC1-6444-96F6A8C9E14D}"/>
              </a:ext>
            </a:extLst>
          </p:cNvPr>
          <p:cNvSpPr>
            <a:spLocks noGrp="1"/>
          </p:cNvSpPr>
          <p:nvPr>
            <p:ph type="title"/>
          </p:nvPr>
        </p:nvSpPr>
        <p:spPr/>
        <p:txBody>
          <a:bodyPr/>
          <a:lstStyle/>
          <a:p>
            <a:r>
              <a:rPr lang="en-GB"/>
              <a:t>Assessment</a:t>
            </a:r>
          </a:p>
        </p:txBody>
      </p:sp>
      <p:sp>
        <p:nvSpPr>
          <p:cNvPr id="3" name="Text Placeholder 2">
            <a:extLst>
              <a:ext uri="{FF2B5EF4-FFF2-40B4-BE49-F238E27FC236}">
                <a16:creationId xmlns:a16="http://schemas.microsoft.com/office/drawing/2014/main" id="{F2DE83AB-2C48-8ADE-7508-2790A834FFEF}"/>
              </a:ext>
            </a:extLst>
          </p:cNvPr>
          <p:cNvSpPr>
            <a:spLocks noGrp="1"/>
          </p:cNvSpPr>
          <p:nvPr>
            <p:ph type="body" idx="1"/>
          </p:nvPr>
        </p:nvSpPr>
        <p:spPr/>
        <p:txBody>
          <a:bodyPr/>
          <a:lstStyle/>
          <a:p>
            <a:r>
              <a:rPr lang="en-GB" dirty="0"/>
              <a:t>Assignment – 40 Marks</a:t>
            </a:r>
          </a:p>
        </p:txBody>
      </p:sp>
      <p:sp>
        <p:nvSpPr>
          <p:cNvPr id="4" name="Content Placeholder 3">
            <a:extLst>
              <a:ext uri="{FF2B5EF4-FFF2-40B4-BE49-F238E27FC236}">
                <a16:creationId xmlns:a16="http://schemas.microsoft.com/office/drawing/2014/main" id="{00021F32-B7C8-2B86-861F-529D12CF9E8C}"/>
              </a:ext>
            </a:extLst>
          </p:cNvPr>
          <p:cNvSpPr>
            <a:spLocks noGrp="1"/>
          </p:cNvSpPr>
          <p:nvPr>
            <p:ph sz="half" idx="2"/>
          </p:nvPr>
        </p:nvSpPr>
        <p:spPr/>
        <p:txBody>
          <a:bodyPr>
            <a:normAutofit/>
          </a:bodyPr>
          <a:lstStyle/>
          <a:p>
            <a:pPr indent="0">
              <a:tabLst>
                <a:tab pos="3771900" algn="ctr"/>
              </a:tabLst>
            </a:pPr>
            <a:r>
              <a:rPr lang="en-GB" dirty="0"/>
              <a:t>Analysis	3 – 6</a:t>
            </a:r>
          </a:p>
          <a:p>
            <a:pPr indent="0">
              <a:tabLst>
                <a:tab pos="3771900" algn="ctr"/>
              </a:tabLst>
            </a:pPr>
            <a:r>
              <a:rPr lang="en-GB" dirty="0"/>
              <a:t>Design	4 – 8</a:t>
            </a:r>
          </a:p>
          <a:p>
            <a:pPr indent="0">
              <a:tabLst>
                <a:tab pos="3771900" algn="ctr"/>
              </a:tabLst>
            </a:pPr>
            <a:r>
              <a:rPr lang="en-GB" dirty="0"/>
              <a:t>Implementation	22 – 24</a:t>
            </a:r>
          </a:p>
          <a:p>
            <a:pPr indent="0">
              <a:tabLst>
                <a:tab pos="3771900" algn="ctr"/>
              </a:tabLst>
            </a:pPr>
            <a:r>
              <a:rPr lang="en-GB" dirty="0"/>
              <a:t>Testing	3 – 6</a:t>
            </a:r>
          </a:p>
          <a:p>
            <a:pPr indent="0">
              <a:tabLst>
                <a:tab pos="3771900" algn="ctr"/>
              </a:tabLst>
            </a:pPr>
            <a:r>
              <a:rPr lang="en-GB" dirty="0"/>
              <a:t>Evaluation	3 – 6</a:t>
            </a:r>
          </a:p>
          <a:p>
            <a:pPr indent="0">
              <a:tabLst>
                <a:tab pos="3771900" algn="ctr"/>
              </a:tabLst>
            </a:pPr>
            <a:r>
              <a:rPr lang="en-GB" dirty="0"/>
              <a:t>Computer Systems	0</a:t>
            </a:r>
            <a:endParaRPr lang="en-GB" b="1" dirty="0"/>
          </a:p>
        </p:txBody>
      </p:sp>
      <p:sp>
        <p:nvSpPr>
          <p:cNvPr id="5" name="Text Placeholder 4">
            <a:extLst>
              <a:ext uri="{FF2B5EF4-FFF2-40B4-BE49-F238E27FC236}">
                <a16:creationId xmlns:a16="http://schemas.microsoft.com/office/drawing/2014/main" id="{01CD7EDA-AF5A-4C0C-1B99-BFA4129AB6AD}"/>
              </a:ext>
            </a:extLst>
          </p:cNvPr>
          <p:cNvSpPr>
            <a:spLocks noGrp="1"/>
          </p:cNvSpPr>
          <p:nvPr>
            <p:ph type="body" sz="quarter" idx="3"/>
          </p:nvPr>
        </p:nvSpPr>
        <p:spPr/>
        <p:txBody>
          <a:bodyPr/>
          <a:lstStyle/>
          <a:p>
            <a:r>
              <a:rPr lang="en-GB" dirty="0"/>
              <a:t>Question Paper – 80 Marks</a:t>
            </a:r>
          </a:p>
        </p:txBody>
      </p:sp>
      <p:sp>
        <p:nvSpPr>
          <p:cNvPr id="6" name="Content Placeholder 5">
            <a:extLst>
              <a:ext uri="{FF2B5EF4-FFF2-40B4-BE49-F238E27FC236}">
                <a16:creationId xmlns:a16="http://schemas.microsoft.com/office/drawing/2014/main" id="{59E44D69-802E-5AE9-8D1D-6F50E7C5F50A}"/>
              </a:ext>
            </a:extLst>
          </p:cNvPr>
          <p:cNvSpPr>
            <a:spLocks noGrp="1"/>
          </p:cNvSpPr>
          <p:nvPr>
            <p:ph sz="quarter" idx="4"/>
          </p:nvPr>
        </p:nvSpPr>
        <p:spPr/>
        <p:txBody>
          <a:bodyPr>
            <a:normAutofit/>
          </a:bodyPr>
          <a:lstStyle/>
          <a:p>
            <a:pPr indent="0">
              <a:tabLst>
                <a:tab pos="3771900" algn="ctr"/>
              </a:tabLst>
            </a:pPr>
            <a:r>
              <a:rPr lang="en-GB" dirty="0"/>
              <a:t>Analysis	0 – 5</a:t>
            </a:r>
          </a:p>
          <a:p>
            <a:pPr indent="0">
              <a:tabLst>
                <a:tab pos="3771900" algn="ctr"/>
              </a:tabLst>
            </a:pPr>
            <a:r>
              <a:rPr lang="en-GB" dirty="0"/>
              <a:t>Design	20 – 40</a:t>
            </a:r>
          </a:p>
          <a:p>
            <a:pPr indent="0">
              <a:tabLst>
                <a:tab pos="3771900" algn="ctr"/>
              </a:tabLst>
            </a:pPr>
            <a:r>
              <a:rPr lang="en-GB" dirty="0"/>
              <a:t>Implementation	16 – 34</a:t>
            </a:r>
          </a:p>
          <a:p>
            <a:pPr indent="0">
              <a:tabLst>
                <a:tab pos="3771900" algn="ctr"/>
              </a:tabLst>
            </a:pPr>
            <a:r>
              <a:rPr lang="en-GB" dirty="0"/>
              <a:t>Testing	5 – 10</a:t>
            </a:r>
          </a:p>
          <a:p>
            <a:pPr indent="0">
              <a:tabLst>
                <a:tab pos="3771900" algn="ctr"/>
              </a:tabLst>
            </a:pPr>
            <a:r>
              <a:rPr lang="en-GB" dirty="0"/>
              <a:t>Evaluation	0 – 5</a:t>
            </a:r>
          </a:p>
          <a:p>
            <a:pPr indent="0">
              <a:tabLst>
                <a:tab pos="3771900" algn="ctr"/>
              </a:tabLst>
            </a:pPr>
            <a:r>
              <a:rPr lang="en-GB" dirty="0"/>
              <a:t>Computer Systems	10 – 14</a:t>
            </a:r>
            <a:endParaRPr lang="en-GB" b="1" dirty="0"/>
          </a:p>
        </p:txBody>
      </p:sp>
      <p:sp>
        <p:nvSpPr>
          <p:cNvPr id="7" name="TextBox 6">
            <a:extLst>
              <a:ext uri="{FF2B5EF4-FFF2-40B4-BE49-F238E27FC236}">
                <a16:creationId xmlns:a16="http://schemas.microsoft.com/office/drawing/2014/main" id="{2176D600-6369-CA43-BB03-20F2D3E7B2F0}"/>
              </a:ext>
            </a:extLst>
          </p:cNvPr>
          <p:cNvSpPr txBox="1"/>
          <p:nvPr/>
        </p:nvSpPr>
        <p:spPr>
          <a:xfrm>
            <a:off x="3682010" y="6200487"/>
            <a:ext cx="3888180" cy="584775"/>
          </a:xfrm>
          <a:prstGeom prst="rect">
            <a:avLst/>
          </a:prstGeom>
          <a:noFill/>
        </p:spPr>
        <p:txBody>
          <a:bodyPr wrap="none" rtlCol="0">
            <a:spAutoFit/>
          </a:bodyPr>
          <a:lstStyle/>
          <a:p>
            <a:pPr algn="ctr"/>
            <a:r>
              <a:rPr lang="en-GB" sz="3200" b="1" dirty="0">
                <a:solidFill>
                  <a:srgbClr val="FF0000"/>
                </a:solidFill>
              </a:rPr>
              <a:t>Final grade out of 120</a:t>
            </a:r>
          </a:p>
        </p:txBody>
      </p:sp>
    </p:spTree>
    <p:extLst>
      <p:ext uri="{BB962C8B-B14F-4D97-AF65-F5344CB8AC3E}">
        <p14:creationId xmlns:p14="http://schemas.microsoft.com/office/powerpoint/2010/main" val="3108509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1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left)">
                                      <p:cBhvr>
                                        <p:cTn id="17" dur="1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wipe(left)">
                                      <p:cBhvr>
                                        <p:cTn id="22" dur="1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wipe(left)">
                                      <p:cBhvr>
                                        <p:cTn id="27" dur="1500"/>
                                        <p:tgtEl>
                                          <p:spTgt spid="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wipe(left)">
                                      <p:cBhvr>
                                        <p:cTn id="32" dur="1500"/>
                                        <p:tgtEl>
                                          <p:spTgt spid="4">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Effect transition="in" filter="wipe(left)">
                                      <p:cBhvr>
                                        <p:cTn id="37" dur="1500"/>
                                        <p:tgtEl>
                                          <p:spTgt spid="4">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xEl>
                                              <p:pRg st="0" end="0"/>
                                            </p:txEl>
                                          </p:spTgt>
                                        </p:tgtEl>
                                        <p:attrNameLst>
                                          <p:attrName>style.visibility</p:attrName>
                                        </p:attrNameLst>
                                      </p:cBhvr>
                                      <p:to>
                                        <p:strVal val="visible"/>
                                      </p:to>
                                    </p:set>
                                    <p:animEffect transition="in" filter="wipe(left)">
                                      <p:cBhvr>
                                        <p:cTn id="42" dur="1500"/>
                                        <p:tgtEl>
                                          <p:spTgt spid="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
                                            <p:txEl>
                                              <p:pRg st="0" end="0"/>
                                            </p:txEl>
                                          </p:spTgt>
                                        </p:tgtEl>
                                        <p:attrNameLst>
                                          <p:attrName>style.visibility</p:attrName>
                                        </p:attrNameLst>
                                      </p:cBhvr>
                                      <p:to>
                                        <p:strVal val="visible"/>
                                      </p:to>
                                    </p:set>
                                    <p:animEffect transition="in" filter="wipe(left)">
                                      <p:cBhvr>
                                        <p:cTn id="47" dur="1500"/>
                                        <p:tgtEl>
                                          <p:spTgt spid="6">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6">
                                            <p:txEl>
                                              <p:pRg st="1" end="1"/>
                                            </p:txEl>
                                          </p:spTgt>
                                        </p:tgtEl>
                                        <p:attrNameLst>
                                          <p:attrName>style.visibility</p:attrName>
                                        </p:attrNameLst>
                                      </p:cBhvr>
                                      <p:to>
                                        <p:strVal val="visible"/>
                                      </p:to>
                                    </p:set>
                                    <p:animEffect transition="in" filter="wipe(left)">
                                      <p:cBhvr>
                                        <p:cTn id="52" dur="1500"/>
                                        <p:tgtEl>
                                          <p:spTgt spid="6">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6">
                                            <p:txEl>
                                              <p:pRg st="2" end="2"/>
                                            </p:txEl>
                                          </p:spTgt>
                                        </p:tgtEl>
                                        <p:attrNameLst>
                                          <p:attrName>style.visibility</p:attrName>
                                        </p:attrNameLst>
                                      </p:cBhvr>
                                      <p:to>
                                        <p:strVal val="visible"/>
                                      </p:to>
                                    </p:set>
                                    <p:animEffect transition="in" filter="wipe(left)">
                                      <p:cBhvr>
                                        <p:cTn id="57" dur="1500"/>
                                        <p:tgtEl>
                                          <p:spTgt spid="6">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6">
                                            <p:txEl>
                                              <p:pRg st="3" end="3"/>
                                            </p:txEl>
                                          </p:spTgt>
                                        </p:tgtEl>
                                        <p:attrNameLst>
                                          <p:attrName>style.visibility</p:attrName>
                                        </p:attrNameLst>
                                      </p:cBhvr>
                                      <p:to>
                                        <p:strVal val="visible"/>
                                      </p:to>
                                    </p:set>
                                    <p:animEffect transition="in" filter="wipe(left)">
                                      <p:cBhvr>
                                        <p:cTn id="62" dur="1500"/>
                                        <p:tgtEl>
                                          <p:spTgt spid="6">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6">
                                            <p:txEl>
                                              <p:pRg st="4" end="4"/>
                                            </p:txEl>
                                          </p:spTgt>
                                        </p:tgtEl>
                                        <p:attrNameLst>
                                          <p:attrName>style.visibility</p:attrName>
                                        </p:attrNameLst>
                                      </p:cBhvr>
                                      <p:to>
                                        <p:strVal val="visible"/>
                                      </p:to>
                                    </p:set>
                                    <p:animEffect transition="in" filter="wipe(left)">
                                      <p:cBhvr>
                                        <p:cTn id="67" dur="1500"/>
                                        <p:tgtEl>
                                          <p:spTgt spid="6">
                                            <p:txEl>
                                              <p:pRg st="4" end="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6">
                                            <p:txEl>
                                              <p:pRg st="5" end="5"/>
                                            </p:txEl>
                                          </p:spTgt>
                                        </p:tgtEl>
                                        <p:attrNameLst>
                                          <p:attrName>style.visibility</p:attrName>
                                        </p:attrNameLst>
                                      </p:cBhvr>
                                      <p:to>
                                        <p:strVal val="visible"/>
                                      </p:to>
                                    </p:set>
                                    <p:animEffect transition="in" filter="wipe(left)">
                                      <p:cBhvr>
                                        <p:cTn id="72" dur="1500"/>
                                        <p:tgtEl>
                                          <p:spTgt spid="6">
                                            <p:txEl>
                                              <p:pRg st="5" end="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wipe(left)">
                                      <p:cBhvr>
                                        <p:cTn id="7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7"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GDPR</a:t>
            </a:r>
          </a:p>
        </p:txBody>
      </p:sp>
      <p:sp>
        <p:nvSpPr>
          <p:cNvPr id="3" name="Subtitle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58035944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normAutofit/>
          </a:bodyPr>
          <a:lstStyle/>
          <a:p>
            <a:r>
              <a:rPr lang="en-GB" sz="3600" dirty="0"/>
              <a:t>Describe and identify the implications for individuals and businesses of the UK General Data Protection Regulation (UK GDPR)</a:t>
            </a:r>
            <a:endParaRPr lang="en-GB" dirty="0"/>
          </a:p>
        </p:txBody>
      </p:sp>
      <p:sp>
        <p:nvSpPr>
          <p:cNvPr id="4" name="Action Button: Go Forward or Next 3">
            <a:hlinkClick r:id="rId3" highlightClick="1"/>
            <a:extLst>
              <a:ext uri="{FF2B5EF4-FFF2-40B4-BE49-F238E27FC236}">
                <a16:creationId xmlns:a16="http://schemas.microsoft.com/office/drawing/2014/main" id="{FF3A55D2-53DA-A5F8-282C-07911623CC19}"/>
              </a:ext>
            </a:extLst>
          </p:cNvPr>
          <p:cNvSpPr/>
          <p:nvPr/>
        </p:nvSpPr>
        <p:spPr>
          <a:xfrm>
            <a:off x="10832592" y="5655755"/>
            <a:ext cx="1042416" cy="1042416"/>
          </a:xfrm>
          <a:prstGeom prst="actionButtonForwardNex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47622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E83AA-EE28-0599-B167-E9F38D289DF6}"/>
              </a:ext>
            </a:extLst>
          </p:cNvPr>
          <p:cNvSpPr>
            <a:spLocks noGrp="1"/>
          </p:cNvSpPr>
          <p:nvPr>
            <p:ph type="title"/>
          </p:nvPr>
        </p:nvSpPr>
        <p:spPr/>
        <p:txBody>
          <a:bodyPr>
            <a:normAutofit/>
          </a:bodyPr>
          <a:lstStyle/>
          <a:p>
            <a:r>
              <a:rPr lang="en-GB" dirty="0"/>
              <a:t>Lawfulness, fairness and transparency</a:t>
            </a:r>
          </a:p>
        </p:txBody>
      </p:sp>
      <p:sp>
        <p:nvSpPr>
          <p:cNvPr id="3" name="Content Placeholder 2">
            <a:extLst>
              <a:ext uri="{FF2B5EF4-FFF2-40B4-BE49-F238E27FC236}">
                <a16:creationId xmlns:a16="http://schemas.microsoft.com/office/drawing/2014/main" id="{3BF8633D-C374-D6AF-17C9-F89D591C2E40}"/>
              </a:ext>
            </a:extLst>
          </p:cNvPr>
          <p:cNvSpPr>
            <a:spLocks noGrp="1"/>
          </p:cNvSpPr>
          <p:nvPr>
            <p:ph idx="1"/>
          </p:nvPr>
        </p:nvSpPr>
        <p:spPr/>
        <p:txBody>
          <a:bodyPr>
            <a:normAutofit/>
          </a:bodyPr>
          <a:lstStyle/>
          <a:p>
            <a:r>
              <a:rPr lang="en-GB" sz="3200" dirty="0"/>
              <a:t>Processed lawfully, fairly and in a transparent manner in relation to individuals</a:t>
            </a:r>
          </a:p>
          <a:p>
            <a:r>
              <a:rPr lang="en-GB" sz="3200" dirty="0"/>
              <a:t>Personal data is used in a way that is fair</a:t>
            </a:r>
          </a:p>
          <a:p>
            <a:r>
              <a:rPr lang="en-GB" sz="3200" dirty="0"/>
              <a:t>Clear, open and honest about how personal data will be used</a:t>
            </a:r>
          </a:p>
        </p:txBody>
      </p:sp>
    </p:spTree>
    <p:extLst>
      <p:ext uri="{BB962C8B-B14F-4D97-AF65-F5344CB8AC3E}">
        <p14:creationId xmlns:p14="http://schemas.microsoft.com/office/powerpoint/2010/main" val="217961999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40209-8C1E-4D03-17F1-0B25A569229B}"/>
              </a:ext>
            </a:extLst>
          </p:cNvPr>
          <p:cNvSpPr>
            <a:spLocks noGrp="1"/>
          </p:cNvSpPr>
          <p:nvPr>
            <p:ph type="title"/>
          </p:nvPr>
        </p:nvSpPr>
        <p:spPr/>
        <p:txBody>
          <a:bodyPr/>
          <a:lstStyle/>
          <a:p>
            <a:r>
              <a:rPr lang="en-GB" dirty="0"/>
              <a:t>Purpose limitation</a:t>
            </a:r>
          </a:p>
        </p:txBody>
      </p:sp>
      <p:sp>
        <p:nvSpPr>
          <p:cNvPr id="3" name="Content Placeholder 2">
            <a:extLst>
              <a:ext uri="{FF2B5EF4-FFF2-40B4-BE49-F238E27FC236}">
                <a16:creationId xmlns:a16="http://schemas.microsoft.com/office/drawing/2014/main" id="{AC0A1240-16F4-825F-0457-BCDA2A4D97D3}"/>
              </a:ext>
            </a:extLst>
          </p:cNvPr>
          <p:cNvSpPr>
            <a:spLocks noGrp="1"/>
          </p:cNvSpPr>
          <p:nvPr>
            <p:ph idx="1"/>
          </p:nvPr>
        </p:nvSpPr>
        <p:spPr/>
        <p:txBody>
          <a:bodyPr>
            <a:normAutofit/>
          </a:bodyPr>
          <a:lstStyle/>
          <a:p>
            <a:r>
              <a:rPr lang="en-GB" sz="3200" dirty="0"/>
              <a:t>Used for the declared purpose only</a:t>
            </a:r>
          </a:p>
          <a:p>
            <a:r>
              <a:rPr lang="en-GB" sz="3200" dirty="0"/>
              <a:t>Personal data can only used for a new purpose if:</a:t>
            </a:r>
          </a:p>
          <a:p>
            <a:pPr lvl="1"/>
            <a:r>
              <a:rPr lang="en-GB" sz="3200" dirty="0"/>
              <a:t>compatible with original purpose</a:t>
            </a:r>
          </a:p>
          <a:p>
            <a:pPr lvl="1"/>
            <a:r>
              <a:rPr lang="en-GB" sz="3200" dirty="0"/>
              <a:t>new consent gained</a:t>
            </a:r>
          </a:p>
          <a:p>
            <a:pPr lvl="1"/>
            <a:r>
              <a:rPr lang="en-GB" sz="3200" dirty="0"/>
              <a:t>obligation or function set out in law</a:t>
            </a:r>
          </a:p>
        </p:txBody>
      </p:sp>
    </p:spTree>
    <p:extLst>
      <p:ext uri="{BB962C8B-B14F-4D97-AF65-F5344CB8AC3E}">
        <p14:creationId xmlns:p14="http://schemas.microsoft.com/office/powerpoint/2010/main" val="192346879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D8603-1AE1-AA52-FACD-E6BE787027BB}"/>
              </a:ext>
            </a:extLst>
          </p:cNvPr>
          <p:cNvSpPr>
            <a:spLocks noGrp="1"/>
          </p:cNvSpPr>
          <p:nvPr>
            <p:ph type="title"/>
          </p:nvPr>
        </p:nvSpPr>
        <p:spPr/>
        <p:txBody>
          <a:bodyPr/>
          <a:lstStyle/>
          <a:p>
            <a:r>
              <a:rPr lang="en-GB" dirty="0"/>
              <a:t>Data minimisation</a:t>
            </a:r>
          </a:p>
        </p:txBody>
      </p:sp>
      <p:sp>
        <p:nvSpPr>
          <p:cNvPr id="3" name="Content Placeholder 2">
            <a:extLst>
              <a:ext uri="{FF2B5EF4-FFF2-40B4-BE49-F238E27FC236}">
                <a16:creationId xmlns:a16="http://schemas.microsoft.com/office/drawing/2014/main" id="{D0433B07-78A7-33E9-8E02-3014F87FE084}"/>
              </a:ext>
            </a:extLst>
          </p:cNvPr>
          <p:cNvSpPr>
            <a:spLocks noGrp="1"/>
          </p:cNvSpPr>
          <p:nvPr>
            <p:ph idx="1"/>
          </p:nvPr>
        </p:nvSpPr>
        <p:spPr/>
        <p:txBody>
          <a:bodyPr>
            <a:normAutofit/>
          </a:bodyPr>
          <a:lstStyle/>
          <a:p>
            <a:r>
              <a:rPr lang="en-GB" sz="3200" dirty="0"/>
              <a:t>Limited to the data needed for the declared purpose</a:t>
            </a:r>
          </a:p>
          <a:p>
            <a:r>
              <a:rPr lang="en-GB" sz="3200" dirty="0"/>
              <a:t>Data must be:</a:t>
            </a:r>
          </a:p>
          <a:p>
            <a:pPr lvl="1"/>
            <a:r>
              <a:rPr lang="en-GB" sz="3200" dirty="0"/>
              <a:t>adequate – sufficient to fulfil the stated purpose</a:t>
            </a:r>
          </a:p>
          <a:p>
            <a:pPr lvl="1"/>
            <a:r>
              <a:rPr lang="en-GB" sz="3200" dirty="0"/>
              <a:t>relevant – has a clear link to that purpose</a:t>
            </a:r>
          </a:p>
          <a:p>
            <a:pPr lvl="1"/>
            <a:r>
              <a:rPr lang="en-GB" sz="3200" dirty="0"/>
              <a:t>limited to what is necessary</a:t>
            </a:r>
          </a:p>
        </p:txBody>
      </p:sp>
    </p:spTree>
    <p:extLst>
      <p:ext uri="{BB962C8B-B14F-4D97-AF65-F5344CB8AC3E}">
        <p14:creationId xmlns:p14="http://schemas.microsoft.com/office/powerpoint/2010/main" val="86482687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914D0-9D77-EAD9-8D32-2C3A50E60221}"/>
              </a:ext>
            </a:extLst>
          </p:cNvPr>
          <p:cNvSpPr>
            <a:spLocks noGrp="1"/>
          </p:cNvSpPr>
          <p:nvPr>
            <p:ph type="title"/>
          </p:nvPr>
        </p:nvSpPr>
        <p:spPr/>
        <p:txBody>
          <a:bodyPr/>
          <a:lstStyle/>
          <a:p>
            <a:r>
              <a:rPr lang="en-GB" dirty="0"/>
              <a:t>Accuracy</a:t>
            </a:r>
          </a:p>
        </p:txBody>
      </p:sp>
      <p:sp>
        <p:nvSpPr>
          <p:cNvPr id="3" name="Content Placeholder 2">
            <a:extLst>
              <a:ext uri="{FF2B5EF4-FFF2-40B4-BE49-F238E27FC236}">
                <a16:creationId xmlns:a16="http://schemas.microsoft.com/office/drawing/2014/main" id="{3E14A3DB-E2AE-A8B5-E68C-9822353BC769}"/>
              </a:ext>
            </a:extLst>
          </p:cNvPr>
          <p:cNvSpPr>
            <a:spLocks noGrp="1"/>
          </p:cNvSpPr>
          <p:nvPr>
            <p:ph idx="1"/>
          </p:nvPr>
        </p:nvSpPr>
        <p:spPr/>
        <p:txBody>
          <a:bodyPr>
            <a:normAutofit/>
          </a:bodyPr>
          <a:lstStyle/>
          <a:p>
            <a:r>
              <a:rPr lang="en-GB" sz="3200" dirty="0"/>
              <a:t>Accurate</a:t>
            </a:r>
          </a:p>
          <a:p>
            <a:r>
              <a:rPr lang="en-GB" sz="3200" dirty="0"/>
              <a:t>Steps taken to ensure the accuracy of personal data</a:t>
            </a:r>
          </a:p>
        </p:txBody>
      </p:sp>
    </p:spTree>
    <p:extLst>
      <p:ext uri="{BB962C8B-B14F-4D97-AF65-F5344CB8AC3E}">
        <p14:creationId xmlns:p14="http://schemas.microsoft.com/office/powerpoint/2010/main" val="246599011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6D224-A02B-F736-6D46-C7590119C67C}"/>
              </a:ext>
            </a:extLst>
          </p:cNvPr>
          <p:cNvSpPr>
            <a:spLocks noGrp="1"/>
          </p:cNvSpPr>
          <p:nvPr>
            <p:ph type="title"/>
          </p:nvPr>
        </p:nvSpPr>
        <p:spPr/>
        <p:txBody>
          <a:bodyPr>
            <a:normAutofit/>
          </a:bodyPr>
          <a:lstStyle/>
          <a:p>
            <a:r>
              <a:rPr lang="en-GB" dirty="0"/>
              <a:t>Storage limitation</a:t>
            </a:r>
          </a:p>
        </p:txBody>
      </p:sp>
      <p:sp>
        <p:nvSpPr>
          <p:cNvPr id="3" name="Content Placeholder 2">
            <a:extLst>
              <a:ext uri="{FF2B5EF4-FFF2-40B4-BE49-F238E27FC236}">
                <a16:creationId xmlns:a16="http://schemas.microsoft.com/office/drawing/2014/main" id="{C270B8E5-83C1-EC42-FE1A-05D0ED85F473}"/>
              </a:ext>
            </a:extLst>
          </p:cNvPr>
          <p:cNvSpPr>
            <a:spLocks noGrp="1"/>
          </p:cNvSpPr>
          <p:nvPr>
            <p:ph idx="1"/>
          </p:nvPr>
        </p:nvSpPr>
        <p:spPr/>
        <p:txBody>
          <a:bodyPr>
            <a:normAutofit/>
          </a:bodyPr>
          <a:lstStyle/>
          <a:p>
            <a:r>
              <a:rPr lang="en-GB" sz="3200" dirty="0"/>
              <a:t>Not kept for longer than necessary 	</a:t>
            </a:r>
          </a:p>
        </p:txBody>
      </p:sp>
    </p:spTree>
    <p:extLst>
      <p:ext uri="{BB962C8B-B14F-4D97-AF65-F5344CB8AC3E}">
        <p14:creationId xmlns:p14="http://schemas.microsoft.com/office/powerpoint/2010/main" val="370488971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41FE-B04D-6D94-1A3E-225B9EB3BCBC}"/>
              </a:ext>
            </a:extLst>
          </p:cNvPr>
          <p:cNvSpPr>
            <a:spLocks noGrp="1"/>
          </p:cNvSpPr>
          <p:nvPr>
            <p:ph type="title"/>
          </p:nvPr>
        </p:nvSpPr>
        <p:spPr/>
        <p:txBody>
          <a:bodyPr/>
          <a:lstStyle/>
          <a:p>
            <a:r>
              <a:rPr lang="en-GB" dirty="0"/>
              <a:t>Integrity and confidentiality</a:t>
            </a:r>
          </a:p>
        </p:txBody>
      </p:sp>
      <p:sp>
        <p:nvSpPr>
          <p:cNvPr id="3" name="Content Placeholder 2">
            <a:extLst>
              <a:ext uri="{FF2B5EF4-FFF2-40B4-BE49-F238E27FC236}">
                <a16:creationId xmlns:a16="http://schemas.microsoft.com/office/drawing/2014/main" id="{E9A49755-BB00-33FD-7E1B-FD41E624CF57}"/>
              </a:ext>
            </a:extLst>
          </p:cNvPr>
          <p:cNvSpPr>
            <a:spLocks noGrp="1"/>
          </p:cNvSpPr>
          <p:nvPr>
            <p:ph idx="1"/>
          </p:nvPr>
        </p:nvSpPr>
        <p:spPr/>
        <p:txBody>
          <a:bodyPr>
            <a:normAutofit/>
          </a:bodyPr>
          <a:lstStyle/>
          <a:p>
            <a:r>
              <a:rPr lang="en-GB" sz="3200" dirty="0"/>
              <a:t>Held securely</a:t>
            </a:r>
          </a:p>
        </p:txBody>
      </p:sp>
    </p:spTree>
    <p:extLst>
      <p:ext uri="{BB962C8B-B14F-4D97-AF65-F5344CB8AC3E}">
        <p14:creationId xmlns:p14="http://schemas.microsoft.com/office/powerpoint/2010/main" val="419308735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9B548-520E-4A1A-99D5-1A35599E9328}"/>
              </a:ext>
            </a:extLst>
          </p:cNvPr>
          <p:cNvSpPr>
            <a:spLocks noGrp="1"/>
          </p:cNvSpPr>
          <p:nvPr>
            <p:ph type="title"/>
          </p:nvPr>
        </p:nvSpPr>
        <p:spPr/>
        <p:txBody>
          <a:bodyPr/>
          <a:lstStyle/>
          <a:p>
            <a:r>
              <a:rPr lang="en-GB" dirty="0"/>
              <a:t>GDPR Key Principles</a:t>
            </a:r>
          </a:p>
        </p:txBody>
      </p:sp>
      <p:sp>
        <p:nvSpPr>
          <p:cNvPr id="3" name="Content Placeholder 2">
            <a:extLst>
              <a:ext uri="{FF2B5EF4-FFF2-40B4-BE49-F238E27FC236}">
                <a16:creationId xmlns:a16="http://schemas.microsoft.com/office/drawing/2014/main" id="{257141CB-89B9-453C-950A-3B96F4293BEE}"/>
              </a:ext>
            </a:extLst>
          </p:cNvPr>
          <p:cNvSpPr>
            <a:spLocks noGrp="1"/>
          </p:cNvSpPr>
          <p:nvPr>
            <p:ph idx="1"/>
          </p:nvPr>
        </p:nvSpPr>
        <p:spPr>
          <a:xfrm>
            <a:off x="838200" y="1825625"/>
            <a:ext cx="10515600" cy="4667250"/>
          </a:xfrm>
        </p:spPr>
        <p:txBody>
          <a:bodyPr>
            <a:noAutofit/>
          </a:bodyPr>
          <a:lstStyle/>
          <a:p>
            <a:pPr marL="514350" indent="-514350">
              <a:spcAft>
                <a:spcPts val="1200"/>
              </a:spcAft>
              <a:buFont typeface="+mj-lt"/>
              <a:buAutoNum type="arabicPeriod"/>
            </a:pPr>
            <a:r>
              <a:rPr lang="en-GB" sz="3200" dirty="0"/>
              <a:t>processed lawfully, fairly and in a transparent manner</a:t>
            </a:r>
          </a:p>
          <a:p>
            <a:pPr marL="514350" indent="-514350">
              <a:spcAft>
                <a:spcPts val="1200"/>
              </a:spcAft>
              <a:buFont typeface="+mj-lt"/>
              <a:buAutoNum type="arabicPeriod"/>
            </a:pPr>
            <a:r>
              <a:rPr lang="en-GB" sz="3200" dirty="0"/>
              <a:t>used for the declared purpose only</a:t>
            </a:r>
          </a:p>
          <a:p>
            <a:pPr marL="514350" indent="-514350">
              <a:spcAft>
                <a:spcPts val="1200"/>
              </a:spcAft>
              <a:buFont typeface="+mj-lt"/>
              <a:buAutoNum type="arabicPeriod"/>
            </a:pPr>
            <a:r>
              <a:rPr lang="en-GB" sz="3200" dirty="0"/>
              <a:t>limited to the data needed for the declared purpose</a:t>
            </a:r>
          </a:p>
          <a:p>
            <a:pPr marL="514350" indent="-514350">
              <a:spcAft>
                <a:spcPts val="1200"/>
              </a:spcAft>
              <a:buFont typeface="+mj-lt"/>
              <a:buAutoNum type="arabicPeriod"/>
            </a:pPr>
            <a:r>
              <a:rPr lang="en-GB" sz="3200" dirty="0"/>
              <a:t>accurate</a:t>
            </a:r>
          </a:p>
          <a:p>
            <a:pPr marL="514350" indent="-514350">
              <a:spcAft>
                <a:spcPts val="1200"/>
              </a:spcAft>
              <a:buFont typeface="+mj-lt"/>
              <a:buAutoNum type="arabicPeriod"/>
            </a:pPr>
            <a:r>
              <a:rPr lang="en-GB" sz="3200" dirty="0"/>
              <a:t>not kept for longer than necessary</a:t>
            </a:r>
          </a:p>
          <a:p>
            <a:pPr marL="514350" indent="-514350">
              <a:spcAft>
                <a:spcPts val="1200"/>
              </a:spcAft>
              <a:buFont typeface="+mj-lt"/>
              <a:buAutoNum type="arabicPeriod"/>
            </a:pPr>
            <a:r>
              <a:rPr lang="en-GB" sz="3200" dirty="0"/>
              <a:t>held securely</a:t>
            </a:r>
          </a:p>
        </p:txBody>
      </p:sp>
    </p:spTree>
    <p:extLst>
      <p:ext uri="{BB962C8B-B14F-4D97-AF65-F5344CB8AC3E}">
        <p14:creationId xmlns:p14="http://schemas.microsoft.com/office/powerpoint/2010/main" val="3622404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1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75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9B548-520E-4A1A-99D5-1A35599E9328}"/>
              </a:ext>
            </a:extLst>
          </p:cNvPr>
          <p:cNvSpPr>
            <a:spLocks noGrp="1"/>
          </p:cNvSpPr>
          <p:nvPr>
            <p:ph type="title"/>
          </p:nvPr>
        </p:nvSpPr>
        <p:spPr/>
        <p:txBody>
          <a:bodyPr/>
          <a:lstStyle/>
          <a:p>
            <a:r>
              <a:rPr lang="en-GB" dirty="0"/>
              <a:t>GDPR Key Principles</a:t>
            </a:r>
          </a:p>
        </p:txBody>
      </p:sp>
      <p:sp>
        <p:nvSpPr>
          <p:cNvPr id="3" name="Content Placeholder 2">
            <a:extLst>
              <a:ext uri="{FF2B5EF4-FFF2-40B4-BE49-F238E27FC236}">
                <a16:creationId xmlns:a16="http://schemas.microsoft.com/office/drawing/2014/main" id="{257141CB-89B9-453C-950A-3B96F4293BEE}"/>
              </a:ext>
            </a:extLst>
          </p:cNvPr>
          <p:cNvSpPr>
            <a:spLocks noGrp="1"/>
          </p:cNvSpPr>
          <p:nvPr>
            <p:ph idx="1"/>
          </p:nvPr>
        </p:nvSpPr>
        <p:spPr>
          <a:xfrm>
            <a:off x="838200" y="1825625"/>
            <a:ext cx="10515600" cy="4667250"/>
          </a:xfrm>
        </p:spPr>
        <p:txBody>
          <a:bodyPr>
            <a:noAutofit/>
          </a:bodyPr>
          <a:lstStyle/>
          <a:p>
            <a:pPr marL="514350" indent="-514350">
              <a:spcAft>
                <a:spcPts val="1200"/>
              </a:spcAft>
              <a:buFont typeface="+mj-lt"/>
              <a:buAutoNum type="arabicPeriod"/>
            </a:pPr>
            <a:r>
              <a:rPr lang="en-GB" sz="3200" dirty="0"/>
              <a:t> </a:t>
            </a:r>
          </a:p>
          <a:p>
            <a:pPr marL="514350" indent="-514350">
              <a:spcAft>
                <a:spcPts val="1200"/>
              </a:spcAft>
              <a:buFont typeface="+mj-lt"/>
              <a:buAutoNum type="arabicPeriod"/>
            </a:pPr>
            <a:r>
              <a:rPr lang="en-GB" sz="3200" dirty="0"/>
              <a:t> </a:t>
            </a:r>
          </a:p>
          <a:p>
            <a:pPr marL="514350" indent="-514350">
              <a:spcAft>
                <a:spcPts val="1200"/>
              </a:spcAft>
              <a:buFont typeface="+mj-lt"/>
              <a:buAutoNum type="arabicPeriod"/>
            </a:pPr>
            <a:r>
              <a:rPr lang="en-GB" sz="3200" dirty="0"/>
              <a:t> </a:t>
            </a:r>
          </a:p>
          <a:p>
            <a:pPr marL="514350" indent="-514350">
              <a:spcAft>
                <a:spcPts val="1200"/>
              </a:spcAft>
              <a:buFont typeface="+mj-lt"/>
              <a:buAutoNum type="arabicPeriod"/>
            </a:pPr>
            <a:r>
              <a:rPr lang="en-GB" sz="3200" dirty="0"/>
              <a:t> </a:t>
            </a:r>
          </a:p>
          <a:p>
            <a:pPr marL="514350" indent="-514350">
              <a:spcAft>
                <a:spcPts val="1200"/>
              </a:spcAft>
              <a:buFont typeface="+mj-lt"/>
              <a:buAutoNum type="arabicPeriod"/>
            </a:pPr>
            <a:r>
              <a:rPr lang="en-GB" sz="3200" dirty="0"/>
              <a:t> </a:t>
            </a:r>
          </a:p>
          <a:p>
            <a:pPr marL="514350" indent="-514350">
              <a:spcAft>
                <a:spcPts val="1200"/>
              </a:spcAft>
              <a:buFont typeface="+mj-lt"/>
              <a:buAutoNum type="arabicPeriod"/>
            </a:pPr>
            <a:r>
              <a:rPr lang="en-GB" sz="3200" dirty="0"/>
              <a:t> </a:t>
            </a:r>
          </a:p>
        </p:txBody>
      </p:sp>
    </p:spTree>
    <p:extLst>
      <p:ext uri="{BB962C8B-B14F-4D97-AF65-F5344CB8AC3E}">
        <p14:creationId xmlns:p14="http://schemas.microsoft.com/office/powerpoint/2010/main" val="258422303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r>
              <a:rPr lang="en-GB" dirty="0"/>
              <a:t>Identify the end-user and functional requirements of a database problem </a:t>
            </a:r>
          </a:p>
        </p:txBody>
      </p:sp>
    </p:spTree>
    <p:extLst>
      <p:ext uri="{BB962C8B-B14F-4D97-AF65-F5344CB8AC3E}">
        <p14:creationId xmlns:p14="http://schemas.microsoft.com/office/powerpoint/2010/main" val="114186846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62EC34A-2A90-40D7-8C39-37217612E64D}"/>
              </a:ext>
            </a:extLst>
          </p:cNvPr>
          <p:cNvSpPr>
            <a:spLocks noGrp="1"/>
          </p:cNvSpPr>
          <p:nvPr>
            <p:ph type="title"/>
          </p:nvPr>
        </p:nvSpPr>
        <p:spPr/>
        <p:txBody>
          <a:bodyPr/>
          <a:lstStyle/>
          <a:p>
            <a:r>
              <a:rPr lang="en-GB" dirty="0"/>
              <a:t>Requirements</a:t>
            </a:r>
          </a:p>
        </p:txBody>
      </p:sp>
      <p:sp>
        <p:nvSpPr>
          <p:cNvPr id="6" name="Text Placeholder 5">
            <a:extLst>
              <a:ext uri="{FF2B5EF4-FFF2-40B4-BE49-F238E27FC236}">
                <a16:creationId xmlns:a16="http://schemas.microsoft.com/office/drawing/2014/main" id="{980D2D71-F529-4649-9356-81FC175149AE}"/>
              </a:ext>
            </a:extLst>
          </p:cNvPr>
          <p:cNvSpPr>
            <a:spLocks noGrp="1"/>
          </p:cNvSpPr>
          <p:nvPr>
            <p:ph type="body" idx="1"/>
          </p:nvPr>
        </p:nvSpPr>
        <p:spPr/>
        <p:txBody>
          <a:bodyPr>
            <a:normAutofit/>
          </a:bodyPr>
          <a:lstStyle/>
          <a:p>
            <a:r>
              <a:rPr lang="en-GB" sz="3200" dirty="0"/>
              <a:t>End-user Requirements	</a:t>
            </a:r>
          </a:p>
        </p:txBody>
      </p:sp>
      <p:sp>
        <p:nvSpPr>
          <p:cNvPr id="8" name="Text Placeholder 7">
            <a:extLst>
              <a:ext uri="{FF2B5EF4-FFF2-40B4-BE49-F238E27FC236}">
                <a16:creationId xmlns:a16="http://schemas.microsoft.com/office/drawing/2014/main" id="{21EA3E42-8994-40FF-8791-2942875985C5}"/>
              </a:ext>
            </a:extLst>
          </p:cNvPr>
          <p:cNvSpPr>
            <a:spLocks noGrp="1"/>
          </p:cNvSpPr>
          <p:nvPr>
            <p:ph type="body" sz="quarter" idx="3"/>
          </p:nvPr>
        </p:nvSpPr>
        <p:spPr/>
        <p:txBody>
          <a:bodyPr>
            <a:normAutofit/>
          </a:bodyPr>
          <a:lstStyle/>
          <a:p>
            <a:r>
              <a:rPr lang="en-GB" sz="3200" b="1" i="0" dirty="0">
                <a:solidFill>
                  <a:srgbClr val="231F20"/>
                </a:solidFill>
                <a:effectLst/>
                <a:latin typeface="ReithSans"/>
              </a:rPr>
              <a:t>Functional Requirements</a:t>
            </a:r>
          </a:p>
        </p:txBody>
      </p:sp>
      <p:sp>
        <p:nvSpPr>
          <p:cNvPr id="14" name="Content Placeholder 13">
            <a:extLst>
              <a:ext uri="{FF2B5EF4-FFF2-40B4-BE49-F238E27FC236}">
                <a16:creationId xmlns:a16="http://schemas.microsoft.com/office/drawing/2014/main" id="{E05973AC-DAFB-40B7-9EB6-558188914A8C}"/>
              </a:ext>
            </a:extLst>
          </p:cNvPr>
          <p:cNvSpPr>
            <a:spLocks noGrp="1"/>
          </p:cNvSpPr>
          <p:nvPr>
            <p:ph sz="half" idx="2"/>
          </p:nvPr>
        </p:nvSpPr>
        <p:spPr/>
        <p:txBody>
          <a:bodyPr/>
          <a:lstStyle/>
          <a:p>
            <a:r>
              <a:rPr lang="en-GB" dirty="0"/>
              <a:t>The tasks that the users of the database must be able to do</a:t>
            </a:r>
          </a:p>
        </p:txBody>
      </p:sp>
      <p:sp>
        <p:nvSpPr>
          <p:cNvPr id="16" name="Content Placeholder 15">
            <a:extLst>
              <a:ext uri="{FF2B5EF4-FFF2-40B4-BE49-F238E27FC236}">
                <a16:creationId xmlns:a16="http://schemas.microsoft.com/office/drawing/2014/main" id="{330D2466-F170-40B9-B023-9A560AA62506}"/>
              </a:ext>
            </a:extLst>
          </p:cNvPr>
          <p:cNvSpPr>
            <a:spLocks noGrp="1"/>
          </p:cNvSpPr>
          <p:nvPr>
            <p:ph sz="quarter" idx="4"/>
          </p:nvPr>
        </p:nvSpPr>
        <p:spPr/>
        <p:txBody>
          <a:bodyPr/>
          <a:lstStyle/>
          <a:p>
            <a:r>
              <a:rPr lang="en-GB" dirty="0"/>
              <a:t>The information that the database will need to hold</a:t>
            </a:r>
          </a:p>
          <a:p>
            <a:r>
              <a:rPr lang="en-GB" dirty="0"/>
              <a:t>The SQL queries that are required to produce the results</a:t>
            </a:r>
          </a:p>
        </p:txBody>
      </p:sp>
      <p:sp>
        <p:nvSpPr>
          <p:cNvPr id="3" name="TextBox 2">
            <a:extLst>
              <a:ext uri="{FF2B5EF4-FFF2-40B4-BE49-F238E27FC236}">
                <a16:creationId xmlns:a16="http://schemas.microsoft.com/office/drawing/2014/main" id="{D15345B6-E9DB-78B1-1F2F-94E853898FBE}"/>
              </a:ext>
            </a:extLst>
          </p:cNvPr>
          <p:cNvSpPr txBox="1"/>
          <p:nvPr/>
        </p:nvSpPr>
        <p:spPr>
          <a:xfrm>
            <a:off x="1798744" y="4461550"/>
            <a:ext cx="8572287" cy="2031325"/>
          </a:xfrm>
          <a:prstGeom prst="rect">
            <a:avLst/>
          </a:prstGeom>
          <a:noFill/>
        </p:spPr>
        <p:txBody>
          <a:bodyPr wrap="square">
            <a:spAutoFit/>
          </a:bodyPr>
          <a:lstStyle/>
          <a:p>
            <a:r>
              <a:rPr lang="en-GB" sz="2800" b="1" dirty="0">
                <a:solidFill>
                  <a:srgbClr val="7030A0"/>
                </a:solidFill>
              </a:rPr>
              <a:t>Requirements help</a:t>
            </a:r>
            <a:r>
              <a:rPr lang="en-GB" sz="2800" dirty="0"/>
              <a:t>:  </a:t>
            </a:r>
          </a:p>
          <a:p>
            <a:endParaRPr lang="en-GB" sz="1400" dirty="0"/>
          </a:p>
          <a:p>
            <a:pPr marL="285750" indent="-285750">
              <a:buFont typeface="Arial" panose="020B0604020202020204" pitchFamily="34" charset="0"/>
              <a:buChar char="•"/>
            </a:pPr>
            <a:r>
              <a:rPr lang="en-GB" sz="2800" dirty="0"/>
              <a:t>clarify the design of the database </a:t>
            </a:r>
          </a:p>
          <a:p>
            <a:pPr marL="285750" indent="-285750">
              <a:buFont typeface="Arial" panose="020B0604020202020204" pitchFamily="34" charset="0"/>
              <a:buChar char="•"/>
            </a:pPr>
            <a:r>
              <a:rPr lang="en-GB" sz="2800" dirty="0"/>
              <a:t>identify the features to be implemented</a:t>
            </a:r>
          </a:p>
          <a:p>
            <a:pPr marL="285750" indent="-285750">
              <a:buFont typeface="Arial" panose="020B0604020202020204" pitchFamily="34" charset="0"/>
              <a:buChar char="•"/>
            </a:pPr>
            <a:r>
              <a:rPr lang="en-GB" sz="2800" dirty="0"/>
              <a:t>evaluate if the system is fit for purpose when completed </a:t>
            </a:r>
          </a:p>
        </p:txBody>
      </p:sp>
    </p:spTree>
    <p:extLst>
      <p:ext uri="{BB962C8B-B14F-4D97-AF65-F5344CB8AC3E}">
        <p14:creationId xmlns:p14="http://schemas.microsoft.com/office/powerpoint/2010/main" val="1600644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1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wipe(left)">
                                      <p:cBhvr>
                                        <p:cTn id="12" dur="10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wipe(left)">
                                      <p:cBhvr>
                                        <p:cTn id="17" dur="1000"/>
                                        <p:tgtEl>
                                          <p:spTgt spid="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
                                            <p:txEl>
                                              <p:pRg st="0" end="0"/>
                                            </p:txEl>
                                          </p:spTgt>
                                        </p:tgtEl>
                                        <p:attrNameLst>
                                          <p:attrName>style.visibility</p:attrName>
                                        </p:attrNameLst>
                                      </p:cBhvr>
                                      <p:to>
                                        <p:strVal val="visible"/>
                                      </p:to>
                                    </p:set>
                                    <p:animEffect transition="in" filter="wipe(left)">
                                      <p:cBhvr>
                                        <p:cTn id="22" dur="1000"/>
                                        <p:tgtEl>
                                          <p:spTgt spid="1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
                                            <p:txEl>
                                              <p:pRg st="1" end="1"/>
                                            </p:txEl>
                                          </p:spTgt>
                                        </p:tgtEl>
                                        <p:attrNameLst>
                                          <p:attrName>style.visibility</p:attrName>
                                        </p:attrNameLst>
                                      </p:cBhvr>
                                      <p:to>
                                        <p:strVal val="visible"/>
                                      </p:to>
                                    </p:set>
                                    <p:animEffect transition="in" filter="wipe(left)">
                                      <p:cBhvr>
                                        <p:cTn id="27" dur="1000"/>
                                        <p:tgtEl>
                                          <p:spTgt spid="16">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Effect transition="in" filter="wipe(left)">
                                      <p:cBhvr>
                                        <p:cTn id="32" dur="1000"/>
                                        <p:tgtEl>
                                          <p:spTgt spid="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Effect transition="in" filter="wipe(left)">
                                      <p:cBhvr>
                                        <p:cTn id="37" dur="1500"/>
                                        <p:tgtEl>
                                          <p:spTgt spid="3">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wipe(left)">
                                      <p:cBhvr>
                                        <p:cTn id="42" dur="1750"/>
                                        <p:tgtEl>
                                          <p:spTgt spid="3">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Effect transition="in" filter="wipe(left)">
                                      <p:cBhvr>
                                        <p:cTn id="4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build="p"/>
      <p:bldP spid="14" grpId="0" build="p"/>
      <p:bldP spid="16" grpId="0" build="p"/>
      <p:bldP spid="3" grpId="0" uiExpand="1" build="p"/>
    </p:bldLst>
  </p:timing>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62EC34A-2A90-40D7-8C39-37217612E64D}"/>
              </a:ext>
            </a:extLst>
          </p:cNvPr>
          <p:cNvSpPr>
            <a:spLocks noGrp="1"/>
          </p:cNvSpPr>
          <p:nvPr>
            <p:ph type="title"/>
          </p:nvPr>
        </p:nvSpPr>
        <p:spPr/>
        <p:txBody>
          <a:bodyPr/>
          <a:lstStyle/>
          <a:p>
            <a:r>
              <a:rPr lang="en-GB" dirty="0"/>
              <a:t>Requirements</a:t>
            </a:r>
          </a:p>
        </p:txBody>
      </p:sp>
      <p:sp>
        <p:nvSpPr>
          <p:cNvPr id="6" name="Text Placeholder 5">
            <a:extLst>
              <a:ext uri="{FF2B5EF4-FFF2-40B4-BE49-F238E27FC236}">
                <a16:creationId xmlns:a16="http://schemas.microsoft.com/office/drawing/2014/main" id="{980D2D71-F529-4649-9356-81FC175149AE}"/>
              </a:ext>
            </a:extLst>
          </p:cNvPr>
          <p:cNvSpPr>
            <a:spLocks noGrp="1"/>
          </p:cNvSpPr>
          <p:nvPr>
            <p:ph type="body" idx="1"/>
          </p:nvPr>
        </p:nvSpPr>
        <p:spPr/>
        <p:txBody>
          <a:bodyPr>
            <a:normAutofit/>
          </a:bodyPr>
          <a:lstStyle/>
          <a:p>
            <a:r>
              <a:rPr lang="en-GB" sz="3200" dirty="0"/>
              <a:t>                   Requirements	</a:t>
            </a:r>
          </a:p>
        </p:txBody>
      </p:sp>
      <p:sp>
        <p:nvSpPr>
          <p:cNvPr id="8" name="Text Placeholder 7">
            <a:extLst>
              <a:ext uri="{FF2B5EF4-FFF2-40B4-BE49-F238E27FC236}">
                <a16:creationId xmlns:a16="http://schemas.microsoft.com/office/drawing/2014/main" id="{21EA3E42-8994-40FF-8791-2942875985C5}"/>
              </a:ext>
            </a:extLst>
          </p:cNvPr>
          <p:cNvSpPr>
            <a:spLocks noGrp="1"/>
          </p:cNvSpPr>
          <p:nvPr>
            <p:ph type="body" sz="quarter" idx="3"/>
          </p:nvPr>
        </p:nvSpPr>
        <p:spPr/>
        <p:txBody>
          <a:bodyPr>
            <a:normAutofit/>
          </a:bodyPr>
          <a:lstStyle/>
          <a:p>
            <a:r>
              <a:rPr lang="en-GB" sz="3200" b="1" i="0" dirty="0">
                <a:solidFill>
                  <a:srgbClr val="231F20"/>
                </a:solidFill>
                <a:effectLst/>
                <a:latin typeface="ReithSans"/>
              </a:rPr>
              <a:t>                       Requirements</a:t>
            </a:r>
          </a:p>
        </p:txBody>
      </p:sp>
      <p:sp>
        <p:nvSpPr>
          <p:cNvPr id="14" name="Content Placeholder 13">
            <a:extLst>
              <a:ext uri="{FF2B5EF4-FFF2-40B4-BE49-F238E27FC236}">
                <a16:creationId xmlns:a16="http://schemas.microsoft.com/office/drawing/2014/main" id="{E05973AC-DAFB-40B7-9EB6-558188914A8C}"/>
              </a:ext>
            </a:extLst>
          </p:cNvPr>
          <p:cNvSpPr>
            <a:spLocks noGrp="1"/>
          </p:cNvSpPr>
          <p:nvPr>
            <p:ph sz="half" idx="2"/>
          </p:nvPr>
        </p:nvSpPr>
        <p:spPr/>
        <p:txBody>
          <a:bodyPr/>
          <a:lstStyle/>
          <a:p>
            <a:r>
              <a:rPr lang="en-GB" dirty="0"/>
              <a:t>The            that the users of the database must be able to do</a:t>
            </a:r>
          </a:p>
        </p:txBody>
      </p:sp>
      <p:sp>
        <p:nvSpPr>
          <p:cNvPr id="16" name="Content Placeholder 15">
            <a:extLst>
              <a:ext uri="{FF2B5EF4-FFF2-40B4-BE49-F238E27FC236}">
                <a16:creationId xmlns:a16="http://schemas.microsoft.com/office/drawing/2014/main" id="{330D2466-F170-40B9-B023-9A560AA62506}"/>
              </a:ext>
            </a:extLst>
          </p:cNvPr>
          <p:cNvSpPr>
            <a:spLocks noGrp="1"/>
          </p:cNvSpPr>
          <p:nvPr>
            <p:ph sz="quarter" idx="4"/>
          </p:nvPr>
        </p:nvSpPr>
        <p:spPr/>
        <p:txBody>
          <a:bodyPr/>
          <a:lstStyle/>
          <a:p>
            <a:r>
              <a:rPr lang="en-GB" dirty="0"/>
              <a:t>The                           that the database will need to hold</a:t>
            </a:r>
          </a:p>
          <a:p>
            <a:r>
              <a:rPr lang="en-GB" dirty="0"/>
              <a:t>The SQL                   that are required to produce the results</a:t>
            </a:r>
          </a:p>
        </p:txBody>
      </p:sp>
      <p:sp>
        <p:nvSpPr>
          <p:cNvPr id="3" name="TextBox 2">
            <a:extLst>
              <a:ext uri="{FF2B5EF4-FFF2-40B4-BE49-F238E27FC236}">
                <a16:creationId xmlns:a16="http://schemas.microsoft.com/office/drawing/2014/main" id="{D15345B6-E9DB-78B1-1F2F-94E853898FBE}"/>
              </a:ext>
            </a:extLst>
          </p:cNvPr>
          <p:cNvSpPr txBox="1"/>
          <p:nvPr/>
        </p:nvSpPr>
        <p:spPr>
          <a:xfrm>
            <a:off x="1798744" y="4461550"/>
            <a:ext cx="9193106" cy="2031325"/>
          </a:xfrm>
          <a:prstGeom prst="rect">
            <a:avLst/>
          </a:prstGeom>
          <a:noFill/>
        </p:spPr>
        <p:txBody>
          <a:bodyPr wrap="square">
            <a:spAutoFit/>
          </a:bodyPr>
          <a:lstStyle/>
          <a:p>
            <a:r>
              <a:rPr lang="en-GB" sz="2800" b="1" dirty="0">
                <a:solidFill>
                  <a:srgbClr val="7030A0"/>
                </a:solidFill>
              </a:rPr>
              <a:t>Requirements help</a:t>
            </a:r>
            <a:r>
              <a:rPr lang="en-GB" sz="2800" dirty="0"/>
              <a:t>:  </a:t>
            </a:r>
          </a:p>
          <a:p>
            <a:endParaRPr lang="en-GB" sz="1400" dirty="0"/>
          </a:p>
          <a:p>
            <a:pPr marL="285750" indent="-285750">
              <a:buFont typeface="Arial" panose="020B0604020202020204" pitchFamily="34" charset="0"/>
              <a:buChar char="•"/>
            </a:pPr>
            <a:r>
              <a:rPr lang="en-GB" sz="2800" dirty="0"/>
              <a:t>              the design of the database </a:t>
            </a:r>
          </a:p>
          <a:p>
            <a:pPr marL="285750" indent="-285750">
              <a:buFont typeface="Arial" panose="020B0604020202020204" pitchFamily="34" charset="0"/>
              <a:buChar char="•"/>
            </a:pPr>
            <a:r>
              <a:rPr lang="en-GB" sz="2800" dirty="0"/>
              <a:t>                 the features to be implemented</a:t>
            </a:r>
          </a:p>
          <a:p>
            <a:pPr marL="285750" indent="-285750">
              <a:buFont typeface="Arial" panose="020B0604020202020204" pitchFamily="34" charset="0"/>
              <a:buChar char="•"/>
            </a:pPr>
            <a:r>
              <a:rPr lang="en-GB" sz="2800" dirty="0"/>
              <a:t>                   if the system is fit for purpose when completed </a:t>
            </a:r>
          </a:p>
        </p:txBody>
      </p:sp>
    </p:spTree>
    <p:extLst>
      <p:ext uri="{BB962C8B-B14F-4D97-AF65-F5344CB8AC3E}">
        <p14:creationId xmlns:p14="http://schemas.microsoft.com/office/powerpoint/2010/main" val="58375925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977BA9-5052-AEBB-63AE-9572018FCAC5}"/>
              </a:ext>
            </a:extLst>
          </p:cNvPr>
          <p:cNvSpPr>
            <a:spLocks noGrp="1"/>
          </p:cNvSpPr>
          <p:nvPr>
            <p:ph type="title"/>
          </p:nvPr>
        </p:nvSpPr>
        <p:spPr/>
        <p:txBody>
          <a:bodyPr/>
          <a:lstStyle/>
          <a:p>
            <a:r>
              <a:rPr lang="en-GB" dirty="0"/>
              <a:t>End-User Requirements</a:t>
            </a:r>
          </a:p>
        </p:txBody>
      </p:sp>
      <p:sp>
        <p:nvSpPr>
          <p:cNvPr id="5" name="Rectangle: Rounded Corners 4">
            <a:extLst>
              <a:ext uri="{FF2B5EF4-FFF2-40B4-BE49-F238E27FC236}">
                <a16:creationId xmlns:a16="http://schemas.microsoft.com/office/drawing/2014/main" id="{14D164DF-E92D-CBB7-F339-F11144806BD0}"/>
              </a:ext>
            </a:extLst>
          </p:cNvPr>
          <p:cNvSpPr/>
          <p:nvPr/>
        </p:nvSpPr>
        <p:spPr>
          <a:xfrm>
            <a:off x="349956" y="3442352"/>
            <a:ext cx="2988000" cy="144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The user must be able to</a:t>
            </a:r>
          </a:p>
        </p:txBody>
      </p:sp>
      <p:sp>
        <p:nvSpPr>
          <p:cNvPr id="6" name="Rectangle: Rounded Corners 5">
            <a:extLst>
              <a:ext uri="{FF2B5EF4-FFF2-40B4-BE49-F238E27FC236}">
                <a16:creationId xmlns:a16="http://schemas.microsoft.com/office/drawing/2014/main" id="{AAD69D90-28B7-7A05-046C-3A5212110F16}"/>
              </a:ext>
            </a:extLst>
          </p:cNvPr>
          <p:cNvSpPr/>
          <p:nvPr/>
        </p:nvSpPr>
        <p:spPr>
          <a:xfrm>
            <a:off x="8854044" y="3442352"/>
            <a:ext cx="2988000" cy="144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specific details from context</a:t>
            </a:r>
          </a:p>
        </p:txBody>
      </p:sp>
      <p:grpSp>
        <p:nvGrpSpPr>
          <p:cNvPr id="39" name="Group 38">
            <a:extLst>
              <a:ext uri="{FF2B5EF4-FFF2-40B4-BE49-F238E27FC236}">
                <a16:creationId xmlns:a16="http://schemas.microsoft.com/office/drawing/2014/main" id="{99B7C9B5-1940-69D9-ED01-2BE6CFD0E7DF}"/>
              </a:ext>
            </a:extLst>
          </p:cNvPr>
          <p:cNvGrpSpPr/>
          <p:nvPr/>
        </p:nvGrpSpPr>
        <p:grpSpPr>
          <a:xfrm>
            <a:off x="3337956" y="2290900"/>
            <a:ext cx="5516088" cy="1871452"/>
            <a:chOff x="3337956" y="2290900"/>
            <a:chExt cx="5516088" cy="1871452"/>
          </a:xfrm>
        </p:grpSpPr>
        <p:sp>
          <p:nvSpPr>
            <p:cNvPr id="10" name="Rectangle: Rounded Corners 9">
              <a:extLst>
                <a:ext uri="{FF2B5EF4-FFF2-40B4-BE49-F238E27FC236}">
                  <a16:creationId xmlns:a16="http://schemas.microsoft.com/office/drawing/2014/main" id="{BFAC4B34-BF94-3A70-1101-76BA02F53E6D}"/>
                </a:ext>
              </a:extLst>
            </p:cNvPr>
            <p:cNvSpPr/>
            <p:nvPr/>
          </p:nvSpPr>
          <p:spPr>
            <a:xfrm>
              <a:off x="5286000" y="2290900"/>
              <a:ext cx="1620000" cy="576000"/>
            </a:xfrm>
            <a:prstGeom prst="roundRect">
              <a:avLst/>
            </a:prstGeom>
            <a:ln>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display</a:t>
              </a:r>
            </a:p>
          </p:txBody>
        </p:sp>
        <p:cxnSp>
          <p:nvCxnSpPr>
            <p:cNvPr id="13" name="Straight Arrow Connector 12">
              <a:extLst>
                <a:ext uri="{FF2B5EF4-FFF2-40B4-BE49-F238E27FC236}">
                  <a16:creationId xmlns:a16="http://schemas.microsoft.com/office/drawing/2014/main" id="{706068DC-3EE2-FCC1-B884-AD1137DF4DA6}"/>
                </a:ext>
              </a:extLst>
            </p:cNvPr>
            <p:cNvCxnSpPr>
              <a:stCxn id="5" idx="3"/>
              <a:endCxn id="10" idx="1"/>
            </p:cNvCxnSpPr>
            <p:nvPr/>
          </p:nvCxnSpPr>
          <p:spPr>
            <a:xfrm flipV="1">
              <a:off x="3337956" y="2578900"/>
              <a:ext cx="1948044" cy="1583452"/>
            </a:xfrm>
            <a:prstGeom prst="curvedConnector3">
              <a:avLst>
                <a:gd name="adj1" fmla="val 31122"/>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0D5A7B2-B7AD-7D36-8EB1-D7BDBEFC1604}"/>
                </a:ext>
              </a:extLst>
            </p:cNvPr>
            <p:cNvCxnSpPr>
              <a:stCxn id="10" idx="3"/>
              <a:endCxn id="6" idx="1"/>
            </p:cNvCxnSpPr>
            <p:nvPr/>
          </p:nvCxnSpPr>
          <p:spPr>
            <a:xfrm>
              <a:off x="6906000" y="2578900"/>
              <a:ext cx="1948044" cy="1583452"/>
            </a:xfrm>
            <a:prstGeom prst="curvedConnector3">
              <a:avLst>
                <a:gd name="adj1" fmla="val 69069"/>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DE04E227-EC5E-5B11-8E1B-4FDBA3493BC6}"/>
              </a:ext>
            </a:extLst>
          </p:cNvPr>
          <p:cNvGrpSpPr/>
          <p:nvPr/>
        </p:nvGrpSpPr>
        <p:grpSpPr>
          <a:xfrm>
            <a:off x="3337956" y="3301255"/>
            <a:ext cx="5516088" cy="861097"/>
            <a:chOff x="3337956" y="3301255"/>
            <a:chExt cx="5516088" cy="861097"/>
          </a:xfrm>
        </p:grpSpPr>
        <p:sp>
          <p:nvSpPr>
            <p:cNvPr id="9" name="Rectangle: Rounded Corners 8">
              <a:extLst>
                <a:ext uri="{FF2B5EF4-FFF2-40B4-BE49-F238E27FC236}">
                  <a16:creationId xmlns:a16="http://schemas.microsoft.com/office/drawing/2014/main" id="{06EF0D47-7B57-60F1-3B60-0A56D6754DAD}"/>
                </a:ext>
              </a:extLst>
            </p:cNvPr>
            <p:cNvSpPr/>
            <p:nvPr/>
          </p:nvSpPr>
          <p:spPr>
            <a:xfrm>
              <a:off x="5286000" y="3301255"/>
              <a:ext cx="1620000" cy="576000"/>
            </a:xfrm>
            <a:prstGeom prst="roundRect">
              <a:avLst/>
            </a:prstGeom>
            <a:ln>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add</a:t>
              </a:r>
            </a:p>
          </p:txBody>
        </p:sp>
        <p:cxnSp>
          <p:nvCxnSpPr>
            <p:cNvPr id="16" name="Straight Arrow Connector 15">
              <a:extLst>
                <a:ext uri="{FF2B5EF4-FFF2-40B4-BE49-F238E27FC236}">
                  <a16:creationId xmlns:a16="http://schemas.microsoft.com/office/drawing/2014/main" id="{A2C04D05-B888-B28C-3B89-A1C1A5DEA472}"/>
                </a:ext>
              </a:extLst>
            </p:cNvPr>
            <p:cNvCxnSpPr>
              <a:cxnSpLocks/>
              <a:stCxn id="5" idx="3"/>
              <a:endCxn id="9" idx="1"/>
            </p:cNvCxnSpPr>
            <p:nvPr/>
          </p:nvCxnSpPr>
          <p:spPr>
            <a:xfrm flipV="1">
              <a:off x="3337956" y="3589255"/>
              <a:ext cx="1948044" cy="573097"/>
            </a:xfrm>
            <a:prstGeom prst="curvedConnector3">
              <a:avLst>
                <a:gd name="adj1" fmla="val 31611"/>
              </a:avLst>
            </a:prstGeom>
            <a:ln w="38100">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348DE9A-1D2D-72E3-162F-0D7068291FDF}"/>
                </a:ext>
              </a:extLst>
            </p:cNvPr>
            <p:cNvCxnSpPr>
              <a:stCxn id="9" idx="3"/>
              <a:endCxn id="6" idx="1"/>
            </p:cNvCxnSpPr>
            <p:nvPr/>
          </p:nvCxnSpPr>
          <p:spPr>
            <a:xfrm>
              <a:off x="6906000" y="3589255"/>
              <a:ext cx="1948044" cy="573097"/>
            </a:xfrm>
            <a:prstGeom prst="curvedConnector3">
              <a:avLst>
                <a:gd name="adj1" fmla="val 69558"/>
              </a:avLst>
            </a:prstGeom>
            <a:ln w="38100">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0D29CB2-063F-BC3D-5B79-F592688F21ED}"/>
              </a:ext>
            </a:extLst>
          </p:cNvPr>
          <p:cNvGrpSpPr/>
          <p:nvPr/>
        </p:nvGrpSpPr>
        <p:grpSpPr>
          <a:xfrm>
            <a:off x="3337956" y="4162352"/>
            <a:ext cx="5516088" cy="725258"/>
            <a:chOff x="3337956" y="4162352"/>
            <a:chExt cx="5516088" cy="725258"/>
          </a:xfrm>
        </p:grpSpPr>
        <p:sp>
          <p:nvSpPr>
            <p:cNvPr id="8" name="Rectangle: Rounded Corners 7">
              <a:extLst>
                <a:ext uri="{FF2B5EF4-FFF2-40B4-BE49-F238E27FC236}">
                  <a16:creationId xmlns:a16="http://schemas.microsoft.com/office/drawing/2014/main" id="{681D8EBA-C9CF-E11E-8335-B5E1C0BD4897}"/>
                </a:ext>
              </a:extLst>
            </p:cNvPr>
            <p:cNvSpPr/>
            <p:nvPr/>
          </p:nvSpPr>
          <p:spPr>
            <a:xfrm>
              <a:off x="5286000" y="4311610"/>
              <a:ext cx="1620000" cy="576000"/>
            </a:xfrm>
            <a:prstGeom prst="roundRect">
              <a:avLst/>
            </a:prstGeom>
            <a:ln>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edit</a:t>
              </a:r>
            </a:p>
          </p:txBody>
        </p:sp>
        <p:cxnSp>
          <p:nvCxnSpPr>
            <p:cNvPr id="18" name="Straight Arrow Connector 17">
              <a:extLst>
                <a:ext uri="{FF2B5EF4-FFF2-40B4-BE49-F238E27FC236}">
                  <a16:creationId xmlns:a16="http://schemas.microsoft.com/office/drawing/2014/main" id="{4F8C6197-C09C-3507-D9E1-77BDF13D49D2}"/>
                </a:ext>
              </a:extLst>
            </p:cNvPr>
            <p:cNvCxnSpPr>
              <a:stCxn id="5" idx="3"/>
              <a:endCxn id="8" idx="1"/>
            </p:cNvCxnSpPr>
            <p:nvPr/>
          </p:nvCxnSpPr>
          <p:spPr>
            <a:xfrm>
              <a:off x="3337956" y="4162352"/>
              <a:ext cx="1948044" cy="437258"/>
            </a:xfrm>
            <a:prstGeom prst="curvedConnector3">
              <a:avLst>
                <a:gd name="adj1" fmla="val 30959"/>
              </a:avLst>
            </a:prstGeom>
            <a:ln w="38100">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90ABB77-9281-89C2-0741-89A308B68B9D}"/>
                </a:ext>
              </a:extLst>
            </p:cNvPr>
            <p:cNvCxnSpPr>
              <a:stCxn id="8" idx="3"/>
              <a:endCxn id="6" idx="1"/>
            </p:cNvCxnSpPr>
            <p:nvPr/>
          </p:nvCxnSpPr>
          <p:spPr>
            <a:xfrm flipV="1">
              <a:off x="6906000" y="4162352"/>
              <a:ext cx="1948044" cy="437258"/>
            </a:xfrm>
            <a:prstGeom prst="curvedConnector3">
              <a:avLst>
                <a:gd name="adj1" fmla="val 69558"/>
              </a:avLst>
            </a:prstGeom>
            <a:ln w="38100">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3E3760D5-EA89-8E10-B7FD-8370049545DD}"/>
              </a:ext>
            </a:extLst>
          </p:cNvPr>
          <p:cNvGrpSpPr/>
          <p:nvPr/>
        </p:nvGrpSpPr>
        <p:grpSpPr>
          <a:xfrm>
            <a:off x="3337956" y="4162352"/>
            <a:ext cx="5516088" cy="1735613"/>
            <a:chOff x="3337956" y="4162352"/>
            <a:chExt cx="5516088" cy="1735613"/>
          </a:xfrm>
        </p:grpSpPr>
        <p:sp>
          <p:nvSpPr>
            <p:cNvPr id="7" name="Rectangle: Rounded Corners 6">
              <a:extLst>
                <a:ext uri="{FF2B5EF4-FFF2-40B4-BE49-F238E27FC236}">
                  <a16:creationId xmlns:a16="http://schemas.microsoft.com/office/drawing/2014/main" id="{DDAC4BFC-3AC2-CDF6-6A70-54E3B698E160}"/>
                </a:ext>
              </a:extLst>
            </p:cNvPr>
            <p:cNvSpPr/>
            <p:nvPr/>
          </p:nvSpPr>
          <p:spPr>
            <a:xfrm>
              <a:off x="5286000" y="5321965"/>
              <a:ext cx="1620000" cy="576000"/>
            </a:xfrm>
            <a:prstGeom prst="roundRect">
              <a:avLst/>
            </a:prstGeom>
            <a:ln>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remove</a:t>
              </a:r>
            </a:p>
          </p:txBody>
        </p:sp>
        <p:cxnSp>
          <p:nvCxnSpPr>
            <p:cNvPr id="20" name="Straight Arrow Connector 19">
              <a:extLst>
                <a:ext uri="{FF2B5EF4-FFF2-40B4-BE49-F238E27FC236}">
                  <a16:creationId xmlns:a16="http://schemas.microsoft.com/office/drawing/2014/main" id="{4F7D1DF8-E4A3-503E-0374-FCBF7ED62765}"/>
                </a:ext>
              </a:extLst>
            </p:cNvPr>
            <p:cNvCxnSpPr>
              <a:stCxn id="5" idx="3"/>
              <a:endCxn id="7" idx="1"/>
            </p:cNvCxnSpPr>
            <p:nvPr/>
          </p:nvCxnSpPr>
          <p:spPr>
            <a:xfrm>
              <a:off x="3337956" y="4162352"/>
              <a:ext cx="1948044" cy="1447613"/>
            </a:xfrm>
            <a:prstGeom prst="curvedConnector3">
              <a:avLst>
                <a:gd name="adj1" fmla="val 30644"/>
              </a:avLst>
            </a:prstGeom>
            <a:ln w="38100">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565C2C7-1437-CDF9-79D7-B4B948E7344B}"/>
                </a:ext>
              </a:extLst>
            </p:cNvPr>
            <p:cNvCxnSpPr>
              <a:stCxn id="7" idx="3"/>
              <a:endCxn id="6" idx="1"/>
            </p:cNvCxnSpPr>
            <p:nvPr/>
          </p:nvCxnSpPr>
          <p:spPr>
            <a:xfrm flipV="1">
              <a:off x="6906000" y="4162352"/>
              <a:ext cx="1948044" cy="1447613"/>
            </a:xfrm>
            <a:prstGeom prst="curvedConnector3">
              <a:avLst>
                <a:gd name="adj1" fmla="val 69069"/>
              </a:avLst>
            </a:prstGeom>
            <a:ln w="38100">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399ACD80-6E1D-EC8C-93E6-81538834C453}"/>
              </a:ext>
            </a:extLst>
          </p:cNvPr>
          <p:cNvSpPr txBox="1"/>
          <p:nvPr/>
        </p:nvSpPr>
        <p:spPr>
          <a:xfrm>
            <a:off x="4276023" y="6183062"/>
            <a:ext cx="3639954" cy="523220"/>
          </a:xfrm>
          <a:prstGeom prst="rect">
            <a:avLst/>
          </a:prstGeom>
          <a:noFill/>
        </p:spPr>
        <p:txBody>
          <a:bodyPr wrap="square">
            <a:spAutoFit/>
          </a:bodyPr>
          <a:lstStyle/>
          <a:p>
            <a:pPr algn="ctr"/>
            <a:r>
              <a:rPr lang="en-GB" sz="2800" dirty="0">
                <a:solidFill>
                  <a:srgbClr val="7030A0"/>
                </a:solidFill>
              </a:rPr>
              <a:t>Non-technical language</a:t>
            </a:r>
          </a:p>
        </p:txBody>
      </p:sp>
    </p:spTree>
    <p:extLst>
      <p:ext uri="{BB962C8B-B14F-4D97-AF65-F5344CB8AC3E}">
        <p14:creationId xmlns:p14="http://schemas.microsoft.com/office/powerpoint/2010/main" val="1164188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wipe(left)">
                                      <p:cBhvr>
                                        <p:cTn id="17" dur="30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wipe(left)">
                                      <p:cBhvr>
                                        <p:cTn id="22" dur="30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left)">
                                      <p:cBhvr>
                                        <p:cTn id="27" dur="30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wipe(left)">
                                      <p:cBhvr>
                                        <p:cTn id="32" dur="300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1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 grpId="0"/>
    </p:bldLst>
  </p:timing>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977BA9-5052-AEBB-63AE-9572018FCAC5}"/>
              </a:ext>
            </a:extLst>
          </p:cNvPr>
          <p:cNvSpPr>
            <a:spLocks noGrp="1"/>
          </p:cNvSpPr>
          <p:nvPr>
            <p:ph type="title"/>
          </p:nvPr>
        </p:nvSpPr>
        <p:spPr/>
        <p:txBody>
          <a:bodyPr/>
          <a:lstStyle/>
          <a:p>
            <a:r>
              <a:rPr lang="en-GB" dirty="0"/>
              <a:t>End-User Requirements</a:t>
            </a:r>
          </a:p>
        </p:txBody>
      </p:sp>
      <p:sp>
        <p:nvSpPr>
          <p:cNvPr id="5" name="Rectangle: Rounded Corners 4">
            <a:extLst>
              <a:ext uri="{FF2B5EF4-FFF2-40B4-BE49-F238E27FC236}">
                <a16:creationId xmlns:a16="http://schemas.microsoft.com/office/drawing/2014/main" id="{14D164DF-E92D-CBB7-F339-F11144806BD0}"/>
              </a:ext>
            </a:extLst>
          </p:cNvPr>
          <p:cNvSpPr/>
          <p:nvPr/>
        </p:nvSpPr>
        <p:spPr>
          <a:xfrm>
            <a:off x="349956" y="3442352"/>
            <a:ext cx="2988000" cy="1440000"/>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sp>
        <p:nvSpPr>
          <p:cNvPr id="6" name="Rectangle: Rounded Corners 5">
            <a:extLst>
              <a:ext uri="{FF2B5EF4-FFF2-40B4-BE49-F238E27FC236}">
                <a16:creationId xmlns:a16="http://schemas.microsoft.com/office/drawing/2014/main" id="{AAD69D90-28B7-7A05-046C-3A5212110F16}"/>
              </a:ext>
            </a:extLst>
          </p:cNvPr>
          <p:cNvSpPr/>
          <p:nvPr/>
        </p:nvSpPr>
        <p:spPr>
          <a:xfrm>
            <a:off x="8854044" y="3442352"/>
            <a:ext cx="2988000" cy="1440000"/>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grpSp>
        <p:nvGrpSpPr>
          <p:cNvPr id="39" name="Group 38">
            <a:extLst>
              <a:ext uri="{FF2B5EF4-FFF2-40B4-BE49-F238E27FC236}">
                <a16:creationId xmlns:a16="http://schemas.microsoft.com/office/drawing/2014/main" id="{99B7C9B5-1940-69D9-ED01-2BE6CFD0E7DF}"/>
              </a:ext>
            </a:extLst>
          </p:cNvPr>
          <p:cNvGrpSpPr/>
          <p:nvPr/>
        </p:nvGrpSpPr>
        <p:grpSpPr>
          <a:xfrm>
            <a:off x="3337956" y="2290900"/>
            <a:ext cx="5516088" cy="1871452"/>
            <a:chOff x="3337956" y="2290900"/>
            <a:chExt cx="5516088" cy="1871452"/>
          </a:xfrm>
        </p:grpSpPr>
        <p:sp>
          <p:nvSpPr>
            <p:cNvPr id="10" name="Rectangle: Rounded Corners 9">
              <a:extLst>
                <a:ext uri="{FF2B5EF4-FFF2-40B4-BE49-F238E27FC236}">
                  <a16:creationId xmlns:a16="http://schemas.microsoft.com/office/drawing/2014/main" id="{BFAC4B34-BF94-3A70-1101-76BA02F53E6D}"/>
                </a:ext>
              </a:extLst>
            </p:cNvPr>
            <p:cNvSpPr/>
            <p:nvPr/>
          </p:nvSpPr>
          <p:spPr>
            <a:xfrm>
              <a:off x="5286000" y="2290900"/>
              <a:ext cx="1620000" cy="576000"/>
            </a:xfrm>
            <a:prstGeom prst="roundRect">
              <a:avLst/>
            </a:prstGeom>
            <a:noFill/>
            <a:ln w="28575">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cxnSp>
          <p:nvCxnSpPr>
            <p:cNvPr id="13" name="Straight Arrow Connector 12">
              <a:extLst>
                <a:ext uri="{FF2B5EF4-FFF2-40B4-BE49-F238E27FC236}">
                  <a16:creationId xmlns:a16="http://schemas.microsoft.com/office/drawing/2014/main" id="{706068DC-3EE2-FCC1-B884-AD1137DF4DA6}"/>
                </a:ext>
              </a:extLst>
            </p:cNvPr>
            <p:cNvCxnSpPr>
              <a:stCxn id="5" idx="3"/>
              <a:endCxn id="10" idx="1"/>
            </p:cNvCxnSpPr>
            <p:nvPr/>
          </p:nvCxnSpPr>
          <p:spPr>
            <a:xfrm flipV="1">
              <a:off x="3337956" y="2578900"/>
              <a:ext cx="1948044" cy="1583452"/>
            </a:xfrm>
            <a:prstGeom prst="curvedConnector3">
              <a:avLst>
                <a:gd name="adj1" fmla="val 31122"/>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0D5A7B2-B7AD-7D36-8EB1-D7BDBEFC1604}"/>
                </a:ext>
              </a:extLst>
            </p:cNvPr>
            <p:cNvCxnSpPr>
              <a:stCxn id="10" idx="3"/>
              <a:endCxn id="6" idx="1"/>
            </p:cNvCxnSpPr>
            <p:nvPr/>
          </p:nvCxnSpPr>
          <p:spPr>
            <a:xfrm>
              <a:off x="6906000" y="2578900"/>
              <a:ext cx="1948044" cy="1583452"/>
            </a:xfrm>
            <a:prstGeom prst="curvedConnector3">
              <a:avLst>
                <a:gd name="adj1" fmla="val 69069"/>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DE04E227-EC5E-5B11-8E1B-4FDBA3493BC6}"/>
              </a:ext>
            </a:extLst>
          </p:cNvPr>
          <p:cNvGrpSpPr/>
          <p:nvPr/>
        </p:nvGrpSpPr>
        <p:grpSpPr>
          <a:xfrm>
            <a:off x="3337956" y="3301255"/>
            <a:ext cx="5516088" cy="861097"/>
            <a:chOff x="3337956" y="3301255"/>
            <a:chExt cx="5516088" cy="861097"/>
          </a:xfrm>
        </p:grpSpPr>
        <p:sp>
          <p:nvSpPr>
            <p:cNvPr id="9" name="Rectangle: Rounded Corners 8">
              <a:extLst>
                <a:ext uri="{FF2B5EF4-FFF2-40B4-BE49-F238E27FC236}">
                  <a16:creationId xmlns:a16="http://schemas.microsoft.com/office/drawing/2014/main" id="{06EF0D47-7B57-60F1-3B60-0A56D6754DAD}"/>
                </a:ext>
              </a:extLst>
            </p:cNvPr>
            <p:cNvSpPr/>
            <p:nvPr/>
          </p:nvSpPr>
          <p:spPr>
            <a:xfrm>
              <a:off x="5286000" y="3301255"/>
              <a:ext cx="1620000" cy="576000"/>
            </a:xfrm>
            <a:prstGeom prst="roundRect">
              <a:avLst/>
            </a:prstGeom>
            <a:noFill/>
            <a:ln w="28575">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cxnSp>
          <p:nvCxnSpPr>
            <p:cNvPr id="16" name="Straight Arrow Connector 15">
              <a:extLst>
                <a:ext uri="{FF2B5EF4-FFF2-40B4-BE49-F238E27FC236}">
                  <a16:creationId xmlns:a16="http://schemas.microsoft.com/office/drawing/2014/main" id="{A2C04D05-B888-B28C-3B89-A1C1A5DEA472}"/>
                </a:ext>
              </a:extLst>
            </p:cNvPr>
            <p:cNvCxnSpPr>
              <a:cxnSpLocks/>
              <a:stCxn id="5" idx="3"/>
              <a:endCxn id="9" idx="1"/>
            </p:cNvCxnSpPr>
            <p:nvPr/>
          </p:nvCxnSpPr>
          <p:spPr>
            <a:xfrm flipV="1">
              <a:off x="3337956" y="3589255"/>
              <a:ext cx="1948044" cy="573097"/>
            </a:xfrm>
            <a:prstGeom prst="curvedConnector3">
              <a:avLst>
                <a:gd name="adj1" fmla="val 31611"/>
              </a:avLst>
            </a:prstGeom>
            <a:ln w="38100">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348DE9A-1D2D-72E3-162F-0D7068291FDF}"/>
                </a:ext>
              </a:extLst>
            </p:cNvPr>
            <p:cNvCxnSpPr>
              <a:stCxn id="9" idx="3"/>
              <a:endCxn id="6" idx="1"/>
            </p:cNvCxnSpPr>
            <p:nvPr/>
          </p:nvCxnSpPr>
          <p:spPr>
            <a:xfrm>
              <a:off x="6906000" y="3589255"/>
              <a:ext cx="1948044" cy="573097"/>
            </a:xfrm>
            <a:prstGeom prst="curvedConnector3">
              <a:avLst>
                <a:gd name="adj1" fmla="val 69558"/>
              </a:avLst>
            </a:prstGeom>
            <a:ln w="38100">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0D29CB2-063F-BC3D-5B79-F592688F21ED}"/>
              </a:ext>
            </a:extLst>
          </p:cNvPr>
          <p:cNvGrpSpPr/>
          <p:nvPr/>
        </p:nvGrpSpPr>
        <p:grpSpPr>
          <a:xfrm>
            <a:off x="3337956" y="4162352"/>
            <a:ext cx="5516088" cy="725258"/>
            <a:chOff x="3337956" y="4162352"/>
            <a:chExt cx="5516088" cy="725258"/>
          </a:xfrm>
        </p:grpSpPr>
        <p:sp>
          <p:nvSpPr>
            <p:cNvPr id="8" name="Rectangle: Rounded Corners 7">
              <a:extLst>
                <a:ext uri="{FF2B5EF4-FFF2-40B4-BE49-F238E27FC236}">
                  <a16:creationId xmlns:a16="http://schemas.microsoft.com/office/drawing/2014/main" id="{681D8EBA-C9CF-E11E-8335-B5E1C0BD4897}"/>
                </a:ext>
              </a:extLst>
            </p:cNvPr>
            <p:cNvSpPr/>
            <p:nvPr/>
          </p:nvSpPr>
          <p:spPr>
            <a:xfrm>
              <a:off x="5286000" y="4311610"/>
              <a:ext cx="1620000" cy="576000"/>
            </a:xfrm>
            <a:prstGeom prst="roundRect">
              <a:avLst/>
            </a:prstGeom>
            <a:noFill/>
            <a:ln w="28575">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cxnSp>
          <p:nvCxnSpPr>
            <p:cNvPr id="18" name="Straight Arrow Connector 17">
              <a:extLst>
                <a:ext uri="{FF2B5EF4-FFF2-40B4-BE49-F238E27FC236}">
                  <a16:creationId xmlns:a16="http://schemas.microsoft.com/office/drawing/2014/main" id="{4F8C6197-C09C-3507-D9E1-77BDF13D49D2}"/>
                </a:ext>
              </a:extLst>
            </p:cNvPr>
            <p:cNvCxnSpPr>
              <a:stCxn id="5" idx="3"/>
              <a:endCxn id="8" idx="1"/>
            </p:cNvCxnSpPr>
            <p:nvPr/>
          </p:nvCxnSpPr>
          <p:spPr>
            <a:xfrm>
              <a:off x="3337956" y="4162352"/>
              <a:ext cx="1948044" cy="437258"/>
            </a:xfrm>
            <a:prstGeom prst="curvedConnector3">
              <a:avLst>
                <a:gd name="adj1" fmla="val 30959"/>
              </a:avLst>
            </a:prstGeom>
            <a:ln w="38100">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90ABB77-9281-89C2-0741-89A308B68B9D}"/>
                </a:ext>
              </a:extLst>
            </p:cNvPr>
            <p:cNvCxnSpPr>
              <a:stCxn id="8" idx="3"/>
              <a:endCxn id="6" idx="1"/>
            </p:cNvCxnSpPr>
            <p:nvPr/>
          </p:nvCxnSpPr>
          <p:spPr>
            <a:xfrm flipV="1">
              <a:off x="6906000" y="4162352"/>
              <a:ext cx="1948044" cy="437258"/>
            </a:xfrm>
            <a:prstGeom prst="curvedConnector3">
              <a:avLst>
                <a:gd name="adj1" fmla="val 69558"/>
              </a:avLst>
            </a:prstGeom>
            <a:ln w="38100">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3E3760D5-EA89-8E10-B7FD-8370049545DD}"/>
              </a:ext>
            </a:extLst>
          </p:cNvPr>
          <p:cNvGrpSpPr/>
          <p:nvPr/>
        </p:nvGrpSpPr>
        <p:grpSpPr>
          <a:xfrm>
            <a:off x="3337956" y="4162352"/>
            <a:ext cx="5516088" cy="1735613"/>
            <a:chOff x="3337956" y="4162352"/>
            <a:chExt cx="5516088" cy="1735613"/>
          </a:xfrm>
        </p:grpSpPr>
        <p:sp>
          <p:nvSpPr>
            <p:cNvPr id="7" name="Rectangle: Rounded Corners 6">
              <a:extLst>
                <a:ext uri="{FF2B5EF4-FFF2-40B4-BE49-F238E27FC236}">
                  <a16:creationId xmlns:a16="http://schemas.microsoft.com/office/drawing/2014/main" id="{DDAC4BFC-3AC2-CDF6-6A70-54E3B698E160}"/>
                </a:ext>
              </a:extLst>
            </p:cNvPr>
            <p:cNvSpPr/>
            <p:nvPr/>
          </p:nvSpPr>
          <p:spPr>
            <a:xfrm>
              <a:off x="5286000" y="5321965"/>
              <a:ext cx="1620000" cy="576000"/>
            </a:xfrm>
            <a:prstGeom prst="roundRect">
              <a:avLst/>
            </a:prstGeom>
            <a:noFill/>
            <a:ln w="28575">
              <a:solidFill>
                <a:schemeClr val="tx1"/>
              </a:solidFill>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cxnSp>
          <p:nvCxnSpPr>
            <p:cNvPr id="20" name="Straight Arrow Connector 19">
              <a:extLst>
                <a:ext uri="{FF2B5EF4-FFF2-40B4-BE49-F238E27FC236}">
                  <a16:creationId xmlns:a16="http://schemas.microsoft.com/office/drawing/2014/main" id="{4F7D1DF8-E4A3-503E-0374-FCBF7ED62765}"/>
                </a:ext>
              </a:extLst>
            </p:cNvPr>
            <p:cNvCxnSpPr>
              <a:stCxn id="5" idx="3"/>
              <a:endCxn id="7" idx="1"/>
            </p:cNvCxnSpPr>
            <p:nvPr/>
          </p:nvCxnSpPr>
          <p:spPr>
            <a:xfrm>
              <a:off x="3337956" y="4162352"/>
              <a:ext cx="1948044" cy="1447613"/>
            </a:xfrm>
            <a:prstGeom prst="curvedConnector3">
              <a:avLst>
                <a:gd name="adj1" fmla="val 30644"/>
              </a:avLst>
            </a:prstGeom>
            <a:ln w="38100">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565C2C7-1437-CDF9-79D7-B4B948E7344B}"/>
                </a:ext>
              </a:extLst>
            </p:cNvPr>
            <p:cNvCxnSpPr>
              <a:stCxn id="7" idx="3"/>
              <a:endCxn id="6" idx="1"/>
            </p:cNvCxnSpPr>
            <p:nvPr/>
          </p:nvCxnSpPr>
          <p:spPr>
            <a:xfrm flipV="1">
              <a:off x="6906000" y="4162352"/>
              <a:ext cx="1948044" cy="1447613"/>
            </a:xfrm>
            <a:prstGeom prst="curvedConnector3">
              <a:avLst>
                <a:gd name="adj1" fmla="val 69069"/>
              </a:avLst>
            </a:prstGeom>
            <a:ln w="38100">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8842174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977BA9-5052-AEBB-63AE-9572018FCAC5}"/>
              </a:ext>
            </a:extLst>
          </p:cNvPr>
          <p:cNvSpPr>
            <a:spLocks noGrp="1"/>
          </p:cNvSpPr>
          <p:nvPr>
            <p:ph type="title"/>
          </p:nvPr>
        </p:nvSpPr>
        <p:spPr/>
        <p:txBody>
          <a:bodyPr/>
          <a:lstStyle/>
          <a:p>
            <a:r>
              <a:rPr lang="en-GB" dirty="0"/>
              <a:t>Functional Requirements (Queries)</a:t>
            </a:r>
          </a:p>
        </p:txBody>
      </p:sp>
      <p:sp>
        <p:nvSpPr>
          <p:cNvPr id="5" name="Rectangle: Rounded Corners 4">
            <a:extLst>
              <a:ext uri="{FF2B5EF4-FFF2-40B4-BE49-F238E27FC236}">
                <a16:creationId xmlns:a16="http://schemas.microsoft.com/office/drawing/2014/main" id="{14D164DF-E92D-CBB7-F339-F11144806BD0}"/>
              </a:ext>
            </a:extLst>
          </p:cNvPr>
          <p:cNvSpPr/>
          <p:nvPr/>
        </p:nvSpPr>
        <p:spPr>
          <a:xfrm>
            <a:off x="349956" y="3442352"/>
            <a:ext cx="2988000" cy="144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A query to</a:t>
            </a:r>
          </a:p>
        </p:txBody>
      </p:sp>
      <p:sp>
        <p:nvSpPr>
          <p:cNvPr id="6" name="Rectangle: Rounded Corners 5">
            <a:extLst>
              <a:ext uri="{FF2B5EF4-FFF2-40B4-BE49-F238E27FC236}">
                <a16:creationId xmlns:a16="http://schemas.microsoft.com/office/drawing/2014/main" id="{AAD69D90-28B7-7A05-046C-3A5212110F16}"/>
              </a:ext>
            </a:extLst>
          </p:cNvPr>
          <p:cNvSpPr/>
          <p:nvPr/>
        </p:nvSpPr>
        <p:spPr>
          <a:xfrm>
            <a:off x="8854044" y="3442352"/>
            <a:ext cx="2988000" cy="144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specific details from context</a:t>
            </a:r>
          </a:p>
        </p:txBody>
      </p:sp>
      <p:grpSp>
        <p:nvGrpSpPr>
          <p:cNvPr id="39" name="Group 38">
            <a:extLst>
              <a:ext uri="{FF2B5EF4-FFF2-40B4-BE49-F238E27FC236}">
                <a16:creationId xmlns:a16="http://schemas.microsoft.com/office/drawing/2014/main" id="{99B7C9B5-1940-69D9-ED01-2BE6CFD0E7DF}"/>
              </a:ext>
            </a:extLst>
          </p:cNvPr>
          <p:cNvGrpSpPr/>
          <p:nvPr/>
        </p:nvGrpSpPr>
        <p:grpSpPr>
          <a:xfrm>
            <a:off x="3337956" y="2290900"/>
            <a:ext cx="5516088" cy="1871452"/>
            <a:chOff x="3337956" y="2290900"/>
            <a:chExt cx="5516088" cy="1871452"/>
          </a:xfrm>
        </p:grpSpPr>
        <p:sp>
          <p:nvSpPr>
            <p:cNvPr id="10" name="Rectangle: Rounded Corners 9">
              <a:extLst>
                <a:ext uri="{FF2B5EF4-FFF2-40B4-BE49-F238E27FC236}">
                  <a16:creationId xmlns:a16="http://schemas.microsoft.com/office/drawing/2014/main" id="{BFAC4B34-BF94-3A70-1101-76BA02F53E6D}"/>
                </a:ext>
              </a:extLst>
            </p:cNvPr>
            <p:cNvSpPr/>
            <p:nvPr/>
          </p:nvSpPr>
          <p:spPr>
            <a:xfrm>
              <a:off x="5286000" y="2290900"/>
              <a:ext cx="1620000" cy="576000"/>
            </a:xfrm>
            <a:prstGeom prst="roundRect">
              <a:avLst/>
            </a:prstGeom>
            <a:ln>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select</a:t>
              </a:r>
            </a:p>
          </p:txBody>
        </p:sp>
        <p:cxnSp>
          <p:nvCxnSpPr>
            <p:cNvPr id="13" name="Straight Arrow Connector 12">
              <a:extLst>
                <a:ext uri="{FF2B5EF4-FFF2-40B4-BE49-F238E27FC236}">
                  <a16:creationId xmlns:a16="http://schemas.microsoft.com/office/drawing/2014/main" id="{706068DC-3EE2-FCC1-B884-AD1137DF4DA6}"/>
                </a:ext>
              </a:extLst>
            </p:cNvPr>
            <p:cNvCxnSpPr>
              <a:stCxn id="5" idx="3"/>
              <a:endCxn id="10" idx="1"/>
            </p:cNvCxnSpPr>
            <p:nvPr/>
          </p:nvCxnSpPr>
          <p:spPr>
            <a:xfrm flipV="1">
              <a:off x="3337956" y="2578900"/>
              <a:ext cx="1948044" cy="1583452"/>
            </a:xfrm>
            <a:prstGeom prst="curvedConnector3">
              <a:avLst>
                <a:gd name="adj1" fmla="val 31122"/>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0D5A7B2-B7AD-7D36-8EB1-D7BDBEFC1604}"/>
                </a:ext>
              </a:extLst>
            </p:cNvPr>
            <p:cNvCxnSpPr>
              <a:cxnSpLocks/>
              <a:stCxn id="10" idx="3"/>
              <a:endCxn id="6" idx="1"/>
            </p:cNvCxnSpPr>
            <p:nvPr/>
          </p:nvCxnSpPr>
          <p:spPr>
            <a:xfrm>
              <a:off x="6906000" y="2578900"/>
              <a:ext cx="1948044" cy="1583452"/>
            </a:xfrm>
            <a:prstGeom prst="curvedConnector3">
              <a:avLst>
                <a:gd name="adj1" fmla="val 69069"/>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DE04E227-EC5E-5B11-8E1B-4FDBA3493BC6}"/>
              </a:ext>
            </a:extLst>
          </p:cNvPr>
          <p:cNvGrpSpPr/>
          <p:nvPr/>
        </p:nvGrpSpPr>
        <p:grpSpPr>
          <a:xfrm>
            <a:off x="3337956" y="3301255"/>
            <a:ext cx="5516088" cy="861097"/>
            <a:chOff x="3337956" y="3301255"/>
            <a:chExt cx="5516088" cy="861097"/>
          </a:xfrm>
        </p:grpSpPr>
        <p:sp>
          <p:nvSpPr>
            <p:cNvPr id="9" name="Rectangle: Rounded Corners 8">
              <a:extLst>
                <a:ext uri="{FF2B5EF4-FFF2-40B4-BE49-F238E27FC236}">
                  <a16:creationId xmlns:a16="http://schemas.microsoft.com/office/drawing/2014/main" id="{06EF0D47-7B57-60F1-3B60-0A56D6754DAD}"/>
                </a:ext>
              </a:extLst>
            </p:cNvPr>
            <p:cNvSpPr/>
            <p:nvPr/>
          </p:nvSpPr>
          <p:spPr>
            <a:xfrm>
              <a:off x="5286000" y="3301255"/>
              <a:ext cx="1620000" cy="576000"/>
            </a:xfrm>
            <a:prstGeom prst="roundRect">
              <a:avLst/>
            </a:prstGeom>
            <a:ln>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insert</a:t>
              </a:r>
            </a:p>
          </p:txBody>
        </p:sp>
        <p:cxnSp>
          <p:nvCxnSpPr>
            <p:cNvPr id="16" name="Straight Arrow Connector 15">
              <a:extLst>
                <a:ext uri="{FF2B5EF4-FFF2-40B4-BE49-F238E27FC236}">
                  <a16:creationId xmlns:a16="http://schemas.microsoft.com/office/drawing/2014/main" id="{A2C04D05-B888-B28C-3B89-A1C1A5DEA472}"/>
                </a:ext>
              </a:extLst>
            </p:cNvPr>
            <p:cNvCxnSpPr>
              <a:cxnSpLocks/>
              <a:stCxn id="5" idx="3"/>
              <a:endCxn id="9" idx="1"/>
            </p:cNvCxnSpPr>
            <p:nvPr/>
          </p:nvCxnSpPr>
          <p:spPr>
            <a:xfrm flipV="1">
              <a:off x="3337956" y="3589255"/>
              <a:ext cx="1948044" cy="573097"/>
            </a:xfrm>
            <a:prstGeom prst="curvedConnector3">
              <a:avLst>
                <a:gd name="adj1" fmla="val 31611"/>
              </a:avLst>
            </a:prstGeom>
            <a:ln w="38100">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348DE9A-1D2D-72E3-162F-0D7068291FDF}"/>
                </a:ext>
              </a:extLst>
            </p:cNvPr>
            <p:cNvCxnSpPr>
              <a:cxnSpLocks/>
              <a:stCxn id="9" idx="3"/>
              <a:endCxn id="6" idx="1"/>
            </p:cNvCxnSpPr>
            <p:nvPr/>
          </p:nvCxnSpPr>
          <p:spPr>
            <a:xfrm>
              <a:off x="6906000" y="3589255"/>
              <a:ext cx="1948044" cy="573097"/>
            </a:xfrm>
            <a:prstGeom prst="curvedConnector3">
              <a:avLst>
                <a:gd name="adj1" fmla="val 69558"/>
              </a:avLst>
            </a:prstGeom>
            <a:ln w="38100">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0D29CB2-063F-BC3D-5B79-F592688F21ED}"/>
              </a:ext>
            </a:extLst>
          </p:cNvPr>
          <p:cNvGrpSpPr/>
          <p:nvPr/>
        </p:nvGrpSpPr>
        <p:grpSpPr>
          <a:xfrm>
            <a:off x="3337956" y="4162352"/>
            <a:ext cx="5516088" cy="725258"/>
            <a:chOff x="3337956" y="4162352"/>
            <a:chExt cx="5516088" cy="725258"/>
          </a:xfrm>
        </p:grpSpPr>
        <p:sp>
          <p:nvSpPr>
            <p:cNvPr id="8" name="Rectangle: Rounded Corners 7">
              <a:extLst>
                <a:ext uri="{FF2B5EF4-FFF2-40B4-BE49-F238E27FC236}">
                  <a16:creationId xmlns:a16="http://schemas.microsoft.com/office/drawing/2014/main" id="{681D8EBA-C9CF-E11E-8335-B5E1C0BD4897}"/>
                </a:ext>
              </a:extLst>
            </p:cNvPr>
            <p:cNvSpPr/>
            <p:nvPr/>
          </p:nvSpPr>
          <p:spPr>
            <a:xfrm>
              <a:off x="5286000" y="4311610"/>
              <a:ext cx="1620000" cy="576000"/>
            </a:xfrm>
            <a:prstGeom prst="roundRect">
              <a:avLst/>
            </a:prstGeom>
            <a:ln>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update</a:t>
              </a:r>
            </a:p>
          </p:txBody>
        </p:sp>
        <p:cxnSp>
          <p:nvCxnSpPr>
            <p:cNvPr id="18" name="Straight Arrow Connector 17">
              <a:extLst>
                <a:ext uri="{FF2B5EF4-FFF2-40B4-BE49-F238E27FC236}">
                  <a16:creationId xmlns:a16="http://schemas.microsoft.com/office/drawing/2014/main" id="{4F8C6197-C09C-3507-D9E1-77BDF13D49D2}"/>
                </a:ext>
              </a:extLst>
            </p:cNvPr>
            <p:cNvCxnSpPr>
              <a:stCxn id="5" idx="3"/>
              <a:endCxn id="8" idx="1"/>
            </p:cNvCxnSpPr>
            <p:nvPr/>
          </p:nvCxnSpPr>
          <p:spPr>
            <a:xfrm>
              <a:off x="3337956" y="4162352"/>
              <a:ext cx="1948044" cy="437258"/>
            </a:xfrm>
            <a:prstGeom prst="curvedConnector3">
              <a:avLst>
                <a:gd name="adj1" fmla="val 30959"/>
              </a:avLst>
            </a:prstGeom>
            <a:ln w="38100">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90ABB77-9281-89C2-0741-89A308B68B9D}"/>
                </a:ext>
              </a:extLst>
            </p:cNvPr>
            <p:cNvCxnSpPr>
              <a:cxnSpLocks/>
              <a:stCxn id="8" idx="3"/>
              <a:endCxn id="6" idx="1"/>
            </p:cNvCxnSpPr>
            <p:nvPr/>
          </p:nvCxnSpPr>
          <p:spPr>
            <a:xfrm flipV="1">
              <a:off x="6906000" y="4162352"/>
              <a:ext cx="1948044" cy="437258"/>
            </a:xfrm>
            <a:prstGeom prst="curvedConnector3">
              <a:avLst>
                <a:gd name="adj1" fmla="val 69558"/>
              </a:avLst>
            </a:prstGeom>
            <a:ln w="38100">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3E3760D5-EA89-8E10-B7FD-8370049545DD}"/>
              </a:ext>
            </a:extLst>
          </p:cNvPr>
          <p:cNvGrpSpPr/>
          <p:nvPr/>
        </p:nvGrpSpPr>
        <p:grpSpPr>
          <a:xfrm>
            <a:off x="3337956" y="4162352"/>
            <a:ext cx="5516088" cy="1735613"/>
            <a:chOff x="3337956" y="4162352"/>
            <a:chExt cx="5516088" cy="1735613"/>
          </a:xfrm>
        </p:grpSpPr>
        <p:sp>
          <p:nvSpPr>
            <p:cNvPr id="7" name="Rectangle: Rounded Corners 6">
              <a:extLst>
                <a:ext uri="{FF2B5EF4-FFF2-40B4-BE49-F238E27FC236}">
                  <a16:creationId xmlns:a16="http://schemas.microsoft.com/office/drawing/2014/main" id="{DDAC4BFC-3AC2-CDF6-6A70-54E3B698E160}"/>
                </a:ext>
              </a:extLst>
            </p:cNvPr>
            <p:cNvSpPr/>
            <p:nvPr/>
          </p:nvSpPr>
          <p:spPr>
            <a:xfrm>
              <a:off x="5286000" y="5321965"/>
              <a:ext cx="1620000" cy="576000"/>
            </a:xfrm>
            <a:prstGeom prst="roundRect">
              <a:avLst/>
            </a:prstGeom>
            <a:ln>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delete</a:t>
              </a:r>
            </a:p>
          </p:txBody>
        </p:sp>
        <p:cxnSp>
          <p:nvCxnSpPr>
            <p:cNvPr id="20" name="Straight Arrow Connector 19">
              <a:extLst>
                <a:ext uri="{FF2B5EF4-FFF2-40B4-BE49-F238E27FC236}">
                  <a16:creationId xmlns:a16="http://schemas.microsoft.com/office/drawing/2014/main" id="{4F7D1DF8-E4A3-503E-0374-FCBF7ED62765}"/>
                </a:ext>
              </a:extLst>
            </p:cNvPr>
            <p:cNvCxnSpPr>
              <a:stCxn id="5" idx="3"/>
              <a:endCxn id="7" idx="1"/>
            </p:cNvCxnSpPr>
            <p:nvPr/>
          </p:nvCxnSpPr>
          <p:spPr>
            <a:xfrm>
              <a:off x="3337956" y="4162352"/>
              <a:ext cx="1948044" cy="1447613"/>
            </a:xfrm>
            <a:prstGeom prst="curvedConnector3">
              <a:avLst>
                <a:gd name="adj1" fmla="val 30644"/>
              </a:avLst>
            </a:prstGeom>
            <a:ln w="38100">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565C2C7-1437-CDF9-79D7-B4B948E7344B}"/>
                </a:ext>
              </a:extLst>
            </p:cNvPr>
            <p:cNvCxnSpPr>
              <a:cxnSpLocks/>
              <a:stCxn id="7" idx="3"/>
              <a:endCxn id="6" idx="1"/>
            </p:cNvCxnSpPr>
            <p:nvPr/>
          </p:nvCxnSpPr>
          <p:spPr>
            <a:xfrm flipV="1">
              <a:off x="6906000" y="4162352"/>
              <a:ext cx="1948044" cy="1447613"/>
            </a:xfrm>
            <a:prstGeom prst="curvedConnector3">
              <a:avLst>
                <a:gd name="adj1" fmla="val 69069"/>
              </a:avLst>
            </a:prstGeom>
            <a:ln w="38100">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0CE56262-06B5-4468-A8EC-F6B52D8201A8}"/>
              </a:ext>
            </a:extLst>
          </p:cNvPr>
          <p:cNvSpPr txBox="1"/>
          <p:nvPr/>
        </p:nvSpPr>
        <p:spPr>
          <a:xfrm>
            <a:off x="4276023" y="6183062"/>
            <a:ext cx="3639954" cy="523220"/>
          </a:xfrm>
          <a:prstGeom prst="rect">
            <a:avLst/>
          </a:prstGeom>
          <a:noFill/>
        </p:spPr>
        <p:txBody>
          <a:bodyPr wrap="square">
            <a:spAutoFit/>
          </a:bodyPr>
          <a:lstStyle/>
          <a:p>
            <a:pPr algn="ctr"/>
            <a:r>
              <a:rPr lang="en-GB" sz="2800" dirty="0">
                <a:solidFill>
                  <a:srgbClr val="7030A0"/>
                </a:solidFill>
              </a:rPr>
              <a:t>Technical language</a:t>
            </a:r>
          </a:p>
        </p:txBody>
      </p:sp>
    </p:spTree>
    <p:extLst>
      <p:ext uri="{BB962C8B-B14F-4D97-AF65-F5344CB8AC3E}">
        <p14:creationId xmlns:p14="http://schemas.microsoft.com/office/powerpoint/2010/main" val="3347276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wipe(left)">
                                      <p:cBhvr>
                                        <p:cTn id="17" dur="30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wipe(left)">
                                      <p:cBhvr>
                                        <p:cTn id="22" dur="30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left)">
                                      <p:cBhvr>
                                        <p:cTn id="27" dur="30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wipe(left)">
                                      <p:cBhvr>
                                        <p:cTn id="32" dur="300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1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1" grpId="0"/>
    </p:bldLst>
  </p:timing>
</p:sld>
</file>

<file path=ppt/slides/slide1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977BA9-5052-AEBB-63AE-9572018FCAC5}"/>
              </a:ext>
            </a:extLst>
          </p:cNvPr>
          <p:cNvSpPr>
            <a:spLocks noGrp="1"/>
          </p:cNvSpPr>
          <p:nvPr>
            <p:ph type="title"/>
          </p:nvPr>
        </p:nvSpPr>
        <p:spPr/>
        <p:txBody>
          <a:bodyPr/>
          <a:lstStyle/>
          <a:p>
            <a:r>
              <a:rPr lang="en-GB" dirty="0"/>
              <a:t>Functional Requirements (Queries)</a:t>
            </a:r>
          </a:p>
        </p:txBody>
      </p:sp>
      <p:sp>
        <p:nvSpPr>
          <p:cNvPr id="5" name="Rectangle: Rounded Corners 4">
            <a:extLst>
              <a:ext uri="{FF2B5EF4-FFF2-40B4-BE49-F238E27FC236}">
                <a16:creationId xmlns:a16="http://schemas.microsoft.com/office/drawing/2014/main" id="{14D164DF-E92D-CBB7-F339-F11144806BD0}"/>
              </a:ext>
            </a:extLst>
          </p:cNvPr>
          <p:cNvSpPr/>
          <p:nvPr/>
        </p:nvSpPr>
        <p:spPr>
          <a:xfrm>
            <a:off x="349956" y="3442352"/>
            <a:ext cx="2988000" cy="1440000"/>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sp>
        <p:nvSpPr>
          <p:cNvPr id="6" name="Rectangle: Rounded Corners 5">
            <a:extLst>
              <a:ext uri="{FF2B5EF4-FFF2-40B4-BE49-F238E27FC236}">
                <a16:creationId xmlns:a16="http://schemas.microsoft.com/office/drawing/2014/main" id="{AAD69D90-28B7-7A05-046C-3A5212110F16}"/>
              </a:ext>
            </a:extLst>
          </p:cNvPr>
          <p:cNvSpPr/>
          <p:nvPr/>
        </p:nvSpPr>
        <p:spPr>
          <a:xfrm>
            <a:off x="8854044" y="3442352"/>
            <a:ext cx="2988000" cy="1440000"/>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grpSp>
        <p:nvGrpSpPr>
          <p:cNvPr id="39" name="Group 38">
            <a:extLst>
              <a:ext uri="{FF2B5EF4-FFF2-40B4-BE49-F238E27FC236}">
                <a16:creationId xmlns:a16="http://schemas.microsoft.com/office/drawing/2014/main" id="{99B7C9B5-1940-69D9-ED01-2BE6CFD0E7DF}"/>
              </a:ext>
            </a:extLst>
          </p:cNvPr>
          <p:cNvGrpSpPr/>
          <p:nvPr/>
        </p:nvGrpSpPr>
        <p:grpSpPr>
          <a:xfrm>
            <a:off x="3337956" y="2290900"/>
            <a:ext cx="5516088" cy="1871452"/>
            <a:chOff x="3337956" y="2290900"/>
            <a:chExt cx="5516088" cy="1871452"/>
          </a:xfrm>
        </p:grpSpPr>
        <p:sp>
          <p:nvSpPr>
            <p:cNvPr id="10" name="Rectangle: Rounded Corners 9">
              <a:extLst>
                <a:ext uri="{FF2B5EF4-FFF2-40B4-BE49-F238E27FC236}">
                  <a16:creationId xmlns:a16="http://schemas.microsoft.com/office/drawing/2014/main" id="{BFAC4B34-BF94-3A70-1101-76BA02F53E6D}"/>
                </a:ext>
              </a:extLst>
            </p:cNvPr>
            <p:cNvSpPr/>
            <p:nvPr/>
          </p:nvSpPr>
          <p:spPr>
            <a:xfrm>
              <a:off x="5286000" y="2290900"/>
              <a:ext cx="1620000" cy="576000"/>
            </a:xfrm>
            <a:prstGeom prst="roundRect">
              <a:avLst/>
            </a:prstGeom>
            <a:noFill/>
            <a:ln w="28575">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cxnSp>
          <p:nvCxnSpPr>
            <p:cNvPr id="13" name="Straight Arrow Connector 12">
              <a:extLst>
                <a:ext uri="{FF2B5EF4-FFF2-40B4-BE49-F238E27FC236}">
                  <a16:creationId xmlns:a16="http://schemas.microsoft.com/office/drawing/2014/main" id="{706068DC-3EE2-FCC1-B884-AD1137DF4DA6}"/>
                </a:ext>
              </a:extLst>
            </p:cNvPr>
            <p:cNvCxnSpPr>
              <a:stCxn id="5" idx="3"/>
              <a:endCxn id="10" idx="1"/>
            </p:cNvCxnSpPr>
            <p:nvPr/>
          </p:nvCxnSpPr>
          <p:spPr>
            <a:xfrm flipV="1">
              <a:off x="3337956" y="2578900"/>
              <a:ext cx="1948044" cy="1583452"/>
            </a:xfrm>
            <a:prstGeom prst="curvedConnector3">
              <a:avLst>
                <a:gd name="adj1" fmla="val 31122"/>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0D5A7B2-B7AD-7D36-8EB1-D7BDBEFC1604}"/>
                </a:ext>
              </a:extLst>
            </p:cNvPr>
            <p:cNvCxnSpPr>
              <a:stCxn id="10" idx="3"/>
              <a:endCxn id="6" idx="1"/>
            </p:cNvCxnSpPr>
            <p:nvPr/>
          </p:nvCxnSpPr>
          <p:spPr>
            <a:xfrm>
              <a:off x="6906000" y="2578900"/>
              <a:ext cx="1948044" cy="1583452"/>
            </a:xfrm>
            <a:prstGeom prst="curvedConnector3">
              <a:avLst>
                <a:gd name="adj1" fmla="val 69069"/>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DE04E227-EC5E-5B11-8E1B-4FDBA3493BC6}"/>
              </a:ext>
            </a:extLst>
          </p:cNvPr>
          <p:cNvGrpSpPr/>
          <p:nvPr/>
        </p:nvGrpSpPr>
        <p:grpSpPr>
          <a:xfrm>
            <a:off x="3337956" y="3301255"/>
            <a:ext cx="5516088" cy="861097"/>
            <a:chOff x="3337956" y="3301255"/>
            <a:chExt cx="5516088" cy="861097"/>
          </a:xfrm>
        </p:grpSpPr>
        <p:sp>
          <p:nvSpPr>
            <p:cNvPr id="9" name="Rectangle: Rounded Corners 8">
              <a:extLst>
                <a:ext uri="{FF2B5EF4-FFF2-40B4-BE49-F238E27FC236}">
                  <a16:creationId xmlns:a16="http://schemas.microsoft.com/office/drawing/2014/main" id="{06EF0D47-7B57-60F1-3B60-0A56D6754DAD}"/>
                </a:ext>
              </a:extLst>
            </p:cNvPr>
            <p:cNvSpPr/>
            <p:nvPr/>
          </p:nvSpPr>
          <p:spPr>
            <a:xfrm>
              <a:off x="5286000" y="3301255"/>
              <a:ext cx="1620000" cy="576000"/>
            </a:xfrm>
            <a:prstGeom prst="roundRect">
              <a:avLst/>
            </a:prstGeom>
            <a:noFill/>
            <a:ln w="28575">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cxnSp>
          <p:nvCxnSpPr>
            <p:cNvPr id="16" name="Straight Arrow Connector 15">
              <a:extLst>
                <a:ext uri="{FF2B5EF4-FFF2-40B4-BE49-F238E27FC236}">
                  <a16:creationId xmlns:a16="http://schemas.microsoft.com/office/drawing/2014/main" id="{A2C04D05-B888-B28C-3B89-A1C1A5DEA472}"/>
                </a:ext>
              </a:extLst>
            </p:cNvPr>
            <p:cNvCxnSpPr>
              <a:cxnSpLocks/>
              <a:stCxn id="5" idx="3"/>
              <a:endCxn id="9" idx="1"/>
            </p:cNvCxnSpPr>
            <p:nvPr/>
          </p:nvCxnSpPr>
          <p:spPr>
            <a:xfrm flipV="1">
              <a:off x="3337956" y="3589255"/>
              <a:ext cx="1948044" cy="573097"/>
            </a:xfrm>
            <a:prstGeom prst="curvedConnector3">
              <a:avLst>
                <a:gd name="adj1" fmla="val 31611"/>
              </a:avLst>
            </a:prstGeom>
            <a:ln w="38100">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348DE9A-1D2D-72E3-162F-0D7068291FDF}"/>
                </a:ext>
              </a:extLst>
            </p:cNvPr>
            <p:cNvCxnSpPr>
              <a:stCxn id="9" idx="3"/>
              <a:endCxn id="6" idx="1"/>
            </p:cNvCxnSpPr>
            <p:nvPr/>
          </p:nvCxnSpPr>
          <p:spPr>
            <a:xfrm>
              <a:off x="6906000" y="3589255"/>
              <a:ext cx="1948044" cy="573097"/>
            </a:xfrm>
            <a:prstGeom prst="curvedConnector3">
              <a:avLst>
                <a:gd name="adj1" fmla="val 69558"/>
              </a:avLst>
            </a:prstGeom>
            <a:ln w="38100">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0D29CB2-063F-BC3D-5B79-F592688F21ED}"/>
              </a:ext>
            </a:extLst>
          </p:cNvPr>
          <p:cNvGrpSpPr/>
          <p:nvPr/>
        </p:nvGrpSpPr>
        <p:grpSpPr>
          <a:xfrm>
            <a:off x="3337956" y="4162352"/>
            <a:ext cx="5516088" cy="725258"/>
            <a:chOff x="3337956" y="4162352"/>
            <a:chExt cx="5516088" cy="725258"/>
          </a:xfrm>
        </p:grpSpPr>
        <p:sp>
          <p:nvSpPr>
            <p:cNvPr id="8" name="Rectangle: Rounded Corners 7">
              <a:extLst>
                <a:ext uri="{FF2B5EF4-FFF2-40B4-BE49-F238E27FC236}">
                  <a16:creationId xmlns:a16="http://schemas.microsoft.com/office/drawing/2014/main" id="{681D8EBA-C9CF-E11E-8335-B5E1C0BD4897}"/>
                </a:ext>
              </a:extLst>
            </p:cNvPr>
            <p:cNvSpPr/>
            <p:nvPr/>
          </p:nvSpPr>
          <p:spPr>
            <a:xfrm>
              <a:off x="5286000" y="4311610"/>
              <a:ext cx="1620000" cy="576000"/>
            </a:xfrm>
            <a:prstGeom prst="roundRect">
              <a:avLst/>
            </a:prstGeom>
            <a:noFill/>
            <a:ln w="28575">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cxnSp>
          <p:nvCxnSpPr>
            <p:cNvPr id="18" name="Straight Arrow Connector 17">
              <a:extLst>
                <a:ext uri="{FF2B5EF4-FFF2-40B4-BE49-F238E27FC236}">
                  <a16:creationId xmlns:a16="http://schemas.microsoft.com/office/drawing/2014/main" id="{4F8C6197-C09C-3507-D9E1-77BDF13D49D2}"/>
                </a:ext>
              </a:extLst>
            </p:cNvPr>
            <p:cNvCxnSpPr>
              <a:stCxn id="5" idx="3"/>
              <a:endCxn id="8" idx="1"/>
            </p:cNvCxnSpPr>
            <p:nvPr/>
          </p:nvCxnSpPr>
          <p:spPr>
            <a:xfrm>
              <a:off x="3337956" y="4162352"/>
              <a:ext cx="1948044" cy="437258"/>
            </a:xfrm>
            <a:prstGeom prst="curvedConnector3">
              <a:avLst>
                <a:gd name="adj1" fmla="val 30959"/>
              </a:avLst>
            </a:prstGeom>
            <a:ln w="38100">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90ABB77-9281-89C2-0741-89A308B68B9D}"/>
                </a:ext>
              </a:extLst>
            </p:cNvPr>
            <p:cNvCxnSpPr>
              <a:stCxn id="8" idx="3"/>
              <a:endCxn id="6" idx="1"/>
            </p:cNvCxnSpPr>
            <p:nvPr/>
          </p:nvCxnSpPr>
          <p:spPr>
            <a:xfrm flipV="1">
              <a:off x="6906000" y="4162352"/>
              <a:ext cx="1948044" cy="437258"/>
            </a:xfrm>
            <a:prstGeom prst="curvedConnector3">
              <a:avLst>
                <a:gd name="adj1" fmla="val 69558"/>
              </a:avLst>
            </a:prstGeom>
            <a:ln w="38100">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3E3760D5-EA89-8E10-B7FD-8370049545DD}"/>
              </a:ext>
            </a:extLst>
          </p:cNvPr>
          <p:cNvGrpSpPr/>
          <p:nvPr/>
        </p:nvGrpSpPr>
        <p:grpSpPr>
          <a:xfrm>
            <a:off x="3337956" y="4162352"/>
            <a:ext cx="5516088" cy="1735613"/>
            <a:chOff x="3337956" y="4162352"/>
            <a:chExt cx="5516088" cy="1735613"/>
          </a:xfrm>
        </p:grpSpPr>
        <p:sp>
          <p:nvSpPr>
            <p:cNvPr id="7" name="Rectangle: Rounded Corners 6">
              <a:extLst>
                <a:ext uri="{FF2B5EF4-FFF2-40B4-BE49-F238E27FC236}">
                  <a16:creationId xmlns:a16="http://schemas.microsoft.com/office/drawing/2014/main" id="{DDAC4BFC-3AC2-CDF6-6A70-54E3B698E160}"/>
                </a:ext>
              </a:extLst>
            </p:cNvPr>
            <p:cNvSpPr/>
            <p:nvPr/>
          </p:nvSpPr>
          <p:spPr>
            <a:xfrm>
              <a:off x="5286000" y="5321965"/>
              <a:ext cx="1620000" cy="576000"/>
            </a:xfrm>
            <a:prstGeom prst="roundRect">
              <a:avLst/>
            </a:prstGeom>
            <a:noFill/>
            <a:ln w="28575">
              <a:solidFill>
                <a:schemeClr val="tx1"/>
              </a:solidFill>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cxnSp>
          <p:nvCxnSpPr>
            <p:cNvPr id="20" name="Straight Arrow Connector 19">
              <a:extLst>
                <a:ext uri="{FF2B5EF4-FFF2-40B4-BE49-F238E27FC236}">
                  <a16:creationId xmlns:a16="http://schemas.microsoft.com/office/drawing/2014/main" id="{4F7D1DF8-E4A3-503E-0374-FCBF7ED62765}"/>
                </a:ext>
              </a:extLst>
            </p:cNvPr>
            <p:cNvCxnSpPr>
              <a:stCxn id="5" idx="3"/>
              <a:endCxn id="7" idx="1"/>
            </p:cNvCxnSpPr>
            <p:nvPr/>
          </p:nvCxnSpPr>
          <p:spPr>
            <a:xfrm>
              <a:off x="3337956" y="4162352"/>
              <a:ext cx="1948044" cy="1447613"/>
            </a:xfrm>
            <a:prstGeom prst="curvedConnector3">
              <a:avLst>
                <a:gd name="adj1" fmla="val 30644"/>
              </a:avLst>
            </a:prstGeom>
            <a:ln w="38100">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565C2C7-1437-CDF9-79D7-B4B948E7344B}"/>
                </a:ext>
              </a:extLst>
            </p:cNvPr>
            <p:cNvCxnSpPr>
              <a:stCxn id="7" idx="3"/>
              <a:endCxn id="6" idx="1"/>
            </p:cNvCxnSpPr>
            <p:nvPr/>
          </p:nvCxnSpPr>
          <p:spPr>
            <a:xfrm flipV="1">
              <a:off x="6906000" y="4162352"/>
              <a:ext cx="1948044" cy="1447613"/>
            </a:xfrm>
            <a:prstGeom prst="curvedConnector3">
              <a:avLst>
                <a:gd name="adj1" fmla="val 69069"/>
              </a:avLst>
            </a:prstGeom>
            <a:ln w="38100">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5118507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r>
              <a:rPr lang="en-GB" dirty="0"/>
              <a:t>Describe and exemplify entity-relationship diagrams with two entities indicating:</a:t>
            </a:r>
          </a:p>
          <a:p>
            <a:pPr lvl="1"/>
            <a:r>
              <a:rPr lang="en-GB" sz="2800" dirty="0"/>
              <a:t>entity name</a:t>
            </a:r>
          </a:p>
          <a:p>
            <a:pPr lvl="1"/>
            <a:r>
              <a:rPr lang="en-GB" sz="2800" dirty="0"/>
              <a:t>attributes</a:t>
            </a:r>
          </a:p>
          <a:p>
            <a:pPr lvl="1"/>
            <a:r>
              <a:rPr lang="en-GB" sz="2800" dirty="0"/>
              <a:t>relationship (one-to-many) </a:t>
            </a:r>
          </a:p>
        </p:txBody>
      </p:sp>
    </p:spTree>
    <p:extLst>
      <p:ext uri="{BB962C8B-B14F-4D97-AF65-F5344CB8AC3E}">
        <p14:creationId xmlns:p14="http://schemas.microsoft.com/office/powerpoint/2010/main" val="393656054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Tables / Fields</a:t>
            </a:r>
          </a:p>
        </p:txBody>
      </p:sp>
      <p:sp>
        <p:nvSpPr>
          <p:cNvPr id="15" name="TextBox 14">
            <a:extLst>
              <a:ext uri="{FF2B5EF4-FFF2-40B4-BE49-F238E27FC236}">
                <a16:creationId xmlns:a16="http://schemas.microsoft.com/office/drawing/2014/main" id="{B935E981-B7C6-4BDF-ADC2-EFF2B075D3D8}"/>
              </a:ext>
            </a:extLst>
          </p:cNvPr>
          <p:cNvSpPr txBox="1"/>
          <p:nvPr/>
        </p:nvSpPr>
        <p:spPr>
          <a:xfrm>
            <a:off x="838200" y="1559731"/>
            <a:ext cx="5803384" cy="584775"/>
          </a:xfrm>
          <a:prstGeom prst="rect">
            <a:avLst/>
          </a:prstGeom>
          <a:noFill/>
        </p:spPr>
        <p:txBody>
          <a:bodyPr wrap="none" rtlCol="0">
            <a:spAutoFit/>
          </a:bodyPr>
          <a:lstStyle/>
          <a:p>
            <a:r>
              <a:rPr lang="en-GB" sz="3200" b="1" dirty="0">
                <a:solidFill>
                  <a:srgbClr val="7030A0"/>
                </a:solidFill>
              </a:rPr>
              <a:t>Each table has a number of fields</a:t>
            </a:r>
          </a:p>
        </p:txBody>
      </p:sp>
      <p:sp>
        <p:nvSpPr>
          <p:cNvPr id="10" name="Callout: Bent Line with No Border 4">
            <a:extLst>
              <a:ext uri="{FF2B5EF4-FFF2-40B4-BE49-F238E27FC236}">
                <a16:creationId xmlns:a16="http://schemas.microsoft.com/office/drawing/2014/main" id="{924404A3-ED4C-4699-9CA9-EFEB23F51AA9}"/>
              </a:ext>
            </a:extLst>
          </p:cNvPr>
          <p:cNvSpPr/>
          <p:nvPr/>
        </p:nvSpPr>
        <p:spPr>
          <a:xfrm>
            <a:off x="905106" y="5917397"/>
            <a:ext cx="1480165" cy="715010"/>
          </a:xfrm>
          <a:prstGeom prst="callout2">
            <a:avLst>
              <a:gd name="adj1" fmla="val 49806"/>
              <a:gd name="adj2" fmla="val 101751"/>
              <a:gd name="adj3" fmla="val 51303"/>
              <a:gd name="adj4" fmla="val 142945"/>
              <a:gd name="adj5" fmla="val -20715"/>
              <a:gd name="adj6" fmla="val 164188"/>
            </a:avLst>
          </a:prstGeom>
          <a:noFill/>
          <a:ln w="38100">
            <a:solidFill>
              <a:srgbClr val="FF0000"/>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4 fields</a:t>
            </a:r>
          </a:p>
        </p:txBody>
      </p:sp>
      <p:sp>
        <p:nvSpPr>
          <p:cNvPr id="11" name="Callout: Bent Line with No Border 4">
            <a:extLst>
              <a:ext uri="{FF2B5EF4-FFF2-40B4-BE49-F238E27FC236}">
                <a16:creationId xmlns:a16="http://schemas.microsoft.com/office/drawing/2014/main" id="{924404A3-ED4C-4699-9CA9-EFEB23F51AA9}"/>
              </a:ext>
            </a:extLst>
          </p:cNvPr>
          <p:cNvSpPr/>
          <p:nvPr/>
        </p:nvSpPr>
        <p:spPr>
          <a:xfrm>
            <a:off x="7828154" y="4733331"/>
            <a:ext cx="1444363" cy="715010"/>
          </a:xfrm>
          <a:prstGeom prst="callout2">
            <a:avLst>
              <a:gd name="adj1" fmla="val 49806"/>
              <a:gd name="adj2" fmla="val 101751"/>
              <a:gd name="adj3" fmla="val 51303"/>
              <a:gd name="adj4" fmla="val 142945"/>
              <a:gd name="adj5" fmla="val -22275"/>
              <a:gd name="adj6" fmla="val 151320"/>
            </a:avLst>
          </a:prstGeom>
          <a:noFill/>
          <a:ln w="38100">
            <a:solidFill>
              <a:srgbClr val="FF0000"/>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3 fields</a:t>
            </a:r>
          </a:p>
        </p:txBody>
      </p:sp>
      <p:graphicFrame>
        <p:nvGraphicFramePr>
          <p:cNvPr id="12" name="Staff table">
            <a:extLst>
              <a:ext uri="{FF2B5EF4-FFF2-40B4-BE49-F238E27FC236}">
                <a16:creationId xmlns:a16="http://schemas.microsoft.com/office/drawing/2014/main" id="{57241102-6FFA-4A48-B0F0-30D2048C3B7F}"/>
              </a:ext>
            </a:extLst>
          </p:cNvPr>
          <p:cNvGraphicFramePr>
            <a:graphicFrameLocks/>
          </p:cNvGraphicFramePr>
          <p:nvPr>
            <p:extLst>
              <p:ext uri="{D42A27DB-BD31-4B8C-83A1-F6EECF244321}">
                <p14:modId xmlns:p14="http://schemas.microsoft.com/office/powerpoint/2010/main" val="1756753879"/>
              </p:ext>
            </p:extLst>
          </p:nvPr>
        </p:nvGraphicFramePr>
        <p:xfrm>
          <a:off x="838200" y="2708988"/>
          <a:ext cx="5721413" cy="2962760"/>
        </p:xfrm>
        <a:graphic>
          <a:graphicData uri="http://schemas.openxmlformats.org/drawingml/2006/table">
            <a:tbl>
              <a:tblPr firstRow="1" bandRow="1">
                <a:tableStyleId>{5C22544A-7EE6-4342-B048-85BDC9FD1C3A}</a:tableStyleId>
              </a:tblPr>
              <a:tblGrid>
                <a:gridCol w="638492">
                  <a:extLst>
                    <a:ext uri="{9D8B030D-6E8A-4147-A177-3AD203B41FA5}">
                      <a16:colId xmlns:a16="http://schemas.microsoft.com/office/drawing/2014/main" val="1632358923"/>
                    </a:ext>
                  </a:extLst>
                </a:gridCol>
                <a:gridCol w="1913636">
                  <a:extLst>
                    <a:ext uri="{9D8B030D-6E8A-4147-A177-3AD203B41FA5}">
                      <a16:colId xmlns:a16="http://schemas.microsoft.com/office/drawing/2014/main" val="3505833113"/>
                    </a:ext>
                  </a:extLst>
                </a:gridCol>
                <a:gridCol w="1751330">
                  <a:extLst>
                    <a:ext uri="{9D8B030D-6E8A-4147-A177-3AD203B41FA5}">
                      <a16:colId xmlns:a16="http://schemas.microsoft.com/office/drawing/2014/main" val="3401749839"/>
                    </a:ext>
                  </a:extLst>
                </a:gridCol>
                <a:gridCol w="1417955">
                  <a:extLst>
                    <a:ext uri="{9D8B030D-6E8A-4147-A177-3AD203B41FA5}">
                      <a16:colId xmlns:a16="http://schemas.microsoft.com/office/drawing/2014/main" val="415971381"/>
                    </a:ext>
                  </a:extLst>
                </a:gridCol>
              </a:tblGrid>
              <a:tr h="592552">
                <a:tc>
                  <a:txBody>
                    <a:bodyPr/>
                    <a:lstStyle/>
                    <a:p>
                      <a:pPr algn="ctr"/>
                      <a:r>
                        <a:rPr lang="en-GB" sz="3200" dirty="0"/>
                        <a:t>ID</a:t>
                      </a:r>
                    </a:p>
                  </a:txBody>
                  <a:tcPr/>
                </a:tc>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err="1"/>
                        <a:t>deptID</a:t>
                      </a:r>
                      <a:endParaRPr lang="en-GB" sz="3200" dirty="0"/>
                    </a:p>
                  </a:txBody>
                  <a:tcPr/>
                </a:tc>
                <a:extLst>
                  <a:ext uri="{0D108BD9-81ED-4DB2-BD59-A6C34878D82A}">
                    <a16:rowId xmlns:a16="http://schemas.microsoft.com/office/drawing/2014/main" val="3459615676"/>
                  </a:ext>
                </a:extLst>
              </a:tr>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r>
                        <a:rPr lang="en-GB" sz="3200" dirty="0"/>
                        <a:t>001</a:t>
                      </a:r>
                    </a:p>
                  </a:txBody>
                  <a:tcPr/>
                </a:tc>
                <a:extLst>
                  <a:ext uri="{0D108BD9-81ED-4DB2-BD59-A6C34878D82A}">
                    <a16:rowId xmlns:a16="http://schemas.microsoft.com/office/drawing/2014/main" val="1127765656"/>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r>
                        <a:rPr lang="en-GB" sz="3200" dirty="0"/>
                        <a:t>001</a:t>
                      </a:r>
                    </a:p>
                  </a:txBody>
                  <a:tcPr/>
                </a:tc>
                <a:extLst>
                  <a:ext uri="{0D108BD9-81ED-4DB2-BD59-A6C34878D82A}">
                    <a16:rowId xmlns:a16="http://schemas.microsoft.com/office/drawing/2014/main" val="2924661129"/>
                  </a:ext>
                </a:extLst>
              </a:tr>
              <a:tr h="592552">
                <a:tc>
                  <a:txBody>
                    <a:bodyPr/>
                    <a:lstStyle/>
                    <a:p>
                      <a:pPr lvl="0"/>
                      <a:r>
                        <a:rPr lang="en-GB" sz="3200" dirty="0"/>
                        <a:t>3</a:t>
                      </a:r>
                    </a:p>
                  </a:txBody>
                  <a:tcPr/>
                </a:tc>
                <a:tc>
                  <a:txBody>
                    <a:bodyPr/>
                    <a:lstStyle/>
                    <a:p>
                      <a:pPr lvl="0" algn="l"/>
                      <a:r>
                        <a:rPr lang="en-GB" sz="3200" dirty="0"/>
                        <a:t>Scott</a:t>
                      </a:r>
                    </a:p>
                  </a:txBody>
                  <a:tcPr/>
                </a:tc>
                <a:tc>
                  <a:txBody>
                    <a:bodyPr/>
                    <a:lstStyle/>
                    <a:p>
                      <a:pPr lvl="0" algn="l"/>
                      <a:r>
                        <a:rPr lang="en-GB" sz="3200" dirty="0"/>
                        <a:t>Sinclair</a:t>
                      </a:r>
                    </a:p>
                  </a:txBody>
                  <a:tcPr/>
                </a:tc>
                <a:tc>
                  <a:txBody>
                    <a:bodyPr/>
                    <a:lstStyle/>
                    <a:p>
                      <a:pPr lvl="0"/>
                      <a:r>
                        <a:rPr lang="en-GB" sz="3200" dirty="0"/>
                        <a:t>002</a:t>
                      </a:r>
                    </a:p>
                  </a:txBody>
                  <a:tcPr/>
                </a:tc>
                <a:extLst>
                  <a:ext uri="{0D108BD9-81ED-4DB2-BD59-A6C34878D82A}">
                    <a16:rowId xmlns:a16="http://schemas.microsoft.com/office/drawing/2014/main" val="1487565366"/>
                  </a:ext>
                </a:extLst>
              </a:tr>
              <a:tr h="592552">
                <a:tc>
                  <a:txBody>
                    <a:bodyPr/>
                    <a:lstStyle/>
                    <a:p>
                      <a:pPr lvl="0"/>
                      <a:r>
                        <a:rPr lang="en-GB" sz="3200" dirty="0"/>
                        <a:t>4</a:t>
                      </a:r>
                    </a:p>
                  </a:txBody>
                  <a:tcPr/>
                </a:tc>
                <a:tc>
                  <a:txBody>
                    <a:bodyPr/>
                    <a:lstStyle/>
                    <a:p>
                      <a:pPr lvl="0" algn="l"/>
                      <a:r>
                        <a:rPr lang="en-GB" sz="3200" dirty="0"/>
                        <a:t>Michelle</a:t>
                      </a:r>
                    </a:p>
                  </a:txBody>
                  <a:tcPr/>
                </a:tc>
                <a:tc>
                  <a:txBody>
                    <a:bodyPr/>
                    <a:lstStyle/>
                    <a:p>
                      <a:pPr lvl="0" algn="l"/>
                      <a:r>
                        <a:rPr lang="en-GB" sz="3200" dirty="0"/>
                        <a:t>Wie</a:t>
                      </a:r>
                    </a:p>
                  </a:txBody>
                  <a:tcPr/>
                </a:tc>
                <a:tc>
                  <a:txBody>
                    <a:bodyPr/>
                    <a:lstStyle/>
                    <a:p>
                      <a:pPr lvl="0"/>
                      <a:r>
                        <a:rPr lang="en-GB" sz="3200" dirty="0"/>
                        <a:t>002</a:t>
                      </a:r>
                    </a:p>
                  </a:txBody>
                  <a:tcPr/>
                </a:tc>
                <a:extLst>
                  <a:ext uri="{0D108BD9-81ED-4DB2-BD59-A6C34878D82A}">
                    <a16:rowId xmlns:a16="http://schemas.microsoft.com/office/drawing/2014/main" val="81894544"/>
                  </a:ext>
                </a:extLst>
              </a:tr>
            </a:tbl>
          </a:graphicData>
        </a:graphic>
      </p:graphicFrame>
      <p:graphicFrame>
        <p:nvGraphicFramePr>
          <p:cNvPr id="13" name="Dept table">
            <a:extLst>
              <a:ext uri="{FF2B5EF4-FFF2-40B4-BE49-F238E27FC236}">
                <a16:creationId xmlns:a16="http://schemas.microsoft.com/office/drawing/2014/main" id="{35037C23-5B95-45FB-890F-8341BB82BB00}"/>
              </a:ext>
            </a:extLst>
          </p:cNvPr>
          <p:cNvGraphicFramePr>
            <a:graphicFrameLocks/>
          </p:cNvGraphicFramePr>
          <p:nvPr/>
        </p:nvGraphicFramePr>
        <p:xfrm>
          <a:off x="7144385" y="2702546"/>
          <a:ext cx="4209415" cy="1777656"/>
        </p:xfrm>
        <a:graphic>
          <a:graphicData uri="http://schemas.openxmlformats.org/drawingml/2006/table">
            <a:tbl>
              <a:tblPr firstRow="1" bandRow="1">
                <a:tableStyleId>{5C22544A-7EE6-4342-B048-85BDC9FD1C3A}</a:tableStyleId>
              </a:tblPr>
              <a:tblGrid>
                <a:gridCol w="1417955">
                  <a:extLst>
                    <a:ext uri="{9D8B030D-6E8A-4147-A177-3AD203B41FA5}">
                      <a16:colId xmlns:a16="http://schemas.microsoft.com/office/drawing/2014/main" val="415971381"/>
                    </a:ext>
                  </a:extLst>
                </a:gridCol>
                <a:gridCol w="1440180">
                  <a:extLst>
                    <a:ext uri="{9D8B030D-6E8A-4147-A177-3AD203B41FA5}">
                      <a16:colId xmlns:a16="http://schemas.microsoft.com/office/drawing/2014/main" val="4013636719"/>
                    </a:ext>
                  </a:extLst>
                </a:gridCol>
                <a:gridCol w="1351280">
                  <a:extLst>
                    <a:ext uri="{9D8B030D-6E8A-4147-A177-3AD203B41FA5}">
                      <a16:colId xmlns:a16="http://schemas.microsoft.com/office/drawing/2014/main" val="3467447067"/>
                    </a:ext>
                  </a:extLst>
                </a:gridCol>
              </a:tblGrid>
              <a:tr h="592552">
                <a:tc>
                  <a:txBody>
                    <a:bodyPr/>
                    <a:lstStyle/>
                    <a:p>
                      <a:pPr algn="ctr"/>
                      <a:r>
                        <a:rPr lang="en-GB" sz="3200" dirty="0" err="1"/>
                        <a:t>deptID</a:t>
                      </a:r>
                      <a:endParaRPr lang="en-GB" sz="3200" dirty="0"/>
                    </a:p>
                  </a:txBody>
                  <a:tcPr/>
                </a:tc>
                <a:tc>
                  <a:txBody>
                    <a:bodyPr/>
                    <a:lstStyle/>
                    <a:p>
                      <a:pPr algn="ctr"/>
                      <a:r>
                        <a:rPr lang="en-GB" sz="3200" dirty="0"/>
                        <a:t>name</a:t>
                      </a:r>
                    </a:p>
                  </a:txBody>
                  <a:tcPr/>
                </a:tc>
                <a:tc>
                  <a:txBody>
                    <a:bodyPr/>
                    <a:lstStyle/>
                    <a:p>
                      <a:pPr algn="ctr"/>
                      <a:r>
                        <a:rPr lang="en-GB" sz="3200" dirty="0"/>
                        <a:t>phone</a:t>
                      </a:r>
                    </a:p>
                  </a:txBody>
                  <a:tcPr/>
                </a:tc>
                <a:extLst>
                  <a:ext uri="{0D108BD9-81ED-4DB2-BD59-A6C34878D82A}">
                    <a16:rowId xmlns:a16="http://schemas.microsoft.com/office/drawing/2014/main" val="3459615676"/>
                  </a:ext>
                </a:extLst>
              </a:tr>
              <a:tr h="592552">
                <a:tc>
                  <a:txBody>
                    <a:bodyPr/>
                    <a:lstStyle/>
                    <a:p>
                      <a:pPr lvl="0"/>
                      <a:r>
                        <a:rPr lang="en-GB" sz="3200" dirty="0"/>
                        <a:t>001</a:t>
                      </a:r>
                    </a:p>
                  </a:txBody>
                  <a:tcPr/>
                </a:tc>
                <a:tc>
                  <a:txBody>
                    <a:bodyPr/>
                    <a:lstStyle/>
                    <a:p>
                      <a:pPr lvl="0"/>
                      <a:r>
                        <a:rPr lang="en-GB" sz="3200" dirty="0"/>
                        <a:t>Maths</a:t>
                      </a:r>
                    </a:p>
                  </a:txBody>
                  <a:tcPr/>
                </a:tc>
                <a:tc>
                  <a:txBody>
                    <a:bodyPr/>
                    <a:lstStyle/>
                    <a:p>
                      <a:pPr lvl="0"/>
                      <a:r>
                        <a:rPr lang="en-GB" sz="3200" dirty="0"/>
                        <a:t>300</a:t>
                      </a:r>
                    </a:p>
                  </a:txBody>
                  <a:tcPr/>
                </a:tc>
                <a:extLst>
                  <a:ext uri="{0D108BD9-81ED-4DB2-BD59-A6C34878D82A}">
                    <a16:rowId xmlns:a16="http://schemas.microsoft.com/office/drawing/2014/main" val="1127765656"/>
                  </a:ext>
                </a:extLst>
              </a:tr>
              <a:tr h="592552">
                <a:tc>
                  <a:txBody>
                    <a:bodyPr/>
                    <a:lstStyle/>
                    <a:p>
                      <a:pPr lvl="0"/>
                      <a:r>
                        <a:rPr lang="en-GB" sz="3200" dirty="0"/>
                        <a:t>002</a:t>
                      </a:r>
                    </a:p>
                  </a:txBody>
                  <a:tcPr/>
                </a:tc>
                <a:tc>
                  <a:txBody>
                    <a:bodyPr/>
                    <a:lstStyle/>
                    <a:p>
                      <a:pPr lvl="0"/>
                      <a:r>
                        <a:rPr lang="en-GB" sz="3200" dirty="0"/>
                        <a:t>English</a:t>
                      </a:r>
                    </a:p>
                  </a:txBody>
                  <a:tcPr/>
                </a:tc>
                <a:tc>
                  <a:txBody>
                    <a:bodyPr/>
                    <a:lstStyle/>
                    <a:p>
                      <a:pPr lvl="0"/>
                      <a:r>
                        <a:rPr lang="en-GB" sz="3200" dirty="0"/>
                        <a:t>301</a:t>
                      </a:r>
                    </a:p>
                  </a:txBody>
                  <a:tcPr/>
                </a:tc>
                <a:extLst>
                  <a:ext uri="{0D108BD9-81ED-4DB2-BD59-A6C34878D82A}">
                    <a16:rowId xmlns:a16="http://schemas.microsoft.com/office/drawing/2014/main" val="81894544"/>
                  </a:ext>
                </a:extLst>
              </a:tr>
            </a:tbl>
          </a:graphicData>
        </a:graphic>
      </p:graphicFrame>
      <p:sp>
        <p:nvSpPr>
          <p:cNvPr id="16" name="TextBox 15">
            <a:extLst>
              <a:ext uri="{FF2B5EF4-FFF2-40B4-BE49-F238E27FC236}">
                <a16:creationId xmlns:a16="http://schemas.microsoft.com/office/drawing/2014/main" id="{15903424-A435-49A8-8F1F-D1306EA53915}"/>
              </a:ext>
            </a:extLst>
          </p:cNvPr>
          <p:cNvSpPr txBox="1"/>
          <p:nvPr/>
        </p:nvSpPr>
        <p:spPr>
          <a:xfrm>
            <a:off x="838200" y="2259875"/>
            <a:ext cx="2314544" cy="523220"/>
          </a:xfrm>
          <a:prstGeom prst="rect">
            <a:avLst/>
          </a:prstGeom>
          <a:noFill/>
        </p:spPr>
        <p:txBody>
          <a:bodyPr wrap="none" rtlCol="0">
            <a:spAutoFit/>
          </a:bodyPr>
          <a:lstStyle/>
          <a:p>
            <a:r>
              <a:rPr lang="en-GB" sz="2800" b="1" dirty="0"/>
              <a:t>Table: Teacher</a:t>
            </a:r>
          </a:p>
        </p:txBody>
      </p:sp>
      <p:sp>
        <p:nvSpPr>
          <p:cNvPr id="17" name="TextBox 16">
            <a:extLst>
              <a:ext uri="{FF2B5EF4-FFF2-40B4-BE49-F238E27FC236}">
                <a16:creationId xmlns:a16="http://schemas.microsoft.com/office/drawing/2014/main" id="{30CB5969-0CD9-4051-A35F-FA7E4217BCA6}"/>
              </a:ext>
            </a:extLst>
          </p:cNvPr>
          <p:cNvSpPr txBox="1"/>
          <p:nvPr/>
        </p:nvSpPr>
        <p:spPr>
          <a:xfrm>
            <a:off x="7149390" y="2275196"/>
            <a:ext cx="2973827" cy="523220"/>
          </a:xfrm>
          <a:prstGeom prst="rect">
            <a:avLst/>
          </a:prstGeom>
          <a:noFill/>
        </p:spPr>
        <p:txBody>
          <a:bodyPr wrap="none" rtlCol="0">
            <a:spAutoFit/>
          </a:bodyPr>
          <a:lstStyle/>
          <a:p>
            <a:r>
              <a:rPr lang="en-GB" sz="2800" b="1" dirty="0"/>
              <a:t>Table: Department</a:t>
            </a:r>
          </a:p>
        </p:txBody>
      </p:sp>
    </p:spTree>
    <p:extLst>
      <p:ext uri="{BB962C8B-B14F-4D97-AF65-F5344CB8AC3E}">
        <p14:creationId xmlns:p14="http://schemas.microsoft.com/office/powerpoint/2010/main" val="3883147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0" grpId="0" animBg="1"/>
      <p:bldP spid="11" grpId="0" animBg="1"/>
    </p:bldLst>
  </p:timing>
</p:sld>
</file>

<file path=ppt/slides/slide1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Tables / Fields</a:t>
            </a:r>
          </a:p>
        </p:txBody>
      </p:sp>
      <p:graphicFrame>
        <p:nvGraphicFramePr>
          <p:cNvPr id="12" name="Staff table">
            <a:extLst>
              <a:ext uri="{FF2B5EF4-FFF2-40B4-BE49-F238E27FC236}">
                <a16:creationId xmlns:a16="http://schemas.microsoft.com/office/drawing/2014/main" id="{57241102-6FFA-4A48-B0F0-30D2048C3B7F}"/>
              </a:ext>
            </a:extLst>
          </p:cNvPr>
          <p:cNvGraphicFramePr>
            <a:graphicFrameLocks/>
          </p:cNvGraphicFramePr>
          <p:nvPr/>
        </p:nvGraphicFramePr>
        <p:xfrm>
          <a:off x="838200" y="2708988"/>
          <a:ext cx="5721413" cy="2962760"/>
        </p:xfrm>
        <a:graphic>
          <a:graphicData uri="http://schemas.openxmlformats.org/drawingml/2006/table">
            <a:tbl>
              <a:tblPr firstRow="1" bandRow="1">
                <a:tableStyleId>{5C22544A-7EE6-4342-B048-85BDC9FD1C3A}</a:tableStyleId>
              </a:tblPr>
              <a:tblGrid>
                <a:gridCol w="638492">
                  <a:extLst>
                    <a:ext uri="{9D8B030D-6E8A-4147-A177-3AD203B41FA5}">
                      <a16:colId xmlns:a16="http://schemas.microsoft.com/office/drawing/2014/main" val="1632358923"/>
                    </a:ext>
                  </a:extLst>
                </a:gridCol>
                <a:gridCol w="1913636">
                  <a:extLst>
                    <a:ext uri="{9D8B030D-6E8A-4147-A177-3AD203B41FA5}">
                      <a16:colId xmlns:a16="http://schemas.microsoft.com/office/drawing/2014/main" val="3505833113"/>
                    </a:ext>
                  </a:extLst>
                </a:gridCol>
                <a:gridCol w="1751330">
                  <a:extLst>
                    <a:ext uri="{9D8B030D-6E8A-4147-A177-3AD203B41FA5}">
                      <a16:colId xmlns:a16="http://schemas.microsoft.com/office/drawing/2014/main" val="3401749839"/>
                    </a:ext>
                  </a:extLst>
                </a:gridCol>
                <a:gridCol w="1417955">
                  <a:extLst>
                    <a:ext uri="{9D8B030D-6E8A-4147-A177-3AD203B41FA5}">
                      <a16:colId xmlns:a16="http://schemas.microsoft.com/office/drawing/2014/main" val="415971381"/>
                    </a:ext>
                  </a:extLst>
                </a:gridCol>
              </a:tblGrid>
              <a:tr h="592552">
                <a:tc>
                  <a:txBody>
                    <a:bodyPr/>
                    <a:lstStyle/>
                    <a:p>
                      <a:pPr algn="ctr"/>
                      <a:r>
                        <a:rPr lang="en-GB" sz="3200" dirty="0"/>
                        <a:t>ID</a:t>
                      </a:r>
                    </a:p>
                  </a:txBody>
                  <a:tcPr/>
                </a:tc>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err="1"/>
                        <a:t>deptID</a:t>
                      </a:r>
                      <a:endParaRPr lang="en-GB" sz="3200" dirty="0"/>
                    </a:p>
                  </a:txBody>
                  <a:tcPr/>
                </a:tc>
                <a:extLst>
                  <a:ext uri="{0D108BD9-81ED-4DB2-BD59-A6C34878D82A}">
                    <a16:rowId xmlns:a16="http://schemas.microsoft.com/office/drawing/2014/main" val="3459615676"/>
                  </a:ext>
                </a:extLst>
              </a:tr>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r>
                        <a:rPr lang="en-GB" sz="3200" dirty="0"/>
                        <a:t>001</a:t>
                      </a:r>
                    </a:p>
                  </a:txBody>
                  <a:tcPr/>
                </a:tc>
                <a:extLst>
                  <a:ext uri="{0D108BD9-81ED-4DB2-BD59-A6C34878D82A}">
                    <a16:rowId xmlns:a16="http://schemas.microsoft.com/office/drawing/2014/main" val="1127765656"/>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r>
                        <a:rPr lang="en-GB" sz="3200" dirty="0"/>
                        <a:t>001</a:t>
                      </a:r>
                    </a:p>
                  </a:txBody>
                  <a:tcPr/>
                </a:tc>
                <a:extLst>
                  <a:ext uri="{0D108BD9-81ED-4DB2-BD59-A6C34878D82A}">
                    <a16:rowId xmlns:a16="http://schemas.microsoft.com/office/drawing/2014/main" val="2924661129"/>
                  </a:ext>
                </a:extLst>
              </a:tr>
              <a:tr h="592552">
                <a:tc>
                  <a:txBody>
                    <a:bodyPr/>
                    <a:lstStyle/>
                    <a:p>
                      <a:pPr lvl="0"/>
                      <a:r>
                        <a:rPr lang="en-GB" sz="3200" dirty="0"/>
                        <a:t>3</a:t>
                      </a:r>
                    </a:p>
                  </a:txBody>
                  <a:tcPr/>
                </a:tc>
                <a:tc>
                  <a:txBody>
                    <a:bodyPr/>
                    <a:lstStyle/>
                    <a:p>
                      <a:pPr lvl="0" algn="l"/>
                      <a:r>
                        <a:rPr lang="en-GB" sz="3200" dirty="0"/>
                        <a:t>Scott</a:t>
                      </a:r>
                    </a:p>
                  </a:txBody>
                  <a:tcPr/>
                </a:tc>
                <a:tc>
                  <a:txBody>
                    <a:bodyPr/>
                    <a:lstStyle/>
                    <a:p>
                      <a:pPr lvl="0" algn="l"/>
                      <a:r>
                        <a:rPr lang="en-GB" sz="3200" dirty="0"/>
                        <a:t>Sinclair</a:t>
                      </a:r>
                    </a:p>
                  </a:txBody>
                  <a:tcPr/>
                </a:tc>
                <a:tc>
                  <a:txBody>
                    <a:bodyPr/>
                    <a:lstStyle/>
                    <a:p>
                      <a:pPr lvl="0"/>
                      <a:r>
                        <a:rPr lang="en-GB" sz="3200" dirty="0"/>
                        <a:t>002</a:t>
                      </a:r>
                    </a:p>
                  </a:txBody>
                  <a:tcPr/>
                </a:tc>
                <a:extLst>
                  <a:ext uri="{0D108BD9-81ED-4DB2-BD59-A6C34878D82A}">
                    <a16:rowId xmlns:a16="http://schemas.microsoft.com/office/drawing/2014/main" val="1487565366"/>
                  </a:ext>
                </a:extLst>
              </a:tr>
              <a:tr h="592552">
                <a:tc>
                  <a:txBody>
                    <a:bodyPr/>
                    <a:lstStyle/>
                    <a:p>
                      <a:pPr lvl="0"/>
                      <a:r>
                        <a:rPr lang="en-GB" sz="3200" dirty="0"/>
                        <a:t>4</a:t>
                      </a:r>
                    </a:p>
                  </a:txBody>
                  <a:tcPr/>
                </a:tc>
                <a:tc>
                  <a:txBody>
                    <a:bodyPr/>
                    <a:lstStyle/>
                    <a:p>
                      <a:pPr lvl="0" algn="l"/>
                      <a:r>
                        <a:rPr lang="en-GB" sz="3200" dirty="0"/>
                        <a:t>Michelle</a:t>
                      </a:r>
                    </a:p>
                  </a:txBody>
                  <a:tcPr/>
                </a:tc>
                <a:tc>
                  <a:txBody>
                    <a:bodyPr/>
                    <a:lstStyle/>
                    <a:p>
                      <a:pPr lvl="0" algn="l"/>
                      <a:r>
                        <a:rPr lang="en-GB" sz="3200" dirty="0"/>
                        <a:t>Wie</a:t>
                      </a:r>
                    </a:p>
                  </a:txBody>
                  <a:tcPr/>
                </a:tc>
                <a:tc>
                  <a:txBody>
                    <a:bodyPr/>
                    <a:lstStyle/>
                    <a:p>
                      <a:pPr lvl="0"/>
                      <a:r>
                        <a:rPr lang="en-GB" sz="3200" dirty="0"/>
                        <a:t>002</a:t>
                      </a:r>
                    </a:p>
                  </a:txBody>
                  <a:tcPr/>
                </a:tc>
                <a:extLst>
                  <a:ext uri="{0D108BD9-81ED-4DB2-BD59-A6C34878D82A}">
                    <a16:rowId xmlns:a16="http://schemas.microsoft.com/office/drawing/2014/main" val="81894544"/>
                  </a:ext>
                </a:extLst>
              </a:tr>
            </a:tbl>
          </a:graphicData>
        </a:graphic>
      </p:graphicFrame>
      <p:graphicFrame>
        <p:nvGraphicFramePr>
          <p:cNvPr id="13" name="Dept table">
            <a:extLst>
              <a:ext uri="{FF2B5EF4-FFF2-40B4-BE49-F238E27FC236}">
                <a16:creationId xmlns:a16="http://schemas.microsoft.com/office/drawing/2014/main" id="{35037C23-5B95-45FB-890F-8341BB82BB00}"/>
              </a:ext>
            </a:extLst>
          </p:cNvPr>
          <p:cNvGraphicFramePr>
            <a:graphicFrameLocks/>
          </p:cNvGraphicFramePr>
          <p:nvPr/>
        </p:nvGraphicFramePr>
        <p:xfrm>
          <a:off x="7144385" y="2702546"/>
          <a:ext cx="4209415" cy="1777656"/>
        </p:xfrm>
        <a:graphic>
          <a:graphicData uri="http://schemas.openxmlformats.org/drawingml/2006/table">
            <a:tbl>
              <a:tblPr firstRow="1" bandRow="1">
                <a:tableStyleId>{5C22544A-7EE6-4342-B048-85BDC9FD1C3A}</a:tableStyleId>
              </a:tblPr>
              <a:tblGrid>
                <a:gridCol w="1417955">
                  <a:extLst>
                    <a:ext uri="{9D8B030D-6E8A-4147-A177-3AD203B41FA5}">
                      <a16:colId xmlns:a16="http://schemas.microsoft.com/office/drawing/2014/main" val="415971381"/>
                    </a:ext>
                  </a:extLst>
                </a:gridCol>
                <a:gridCol w="1440180">
                  <a:extLst>
                    <a:ext uri="{9D8B030D-6E8A-4147-A177-3AD203B41FA5}">
                      <a16:colId xmlns:a16="http://schemas.microsoft.com/office/drawing/2014/main" val="4013636719"/>
                    </a:ext>
                  </a:extLst>
                </a:gridCol>
                <a:gridCol w="1351280">
                  <a:extLst>
                    <a:ext uri="{9D8B030D-6E8A-4147-A177-3AD203B41FA5}">
                      <a16:colId xmlns:a16="http://schemas.microsoft.com/office/drawing/2014/main" val="3467447067"/>
                    </a:ext>
                  </a:extLst>
                </a:gridCol>
              </a:tblGrid>
              <a:tr h="592552">
                <a:tc>
                  <a:txBody>
                    <a:bodyPr/>
                    <a:lstStyle/>
                    <a:p>
                      <a:pPr algn="ctr"/>
                      <a:r>
                        <a:rPr lang="en-GB" sz="3200" dirty="0" err="1"/>
                        <a:t>deptID</a:t>
                      </a:r>
                      <a:endParaRPr lang="en-GB" sz="3200" dirty="0"/>
                    </a:p>
                  </a:txBody>
                  <a:tcPr/>
                </a:tc>
                <a:tc>
                  <a:txBody>
                    <a:bodyPr/>
                    <a:lstStyle/>
                    <a:p>
                      <a:pPr algn="ctr"/>
                      <a:r>
                        <a:rPr lang="en-GB" sz="3200" dirty="0"/>
                        <a:t>name</a:t>
                      </a:r>
                    </a:p>
                  </a:txBody>
                  <a:tcPr/>
                </a:tc>
                <a:tc>
                  <a:txBody>
                    <a:bodyPr/>
                    <a:lstStyle/>
                    <a:p>
                      <a:pPr algn="ctr"/>
                      <a:r>
                        <a:rPr lang="en-GB" sz="3200" dirty="0"/>
                        <a:t>phone</a:t>
                      </a:r>
                    </a:p>
                  </a:txBody>
                  <a:tcPr/>
                </a:tc>
                <a:extLst>
                  <a:ext uri="{0D108BD9-81ED-4DB2-BD59-A6C34878D82A}">
                    <a16:rowId xmlns:a16="http://schemas.microsoft.com/office/drawing/2014/main" val="3459615676"/>
                  </a:ext>
                </a:extLst>
              </a:tr>
              <a:tr h="592552">
                <a:tc>
                  <a:txBody>
                    <a:bodyPr/>
                    <a:lstStyle/>
                    <a:p>
                      <a:pPr lvl="0"/>
                      <a:r>
                        <a:rPr lang="en-GB" sz="3200" dirty="0"/>
                        <a:t>001</a:t>
                      </a:r>
                    </a:p>
                  </a:txBody>
                  <a:tcPr/>
                </a:tc>
                <a:tc>
                  <a:txBody>
                    <a:bodyPr/>
                    <a:lstStyle/>
                    <a:p>
                      <a:pPr lvl="0"/>
                      <a:r>
                        <a:rPr lang="en-GB" sz="3200" dirty="0"/>
                        <a:t>Maths</a:t>
                      </a:r>
                    </a:p>
                  </a:txBody>
                  <a:tcPr/>
                </a:tc>
                <a:tc>
                  <a:txBody>
                    <a:bodyPr/>
                    <a:lstStyle/>
                    <a:p>
                      <a:pPr lvl="0"/>
                      <a:r>
                        <a:rPr lang="en-GB" sz="3200" dirty="0"/>
                        <a:t>300</a:t>
                      </a:r>
                    </a:p>
                  </a:txBody>
                  <a:tcPr/>
                </a:tc>
                <a:extLst>
                  <a:ext uri="{0D108BD9-81ED-4DB2-BD59-A6C34878D82A}">
                    <a16:rowId xmlns:a16="http://schemas.microsoft.com/office/drawing/2014/main" val="1127765656"/>
                  </a:ext>
                </a:extLst>
              </a:tr>
              <a:tr h="592552">
                <a:tc>
                  <a:txBody>
                    <a:bodyPr/>
                    <a:lstStyle/>
                    <a:p>
                      <a:pPr lvl="0"/>
                      <a:r>
                        <a:rPr lang="en-GB" sz="3200" dirty="0"/>
                        <a:t>002</a:t>
                      </a:r>
                    </a:p>
                  </a:txBody>
                  <a:tcPr/>
                </a:tc>
                <a:tc>
                  <a:txBody>
                    <a:bodyPr/>
                    <a:lstStyle/>
                    <a:p>
                      <a:pPr lvl="0"/>
                      <a:r>
                        <a:rPr lang="en-GB" sz="3200" dirty="0"/>
                        <a:t>English</a:t>
                      </a:r>
                    </a:p>
                  </a:txBody>
                  <a:tcPr/>
                </a:tc>
                <a:tc>
                  <a:txBody>
                    <a:bodyPr/>
                    <a:lstStyle/>
                    <a:p>
                      <a:pPr lvl="0"/>
                      <a:r>
                        <a:rPr lang="en-GB" sz="3200" dirty="0"/>
                        <a:t>301</a:t>
                      </a:r>
                    </a:p>
                  </a:txBody>
                  <a:tcPr/>
                </a:tc>
                <a:extLst>
                  <a:ext uri="{0D108BD9-81ED-4DB2-BD59-A6C34878D82A}">
                    <a16:rowId xmlns:a16="http://schemas.microsoft.com/office/drawing/2014/main" val="81894544"/>
                  </a:ext>
                </a:extLst>
              </a:tr>
            </a:tbl>
          </a:graphicData>
        </a:graphic>
      </p:graphicFrame>
      <p:sp>
        <p:nvSpPr>
          <p:cNvPr id="16" name="TextBox 15">
            <a:extLst>
              <a:ext uri="{FF2B5EF4-FFF2-40B4-BE49-F238E27FC236}">
                <a16:creationId xmlns:a16="http://schemas.microsoft.com/office/drawing/2014/main" id="{15903424-A435-49A8-8F1F-D1306EA53915}"/>
              </a:ext>
            </a:extLst>
          </p:cNvPr>
          <p:cNvSpPr txBox="1"/>
          <p:nvPr/>
        </p:nvSpPr>
        <p:spPr>
          <a:xfrm>
            <a:off x="838200" y="2259875"/>
            <a:ext cx="2314544" cy="523220"/>
          </a:xfrm>
          <a:prstGeom prst="rect">
            <a:avLst/>
          </a:prstGeom>
          <a:noFill/>
        </p:spPr>
        <p:txBody>
          <a:bodyPr wrap="none" rtlCol="0">
            <a:spAutoFit/>
          </a:bodyPr>
          <a:lstStyle/>
          <a:p>
            <a:r>
              <a:rPr lang="en-GB" sz="2800" b="1" dirty="0"/>
              <a:t>Table: Teacher</a:t>
            </a:r>
          </a:p>
        </p:txBody>
      </p:sp>
      <p:sp>
        <p:nvSpPr>
          <p:cNvPr id="17" name="TextBox 16">
            <a:extLst>
              <a:ext uri="{FF2B5EF4-FFF2-40B4-BE49-F238E27FC236}">
                <a16:creationId xmlns:a16="http://schemas.microsoft.com/office/drawing/2014/main" id="{30CB5969-0CD9-4051-A35F-FA7E4217BCA6}"/>
              </a:ext>
            </a:extLst>
          </p:cNvPr>
          <p:cNvSpPr txBox="1"/>
          <p:nvPr/>
        </p:nvSpPr>
        <p:spPr>
          <a:xfrm>
            <a:off x="7149390" y="2275196"/>
            <a:ext cx="2973827" cy="523220"/>
          </a:xfrm>
          <a:prstGeom prst="rect">
            <a:avLst/>
          </a:prstGeom>
          <a:noFill/>
        </p:spPr>
        <p:txBody>
          <a:bodyPr wrap="none" rtlCol="0">
            <a:spAutoFit/>
          </a:bodyPr>
          <a:lstStyle/>
          <a:p>
            <a:r>
              <a:rPr lang="en-GB" sz="2800" b="1" dirty="0"/>
              <a:t>Table: Department</a:t>
            </a:r>
          </a:p>
        </p:txBody>
      </p:sp>
    </p:spTree>
    <p:extLst>
      <p:ext uri="{BB962C8B-B14F-4D97-AF65-F5344CB8AC3E}">
        <p14:creationId xmlns:p14="http://schemas.microsoft.com/office/powerpoint/2010/main" val="370338333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Keys</a:t>
            </a:r>
          </a:p>
        </p:txBody>
      </p:sp>
      <p:graphicFrame>
        <p:nvGraphicFramePr>
          <p:cNvPr id="5" name="Staff table">
            <a:extLst>
              <a:ext uri="{FF2B5EF4-FFF2-40B4-BE49-F238E27FC236}">
                <a16:creationId xmlns:a16="http://schemas.microsoft.com/office/drawing/2014/main" id="{38A8414E-6490-4AD8-90BD-DF0216F61C69}"/>
              </a:ext>
            </a:extLst>
          </p:cNvPr>
          <p:cNvGraphicFramePr>
            <a:graphicFrameLocks noGrp="1"/>
          </p:cNvGraphicFramePr>
          <p:nvPr>
            <p:ph idx="4294967295"/>
            <p:extLst>
              <p:ext uri="{D42A27DB-BD31-4B8C-83A1-F6EECF244321}">
                <p14:modId xmlns:p14="http://schemas.microsoft.com/office/powerpoint/2010/main" val="815880741"/>
              </p:ext>
            </p:extLst>
          </p:nvPr>
        </p:nvGraphicFramePr>
        <p:xfrm>
          <a:off x="838200" y="2702546"/>
          <a:ext cx="5721413" cy="2962760"/>
        </p:xfrm>
        <a:graphic>
          <a:graphicData uri="http://schemas.openxmlformats.org/drawingml/2006/table">
            <a:tbl>
              <a:tblPr firstRow="1" bandRow="1">
                <a:tableStyleId>{5C22544A-7EE6-4342-B048-85BDC9FD1C3A}</a:tableStyleId>
              </a:tblPr>
              <a:tblGrid>
                <a:gridCol w="638492">
                  <a:extLst>
                    <a:ext uri="{9D8B030D-6E8A-4147-A177-3AD203B41FA5}">
                      <a16:colId xmlns:a16="http://schemas.microsoft.com/office/drawing/2014/main" val="1632358923"/>
                    </a:ext>
                  </a:extLst>
                </a:gridCol>
                <a:gridCol w="1913636">
                  <a:extLst>
                    <a:ext uri="{9D8B030D-6E8A-4147-A177-3AD203B41FA5}">
                      <a16:colId xmlns:a16="http://schemas.microsoft.com/office/drawing/2014/main" val="3505833113"/>
                    </a:ext>
                  </a:extLst>
                </a:gridCol>
                <a:gridCol w="1751330">
                  <a:extLst>
                    <a:ext uri="{9D8B030D-6E8A-4147-A177-3AD203B41FA5}">
                      <a16:colId xmlns:a16="http://schemas.microsoft.com/office/drawing/2014/main" val="3401749839"/>
                    </a:ext>
                  </a:extLst>
                </a:gridCol>
                <a:gridCol w="1417955">
                  <a:extLst>
                    <a:ext uri="{9D8B030D-6E8A-4147-A177-3AD203B41FA5}">
                      <a16:colId xmlns:a16="http://schemas.microsoft.com/office/drawing/2014/main" val="415971381"/>
                    </a:ext>
                  </a:extLst>
                </a:gridCol>
              </a:tblGrid>
              <a:tr h="592552">
                <a:tc>
                  <a:txBody>
                    <a:bodyPr/>
                    <a:lstStyle/>
                    <a:p>
                      <a:pPr algn="ctr"/>
                      <a:r>
                        <a:rPr lang="en-GB" sz="3200" dirty="0"/>
                        <a:t>ID</a:t>
                      </a:r>
                    </a:p>
                  </a:txBody>
                  <a:tcPr/>
                </a:tc>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err="1"/>
                        <a:t>deptID</a:t>
                      </a:r>
                      <a:endParaRPr lang="en-GB" sz="3200" dirty="0"/>
                    </a:p>
                  </a:txBody>
                  <a:tcPr/>
                </a:tc>
                <a:extLst>
                  <a:ext uri="{0D108BD9-81ED-4DB2-BD59-A6C34878D82A}">
                    <a16:rowId xmlns:a16="http://schemas.microsoft.com/office/drawing/2014/main" val="3459615676"/>
                  </a:ext>
                </a:extLst>
              </a:tr>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r>
                        <a:rPr lang="en-GB" sz="3200" dirty="0"/>
                        <a:t>001</a:t>
                      </a:r>
                    </a:p>
                  </a:txBody>
                  <a:tcPr/>
                </a:tc>
                <a:extLst>
                  <a:ext uri="{0D108BD9-81ED-4DB2-BD59-A6C34878D82A}">
                    <a16:rowId xmlns:a16="http://schemas.microsoft.com/office/drawing/2014/main" val="1127765656"/>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r>
                        <a:rPr lang="en-GB" sz="3200" dirty="0"/>
                        <a:t>001</a:t>
                      </a:r>
                    </a:p>
                  </a:txBody>
                  <a:tcPr/>
                </a:tc>
                <a:extLst>
                  <a:ext uri="{0D108BD9-81ED-4DB2-BD59-A6C34878D82A}">
                    <a16:rowId xmlns:a16="http://schemas.microsoft.com/office/drawing/2014/main" val="2924661129"/>
                  </a:ext>
                </a:extLst>
              </a:tr>
              <a:tr h="592552">
                <a:tc>
                  <a:txBody>
                    <a:bodyPr/>
                    <a:lstStyle/>
                    <a:p>
                      <a:pPr lvl="0"/>
                      <a:r>
                        <a:rPr lang="en-GB" sz="3200" dirty="0"/>
                        <a:t>3</a:t>
                      </a:r>
                    </a:p>
                  </a:txBody>
                  <a:tcPr/>
                </a:tc>
                <a:tc>
                  <a:txBody>
                    <a:bodyPr/>
                    <a:lstStyle/>
                    <a:p>
                      <a:pPr lvl="0" algn="l"/>
                      <a:r>
                        <a:rPr lang="en-GB" sz="3200" dirty="0"/>
                        <a:t>Scott</a:t>
                      </a:r>
                    </a:p>
                  </a:txBody>
                  <a:tcPr/>
                </a:tc>
                <a:tc>
                  <a:txBody>
                    <a:bodyPr/>
                    <a:lstStyle/>
                    <a:p>
                      <a:pPr lvl="0" algn="l"/>
                      <a:r>
                        <a:rPr lang="en-GB" sz="3200" dirty="0"/>
                        <a:t>Sinclair</a:t>
                      </a:r>
                    </a:p>
                  </a:txBody>
                  <a:tcPr/>
                </a:tc>
                <a:tc>
                  <a:txBody>
                    <a:bodyPr/>
                    <a:lstStyle/>
                    <a:p>
                      <a:pPr lvl="0"/>
                      <a:r>
                        <a:rPr lang="en-GB" sz="3200" dirty="0"/>
                        <a:t>002</a:t>
                      </a:r>
                    </a:p>
                  </a:txBody>
                  <a:tcPr/>
                </a:tc>
                <a:extLst>
                  <a:ext uri="{0D108BD9-81ED-4DB2-BD59-A6C34878D82A}">
                    <a16:rowId xmlns:a16="http://schemas.microsoft.com/office/drawing/2014/main" val="1487565366"/>
                  </a:ext>
                </a:extLst>
              </a:tr>
              <a:tr h="592552">
                <a:tc>
                  <a:txBody>
                    <a:bodyPr/>
                    <a:lstStyle/>
                    <a:p>
                      <a:pPr lvl="0"/>
                      <a:r>
                        <a:rPr lang="en-GB" sz="3200" dirty="0"/>
                        <a:t>4</a:t>
                      </a:r>
                    </a:p>
                  </a:txBody>
                  <a:tcPr/>
                </a:tc>
                <a:tc>
                  <a:txBody>
                    <a:bodyPr/>
                    <a:lstStyle/>
                    <a:p>
                      <a:pPr lvl="0" algn="l"/>
                      <a:r>
                        <a:rPr lang="en-GB" sz="3200" dirty="0"/>
                        <a:t>Michelle</a:t>
                      </a:r>
                    </a:p>
                  </a:txBody>
                  <a:tcPr/>
                </a:tc>
                <a:tc>
                  <a:txBody>
                    <a:bodyPr/>
                    <a:lstStyle/>
                    <a:p>
                      <a:pPr lvl="0" algn="l"/>
                      <a:r>
                        <a:rPr lang="en-GB" sz="3200" dirty="0"/>
                        <a:t>Wie</a:t>
                      </a:r>
                    </a:p>
                  </a:txBody>
                  <a:tcPr/>
                </a:tc>
                <a:tc>
                  <a:txBody>
                    <a:bodyPr/>
                    <a:lstStyle/>
                    <a:p>
                      <a:pPr lvl="0"/>
                      <a:r>
                        <a:rPr lang="en-GB" sz="3200" dirty="0"/>
                        <a:t>002</a:t>
                      </a:r>
                    </a:p>
                  </a:txBody>
                  <a:tcPr/>
                </a:tc>
                <a:extLst>
                  <a:ext uri="{0D108BD9-81ED-4DB2-BD59-A6C34878D82A}">
                    <a16:rowId xmlns:a16="http://schemas.microsoft.com/office/drawing/2014/main" val="81894544"/>
                  </a:ext>
                </a:extLst>
              </a:tr>
            </a:tbl>
          </a:graphicData>
        </a:graphic>
      </p:graphicFrame>
      <p:sp>
        <p:nvSpPr>
          <p:cNvPr id="15" name="TextBox 14">
            <a:extLst>
              <a:ext uri="{FF2B5EF4-FFF2-40B4-BE49-F238E27FC236}">
                <a16:creationId xmlns:a16="http://schemas.microsoft.com/office/drawing/2014/main" id="{B935E981-B7C6-4BDF-ADC2-EFF2B075D3D8}"/>
              </a:ext>
            </a:extLst>
          </p:cNvPr>
          <p:cNvSpPr txBox="1"/>
          <p:nvPr/>
        </p:nvSpPr>
        <p:spPr>
          <a:xfrm>
            <a:off x="838200" y="1559731"/>
            <a:ext cx="11338425" cy="584775"/>
          </a:xfrm>
          <a:prstGeom prst="rect">
            <a:avLst/>
          </a:prstGeom>
          <a:noFill/>
        </p:spPr>
        <p:txBody>
          <a:bodyPr wrap="none" rtlCol="0">
            <a:spAutoFit/>
          </a:bodyPr>
          <a:lstStyle/>
          <a:p>
            <a:r>
              <a:rPr lang="en-GB" sz="3200" b="1" dirty="0">
                <a:solidFill>
                  <a:srgbClr val="7030A0"/>
                </a:solidFill>
              </a:rPr>
              <a:t>A table has a Primary Key, and can have one or more Foreign Keys</a:t>
            </a:r>
          </a:p>
        </p:txBody>
      </p:sp>
      <p:graphicFrame>
        <p:nvGraphicFramePr>
          <p:cNvPr id="14" name="Dept table">
            <a:extLst>
              <a:ext uri="{FF2B5EF4-FFF2-40B4-BE49-F238E27FC236}">
                <a16:creationId xmlns:a16="http://schemas.microsoft.com/office/drawing/2014/main" id="{844D8AF2-45F4-4D3A-A16B-FDE72F88C3EB}"/>
              </a:ext>
            </a:extLst>
          </p:cNvPr>
          <p:cNvGraphicFramePr>
            <a:graphicFrameLocks/>
          </p:cNvGraphicFramePr>
          <p:nvPr>
            <p:extLst>
              <p:ext uri="{D42A27DB-BD31-4B8C-83A1-F6EECF244321}">
                <p14:modId xmlns:p14="http://schemas.microsoft.com/office/powerpoint/2010/main" val="2273347209"/>
              </p:ext>
            </p:extLst>
          </p:nvPr>
        </p:nvGraphicFramePr>
        <p:xfrm>
          <a:off x="7144385" y="2702546"/>
          <a:ext cx="4209415" cy="1777656"/>
        </p:xfrm>
        <a:graphic>
          <a:graphicData uri="http://schemas.openxmlformats.org/drawingml/2006/table">
            <a:tbl>
              <a:tblPr firstRow="1" bandRow="1">
                <a:tableStyleId>{5C22544A-7EE6-4342-B048-85BDC9FD1C3A}</a:tableStyleId>
              </a:tblPr>
              <a:tblGrid>
                <a:gridCol w="1417955">
                  <a:extLst>
                    <a:ext uri="{9D8B030D-6E8A-4147-A177-3AD203B41FA5}">
                      <a16:colId xmlns:a16="http://schemas.microsoft.com/office/drawing/2014/main" val="415971381"/>
                    </a:ext>
                  </a:extLst>
                </a:gridCol>
                <a:gridCol w="1440180">
                  <a:extLst>
                    <a:ext uri="{9D8B030D-6E8A-4147-A177-3AD203B41FA5}">
                      <a16:colId xmlns:a16="http://schemas.microsoft.com/office/drawing/2014/main" val="4013636719"/>
                    </a:ext>
                  </a:extLst>
                </a:gridCol>
                <a:gridCol w="1351280">
                  <a:extLst>
                    <a:ext uri="{9D8B030D-6E8A-4147-A177-3AD203B41FA5}">
                      <a16:colId xmlns:a16="http://schemas.microsoft.com/office/drawing/2014/main" val="3467447067"/>
                    </a:ext>
                  </a:extLst>
                </a:gridCol>
              </a:tblGrid>
              <a:tr h="592552">
                <a:tc>
                  <a:txBody>
                    <a:bodyPr/>
                    <a:lstStyle/>
                    <a:p>
                      <a:pPr algn="ctr"/>
                      <a:r>
                        <a:rPr lang="en-GB" sz="3200" dirty="0" err="1"/>
                        <a:t>deptID</a:t>
                      </a:r>
                      <a:endParaRPr lang="en-GB" sz="3200" dirty="0"/>
                    </a:p>
                  </a:txBody>
                  <a:tcPr/>
                </a:tc>
                <a:tc>
                  <a:txBody>
                    <a:bodyPr/>
                    <a:lstStyle/>
                    <a:p>
                      <a:pPr algn="ctr"/>
                      <a:r>
                        <a:rPr lang="en-GB" sz="3200" dirty="0"/>
                        <a:t>name</a:t>
                      </a:r>
                    </a:p>
                  </a:txBody>
                  <a:tcPr/>
                </a:tc>
                <a:tc>
                  <a:txBody>
                    <a:bodyPr/>
                    <a:lstStyle/>
                    <a:p>
                      <a:pPr algn="ctr"/>
                      <a:r>
                        <a:rPr lang="en-GB" sz="3200" dirty="0"/>
                        <a:t>phone</a:t>
                      </a:r>
                    </a:p>
                  </a:txBody>
                  <a:tcPr/>
                </a:tc>
                <a:extLst>
                  <a:ext uri="{0D108BD9-81ED-4DB2-BD59-A6C34878D82A}">
                    <a16:rowId xmlns:a16="http://schemas.microsoft.com/office/drawing/2014/main" val="3459615676"/>
                  </a:ext>
                </a:extLst>
              </a:tr>
              <a:tr h="592552">
                <a:tc>
                  <a:txBody>
                    <a:bodyPr/>
                    <a:lstStyle/>
                    <a:p>
                      <a:pPr lvl="0"/>
                      <a:r>
                        <a:rPr lang="en-GB" sz="3200" dirty="0"/>
                        <a:t>001</a:t>
                      </a:r>
                    </a:p>
                  </a:txBody>
                  <a:tcPr/>
                </a:tc>
                <a:tc>
                  <a:txBody>
                    <a:bodyPr/>
                    <a:lstStyle/>
                    <a:p>
                      <a:pPr lvl="0"/>
                      <a:r>
                        <a:rPr lang="en-GB" sz="3200" dirty="0"/>
                        <a:t>Maths</a:t>
                      </a:r>
                    </a:p>
                  </a:txBody>
                  <a:tcPr/>
                </a:tc>
                <a:tc>
                  <a:txBody>
                    <a:bodyPr/>
                    <a:lstStyle/>
                    <a:p>
                      <a:pPr lvl="0"/>
                      <a:r>
                        <a:rPr lang="en-GB" sz="3200" dirty="0"/>
                        <a:t>300</a:t>
                      </a:r>
                    </a:p>
                  </a:txBody>
                  <a:tcPr/>
                </a:tc>
                <a:extLst>
                  <a:ext uri="{0D108BD9-81ED-4DB2-BD59-A6C34878D82A}">
                    <a16:rowId xmlns:a16="http://schemas.microsoft.com/office/drawing/2014/main" val="1127765656"/>
                  </a:ext>
                </a:extLst>
              </a:tr>
              <a:tr h="592552">
                <a:tc>
                  <a:txBody>
                    <a:bodyPr/>
                    <a:lstStyle/>
                    <a:p>
                      <a:pPr lvl="0"/>
                      <a:r>
                        <a:rPr lang="en-GB" sz="3200" dirty="0"/>
                        <a:t>002</a:t>
                      </a:r>
                    </a:p>
                  </a:txBody>
                  <a:tcPr/>
                </a:tc>
                <a:tc>
                  <a:txBody>
                    <a:bodyPr/>
                    <a:lstStyle/>
                    <a:p>
                      <a:pPr lvl="0"/>
                      <a:r>
                        <a:rPr lang="en-GB" sz="3200" dirty="0"/>
                        <a:t>English</a:t>
                      </a:r>
                    </a:p>
                  </a:txBody>
                  <a:tcPr/>
                </a:tc>
                <a:tc>
                  <a:txBody>
                    <a:bodyPr/>
                    <a:lstStyle/>
                    <a:p>
                      <a:pPr lvl="0"/>
                      <a:r>
                        <a:rPr lang="en-GB" sz="3200" dirty="0"/>
                        <a:t>301</a:t>
                      </a:r>
                    </a:p>
                  </a:txBody>
                  <a:tcPr/>
                </a:tc>
                <a:extLst>
                  <a:ext uri="{0D108BD9-81ED-4DB2-BD59-A6C34878D82A}">
                    <a16:rowId xmlns:a16="http://schemas.microsoft.com/office/drawing/2014/main" val="81894544"/>
                  </a:ext>
                </a:extLst>
              </a:tr>
            </a:tbl>
          </a:graphicData>
        </a:graphic>
      </p:graphicFrame>
      <p:sp>
        <p:nvSpPr>
          <p:cNvPr id="8" name="Callout: Bent Line with No Border 4">
            <a:extLst>
              <a:ext uri="{FF2B5EF4-FFF2-40B4-BE49-F238E27FC236}">
                <a16:creationId xmlns:a16="http://schemas.microsoft.com/office/drawing/2014/main" id="{924404A3-ED4C-4699-9CA9-EFEB23F51AA9}"/>
              </a:ext>
            </a:extLst>
          </p:cNvPr>
          <p:cNvSpPr/>
          <p:nvPr/>
        </p:nvSpPr>
        <p:spPr>
          <a:xfrm>
            <a:off x="1981200" y="5995626"/>
            <a:ext cx="3352800" cy="487680"/>
          </a:xfrm>
          <a:prstGeom prst="callout2">
            <a:avLst>
              <a:gd name="adj1" fmla="val 52750"/>
              <a:gd name="adj2" fmla="val -2245"/>
              <a:gd name="adj3" fmla="val 53715"/>
              <a:gd name="adj4" fmla="val -18685"/>
              <a:gd name="adj5" fmla="val -58483"/>
              <a:gd name="adj6" fmla="val -26295"/>
            </a:avLst>
          </a:prstGeom>
          <a:noFill/>
          <a:ln w="38100">
            <a:solidFill>
              <a:srgbClr val="FF0000"/>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Primary Key (Unique)</a:t>
            </a:r>
          </a:p>
        </p:txBody>
      </p:sp>
      <p:sp>
        <p:nvSpPr>
          <p:cNvPr id="9" name="Callout: Bent Line with No Border 4">
            <a:extLst>
              <a:ext uri="{FF2B5EF4-FFF2-40B4-BE49-F238E27FC236}">
                <a16:creationId xmlns:a16="http://schemas.microsoft.com/office/drawing/2014/main" id="{924404A3-ED4C-4699-9CA9-EFEB23F51AA9}"/>
              </a:ext>
            </a:extLst>
          </p:cNvPr>
          <p:cNvSpPr/>
          <p:nvPr/>
        </p:nvSpPr>
        <p:spPr>
          <a:xfrm>
            <a:off x="8379827" y="4645942"/>
            <a:ext cx="2146434" cy="487680"/>
          </a:xfrm>
          <a:prstGeom prst="callout2">
            <a:avLst>
              <a:gd name="adj1" fmla="val 52750"/>
              <a:gd name="adj2" fmla="val -2245"/>
              <a:gd name="adj3" fmla="val 53715"/>
              <a:gd name="adj4" fmla="val -18685"/>
              <a:gd name="adj5" fmla="val -30851"/>
              <a:gd name="adj6" fmla="val -24950"/>
            </a:avLst>
          </a:prstGeom>
          <a:noFill/>
          <a:ln w="38100">
            <a:solidFill>
              <a:srgbClr val="FF0000"/>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Primary Key</a:t>
            </a:r>
          </a:p>
        </p:txBody>
      </p:sp>
      <p:sp>
        <p:nvSpPr>
          <p:cNvPr id="12" name="Callout: Bent Line with No Border 4">
            <a:extLst>
              <a:ext uri="{FF2B5EF4-FFF2-40B4-BE49-F238E27FC236}">
                <a16:creationId xmlns:a16="http://schemas.microsoft.com/office/drawing/2014/main" id="{924404A3-ED4C-4699-9CA9-EFEB23F51AA9}"/>
              </a:ext>
            </a:extLst>
          </p:cNvPr>
          <p:cNvSpPr/>
          <p:nvPr/>
        </p:nvSpPr>
        <p:spPr>
          <a:xfrm>
            <a:off x="6700212" y="6084834"/>
            <a:ext cx="3942080" cy="487680"/>
          </a:xfrm>
          <a:prstGeom prst="callout2">
            <a:avLst>
              <a:gd name="adj1" fmla="val 52750"/>
              <a:gd name="adj2" fmla="val -2245"/>
              <a:gd name="adj3" fmla="val 53715"/>
              <a:gd name="adj4" fmla="val -16108"/>
              <a:gd name="adj5" fmla="val -78428"/>
              <a:gd name="adj6" fmla="val -21337"/>
            </a:avLst>
          </a:prstGeom>
          <a:noFill/>
          <a:ln w="38100">
            <a:solidFill>
              <a:srgbClr val="FF0000"/>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Foreign Key (Not unique)</a:t>
            </a:r>
          </a:p>
        </p:txBody>
      </p:sp>
      <p:sp>
        <p:nvSpPr>
          <p:cNvPr id="16" name="TextBox 15">
            <a:extLst>
              <a:ext uri="{FF2B5EF4-FFF2-40B4-BE49-F238E27FC236}">
                <a16:creationId xmlns:a16="http://schemas.microsoft.com/office/drawing/2014/main" id="{B935E981-B7C6-4BDF-ADC2-EFF2B075D3D8}"/>
              </a:ext>
            </a:extLst>
          </p:cNvPr>
          <p:cNvSpPr txBox="1"/>
          <p:nvPr/>
        </p:nvSpPr>
        <p:spPr>
          <a:xfrm>
            <a:off x="7490010" y="5191415"/>
            <a:ext cx="2219511" cy="523220"/>
          </a:xfrm>
          <a:prstGeom prst="rect">
            <a:avLst/>
          </a:prstGeom>
          <a:noFill/>
        </p:spPr>
        <p:txBody>
          <a:bodyPr wrap="square" rtlCol="0">
            <a:spAutoFit/>
          </a:bodyPr>
          <a:lstStyle/>
          <a:p>
            <a:pPr algn="r"/>
            <a:r>
              <a:rPr lang="en-GB" sz="2800" b="1" dirty="0">
                <a:solidFill>
                  <a:srgbClr val="FF0000"/>
                </a:solidFill>
              </a:rPr>
              <a:t>FK links to PK</a:t>
            </a:r>
          </a:p>
        </p:txBody>
      </p:sp>
      <p:sp>
        <p:nvSpPr>
          <p:cNvPr id="20" name="TextBox 19">
            <a:extLst>
              <a:ext uri="{FF2B5EF4-FFF2-40B4-BE49-F238E27FC236}">
                <a16:creationId xmlns:a16="http://schemas.microsoft.com/office/drawing/2014/main" id="{FC18EA51-DCE8-4352-972F-FAECFBB2C52E}"/>
              </a:ext>
            </a:extLst>
          </p:cNvPr>
          <p:cNvSpPr txBox="1"/>
          <p:nvPr/>
        </p:nvSpPr>
        <p:spPr>
          <a:xfrm>
            <a:off x="838200" y="2259875"/>
            <a:ext cx="2314544" cy="523220"/>
          </a:xfrm>
          <a:prstGeom prst="rect">
            <a:avLst/>
          </a:prstGeom>
          <a:noFill/>
        </p:spPr>
        <p:txBody>
          <a:bodyPr wrap="none" rtlCol="0">
            <a:spAutoFit/>
          </a:bodyPr>
          <a:lstStyle/>
          <a:p>
            <a:r>
              <a:rPr lang="en-GB" sz="2800" b="1" dirty="0"/>
              <a:t>Table: Teacher</a:t>
            </a:r>
          </a:p>
        </p:txBody>
      </p:sp>
      <p:sp>
        <p:nvSpPr>
          <p:cNvPr id="21" name="TextBox 20">
            <a:extLst>
              <a:ext uri="{FF2B5EF4-FFF2-40B4-BE49-F238E27FC236}">
                <a16:creationId xmlns:a16="http://schemas.microsoft.com/office/drawing/2014/main" id="{2BC1D85C-CC9B-4254-9807-EDCE23158977}"/>
              </a:ext>
            </a:extLst>
          </p:cNvPr>
          <p:cNvSpPr txBox="1"/>
          <p:nvPr/>
        </p:nvSpPr>
        <p:spPr>
          <a:xfrm>
            <a:off x="7149390" y="2275196"/>
            <a:ext cx="2973827" cy="523220"/>
          </a:xfrm>
          <a:prstGeom prst="rect">
            <a:avLst/>
          </a:prstGeom>
          <a:noFill/>
        </p:spPr>
        <p:txBody>
          <a:bodyPr wrap="none" rtlCol="0">
            <a:spAutoFit/>
          </a:bodyPr>
          <a:lstStyle/>
          <a:p>
            <a:r>
              <a:rPr lang="en-GB" sz="2800" b="1" dirty="0"/>
              <a:t>Table: Department</a:t>
            </a:r>
          </a:p>
        </p:txBody>
      </p:sp>
      <p:sp>
        <p:nvSpPr>
          <p:cNvPr id="7" name="Oval 6">
            <a:extLst>
              <a:ext uri="{FF2B5EF4-FFF2-40B4-BE49-F238E27FC236}">
                <a16:creationId xmlns:a16="http://schemas.microsoft.com/office/drawing/2014/main" id="{00C111E4-9515-819D-6CD4-462D7C7670D9}"/>
              </a:ext>
            </a:extLst>
          </p:cNvPr>
          <p:cNvSpPr/>
          <p:nvPr/>
        </p:nvSpPr>
        <p:spPr>
          <a:xfrm>
            <a:off x="7030064" y="2685202"/>
            <a:ext cx="1620000" cy="612000"/>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20B8326E-0F87-2651-23AE-3B1B3B5A4A2A}"/>
              </a:ext>
            </a:extLst>
          </p:cNvPr>
          <p:cNvSpPr/>
          <p:nvPr/>
        </p:nvSpPr>
        <p:spPr>
          <a:xfrm>
            <a:off x="5042611" y="2679987"/>
            <a:ext cx="1620000" cy="612000"/>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Arc 16">
            <a:extLst>
              <a:ext uri="{FF2B5EF4-FFF2-40B4-BE49-F238E27FC236}">
                <a16:creationId xmlns:a16="http://schemas.microsoft.com/office/drawing/2014/main" id="{A2AE177D-AA1E-E2B5-839A-935902A4680E}"/>
              </a:ext>
            </a:extLst>
          </p:cNvPr>
          <p:cNvSpPr/>
          <p:nvPr/>
        </p:nvSpPr>
        <p:spPr>
          <a:xfrm>
            <a:off x="6541436" y="2702546"/>
            <a:ext cx="605451" cy="372754"/>
          </a:xfrm>
          <a:prstGeom prst="arc">
            <a:avLst>
              <a:gd name="adj1" fmla="val 11701476"/>
              <a:gd name="adj2" fmla="val 20745836"/>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nvGrpSpPr>
          <p:cNvPr id="25" name="Group 24">
            <a:extLst>
              <a:ext uri="{FF2B5EF4-FFF2-40B4-BE49-F238E27FC236}">
                <a16:creationId xmlns:a16="http://schemas.microsoft.com/office/drawing/2014/main" id="{2469EE32-BAEE-4D4E-B3EB-D137826C322F}"/>
              </a:ext>
            </a:extLst>
          </p:cNvPr>
          <p:cNvGrpSpPr/>
          <p:nvPr/>
        </p:nvGrpSpPr>
        <p:grpSpPr>
          <a:xfrm>
            <a:off x="5902036" y="3574473"/>
            <a:ext cx="1242349" cy="629392"/>
            <a:chOff x="5902036" y="3574473"/>
            <a:chExt cx="1242349" cy="629392"/>
          </a:xfrm>
        </p:grpSpPr>
        <p:cxnSp>
          <p:nvCxnSpPr>
            <p:cNvPr id="6" name="Straight Arrow Connector 5">
              <a:extLst>
                <a:ext uri="{FF2B5EF4-FFF2-40B4-BE49-F238E27FC236}">
                  <a16:creationId xmlns:a16="http://schemas.microsoft.com/office/drawing/2014/main" id="{13817D7A-F685-4CEE-9E6A-3D24AEFFF513}"/>
                </a:ext>
              </a:extLst>
            </p:cNvPr>
            <p:cNvCxnSpPr/>
            <p:nvPr/>
          </p:nvCxnSpPr>
          <p:spPr>
            <a:xfrm flipH="1">
              <a:off x="5902036" y="3574473"/>
              <a:ext cx="1242349" cy="0"/>
            </a:xfrm>
            <a:prstGeom prst="straightConnector1">
              <a:avLst/>
            </a:prstGeom>
            <a:ln w="38100">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38E8BC8-453C-4DC2-B7E4-66F0F3130226}"/>
                </a:ext>
              </a:extLst>
            </p:cNvPr>
            <p:cNvCxnSpPr>
              <a:cxnSpLocks/>
              <a:stCxn id="14" idx="1"/>
            </p:cNvCxnSpPr>
            <p:nvPr/>
          </p:nvCxnSpPr>
          <p:spPr>
            <a:xfrm flipH="1">
              <a:off x="5902036" y="3591374"/>
              <a:ext cx="1242349" cy="612491"/>
            </a:xfrm>
            <a:prstGeom prst="straightConnector1">
              <a:avLst/>
            </a:prstGeom>
            <a:ln w="38100">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24513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1000"/>
                                        <p:tgtEl>
                                          <p:spTgt spid="20"/>
                                        </p:tgtEl>
                                      </p:cBhvr>
                                    </p:animEffect>
                                  </p:childTnLst>
                                </p:cTn>
                              </p:par>
                              <p:par>
                                <p:cTn id="13" presetID="22" presetClass="entr" presetSubtype="8"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2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1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left)">
                                      <p:cBhvr>
                                        <p:cTn id="25" dur="1250"/>
                                        <p:tgtEl>
                                          <p:spTgt spid="21"/>
                                        </p:tgtEl>
                                      </p:cBhvr>
                                    </p:animEffect>
                                  </p:childTnLst>
                                </p:cTn>
                              </p:par>
                              <p:par>
                                <p:cTn id="26" presetID="22" presetClass="entr" presetSubtype="8"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8" dur="1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10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heel(1)">
                                      <p:cBhvr>
                                        <p:cTn id="38" dur="20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right)">
                                      <p:cBhvr>
                                        <p:cTn id="43" dur="1000"/>
                                        <p:tgtEl>
                                          <p:spTgt spid="17"/>
                                        </p:tgtEl>
                                      </p:cBhvr>
                                    </p:animEffect>
                                  </p:childTnLst>
                                </p:cTn>
                              </p:par>
                            </p:childTnLst>
                          </p:cTn>
                        </p:par>
                        <p:par>
                          <p:cTn id="44" fill="hold">
                            <p:stCondLst>
                              <p:cond delay="1000"/>
                            </p:stCondLst>
                            <p:childTnLst>
                              <p:par>
                                <p:cTn id="45" presetID="21" presetClass="entr" presetSubtype="1" fill="hold" grpId="0" nodeType="after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heel(1)">
                                      <p:cBhvr>
                                        <p:cTn id="47" dur="20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20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10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2" fill="hold" nodeType="click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wipe(right)">
                                      <p:cBhvr>
                                        <p:cTn id="62"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animBg="1"/>
      <p:bldP spid="9" grpId="0" animBg="1"/>
      <p:bldP spid="12" grpId="0" animBg="1"/>
      <p:bldP spid="16" grpId="0"/>
      <p:bldP spid="20" grpId="0"/>
      <p:bldP spid="21" grpId="0"/>
      <p:bldP spid="7" grpId="0" animBg="1"/>
      <p:bldP spid="11" grpId="0" animBg="1"/>
      <p:bldP spid="17" grpId="0" animBg="1"/>
    </p:bldLst>
  </p:timing>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Keys</a:t>
            </a:r>
          </a:p>
        </p:txBody>
      </p:sp>
      <p:sp>
        <p:nvSpPr>
          <p:cNvPr id="15" name="TextBox 14">
            <a:extLst>
              <a:ext uri="{FF2B5EF4-FFF2-40B4-BE49-F238E27FC236}">
                <a16:creationId xmlns:a16="http://schemas.microsoft.com/office/drawing/2014/main" id="{B935E981-B7C6-4BDF-ADC2-EFF2B075D3D8}"/>
              </a:ext>
            </a:extLst>
          </p:cNvPr>
          <p:cNvSpPr txBox="1"/>
          <p:nvPr/>
        </p:nvSpPr>
        <p:spPr>
          <a:xfrm>
            <a:off x="838200" y="1559731"/>
            <a:ext cx="11338425" cy="584775"/>
          </a:xfrm>
          <a:prstGeom prst="rect">
            <a:avLst/>
          </a:prstGeom>
          <a:noFill/>
        </p:spPr>
        <p:txBody>
          <a:bodyPr wrap="none" rtlCol="0">
            <a:spAutoFit/>
          </a:bodyPr>
          <a:lstStyle/>
          <a:p>
            <a:r>
              <a:rPr lang="en-GB" sz="3200" b="1" dirty="0">
                <a:solidFill>
                  <a:srgbClr val="7030A0"/>
                </a:solidFill>
              </a:rPr>
              <a:t>A table has a Primary Key, and can have one or more Foreign Keys</a:t>
            </a:r>
          </a:p>
        </p:txBody>
      </p:sp>
      <p:graphicFrame>
        <p:nvGraphicFramePr>
          <p:cNvPr id="14" name="Dept table">
            <a:extLst>
              <a:ext uri="{FF2B5EF4-FFF2-40B4-BE49-F238E27FC236}">
                <a16:creationId xmlns:a16="http://schemas.microsoft.com/office/drawing/2014/main" id="{844D8AF2-45F4-4D3A-A16B-FDE72F88C3EB}"/>
              </a:ext>
            </a:extLst>
          </p:cNvPr>
          <p:cNvGraphicFramePr>
            <a:graphicFrameLocks/>
          </p:cNvGraphicFramePr>
          <p:nvPr/>
        </p:nvGraphicFramePr>
        <p:xfrm>
          <a:off x="7144385" y="2702546"/>
          <a:ext cx="4209415" cy="1777656"/>
        </p:xfrm>
        <a:graphic>
          <a:graphicData uri="http://schemas.openxmlformats.org/drawingml/2006/table">
            <a:tbl>
              <a:tblPr firstRow="1" bandRow="1">
                <a:tableStyleId>{5C22544A-7EE6-4342-B048-85BDC9FD1C3A}</a:tableStyleId>
              </a:tblPr>
              <a:tblGrid>
                <a:gridCol w="1417955">
                  <a:extLst>
                    <a:ext uri="{9D8B030D-6E8A-4147-A177-3AD203B41FA5}">
                      <a16:colId xmlns:a16="http://schemas.microsoft.com/office/drawing/2014/main" val="415971381"/>
                    </a:ext>
                  </a:extLst>
                </a:gridCol>
                <a:gridCol w="1440180">
                  <a:extLst>
                    <a:ext uri="{9D8B030D-6E8A-4147-A177-3AD203B41FA5}">
                      <a16:colId xmlns:a16="http://schemas.microsoft.com/office/drawing/2014/main" val="4013636719"/>
                    </a:ext>
                  </a:extLst>
                </a:gridCol>
                <a:gridCol w="1351280">
                  <a:extLst>
                    <a:ext uri="{9D8B030D-6E8A-4147-A177-3AD203B41FA5}">
                      <a16:colId xmlns:a16="http://schemas.microsoft.com/office/drawing/2014/main" val="3467447067"/>
                    </a:ext>
                  </a:extLst>
                </a:gridCol>
              </a:tblGrid>
              <a:tr h="592552">
                <a:tc>
                  <a:txBody>
                    <a:bodyPr/>
                    <a:lstStyle/>
                    <a:p>
                      <a:pPr algn="ctr"/>
                      <a:r>
                        <a:rPr lang="en-GB" sz="3200" dirty="0" err="1"/>
                        <a:t>deptID</a:t>
                      </a:r>
                      <a:endParaRPr lang="en-GB" sz="3200" dirty="0"/>
                    </a:p>
                  </a:txBody>
                  <a:tcPr/>
                </a:tc>
                <a:tc>
                  <a:txBody>
                    <a:bodyPr/>
                    <a:lstStyle/>
                    <a:p>
                      <a:pPr algn="ctr"/>
                      <a:r>
                        <a:rPr lang="en-GB" sz="3200" dirty="0"/>
                        <a:t>name</a:t>
                      </a:r>
                    </a:p>
                  </a:txBody>
                  <a:tcPr/>
                </a:tc>
                <a:tc>
                  <a:txBody>
                    <a:bodyPr/>
                    <a:lstStyle/>
                    <a:p>
                      <a:pPr algn="ctr"/>
                      <a:r>
                        <a:rPr lang="en-GB" sz="3200" dirty="0"/>
                        <a:t>phone</a:t>
                      </a:r>
                    </a:p>
                  </a:txBody>
                  <a:tcPr/>
                </a:tc>
                <a:extLst>
                  <a:ext uri="{0D108BD9-81ED-4DB2-BD59-A6C34878D82A}">
                    <a16:rowId xmlns:a16="http://schemas.microsoft.com/office/drawing/2014/main" val="3459615676"/>
                  </a:ext>
                </a:extLst>
              </a:tr>
              <a:tr h="592552">
                <a:tc>
                  <a:txBody>
                    <a:bodyPr/>
                    <a:lstStyle/>
                    <a:p>
                      <a:pPr lvl="0"/>
                      <a:r>
                        <a:rPr lang="en-GB" sz="3200" dirty="0"/>
                        <a:t>001</a:t>
                      </a:r>
                    </a:p>
                  </a:txBody>
                  <a:tcPr/>
                </a:tc>
                <a:tc>
                  <a:txBody>
                    <a:bodyPr/>
                    <a:lstStyle/>
                    <a:p>
                      <a:pPr lvl="0"/>
                      <a:r>
                        <a:rPr lang="en-GB" sz="3200" dirty="0"/>
                        <a:t>Maths</a:t>
                      </a:r>
                    </a:p>
                  </a:txBody>
                  <a:tcPr/>
                </a:tc>
                <a:tc>
                  <a:txBody>
                    <a:bodyPr/>
                    <a:lstStyle/>
                    <a:p>
                      <a:pPr lvl="0"/>
                      <a:r>
                        <a:rPr lang="en-GB" sz="3200" dirty="0"/>
                        <a:t>300</a:t>
                      </a:r>
                    </a:p>
                  </a:txBody>
                  <a:tcPr/>
                </a:tc>
                <a:extLst>
                  <a:ext uri="{0D108BD9-81ED-4DB2-BD59-A6C34878D82A}">
                    <a16:rowId xmlns:a16="http://schemas.microsoft.com/office/drawing/2014/main" val="1127765656"/>
                  </a:ext>
                </a:extLst>
              </a:tr>
              <a:tr h="592552">
                <a:tc>
                  <a:txBody>
                    <a:bodyPr/>
                    <a:lstStyle/>
                    <a:p>
                      <a:pPr lvl="0"/>
                      <a:r>
                        <a:rPr lang="en-GB" sz="3200" dirty="0"/>
                        <a:t>002</a:t>
                      </a:r>
                    </a:p>
                  </a:txBody>
                  <a:tcPr/>
                </a:tc>
                <a:tc>
                  <a:txBody>
                    <a:bodyPr/>
                    <a:lstStyle/>
                    <a:p>
                      <a:pPr lvl="0"/>
                      <a:r>
                        <a:rPr lang="en-GB" sz="3200" dirty="0"/>
                        <a:t>English</a:t>
                      </a:r>
                    </a:p>
                  </a:txBody>
                  <a:tcPr/>
                </a:tc>
                <a:tc>
                  <a:txBody>
                    <a:bodyPr/>
                    <a:lstStyle/>
                    <a:p>
                      <a:pPr lvl="0"/>
                      <a:r>
                        <a:rPr lang="en-GB" sz="3200" dirty="0"/>
                        <a:t>301</a:t>
                      </a:r>
                    </a:p>
                  </a:txBody>
                  <a:tcPr/>
                </a:tc>
                <a:extLst>
                  <a:ext uri="{0D108BD9-81ED-4DB2-BD59-A6C34878D82A}">
                    <a16:rowId xmlns:a16="http://schemas.microsoft.com/office/drawing/2014/main" val="81894544"/>
                  </a:ext>
                </a:extLst>
              </a:tr>
            </a:tbl>
          </a:graphicData>
        </a:graphic>
      </p:graphicFrame>
      <p:sp>
        <p:nvSpPr>
          <p:cNvPr id="20" name="TextBox 19">
            <a:extLst>
              <a:ext uri="{FF2B5EF4-FFF2-40B4-BE49-F238E27FC236}">
                <a16:creationId xmlns:a16="http://schemas.microsoft.com/office/drawing/2014/main" id="{FC18EA51-DCE8-4352-972F-FAECFBB2C52E}"/>
              </a:ext>
            </a:extLst>
          </p:cNvPr>
          <p:cNvSpPr txBox="1"/>
          <p:nvPr/>
        </p:nvSpPr>
        <p:spPr>
          <a:xfrm>
            <a:off x="838200" y="2259875"/>
            <a:ext cx="2314544" cy="523220"/>
          </a:xfrm>
          <a:prstGeom prst="rect">
            <a:avLst/>
          </a:prstGeom>
          <a:noFill/>
        </p:spPr>
        <p:txBody>
          <a:bodyPr wrap="none" rtlCol="0">
            <a:spAutoFit/>
          </a:bodyPr>
          <a:lstStyle/>
          <a:p>
            <a:r>
              <a:rPr lang="en-GB" sz="2800" b="1" dirty="0"/>
              <a:t>Table: Teacher</a:t>
            </a:r>
          </a:p>
        </p:txBody>
      </p:sp>
      <p:sp>
        <p:nvSpPr>
          <p:cNvPr id="21" name="TextBox 20">
            <a:extLst>
              <a:ext uri="{FF2B5EF4-FFF2-40B4-BE49-F238E27FC236}">
                <a16:creationId xmlns:a16="http://schemas.microsoft.com/office/drawing/2014/main" id="{2BC1D85C-CC9B-4254-9807-EDCE23158977}"/>
              </a:ext>
            </a:extLst>
          </p:cNvPr>
          <p:cNvSpPr txBox="1"/>
          <p:nvPr/>
        </p:nvSpPr>
        <p:spPr>
          <a:xfrm>
            <a:off x="7149390" y="2275196"/>
            <a:ext cx="2973827" cy="523220"/>
          </a:xfrm>
          <a:prstGeom prst="rect">
            <a:avLst/>
          </a:prstGeom>
          <a:noFill/>
        </p:spPr>
        <p:txBody>
          <a:bodyPr wrap="none" rtlCol="0">
            <a:spAutoFit/>
          </a:bodyPr>
          <a:lstStyle/>
          <a:p>
            <a:r>
              <a:rPr lang="en-GB" sz="2800" b="1" dirty="0"/>
              <a:t>Table: Department</a:t>
            </a:r>
          </a:p>
        </p:txBody>
      </p:sp>
      <p:graphicFrame>
        <p:nvGraphicFramePr>
          <p:cNvPr id="17" name="Staff table">
            <a:extLst>
              <a:ext uri="{FF2B5EF4-FFF2-40B4-BE49-F238E27FC236}">
                <a16:creationId xmlns:a16="http://schemas.microsoft.com/office/drawing/2014/main" id="{8ED3B093-22A7-495C-A6E7-540AF0D30F6B}"/>
              </a:ext>
            </a:extLst>
          </p:cNvPr>
          <p:cNvGraphicFramePr>
            <a:graphicFrameLocks/>
          </p:cNvGraphicFramePr>
          <p:nvPr>
            <p:extLst>
              <p:ext uri="{D42A27DB-BD31-4B8C-83A1-F6EECF244321}">
                <p14:modId xmlns:p14="http://schemas.microsoft.com/office/powerpoint/2010/main" val="945528434"/>
              </p:ext>
            </p:extLst>
          </p:nvPr>
        </p:nvGraphicFramePr>
        <p:xfrm>
          <a:off x="838200" y="2702546"/>
          <a:ext cx="5721413" cy="2962760"/>
        </p:xfrm>
        <a:graphic>
          <a:graphicData uri="http://schemas.openxmlformats.org/drawingml/2006/table">
            <a:tbl>
              <a:tblPr firstRow="1" bandRow="1">
                <a:tableStyleId>{5C22544A-7EE6-4342-B048-85BDC9FD1C3A}</a:tableStyleId>
              </a:tblPr>
              <a:tblGrid>
                <a:gridCol w="638492">
                  <a:extLst>
                    <a:ext uri="{9D8B030D-6E8A-4147-A177-3AD203B41FA5}">
                      <a16:colId xmlns:a16="http://schemas.microsoft.com/office/drawing/2014/main" val="1632358923"/>
                    </a:ext>
                  </a:extLst>
                </a:gridCol>
                <a:gridCol w="1913636">
                  <a:extLst>
                    <a:ext uri="{9D8B030D-6E8A-4147-A177-3AD203B41FA5}">
                      <a16:colId xmlns:a16="http://schemas.microsoft.com/office/drawing/2014/main" val="3505833113"/>
                    </a:ext>
                  </a:extLst>
                </a:gridCol>
                <a:gridCol w="1751330">
                  <a:extLst>
                    <a:ext uri="{9D8B030D-6E8A-4147-A177-3AD203B41FA5}">
                      <a16:colId xmlns:a16="http://schemas.microsoft.com/office/drawing/2014/main" val="3401749839"/>
                    </a:ext>
                  </a:extLst>
                </a:gridCol>
                <a:gridCol w="1417955">
                  <a:extLst>
                    <a:ext uri="{9D8B030D-6E8A-4147-A177-3AD203B41FA5}">
                      <a16:colId xmlns:a16="http://schemas.microsoft.com/office/drawing/2014/main" val="415971381"/>
                    </a:ext>
                  </a:extLst>
                </a:gridCol>
              </a:tblGrid>
              <a:tr h="592552">
                <a:tc>
                  <a:txBody>
                    <a:bodyPr/>
                    <a:lstStyle/>
                    <a:p>
                      <a:pPr algn="ctr"/>
                      <a:r>
                        <a:rPr lang="en-GB" sz="3200" dirty="0"/>
                        <a:t>ID</a:t>
                      </a:r>
                    </a:p>
                  </a:txBody>
                  <a:tcPr/>
                </a:tc>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err="1"/>
                        <a:t>deptID</a:t>
                      </a:r>
                      <a:endParaRPr lang="en-GB" sz="3200" dirty="0"/>
                    </a:p>
                  </a:txBody>
                  <a:tcPr/>
                </a:tc>
                <a:extLst>
                  <a:ext uri="{0D108BD9-81ED-4DB2-BD59-A6C34878D82A}">
                    <a16:rowId xmlns:a16="http://schemas.microsoft.com/office/drawing/2014/main" val="3459615676"/>
                  </a:ext>
                </a:extLst>
              </a:tr>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r>
                        <a:rPr lang="en-GB" sz="3200" dirty="0"/>
                        <a:t>001</a:t>
                      </a:r>
                    </a:p>
                  </a:txBody>
                  <a:tcPr/>
                </a:tc>
                <a:extLst>
                  <a:ext uri="{0D108BD9-81ED-4DB2-BD59-A6C34878D82A}">
                    <a16:rowId xmlns:a16="http://schemas.microsoft.com/office/drawing/2014/main" val="1127765656"/>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r>
                        <a:rPr lang="en-GB" sz="3200" dirty="0"/>
                        <a:t>001</a:t>
                      </a:r>
                    </a:p>
                  </a:txBody>
                  <a:tcPr/>
                </a:tc>
                <a:extLst>
                  <a:ext uri="{0D108BD9-81ED-4DB2-BD59-A6C34878D82A}">
                    <a16:rowId xmlns:a16="http://schemas.microsoft.com/office/drawing/2014/main" val="2924661129"/>
                  </a:ext>
                </a:extLst>
              </a:tr>
              <a:tr h="592552">
                <a:tc>
                  <a:txBody>
                    <a:bodyPr/>
                    <a:lstStyle/>
                    <a:p>
                      <a:pPr lvl="0"/>
                      <a:r>
                        <a:rPr lang="en-GB" sz="3200" dirty="0"/>
                        <a:t>3</a:t>
                      </a:r>
                    </a:p>
                  </a:txBody>
                  <a:tcPr/>
                </a:tc>
                <a:tc>
                  <a:txBody>
                    <a:bodyPr/>
                    <a:lstStyle/>
                    <a:p>
                      <a:pPr lvl="0" algn="l"/>
                      <a:r>
                        <a:rPr lang="en-GB" sz="3200" dirty="0"/>
                        <a:t>Scott</a:t>
                      </a:r>
                    </a:p>
                  </a:txBody>
                  <a:tcPr/>
                </a:tc>
                <a:tc>
                  <a:txBody>
                    <a:bodyPr/>
                    <a:lstStyle/>
                    <a:p>
                      <a:pPr lvl="0" algn="l"/>
                      <a:r>
                        <a:rPr lang="en-GB" sz="3200" dirty="0"/>
                        <a:t>Sinclair</a:t>
                      </a:r>
                    </a:p>
                  </a:txBody>
                  <a:tcPr/>
                </a:tc>
                <a:tc>
                  <a:txBody>
                    <a:bodyPr/>
                    <a:lstStyle/>
                    <a:p>
                      <a:pPr lvl="0"/>
                      <a:r>
                        <a:rPr lang="en-GB" sz="3200" dirty="0"/>
                        <a:t>002</a:t>
                      </a:r>
                    </a:p>
                  </a:txBody>
                  <a:tcPr/>
                </a:tc>
                <a:extLst>
                  <a:ext uri="{0D108BD9-81ED-4DB2-BD59-A6C34878D82A}">
                    <a16:rowId xmlns:a16="http://schemas.microsoft.com/office/drawing/2014/main" val="1487565366"/>
                  </a:ext>
                </a:extLst>
              </a:tr>
              <a:tr h="592552">
                <a:tc>
                  <a:txBody>
                    <a:bodyPr/>
                    <a:lstStyle/>
                    <a:p>
                      <a:pPr lvl="0"/>
                      <a:r>
                        <a:rPr lang="en-GB" sz="3200" dirty="0"/>
                        <a:t>4</a:t>
                      </a:r>
                    </a:p>
                  </a:txBody>
                  <a:tcPr/>
                </a:tc>
                <a:tc>
                  <a:txBody>
                    <a:bodyPr/>
                    <a:lstStyle/>
                    <a:p>
                      <a:pPr lvl="0" algn="l"/>
                      <a:r>
                        <a:rPr lang="en-GB" sz="3200" dirty="0"/>
                        <a:t>Michelle</a:t>
                      </a:r>
                    </a:p>
                  </a:txBody>
                  <a:tcPr/>
                </a:tc>
                <a:tc>
                  <a:txBody>
                    <a:bodyPr/>
                    <a:lstStyle/>
                    <a:p>
                      <a:pPr lvl="0" algn="l"/>
                      <a:r>
                        <a:rPr lang="en-GB" sz="3200" dirty="0"/>
                        <a:t>Wie</a:t>
                      </a:r>
                    </a:p>
                  </a:txBody>
                  <a:tcPr/>
                </a:tc>
                <a:tc>
                  <a:txBody>
                    <a:bodyPr/>
                    <a:lstStyle/>
                    <a:p>
                      <a:pPr lvl="0"/>
                      <a:r>
                        <a:rPr lang="en-GB" sz="3200" dirty="0"/>
                        <a:t>002</a:t>
                      </a:r>
                    </a:p>
                  </a:txBody>
                  <a:tcPr/>
                </a:tc>
                <a:extLst>
                  <a:ext uri="{0D108BD9-81ED-4DB2-BD59-A6C34878D82A}">
                    <a16:rowId xmlns:a16="http://schemas.microsoft.com/office/drawing/2014/main" val="81894544"/>
                  </a:ext>
                </a:extLst>
              </a:tr>
            </a:tbl>
          </a:graphicData>
        </a:graphic>
      </p:graphicFrame>
    </p:spTree>
    <p:extLst>
      <p:ext uri="{BB962C8B-B14F-4D97-AF65-F5344CB8AC3E}">
        <p14:creationId xmlns:p14="http://schemas.microsoft.com/office/powerpoint/2010/main" val="92055222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ERD 1:M</a:t>
            </a:r>
          </a:p>
        </p:txBody>
      </p:sp>
      <p:pic>
        <p:nvPicPr>
          <p:cNvPr id="4" name="Picture 3">
            <a:extLst>
              <a:ext uri="{FF2B5EF4-FFF2-40B4-BE49-F238E27FC236}">
                <a16:creationId xmlns:a16="http://schemas.microsoft.com/office/drawing/2014/main" id="{7AFBB97B-369A-F788-3290-16523E6DA0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4999" y="2169000"/>
            <a:ext cx="8441999" cy="2520000"/>
          </a:xfrm>
          <a:prstGeom prst="rect">
            <a:avLst/>
          </a:prstGeom>
        </p:spPr>
      </p:pic>
      <p:sp>
        <p:nvSpPr>
          <p:cNvPr id="15" name="TextBox 14">
            <a:extLst>
              <a:ext uri="{FF2B5EF4-FFF2-40B4-BE49-F238E27FC236}">
                <a16:creationId xmlns:a16="http://schemas.microsoft.com/office/drawing/2014/main" id="{B935E981-B7C6-4BDF-ADC2-EFF2B075D3D8}"/>
              </a:ext>
            </a:extLst>
          </p:cNvPr>
          <p:cNvSpPr txBox="1"/>
          <p:nvPr/>
        </p:nvSpPr>
        <p:spPr>
          <a:xfrm>
            <a:off x="2373152" y="5455972"/>
            <a:ext cx="6726906" cy="584775"/>
          </a:xfrm>
          <a:prstGeom prst="rect">
            <a:avLst/>
          </a:prstGeom>
          <a:noFill/>
        </p:spPr>
        <p:txBody>
          <a:bodyPr wrap="none" rtlCol="0">
            <a:spAutoFit/>
          </a:bodyPr>
          <a:lstStyle/>
          <a:p>
            <a:pPr algn="ctr"/>
            <a:r>
              <a:rPr lang="en-GB" sz="3200" b="1" dirty="0">
                <a:solidFill>
                  <a:srgbClr val="7030A0"/>
                </a:solidFill>
              </a:rPr>
              <a:t>A department can have many teachers</a:t>
            </a:r>
          </a:p>
        </p:txBody>
      </p:sp>
      <p:sp>
        <p:nvSpPr>
          <p:cNvPr id="9" name="Callout: Bent Line with No Border 4">
            <a:extLst>
              <a:ext uri="{FF2B5EF4-FFF2-40B4-BE49-F238E27FC236}">
                <a16:creationId xmlns:a16="http://schemas.microsoft.com/office/drawing/2014/main" id="{791239AE-DD75-4BA2-AA6E-D46E4F8FEC24}"/>
              </a:ext>
            </a:extLst>
          </p:cNvPr>
          <p:cNvSpPr/>
          <p:nvPr/>
        </p:nvSpPr>
        <p:spPr>
          <a:xfrm>
            <a:off x="10398485" y="2196296"/>
            <a:ext cx="1353014" cy="882602"/>
          </a:xfrm>
          <a:prstGeom prst="callout2">
            <a:avLst>
              <a:gd name="adj1" fmla="val 52750"/>
              <a:gd name="adj2" fmla="val -2245"/>
              <a:gd name="adj3" fmla="val 109624"/>
              <a:gd name="adj4" fmla="val -35707"/>
              <a:gd name="adj5" fmla="val 109695"/>
              <a:gd name="adj6" fmla="val -156293"/>
            </a:avLst>
          </a:prstGeom>
          <a:noFill/>
          <a:ln w="38100">
            <a:solidFill>
              <a:srgbClr val="FF0000"/>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Primary</a:t>
            </a:r>
          </a:p>
          <a:p>
            <a:r>
              <a:rPr lang="en-GB" sz="2800" b="1" dirty="0">
                <a:solidFill>
                  <a:srgbClr val="7030A0"/>
                </a:solidFill>
              </a:rPr>
              <a:t>Key</a:t>
            </a:r>
          </a:p>
        </p:txBody>
      </p:sp>
      <p:sp>
        <p:nvSpPr>
          <p:cNvPr id="10" name="Callout: Bent Line with No Border 4">
            <a:extLst>
              <a:ext uri="{FF2B5EF4-FFF2-40B4-BE49-F238E27FC236}">
                <a16:creationId xmlns:a16="http://schemas.microsoft.com/office/drawing/2014/main" id="{BA373AA1-9380-4166-B750-3AB3C461F597}"/>
              </a:ext>
            </a:extLst>
          </p:cNvPr>
          <p:cNvSpPr/>
          <p:nvPr/>
        </p:nvSpPr>
        <p:spPr>
          <a:xfrm>
            <a:off x="9350335" y="4716296"/>
            <a:ext cx="1919681" cy="487680"/>
          </a:xfrm>
          <a:prstGeom prst="callout2">
            <a:avLst>
              <a:gd name="adj1" fmla="val 52750"/>
              <a:gd name="adj2" fmla="val -2245"/>
              <a:gd name="adj3" fmla="val 53715"/>
              <a:gd name="adj4" fmla="val -16108"/>
              <a:gd name="adj5" fmla="val -87574"/>
              <a:gd name="adj6" fmla="val -31792"/>
            </a:avLst>
          </a:prstGeom>
          <a:noFill/>
          <a:ln w="38100">
            <a:solidFill>
              <a:srgbClr val="FF0000"/>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Foreign Key</a:t>
            </a:r>
          </a:p>
        </p:txBody>
      </p:sp>
      <p:sp>
        <p:nvSpPr>
          <p:cNvPr id="13" name="Callout: Bent Line with No Border 4">
            <a:extLst>
              <a:ext uri="{FF2B5EF4-FFF2-40B4-BE49-F238E27FC236}">
                <a16:creationId xmlns:a16="http://schemas.microsoft.com/office/drawing/2014/main" id="{2B3EEA4B-6930-4670-9CBA-1BC9C1295CD1}"/>
              </a:ext>
            </a:extLst>
          </p:cNvPr>
          <p:cNvSpPr/>
          <p:nvPr/>
        </p:nvSpPr>
        <p:spPr>
          <a:xfrm flipH="1">
            <a:off x="156500" y="2040721"/>
            <a:ext cx="1412998" cy="752263"/>
          </a:xfrm>
          <a:prstGeom prst="callout2">
            <a:avLst>
              <a:gd name="adj1" fmla="val 52750"/>
              <a:gd name="adj2" fmla="val -2245"/>
              <a:gd name="adj3" fmla="val 146961"/>
              <a:gd name="adj4" fmla="val -3605"/>
              <a:gd name="adj5" fmla="val 148632"/>
              <a:gd name="adj6" fmla="val -29048"/>
            </a:avLst>
          </a:prstGeom>
          <a:noFill/>
          <a:ln w="38100">
            <a:solidFill>
              <a:srgbClr val="FF0000"/>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Primary</a:t>
            </a:r>
          </a:p>
          <a:p>
            <a:pPr algn="r"/>
            <a:r>
              <a:rPr lang="en-GB" sz="2800" b="1" dirty="0">
                <a:solidFill>
                  <a:srgbClr val="7030A0"/>
                </a:solidFill>
              </a:rPr>
              <a:t>Key</a:t>
            </a:r>
          </a:p>
        </p:txBody>
      </p:sp>
    </p:spTree>
    <p:extLst>
      <p:ext uri="{BB962C8B-B14F-4D97-AF65-F5344CB8AC3E}">
        <p14:creationId xmlns:p14="http://schemas.microsoft.com/office/powerpoint/2010/main" val="405858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1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1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9" grpId="0" animBg="1"/>
      <p:bldP spid="10" grpId="0" animBg="1"/>
      <p:bldP spid="13" grpId="0" animBg="1"/>
    </p:bldLst>
  </p:timing>
</p:sld>
</file>

<file path=ppt/slides/slide1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ERD 1:M</a:t>
            </a:r>
          </a:p>
        </p:txBody>
      </p:sp>
      <p:pic>
        <p:nvPicPr>
          <p:cNvPr id="3" name="Picture 2">
            <a:extLst>
              <a:ext uri="{FF2B5EF4-FFF2-40B4-BE49-F238E27FC236}">
                <a16:creationId xmlns:a16="http://schemas.microsoft.com/office/drawing/2014/main" id="{7AF3320B-0A4C-0A79-13FE-A05EDD7CB1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4999" y="2169000"/>
            <a:ext cx="8441999" cy="2520000"/>
          </a:xfrm>
          <a:prstGeom prst="rect">
            <a:avLst/>
          </a:prstGeom>
        </p:spPr>
      </p:pic>
    </p:spTree>
    <p:extLst>
      <p:ext uri="{BB962C8B-B14F-4D97-AF65-F5344CB8AC3E}">
        <p14:creationId xmlns:p14="http://schemas.microsoft.com/office/powerpoint/2010/main" val="244111592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ERD M:1</a:t>
            </a:r>
          </a:p>
        </p:txBody>
      </p:sp>
      <p:pic>
        <p:nvPicPr>
          <p:cNvPr id="5" name="Picture 4">
            <a:extLst>
              <a:ext uri="{FF2B5EF4-FFF2-40B4-BE49-F238E27FC236}">
                <a16:creationId xmlns:a16="http://schemas.microsoft.com/office/drawing/2014/main" id="{D3D82887-011D-F017-2C45-0E0BB81751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4999" y="2168999"/>
            <a:ext cx="8441997" cy="2519999"/>
          </a:xfrm>
          <a:prstGeom prst="rect">
            <a:avLst/>
          </a:prstGeom>
        </p:spPr>
      </p:pic>
      <p:sp>
        <p:nvSpPr>
          <p:cNvPr id="15" name="TextBox 14">
            <a:extLst>
              <a:ext uri="{FF2B5EF4-FFF2-40B4-BE49-F238E27FC236}">
                <a16:creationId xmlns:a16="http://schemas.microsoft.com/office/drawing/2014/main" id="{B935E981-B7C6-4BDF-ADC2-EFF2B075D3D8}"/>
              </a:ext>
            </a:extLst>
          </p:cNvPr>
          <p:cNvSpPr txBox="1"/>
          <p:nvPr/>
        </p:nvSpPr>
        <p:spPr>
          <a:xfrm>
            <a:off x="2149631" y="5455972"/>
            <a:ext cx="7173952" cy="584775"/>
          </a:xfrm>
          <a:prstGeom prst="rect">
            <a:avLst/>
          </a:prstGeom>
          <a:noFill/>
        </p:spPr>
        <p:txBody>
          <a:bodyPr wrap="none" rtlCol="0">
            <a:spAutoFit/>
          </a:bodyPr>
          <a:lstStyle/>
          <a:p>
            <a:pPr algn="ctr"/>
            <a:r>
              <a:rPr lang="en-GB" sz="3200" b="1" dirty="0">
                <a:solidFill>
                  <a:srgbClr val="7030A0"/>
                </a:solidFill>
              </a:rPr>
              <a:t>Many teachers can work in a department</a:t>
            </a:r>
          </a:p>
        </p:txBody>
      </p:sp>
      <p:sp>
        <p:nvSpPr>
          <p:cNvPr id="7" name="Callout: Bent Line with No Border 4">
            <a:extLst>
              <a:ext uri="{FF2B5EF4-FFF2-40B4-BE49-F238E27FC236}">
                <a16:creationId xmlns:a16="http://schemas.microsoft.com/office/drawing/2014/main" id="{94AE0579-BDDF-4D9B-8504-7B41B1685E54}"/>
              </a:ext>
            </a:extLst>
          </p:cNvPr>
          <p:cNvSpPr/>
          <p:nvPr/>
        </p:nvSpPr>
        <p:spPr>
          <a:xfrm flipH="1">
            <a:off x="145349" y="2020916"/>
            <a:ext cx="1412998" cy="752263"/>
          </a:xfrm>
          <a:prstGeom prst="callout2">
            <a:avLst>
              <a:gd name="adj1" fmla="val 52750"/>
              <a:gd name="adj2" fmla="val -2245"/>
              <a:gd name="adj3" fmla="val 146961"/>
              <a:gd name="adj4" fmla="val -3605"/>
              <a:gd name="adj5" fmla="val 148632"/>
              <a:gd name="adj6" fmla="val -29048"/>
            </a:avLst>
          </a:prstGeom>
          <a:noFill/>
          <a:ln w="38100">
            <a:solidFill>
              <a:srgbClr val="FF0000"/>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Primary</a:t>
            </a:r>
          </a:p>
          <a:p>
            <a:pPr algn="r"/>
            <a:r>
              <a:rPr lang="en-GB" sz="2800" b="1" dirty="0">
                <a:solidFill>
                  <a:srgbClr val="7030A0"/>
                </a:solidFill>
              </a:rPr>
              <a:t>Key</a:t>
            </a:r>
          </a:p>
        </p:txBody>
      </p:sp>
      <p:sp>
        <p:nvSpPr>
          <p:cNvPr id="8" name="Callout: Bent Line with No Border 4">
            <a:extLst>
              <a:ext uri="{FF2B5EF4-FFF2-40B4-BE49-F238E27FC236}">
                <a16:creationId xmlns:a16="http://schemas.microsoft.com/office/drawing/2014/main" id="{48F612F8-9F2A-4EFA-AA15-CBD88BDAD4AA}"/>
              </a:ext>
            </a:extLst>
          </p:cNvPr>
          <p:cNvSpPr/>
          <p:nvPr/>
        </p:nvSpPr>
        <p:spPr>
          <a:xfrm flipH="1">
            <a:off x="429209" y="4809384"/>
            <a:ext cx="1314170" cy="715856"/>
          </a:xfrm>
          <a:prstGeom prst="callout2">
            <a:avLst>
              <a:gd name="adj1" fmla="val 52750"/>
              <a:gd name="adj2" fmla="val -2245"/>
              <a:gd name="adj3" fmla="val 52157"/>
              <a:gd name="adj4" fmla="val -33079"/>
              <a:gd name="adj5" fmla="val -73454"/>
              <a:gd name="adj6" fmla="val -44247"/>
            </a:avLst>
          </a:prstGeom>
          <a:noFill/>
          <a:ln w="38100">
            <a:solidFill>
              <a:srgbClr val="FF0000"/>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Foreign</a:t>
            </a:r>
          </a:p>
          <a:p>
            <a:pPr algn="r"/>
            <a:r>
              <a:rPr lang="en-GB" sz="2800" b="1" dirty="0">
                <a:solidFill>
                  <a:srgbClr val="7030A0"/>
                </a:solidFill>
              </a:rPr>
              <a:t>Key</a:t>
            </a:r>
          </a:p>
        </p:txBody>
      </p:sp>
      <p:sp>
        <p:nvSpPr>
          <p:cNvPr id="10" name="Callout: Bent Line with No Border 4">
            <a:extLst>
              <a:ext uri="{FF2B5EF4-FFF2-40B4-BE49-F238E27FC236}">
                <a16:creationId xmlns:a16="http://schemas.microsoft.com/office/drawing/2014/main" id="{C20A1731-D8A1-4116-BD03-89A2BCB40AF8}"/>
              </a:ext>
            </a:extLst>
          </p:cNvPr>
          <p:cNvSpPr/>
          <p:nvPr/>
        </p:nvSpPr>
        <p:spPr>
          <a:xfrm>
            <a:off x="10418957" y="2169000"/>
            <a:ext cx="1353014" cy="882602"/>
          </a:xfrm>
          <a:prstGeom prst="callout2">
            <a:avLst>
              <a:gd name="adj1" fmla="val 52750"/>
              <a:gd name="adj2" fmla="val -2245"/>
              <a:gd name="adj3" fmla="val 109624"/>
              <a:gd name="adj4" fmla="val -35707"/>
              <a:gd name="adj5" fmla="val 111034"/>
              <a:gd name="adj6" fmla="val -117742"/>
            </a:avLst>
          </a:prstGeom>
          <a:noFill/>
          <a:ln w="38100">
            <a:solidFill>
              <a:srgbClr val="FF0000"/>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Primary</a:t>
            </a:r>
          </a:p>
          <a:p>
            <a:r>
              <a:rPr lang="en-GB" sz="2800" b="1" dirty="0">
                <a:solidFill>
                  <a:srgbClr val="7030A0"/>
                </a:solidFill>
              </a:rPr>
              <a:t>Key</a:t>
            </a:r>
          </a:p>
        </p:txBody>
      </p:sp>
    </p:spTree>
    <p:extLst>
      <p:ext uri="{BB962C8B-B14F-4D97-AF65-F5344CB8AC3E}">
        <p14:creationId xmlns:p14="http://schemas.microsoft.com/office/powerpoint/2010/main" val="2256960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2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1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7" grpId="0" animBg="1"/>
      <p:bldP spid="8" grpId="0" animBg="1"/>
      <p:bldP spid="10" grpId="0" animBg="1"/>
    </p:bldLst>
  </p:timing>
</p:sld>
</file>

<file path=ppt/slides/slide1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ERD M:1</a:t>
            </a:r>
          </a:p>
        </p:txBody>
      </p:sp>
      <p:pic>
        <p:nvPicPr>
          <p:cNvPr id="3" name="Picture 2">
            <a:extLst>
              <a:ext uri="{FF2B5EF4-FFF2-40B4-BE49-F238E27FC236}">
                <a16:creationId xmlns:a16="http://schemas.microsoft.com/office/drawing/2014/main" id="{68F51F76-979B-9811-03A6-02A99C0026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4999" y="2168999"/>
            <a:ext cx="8441997" cy="2519999"/>
          </a:xfrm>
          <a:prstGeom prst="rect">
            <a:avLst/>
          </a:prstGeom>
        </p:spPr>
      </p:pic>
    </p:spTree>
    <p:extLst>
      <p:ext uri="{BB962C8B-B14F-4D97-AF65-F5344CB8AC3E}">
        <p14:creationId xmlns:p14="http://schemas.microsoft.com/office/powerpoint/2010/main" val="384031613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F98C3-902A-499C-8A4D-D2F4A8D7AAA9}"/>
              </a:ext>
            </a:extLst>
          </p:cNvPr>
          <p:cNvSpPr>
            <a:spLocks noGrp="1"/>
          </p:cNvSpPr>
          <p:nvPr>
            <p:ph type="title"/>
          </p:nvPr>
        </p:nvSpPr>
        <p:spPr/>
        <p:txBody>
          <a:bodyPr/>
          <a:lstStyle/>
          <a:p>
            <a:r>
              <a:rPr lang="en-GB" dirty="0"/>
              <a:t>Analysis and Design</a:t>
            </a:r>
          </a:p>
        </p:txBody>
      </p:sp>
      <p:sp>
        <p:nvSpPr>
          <p:cNvPr id="3" name="Content Placeholder 2">
            <a:extLst>
              <a:ext uri="{FF2B5EF4-FFF2-40B4-BE49-F238E27FC236}">
                <a16:creationId xmlns:a16="http://schemas.microsoft.com/office/drawing/2014/main" id="{6715D380-2C52-46D9-A4CE-62FDED32379C}"/>
              </a:ext>
            </a:extLst>
          </p:cNvPr>
          <p:cNvSpPr>
            <a:spLocks noGrp="1"/>
          </p:cNvSpPr>
          <p:nvPr>
            <p:ph sz="half" idx="1"/>
          </p:nvPr>
        </p:nvSpPr>
        <p:spPr>
          <a:xfrm>
            <a:off x="838200" y="1825625"/>
            <a:ext cx="3466171" cy="4351338"/>
          </a:xfrm>
        </p:spPr>
        <p:txBody>
          <a:bodyPr>
            <a:normAutofit/>
          </a:bodyPr>
          <a:lstStyle/>
          <a:p>
            <a:r>
              <a:rPr lang="en-GB" b="1" dirty="0">
                <a:solidFill>
                  <a:srgbClr val="7030A0"/>
                </a:solidFill>
              </a:rPr>
              <a:t>What is the purpose of the database?</a:t>
            </a:r>
          </a:p>
          <a:p>
            <a:r>
              <a:rPr lang="en-GB" b="1" dirty="0">
                <a:solidFill>
                  <a:srgbClr val="7030A0"/>
                </a:solidFill>
              </a:rPr>
              <a:t>How will this be achieved?</a:t>
            </a:r>
          </a:p>
        </p:txBody>
      </p:sp>
      <p:sp>
        <p:nvSpPr>
          <p:cNvPr id="5" name="Content Placeholder 4">
            <a:extLst>
              <a:ext uri="{FF2B5EF4-FFF2-40B4-BE49-F238E27FC236}">
                <a16:creationId xmlns:a16="http://schemas.microsoft.com/office/drawing/2014/main" id="{E6515FC1-61F9-4D67-A5B2-633AFBD54911}"/>
              </a:ext>
            </a:extLst>
          </p:cNvPr>
          <p:cNvSpPr>
            <a:spLocks noGrp="1"/>
          </p:cNvSpPr>
          <p:nvPr>
            <p:ph sz="half" idx="2"/>
          </p:nvPr>
        </p:nvSpPr>
        <p:spPr>
          <a:xfrm>
            <a:off x="5341434" y="1825625"/>
            <a:ext cx="6012366" cy="4351338"/>
          </a:xfrm>
        </p:spPr>
        <p:txBody>
          <a:bodyPr>
            <a:normAutofit/>
          </a:bodyPr>
          <a:lstStyle/>
          <a:p>
            <a:r>
              <a:rPr lang="en-GB" dirty="0"/>
              <a:t>End-user requirements</a:t>
            </a:r>
          </a:p>
          <a:p>
            <a:r>
              <a:rPr lang="en-GB" dirty="0"/>
              <a:t>Functional requirements</a:t>
            </a:r>
          </a:p>
          <a:p>
            <a:r>
              <a:rPr lang="en-GB" dirty="0"/>
              <a:t>Entities and attributes</a:t>
            </a:r>
          </a:p>
          <a:p>
            <a:r>
              <a:rPr lang="en-GB" dirty="0"/>
              <a:t>Primary keys</a:t>
            </a:r>
          </a:p>
          <a:p>
            <a:r>
              <a:rPr lang="en-GB" dirty="0"/>
              <a:t>Entity Relationship Diagram (ERD)</a:t>
            </a:r>
          </a:p>
          <a:p>
            <a:r>
              <a:rPr lang="en-GB" dirty="0"/>
              <a:t>Relationships </a:t>
            </a:r>
            <a:r>
              <a:rPr lang="en-GB"/>
              <a:t>and foreign </a:t>
            </a:r>
            <a:r>
              <a:rPr lang="en-GB" dirty="0"/>
              <a:t>keys</a:t>
            </a:r>
          </a:p>
          <a:p>
            <a:r>
              <a:rPr lang="en-GB" dirty="0"/>
              <a:t>Data dictionary and validation</a:t>
            </a:r>
          </a:p>
          <a:p>
            <a:r>
              <a:rPr lang="en-GB" dirty="0"/>
              <a:t>Queries</a:t>
            </a:r>
          </a:p>
          <a:p>
            <a:endParaRPr lang="en-GB" dirty="0"/>
          </a:p>
        </p:txBody>
      </p:sp>
      <p:cxnSp>
        <p:nvCxnSpPr>
          <p:cNvPr id="7" name="Straight Connector 6">
            <a:extLst>
              <a:ext uri="{FF2B5EF4-FFF2-40B4-BE49-F238E27FC236}">
                <a16:creationId xmlns:a16="http://schemas.microsoft.com/office/drawing/2014/main" id="{6E853A1C-0D23-4AC4-87CA-7819E0A902E4}"/>
              </a:ext>
            </a:extLst>
          </p:cNvPr>
          <p:cNvCxnSpPr>
            <a:cxnSpLocks/>
          </p:cNvCxnSpPr>
          <p:nvPr/>
        </p:nvCxnSpPr>
        <p:spPr>
          <a:xfrm flipV="1">
            <a:off x="512956" y="2899315"/>
            <a:ext cx="10800000" cy="0"/>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27B0EBB-8777-4395-9D72-7F77B933E75B}"/>
              </a:ext>
            </a:extLst>
          </p:cNvPr>
          <p:cNvSpPr txBox="1"/>
          <p:nvPr/>
        </p:nvSpPr>
        <p:spPr>
          <a:xfrm>
            <a:off x="10276801" y="2422261"/>
            <a:ext cx="1402243" cy="954107"/>
          </a:xfrm>
          <a:prstGeom prst="rect">
            <a:avLst/>
          </a:prstGeom>
          <a:noFill/>
        </p:spPr>
        <p:txBody>
          <a:bodyPr wrap="none" rtlCol="0">
            <a:spAutoFit/>
          </a:bodyPr>
          <a:lstStyle/>
          <a:p>
            <a:r>
              <a:rPr lang="en-GB" sz="2800" b="1" dirty="0">
                <a:solidFill>
                  <a:srgbClr val="7030A0"/>
                </a:solidFill>
              </a:rPr>
              <a:t>Analysis</a:t>
            </a:r>
          </a:p>
          <a:p>
            <a:r>
              <a:rPr lang="en-GB" sz="2800" b="1" dirty="0">
                <a:solidFill>
                  <a:srgbClr val="7030A0"/>
                </a:solidFill>
              </a:rPr>
              <a:t>Design</a:t>
            </a:r>
          </a:p>
        </p:txBody>
      </p:sp>
    </p:spTree>
    <p:extLst>
      <p:ext uri="{BB962C8B-B14F-4D97-AF65-F5344CB8AC3E}">
        <p14:creationId xmlns:p14="http://schemas.microsoft.com/office/powerpoint/2010/main" val="3950987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1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wipe(left)">
                                      <p:cBhvr>
                                        <p:cTn id="17" dur="1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wipe(left)">
                                      <p:cBhvr>
                                        <p:cTn id="22" dur="1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wipe(left)">
                                      <p:cBhvr>
                                        <p:cTn id="27" dur="1500"/>
                                        <p:tgtEl>
                                          <p:spTgt spid="5">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animEffect transition="in" filter="wipe(left)">
                                      <p:cBhvr>
                                        <p:cTn id="32" dur="1000"/>
                                        <p:tgtEl>
                                          <p:spTgt spid="5">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Effect transition="in" filter="wipe(left)">
                                      <p:cBhvr>
                                        <p:cTn id="37" dur="2750"/>
                                        <p:tgtEl>
                                          <p:spTgt spid="5">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xEl>
                                              <p:pRg st="5" end="5"/>
                                            </p:txEl>
                                          </p:spTgt>
                                        </p:tgtEl>
                                        <p:attrNameLst>
                                          <p:attrName>style.visibility</p:attrName>
                                        </p:attrNameLst>
                                      </p:cBhvr>
                                      <p:to>
                                        <p:strVal val="visible"/>
                                      </p:to>
                                    </p:set>
                                    <p:animEffect transition="in" filter="wipe(left)">
                                      <p:cBhvr>
                                        <p:cTn id="42" dur="2500"/>
                                        <p:tgtEl>
                                          <p:spTgt spid="5">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
                                            <p:txEl>
                                              <p:pRg st="6" end="6"/>
                                            </p:txEl>
                                          </p:spTgt>
                                        </p:tgtEl>
                                        <p:attrNameLst>
                                          <p:attrName>style.visibility</p:attrName>
                                        </p:attrNameLst>
                                      </p:cBhvr>
                                      <p:to>
                                        <p:strVal val="visible"/>
                                      </p:to>
                                    </p:set>
                                    <p:animEffect transition="in" filter="wipe(left)">
                                      <p:cBhvr>
                                        <p:cTn id="47" dur="1000"/>
                                        <p:tgtEl>
                                          <p:spTgt spid="5">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
                                            <p:txEl>
                                              <p:pRg st="7" end="7"/>
                                            </p:txEl>
                                          </p:spTgt>
                                        </p:tgtEl>
                                        <p:attrNameLst>
                                          <p:attrName>style.visibility</p:attrName>
                                        </p:attrNameLst>
                                      </p:cBhvr>
                                      <p:to>
                                        <p:strVal val="visible"/>
                                      </p:to>
                                    </p:set>
                                    <p:animEffect transition="in" filter="wipe(left)">
                                      <p:cBhvr>
                                        <p:cTn id="52" dur="750"/>
                                        <p:tgtEl>
                                          <p:spTgt spid="5">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wipe(left)">
                                      <p:cBhvr>
                                        <p:cTn id="57" dur="3000"/>
                                        <p:tgtEl>
                                          <p:spTgt spid="7"/>
                                        </p:tgtEl>
                                      </p:cBhvr>
                                    </p:animEffect>
                                  </p:childTnLst>
                                </p:cTn>
                              </p:par>
                            </p:childTnLst>
                          </p:cTn>
                        </p:par>
                        <p:par>
                          <p:cTn id="58" fill="hold">
                            <p:stCondLst>
                              <p:cond delay="3000"/>
                            </p:stCondLst>
                            <p:childTnLst>
                              <p:par>
                                <p:cTn id="59" presetID="22" presetClass="entr" presetSubtype="8" fill="hold" grpId="0" nodeType="afterEffect">
                                  <p:stCondLst>
                                    <p:cond delay="0"/>
                                  </p:stCondLst>
                                  <p:childTnLst>
                                    <p:set>
                                      <p:cBhvr>
                                        <p:cTn id="60" dur="1" fill="hold">
                                          <p:stCondLst>
                                            <p:cond delay="0"/>
                                          </p:stCondLst>
                                        </p:cTn>
                                        <p:tgtEl>
                                          <p:spTgt spid="10">
                                            <p:txEl>
                                              <p:pRg st="0" end="0"/>
                                            </p:txEl>
                                          </p:spTgt>
                                        </p:tgtEl>
                                        <p:attrNameLst>
                                          <p:attrName>style.visibility</p:attrName>
                                        </p:attrNameLst>
                                      </p:cBhvr>
                                      <p:to>
                                        <p:strVal val="visible"/>
                                      </p:to>
                                    </p:set>
                                    <p:animEffect transition="in" filter="wipe(left)">
                                      <p:cBhvr>
                                        <p:cTn id="61" dur="1000"/>
                                        <p:tgtEl>
                                          <p:spTgt spid="10">
                                            <p:txEl>
                                              <p:pRg st="0" end="0"/>
                                            </p:txEl>
                                          </p:spTgt>
                                        </p:tgtEl>
                                      </p:cBhvr>
                                    </p:animEffect>
                                  </p:childTnLst>
                                </p:cTn>
                              </p:par>
                            </p:childTnLst>
                          </p:cTn>
                        </p:par>
                        <p:par>
                          <p:cTn id="62" fill="hold">
                            <p:stCondLst>
                              <p:cond delay="4000"/>
                            </p:stCondLst>
                            <p:childTnLst>
                              <p:par>
                                <p:cTn id="63" presetID="22" presetClass="entr" presetSubtype="8" fill="hold" grpId="0" nodeType="afterEffect">
                                  <p:stCondLst>
                                    <p:cond delay="0"/>
                                  </p:stCondLst>
                                  <p:childTnLst>
                                    <p:set>
                                      <p:cBhvr>
                                        <p:cTn id="64" dur="1" fill="hold">
                                          <p:stCondLst>
                                            <p:cond delay="0"/>
                                          </p:stCondLst>
                                        </p:cTn>
                                        <p:tgtEl>
                                          <p:spTgt spid="10">
                                            <p:txEl>
                                              <p:pRg st="1" end="1"/>
                                            </p:txEl>
                                          </p:spTgt>
                                        </p:tgtEl>
                                        <p:attrNameLst>
                                          <p:attrName>style.visibility</p:attrName>
                                        </p:attrNameLst>
                                      </p:cBhvr>
                                      <p:to>
                                        <p:strVal val="visible"/>
                                      </p:to>
                                    </p:set>
                                    <p:animEffect transition="in" filter="wipe(left)">
                                      <p:cBhvr>
                                        <p:cTn id="65" dur="10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uiExpand="1" build="p"/>
      <p:bldP spid="10" grpId="0" uiExpand="1" build="p"/>
    </p:bldLst>
  </p:timing>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F98C3-902A-499C-8A4D-D2F4A8D7AAA9}"/>
              </a:ext>
            </a:extLst>
          </p:cNvPr>
          <p:cNvSpPr>
            <a:spLocks noGrp="1"/>
          </p:cNvSpPr>
          <p:nvPr>
            <p:ph type="title"/>
          </p:nvPr>
        </p:nvSpPr>
        <p:spPr/>
        <p:txBody>
          <a:bodyPr/>
          <a:lstStyle/>
          <a:p>
            <a:r>
              <a:rPr lang="en-GB" dirty="0"/>
              <a:t>Analysis and Design</a:t>
            </a:r>
          </a:p>
        </p:txBody>
      </p:sp>
      <p:sp>
        <p:nvSpPr>
          <p:cNvPr id="3" name="Content Placeholder 2">
            <a:extLst>
              <a:ext uri="{FF2B5EF4-FFF2-40B4-BE49-F238E27FC236}">
                <a16:creationId xmlns:a16="http://schemas.microsoft.com/office/drawing/2014/main" id="{6715D380-2C52-46D9-A4CE-62FDED32379C}"/>
              </a:ext>
            </a:extLst>
          </p:cNvPr>
          <p:cNvSpPr>
            <a:spLocks noGrp="1"/>
          </p:cNvSpPr>
          <p:nvPr>
            <p:ph sz="half" idx="1"/>
          </p:nvPr>
        </p:nvSpPr>
        <p:spPr>
          <a:xfrm>
            <a:off x="838200" y="1825625"/>
            <a:ext cx="3466171" cy="4351338"/>
          </a:xfrm>
        </p:spPr>
        <p:txBody>
          <a:bodyPr>
            <a:normAutofit/>
          </a:bodyPr>
          <a:lstStyle/>
          <a:p>
            <a:r>
              <a:rPr lang="en-GB" b="1" dirty="0">
                <a:solidFill>
                  <a:srgbClr val="7030A0"/>
                </a:solidFill>
              </a:rPr>
              <a:t>What is the purpose of the database?</a:t>
            </a:r>
          </a:p>
          <a:p>
            <a:r>
              <a:rPr lang="en-GB" b="1" dirty="0">
                <a:solidFill>
                  <a:srgbClr val="7030A0"/>
                </a:solidFill>
              </a:rPr>
              <a:t>How will this be achieved?</a:t>
            </a:r>
          </a:p>
        </p:txBody>
      </p:sp>
      <p:sp>
        <p:nvSpPr>
          <p:cNvPr id="5" name="Content Placeholder 4">
            <a:extLst>
              <a:ext uri="{FF2B5EF4-FFF2-40B4-BE49-F238E27FC236}">
                <a16:creationId xmlns:a16="http://schemas.microsoft.com/office/drawing/2014/main" id="{E6515FC1-61F9-4D67-A5B2-633AFBD54911}"/>
              </a:ext>
            </a:extLst>
          </p:cNvPr>
          <p:cNvSpPr>
            <a:spLocks noGrp="1"/>
          </p:cNvSpPr>
          <p:nvPr>
            <p:ph sz="half" idx="2"/>
          </p:nvPr>
        </p:nvSpPr>
        <p:spPr>
          <a:xfrm>
            <a:off x="5341434" y="1825625"/>
            <a:ext cx="6012366" cy="4351338"/>
          </a:xfrm>
        </p:spPr>
        <p:txBody>
          <a:bodyPr>
            <a:normAutofit/>
          </a:bodyPr>
          <a:lstStyle/>
          <a:p>
            <a:r>
              <a:rPr lang="en-GB" dirty="0"/>
              <a:t> </a:t>
            </a:r>
          </a:p>
          <a:p>
            <a:r>
              <a:rPr lang="en-GB" dirty="0"/>
              <a:t> </a:t>
            </a:r>
          </a:p>
          <a:p>
            <a:r>
              <a:rPr lang="en-GB" dirty="0"/>
              <a:t> </a:t>
            </a:r>
          </a:p>
          <a:p>
            <a:r>
              <a:rPr lang="en-GB" dirty="0"/>
              <a:t> </a:t>
            </a:r>
          </a:p>
          <a:p>
            <a:r>
              <a:rPr lang="en-GB" dirty="0"/>
              <a:t> </a:t>
            </a:r>
          </a:p>
          <a:p>
            <a:r>
              <a:rPr lang="en-GB" dirty="0"/>
              <a:t> </a:t>
            </a:r>
          </a:p>
          <a:p>
            <a:r>
              <a:rPr lang="en-GB" dirty="0"/>
              <a:t> </a:t>
            </a:r>
          </a:p>
          <a:p>
            <a:r>
              <a:rPr lang="en-GB" dirty="0"/>
              <a:t> </a:t>
            </a:r>
          </a:p>
          <a:p>
            <a:endParaRPr lang="en-GB" dirty="0"/>
          </a:p>
        </p:txBody>
      </p:sp>
      <p:cxnSp>
        <p:nvCxnSpPr>
          <p:cNvPr id="7" name="Straight Connector 6">
            <a:extLst>
              <a:ext uri="{FF2B5EF4-FFF2-40B4-BE49-F238E27FC236}">
                <a16:creationId xmlns:a16="http://schemas.microsoft.com/office/drawing/2014/main" id="{6E853A1C-0D23-4AC4-87CA-7819E0A902E4}"/>
              </a:ext>
            </a:extLst>
          </p:cNvPr>
          <p:cNvCxnSpPr>
            <a:cxnSpLocks/>
          </p:cNvCxnSpPr>
          <p:nvPr/>
        </p:nvCxnSpPr>
        <p:spPr>
          <a:xfrm flipV="1">
            <a:off x="512956" y="2899315"/>
            <a:ext cx="10800000" cy="0"/>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27B0EBB-8777-4395-9D72-7F77B933E75B}"/>
              </a:ext>
            </a:extLst>
          </p:cNvPr>
          <p:cNvSpPr txBox="1"/>
          <p:nvPr/>
        </p:nvSpPr>
        <p:spPr>
          <a:xfrm>
            <a:off x="10276801" y="2422261"/>
            <a:ext cx="1402243" cy="954107"/>
          </a:xfrm>
          <a:prstGeom prst="rect">
            <a:avLst/>
          </a:prstGeom>
          <a:noFill/>
        </p:spPr>
        <p:txBody>
          <a:bodyPr wrap="none" rtlCol="0">
            <a:spAutoFit/>
          </a:bodyPr>
          <a:lstStyle/>
          <a:p>
            <a:r>
              <a:rPr lang="en-GB" sz="2800" b="1" dirty="0">
                <a:solidFill>
                  <a:srgbClr val="7030A0"/>
                </a:solidFill>
              </a:rPr>
              <a:t>Analysis</a:t>
            </a:r>
          </a:p>
          <a:p>
            <a:r>
              <a:rPr lang="en-GB" sz="2800" b="1" dirty="0">
                <a:solidFill>
                  <a:srgbClr val="7030A0"/>
                </a:solidFill>
              </a:rPr>
              <a:t>Design</a:t>
            </a:r>
          </a:p>
        </p:txBody>
      </p:sp>
    </p:spTree>
    <p:extLst>
      <p:ext uri="{BB962C8B-B14F-4D97-AF65-F5344CB8AC3E}">
        <p14:creationId xmlns:p14="http://schemas.microsoft.com/office/powerpoint/2010/main" val="360542382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A5E70E-9B9A-49CD-AE44-27C9401CFF22}"/>
              </a:ext>
            </a:extLst>
          </p:cNvPr>
          <p:cNvSpPr>
            <a:spLocks noGrp="1"/>
          </p:cNvSpPr>
          <p:nvPr>
            <p:ph type="title"/>
          </p:nvPr>
        </p:nvSpPr>
        <p:spPr/>
        <p:txBody>
          <a:bodyPr/>
          <a:lstStyle/>
          <a:p>
            <a:r>
              <a:rPr lang="en-GB" dirty="0"/>
              <a:t>Learning Intentions</a:t>
            </a:r>
          </a:p>
        </p:txBody>
      </p:sp>
      <p:sp>
        <p:nvSpPr>
          <p:cNvPr id="4" name="Content Placeholder 3">
            <a:extLst>
              <a:ext uri="{FF2B5EF4-FFF2-40B4-BE49-F238E27FC236}">
                <a16:creationId xmlns:a16="http://schemas.microsoft.com/office/drawing/2014/main" id="{9C545162-1B52-4B20-A9A9-D066B29D4EDD}"/>
              </a:ext>
            </a:extLst>
          </p:cNvPr>
          <p:cNvSpPr>
            <a:spLocks noGrp="1"/>
          </p:cNvSpPr>
          <p:nvPr>
            <p:ph idx="1"/>
          </p:nvPr>
        </p:nvSpPr>
        <p:spPr/>
        <p:txBody>
          <a:bodyPr/>
          <a:lstStyle/>
          <a:p>
            <a:r>
              <a:rPr lang="en-GB" dirty="0"/>
              <a:t>D</a:t>
            </a:r>
            <a:r>
              <a:rPr lang="en-GB" sz="3200" dirty="0"/>
              <a:t>escribe and exemplify entity-relationship diagrams with two entities indicating:</a:t>
            </a:r>
          </a:p>
          <a:p>
            <a:pPr lvl="1"/>
            <a:r>
              <a:rPr lang="en-GB" sz="2800" dirty="0"/>
              <a:t>entity name</a:t>
            </a:r>
          </a:p>
          <a:p>
            <a:pPr lvl="1"/>
            <a:r>
              <a:rPr lang="en-GB" sz="2800" dirty="0"/>
              <a:t>attributes</a:t>
            </a:r>
          </a:p>
          <a:p>
            <a:pPr lvl="1"/>
            <a:r>
              <a:rPr lang="en-GB" sz="2800" dirty="0"/>
              <a:t>relationship (one-to-many)</a:t>
            </a:r>
          </a:p>
        </p:txBody>
      </p:sp>
    </p:spTree>
    <p:extLst>
      <p:ext uri="{BB962C8B-B14F-4D97-AF65-F5344CB8AC3E}">
        <p14:creationId xmlns:p14="http://schemas.microsoft.com/office/powerpoint/2010/main" val="425113761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Entities and Attributes</a:t>
            </a:r>
          </a:p>
        </p:txBody>
      </p:sp>
      <p:grpSp>
        <p:nvGrpSpPr>
          <p:cNvPr id="3" name="Group 2">
            <a:extLst>
              <a:ext uri="{FF2B5EF4-FFF2-40B4-BE49-F238E27FC236}">
                <a16:creationId xmlns:a16="http://schemas.microsoft.com/office/drawing/2014/main" id="{A0BF8D62-1D13-0E2F-C7D7-D66EB29E90BB}"/>
              </a:ext>
            </a:extLst>
          </p:cNvPr>
          <p:cNvGrpSpPr/>
          <p:nvPr/>
        </p:nvGrpSpPr>
        <p:grpSpPr>
          <a:xfrm>
            <a:off x="1701046" y="4908230"/>
            <a:ext cx="1330418" cy="1455715"/>
            <a:chOff x="1701046" y="4908230"/>
            <a:chExt cx="1330418" cy="1455715"/>
          </a:xfrm>
        </p:grpSpPr>
        <p:sp>
          <p:nvSpPr>
            <p:cNvPr id="21" name="Right Arrow 9">
              <a:extLst>
                <a:ext uri="{FF2B5EF4-FFF2-40B4-BE49-F238E27FC236}">
                  <a16:creationId xmlns:a16="http://schemas.microsoft.com/office/drawing/2014/main" id="{C94ED22F-8452-163D-85D5-A3ED48A8F6FC}"/>
                </a:ext>
              </a:extLst>
            </p:cNvPr>
            <p:cNvSpPr/>
            <p:nvPr/>
          </p:nvSpPr>
          <p:spPr>
            <a:xfrm rot="16200000">
              <a:off x="1930785" y="5089117"/>
              <a:ext cx="870940" cy="509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a:p>
          </p:txBody>
        </p:sp>
        <p:sp>
          <p:nvSpPr>
            <p:cNvPr id="23" name="TextBox 22">
              <a:extLst>
                <a:ext uri="{FF2B5EF4-FFF2-40B4-BE49-F238E27FC236}">
                  <a16:creationId xmlns:a16="http://schemas.microsoft.com/office/drawing/2014/main" id="{B7B19BF9-6E34-5C97-3810-B94C6343DDAC}"/>
                </a:ext>
              </a:extLst>
            </p:cNvPr>
            <p:cNvSpPr txBox="1"/>
            <p:nvPr/>
          </p:nvSpPr>
          <p:spPr>
            <a:xfrm>
              <a:off x="1701046" y="5779170"/>
              <a:ext cx="1330418" cy="584775"/>
            </a:xfrm>
            <a:prstGeom prst="rect">
              <a:avLst/>
            </a:prstGeom>
            <a:noFill/>
          </p:spPr>
          <p:txBody>
            <a:bodyPr wrap="square" rtlCol="0">
              <a:spAutoFit/>
            </a:bodyPr>
            <a:lstStyle/>
            <a:p>
              <a:pPr algn="ctr"/>
              <a:r>
                <a:rPr lang="en-GB" sz="3200" dirty="0">
                  <a:solidFill>
                    <a:srgbClr val="7030A0"/>
                  </a:solidFill>
                </a:rPr>
                <a:t>Entity</a:t>
              </a:r>
            </a:p>
          </p:txBody>
        </p:sp>
      </p:grpSp>
      <p:grpSp>
        <p:nvGrpSpPr>
          <p:cNvPr id="26" name="Group 25">
            <a:extLst>
              <a:ext uri="{FF2B5EF4-FFF2-40B4-BE49-F238E27FC236}">
                <a16:creationId xmlns:a16="http://schemas.microsoft.com/office/drawing/2014/main" id="{8F357257-88EB-76DF-DD3A-B3C4F289DEBA}"/>
              </a:ext>
            </a:extLst>
          </p:cNvPr>
          <p:cNvGrpSpPr/>
          <p:nvPr/>
        </p:nvGrpSpPr>
        <p:grpSpPr>
          <a:xfrm>
            <a:off x="7090851" y="1896388"/>
            <a:ext cx="1800000" cy="1248764"/>
            <a:chOff x="1959902" y="1624062"/>
            <a:chExt cx="1800000" cy="1248764"/>
          </a:xfrm>
        </p:grpSpPr>
        <p:sp>
          <p:nvSpPr>
            <p:cNvPr id="27" name="Oval 26">
              <a:extLst>
                <a:ext uri="{FF2B5EF4-FFF2-40B4-BE49-F238E27FC236}">
                  <a16:creationId xmlns:a16="http://schemas.microsoft.com/office/drawing/2014/main" id="{5C79223C-F87D-9D4A-2FC0-1D0A4E23A7E8}"/>
                </a:ext>
              </a:extLst>
            </p:cNvPr>
            <p:cNvSpPr/>
            <p:nvPr/>
          </p:nvSpPr>
          <p:spPr>
            <a:xfrm>
              <a:off x="1959902" y="1624062"/>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err="1">
                  <a:solidFill>
                    <a:schemeClr val="tx1"/>
                  </a:solidFill>
                </a:rPr>
                <a:t>school</a:t>
              </a:r>
              <a:r>
                <a:rPr lang="en-GB" sz="2800" dirty="0" err="1"/>
                <a:t>ID</a:t>
              </a:r>
              <a:endParaRPr lang="en-GB" sz="2800" dirty="0">
                <a:solidFill>
                  <a:schemeClr val="tx1"/>
                </a:solidFill>
              </a:endParaRPr>
            </a:p>
          </p:txBody>
        </p:sp>
        <p:cxnSp>
          <p:nvCxnSpPr>
            <p:cNvPr id="28" name="Straight Connector 27">
              <a:extLst>
                <a:ext uri="{FF2B5EF4-FFF2-40B4-BE49-F238E27FC236}">
                  <a16:creationId xmlns:a16="http://schemas.microsoft.com/office/drawing/2014/main" id="{BB71B7D6-0EAF-DC80-A0F6-0A401BD8C7F1}"/>
                </a:ext>
              </a:extLst>
            </p:cNvPr>
            <p:cNvCxnSpPr>
              <a:cxnSpLocks/>
              <a:stCxn id="27" idx="4"/>
            </p:cNvCxnSpPr>
            <p:nvPr/>
          </p:nvCxnSpPr>
          <p:spPr>
            <a:xfrm>
              <a:off x="2859902" y="2538462"/>
              <a:ext cx="476083" cy="3343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03538675-1675-4963-C3B2-283EEC646117}"/>
              </a:ext>
            </a:extLst>
          </p:cNvPr>
          <p:cNvGrpSpPr/>
          <p:nvPr/>
        </p:nvGrpSpPr>
        <p:grpSpPr>
          <a:xfrm>
            <a:off x="7090852" y="3865152"/>
            <a:ext cx="1800000" cy="1311685"/>
            <a:chOff x="785495" y="3206012"/>
            <a:chExt cx="1800000" cy="1311685"/>
          </a:xfrm>
        </p:grpSpPr>
        <p:sp>
          <p:nvSpPr>
            <p:cNvPr id="30" name="Oval 29">
              <a:extLst>
                <a:ext uri="{FF2B5EF4-FFF2-40B4-BE49-F238E27FC236}">
                  <a16:creationId xmlns:a16="http://schemas.microsoft.com/office/drawing/2014/main" id="{26ABCA27-83CF-C618-EF84-D7BA1DD089B0}"/>
                </a:ext>
              </a:extLst>
            </p:cNvPr>
            <p:cNvSpPr/>
            <p:nvPr/>
          </p:nvSpPr>
          <p:spPr>
            <a:xfrm>
              <a:off x="785495" y="3603297"/>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address</a:t>
              </a:r>
            </a:p>
          </p:txBody>
        </p:sp>
        <p:cxnSp>
          <p:nvCxnSpPr>
            <p:cNvPr id="31" name="Straight Connector 30">
              <a:extLst>
                <a:ext uri="{FF2B5EF4-FFF2-40B4-BE49-F238E27FC236}">
                  <a16:creationId xmlns:a16="http://schemas.microsoft.com/office/drawing/2014/main" id="{7BDE9141-4474-D423-22AF-3AE396A639DC}"/>
                </a:ext>
              </a:extLst>
            </p:cNvPr>
            <p:cNvCxnSpPr>
              <a:cxnSpLocks/>
              <a:stCxn id="30" idx="0"/>
            </p:cNvCxnSpPr>
            <p:nvPr/>
          </p:nvCxnSpPr>
          <p:spPr>
            <a:xfrm flipV="1">
              <a:off x="1685495" y="3206012"/>
              <a:ext cx="476082" cy="3972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E72321CB-ED7D-1846-1BDC-EB201C4754CD}"/>
              </a:ext>
            </a:extLst>
          </p:cNvPr>
          <p:cNvGrpSpPr/>
          <p:nvPr/>
        </p:nvGrpSpPr>
        <p:grpSpPr>
          <a:xfrm>
            <a:off x="9048015" y="1868282"/>
            <a:ext cx="1800000" cy="1276870"/>
            <a:chOff x="370708" y="2350432"/>
            <a:chExt cx="1800000" cy="1276870"/>
          </a:xfrm>
        </p:grpSpPr>
        <p:sp>
          <p:nvSpPr>
            <p:cNvPr id="33" name="Oval 32">
              <a:extLst>
                <a:ext uri="{FF2B5EF4-FFF2-40B4-BE49-F238E27FC236}">
                  <a16:creationId xmlns:a16="http://schemas.microsoft.com/office/drawing/2014/main" id="{AD6265B6-77C5-E966-0025-E0F8C13CB1C3}"/>
                </a:ext>
              </a:extLst>
            </p:cNvPr>
            <p:cNvSpPr/>
            <p:nvPr/>
          </p:nvSpPr>
          <p:spPr>
            <a:xfrm>
              <a:off x="370708" y="2350432"/>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name</a:t>
              </a:r>
            </a:p>
          </p:txBody>
        </p:sp>
        <p:cxnSp>
          <p:nvCxnSpPr>
            <p:cNvPr id="34" name="Straight Connector 33">
              <a:extLst>
                <a:ext uri="{FF2B5EF4-FFF2-40B4-BE49-F238E27FC236}">
                  <a16:creationId xmlns:a16="http://schemas.microsoft.com/office/drawing/2014/main" id="{5831A48A-A67B-AABF-5E00-CE37532B25CB}"/>
                </a:ext>
              </a:extLst>
            </p:cNvPr>
            <p:cNvCxnSpPr>
              <a:cxnSpLocks/>
              <a:stCxn id="33" idx="4"/>
            </p:cNvCxnSpPr>
            <p:nvPr/>
          </p:nvCxnSpPr>
          <p:spPr>
            <a:xfrm flipH="1">
              <a:off x="627995" y="3264832"/>
              <a:ext cx="642713" cy="36247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43685DE5-782A-9089-F067-6CD7304E9700}"/>
              </a:ext>
            </a:extLst>
          </p:cNvPr>
          <p:cNvGrpSpPr/>
          <p:nvPr/>
        </p:nvGrpSpPr>
        <p:grpSpPr>
          <a:xfrm>
            <a:off x="9048352" y="3865152"/>
            <a:ext cx="1800000" cy="1311685"/>
            <a:chOff x="3642995" y="3789001"/>
            <a:chExt cx="1800000" cy="1311685"/>
          </a:xfrm>
        </p:grpSpPr>
        <p:sp>
          <p:nvSpPr>
            <p:cNvPr id="36" name="Oval 35">
              <a:extLst>
                <a:ext uri="{FF2B5EF4-FFF2-40B4-BE49-F238E27FC236}">
                  <a16:creationId xmlns:a16="http://schemas.microsoft.com/office/drawing/2014/main" id="{5895D21C-3B11-DD94-529C-A0BF6B790A5B}"/>
                </a:ext>
              </a:extLst>
            </p:cNvPr>
            <p:cNvSpPr/>
            <p:nvPr/>
          </p:nvSpPr>
          <p:spPr>
            <a:xfrm>
              <a:off x="3642995" y="4186286"/>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phone</a:t>
              </a:r>
            </a:p>
          </p:txBody>
        </p:sp>
        <p:cxnSp>
          <p:nvCxnSpPr>
            <p:cNvPr id="37" name="Straight Connector 36">
              <a:extLst>
                <a:ext uri="{FF2B5EF4-FFF2-40B4-BE49-F238E27FC236}">
                  <a16:creationId xmlns:a16="http://schemas.microsoft.com/office/drawing/2014/main" id="{D0440EF5-2DA9-B41D-774C-1FD67737F6EB}"/>
                </a:ext>
              </a:extLst>
            </p:cNvPr>
            <p:cNvCxnSpPr>
              <a:cxnSpLocks/>
              <a:stCxn id="36" idx="0"/>
            </p:cNvCxnSpPr>
            <p:nvPr/>
          </p:nvCxnSpPr>
          <p:spPr>
            <a:xfrm flipH="1" flipV="1">
              <a:off x="4121891" y="3789001"/>
              <a:ext cx="421104" cy="3972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9" name="Entity 1">
            <a:extLst>
              <a:ext uri="{FF2B5EF4-FFF2-40B4-BE49-F238E27FC236}">
                <a16:creationId xmlns:a16="http://schemas.microsoft.com/office/drawing/2014/main" id="{E77C9CB4-7480-34AE-F005-18C10AB34DD6}"/>
              </a:ext>
            </a:extLst>
          </p:cNvPr>
          <p:cNvSpPr txBox="1"/>
          <p:nvPr/>
        </p:nvSpPr>
        <p:spPr>
          <a:xfrm>
            <a:off x="7990852" y="3145152"/>
            <a:ext cx="1800000" cy="720000"/>
          </a:xfrm>
          <a:prstGeom prst="rect">
            <a:avLst/>
          </a:prstGeom>
          <a:solidFill>
            <a:schemeClr val="accent3">
              <a:lumMod val="20000"/>
              <a:lumOff val="80000"/>
            </a:schemeClr>
          </a:solidFill>
          <a:ln>
            <a:solidFill>
              <a:schemeClr val="tx1"/>
            </a:solidFill>
          </a:ln>
        </p:spPr>
        <p:txBody>
          <a:bodyPr wrap="none" rtlCol="0" anchor="ctr" anchorCtr="0">
            <a:noAutofit/>
          </a:bodyPr>
          <a:lstStyle/>
          <a:p>
            <a:pPr algn="ctr"/>
            <a:r>
              <a:rPr lang="en-GB" sz="3600" dirty="0"/>
              <a:t>school</a:t>
            </a:r>
          </a:p>
        </p:txBody>
      </p:sp>
      <p:grpSp>
        <p:nvGrpSpPr>
          <p:cNvPr id="2" name="Group 1">
            <a:extLst>
              <a:ext uri="{FF2B5EF4-FFF2-40B4-BE49-F238E27FC236}">
                <a16:creationId xmlns:a16="http://schemas.microsoft.com/office/drawing/2014/main" id="{A3C74B9B-3BAB-6BA3-1F88-6DBACABC7D75}"/>
              </a:ext>
            </a:extLst>
          </p:cNvPr>
          <p:cNvGrpSpPr/>
          <p:nvPr/>
        </p:nvGrpSpPr>
        <p:grpSpPr>
          <a:xfrm>
            <a:off x="3511089" y="1993040"/>
            <a:ext cx="2242290" cy="595105"/>
            <a:chOff x="3511089" y="1993040"/>
            <a:chExt cx="2242290" cy="595105"/>
          </a:xfrm>
        </p:grpSpPr>
        <p:sp>
          <p:nvSpPr>
            <p:cNvPr id="53" name="Right Arrow 9">
              <a:extLst>
                <a:ext uri="{FF2B5EF4-FFF2-40B4-BE49-F238E27FC236}">
                  <a16:creationId xmlns:a16="http://schemas.microsoft.com/office/drawing/2014/main" id="{32ED144E-D951-D848-30E0-9ADE636CED3C}"/>
                </a:ext>
              </a:extLst>
            </p:cNvPr>
            <p:cNvSpPr/>
            <p:nvPr/>
          </p:nvSpPr>
          <p:spPr>
            <a:xfrm rot="10800000">
              <a:off x="3511089" y="2078980"/>
              <a:ext cx="870940" cy="509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a:p>
          </p:txBody>
        </p:sp>
        <p:sp>
          <p:nvSpPr>
            <p:cNvPr id="54" name="TextBox 53">
              <a:extLst>
                <a:ext uri="{FF2B5EF4-FFF2-40B4-BE49-F238E27FC236}">
                  <a16:creationId xmlns:a16="http://schemas.microsoft.com/office/drawing/2014/main" id="{EB7C4233-532A-127C-8E21-38C7DEB9EA18}"/>
                </a:ext>
              </a:extLst>
            </p:cNvPr>
            <p:cNvSpPr txBox="1"/>
            <p:nvPr/>
          </p:nvSpPr>
          <p:spPr>
            <a:xfrm>
              <a:off x="4422961" y="1993040"/>
              <a:ext cx="1330418" cy="584775"/>
            </a:xfrm>
            <a:prstGeom prst="rect">
              <a:avLst/>
            </a:prstGeom>
            <a:noFill/>
          </p:spPr>
          <p:txBody>
            <a:bodyPr wrap="square" rtlCol="0">
              <a:spAutoFit/>
            </a:bodyPr>
            <a:lstStyle/>
            <a:p>
              <a:r>
                <a:rPr lang="en-GB" sz="3200" dirty="0">
                  <a:solidFill>
                    <a:srgbClr val="7030A0"/>
                  </a:solidFill>
                </a:rPr>
                <a:t>Name</a:t>
              </a:r>
            </a:p>
          </p:txBody>
        </p:sp>
      </p:grpSp>
      <p:grpSp>
        <p:nvGrpSpPr>
          <p:cNvPr id="5" name="Group 4">
            <a:extLst>
              <a:ext uri="{FF2B5EF4-FFF2-40B4-BE49-F238E27FC236}">
                <a16:creationId xmlns:a16="http://schemas.microsoft.com/office/drawing/2014/main" id="{5C083DB6-3057-54C9-AC03-19D525314A07}"/>
              </a:ext>
            </a:extLst>
          </p:cNvPr>
          <p:cNvGrpSpPr/>
          <p:nvPr/>
        </p:nvGrpSpPr>
        <p:grpSpPr>
          <a:xfrm>
            <a:off x="3504882" y="3388181"/>
            <a:ext cx="2959761" cy="584775"/>
            <a:chOff x="3504882" y="3388181"/>
            <a:chExt cx="2959761" cy="584775"/>
          </a:xfrm>
        </p:grpSpPr>
        <p:sp>
          <p:nvSpPr>
            <p:cNvPr id="55" name="Right Arrow 9">
              <a:extLst>
                <a:ext uri="{FF2B5EF4-FFF2-40B4-BE49-F238E27FC236}">
                  <a16:creationId xmlns:a16="http://schemas.microsoft.com/office/drawing/2014/main" id="{1A037B0F-AEF9-CA89-EADF-09BB62D8E211}"/>
                </a:ext>
              </a:extLst>
            </p:cNvPr>
            <p:cNvSpPr/>
            <p:nvPr/>
          </p:nvSpPr>
          <p:spPr>
            <a:xfrm rot="10800000">
              <a:off x="3504882" y="3456764"/>
              <a:ext cx="870940" cy="509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a:p>
          </p:txBody>
        </p:sp>
        <p:sp>
          <p:nvSpPr>
            <p:cNvPr id="57" name="TextBox 56">
              <a:extLst>
                <a:ext uri="{FF2B5EF4-FFF2-40B4-BE49-F238E27FC236}">
                  <a16:creationId xmlns:a16="http://schemas.microsoft.com/office/drawing/2014/main" id="{076158D0-449E-331E-02B8-6187272187CD}"/>
                </a:ext>
              </a:extLst>
            </p:cNvPr>
            <p:cNvSpPr txBox="1"/>
            <p:nvPr/>
          </p:nvSpPr>
          <p:spPr>
            <a:xfrm>
              <a:off x="4422961" y="3388181"/>
              <a:ext cx="2041682" cy="584775"/>
            </a:xfrm>
            <a:prstGeom prst="rect">
              <a:avLst/>
            </a:prstGeom>
            <a:noFill/>
          </p:spPr>
          <p:txBody>
            <a:bodyPr wrap="square" rtlCol="0">
              <a:spAutoFit/>
            </a:bodyPr>
            <a:lstStyle/>
            <a:p>
              <a:r>
                <a:rPr lang="en-GB" sz="3200" dirty="0">
                  <a:solidFill>
                    <a:srgbClr val="7030A0"/>
                  </a:solidFill>
                </a:rPr>
                <a:t>Attributes</a:t>
              </a:r>
            </a:p>
          </p:txBody>
        </p:sp>
      </p:grpSp>
      <p:grpSp>
        <p:nvGrpSpPr>
          <p:cNvPr id="59" name="Group 58">
            <a:extLst>
              <a:ext uri="{FF2B5EF4-FFF2-40B4-BE49-F238E27FC236}">
                <a16:creationId xmlns:a16="http://schemas.microsoft.com/office/drawing/2014/main" id="{6075F69E-C1EC-0376-D32A-442345F8B341}"/>
              </a:ext>
            </a:extLst>
          </p:cNvPr>
          <p:cNvGrpSpPr/>
          <p:nvPr/>
        </p:nvGrpSpPr>
        <p:grpSpPr>
          <a:xfrm>
            <a:off x="1456099" y="1978068"/>
            <a:ext cx="1797287" cy="2862322"/>
            <a:chOff x="2197100" y="1720840"/>
            <a:chExt cx="1797287" cy="2862322"/>
          </a:xfrm>
        </p:grpSpPr>
        <p:sp>
          <p:nvSpPr>
            <p:cNvPr id="60" name="TextBox 59">
              <a:extLst>
                <a:ext uri="{FF2B5EF4-FFF2-40B4-BE49-F238E27FC236}">
                  <a16:creationId xmlns:a16="http://schemas.microsoft.com/office/drawing/2014/main" id="{FF3C45D0-632D-F7B1-F94D-C175CEB6FC87}"/>
                </a:ext>
              </a:extLst>
            </p:cNvPr>
            <p:cNvSpPr txBox="1"/>
            <p:nvPr/>
          </p:nvSpPr>
          <p:spPr>
            <a:xfrm>
              <a:off x="2197100" y="1720840"/>
              <a:ext cx="1797287" cy="2862322"/>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dirty="0" err="1"/>
                <a:t>schoolID</a:t>
              </a:r>
              <a:endParaRPr lang="en-GB" sz="3600" dirty="0"/>
            </a:p>
            <a:p>
              <a:r>
                <a:rPr lang="en-GB" sz="3600" dirty="0"/>
                <a:t>name</a:t>
              </a:r>
            </a:p>
            <a:p>
              <a:r>
                <a:rPr lang="en-GB" sz="3600" dirty="0"/>
                <a:t>address</a:t>
              </a:r>
            </a:p>
            <a:p>
              <a:r>
                <a:rPr lang="en-GB" sz="3600" dirty="0"/>
                <a:t>phone</a:t>
              </a:r>
            </a:p>
          </p:txBody>
        </p:sp>
        <p:sp>
          <p:nvSpPr>
            <p:cNvPr id="61" name="TextBox 60">
              <a:extLst>
                <a:ext uri="{FF2B5EF4-FFF2-40B4-BE49-F238E27FC236}">
                  <a16:creationId xmlns:a16="http://schemas.microsoft.com/office/drawing/2014/main" id="{D8A2A582-A5F5-2F9C-A3D3-8B64D0792D1A}"/>
                </a:ext>
              </a:extLst>
            </p:cNvPr>
            <p:cNvSpPr txBox="1"/>
            <p:nvPr/>
          </p:nvSpPr>
          <p:spPr>
            <a:xfrm>
              <a:off x="2197100" y="1720840"/>
              <a:ext cx="1797287" cy="646331"/>
            </a:xfrm>
            <a:prstGeom prst="rect">
              <a:avLst/>
            </a:prstGeom>
            <a:solidFill>
              <a:schemeClr val="bg2">
                <a:lumMod val="90000"/>
              </a:schemeClr>
            </a:solidFill>
            <a:ln>
              <a:solidFill>
                <a:schemeClr val="tx1"/>
              </a:solidFill>
            </a:ln>
          </p:spPr>
          <p:txBody>
            <a:bodyPr wrap="square" rtlCol="0">
              <a:spAutoFit/>
            </a:bodyPr>
            <a:lstStyle/>
            <a:p>
              <a:r>
                <a:rPr lang="en-GB" sz="3600" b="1" dirty="0"/>
                <a:t>school</a:t>
              </a:r>
            </a:p>
          </p:txBody>
        </p:sp>
      </p:grpSp>
      <p:grpSp>
        <p:nvGrpSpPr>
          <p:cNvPr id="6" name="Group 5">
            <a:extLst>
              <a:ext uri="{FF2B5EF4-FFF2-40B4-BE49-F238E27FC236}">
                <a16:creationId xmlns:a16="http://schemas.microsoft.com/office/drawing/2014/main" id="{D042AC0D-1015-3A7D-1484-E042DE37F799}"/>
              </a:ext>
            </a:extLst>
          </p:cNvPr>
          <p:cNvGrpSpPr/>
          <p:nvPr/>
        </p:nvGrpSpPr>
        <p:grpSpPr>
          <a:xfrm>
            <a:off x="9895121" y="3179967"/>
            <a:ext cx="2087343" cy="595105"/>
            <a:chOff x="3511089" y="1993040"/>
            <a:chExt cx="2087343" cy="595105"/>
          </a:xfrm>
        </p:grpSpPr>
        <p:sp>
          <p:nvSpPr>
            <p:cNvPr id="7" name="Right Arrow 9">
              <a:extLst>
                <a:ext uri="{FF2B5EF4-FFF2-40B4-BE49-F238E27FC236}">
                  <a16:creationId xmlns:a16="http://schemas.microsoft.com/office/drawing/2014/main" id="{F8B8EFF9-543D-3932-D393-6902EF15D561}"/>
                </a:ext>
              </a:extLst>
            </p:cNvPr>
            <p:cNvSpPr/>
            <p:nvPr/>
          </p:nvSpPr>
          <p:spPr>
            <a:xfrm rot="10800000">
              <a:off x="3511089" y="2078980"/>
              <a:ext cx="870940" cy="509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a:p>
          </p:txBody>
        </p:sp>
        <p:sp>
          <p:nvSpPr>
            <p:cNvPr id="8" name="TextBox 7">
              <a:extLst>
                <a:ext uri="{FF2B5EF4-FFF2-40B4-BE49-F238E27FC236}">
                  <a16:creationId xmlns:a16="http://schemas.microsoft.com/office/drawing/2014/main" id="{AABE7F4F-31A2-99F3-8DE6-B6E7C9D4A7BA}"/>
                </a:ext>
              </a:extLst>
            </p:cNvPr>
            <p:cNvSpPr txBox="1"/>
            <p:nvPr/>
          </p:nvSpPr>
          <p:spPr>
            <a:xfrm>
              <a:off x="4422961" y="1993040"/>
              <a:ext cx="1175471" cy="584775"/>
            </a:xfrm>
            <a:prstGeom prst="rect">
              <a:avLst/>
            </a:prstGeom>
            <a:noFill/>
          </p:spPr>
          <p:txBody>
            <a:bodyPr wrap="square" rtlCol="0">
              <a:spAutoFit/>
            </a:bodyPr>
            <a:lstStyle/>
            <a:p>
              <a:r>
                <a:rPr lang="en-GB" sz="3200" dirty="0">
                  <a:solidFill>
                    <a:srgbClr val="7030A0"/>
                  </a:solidFill>
                </a:rPr>
                <a:t>Name</a:t>
              </a:r>
            </a:p>
          </p:txBody>
        </p:sp>
      </p:grpSp>
      <p:grpSp>
        <p:nvGrpSpPr>
          <p:cNvPr id="9" name="Group 8">
            <a:extLst>
              <a:ext uri="{FF2B5EF4-FFF2-40B4-BE49-F238E27FC236}">
                <a16:creationId xmlns:a16="http://schemas.microsoft.com/office/drawing/2014/main" id="{D07182A0-4D7C-0BEC-4FD4-043B53375ED5}"/>
              </a:ext>
            </a:extLst>
          </p:cNvPr>
          <p:cNvGrpSpPr/>
          <p:nvPr/>
        </p:nvGrpSpPr>
        <p:grpSpPr>
          <a:xfrm>
            <a:off x="7090851" y="5233282"/>
            <a:ext cx="1800000" cy="1456331"/>
            <a:chOff x="1466255" y="4908230"/>
            <a:chExt cx="1800000" cy="1471208"/>
          </a:xfrm>
        </p:grpSpPr>
        <p:sp>
          <p:nvSpPr>
            <p:cNvPr id="10" name="Right Arrow 9">
              <a:extLst>
                <a:ext uri="{FF2B5EF4-FFF2-40B4-BE49-F238E27FC236}">
                  <a16:creationId xmlns:a16="http://schemas.microsoft.com/office/drawing/2014/main" id="{92901AFD-7DA9-E3E1-5F7D-60761172648D}"/>
                </a:ext>
              </a:extLst>
            </p:cNvPr>
            <p:cNvSpPr/>
            <p:nvPr/>
          </p:nvSpPr>
          <p:spPr>
            <a:xfrm rot="16200000">
              <a:off x="1930785" y="5089117"/>
              <a:ext cx="870940" cy="509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a:p>
          </p:txBody>
        </p:sp>
        <p:sp>
          <p:nvSpPr>
            <p:cNvPr id="11" name="TextBox 10">
              <a:extLst>
                <a:ext uri="{FF2B5EF4-FFF2-40B4-BE49-F238E27FC236}">
                  <a16:creationId xmlns:a16="http://schemas.microsoft.com/office/drawing/2014/main" id="{4768A0A6-A514-97D6-DDE9-65BB3970B6E1}"/>
                </a:ext>
              </a:extLst>
            </p:cNvPr>
            <p:cNvSpPr txBox="1"/>
            <p:nvPr/>
          </p:nvSpPr>
          <p:spPr>
            <a:xfrm>
              <a:off x="1466255" y="5788689"/>
              <a:ext cx="1800000" cy="590749"/>
            </a:xfrm>
            <a:prstGeom prst="rect">
              <a:avLst/>
            </a:prstGeom>
            <a:noFill/>
          </p:spPr>
          <p:txBody>
            <a:bodyPr wrap="square" rtlCol="0">
              <a:spAutoFit/>
            </a:bodyPr>
            <a:lstStyle/>
            <a:p>
              <a:pPr algn="ctr"/>
              <a:r>
                <a:rPr lang="en-GB" sz="3200" dirty="0">
                  <a:solidFill>
                    <a:srgbClr val="7030A0"/>
                  </a:solidFill>
                </a:rPr>
                <a:t>Attribute</a:t>
              </a:r>
            </a:p>
          </p:txBody>
        </p:sp>
      </p:grpSp>
    </p:spTree>
    <p:extLst>
      <p:ext uri="{BB962C8B-B14F-4D97-AF65-F5344CB8AC3E}">
        <p14:creationId xmlns:p14="http://schemas.microsoft.com/office/powerpoint/2010/main" val="4198218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1000"/>
                                        <p:tgtEl>
                                          <p:spTgt spid="5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1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1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1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500"/>
                                        <p:tgtEl>
                                          <p:spTgt spid="39"/>
                                        </p:tgtEl>
                                      </p:cBhvr>
                                    </p:animEffec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1000"/>
                                        <p:tgtEl>
                                          <p:spTgt spid="26"/>
                                        </p:tgtEl>
                                      </p:cBhvr>
                                    </p:animEffect>
                                  </p:childTnLst>
                                </p:cTn>
                              </p:par>
                            </p:childTnLst>
                          </p:cTn>
                        </p:par>
                        <p:par>
                          <p:cTn id="32" fill="hold">
                            <p:stCondLst>
                              <p:cond delay="1500"/>
                            </p:stCondLst>
                            <p:childTnLst>
                              <p:par>
                                <p:cTn id="33" presetID="10" presetClass="entr" presetSubtype="0" fill="hold" nodeType="after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1000"/>
                                        <p:tgtEl>
                                          <p:spTgt spid="32"/>
                                        </p:tgtEl>
                                      </p:cBhvr>
                                    </p:animEffect>
                                  </p:childTnLst>
                                </p:cTn>
                              </p:par>
                            </p:childTnLst>
                          </p:cTn>
                        </p:par>
                        <p:par>
                          <p:cTn id="36" fill="hold">
                            <p:stCondLst>
                              <p:cond delay="2500"/>
                            </p:stCondLst>
                            <p:childTnLst>
                              <p:par>
                                <p:cTn id="37" presetID="10" presetClass="entr" presetSubtype="0" fill="hold" nodeType="after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1000"/>
                                        <p:tgtEl>
                                          <p:spTgt spid="35"/>
                                        </p:tgtEl>
                                      </p:cBhvr>
                                    </p:animEffect>
                                  </p:childTnLst>
                                </p:cTn>
                              </p:par>
                            </p:childTnLst>
                          </p:cTn>
                        </p:par>
                        <p:par>
                          <p:cTn id="40" fill="hold">
                            <p:stCondLst>
                              <p:cond delay="3500"/>
                            </p:stCondLst>
                            <p:childTnLst>
                              <p:par>
                                <p:cTn id="41" presetID="10" presetClass="entr" presetSubtype="0" fill="hold" nodeType="after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1000"/>
                                        <p:tgtEl>
                                          <p:spTgt spid="2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wipe(left)">
                                      <p:cBhvr>
                                        <p:cTn id="48" dur="1500"/>
                                        <p:tgtEl>
                                          <p:spTgt spid="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ipe(up)">
                                      <p:cBhvr>
                                        <p:cTn id="53" dur="1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1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Entities and Attributes</a:t>
            </a:r>
          </a:p>
        </p:txBody>
      </p:sp>
      <p:grpSp>
        <p:nvGrpSpPr>
          <p:cNvPr id="26" name="Group 25">
            <a:extLst>
              <a:ext uri="{FF2B5EF4-FFF2-40B4-BE49-F238E27FC236}">
                <a16:creationId xmlns:a16="http://schemas.microsoft.com/office/drawing/2014/main" id="{8F357257-88EB-76DF-DD3A-B3C4F289DEBA}"/>
              </a:ext>
            </a:extLst>
          </p:cNvPr>
          <p:cNvGrpSpPr/>
          <p:nvPr/>
        </p:nvGrpSpPr>
        <p:grpSpPr>
          <a:xfrm>
            <a:off x="7090851" y="1896388"/>
            <a:ext cx="1800000" cy="1248764"/>
            <a:chOff x="1959902" y="1624062"/>
            <a:chExt cx="1800000" cy="1248764"/>
          </a:xfrm>
        </p:grpSpPr>
        <p:sp>
          <p:nvSpPr>
            <p:cNvPr id="27" name="Oval 26">
              <a:extLst>
                <a:ext uri="{FF2B5EF4-FFF2-40B4-BE49-F238E27FC236}">
                  <a16:creationId xmlns:a16="http://schemas.microsoft.com/office/drawing/2014/main" id="{5C79223C-F87D-9D4A-2FC0-1D0A4E23A7E8}"/>
                </a:ext>
              </a:extLst>
            </p:cNvPr>
            <p:cNvSpPr/>
            <p:nvPr/>
          </p:nvSpPr>
          <p:spPr>
            <a:xfrm>
              <a:off x="1959902" y="1624062"/>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err="1">
                  <a:solidFill>
                    <a:schemeClr val="tx1"/>
                  </a:solidFill>
                </a:rPr>
                <a:t>school</a:t>
              </a:r>
              <a:r>
                <a:rPr lang="en-GB" sz="2800" dirty="0" err="1"/>
                <a:t>ID</a:t>
              </a:r>
              <a:endParaRPr lang="en-GB" sz="2800" dirty="0">
                <a:solidFill>
                  <a:schemeClr val="tx1"/>
                </a:solidFill>
              </a:endParaRPr>
            </a:p>
          </p:txBody>
        </p:sp>
        <p:cxnSp>
          <p:nvCxnSpPr>
            <p:cNvPr id="28" name="Straight Connector 27">
              <a:extLst>
                <a:ext uri="{FF2B5EF4-FFF2-40B4-BE49-F238E27FC236}">
                  <a16:creationId xmlns:a16="http://schemas.microsoft.com/office/drawing/2014/main" id="{BB71B7D6-0EAF-DC80-A0F6-0A401BD8C7F1}"/>
                </a:ext>
              </a:extLst>
            </p:cNvPr>
            <p:cNvCxnSpPr>
              <a:cxnSpLocks/>
              <a:stCxn id="27" idx="4"/>
            </p:cNvCxnSpPr>
            <p:nvPr/>
          </p:nvCxnSpPr>
          <p:spPr>
            <a:xfrm>
              <a:off x="2859902" y="2538462"/>
              <a:ext cx="476083" cy="3343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03538675-1675-4963-C3B2-283EEC646117}"/>
              </a:ext>
            </a:extLst>
          </p:cNvPr>
          <p:cNvGrpSpPr/>
          <p:nvPr/>
        </p:nvGrpSpPr>
        <p:grpSpPr>
          <a:xfrm>
            <a:off x="7090852" y="3865152"/>
            <a:ext cx="1800000" cy="1311685"/>
            <a:chOff x="785495" y="3206012"/>
            <a:chExt cx="1800000" cy="1311685"/>
          </a:xfrm>
        </p:grpSpPr>
        <p:sp>
          <p:nvSpPr>
            <p:cNvPr id="30" name="Oval 29">
              <a:extLst>
                <a:ext uri="{FF2B5EF4-FFF2-40B4-BE49-F238E27FC236}">
                  <a16:creationId xmlns:a16="http://schemas.microsoft.com/office/drawing/2014/main" id="{26ABCA27-83CF-C618-EF84-D7BA1DD089B0}"/>
                </a:ext>
              </a:extLst>
            </p:cNvPr>
            <p:cNvSpPr/>
            <p:nvPr/>
          </p:nvSpPr>
          <p:spPr>
            <a:xfrm>
              <a:off x="785495" y="3603297"/>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address</a:t>
              </a:r>
            </a:p>
          </p:txBody>
        </p:sp>
        <p:cxnSp>
          <p:nvCxnSpPr>
            <p:cNvPr id="31" name="Straight Connector 30">
              <a:extLst>
                <a:ext uri="{FF2B5EF4-FFF2-40B4-BE49-F238E27FC236}">
                  <a16:creationId xmlns:a16="http://schemas.microsoft.com/office/drawing/2014/main" id="{7BDE9141-4474-D423-22AF-3AE396A639DC}"/>
                </a:ext>
              </a:extLst>
            </p:cNvPr>
            <p:cNvCxnSpPr>
              <a:cxnSpLocks/>
              <a:stCxn id="30" idx="0"/>
            </p:cNvCxnSpPr>
            <p:nvPr/>
          </p:nvCxnSpPr>
          <p:spPr>
            <a:xfrm flipV="1">
              <a:off x="1685495" y="3206012"/>
              <a:ext cx="476082" cy="3972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E72321CB-ED7D-1846-1BDC-EB201C4754CD}"/>
              </a:ext>
            </a:extLst>
          </p:cNvPr>
          <p:cNvGrpSpPr/>
          <p:nvPr/>
        </p:nvGrpSpPr>
        <p:grpSpPr>
          <a:xfrm>
            <a:off x="9048015" y="1868282"/>
            <a:ext cx="1800000" cy="1276870"/>
            <a:chOff x="370708" y="2350432"/>
            <a:chExt cx="1800000" cy="1276870"/>
          </a:xfrm>
        </p:grpSpPr>
        <p:sp>
          <p:nvSpPr>
            <p:cNvPr id="33" name="Oval 32">
              <a:extLst>
                <a:ext uri="{FF2B5EF4-FFF2-40B4-BE49-F238E27FC236}">
                  <a16:creationId xmlns:a16="http://schemas.microsoft.com/office/drawing/2014/main" id="{AD6265B6-77C5-E966-0025-E0F8C13CB1C3}"/>
                </a:ext>
              </a:extLst>
            </p:cNvPr>
            <p:cNvSpPr/>
            <p:nvPr/>
          </p:nvSpPr>
          <p:spPr>
            <a:xfrm>
              <a:off x="370708" y="2350432"/>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name</a:t>
              </a:r>
            </a:p>
          </p:txBody>
        </p:sp>
        <p:cxnSp>
          <p:nvCxnSpPr>
            <p:cNvPr id="34" name="Straight Connector 33">
              <a:extLst>
                <a:ext uri="{FF2B5EF4-FFF2-40B4-BE49-F238E27FC236}">
                  <a16:creationId xmlns:a16="http://schemas.microsoft.com/office/drawing/2014/main" id="{5831A48A-A67B-AABF-5E00-CE37532B25CB}"/>
                </a:ext>
              </a:extLst>
            </p:cNvPr>
            <p:cNvCxnSpPr>
              <a:cxnSpLocks/>
              <a:stCxn id="33" idx="4"/>
            </p:cNvCxnSpPr>
            <p:nvPr/>
          </p:nvCxnSpPr>
          <p:spPr>
            <a:xfrm flipH="1">
              <a:off x="627995" y="3264832"/>
              <a:ext cx="642713" cy="36247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43685DE5-782A-9089-F067-6CD7304E9700}"/>
              </a:ext>
            </a:extLst>
          </p:cNvPr>
          <p:cNvGrpSpPr/>
          <p:nvPr/>
        </p:nvGrpSpPr>
        <p:grpSpPr>
          <a:xfrm>
            <a:off x="9048352" y="3865152"/>
            <a:ext cx="1800000" cy="1311685"/>
            <a:chOff x="3642995" y="3789001"/>
            <a:chExt cx="1800000" cy="1311685"/>
          </a:xfrm>
        </p:grpSpPr>
        <p:sp>
          <p:nvSpPr>
            <p:cNvPr id="36" name="Oval 35">
              <a:extLst>
                <a:ext uri="{FF2B5EF4-FFF2-40B4-BE49-F238E27FC236}">
                  <a16:creationId xmlns:a16="http://schemas.microsoft.com/office/drawing/2014/main" id="{5895D21C-3B11-DD94-529C-A0BF6B790A5B}"/>
                </a:ext>
              </a:extLst>
            </p:cNvPr>
            <p:cNvSpPr/>
            <p:nvPr/>
          </p:nvSpPr>
          <p:spPr>
            <a:xfrm>
              <a:off x="3642995" y="4186286"/>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phone</a:t>
              </a:r>
            </a:p>
          </p:txBody>
        </p:sp>
        <p:cxnSp>
          <p:nvCxnSpPr>
            <p:cNvPr id="37" name="Straight Connector 36">
              <a:extLst>
                <a:ext uri="{FF2B5EF4-FFF2-40B4-BE49-F238E27FC236}">
                  <a16:creationId xmlns:a16="http://schemas.microsoft.com/office/drawing/2014/main" id="{D0440EF5-2DA9-B41D-774C-1FD67737F6EB}"/>
                </a:ext>
              </a:extLst>
            </p:cNvPr>
            <p:cNvCxnSpPr>
              <a:cxnSpLocks/>
              <a:stCxn id="36" idx="0"/>
            </p:cNvCxnSpPr>
            <p:nvPr/>
          </p:nvCxnSpPr>
          <p:spPr>
            <a:xfrm flipH="1" flipV="1">
              <a:off x="4121891" y="3789001"/>
              <a:ext cx="421104" cy="3972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9" name="Entity 1">
            <a:extLst>
              <a:ext uri="{FF2B5EF4-FFF2-40B4-BE49-F238E27FC236}">
                <a16:creationId xmlns:a16="http://schemas.microsoft.com/office/drawing/2014/main" id="{E77C9CB4-7480-34AE-F005-18C10AB34DD6}"/>
              </a:ext>
            </a:extLst>
          </p:cNvPr>
          <p:cNvSpPr txBox="1"/>
          <p:nvPr/>
        </p:nvSpPr>
        <p:spPr>
          <a:xfrm>
            <a:off x="7990852" y="3145152"/>
            <a:ext cx="1800000" cy="720000"/>
          </a:xfrm>
          <a:prstGeom prst="rect">
            <a:avLst/>
          </a:prstGeom>
          <a:solidFill>
            <a:schemeClr val="accent3">
              <a:lumMod val="20000"/>
              <a:lumOff val="80000"/>
            </a:schemeClr>
          </a:solidFill>
          <a:ln>
            <a:solidFill>
              <a:schemeClr val="tx1"/>
            </a:solidFill>
          </a:ln>
        </p:spPr>
        <p:txBody>
          <a:bodyPr wrap="none" rtlCol="0" anchor="ctr" anchorCtr="0">
            <a:noAutofit/>
          </a:bodyPr>
          <a:lstStyle/>
          <a:p>
            <a:pPr algn="ctr"/>
            <a:r>
              <a:rPr lang="en-GB" sz="3600" dirty="0"/>
              <a:t>school</a:t>
            </a:r>
          </a:p>
        </p:txBody>
      </p:sp>
      <p:grpSp>
        <p:nvGrpSpPr>
          <p:cNvPr id="59" name="Group 58">
            <a:extLst>
              <a:ext uri="{FF2B5EF4-FFF2-40B4-BE49-F238E27FC236}">
                <a16:creationId xmlns:a16="http://schemas.microsoft.com/office/drawing/2014/main" id="{6075F69E-C1EC-0376-D32A-442345F8B341}"/>
              </a:ext>
            </a:extLst>
          </p:cNvPr>
          <p:cNvGrpSpPr/>
          <p:nvPr/>
        </p:nvGrpSpPr>
        <p:grpSpPr>
          <a:xfrm>
            <a:off x="1456099" y="1978068"/>
            <a:ext cx="1797287" cy="2862322"/>
            <a:chOff x="2197100" y="1720840"/>
            <a:chExt cx="1797287" cy="2862322"/>
          </a:xfrm>
        </p:grpSpPr>
        <p:sp>
          <p:nvSpPr>
            <p:cNvPr id="60" name="TextBox 59">
              <a:extLst>
                <a:ext uri="{FF2B5EF4-FFF2-40B4-BE49-F238E27FC236}">
                  <a16:creationId xmlns:a16="http://schemas.microsoft.com/office/drawing/2014/main" id="{FF3C45D0-632D-F7B1-F94D-C175CEB6FC87}"/>
                </a:ext>
              </a:extLst>
            </p:cNvPr>
            <p:cNvSpPr txBox="1"/>
            <p:nvPr/>
          </p:nvSpPr>
          <p:spPr>
            <a:xfrm>
              <a:off x="2197100" y="1720840"/>
              <a:ext cx="1797287" cy="2862322"/>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dirty="0" err="1"/>
                <a:t>schoolID</a:t>
              </a:r>
              <a:endParaRPr lang="en-GB" sz="3600" dirty="0"/>
            </a:p>
            <a:p>
              <a:r>
                <a:rPr lang="en-GB" sz="3600" dirty="0"/>
                <a:t>name</a:t>
              </a:r>
            </a:p>
            <a:p>
              <a:r>
                <a:rPr lang="en-GB" sz="3600" dirty="0"/>
                <a:t>address</a:t>
              </a:r>
            </a:p>
            <a:p>
              <a:r>
                <a:rPr lang="en-GB" sz="3600" dirty="0"/>
                <a:t>phone</a:t>
              </a:r>
            </a:p>
          </p:txBody>
        </p:sp>
        <p:sp>
          <p:nvSpPr>
            <p:cNvPr id="61" name="TextBox 60">
              <a:extLst>
                <a:ext uri="{FF2B5EF4-FFF2-40B4-BE49-F238E27FC236}">
                  <a16:creationId xmlns:a16="http://schemas.microsoft.com/office/drawing/2014/main" id="{D8A2A582-A5F5-2F9C-A3D3-8B64D0792D1A}"/>
                </a:ext>
              </a:extLst>
            </p:cNvPr>
            <p:cNvSpPr txBox="1"/>
            <p:nvPr/>
          </p:nvSpPr>
          <p:spPr>
            <a:xfrm>
              <a:off x="2197100" y="1720840"/>
              <a:ext cx="1797287" cy="646331"/>
            </a:xfrm>
            <a:prstGeom prst="rect">
              <a:avLst/>
            </a:prstGeom>
            <a:solidFill>
              <a:schemeClr val="bg2">
                <a:lumMod val="90000"/>
              </a:schemeClr>
            </a:solidFill>
            <a:ln>
              <a:solidFill>
                <a:schemeClr val="tx1"/>
              </a:solidFill>
            </a:ln>
          </p:spPr>
          <p:txBody>
            <a:bodyPr wrap="square" rtlCol="0">
              <a:spAutoFit/>
            </a:bodyPr>
            <a:lstStyle/>
            <a:p>
              <a:r>
                <a:rPr lang="en-GB" sz="3600" b="1" dirty="0"/>
                <a:t>school</a:t>
              </a:r>
            </a:p>
          </p:txBody>
        </p:sp>
      </p:grpSp>
    </p:spTree>
    <p:extLst>
      <p:ext uri="{BB962C8B-B14F-4D97-AF65-F5344CB8AC3E}">
        <p14:creationId xmlns:p14="http://schemas.microsoft.com/office/powerpoint/2010/main" val="66971645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Primary Key</a:t>
            </a:r>
          </a:p>
        </p:txBody>
      </p:sp>
      <p:grpSp>
        <p:nvGrpSpPr>
          <p:cNvPr id="18" name="Group 17">
            <a:extLst>
              <a:ext uri="{FF2B5EF4-FFF2-40B4-BE49-F238E27FC236}">
                <a16:creationId xmlns:a16="http://schemas.microsoft.com/office/drawing/2014/main" id="{9B0A13DE-1279-4C56-8488-32B10C503456}"/>
              </a:ext>
            </a:extLst>
          </p:cNvPr>
          <p:cNvGrpSpPr/>
          <p:nvPr/>
        </p:nvGrpSpPr>
        <p:grpSpPr>
          <a:xfrm>
            <a:off x="1456099" y="1978068"/>
            <a:ext cx="1797287" cy="2862322"/>
            <a:chOff x="2197100" y="1720840"/>
            <a:chExt cx="1797287" cy="2862322"/>
          </a:xfrm>
        </p:grpSpPr>
        <p:sp>
          <p:nvSpPr>
            <p:cNvPr id="5" name="TextBox 4">
              <a:extLst>
                <a:ext uri="{FF2B5EF4-FFF2-40B4-BE49-F238E27FC236}">
                  <a16:creationId xmlns:a16="http://schemas.microsoft.com/office/drawing/2014/main" id="{9E8D577D-F9B0-4C26-95CB-954FFDF61DBD}"/>
                </a:ext>
              </a:extLst>
            </p:cNvPr>
            <p:cNvSpPr txBox="1"/>
            <p:nvPr/>
          </p:nvSpPr>
          <p:spPr>
            <a:xfrm>
              <a:off x="2197100" y="1720840"/>
              <a:ext cx="1797287" cy="2862322"/>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dirty="0" err="1"/>
                <a:t>schoolID</a:t>
              </a:r>
              <a:endParaRPr lang="en-GB" sz="3600" dirty="0"/>
            </a:p>
            <a:p>
              <a:r>
                <a:rPr lang="en-GB" sz="3600" dirty="0"/>
                <a:t>name</a:t>
              </a:r>
            </a:p>
            <a:p>
              <a:r>
                <a:rPr lang="en-GB" sz="3600" dirty="0"/>
                <a:t>address</a:t>
              </a:r>
            </a:p>
            <a:p>
              <a:r>
                <a:rPr lang="en-GB" sz="3600" dirty="0"/>
                <a:t>phone</a:t>
              </a:r>
            </a:p>
          </p:txBody>
        </p:sp>
        <p:sp>
          <p:nvSpPr>
            <p:cNvPr id="16" name="TextBox 15">
              <a:extLst>
                <a:ext uri="{FF2B5EF4-FFF2-40B4-BE49-F238E27FC236}">
                  <a16:creationId xmlns:a16="http://schemas.microsoft.com/office/drawing/2014/main" id="{376D26D0-231A-4B18-94C4-B630246DF9C8}"/>
                </a:ext>
              </a:extLst>
            </p:cNvPr>
            <p:cNvSpPr txBox="1"/>
            <p:nvPr/>
          </p:nvSpPr>
          <p:spPr>
            <a:xfrm>
              <a:off x="2197100" y="1720840"/>
              <a:ext cx="1797287" cy="646331"/>
            </a:xfrm>
            <a:prstGeom prst="rect">
              <a:avLst/>
            </a:prstGeom>
            <a:solidFill>
              <a:schemeClr val="bg2">
                <a:lumMod val="90000"/>
              </a:schemeClr>
            </a:solidFill>
            <a:ln>
              <a:solidFill>
                <a:schemeClr val="tx1"/>
              </a:solidFill>
            </a:ln>
          </p:spPr>
          <p:txBody>
            <a:bodyPr wrap="square" rtlCol="0">
              <a:spAutoFit/>
            </a:bodyPr>
            <a:lstStyle/>
            <a:p>
              <a:r>
                <a:rPr lang="en-GB" sz="3600" b="1" dirty="0"/>
                <a:t>school</a:t>
              </a:r>
            </a:p>
          </p:txBody>
        </p:sp>
      </p:grpSp>
      <p:grpSp>
        <p:nvGrpSpPr>
          <p:cNvPr id="19" name="Group 18">
            <a:extLst>
              <a:ext uri="{FF2B5EF4-FFF2-40B4-BE49-F238E27FC236}">
                <a16:creationId xmlns:a16="http://schemas.microsoft.com/office/drawing/2014/main" id="{1F565CB8-10B5-434D-9118-818C6E69EDA5}"/>
              </a:ext>
            </a:extLst>
          </p:cNvPr>
          <p:cNvGrpSpPr/>
          <p:nvPr/>
        </p:nvGrpSpPr>
        <p:grpSpPr>
          <a:xfrm>
            <a:off x="8762167" y="1978068"/>
            <a:ext cx="1933672" cy="2862322"/>
            <a:chOff x="7175029" y="1690688"/>
            <a:chExt cx="1933672" cy="2862322"/>
          </a:xfrm>
        </p:grpSpPr>
        <p:sp>
          <p:nvSpPr>
            <p:cNvPr id="6" name="TextBox 5">
              <a:extLst>
                <a:ext uri="{FF2B5EF4-FFF2-40B4-BE49-F238E27FC236}">
                  <a16:creationId xmlns:a16="http://schemas.microsoft.com/office/drawing/2014/main" id="{06B8E8D6-C037-4571-B1CB-E4BD14A48ED7}"/>
                </a:ext>
              </a:extLst>
            </p:cNvPr>
            <p:cNvSpPr txBox="1"/>
            <p:nvPr/>
          </p:nvSpPr>
          <p:spPr>
            <a:xfrm>
              <a:off x="7175030" y="1690688"/>
              <a:ext cx="1933671" cy="2862322"/>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dirty="0" err="1"/>
                <a:t>pupilID</a:t>
              </a:r>
              <a:endParaRPr lang="en-GB" sz="3600" dirty="0"/>
            </a:p>
            <a:p>
              <a:r>
                <a:rPr lang="en-GB" sz="3600" dirty="0"/>
                <a:t>name</a:t>
              </a:r>
            </a:p>
            <a:p>
              <a:r>
                <a:rPr lang="en-GB" sz="3600" dirty="0"/>
                <a:t>dob</a:t>
              </a:r>
            </a:p>
            <a:p>
              <a:r>
                <a:rPr lang="en-GB" sz="3600" dirty="0"/>
                <a:t>transport</a:t>
              </a:r>
            </a:p>
          </p:txBody>
        </p:sp>
        <p:sp>
          <p:nvSpPr>
            <p:cNvPr id="17" name="TextBox 16">
              <a:extLst>
                <a:ext uri="{FF2B5EF4-FFF2-40B4-BE49-F238E27FC236}">
                  <a16:creationId xmlns:a16="http://schemas.microsoft.com/office/drawing/2014/main" id="{F7586BB6-2057-4CF7-A670-A8A12468AEB7}"/>
                </a:ext>
              </a:extLst>
            </p:cNvPr>
            <p:cNvSpPr txBox="1"/>
            <p:nvPr/>
          </p:nvSpPr>
          <p:spPr>
            <a:xfrm>
              <a:off x="7175029" y="1690688"/>
              <a:ext cx="1933672" cy="646331"/>
            </a:xfrm>
            <a:prstGeom prst="rect">
              <a:avLst/>
            </a:prstGeom>
            <a:solidFill>
              <a:schemeClr val="bg2">
                <a:lumMod val="90000"/>
              </a:schemeClr>
            </a:solidFill>
            <a:ln>
              <a:solidFill>
                <a:schemeClr val="tx1"/>
              </a:solidFill>
            </a:ln>
          </p:spPr>
          <p:txBody>
            <a:bodyPr wrap="square" rtlCol="0">
              <a:spAutoFit/>
            </a:bodyPr>
            <a:lstStyle/>
            <a:p>
              <a:r>
                <a:rPr lang="en-GB" sz="3600" b="1" dirty="0"/>
                <a:t>pupil</a:t>
              </a:r>
            </a:p>
          </p:txBody>
        </p:sp>
      </p:grpSp>
      <p:sp>
        <p:nvSpPr>
          <p:cNvPr id="10" name="TextBox 9">
            <a:extLst>
              <a:ext uri="{FF2B5EF4-FFF2-40B4-BE49-F238E27FC236}">
                <a16:creationId xmlns:a16="http://schemas.microsoft.com/office/drawing/2014/main" id="{36222909-F7FE-1DBD-B46D-B8FE16846092}"/>
              </a:ext>
            </a:extLst>
          </p:cNvPr>
          <p:cNvSpPr txBox="1"/>
          <p:nvPr/>
        </p:nvSpPr>
        <p:spPr>
          <a:xfrm>
            <a:off x="4639104" y="3508837"/>
            <a:ext cx="2913792" cy="646331"/>
          </a:xfrm>
          <a:prstGeom prst="rect">
            <a:avLst/>
          </a:prstGeom>
          <a:noFill/>
        </p:spPr>
        <p:txBody>
          <a:bodyPr wrap="square" rtlCol="0" anchor="ctr" anchorCtr="0">
            <a:spAutoFit/>
          </a:bodyPr>
          <a:lstStyle/>
          <a:p>
            <a:r>
              <a:rPr lang="en-GB" sz="3600" b="1" dirty="0">
                <a:solidFill>
                  <a:srgbClr val="7030A0"/>
                </a:solidFill>
              </a:rPr>
              <a:t>PK underlined</a:t>
            </a:r>
          </a:p>
        </p:txBody>
      </p:sp>
      <p:cxnSp>
        <p:nvCxnSpPr>
          <p:cNvPr id="13" name="Straight Connector 12">
            <a:extLst>
              <a:ext uri="{FF2B5EF4-FFF2-40B4-BE49-F238E27FC236}">
                <a16:creationId xmlns:a16="http://schemas.microsoft.com/office/drawing/2014/main" id="{0320D1A5-A702-82E6-DE29-45343BB8E315}"/>
              </a:ext>
            </a:extLst>
          </p:cNvPr>
          <p:cNvCxnSpPr>
            <a:cxnSpLocks/>
          </p:cNvCxnSpPr>
          <p:nvPr/>
        </p:nvCxnSpPr>
        <p:spPr>
          <a:xfrm>
            <a:off x="1533525" y="3101333"/>
            <a:ext cx="1656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00331DE-A66D-F169-CE39-D19F3C0DE700}"/>
              </a:ext>
            </a:extLst>
          </p:cNvPr>
          <p:cNvCxnSpPr>
            <a:cxnSpLocks/>
          </p:cNvCxnSpPr>
          <p:nvPr/>
        </p:nvCxnSpPr>
        <p:spPr>
          <a:xfrm>
            <a:off x="8847003" y="3101333"/>
            <a:ext cx="1512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Right Arrow 9">
            <a:extLst>
              <a:ext uri="{FF2B5EF4-FFF2-40B4-BE49-F238E27FC236}">
                <a16:creationId xmlns:a16="http://schemas.microsoft.com/office/drawing/2014/main" id="{C94ED22F-8452-163D-85D5-A3ED48A8F6FC}"/>
              </a:ext>
            </a:extLst>
          </p:cNvPr>
          <p:cNvSpPr/>
          <p:nvPr/>
        </p:nvSpPr>
        <p:spPr>
          <a:xfrm rot="16200000">
            <a:off x="1869203" y="5132169"/>
            <a:ext cx="870940" cy="509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B7B19BF9-6E34-5C97-3810-B94C6343DDAC}"/>
              </a:ext>
            </a:extLst>
          </p:cNvPr>
          <p:cNvSpPr txBox="1"/>
          <p:nvPr/>
        </p:nvSpPr>
        <p:spPr>
          <a:xfrm>
            <a:off x="1639464" y="5822222"/>
            <a:ext cx="1330418" cy="646331"/>
          </a:xfrm>
          <a:prstGeom prst="rect">
            <a:avLst/>
          </a:prstGeom>
          <a:noFill/>
        </p:spPr>
        <p:txBody>
          <a:bodyPr wrap="square" rtlCol="0">
            <a:spAutoFit/>
          </a:bodyPr>
          <a:lstStyle/>
          <a:p>
            <a:pPr algn="ctr"/>
            <a:r>
              <a:rPr lang="en-GB" sz="3600" dirty="0">
                <a:solidFill>
                  <a:srgbClr val="7030A0"/>
                </a:solidFill>
              </a:rPr>
              <a:t>Entity</a:t>
            </a:r>
          </a:p>
        </p:txBody>
      </p:sp>
    </p:spTree>
    <p:extLst>
      <p:ext uri="{BB962C8B-B14F-4D97-AF65-F5344CB8AC3E}">
        <p14:creationId xmlns:p14="http://schemas.microsoft.com/office/powerpoint/2010/main" val="914793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wipe(left)">
                                      <p:cBhvr>
                                        <p:cTn id="17" dur="2000"/>
                                        <p:tgtEl>
                                          <p:spTgt spid="1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10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10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down)">
                                      <p:cBhvr>
                                        <p:cTn id="32" dur="1000"/>
                                        <p:tgtEl>
                                          <p:spTgt spid="21"/>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23">
                                            <p:txEl>
                                              <p:pRg st="0" end="0"/>
                                            </p:txEl>
                                          </p:spTgt>
                                        </p:tgtEl>
                                        <p:attrNameLst>
                                          <p:attrName>style.visibility</p:attrName>
                                        </p:attrNameLst>
                                      </p:cBhvr>
                                      <p:to>
                                        <p:strVal val="visible"/>
                                      </p:to>
                                    </p:set>
                                    <p:animEffect transition="in" filter="wipe(left)">
                                      <p:cBhvr>
                                        <p:cTn id="36" dur="1000"/>
                                        <p:tgtEl>
                                          <p:spTgt spid="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21" grpId="0" animBg="1"/>
      <p:bldP spid="23" grpId="0" uiExpand="1" build="p"/>
    </p:bldLst>
  </p:timing>
</p:sld>
</file>

<file path=ppt/slides/slide1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Primary Key</a:t>
            </a:r>
          </a:p>
        </p:txBody>
      </p:sp>
      <p:grpSp>
        <p:nvGrpSpPr>
          <p:cNvPr id="18" name="Group 17">
            <a:extLst>
              <a:ext uri="{FF2B5EF4-FFF2-40B4-BE49-F238E27FC236}">
                <a16:creationId xmlns:a16="http://schemas.microsoft.com/office/drawing/2014/main" id="{9B0A13DE-1279-4C56-8488-32B10C503456}"/>
              </a:ext>
            </a:extLst>
          </p:cNvPr>
          <p:cNvGrpSpPr/>
          <p:nvPr/>
        </p:nvGrpSpPr>
        <p:grpSpPr>
          <a:xfrm>
            <a:off x="1456099" y="1978068"/>
            <a:ext cx="1797287" cy="2862322"/>
            <a:chOff x="2197100" y="1720840"/>
            <a:chExt cx="1797287" cy="2862322"/>
          </a:xfrm>
        </p:grpSpPr>
        <p:sp>
          <p:nvSpPr>
            <p:cNvPr id="5" name="TextBox 4">
              <a:extLst>
                <a:ext uri="{FF2B5EF4-FFF2-40B4-BE49-F238E27FC236}">
                  <a16:creationId xmlns:a16="http://schemas.microsoft.com/office/drawing/2014/main" id="{9E8D577D-F9B0-4C26-95CB-954FFDF61DBD}"/>
                </a:ext>
              </a:extLst>
            </p:cNvPr>
            <p:cNvSpPr txBox="1"/>
            <p:nvPr/>
          </p:nvSpPr>
          <p:spPr>
            <a:xfrm>
              <a:off x="2197100" y="1720840"/>
              <a:ext cx="1797287" cy="2862322"/>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u="sng" dirty="0" err="1"/>
                <a:t>schoolID</a:t>
              </a:r>
              <a:endParaRPr lang="en-GB" sz="3600" u="sng" dirty="0"/>
            </a:p>
            <a:p>
              <a:r>
                <a:rPr lang="en-GB" sz="3600" dirty="0"/>
                <a:t>name</a:t>
              </a:r>
            </a:p>
            <a:p>
              <a:r>
                <a:rPr lang="en-GB" sz="3600" dirty="0"/>
                <a:t>address</a:t>
              </a:r>
            </a:p>
            <a:p>
              <a:r>
                <a:rPr lang="en-GB" sz="3600" dirty="0"/>
                <a:t>phone</a:t>
              </a:r>
            </a:p>
          </p:txBody>
        </p:sp>
        <p:sp>
          <p:nvSpPr>
            <p:cNvPr id="16" name="TextBox 15">
              <a:extLst>
                <a:ext uri="{FF2B5EF4-FFF2-40B4-BE49-F238E27FC236}">
                  <a16:creationId xmlns:a16="http://schemas.microsoft.com/office/drawing/2014/main" id="{376D26D0-231A-4B18-94C4-B630246DF9C8}"/>
                </a:ext>
              </a:extLst>
            </p:cNvPr>
            <p:cNvSpPr txBox="1"/>
            <p:nvPr/>
          </p:nvSpPr>
          <p:spPr>
            <a:xfrm>
              <a:off x="2197100" y="1720840"/>
              <a:ext cx="1797287" cy="646331"/>
            </a:xfrm>
            <a:prstGeom prst="rect">
              <a:avLst/>
            </a:prstGeom>
            <a:solidFill>
              <a:schemeClr val="bg2">
                <a:lumMod val="90000"/>
              </a:schemeClr>
            </a:solidFill>
            <a:ln>
              <a:solidFill>
                <a:schemeClr val="tx1"/>
              </a:solidFill>
            </a:ln>
          </p:spPr>
          <p:txBody>
            <a:bodyPr wrap="square" rtlCol="0">
              <a:spAutoFit/>
            </a:bodyPr>
            <a:lstStyle/>
            <a:p>
              <a:r>
                <a:rPr lang="en-GB" sz="3600" b="1" dirty="0"/>
                <a:t>school</a:t>
              </a:r>
            </a:p>
          </p:txBody>
        </p:sp>
      </p:grpSp>
      <p:grpSp>
        <p:nvGrpSpPr>
          <p:cNvPr id="19" name="Group 18">
            <a:extLst>
              <a:ext uri="{FF2B5EF4-FFF2-40B4-BE49-F238E27FC236}">
                <a16:creationId xmlns:a16="http://schemas.microsoft.com/office/drawing/2014/main" id="{1F565CB8-10B5-434D-9118-818C6E69EDA5}"/>
              </a:ext>
            </a:extLst>
          </p:cNvPr>
          <p:cNvGrpSpPr/>
          <p:nvPr/>
        </p:nvGrpSpPr>
        <p:grpSpPr>
          <a:xfrm>
            <a:off x="8762167" y="1978068"/>
            <a:ext cx="1933672" cy="2862322"/>
            <a:chOff x="7175029" y="1690688"/>
            <a:chExt cx="1933672" cy="2862322"/>
          </a:xfrm>
        </p:grpSpPr>
        <p:sp>
          <p:nvSpPr>
            <p:cNvPr id="6" name="TextBox 5">
              <a:extLst>
                <a:ext uri="{FF2B5EF4-FFF2-40B4-BE49-F238E27FC236}">
                  <a16:creationId xmlns:a16="http://schemas.microsoft.com/office/drawing/2014/main" id="{06B8E8D6-C037-4571-B1CB-E4BD14A48ED7}"/>
                </a:ext>
              </a:extLst>
            </p:cNvPr>
            <p:cNvSpPr txBox="1"/>
            <p:nvPr/>
          </p:nvSpPr>
          <p:spPr>
            <a:xfrm>
              <a:off x="7175030" y="1690688"/>
              <a:ext cx="1933671" cy="2862322"/>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u="sng" dirty="0" err="1"/>
                <a:t>pupilID</a:t>
              </a:r>
              <a:endParaRPr lang="en-GB" sz="3600" u="sng" dirty="0"/>
            </a:p>
            <a:p>
              <a:r>
                <a:rPr lang="en-GB" sz="3600" dirty="0"/>
                <a:t>name</a:t>
              </a:r>
            </a:p>
            <a:p>
              <a:r>
                <a:rPr lang="en-GB" sz="3600" dirty="0"/>
                <a:t>dob</a:t>
              </a:r>
            </a:p>
            <a:p>
              <a:r>
                <a:rPr lang="en-GB" sz="3600" dirty="0"/>
                <a:t>transport</a:t>
              </a:r>
            </a:p>
          </p:txBody>
        </p:sp>
        <p:sp>
          <p:nvSpPr>
            <p:cNvPr id="17" name="TextBox 16">
              <a:extLst>
                <a:ext uri="{FF2B5EF4-FFF2-40B4-BE49-F238E27FC236}">
                  <a16:creationId xmlns:a16="http://schemas.microsoft.com/office/drawing/2014/main" id="{F7586BB6-2057-4CF7-A670-A8A12468AEB7}"/>
                </a:ext>
              </a:extLst>
            </p:cNvPr>
            <p:cNvSpPr txBox="1"/>
            <p:nvPr/>
          </p:nvSpPr>
          <p:spPr>
            <a:xfrm>
              <a:off x="7175029" y="1690688"/>
              <a:ext cx="1933672" cy="646331"/>
            </a:xfrm>
            <a:prstGeom prst="rect">
              <a:avLst/>
            </a:prstGeom>
            <a:solidFill>
              <a:schemeClr val="bg2">
                <a:lumMod val="90000"/>
              </a:schemeClr>
            </a:solidFill>
            <a:ln>
              <a:solidFill>
                <a:schemeClr val="tx1"/>
              </a:solidFill>
            </a:ln>
          </p:spPr>
          <p:txBody>
            <a:bodyPr wrap="square" rtlCol="0">
              <a:spAutoFit/>
            </a:bodyPr>
            <a:lstStyle/>
            <a:p>
              <a:r>
                <a:rPr lang="en-GB" sz="3600" b="1" dirty="0"/>
                <a:t>pupil</a:t>
              </a:r>
            </a:p>
          </p:txBody>
        </p:sp>
      </p:grpSp>
    </p:spTree>
    <p:extLst>
      <p:ext uri="{BB962C8B-B14F-4D97-AF65-F5344CB8AC3E}">
        <p14:creationId xmlns:p14="http://schemas.microsoft.com/office/powerpoint/2010/main" val="380852057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Foreign Key</a:t>
            </a:r>
          </a:p>
        </p:txBody>
      </p:sp>
      <p:sp>
        <p:nvSpPr>
          <p:cNvPr id="12" name="TextBox 11">
            <a:extLst>
              <a:ext uri="{FF2B5EF4-FFF2-40B4-BE49-F238E27FC236}">
                <a16:creationId xmlns:a16="http://schemas.microsoft.com/office/drawing/2014/main" id="{04922DB4-E3E8-4CF4-A4E2-621E15D7DA29}"/>
              </a:ext>
            </a:extLst>
          </p:cNvPr>
          <p:cNvSpPr txBox="1"/>
          <p:nvPr/>
        </p:nvSpPr>
        <p:spPr>
          <a:xfrm>
            <a:off x="2592925" y="5846691"/>
            <a:ext cx="6996383" cy="646331"/>
          </a:xfrm>
          <a:prstGeom prst="rect">
            <a:avLst/>
          </a:prstGeom>
          <a:noFill/>
        </p:spPr>
        <p:txBody>
          <a:bodyPr wrap="square" rtlCol="0" anchor="ctr" anchorCtr="0">
            <a:spAutoFit/>
          </a:bodyPr>
          <a:lstStyle/>
          <a:p>
            <a:pPr algn="ctr"/>
            <a:r>
              <a:rPr lang="en-GB" sz="3600" b="1" dirty="0">
                <a:solidFill>
                  <a:srgbClr val="7030A0"/>
                </a:solidFill>
              </a:rPr>
              <a:t>At the many end of the relationship</a:t>
            </a:r>
          </a:p>
        </p:txBody>
      </p:sp>
      <p:sp>
        <p:nvSpPr>
          <p:cNvPr id="14" name="TextBox 13">
            <a:extLst>
              <a:ext uri="{FF2B5EF4-FFF2-40B4-BE49-F238E27FC236}">
                <a16:creationId xmlns:a16="http://schemas.microsoft.com/office/drawing/2014/main" id="{365A4904-DD2F-4FE6-BACB-463E7D0213EC}"/>
              </a:ext>
            </a:extLst>
          </p:cNvPr>
          <p:cNvSpPr txBox="1"/>
          <p:nvPr/>
        </p:nvSpPr>
        <p:spPr>
          <a:xfrm>
            <a:off x="5349097" y="1805477"/>
            <a:ext cx="1493807" cy="523220"/>
          </a:xfrm>
          <a:prstGeom prst="rect">
            <a:avLst/>
          </a:prstGeom>
          <a:noFill/>
        </p:spPr>
        <p:txBody>
          <a:bodyPr wrap="none" rtlCol="0">
            <a:spAutoFit/>
          </a:bodyPr>
          <a:lstStyle/>
          <a:p>
            <a:r>
              <a:rPr lang="en-GB" sz="2800" dirty="0"/>
              <a:t>educates</a:t>
            </a:r>
          </a:p>
        </p:txBody>
      </p:sp>
      <p:grpSp>
        <p:nvGrpSpPr>
          <p:cNvPr id="18" name="Group 17">
            <a:extLst>
              <a:ext uri="{FF2B5EF4-FFF2-40B4-BE49-F238E27FC236}">
                <a16:creationId xmlns:a16="http://schemas.microsoft.com/office/drawing/2014/main" id="{9B0A13DE-1279-4C56-8488-32B10C503456}"/>
              </a:ext>
            </a:extLst>
          </p:cNvPr>
          <p:cNvGrpSpPr/>
          <p:nvPr/>
        </p:nvGrpSpPr>
        <p:grpSpPr>
          <a:xfrm>
            <a:off x="1456099" y="1978068"/>
            <a:ext cx="1797287" cy="2862322"/>
            <a:chOff x="2197100" y="1720840"/>
            <a:chExt cx="1797287" cy="2862322"/>
          </a:xfrm>
        </p:grpSpPr>
        <p:sp>
          <p:nvSpPr>
            <p:cNvPr id="5" name="TextBox 4">
              <a:extLst>
                <a:ext uri="{FF2B5EF4-FFF2-40B4-BE49-F238E27FC236}">
                  <a16:creationId xmlns:a16="http://schemas.microsoft.com/office/drawing/2014/main" id="{9E8D577D-F9B0-4C26-95CB-954FFDF61DBD}"/>
                </a:ext>
              </a:extLst>
            </p:cNvPr>
            <p:cNvSpPr txBox="1"/>
            <p:nvPr/>
          </p:nvSpPr>
          <p:spPr>
            <a:xfrm>
              <a:off x="2197100" y="1720840"/>
              <a:ext cx="1797287" cy="2862322"/>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u="sng" dirty="0" err="1"/>
                <a:t>schoolID</a:t>
              </a:r>
              <a:endParaRPr lang="en-GB" sz="3600" u="sng" dirty="0"/>
            </a:p>
            <a:p>
              <a:r>
                <a:rPr lang="en-GB" sz="3600" dirty="0"/>
                <a:t>name</a:t>
              </a:r>
            </a:p>
            <a:p>
              <a:r>
                <a:rPr lang="en-GB" sz="3600" dirty="0"/>
                <a:t>address</a:t>
              </a:r>
            </a:p>
            <a:p>
              <a:r>
                <a:rPr lang="en-GB" sz="3600" dirty="0"/>
                <a:t>phone</a:t>
              </a:r>
            </a:p>
          </p:txBody>
        </p:sp>
        <p:sp>
          <p:nvSpPr>
            <p:cNvPr id="16" name="TextBox 15">
              <a:extLst>
                <a:ext uri="{FF2B5EF4-FFF2-40B4-BE49-F238E27FC236}">
                  <a16:creationId xmlns:a16="http://schemas.microsoft.com/office/drawing/2014/main" id="{376D26D0-231A-4B18-94C4-B630246DF9C8}"/>
                </a:ext>
              </a:extLst>
            </p:cNvPr>
            <p:cNvSpPr txBox="1"/>
            <p:nvPr/>
          </p:nvSpPr>
          <p:spPr>
            <a:xfrm>
              <a:off x="2197100" y="1720840"/>
              <a:ext cx="1797287" cy="646331"/>
            </a:xfrm>
            <a:prstGeom prst="rect">
              <a:avLst/>
            </a:prstGeom>
            <a:solidFill>
              <a:schemeClr val="bg2">
                <a:lumMod val="90000"/>
              </a:schemeClr>
            </a:solidFill>
            <a:ln>
              <a:solidFill>
                <a:schemeClr val="tx1"/>
              </a:solidFill>
            </a:ln>
          </p:spPr>
          <p:txBody>
            <a:bodyPr wrap="square" rtlCol="0">
              <a:spAutoFit/>
            </a:bodyPr>
            <a:lstStyle/>
            <a:p>
              <a:r>
                <a:rPr lang="en-GB" sz="3600" b="1" dirty="0"/>
                <a:t>school</a:t>
              </a:r>
            </a:p>
          </p:txBody>
        </p:sp>
      </p:grpSp>
      <p:grpSp>
        <p:nvGrpSpPr>
          <p:cNvPr id="19" name="Group 18">
            <a:extLst>
              <a:ext uri="{FF2B5EF4-FFF2-40B4-BE49-F238E27FC236}">
                <a16:creationId xmlns:a16="http://schemas.microsoft.com/office/drawing/2014/main" id="{1F565CB8-10B5-434D-9118-818C6E69EDA5}"/>
              </a:ext>
            </a:extLst>
          </p:cNvPr>
          <p:cNvGrpSpPr/>
          <p:nvPr/>
        </p:nvGrpSpPr>
        <p:grpSpPr>
          <a:xfrm>
            <a:off x="8762167" y="1978068"/>
            <a:ext cx="1933672" cy="2862322"/>
            <a:chOff x="7175029" y="1690688"/>
            <a:chExt cx="1933672" cy="2862322"/>
          </a:xfrm>
        </p:grpSpPr>
        <p:sp>
          <p:nvSpPr>
            <p:cNvPr id="6" name="TextBox 5">
              <a:extLst>
                <a:ext uri="{FF2B5EF4-FFF2-40B4-BE49-F238E27FC236}">
                  <a16:creationId xmlns:a16="http://schemas.microsoft.com/office/drawing/2014/main" id="{06B8E8D6-C037-4571-B1CB-E4BD14A48ED7}"/>
                </a:ext>
              </a:extLst>
            </p:cNvPr>
            <p:cNvSpPr txBox="1"/>
            <p:nvPr/>
          </p:nvSpPr>
          <p:spPr>
            <a:xfrm>
              <a:off x="7175030" y="1690688"/>
              <a:ext cx="1933671" cy="2862322"/>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u="sng" dirty="0" err="1"/>
                <a:t>pupilID</a:t>
              </a:r>
              <a:endParaRPr lang="en-GB" sz="3600" u="sng" dirty="0"/>
            </a:p>
            <a:p>
              <a:r>
                <a:rPr lang="en-GB" sz="3600" dirty="0"/>
                <a:t>name</a:t>
              </a:r>
            </a:p>
            <a:p>
              <a:r>
                <a:rPr lang="en-GB" sz="3600" dirty="0"/>
                <a:t>dob</a:t>
              </a:r>
            </a:p>
            <a:p>
              <a:r>
                <a:rPr lang="en-GB" sz="3600" dirty="0"/>
                <a:t>transport</a:t>
              </a:r>
            </a:p>
          </p:txBody>
        </p:sp>
        <p:sp>
          <p:nvSpPr>
            <p:cNvPr id="17" name="TextBox 16">
              <a:extLst>
                <a:ext uri="{FF2B5EF4-FFF2-40B4-BE49-F238E27FC236}">
                  <a16:creationId xmlns:a16="http://schemas.microsoft.com/office/drawing/2014/main" id="{F7586BB6-2057-4CF7-A670-A8A12468AEB7}"/>
                </a:ext>
              </a:extLst>
            </p:cNvPr>
            <p:cNvSpPr txBox="1"/>
            <p:nvPr/>
          </p:nvSpPr>
          <p:spPr>
            <a:xfrm>
              <a:off x="7175029" y="1690688"/>
              <a:ext cx="1933672" cy="646331"/>
            </a:xfrm>
            <a:prstGeom prst="rect">
              <a:avLst/>
            </a:prstGeom>
            <a:solidFill>
              <a:schemeClr val="bg2">
                <a:lumMod val="90000"/>
              </a:schemeClr>
            </a:solidFill>
            <a:ln>
              <a:solidFill>
                <a:schemeClr val="tx1"/>
              </a:solidFill>
            </a:ln>
          </p:spPr>
          <p:txBody>
            <a:bodyPr wrap="square" rtlCol="0">
              <a:spAutoFit/>
            </a:bodyPr>
            <a:lstStyle/>
            <a:p>
              <a:r>
                <a:rPr lang="en-GB" sz="3600" b="1" dirty="0"/>
                <a:t>pupil</a:t>
              </a:r>
            </a:p>
          </p:txBody>
        </p:sp>
      </p:grpSp>
      <p:grpSp>
        <p:nvGrpSpPr>
          <p:cNvPr id="2" name="Many to Many">
            <a:extLst>
              <a:ext uri="{FF2B5EF4-FFF2-40B4-BE49-F238E27FC236}">
                <a16:creationId xmlns:a16="http://schemas.microsoft.com/office/drawing/2014/main" id="{8DEFC1F2-EF4B-C1D0-C9B8-431797FDB08F}"/>
              </a:ext>
            </a:extLst>
          </p:cNvPr>
          <p:cNvGrpSpPr/>
          <p:nvPr/>
        </p:nvGrpSpPr>
        <p:grpSpPr>
          <a:xfrm>
            <a:off x="3253386" y="2148697"/>
            <a:ext cx="5518182" cy="359999"/>
            <a:chOff x="4406141" y="5300546"/>
            <a:chExt cx="3303558" cy="359999"/>
          </a:xfrm>
        </p:grpSpPr>
        <p:cxnSp>
          <p:nvCxnSpPr>
            <p:cNvPr id="3" name="Straight Connector 2">
              <a:extLst>
                <a:ext uri="{FF2B5EF4-FFF2-40B4-BE49-F238E27FC236}">
                  <a16:creationId xmlns:a16="http://schemas.microsoft.com/office/drawing/2014/main" id="{CCB18A4B-1901-DFFD-D4FC-44FF35D4DB13}"/>
                </a:ext>
              </a:extLst>
            </p:cNvPr>
            <p:cNvCxnSpPr>
              <a:cxnSpLocks/>
            </p:cNvCxnSpPr>
            <p:nvPr/>
          </p:nvCxnSpPr>
          <p:spPr>
            <a:xfrm flipV="1">
              <a:off x="4406141" y="5489248"/>
              <a:ext cx="330355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A060E52-8238-E772-AF2F-EE65A370EACF}"/>
                </a:ext>
              </a:extLst>
            </p:cNvPr>
            <p:cNvCxnSpPr/>
            <p:nvPr/>
          </p:nvCxnSpPr>
          <p:spPr>
            <a:xfrm flipV="1">
              <a:off x="7391400"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6D044C9-B8E6-F69D-2BA5-A44AF409FD14}"/>
                </a:ext>
              </a:extLst>
            </p:cNvPr>
            <p:cNvCxnSpPr/>
            <p:nvPr/>
          </p:nvCxnSpPr>
          <p:spPr>
            <a:xfrm>
              <a:off x="7391400"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42F83827-384D-43B4-AAE0-51B1DF4B7C1B}"/>
              </a:ext>
            </a:extLst>
          </p:cNvPr>
          <p:cNvSpPr txBox="1"/>
          <p:nvPr/>
        </p:nvSpPr>
        <p:spPr>
          <a:xfrm>
            <a:off x="4192105" y="3653464"/>
            <a:ext cx="3798025" cy="1200329"/>
          </a:xfrm>
          <a:prstGeom prst="rect">
            <a:avLst/>
          </a:prstGeom>
          <a:noFill/>
        </p:spPr>
        <p:txBody>
          <a:bodyPr wrap="square" rtlCol="0">
            <a:spAutoFit/>
          </a:bodyPr>
          <a:lstStyle/>
          <a:p>
            <a:pPr algn="ctr"/>
            <a:r>
              <a:rPr lang="en-GB" sz="3600" dirty="0">
                <a:solidFill>
                  <a:srgbClr val="7030A0"/>
                </a:solidFill>
              </a:rPr>
              <a:t>Where should the Foreign Key go?</a:t>
            </a:r>
          </a:p>
        </p:txBody>
      </p:sp>
      <p:grpSp>
        <p:nvGrpSpPr>
          <p:cNvPr id="24" name="Group 23">
            <a:extLst>
              <a:ext uri="{FF2B5EF4-FFF2-40B4-BE49-F238E27FC236}">
                <a16:creationId xmlns:a16="http://schemas.microsoft.com/office/drawing/2014/main" id="{B3DF221B-C6A2-6FA7-48E2-C0A032EFC0E0}"/>
              </a:ext>
            </a:extLst>
          </p:cNvPr>
          <p:cNvGrpSpPr/>
          <p:nvPr/>
        </p:nvGrpSpPr>
        <p:grpSpPr>
          <a:xfrm>
            <a:off x="8752519" y="1978068"/>
            <a:ext cx="2026518" cy="3416320"/>
            <a:chOff x="7175029" y="1690688"/>
            <a:chExt cx="2026518" cy="3416320"/>
          </a:xfrm>
        </p:grpSpPr>
        <p:sp>
          <p:nvSpPr>
            <p:cNvPr id="25" name="TextBox 24">
              <a:extLst>
                <a:ext uri="{FF2B5EF4-FFF2-40B4-BE49-F238E27FC236}">
                  <a16:creationId xmlns:a16="http://schemas.microsoft.com/office/drawing/2014/main" id="{1AFBB813-144C-D1E5-6A0E-2EE81C1E5136}"/>
                </a:ext>
              </a:extLst>
            </p:cNvPr>
            <p:cNvSpPr txBox="1"/>
            <p:nvPr/>
          </p:nvSpPr>
          <p:spPr>
            <a:xfrm>
              <a:off x="7175030" y="1690688"/>
              <a:ext cx="2026517" cy="3416320"/>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u="sng" dirty="0" err="1"/>
                <a:t>pupilID</a:t>
              </a:r>
              <a:endParaRPr lang="en-GB" sz="3600" u="sng" dirty="0"/>
            </a:p>
            <a:p>
              <a:r>
                <a:rPr lang="en-GB" sz="3600" dirty="0"/>
                <a:t>name</a:t>
              </a:r>
            </a:p>
            <a:p>
              <a:r>
                <a:rPr lang="en-GB" sz="3600" dirty="0"/>
                <a:t>dob</a:t>
              </a:r>
            </a:p>
            <a:p>
              <a:r>
                <a:rPr lang="en-GB" sz="3600" dirty="0"/>
                <a:t>transport</a:t>
              </a:r>
            </a:p>
            <a:p>
              <a:r>
                <a:rPr lang="en-GB" sz="3600" dirty="0" err="1">
                  <a:solidFill>
                    <a:srgbClr val="FF0000"/>
                  </a:solidFill>
                </a:rPr>
                <a:t>schoolID</a:t>
              </a:r>
              <a:r>
                <a:rPr lang="en-GB" sz="3600" dirty="0">
                  <a:solidFill>
                    <a:srgbClr val="FF0000"/>
                  </a:solidFill>
                </a:rPr>
                <a:t>*</a:t>
              </a:r>
            </a:p>
          </p:txBody>
        </p:sp>
        <p:sp>
          <p:nvSpPr>
            <p:cNvPr id="26" name="TextBox 25">
              <a:extLst>
                <a:ext uri="{FF2B5EF4-FFF2-40B4-BE49-F238E27FC236}">
                  <a16:creationId xmlns:a16="http://schemas.microsoft.com/office/drawing/2014/main" id="{7C4E9CC6-AB7C-D903-FDFB-0C1AD87715C6}"/>
                </a:ext>
              </a:extLst>
            </p:cNvPr>
            <p:cNvSpPr txBox="1"/>
            <p:nvPr/>
          </p:nvSpPr>
          <p:spPr>
            <a:xfrm>
              <a:off x="7175029" y="1690688"/>
              <a:ext cx="2026517" cy="646331"/>
            </a:xfrm>
            <a:prstGeom prst="rect">
              <a:avLst/>
            </a:prstGeom>
            <a:solidFill>
              <a:schemeClr val="bg2">
                <a:lumMod val="90000"/>
              </a:schemeClr>
            </a:solidFill>
            <a:ln>
              <a:solidFill>
                <a:schemeClr val="tx1"/>
              </a:solidFill>
            </a:ln>
          </p:spPr>
          <p:txBody>
            <a:bodyPr wrap="square" rtlCol="0">
              <a:spAutoFit/>
            </a:bodyPr>
            <a:lstStyle/>
            <a:p>
              <a:r>
                <a:rPr lang="en-GB" sz="3600" b="1" dirty="0"/>
                <a:t>pupil</a:t>
              </a:r>
            </a:p>
          </p:txBody>
        </p:sp>
      </p:grpSp>
    </p:spTree>
    <p:extLst>
      <p:ext uri="{BB962C8B-B14F-4D97-AF65-F5344CB8AC3E}">
        <p14:creationId xmlns:p14="http://schemas.microsoft.com/office/powerpoint/2010/main" val="2021259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10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1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
                                            <p:txEl>
                                              <p:pRg st="0" end="0"/>
                                            </p:txEl>
                                          </p:spTgt>
                                        </p:tgtEl>
                                        <p:attrNameLst>
                                          <p:attrName>style.visibility</p:attrName>
                                        </p:attrNameLst>
                                      </p:cBhvr>
                                      <p:to>
                                        <p:strVal val="visible"/>
                                      </p:to>
                                    </p:set>
                                    <p:animEffect transition="in" filter="wipe(left)">
                                      <p:cBhvr>
                                        <p:cTn id="27" dur="2000"/>
                                        <p:tgtEl>
                                          <p:spTgt spid="2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xEl>
                                              <p:pRg st="0" end="0"/>
                                            </p:txEl>
                                          </p:spTgt>
                                        </p:tgtEl>
                                        <p:attrNameLst>
                                          <p:attrName>style.visibility</p:attrName>
                                        </p:attrNameLst>
                                      </p:cBhvr>
                                      <p:to>
                                        <p:strVal val="visible"/>
                                      </p:to>
                                    </p:set>
                                    <p:animEffect transition="in" filter="wipe(left)">
                                      <p:cBhvr>
                                        <p:cTn id="32" dur="2000"/>
                                        <p:tgtEl>
                                          <p:spTgt spid="1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P spid="14" grpId="0"/>
      <p:bldP spid="22" grpId="0" uiExpand="1" build="p"/>
    </p:bldLst>
  </p:timing>
</p:sld>
</file>

<file path=ppt/slides/slide1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Foreign Key</a:t>
            </a:r>
          </a:p>
        </p:txBody>
      </p:sp>
      <p:grpSp>
        <p:nvGrpSpPr>
          <p:cNvPr id="18" name="Group 17">
            <a:extLst>
              <a:ext uri="{FF2B5EF4-FFF2-40B4-BE49-F238E27FC236}">
                <a16:creationId xmlns:a16="http://schemas.microsoft.com/office/drawing/2014/main" id="{9B0A13DE-1279-4C56-8488-32B10C503456}"/>
              </a:ext>
            </a:extLst>
          </p:cNvPr>
          <p:cNvGrpSpPr/>
          <p:nvPr/>
        </p:nvGrpSpPr>
        <p:grpSpPr>
          <a:xfrm>
            <a:off x="1456099" y="1978068"/>
            <a:ext cx="1797287" cy="2862322"/>
            <a:chOff x="2197100" y="1720840"/>
            <a:chExt cx="1797287" cy="2862322"/>
          </a:xfrm>
        </p:grpSpPr>
        <p:sp>
          <p:nvSpPr>
            <p:cNvPr id="5" name="TextBox 4">
              <a:extLst>
                <a:ext uri="{FF2B5EF4-FFF2-40B4-BE49-F238E27FC236}">
                  <a16:creationId xmlns:a16="http://schemas.microsoft.com/office/drawing/2014/main" id="{9E8D577D-F9B0-4C26-95CB-954FFDF61DBD}"/>
                </a:ext>
              </a:extLst>
            </p:cNvPr>
            <p:cNvSpPr txBox="1"/>
            <p:nvPr/>
          </p:nvSpPr>
          <p:spPr>
            <a:xfrm>
              <a:off x="2197100" y="1720840"/>
              <a:ext cx="1797287" cy="2862322"/>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u="sng" dirty="0" err="1"/>
                <a:t>schoolID</a:t>
              </a:r>
              <a:endParaRPr lang="en-GB" sz="3600" u="sng" dirty="0"/>
            </a:p>
            <a:p>
              <a:r>
                <a:rPr lang="en-GB" sz="3600" dirty="0"/>
                <a:t>name</a:t>
              </a:r>
            </a:p>
            <a:p>
              <a:r>
                <a:rPr lang="en-GB" sz="3600" dirty="0"/>
                <a:t>address</a:t>
              </a:r>
            </a:p>
            <a:p>
              <a:r>
                <a:rPr lang="en-GB" sz="3600" dirty="0"/>
                <a:t>phone</a:t>
              </a:r>
            </a:p>
          </p:txBody>
        </p:sp>
        <p:sp>
          <p:nvSpPr>
            <p:cNvPr id="16" name="TextBox 15">
              <a:extLst>
                <a:ext uri="{FF2B5EF4-FFF2-40B4-BE49-F238E27FC236}">
                  <a16:creationId xmlns:a16="http://schemas.microsoft.com/office/drawing/2014/main" id="{376D26D0-231A-4B18-94C4-B630246DF9C8}"/>
                </a:ext>
              </a:extLst>
            </p:cNvPr>
            <p:cNvSpPr txBox="1"/>
            <p:nvPr/>
          </p:nvSpPr>
          <p:spPr>
            <a:xfrm>
              <a:off x="2197100" y="1720840"/>
              <a:ext cx="1797287" cy="646331"/>
            </a:xfrm>
            <a:prstGeom prst="rect">
              <a:avLst/>
            </a:prstGeom>
            <a:solidFill>
              <a:schemeClr val="bg2">
                <a:lumMod val="90000"/>
              </a:schemeClr>
            </a:solidFill>
            <a:ln>
              <a:solidFill>
                <a:schemeClr val="tx1"/>
              </a:solidFill>
            </a:ln>
          </p:spPr>
          <p:txBody>
            <a:bodyPr wrap="square" rtlCol="0">
              <a:spAutoFit/>
            </a:bodyPr>
            <a:lstStyle/>
            <a:p>
              <a:r>
                <a:rPr lang="en-GB" sz="3600" b="1" dirty="0"/>
                <a:t>school</a:t>
              </a:r>
            </a:p>
          </p:txBody>
        </p:sp>
      </p:grpSp>
      <p:grpSp>
        <p:nvGrpSpPr>
          <p:cNvPr id="19" name="Group 18">
            <a:extLst>
              <a:ext uri="{FF2B5EF4-FFF2-40B4-BE49-F238E27FC236}">
                <a16:creationId xmlns:a16="http://schemas.microsoft.com/office/drawing/2014/main" id="{1F565CB8-10B5-434D-9118-818C6E69EDA5}"/>
              </a:ext>
            </a:extLst>
          </p:cNvPr>
          <p:cNvGrpSpPr/>
          <p:nvPr/>
        </p:nvGrpSpPr>
        <p:grpSpPr>
          <a:xfrm>
            <a:off x="8762167" y="1978068"/>
            <a:ext cx="1933672" cy="2862322"/>
            <a:chOff x="7175029" y="1690688"/>
            <a:chExt cx="1933672" cy="2862322"/>
          </a:xfrm>
        </p:grpSpPr>
        <p:sp>
          <p:nvSpPr>
            <p:cNvPr id="6" name="TextBox 5">
              <a:extLst>
                <a:ext uri="{FF2B5EF4-FFF2-40B4-BE49-F238E27FC236}">
                  <a16:creationId xmlns:a16="http://schemas.microsoft.com/office/drawing/2014/main" id="{06B8E8D6-C037-4571-B1CB-E4BD14A48ED7}"/>
                </a:ext>
              </a:extLst>
            </p:cNvPr>
            <p:cNvSpPr txBox="1"/>
            <p:nvPr/>
          </p:nvSpPr>
          <p:spPr>
            <a:xfrm>
              <a:off x="7175030" y="1690688"/>
              <a:ext cx="1933671" cy="2862322"/>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u="sng" dirty="0" err="1"/>
                <a:t>pupilID</a:t>
              </a:r>
              <a:endParaRPr lang="en-GB" sz="3600" u="sng" dirty="0"/>
            </a:p>
            <a:p>
              <a:r>
                <a:rPr lang="en-GB" sz="3600" dirty="0"/>
                <a:t>name</a:t>
              </a:r>
            </a:p>
            <a:p>
              <a:r>
                <a:rPr lang="en-GB" sz="3600" dirty="0"/>
                <a:t>dob</a:t>
              </a:r>
            </a:p>
            <a:p>
              <a:r>
                <a:rPr lang="en-GB" sz="3600" dirty="0"/>
                <a:t>transport</a:t>
              </a:r>
            </a:p>
          </p:txBody>
        </p:sp>
        <p:sp>
          <p:nvSpPr>
            <p:cNvPr id="17" name="TextBox 16">
              <a:extLst>
                <a:ext uri="{FF2B5EF4-FFF2-40B4-BE49-F238E27FC236}">
                  <a16:creationId xmlns:a16="http://schemas.microsoft.com/office/drawing/2014/main" id="{F7586BB6-2057-4CF7-A670-A8A12468AEB7}"/>
                </a:ext>
              </a:extLst>
            </p:cNvPr>
            <p:cNvSpPr txBox="1"/>
            <p:nvPr/>
          </p:nvSpPr>
          <p:spPr>
            <a:xfrm>
              <a:off x="7175029" y="1690688"/>
              <a:ext cx="1933672" cy="646331"/>
            </a:xfrm>
            <a:prstGeom prst="rect">
              <a:avLst/>
            </a:prstGeom>
            <a:solidFill>
              <a:schemeClr val="bg2">
                <a:lumMod val="90000"/>
              </a:schemeClr>
            </a:solidFill>
            <a:ln>
              <a:solidFill>
                <a:schemeClr val="tx1"/>
              </a:solidFill>
            </a:ln>
          </p:spPr>
          <p:txBody>
            <a:bodyPr wrap="square" rtlCol="0">
              <a:spAutoFit/>
            </a:bodyPr>
            <a:lstStyle/>
            <a:p>
              <a:r>
                <a:rPr lang="en-GB" sz="3600" b="1" dirty="0"/>
                <a:t>pupil</a:t>
              </a:r>
            </a:p>
          </p:txBody>
        </p:sp>
      </p:grpSp>
    </p:spTree>
    <p:extLst>
      <p:ext uri="{BB962C8B-B14F-4D97-AF65-F5344CB8AC3E}">
        <p14:creationId xmlns:p14="http://schemas.microsoft.com/office/powerpoint/2010/main" val="31797562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a:xfrm>
            <a:off x="838200" y="327025"/>
            <a:ext cx="10515600" cy="1325563"/>
          </a:xfrm>
        </p:spPr>
        <p:txBody>
          <a:bodyPr/>
          <a:lstStyle/>
          <a:p>
            <a:r>
              <a:rPr lang="en-GB" dirty="0"/>
              <a:t>ER Diagram – Attributes (1)</a:t>
            </a:r>
          </a:p>
        </p:txBody>
      </p:sp>
      <p:grpSp>
        <p:nvGrpSpPr>
          <p:cNvPr id="55" name="Group 54">
            <a:extLst>
              <a:ext uri="{FF2B5EF4-FFF2-40B4-BE49-F238E27FC236}">
                <a16:creationId xmlns:a16="http://schemas.microsoft.com/office/drawing/2014/main" id="{149B0774-C7D1-4C4C-99C9-9631A3216CDF}"/>
              </a:ext>
            </a:extLst>
          </p:cNvPr>
          <p:cNvGrpSpPr/>
          <p:nvPr/>
        </p:nvGrpSpPr>
        <p:grpSpPr>
          <a:xfrm>
            <a:off x="1959902" y="1624062"/>
            <a:ext cx="1800000" cy="1444938"/>
            <a:chOff x="1959902" y="1624062"/>
            <a:chExt cx="1800000" cy="1444938"/>
          </a:xfrm>
        </p:grpSpPr>
        <p:sp>
          <p:nvSpPr>
            <p:cNvPr id="2" name="Oval 1">
              <a:extLst>
                <a:ext uri="{FF2B5EF4-FFF2-40B4-BE49-F238E27FC236}">
                  <a16:creationId xmlns:a16="http://schemas.microsoft.com/office/drawing/2014/main" id="{21A43677-27D9-48A8-975B-DEB27D9BB20F}"/>
                </a:ext>
              </a:extLst>
            </p:cNvPr>
            <p:cNvSpPr/>
            <p:nvPr/>
          </p:nvSpPr>
          <p:spPr>
            <a:xfrm>
              <a:off x="1959902" y="1624062"/>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u="sng" dirty="0" err="1">
                  <a:solidFill>
                    <a:schemeClr val="tx1"/>
                  </a:solidFill>
                </a:rPr>
                <a:t>school</a:t>
              </a:r>
              <a:r>
                <a:rPr lang="en-GB" sz="2800" u="sng" dirty="0" err="1"/>
                <a:t>ID</a:t>
              </a:r>
              <a:endParaRPr lang="en-GB" sz="2800" u="sng" dirty="0">
                <a:solidFill>
                  <a:schemeClr val="tx1"/>
                </a:solidFill>
              </a:endParaRPr>
            </a:p>
          </p:txBody>
        </p:sp>
        <p:cxnSp>
          <p:nvCxnSpPr>
            <p:cNvPr id="6" name="Straight Connector 5">
              <a:extLst>
                <a:ext uri="{FF2B5EF4-FFF2-40B4-BE49-F238E27FC236}">
                  <a16:creationId xmlns:a16="http://schemas.microsoft.com/office/drawing/2014/main" id="{51E61048-4DC4-40F3-94CC-C5CD653D9600}"/>
                </a:ext>
              </a:extLst>
            </p:cNvPr>
            <p:cNvCxnSpPr>
              <a:cxnSpLocks/>
              <a:stCxn id="2" idx="4"/>
            </p:cNvCxnSpPr>
            <p:nvPr/>
          </p:nvCxnSpPr>
          <p:spPr>
            <a:xfrm>
              <a:off x="2859902" y="2538462"/>
              <a:ext cx="56952" cy="5305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7C9D8FE7-F5B1-460F-8DBD-A896B3C16BC9}"/>
              </a:ext>
            </a:extLst>
          </p:cNvPr>
          <p:cNvGrpSpPr/>
          <p:nvPr/>
        </p:nvGrpSpPr>
        <p:grpSpPr>
          <a:xfrm>
            <a:off x="370708" y="3603297"/>
            <a:ext cx="2214787" cy="914400"/>
            <a:chOff x="370708" y="3603297"/>
            <a:chExt cx="2214787" cy="914400"/>
          </a:xfrm>
        </p:grpSpPr>
        <p:sp>
          <p:nvSpPr>
            <p:cNvPr id="11" name="Oval 10">
              <a:extLst>
                <a:ext uri="{FF2B5EF4-FFF2-40B4-BE49-F238E27FC236}">
                  <a16:creationId xmlns:a16="http://schemas.microsoft.com/office/drawing/2014/main" id="{DAFD7BF3-36FA-4B1E-8F1D-C6AF4CD5A0AE}"/>
                </a:ext>
              </a:extLst>
            </p:cNvPr>
            <p:cNvSpPr/>
            <p:nvPr/>
          </p:nvSpPr>
          <p:spPr>
            <a:xfrm>
              <a:off x="370708" y="3603297"/>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address</a:t>
              </a:r>
            </a:p>
          </p:txBody>
        </p:sp>
        <p:cxnSp>
          <p:nvCxnSpPr>
            <p:cNvPr id="19" name="Straight Connector 18">
              <a:extLst>
                <a:ext uri="{FF2B5EF4-FFF2-40B4-BE49-F238E27FC236}">
                  <a16:creationId xmlns:a16="http://schemas.microsoft.com/office/drawing/2014/main" id="{4BEE2F6F-A353-4351-A91F-3D3FFE42A696}"/>
                </a:ext>
              </a:extLst>
            </p:cNvPr>
            <p:cNvCxnSpPr>
              <a:cxnSpLocks/>
              <a:stCxn id="11" idx="7"/>
            </p:cNvCxnSpPr>
            <p:nvPr/>
          </p:nvCxnSpPr>
          <p:spPr>
            <a:xfrm flipV="1">
              <a:off x="1907104" y="3648452"/>
              <a:ext cx="678391" cy="887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DEF9C7EE-8BC6-4E2E-9FA2-BB0C270678AD}"/>
              </a:ext>
            </a:extLst>
          </p:cNvPr>
          <p:cNvGrpSpPr/>
          <p:nvPr/>
        </p:nvGrpSpPr>
        <p:grpSpPr>
          <a:xfrm>
            <a:off x="370708" y="2350432"/>
            <a:ext cx="2214787" cy="914400"/>
            <a:chOff x="370708" y="2350432"/>
            <a:chExt cx="2214787" cy="914400"/>
          </a:xfrm>
        </p:grpSpPr>
        <p:sp>
          <p:nvSpPr>
            <p:cNvPr id="9" name="Oval 8">
              <a:extLst>
                <a:ext uri="{FF2B5EF4-FFF2-40B4-BE49-F238E27FC236}">
                  <a16:creationId xmlns:a16="http://schemas.microsoft.com/office/drawing/2014/main" id="{CE907ECB-1838-4B1E-B074-07F7F120418E}"/>
                </a:ext>
              </a:extLst>
            </p:cNvPr>
            <p:cNvSpPr/>
            <p:nvPr/>
          </p:nvSpPr>
          <p:spPr>
            <a:xfrm>
              <a:off x="370708" y="2350432"/>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name</a:t>
              </a:r>
            </a:p>
          </p:txBody>
        </p:sp>
        <p:cxnSp>
          <p:nvCxnSpPr>
            <p:cNvPr id="20" name="Straight Connector 19">
              <a:extLst>
                <a:ext uri="{FF2B5EF4-FFF2-40B4-BE49-F238E27FC236}">
                  <a16:creationId xmlns:a16="http://schemas.microsoft.com/office/drawing/2014/main" id="{10485A6B-5783-4743-A00C-E6176485D922}"/>
                </a:ext>
              </a:extLst>
            </p:cNvPr>
            <p:cNvCxnSpPr>
              <a:cxnSpLocks/>
              <a:stCxn id="9" idx="5"/>
            </p:cNvCxnSpPr>
            <p:nvPr/>
          </p:nvCxnSpPr>
          <p:spPr>
            <a:xfrm>
              <a:off x="1907104" y="3130921"/>
              <a:ext cx="678391" cy="1053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0D56BD77-1CD0-4FC0-ABC4-7F3D3C7E2EE3}"/>
              </a:ext>
            </a:extLst>
          </p:cNvPr>
          <p:cNvGrpSpPr/>
          <p:nvPr/>
        </p:nvGrpSpPr>
        <p:grpSpPr>
          <a:xfrm>
            <a:off x="1937384" y="3789000"/>
            <a:ext cx="1800000" cy="1444940"/>
            <a:chOff x="1937384" y="3789000"/>
            <a:chExt cx="1800000" cy="1444940"/>
          </a:xfrm>
        </p:grpSpPr>
        <p:sp>
          <p:nvSpPr>
            <p:cNvPr id="12" name="Oval 11">
              <a:extLst>
                <a:ext uri="{FF2B5EF4-FFF2-40B4-BE49-F238E27FC236}">
                  <a16:creationId xmlns:a16="http://schemas.microsoft.com/office/drawing/2014/main" id="{D277E8C4-3390-4899-A660-D6DD32735ABD}"/>
                </a:ext>
              </a:extLst>
            </p:cNvPr>
            <p:cNvSpPr/>
            <p:nvPr/>
          </p:nvSpPr>
          <p:spPr>
            <a:xfrm>
              <a:off x="1937384" y="4319540"/>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phone</a:t>
              </a:r>
            </a:p>
          </p:txBody>
        </p:sp>
        <p:cxnSp>
          <p:nvCxnSpPr>
            <p:cNvPr id="21" name="Straight Connector 20">
              <a:extLst>
                <a:ext uri="{FF2B5EF4-FFF2-40B4-BE49-F238E27FC236}">
                  <a16:creationId xmlns:a16="http://schemas.microsoft.com/office/drawing/2014/main" id="{ADC2E588-24FF-46C2-88F3-2BB1082C5EA1}"/>
                </a:ext>
              </a:extLst>
            </p:cNvPr>
            <p:cNvCxnSpPr>
              <a:cxnSpLocks/>
              <a:stCxn id="12" idx="0"/>
            </p:cNvCxnSpPr>
            <p:nvPr/>
          </p:nvCxnSpPr>
          <p:spPr>
            <a:xfrm flipV="1">
              <a:off x="2837384" y="3789000"/>
              <a:ext cx="112191" cy="5305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1" name="Group 60">
            <a:extLst>
              <a:ext uri="{FF2B5EF4-FFF2-40B4-BE49-F238E27FC236}">
                <a16:creationId xmlns:a16="http://schemas.microsoft.com/office/drawing/2014/main" id="{D4D0F10F-2F03-4B9D-8665-A18C5C7A9963}"/>
              </a:ext>
            </a:extLst>
          </p:cNvPr>
          <p:cNvGrpSpPr/>
          <p:nvPr/>
        </p:nvGrpSpPr>
        <p:grpSpPr>
          <a:xfrm>
            <a:off x="7423595" y="1568778"/>
            <a:ext cx="1800000" cy="1498987"/>
            <a:chOff x="7423595" y="1568778"/>
            <a:chExt cx="1800000" cy="1498987"/>
          </a:xfrm>
        </p:grpSpPr>
        <p:sp>
          <p:nvSpPr>
            <p:cNvPr id="14" name="Oval 13">
              <a:extLst>
                <a:ext uri="{FF2B5EF4-FFF2-40B4-BE49-F238E27FC236}">
                  <a16:creationId xmlns:a16="http://schemas.microsoft.com/office/drawing/2014/main" id="{9AF3FD5B-61AD-4B2C-ACAE-0EAC02263C21}"/>
                </a:ext>
              </a:extLst>
            </p:cNvPr>
            <p:cNvSpPr/>
            <p:nvPr/>
          </p:nvSpPr>
          <p:spPr>
            <a:xfrm>
              <a:off x="7423595" y="1568778"/>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u="sng" dirty="0" err="1">
                  <a:solidFill>
                    <a:schemeClr val="tx1"/>
                  </a:solidFill>
                </a:rPr>
                <a:t>pupil</a:t>
              </a:r>
              <a:r>
                <a:rPr lang="en-GB" sz="2800" u="sng" dirty="0" err="1"/>
                <a:t>ID</a:t>
              </a:r>
              <a:endParaRPr lang="en-GB" sz="2800" u="sng" dirty="0">
                <a:solidFill>
                  <a:schemeClr val="tx1"/>
                </a:solidFill>
              </a:endParaRPr>
            </a:p>
          </p:txBody>
        </p:sp>
        <p:cxnSp>
          <p:nvCxnSpPr>
            <p:cNvPr id="32" name="Straight Connector 31">
              <a:extLst>
                <a:ext uri="{FF2B5EF4-FFF2-40B4-BE49-F238E27FC236}">
                  <a16:creationId xmlns:a16="http://schemas.microsoft.com/office/drawing/2014/main" id="{1C339672-81BB-466A-8D80-A0425B807778}"/>
                </a:ext>
              </a:extLst>
            </p:cNvPr>
            <p:cNvCxnSpPr>
              <a:cxnSpLocks/>
              <a:endCxn id="14" idx="4"/>
            </p:cNvCxnSpPr>
            <p:nvPr/>
          </p:nvCxnSpPr>
          <p:spPr>
            <a:xfrm flipV="1">
              <a:off x="8323595" y="2483178"/>
              <a:ext cx="0" cy="5845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B9D9B078-0E5B-4A7C-B821-AEE4EDC6A411}"/>
              </a:ext>
            </a:extLst>
          </p:cNvPr>
          <p:cNvGrpSpPr/>
          <p:nvPr/>
        </p:nvGrpSpPr>
        <p:grpSpPr>
          <a:xfrm>
            <a:off x="9371833" y="3764723"/>
            <a:ext cx="1981967" cy="1257396"/>
            <a:chOff x="9371833" y="3764723"/>
            <a:chExt cx="1981967" cy="1257396"/>
          </a:xfrm>
        </p:grpSpPr>
        <p:sp>
          <p:nvSpPr>
            <p:cNvPr id="16" name="Oval 15">
              <a:extLst>
                <a:ext uri="{FF2B5EF4-FFF2-40B4-BE49-F238E27FC236}">
                  <a16:creationId xmlns:a16="http://schemas.microsoft.com/office/drawing/2014/main" id="{D1FDE5C1-F0FA-4D72-8D84-9B12BC8535DC}"/>
                </a:ext>
              </a:extLst>
            </p:cNvPr>
            <p:cNvSpPr/>
            <p:nvPr/>
          </p:nvSpPr>
          <p:spPr>
            <a:xfrm>
              <a:off x="9553800" y="4107719"/>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dob</a:t>
              </a:r>
            </a:p>
          </p:txBody>
        </p:sp>
        <p:cxnSp>
          <p:nvCxnSpPr>
            <p:cNvPr id="33" name="Straight Connector 32">
              <a:extLst>
                <a:ext uri="{FF2B5EF4-FFF2-40B4-BE49-F238E27FC236}">
                  <a16:creationId xmlns:a16="http://schemas.microsoft.com/office/drawing/2014/main" id="{D363502B-47D9-44D9-98D3-FB62BCFDB8EE}"/>
                </a:ext>
              </a:extLst>
            </p:cNvPr>
            <p:cNvCxnSpPr>
              <a:cxnSpLocks/>
              <a:stCxn id="16" idx="1"/>
            </p:cNvCxnSpPr>
            <p:nvPr/>
          </p:nvCxnSpPr>
          <p:spPr>
            <a:xfrm flipH="1" flipV="1">
              <a:off x="9371833" y="3764723"/>
              <a:ext cx="445571" cy="47690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A58CAA27-35E8-42DD-A934-D79DD09E2242}"/>
              </a:ext>
            </a:extLst>
          </p:cNvPr>
          <p:cNvGrpSpPr/>
          <p:nvPr/>
        </p:nvGrpSpPr>
        <p:grpSpPr>
          <a:xfrm>
            <a:off x="9389049" y="2961191"/>
            <a:ext cx="2368868" cy="914400"/>
            <a:chOff x="9389049" y="2961191"/>
            <a:chExt cx="2368868" cy="914400"/>
          </a:xfrm>
        </p:grpSpPr>
        <p:sp>
          <p:nvSpPr>
            <p:cNvPr id="13" name="Oval 12">
              <a:extLst>
                <a:ext uri="{FF2B5EF4-FFF2-40B4-BE49-F238E27FC236}">
                  <a16:creationId xmlns:a16="http://schemas.microsoft.com/office/drawing/2014/main" id="{075A89E4-4A1D-485C-B9EC-DEBBC86D7E89}"/>
                </a:ext>
              </a:extLst>
            </p:cNvPr>
            <p:cNvSpPr/>
            <p:nvPr/>
          </p:nvSpPr>
          <p:spPr>
            <a:xfrm>
              <a:off x="9957917" y="2961191"/>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name</a:t>
              </a:r>
            </a:p>
          </p:txBody>
        </p:sp>
        <p:cxnSp>
          <p:nvCxnSpPr>
            <p:cNvPr id="34" name="Straight Connector 33">
              <a:extLst>
                <a:ext uri="{FF2B5EF4-FFF2-40B4-BE49-F238E27FC236}">
                  <a16:creationId xmlns:a16="http://schemas.microsoft.com/office/drawing/2014/main" id="{E4180CCD-EF44-47B3-A007-9881C129610A}"/>
                </a:ext>
              </a:extLst>
            </p:cNvPr>
            <p:cNvCxnSpPr>
              <a:cxnSpLocks/>
              <a:stCxn id="10" idx="3"/>
              <a:endCxn id="13" idx="2"/>
            </p:cNvCxnSpPr>
            <p:nvPr/>
          </p:nvCxnSpPr>
          <p:spPr>
            <a:xfrm flipV="1">
              <a:off x="9389049" y="3418391"/>
              <a:ext cx="568868" cy="106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2B857C8D-3A4A-4729-BF09-F3B8F3AECD87}"/>
              </a:ext>
            </a:extLst>
          </p:cNvPr>
          <p:cNvGrpSpPr/>
          <p:nvPr/>
        </p:nvGrpSpPr>
        <p:grpSpPr>
          <a:xfrm>
            <a:off x="9389049" y="1884716"/>
            <a:ext cx="1964751" cy="1183049"/>
            <a:chOff x="9389049" y="1884716"/>
            <a:chExt cx="1964751" cy="1183049"/>
          </a:xfrm>
        </p:grpSpPr>
        <p:sp>
          <p:nvSpPr>
            <p:cNvPr id="15" name="Oval 14">
              <a:extLst>
                <a:ext uri="{FF2B5EF4-FFF2-40B4-BE49-F238E27FC236}">
                  <a16:creationId xmlns:a16="http://schemas.microsoft.com/office/drawing/2014/main" id="{FB225561-2443-4256-A1A6-B54AF7114BF3}"/>
                </a:ext>
              </a:extLst>
            </p:cNvPr>
            <p:cNvSpPr/>
            <p:nvPr/>
          </p:nvSpPr>
          <p:spPr>
            <a:xfrm>
              <a:off x="9553800" y="1884716"/>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err="1">
                  <a:solidFill>
                    <a:schemeClr val="tx1"/>
                  </a:solidFill>
                </a:rPr>
                <a:t>school</a:t>
              </a:r>
              <a:r>
                <a:rPr lang="en-GB" sz="2800" dirty="0" err="1"/>
                <a:t>ID</a:t>
              </a:r>
              <a:r>
                <a:rPr lang="en-GB" sz="2800" dirty="0">
                  <a:solidFill>
                    <a:schemeClr val="tx1"/>
                  </a:solidFill>
                </a:rPr>
                <a:t>*</a:t>
              </a:r>
            </a:p>
          </p:txBody>
        </p:sp>
        <p:cxnSp>
          <p:nvCxnSpPr>
            <p:cNvPr id="35" name="Straight Connector 34">
              <a:extLst>
                <a:ext uri="{FF2B5EF4-FFF2-40B4-BE49-F238E27FC236}">
                  <a16:creationId xmlns:a16="http://schemas.microsoft.com/office/drawing/2014/main" id="{952C327B-DEFE-4B68-AE0C-18ABA0BD6DCE}"/>
                </a:ext>
              </a:extLst>
            </p:cNvPr>
            <p:cNvCxnSpPr>
              <a:cxnSpLocks/>
              <a:endCxn id="15" idx="3"/>
            </p:cNvCxnSpPr>
            <p:nvPr/>
          </p:nvCxnSpPr>
          <p:spPr>
            <a:xfrm flipV="1">
              <a:off x="9389049" y="2665205"/>
              <a:ext cx="428355" cy="4025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A9A41A5E-4CE1-4C76-8182-F8DDB80E5C3B}"/>
              </a:ext>
            </a:extLst>
          </p:cNvPr>
          <p:cNvGrpSpPr/>
          <p:nvPr/>
        </p:nvGrpSpPr>
        <p:grpSpPr>
          <a:xfrm>
            <a:off x="7423595" y="3789000"/>
            <a:ext cx="1800000" cy="1498987"/>
            <a:chOff x="7423595" y="3789000"/>
            <a:chExt cx="1800000" cy="1498987"/>
          </a:xfrm>
        </p:grpSpPr>
        <p:sp>
          <p:nvSpPr>
            <p:cNvPr id="17" name="Oval 16">
              <a:extLst>
                <a:ext uri="{FF2B5EF4-FFF2-40B4-BE49-F238E27FC236}">
                  <a16:creationId xmlns:a16="http://schemas.microsoft.com/office/drawing/2014/main" id="{439C57A0-2966-4A9D-BCF4-8F8A1CD12F93}"/>
                </a:ext>
              </a:extLst>
            </p:cNvPr>
            <p:cNvSpPr/>
            <p:nvPr/>
          </p:nvSpPr>
          <p:spPr>
            <a:xfrm>
              <a:off x="7423595" y="4373587"/>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transport</a:t>
              </a:r>
            </a:p>
          </p:txBody>
        </p:sp>
        <p:cxnSp>
          <p:nvCxnSpPr>
            <p:cNvPr id="36" name="Straight Connector 35">
              <a:extLst>
                <a:ext uri="{FF2B5EF4-FFF2-40B4-BE49-F238E27FC236}">
                  <a16:creationId xmlns:a16="http://schemas.microsoft.com/office/drawing/2014/main" id="{23979788-EC2A-4E0D-AB13-38AAB266D02F}"/>
                </a:ext>
              </a:extLst>
            </p:cNvPr>
            <p:cNvCxnSpPr>
              <a:cxnSpLocks/>
              <a:stCxn id="17" idx="0"/>
            </p:cNvCxnSpPr>
            <p:nvPr/>
          </p:nvCxnSpPr>
          <p:spPr>
            <a:xfrm flipV="1">
              <a:off x="8323595" y="3789000"/>
              <a:ext cx="0" cy="5845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TextBox 48">
            <a:extLst>
              <a:ext uri="{FF2B5EF4-FFF2-40B4-BE49-F238E27FC236}">
                <a16:creationId xmlns:a16="http://schemas.microsoft.com/office/drawing/2014/main" id="{3E2043B9-FD80-4841-9113-F312E768322B}"/>
              </a:ext>
            </a:extLst>
          </p:cNvPr>
          <p:cNvSpPr txBox="1"/>
          <p:nvPr/>
        </p:nvSpPr>
        <p:spPr>
          <a:xfrm>
            <a:off x="1562958" y="6080587"/>
            <a:ext cx="9066084" cy="646331"/>
          </a:xfrm>
          <a:prstGeom prst="rect">
            <a:avLst/>
          </a:prstGeom>
          <a:noFill/>
        </p:spPr>
        <p:txBody>
          <a:bodyPr wrap="square" rtlCol="0" anchor="ctr" anchorCtr="0">
            <a:spAutoFit/>
          </a:bodyPr>
          <a:lstStyle/>
          <a:p>
            <a:r>
              <a:rPr lang="en-GB" sz="3600" b="1" dirty="0">
                <a:solidFill>
                  <a:srgbClr val="7030A0"/>
                </a:solidFill>
              </a:rPr>
              <a:t>PK underlined				FK suffixed with *</a:t>
            </a:r>
          </a:p>
        </p:txBody>
      </p:sp>
      <p:grpSp>
        <p:nvGrpSpPr>
          <p:cNvPr id="62" name="Group 61">
            <a:extLst>
              <a:ext uri="{FF2B5EF4-FFF2-40B4-BE49-F238E27FC236}">
                <a16:creationId xmlns:a16="http://schemas.microsoft.com/office/drawing/2014/main" id="{916F9611-39AE-4C5E-B95D-26153EC73ACB}"/>
              </a:ext>
            </a:extLst>
          </p:cNvPr>
          <p:cNvGrpSpPr/>
          <p:nvPr/>
        </p:nvGrpSpPr>
        <p:grpSpPr>
          <a:xfrm>
            <a:off x="2585495" y="2961191"/>
            <a:ext cx="6803554" cy="827810"/>
            <a:chOff x="2585495" y="2961191"/>
            <a:chExt cx="6803554" cy="827810"/>
          </a:xfrm>
        </p:grpSpPr>
        <p:sp>
          <p:nvSpPr>
            <p:cNvPr id="8" name="Entity 1">
              <a:extLst>
                <a:ext uri="{FF2B5EF4-FFF2-40B4-BE49-F238E27FC236}">
                  <a16:creationId xmlns:a16="http://schemas.microsoft.com/office/drawing/2014/main" id="{9E8D577D-F9B0-4C26-95CB-954FFDF61DBD}"/>
                </a:ext>
              </a:extLst>
            </p:cNvPr>
            <p:cNvSpPr txBox="1"/>
            <p:nvPr/>
          </p:nvSpPr>
          <p:spPr>
            <a:xfrm>
              <a:off x="2585495" y="3069001"/>
              <a:ext cx="1800000" cy="720000"/>
            </a:xfrm>
            <a:prstGeom prst="rect">
              <a:avLst/>
            </a:prstGeom>
            <a:solidFill>
              <a:schemeClr val="accent3">
                <a:lumMod val="20000"/>
                <a:lumOff val="80000"/>
              </a:schemeClr>
            </a:solidFill>
            <a:ln>
              <a:solidFill>
                <a:schemeClr val="tx1"/>
              </a:solidFill>
            </a:ln>
          </p:spPr>
          <p:txBody>
            <a:bodyPr wrap="none" rtlCol="0" anchor="ctr" anchorCtr="0">
              <a:noAutofit/>
            </a:bodyPr>
            <a:lstStyle/>
            <a:p>
              <a:pPr algn="ctr"/>
              <a:r>
                <a:rPr lang="en-GB" sz="3600" dirty="0"/>
                <a:t>school</a:t>
              </a:r>
            </a:p>
          </p:txBody>
        </p:sp>
        <p:sp>
          <p:nvSpPr>
            <p:cNvPr id="10" name="Entity 2">
              <a:extLst>
                <a:ext uri="{FF2B5EF4-FFF2-40B4-BE49-F238E27FC236}">
                  <a16:creationId xmlns:a16="http://schemas.microsoft.com/office/drawing/2014/main" id="{06B8E8D6-C037-4571-B1CB-E4BD14A48ED7}"/>
                </a:ext>
              </a:extLst>
            </p:cNvPr>
            <p:cNvSpPr txBox="1"/>
            <p:nvPr/>
          </p:nvSpPr>
          <p:spPr>
            <a:xfrm>
              <a:off x="7589049" y="3069000"/>
              <a:ext cx="1800000" cy="720000"/>
            </a:xfrm>
            <a:prstGeom prst="rect">
              <a:avLst/>
            </a:prstGeom>
            <a:solidFill>
              <a:schemeClr val="accent3">
                <a:lumMod val="20000"/>
                <a:lumOff val="80000"/>
              </a:schemeClr>
            </a:solidFill>
            <a:ln>
              <a:solidFill>
                <a:schemeClr val="tx1"/>
              </a:solidFill>
            </a:ln>
          </p:spPr>
          <p:txBody>
            <a:bodyPr wrap="none" rtlCol="0" anchor="ctr" anchorCtr="0">
              <a:noAutofit/>
            </a:bodyPr>
            <a:lstStyle/>
            <a:p>
              <a:pPr algn="ctr"/>
              <a:r>
                <a:rPr lang="en-GB" sz="3600" dirty="0"/>
                <a:t>pupil</a:t>
              </a:r>
            </a:p>
          </p:txBody>
        </p:sp>
        <p:grpSp>
          <p:nvGrpSpPr>
            <p:cNvPr id="57" name="Group 56">
              <a:extLst>
                <a:ext uri="{FF2B5EF4-FFF2-40B4-BE49-F238E27FC236}">
                  <a16:creationId xmlns:a16="http://schemas.microsoft.com/office/drawing/2014/main" id="{BE144F85-3270-4860-9FDE-8FAB5774D520}"/>
                </a:ext>
              </a:extLst>
            </p:cNvPr>
            <p:cNvGrpSpPr/>
            <p:nvPr/>
          </p:nvGrpSpPr>
          <p:grpSpPr>
            <a:xfrm>
              <a:off x="4385495" y="2961191"/>
              <a:ext cx="3211009" cy="639107"/>
              <a:chOff x="4385495" y="2961191"/>
              <a:chExt cx="3211009" cy="639107"/>
            </a:xfrm>
          </p:grpSpPr>
          <p:cxnSp>
            <p:nvCxnSpPr>
              <p:cNvPr id="3" name="1 to 1"/>
              <p:cNvCxnSpPr>
                <a:stCxn id="8" idx="3"/>
                <a:endCxn id="10" idx="1"/>
              </p:cNvCxnSpPr>
              <p:nvPr/>
            </p:nvCxnSpPr>
            <p:spPr>
              <a:xfrm flipV="1">
                <a:off x="4385495" y="3429000"/>
                <a:ext cx="3203554"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63E3461-DC5D-48CF-AE13-69B629EAA16E}"/>
                  </a:ext>
                </a:extLst>
              </p:cNvPr>
              <p:cNvSpPr txBox="1"/>
              <p:nvPr/>
            </p:nvSpPr>
            <p:spPr>
              <a:xfrm>
                <a:off x="5349096" y="2961191"/>
                <a:ext cx="1493807" cy="523220"/>
              </a:xfrm>
              <a:prstGeom prst="rect">
                <a:avLst/>
              </a:prstGeom>
              <a:noFill/>
            </p:spPr>
            <p:txBody>
              <a:bodyPr wrap="none" rtlCol="0">
                <a:spAutoFit/>
              </a:bodyPr>
              <a:lstStyle/>
              <a:p>
                <a:r>
                  <a:rPr lang="en-GB" sz="2800" dirty="0"/>
                  <a:t>educates</a:t>
                </a:r>
              </a:p>
            </p:txBody>
          </p:sp>
          <p:cxnSp>
            <p:nvCxnSpPr>
              <p:cNvPr id="50" name="Straight Connector 49">
                <a:extLst>
                  <a:ext uri="{FF2B5EF4-FFF2-40B4-BE49-F238E27FC236}">
                    <a16:creationId xmlns:a16="http://schemas.microsoft.com/office/drawing/2014/main" id="{0942A0ED-EE34-40C7-BC3A-22B3368A4DB2}"/>
                  </a:ext>
                </a:extLst>
              </p:cNvPr>
              <p:cNvCxnSpPr/>
              <p:nvPr/>
            </p:nvCxnSpPr>
            <p:spPr>
              <a:xfrm flipV="1">
                <a:off x="7278205" y="3240299"/>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076E79F-09BA-43A8-8DE2-D8086B539920}"/>
                  </a:ext>
                </a:extLst>
              </p:cNvPr>
              <p:cNvCxnSpPr/>
              <p:nvPr/>
            </p:nvCxnSpPr>
            <p:spPr>
              <a:xfrm>
                <a:off x="7278205" y="3429000"/>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71910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10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fade">
                                      <p:cBhvr>
                                        <p:cTn id="12" dur="10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fade">
                                      <p:cBhvr>
                                        <p:cTn id="17" dur="1000"/>
                                        <p:tgtEl>
                                          <p:spTgt spid="54"/>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53"/>
                                        </p:tgtEl>
                                        <p:attrNameLst>
                                          <p:attrName>style.visibility</p:attrName>
                                        </p:attrNameLst>
                                      </p:cBhvr>
                                      <p:to>
                                        <p:strVal val="visible"/>
                                      </p:to>
                                    </p:set>
                                    <p:animEffect transition="in" filter="fade">
                                      <p:cBhvr>
                                        <p:cTn id="21" dur="1000"/>
                                        <p:tgtEl>
                                          <p:spTgt spid="53"/>
                                        </p:tgtEl>
                                      </p:cBhvr>
                                    </p:animEffect>
                                  </p:childTnLst>
                                </p:cTn>
                              </p:par>
                            </p:childTnLst>
                          </p:cTn>
                        </p:par>
                        <p:par>
                          <p:cTn id="22" fill="hold">
                            <p:stCondLst>
                              <p:cond delay="2000"/>
                            </p:stCondLst>
                            <p:childTnLst>
                              <p:par>
                                <p:cTn id="23" presetID="10" presetClass="entr" presetSubtype="0" fill="hold" nodeType="afterEffect">
                                  <p:stCondLst>
                                    <p:cond delay="0"/>
                                  </p:stCondLst>
                                  <p:childTnLst>
                                    <p:set>
                                      <p:cBhvr>
                                        <p:cTn id="24" dur="1" fill="hold">
                                          <p:stCondLst>
                                            <p:cond delay="0"/>
                                          </p:stCondLst>
                                        </p:cTn>
                                        <p:tgtEl>
                                          <p:spTgt spid="52"/>
                                        </p:tgtEl>
                                        <p:attrNameLst>
                                          <p:attrName>style.visibility</p:attrName>
                                        </p:attrNameLst>
                                      </p:cBhvr>
                                      <p:to>
                                        <p:strVal val="visible"/>
                                      </p:to>
                                    </p:set>
                                    <p:animEffect transition="in" filter="fade">
                                      <p:cBhvr>
                                        <p:cTn id="25" dur="1000"/>
                                        <p:tgtEl>
                                          <p:spTgt spid="5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1"/>
                                        </p:tgtEl>
                                        <p:attrNameLst>
                                          <p:attrName>style.visibility</p:attrName>
                                        </p:attrNameLst>
                                      </p:cBhvr>
                                      <p:to>
                                        <p:strVal val="visible"/>
                                      </p:to>
                                    </p:set>
                                    <p:animEffect transition="in" filter="fade">
                                      <p:cBhvr>
                                        <p:cTn id="30" dur="1000"/>
                                        <p:tgtEl>
                                          <p:spTgt spid="6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1000"/>
                                        <p:tgtEl>
                                          <p:spTgt spid="6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9"/>
                                        </p:tgtEl>
                                        <p:attrNameLst>
                                          <p:attrName>style.visibility</p:attrName>
                                        </p:attrNameLst>
                                      </p:cBhvr>
                                      <p:to>
                                        <p:strVal val="visible"/>
                                      </p:to>
                                    </p:set>
                                    <p:animEffect transition="in" filter="fade">
                                      <p:cBhvr>
                                        <p:cTn id="40" dur="1000"/>
                                        <p:tgtEl>
                                          <p:spTgt spid="59"/>
                                        </p:tgtEl>
                                      </p:cBhvr>
                                    </p:animEffect>
                                  </p:childTnLst>
                                </p:cTn>
                              </p:par>
                            </p:childTnLst>
                          </p:cTn>
                        </p:par>
                        <p:par>
                          <p:cTn id="41" fill="hold">
                            <p:stCondLst>
                              <p:cond delay="1000"/>
                            </p:stCondLst>
                            <p:childTnLst>
                              <p:par>
                                <p:cTn id="42" presetID="10" presetClass="entr" presetSubtype="0" fill="hold" nodeType="afterEffect">
                                  <p:stCondLst>
                                    <p:cond delay="0"/>
                                  </p:stCondLst>
                                  <p:childTnLst>
                                    <p:set>
                                      <p:cBhvr>
                                        <p:cTn id="43" dur="1" fill="hold">
                                          <p:stCondLst>
                                            <p:cond delay="0"/>
                                          </p:stCondLst>
                                        </p:cTn>
                                        <p:tgtEl>
                                          <p:spTgt spid="58"/>
                                        </p:tgtEl>
                                        <p:attrNameLst>
                                          <p:attrName>style.visibility</p:attrName>
                                        </p:attrNameLst>
                                      </p:cBhvr>
                                      <p:to>
                                        <p:strVal val="visible"/>
                                      </p:to>
                                    </p:set>
                                    <p:animEffect transition="in" filter="fade">
                                      <p:cBhvr>
                                        <p:cTn id="44" dur="1000"/>
                                        <p:tgtEl>
                                          <p:spTgt spid="58"/>
                                        </p:tgtEl>
                                      </p:cBhvr>
                                    </p:animEffect>
                                  </p:childTnLst>
                                </p:cTn>
                              </p:par>
                            </p:childTnLst>
                          </p:cTn>
                        </p:par>
                        <p:par>
                          <p:cTn id="45" fill="hold">
                            <p:stCondLst>
                              <p:cond delay="2000"/>
                            </p:stCondLst>
                            <p:childTnLst>
                              <p:par>
                                <p:cTn id="46" presetID="10" presetClass="entr" presetSubtype="0" fill="hold" nodeType="afterEffect">
                                  <p:stCondLst>
                                    <p:cond delay="0"/>
                                  </p:stCondLst>
                                  <p:childTnLst>
                                    <p:set>
                                      <p:cBhvr>
                                        <p:cTn id="47" dur="1" fill="hold">
                                          <p:stCondLst>
                                            <p:cond delay="0"/>
                                          </p:stCondLst>
                                        </p:cTn>
                                        <p:tgtEl>
                                          <p:spTgt spid="56"/>
                                        </p:tgtEl>
                                        <p:attrNameLst>
                                          <p:attrName>style.visibility</p:attrName>
                                        </p:attrNameLst>
                                      </p:cBhvr>
                                      <p:to>
                                        <p:strVal val="visible"/>
                                      </p:to>
                                    </p:set>
                                    <p:animEffect transition="in" filter="fade">
                                      <p:cBhvr>
                                        <p:cTn id="48" dur="1000"/>
                                        <p:tgtEl>
                                          <p:spTgt spid="5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9">
                                            <p:txEl>
                                              <p:pRg st="0" end="0"/>
                                            </p:txEl>
                                          </p:spTgt>
                                        </p:tgtEl>
                                        <p:attrNameLst>
                                          <p:attrName>style.visibility</p:attrName>
                                        </p:attrNameLst>
                                      </p:cBhvr>
                                      <p:to>
                                        <p:strVal val="visible"/>
                                      </p:to>
                                    </p:set>
                                    <p:animEffect transition="in" filter="wipe(left)">
                                      <p:cBhvr>
                                        <p:cTn id="53" dur="2000"/>
                                        <p:tgtEl>
                                          <p:spTgt spid="4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uiExpand="1" build="p"/>
    </p:bldLst>
  </p:timing>
</p:sld>
</file>

<file path=ppt/slides/slide1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a:xfrm>
            <a:off x="838200" y="327025"/>
            <a:ext cx="10515600" cy="1325563"/>
          </a:xfrm>
        </p:spPr>
        <p:txBody>
          <a:bodyPr/>
          <a:lstStyle/>
          <a:p>
            <a:r>
              <a:rPr lang="en-GB" dirty="0"/>
              <a:t>ER Diagram – Attributes (1)</a:t>
            </a:r>
          </a:p>
        </p:txBody>
      </p:sp>
      <p:grpSp>
        <p:nvGrpSpPr>
          <p:cNvPr id="55" name="Group 54">
            <a:extLst>
              <a:ext uri="{FF2B5EF4-FFF2-40B4-BE49-F238E27FC236}">
                <a16:creationId xmlns:a16="http://schemas.microsoft.com/office/drawing/2014/main" id="{149B0774-C7D1-4C4C-99C9-9631A3216CDF}"/>
              </a:ext>
            </a:extLst>
          </p:cNvPr>
          <p:cNvGrpSpPr/>
          <p:nvPr/>
        </p:nvGrpSpPr>
        <p:grpSpPr>
          <a:xfrm>
            <a:off x="1959902" y="1624062"/>
            <a:ext cx="1800000" cy="1444938"/>
            <a:chOff x="1959902" y="1624062"/>
            <a:chExt cx="1800000" cy="1444938"/>
          </a:xfrm>
        </p:grpSpPr>
        <p:sp>
          <p:nvSpPr>
            <p:cNvPr id="2" name="Oval 1">
              <a:extLst>
                <a:ext uri="{FF2B5EF4-FFF2-40B4-BE49-F238E27FC236}">
                  <a16:creationId xmlns:a16="http://schemas.microsoft.com/office/drawing/2014/main" id="{21A43677-27D9-48A8-975B-DEB27D9BB20F}"/>
                </a:ext>
              </a:extLst>
            </p:cNvPr>
            <p:cNvSpPr/>
            <p:nvPr/>
          </p:nvSpPr>
          <p:spPr>
            <a:xfrm>
              <a:off x="1959902" y="1624062"/>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u="sng" dirty="0" err="1">
                  <a:solidFill>
                    <a:schemeClr val="tx1"/>
                  </a:solidFill>
                </a:rPr>
                <a:t>school</a:t>
              </a:r>
              <a:r>
                <a:rPr lang="en-GB" sz="2800" u="sng" dirty="0" err="1"/>
                <a:t>ID</a:t>
              </a:r>
              <a:endParaRPr lang="en-GB" sz="2800" u="sng" dirty="0">
                <a:solidFill>
                  <a:schemeClr val="tx1"/>
                </a:solidFill>
              </a:endParaRPr>
            </a:p>
          </p:txBody>
        </p:sp>
        <p:cxnSp>
          <p:nvCxnSpPr>
            <p:cNvPr id="6" name="Straight Connector 5">
              <a:extLst>
                <a:ext uri="{FF2B5EF4-FFF2-40B4-BE49-F238E27FC236}">
                  <a16:creationId xmlns:a16="http://schemas.microsoft.com/office/drawing/2014/main" id="{51E61048-4DC4-40F3-94CC-C5CD653D9600}"/>
                </a:ext>
              </a:extLst>
            </p:cNvPr>
            <p:cNvCxnSpPr>
              <a:cxnSpLocks/>
              <a:stCxn id="2" idx="4"/>
            </p:cNvCxnSpPr>
            <p:nvPr/>
          </p:nvCxnSpPr>
          <p:spPr>
            <a:xfrm>
              <a:off x="2859902" y="2538462"/>
              <a:ext cx="56952" cy="5305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7C9D8FE7-F5B1-460F-8DBD-A896B3C16BC9}"/>
              </a:ext>
            </a:extLst>
          </p:cNvPr>
          <p:cNvGrpSpPr/>
          <p:nvPr/>
        </p:nvGrpSpPr>
        <p:grpSpPr>
          <a:xfrm>
            <a:off x="370708" y="3603297"/>
            <a:ext cx="2214787" cy="914400"/>
            <a:chOff x="370708" y="3603297"/>
            <a:chExt cx="2214787" cy="914400"/>
          </a:xfrm>
        </p:grpSpPr>
        <p:sp>
          <p:nvSpPr>
            <p:cNvPr id="11" name="Oval 10">
              <a:extLst>
                <a:ext uri="{FF2B5EF4-FFF2-40B4-BE49-F238E27FC236}">
                  <a16:creationId xmlns:a16="http://schemas.microsoft.com/office/drawing/2014/main" id="{DAFD7BF3-36FA-4B1E-8F1D-C6AF4CD5A0AE}"/>
                </a:ext>
              </a:extLst>
            </p:cNvPr>
            <p:cNvSpPr/>
            <p:nvPr/>
          </p:nvSpPr>
          <p:spPr>
            <a:xfrm>
              <a:off x="370708" y="3603297"/>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address</a:t>
              </a:r>
            </a:p>
          </p:txBody>
        </p:sp>
        <p:cxnSp>
          <p:nvCxnSpPr>
            <p:cNvPr id="19" name="Straight Connector 18">
              <a:extLst>
                <a:ext uri="{FF2B5EF4-FFF2-40B4-BE49-F238E27FC236}">
                  <a16:creationId xmlns:a16="http://schemas.microsoft.com/office/drawing/2014/main" id="{4BEE2F6F-A353-4351-A91F-3D3FFE42A696}"/>
                </a:ext>
              </a:extLst>
            </p:cNvPr>
            <p:cNvCxnSpPr>
              <a:cxnSpLocks/>
              <a:stCxn id="11" idx="7"/>
            </p:cNvCxnSpPr>
            <p:nvPr/>
          </p:nvCxnSpPr>
          <p:spPr>
            <a:xfrm flipV="1">
              <a:off x="1907104" y="3648452"/>
              <a:ext cx="678391" cy="887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DEF9C7EE-8BC6-4E2E-9FA2-BB0C270678AD}"/>
              </a:ext>
            </a:extLst>
          </p:cNvPr>
          <p:cNvGrpSpPr/>
          <p:nvPr/>
        </p:nvGrpSpPr>
        <p:grpSpPr>
          <a:xfrm>
            <a:off x="370708" y="2350432"/>
            <a:ext cx="2214787" cy="914400"/>
            <a:chOff x="370708" y="2350432"/>
            <a:chExt cx="2214787" cy="914400"/>
          </a:xfrm>
        </p:grpSpPr>
        <p:sp>
          <p:nvSpPr>
            <p:cNvPr id="9" name="Oval 8">
              <a:extLst>
                <a:ext uri="{FF2B5EF4-FFF2-40B4-BE49-F238E27FC236}">
                  <a16:creationId xmlns:a16="http://schemas.microsoft.com/office/drawing/2014/main" id="{CE907ECB-1838-4B1E-B074-07F7F120418E}"/>
                </a:ext>
              </a:extLst>
            </p:cNvPr>
            <p:cNvSpPr/>
            <p:nvPr/>
          </p:nvSpPr>
          <p:spPr>
            <a:xfrm>
              <a:off x="370708" y="2350432"/>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name</a:t>
              </a:r>
            </a:p>
          </p:txBody>
        </p:sp>
        <p:cxnSp>
          <p:nvCxnSpPr>
            <p:cNvPr id="20" name="Straight Connector 19">
              <a:extLst>
                <a:ext uri="{FF2B5EF4-FFF2-40B4-BE49-F238E27FC236}">
                  <a16:creationId xmlns:a16="http://schemas.microsoft.com/office/drawing/2014/main" id="{10485A6B-5783-4743-A00C-E6176485D922}"/>
                </a:ext>
              </a:extLst>
            </p:cNvPr>
            <p:cNvCxnSpPr>
              <a:cxnSpLocks/>
              <a:stCxn id="9" idx="5"/>
            </p:cNvCxnSpPr>
            <p:nvPr/>
          </p:nvCxnSpPr>
          <p:spPr>
            <a:xfrm>
              <a:off x="1907104" y="3130921"/>
              <a:ext cx="678391" cy="1053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0D56BD77-1CD0-4FC0-ABC4-7F3D3C7E2EE3}"/>
              </a:ext>
            </a:extLst>
          </p:cNvPr>
          <p:cNvGrpSpPr/>
          <p:nvPr/>
        </p:nvGrpSpPr>
        <p:grpSpPr>
          <a:xfrm>
            <a:off x="1937384" y="3789000"/>
            <a:ext cx="1800000" cy="1444940"/>
            <a:chOff x="1937384" y="3789000"/>
            <a:chExt cx="1800000" cy="1444940"/>
          </a:xfrm>
        </p:grpSpPr>
        <p:sp>
          <p:nvSpPr>
            <p:cNvPr id="12" name="Oval 11">
              <a:extLst>
                <a:ext uri="{FF2B5EF4-FFF2-40B4-BE49-F238E27FC236}">
                  <a16:creationId xmlns:a16="http://schemas.microsoft.com/office/drawing/2014/main" id="{D277E8C4-3390-4899-A660-D6DD32735ABD}"/>
                </a:ext>
              </a:extLst>
            </p:cNvPr>
            <p:cNvSpPr/>
            <p:nvPr/>
          </p:nvSpPr>
          <p:spPr>
            <a:xfrm>
              <a:off x="1937384" y="4319540"/>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phone</a:t>
              </a:r>
            </a:p>
          </p:txBody>
        </p:sp>
        <p:cxnSp>
          <p:nvCxnSpPr>
            <p:cNvPr id="21" name="Straight Connector 20">
              <a:extLst>
                <a:ext uri="{FF2B5EF4-FFF2-40B4-BE49-F238E27FC236}">
                  <a16:creationId xmlns:a16="http://schemas.microsoft.com/office/drawing/2014/main" id="{ADC2E588-24FF-46C2-88F3-2BB1082C5EA1}"/>
                </a:ext>
              </a:extLst>
            </p:cNvPr>
            <p:cNvCxnSpPr>
              <a:cxnSpLocks/>
              <a:stCxn id="12" idx="0"/>
            </p:cNvCxnSpPr>
            <p:nvPr/>
          </p:nvCxnSpPr>
          <p:spPr>
            <a:xfrm flipV="1">
              <a:off x="2837384" y="3789000"/>
              <a:ext cx="112191" cy="5305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1" name="Group 60">
            <a:extLst>
              <a:ext uri="{FF2B5EF4-FFF2-40B4-BE49-F238E27FC236}">
                <a16:creationId xmlns:a16="http://schemas.microsoft.com/office/drawing/2014/main" id="{D4D0F10F-2F03-4B9D-8665-A18C5C7A9963}"/>
              </a:ext>
            </a:extLst>
          </p:cNvPr>
          <p:cNvGrpSpPr/>
          <p:nvPr/>
        </p:nvGrpSpPr>
        <p:grpSpPr>
          <a:xfrm>
            <a:off x="7423595" y="1568778"/>
            <a:ext cx="1800000" cy="1498987"/>
            <a:chOff x="7423595" y="1568778"/>
            <a:chExt cx="1800000" cy="1498987"/>
          </a:xfrm>
        </p:grpSpPr>
        <p:sp>
          <p:nvSpPr>
            <p:cNvPr id="14" name="Oval 13">
              <a:extLst>
                <a:ext uri="{FF2B5EF4-FFF2-40B4-BE49-F238E27FC236}">
                  <a16:creationId xmlns:a16="http://schemas.microsoft.com/office/drawing/2014/main" id="{9AF3FD5B-61AD-4B2C-ACAE-0EAC02263C21}"/>
                </a:ext>
              </a:extLst>
            </p:cNvPr>
            <p:cNvSpPr/>
            <p:nvPr/>
          </p:nvSpPr>
          <p:spPr>
            <a:xfrm>
              <a:off x="7423595" y="1568778"/>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u="sng" dirty="0" err="1">
                  <a:solidFill>
                    <a:schemeClr val="tx1"/>
                  </a:solidFill>
                </a:rPr>
                <a:t>pupil</a:t>
              </a:r>
              <a:r>
                <a:rPr lang="en-GB" sz="2800" u="sng" dirty="0" err="1"/>
                <a:t>ID</a:t>
              </a:r>
              <a:endParaRPr lang="en-GB" sz="2800" u="sng" dirty="0">
                <a:solidFill>
                  <a:schemeClr val="tx1"/>
                </a:solidFill>
              </a:endParaRPr>
            </a:p>
          </p:txBody>
        </p:sp>
        <p:cxnSp>
          <p:nvCxnSpPr>
            <p:cNvPr id="32" name="Straight Connector 31">
              <a:extLst>
                <a:ext uri="{FF2B5EF4-FFF2-40B4-BE49-F238E27FC236}">
                  <a16:creationId xmlns:a16="http://schemas.microsoft.com/office/drawing/2014/main" id="{1C339672-81BB-466A-8D80-A0425B807778}"/>
                </a:ext>
              </a:extLst>
            </p:cNvPr>
            <p:cNvCxnSpPr>
              <a:cxnSpLocks/>
              <a:endCxn id="14" idx="4"/>
            </p:cNvCxnSpPr>
            <p:nvPr/>
          </p:nvCxnSpPr>
          <p:spPr>
            <a:xfrm flipV="1">
              <a:off x="8323595" y="2483178"/>
              <a:ext cx="0" cy="5845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B9D9B078-0E5B-4A7C-B821-AEE4EDC6A411}"/>
              </a:ext>
            </a:extLst>
          </p:cNvPr>
          <p:cNvGrpSpPr/>
          <p:nvPr/>
        </p:nvGrpSpPr>
        <p:grpSpPr>
          <a:xfrm>
            <a:off x="9371833" y="3764723"/>
            <a:ext cx="1981967" cy="1257396"/>
            <a:chOff x="9371833" y="3764723"/>
            <a:chExt cx="1981967" cy="1257396"/>
          </a:xfrm>
        </p:grpSpPr>
        <p:sp>
          <p:nvSpPr>
            <p:cNvPr id="16" name="Oval 15">
              <a:extLst>
                <a:ext uri="{FF2B5EF4-FFF2-40B4-BE49-F238E27FC236}">
                  <a16:creationId xmlns:a16="http://schemas.microsoft.com/office/drawing/2014/main" id="{D1FDE5C1-F0FA-4D72-8D84-9B12BC8535DC}"/>
                </a:ext>
              </a:extLst>
            </p:cNvPr>
            <p:cNvSpPr/>
            <p:nvPr/>
          </p:nvSpPr>
          <p:spPr>
            <a:xfrm>
              <a:off x="9553800" y="4107719"/>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dob</a:t>
              </a:r>
            </a:p>
          </p:txBody>
        </p:sp>
        <p:cxnSp>
          <p:nvCxnSpPr>
            <p:cNvPr id="33" name="Straight Connector 32">
              <a:extLst>
                <a:ext uri="{FF2B5EF4-FFF2-40B4-BE49-F238E27FC236}">
                  <a16:creationId xmlns:a16="http://schemas.microsoft.com/office/drawing/2014/main" id="{D363502B-47D9-44D9-98D3-FB62BCFDB8EE}"/>
                </a:ext>
              </a:extLst>
            </p:cNvPr>
            <p:cNvCxnSpPr>
              <a:cxnSpLocks/>
              <a:stCxn id="16" idx="1"/>
            </p:cNvCxnSpPr>
            <p:nvPr/>
          </p:nvCxnSpPr>
          <p:spPr>
            <a:xfrm flipH="1" flipV="1">
              <a:off x="9371833" y="3764723"/>
              <a:ext cx="445571" cy="47690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A58CAA27-35E8-42DD-A934-D79DD09E2242}"/>
              </a:ext>
            </a:extLst>
          </p:cNvPr>
          <p:cNvGrpSpPr/>
          <p:nvPr/>
        </p:nvGrpSpPr>
        <p:grpSpPr>
          <a:xfrm>
            <a:off x="9389049" y="2961191"/>
            <a:ext cx="2368868" cy="914400"/>
            <a:chOff x="9389049" y="2961191"/>
            <a:chExt cx="2368868" cy="914400"/>
          </a:xfrm>
        </p:grpSpPr>
        <p:sp>
          <p:nvSpPr>
            <p:cNvPr id="13" name="Oval 12">
              <a:extLst>
                <a:ext uri="{FF2B5EF4-FFF2-40B4-BE49-F238E27FC236}">
                  <a16:creationId xmlns:a16="http://schemas.microsoft.com/office/drawing/2014/main" id="{075A89E4-4A1D-485C-B9EC-DEBBC86D7E89}"/>
                </a:ext>
              </a:extLst>
            </p:cNvPr>
            <p:cNvSpPr/>
            <p:nvPr/>
          </p:nvSpPr>
          <p:spPr>
            <a:xfrm>
              <a:off x="9957917" y="2961191"/>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name</a:t>
              </a:r>
            </a:p>
          </p:txBody>
        </p:sp>
        <p:cxnSp>
          <p:nvCxnSpPr>
            <p:cNvPr id="34" name="Straight Connector 33">
              <a:extLst>
                <a:ext uri="{FF2B5EF4-FFF2-40B4-BE49-F238E27FC236}">
                  <a16:creationId xmlns:a16="http://schemas.microsoft.com/office/drawing/2014/main" id="{E4180CCD-EF44-47B3-A007-9881C129610A}"/>
                </a:ext>
              </a:extLst>
            </p:cNvPr>
            <p:cNvCxnSpPr>
              <a:cxnSpLocks/>
              <a:stCxn id="10" idx="3"/>
              <a:endCxn id="13" idx="2"/>
            </p:cNvCxnSpPr>
            <p:nvPr/>
          </p:nvCxnSpPr>
          <p:spPr>
            <a:xfrm flipV="1">
              <a:off x="9389049" y="3418391"/>
              <a:ext cx="568868" cy="106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2B857C8D-3A4A-4729-BF09-F3B8F3AECD87}"/>
              </a:ext>
            </a:extLst>
          </p:cNvPr>
          <p:cNvGrpSpPr/>
          <p:nvPr/>
        </p:nvGrpSpPr>
        <p:grpSpPr>
          <a:xfrm>
            <a:off x="9389049" y="1884716"/>
            <a:ext cx="1964751" cy="1183049"/>
            <a:chOff x="9389049" y="1884716"/>
            <a:chExt cx="1964751" cy="1183049"/>
          </a:xfrm>
        </p:grpSpPr>
        <p:sp>
          <p:nvSpPr>
            <p:cNvPr id="15" name="Oval 14">
              <a:extLst>
                <a:ext uri="{FF2B5EF4-FFF2-40B4-BE49-F238E27FC236}">
                  <a16:creationId xmlns:a16="http://schemas.microsoft.com/office/drawing/2014/main" id="{FB225561-2443-4256-A1A6-B54AF7114BF3}"/>
                </a:ext>
              </a:extLst>
            </p:cNvPr>
            <p:cNvSpPr/>
            <p:nvPr/>
          </p:nvSpPr>
          <p:spPr>
            <a:xfrm>
              <a:off x="9553800" y="1884716"/>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err="1">
                  <a:solidFill>
                    <a:schemeClr val="tx1"/>
                  </a:solidFill>
                </a:rPr>
                <a:t>school</a:t>
              </a:r>
              <a:r>
                <a:rPr lang="en-GB" sz="2800" dirty="0" err="1"/>
                <a:t>ID</a:t>
              </a:r>
              <a:r>
                <a:rPr lang="en-GB" sz="2800" dirty="0">
                  <a:solidFill>
                    <a:schemeClr val="tx1"/>
                  </a:solidFill>
                </a:rPr>
                <a:t>*</a:t>
              </a:r>
            </a:p>
          </p:txBody>
        </p:sp>
        <p:cxnSp>
          <p:nvCxnSpPr>
            <p:cNvPr id="35" name="Straight Connector 34">
              <a:extLst>
                <a:ext uri="{FF2B5EF4-FFF2-40B4-BE49-F238E27FC236}">
                  <a16:creationId xmlns:a16="http://schemas.microsoft.com/office/drawing/2014/main" id="{952C327B-DEFE-4B68-AE0C-18ABA0BD6DCE}"/>
                </a:ext>
              </a:extLst>
            </p:cNvPr>
            <p:cNvCxnSpPr>
              <a:cxnSpLocks/>
              <a:endCxn id="15" idx="3"/>
            </p:cNvCxnSpPr>
            <p:nvPr/>
          </p:nvCxnSpPr>
          <p:spPr>
            <a:xfrm flipV="1">
              <a:off x="9389049" y="2665205"/>
              <a:ext cx="428355" cy="4025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A9A41A5E-4CE1-4C76-8182-F8DDB80E5C3B}"/>
              </a:ext>
            </a:extLst>
          </p:cNvPr>
          <p:cNvGrpSpPr/>
          <p:nvPr/>
        </p:nvGrpSpPr>
        <p:grpSpPr>
          <a:xfrm>
            <a:off x="7423595" y="3789000"/>
            <a:ext cx="1800000" cy="1498987"/>
            <a:chOff x="7423595" y="3789000"/>
            <a:chExt cx="1800000" cy="1498987"/>
          </a:xfrm>
        </p:grpSpPr>
        <p:sp>
          <p:nvSpPr>
            <p:cNvPr id="17" name="Oval 16">
              <a:extLst>
                <a:ext uri="{FF2B5EF4-FFF2-40B4-BE49-F238E27FC236}">
                  <a16:creationId xmlns:a16="http://schemas.microsoft.com/office/drawing/2014/main" id="{439C57A0-2966-4A9D-BCF4-8F8A1CD12F93}"/>
                </a:ext>
              </a:extLst>
            </p:cNvPr>
            <p:cNvSpPr/>
            <p:nvPr/>
          </p:nvSpPr>
          <p:spPr>
            <a:xfrm>
              <a:off x="7423595" y="4373587"/>
              <a:ext cx="1800000" cy="914400"/>
            </a:xfrm>
            <a:prstGeom prst="ellipse">
              <a:avLst/>
            </a:prstGeom>
            <a:solidFill>
              <a:schemeClr val="accent3">
                <a:lumMod val="20000"/>
                <a:lumOff val="80000"/>
              </a:schemeClr>
            </a:solidFill>
            <a:ln>
              <a:solidFill>
                <a:schemeClr val="tx1"/>
              </a:solidFill>
            </a:ln>
          </p:spPr>
          <p:txBody>
            <a:bodyPr wrap="none" rtlCol="0" anchor="ctr" anchorCtr="0">
              <a:noAutofit/>
            </a:bodyPr>
            <a:lstStyle/>
            <a:p>
              <a:pPr algn="ctr"/>
              <a:r>
                <a:rPr lang="en-GB" sz="2800" dirty="0">
                  <a:solidFill>
                    <a:schemeClr val="tx1"/>
                  </a:solidFill>
                </a:rPr>
                <a:t>transport</a:t>
              </a:r>
            </a:p>
          </p:txBody>
        </p:sp>
        <p:cxnSp>
          <p:nvCxnSpPr>
            <p:cNvPr id="36" name="Straight Connector 35">
              <a:extLst>
                <a:ext uri="{FF2B5EF4-FFF2-40B4-BE49-F238E27FC236}">
                  <a16:creationId xmlns:a16="http://schemas.microsoft.com/office/drawing/2014/main" id="{23979788-EC2A-4E0D-AB13-38AAB266D02F}"/>
                </a:ext>
              </a:extLst>
            </p:cNvPr>
            <p:cNvCxnSpPr>
              <a:cxnSpLocks/>
              <a:stCxn id="17" idx="0"/>
            </p:cNvCxnSpPr>
            <p:nvPr/>
          </p:nvCxnSpPr>
          <p:spPr>
            <a:xfrm flipV="1">
              <a:off x="8323595" y="3789000"/>
              <a:ext cx="0" cy="5845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916F9611-39AE-4C5E-B95D-26153EC73ACB}"/>
              </a:ext>
            </a:extLst>
          </p:cNvPr>
          <p:cNvGrpSpPr/>
          <p:nvPr/>
        </p:nvGrpSpPr>
        <p:grpSpPr>
          <a:xfrm>
            <a:off x="2585495" y="3069000"/>
            <a:ext cx="6803554" cy="720001"/>
            <a:chOff x="2585495" y="3069000"/>
            <a:chExt cx="6803554" cy="720001"/>
          </a:xfrm>
        </p:grpSpPr>
        <p:sp>
          <p:nvSpPr>
            <p:cNvPr id="8" name="Entity 1">
              <a:extLst>
                <a:ext uri="{FF2B5EF4-FFF2-40B4-BE49-F238E27FC236}">
                  <a16:creationId xmlns:a16="http://schemas.microsoft.com/office/drawing/2014/main" id="{9E8D577D-F9B0-4C26-95CB-954FFDF61DBD}"/>
                </a:ext>
              </a:extLst>
            </p:cNvPr>
            <p:cNvSpPr txBox="1"/>
            <p:nvPr/>
          </p:nvSpPr>
          <p:spPr>
            <a:xfrm>
              <a:off x="2585495" y="3069001"/>
              <a:ext cx="1800000" cy="720000"/>
            </a:xfrm>
            <a:prstGeom prst="rect">
              <a:avLst/>
            </a:prstGeom>
            <a:solidFill>
              <a:schemeClr val="accent3">
                <a:lumMod val="20000"/>
                <a:lumOff val="80000"/>
              </a:schemeClr>
            </a:solidFill>
            <a:ln>
              <a:solidFill>
                <a:schemeClr val="tx1"/>
              </a:solidFill>
            </a:ln>
          </p:spPr>
          <p:txBody>
            <a:bodyPr wrap="none" rtlCol="0" anchor="ctr" anchorCtr="0">
              <a:noAutofit/>
            </a:bodyPr>
            <a:lstStyle/>
            <a:p>
              <a:pPr algn="ctr"/>
              <a:r>
                <a:rPr lang="en-GB" sz="3600" dirty="0"/>
                <a:t>school</a:t>
              </a:r>
            </a:p>
          </p:txBody>
        </p:sp>
        <p:sp>
          <p:nvSpPr>
            <p:cNvPr id="10" name="Entity 2">
              <a:extLst>
                <a:ext uri="{FF2B5EF4-FFF2-40B4-BE49-F238E27FC236}">
                  <a16:creationId xmlns:a16="http://schemas.microsoft.com/office/drawing/2014/main" id="{06B8E8D6-C037-4571-B1CB-E4BD14A48ED7}"/>
                </a:ext>
              </a:extLst>
            </p:cNvPr>
            <p:cNvSpPr txBox="1"/>
            <p:nvPr/>
          </p:nvSpPr>
          <p:spPr>
            <a:xfrm>
              <a:off x="7589049" y="3069000"/>
              <a:ext cx="1800000" cy="720000"/>
            </a:xfrm>
            <a:prstGeom prst="rect">
              <a:avLst/>
            </a:prstGeom>
            <a:solidFill>
              <a:schemeClr val="accent3">
                <a:lumMod val="20000"/>
                <a:lumOff val="80000"/>
              </a:schemeClr>
            </a:solidFill>
            <a:ln>
              <a:solidFill>
                <a:schemeClr val="tx1"/>
              </a:solidFill>
            </a:ln>
          </p:spPr>
          <p:txBody>
            <a:bodyPr wrap="none" rtlCol="0" anchor="ctr" anchorCtr="0">
              <a:noAutofit/>
            </a:bodyPr>
            <a:lstStyle/>
            <a:p>
              <a:pPr algn="ctr"/>
              <a:r>
                <a:rPr lang="en-GB" sz="3600" dirty="0"/>
                <a:t>pupil</a:t>
              </a:r>
            </a:p>
          </p:txBody>
        </p:sp>
        <p:grpSp>
          <p:nvGrpSpPr>
            <p:cNvPr id="57" name="Group 56">
              <a:extLst>
                <a:ext uri="{FF2B5EF4-FFF2-40B4-BE49-F238E27FC236}">
                  <a16:creationId xmlns:a16="http://schemas.microsoft.com/office/drawing/2014/main" id="{BE144F85-3270-4860-9FDE-8FAB5774D520}"/>
                </a:ext>
              </a:extLst>
            </p:cNvPr>
            <p:cNvGrpSpPr/>
            <p:nvPr/>
          </p:nvGrpSpPr>
          <p:grpSpPr>
            <a:xfrm>
              <a:off x="4385495" y="3240299"/>
              <a:ext cx="3211009" cy="359999"/>
              <a:chOff x="4385495" y="3240299"/>
              <a:chExt cx="3211009" cy="359999"/>
            </a:xfrm>
          </p:grpSpPr>
          <p:cxnSp>
            <p:nvCxnSpPr>
              <p:cNvPr id="3" name="1 to 1"/>
              <p:cNvCxnSpPr>
                <a:stCxn id="8" idx="3"/>
                <a:endCxn id="10" idx="1"/>
              </p:cNvCxnSpPr>
              <p:nvPr/>
            </p:nvCxnSpPr>
            <p:spPr>
              <a:xfrm flipV="1">
                <a:off x="4385495" y="3429000"/>
                <a:ext cx="3203554"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942A0ED-EE34-40C7-BC3A-22B3368A4DB2}"/>
                  </a:ext>
                </a:extLst>
              </p:cNvPr>
              <p:cNvCxnSpPr/>
              <p:nvPr/>
            </p:nvCxnSpPr>
            <p:spPr>
              <a:xfrm flipV="1">
                <a:off x="7278205" y="3240299"/>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076E79F-09BA-43A8-8DE2-D8086B539920}"/>
                  </a:ext>
                </a:extLst>
              </p:cNvPr>
              <p:cNvCxnSpPr/>
              <p:nvPr/>
            </p:nvCxnSpPr>
            <p:spPr>
              <a:xfrm>
                <a:off x="7278205" y="3429000"/>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03999298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ER Diagram – Attributes (2)</a:t>
            </a:r>
          </a:p>
        </p:txBody>
      </p:sp>
      <p:sp>
        <p:nvSpPr>
          <p:cNvPr id="12" name="TextBox 11">
            <a:extLst>
              <a:ext uri="{FF2B5EF4-FFF2-40B4-BE49-F238E27FC236}">
                <a16:creationId xmlns:a16="http://schemas.microsoft.com/office/drawing/2014/main" id="{04922DB4-E3E8-4CF4-A4E2-621E15D7DA29}"/>
              </a:ext>
            </a:extLst>
          </p:cNvPr>
          <p:cNvSpPr txBox="1"/>
          <p:nvPr/>
        </p:nvSpPr>
        <p:spPr>
          <a:xfrm>
            <a:off x="1566320" y="6080587"/>
            <a:ext cx="9059361" cy="646331"/>
          </a:xfrm>
          <a:prstGeom prst="rect">
            <a:avLst/>
          </a:prstGeom>
          <a:noFill/>
        </p:spPr>
        <p:txBody>
          <a:bodyPr wrap="square" rtlCol="0" anchor="ctr" anchorCtr="0">
            <a:spAutoFit/>
          </a:bodyPr>
          <a:lstStyle/>
          <a:p>
            <a:r>
              <a:rPr lang="en-GB" sz="3600" b="1" dirty="0">
                <a:solidFill>
                  <a:srgbClr val="7030A0"/>
                </a:solidFill>
              </a:rPr>
              <a:t>PK underlined				FK suffixed with *</a:t>
            </a:r>
          </a:p>
        </p:txBody>
      </p:sp>
      <p:grpSp>
        <p:nvGrpSpPr>
          <p:cNvPr id="15" name="Group 14">
            <a:extLst>
              <a:ext uri="{FF2B5EF4-FFF2-40B4-BE49-F238E27FC236}">
                <a16:creationId xmlns:a16="http://schemas.microsoft.com/office/drawing/2014/main" id="{779110AE-3899-4EB1-88A8-02F79F11D5AB}"/>
              </a:ext>
            </a:extLst>
          </p:cNvPr>
          <p:cNvGrpSpPr/>
          <p:nvPr/>
        </p:nvGrpSpPr>
        <p:grpSpPr>
          <a:xfrm>
            <a:off x="4794797" y="2141047"/>
            <a:ext cx="2380233" cy="1209220"/>
            <a:chOff x="4971129" y="2141047"/>
            <a:chExt cx="2203901" cy="1209220"/>
          </a:xfrm>
        </p:grpSpPr>
        <p:grpSp>
          <p:nvGrpSpPr>
            <p:cNvPr id="13" name="Group 12">
              <a:extLst>
                <a:ext uri="{FF2B5EF4-FFF2-40B4-BE49-F238E27FC236}">
                  <a16:creationId xmlns:a16="http://schemas.microsoft.com/office/drawing/2014/main" id="{EC8DFF32-96F2-4571-BBF3-A5D2E50DF81A}"/>
                </a:ext>
              </a:extLst>
            </p:cNvPr>
            <p:cNvGrpSpPr/>
            <p:nvPr/>
          </p:nvGrpSpPr>
          <p:grpSpPr>
            <a:xfrm>
              <a:off x="4971129" y="2643188"/>
              <a:ext cx="2203901" cy="707079"/>
              <a:chOff x="4971129" y="2643188"/>
              <a:chExt cx="2203901" cy="707079"/>
            </a:xfrm>
          </p:grpSpPr>
          <p:cxnSp>
            <p:nvCxnSpPr>
              <p:cNvPr id="9" name="Connector: Elbow 8">
                <a:extLst>
                  <a:ext uri="{FF2B5EF4-FFF2-40B4-BE49-F238E27FC236}">
                    <a16:creationId xmlns:a16="http://schemas.microsoft.com/office/drawing/2014/main" id="{DE6C70CF-28C5-4A35-AB1C-6B47F69960AF}"/>
                  </a:ext>
                </a:extLst>
              </p:cNvPr>
              <p:cNvCxnSpPr>
                <a:cxnSpLocks/>
              </p:cNvCxnSpPr>
              <p:nvPr/>
            </p:nvCxnSpPr>
            <p:spPr>
              <a:xfrm>
                <a:off x="4971129" y="2643188"/>
                <a:ext cx="2203901" cy="535781"/>
              </a:xfrm>
              <a:prstGeom prst="bentConnector3">
                <a:avLst>
                  <a:gd name="adj1"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8910025-4C69-4A6E-BF1C-9555FC0FD11D}"/>
                  </a:ext>
                </a:extLst>
              </p:cNvPr>
              <p:cNvCxnSpPr/>
              <p:nvPr/>
            </p:nvCxnSpPr>
            <p:spPr>
              <a:xfrm flipV="1">
                <a:off x="6856731" y="2990268"/>
                <a:ext cx="318299" cy="18870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62F2AB8-D422-4D9C-B9B3-DC00BA244F9E}"/>
                  </a:ext>
                </a:extLst>
              </p:cNvPr>
              <p:cNvCxnSpPr/>
              <p:nvPr/>
            </p:nvCxnSpPr>
            <p:spPr>
              <a:xfrm>
                <a:off x="6856731" y="3178969"/>
                <a:ext cx="318299" cy="17129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365A4904-DD2F-4FE6-BACB-463E7D0213EC}"/>
                </a:ext>
              </a:extLst>
            </p:cNvPr>
            <p:cNvSpPr txBox="1"/>
            <p:nvPr/>
          </p:nvSpPr>
          <p:spPr>
            <a:xfrm>
              <a:off x="5326176" y="2141047"/>
              <a:ext cx="1493807" cy="523220"/>
            </a:xfrm>
            <a:prstGeom prst="rect">
              <a:avLst/>
            </a:prstGeom>
            <a:noFill/>
          </p:spPr>
          <p:txBody>
            <a:bodyPr wrap="none" rtlCol="0">
              <a:spAutoFit/>
            </a:bodyPr>
            <a:lstStyle/>
            <a:p>
              <a:r>
                <a:rPr lang="en-GB" sz="2800" dirty="0"/>
                <a:t>educates</a:t>
              </a:r>
            </a:p>
          </p:txBody>
        </p:sp>
      </p:grpSp>
      <p:grpSp>
        <p:nvGrpSpPr>
          <p:cNvPr id="18" name="Group 17">
            <a:extLst>
              <a:ext uri="{FF2B5EF4-FFF2-40B4-BE49-F238E27FC236}">
                <a16:creationId xmlns:a16="http://schemas.microsoft.com/office/drawing/2014/main" id="{9B0A13DE-1279-4C56-8488-32B10C503456}"/>
              </a:ext>
            </a:extLst>
          </p:cNvPr>
          <p:cNvGrpSpPr/>
          <p:nvPr/>
        </p:nvGrpSpPr>
        <p:grpSpPr>
          <a:xfrm>
            <a:off x="2997510" y="1690688"/>
            <a:ext cx="1797287" cy="2862322"/>
            <a:chOff x="2197100" y="1720840"/>
            <a:chExt cx="1797287" cy="2862322"/>
          </a:xfrm>
        </p:grpSpPr>
        <p:sp>
          <p:nvSpPr>
            <p:cNvPr id="5" name="TextBox 4">
              <a:extLst>
                <a:ext uri="{FF2B5EF4-FFF2-40B4-BE49-F238E27FC236}">
                  <a16:creationId xmlns:a16="http://schemas.microsoft.com/office/drawing/2014/main" id="{9E8D577D-F9B0-4C26-95CB-954FFDF61DBD}"/>
                </a:ext>
              </a:extLst>
            </p:cNvPr>
            <p:cNvSpPr txBox="1"/>
            <p:nvPr/>
          </p:nvSpPr>
          <p:spPr>
            <a:xfrm>
              <a:off x="2197100" y="1720840"/>
              <a:ext cx="1797287" cy="2862322"/>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u="sng" dirty="0" err="1"/>
                <a:t>schoolID</a:t>
              </a:r>
              <a:endParaRPr lang="en-GB" sz="3600" u="sng" dirty="0"/>
            </a:p>
            <a:p>
              <a:r>
                <a:rPr lang="en-GB" sz="3600" dirty="0"/>
                <a:t>name</a:t>
              </a:r>
            </a:p>
            <a:p>
              <a:r>
                <a:rPr lang="en-GB" sz="3600" dirty="0"/>
                <a:t>address</a:t>
              </a:r>
            </a:p>
            <a:p>
              <a:r>
                <a:rPr lang="en-GB" sz="3600" dirty="0"/>
                <a:t>phone</a:t>
              </a:r>
            </a:p>
          </p:txBody>
        </p:sp>
        <p:sp>
          <p:nvSpPr>
            <p:cNvPr id="16" name="TextBox 15">
              <a:extLst>
                <a:ext uri="{FF2B5EF4-FFF2-40B4-BE49-F238E27FC236}">
                  <a16:creationId xmlns:a16="http://schemas.microsoft.com/office/drawing/2014/main" id="{376D26D0-231A-4B18-94C4-B630246DF9C8}"/>
                </a:ext>
              </a:extLst>
            </p:cNvPr>
            <p:cNvSpPr txBox="1"/>
            <p:nvPr/>
          </p:nvSpPr>
          <p:spPr>
            <a:xfrm>
              <a:off x="2197100" y="1720840"/>
              <a:ext cx="1797287" cy="646331"/>
            </a:xfrm>
            <a:prstGeom prst="rect">
              <a:avLst/>
            </a:prstGeom>
            <a:solidFill>
              <a:schemeClr val="bg2">
                <a:lumMod val="90000"/>
              </a:schemeClr>
            </a:solidFill>
            <a:ln>
              <a:solidFill>
                <a:schemeClr val="tx1"/>
              </a:solidFill>
            </a:ln>
          </p:spPr>
          <p:txBody>
            <a:bodyPr wrap="square" rtlCol="0">
              <a:spAutoFit/>
            </a:bodyPr>
            <a:lstStyle/>
            <a:p>
              <a:r>
                <a:rPr lang="en-GB" sz="3600" b="1" dirty="0"/>
                <a:t>school</a:t>
              </a:r>
            </a:p>
          </p:txBody>
        </p:sp>
      </p:grpSp>
      <p:grpSp>
        <p:nvGrpSpPr>
          <p:cNvPr id="19" name="Group 18">
            <a:extLst>
              <a:ext uri="{FF2B5EF4-FFF2-40B4-BE49-F238E27FC236}">
                <a16:creationId xmlns:a16="http://schemas.microsoft.com/office/drawing/2014/main" id="{1F565CB8-10B5-434D-9118-818C6E69EDA5}"/>
              </a:ext>
            </a:extLst>
          </p:cNvPr>
          <p:cNvGrpSpPr/>
          <p:nvPr/>
        </p:nvGrpSpPr>
        <p:grpSpPr>
          <a:xfrm>
            <a:off x="7175029" y="1690688"/>
            <a:ext cx="2026518" cy="3416320"/>
            <a:chOff x="7175029" y="1690688"/>
            <a:chExt cx="2026518" cy="3416320"/>
          </a:xfrm>
        </p:grpSpPr>
        <p:sp>
          <p:nvSpPr>
            <p:cNvPr id="6" name="TextBox 5">
              <a:extLst>
                <a:ext uri="{FF2B5EF4-FFF2-40B4-BE49-F238E27FC236}">
                  <a16:creationId xmlns:a16="http://schemas.microsoft.com/office/drawing/2014/main" id="{06B8E8D6-C037-4571-B1CB-E4BD14A48ED7}"/>
                </a:ext>
              </a:extLst>
            </p:cNvPr>
            <p:cNvSpPr txBox="1"/>
            <p:nvPr/>
          </p:nvSpPr>
          <p:spPr>
            <a:xfrm>
              <a:off x="7175030" y="1690688"/>
              <a:ext cx="2026517" cy="3416320"/>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u="sng" dirty="0" err="1"/>
                <a:t>pupilID</a:t>
              </a:r>
              <a:endParaRPr lang="en-GB" sz="3600" u="sng" dirty="0"/>
            </a:p>
            <a:p>
              <a:r>
                <a:rPr lang="en-GB" sz="3600" dirty="0" err="1"/>
                <a:t>schoolID</a:t>
              </a:r>
              <a:r>
                <a:rPr lang="en-GB" sz="3600" dirty="0"/>
                <a:t>*</a:t>
              </a:r>
            </a:p>
            <a:p>
              <a:r>
                <a:rPr lang="en-GB" sz="3600" dirty="0"/>
                <a:t>name</a:t>
              </a:r>
            </a:p>
            <a:p>
              <a:r>
                <a:rPr lang="en-GB" sz="3600" dirty="0"/>
                <a:t>dob</a:t>
              </a:r>
            </a:p>
            <a:p>
              <a:r>
                <a:rPr lang="en-GB" sz="3600" dirty="0"/>
                <a:t>transport</a:t>
              </a:r>
            </a:p>
          </p:txBody>
        </p:sp>
        <p:sp>
          <p:nvSpPr>
            <p:cNvPr id="17" name="TextBox 16">
              <a:extLst>
                <a:ext uri="{FF2B5EF4-FFF2-40B4-BE49-F238E27FC236}">
                  <a16:creationId xmlns:a16="http://schemas.microsoft.com/office/drawing/2014/main" id="{F7586BB6-2057-4CF7-A670-A8A12468AEB7}"/>
                </a:ext>
              </a:extLst>
            </p:cNvPr>
            <p:cNvSpPr txBox="1"/>
            <p:nvPr/>
          </p:nvSpPr>
          <p:spPr>
            <a:xfrm>
              <a:off x="7175029" y="1690688"/>
              <a:ext cx="2026518" cy="646331"/>
            </a:xfrm>
            <a:prstGeom prst="rect">
              <a:avLst/>
            </a:prstGeom>
            <a:solidFill>
              <a:schemeClr val="bg2">
                <a:lumMod val="90000"/>
              </a:schemeClr>
            </a:solidFill>
            <a:ln>
              <a:solidFill>
                <a:schemeClr val="tx1"/>
              </a:solidFill>
            </a:ln>
          </p:spPr>
          <p:txBody>
            <a:bodyPr wrap="square" rtlCol="0">
              <a:spAutoFit/>
            </a:bodyPr>
            <a:lstStyle/>
            <a:p>
              <a:r>
                <a:rPr lang="en-GB" sz="3600" b="1" dirty="0"/>
                <a:t>pupil</a:t>
              </a:r>
            </a:p>
          </p:txBody>
        </p:sp>
      </p:grpSp>
    </p:spTree>
    <p:extLst>
      <p:ext uri="{BB962C8B-B14F-4D97-AF65-F5344CB8AC3E}">
        <p14:creationId xmlns:p14="http://schemas.microsoft.com/office/powerpoint/2010/main" val="592100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xEl>
                                              <p:pRg st="0" end="0"/>
                                            </p:txEl>
                                          </p:spTgt>
                                        </p:tgtEl>
                                        <p:attrNameLst>
                                          <p:attrName>style.visibility</p:attrName>
                                        </p:attrNameLst>
                                      </p:cBhvr>
                                      <p:to>
                                        <p:strVal val="visible"/>
                                      </p:to>
                                    </p:set>
                                    <p:animEffect transition="in" filter="wipe(left)">
                                      <p:cBhvr>
                                        <p:cTn id="22"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1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ER Diagram – Attributes (2)</a:t>
            </a:r>
          </a:p>
        </p:txBody>
      </p:sp>
      <p:grpSp>
        <p:nvGrpSpPr>
          <p:cNvPr id="13" name="Group 12">
            <a:extLst>
              <a:ext uri="{FF2B5EF4-FFF2-40B4-BE49-F238E27FC236}">
                <a16:creationId xmlns:a16="http://schemas.microsoft.com/office/drawing/2014/main" id="{EC8DFF32-96F2-4571-BBF3-A5D2E50DF81A}"/>
              </a:ext>
            </a:extLst>
          </p:cNvPr>
          <p:cNvGrpSpPr/>
          <p:nvPr/>
        </p:nvGrpSpPr>
        <p:grpSpPr>
          <a:xfrm>
            <a:off x="4794797" y="2643188"/>
            <a:ext cx="2380233" cy="707079"/>
            <a:chOff x="4971129" y="2643188"/>
            <a:chExt cx="2203901" cy="707079"/>
          </a:xfrm>
        </p:grpSpPr>
        <p:cxnSp>
          <p:nvCxnSpPr>
            <p:cNvPr id="9" name="Connector: Elbow 8">
              <a:extLst>
                <a:ext uri="{FF2B5EF4-FFF2-40B4-BE49-F238E27FC236}">
                  <a16:creationId xmlns:a16="http://schemas.microsoft.com/office/drawing/2014/main" id="{DE6C70CF-28C5-4A35-AB1C-6B47F69960AF}"/>
                </a:ext>
              </a:extLst>
            </p:cNvPr>
            <p:cNvCxnSpPr>
              <a:cxnSpLocks/>
            </p:cNvCxnSpPr>
            <p:nvPr/>
          </p:nvCxnSpPr>
          <p:spPr>
            <a:xfrm>
              <a:off x="4971129" y="2643188"/>
              <a:ext cx="2203901" cy="535781"/>
            </a:xfrm>
            <a:prstGeom prst="bentConnector3">
              <a:avLst>
                <a:gd name="adj1"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8910025-4C69-4A6E-BF1C-9555FC0FD11D}"/>
                </a:ext>
              </a:extLst>
            </p:cNvPr>
            <p:cNvCxnSpPr/>
            <p:nvPr/>
          </p:nvCxnSpPr>
          <p:spPr>
            <a:xfrm flipV="1">
              <a:off x="6856731" y="2990268"/>
              <a:ext cx="318299" cy="18870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62F2AB8-D422-4D9C-B9B3-DC00BA244F9E}"/>
                </a:ext>
              </a:extLst>
            </p:cNvPr>
            <p:cNvCxnSpPr/>
            <p:nvPr/>
          </p:nvCxnSpPr>
          <p:spPr>
            <a:xfrm>
              <a:off x="6856731" y="3178969"/>
              <a:ext cx="318299" cy="17129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9B0A13DE-1279-4C56-8488-32B10C503456}"/>
              </a:ext>
            </a:extLst>
          </p:cNvPr>
          <p:cNvGrpSpPr/>
          <p:nvPr/>
        </p:nvGrpSpPr>
        <p:grpSpPr>
          <a:xfrm>
            <a:off x="2997510" y="1690688"/>
            <a:ext cx="1797287" cy="2862322"/>
            <a:chOff x="2197100" y="1720840"/>
            <a:chExt cx="1797287" cy="2862322"/>
          </a:xfrm>
        </p:grpSpPr>
        <p:sp>
          <p:nvSpPr>
            <p:cNvPr id="5" name="TextBox 4">
              <a:extLst>
                <a:ext uri="{FF2B5EF4-FFF2-40B4-BE49-F238E27FC236}">
                  <a16:creationId xmlns:a16="http://schemas.microsoft.com/office/drawing/2014/main" id="{9E8D577D-F9B0-4C26-95CB-954FFDF61DBD}"/>
                </a:ext>
              </a:extLst>
            </p:cNvPr>
            <p:cNvSpPr txBox="1"/>
            <p:nvPr/>
          </p:nvSpPr>
          <p:spPr>
            <a:xfrm>
              <a:off x="2197100" y="1720840"/>
              <a:ext cx="1797287" cy="2862322"/>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u="sng" dirty="0" err="1"/>
                <a:t>schoolID</a:t>
              </a:r>
              <a:endParaRPr lang="en-GB" sz="3600" u="sng" dirty="0"/>
            </a:p>
            <a:p>
              <a:r>
                <a:rPr lang="en-GB" sz="3600" dirty="0"/>
                <a:t>name</a:t>
              </a:r>
            </a:p>
            <a:p>
              <a:r>
                <a:rPr lang="en-GB" sz="3600" dirty="0"/>
                <a:t>address</a:t>
              </a:r>
            </a:p>
            <a:p>
              <a:r>
                <a:rPr lang="en-GB" sz="3600" dirty="0"/>
                <a:t>phone</a:t>
              </a:r>
            </a:p>
          </p:txBody>
        </p:sp>
        <p:sp>
          <p:nvSpPr>
            <p:cNvPr id="16" name="TextBox 15">
              <a:extLst>
                <a:ext uri="{FF2B5EF4-FFF2-40B4-BE49-F238E27FC236}">
                  <a16:creationId xmlns:a16="http://schemas.microsoft.com/office/drawing/2014/main" id="{376D26D0-231A-4B18-94C4-B630246DF9C8}"/>
                </a:ext>
              </a:extLst>
            </p:cNvPr>
            <p:cNvSpPr txBox="1"/>
            <p:nvPr/>
          </p:nvSpPr>
          <p:spPr>
            <a:xfrm>
              <a:off x="2197100" y="1720840"/>
              <a:ext cx="1797287" cy="646331"/>
            </a:xfrm>
            <a:prstGeom prst="rect">
              <a:avLst/>
            </a:prstGeom>
            <a:solidFill>
              <a:schemeClr val="bg2">
                <a:lumMod val="90000"/>
              </a:schemeClr>
            </a:solidFill>
            <a:ln>
              <a:solidFill>
                <a:schemeClr val="tx1"/>
              </a:solidFill>
            </a:ln>
          </p:spPr>
          <p:txBody>
            <a:bodyPr wrap="square" rtlCol="0">
              <a:spAutoFit/>
            </a:bodyPr>
            <a:lstStyle/>
            <a:p>
              <a:r>
                <a:rPr lang="en-GB" sz="3600" b="1" dirty="0"/>
                <a:t>school</a:t>
              </a:r>
            </a:p>
          </p:txBody>
        </p:sp>
      </p:grpSp>
      <p:grpSp>
        <p:nvGrpSpPr>
          <p:cNvPr id="19" name="Group 18">
            <a:extLst>
              <a:ext uri="{FF2B5EF4-FFF2-40B4-BE49-F238E27FC236}">
                <a16:creationId xmlns:a16="http://schemas.microsoft.com/office/drawing/2014/main" id="{1F565CB8-10B5-434D-9118-818C6E69EDA5}"/>
              </a:ext>
            </a:extLst>
          </p:cNvPr>
          <p:cNvGrpSpPr/>
          <p:nvPr/>
        </p:nvGrpSpPr>
        <p:grpSpPr>
          <a:xfrm>
            <a:off x="7175029" y="1690688"/>
            <a:ext cx="2026518" cy="3416320"/>
            <a:chOff x="7175029" y="1690688"/>
            <a:chExt cx="2026518" cy="3416320"/>
          </a:xfrm>
        </p:grpSpPr>
        <p:sp>
          <p:nvSpPr>
            <p:cNvPr id="6" name="TextBox 5">
              <a:extLst>
                <a:ext uri="{FF2B5EF4-FFF2-40B4-BE49-F238E27FC236}">
                  <a16:creationId xmlns:a16="http://schemas.microsoft.com/office/drawing/2014/main" id="{06B8E8D6-C037-4571-B1CB-E4BD14A48ED7}"/>
                </a:ext>
              </a:extLst>
            </p:cNvPr>
            <p:cNvSpPr txBox="1"/>
            <p:nvPr/>
          </p:nvSpPr>
          <p:spPr>
            <a:xfrm>
              <a:off x="7175030" y="1690688"/>
              <a:ext cx="2026517" cy="3416320"/>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u="sng" dirty="0" err="1"/>
                <a:t>pupilID</a:t>
              </a:r>
              <a:endParaRPr lang="en-GB" sz="3600" u="sng" dirty="0"/>
            </a:p>
            <a:p>
              <a:r>
                <a:rPr lang="en-GB" sz="3600" dirty="0" err="1"/>
                <a:t>schoolID</a:t>
              </a:r>
              <a:r>
                <a:rPr lang="en-GB" sz="3600" dirty="0"/>
                <a:t>*</a:t>
              </a:r>
            </a:p>
            <a:p>
              <a:r>
                <a:rPr lang="en-GB" sz="3600" dirty="0"/>
                <a:t>name</a:t>
              </a:r>
            </a:p>
            <a:p>
              <a:r>
                <a:rPr lang="en-GB" sz="3600" dirty="0"/>
                <a:t>dob</a:t>
              </a:r>
            </a:p>
            <a:p>
              <a:r>
                <a:rPr lang="en-GB" sz="3600" dirty="0"/>
                <a:t>transport</a:t>
              </a:r>
            </a:p>
          </p:txBody>
        </p:sp>
        <p:sp>
          <p:nvSpPr>
            <p:cNvPr id="17" name="TextBox 16">
              <a:extLst>
                <a:ext uri="{FF2B5EF4-FFF2-40B4-BE49-F238E27FC236}">
                  <a16:creationId xmlns:a16="http://schemas.microsoft.com/office/drawing/2014/main" id="{F7586BB6-2057-4CF7-A670-A8A12468AEB7}"/>
                </a:ext>
              </a:extLst>
            </p:cNvPr>
            <p:cNvSpPr txBox="1"/>
            <p:nvPr/>
          </p:nvSpPr>
          <p:spPr>
            <a:xfrm>
              <a:off x="7175029" y="1690688"/>
              <a:ext cx="2026518" cy="646331"/>
            </a:xfrm>
            <a:prstGeom prst="rect">
              <a:avLst/>
            </a:prstGeom>
            <a:solidFill>
              <a:schemeClr val="bg2">
                <a:lumMod val="90000"/>
              </a:schemeClr>
            </a:solidFill>
            <a:ln>
              <a:solidFill>
                <a:schemeClr val="tx1"/>
              </a:solidFill>
            </a:ln>
          </p:spPr>
          <p:txBody>
            <a:bodyPr wrap="square" rtlCol="0">
              <a:spAutoFit/>
            </a:bodyPr>
            <a:lstStyle/>
            <a:p>
              <a:r>
                <a:rPr lang="en-GB" sz="3600" b="1" dirty="0"/>
                <a:t>pupil</a:t>
              </a:r>
            </a:p>
          </p:txBody>
        </p:sp>
      </p:grpSp>
    </p:spTree>
    <p:extLst>
      <p:ext uri="{BB962C8B-B14F-4D97-AF65-F5344CB8AC3E}">
        <p14:creationId xmlns:p14="http://schemas.microsoft.com/office/powerpoint/2010/main" val="191804875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a:xfrm>
            <a:off x="838200" y="327025"/>
            <a:ext cx="10515600" cy="1325563"/>
          </a:xfrm>
        </p:spPr>
        <p:txBody>
          <a:bodyPr/>
          <a:lstStyle/>
          <a:p>
            <a:r>
              <a:rPr lang="en-GB" dirty="0"/>
              <a:t>Entity Relationship Diagram</a:t>
            </a:r>
          </a:p>
        </p:txBody>
      </p:sp>
      <p:sp>
        <p:nvSpPr>
          <p:cNvPr id="8" name="Entity 1">
            <a:extLst>
              <a:ext uri="{FF2B5EF4-FFF2-40B4-BE49-F238E27FC236}">
                <a16:creationId xmlns:a16="http://schemas.microsoft.com/office/drawing/2014/main" id="{9E8D577D-F9B0-4C26-95CB-954FFDF61DBD}"/>
              </a:ext>
            </a:extLst>
          </p:cNvPr>
          <p:cNvSpPr txBox="1"/>
          <p:nvPr/>
        </p:nvSpPr>
        <p:spPr>
          <a:xfrm>
            <a:off x="2585495" y="3069001"/>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sp>
        <p:nvSpPr>
          <p:cNvPr id="10" name="Entity 2">
            <a:extLst>
              <a:ext uri="{FF2B5EF4-FFF2-40B4-BE49-F238E27FC236}">
                <a16:creationId xmlns:a16="http://schemas.microsoft.com/office/drawing/2014/main" id="{06B8E8D6-C037-4571-B1CB-E4BD14A48ED7}"/>
              </a:ext>
            </a:extLst>
          </p:cNvPr>
          <p:cNvSpPr txBox="1"/>
          <p:nvPr/>
        </p:nvSpPr>
        <p:spPr>
          <a:xfrm>
            <a:off x="7589049" y="3069000"/>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cxnSp>
        <p:nvCxnSpPr>
          <p:cNvPr id="3" name="1 to 1"/>
          <p:cNvCxnSpPr>
            <a:stCxn id="8" idx="3"/>
            <a:endCxn id="10" idx="1"/>
          </p:cNvCxnSpPr>
          <p:nvPr/>
        </p:nvCxnSpPr>
        <p:spPr>
          <a:xfrm flipV="1">
            <a:off x="4385495" y="3429000"/>
            <a:ext cx="3203554"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63E3461-DC5D-48CF-AE13-69B629EAA16E}"/>
              </a:ext>
            </a:extLst>
          </p:cNvPr>
          <p:cNvSpPr txBox="1"/>
          <p:nvPr/>
        </p:nvSpPr>
        <p:spPr>
          <a:xfrm>
            <a:off x="4845196" y="2817613"/>
            <a:ext cx="2284151" cy="646331"/>
          </a:xfrm>
          <a:prstGeom prst="rect">
            <a:avLst/>
          </a:prstGeom>
          <a:noFill/>
        </p:spPr>
        <p:txBody>
          <a:bodyPr wrap="none" rtlCol="0">
            <a:spAutoFit/>
          </a:bodyPr>
          <a:lstStyle/>
          <a:p>
            <a:pPr algn="ctr"/>
            <a:r>
              <a:rPr lang="en-GB" sz="3600" dirty="0"/>
              <a:t>description</a:t>
            </a:r>
            <a:endParaRPr lang="en-GB" sz="2800" dirty="0"/>
          </a:p>
        </p:txBody>
      </p:sp>
      <p:sp>
        <p:nvSpPr>
          <p:cNvPr id="27" name="Callout: Bent Line with No Border 4">
            <a:extLst>
              <a:ext uri="{FF2B5EF4-FFF2-40B4-BE49-F238E27FC236}">
                <a16:creationId xmlns:a16="http://schemas.microsoft.com/office/drawing/2014/main" id="{46F76525-63F7-433C-B5AB-86D8EDEDE006}"/>
              </a:ext>
            </a:extLst>
          </p:cNvPr>
          <p:cNvSpPr/>
          <p:nvPr/>
        </p:nvSpPr>
        <p:spPr>
          <a:xfrm>
            <a:off x="7129347" y="1991535"/>
            <a:ext cx="2049930" cy="492070"/>
          </a:xfrm>
          <a:prstGeom prst="callout2">
            <a:avLst>
              <a:gd name="adj1" fmla="val 49201"/>
              <a:gd name="adj2" fmla="val -108"/>
              <a:gd name="adj3" fmla="val 49928"/>
              <a:gd name="adj4" fmla="val -57312"/>
              <a:gd name="adj5" fmla="val 187803"/>
              <a:gd name="adj6" fmla="val -57665"/>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Relationship</a:t>
            </a:r>
          </a:p>
        </p:txBody>
      </p:sp>
      <p:sp>
        <p:nvSpPr>
          <p:cNvPr id="9" name="Entity 1">
            <a:extLst>
              <a:ext uri="{FF2B5EF4-FFF2-40B4-BE49-F238E27FC236}">
                <a16:creationId xmlns:a16="http://schemas.microsoft.com/office/drawing/2014/main" id="{C1324649-E6EB-4AD4-AFC0-F8EC4373A5F6}"/>
              </a:ext>
            </a:extLst>
          </p:cNvPr>
          <p:cNvSpPr txBox="1"/>
          <p:nvPr/>
        </p:nvSpPr>
        <p:spPr>
          <a:xfrm>
            <a:off x="2585495" y="4917193"/>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noun</a:t>
            </a:r>
          </a:p>
        </p:txBody>
      </p:sp>
      <p:sp>
        <p:nvSpPr>
          <p:cNvPr id="11" name="Entity 2">
            <a:extLst>
              <a:ext uri="{FF2B5EF4-FFF2-40B4-BE49-F238E27FC236}">
                <a16:creationId xmlns:a16="http://schemas.microsoft.com/office/drawing/2014/main" id="{8F808A6D-EE9E-46EA-98D3-768AD9FB9352}"/>
              </a:ext>
            </a:extLst>
          </p:cNvPr>
          <p:cNvSpPr txBox="1"/>
          <p:nvPr/>
        </p:nvSpPr>
        <p:spPr>
          <a:xfrm>
            <a:off x="7589049" y="4917192"/>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noun</a:t>
            </a:r>
          </a:p>
        </p:txBody>
      </p:sp>
      <p:cxnSp>
        <p:nvCxnSpPr>
          <p:cNvPr id="12" name="1 to 1">
            <a:extLst>
              <a:ext uri="{FF2B5EF4-FFF2-40B4-BE49-F238E27FC236}">
                <a16:creationId xmlns:a16="http://schemas.microsoft.com/office/drawing/2014/main" id="{33419EE8-B100-4602-A09A-5C50C22B889F}"/>
              </a:ext>
            </a:extLst>
          </p:cNvPr>
          <p:cNvCxnSpPr>
            <a:stCxn id="9" idx="3"/>
            <a:endCxn id="11" idx="1"/>
          </p:cNvCxnSpPr>
          <p:nvPr/>
        </p:nvCxnSpPr>
        <p:spPr>
          <a:xfrm flipV="1">
            <a:off x="4385495" y="5277192"/>
            <a:ext cx="3203554"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5DC47B9-3D2E-4E16-9AC3-CBB2180D962E}"/>
              </a:ext>
            </a:extLst>
          </p:cNvPr>
          <p:cNvSpPr txBox="1"/>
          <p:nvPr/>
        </p:nvSpPr>
        <p:spPr>
          <a:xfrm>
            <a:off x="5477196" y="4700315"/>
            <a:ext cx="1020151" cy="646331"/>
          </a:xfrm>
          <a:prstGeom prst="rect">
            <a:avLst/>
          </a:prstGeom>
          <a:noFill/>
        </p:spPr>
        <p:txBody>
          <a:bodyPr wrap="none" rtlCol="0">
            <a:spAutoFit/>
          </a:bodyPr>
          <a:lstStyle/>
          <a:p>
            <a:pPr algn="ctr"/>
            <a:r>
              <a:rPr lang="en-GB" sz="3600" dirty="0"/>
              <a:t>verb</a:t>
            </a:r>
          </a:p>
        </p:txBody>
      </p:sp>
      <p:sp>
        <p:nvSpPr>
          <p:cNvPr id="14" name="TextBox 13">
            <a:extLst>
              <a:ext uri="{FF2B5EF4-FFF2-40B4-BE49-F238E27FC236}">
                <a16:creationId xmlns:a16="http://schemas.microsoft.com/office/drawing/2014/main" id="{CDF67095-1826-46BB-BF76-59AEAED3364C}"/>
              </a:ext>
            </a:extLst>
          </p:cNvPr>
          <p:cNvSpPr txBox="1"/>
          <p:nvPr/>
        </p:nvSpPr>
        <p:spPr>
          <a:xfrm>
            <a:off x="2597808" y="6086892"/>
            <a:ext cx="6996383" cy="584775"/>
          </a:xfrm>
          <a:prstGeom prst="rect">
            <a:avLst/>
          </a:prstGeom>
          <a:noFill/>
        </p:spPr>
        <p:txBody>
          <a:bodyPr wrap="square" rtlCol="0" anchor="ctr" anchorCtr="0">
            <a:spAutoFit/>
          </a:bodyPr>
          <a:lstStyle/>
          <a:p>
            <a:pPr algn="ctr"/>
            <a:r>
              <a:rPr lang="en-GB" sz="3200" b="1" dirty="0">
                <a:solidFill>
                  <a:srgbClr val="7030A0"/>
                </a:solidFill>
              </a:rPr>
              <a:t>Attributes not always shown</a:t>
            </a:r>
          </a:p>
        </p:txBody>
      </p:sp>
    </p:spTree>
    <p:extLst>
      <p:ext uri="{BB962C8B-B14F-4D97-AF65-F5344CB8AC3E}">
        <p14:creationId xmlns:p14="http://schemas.microsoft.com/office/powerpoint/2010/main" val="246736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1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10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left)">
                                      <p:cBhvr>
                                        <p:cTn id="27" dur="10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childTnLst>
                                </p:cTn>
                              </p:par>
                            </p:childTnLst>
                          </p:cTn>
                        </p:par>
                        <p:par>
                          <p:cTn id="33" fill="hold">
                            <p:stCondLst>
                              <p:cond delay="1000"/>
                            </p:stCondLst>
                            <p:childTnLst>
                              <p:par>
                                <p:cTn id="34" presetID="10" presetClass="entr" presetSubtype="0" fill="hold" grpId="0" nodeType="after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10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left)">
                                      <p:cBhvr>
                                        <p:cTn id="41" dur="1000"/>
                                        <p:tgtEl>
                                          <p:spTgt spid="12"/>
                                        </p:tgtEl>
                                      </p:cBhvr>
                                    </p:animEffect>
                                  </p:childTnLst>
                                </p:cTn>
                              </p:par>
                            </p:childTnLst>
                          </p:cTn>
                        </p:par>
                        <p:par>
                          <p:cTn id="42" fill="hold">
                            <p:stCondLst>
                              <p:cond delay="1000"/>
                            </p:stCondLst>
                            <p:childTnLst>
                              <p:par>
                                <p:cTn id="43" presetID="10" presetClass="entr" presetSubtype="0" fill="hold" grpId="0" nodeType="after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10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4">
                                            <p:txEl>
                                              <p:pRg st="0" end="0"/>
                                            </p:txEl>
                                          </p:spTgt>
                                        </p:tgtEl>
                                        <p:attrNameLst>
                                          <p:attrName>style.visibility</p:attrName>
                                        </p:attrNameLst>
                                      </p:cBhvr>
                                      <p:to>
                                        <p:strVal val="visible"/>
                                      </p:to>
                                    </p:set>
                                    <p:animEffect transition="in" filter="wipe(left)">
                                      <p:cBhvr>
                                        <p:cTn id="50" dur="20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38" grpId="0"/>
      <p:bldP spid="27" grpId="0" animBg="1"/>
      <p:bldP spid="9" grpId="0" animBg="1"/>
      <p:bldP spid="11" grpId="0" animBg="1"/>
      <p:bldP spid="13" grpId="0"/>
      <p:bldP spid="14" grpId="0" uiExpand="1" build="p"/>
    </p:bldLst>
  </p:timing>
</p:sld>
</file>

<file path=ppt/slides/slide1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a:xfrm>
            <a:off x="838200" y="327025"/>
            <a:ext cx="10515600" cy="1325563"/>
          </a:xfrm>
        </p:spPr>
        <p:txBody>
          <a:bodyPr/>
          <a:lstStyle/>
          <a:p>
            <a:r>
              <a:rPr lang="en-GB" dirty="0"/>
              <a:t>Entity Relationship Diagram</a:t>
            </a:r>
          </a:p>
        </p:txBody>
      </p:sp>
      <p:sp>
        <p:nvSpPr>
          <p:cNvPr id="8" name="Entity 1">
            <a:extLst>
              <a:ext uri="{FF2B5EF4-FFF2-40B4-BE49-F238E27FC236}">
                <a16:creationId xmlns:a16="http://schemas.microsoft.com/office/drawing/2014/main" id="{9E8D577D-F9B0-4C26-95CB-954FFDF61DBD}"/>
              </a:ext>
            </a:extLst>
          </p:cNvPr>
          <p:cNvSpPr txBox="1"/>
          <p:nvPr/>
        </p:nvSpPr>
        <p:spPr>
          <a:xfrm>
            <a:off x="2585495" y="3069001"/>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endParaRPr lang="en-GB" sz="3600" dirty="0"/>
          </a:p>
        </p:txBody>
      </p:sp>
      <p:sp>
        <p:nvSpPr>
          <p:cNvPr id="10" name="Entity 2">
            <a:extLst>
              <a:ext uri="{FF2B5EF4-FFF2-40B4-BE49-F238E27FC236}">
                <a16:creationId xmlns:a16="http://schemas.microsoft.com/office/drawing/2014/main" id="{06B8E8D6-C037-4571-B1CB-E4BD14A48ED7}"/>
              </a:ext>
            </a:extLst>
          </p:cNvPr>
          <p:cNvSpPr txBox="1"/>
          <p:nvPr/>
        </p:nvSpPr>
        <p:spPr>
          <a:xfrm>
            <a:off x="7589049" y="3069000"/>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endParaRPr lang="en-GB" sz="3600" dirty="0"/>
          </a:p>
        </p:txBody>
      </p:sp>
      <p:cxnSp>
        <p:nvCxnSpPr>
          <p:cNvPr id="3" name="1 to 1"/>
          <p:cNvCxnSpPr>
            <a:stCxn id="8" idx="3"/>
            <a:endCxn id="10" idx="1"/>
          </p:cNvCxnSpPr>
          <p:nvPr/>
        </p:nvCxnSpPr>
        <p:spPr>
          <a:xfrm flipV="1">
            <a:off x="4385495" y="3429000"/>
            <a:ext cx="3203554"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Entity 1">
            <a:extLst>
              <a:ext uri="{FF2B5EF4-FFF2-40B4-BE49-F238E27FC236}">
                <a16:creationId xmlns:a16="http://schemas.microsoft.com/office/drawing/2014/main" id="{C1324649-E6EB-4AD4-AFC0-F8EC4373A5F6}"/>
              </a:ext>
            </a:extLst>
          </p:cNvPr>
          <p:cNvSpPr txBox="1"/>
          <p:nvPr/>
        </p:nvSpPr>
        <p:spPr>
          <a:xfrm>
            <a:off x="2585495" y="4917193"/>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endParaRPr lang="en-GB" sz="3600" dirty="0"/>
          </a:p>
        </p:txBody>
      </p:sp>
      <p:sp>
        <p:nvSpPr>
          <p:cNvPr id="11" name="Entity 2">
            <a:extLst>
              <a:ext uri="{FF2B5EF4-FFF2-40B4-BE49-F238E27FC236}">
                <a16:creationId xmlns:a16="http://schemas.microsoft.com/office/drawing/2014/main" id="{8F808A6D-EE9E-46EA-98D3-768AD9FB9352}"/>
              </a:ext>
            </a:extLst>
          </p:cNvPr>
          <p:cNvSpPr txBox="1"/>
          <p:nvPr/>
        </p:nvSpPr>
        <p:spPr>
          <a:xfrm>
            <a:off x="7589049" y="4917192"/>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endParaRPr lang="en-GB" sz="3600" dirty="0"/>
          </a:p>
        </p:txBody>
      </p:sp>
      <p:cxnSp>
        <p:nvCxnSpPr>
          <p:cNvPr id="12" name="1 to 1">
            <a:extLst>
              <a:ext uri="{FF2B5EF4-FFF2-40B4-BE49-F238E27FC236}">
                <a16:creationId xmlns:a16="http://schemas.microsoft.com/office/drawing/2014/main" id="{33419EE8-B100-4602-A09A-5C50C22B889F}"/>
              </a:ext>
            </a:extLst>
          </p:cNvPr>
          <p:cNvCxnSpPr>
            <a:stCxn id="9" idx="3"/>
            <a:endCxn id="11" idx="1"/>
          </p:cNvCxnSpPr>
          <p:nvPr/>
        </p:nvCxnSpPr>
        <p:spPr>
          <a:xfrm flipV="1">
            <a:off x="4385495" y="5277192"/>
            <a:ext cx="3203554"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901046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a:xfrm>
            <a:off x="838200" y="327025"/>
            <a:ext cx="10515600" cy="1325563"/>
          </a:xfrm>
        </p:spPr>
        <p:txBody>
          <a:bodyPr/>
          <a:lstStyle/>
          <a:p>
            <a:r>
              <a:rPr lang="en-GB" dirty="0"/>
              <a:t>Cardinality: 1 to 1</a:t>
            </a:r>
          </a:p>
        </p:txBody>
      </p:sp>
      <p:sp>
        <p:nvSpPr>
          <p:cNvPr id="11" name="Entity 3">
            <a:extLst>
              <a:ext uri="{FF2B5EF4-FFF2-40B4-BE49-F238E27FC236}">
                <a16:creationId xmlns:a16="http://schemas.microsoft.com/office/drawing/2014/main" id="{9E8D577D-F9B0-4C26-95CB-954FFDF61DBD}"/>
              </a:ext>
            </a:extLst>
          </p:cNvPr>
          <p:cNvSpPr txBox="1"/>
          <p:nvPr/>
        </p:nvSpPr>
        <p:spPr>
          <a:xfrm>
            <a:off x="1831595" y="3959608"/>
            <a:ext cx="2592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headteacher</a:t>
            </a:r>
          </a:p>
        </p:txBody>
      </p:sp>
      <p:sp>
        <p:nvSpPr>
          <p:cNvPr id="12" name="Entity 4">
            <a:extLst>
              <a:ext uri="{FF2B5EF4-FFF2-40B4-BE49-F238E27FC236}">
                <a16:creationId xmlns:a16="http://schemas.microsoft.com/office/drawing/2014/main" id="{06B8E8D6-C037-4571-B1CB-E4BD14A48ED7}"/>
              </a:ext>
            </a:extLst>
          </p:cNvPr>
          <p:cNvSpPr txBox="1"/>
          <p:nvPr/>
        </p:nvSpPr>
        <p:spPr>
          <a:xfrm>
            <a:off x="7627149" y="395960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school</a:t>
            </a:r>
          </a:p>
        </p:txBody>
      </p:sp>
      <p:grpSp>
        <p:nvGrpSpPr>
          <p:cNvPr id="5" name="Group 4">
            <a:extLst>
              <a:ext uri="{FF2B5EF4-FFF2-40B4-BE49-F238E27FC236}">
                <a16:creationId xmlns:a16="http://schemas.microsoft.com/office/drawing/2014/main" id="{79E56CDC-EC91-4DB6-AADD-C0BDCAA78CE4}"/>
              </a:ext>
            </a:extLst>
          </p:cNvPr>
          <p:cNvGrpSpPr/>
          <p:nvPr/>
        </p:nvGrpSpPr>
        <p:grpSpPr>
          <a:xfrm>
            <a:off x="2623595" y="2159766"/>
            <a:ext cx="6803554" cy="978698"/>
            <a:chOff x="2623595" y="2159766"/>
            <a:chExt cx="6803554" cy="978698"/>
          </a:xfrm>
        </p:grpSpPr>
        <p:sp>
          <p:nvSpPr>
            <p:cNvPr id="8" name="Entity 1">
              <a:extLst>
                <a:ext uri="{FF2B5EF4-FFF2-40B4-BE49-F238E27FC236}">
                  <a16:creationId xmlns:a16="http://schemas.microsoft.com/office/drawing/2014/main" id="{9E8D577D-F9B0-4C26-95CB-954FFDF61DBD}"/>
                </a:ext>
              </a:extLst>
            </p:cNvPr>
            <p:cNvSpPr txBox="1"/>
            <p:nvPr/>
          </p:nvSpPr>
          <p:spPr>
            <a:xfrm>
              <a:off x="2623595" y="2418464"/>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sp>
          <p:nvSpPr>
            <p:cNvPr id="10" name="Entity 2">
              <a:extLst>
                <a:ext uri="{FF2B5EF4-FFF2-40B4-BE49-F238E27FC236}">
                  <a16:creationId xmlns:a16="http://schemas.microsoft.com/office/drawing/2014/main" id="{06B8E8D6-C037-4571-B1CB-E4BD14A48ED7}"/>
                </a:ext>
              </a:extLst>
            </p:cNvPr>
            <p:cNvSpPr txBox="1"/>
            <p:nvPr/>
          </p:nvSpPr>
          <p:spPr>
            <a:xfrm>
              <a:off x="7627149" y="2418463"/>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cxnSp>
          <p:nvCxnSpPr>
            <p:cNvPr id="3" name="1 to 1"/>
            <p:cNvCxnSpPr>
              <a:cxnSpLocks/>
              <a:stCxn id="8" idx="3"/>
              <a:endCxn id="10" idx="1"/>
            </p:cNvCxnSpPr>
            <p:nvPr/>
          </p:nvCxnSpPr>
          <p:spPr>
            <a:xfrm flipV="1">
              <a:off x="4423595" y="2778463"/>
              <a:ext cx="3203554"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63E3461-DC5D-48CF-AE13-69B629EAA16E}"/>
                </a:ext>
              </a:extLst>
            </p:cNvPr>
            <p:cNvSpPr txBox="1"/>
            <p:nvPr/>
          </p:nvSpPr>
          <p:spPr>
            <a:xfrm>
              <a:off x="5402444" y="2159766"/>
              <a:ext cx="1245854" cy="646331"/>
            </a:xfrm>
            <a:prstGeom prst="rect">
              <a:avLst/>
            </a:prstGeom>
            <a:noFill/>
          </p:spPr>
          <p:txBody>
            <a:bodyPr wrap="none" rtlCol="0">
              <a:spAutoFit/>
            </a:bodyPr>
            <a:lstStyle/>
            <a:p>
              <a:pPr algn="ctr"/>
              <a:r>
                <a:rPr lang="en-GB" sz="3600" dirty="0"/>
                <a:t>name</a:t>
              </a:r>
            </a:p>
          </p:txBody>
        </p:sp>
      </p:grpSp>
      <p:cxnSp>
        <p:nvCxnSpPr>
          <p:cNvPr id="23" name="1 to 1">
            <a:extLst>
              <a:ext uri="{FF2B5EF4-FFF2-40B4-BE49-F238E27FC236}">
                <a16:creationId xmlns:a16="http://schemas.microsoft.com/office/drawing/2014/main" id="{6C2DFB1C-1EEA-4374-89BA-38A6DEAD8CB2}"/>
              </a:ext>
            </a:extLst>
          </p:cNvPr>
          <p:cNvCxnSpPr>
            <a:cxnSpLocks/>
            <a:stCxn id="11" idx="3"/>
            <a:endCxn id="12" idx="1"/>
          </p:cNvCxnSpPr>
          <p:nvPr/>
        </p:nvCxnSpPr>
        <p:spPr>
          <a:xfrm>
            <a:off x="4423595" y="4319608"/>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8DA6A6EF-3CBA-4A05-A07C-FC50A86F6760}"/>
              </a:ext>
            </a:extLst>
          </p:cNvPr>
          <p:cNvSpPr txBox="1"/>
          <p:nvPr/>
        </p:nvSpPr>
        <p:spPr>
          <a:xfrm>
            <a:off x="5443321" y="3728738"/>
            <a:ext cx="1164101" cy="646331"/>
          </a:xfrm>
          <a:prstGeom prst="rect">
            <a:avLst/>
          </a:prstGeom>
          <a:noFill/>
        </p:spPr>
        <p:txBody>
          <a:bodyPr wrap="none" rtlCol="0">
            <a:spAutoFit/>
          </a:bodyPr>
          <a:lstStyle/>
          <a:p>
            <a:r>
              <a:rPr lang="en-GB" sz="3600" dirty="0"/>
              <a:t>leads</a:t>
            </a:r>
            <a:endParaRPr lang="en-GB" sz="2800" dirty="0"/>
          </a:p>
        </p:txBody>
      </p:sp>
      <p:sp>
        <p:nvSpPr>
          <p:cNvPr id="27" name="Callout: Bent Line with No Border 4">
            <a:extLst>
              <a:ext uri="{FF2B5EF4-FFF2-40B4-BE49-F238E27FC236}">
                <a16:creationId xmlns:a16="http://schemas.microsoft.com/office/drawing/2014/main" id="{46F76525-63F7-433C-B5AB-86D8EDEDE006}"/>
              </a:ext>
            </a:extLst>
          </p:cNvPr>
          <p:cNvSpPr/>
          <p:nvPr/>
        </p:nvSpPr>
        <p:spPr>
          <a:xfrm>
            <a:off x="8181984" y="1624966"/>
            <a:ext cx="1083249" cy="487680"/>
          </a:xfrm>
          <a:prstGeom prst="callout2">
            <a:avLst>
              <a:gd name="adj1" fmla="val 50309"/>
              <a:gd name="adj2" fmla="val 63"/>
              <a:gd name="adj3" fmla="val 49320"/>
              <a:gd name="adj4" fmla="val -68507"/>
              <a:gd name="adj5" fmla="val 201933"/>
              <a:gd name="adj6" fmla="val -6930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1</a:t>
            </a:r>
          </a:p>
        </p:txBody>
      </p:sp>
      <p:sp>
        <p:nvSpPr>
          <p:cNvPr id="16" name="Callout: Bent Line with No Border 4">
            <a:extLst>
              <a:ext uri="{FF2B5EF4-FFF2-40B4-BE49-F238E27FC236}">
                <a16:creationId xmlns:a16="http://schemas.microsoft.com/office/drawing/2014/main" id="{3F69C500-F565-491D-AB71-83B51F06FDA1}"/>
              </a:ext>
            </a:extLst>
          </p:cNvPr>
          <p:cNvSpPr/>
          <p:nvPr/>
        </p:nvSpPr>
        <p:spPr>
          <a:xfrm flipH="1">
            <a:off x="2804170" y="1624966"/>
            <a:ext cx="1083249" cy="487680"/>
          </a:xfrm>
          <a:prstGeom prst="callout2">
            <a:avLst>
              <a:gd name="adj1" fmla="val 50309"/>
              <a:gd name="adj2" fmla="val 63"/>
              <a:gd name="adj3" fmla="val 49320"/>
              <a:gd name="adj4" fmla="val -68507"/>
              <a:gd name="adj5" fmla="val 201933"/>
              <a:gd name="adj6" fmla="val -6930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1</a:t>
            </a:r>
          </a:p>
        </p:txBody>
      </p:sp>
    </p:spTree>
    <p:extLst>
      <p:ext uri="{BB962C8B-B14F-4D97-AF65-F5344CB8AC3E}">
        <p14:creationId xmlns:p14="http://schemas.microsoft.com/office/powerpoint/2010/main" val="749712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10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10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26" grpId="0"/>
      <p:bldP spid="27" grpId="0" animBg="1"/>
      <p:bldP spid="16" grpId="0" animBg="1"/>
    </p:bldLst>
  </p:timing>
</p:sld>
</file>

<file path=ppt/slides/slide1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a:xfrm>
            <a:off x="838200" y="327025"/>
            <a:ext cx="10515600" cy="1325563"/>
          </a:xfrm>
        </p:spPr>
        <p:txBody>
          <a:bodyPr/>
          <a:lstStyle/>
          <a:p>
            <a:r>
              <a:rPr lang="en-GB" dirty="0"/>
              <a:t>Cardinality: 1 to 1</a:t>
            </a:r>
          </a:p>
        </p:txBody>
      </p:sp>
      <p:sp>
        <p:nvSpPr>
          <p:cNvPr id="11" name="Entity 3">
            <a:extLst>
              <a:ext uri="{FF2B5EF4-FFF2-40B4-BE49-F238E27FC236}">
                <a16:creationId xmlns:a16="http://schemas.microsoft.com/office/drawing/2014/main" id="{9E8D577D-F9B0-4C26-95CB-954FFDF61DBD}"/>
              </a:ext>
            </a:extLst>
          </p:cNvPr>
          <p:cNvSpPr txBox="1"/>
          <p:nvPr/>
        </p:nvSpPr>
        <p:spPr>
          <a:xfrm>
            <a:off x="1831595" y="3959608"/>
            <a:ext cx="2592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headteacher</a:t>
            </a:r>
          </a:p>
        </p:txBody>
      </p:sp>
      <p:sp>
        <p:nvSpPr>
          <p:cNvPr id="12" name="Entity 4">
            <a:extLst>
              <a:ext uri="{FF2B5EF4-FFF2-40B4-BE49-F238E27FC236}">
                <a16:creationId xmlns:a16="http://schemas.microsoft.com/office/drawing/2014/main" id="{06B8E8D6-C037-4571-B1CB-E4BD14A48ED7}"/>
              </a:ext>
            </a:extLst>
          </p:cNvPr>
          <p:cNvSpPr txBox="1"/>
          <p:nvPr/>
        </p:nvSpPr>
        <p:spPr>
          <a:xfrm>
            <a:off x="7627149" y="395960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school</a:t>
            </a:r>
          </a:p>
        </p:txBody>
      </p:sp>
      <p:grpSp>
        <p:nvGrpSpPr>
          <p:cNvPr id="5" name="Group 4">
            <a:extLst>
              <a:ext uri="{FF2B5EF4-FFF2-40B4-BE49-F238E27FC236}">
                <a16:creationId xmlns:a16="http://schemas.microsoft.com/office/drawing/2014/main" id="{79E56CDC-EC91-4DB6-AADD-C0BDCAA78CE4}"/>
              </a:ext>
            </a:extLst>
          </p:cNvPr>
          <p:cNvGrpSpPr/>
          <p:nvPr/>
        </p:nvGrpSpPr>
        <p:grpSpPr>
          <a:xfrm>
            <a:off x="2623595" y="2159766"/>
            <a:ext cx="6803554" cy="978698"/>
            <a:chOff x="2623595" y="2159766"/>
            <a:chExt cx="6803554" cy="978698"/>
          </a:xfrm>
        </p:grpSpPr>
        <p:sp>
          <p:nvSpPr>
            <p:cNvPr id="8" name="Entity 1">
              <a:extLst>
                <a:ext uri="{FF2B5EF4-FFF2-40B4-BE49-F238E27FC236}">
                  <a16:creationId xmlns:a16="http://schemas.microsoft.com/office/drawing/2014/main" id="{9E8D577D-F9B0-4C26-95CB-954FFDF61DBD}"/>
                </a:ext>
              </a:extLst>
            </p:cNvPr>
            <p:cNvSpPr txBox="1"/>
            <p:nvPr/>
          </p:nvSpPr>
          <p:spPr>
            <a:xfrm>
              <a:off x="2623595" y="2418464"/>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sp>
          <p:nvSpPr>
            <p:cNvPr id="10" name="Entity 2">
              <a:extLst>
                <a:ext uri="{FF2B5EF4-FFF2-40B4-BE49-F238E27FC236}">
                  <a16:creationId xmlns:a16="http://schemas.microsoft.com/office/drawing/2014/main" id="{06B8E8D6-C037-4571-B1CB-E4BD14A48ED7}"/>
                </a:ext>
              </a:extLst>
            </p:cNvPr>
            <p:cNvSpPr txBox="1"/>
            <p:nvPr/>
          </p:nvSpPr>
          <p:spPr>
            <a:xfrm>
              <a:off x="7627149" y="2418463"/>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cxnSp>
          <p:nvCxnSpPr>
            <p:cNvPr id="3" name="1 to 1"/>
            <p:cNvCxnSpPr>
              <a:cxnSpLocks/>
              <a:stCxn id="8" idx="3"/>
              <a:endCxn id="10" idx="1"/>
            </p:cNvCxnSpPr>
            <p:nvPr/>
          </p:nvCxnSpPr>
          <p:spPr>
            <a:xfrm flipV="1">
              <a:off x="4423595" y="2778463"/>
              <a:ext cx="3203554"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63E3461-DC5D-48CF-AE13-69B629EAA16E}"/>
                </a:ext>
              </a:extLst>
            </p:cNvPr>
            <p:cNvSpPr txBox="1"/>
            <p:nvPr/>
          </p:nvSpPr>
          <p:spPr>
            <a:xfrm>
              <a:off x="5402445" y="2159766"/>
              <a:ext cx="1245854" cy="646331"/>
            </a:xfrm>
            <a:prstGeom prst="rect">
              <a:avLst/>
            </a:prstGeom>
            <a:noFill/>
          </p:spPr>
          <p:txBody>
            <a:bodyPr wrap="none" rtlCol="0">
              <a:spAutoFit/>
            </a:bodyPr>
            <a:lstStyle/>
            <a:p>
              <a:pPr algn="ctr"/>
              <a:r>
                <a:rPr lang="en-GB" sz="3600" dirty="0"/>
                <a:t>name</a:t>
              </a:r>
              <a:endParaRPr lang="en-GB" sz="2800" dirty="0"/>
            </a:p>
          </p:txBody>
        </p:sp>
      </p:grpSp>
      <p:cxnSp>
        <p:nvCxnSpPr>
          <p:cNvPr id="23" name="1 to 1">
            <a:extLst>
              <a:ext uri="{FF2B5EF4-FFF2-40B4-BE49-F238E27FC236}">
                <a16:creationId xmlns:a16="http://schemas.microsoft.com/office/drawing/2014/main" id="{6C2DFB1C-1EEA-4374-89BA-38A6DEAD8CB2}"/>
              </a:ext>
            </a:extLst>
          </p:cNvPr>
          <p:cNvCxnSpPr>
            <a:cxnSpLocks/>
            <a:stCxn id="11" idx="3"/>
            <a:endCxn id="12" idx="1"/>
          </p:cNvCxnSpPr>
          <p:nvPr/>
        </p:nvCxnSpPr>
        <p:spPr>
          <a:xfrm>
            <a:off x="4423595" y="4319608"/>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955559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a:xfrm>
            <a:off x="838200" y="327025"/>
            <a:ext cx="10515600" cy="1325563"/>
          </a:xfrm>
        </p:spPr>
        <p:txBody>
          <a:bodyPr/>
          <a:lstStyle/>
          <a:p>
            <a:r>
              <a:rPr lang="en-GB" dirty="0"/>
              <a:t>Cardinality: 1 to Many</a:t>
            </a:r>
          </a:p>
        </p:txBody>
      </p:sp>
      <p:sp>
        <p:nvSpPr>
          <p:cNvPr id="27" name="Callout: Bent Line with No Border 4">
            <a:extLst>
              <a:ext uri="{FF2B5EF4-FFF2-40B4-BE49-F238E27FC236}">
                <a16:creationId xmlns:a16="http://schemas.microsoft.com/office/drawing/2014/main" id="{46F76525-63F7-433C-B5AB-86D8EDEDE006}"/>
              </a:ext>
            </a:extLst>
          </p:cNvPr>
          <p:cNvSpPr/>
          <p:nvPr/>
        </p:nvSpPr>
        <p:spPr>
          <a:xfrm>
            <a:off x="8181984" y="1624966"/>
            <a:ext cx="1083249" cy="487680"/>
          </a:xfrm>
          <a:prstGeom prst="callout2">
            <a:avLst>
              <a:gd name="adj1" fmla="val 50309"/>
              <a:gd name="adj2" fmla="val 63"/>
              <a:gd name="adj3" fmla="val 49320"/>
              <a:gd name="adj4" fmla="val -68507"/>
              <a:gd name="adj5" fmla="val 201933"/>
              <a:gd name="adj6" fmla="val -6930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Many</a:t>
            </a:r>
          </a:p>
        </p:txBody>
      </p:sp>
      <p:sp>
        <p:nvSpPr>
          <p:cNvPr id="16" name="Callout: Bent Line with No Border 4">
            <a:extLst>
              <a:ext uri="{FF2B5EF4-FFF2-40B4-BE49-F238E27FC236}">
                <a16:creationId xmlns:a16="http://schemas.microsoft.com/office/drawing/2014/main" id="{3F69C500-F565-491D-AB71-83B51F06FDA1}"/>
              </a:ext>
            </a:extLst>
          </p:cNvPr>
          <p:cNvSpPr/>
          <p:nvPr/>
        </p:nvSpPr>
        <p:spPr>
          <a:xfrm flipH="1">
            <a:off x="2804170" y="1624966"/>
            <a:ext cx="1083249" cy="487680"/>
          </a:xfrm>
          <a:prstGeom prst="callout2">
            <a:avLst>
              <a:gd name="adj1" fmla="val 50309"/>
              <a:gd name="adj2" fmla="val 63"/>
              <a:gd name="adj3" fmla="val 49320"/>
              <a:gd name="adj4" fmla="val -68507"/>
              <a:gd name="adj5" fmla="val 201933"/>
              <a:gd name="adj6" fmla="val -6930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1</a:t>
            </a:r>
          </a:p>
        </p:txBody>
      </p:sp>
      <p:grpSp>
        <p:nvGrpSpPr>
          <p:cNvPr id="24" name="Group 23">
            <a:extLst>
              <a:ext uri="{FF2B5EF4-FFF2-40B4-BE49-F238E27FC236}">
                <a16:creationId xmlns:a16="http://schemas.microsoft.com/office/drawing/2014/main" id="{31D2FA32-D154-46BD-9391-89996670DC30}"/>
              </a:ext>
            </a:extLst>
          </p:cNvPr>
          <p:cNvGrpSpPr/>
          <p:nvPr/>
        </p:nvGrpSpPr>
        <p:grpSpPr>
          <a:xfrm>
            <a:off x="2623595" y="2181834"/>
            <a:ext cx="6803554" cy="962197"/>
            <a:chOff x="2706145" y="3399680"/>
            <a:chExt cx="6803554" cy="962197"/>
          </a:xfrm>
        </p:grpSpPr>
        <p:sp>
          <p:nvSpPr>
            <p:cNvPr id="25" name="Entity 3">
              <a:extLst>
                <a:ext uri="{FF2B5EF4-FFF2-40B4-BE49-F238E27FC236}">
                  <a16:creationId xmlns:a16="http://schemas.microsoft.com/office/drawing/2014/main" id="{8F93F865-6004-4D78-B838-89AFD7C7D83F}"/>
                </a:ext>
              </a:extLst>
            </p:cNvPr>
            <p:cNvSpPr txBox="1"/>
            <p:nvPr/>
          </p:nvSpPr>
          <p:spPr>
            <a:xfrm>
              <a:off x="2706145" y="3641877"/>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sp>
          <p:nvSpPr>
            <p:cNvPr id="28" name="Entity 4">
              <a:extLst>
                <a:ext uri="{FF2B5EF4-FFF2-40B4-BE49-F238E27FC236}">
                  <a16:creationId xmlns:a16="http://schemas.microsoft.com/office/drawing/2014/main" id="{EC40E123-61A5-467A-A076-316B28D4B0EA}"/>
                </a:ext>
              </a:extLst>
            </p:cNvPr>
            <p:cNvSpPr txBox="1"/>
            <p:nvPr/>
          </p:nvSpPr>
          <p:spPr>
            <a:xfrm>
              <a:off x="7709699" y="3641877"/>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grpSp>
          <p:nvGrpSpPr>
            <p:cNvPr id="29" name="1 to Many">
              <a:extLst>
                <a:ext uri="{FF2B5EF4-FFF2-40B4-BE49-F238E27FC236}">
                  <a16:creationId xmlns:a16="http://schemas.microsoft.com/office/drawing/2014/main" id="{CE50A091-EFC1-4B83-8897-1A586E64CAD7}"/>
                </a:ext>
              </a:extLst>
            </p:cNvPr>
            <p:cNvGrpSpPr/>
            <p:nvPr/>
          </p:nvGrpSpPr>
          <p:grpSpPr>
            <a:xfrm>
              <a:off x="4506145" y="3813175"/>
              <a:ext cx="3203554" cy="359999"/>
              <a:chOff x="4506145" y="3813175"/>
              <a:chExt cx="3203554" cy="359999"/>
            </a:xfrm>
          </p:grpSpPr>
          <p:cxnSp>
            <p:nvCxnSpPr>
              <p:cNvPr id="31" name="Straight Connector 30">
                <a:extLst>
                  <a:ext uri="{FF2B5EF4-FFF2-40B4-BE49-F238E27FC236}">
                    <a16:creationId xmlns:a16="http://schemas.microsoft.com/office/drawing/2014/main" id="{4134B92E-8AE4-4ED8-8F87-44902328C0D7}"/>
                  </a:ext>
                </a:extLst>
              </p:cNvPr>
              <p:cNvCxnSpPr>
                <a:stCxn id="25" idx="3"/>
                <a:endCxn id="28" idx="1"/>
              </p:cNvCxnSpPr>
              <p:nvPr/>
            </p:nvCxnSpPr>
            <p:spPr>
              <a:xfrm>
                <a:off x="4506145" y="4001877"/>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B43FACB-F37B-4EF5-84A1-CB8204CE3451}"/>
                  </a:ext>
                </a:extLst>
              </p:cNvPr>
              <p:cNvCxnSpPr/>
              <p:nvPr/>
            </p:nvCxnSpPr>
            <p:spPr>
              <a:xfrm flipV="1">
                <a:off x="7391400" y="3813175"/>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953D9A6-C305-4AAC-BCA6-542E984C1CA1}"/>
                  </a:ext>
                </a:extLst>
              </p:cNvPr>
              <p:cNvCxnSpPr/>
              <p:nvPr/>
            </p:nvCxnSpPr>
            <p:spPr>
              <a:xfrm>
                <a:off x="7391400" y="4001876"/>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0" name="TextBox 29">
              <a:extLst>
                <a:ext uri="{FF2B5EF4-FFF2-40B4-BE49-F238E27FC236}">
                  <a16:creationId xmlns:a16="http://schemas.microsoft.com/office/drawing/2014/main" id="{38FDF8BB-0126-4237-8383-DB35B0B3EE27}"/>
                </a:ext>
              </a:extLst>
            </p:cNvPr>
            <p:cNvSpPr txBox="1"/>
            <p:nvPr/>
          </p:nvSpPr>
          <p:spPr>
            <a:xfrm>
              <a:off x="5484995" y="3399680"/>
              <a:ext cx="1245854" cy="646331"/>
            </a:xfrm>
            <a:prstGeom prst="rect">
              <a:avLst/>
            </a:prstGeom>
            <a:noFill/>
          </p:spPr>
          <p:txBody>
            <a:bodyPr wrap="none" rtlCol="0">
              <a:spAutoFit/>
            </a:bodyPr>
            <a:lstStyle/>
            <a:p>
              <a:pPr algn="ctr"/>
              <a:r>
                <a:rPr lang="en-GB" sz="3600" dirty="0"/>
                <a:t>name</a:t>
              </a:r>
              <a:endParaRPr lang="en-GB" sz="2800" dirty="0"/>
            </a:p>
          </p:txBody>
        </p:sp>
      </p:grpSp>
      <p:sp>
        <p:nvSpPr>
          <p:cNvPr id="35" name="Entity 3">
            <a:extLst>
              <a:ext uri="{FF2B5EF4-FFF2-40B4-BE49-F238E27FC236}">
                <a16:creationId xmlns:a16="http://schemas.microsoft.com/office/drawing/2014/main" id="{CC3EC6A7-FC8F-4404-A8EE-E5CD37A09269}"/>
              </a:ext>
            </a:extLst>
          </p:cNvPr>
          <p:cNvSpPr txBox="1"/>
          <p:nvPr/>
        </p:nvSpPr>
        <p:spPr>
          <a:xfrm>
            <a:off x="2623595" y="395960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school</a:t>
            </a:r>
          </a:p>
        </p:txBody>
      </p:sp>
      <p:sp>
        <p:nvSpPr>
          <p:cNvPr id="36" name="Entity 4">
            <a:extLst>
              <a:ext uri="{FF2B5EF4-FFF2-40B4-BE49-F238E27FC236}">
                <a16:creationId xmlns:a16="http://schemas.microsoft.com/office/drawing/2014/main" id="{08E37E29-0D20-4075-B25E-0526813E8C8E}"/>
              </a:ext>
            </a:extLst>
          </p:cNvPr>
          <p:cNvSpPr txBox="1"/>
          <p:nvPr/>
        </p:nvSpPr>
        <p:spPr>
          <a:xfrm>
            <a:off x="7627149" y="395960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pupil</a:t>
            </a:r>
          </a:p>
        </p:txBody>
      </p:sp>
      <p:grpSp>
        <p:nvGrpSpPr>
          <p:cNvPr id="37" name="1 to Many">
            <a:extLst>
              <a:ext uri="{FF2B5EF4-FFF2-40B4-BE49-F238E27FC236}">
                <a16:creationId xmlns:a16="http://schemas.microsoft.com/office/drawing/2014/main" id="{1A6286F3-A45C-4E0F-972A-D637064667D5}"/>
              </a:ext>
            </a:extLst>
          </p:cNvPr>
          <p:cNvGrpSpPr/>
          <p:nvPr/>
        </p:nvGrpSpPr>
        <p:grpSpPr>
          <a:xfrm>
            <a:off x="4423595" y="4130906"/>
            <a:ext cx="3203554" cy="359999"/>
            <a:chOff x="4506145" y="3813175"/>
            <a:chExt cx="3203554" cy="359999"/>
          </a:xfrm>
        </p:grpSpPr>
        <p:cxnSp>
          <p:nvCxnSpPr>
            <p:cNvPr id="40" name="Straight Connector 39">
              <a:extLst>
                <a:ext uri="{FF2B5EF4-FFF2-40B4-BE49-F238E27FC236}">
                  <a16:creationId xmlns:a16="http://schemas.microsoft.com/office/drawing/2014/main" id="{42F9BEA2-FAA4-4C9A-AC72-C7AB758AC3D1}"/>
                </a:ext>
              </a:extLst>
            </p:cNvPr>
            <p:cNvCxnSpPr>
              <a:stCxn id="35" idx="3"/>
              <a:endCxn id="36" idx="1"/>
            </p:cNvCxnSpPr>
            <p:nvPr/>
          </p:nvCxnSpPr>
          <p:spPr>
            <a:xfrm>
              <a:off x="4506145" y="4001877"/>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1A8479-05C0-435B-A325-10D60B624CB9}"/>
                </a:ext>
              </a:extLst>
            </p:cNvPr>
            <p:cNvCxnSpPr/>
            <p:nvPr/>
          </p:nvCxnSpPr>
          <p:spPr>
            <a:xfrm flipV="1">
              <a:off x="7391400" y="3813175"/>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DFB1415-79CD-4736-B18F-06C1771E0E03}"/>
                </a:ext>
              </a:extLst>
            </p:cNvPr>
            <p:cNvCxnSpPr/>
            <p:nvPr/>
          </p:nvCxnSpPr>
          <p:spPr>
            <a:xfrm>
              <a:off x="7391400" y="4001876"/>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9" name="TextBox 38">
            <a:extLst>
              <a:ext uri="{FF2B5EF4-FFF2-40B4-BE49-F238E27FC236}">
                <a16:creationId xmlns:a16="http://schemas.microsoft.com/office/drawing/2014/main" id="{9A331333-6526-4CF3-B84D-93950069E577}"/>
              </a:ext>
            </a:extLst>
          </p:cNvPr>
          <p:cNvSpPr txBox="1"/>
          <p:nvPr/>
        </p:nvSpPr>
        <p:spPr>
          <a:xfrm>
            <a:off x="5092392" y="3706670"/>
            <a:ext cx="1865960" cy="646331"/>
          </a:xfrm>
          <a:prstGeom prst="rect">
            <a:avLst/>
          </a:prstGeom>
          <a:noFill/>
        </p:spPr>
        <p:txBody>
          <a:bodyPr wrap="none" rtlCol="0">
            <a:spAutoFit/>
          </a:bodyPr>
          <a:lstStyle/>
          <a:p>
            <a:pPr algn="ctr"/>
            <a:r>
              <a:rPr lang="en-GB" sz="3600" dirty="0"/>
              <a:t>educates</a:t>
            </a:r>
          </a:p>
        </p:txBody>
      </p:sp>
    </p:spTree>
    <p:extLst>
      <p:ext uri="{BB962C8B-B14F-4D97-AF65-F5344CB8AC3E}">
        <p14:creationId xmlns:p14="http://schemas.microsoft.com/office/powerpoint/2010/main" val="3552811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10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10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10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wipe(left)">
                                      <p:cBhvr>
                                        <p:cTn id="32" dur="10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1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16" grpId="0" animBg="1"/>
      <p:bldP spid="35" grpId="0" animBg="1"/>
      <p:bldP spid="36" grpId="0" animBg="1"/>
      <p:bldP spid="39" grpId="0"/>
    </p:bldLst>
  </p:timing>
</p:sld>
</file>

<file path=ppt/slides/slide1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a:xfrm>
            <a:off x="838200" y="327025"/>
            <a:ext cx="10515600" cy="1325563"/>
          </a:xfrm>
        </p:spPr>
        <p:txBody>
          <a:bodyPr/>
          <a:lstStyle/>
          <a:p>
            <a:r>
              <a:rPr lang="en-GB" dirty="0"/>
              <a:t>Cardinality: 1 to Many</a:t>
            </a:r>
          </a:p>
        </p:txBody>
      </p:sp>
      <p:grpSp>
        <p:nvGrpSpPr>
          <p:cNvPr id="24" name="Group 23">
            <a:extLst>
              <a:ext uri="{FF2B5EF4-FFF2-40B4-BE49-F238E27FC236}">
                <a16:creationId xmlns:a16="http://schemas.microsoft.com/office/drawing/2014/main" id="{31D2FA32-D154-46BD-9391-89996670DC30}"/>
              </a:ext>
            </a:extLst>
          </p:cNvPr>
          <p:cNvGrpSpPr/>
          <p:nvPr/>
        </p:nvGrpSpPr>
        <p:grpSpPr>
          <a:xfrm>
            <a:off x="2623595" y="2215226"/>
            <a:ext cx="6803554" cy="928805"/>
            <a:chOff x="2706145" y="3433072"/>
            <a:chExt cx="6803554" cy="928805"/>
          </a:xfrm>
        </p:grpSpPr>
        <p:sp>
          <p:nvSpPr>
            <p:cNvPr id="25" name="Entity 3">
              <a:extLst>
                <a:ext uri="{FF2B5EF4-FFF2-40B4-BE49-F238E27FC236}">
                  <a16:creationId xmlns:a16="http://schemas.microsoft.com/office/drawing/2014/main" id="{8F93F865-6004-4D78-B838-89AFD7C7D83F}"/>
                </a:ext>
              </a:extLst>
            </p:cNvPr>
            <p:cNvSpPr txBox="1"/>
            <p:nvPr/>
          </p:nvSpPr>
          <p:spPr>
            <a:xfrm>
              <a:off x="2706145" y="3641877"/>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sp>
          <p:nvSpPr>
            <p:cNvPr id="28" name="Entity 4">
              <a:extLst>
                <a:ext uri="{FF2B5EF4-FFF2-40B4-BE49-F238E27FC236}">
                  <a16:creationId xmlns:a16="http://schemas.microsoft.com/office/drawing/2014/main" id="{EC40E123-61A5-467A-A076-316B28D4B0EA}"/>
                </a:ext>
              </a:extLst>
            </p:cNvPr>
            <p:cNvSpPr txBox="1"/>
            <p:nvPr/>
          </p:nvSpPr>
          <p:spPr>
            <a:xfrm>
              <a:off x="7709699" y="3641877"/>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cxnSp>
          <p:nvCxnSpPr>
            <p:cNvPr id="31" name="Straight Connector 30">
              <a:extLst>
                <a:ext uri="{FF2B5EF4-FFF2-40B4-BE49-F238E27FC236}">
                  <a16:creationId xmlns:a16="http://schemas.microsoft.com/office/drawing/2014/main" id="{4134B92E-8AE4-4ED8-8F87-44902328C0D7}"/>
                </a:ext>
              </a:extLst>
            </p:cNvPr>
            <p:cNvCxnSpPr>
              <a:stCxn id="25" idx="3"/>
              <a:endCxn id="28" idx="1"/>
            </p:cNvCxnSpPr>
            <p:nvPr/>
          </p:nvCxnSpPr>
          <p:spPr>
            <a:xfrm>
              <a:off x="4506145" y="4001877"/>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8FDF8BB-0126-4237-8383-DB35B0B3EE27}"/>
                </a:ext>
              </a:extLst>
            </p:cNvPr>
            <p:cNvSpPr txBox="1"/>
            <p:nvPr/>
          </p:nvSpPr>
          <p:spPr>
            <a:xfrm>
              <a:off x="5484995" y="3433072"/>
              <a:ext cx="1245854" cy="646331"/>
            </a:xfrm>
            <a:prstGeom prst="rect">
              <a:avLst/>
            </a:prstGeom>
            <a:noFill/>
          </p:spPr>
          <p:txBody>
            <a:bodyPr wrap="none" rtlCol="0">
              <a:spAutoFit/>
            </a:bodyPr>
            <a:lstStyle/>
            <a:p>
              <a:pPr algn="ctr"/>
              <a:r>
                <a:rPr lang="en-GB" sz="3600" dirty="0"/>
                <a:t>name</a:t>
              </a:r>
              <a:endParaRPr lang="en-GB" sz="2800" dirty="0"/>
            </a:p>
          </p:txBody>
        </p:sp>
      </p:grpSp>
      <p:sp>
        <p:nvSpPr>
          <p:cNvPr id="35" name="Entity 3">
            <a:extLst>
              <a:ext uri="{FF2B5EF4-FFF2-40B4-BE49-F238E27FC236}">
                <a16:creationId xmlns:a16="http://schemas.microsoft.com/office/drawing/2014/main" id="{CC3EC6A7-FC8F-4404-A8EE-E5CD37A09269}"/>
              </a:ext>
            </a:extLst>
          </p:cNvPr>
          <p:cNvSpPr txBox="1"/>
          <p:nvPr/>
        </p:nvSpPr>
        <p:spPr>
          <a:xfrm>
            <a:off x="2623595" y="395960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school</a:t>
            </a:r>
          </a:p>
        </p:txBody>
      </p:sp>
      <p:sp>
        <p:nvSpPr>
          <p:cNvPr id="36" name="Entity 4">
            <a:extLst>
              <a:ext uri="{FF2B5EF4-FFF2-40B4-BE49-F238E27FC236}">
                <a16:creationId xmlns:a16="http://schemas.microsoft.com/office/drawing/2014/main" id="{08E37E29-0D20-4075-B25E-0526813E8C8E}"/>
              </a:ext>
            </a:extLst>
          </p:cNvPr>
          <p:cNvSpPr txBox="1"/>
          <p:nvPr/>
        </p:nvSpPr>
        <p:spPr>
          <a:xfrm>
            <a:off x="7627149" y="395960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pupil</a:t>
            </a:r>
          </a:p>
        </p:txBody>
      </p:sp>
      <p:cxnSp>
        <p:nvCxnSpPr>
          <p:cNvPr id="40" name="Straight Connector 39">
            <a:extLst>
              <a:ext uri="{FF2B5EF4-FFF2-40B4-BE49-F238E27FC236}">
                <a16:creationId xmlns:a16="http://schemas.microsoft.com/office/drawing/2014/main" id="{42F9BEA2-FAA4-4C9A-AC72-C7AB758AC3D1}"/>
              </a:ext>
            </a:extLst>
          </p:cNvPr>
          <p:cNvCxnSpPr>
            <a:cxnSpLocks/>
            <a:stCxn id="35" idx="3"/>
            <a:endCxn id="36" idx="1"/>
          </p:cNvCxnSpPr>
          <p:nvPr/>
        </p:nvCxnSpPr>
        <p:spPr>
          <a:xfrm>
            <a:off x="4423595" y="4319608"/>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184937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a:xfrm>
            <a:off x="838200" y="327025"/>
            <a:ext cx="10515600" cy="1325563"/>
          </a:xfrm>
        </p:spPr>
        <p:txBody>
          <a:bodyPr/>
          <a:lstStyle/>
          <a:p>
            <a:r>
              <a:rPr lang="en-GB" dirty="0"/>
              <a:t>Cardinality: Many to Many</a:t>
            </a:r>
          </a:p>
        </p:txBody>
      </p:sp>
      <p:sp>
        <p:nvSpPr>
          <p:cNvPr id="27" name="Callout: Bent Line with No Border 4">
            <a:extLst>
              <a:ext uri="{FF2B5EF4-FFF2-40B4-BE49-F238E27FC236}">
                <a16:creationId xmlns:a16="http://schemas.microsoft.com/office/drawing/2014/main" id="{46F76525-63F7-433C-B5AB-86D8EDEDE006}"/>
              </a:ext>
            </a:extLst>
          </p:cNvPr>
          <p:cNvSpPr/>
          <p:nvPr/>
        </p:nvSpPr>
        <p:spPr>
          <a:xfrm>
            <a:off x="8181984" y="1624966"/>
            <a:ext cx="1083249" cy="487680"/>
          </a:xfrm>
          <a:prstGeom prst="callout2">
            <a:avLst>
              <a:gd name="adj1" fmla="val 50309"/>
              <a:gd name="adj2" fmla="val 63"/>
              <a:gd name="adj3" fmla="val 49320"/>
              <a:gd name="adj4" fmla="val -68507"/>
              <a:gd name="adj5" fmla="val 201933"/>
              <a:gd name="adj6" fmla="val -6930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Many</a:t>
            </a:r>
          </a:p>
        </p:txBody>
      </p:sp>
      <p:sp>
        <p:nvSpPr>
          <p:cNvPr id="16" name="Callout: Bent Line with No Border 4">
            <a:extLst>
              <a:ext uri="{FF2B5EF4-FFF2-40B4-BE49-F238E27FC236}">
                <a16:creationId xmlns:a16="http://schemas.microsoft.com/office/drawing/2014/main" id="{3F69C500-F565-491D-AB71-83B51F06FDA1}"/>
              </a:ext>
            </a:extLst>
          </p:cNvPr>
          <p:cNvSpPr/>
          <p:nvPr/>
        </p:nvSpPr>
        <p:spPr>
          <a:xfrm flipH="1">
            <a:off x="2804170" y="1624966"/>
            <a:ext cx="1083249" cy="487680"/>
          </a:xfrm>
          <a:prstGeom prst="callout2">
            <a:avLst>
              <a:gd name="adj1" fmla="val 50309"/>
              <a:gd name="adj2" fmla="val 63"/>
              <a:gd name="adj3" fmla="val 49320"/>
              <a:gd name="adj4" fmla="val -68507"/>
              <a:gd name="adj5" fmla="val 201933"/>
              <a:gd name="adj6" fmla="val -6930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Many</a:t>
            </a:r>
          </a:p>
        </p:txBody>
      </p:sp>
      <p:grpSp>
        <p:nvGrpSpPr>
          <p:cNvPr id="20" name="Group 19">
            <a:extLst>
              <a:ext uri="{FF2B5EF4-FFF2-40B4-BE49-F238E27FC236}">
                <a16:creationId xmlns:a16="http://schemas.microsoft.com/office/drawing/2014/main" id="{8447922B-056F-4E6A-8B38-A74E9DDF3E9F}"/>
              </a:ext>
            </a:extLst>
          </p:cNvPr>
          <p:cNvGrpSpPr/>
          <p:nvPr/>
        </p:nvGrpSpPr>
        <p:grpSpPr>
          <a:xfrm>
            <a:off x="2623595" y="2201778"/>
            <a:ext cx="6803554" cy="936183"/>
            <a:chOff x="2706145" y="4913065"/>
            <a:chExt cx="6803554" cy="936183"/>
          </a:xfrm>
        </p:grpSpPr>
        <p:sp>
          <p:nvSpPr>
            <p:cNvPr id="21" name="Entity 5">
              <a:extLst>
                <a:ext uri="{FF2B5EF4-FFF2-40B4-BE49-F238E27FC236}">
                  <a16:creationId xmlns:a16="http://schemas.microsoft.com/office/drawing/2014/main" id="{6467068A-2277-4AB9-927B-3762F8490F40}"/>
                </a:ext>
              </a:extLst>
            </p:cNvPr>
            <p:cNvSpPr txBox="1"/>
            <p:nvPr/>
          </p:nvSpPr>
          <p:spPr>
            <a:xfrm>
              <a:off x="2706145" y="512924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sp>
          <p:nvSpPr>
            <p:cNvPr id="22" name="Entity 6">
              <a:extLst>
                <a:ext uri="{FF2B5EF4-FFF2-40B4-BE49-F238E27FC236}">
                  <a16:creationId xmlns:a16="http://schemas.microsoft.com/office/drawing/2014/main" id="{195BFA4E-4382-4021-9998-072E4DF26718}"/>
                </a:ext>
              </a:extLst>
            </p:cNvPr>
            <p:cNvSpPr txBox="1"/>
            <p:nvPr/>
          </p:nvSpPr>
          <p:spPr>
            <a:xfrm>
              <a:off x="7709699" y="512924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grpSp>
          <p:nvGrpSpPr>
            <p:cNvPr id="23" name="Mant yo Many">
              <a:extLst>
                <a:ext uri="{FF2B5EF4-FFF2-40B4-BE49-F238E27FC236}">
                  <a16:creationId xmlns:a16="http://schemas.microsoft.com/office/drawing/2014/main" id="{5F002C5B-C027-484C-96EA-1789841F5FB0}"/>
                </a:ext>
              </a:extLst>
            </p:cNvPr>
            <p:cNvGrpSpPr/>
            <p:nvPr/>
          </p:nvGrpSpPr>
          <p:grpSpPr>
            <a:xfrm>
              <a:off x="4506145" y="5300546"/>
              <a:ext cx="3203554" cy="359999"/>
              <a:chOff x="4506145" y="5300546"/>
              <a:chExt cx="3203554" cy="359999"/>
            </a:xfrm>
          </p:grpSpPr>
          <p:cxnSp>
            <p:nvCxnSpPr>
              <p:cNvPr id="34" name="Straight Connector 33">
                <a:extLst>
                  <a:ext uri="{FF2B5EF4-FFF2-40B4-BE49-F238E27FC236}">
                    <a16:creationId xmlns:a16="http://schemas.microsoft.com/office/drawing/2014/main" id="{06C12C31-E962-4721-BF86-B3B4FCE4B0BE}"/>
                  </a:ext>
                </a:extLst>
              </p:cNvPr>
              <p:cNvCxnSpPr>
                <a:stCxn id="21" idx="3"/>
                <a:endCxn id="22" idx="1"/>
              </p:cNvCxnSpPr>
              <p:nvPr/>
            </p:nvCxnSpPr>
            <p:spPr>
              <a:xfrm>
                <a:off x="4506145" y="5489248"/>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D09C2A7-4203-4239-A031-7F6404BE38C5}"/>
                  </a:ext>
                </a:extLst>
              </p:cNvPr>
              <p:cNvCxnSpPr/>
              <p:nvPr/>
            </p:nvCxnSpPr>
            <p:spPr>
              <a:xfrm flipV="1">
                <a:off x="7391400"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382379F-A587-4B39-A55E-32E29A4DA8A7}"/>
                  </a:ext>
                </a:extLst>
              </p:cNvPr>
              <p:cNvCxnSpPr/>
              <p:nvPr/>
            </p:nvCxnSpPr>
            <p:spPr>
              <a:xfrm>
                <a:off x="7391400"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EDFF1A8-3360-4892-84A0-06A925C720AF}"/>
                  </a:ext>
                </a:extLst>
              </p:cNvPr>
              <p:cNvCxnSpPr/>
              <p:nvPr/>
            </p:nvCxnSpPr>
            <p:spPr>
              <a:xfrm flipH="1" flipV="1">
                <a:off x="4506145"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692404C-3BEE-48CF-818D-6844326E5D8C}"/>
                  </a:ext>
                </a:extLst>
              </p:cNvPr>
              <p:cNvCxnSpPr/>
              <p:nvPr/>
            </p:nvCxnSpPr>
            <p:spPr>
              <a:xfrm flipH="1">
                <a:off x="4506145"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4F052754-CF53-4CC5-81E2-201FFCF1ADEF}"/>
                </a:ext>
              </a:extLst>
            </p:cNvPr>
            <p:cNvSpPr txBox="1"/>
            <p:nvPr/>
          </p:nvSpPr>
          <p:spPr>
            <a:xfrm>
              <a:off x="5484995" y="4913065"/>
              <a:ext cx="1245854" cy="646331"/>
            </a:xfrm>
            <a:prstGeom prst="rect">
              <a:avLst/>
            </a:prstGeom>
            <a:noFill/>
          </p:spPr>
          <p:txBody>
            <a:bodyPr wrap="none" rtlCol="0">
              <a:spAutoFit/>
            </a:bodyPr>
            <a:lstStyle/>
            <a:p>
              <a:pPr algn="ctr"/>
              <a:r>
                <a:rPr lang="en-GB" sz="3600" dirty="0"/>
                <a:t>name</a:t>
              </a:r>
              <a:endParaRPr lang="en-GB" sz="2800" dirty="0"/>
            </a:p>
          </p:txBody>
        </p:sp>
      </p:grpSp>
      <p:sp>
        <p:nvSpPr>
          <p:cNvPr id="47" name="Entity 5">
            <a:extLst>
              <a:ext uri="{FF2B5EF4-FFF2-40B4-BE49-F238E27FC236}">
                <a16:creationId xmlns:a16="http://schemas.microsoft.com/office/drawing/2014/main" id="{0C63B20E-9FDF-4898-BD04-878DC12660FD}"/>
              </a:ext>
            </a:extLst>
          </p:cNvPr>
          <p:cNvSpPr txBox="1"/>
          <p:nvPr/>
        </p:nvSpPr>
        <p:spPr>
          <a:xfrm>
            <a:off x="2623595" y="395960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pupil</a:t>
            </a:r>
          </a:p>
        </p:txBody>
      </p:sp>
      <p:sp>
        <p:nvSpPr>
          <p:cNvPr id="48" name="Entity 6">
            <a:extLst>
              <a:ext uri="{FF2B5EF4-FFF2-40B4-BE49-F238E27FC236}">
                <a16:creationId xmlns:a16="http://schemas.microsoft.com/office/drawing/2014/main" id="{A55B2123-C239-48AF-B807-663504FBD5DB}"/>
              </a:ext>
            </a:extLst>
          </p:cNvPr>
          <p:cNvSpPr txBox="1"/>
          <p:nvPr/>
        </p:nvSpPr>
        <p:spPr>
          <a:xfrm>
            <a:off x="7627149" y="395960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subject</a:t>
            </a:r>
          </a:p>
        </p:txBody>
      </p:sp>
      <p:grpSp>
        <p:nvGrpSpPr>
          <p:cNvPr id="49" name="Many to Many">
            <a:extLst>
              <a:ext uri="{FF2B5EF4-FFF2-40B4-BE49-F238E27FC236}">
                <a16:creationId xmlns:a16="http://schemas.microsoft.com/office/drawing/2014/main" id="{73ECD6FA-A67B-453C-85EA-D204C24E2C7A}"/>
              </a:ext>
            </a:extLst>
          </p:cNvPr>
          <p:cNvGrpSpPr/>
          <p:nvPr/>
        </p:nvGrpSpPr>
        <p:grpSpPr>
          <a:xfrm>
            <a:off x="4423595" y="4130906"/>
            <a:ext cx="3203554" cy="359999"/>
            <a:chOff x="4506145" y="5300546"/>
            <a:chExt cx="3203554" cy="359999"/>
          </a:xfrm>
        </p:grpSpPr>
        <p:cxnSp>
          <p:nvCxnSpPr>
            <p:cNvPr id="51" name="Straight Connector 50">
              <a:extLst>
                <a:ext uri="{FF2B5EF4-FFF2-40B4-BE49-F238E27FC236}">
                  <a16:creationId xmlns:a16="http://schemas.microsoft.com/office/drawing/2014/main" id="{184C5A4D-6198-497E-BE3B-BCB8D24C0E98}"/>
                </a:ext>
              </a:extLst>
            </p:cNvPr>
            <p:cNvCxnSpPr>
              <a:stCxn id="47" idx="3"/>
              <a:endCxn id="48" idx="1"/>
            </p:cNvCxnSpPr>
            <p:nvPr/>
          </p:nvCxnSpPr>
          <p:spPr>
            <a:xfrm>
              <a:off x="4506145" y="5489248"/>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E9D46E9-4E8E-4717-9456-F239E043F11F}"/>
                </a:ext>
              </a:extLst>
            </p:cNvPr>
            <p:cNvCxnSpPr/>
            <p:nvPr/>
          </p:nvCxnSpPr>
          <p:spPr>
            <a:xfrm flipV="1">
              <a:off x="7391400"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B2255B5-E5CC-4508-935C-135BE6748857}"/>
                </a:ext>
              </a:extLst>
            </p:cNvPr>
            <p:cNvCxnSpPr/>
            <p:nvPr/>
          </p:nvCxnSpPr>
          <p:spPr>
            <a:xfrm>
              <a:off x="7391400"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A6F60BF-38F6-4A6A-90CB-218DC269E685}"/>
                </a:ext>
              </a:extLst>
            </p:cNvPr>
            <p:cNvCxnSpPr/>
            <p:nvPr/>
          </p:nvCxnSpPr>
          <p:spPr>
            <a:xfrm flipH="1" flipV="1">
              <a:off x="4506145"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5F1230A-6464-4DF9-9B3A-266A838665F7}"/>
                </a:ext>
              </a:extLst>
            </p:cNvPr>
            <p:cNvCxnSpPr/>
            <p:nvPr/>
          </p:nvCxnSpPr>
          <p:spPr>
            <a:xfrm flipH="1">
              <a:off x="4506145"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0" name="TextBox 49">
            <a:extLst>
              <a:ext uri="{FF2B5EF4-FFF2-40B4-BE49-F238E27FC236}">
                <a16:creationId xmlns:a16="http://schemas.microsoft.com/office/drawing/2014/main" id="{B6B84172-F9B4-4F21-B3B5-E22731A18339}"/>
              </a:ext>
            </a:extLst>
          </p:cNvPr>
          <p:cNvSpPr txBox="1"/>
          <p:nvPr/>
        </p:nvSpPr>
        <p:spPr>
          <a:xfrm>
            <a:off x="5338613" y="3738753"/>
            <a:ext cx="1514774" cy="646331"/>
          </a:xfrm>
          <a:prstGeom prst="rect">
            <a:avLst/>
          </a:prstGeom>
          <a:noFill/>
        </p:spPr>
        <p:txBody>
          <a:bodyPr wrap="none" rtlCol="0">
            <a:spAutoFit/>
          </a:bodyPr>
          <a:lstStyle/>
          <a:p>
            <a:pPr algn="ctr"/>
            <a:r>
              <a:rPr lang="en-GB" sz="3600" dirty="0"/>
              <a:t>studies</a:t>
            </a:r>
            <a:endParaRPr lang="en-GB" sz="2800" dirty="0"/>
          </a:p>
        </p:txBody>
      </p:sp>
    </p:spTree>
    <p:extLst>
      <p:ext uri="{BB962C8B-B14F-4D97-AF65-F5344CB8AC3E}">
        <p14:creationId xmlns:p14="http://schemas.microsoft.com/office/powerpoint/2010/main" val="3053095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10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1000"/>
                                        <p:tgtEl>
                                          <p:spTgt spid="4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1000"/>
                                        <p:tgtEl>
                                          <p:spTgt spid="4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left)">
                                      <p:cBhvr>
                                        <p:cTn id="27" dur="1000"/>
                                        <p:tgtEl>
                                          <p:spTgt spid="4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0"/>
                                        </p:tgtEl>
                                        <p:attrNameLst>
                                          <p:attrName>style.visibility</p:attrName>
                                        </p:attrNameLst>
                                      </p:cBhvr>
                                      <p:to>
                                        <p:strVal val="visible"/>
                                      </p:to>
                                    </p:set>
                                    <p:animEffect transition="in" filter="fade">
                                      <p:cBhvr>
                                        <p:cTn id="32" dur="10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16" grpId="0" animBg="1"/>
      <p:bldP spid="47" grpId="0" animBg="1"/>
      <p:bldP spid="48" grpId="0" animBg="1"/>
      <p:bldP spid="50" grpId="0"/>
    </p:bldLst>
  </p:timing>
</p:sld>
</file>

<file path=ppt/slides/slide1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a:xfrm>
            <a:off x="838200" y="327025"/>
            <a:ext cx="10515600" cy="1325563"/>
          </a:xfrm>
        </p:spPr>
        <p:txBody>
          <a:bodyPr/>
          <a:lstStyle/>
          <a:p>
            <a:r>
              <a:rPr lang="en-GB" dirty="0"/>
              <a:t>Cardinality: Many to Many</a:t>
            </a:r>
          </a:p>
        </p:txBody>
      </p:sp>
      <p:grpSp>
        <p:nvGrpSpPr>
          <p:cNvPr id="20" name="Group 19">
            <a:extLst>
              <a:ext uri="{FF2B5EF4-FFF2-40B4-BE49-F238E27FC236}">
                <a16:creationId xmlns:a16="http://schemas.microsoft.com/office/drawing/2014/main" id="{8447922B-056F-4E6A-8B38-A74E9DDF3E9F}"/>
              </a:ext>
            </a:extLst>
          </p:cNvPr>
          <p:cNvGrpSpPr/>
          <p:nvPr/>
        </p:nvGrpSpPr>
        <p:grpSpPr>
          <a:xfrm>
            <a:off x="2623595" y="2215226"/>
            <a:ext cx="6803554" cy="922735"/>
            <a:chOff x="2706145" y="4926513"/>
            <a:chExt cx="6803554" cy="922735"/>
          </a:xfrm>
        </p:grpSpPr>
        <p:sp>
          <p:nvSpPr>
            <p:cNvPr id="21" name="Entity 5">
              <a:extLst>
                <a:ext uri="{FF2B5EF4-FFF2-40B4-BE49-F238E27FC236}">
                  <a16:creationId xmlns:a16="http://schemas.microsoft.com/office/drawing/2014/main" id="{6467068A-2277-4AB9-927B-3762F8490F40}"/>
                </a:ext>
              </a:extLst>
            </p:cNvPr>
            <p:cNvSpPr txBox="1"/>
            <p:nvPr/>
          </p:nvSpPr>
          <p:spPr>
            <a:xfrm>
              <a:off x="2706145" y="512924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sp>
          <p:nvSpPr>
            <p:cNvPr id="22" name="Entity 6">
              <a:extLst>
                <a:ext uri="{FF2B5EF4-FFF2-40B4-BE49-F238E27FC236}">
                  <a16:creationId xmlns:a16="http://schemas.microsoft.com/office/drawing/2014/main" id="{195BFA4E-4382-4021-9998-072E4DF26718}"/>
                </a:ext>
              </a:extLst>
            </p:cNvPr>
            <p:cNvSpPr txBox="1"/>
            <p:nvPr/>
          </p:nvSpPr>
          <p:spPr>
            <a:xfrm>
              <a:off x="7709699" y="512924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cxnSp>
          <p:nvCxnSpPr>
            <p:cNvPr id="34" name="Straight Connector 33">
              <a:extLst>
                <a:ext uri="{FF2B5EF4-FFF2-40B4-BE49-F238E27FC236}">
                  <a16:creationId xmlns:a16="http://schemas.microsoft.com/office/drawing/2014/main" id="{06C12C31-E962-4721-BF86-B3B4FCE4B0BE}"/>
                </a:ext>
              </a:extLst>
            </p:cNvPr>
            <p:cNvCxnSpPr>
              <a:stCxn id="21" idx="3"/>
              <a:endCxn id="22" idx="1"/>
            </p:cNvCxnSpPr>
            <p:nvPr/>
          </p:nvCxnSpPr>
          <p:spPr>
            <a:xfrm>
              <a:off x="4506145" y="5489248"/>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F052754-CF53-4CC5-81E2-201FFCF1ADEF}"/>
                </a:ext>
              </a:extLst>
            </p:cNvPr>
            <p:cNvSpPr txBox="1"/>
            <p:nvPr/>
          </p:nvSpPr>
          <p:spPr>
            <a:xfrm>
              <a:off x="5484995" y="4926513"/>
              <a:ext cx="1245854" cy="646331"/>
            </a:xfrm>
            <a:prstGeom prst="rect">
              <a:avLst/>
            </a:prstGeom>
            <a:noFill/>
          </p:spPr>
          <p:txBody>
            <a:bodyPr wrap="none" rtlCol="0">
              <a:spAutoFit/>
            </a:bodyPr>
            <a:lstStyle/>
            <a:p>
              <a:pPr algn="ctr"/>
              <a:r>
                <a:rPr lang="en-GB" sz="3600" dirty="0"/>
                <a:t>name</a:t>
              </a:r>
              <a:endParaRPr lang="en-GB" sz="2800" dirty="0"/>
            </a:p>
          </p:txBody>
        </p:sp>
      </p:grpSp>
      <p:grpSp>
        <p:nvGrpSpPr>
          <p:cNvPr id="46" name="Group 45">
            <a:extLst>
              <a:ext uri="{FF2B5EF4-FFF2-40B4-BE49-F238E27FC236}">
                <a16:creationId xmlns:a16="http://schemas.microsoft.com/office/drawing/2014/main" id="{602BC1CE-A6F5-4697-A5B6-84740B19B096}"/>
              </a:ext>
            </a:extLst>
          </p:cNvPr>
          <p:cNvGrpSpPr/>
          <p:nvPr/>
        </p:nvGrpSpPr>
        <p:grpSpPr>
          <a:xfrm>
            <a:off x="2623595" y="3959608"/>
            <a:ext cx="6803554" cy="720000"/>
            <a:chOff x="2706145" y="5129248"/>
            <a:chExt cx="6803554" cy="720000"/>
          </a:xfrm>
        </p:grpSpPr>
        <p:sp>
          <p:nvSpPr>
            <p:cNvPr id="47" name="Entity 5">
              <a:extLst>
                <a:ext uri="{FF2B5EF4-FFF2-40B4-BE49-F238E27FC236}">
                  <a16:creationId xmlns:a16="http://schemas.microsoft.com/office/drawing/2014/main" id="{0C63B20E-9FDF-4898-BD04-878DC12660FD}"/>
                </a:ext>
              </a:extLst>
            </p:cNvPr>
            <p:cNvSpPr txBox="1"/>
            <p:nvPr/>
          </p:nvSpPr>
          <p:spPr>
            <a:xfrm>
              <a:off x="2706145" y="512924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pupil</a:t>
              </a:r>
            </a:p>
          </p:txBody>
        </p:sp>
        <p:sp>
          <p:nvSpPr>
            <p:cNvPr id="48" name="Entity 6">
              <a:extLst>
                <a:ext uri="{FF2B5EF4-FFF2-40B4-BE49-F238E27FC236}">
                  <a16:creationId xmlns:a16="http://schemas.microsoft.com/office/drawing/2014/main" id="{A55B2123-C239-48AF-B807-663504FBD5DB}"/>
                </a:ext>
              </a:extLst>
            </p:cNvPr>
            <p:cNvSpPr txBox="1"/>
            <p:nvPr/>
          </p:nvSpPr>
          <p:spPr>
            <a:xfrm>
              <a:off x="7709699" y="512924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subject</a:t>
              </a:r>
            </a:p>
          </p:txBody>
        </p:sp>
        <p:cxnSp>
          <p:nvCxnSpPr>
            <p:cNvPr id="51" name="Straight Connector 50">
              <a:extLst>
                <a:ext uri="{FF2B5EF4-FFF2-40B4-BE49-F238E27FC236}">
                  <a16:creationId xmlns:a16="http://schemas.microsoft.com/office/drawing/2014/main" id="{184C5A4D-6198-497E-BE3B-BCB8D24C0E98}"/>
                </a:ext>
              </a:extLst>
            </p:cNvPr>
            <p:cNvCxnSpPr>
              <a:stCxn id="47" idx="3"/>
              <a:endCxn id="48" idx="1"/>
            </p:cNvCxnSpPr>
            <p:nvPr/>
          </p:nvCxnSpPr>
          <p:spPr>
            <a:xfrm>
              <a:off x="4506145" y="5489248"/>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9103450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Cardinality</a:t>
            </a:r>
          </a:p>
        </p:txBody>
      </p:sp>
      <p:grpSp>
        <p:nvGrpSpPr>
          <p:cNvPr id="7" name="Group 6">
            <a:extLst>
              <a:ext uri="{FF2B5EF4-FFF2-40B4-BE49-F238E27FC236}">
                <a16:creationId xmlns:a16="http://schemas.microsoft.com/office/drawing/2014/main" id="{93BF6E71-68AD-46BA-BC30-0C5B24D2161F}"/>
              </a:ext>
            </a:extLst>
          </p:cNvPr>
          <p:cNvGrpSpPr/>
          <p:nvPr/>
        </p:nvGrpSpPr>
        <p:grpSpPr>
          <a:xfrm>
            <a:off x="2706145" y="1931207"/>
            <a:ext cx="6803554" cy="943299"/>
            <a:chOff x="2706145" y="1931207"/>
            <a:chExt cx="6803554" cy="943299"/>
          </a:xfrm>
        </p:grpSpPr>
        <p:sp>
          <p:nvSpPr>
            <p:cNvPr id="8" name="Entity 1">
              <a:extLst>
                <a:ext uri="{FF2B5EF4-FFF2-40B4-BE49-F238E27FC236}">
                  <a16:creationId xmlns:a16="http://schemas.microsoft.com/office/drawing/2014/main" id="{9E8D577D-F9B0-4C26-95CB-954FFDF61DBD}"/>
                </a:ext>
              </a:extLst>
            </p:cNvPr>
            <p:cNvSpPr txBox="1"/>
            <p:nvPr/>
          </p:nvSpPr>
          <p:spPr>
            <a:xfrm>
              <a:off x="2706145" y="2154506"/>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sp>
          <p:nvSpPr>
            <p:cNvPr id="10" name="Entity 2">
              <a:extLst>
                <a:ext uri="{FF2B5EF4-FFF2-40B4-BE49-F238E27FC236}">
                  <a16:creationId xmlns:a16="http://schemas.microsoft.com/office/drawing/2014/main" id="{06B8E8D6-C037-4571-B1CB-E4BD14A48ED7}"/>
                </a:ext>
              </a:extLst>
            </p:cNvPr>
            <p:cNvSpPr txBox="1"/>
            <p:nvPr/>
          </p:nvSpPr>
          <p:spPr>
            <a:xfrm>
              <a:off x="7709699" y="2154505"/>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cxnSp>
          <p:nvCxnSpPr>
            <p:cNvPr id="3" name="1 to 1"/>
            <p:cNvCxnSpPr>
              <a:stCxn id="8" idx="3"/>
              <a:endCxn id="10" idx="1"/>
            </p:cNvCxnSpPr>
            <p:nvPr/>
          </p:nvCxnSpPr>
          <p:spPr>
            <a:xfrm flipV="1">
              <a:off x="4506145" y="2514505"/>
              <a:ext cx="3203554"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63E3461-DC5D-48CF-AE13-69B629EAA16E}"/>
                </a:ext>
              </a:extLst>
            </p:cNvPr>
            <p:cNvSpPr txBox="1"/>
            <p:nvPr/>
          </p:nvSpPr>
          <p:spPr>
            <a:xfrm>
              <a:off x="5480827" y="1931207"/>
              <a:ext cx="1254189" cy="646331"/>
            </a:xfrm>
            <a:prstGeom prst="rect">
              <a:avLst/>
            </a:prstGeom>
            <a:noFill/>
          </p:spPr>
          <p:txBody>
            <a:bodyPr wrap="none" rtlCol="0">
              <a:spAutoFit/>
            </a:bodyPr>
            <a:lstStyle/>
            <a:p>
              <a:pPr algn="ctr"/>
              <a:r>
                <a:rPr lang="en-GB" sz="3600" dirty="0"/>
                <a:t>1 to 1</a:t>
              </a:r>
            </a:p>
          </p:txBody>
        </p:sp>
      </p:grpSp>
      <p:grpSp>
        <p:nvGrpSpPr>
          <p:cNvPr id="2" name="Group 1">
            <a:extLst>
              <a:ext uri="{FF2B5EF4-FFF2-40B4-BE49-F238E27FC236}">
                <a16:creationId xmlns:a16="http://schemas.microsoft.com/office/drawing/2014/main" id="{E3B63835-D85A-42E4-A049-D44FAD5CD4AD}"/>
              </a:ext>
            </a:extLst>
          </p:cNvPr>
          <p:cNvGrpSpPr/>
          <p:nvPr/>
        </p:nvGrpSpPr>
        <p:grpSpPr>
          <a:xfrm>
            <a:off x="2706145" y="3429000"/>
            <a:ext cx="6803554" cy="932877"/>
            <a:chOff x="2706145" y="3429000"/>
            <a:chExt cx="6803554" cy="932877"/>
          </a:xfrm>
        </p:grpSpPr>
        <p:sp>
          <p:nvSpPr>
            <p:cNvPr id="11" name="Entity 3">
              <a:extLst>
                <a:ext uri="{FF2B5EF4-FFF2-40B4-BE49-F238E27FC236}">
                  <a16:creationId xmlns:a16="http://schemas.microsoft.com/office/drawing/2014/main" id="{9E8D577D-F9B0-4C26-95CB-954FFDF61DBD}"/>
                </a:ext>
              </a:extLst>
            </p:cNvPr>
            <p:cNvSpPr txBox="1"/>
            <p:nvPr/>
          </p:nvSpPr>
          <p:spPr>
            <a:xfrm>
              <a:off x="2706145" y="3641877"/>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sp>
          <p:nvSpPr>
            <p:cNvPr id="12" name="Entity 4">
              <a:extLst>
                <a:ext uri="{FF2B5EF4-FFF2-40B4-BE49-F238E27FC236}">
                  <a16:creationId xmlns:a16="http://schemas.microsoft.com/office/drawing/2014/main" id="{06B8E8D6-C037-4571-B1CB-E4BD14A48ED7}"/>
                </a:ext>
              </a:extLst>
            </p:cNvPr>
            <p:cNvSpPr txBox="1"/>
            <p:nvPr/>
          </p:nvSpPr>
          <p:spPr>
            <a:xfrm>
              <a:off x="7709699" y="3641877"/>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grpSp>
          <p:nvGrpSpPr>
            <p:cNvPr id="28" name="1 to Many"/>
            <p:cNvGrpSpPr/>
            <p:nvPr/>
          </p:nvGrpSpPr>
          <p:grpSpPr>
            <a:xfrm>
              <a:off x="4506145" y="3813175"/>
              <a:ext cx="3203554" cy="359999"/>
              <a:chOff x="4506145" y="3813175"/>
              <a:chExt cx="3203554" cy="359999"/>
            </a:xfrm>
          </p:grpSpPr>
          <p:cxnSp>
            <p:nvCxnSpPr>
              <p:cNvPr id="15" name="Straight Connector 14"/>
              <p:cNvCxnSpPr>
                <a:stCxn id="11" idx="3"/>
                <a:endCxn id="12" idx="1"/>
              </p:cNvCxnSpPr>
              <p:nvPr/>
            </p:nvCxnSpPr>
            <p:spPr>
              <a:xfrm>
                <a:off x="4506145" y="4001877"/>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7391400" y="3813175"/>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7391400" y="4001876"/>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9" name="TextBox 38">
              <a:extLst>
                <a:ext uri="{FF2B5EF4-FFF2-40B4-BE49-F238E27FC236}">
                  <a16:creationId xmlns:a16="http://schemas.microsoft.com/office/drawing/2014/main" id="{663E3461-DC5D-48CF-AE13-69B629EAA16E}"/>
                </a:ext>
              </a:extLst>
            </p:cNvPr>
            <p:cNvSpPr txBox="1"/>
            <p:nvPr/>
          </p:nvSpPr>
          <p:spPr>
            <a:xfrm>
              <a:off x="5069144" y="3429000"/>
              <a:ext cx="2077556" cy="646331"/>
            </a:xfrm>
            <a:prstGeom prst="rect">
              <a:avLst/>
            </a:prstGeom>
            <a:noFill/>
          </p:spPr>
          <p:txBody>
            <a:bodyPr wrap="none" rtlCol="0">
              <a:spAutoFit/>
            </a:bodyPr>
            <a:lstStyle/>
            <a:p>
              <a:pPr algn="ctr"/>
              <a:r>
                <a:rPr lang="en-GB" sz="3600" dirty="0"/>
                <a:t>1 to Many</a:t>
              </a:r>
            </a:p>
          </p:txBody>
        </p:sp>
      </p:grpSp>
      <p:grpSp>
        <p:nvGrpSpPr>
          <p:cNvPr id="5" name="Group 4">
            <a:extLst>
              <a:ext uri="{FF2B5EF4-FFF2-40B4-BE49-F238E27FC236}">
                <a16:creationId xmlns:a16="http://schemas.microsoft.com/office/drawing/2014/main" id="{DA85B904-E480-48C3-9BF4-6DC242BF4182}"/>
              </a:ext>
            </a:extLst>
          </p:cNvPr>
          <p:cNvGrpSpPr/>
          <p:nvPr/>
        </p:nvGrpSpPr>
        <p:grpSpPr>
          <a:xfrm>
            <a:off x="2706145" y="4946603"/>
            <a:ext cx="6803554" cy="902645"/>
            <a:chOff x="2706145" y="4946603"/>
            <a:chExt cx="6803554" cy="902645"/>
          </a:xfrm>
        </p:grpSpPr>
        <p:sp>
          <p:nvSpPr>
            <p:cNvPr id="13" name="Entity 5">
              <a:extLst>
                <a:ext uri="{FF2B5EF4-FFF2-40B4-BE49-F238E27FC236}">
                  <a16:creationId xmlns:a16="http://schemas.microsoft.com/office/drawing/2014/main" id="{9E8D577D-F9B0-4C26-95CB-954FFDF61DBD}"/>
                </a:ext>
              </a:extLst>
            </p:cNvPr>
            <p:cNvSpPr txBox="1"/>
            <p:nvPr/>
          </p:nvSpPr>
          <p:spPr>
            <a:xfrm>
              <a:off x="2706145" y="512924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sp>
          <p:nvSpPr>
            <p:cNvPr id="14" name="Entity 6">
              <a:extLst>
                <a:ext uri="{FF2B5EF4-FFF2-40B4-BE49-F238E27FC236}">
                  <a16:creationId xmlns:a16="http://schemas.microsoft.com/office/drawing/2014/main" id="{06B8E8D6-C037-4571-B1CB-E4BD14A48ED7}"/>
                </a:ext>
              </a:extLst>
            </p:cNvPr>
            <p:cNvSpPr txBox="1"/>
            <p:nvPr/>
          </p:nvSpPr>
          <p:spPr>
            <a:xfrm>
              <a:off x="7709699" y="512924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grpSp>
          <p:nvGrpSpPr>
            <p:cNvPr id="37" name="Mant yo Many"/>
            <p:cNvGrpSpPr/>
            <p:nvPr/>
          </p:nvGrpSpPr>
          <p:grpSpPr>
            <a:xfrm>
              <a:off x="4506145" y="5300546"/>
              <a:ext cx="3203554" cy="359999"/>
              <a:chOff x="4506145" y="5300546"/>
              <a:chExt cx="3203554" cy="359999"/>
            </a:xfrm>
          </p:grpSpPr>
          <p:cxnSp>
            <p:nvCxnSpPr>
              <p:cNvPr id="30" name="Straight Connector 29"/>
              <p:cNvCxnSpPr>
                <a:stCxn id="13" idx="3"/>
                <a:endCxn id="14" idx="1"/>
              </p:cNvCxnSpPr>
              <p:nvPr/>
            </p:nvCxnSpPr>
            <p:spPr>
              <a:xfrm>
                <a:off x="4506145" y="5489248"/>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7391400"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7391400"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flipV="1">
                <a:off x="4506145"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4506145"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0" name="TextBox 39">
              <a:extLst>
                <a:ext uri="{FF2B5EF4-FFF2-40B4-BE49-F238E27FC236}">
                  <a16:creationId xmlns:a16="http://schemas.microsoft.com/office/drawing/2014/main" id="{663E3461-DC5D-48CF-AE13-69B629EAA16E}"/>
                </a:ext>
              </a:extLst>
            </p:cNvPr>
            <p:cNvSpPr txBox="1"/>
            <p:nvPr/>
          </p:nvSpPr>
          <p:spPr>
            <a:xfrm>
              <a:off x="4804551" y="4946603"/>
              <a:ext cx="2606739" cy="584775"/>
            </a:xfrm>
            <a:prstGeom prst="rect">
              <a:avLst/>
            </a:prstGeom>
            <a:noFill/>
          </p:spPr>
          <p:txBody>
            <a:bodyPr wrap="none" rtlCol="0">
              <a:spAutoFit/>
            </a:bodyPr>
            <a:lstStyle/>
            <a:p>
              <a:pPr algn="ctr"/>
              <a:r>
                <a:rPr lang="en-GB" sz="3200" dirty="0"/>
                <a:t>Many to Many</a:t>
              </a:r>
            </a:p>
          </p:txBody>
        </p:sp>
      </p:grpSp>
      <p:grpSp>
        <p:nvGrpSpPr>
          <p:cNvPr id="9" name="Group 8">
            <a:extLst>
              <a:ext uri="{FF2B5EF4-FFF2-40B4-BE49-F238E27FC236}">
                <a16:creationId xmlns:a16="http://schemas.microsoft.com/office/drawing/2014/main" id="{F411AE8E-9FA4-4F79-99B3-3A9BFCFBDC3D}"/>
              </a:ext>
            </a:extLst>
          </p:cNvPr>
          <p:cNvGrpSpPr/>
          <p:nvPr/>
        </p:nvGrpSpPr>
        <p:grpSpPr>
          <a:xfrm>
            <a:off x="730851" y="3678710"/>
            <a:ext cx="1802620" cy="646331"/>
            <a:chOff x="730851" y="3678710"/>
            <a:chExt cx="1802620" cy="646331"/>
          </a:xfrm>
        </p:grpSpPr>
        <p:sp>
          <p:nvSpPr>
            <p:cNvPr id="6" name="Arrow: Right 5">
              <a:extLst>
                <a:ext uri="{FF2B5EF4-FFF2-40B4-BE49-F238E27FC236}">
                  <a16:creationId xmlns:a16="http://schemas.microsoft.com/office/drawing/2014/main" id="{AAC89FBF-8490-41FE-A4C0-D1F117A36AE4}"/>
                </a:ext>
              </a:extLst>
            </p:cNvPr>
            <p:cNvSpPr/>
            <p:nvPr/>
          </p:nvSpPr>
          <p:spPr>
            <a:xfrm>
              <a:off x="1555063" y="375956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E4E906EA-1683-47CE-92F3-7C1069BCAC19}"/>
                </a:ext>
              </a:extLst>
            </p:cNvPr>
            <p:cNvSpPr txBox="1"/>
            <p:nvPr/>
          </p:nvSpPr>
          <p:spPr>
            <a:xfrm>
              <a:off x="730851" y="3678710"/>
              <a:ext cx="716863" cy="646331"/>
            </a:xfrm>
            <a:prstGeom prst="rect">
              <a:avLst/>
            </a:prstGeom>
            <a:noFill/>
          </p:spPr>
          <p:txBody>
            <a:bodyPr wrap="none" rtlCol="0">
              <a:spAutoFit/>
            </a:bodyPr>
            <a:lstStyle/>
            <a:p>
              <a:r>
                <a:rPr lang="en-GB" sz="3600" dirty="0">
                  <a:solidFill>
                    <a:srgbClr val="7030A0"/>
                  </a:solidFill>
                </a:rPr>
                <a:t>N5</a:t>
              </a:r>
            </a:p>
          </p:txBody>
        </p:sp>
      </p:grpSp>
    </p:spTree>
    <p:extLst>
      <p:ext uri="{BB962C8B-B14F-4D97-AF65-F5344CB8AC3E}">
        <p14:creationId xmlns:p14="http://schemas.microsoft.com/office/powerpoint/2010/main" val="1089194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Validation</a:t>
            </a:r>
          </a:p>
        </p:txBody>
      </p:sp>
      <p:sp>
        <p:nvSpPr>
          <p:cNvPr id="5" name="Text Placeholder 4">
            <a:extLst>
              <a:ext uri="{FF2B5EF4-FFF2-40B4-BE49-F238E27FC236}">
                <a16:creationId xmlns:a16="http://schemas.microsoft.com/office/drawing/2014/main" id="{CFA8032E-517D-44A5-9B67-FE3C84FAB189}"/>
              </a:ext>
            </a:extLst>
          </p:cNvPr>
          <p:cNvSpPr>
            <a:spLocks noGrp="1"/>
          </p:cNvSpPr>
          <p:nvPr>
            <p:ph type="body" idx="1"/>
          </p:nvPr>
        </p:nvSpPr>
        <p:spPr>
          <a:xfrm>
            <a:off x="839789" y="1681163"/>
            <a:ext cx="4032000" cy="823912"/>
          </a:xfrm>
        </p:spPr>
        <p:txBody>
          <a:bodyPr/>
          <a:lstStyle/>
          <a:p>
            <a:r>
              <a:rPr lang="en-GB" sz="3600" dirty="0">
                <a:solidFill>
                  <a:srgbClr val="7030A0"/>
                </a:solidFill>
              </a:rPr>
              <a:t>Type</a:t>
            </a:r>
            <a:endParaRPr lang="en-GB" dirty="0">
              <a:solidFill>
                <a:srgbClr val="7030A0"/>
              </a:solidFill>
            </a:endParaRPr>
          </a:p>
        </p:txBody>
      </p:sp>
      <p:sp>
        <p:nvSpPr>
          <p:cNvPr id="4" name="Content Placeholder 3"/>
          <p:cNvSpPr>
            <a:spLocks noGrp="1"/>
          </p:cNvSpPr>
          <p:nvPr>
            <p:ph sz="half" idx="2"/>
          </p:nvPr>
        </p:nvSpPr>
        <p:spPr>
          <a:xfrm>
            <a:off x="839789" y="2505075"/>
            <a:ext cx="4032000" cy="3684588"/>
          </a:xfrm>
        </p:spPr>
        <p:txBody>
          <a:bodyPr>
            <a:normAutofit/>
          </a:bodyPr>
          <a:lstStyle/>
          <a:p>
            <a:r>
              <a:rPr lang="en-GB" sz="4000" dirty="0"/>
              <a:t>Presence check	</a:t>
            </a:r>
          </a:p>
          <a:p>
            <a:r>
              <a:rPr lang="en-GB" sz="4000" dirty="0"/>
              <a:t>Restricted choice</a:t>
            </a:r>
          </a:p>
          <a:p>
            <a:r>
              <a:rPr lang="en-GB" sz="4000" dirty="0"/>
              <a:t>Length (text)</a:t>
            </a:r>
          </a:p>
          <a:p>
            <a:r>
              <a:rPr lang="en-GB" sz="4000" dirty="0"/>
              <a:t>Range (numeric)</a:t>
            </a:r>
          </a:p>
        </p:txBody>
      </p:sp>
      <p:sp>
        <p:nvSpPr>
          <p:cNvPr id="6" name="Text Placeholder 5">
            <a:extLst>
              <a:ext uri="{FF2B5EF4-FFF2-40B4-BE49-F238E27FC236}">
                <a16:creationId xmlns:a16="http://schemas.microsoft.com/office/drawing/2014/main" id="{898CA89C-886D-4BAF-8C20-0DDB87972937}"/>
              </a:ext>
            </a:extLst>
          </p:cNvPr>
          <p:cNvSpPr>
            <a:spLocks noGrp="1"/>
          </p:cNvSpPr>
          <p:nvPr>
            <p:ph type="body" sz="quarter" idx="3"/>
          </p:nvPr>
        </p:nvSpPr>
        <p:spPr>
          <a:xfrm>
            <a:off x="5421086" y="1681163"/>
            <a:ext cx="6192000" cy="823912"/>
          </a:xfrm>
        </p:spPr>
        <p:txBody>
          <a:bodyPr/>
          <a:lstStyle/>
          <a:p>
            <a:r>
              <a:rPr lang="en-GB" sz="3600" dirty="0">
                <a:solidFill>
                  <a:srgbClr val="7030A0"/>
                </a:solidFill>
              </a:rPr>
              <a:t>Comment</a:t>
            </a:r>
            <a:endParaRPr lang="en-GB" dirty="0">
              <a:solidFill>
                <a:srgbClr val="7030A0"/>
              </a:solidFill>
            </a:endParaRPr>
          </a:p>
        </p:txBody>
      </p:sp>
      <p:sp>
        <p:nvSpPr>
          <p:cNvPr id="2" name="Content Placeholder 1">
            <a:extLst>
              <a:ext uri="{FF2B5EF4-FFF2-40B4-BE49-F238E27FC236}">
                <a16:creationId xmlns:a16="http://schemas.microsoft.com/office/drawing/2014/main" id="{3598B75A-0FB3-4171-AD3B-F1E4DF79AE5E}"/>
              </a:ext>
            </a:extLst>
          </p:cNvPr>
          <p:cNvSpPr>
            <a:spLocks noGrp="1"/>
          </p:cNvSpPr>
          <p:nvPr>
            <p:ph sz="quarter" idx="4"/>
          </p:nvPr>
        </p:nvSpPr>
        <p:spPr>
          <a:xfrm>
            <a:off x="5421086" y="2505075"/>
            <a:ext cx="6192000" cy="3684588"/>
          </a:xfrm>
        </p:spPr>
        <p:txBody>
          <a:bodyPr>
            <a:normAutofit/>
          </a:bodyPr>
          <a:lstStyle/>
          <a:p>
            <a:pPr>
              <a:tabLst>
                <a:tab pos="4320000" algn="l"/>
              </a:tabLst>
            </a:pPr>
            <a:r>
              <a:rPr lang="en-GB" sz="4000" dirty="0"/>
              <a:t>Must not be left blank</a:t>
            </a:r>
          </a:p>
          <a:p>
            <a:pPr>
              <a:tabLst>
                <a:tab pos="4320000" algn="l"/>
              </a:tabLst>
            </a:pPr>
            <a:r>
              <a:rPr lang="en-GB" sz="4000" dirty="0"/>
              <a:t>List of acceptable values</a:t>
            </a:r>
          </a:p>
          <a:p>
            <a:pPr>
              <a:tabLst>
                <a:tab pos="4320000" algn="l"/>
              </a:tabLst>
            </a:pPr>
            <a:r>
              <a:rPr lang="en-GB" sz="4000" dirty="0"/>
              <a:t>Minimum or exact value</a:t>
            </a:r>
          </a:p>
          <a:p>
            <a:pPr>
              <a:tabLst>
                <a:tab pos="4320000" algn="l"/>
              </a:tabLst>
            </a:pPr>
            <a:r>
              <a:rPr lang="en-GB" sz="4000" dirty="0"/>
              <a:t>Minimum and/or maximum</a:t>
            </a:r>
          </a:p>
        </p:txBody>
      </p:sp>
    </p:spTree>
    <p:extLst>
      <p:ext uri="{BB962C8B-B14F-4D97-AF65-F5344CB8AC3E}">
        <p14:creationId xmlns:p14="http://schemas.microsoft.com/office/powerpoint/2010/main" val="3210650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1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left)">
                                      <p:cBhvr>
                                        <p:cTn id="17" dur="1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wipe(left)">
                                      <p:cBhvr>
                                        <p:cTn id="22" dur="1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wipe(left)">
                                      <p:cBhvr>
                                        <p:cTn id="27" dur="1500"/>
                                        <p:tgtEl>
                                          <p:spTgt spid="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wipe(left)">
                                      <p:cBhvr>
                                        <p:cTn id="32" dur="1000"/>
                                        <p:tgtEl>
                                          <p:spTgt spid="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xEl>
                                              <p:pRg st="0" end="0"/>
                                            </p:txEl>
                                          </p:spTgt>
                                        </p:tgtEl>
                                        <p:attrNameLst>
                                          <p:attrName>style.visibility</p:attrName>
                                        </p:attrNameLst>
                                      </p:cBhvr>
                                      <p:to>
                                        <p:strVal val="visible"/>
                                      </p:to>
                                    </p:set>
                                    <p:animEffect transition="in" filter="wipe(left)">
                                      <p:cBhvr>
                                        <p:cTn id="37" dur="2000"/>
                                        <p:tgtEl>
                                          <p:spTgt spid="2">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xEl>
                                              <p:pRg st="1" end="1"/>
                                            </p:txEl>
                                          </p:spTgt>
                                        </p:tgtEl>
                                        <p:attrNameLst>
                                          <p:attrName>style.visibility</p:attrName>
                                        </p:attrNameLst>
                                      </p:cBhvr>
                                      <p:to>
                                        <p:strVal val="visible"/>
                                      </p:to>
                                    </p:set>
                                    <p:animEffect transition="in" filter="wipe(left)">
                                      <p:cBhvr>
                                        <p:cTn id="42" dur="2000"/>
                                        <p:tgtEl>
                                          <p:spTgt spid="2">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
                                            <p:txEl>
                                              <p:pRg st="2" end="2"/>
                                            </p:txEl>
                                          </p:spTgt>
                                        </p:tgtEl>
                                        <p:attrNameLst>
                                          <p:attrName>style.visibility</p:attrName>
                                        </p:attrNameLst>
                                      </p:cBhvr>
                                      <p:to>
                                        <p:strVal val="visible"/>
                                      </p:to>
                                    </p:set>
                                    <p:animEffect transition="in" filter="wipe(left)">
                                      <p:cBhvr>
                                        <p:cTn id="47" dur="2000"/>
                                        <p:tgtEl>
                                          <p:spTgt spid="2">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
                                            <p:txEl>
                                              <p:pRg st="3" end="3"/>
                                            </p:txEl>
                                          </p:spTgt>
                                        </p:tgtEl>
                                        <p:attrNameLst>
                                          <p:attrName>style.visibility</p:attrName>
                                        </p:attrNameLst>
                                      </p:cBhvr>
                                      <p:to>
                                        <p:strVal val="visible"/>
                                      </p:to>
                                    </p:set>
                                    <p:animEffect transition="in" filter="wipe(left)">
                                      <p:cBhvr>
                                        <p:cTn id="52" dur="20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4" grpId="0" uiExpand="1" build="p"/>
      <p:bldP spid="6" grpId="0" build="p"/>
    </p:bldLst>
  </p:timing>
</p:sld>
</file>

<file path=ppt/slides/slide1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Validation</a:t>
            </a:r>
          </a:p>
        </p:txBody>
      </p:sp>
      <p:sp>
        <p:nvSpPr>
          <p:cNvPr id="5" name="Text Placeholder 4">
            <a:extLst>
              <a:ext uri="{FF2B5EF4-FFF2-40B4-BE49-F238E27FC236}">
                <a16:creationId xmlns:a16="http://schemas.microsoft.com/office/drawing/2014/main" id="{CFA8032E-517D-44A5-9B67-FE3C84FAB189}"/>
              </a:ext>
            </a:extLst>
          </p:cNvPr>
          <p:cNvSpPr>
            <a:spLocks noGrp="1"/>
          </p:cNvSpPr>
          <p:nvPr>
            <p:ph type="body" idx="1"/>
          </p:nvPr>
        </p:nvSpPr>
        <p:spPr>
          <a:xfrm>
            <a:off x="839789" y="1681163"/>
            <a:ext cx="4032000" cy="823912"/>
          </a:xfrm>
        </p:spPr>
        <p:txBody>
          <a:bodyPr/>
          <a:lstStyle/>
          <a:p>
            <a:endParaRPr lang="en-GB" dirty="0">
              <a:solidFill>
                <a:srgbClr val="7030A0"/>
              </a:solidFill>
            </a:endParaRPr>
          </a:p>
        </p:txBody>
      </p:sp>
      <p:sp>
        <p:nvSpPr>
          <p:cNvPr id="4" name="Content Placeholder 3"/>
          <p:cNvSpPr>
            <a:spLocks noGrp="1"/>
          </p:cNvSpPr>
          <p:nvPr>
            <p:ph sz="half" idx="2"/>
          </p:nvPr>
        </p:nvSpPr>
        <p:spPr>
          <a:xfrm>
            <a:off x="839789" y="2505075"/>
            <a:ext cx="4032000" cy="3684588"/>
          </a:xfrm>
        </p:spPr>
        <p:txBody>
          <a:bodyPr>
            <a:normAutofit/>
          </a:bodyPr>
          <a:lstStyle/>
          <a:p>
            <a:r>
              <a:rPr lang="en-GB" sz="4000" dirty="0"/>
              <a:t>Presence check	</a:t>
            </a:r>
          </a:p>
          <a:p>
            <a:r>
              <a:rPr lang="en-GB" sz="4000" dirty="0"/>
              <a:t>Restricted choice</a:t>
            </a:r>
          </a:p>
          <a:p>
            <a:r>
              <a:rPr lang="en-GB" sz="4000" dirty="0"/>
              <a:t>Length (text)</a:t>
            </a:r>
          </a:p>
          <a:p>
            <a:r>
              <a:rPr lang="en-GB" sz="4000" dirty="0"/>
              <a:t>Range (numeric)</a:t>
            </a:r>
          </a:p>
        </p:txBody>
      </p:sp>
      <p:sp>
        <p:nvSpPr>
          <p:cNvPr id="6" name="Text Placeholder 5">
            <a:extLst>
              <a:ext uri="{FF2B5EF4-FFF2-40B4-BE49-F238E27FC236}">
                <a16:creationId xmlns:a16="http://schemas.microsoft.com/office/drawing/2014/main" id="{898CA89C-886D-4BAF-8C20-0DDB87972937}"/>
              </a:ext>
            </a:extLst>
          </p:cNvPr>
          <p:cNvSpPr>
            <a:spLocks noGrp="1"/>
          </p:cNvSpPr>
          <p:nvPr>
            <p:ph type="body" sz="quarter" idx="3"/>
          </p:nvPr>
        </p:nvSpPr>
        <p:spPr>
          <a:xfrm>
            <a:off x="5421086" y="1681163"/>
            <a:ext cx="6192000" cy="823912"/>
          </a:xfrm>
        </p:spPr>
        <p:txBody>
          <a:bodyPr/>
          <a:lstStyle/>
          <a:p>
            <a:endParaRPr lang="en-GB" dirty="0">
              <a:solidFill>
                <a:srgbClr val="7030A0"/>
              </a:solidFill>
            </a:endParaRPr>
          </a:p>
        </p:txBody>
      </p:sp>
      <p:sp>
        <p:nvSpPr>
          <p:cNvPr id="2" name="Content Placeholder 1">
            <a:extLst>
              <a:ext uri="{FF2B5EF4-FFF2-40B4-BE49-F238E27FC236}">
                <a16:creationId xmlns:a16="http://schemas.microsoft.com/office/drawing/2014/main" id="{3598B75A-0FB3-4171-AD3B-F1E4DF79AE5E}"/>
              </a:ext>
            </a:extLst>
          </p:cNvPr>
          <p:cNvSpPr>
            <a:spLocks noGrp="1"/>
          </p:cNvSpPr>
          <p:nvPr>
            <p:ph sz="quarter" idx="4"/>
          </p:nvPr>
        </p:nvSpPr>
        <p:spPr>
          <a:xfrm>
            <a:off x="5421086" y="2505075"/>
            <a:ext cx="6192000" cy="3684588"/>
          </a:xfrm>
        </p:spPr>
        <p:txBody>
          <a:bodyPr>
            <a:normAutofit/>
          </a:bodyPr>
          <a:lstStyle/>
          <a:p>
            <a:pPr>
              <a:tabLst>
                <a:tab pos="4320000" algn="l"/>
              </a:tabLst>
            </a:pPr>
            <a:r>
              <a:rPr lang="en-GB" sz="4000" dirty="0"/>
              <a:t> </a:t>
            </a:r>
          </a:p>
          <a:p>
            <a:pPr>
              <a:tabLst>
                <a:tab pos="4320000" algn="l"/>
              </a:tabLst>
            </a:pPr>
            <a:r>
              <a:rPr lang="en-GB" sz="4000" dirty="0"/>
              <a:t> </a:t>
            </a:r>
          </a:p>
          <a:p>
            <a:pPr>
              <a:tabLst>
                <a:tab pos="4320000" algn="l"/>
              </a:tabLst>
            </a:pPr>
            <a:r>
              <a:rPr lang="en-GB" sz="4000" dirty="0"/>
              <a:t> </a:t>
            </a:r>
          </a:p>
          <a:p>
            <a:pPr>
              <a:tabLst>
                <a:tab pos="4320000" algn="l"/>
              </a:tabLst>
            </a:pPr>
            <a:r>
              <a:rPr lang="en-GB" sz="4000" dirty="0"/>
              <a:t> </a:t>
            </a:r>
          </a:p>
        </p:txBody>
      </p:sp>
    </p:spTree>
    <p:extLst>
      <p:ext uri="{BB962C8B-B14F-4D97-AF65-F5344CB8AC3E}">
        <p14:creationId xmlns:p14="http://schemas.microsoft.com/office/powerpoint/2010/main" val="158927562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Validation - Examples</a:t>
            </a:r>
          </a:p>
        </p:txBody>
      </p:sp>
      <p:sp>
        <p:nvSpPr>
          <p:cNvPr id="5" name="Text Placeholder 4">
            <a:extLst>
              <a:ext uri="{FF2B5EF4-FFF2-40B4-BE49-F238E27FC236}">
                <a16:creationId xmlns:a16="http://schemas.microsoft.com/office/drawing/2014/main" id="{B8EE203A-47B4-42D6-BEB5-D25DAE18148F}"/>
              </a:ext>
            </a:extLst>
          </p:cNvPr>
          <p:cNvSpPr>
            <a:spLocks noGrp="1"/>
          </p:cNvSpPr>
          <p:nvPr>
            <p:ph type="body" idx="1"/>
          </p:nvPr>
        </p:nvSpPr>
        <p:spPr>
          <a:xfrm>
            <a:off x="839788" y="1681163"/>
            <a:ext cx="4032000" cy="823912"/>
          </a:xfrm>
        </p:spPr>
        <p:txBody>
          <a:bodyPr/>
          <a:lstStyle/>
          <a:p>
            <a:r>
              <a:rPr lang="en-GB" sz="3600" dirty="0">
                <a:solidFill>
                  <a:srgbClr val="7030A0"/>
                </a:solidFill>
              </a:rPr>
              <a:t>Type</a:t>
            </a:r>
            <a:endParaRPr lang="en-GB" dirty="0">
              <a:solidFill>
                <a:srgbClr val="7030A0"/>
              </a:solidFill>
            </a:endParaRPr>
          </a:p>
        </p:txBody>
      </p:sp>
      <p:sp>
        <p:nvSpPr>
          <p:cNvPr id="4" name="Content Placeholder 3"/>
          <p:cNvSpPr>
            <a:spLocks noGrp="1"/>
          </p:cNvSpPr>
          <p:nvPr>
            <p:ph sz="half" idx="2"/>
          </p:nvPr>
        </p:nvSpPr>
        <p:spPr>
          <a:xfrm>
            <a:off x="839788" y="2505075"/>
            <a:ext cx="4032000" cy="3684588"/>
          </a:xfrm>
        </p:spPr>
        <p:txBody>
          <a:bodyPr>
            <a:normAutofit/>
          </a:bodyPr>
          <a:lstStyle/>
          <a:p>
            <a:r>
              <a:rPr lang="en-GB" sz="4000" dirty="0"/>
              <a:t>Presence check	</a:t>
            </a:r>
          </a:p>
          <a:p>
            <a:r>
              <a:rPr lang="en-GB" sz="4000" dirty="0"/>
              <a:t>Restricted choice</a:t>
            </a:r>
          </a:p>
          <a:p>
            <a:r>
              <a:rPr lang="en-GB" sz="4000" dirty="0"/>
              <a:t>Length (text)</a:t>
            </a:r>
          </a:p>
          <a:p>
            <a:r>
              <a:rPr lang="en-GB" sz="4000" dirty="0"/>
              <a:t>Range (numeric)</a:t>
            </a:r>
          </a:p>
        </p:txBody>
      </p:sp>
      <p:sp>
        <p:nvSpPr>
          <p:cNvPr id="6" name="Text Placeholder 5">
            <a:extLst>
              <a:ext uri="{FF2B5EF4-FFF2-40B4-BE49-F238E27FC236}">
                <a16:creationId xmlns:a16="http://schemas.microsoft.com/office/drawing/2014/main" id="{EC38012C-8AF8-4C9F-8E17-E8EC8BF598DB}"/>
              </a:ext>
            </a:extLst>
          </p:cNvPr>
          <p:cNvSpPr>
            <a:spLocks noGrp="1"/>
          </p:cNvSpPr>
          <p:nvPr>
            <p:ph type="body" sz="quarter" idx="3"/>
          </p:nvPr>
        </p:nvSpPr>
        <p:spPr>
          <a:xfrm>
            <a:off x="5562600" y="1681163"/>
            <a:ext cx="6192000" cy="823912"/>
          </a:xfrm>
        </p:spPr>
        <p:txBody>
          <a:bodyPr>
            <a:normAutofit/>
          </a:bodyPr>
          <a:lstStyle/>
          <a:p>
            <a:r>
              <a:rPr lang="en-GB" sz="3600" dirty="0">
                <a:solidFill>
                  <a:srgbClr val="7030A0"/>
                </a:solidFill>
              </a:rPr>
              <a:t>Examples</a:t>
            </a:r>
            <a:endParaRPr lang="en-GB" sz="3200" dirty="0">
              <a:solidFill>
                <a:srgbClr val="7030A0"/>
              </a:solidFill>
            </a:endParaRPr>
          </a:p>
        </p:txBody>
      </p:sp>
      <p:sp>
        <p:nvSpPr>
          <p:cNvPr id="2" name="Content Placeholder 1">
            <a:extLst>
              <a:ext uri="{FF2B5EF4-FFF2-40B4-BE49-F238E27FC236}">
                <a16:creationId xmlns:a16="http://schemas.microsoft.com/office/drawing/2014/main" id="{3598B75A-0FB3-4171-AD3B-F1E4DF79AE5E}"/>
              </a:ext>
            </a:extLst>
          </p:cNvPr>
          <p:cNvSpPr>
            <a:spLocks noGrp="1"/>
          </p:cNvSpPr>
          <p:nvPr>
            <p:ph sz="quarter" idx="4"/>
          </p:nvPr>
        </p:nvSpPr>
        <p:spPr>
          <a:xfrm>
            <a:off x="5562600" y="2505075"/>
            <a:ext cx="6192000" cy="3684588"/>
          </a:xfrm>
        </p:spPr>
        <p:txBody>
          <a:bodyPr>
            <a:normAutofit/>
          </a:bodyPr>
          <a:lstStyle/>
          <a:p>
            <a:pPr>
              <a:tabLst>
                <a:tab pos="4320000" algn="l"/>
              </a:tabLst>
            </a:pPr>
            <a:r>
              <a:rPr lang="en-GB" sz="4000" dirty="0"/>
              <a:t>Required</a:t>
            </a:r>
            <a:endParaRPr lang="en-GB" sz="4000" dirty="0">
              <a:solidFill>
                <a:srgbClr val="FF0000"/>
              </a:solidFill>
            </a:endParaRPr>
          </a:p>
          <a:p>
            <a:pPr>
              <a:tabLst>
                <a:tab pos="4320000" algn="l"/>
              </a:tabLst>
            </a:pPr>
            <a:r>
              <a:rPr lang="en-GB" sz="4000" dirty="0"/>
              <a:t>Restricted choice: Big, Small</a:t>
            </a:r>
          </a:p>
          <a:p>
            <a:pPr>
              <a:tabLst>
                <a:tab pos="4320000" algn="l"/>
              </a:tabLst>
            </a:pPr>
            <a:r>
              <a:rPr lang="en-GB" sz="4000" dirty="0"/>
              <a:t>Length &gt;= 4</a:t>
            </a:r>
          </a:p>
          <a:p>
            <a:pPr>
              <a:tabLst>
                <a:tab pos="4320000" algn="l"/>
              </a:tabLst>
            </a:pPr>
            <a:r>
              <a:rPr lang="en-GB" sz="4000" dirty="0"/>
              <a:t>Range &gt;= 0 and &lt;= 100</a:t>
            </a:r>
          </a:p>
        </p:txBody>
      </p:sp>
    </p:spTree>
    <p:extLst>
      <p:ext uri="{BB962C8B-B14F-4D97-AF65-F5344CB8AC3E}">
        <p14:creationId xmlns:p14="http://schemas.microsoft.com/office/powerpoint/2010/main" val="726231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1500"/>
                                        <p:tgtEl>
                                          <p:spTgt spid="4">
                                            <p:txEl>
                                              <p:pRg st="0" end="0"/>
                                            </p:txEl>
                                          </p:spTgt>
                                        </p:tgtEl>
                                      </p:cBhvr>
                                    </p:animEffect>
                                  </p:childTnLst>
                                </p:cTn>
                              </p:par>
                            </p:childTnLst>
                          </p:cTn>
                        </p:par>
                        <p:par>
                          <p:cTn id="13" fill="hold">
                            <p:stCondLst>
                              <p:cond delay="1500"/>
                            </p:stCondLst>
                            <p:childTnLst>
                              <p:par>
                                <p:cTn id="14" presetID="22" presetClass="entr" presetSubtype="8" fill="hold" grpId="0" nodeType="after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wipe(left)">
                                      <p:cBhvr>
                                        <p:cTn id="16" dur="1500"/>
                                        <p:tgtEl>
                                          <p:spTgt spid="4">
                                            <p:txEl>
                                              <p:pRg st="1" end="1"/>
                                            </p:txEl>
                                          </p:spTgt>
                                        </p:tgtEl>
                                      </p:cBhvr>
                                    </p:animEffect>
                                  </p:childTnLst>
                                </p:cTn>
                              </p:par>
                            </p:childTnLst>
                          </p:cTn>
                        </p:par>
                        <p:par>
                          <p:cTn id="17" fill="hold">
                            <p:stCondLst>
                              <p:cond delay="3000"/>
                            </p:stCondLst>
                            <p:childTnLst>
                              <p:par>
                                <p:cTn id="18" presetID="22" presetClass="entr" presetSubtype="8" fill="hold" grpId="0" nodeType="after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wipe(left)">
                                      <p:cBhvr>
                                        <p:cTn id="20" dur="1500"/>
                                        <p:tgtEl>
                                          <p:spTgt spid="4">
                                            <p:txEl>
                                              <p:pRg st="2" end="2"/>
                                            </p:txEl>
                                          </p:spTgt>
                                        </p:tgtEl>
                                      </p:cBhvr>
                                    </p:animEffect>
                                  </p:childTnLst>
                                </p:cTn>
                              </p:par>
                            </p:childTnLst>
                          </p:cTn>
                        </p:par>
                        <p:par>
                          <p:cTn id="21" fill="hold">
                            <p:stCondLst>
                              <p:cond delay="4500"/>
                            </p:stCondLst>
                            <p:childTnLst>
                              <p:par>
                                <p:cTn id="22" presetID="22" presetClass="entr" presetSubtype="8" fill="hold" grpId="0" nodeType="after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wipe(left)">
                                      <p:cBhvr>
                                        <p:cTn id="24" dur="1500"/>
                                        <p:tgtEl>
                                          <p:spTgt spid="4">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
                                            <p:txEl>
                                              <p:pRg st="0" end="0"/>
                                            </p:txEl>
                                          </p:spTgt>
                                        </p:tgtEl>
                                        <p:attrNameLst>
                                          <p:attrName>style.visibility</p:attrName>
                                        </p:attrNameLst>
                                      </p:cBhvr>
                                      <p:to>
                                        <p:strVal val="visible"/>
                                      </p:to>
                                    </p:set>
                                    <p:animEffect transition="in" filter="wipe(left)">
                                      <p:cBhvr>
                                        <p:cTn id="29" dur="1000"/>
                                        <p:tgtEl>
                                          <p:spTgt spid="6">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
                                            <p:txEl>
                                              <p:pRg st="0" end="0"/>
                                            </p:txEl>
                                          </p:spTgt>
                                        </p:tgtEl>
                                        <p:attrNameLst>
                                          <p:attrName>style.visibility</p:attrName>
                                        </p:attrNameLst>
                                      </p:cBhvr>
                                      <p:to>
                                        <p:strVal val="visible"/>
                                      </p:to>
                                    </p:set>
                                    <p:animEffect transition="in" filter="wipe(left)">
                                      <p:cBhvr>
                                        <p:cTn id="34" dur="1500"/>
                                        <p:tgtEl>
                                          <p:spTgt spid="2">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2">
                                            <p:txEl>
                                              <p:pRg st="1" end="1"/>
                                            </p:txEl>
                                          </p:spTgt>
                                        </p:tgtEl>
                                        <p:attrNameLst>
                                          <p:attrName>style.visibility</p:attrName>
                                        </p:attrNameLst>
                                      </p:cBhvr>
                                      <p:to>
                                        <p:strVal val="visible"/>
                                      </p:to>
                                    </p:set>
                                    <p:animEffect transition="in" filter="wipe(left)">
                                      <p:cBhvr>
                                        <p:cTn id="39" dur="3000"/>
                                        <p:tgtEl>
                                          <p:spTgt spid="2">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
                                            <p:txEl>
                                              <p:pRg st="2" end="2"/>
                                            </p:txEl>
                                          </p:spTgt>
                                        </p:tgtEl>
                                        <p:attrNameLst>
                                          <p:attrName>style.visibility</p:attrName>
                                        </p:attrNameLst>
                                      </p:cBhvr>
                                      <p:to>
                                        <p:strVal val="visible"/>
                                      </p:to>
                                    </p:set>
                                    <p:animEffect transition="in" filter="wipe(left)">
                                      <p:cBhvr>
                                        <p:cTn id="44" dur="1500"/>
                                        <p:tgtEl>
                                          <p:spTgt spid="2">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2">
                                            <p:txEl>
                                              <p:pRg st="3" end="3"/>
                                            </p:txEl>
                                          </p:spTgt>
                                        </p:tgtEl>
                                        <p:attrNameLst>
                                          <p:attrName>style.visibility</p:attrName>
                                        </p:attrNameLst>
                                      </p:cBhvr>
                                      <p:to>
                                        <p:strVal val="visible"/>
                                      </p:to>
                                    </p:set>
                                    <p:animEffect transition="in" filter="wipe(left)">
                                      <p:cBhvr>
                                        <p:cTn id="49" dur="30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4" grpId="0" uiExpand="1" build="p"/>
      <p:bldP spid="6" grpId="0" build="p"/>
    </p:bldLst>
  </p:timing>
</p:sld>
</file>

<file path=ppt/slides/slide1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Validation - Examples</a:t>
            </a:r>
          </a:p>
        </p:txBody>
      </p:sp>
      <p:sp>
        <p:nvSpPr>
          <p:cNvPr id="5" name="Text Placeholder 4">
            <a:extLst>
              <a:ext uri="{FF2B5EF4-FFF2-40B4-BE49-F238E27FC236}">
                <a16:creationId xmlns:a16="http://schemas.microsoft.com/office/drawing/2014/main" id="{B8EE203A-47B4-42D6-BEB5-D25DAE18148F}"/>
              </a:ext>
            </a:extLst>
          </p:cNvPr>
          <p:cNvSpPr>
            <a:spLocks noGrp="1"/>
          </p:cNvSpPr>
          <p:nvPr>
            <p:ph type="body" idx="1"/>
          </p:nvPr>
        </p:nvSpPr>
        <p:spPr>
          <a:xfrm>
            <a:off x="839788" y="1681163"/>
            <a:ext cx="4032000" cy="823912"/>
          </a:xfrm>
        </p:spPr>
        <p:txBody>
          <a:bodyPr/>
          <a:lstStyle/>
          <a:p>
            <a:r>
              <a:rPr lang="en-GB" sz="3600" dirty="0">
                <a:solidFill>
                  <a:srgbClr val="7030A0"/>
                </a:solidFill>
              </a:rPr>
              <a:t>Type</a:t>
            </a:r>
            <a:endParaRPr lang="en-GB" dirty="0">
              <a:solidFill>
                <a:srgbClr val="7030A0"/>
              </a:solidFill>
            </a:endParaRPr>
          </a:p>
        </p:txBody>
      </p:sp>
      <p:sp>
        <p:nvSpPr>
          <p:cNvPr id="4" name="Content Placeholder 3"/>
          <p:cNvSpPr>
            <a:spLocks noGrp="1"/>
          </p:cNvSpPr>
          <p:nvPr>
            <p:ph sz="half" idx="2"/>
          </p:nvPr>
        </p:nvSpPr>
        <p:spPr>
          <a:xfrm>
            <a:off x="839788" y="2505075"/>
            <a:ext cx="4032000" cy="3684588"/>
          </a:xfrm>
        </p:spPr>
        <p:txBody>
          <a:bodyPr>
            <a:normAutofit/>
          </a:bodyPr>
          <a:lstStyle/>
          <a:p>
            <a:r>
              <a:rPr lang="en-GB" sz="4000" dirty="0"/>
              <a:t>Presence check	</a:t>
            </a:r>
          </a:p>
          <a:p>
            <a:r>
              <a:rPr lang="en-GB" sz="4000" dirty="0"/>
              <a:t>Restricted choice</a:t>
            </a:r>
          </a:p>
          <a:p>
            <a:r>
              <a:rPr lang="en-GB" sz="4000" dirty="0"/>
              <a:t>Length (text)</a:t>
            </a:r>
          </a:p>
          <a:p>
            <a:r>
              <a:rPr lang="en-GB" sz="4000" dirty="0"/>
              <a:t>Range (numeric)</a:t>
            </a:r>
          </a:p>
        </p:txBody>
      </p:sp>
      <p:sp>
        <p:nvSpPr>
          <p:cNvPr id="6" name="Text Placeholder 5">
            <a:extLst>
              <a:ext uri="{FF2B5EF4-FFF2-40B4-BE49-F238E27FC236}">
                <a16:creationId xmlns:a16="http://schemas.microsoft.com/office/drawing/2014/main" id="{EC38012C-8AF8-4C9F-8E17-E8EC8BF598DB}"/>
              </a:ext>
            </a:extLst>
          </p:cNvPr>
          <p:cNvSpPr>
            <a:spLocks noGrp="1"/>
          </p:cNvSpPr>
          <p:nvPr>
            <p:ph type="body" sz="quarter" idx="3"/>
          </p:nvPr>
        </p:nvSpPr>
        <p:spPr>
          <a:xfrm>
            <a:off x="5562600" y="1681163"/>
            <a:ext cx="6192000" cy="823912"/>
          </a:xfrm>
        </p:spPr>
        <p:txBody>
          <a:bodyPr>
            <a:normAutofit/>
          </a:bodyPr>
          <a:lstStyle/>
          <a:p>
            <a:endParaRPr lang="en-GB" sz="3200" dirty="0">
              <a:solidFill>
                <a:srgbClr val="7030A0"/>
              </a:solidFill>
            </a:endParaRPr>
          </a:p>
        </p:txBody>
      </p:sp>
      <p:sp>
        <p:nvSpPr>
          <p:cNvPr id="2" name="Content Placeholder 1">
            <a:extLst>
              <a:ext uri="{FF2B5EF4-FFF2-40B4-BE49-F238E27FC236}">
                <a16:creationId xmlns:a16="http://schemas.microsoft.com/office/drawing/2014/main" id="{3598B75A-0FB3-4171-AD3B-F1E4DF79AE5E}"/>
              </a:ext>
            </a:extLst>
          </p:cNvPr>
          <p:cNvSpPr>
            <a:spLocks noGrp="1"/>
          </p:cNvSpPr>
          <p:nvPr>
            <p:ph sz="quarter" idx="4"/>
          </p:nvPr>
        </p:nvSpPr>
        <p:spPr>
          <a:xfrm>
            <a:off x="5562600" y="2505075"/>
            <a:ext cx="6192000" cy="3684588"/>
          </a:xfrm>
        </p:spPr>
        <p:txBody>
          <a:bodyPr>
            <a:normAutofit/>
          </a:bodyPr>
          <a:lstStyle/>
          <a:p>
            <a:pPr>
              <a:tabLst>
                <a:tab pos="4320000" algn="l"/>
              </a:tabLst>
            </a:pPr>
            <a:r>
              <a:rPr lang="en-GB" sz="4000" dirty="0"/>
              <a:t> </a:t>
            </a:r>
          </a:p>
          <a:p>
            <a:pPr>
              <a:tabLst>
                <a:tab pos="4320000" algn="l"/>
              </a:tabLst>
            </a:pPr>
            <a:r>
              <a:rPr lang="en-GB" sz="4000" dirty="0"/>
              <a:t> </a:t>
            </a:r>
          </a:p>
          <a:p>
            <a:pPr>
              <a:tabLst>
                <a:tab pos="4320000" algn="l"/>
              </a:tabLst>
            </a:pPr>
            <a:r>
              <a:rPr lang="en-GB" sz="4000" dirty="0"/>
              <a:t> </a:t>
            </a:r>
          </a:p>
          <a:p>
            <a:pPr>
              <a:tabLst>
                <a:tab pos="4320000" algn="l"/>
              </a:tabLst>
            </a:pPr>
            <a:r>
              <a:rPr lang="en-GB" sz="4000" dirty="0"/>
              <a:t> </a:t>
            </a:r>
          </a:p>
        </p:txBody>
      </p:sp>
    </p:spTree>
    <p:extLst>
      <p:ext uri="{BB962C8B-B14F-4D97-AF65-F5344CB8AC3E}">
        <p14:creationId xmlns:p14="http://schemas.microsoft.com/office/powerpoint/2010/main" val="321265399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22074-36FD-4C75-8FA3-8990548CB177}"/>
              </a:ext>
            </a:extLst>
          </p:cNvPr>
          <p:cNvSpPr>
            <a:spLocks noGrp="1"/>
          </p:cNvSpPr>
          <p:nvPr>
            <p:ph type="title"/>
          </p:nvPr>
        </p:nvSpPr>
        <p:spPr/>
        <p:txBody>
          <a:bodyPr/>
          <a:lstStyle/>
          <a:p>
            <a:r>
              <a:rPr lang="en-GB" dirty="0"/>
              <a:t>Learning Intentions</a:t>
            </a:r>
          </a:p>
        </p:txBody>
      </p:sp>
      <p:sp>
        <p:nvSpPr>
          <p:cNvPr id="3" name="Content Placeholder 2">
            <a:extLst>
              <a:ext uri="{FF2B5EF4-FFF2-40B4-BE49-F238E27FC236}">
                <a16:creationId xmlns:a16="http://schemas.microsoft.com/office/drawing/2014/main" id="{8F001589-01A8-453F-8E86-A87C58675ED2}"/>
              </a:ext>
            </a:extLst>
          </p:cNvPr>
          <p:cNvSpPr>
            <a:spLocks noGrp="1"/>
          </p:cNvSpPr>
          <p:nvPr>
            <p:ph idx="1"/>
          </p:nvPr>
        </p:nvSpPr>
        <p:spPr/>
        <p:txBody>
          <a:bodyPr>
            <a:normAutofit/>
          </a:bodyPr>
          <a:lstStyle/>
          <a:p>
            <a:r>
              <a:rPr lang="en-GB" sz="3200" dirty="0"/>
              <a:t>Describe and exemplify a data dictionary:</a:t>
            </a:r>
          </a:p>
          <a:p>
            <a:pPr lvl="1"/>
            <a:r>
              <a:rPr lang="en-GB" sz="3200" dirty="0"/>
              <a:t>entity name</a:t>
            </a:r>
          </a:p>
          <a:p>
            <a:pPr lvl="1"/>
            <a:r>
              <a:rPr lang="en-GB" sz="3200" dirty="0"/>
              <a:t>attribute name</a:t>
            </a:r>
          </a:p>
          <a:p>
            <a:pPr lvl="1"/>
            <a:r>
              <a:rPr lang="en-GB" sz="3200" dirty="0"/>
              <a:t>primary and foreign key</a:t>
            </a:r>
          </a:p>
          <a:p>
            <a:pPr lvl="1"/>
            <a:r>
              <a:rPr lang="en-GB" sz="3200" dirty="0"/>
              <a:t>attribute type</a:t>
            </a:r>
          </a:p>
          <a:p>
            <a:pPr lvl="1"/>
            <a:r>
              <a:rPr lang="en-GB" sz="3200" dirty="0"/>
              <a:t>attribute size</a:t>
            </a:r>
          </a:p>
          <a:p>
            <a:pPr lvl="1"/>
            <a:r>
              <a:rPr lang="en-GB" sz="3200" dirty="0"/>
              <a:t>validation</a:t>
            </a:r>
          </a:p>
          <a:p>
            <a:endParaRPr lang="en-GB" dirty="0"/>
          </a:p>
        </p:txBody>
      </p:sp>
    </p:spTree>
    <p:extLst>
      <p:ext uri="{BB962C8B-B14F-4D97-AF65-F5344CB8AC3E}">
        <p14:creationId xmlns:p14="http://schemas.microsoft.com/office/powerpoint/2010/main" val="104496657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Data Dictionary (1)</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extLst>
              <p:ext uri="{D42A27DB-BD31-4B8C-83A1-F6EECF244321}">
                <p14:modId xmlns:p14="http://schemas.microsoft.com/office/powerpoint/2010/main" val="442858961"/>
              </p:ext>
            </p:extLst>
          </p:nvPr>
        </p:nvGraphicFramePr>
        <p:xfrm>
          <a:off x="838200" y="1825625"/>
          <a:ext cx="10337800" cy="3962400"/>
        </p:xfrm>
        <a:graphic>
          <a:graphicData uri="http://schemas.openxmlformats.org/drawingml/2006/table">
            <a:tbl>
              <a:tblPr firstRow="1" bandRow="1">
                <a:tableStyleId>{5C22544A-7EE6-4342-B048-85BDC9FD1C3A}</a:tableStyleId>
              </a:tblPr>
              <a:tblGrid>
                <a:gridCol w="2056986">
                  <a:extLst>
                    <a:ext uri="{9D8B030D-6E8A-4147-A177-3AD203B41FA5}">
                      <a16:colId xmlns:a16="http://schemas.microsoft.com/office/drawing/2014/main" val="1632358923"/>
                    </a:ext>
                  </a:extLst>
                </a:gridCol>
                <a:gridCol w="829807">
                  <a:extLst>
                    <a:ext uri="{9D8B030D-6E8A-4147-A177-3AD203B41FA5}">
                      <a16:colId xmlns:a16="http://schemas.microsoft.com/office/drawing/2014/main" val="3505833113"/>
                    </a:ext>
                  </a:extLst>
                </a:gridCol>
                <a:gridCol w="1586230">
                  <a:extLst>
                    <a:ext uri="{9D8B030D-6E8A-4147-A177-3AD203B41FA5}">
                      <a16:colId xmlns:a16="http://schemas.microsoft.com/office/drawing/2014/main" val="2732100902"/>
                    </a:ext>
                  </a:extLst>
                </a:gridCol>
                <a:gridCol w="926211">
                  <a:extLst>
                    <a:ext uri="{9D8B030D-6E8A-4147-A177-3AD203B41FA5}">
                      <a16:colId xmlns:a16="http://schemas.microsoft.com/office/drawing/2014/main" val="315362434"/>
                    </a:ext>
                  </a:extLst>
                </a:gridCol>
                <a:gridCol w="1297304">
                  <a:extLst>
                    <a:ext uri="{9D8B030D-6E8A-4147-A177-3AD203B41FA5}">
                      <a16:colId xmlns:a16="http://schemas.microsoft.com/office/drawing/2014/main" val="2971574360"/>
                    </a:ext>
                  </a:extLst>
                </a:gridCol>
                <a:gridCol w="3641262">
                  <a:extLst>
                    <a:ext uri="{9D8B030D-6E8A-4147-A177-3AD203B41FA5}">
                      <a16:colId xmlns:a16="http://schemas.microsoft.com/office/drawing/2014/main" val="2515431282"/>
                    </a:ext>
                  </a:extLst>
                </a:gridCol>
              </a:tblGrid>
              <a:tr h="370840">
                <a:tc>
                  <a:txBody>
                    <a:bodyPr/>
                    <a:lstStyle/>
                    <a:p>
                      <a:pPr algn="ctr"/>
                      <a:r>
                        <a:rPr lang="en-GB" sz="3200" dirty="0"/>
                        <a:t>Attribute</a:t>
                      </a:r>
                    </a:p>
                  </a:txBody>
                  <a:tcPr/>
                </a:tc>
                <a:tc>
                  <a:txBody>
                    <a:bodyPr/>
                    <a:lstStyle/>
                    <a:p>
                      <a:pPr algn="ctr"/>
                      <a:r>
                        <a:rPr lang="en-GB" sz="3200" dirty="0"/>
                        <a:t>Key</a:t>
                      </a:r>
                    </a:p>
                  </a:txBody>
                  <a:tcPr/>
                </a:tc>
                <a:tc>
                  <a:txBody>
                    <a:bodyPr/>
                    <a:lstStyle/>
                    <a:p>
                      <a:pPr algn="ctr"/>
                      <a:r>
                        <a:rPr lang="en-GB" sz="3200" dirty="0"/>
                        <a:t>Type</a:t>
                      </a:r>
                    </a:p>
                  </a:txBody>
                  <a:tcPr/>
                </a:tc>
                <a:tc>
                  <a:txBody>
                    <a:bodyPr/>
                    <a:lstStyle/>
                    <a:p>
                      <a:pPr algn="ctr"/>
                      <a:r>
                        <a:rPr lang="en-GB" sz="3200" dirty="0"/>
                        <a:t>Size</a:t>
                      </a:r>
                    </a:p>
                  </a:txBody>
                  <a:tcPr/>
                </a:tc>
                <a:tc>
                  <a:txBody>
                    <a:bodyPr/>
                    <a:lstStyle/>
                    <a:p>
                      <a:pPr algn="ctr"/>
                      <a:r>
                        <a:rPr lang="en-GB" sz="3200" dirty="0" err="1"/>
                        <a:t>Req'd</a:t>
                      </a:r>
                      <a:endParaRPr lang="en-GB" sz="3200" dirty="0"/>
                    </a:p>
                  </a:txBody>
                  <a:tcPr/>
                </a:tc>
                <a:tc>
                  <a:txBody>
                    <a:bodyPr/>
                    <a:lstStyle/>
                    <a:p>
                      <a:pPr algn="ctr"/>
                      <a:r>
                        <a:rPr lang="en-GB" sz="3200" dirty="0"/>
                        <a:t>Validation</a:t>
                      </a:r>
                    </a:p>
                  </a:txBody>
                  <a:tcPr/>
                </a:tc>
                <a:extLst>
                  <a:ext uri="{0D108BD9-81ED-4DB2-BD59-A6C34878D82A}">
                    <a16:rowId xmlns:a16="http://schemas.microsoft.com/office/drawing/2014/main" val="3459615676"/>
                  </a:ext>
                </a:extLst>
              </a:tr>
              <a:tr h="370840">
                <a:tc>
                  <a:txBody>
                    <a:bodyPr/>
                    <a:lstStyle/>
                    <a:p>
                      <a:r>
                        <a:rPr lang="en-GB" sz="3200" dirty="0" err="1"/>
                        <a:t>pupilID</a:t>
                      </a:r>
                      <a:endParaRPr lang="en-GB" sz="3200" dirty="0"/>
                    </a:p>
                  </a:txBody>
                  <a:tcPr/>
                </a:tc>
                <a:tc>
                  <a:txBody>
                    <a:bodyPr/>
                    <a:lstStyle/>
                    <a:p>
                      <a:pPr algn="ctr"/>
                      <a:r>
                        <a:rPr lang="en-GB" sz="3200" dirty="0"/>
                        <a:t>PK</a:t>
                      </a:r>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1127765656"/>
                  </a:ext>
                </a:extLst>
              </a:tr>
              <a:tr h="370840">
                <a:tc>
                  <a:txBody>
                    <a:bodyPr/>
                    <a:lstStyle/>
                    <a:p>
                      <a:r>
                        <a:rPr lang="en-GB" sz="3200" dirty="0" err="1"/>
                        <a:t>schoolID</a:t>
                      </a:r>
                      <a:endParaRPr lang="en-GB" sz="3200" dirty="0"/>
                    </a:p>
                  </a:txBody>
                  <a:tcPr/>
                </a:tc>
                <a:tc>
                  <a:txBody>
                    <a:bodyPr/>
                    <a:lstStyle/>
                    <a:p>
                      <a:pPr algn="ctr"/>
                      <a:r>
                        <a:rPr lang="en-GB" sz="3200" dirty="0"/>
                        <a:t>FK</a:t>
                      </a:r>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endParaRPr lang="en-GB" sz="3200" dirty="0"/>
                    </a:p>
                    <a:p>
                      <a:endParaRPr lang="en-GB" sz="3200" dirty="0"/>
                    </a:p>
                  </a:txBody>
                  <a:tcPr/>
                </a:tc>
                <a:extLst>
                  <a:ext uri="{0D108BD9-81ED-4DB2-BD59-A6C34878D82A}">
                    <a16:rowId xmlns:a16="http://schemas.microsoft.com/office/drawing/2014/main" val="2924661129"/>
                  </a:ext>
                </a:extLst>
              </a:tr>
              <a:tr h="370840">
                <a:tc>
                  <a:txBody>
                    <a:bodyPr/>
                    <a:lstStyle/>
                    <a:p>
                      <a:r>
                        <a:rPr lang="en-GB" sz="3200" dirty="0"/>
                        <a:t>name</a:t>
                      </a:r>
                    </a:p>
                  </a:txBody>
                  <a:tcPr/>
                </a:tc>
                <a:tc>
                  <a:txBody>
                    <a:bodyPr/>
                    <a:lstStyle/>
                    <a:p>
                      <a:pPr algn="ctr"/>
                      <a:endParaRPr lang="en-GB" sz="3200" dirty="0"/>
                    </a:p>
                  </a:txBody>
                  <a:tcPr/>
                </a:tc>
                <a:tc>
                  <a:txBody>
                    <a:bodyPr/>
                    <a:lstStyle/>
                    <a:p>
                      <a:r>
                        <a:rPr lang="en-GB" sz="3200" dirty="0"/>
                        <a:t>text</a:t>
                      </a:r>
                    </a:p>
                  </a:txBody>
                  <a:tcPr/>
                </a:tc>
                <a:tc>
                  <a:txBody>
                    <a:bodyPr/>
                    <a:lstStyle/>
                    <a:p>
                      <a:pPr algn="ctr"/>
                      <a:r>
                        <a:rPr lang="en-GB" sz="3200" dirty="0"/>
                        <a:t>30</a:t>
                      </a:r>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3885493841"/>
                  </a:ext>
                </a:extLst>
              </a:tr>
              <a:tr h="370840">
                <a:tc>
                  <a:txBody>
                    <a:bodyPr/>
                    <a:lstStyle/>
                    <a:p>
                      <a:r>
                        <a:rPr lang="en-GB" sz="3200" dirty="0"/>
                        <a:t>dob</a:t>
                      </a:r>
                    </a:p>
                  </a:txBody>
                  <a:tcPr/>
                </a:tc>
                <a:tc>
                  <a:txBody>
                    <a:bodyPr/>
                    <a:lstStyle/>
                    <a:p>
                      <a:pPr algn="ctr"/>
                      <a:endParaRPr lang="en-GB" sz="3200" dirty="0"/>
                    </a:p>
                  </a:txBody>
                  <a:tcPr/>
                </a:tc>
                <a:tc>
                  <a:txBody>
                    <a:bodyPr/>
                    <a:lstStyle/>
                    <a:p>
                      <a:r>
                        <a:rPr lang="en-GB" sz="3200" dirty="0"/>
                        <a:t>date</a:t>
                      </a:r>
                    </a:p>
                  </a:txBody>
                  <a:tcPr/>
                </a:tc>
                <a:tc>
                  <a:txBody>
                    <a:bodyPr/>
                    <a:lstStyle/>
                    <a:p>
                      <a:pPr algn="ctr"/>
                      <a:endParaRPr lang="en-GB" sz="3200" dirty="0"/>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1487565366"/>
                  </a:ext>
                </a:extLst>
              </a:tr>
              <a:tr h="370840">
                <a:tc>
                  <a:txBody>
                    <a:bodyPr/>
                    <a:lstStyle/>
                    <a:p>
                      <a:r>
                        <a:rPr lang="en-GB" sz="3200" dirty="0"/>
                        <a:t>transport</a:t>
                      </a:r>
                    </a:p>
                  </a:txBody>
                  <a:tcPr/>
                </a:tc>
                <a:tc>
                  <a:txBody>
                    <a:bodyPr/>
                    <a:lstStyle/>
                    <a:p>
                      <a:pPr algn="ctr"/>
                      <a:endParaRPr lang="en-GB" sz="3200" dirty="0"/>
                    </a:p>
                  </a:txBody>
                  <a:tcPr/>
                </a:tc>
                <a:tc>
                  <a:txBody>
                    <a:bodyPr/>
                    <a:lstStyle/>
                    <a:p>
                      <a:r>
                        <a:rPr lang="en-GB" sz="3200" dirty="0" err="1"/>
                        <a:t>boolean</a:t>
                      </a:r>
                      <a:endParaRPr lang="en-GB" sz="3200" dirty="0"/>
                    </a:p>
                  </a:txBody>
                  <a:tcPr/>
                </a:tc>
                <a:tc>
                  <a:txBody>
                    <a:bodyPr/>
                    <a:lstStyle/>
                    <a:p>
                      <a:pPr algn="ctr"/>
                      <a:endParaRPr lang="en-GB" sz="3200" dirty="0"/>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3947728551"/>
                  </a:ext>
                </a:extLst>
              </a:tr>
            </a:tbl>
          </a:graphicData>
        </a:graphic>
      </p:graphicFrame>
      <p:sp>
        <p:nvSpPr>
          <p:cNvPr id="7" name="TextBox 6">
            <a:extLst>
              <a:ext uri="{FF2B5EF4-FFF2-40B4-BE49-F238E27FC236}">
                <a16:creationId xmlns:a16="http://schemas.microsoft.com/office/drawing/2014/main" id="{A1BFC853-8304-4B36-ABE6-4EFE5EDE6F3D}"/>
              </a:ext>
            </a:extLst>
          </p:cNvPr>
          <p:cNvSpPr txBox="1"/>
          <p:nvPr/>
        </p:nvSpPr>
        <p:spPr>
          <a:xfrm>
            <a:off x="3110970" y="5840648"/>
            <a:ext cx="5970059" cy="646331"/>
          </a:xfrm>
          <a:prstGeom prst="rect">
            <a:avLst/>
          </a:prstGeom>
          <a:noFill/>
        </p:spPr>
        <p:txBody>
          <a:bodyPr wrap="square" rtlCol="0" anchor="ctr" anchorCtr="0">
            <a:spAutoFit/>
          </a:bodyPr>
          <a:lstStyle/>
          <a:p>
            <a:pPr algn="ctr"/>
            <a:r>
              <a:rPr lang="en-GB" sz="3600" dirty="0">
                <a:solidFill>
                  <a:srgbClr val="7030A0"/>
                </a:solidFill>
              </a:rPr>
              <a:t>Only text attributes have a size</a:t>
            </a:r>
          </a:p>
        </p:txBody>
      </p:sp>
      <p:sp>
        <p:nvSpPr>
          <p:cNvPr id="8" name="Rectangle: Rounded Corners 7">
            <a:extLst>
              <a:ext uri="{FF2B5EF4-FFF2-40B4-BE49-F238E27FC236}">
                <a16:creationId xmlns:a16="http://schemas.microsoft.com/office/drawing/2014/main" id="{831F97E7-1E0F-4C0A-B09F-844929766824}"/>
              </a:ext>
            </a:extLst>
          </p:cNvPr>
          <p:cNvSpPr/>
          <p:nvPr/>
        </p:nvSpPr>
        <p:spPr>
          <a:xfrm>
            <a:off x="5486855" y="4061141"/>
            <a:ext cx="576000" cy="5760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3934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wipe(left)">
                                      <p:cBhvr>
                                        <p:cTn id="15"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8" grpId="0" animBg="1"/>
    </p:bldLst>
  </p:timing>
</p:sld>
</file>

<file path=ppt/slides/slide1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Data Dictionary (1)</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extLst>
              <p:ext uri="{D42A27DB-BD31-4B8C-83A1-F6EECF244321}">
                <p14:modId xmlns:p14="http://schemas.microsoft.com/office/powerpoint/2010/main" val="3672618590"/>
              </p:ext>
            </p:extLst>
          </p:nvPr>
        </p:nvGraphicFramePr>
        <p:xfrm>
          <a:off x="838200" y="1825625"/>
          <a:ext cx="10369062" cy="3962400"/>
        </p:xfrm>
        <a:graphic>
          <a:graphicData uri="http://schemas.openxmlformats.org/drawingml/2006/table">
            <a:tbl>
              <a:tblPr firstRow="1" bandRow="1">
                <a:tableStyleId>{5C22544A-7EE6-4342-B048-85BDC9FD1C3A}</a:tableStyleId>
              </a:tblPr>
              <a:tblGrid>
                <a:gridCol w="2056986">
                  <a:extLst>
                    <a:ext uri="{9D8B030D-6E8A-4147-A177-3AD203B41FA5}">
                      <a16:colId xmlns:a16="http://schemas.microsoft.com/office/drawing/2014/main" val="1632358923"/>
                    </a:ext>
                  </a:extLst>
                </a:gridCol>
                <a:gridCol w="829807">
                  <a:extLst>
                    <a:ext uri="{9D8B030D-6E8A-4147-A177-3AD203B41FA5}">
                      <a16:colId xmlns:a16="http://schemas.microsoft.com/office/drawing/2014/main" val="3505833113"/>
                    </a:ext>
                  </a:extLst>
                </a:gridCol>
                <a:gridCol w="1586230">
                  <a:extLst>
                    <a:ext uri="{9D8B030D-6E8A-4147-A177-3AD203B41FA5}">
                      <a16:colId xmlns:a16="http://schemas.microsoft.com/office/drawing/2014/main" val="2732100902"/>
                    </a:ext>
                  </a:extLst>
                </a:gridCol>
                <a:gridCol w="926211">
                  <a:extLst>
                    <a:ext uri="{9D8B030D-6E8A-4147-A177-3AD203B41FA5}">
                      <a16:colId xmlns:a16="http://schemas.microsoft.com/office/drawing/2014/main" val="315362434"/>
                    </a:ext>
                  </a:extLst>
                </a:gridCol>
                <a:gridCol w="1297304">
                  <a:extLst>
                    <a:ext uri="{9D8B030D-6E8A-4147-A177-3AD203B41FA5}">
                      <a16:colId xmlns:a16="http://schemas.microsoft.com/office/drawing/2014/main" val="2971574360"/>
                    </a:ext>
                  </a:extLst>
                </a:gridCol>
                <a:gridCol w="3672524">
                  <a:extLst>
                    <a:ext uri="{9D8B030D-6E8A-4147-A177-3AD203B41FA5}">
                      <a16:colId xmlns:a16="http://schemas.microsoft.com/office/drawing/2014/main" val="2515431282"/>
                    </a:ext>
                  </a:extLst>
                </a:gridCol>
              </a:tblGrid>
              <a:tr h="370840">
                <a:tc>
                  <a:txBody>
                    <a:bodyPr/>
                    <a:lstStyle/>
                    <a:p>
                      <a:pPr algn="ctr"/>
                      <a:r>
                        <a:rPr lang="en-GB" sz="3200" dirty="0"/>
                        <a:t>Attribute</a:t>
                      </a:r>
                    </a:p>
                  </a:txBody>
                  <a:tcPr/>
                </a:tc>
                <a:tc>
                  <a:txBody>
                    <a:bodyPr/>
                    <a:lstStyle/>
                    <a:p>
                      <a:pPr algn="ctr"/>
                      <a:r>
                        <a:rPr lang="en-GB" sz="3200" dirty="0"/>
                        <a:t>Key</a:t>
                      </a:r>
                    </a:p>
                  </a:txBody>
                  <a:tcPr/>
                </a:tc>
                <a:tc>
                  <a:txBody>
                    <a:bodyPr/>
                    <a:lstStyle/>
                    <a:p>
                      <a:pPr algn="ctr"/>
                      <a:r>
                        <a:rPr lang="en-GB" sz="3200" dirty="0"/>
                        <a:t>Type</a:t>
                      </a:r>
                    </a:p>
                  </a:txBody>
                  <a:tcPr/>
                </a:tc>
                <a:tc>
                  <a:txBody>
                    <a:bodyPr/>
                    <a:lstStyle/>
                    <a:p>
                      <a:pPr algn="ctr"/>
                      <a:r>
                        <a:rPr lang="en-GB" sz="3200" dirty="0"/>
                        <a:t>Size</a:t>
                      </a:r>
                    </a:p>
                  </a:txBody>
                  <a:tcPr/>
                </a:tc>
                <a:tc>
                  <a:txBody>
                    <a:bodyPr/>
                    <a:lstStyle/>
                    <a:p>
                      <a:pPr algn="ctr"/>
                      <a:r>
                        <a:rPr lang="en-GB" sz="3200" dirty="0" err="1"/>
                        <a:t>Req'd</a:t>
                      </a:r>
                      <a:endParaRPr lang="en-GB" sz="3200" dirty="0"/>
                    </a:p>
                  </a:txBody>
                  <a:tcPr/>
                </a:tc>
                <a:tc>
                  <a:txBody>
                    <a:bodyPr/>
                    <a:lstStyle/>
                    <a:p>
                      <a:pPr algn="ctr"/>
                      <a:r>
                        <a:rPr lang="en-GB" sz="3200" dirty="0"/>
                        <a:t>Validation</a:t>
                      </a:r>
                    </a:p>
                  </a:txBody>
                  <a:tcPr/>
                </a:tc>
                <a:extLst>
                  <a:ext uri="{0D108BD9-81ED-4DB2-BD59-A6C34878D82A}">
                    <a16:rowId xmlns:a16="http://schemas.microsoft.com/office/drawing/2014/main" val="3459615676"/>
                  </a:ext>
                </a:extLst>
              </a:tr>
              <a:tr h="370840">
                <a:tc>
                  <a:txBody>
                    <a:bodyPr/>
                    <a:lstStyle/>
                    <a:p>
                      <a:r>
                        <a:rPr lang="en-GB" sz="3200" dirty="0" err="1"/>
                        <a:t>pupilID</a:t>
                      </a:r>
                      <a:endParaRPr lang="en-GB" sz="3200" dirty="0"/>
                    </a:p>
                  </a:txBody>
                  <a:tcPr/>
                </a:tc>
                <a:tc>
                  <a:txBody>
                    <a:bodyPr/>
                    <a:lstStyle/>
                    <a:p>
                      <a:pPr algn="ctr"/>
                      <a:r>
                        <a:rPr lang="en-GB" sz="3200" dirty="0"/>
                        <a:t>PK</a:t>
                      </a:r>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1127765656"/>
                  </a:ext>
                </a:extLst>
              </a:tr>
              <a:tr h="0">
                <a:tc>
                  <a:txBody>
                    <a:bodyPr/>
                    <a:lstStyle/>
                    <a:p>
                      <a:r>
                        <a:rPr lang="en-GB" sz="3200" dirty="0" err="1"/>
                        <a:t>schoolID</a:t>
                      </a:r>
                      <a:endParaRPr lang="en-GB" sz="3200" dirty="0"/>
                    </a:p>
                  </a:txBody>
                  <a:tcPr/>
                </a:tc>
                <a:tc>
                  <a:txBody>
                    <a:bodyPr/>
                    <a:lstStyle/>
                    <a:p>
                      <a:pPr algn="ctr"/>
                      <a:r>
                        <a:rPr lang="en-GB" sz="3200" dirty="0"/>
                        <a:t>FK</a:t>
                      </a:r>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3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3200" dirty="0"/>
                    </a:p>
                  </a:txBody>
                  <a:tcPr/>
                </a:tc>
                <a:extLst>
                  <a:ext uri="{0D108BD9-81ED-4DB2-BD59-A6C34878D82A}">
                    <a16:rowId xmlns:a16="http://schemas.microsoft.com/office/drawing/2014/main" val="2924661129"/>
                  </a:ext>
                </a:extLst>
              </a:tr>
              <a:tr h="370840">
                <a:tc>
                  <a:txBody>
                    <a:bodyPr/>
                    <a:lstStyle/>
                    <a:p>
                      <a:r>
                        <a:rPr lang="en-GB" sz="3200" dirty="0"/>
                        <a:t>name</a:t>
                      </a:r>
                    </a:p>
                  </a:txBody>
                  <a:tcPr/>
                </a:tc>
                <a:tc>
                  <a:txBody>
                    <a:bodyPr/>
                    <a:lstStyle/>
                    <a:p>
                      <a:pPr algn="ctr"/>
                      <a:endParaRPr lang="en-GB" sz="3200" dirty="0"/>
                    </a:p>
                  </a:txBody>
                  <a:tcPr/>
                </a:tc>
                <a:tc>
                  <a:txBody>
                    <a:bodyPr/>
                    <a:lstStyle/>
                    <a:p>
                      <a:r>
                        <a:rPr lang="en-GB" sz="3200" dirty="0"/>
                        <a:t>text</a:t>
                      </a:r>
                    </a:p>
                  </a:txBody>
                  <a:tcPr/>
                </a:tc>
                <a:tc>
                  <a:txBody>
                    <a:bodyPr/>
                    <a:lstStyle/>
                    <a:p>
                      <a:pPr algn="ctr"/>
                      <a:endParaRPr lang="en-GB" sz="3200" dirty="0"/>
                    </a:p>
                  </a:txBody>
                  <a:tcPr/>
                </a:tc>
                <a:tc>
                  <a:txBody>
                    <a:bodyPr/>
                    <a:lstStyle/>
                    <a:p>
                      <a:pPr algn="ctr"/>
                      <a:r>
                        <a:rPr lang="en-GB" sz="3200" dirty="0"/>
                        <a: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3200" dirty="0"/>
                    </a:p>
                  </a:txBody>
                  <a:tcPr/>
                </a:tc>
                <a:extLst>
                  <a:ext uri="{0D108BD9-81ED-4DB2-BD59-A6C34878D82A}">
                    <a16:rowId xmlns:a16="http://schemas.microsoft.com/office/drawing/2014/main" val="3885493841"/>
                  </a:ext>
                </a:extLst>
              </a:tr>
              <a:tr h="370840">
                <a:tc>
                  <a:txBody>
                    <a:bodyPr/>
                    <a:lstStyle/>
                    <a:p>
                      <a:r>
                        <a:rPr lang="en-GB" sz="3200" dirty="0"/>
                        <a:t>dob</a:t>
                      </a:r>
                    </a:p>
                  </a:txBody>
                  <a:tcPr/>
                </a:tc>
                <a:tc>
                  <a:txBody>
                    <a:bodyPr/>
                    <a:lstStyle/>
                    <a:p>
                      <a:pPr algn="ctr"/>
                      <a:endParaRPr lang="en-GB" sz="3200" dirty="0"/>
                    </a:p>
                  </a:txBody>
                  <a:tcPr/>
                </a:tc>
                <a:tc>
                  <a:txBody>
                    <a:bodyPr/>
                    <a:lstStyle/>
                    <a:p>
                      <a:r>
                        <a:rPr lang="en-GB" sz="3200" dirty="0"/>
                        <a:t>date</a:t>
                      </a:r>
                    </a:p>
                  </a:txBody>
                  <a:tcPr/>
                </a:tc>
                <a:tc>
                  <a:txBody>
                    <a:bodyPr/>
                    <a:lstStyle/>
                    <a:p>
                      <a:pPr algn="ctr"/>
                      <a:endParaRPr lang="en-GB" sz="3200" dirty="0"/>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1487565366"/>
                  </a:ext>
                </a:extLst>
              </a:tr>
              <a:tr h="370840">
                <a:tc>
                  <a:txBody>
                    <a:bodyPr/>
                    <a:lstStyle/>
                    <a:p>
                      <a:r>
                        <a:rPr lang="en-GB" sz="3200" dirty="0"/>
                        <a:t>transport</a:t>
                      </a:r>
                    </a:p>
                  </a:txBody>
                  <a:tcPr/>
                </a:tc>
                <a:tc>
                  <a:txBody>
                    <a:bodyPr/>
                    <a:lstStyle/>
                    <a:p>
                      <a:pPr algn="ctr"/>
                      <a:endParaRPr lang="en-GB" sz="3200" dirty="0"/>
                    </a:p>
                  </a:txBody>
                  <a:tcPr/>
                </a:tc>
                <a:tc>
                  <a:txBody>
                    <a:bodyPr/>
                    <a:lstStyle/>
                    <a:p>
                      <a:r>
                        <a:rPr lang="en-GB" sz="3200" dirty="0" err="1"/>
                        <a:t>boolean</a:t>
                      </a:r>
                      <a:endParaRPr lang="en-GB" sz="3200" dirty="0"/>
                    </a:p>
                  </a:txBody>
                  <a:tcPr/>
                </a:tc>
                <a:tc>
                  <a:txBody>
                    <a:bodyPr/>
                    <a:lstStyle/>
                    <a:p>
                      <a:pPr algn="ctr"/>
                      <a:endParaRPr lang="en-GB" sz="3200" dirty="0"/>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3947728551"/>
                  </a:ext>
                </a:extLst>
              </a:tr>
            </a:tbl>
          </a:graphicData>
        </a:graphic>
      </p:graphicFrame>
    </p:spTree>
    <p:extLst>
      <p:ext uri="{BB962C8B-B14F-4D97-AF65-F5344CB8AC3E}">
        <p14:creationId xmlns:p14="http://schemas.microsoft.com/office/powerpoint/2010/main" val="383432236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45ED4-D373-45C0-92CE-6E81DFC9E702}"/>
              </a:ext>
            </a:extLst>
          </p:cNvPr>
          <p:cNvSpPr>
            <a:spLocks noGrp="1"/>
          </p:cNvSpPr>
          <p:nvPr>
            <p:ph type="title"/>
          </p:nvPr>
        </p:nvSpPr>
        <p:spPr/>
        <p:txBody>
          <a:bodyPr/>
          <a:lstStyle/>
          <a:p>
            <a:r>
              <a:rPr lang="en-GB" dirty="0"/>
              <a:t>Text Attribute</a:t>
            </a:r>
          </a:p>
        </p:txBody>
      </p:sp>
      <p:sp>
        <p:nvSpPr>
          <p:cNvPr id="3" name="Content Placeholder 2">
            <a:extLst>
              <a:ext uri="{FF2B5EF4-FFF2-40B4-BE49-F238E27FC236}">
                <a16:creationId xmlns:a16="http://schemas.microsoft.com/office/drawing/2014/main" id="{B0C5F901-9EB2-4102-8032-D50AEEE7E924}"/>
              </a:ext>
            </a:extLst>
          </p:cNvPr>
          <p:cNvSpPr>
            <a:spLocks noGrp="1"/>
          </p:cNvSpPr>
          <p:nvPr>
            <p:ph idx="1"/>
          </p:nvPr>
        </p:nvSpPr>
        <p:spPr/>
        <p:txBody>
          <a:bodyPr>
            <a:normAutofit/>
          </a:bodyPr>
          <a:lstStyle/>
          <a:p>
            <a:r>
              <a:rPr lang="en-GB" sz="8800" dirty="0"/>
              <a:t> Text has </a:t>
            </a:r>
            <a:r>
              <a:rPr lang="en-GB" sz="8800" b="1" dirty="0">
                <a:solidFill>
                  <a:srgbClr val="FF0000"/>
                </a:solidFill>
              </a:rPr>
              <a:t>size</a:t>
            </a:r>
            <a:r>
              <a:rPr lang="en-GB" sz="8800" dirty="0"/>
              <a:t>!</a:t>
            </a:r>
          </a:p>
          <a:p>
            <a:pPr marL="0" indent="0">
              <a:buNone/>
            </a:pPr>
            <a:endParaRPr lang="en-GB" sz="4400" dirty="0"/>
          </a:p>
          <a:p>
            <a:r>
              <a:rPr lang="en-GB" sz="8800" dirty="0"/>
              <a:t> </a:t>
            </a:r>
            <a:r>
              <a:rPr lang="en-GB" sz="8800" b="1" dirty="0">
                <a:solidFill>
                  <a:srgbClr val="FF0000"/>
                </a:solidFill>
              </a:rPr>
              <a:t>Only</a:t>
            </a:r>
            <a:r>
              <a:rPr lang="en-GB" sz="8800" dirty="0"/>
              <a:t> text has size!</a:t>
            </a:r>
          </a:p>
        </p:txBody>
      </p:sp>
    </p:spTree>
    <p:extLst>
      <p:ext uri="{BB962C8B-B14F-4D97-AF65-F5344CB8AC3E}">
        <p14:creationId xmlns:p14="http://schemas.microsoft.com/office/powerpoint/2010/main" val="3199044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2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45ED4-D373-45C0-92CE-6E81DFC9E702}"/>
              </a:ext>
            </a:extLst>
          </p:cNvPr>
          <p:cNvSpPr>
            <a:spLocks noGrp="1"/>
          </p:cNvSpPr>
          <p:nvPr>
            <p:ph type="title"/>
          </p:nvPr>
        </p:nvSpPr>
        <p:spPr/>
        <p:txBody>
          <a:bodyPr/>
          <a:lstStyle/>
          <a:p>
            <a:r>
              <a:rPr lang="en-GB" dirty="0"/>
              <a:t>Text Attribute</a:t>
            </a:r>
          </a:p>
        </p:txBody>
      </p:sp>
      <p:sp>
        <p:nvSpPr>
          <p:cNvPr id="3" name="Content Placeholder 2">
            <a:extLst>
              <a:ext uri="{FF2B5EF4-FFF2-40B4-BE49-F238E27FC236}">
                <a16:creationId xmlns:a16="http://schemas.microsoft.com/office/drawing/2014/main" id="{B0C5F901-9EB2-4102-8032-D50AEEE7E924}"/>
              </a:ext>
            </a:extLst>
          </p:cNvPr>
          <p:cNvSpPr>
            <a:spLocks noGrp="1"/>
          </p:cNvSpPr>
          <p:nvPr>
            <p:ph idx="1"/>
          </p:nvPr>
        </p:nvSpPr>
        <p:spPr/>
        <p:txBody>
          <a:bodyPr>
            <a:normAutofit/>
          </a:bodyPr>
          <a:lstStyle/>
          <a:p>
            <a:r>
              <a:rPr lang="en-GB" sz="8800" dirty="0"/>
              <a:t> Text has</a:t>
            </a:r>
          </a:p>
          <a:p>
            <a:pPr marL="0" indent="0">
              <a:buNone/>
            </a:pPr>
            <a:endParaRPr lang="en-GB" sz="4400" dirty="0"/>
          </a:p>
          <a:p>
            <a:r>
              <a:rPr lang="en-GB" sz="8800" dirty="0"/>
              <a:t> </a:t>
            </a:r>
            <a:r>
              <a:rPr lang="en-GB" sz="8800" b="1" dirty="0">
                <a:solidFill>
                  <a:srgbClr val="FF0000"/>
                </a:solidFill>
              </a:rPr>
              <a:t>          </a:t>
            </a:r>
            <a:r>
              <a:rPr lang="en-GB" sz="8800" dirty="0"/>
              <a:t> text has</a:t>
            </a:r>
          </a:p>
        </p:txBody>
      </p:sp>
    </p:spTree>
    <p:extLst>
      <p:ext uri="{BB962C8B-B14F-4D97-AF65-F5344CB8AC3E}">
        <p14:creationId xmlns:p14="http://schemas.microsoft.com/office/powerpoint/2010/main" val="175293615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Data Dictionary (2)</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extLst>
              <p:ext uri="{D42A27DB-BD31-4B8C-83A1-F6EECF244321}">
                <p14:modId xmlns:p14="http://schemas.microsoft.com/office/powerpoint/2010/main" val="932789717"/>
              </p:ext>
            </p:extLst>
          </p:nvPr>
        </p:nvGraphicFramePr>
        <p:xfrm>
          <a:off x="838200" y="1825625"/>
          <a:ext cx="10989623" cy="3962400"/>
        </p:xfrm>
        <a:graphic>
          <a:graphicData uri="http://schemas.openxmlformats.org/drawingml/2006/table">
            <a:tbl>
              <a:tblPr firstRow="1" bandRow="1">
                <a:tableStyleId>{5C22544A-7EE6-4342-B048-85BDC9FD1C3A}</a:tableStyleId>
              </a:tblPr>
              <a:tblGrid>
                <a:gridCol w="2180092">
                  <a:extLst>
                    <a:ext uri="{9D8B030D-6E8A-4147-A177-3AD203B41FA5}">
                      <a16:colId xmlns:a16="http://schemas.microsoft.com/office/drawing/2014/main" val="1632358923"/>
                    </a:ext>
                  </a:extLst>
                </a:gridCol>
                <a:gridCol w="879468">
                  <a:extLst>
                    <a:ext uri="{9D8B030D-6E8A-4147-A177-3AD203B41FA5}">
                      <a16:colId xmlns:a16="http://schemas.microsoft.com/office/drawing/2014/main" val="3505833113"/>
                    </a:ext>
                  </a:extLst>
                </a:gridCol>
                <a:gridCol w="1681162">
                  <a:extLst>
                    <a:ext uri="{9D8B030D-6E8A-4147-A177-3AD203B41FA5}">
                      <a16:colId xmlns:a16="http://schemas.microsoft.com/office/drawing/2014/main" val="2732100902"/>
                    </a:ext>
                  </a:extLst>
                </a:gridCol>
                <a:gridCol w="981642">
                  <a:extLst>
                    <a:ext uri="{9D8B030D-6E8A-4147-A177-3AD203B41FA5}">
                      <a16:colId xmlns:a16="http://schemas.microsoft.com/office/drawing/2014/main" val="315362434"/>
                    </a:ext>
                  </a:extLst>
                </a:gridCol>
                <a:gridCol w="1374944">
                  <a:extLst>
                    <a:ext uri="{9D8B030D-6E8A-4147-A177-3AD203B41FA5}">
                      <a16:colId xmlns:a16="http://schemas.microsoft.com/office/drawing/2014/main" val="2971574360"/>
                    </a:ext>
                  </a:extLst>
                </a:gridCol>
                <a:gridCol w="3892315">
                  <a:extLst>
                    <a:ext uri="{9D8B030D-6E8A-4147-A177-3AD203B41FA5}">
                      <a16:colId xmlns:a16="http://schemas.microsoft.com/office/drawing/2014/main" val="2515431282"/>
                    </a:ext>
                  </a:extLst>
                </a:gridCol>
              </a:tblGrid>
              <a:tr h="370840">
                <a:tc>
                  <a:txBody>
                    <a:bodyPr/>
                    <a:lstStyle/>
                    <a:p>
                      <a:pPr algn="ctr"/>
                      <a:r>
                        <a:rPr lang="en-GB" sz="3200" dirty="0"/>
                        <a:t>Attribute</a:t>
                      </a:r>
                    </a:p>
                  </a:txBody>
                  <a:tcPr/>
                </a:tc>
                <a:tc>
                  <a:txBody>
                    <a:bodyPr/>
                    <a:lstStyle/>
                    <a:p>
                      <a:pPr algn="ctr"/>
                      <a:r>
                        <a:rPr lang="en-GB" sz="3200" dirty="0"/>
                        <a:t>Key</a:t>
                      </a:r>
                    </a:p>
                  </a:txBody>
                  <a:tcPr/>
                </a:tc>
                <a:tc>
                  <a:txBody>
                    <a:bodyPr/>
                    <a:lstStyle/>
                    <a:p>
                      <a:pPr algn="ctr"/>
                      <a:r>
                        <a:rPr lang="en-GB" sz="3200" dirty="0"/>
                        <a:t>Type</a:t>
                      </a:r>
                    </a:p>
                  </a:txBody>
                  <a:tcPr/>
                </a:tc>
                <a:tc>
                  <a:txBody>
                    <a:bodyPr/>
                    <a:lstStyle/>
                    <a:p>
                      <a:pPr algn="ctr"/>
                      <a:r>
                        <a:rPr lang="en-GB" sz="3200" dirty="0"/>
                        <a:t>Size</a:t>
                      </a:r>
                    </a:p>
                  </a:txBody>
                  <a:tcPr/>
                </a:tc>
                <a:tc>
                  <a:txBody>
                    <a:bodyPr/>
                    <a:lstStyle/>
                    <a:p>
                      <a:pPr algn="ctr"/>
                      <a:r>
                        <a:rPr lang="en-GB" sz="3200" dirty="0" err="1"/>
                        <a:t>Req'd</a:t>
                      </a:r>
                      <a:endParaRPr lang="en-GB" sz="3200" dirty="0"/>
                    </a:p>
                  </a:txBody>
                  <a:tcPr/>
                </a:tc>
                <a:tc>
                  <a:txBody>
                    <a:bodyPr/>
                    <a:lstStyle/>
                    <a:p>
                      <a:pPr algn="ctr"/>
                      <a:r>
                        <a:rPr lang="en-GB" sz="3200" dirty="0"/>
                        <a:t>Validation</a:t>
                      </a:r>
                    </a:p>
                  </a:txBody>
                  <a:tcPr/>
                </a:tc>
                <a:extLst>
                  <a:ext uri="{0D108BD9-81ED-4DB2-BD59-A6C34878D82A}">
                    <a16:rowId xmlns:a16="http://schemas.microsoft.com/office/drawing/2014/main" val="3459615676"/>
                  </a:ext>
                </a:extLst>
              </a:tr>
              <a:tr h="370840">
                <a:tc>
                  <a:txBody>
                    <a:bodyPr/>
                    <a:lstStyle/>
                    <a:p>
                      <a:r>
                        <a:rPr lang="en-GB" sz="3200" dirty="0" err="1"/>
                        <a:t>pupilID</a:t>
                      </a:r>
                      <a:endParaRPr lang="en-GB" sz="3200" dirty="0"/>
                    </a:p>
                  </a:txBody>
                  <a:tcPr/>
                </a:tc>
                <a:tc>
                  <a:txBody>
                    <a:bodyPr/>
                    <a:lstStyle/>
                    <a:p>
                      <a:pPr algn="ctr"/>
                      <a:r>
                        <a:rPr lang="en-GB" sz="3200" dirty="0"/>
                        <a:t>PK</a:t>
                      </a:r>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dirty="0"/>
                        <a:t>Range: &gt;= 0</a:t>
                      </a:r>
                    </a:p>
                  </a:txBody>
                  <a:tcPr/>
                </a:tc>
                <a:extLst>
                  <a:ext uri="{0D108BD9-81ED-4DB2-BD59-A6C34878D82A}">
                    <a16:rowId xmlns:a16="http://schemas.microsoft.com/office/drawing/2014/main" val="1127765656"/>
                  </a:ext>
                </a:extLst>
              </a:tr>
              <a:tr h="370840">
                <a:tc>
                  <a:txBody>
                    <a:bodyPr/>
                    <a:lstStyle/>
                    <a:p>
                      <a:r>
                        <a:rPr lang="en-GB" sz="3200" dirty="0" err="1"/>
                        <a:t>schoolID</a:t>
                      </a:r>
                      <a:endParaRPr lang="en-GB" sz="3200" dirty="0"/>
                    </a:p>
                  </a:txBody>
                  <a:tcPr/>
                </a:tc>
                <a:tc>
                  <a:txBody>
                    <a:bodyPr/>
                    <a:lstStyle/>
                    <a:p>
                      <a:pPr algn="ctr"/>
                      <a:r>
                        <a:rPr lang="en-GB" sz="3200" dirty="0"/>
                        <a:t>FK</a:t>
                      </a:r>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3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3200" dirty="0"/>
                    </a:p>
                  </a:txBody>
                  <a:tcPr/>
                </a:tc>
                <a:extLst>
                  <a:ext uri="{0D108BD9-81ED-4DB2-BD59-A6C34878D82A}">
                    <a16:rowId xmlns:a16="http://schemas.microsoft.com/office/drawing/2014/main" val="2924661129"/>
                  </a:ext>
                </a:extLst>
              </a:tr>
              <a:tr h="370840">
                <a:tc>
                  <a:txBody>
                    <a:bodyPr/>
                    <a:lstStyle/>
                    <a:p>
                      <a:r>
                        <a:rPr lang="en-GB" sz="3200" dirty="0"/>
                        <a:t>name</a:t>
                      </a:r>
                    </a:p>
                  </a:txBody>
                  <a:tcPr/>
                </a:tc>
                <a:tc>
                  <a:txBody>
                    <a:bodyPr/>
                    <a:lstStyle/>
                    <a:p>
                      <a:pPr algn="ctr"/>
                      <a:endParaRPr lang="en-GB" sz="3200" dirty="0"/>
                    </a:p>
                  </a:txBody>
                  <a:tcPr/>
                </a:tc>
                <a:tc>
                  <a:txBody>
                    <a:bodyPr/>
                    <a:lstStyle/>
                    <a:p>
                      <a:r>
                        <a:rPr lang="en-GB" sz="3200" dirty="0"/>
                        <a:t>text</a:t>
                      </a:r>
                    </a:p>
                  </a:txBody>
                  <a:tcPr/>
                </a:tc>
                <a:tc>
                  <a:txBody>
                    <a:bodyPr/>
                    <a:lstStyle/>
                    <a:p>
                      <a:pPr algn="ctr"/>
                      <a:r>
                        <a:rPr lang="en-GB" sz="3200" dirty="0"/>
                        <a:t>30</a:t>
                      </a:r>
                    </a:p>
                  </a:txBody>
                  <a:tcPr/>
                </a:tc>
                <a:tc>
                  <a:txBody>
                    <a:bodyPr/>
                    <a:lstStyle/>
                    <a:p>
                      <a:pPr algn="ctr"/>
                      <a:r>
                        <a:rPr lang="en-GB" sz="3200" dirty="0"/>
                        <a: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dirty="0"/>
                        <a:t>Length: &gt;= 3</a:t>
                      </a:r>
                    </a:p>
                  </a:txBody>
                  <a:tcPr/>
                </a:tc>
                <a:extLst>
                  <a:ext uri="{0D108BD9-81ED-4DB2-BD59-A6C34878D82A}">
                    <a16:rowId xmlns:a16="http://schemas.microsoft.com/office/drawing/2014/main" val="3885493841"/>
                  </a:ext>
                </a:extLst>
              </a:tr>
              <a:tr h="370840">
                <a:tc>
                  <a:txBody>
                    <a:bodyPr/>
                    <a:lstStyle/>
                    <a:p>
                      <a:r>
                        <a:rPr lang="en-GB" sz="3200" dirty="0"/>
                        <a:t>dob</a:t>
                      </a:r>
                    </a:p>
                  </a:txBody>
                  <a:tcPr/>
                </a:tc>
                <a:tc>
                  <a:txBody>
                    <a:bodyPr/>
                    <a:lstStyle/>
                    <a:p>
                      <a:pPr algn="ctr"/>
                      <a:endParaRPr lang="en-GB" sz="3200" dirty="0"/>
                    </a:p>
                  </a:txBody>
                  <a:tcPr/>
                </a:tc>
                <a:tc>
                  <a:txBody>
                    <a:bodyPr/>
                    <a:lstStyle/>
                    <a:p>
                      <a:r>
                        <a:rPr lang="en-GB" sz="3200" dirty="0"/>
                        <a:t>date</a:t>
                      </a:r>
                    </a:p>
                  </a:txBody>
                  <a:tcPr/>
                </a:tc>
                <a:tc>
                  <a:txBody>
                    <a:bodyPr/>
                    <a:lstStyle/>
                    <a:p>
                      <a:pPr algn="ctr"/>
                      <a:endParaRPr lang="en-GB" sz="3200" dirty="0"/>
                    </a:p>
                  </a:txBody>
                  <a:tcPr/>
                </a:tc>
                <a:tc>
                  <a:txBody>
                    <a:bodyPr/>
                    <a:lstStyle/>
                    <a:p>
                      <a:pPr algn="ctr"/>
                      <a:r>
                        <a:rPr lang="en-GB" sz="3200" dirty="0"/>
                        <a:t>Y</a:t>
                      </a:r>
                    </a:p>
                  </a:txBody>
                  <a:tcPr/>
                </a:tc>
                <a:tc>
                  <a:txBody>
                    <a:bodyPr/>
                    <a:lstStyle/>
                    <a:p>
                      <a:r>
                        <a:rPr lang="en-GB" sz="3200" dirty="0"/>
                        <a:t>Range: &gt;= 1</a:t>
                      </a:r>
                      <a:r>
                        <a:rPr lang="en-GB" sz="3200" baseline="30000" dirty="0"/>
                        <a:t>st</a:t>
                      </a:r>
                      <a:r>
                        <a:rPr lang="en-GB" sz="3200" dirty="0"/>
                        <a:t> Jan 2000</a:t>
                      </a:r>
                    </a:p>
                  </a:txBody>
                  <a:tcPr/>
                </a:tc>
                <a:extLst>
                  <a:ext uri="{0D108BD9-81ED-4DB2-BD59-A6C34878D82A}">
                    <a16:rowId xmlns:a16="http://schemas.microsoft.com/office/drawing/2014/main" val="1487565366"/>
                  </a:ext>
                </a:extLst>
              </a:tr>
              <a:tr h="370840">
                <a:tc>
                  <a:txBody>
                    <a:bodyPr/>
                    <a:lstStyle/>
                    <a:p>
                      <a:r>
                        <a:rPr lang="en-GB" sz="3200" dirty="0"/>
                        <a:t>transport</a:t>
                      </a:r>
                    </a:p>
                  </a:txBody>
                  <a:tcPr/>
                </a:tc>
                <a:tc>
                  <a:txBody>
                    <a:bodyPr/>
                    <a:lstStyle/>
                    <a:p>
                      <a:pPr algn="ctr"/>
                      <a:endParaRPr lang="en-GB" sz="3200" dirty="0"/>
                    </a:p>
                  </a:txBody>
                  <a:tcPr/>
                </a:tc>
                <a:tc>
                  <a:txBody>
                    <a:bodyPr/>
                    <a:lstStyle/>
                    <a:p>
                      <a:r>
                        <a:rPr lang="en-GB" sz="3200" dirty="0" err="1"/>
                        <a:t>boolean</a:t>
                      </a:r>
                      <a:endParaRPr lang="en-GB" sz="3200" dirty="0"/>
                    </a:p>
                  </a:txBody>
                  <a:tcPr/>
                </a:tc>
                <a:tc>
                  <a:txBody>
                    <a:bodyPr/>
                    <a:lstStyle/>
                    <a:p>
                      <a:pPr algn="ctr"/>
                      <a:endParaRPr lang="en-GB" sz="3200" dirty="0"/>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3947728551"/>
                  </a:ext>
                </a:extLst>
              </a:tr>
            </a:tbl>
          </a:graphicData>
        </a:graphic>
      </p:graphicFrame>
      <p:sp>
        <p:nvSpPr>
          <p:cNvPr id="4" name="TextBox 3">
            <a:extLst>
              <a:ext uri="{FF2B5EF4-FFF2-40B4-BE49-F238E27FC236}">
                <a16:creationId xmlns:a16="http://schemas.microsoft.com/office/drawing/2014/main" id="{67454E7D-77FB-4F27-AA28-4E981ACA17F5}"/>
              </a:ext>
            </a:extLst>
          </p:cNvPr>
          <p:cNvSpPr txBox="1"/>
          <p:nvPr/>
        </p:nvSpPr>
        <p:spPr>
          <a:xfrm>
            <a:off x="838200" y="5846542"/>
            <a:ext cx="4365171" cy="646331"/>
          </a:xfrm>
          <a:prstGeom prst="rect">
            <a:avLst/>
          </a:prstGeom>
          <a:noFill/>
        </p:spPr>
        <p:txBody>
          <a:bodyPr wrap="square" rtlCol="0" anchor="ctr" anchorCtr="0">
            <a:spAutoFit/>
          </a:bodyPr>
          <a:lstStyle/>
          <a:p>
            <a:r>
              <a:rPr lang="en-GB" sz="3600" dirty="0">
                <a:solidFill>
                  <a:srgbClr val="7030A0"/>
                </a:solidFill>
              </a:rPr>
              <a:t>Range: numeric values</a:t>
            </a:r>
          </a:p>
        </p:txBody>
      </p:sp>
      <p:sp>
        <p:nvSpPr>
          <p:cNvPr id="6" name="TextBox 5">
            <a:extLst>
              <a:ext uri="{FF2B5EF4-FFF2-40B4-BE49-F238E27FC236}">
                <a16:creationId xmlns:a16="http://schemas.microsoft.com/office/drawing/2014/main" id="{7DDF2941-3C4C-467F-A8C7-FF53B5B65FCA}"/>
              </a:ext>
            </a:extLst>
          </p:cNvPr>
          <p:cNvSpPr txBox="1"/>
          <p:nvPr/>
        </p:nvSpPr>
        <p:spPr>
          <a:xfrm>
            <a:off x="7402286" y="5846542"/>
            <a:ext cx="3804976" cy="646331"/>
          </a:xfrm>
          <a:prstGeom prst="rect">
            <a:avLst/>
          </a:prstGeom>
          <a:noFill/>
        </p:spPr>
        <p:txBody>
          <a:bodyPr wrap="square" rtlCol="0" anchor="ctr" anchorCtr="0">
            <a:spAutoFit/>
          </a:bodyPr>
          <a:lstStyle/>
          <a:p>
            <a:pPr algn="r"/>
            <a:r>
              <a:rPr lang="en-GB" sz="3600" dirty="0">
                <a:solidFill>
                  <a:srgbClr val="7030A0"/>
                </a:solidFill>
              </a:rPr>
              <a:t>Length: text values</a:t>
            </a:r>
          </a:p>
        </p:txBody>
      </p:sp>
      <p:sp>
        <p:nvSpPr>
          <p:cNvPr id="7" name="Rectangle: Rounded Corners 7">
            <a:extLst>
              <a:ext uri="{FF2B5EF4-FFF2-40B4-BE49-F238E27FC236}">
                <a16:creationId xmlns:a16="http://schemas.microsoft.com/office/drawing/2014/main" id="{3878A425-45B3-4D45-B4C1-649D86383360}"/>
              </a:ext>
            </a:extLst>
          </p:cNvPr>
          <p:cNvSpPr/>
          <p:nvPr/>
        </p:nvSpPr>
        <p:spPr>
          <a:xfrm>
            <a:off x="7918071" y="2405742"/>
            <a:ext cx="2251166" cy="598715"/>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0DF75699-ED9B-4937-B53F-0B793F6F2C6B}"/>
              </a:ext>
            </a:extLst>
          </p:cNvPr>
          <p:cNvSpPr/>
          <p:nvPr/>
        </p:nvSpPr>
        <p:spPr>
          <a:xfrm>
            <a:off x="7918071" y="4015839"/>
            <a:ext cx="2251166" cy="598715"/>
          </a:xfrm>
          <a:prstGeom prst="roundRect">
            <a:avLst/>
          </a:prstGeom>
          <a:noFill/>
          <a:ln w="571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Rounded Corners 9">
            <a:extLst>
              <a:ext uri="{FF2B5EF4-FFF2-40B4-BE49-F238E27FC236}">
                <a16:creationId xmlns:a16="http://schemas.microsoft.com/office/drawing/2014/main" id="{6B3DC080-D394-466D-BD34-006820B854D4}"/>
              </a:ext>
            </a:extLst>
          </p:cNvPr>
          <p:cNvSpPr/>
          <p:nvPr/>
        </p:nvSpPr>
        <p:spPr>
          <a:xfrm>
            <a:off x="7918071" y="4650179"/>
            <a:ext cx="3909752" cy="598715"/>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88379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wipe(left)">
                                      <p:cBhvr>
                                        <p:cTn id="22" dur="2000"/>
                                        <p:tgtEl>
                                          <p:spTgt spid="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animEffect transition="in" filter="wipe(left)">
                                      <p:cBhvr>
                                        <p:cTn id="31" dur="175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6" grpId="0" uiExpand="1" build="p"/>
      <p:bldP spid="7" grpId="0" animBg="1"/>
      <p:bldP spid="8" grpId="0" animBg="1"/>
      <p:bldP spid="10" grpId="0" animBg="1"/>
    </p:bldLst>
  </p:timing>
</p:sld>
</file>

<file path=ppt/slides/slide1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Data Dictionary (2)</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extLst>
              <p:ext uri="{D42A27DB-BD31-4B8C-83A1-F6EECF244321}">
                <p14:modId xmlns:p14="http://schemas.microsoft.com/office/powerpoint/2010/main" val="1513232713"/>
              </p:ext>
            </p:extLst>
          </p:nvPr>
        </p:nvGraphicFramePr>
        <p:xfrm>
          <a:off x="838200" y="1825625"/>
          <a:ext cx="10369062" cy="3962400"/>
        </p:xfrm>
        <a:graphic>
          <a:graphicData uri="http://schemas.openxmlformats.org/drawingml/2006/table">
            <a:tbl>
              <a:tblPr firstRow="1" bandRow="1">
                <a:tableStyleId>{5C22544A-7EE6-4342-B048-85BDC9FD1C3A}</a:tableStyleId>
              </a:tblPr>
              <a:tblGrid>
                <a:gridCol w="2056986">
                  <a:extLst>
                    <a:ext uri="{9D8B030D-6E8A-4147-A177-3AD203B41FA5}">
                      <a16:colId xmlns:a16="http://schemas.microsoft.com/office/drawing/2014/main" val="1632358923"/>
                    </a:ext>
                  </a:extLst>
                </a:gridCol>
                <a:gridCol w="829807">
                  <a:extLst>
                    <a:ext uri="{9D8B030D-6E8A-4147-A177-3AD203B41FA5}">
                      <a16:colId xmlns:a16="http://schemas.microsoft.com/office/drawing/2014/main" val="3505833113"/>
                    </a:ext>
                  </a:extLst>
                </a:gridCol>
                <a:gridCol w="1586230">
                  <a:extLst>
                    <a:ext uri="{9D8B030D-6E8A-4147-A177-3AD203B41FA5}">
                      <a16:colId xmlns:a16="http://schemas.microsoft.com/office/drawing/2014/main" val="2732100902"/>
                    </a:ext>
                  </a:extLst>
                </a:gridCol>
                <a:gridCol w="926211">
                  <a:extLst>
                    <a:ext uri="{9D8B030D-6E8A-4147-A177-3AD203B41FA5}">
                      <a16:colId xmlns:a16="http://schemas.microsoft.com/office/drawing/2014/main" val="315362434"/>
                    </a:ext>
                  </a:extLst>
                </a:gridCol>
                <a:gridCol w="1297304">
                  <a:extLst>
                    <a:ext uri="{9D8B030D-6E8A-4147-A177-3AD203B41FA5}">
                      <a16:colId xmlns:a16="http://schemas.microsoft.com/office/drawing/2014/main" val="2971574360"/>
                    </a:ext>
                  </a:extLst>
                </a:gridCol>
                <a:gridCol w="3672524">
                  <a:extLst>
                    <a:ext uri="{9D8B030D-6E8A-4147-A177-3AD203B41FA5}">
                      <a16:colId xmlns:a16="http://schemas.microsoft.com/office/drawing/2014/main" val="2515431282"/>
                    </a:ext>
                  </a:extLst>
                </a:gridCol>
              </a:tblGrid>
              <a:tr h="370840">
                <a:tc>
                  <a:txBody>
                    <a:bodyPr/>
                    <a:lstStyle/>
                    <a:p>
                      <a:pPr algn="ctr"/>
                      <a:r>
                        <a:rPr lang="en-GB" sz="3200" dirty="0"/>
                        <a:t>Attribute</a:t>
                      </a:r>
                    </a:p>
                  </a:txBody>
                  <a:tcPr/>
                </a:tc>
                <a:tc>
                  <a:txBody>
                    <a:bodyPr/>
                    <a:lstStyle/>
                    <a:p>
                      <a:pPr algn="ctr"/>
                      <a:r>
                        <a:rPr lang="en-GB" sz="3200" dirty="0"/>
                        <a:t>Key</a:t>
                      </a:r>
                    </a:p>
                  </a:txBody>
                  <a:tcPr/>
                </a:tc>
                <a:tc>
                  <a:txBody>
                    <a:bodyPr/>
                    <a:lstStyle/>
                    <a:p>
                      <a:pPr algn="ctr"/>
                      <a:r>
                        <a:rPr lang="en-GB" sz="3200" dirty="0"/>
                        <a:t>Type</a:t>
                      </a:r>
                    </a:p>
                  </a:txBody>
                  <a:tcPr/>
                </a:tc>
                <a:tc>
                  <a:txBody>
                    <a:bodyPr/>
                    <a:lstStyle/>
                    <a:p>
                      <a:pPr algn="ctr"/>
                      <a:r>
                        <a:rPr lang="en-GB" sz="3200" dirty="0"/>
                        <a:t>Size</a:t>
                      </a:r>
                    </a:p>
                  </a:txBody>
                  <a:tcPr/>
                </a:tc>
                <a:tc>
                  <a:txBody>
                    <a:bodyPr/>
                    <a:lstStyle/>
                    <a:p>
                      <a:pPr algn="ctr"/>
                      <a:r>
                        <a:rPr lang="en-GB" sz="3200" dirty="0" err="1"/>
                        <a:t>Req'd</a:t>
                      </a:r>
                      <a:endParaRPr lang="en-GB" sz="3200" dirty="0"/>
                    </a:p>
                  </a:txBody>
                  <a:tcPr/>
                </a:tc>
                <a:tc>
                  <a:txBody>
                    <a:bodyPr/>
                    <a:lstStyle/>
                    <a:p>
                      <a:pPr algn="ctr"/>
                      <a:r>
                        <a:rPr lang="en-GB" sz="3200" dirty="0"/>
                        <a:t>Validation</a:t>
                      </a:r>
                    </a:p>
                  </a:txBody>
                  <a:tcPr/>
                </a:tc>
                <a:extLst>
                  <a:ext uri="{0D108BD9-81ED-4DB2-BD59-A6C34878D82A}">
                    <a16:rowId xmlns:a16="http://schemas.microsoft.com/office/drawing/2014/main" val="3459615676"/>
                  </a:ext>
                </a:extLst>
              </a:tr>
              <a:tr h="370840">
                <a:tc>
                  <a:txBody>
                    <a:bodyPr/>
                    <a:lstStyle/>
                    <a:p>
                      <a:r>
                        <a:rPr lang="en-GB" sz="3200" dirty="0" err="1"/>
                        <a:t>pupilID</a:t>
                      </a:r>
                      <a:endParaRPr lang="en-GB" sz="3200" dirty="0"/>
                    </a:p>
                  </a:txBody>
                  <a:tcPr/>
                </a:tc>
                <a:tc>
                  <a:txBody>
                    <a:bodyPr/>
                    <a:lstStyle/>
                    <a:p>
                      <a:pPr algn="ctr"/>
                      <a:r>
                        <a:rPr lang="en-GB" sz="3200" dirty="0"/>
                        <a:t>PK</a:t>
                      </a:r>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3200" dirty="0"/>
                    </a:p>
                  </a:txBody>
                  <a:tcPr/>
                </a:tc>
                <a:extLst>
                  <a:ext uri="{0D108BD9-81ED-4DB2-BD59-A6C34878D82A}">
                    <a16:rowId xmlns:a16="http://schemas.microsoft.com/office/drawing/2014/main" val="1127765656"/>
                  </a:ext>
                </a:extLst>
              </a:tr>
              <a:tr h="370840">
                <a:tc>
                  <a:txBody>
                    <a:bodyPr/>
                    <a:lstStyle/>
                    <a:p>
                      <a:r>
                        <a:rPr lang="en-GB" sz="3200" dirty="0" err="1"/>
                        <a:t>schoolID</a:t>
                      </a:r>
                      <a:endParaRPr lang="en-GB" sz="3200" dirty="0"/>
                    </a:p>
                  </a:txBody>
                  <a:tcPr/>
                </a:tc>
                <a:tc>
                  <a:txBody>
                    <a:bodyPr/>
                    <a:lstStyle/>
                    <a:p>
                      <a:pPr algn="ctr"/>
                      <a:r>
                        <a:rPr lang="en-GB" sz="3200" dirty="0"/>
                        <a:t>FK</a:t>
                      </a:r>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3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3200" dirty="0"/>
                    </a:p>
                  </a:txBody>
                  <a:tcPr/>
                </a:tc>
                <a:extLst>
                  <a:ext uri="{0D108BD9-81ED-4DB2-BD59-A6C34878D82A}">
                    <a16:rowId xmlns:a16="http://schemas.microsoft.com/office/drawing/2014/main" val="2924661129"/>
                  </a:ext>
                </a:extLst>
              </a:tr>
              <a:tr h="370840">
                <a:tc>
                  <a:txBody>
                    <a:bodyPr/>
                    <a:lstStyle/>
                    <a:p>
                      <a:r>
                        <a:rPr lang="en-GB" sz="3200" dirty="0"/>
                        <a:t>name</a:t>
                      </a:r>
                    </a:p>
                  </a:txBody>
                  <a:tcPr/>
                </a:tc>
                <a:tc>
                  <a:txBody>
                    <a:bodyPr/>
                    <a:lstStyle/>
                    <a:p>
                      <a:pPr algn="ctr"/>
                      <a:endParaRPr lang="en-GB" sz="3200" dirty="0"/>
                    </a:p>
                  </a:txBody>
                  <a:tcPr/>
                </a:tc>
                <a:tc>
                  <a:txBody>
                    <a:bodyPr/>
                    <a:lstStyle/>
                    <a:p>
                      <a:r>
                        <a:rPr lang="en-GB" sz="3200" dirty="0"/>
                        <a:t>text</a:t>
                      </a:r>
                    </a:p>
                  </a:txBody>
                  <a:tcPr/>
                </a:tc>
                <a:tc>
                  <a:txBody>
                    <a:bodyPr/>
                    <a:lstStyle/>
                    <a:p>
                      <a:pPr algn="ctr"/>
                      <a:r>
                        <a:rPr lang="en-GB" sz="3200" dirty="0"/>
                        <a:t>30</a:t>
                      </a:r>
                    </a:p>
                  </a:txBody>
                  <a:tcPr/>
                </a:tc>
                <a:tc>
                  <a:txBody>
                    <a:bodyPr/>
                    <a:lstStyle/>
                    <a:p>
                      <a:pPr algn="ctr"/>
                      <a:r>
                        <a:rPr lang="en-GB" sz="3200" dirty="0"/>
                        <a: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3200" dirty="0"/>
                    </a:p>
                  </a:txBody>
                  <a:tcPr/>
                </a:tc>
                <a:extLst>
                  <a:ext uri="{0D108BD9-81ED-4DB2-BD59-A6C34878D82A}">
                    <a16:rowId xmlns:a16="http://schemas.microsoft.com/office/drawing/2014/main" val="3885493841"/>
                  </a:ext>
                </a:extLst>
              </a:tr>
              <a:tr h="370840">
                <a:tc>
                  <a:txBody>
                    <a:bodyPr/>
                    <a:lstStyle/>
                    <a:p>
                      <a:r>
                        <a:rPr lang="en-GB" sz="3200" dirty="0"/>
                        <a:t>dob</a:t>
                      </a:r>
                    </a:p>
                  </a:txBody>
                  <a:tcPr/>
                </a:tc>
                <a:tc>
                  <a:txBody>
                    <a:bodyPr/>
                    <a:lstStyle/>
                    <a:p>
                      <a:pPr algn="ctr"/>
                      <a:endParaRPr lang="en-GB" sz="3200" dirty="0"/>
                    </a:p>
                  </a:txBody>
                  <a:tcPr/>
                </a:tc>
                <a:tc>
                  <a:txBody>
                    <a:bodyPr/>
                    <a:lstStyle/>
                    <a:p>
                      <a:r>
                        <a:rPr lang="en-GB" sz="3200" dirty="0"/>
                        <a:t>date</a:t>
                      </a:r>
                    </a:p>
                  </a:txBody>
                  <a:tcPr/>
                </a:tc>
                <a:tc>
                  <a:txBody>
                    <a:bodyPr/>
                    <a:lstStyle/>
                    <a:p>
                      <a:pPr algn="ctr"/>
                      <a:endParaRPr lang="en-GB" sz="3200" dirty="0"/>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1487565366"/>
                  </a:ext>
                </a:extLst>
              </a:tr>
              <a:tr h="370840">
                <a:tc>
                  <a:txBody>
                    <a:bodyPr/>
                    <a:lstStyle/>
                    <a:p>
                      <a:r>
                        <a:rPr lang="en-GB" sz="3200" dirty="0"/>
                        <a:t>transport</a:t>
                      </a:r>
                    </a:p>
                  </a:txBody>
                  <a:tcPr/>
                </a:tc>
                <a:tc>
                  <a:txBody>
                    <a:bodyPr/>
                    <a:lstStyle/>
                    <a:p>
                      <a:pPr algn="ctr"/>
                      <a:endParaRPr lang="en-GB" sz="3200" dirty="0"/>
                    </a:p>
                  </a:txBody>
                  <a:tcPr/>
                </a:tc>
                <a:tc>
                  <a:txBody>
                    <a:bodyPr/>
                    <a:lstStyle/>
                    <a:p>
                      <a:r>
                        <a:rPr lang="en-GB" sz="3200" dirty="0" err="1"/>
                        <a:t>boolean</a:t>
                      </a:r>
                      <a:endParaRPr lang="en-GB" sz="3200" dirty="0"/>
                    </a:p>
                  </a:txBody>
                  <a:tcPr/>
                </a:tc>
                <a:tc>
                  <a:txBody>
                    <a:bodyPr/>
                    <a:lstStyle/>
                    <a:p>
                      <a:pPr algn="ctr"/>
                      <a:endParaRPr lang="en-GB" sz="3200" dirty="0"/>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3947728551"/>
                  </a:ext>
                </a:extLst>
              </a:tr>
            </a:tbl>
          </a:graphicData>
        </a:graphic>
      </p:graphicFrame>
    </p:spTree>
    <p:extLst>
      <p:ext uri="{BB962C8B-B14F-4D97-AF65-F5344CB8AC3E}">
        <p14:creationId xmlns:p14="http://schemas.microsoft.com/office/powerpoint/2010/main" val="133960794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Referential integrity</a:t>
            </a:r>
          </a:p>
        </p:txBody>
      </p:sp>
      <p:graphicFrame>
        <p:nvGraphicFramePr>
          <p:cNvPr id="14" name="Dept table">
            <a:extLst>
              <a:ext uri="{FF2B5EF4-FFF2-40B4-BE49-F238E27FC236}">
                <a16:creationId xmlns:a16="http://schemas.microsoft.com/office/drawing/2014/main" id="{844D8AF2-45F4-4D3A-A16B-FDE72F88C3EB}"/>
              </a:ext>
            </a:extLst>
          </p:cNvPr>
          <p:cNvGraphicFramePr>
            <a:graphicFrameLocks/>
          </p:cNvGraphicFramePr>
          <p:nvPr/>
        </p:nvGraphicFramePr>
        <p:xfrm>
          <a:off x="7669848" y="2193925"/>
          <a:ext cx="3683952" cy="1777656"/>
        </p:xfrm>
        <a:graphic>
          <a:graphicData uri="http://schemas.openxmlformats.org/drawingml/2006/table">
            <a:tbl>
              <a:tblPr firstRow="1" bandRow="1">
                <a:tableStyleId>{5C22544A-7EE6-4342-B048-85BDC9FD1C3A}</a:tableStyleId>
              </a:tblPr>
              <a:tblGrid>
                <a:gridCol w="894080">
                  <a:extLst>
                    <a:ext uri="{9D8B030D-6E8A-4147-A177-3AD203B41FA5}">
                      <a16:colId xmlns:a16="http://schemas.microsoft.com/office/drawing/2014/main" val="415971381"/>
                    </a:ext>
                  </a:extLst>
                </a:gridCol>
                <a:gridCol w="1440180">
                  <a:extLst>
                    <a:ext uri="{9D8B030D-6E8A-4147-A177-3AD203B41FA5}">
                      <a16:colId xmlns:a16="http://schemas.microsoft.com/office/drawing/2014/main" val="4013636719"/>
                    </a:ext>
                  </a:extLst>
                </a:gridCol>
                <a:gridCol w="1349692">
                  <a:extLst>
                    <a:ext uri="{9D8B030D-6E8A-4147-A177-3AD203B41FA5}">
                      <a16:colId xmlns:a16="http://schemas.microsoft.com/office/drawing/2014/main" val="3467447067"/>
                    </a:ext>
                  </a:extLst>
                </a:gridCol>
              </a:tblGrid>
              <a:tr h="592552">
                <a:tc>
                  <a:txBody>
                    <a:bodyPr/>
                    <a:lstStyle/>
                    <a:p>
                      <a:pPr algn="ctr"/>
                      <a:r>
                        <a:rPr lang="en-GB" sz="3200" dirty="0"/>
                        <a:t>ID</a:t>
                      </a:r>
                    </a:p>
                  </a:txBody>
                  <a:tcPr/>
                </a:tc>
                <a:tc>
                  <a:txBody>
                    <a:bodyPr/>
                    <a:lstStyle/>
                    <a:p>
                      <a:pPr algn="ctr"/>
                      <a:r>
                        <a:rPr lang="en-GB" sz="3200" dirty="0"/>
                        <a:t>Dept</a:t>
                      </a:r>
                    </a:p>
                  </a:txBody>
                  <a:tcPr/>
                </a:tc>
                <a:tc>
                  <a:txBody>
                    <a:bodyPr/>
                    <a:lstStyle/>
                    <a:p>
                      <a:pPr algn="ctr"/>
                      <a:r>
                        <a:rPr lang="en-GB" sz="3200" dirty="0"/>
                        <a:t>Phone</a:t>
                      </a:r>
                    </a:p>
                  </a:txBody>
                  <a:tcPr/>
                </a:tc>
                <a:extLst>
                  <a:ext uri="{0D108BD9-81ED-4DB2-BD59-A6C34878D82A}">
                    <a16:rowId xmlns:a16="http://schemas.microsoft.com/office/drawing/2014/main" val="3459615676"/>
                  </a:ext>
                </a:extLst>
              </a:tr>
              <a:tr h="592552">
                <a:tc>
                  <a:txBody>
                    <a:bodyPr/>
                    <a:lstStyle/>
                    <a:p>
                      <a:pPr lvl="0"/>
                      <a:r>
                        <a:rPr lang="en-GB" sz="3200" dirty="0"/>
                        <a:t>001</a:t>
                      </a:r>
                    </a:p>
                  </a:txBody>
                  <a:tcPr/>
                </a:tc>
                <a:tc>
                  <a:txBody>
                    <a:bodyPr/>
                    <a:lstStyle/>
                    <a:p>
                      <a:pPr lvl="0"/>
                      <a:r>
                        <a:rPr lang="en-GB" sz="3200" dirty="0"/>
                        <a:t>ICT</a:t>
                      </a:r>
                    </a:p>
                  </a:txBody>
                  <a:tcPr/>
                </a:tc>
                <a:tc>
                  <a:txBody>
                    <a:bodyPr/>
                    <a:lstStyle/>
                    <a:p>
                      <a:pPr lvl="0"/>
                      <a:r>
                        <a:rPr lang="en-GB" sz="3200" dirty="0"/>
                        <a:t>300</a:t>
                      </a:r>
                    </a:p>
                  </a:txBody>
                  <a:tcPr/>
                </a:tc>
                <a:extLst>
                  <a:ext uri="{0D108BD9-81ED-4DB2-BD59-A6C34878D82A}">
                    <a16:rowId xmlns:a16="http://schemas.microsoft.com/office/drawing/2014/main" val="1127765656"/>
                  </a:ext>
                </a:extLst>
              </a:tr>
              <a:tr h="592552">
                <a:tc>
                  <a:txBody>
                    <a:bodyPr/>
                    <a:lstStyle/>
                    <a:p>
                      <a:pPr lvl="0"/>
                      <a:r>
                        <a:rPr lang="en-GB" sz="3200" dirty="0"/>
                        <a:t>002</a:t>
                      </a:r>
                    </a:p>
                  </a:txBody>
                  <a:tcPr/>
                </a:tc>
                <a:tc>
                  <a:txBody>
                    <a:bodyPr/>
                    <a:lstStyle/>
                    <a:p>
                      <a:pPr lvl="0"/>
                      <a:r>
                        <a:rPr lang="en-GB" sz="3200" dirty="0"/>
                        <a:t>English</a:t>
                      </a:r>
                    </a:p>
                  </a:txBody>
                  <a:tcPr/>
                </a:tc>
                <a:tc>
                  <a:txBody>
                    <a:bodyPr/>
                    <a:lstStyle/>
                    <a:p>
                      <a:pPr lvl="0"/>
                      <a:r>
                        <a:rPr lang="en-GB" sz="3200" dirty="0"/>
                        <a:t>301</a:t>
                      </a:r>
                    </a:p>
                  </a:txBody>
                  <a:tcPr/>
                </a:tc>
                <a:extLst>
                  <a:ext uri="{0D108BD9-81ED-4DB2-BD59-A6C34878D82A}">
                    <a16:rowId xmlns:a16="http://schemas.microsoft.com/office/drawing/2014/main" val="81894544"/>
                  </a:ext>
                </a:extLst>
              </a:tr>
            </a:tbl>
          </a:graphicData>
        </a:graphic>
      </p:graphicFrame>
      <p:graphicFrame>
        <p:nvGraphicFramePr>
          <p:cNvPr id="5" name="Staff table">
            <a:extLst>
              <a:ext uri="{FF2B5EF4-FFF2-40B4-BE49-F238E27FC236}">
                <a16:creationId xmlns:a16="http://schemas.microsoft.com/office/drawing/2014/main" id="{38A8414E-6490-4AD8-90BD-DF0216F61C69}"/>
              </a:ext>
            </a:extLst>
          </p:cNvPr>
          <p:cNvGraphicFramePr>
            <a:graphicFrameLocks noGrp="1"/>
          </p:cNvGraphicFramePr>
          <p:nvPr>
            <p:ph idx="1"/>
          </p:nvPr>
        </p:nvGraphicFramePr>
        <p:xfrm>
          <a:off x="838200" y="2193925"/>
          <a:ext cx="5951220" cy="3555312"/>
        </p:xfrm>
        <a:graphic>
          <a:graphicData uri="http://schemas.openxmlformats.org/drawingml/2006/table">
            <a:tbl>
              <a:tblPr firstRow="1" bandRow="1">
                <a:tableStyleId>{5C22544A-7EE6-4342-B048-85BDC9FD1C3A}</a:tableStyleId>
              </a:tblPr>
              <a:tblGrid>
                <a:gridCol w="638492">
                  <a:extLst>
                    <a:ext uri="{9D8B030D-6E8A-4147-A177-3AD203B41FA5}">
                      <a16:colId xmlns:a16="http://schemas.microsoft.com/office/drawing/2014/main" val="1632358923"/>
                    </a:ext>
                  </a:extLst>
                </a:gridCol>
                <a:gridCol w="1973580">
                  <a:extLst>
                    <a:ext uri="{9D8B030D-6E8A-4147-A177-3AD203B41FA5}">
                      <a16:colId xmlns:a16="http://schemas.microsoft.com/office/drawing/2014/main" val="3505833113"/>
                    </a:ext>
                  </a:extLst>
                </a:gridCol>
                <a:gridCol w="1791018">
                  <a:extLst>
                    <a:ext uri="{9D8B030D-6E8A-4147-A177-3AD203B41FA5}">
                      <a16:colId xmlns:a16="http://schemas.microsoft.com/office/drawing/2014/main" val="3401749839"/>
                    </a:ext>
                  </a:extLst>
                </a:gridCol>
                <a:gridCol w="1548130">
                  <a:extLst>
                    <a:ext uri="{9D8B030D-6E8A-4147-A177-3AD203B41FA5}">
                      <a16:colId xmlns:a16="http://schemas.microsoft.com/office/drawing/2014/main" val="415971381"/>
                    </a:ext>
                  </a:extLst>
                </a:gridCol>
              </a:tblGrid>
              <a:tr h="592552">
                <a:tc>
                  <a:txBody>
                    <a:bodyPr/>
                    <a:lstStyle/>
                    <a:p>
                      <a:pPr algn="ctr"/>
                      <a:r>
                        <a:rPr lang="en-GB" sz="3200" dirty="0"/>
                        <a:t>ID</a:t>
                      </a:r>
                    </a:p>
                  </a:txBody>
                  <a:tcPr/>
                </a:tc>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a:t>Dept ID</a:t>
                      </a:r>
                    </a:p>
                  </a:txBody>
                  <a:tcPr/>
                </a:tc>
                <a:extLst>
                  <a:ext uri="{0D108BD9-81ED-4DB2-BD59-A6C34878D82A}">
                    <a16:rowId xmlns:a16="http://schemas.microsoft.com/office/drawing/2014/main" val="3459615676"/>
                  </a:ext>
                </a:extLst>
              </a:tr>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r>
                        <a:rPr lang="en-GB" sz="3200" dirty="0"/>
                        <a:t>001</a:t>
                      </a:r>
                    </a:p>
                  </a:txBody>
                  <a:tcPr/>
                </a:tc>
                <a:extLst>
                  <a:ext uri="{0D108BD9-81ED-4DB2-BD59-A6C34878D82A}">
                    <a16:rowId xmlns:a16="http://schemas.microsoft.com/office/drawing/2014/main" val="1127765656"/>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r>
                        <a:rPr lang="en-GB" sz="3200" dirty="0"/>
                        <a:t>001</a:t>
                      </a:r>
                    </a:p>
                  </a:txBody>
                  <a:tcPr/>
                </a:tc>
                <a:extLst>
                  <a:ext uri="{0D108BD9-81ED-4DB2-BD59-A6C34878D82A}">
                    <a16:rowId xmlns:a16="http://schemas.microsoft.com/office/drawing/2014/main" val="2924661129"/>
                  </a:ext>
                </a:extLst>
              </a:tr>
              <a:tr h="592552">
                <a:tc>
                  <a:txBody>
                    <a:bodyPr/>
                    <a:lstStyle/>
                    <a:p>
                      <a:pPr lvl="0"/>
                      <a:r>
                        <a:rPr lang="en-GB" sz="3200" dirty="0"/>
                        <a:t>3</a:t>
                      </a:r>
                    </a:p>
                  </a:txBody>
                  <a:tcPr/>
                </a:tc>
                <a:tc>
                  <a:txBody>
                    <a:bodyPr/>
                    <a:lstStyle/>
                    <a:p>
                      <a:pPr lvl="0" algn="l"/>
                      <a:r>
                        <a:rPr lang="en-GB" sz="3200" dirty="0"/>
                        <a:t>Stephen</a:t>
                      </a:r>
                    </a:p>
                  </a:txBody>
                  <a:tcPr/>
                </a:tc>
                <a:tc>
                  <a:txBody>
                    <a:bodyPr/>
                    <a:lstStyle/>
                    <a:p>
                      <a:pPr lvl="0" algn="l"/>
                      <a:r>
                        <a:rPr lang="en-GB" sz="3200" dirty="0"/>
                        <a:t>MacLeod</a:t>
                      </a:r>
                    </a:p>
                  </a:txBody>
                  <a:tcPr/>
                </a:tc>
                <a:tc>
                  <a:txBody>
                    <a:bodyPr/>
                    <a:lstStyle/>
                    <a:p>
                      <a:pPr lvl="0"/>
                      <a:r>
                        <a:rPr lang="en-GB" sz="3200" dirty="0"/>
                        <a:t>001</a:t>
                      </a:r>
                    </a:p>
                  </a:txBody>
                  <a:tcPr/>
                </a:tc>
                <a:extLst>
                  <a:ext uri="{0D108BD9-81ED-4DB2-BD59-A6C34878D82A}">
                    <a16:rowId xmlns:a16="http://schemas.microsoft.com/office/drawing/2014/main" val="3885493841"/>
                  </a:ext>
                </a:extLst>
              </a:tr>
              <a:tr h="592552">
                <a:tc>
                  <a:txBody>
                    <a:bodyPr/>
                    <a:lstStyle/>
                    <a:p>
                      <a:pPr lvl="0"/>
                      <a:r>
                        <a:rPr lang="en-GB" sz="3200" dirty="0"/>
                        <a:t>4</a:t>
                      </a:r>
                    </a:p>
                  </a:txBody>
                  <a:tcPr/>
                </a:tc>
                <a:tc>
                  <a:txBody>
                    <a:bodyPr/>
                    <a:lstStyle/>
                    <a:p>
                      <a:pPr lvl="0" algn="l"/>
                      <a:r>
                        <a:rPr lang="en-GB" sz="3200" dirty="0"/>
                        <a:t>Scott</a:t>
                      </a:r>
                    </a:p>
                  </a:txBody>
                  <a:tcPr/>
                </a:tc>
                <a:tc>
                  <a:txBody>
                    <a:bodyPr/>
                    <a:lstStyle/>
                    <a:p>
                      <a:pPr lvl="0" algn="l"/>
                      <a:r>
                        <a:rPr lang="en-GB" sz="3200" dirty="0"/>
                        <a:t>Sinclair</a:t>
                      </a:r>
                    </a:p>
                  </a:txBody>
                  <a:tcPr/>
                </a:tc>
                <a:tc>
                  <a:txBody>
                    <a:bodyPr/>
                    <a:lstStyle/>
                    <a:p>
                      <a:pPr lvl="0"/>
                      <a:r>
                        <a:rPr lang="en-GB" sz="3200" dirty="0"/>
                        <a:t>002</a:t>
                      </a:r>
                    </a:p>
                  </a:txBody>
                  <a:tcPr/>
                </a:tc>
                <a:extLst>
                  <a:ext uri="{0D108BD9-81ED-4DB2-BD59-A6C34878D82A}">
                    <a16:rowId xmlns:a16="http://schemas.microsoft.com/office/drawing/2014/main" val="1487565366"/>
                  </a:ext>
                </a:extLst>
              </a:tr>
              <a:tr h="592552">
                <a:tc>
                  <a:txBody>
                    <a:bodyPr/>
                    <a:lstStyle/>
                    <a:p>
                      <a:pPr lvl="0"/>
                      <a:r>
                        <a:rPr lang="en-GB" sz="3200" dirty="0"/>
                        <a:t>5</a:t>
                      </a:r>
                    </a:p>
                  </a:txBody>
                  <a:tcPr/>
                </a:tc>
                <a:tc>
                  <a:txBody>
                    <a:bodyPr/>
                    <a:lstStyle/>
                    <a:p>
                      <a:pPr lvl="0" algn="l"/>
                      <a:r>
                        <a:rPr lang="en-GB" sz="3200" dirty="0"/>
                        <a:t>Michelle</a:t>
                      </a:r>
                    </a:p>
                  </a:txBody>
                  <a:tcPr/>
                </a:tc>
                <a:tc>
                  <a:txBody>
                    <a:bodyPr/>
                    <a:lstStyle/>
                    <a:p>
                      <a:pPr lvl="0" algn="l"/>
                      <a:r>
                        <a:rPr lang="en-GB" sz="3200" dirty="0"/>
                        <a:t>Wie</a:t>
                      </a:r>
                    </a:p>
                  </a:txBody>
                  <a:tcPr/>
                </a:tc>
                <a:tc>
                  <a:txBody>
                    <a:bodyPr/>
                    <a:lstStyle/>
                    <a:p>
                      <a:pPr lvl="0"/>
                      <a:r>
                        <a:rPr lang="en-GB" sz="3200" dirty="0"/>
                        <a:t>002</a:t>
                      </a:r>
                    </a:p>
                  </a:txBody>
                  <a:tcPr/>
                </a:tc>
                <a:extLst>
                  <a:ext uri="{0D108BD9-81ED-4DB2-BD59-A6C34878D82A}">
                    <a16:rowId xmlns:a16="http://schemas.microsoft.com/office/drawing/2014/main" val="81894544"/>
                  </a:ext>
                </a:extLst>
              </a:tr>
            </a:tbl>
          </a:graphicData>
        </a:graphic>
      </p:graphicFrame>
      <p:sp>
        <p:nvSpPr>
          <p:cNvPr id="9" name="Callout: Bent Line with No Border 4">
            <a:extLst>
              <a:ext uri="{FF2B5EF4-FFF2-40B4-BE49-F238E27FC236}">
                <a16:creationId xmlns:a16="http://schemas.microsoft.com/office/drawing/2014/main" id="{924404A3-ED4C-4699-9CA9-EFEB23F51AA9}"/>
              </a:ext>
            </a:extLst>
          </p:cNvPr>
          <p:cNvSpPr/>
          <p:nvPr/>
        </p:nvSpPr>
        <p:spPr>
          <a:xfrm>
            <a:off x="8731902" y="4266858"/>
            <a:ext cx="2228816" cy="487680"/>
          </a:xfrm>
          <a:prstGeom prst="callout2">
            <a:avLst>
              <a:gd name="adj1" fmla="val 52750"/>
              <a:gd name="adj2" fmla="val -2245"/>
              <a:gd name="adj3" fmla="val 53715"/>
              <a:gd name="adj4" fmla="val -18685"/>
              <a:gd name="adj5" fmla="val -58483"/>
              <a:gd name="adj6" fmla="val -26295"/>
            </a:avLst>
          </a:prstGeom>
          <a:noFill/>
          <a:ln w="38100">
            <a:solidFill>
              <a:srgbClr val="FF0000"/>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chemeClr val="tx1"/>
                </a:solidFill>
              </a:rPr>
              <a:t>Primary Key</a:t>
            </a:r>
          </a:p>
        </p:txBody>
      </p:sp>
      <p:sp>
        <p:nvSpPr>
          <p:cNvPr id="12" name="Callout: Bent Line with No Border 4">
            <a:extLst>
              <a:ext uri="{FF2B5EF4-FFF2-40B4-BE49-F238E27FC236}">
                <a16:creationId xmlns:a16="http://schemas.microsoft.com/office/drawing/2014/main" id="{924404A3-ED4C-4699-9CA9-EFEB23F51AA9}"/>
              </a:ext>
            </a:extLst>
          </p:cNvPr>
          <p:cNvSpPr/>
          <p:nvPr/>
        </p:nvSpPr>
        <p:spPr>
          <a:xfrm>
            <a:off x="6224767" y="6084834"/>
            <a:ext cx="1942482" cy="487680"/>
          </a:xfrm>
          <a:prstGeom prst="callout2">
            <a:avLst>
              <a:gd name="adj1" fmla="val 52750"/>
              <a:gd name="adj2" fmla="val -2245"/>
              <a:gd name="adj3" fmla="val 53715"/>
              <a:gd name="adj4" fmla="val -16108"/>
              <a:gd name="adj5" fmla="val -53275"/>
              <a:gd name="adj6" fmla="val -22751"/>
            </a:avLst>
          </a:prstGeom>
          <a:noFill/>
          <a:ln w="38100">
            <a:solidFill>
              <a:srgbClr val="FF0000"/>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chemeClr val="tx1"/>
                </a:solidFill>
              </a:rPr>
              <a:t>Foreign Key</a:t>
            </a:r>
          </a:p>
        </p:txBody>
      </p:sp>
      <p:sp>
        <p:nvSpPr>
          <p:cNvPr id="3" name="TextBox 2">
            <a:extLst>
              <a:ext uri="{FF2B5EF4-FFF2-40B4-BE49-F238E27FC236}">
                <a16:creationId xmlns:a16="http://schemas.microsoft.com/office/drawing/2014/main" id="{90265A99-404E-4BBB-940A-BBE407BE1CF0}"/>
              </a:ext>
            </a:extLst>
          </p:cNvPr>
          <p:cNvSpPr txBox="1"/>
          <p:nvPr/>
        </p:nvSpPr>
        <p:spPr>
          <a:xfrm>
            <a:off x="8641853" y="5275885"/>
            <a:ext cx="3022687" cy="523220"/>
          </a:xfrm>
          <a:prstGeom prst="rect">
            <a:avLst/>
          </a:prstGeom>
          <a:noFill/>
        </p:spPr>
        <p:txBody>
          <a:bodyPr wrap="none" rtlCol="0">
            <a:spAutoFit/>
          </a:bodyPr>
          <a:lstStyle/>
          <a:p>
            <a:r>
              <a:rPr lang="en-GB" sz="2800" b="1" dirty="0">
                <a:solidFill>
                  <a:srgbClr val="7030A0"/>
                </a:solidFill>
              </a:rPr>
              <a:t>FK must exist as PK</a:t>
            </a:r>
          </a:p>
        </p:txBody>
      </p:sp>
      <p:cxnSp>
        <p:nvCxnSpPr>
          <p:cNvPr id="7" name="Straight Arrow Connector 6">
            <a:extLst>
              <a:ext uri="{FF2B5EF4-FFF2-40B4-BE49-F238E27FC236}">
                <a16:creationId xmlns:a16="http://schemas.microsoft.com/office/drawing/2014/main" id="{8B19F821-1630-4A82-9343-B45712962E89}"/>
              </a:ext>
            </a:extLst>
          </p:cNvPr>
          <p:cNvCxnSpPr>
            <a:cxnSpLocks/>
          </p:cNvCxnSpPr>
          <p:nvPr/>
        </p:nvCxnSpPr>
        <p:spPr>
          <a:xfrm flipV="1">
            <a:off x="8077200" y="4754538"/>
            <a:ext cx="654702" cy="1461205"/>
          </a:xfrm>
          <a:prstGeom prst="straightConnector1">
            <a:avLst/>
          </a:prstGeom>
          <a:ln w="57150">
            <a:solidFill>
              <a:schemeClr val="accent6">
                <a:lumMod val="75000"/>
              </a:schemeClr>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AE06D28-11F6-4B00-9143-0A331BA0EA0C}"/>
              </a:ext>
            </a:extLst>
          </p:cNvPr>
          <p:cNvSpPr txBox="1"/>
          <p:nvPr/>
        </p:nvSpPr>
        <p:spPr>
          <a:xfrm>
            <a:off x="765336" y="1690688"/>
            <a:ext cx="2314544" cy="523220"/>
          </a:xfrm>
          <a:prstGeom prst="rect">
            <a:avLst/>
          </a:prstGeom>
          <a:noFill/>
        </p:spPr>
        <p:txBody>
          <a:bodyPr wrap="none" rtlCol="0">
            <a:spAutoFit/>
          </a:bodyPr>
          <a:lstStyle/>
          <a:p>
            <a:r>
              <a:rPr lang="en-GB" sz="2800" b="1" dirty="0"/>
              <a:t>Table: Teacher</a:t>
            </a:r>
          </a:p>
        </p:txBody>
      </p:sp>
      <p:sp>
        <p:nvSpPr>
          <p:cNvPr id="13" name="TextBox 12">
            <a:extLst>
              <a:ext uri="{FF2B5EF4-FFF2-40B4-BE49-F238E27FC236}">
                <a16:creationId xmlns:a16="http://schemas.microsoft.com/office/drawing/2014/main" id="{BF5ACEA5-5A64-494C-866E-0DBDECA33BE1}"/>
              </a:ext>
            </a:extLst>
          </p:cNvPr>
          <p:cNvSpPr txBox="1"/>
          <p:nvPr/>
        </p:nvSpPr>
        <p:spPr>
          <a:xfrm>
            <a:off x="7625208" y="1695786"/>
            <a:ext cx="2973827" cy="523220"/>
          </a:xfrm>
          <a:prstGeom prst="rect">
            <a:avLst/>
          </a:prstGeom>
          <a:noFill/>
        </p:spPr>
        <p:txBody>
          <a:bodyPr wrap="none" rtlCol="0">
            <a:spAutoFit/>
          </a:bodyPr>
          <a:lstStyle/>
          <a:p>
            <a:r>
              <a:rPr lang="en-GB" sz="2800" b="1" dirty="0"/>
              <a:t>Table: Department</a:t>
            </a:r>
          </a:p>
        </p:txBody>
      </p:sp>
    </p:spTree>
    <p:extLst>
      <p:ext uri="{BB962C8B-B14F-4D97-AF65-F5344CB8AC3E}">
        <p14:creationId xmlns:p14="http://schemas.microsoft.com/office/powerpoint/2010/main" val="1086661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1000"/>
                                        <p:tgtEl>
                                          <p:spTgt spid="7"/>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3" grpId="0"/>
    </p:bldLst>
  </p:timing>
</p:sld>
</file>

<file path=ppt/slides/slide1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Referential integrity</a:t>
            </a:r>
          </a:p>
        </p:txBody>
      </p:sp>
      <p:graphicFrame>
        <p:nvGraphicFramePr>
          <p:cNvPr id="14" name="Dept table">
            <a:extLst>
              <a:ext uri="{FF2B5EF4-FFF2-40B4-BE49-F238E27FC236}">
                <a16:creationId xmlns:a16="http://schemas.microsoft.com/office/drawing/2014/main" id="{844D8AF2-45F4-4D3A-A16B-FDE72F88C3EB}"/>
              </a:ext>
            </a:extLst>
          </p:cNvPr>
          <p:cNvGraphicFramePr>
            <a:graphicFrameLocks/>
          </p:cNvGraphicFramePr>
          <p:nvPr/>
        </p:nvGraphicFramePr>
        <p:xfrm>
          <a:off x="7669848" y="2193925"/>
          <a:ext cx="3683952" cy="1777656"/>
        </p:xfrm>
        <a:graphic>
          <a:graphicData uri="http://schemas.openxmlformats.org/drawingml/2006/table">
            <a:tbl>
              <a:tblPr firstRow="1" bandRow="1">
                <a:tableStyleId>{5C22544A-7EE6-4342-B048-85BDC9FD1C3A}</a:tableStyleId>
              </a:tblPr>
              <a:tblGrid>
                <a:gridCol w="894080">
                  <a:extLst>
                    <a:ext uri="{9D8B030D-6E8A-4147-A177-3AD203B41FA5}">
                      <a16:colId xmlns:a16="http://schemas.microsoft.com/office/drawing/2014/main" val="415971381"/>
                    </a:ext>
                  </a:extLst>
                </a:gridCol>
                <a:gridCol w="1440180">
                  <a:extLst>
                    <a:ext uri="{9D8B030D-6E8A-4147-A177-3AD203B41FA5}">
                      <a16:colId xmlns:a16="http://schemas.microsoft.com/office/drawing/2014/main" val="4013636719"/>
                    </a:ext>
                  </a:extLst>
                </a:gridCol>
                <a:gridCol w="1349692">
                  <a:extLst>
                    <a:ext uri="{9D8B030D-6E8A-4147-A177-3AD203B41FA5}">
                      <a16:colId xmlns:a16="http://schemas.microsoft.com/office/drawing/2014/main" val="3467447067"/>
                    </a:ext>
                  </a:extLst>
                </a:gridCol>
              </a:tblGrid>
              <a:tr h="592552">
                <a:tc>
                  <a:txBody>
                    <a:bodyPr/>
                    <a:lstStyle/>
                    <a:p>
                      <a:pPr algn="ctr"/>
                      <a:r>
                        <a:rPr lang="en-GB" sz="3200" dirty="0"/>
                        <a:t>ID</a:t>
                      </a:r>
                    </a:p>
                  </a:txBody>
                  <a:tcPr/>
                </a:tc>
                <a:tc>
                  <a:txBody>
                    <a:bodyPr/>
                    <a:lstStyle/>
                    <a:p>
                      <a:pPr algn="ctr"/>
                      <a:r>
                        <a:rPr lang="en-GB" sz="3200" dirty="0"/>
                        <a:t>Dept</a:t>
                      </a:r>
                    </a:p>
                  </a:txBody>
                  <a:tcPr/>
                </a:tc>
                <a:tc>
                  <a:txBody>
                    <a:bodyPr/>
                    <a:lstStyle/>
                    <a:p>
                      <a:pPr algn="ctr"/>
                      <a:r>
                        <a:rPr lang="en-GB" sz="3200" dirty="0"/>
                        <a:t>Phone</a:t>
                      </a:r>
                    </a:p>
                  </a:txBody>
                  <a:tcPr/>
                </a:tc>
                <a:extLst>
                  <a:ext uri="{0D108BD9-81ED-4DB2-BD59-A6C34878D82A}">
                    <a16:rowId xmlns:a16="http://schemas.microsoft.com/office/drawing/2014/main" val="3459615676"/>
                  </a:ext>
                </a:extLst>
              </a:tr>
              <a:tr h="592552">
                <a:tc>
                  <a:txBody>
                    <a:bodyPr/>
                    <a:lstStyle/>
                    <a:p>
                      <a:pPr lvl="0"/>
                      <a:r>
                        <a:rPr lang="en-GB" sz="3200" dirty="0"/>
                        <a:t>001</a:t>
                      </a:r>
                    </a:p>
                  </a:txBody>
                  <a:tcPr/>
                </a:tc>
                <a:tc>
                  <a:txBody>
                    <a:bodyPr/>
                    <a:lstStyle/>
                    <a:p>
                      <a:pPr lvl="0"/>
                      <a:r>
                        <a:rPr lang="en-GB" sz="3200" dirty="0"/>
                        <a:t>ICT</a:t>
                      </a:r>
                    </a:p>
                  </a:txBody>
                  <a:tcPr/>
                </a:tc>
                <a:tc>
                  <a:txBody>
                    <a:bodyPr/>
                    <a:lstStyle/>
                    <a:p>
                      <a:pPr lvl="0"/>
                      <a:r>
                        <a:rPr lang="en-GB" sz="3200" dirty="0"/>
                        <a:t>300</a:t>
                      </a:r>
                    </a:p>
                  </a:txBody>
                  <a:tcPr/>
                </a:tc>
                <a:extLst>
                  <a:ext uri="{0D108BD9-81ED-4DB2-BD59-A6C34878D82A}">
                    <a16:rowId xmlns:a16="http://schemas.microsoft.com/office/drawing/2014/main" val="1127765656"/>
                  </a:ext>
                </a:extLst>
              </a:tr>
              <a:tr h="592552">
                <a:tc>
                  <a:txBody>
                    <a:bodyPr/>
                    <a:lstStyle/>
                    <a:p>
                      <a:pPr lvl="0"/>
                      <a:r>
                        <a:rPr lang="en-GB" sz="3200" dirty="0"/>
                        <a:t>002</a:t>
                      </a:r>
                    </a:p>
                  </a:txBody>
                  <a:tcPr/>
                </a:tc>
                <a:tc>
                  <a:txBody>
                    <a:bodyPr/>
                    <a:lstStyle/>
                    <a:p>
                      <a:pPr lvl="0"/>
                      <a:r>
                        <a:rPr lang="en-GB" sz="3200" dirty="0"/>
                        <a:t>English</a:t>
                      </a:r>
                    </a:p>
                  </a:txBody>
                  <a:tcPr/>
                </a:tc>
                <a:tc>
                  <a:txBody>
                    <a:bodyPr/>
                    <a:lstStyle/>
                    <a:p>
                      <a:pPr lvl="0"/>
                      <a:r>
                        <a:rPr lang="en-GB" sz="3200" dirty="0"/>
                        <a:t>301</a:t>
                      </a:r>
                    </a:p>
                  </a:txBody>
                  <a:tcPr/>
                </a:tc>
                <a:extLst>
                  <a:ext uri="{0D108BD9-81ED-4DB2-BD59-A6C34878D82A}">
                    <a16:rowId xmlns:a16="http://schemas.microsoft.com/office/drawing/2014/main" val="81894544"/>
                  </a:ext>
                </a:extLst>
              </a:tr>
            </a:tbl>
          </a:graphicData>
        </a:graphic>
      </p:graphicFrame>
      <p:graphicFrame>
        <p:nvGraphicFramePr>
          <p:cNvPr id="5" name="Staff table">
            <a:extLst>
              <a:ext uri="{FF2B5EF4-FFF2-40B4-BE49-F238E27FC236}">
                <a16:creationId xmlns:a16="http://schemas.microsoft.com/office/drawing/2014/main" id="{38A8414E-6490-4AD8-90BD-DF0216F61C69}"/>
              </a:ext>
            </a:extLst>
          </p:cNvPr>
          <p:cNvGraphicFramePr>
            <a:graphicFrameLocks noGrp="1"/>
          </p:cNvGraphicFramePr>
          <p:nvPr>
            <p:ph idx="1"/>
          </p:nvPr>
        </p:nvGraphicFramePr>
        <p:xfrm>
          <a:off x="838200" y="2193925"/>
          <a:ext cx="5951220" cy="3555312"/>
        </p:xfrm>
        <a:graphic>
          <a:graphicData uri="http://schemas.openxmlformats.org/drawingml/2006/table">
            <a:tbl>
              <a:tblPr firstRow="1" bandRow="1">
                <a:tableStyleId>{5C22544A-7EE6-4342-B048-85BDC9FD1C3A}</a:tableStyleId>
              </a:tblPr>
              <a:tblGrid>
                <a:gridCol w="638492">
                  <a:extLst>
                    <a:ext uri="{9D8B030D-6E8A-4147-A177-3AD203B41FA5}">
                      <a16:colId xmlns:a16="http://schemas.microsoft.com/office/drawing/2014/main" val="1632358923"/>
                    </a:ext>
                  </a:extLst>
                </a:gridCol>
                <a:gridCol w="1973580">
                  <a:extLst>
                    <a:ext uri="{9D8B030D-6E8A-4147-A177-3AD203B41FA5}">
                      <a16:colId xmlns:a16="http://schemas.microsoft.com/office/drawing/2014/main" val="3505833113"/>
                    </a:ext>
                  </a:extLst>
                </a:gridCol>
                <a:gridCol w="1791018">
                  <a:extLst>
                    <a:ext uri="{9D8B030D-6E8A-4147-A177-3AD203B41FA5}">
                      <a16:colId xmlns:a16="http://schemas.microsoft.com/office/drawing/2014/main" val="3401749839"/>
                    </a:ext>
                  </a:extLst>
                </a:gridCol>
                <a:gridCol w="1548130">
                  <a:extLst>
                    <a:ext uri="{9D8B030D-6E8A-4147-A177-3AD203B41FA5}">
                      <a16:colId xmlns:a16="http://schemas.microsoft.com/office/drawing/2014/main" val="415971381"/>
                    </a:ext>
                  </a:extLst>
                </a:gridCol>
              </a:tblGrid>
              <a:tr h="592552">
                <a:tc>
                  <a:txBody>
                    <a:bodyPr/>
                    <a:lstStyle/>
                    <a:p>
                      <a:pPr algn="ctr"/>
                      <a:r>
                        <a:rPr lang="en-GB" sz="3200" dirty="0"/>
                        <a:t>ID</a:t>
                      </a:r>
                    </a:p>
                  </a:txBody>
                  <a:tcPr/>
                </a:tc>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a:t>Dept ID</a:t>
                      </a:r>
                    </a:p>
                  </a:txBody>
                  <a:tcPr/>
                </a:tc>
                <a:extLst>
                  <a:ext uri="{0D108BD9-81ED-4DB2-BD59-A6C34878D82A}">
                    <a16:rowId xmlns:a16="http://schemas.microsoft.com/office/drawing/2014/main" val="3459615676"/>
                  </a:ext>
                </a:extLst>
              </a:tr>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r>
                        <a:rPr lang="en-GB" sz="3200" dirty="0"/>
                        <a:t>001</a:t>
                      </a:r>
                    </a:p>
                  </a:txBody>
                  <a:tcPr/>
                </a:tc>
                <a:extLst>
                  <a:ext uri="{0D108BD9-81ED-4DB2-BD59-A6C34878D82A}">
                    <a16:rowId xmlns:a16="http://schemas.microsoft.com/office/drawing/2014/main" val="1127765656"/>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r>
                        <a:rPr lang="en-GB" sz="3200" dirty="0"/>
                        <a:t>001</a:t>
                      </a:r>
                    </a:p>
                  </a:txBody>
                  <a:tcPr/>
                </a:tc>
                <a:extLst>
                  <a:ext uri="{0D108BD9-81ED-4DB2-BD59-A6C34878D82A}">
                    <a16:rowId xmlns:a16="http://schemas.microsoft.com/office/drawing/2014/main" val="2924661129"/>
                  </a:ext>
                </a:extLst>
              </a:tr>
              <a:tr h="592552">
                <a:tc>
                  <a:txBody>
                    <a:bodyPr/>
                    <a:lstStyle/>
                    <a:p>
                      <a:pPr lvl="0"/>
                      <a:r>
                        <a:rPr lang="en-GB" sz="3200" dirty="0"/>
                        <a:t>3</a:t>
                      </a:r>
                    </a:p>
                  </a:txBody>
                  <a:tcPr/>
                </a:tc>
                <a:tc>
                  <a:txBody>
                    <a:bodyPr/>
                    <a:lstStyle/>
                    <a:p>
                      <a:pPr lvl="0" algn="l"/>
                      <a:r>
                        <a:rPr lang="en-GB" sz="3200" dirty="0"/>
                        <a:t>Stephen</a:t>
                      </a:r>
                    </a:p>
                  </a:txBody>
                  <a:tcPr/>
                </a:tc>
                <a:tc>
                  <a:txBody>
                    <a:bodyPr/>
                    <a:lstStyle/>
                    <a:p>
                      <a:pPr lvl="0" algn="l"/>
                      <a:r>
                        <a:rPr lang="en-GB" sz="3200" dirty="0"/>
                        <a:t>MacLeod</a:t>
                      </a:r>
                    </a:p>
                  </a:txBody>
                  <a:tcPr/>
                </a:tc>
                <a:tc>
                  <a:txBody>
                    <a:bodyPr/>
                    <a:lstStyle/>
                    <a:p>
                      <a:pPr lvl="0"/>
                      <a:r>
                        <a:rPr lang="en-GB" sz="3200" dirty="0"/>
                        <a:t>001</a:t>
                      </a:r>
                    </a:p>
                  </a:txBody>
                  <a:tcPr/>
                </a:tc>
                <a:extLst>
                  <a:ext uri="{0D108BD9-81ED-4DB2-BD59-A6C34878D82A}">
                    <a16:rowId xmlns:a16="http://schemas.microsoft.com/office/drawing/2014/main" val="3885493841"/>
                  </a:ext>
                </a:extLst>
              </a:tr>
              <a:tr h="592552">
                <a:tc>
                  <a:txBody>
                    <a:bodyPr/>
                    <a:lstStyle/>
                    <a:p>
                      <a:pPr lvl="0"/>
                      <a:r>
                        <a:rPr lang="en-GB" sz="3200" dirty="0"/>
                        <a:t>4</a:t>
                      </a:r>
                    </a:p>
                  </a:txBody>
                  <a:tcPr/>
                </a:tc>
                <a:tc>
                  <a:txBody>
                    <a:bodyPr/>
                    <a:lstStyle/>
                    <a:p>
                      <a:pPr lvl="0" algn="l"/>
                      <a:r>
                        <a:rPr lang="en-GB" sz="3200" dirty="0"/>
                        <a:t>Scott</a:t>
                      </a:r>
                    </a:p>
                  </a:txBody>
                  <a:tcPr/>
                </a:tc>
                <a:tc>
                  <a:txBody>
                    <a:bodyPr/>
                    <a:lstStyle/>
                    <a:p>
                      <a:pPr lvl="0" algn="l"/>
                      <a:r>
                        <a:rPr lang="en-GB" sz="3200" dirty="0"/>
                        <a:t>Sinclair</a:t>
                      </a:r>
                    </a:p>
                  </a:txBody>
                  <a:tcPr/>
                </a:tc>
                <a:tc>
                  <a:txBody>
                    <a:bodyPr/>
                    <a:lstStyle/>
                    <a:p>
                      <a:pPr lvl="0"/>
                      <a:r>
                        <a:rPr lang="en-GB" sz="3200" dirty="0"/>
                        <a:t>002</a:t>
                      </a:r>
                    </a:p>
                  </a:txBody>
                  <a:tcPr/>
                </a:tc>
                <a:extLst>
                  <a:ext uri="{0D108BD9-81ED-4DB2-BD59-A6C34878D82A}">
                    <a16:rowId xmlns:a16="http://schemas.microsoft.com/office/drawing/2014/main" val="1487565366"/>
                  </a:ext>
                </a:extLst>
              </a:tr>
              <a:tr h="592552">
                <a:tc>
                  <a:txBody>
                    <a:bodyPr/>
                    <a:lstStyle/>
                    <a:p>
                      <a:pPr lvl="0"/>
                      <a:r>
                        <a:rPr lang="en-GB" sz="3200" dirty="0"/>
                        <a:t>5</a:t>
                      </a:r>
                    </a:p>
                  </a:txBody>
                  <a:tcPr/>
                </a:tc>
                <a:tc>
                  <a:txBody>
                    <a:bodyPr/>
                    <a:lstStyle/>
                    <a:p>
                      <a:pPr lvl="0" algn="l"/>
                      <a:r>
                        <a:rPr lang="en-GB" sz="3200" dirty="0"/>
                        <a:t>Michelle</a:t>
                      </a:r>
                    </a:p>
                  </a:txBody>
                  <a:tcPr/>
                </a:tc>
                <a:tc>
                  <a:txBody>
                    <a:bodyPr/>
                    <a:lstStyle/>
                    <a:p>
                      <a:pPr lvl="0" algn="l"/>
                      <a:r>
                        <a:rPr lang="en-GB" sz="3200" dirty="0"/>
                        <a:t>Wie</a:t>
                      </a:r>
                    </a:p>
                  </a:txBody>
                  <a:tcPr/>
                </a:tc>
                <a:tc>
                  <a:txBody>
                    <a:bodyPr/>
                    <a:lstStyle/>
                    <a:p>
                      <a:pPr lvl="0"/>
                      <a:r>
                        <a:rPr lang="en-GB" sz="3200" dirty="0"/>
                        <a:t>002</a:t>
                      </a:r>
                    </a:p>
                  </a:txBody>
                  <a:tcPr/>
                </a:tc>
                <a:extLst>
                  <a:ext uri="{0D108BD9-81ED-4DB2-BD59-A6C34878D82A}">
                    <a16:rowId xmlns:a16="http://schemas.microsoft.com/office/drawing/2014/main" val="81894544"/>
                  </a:ext>
                </a:extLst>
              </a:tr>
            </a:tbl>
          </a:graphicData>
        </a:graphic>
      </p:graphicFrame>
      <p:sp>
        <p:nvSpPr>
          <p:cNvPr id="10" name="TextBox 9">
            <a:extLst>
              <a:ext uri="{FF2B5EF4-FFF2-40B4-BE49-F238E27FC236}">
                <a16:creationId xmlns:a16="http://schemas.microsoft.com/office/drawing/2014/main" id="{5F14D380-616D-45A7-84B7-EE7C07DD7F42}"/>
              </a:ext>
            </a:extLst>
          </p:cNvPr>
          <p:cNvSpPr txBox="1"/>
          <p:nvPr/>
        </p:nvSpPr>
        <p:spPr>
          <a:xfrm>
            <a:off x="765336" y="1690688"/>
            <a:ext cx="2314544" cy="523220"/>
          </a:xfrm>
          <a:prstGeom prst="rect">
            <a:avLst/>
          </a:prstGeom>
          <a:noFill/>
        </p:spPr>
        <p:txBody>
          <a:bodyPr wrap="none" rtlCol="0">
            <a:spAutoFit/>
          </a:bodyPr>
          <a:lstStyle/>
          <a:p>
            <a:r>
              <a:rPr lang="en-GB" sz="2800" b="1" dirty="0"/>
              <a:t>Table: Teacher</a:t>
            </a:r>
          </a:p>
        </p:txBody>
      </p:sp>
      <p:sp>
        <p:nvSpPr>
          <p:cNvPr id="11" name="TextBox 10">
            <a:extLst>
              <a:ext uri="{FF2B5EF4-FFF2-40B4-BE49-F238E27FC236}">
                <a16:creationId xmlns:a16="http://schemas.microsoft.com/office/drawing/2014/main" id="{783B55CB-C0B3-440A-9A05-B9D9F1EA62FB}"/>
              </a:ext>
            </a:extLst>
          </p:cNvPr>
          <p:cNvSpPr txBox="1"/>
          <p:nvPr/>
        </p:nvSpPr>
        <p:spPr>
          <a:xfrm>
            <a:off x="7625208" y="1695786"/>
            <a:ext cx="2973827" cy="523220"/>
          </a:xfrm>
          <a:prstGeom prst="rect">
            <a:avLst/>
          </a:prstGeom>
          <a:noFill/>
        </p:spPr>
        <p:txBody>
          <a:bodyPr wrap="none" rtlCol="0">
            <a:spAutoFit/>
          </a:bodyPr>
          <a:lstStyle/>
          <a:p>
            <a:r>
              <a:rPr lang="en-GB" sz="2800" b="1" dirty="0"/>
              <a:t>Table: Department</a:t>
            </a:r>
          </a:p>
        </p:txBody>
      </p:sp>
    </p:spTree>
    <p:extLst>
      <p:ext uri="{BB962C8B-B14F-4D97-AF65-F5344CB8AC3E}">
        <p14:creationId xmlns:p14="http://schemas.microsoft.com/office/powerpoint/2010/main" val="248895123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Data Dictionary (3)</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extLst>
              <p:ext uri="{D42A27DB-BD31-4B8C-83A1-F6EECF244321}">
                <p14:modId xmlns:p14="http://schemas.microsoft.com/office/powerpoint/2010/main" val="1496386805"/>
              </p:ext>
            </p:extLst>
          </p:nvPr>
        </p:nvGraphicFramePr>
        <p:xfrm>
          <a:off x="838200" y="1825625"/>
          <a:ext cx="10369062" cy="3962400"/>
        </p:xfrm>
        <a:graphic>
          <a:graphicData uri="http://schemas.openxmlformats.org/drawingml/2006/table">
            <a:tbl>
              <a:tblPr firstRow="1" bandRow="1">
                <a:tableStyleId>{5C22544A-7EE6-4342-B048-85BDC9FD1C3A}</a:tableStyleId>
              </a:tblPr>
              <a:tblGrid>
                <a:gridCol w="2056986">
                  <a:extLst>
                    <a:ext uri="{9D8B030D-6E8A-4147-A177-3AD203B41FA5}">
                      <a16:colId xmlns:a16="http://schemas.microsoft.com/office/drawing/2014/main" val="1632358923"/>
                    </a:ext>
                  </a:extLst>
                </a:gridCol>
                <a:gridCol w="829807">
                  <a:extLst>
                    <a:ext uri="{9D8B030D-6E8A-4147-A177-3AD203B41FA5}">
                      <a16:colId xmlns:a16="http://schemas.microsoft.com/office/drawing/2014/main" val="3505833113"/>
                    </a:ext>
                  </a:extLst>
                </a:gridCol>
                <a:gridCol w="1586230">
                  <a:extLst>
                    <a:ext uri="{9D8B030D-6E8A-4147-A177-3AD203B41FA5}">
                      <a16:colId xmlns:a16="http://schemas.microsoft.com/office/drawing/2014/main" val="2732100902"/>
                    </a:ext>
                  </a:extLst>
                </a:gridCol>
                <a:gridCol w="926211">
                  <a:extLst>
                    <a:ext uri="{9D8B030D-6E8A-4147-A177-3AD203B41FA5}">
                      <a16:colId xmlns:a16="http://schemas.microsoft.com/office/drawing/2014/main" val="315362434"/>
                    </a:ext>
                  </a:extLst>
                </a:gridCol>
                <a:gridCol w="1297304">
                  <a:extLst>
                    <a:ext uri="{9D8B030D-6E8A-4147-A177-3AD203B41FA5}">
                      <a16:colId xmlns:a16="http://schemas.microsoft.com/office/drawing/2014/main" val="2971574360"/>
                    </a:ext>
                  </a:extLst>
                </a:gridCol>
                <a:gridCol w="3672524">
                  <a:extLst>
                    <a:ext uri="{9D8B030D-6E8A-4147-A177-3AD203B41FA5}">
                      <a16:colId xmlns:a16="http://schemas.microsoft.com/office/drawing/2014/main" val="2515431282"/>
                    </a:ext>
                  </a:extLst>
                </a:gridCol>
              </a:tblGrid>
              <a:tr h="370840">
                <a:tc>
                  <a:txBody>
                    <a:bodyPr/>
                    <a:lstStyle/>
                    <a:p>
                      <a:pPr algn="ctr"/>
                      <a:r>
                        <a:rPr lang="en-GB" sz="3200" dirty="0"/>
                        <a:t>Attribute</a:t>
                      </a:r>
                    </a:p>
                  </a:txBody>
                  <a:tcPr/>
                </a:tc>
                <a:tc>
                  <a:txBody>
                    <a:bodyPr/>
                    <a:lstStyle/>
                    <a:p>
                      <a:pPr algn="ctr"/>
                      <a:r>
                        <a:rPr lang="en-GB" sz="3200" dirty="0"/>
                        <a:t>Key</a:t>
                      </a:r>
                    </a:p>
                  </a:txBody>
                  <a:tcPr/>
                </a:tc>
                <a:tc>
                  <a:txBody>
                    <a:bodyPr/>
                    <a:lstStyle/>
                    <a:p>
                      <a:pPr algn="ctr"/>
                      <a:r>
                        <a:rPr lang="en-GB" sz="3200" dirty="0"/>
                        <a:t>Type</a:t>
                      </a:r>
                    </a:p>
                  </a:txBody>
                  <a:tcPr/>
                </a:tc>
                <a:tc>
                  <a:txBody>
                    <a:bodyPr/>
                    <a:lstStyle/>
                    <a:p>
                      <a:pPr algn="ctr"/>
                      <a:r>
                        <a:rPr lang="en-GB" sz="3200" dirty="0"/>
                        <a:t>Size</a:t>
                      </a:r>
                    </a:p>
                  </a:txBody>
                  <a:tcPr/>
                </a:tc>
                <a:tc>
                  <a:txBody>
                    <a:bodyPr/>
                    <a:lstStyle/>
                    <a:p>
                      <a:pPr algn="ctr"/>
                      <a:r>
                        <a:rPr lang="en-GB" sz="3200" dirty="0" err="1"/>
                        <a:t>Req'd</a:t>
                      </a:r>
                      <a:endParaRPr lang="en-GB" sz="3200" dirty="0"/>
                    </a:p>
                  </a:txBody>
                  <a:tcPr/>
                </a:tc>
                <a:tc>
                  <a:txBody>
                    <a:bodyPr/>
                    <a:lstStyle/>
                    <a:p>
                      <a:pPr algn="ctr"/>
                      <a:r>
                        <a:rPr lang="en-GB" sz="3200" dirty="0"/>
                        <a:t>Validation</a:t>
                      </a:r>
                    </a:p>
                  </a:txBody>
                  <a:tcPr/>
                </a:tc>
                <a:extLst>
                  <a:ext uri="{0D108BD9-81ED-4DB2-BD59-A6C34878D82A}">
                    <a16:rowId xmlns:a16="http://schemas.microsoft.com/office/drawing/2014/main" val="3459615676"/>
                  </a:ext>
                </a:extLst>
              </a:tr>
              <a:tr h="370840">
                <a:tc>
                  <a:txBody>
                    <a:bodyPr/>
                    <a:lstStyle/>
                    <a:p>
                      <a:r>
                        <a:rPr lang="en-GB" sz="3200" dirty="0" err="1"/>
                        <a:t>pupilID</a:t>
                      </a:r>
                      <a:endParaRPr lang="en-GB" sz="3200" dirty="0"/>
                    </a:p>
                  </a:txBody>
                  <a:tcPr/>
                </a:tc>
                <a:tc>
                  <a:txBody>
                    <a:bodyPr/>
                    <a:lstStyle/>
                    <a:p>
                      <a:pPr algn="ctr"/>
                      <a:r>
                        <a:rPr lang="en-GB" sz="3200" dirty="0"/>
                        <a:t>PK</a:t>
                      </a:r>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dirty="0"/>
                        <a:t>Range: &gt;= 0</a:t>
                      </a:r>
                    </a:p>
                  </a:txBody>
                  <a:tcPr/>
                </a:tc>
                <a:extLst>
                  <a:ext uri="{0D108BD9-81ED-4DB2-BD59-A6C34878D82A}">
                    <a16:rowId xmlns:a16="http://schemas.microsoft.com/office/drawing/2014/main" val="1127765656"/>
                  </a:ext>
                </a:extLst>
              </a:tr>
              <a:tr h="370840">
                <a:tc>
                  <a:txBody>
                    <a:bodyPr/>
                    <a:lstStyle/>
                    <a:p>
                      <a:r>
                        <a:rPr lang="en-GB" sz="3200" dirty="0" err="1"/>
                        <a:t>schoolID</a:t>
                      </a:r>
                      <a:endParaRPr lang="en-GB" sz="3200" dirty="0"/>
                    </a:p>
                  </a:txBody>
                  <a:tcPr/>
                </a:tc>
                <a:tc>
                  <a:txBody>
                    <a:bodyPr/>
                    <a:lstStyle/>
                    <a:p>
                      <a:pPr algn="ctr"/>
                      <a:r>
                        <a:rPr lang="en-GB" sz="3200" dirty="0"/>
                        <a:t>FK</a:t>
                      </a:r>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dirty="0"/>
                        <a:t>Existing </a:t>
                      </a:r>
                      <a:r>
                        <a:rPr lang="en-GB" sz="3200" dirty="0" err="1"/>
                        <a:t>schoolID</a:t>
                      </a:r>
                      <a:r>
                        <a:rPr lang="en-GB" sz="3200" dirty="0"/>
                        <a:t> from School table</a:t>
                      </a:r>
                    </a:p>
                  </a:txBody>
                  <a:tcPr/>
                </a:tc>
                <a:extLst>
                  <a:ext uri="{0D108BD9-81ED-4DB2-BD59-A6C34878D82A}">
                    <a16:rowId xmlns:a16="http://schemas.microsoft.com/office/drawing/2014/main" val="2924661129"/>
                  </a:ext>
                </a:extLst>
              </a:tr>
              <a:tr h="370840">
                <a:tc>
                  <a:txBody>
                    <a:bodyPr/>
                    <a:lstStyle/>
                    <a:p>
                      <a:r>
                        <a:rPr lang="en-GB" sz="3200" dirty="0"/>
                        <a:t>name</a:t>
                      </a:r>
                    </a:p>
                  </a:txBody>
                  <a:tcPr/>
                </a:tc>
                <a:tc>
                  <a:txBody>
                    <a:bodyPr/>
                    <a:lstStyle/>
                    <a:p>
                      <a:pPr algn="ctr"/>
                      <a:endParaRPr lang="en-GB" sz="3200" dirty="0"/>
                    </a:p>
                  </a:txBody>
                  <a:tcPr/>
                </a:tc>
                <a:tc>
                  <a:txBody>
                    <a:bodyPr/>
                    <a:lstStyle/>
                    <a:p>
                      <a:r>
                        <a:rPr lang="en-GB" sz="3200" dirty="0"/>
                        <a:t>text</a:t>
                      </a:r>
                    </a:p>
                  </a:txBody>
                  <a:tcPr/>
                </a:tc>
                <a:tc>
                  <a:txBody>
                    <a:bodyPr/>
                    <a:lstStyle/>
                    <a:p>
                      <a:pPr algn="ctr"/>
                      <a:r>
                        <a:rPr lang="en-GB" sz="3200" dirty="0"/>
                        <a:t>30</a:t>
                      </a:r>
                    </a:p>
                  </a:txBody>
                  <a:tcPr/>
                </a:tc>
                <a:tc>
                  <a:txBody>
                    <a:bodyPr/>
                    <a:lstStyle/>
                    <a:p>
                      <a:pPr algn="ctr"/>
                      <a:r>
                        <a:rPr lang="en-GB" sz="3200" dirty="0"/>
                        <a: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dirty="0"/>
                        <a:t>Length: &gt;= 3</a:t>
                      </a:r>
                    </a:p>
                  </a:txBody>
                  <a:tcPr/>
                </a:tc>
                <a:extLst>
                  <a:ext uri="{0D108BD9-81ED-4DB2-BD59-A6C34878D82A}">
                    <a16:rowId xmlns:a16="http://schemas.microsoft.com/office/drawing/2014/main" val="3885493841"/>
                  </a:ext>
                </a:extLst>
              </a:tr>
              <a:tr h="370840">
                <a:tc>
                  <a:txBody>
                    <a:bodyPr/>
                    <a:lstStyle/>
                    <a:p>
                      <a:r>
                        <a:rPr lang="en-GB" sz="3200" dirty="0"/>
                        <a:t>dob</a:t>
                      </a:r>
                    </a:p>
                  </a:txBody>
                  <a:tcPr/>
                </a:tc>
                <a:tc>
                  <a:txBody>
                    <a:bodyPr/>
                    <a:lstStyle/>
                    <a:p>
                      <a:pPr algn="ctr"/>
                      <a:endParaRPr lang="en-GB" sz="3200" dirty="0"/>
                    </a:p>
                  </a:txBody>
                  <a:tcPr/>
                </a:tc>
                <a:tc>
                  <a:txBody>
                    <a:bodyPr/>
                    <a:lstStyle/>
                    <a:p>
                      <a:r>
                        <a:rPr lang="en-GB" sz="3200" dirty="0"/>
                        <a:t>date</a:t>
                      </a:r>
                    </a:p>
                  </a:txBody>
                  <a:tcPr/>
                </a:tc>
                <a:tc>
                  <a:txBody>
                    <a:bodyPr/>
                    <a:lstStyle/>
                    <a:p>
                      <a:pPr algn="ctr"/>
                      <a:endParaRPr lang="en-GB" sz="3200" dirty="0"/>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1487565366"/>
                  </a:ext>
                </a:extLst>
              </a:tr>
              <a:tr h="370840">
                <a:tc>
                  <a:txBody>
                    <a:bodyPr/>
                    <a:lstStyle/>
                    <a:p>
                      <a:r>
                        <a:rPr lang="en-GB" sz="3200" dirty="0"/>
                        <a:t>transport</a:t>
                      </a:r>
                    </a:p>
                  </a:txBody>
                  <a:tcPr/>
                </a:tc>
                <a:tc>
                  <a:txBody>
                    <a:bodyPr/>
                    <a:lstStyle/>
                    <a:p>
                      <a:pPr algn="ctr"/>
                      <a:endParaRPr lang="en-GB" sz="3200" dirty="0"/>
                    </a:p>
                  </a:txBody>
                  <a:tcPr/>
                </a:tc>
                <a:tc>
                  <a:txBody>
                    <a:bodyPr/>
                    <a:lstStyle/>
                    <a:p>
                      <a:r>
                        <a:rPr lang="en-GB" sz="3200" dirty="0" err="1"/>
                        <a:t>boolean</a:t>
                      </a:r>
                      <a:endParaRPr lang="en-GB" sz="3200" dirty="0"/>
                    </a:p>
                  </a:txBody>
                  <a:tcPr/>
                </a:tc>
                <a:tc>
                  <a:txBody>
                    <a:bodyPr/>
                    <a:lstStyle/>
                    <a:p>
                      <a:pPr algn="ctr"/>
                      <a:endParaRPr lang="en-GB" sz="3200" dirty="0"/>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3947728551"/>
                  </a:ext>
                </a:extLst>
              </a:tr>
            </a:tbl>
          </a:graphicData>
        </a:graphic>
      </p:graphicFrame>
      <p:sp>
        <p:nvSpPr>
          <p:cNvPr id="4" name="TextBox 3">
            <a:extLst>
              <a:ext uri="{FF2B5EF4-FFF2-40B4-BE49-F238E27FC236}">
                <a16:creationId xmlns:a16="http://schemas.microsoft.com/office/drawing/2014/main" id="{A1BFC853-8304-4B36-ABE6-4EFE5EDE6F3D}"/>
              </a:ext>
            </a:extLst>
          </p:cNvPr>
          <p:cNvSpPr txBox="1"/>
          <p:nvPr/>
        </p:nvSpPr>
        <p:spPr>
          <a:xfrm>
            <a:off x="1606398" y="5846544"/>
            <a:ext cx="8979204" cy="646331"/>
          </a:xfrm>
          <a:prstGeom prst="rect">
            <a:avLst/>
          </a:prstGeom>
          <a:noFill/>
        </p:spPr>
        <p:txBody>
          <a:bodyPr wrap="square" rtlCol="0" anchor="ctr" anchorCtr="0">
            <a:spAutoFit/>
          </a:bodyPr>
          <a:lstStyle/>
          <a:p>
            <a:pPr algn="ctr"/>
            <a:r>
              <a:rPr lang="en-GB" sz="3600" dirty="0">
                <a:solidFill>
                  <a:srgbClr val="7030A0"/>
                </a:solidFill>
              </a:rPr>
              <a:t>FK linked to PK: Referential Integrity</a:t>
            </a:r>
          </a:p>
        </p:txBody>
      </p:sp>
      <p:sp>
        <p:nvSpPr>
          <p:cNvPr id="6" name="Rectangle: Rounded Corners 7">
            <a:extLst>
              <a:ext uri="{FF2B5EF4-FFF2-40B4-BE49-F238E27FC236}">
                <a16:creationId xmlns:a16="http://schemas.microsoft.com/office/drawing/2014/main" id="{831F97E7-1E0F-4C0A-B09F-844929766824}"/>
              </a:ext>
            </a:extLst>
          </p:cNvPr>
          <p:cNvSpPr/>
          <p:nvPr/>
        </p:nvSpPr>
        <p:spPr>
          <a:xfrm>
            <a:off x="7559040" y="2971800"/>
            <a:ext cx="3648222" cy="111252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73041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animEffect transition="in" filter="wipe(left)">
                                      <p:cBhvr>
                                        <p:cTn id="16" dur="2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6" grpId="0" animBg="1"/>
    </p:bldLst>
  </p:timing>
</p:sld>
</file>

<file path=ppt/slides/slide1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Data Dictionary (3)</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extLst>
              <p:ext uri="{D42A27DB-BD31-4B8C-83A1-F6EECF244321}">
                <p14:modId xmlns:p14="http://schemas.microsoft.com/office/powerpoint/2010/main" val="3946015435"/>
              </p:ext>
            </p:extLst>
          </p:nvPr>
        </p:nvGraphicFramePr>
        <p:xfrm>
          <a:off x="838200" y="1825625"/>
          <a:ext cx="10369062" cy="3962400"/>
        </p:xfrm>
        <a:graphic>
          <a:graphicData uri="http://schemas.openxmlformats.org/drawingml/2006/table">
            <a:tbl>
              <a:tblPr firstRow="1" bandRow="1">
                <a:tableStyleId>{5C22544A-7EE6-4342-B048-85BDC9FD1C3A}</a:tableStyleId>
              </a:tblPr>
              <a:tblGrid>
                <a:gridCol w="2056986">
                  <a:extLst>
                    <a:ext uri="{9D8B030D-6E8A-4147-A177-3AD203B41FA5}">
                      <a16:colId xmlns:a16="http://schemas.microsoft.com/office/drawing/2014/main" val="1632358923"/>
                    </a:ext>
                  </a:extLst>
                </a:gridCol>
                <a:gridCol w="829807">
                  <a:extLst>
                    <a:ext uri="{9D8B030D-6E8A-4147-A177-3AD203B41FA5}">
                      <a16:colId xmlns:a16="http://schemas.microsoft.com/office/drawing/2014/main" val="3505833113"/>
                    </a:ext>
                  </a:extLst>
                </a:gridCol>
                <a:gridCol w="1586230">
                  <a:extLst>
                    <a:ext uri="{9D8B030D-6E8A-4147-A177-3AD203B41FA5}">
                      <a16:colId xmlns:a16="http://schemas.microsoft.com/office/drawing/2014/main" val="2732100902"/>
                    </a:ext>
                  </a:extLst>
                </a:gridCol>
                <a:gridCol w="926211">
                  <a:extLst>
                    <a:ext uri="{9D8B030D-6E8A-4147-A177-3AD203B41FA5}">
                      <a16:colId xmlns:a16="http://schemas.microsoft.com/office/drawing/2014/main" val="315362434"/>
                    </a:ext>
                  </a:extLst>
                </a:gridCol>
                <a:gridCol w="1297304">
                  <a:extLst>
                    <a:ext uri="{9D8B030D-6E8A-4147-A177-3AD203B41FA5}">
                      <a16:colId xmlns:a16="http://schemas.microsoft.com/office/drawing/2014/main" val="2971574360"/>
                    </a:ext>
                  </a:extLst>
                </a:gridCol>
                <a:gridCol w="3672524">
                  <a:extLst>
                    <a:ext uri="{9D8B030D-6E8A-4147-A177-3AD203B41FA5}">
                      <a16:colId xmlns:a16="http://schemas.microsoft.com/office/drawing/2014/main" val="2515431282"/>
                    </a:ext>
                  </a:extLst>
                </a:gridCol>
              </a:tblGrid>
              <a:tr h="370840">
                <a:tc>
                  <a:txBody>
                    <a:bodyPr/>
                    <a:lstStyle/>
                    <a:p>
                      <a:pPr algn="ctr"/>
                      <a:r>
                        <a:rPr lang="en-GB" sz="3200" dirty="0"/>
                        <a:t>Attribute</a:t>
                      </a:r>
                    </a:p>
                  </a:txBody>
                  <a:tcPr/>
                </a:tc>
                <a:tc>
                  <a:txBody>
                    <a:bodyPr/>
                    <a:lstStyle/>
                    <a:p>
                      <a:pPr algn="ctr"/>
                      <a:r>
                        <a:rPr lang="en-GB" sz="3200" dirty="0"/>
                        <a:t>Key</a:t>
                      </a:r>
                    </a:p>
                  </a:txBody>
                  <a:tcPr/>
                </a:tc>
                <a:tc>
                  <a:txBody>
                    <a:bodyPr/>
                    <a:lstStyle/>
                    <a:p>
                      <a:pPr algn="ctr"/>
                      <a:r>
                        <a:rPr lang="en-GB" sz="3200" dirty="0"/>
                        <a:t>Type</a:t>
                      </a:r>
                    </a:p>
                  </a:txBody>
                  <a:tcPr/>
                </a:tc>
                <a:tc>
                  <a:txBody>
                    <a:bodyPr/>
                    <a:lstStyle/>
                    <a:p>
                      <a:pPr algn="ctr"/>
                      <a:r>
                        <a:rPr lang="en-GB" sz="3200" dirty="0"/>
                        <a:t>Size</a:t>
                      </a:r>
                    </a:p>
                  </a:txBody>
                  <a:tcPr/>
                </a:tc>
                <a:tc>
                  <a:txBody>
                    <a:bodyPr/>
                    <a:lstStyle/>
                    <a:p>
                      <a:pPr algn="ctr"/>
                      <a:r>
                        <a:rPr lang="en-GB" sz="3200" dirty="0" err="1"/>
                        <a:t>Req'd</a:t>
                      </a:r>
                      <a:endParaRPr lang="en-GB" sz="3200" dirty="0"/>
                    </a:p>
                  </a:txBody>
                  <a:tcPr/>
                </a:tc>
                <a:tc>
                  <a:txBody>
                    <a:bodyPr/>
                    <a:lstStyle/>
                    <a:p>
                      <a:pPr algn="ctr"/>
                      <a:r>
                        <a:rPr lang="en-GB" sz="3200" dirty="0"/>
                        <a:t>Validation</a:t>
                      </a:r>
                    </a:p>
                  </a:txBody>
                  <a:tcPr/>
                </a:tc>
                <a:extLst>
                  <a:ext uri="{0D108BD9-81ED-4DB2-BD59-A6C34878D82A}">
                    <a16:rowId xmlns:a16="http://schemas.microsoft.com/office/drawing/2014/main" val="3459615676"/>
                  </a:ext>
                </a:extLst>
              </a:tr>
              <a:tr h="370840">
                <a:tc>
                  <a:txBody>
                    <a:bodyPr/>
                    <a:lstStyle/>
                    <a:p>
                      <a:r>
                        <a:rPr lang="en-GB" sz="3200" dirty="0" err="1"/>
                        <a:t>pupilID</a:t>
                      </a:r>
                      <a:endParaRPr lang="en-GB" sz="3200" dirty="0"/>
                    </a:p>
                  </a:txBody>
                  <a:tcPr/>
                </a:tc>
                <a:tc>
                  <a:txBody>
                    <a:bodyPr/>
                    <a:lstStyle/>
                    <a:p>
                      <a:pPr algn="ctr"/>
                      <a:r>
                        <a:rPr lang="en-GB" sz="3200" dirty="0"/>
                        <a:t>PK</a:t>
                      </a:r>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dirty="0"/>
                        <a:t>Range: &gt;= 0</a:t>
                      </a:r>
                    </a:p>
                  </a:txBody>
                  <a:tcPr/>
                </a:tc>
                <a:extLst>
                  <a:ext uri="{0D108BD9-81ED-4DB2-BD59-A6C34878D82A}">
                    <a16:rowId xmlns:a16="http://schemas.microsoft.com/office/drawing/2014/main" val="1127765656"/>
                  </a:ext>
                </a:extLst>
              </a:tr>
              <a:tr h="370840">
                <a:tc>
                  <a:txBody>
                    <a:bodyPr/>
                    <a:lstStyle/>
                    <a:p>
                      <a:r>
                        <a:rPr lang="en-GB" sz="3200" dirty="0" err="1"/>
                        <a:t>schoolID</a:t>
                      </a:r>
                      <a:endParaRPr lang="en-GB" sz="3200" dirty="0"/>
                    </a:p>
                  </a:txBody>
                  <a:tcPr/>
                </a:tc>
                <a:tc>
                  <a:txBody>
                    <a:bodyPr/>
                    <a:lstStyle/>
                    <a:p>
                      <a:pPr algn="ctr"/>
                      <a:r>
                        <a:rPr lang="en-GB" sz="3200" dirty="0"/>
                        <a:t>FK</a:t>
                      </a:r>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3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3200" dirty="0"/>
                    </a:p>
                  </a:txBody>
                  <a:tcPr/>
                </a:tc>
                <a:extLst>
                  <a:ext uri="{0D108BD9-81ED-4DB2-BD59-A6C34878D82A}">
                    <a16:rowId xmlns:a16="http://schemas.microsoft.com/office/drawing/2014/main" val="2924661129"/>
                  </a:ext>
                </a:extLst>
              </a:tr>
              <a:tr h="370840">
                <a:tc>
                  <a:txBody>
                    <a:bodyPr/>
                    <a:lstStyle/>
                    <a:p>
                      <a:r>
                        <a:rPr lang="en-GB" sz="3200" dirty="0"/>
                        <a:t>name</a:t>
                      </a:r>
                    </a:p>
                  </a:txBody>
                  <a:tcPr/>
                </a:tc>
                <a:tc>
                  <a:txBody>
                    <a:bodyPr/>
                    <a:lstStyle/>
                    <a:p>
                      <a:pPr algn="ctr"/>
                      <a:endParaRPr lang="en-GB" sz="3200" dirty="0"/>
                    </a:p>
                  </a:txBody>
                  <a:tcPr/>
                </a:tc>
                <a:tc>
                  <a:txBody>
                    <a:bodyPr/>
                    <a:lstStyle/>
                    <a:p>
                      <a:r>
                        <a:rPr lang="en-GB" sz="3200" dirty="0"/>
                        <a:t>text</a:t>
                      </a:r>
                    </a:p>
                  </a:txBody>
                  <a:tcPr/>
                </a:tc>
                <a:tc>
                  <a:txBody>
                    <a:bodyPr/>
                    <a:lstStyle/>
                    <a:p>
                      <a:pPr algn="ctr"/>
                      <a:r>
                        <a:rPr lang="en-GB" sz="3200" dirty="0"/>
                        <a:t>30</a:t>
                      </a:r>
                    </a:p>
                  </a:txBody>
                  <a:tcPr/>
                </a:tc>
                <a:tc>
                  <a:txBody>
                    <a:bodyPr/>
                    <a:lstStyle/>
                    <a:p>
                      <a:pPr algn="ctr"/>
                      <a:r>
                        <a:rPr lang="en-GB" sz="3200" dirty="0"/>
                        <a: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dirty="0"/>
                        <a:t>Length: &gt;= 3</a:t>
                      </a:r>
                    </a:p>
                  </a:txBody>
                  <a:tcPr/>
                </a:tc>
                <a:extLst>
                  <a:ext uri="{0D108BD9-81ED-4DB2-BD59-A6C34878D82A}">
                    <a16:rowId xmlns:a16="http://schemas.microsoft.com/office/drawing/2014/main" val="3885493841"/>
                  </a:ext>
                </a:extLst>
              </a:tr>
              <a:tr h="370840">
                <a:tc>
                  <a:txBody>
                    <a:bodyPr/>
                    <a:lstStyle/>
                    <a:p>
                      <a:r>
                        <a:rPr lang="en-GB" sz="3200" dirty="0"/>
                        <a:t>dob</a:t>
                      </a:r>
                    </a:p>
                  </a:txBody>
                  <a:tcPr/>
                </a:tc>
                <a:tc>
                  <a:txBody>
                    <a:bodyPr/>
                    <a:lstStyle/>
                    <a:p>
                      <a:pPr algn="ctr"/>
                      <a:endParaRPr lang="en-GB" sz="3200" dirty="0"/>
                    </a:p>
                  </a:txBody>
                  <a:tcPr/>
                </a:tc>
                <a:tc>
                  <a:txBody>
                    <a:bodyPr/>
                    <a:lstStyle/>
                    <a:p>
                      <a:r>
                        <a:rPr lang="en-GB" sz="3200" dirty="0"/>
                        <a:t>date</a:t>
                      </a:r>
                    </a:p>
                  </a:txBody>
                  <a:tcPr/>
                </a:tc>
                <a:tc>
                  <a:txBody>
                    <a:bodyPr/>
                    <a:lstStyle/>
                    <a:p>
                      <a:pPr algn="ctr"/>
                      <a:endParaRPr lang="en-GB" sz="3200" dirty="0"/>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1487565366"/>
                  </a:ext>
                </a:extLst>
              </a:tr>
              <a:tr h="370840">
                <a:tc>
                  <a:txBody>
                    <a:bodyPr/>
                    <a:lstStyle/>
                    <a:p>
                      <a:r>
                        <a:rPr lang="en-GB" sz="3200" dirty="0"/>
                        <a:t>transport</a:t>
                      </a:r>
                    </a:p>
                  </a:txBody>
                  <a:tcPr/>
                </a:tc>
                <a:tc>
                  <a:txBody>
                    <a:bodyPr/>
                    <a:lstStyle/>
                    <a:p>
                      <a:pPr algn="ctr"/>
                      <a:endParaRPr lang="en-GB" sz="3200" dirty="0"/>
                    </a:p>
                  </a:txBody>
                  <a:tcPr/>
                </a:tc>
                <a:tc>
                  <a:txBody>
                    <a:bodyPr/>
                    <a:lstStyle/>
                    <a:p>
                      <a:r>
                        <a:rPr lang="en-GB" sz="3200" dirty="0" err="1"/>
                        <a:t>boolean</a:t>
                      </a:r>
                      <a:endParaRPr lang="en-GB" sz="3200" dirty="0"/>
                    </a:p>
                  </a:txBody>
                  <a:tcPr/>
                </a:tc>
                <a:tc>
                  <a:txBody>
                    <a:bodyPr/>
                    <a:lstStyle/>
                    <a:p>
                      <a:pPr algn="ctr"/>
                      <a:endParaRPr lang="en-GB" sz="3200" dirty="0"/>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3947728551"/>
                  </a:ext>
                </a:extLst>
              </a:tr>
            </a:tbl>
          </a:graphicData>
        </a:graphic>
      </p:graphicFrame>
    </p:spTree>
    <p:extLst>
      <p:ext uri="{BB962C8B-B14F-4D97-AF65-F5344CB8AC3E}">
        <p14:creationId xmlns:p14="http://schemas.microsoft.com/office/powerpoint/2010/main" val="171366189"/>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Analysis &amp; Design</a:t>
            </a:r>
          </a:p>
        </p:txBody>
      </p:sp>
      <p:sp>
        <p:nvSpPr>
          <p:cNvPr id="3" name="Content Placeholder 2"/>
          <p:cNvSpPr>
            <a:spLocks noGrp="1"/>
          </p:cNvSpPr>
          <p:nvPr>
            <p:ph idx="1"/>
          </p:nvPr>
        </p:nvSpPr>
        <p:spPr/>
        <p:txBody>
          <a:bodyPr>
            <a:normAutofit fontScale="92500" lnSpcReduction="20000"/>
          </a:bodyPr>
          <a:lstStyle/>
          <a:p>
            <a:pPr marL="0" indent="0">
              <a:buNone/>
            </a:pPr>
            <a:r>
              <a:rPr lang="en-GB" b="1" dirty="0"/>
              <a:t>Analysis</a:t>
            </a:r>
          </a:p>
          <a:p>
            <a:r>
              <a:rPr lang="en-GB" dirty="0"/>
              <a:t>What do the end-users need to be able to do?</a:t>
            </a:r>
          </a:p>
          <a:p>
            <a:r>
              <a:rPr lang="en-GB" dirty="0"/>
              <a:t>What does the database need to store / do?</a:t>
            </a:r>
          </a:p>
          <a:p>
            <a:pPr marL="0" indent="0">
              <a:buNone/>
            </a:pPr>
            <a:r>
              <a:rPr lang="en-GB" b="1" dirty="0"/>
              <a:t>Design</a:t>
            </a:r>
          </a:p>
          <a:p>
            <a:r>
              <a:rPr lang="en-GB" dirty="0"/>
              <a:t>What are the entities, relationships, cardinality? (ERD)</a:t>
            </a:r>
          </a:p>
          <a:p>
            <a:r>
              <a:rPr lang="en-GB" dirty="0"/>
              <a:t>What are the attributes?</a:t>
            </a:r>
          </a:p>
          <a:p>
            <a:r>
              <a:rPr lang="en-GB" dirty="0"/>
              <a:t>What are the data types?</a:t>
            </a:r>
          </a:p>
          <a:p>
            <a:r>
              <a:rPr lang="en-GB" dirty="0"/>
              <a:t>What is the validation?</a:t>
            </a:r>
          </a:p>
          <a:p>
            <a:r>
              <a:rPr lang="en-GB" dirty="0"/>
              <a:t>What is the referential integrity?</a:t>
            </a:r>
          </a:p>
        </p:txBody>
      </p:sp>
    </p:spTree>
    <p:extLst>
      <p:ext uri="{BB962C8B-B14F-4D97-AF65-F5344CB8AC3E}">
        <p14:creationId xmlns:p14="http://schemas.microsoft.com/office/powerpoint/2010/main" val="164534231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57AA2-8D68-4E79-B796-5A158F2BF3EE}"/>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FEC0890D-EAF7-4717-8910-FCE2D49C02FB}"/>
              </a:ext>
            </a:extLst>
          </p:cNvPr>
          <p:cNvSpPr>
            <a:spLocks noGrp="1"/>
          </p:cNvSpPr>
          <p:nvPr>
            <p:ph idx="1"/>
          </p:nvPr>
        </p:nvSpPr>
        <p:spPr/>
        <p:txBody>
          <a:bodyPr/>
          <a:lstStyle/>
          <a:p>
            <a:r>
              <a:rPr lang="en-GB" sz="3200" dirty="0"/>
              <a:t>Exemplify a design of a solution to the query: </a:t>
            </a:r>
          </a:p>
          <a:p>
            <a:pPr lvl="1"/>
            <a:r>
              <a:rPr lang="en-GB" sz="2800" dirty="0"/>
              <a:t>fields</a:t>
            </a:r>
          </a:p>
          <a:p>
            <a:pPr lvl="1"/>
            <a:r>
              <a:rPr lang="en-GB" sz="2800" dirty="0"/>
              <a:t>multiple tables</a:t>
            </a:r>
          </a:p>
          <a:p>
            <a:pPr lvl="1"/>
            <a:r>
              <a:rPr lang="en-GB" sz="2800" dirty="0"/>
              <a:t>search criteria</a:t>
            </a:r>
          </a:p>
          <a:p>
            <a:pPr lvl="1"/>
            <a:r>
              <a:rPr lang="en-GB" sz="2800" dirty="0"/>
              <a:t>sort order</a:t>
            </a:r>
          </a:p>
          <a:p>
            <a:pPr marL="0" indent="0">
              <a:buNone/>
            </a:pPr>
            <a:endParaRPr lang="en-GB" dirty="0"/>
          </a:p>
        </p:txBody>
      </p:sp>
    </p:spTree>
    <p:extLst>
      <p:ext uri="{BB962C8B-B14F-4D97-AF65-F5344CB8AC3E}">
        <p14:creationId xmlns:p14="http://schemas.microsoft.com/office/powerpoint/2010/main" val="3196124473"/>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Query Design (SELECT)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62379745"/>
              </p:ext>
            </p:extLst>
          </p:nvPr>
        </p:nvGraphicFramePr>
        <p:xfrm>
          <a:off x="838200" y="1825625"/>
          <a:ext cx="10515600" cy="2804160"/>
        </p:xfrm>
        <a:graphic>
          <a:graphicData uri="http://schemas.openxmlformats.org/drawingml/2006/table">
            <a:tbl>
              <a:tblPr bandRow="1">
                <a:tableStyleId>{5C22544A-7EE6-4342-B048-85BDC9FD1C3A}</a:tableStyleId>
              </a:tblPr>
              <a:tblGrid>
                <a:gridCol w="3200400">
                  <a:extLst>
                    <a:ext uri="{9D8B030D-6E8A-4147-A177-3AD203B41FA5}">
                      <a16:colId xmlns:a16="http://schemas.microsoft.com/office/drawing/2014/main" val="1440578478"/>
                    </a:ext>
                  </a:extLst>
                </a:gridCol>
                <a:gridCol w="7315200">
                  <a:extLst>
                    <a:ext uri="{9D8B030D-6E8A-4147-A177-3AD203B41FA5}">
                      <a16:colId xmlns:a16="http://schemas.microsoft.com/office/drawing/2014/main" val="4238155148"/>
                    </a:ext>
                  </a:extLst>
                </a:gridCol>
              </a:tblGrid>
              <a:tr h="370840">
                <a:tc>
                  <a:txBody>
                    <a:bodyPr/>
                    <a:lstStyle/>
                    <a:p>
                      <a:r>
                        <a:rPr lang="en-GB" sz="4000" dirty="0"/>
                        <a:t>Field(s)</a:t>
                      </a:r>
                    </a:p>
                  </a:txBody>
                  <a:tcPr/>
                </a:tc>
                <a:tc>
                  <a:txBody>
                    <a:bodyPr/>
                    <a:lstStyle/>
                    <a:p>
                      <a:endParaRPr lang="en-GB" sz="4000"/>
                    </a:p>
                  </a:txBody>
                  <a:tcPr/>
                </a:tc>
                <a:extLst>
                  <a:ext uri="{0D108BD9-81ED-4DB2-BD59-A6C34878D82A}">
                    <a16:rowId xmlns:a16="http://schemas.microsoft.com/office/drawing/2014/main" val="1001484436"/>
                  </a:ext>
                </a:extLst>
              </a:tr>
              <a:tr h="370840">
                <a:tc>
                  <a:txBody>
                    <a:bodyPr/>
                    <a:lstStyle/>
                    <a:p>
                      <a:r>
                        <a:rPr lang="en-GB" sz="4000" dirty="0"/>
                        <a:t>Table(s)</a:t>
                      </a:r>
                    </a:p>
                  </a:txBody>
                  <a:tcPr/>
                </a:tc>
                <a:tc>
                  <a:txBody>
                    <a:bodyPr/>
                    <a:lstStyle/>
                    <a:p>
                      <a:endParaRPr lang="en-GB" sz="4000"/>
                    </a:p>
                  </a:txBody>
                  <a:tcPr/>
                </a:tc>
                <a:extLst>
                  <a:ext uri="{0D108BD9-81ED-4DB2-BD59-A6C34878D82A}">
                    <a16:rowId xmlns:a16="http://schemas.microsoft.com/office/drawing/2014/main" val="2648906904"/>
                  </a:ext>
                </a:extLst>
              </a:tr>
              <a:tr h="370840">
                <a:tc>
                  <a:txBody>
                    <a:bodyPr/>
                    <a:lstStyle/>
                    <a:p>
                      <a:r>
                        <a:rPr lang="en-GB" sz="4000" dirty="0"/>
                        <a:t>Search criteria</a:t>
                      </a:r>
                    </a:p>
                  </a:txBody>
                  <a:tcPr/>
                </a:tc>
                <a:tc>
                  <a:txBody>
                    <a:bodyPr/>
                    <a:lstStyle/>
                    <a:p>
                      <a:endParaRPr lang="en-GB" sz="4000"/>
                    </a:p>
                  </a:txBody>
                  <a:tcPr/>
                </a:tc>
                <a:extLst>
                  <a:ext uri="{0D108BD9-81ED-4DB2-BD59-A6C34878D82A}">
                    <a16:rowId xmlns:a16="http://schemas.microsoft.com/office/drawing/2014/main" val="7278273"/>
                  </a:ext>
                </a:extLst>
              </a:tr>
              <a:tr h="370840">
                <a:tc>
                  <a:txBody>
                    <a:bodyPr/>
                    <a:lstStyle/>
                    <a:p>
                      <a:r>
                        <a:rPr lang="en-GB" sz="4000" dirty="0"/>
                        <a:t>Sort order</a:t>
                      </a:r>
                    </a:p>
                  </a:txBody>
                  <a:tcPr/>
                </a:tc>
                <a:tc>
                  <a:txBody>
                    <a:bodyPr/>
                    <a:lstStyle/>
                    <a:p>
                      <a:endParaRPr lang="en-GB" sz="4000" dirty="0"/>
                    </a:p>
                  </a:txBody>
                  <a:tcPr/>
                </a:tc>
                <a:extLst>
                  <a:ext uri="{0D108BD9-81ED-4DB2-BD59-A6C34878D82A}">
                    <a16:rowId xmlns:a16="http://schemas.microsoft.com/office/drawing/2014/main" val="163770991"/>
                  </a:ext>
                </a:extLst>
              </a:tr>
            </a:tbl>
          </a:graphicData>
        </a:graphic>
      </p:graphicFrame>
      <p:sp>
        <p:nvSpPr>
          <p:cNvPr id="5" name="TextBox 4">
            <a:extLst>
              <a:ext uri="{FF2B5EF4-FFF2-40B4-BE49-F238E27FC236}">
                <a16:creationId xmlns:a16="http://schemas.microsoft.com/office/drawing/2014/main" id="{2E080607-7F49-4880-84B0-EC36CA907A6A}"/>
              </a:ext>
            </a:extLst>
          </p:cNvPr>
          <p:cNvSpPr txBox="1"/>
          <p:nvPr/>
        </p:nvSpPr>
        <p:spPr>
          <a:xfrm>
            <a:off x="3110970" y="5840648"/>
            <a:ext cx="5970059" cy="646331"/>
          </a:xfrm>
          <a:prstGeom prst="rect">
            <a:avLst/>
          </a:prstGeom>
          <a:noFill/>
        </p:spPr>
        <p:txBody>
          <a:bodyPr wrap="square" rtlCol="0" anchor="ctr" anchorCtr="0">
            <a:spAutoFit/>
          </a:bodyPr>
          <a:lstStyle/>
          <a:p>
            <a:pPr algn="ctr"/>
            <a:r>
              <a:rPr lang="en-GB" sz="3600" dirty="0">
                <a:solidFill>
                  <a:srgbClr val="7030A0"/>
                </a:solidFill>
              </a:rPr>
              <a:t>All can be used</a:t>
            </a:r>
          </a:p>
        </p:txBody>
      </p:sp>
    </p:spTree>
    <p:extLst>
      <p:ext uri="{BB962C8B-B14F-4D97-AF65-F5344CB8AC3E}">
        <p14:creationId xmlns:p14="http://schemas.microsoft.com/office/powerpoint/2010/main" val="3543521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Query Design (SELECT)</a:t>
            </a:r>
          </a:p>
        </p:txBody>
      </p:sp>
      <p:graphicFrame>
        <p:nvGraphicFramePr>
          <p:cNvPr id="4" name="Content Placeholder 3"/>
          <p:cNvGraphicFramePr>
            <a:graphicFrameLocks noGrp="1"/>
          </p:cNvGraphicFramePr>
          <p:nvPr>
            <p:ph idx="1"/>
          </p:nvPr>
        </p:nvGraphicFramePr>
        <p:xfrm>
          <a:off x="838200" y="1825625"/>
          <a:ext cx="10515600" cy="2804160"/>
        </p:xfrm>
        <a:graphic>
          <a:graphicData uri="http://schemas.openxmlformats.org/drawingml/2006/table">
            <a:tbl>
              <a:tblPr bandRow="1">
                <a:tableStyleId>{5C22544A-7EE6-4342-B048-85BDC9FD1C3A}</a:tableStyleId>
              </a:tblPr>
              <a:tblGrid>
                <a:gridCol w="3200400">
                  <a:extLst>
                    <a:ext uri="{9D8B030D-6E8A-4147-A177-3AD203B41FA5}">
                      <a16:colId xmlns:a16="http://schemas.microsoft.com/office/drawing/2014/main" val="1440578478"/>
                    </a:ext>
                  </a:extLst>
                </a:gridCol>
                <a:gridCol w="7315200">
                  <a:extLst>
                    <a:ext uri="{9D8B030D-6E8A-4147-A177-3AD203B41FA5}">
                      <a16:colId xmlns:a16="http://schemas.microsoft.com/office/drawing/2014/main" val="4238155148"/>
                    </a:ext>
                  </a:extLst>
                </a:gridCol>
              </a:tblGrid>
              <a:tr h="370840">
                <a:tc>
                  <a:txBody>
                    <a:bodyPr/>
                    <a:lstStyle/>
                    <a:p>
                      <a:r>
                        <a:rPr lang="en-GB" sz="4000" dirty="0"/>
                        <a:t>Field(s)</a:t>
                      </a:r>
                    </a:p>
                  </a:txBody>
                  <a:tcPr/>
                </a:tc>
                <a:tc>
                  <a:txBody>
                    <a:bodyPr/>
                    <a:lstStyle/>
                    <a:p>
                      <a:endParaRPr lang="en-GB" sz="4000"/>
                    </a:p>
                  </a:txBody>
                  <a:tcPr/>
                </a:tc>
                <a:extLst>
                  <a:ext uri="{0D108BD9-81ED-4DB2-BD59-A6C34878D82A}">
                    <a16:rowId xmlns:a16="http://schemas.microsoft.com/office/drawing/2014/main" val="1001484436"/>
                  </a:ext>
                </a:extLst>
              </a:tr>
              <a:tr h="370840">
                <a:tc>
                  <a:txBody>
                    <a:bodyPr/>
                    <a:lstStyle/>
                    <a:p>
                      <a:r>
                        <a:rPr lang="en-GB" sz="4000" dirty="0"/>
                        <a:t>Table(s)</a:t>
                      </a:r>
                    </a:p>
                  </a:txBody>
                  <a:tcPr/>
                </a:tc>
                <a:tc>
                  <a:txBody>
                    <a:bodyPr/>
                    <a:lstStyle/>
                    <a:p>
                      <a:endParaRPr lang="en-GB" sz="4000"/>
                    </a:p>
                  </a:txBody>
                  <a:tcPr/>
                </a:tc>
                <a:extLst>
                  <a:ext uri="{0D108BD9-81ED-4DB2-BD59-A6C34878D82A}">
                    <a16:rowId xmlns:a16="http://schemas.microsoft.com/office/drawing/2014/main" val="2648906904"/>
                  </a:ext>
                </a:extLst>
              </a:tr>
              <a:tr h="370840">
                <a:tc>
                  <a:txBody>
                    <a:bodyPr/>
                    <a:lstStyle/>
                    <a:p>
                      <a:r>
                        <a:rPr lang="en-GB" sz="4000" dirty="0"/>
                        <a:t>Search criteria</a:t>
                      </a:r>
                    </a:p>
                  </a:txBody>
                  <a:tcPr/>
                </a:tc>
                <a:tc>
                  <a:txBody>
                    <a:bodyPr/>
                    <a:lstStyle/>
                    <a:p>
                      <a:endParaRPr lang="en-GB" sz="4000"/>
                    </a:p>
                  </a:txBody>
                  <a:tcPr/>
                </a:tc>
                <a:extLst>
                  <a:ext uri="{0D108BD9-81ED-4DB2-BD59-A6C34878D82A}">
                    <a16:rowId xmlns:a16="http://schemas.microsoft.com/office/drawing/2014/main" val="7278273"/>
                  </a:ext>
                </a:extLst>
              </a:tr>
              <a:tr h="370840">
                <a:tc>
                  <a:txBody>
                    <a:bodyPr/>
                    <a:lstStyle/>
                    <a:p>
                      <a:r>
                        <a:rPr lang="en-GB" sz="4000" dirty="0"/>
                        <a:t>Sort order</a:t>
                      </a:r>
                    </a:p>
                  </a:txBody>
                  <a:tcPr/>
                </a:tc>
                <a:tc>
                  <a:txBody>
                    <a:bodyPr/>
                    <a:lstStyle/>
                    <a:p>
                      <a:endParaRPr lang="en-GB" sz="4000" dirty="0"/>
                    </a:p>
                  </a:txBody>
                  <a:tcPr/>
                </a:tc>
                <a:extLst>
                  <a:ext uri="{0D108BD9-81ED-4DB2-BD59-A6C34878D82A}">
                    <a16:rowId xmlns:a16="http://schemas.microsoft.com/office/drawing/2014/main" val="163770991"/>
                  </a:ext>
                </a:extLst>
              </a:tr>
            </a:tbl>
          </a:graphicData>
        </a:graphic>
      </p:graphicFrame>
    </p:spTree>
    <p:extLst>
      <p:ext uri="{BB962C8B-B14F-4D97-AF65-F5344CB8AC3E}">
        <p14:creationId xmlns:p14="http://schemas.microsoft.com/office/powerpoint/2010/main" val="107710777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Query Design (INSERT)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08601786"/>
              </p:ext>
            </p:extLst>
          </p:nvPr>
        </p:nvGraphicFramePr>
        <p:xfrm>
          <a:off x="838200" y="1825625"/>
          <a:ext cx="10515600" cy="2804160"/>
        </p:xfrm>
        <a:graphic>
          <a:graphicData uri="http://schemas.openxmlformats.org/drawingml/2006/table">
            <a:tbl>
              <a:tblPr bandRow="1">
                <a:tableStyleId>{5C22544A-7EE6-4342-B048-85BDC9FD1C3A}</a:tableStyleId>
              </a:tblPr>
              <a:tblGrid>
                <a:gridCol w="3368040">
                  <a:extLst>
                    <a:ext uri="{9D8B030D-6E8A-4147-A177-3AD203B41FA5}">
                      <a16:colId xmlns:a16="http://schemas.microsoft.com/office/drawing/2014/main" val="1440578478"/>
                    </a:ext>
                  </a:extLst>
                </a:gridCol>
                <a:gridCol w="7147560">
                  <a:extLst>
                    <a:ext uri="{9D8B030D-6E8A-4147-A177-3AD203B41FA5}">
                      <a16:colId xmlns:a16="http://schemas.microsoft.com/office/drawing/2014/main" val="4238155148"/>
                    </a:ext>
                  </a:extLst>
                </a:gridCol>
              </a:tblGrid>
              <a:tr h="370840">
                <a:tc>
                  <a:txBody>
                    <a:bodyPr/>
                    <a:lstStyle/>
                    <a:p>
                      <a:r>
                        <a:rPr lang="en-GB" sz="4000" dirty="0"/>
                        <a:t>Type</a:t>
                      </a:r>
                      <a:r>
                        <a:rPr lang="en-GB" sz="4000" baseline="0" dirty="0"/>
                        <a:t> of query</a:t>
                      </a:r>
                      <a:endParaRPr lang="en-GB" sz="4000" dirty="0"/>
                    </a:p>
                  </a:txBody>
                  <a:tcPr/>
                </a:tc>
                <a:tc>
                  <a:txBody>
                    <a:bodyPr/>
                    <a:lstStyle/>
                    <a:p>
                      <a:r>
                        <a:rPr lang="en-GB" sz="4000" dirty="0"/>
                        <a:t>INSERT</a:t>
                      </a:r>
                    </a:p>
                  </a:txBody>
                  <a:tcPr/>
                </a:tc>
                <a:extLst>
                  <a:ext uri="{0D108BD9-81ED-4DB2-BD59-A6C34878D82A}">
                    <a16:rowId xmlns:a16="http://schemas.microsoft.com/office/drawing/2014/main" val="1001484436"/>
                  </a:ext>
                </a:extLst>
              </a:tr>
              <a:tr h="370840">
                <a:tc>
                  <a:txBody>
                    <a:bodyPr/>
                    <a:lstStyle/>
                    <a:p>
                      <a:r>
                        <a:rPr lang="en-GB" sz="4000" dirty="0"/>
                        <a:t>Table</a:t>
                      </a:r>
                    </a:p>
                  </a:txBody>
                  <a:tcPr/>
                </a:tc>
                <a:tc>
                  <a:txBody>
                    <a:bodyPr/>
                    <a:lstStyle/>
                    <a:p>
                      <a:endParaRPr lang="en-GB" sz="4000"/>
                    </a:p>
                  </a:txBody>
                  <a:tcPr/>
                </a:tc>
                <a:extLst>
                  <a:ext uri="{0D108BD9-81ED-4DB2-BD59-A6C34878D82A}">
                    <a16:rowId xmlns:a16="http://schemas.microsoft.com/office/drawing/2014/main" val="2648906904"/>
                  </a:ext>
                </a:extLst>
              </a:tr>
              <a:tr h="370840">
                <a:tc>
                  <a:txBody>
                    <a:bodyPr/>
                    <a:lstStyle/>
                    <a:p>
                      <a:r>
                        <a:rPr lang="en-GB" sz="4000" dirty="0"/>
                        <a:t>Value(s)</a:t>
                      </a:r>
                    </a:p>
                  </a:txBody>
                  <a:tcPr/>
                </a:tc>
                <a:tc>
                  <a:txBody>
                    <a:bodyPr/>
                    <a:lstStyle/>
                    <a:p>
                      <a:endParaRPr lang="en-GB" sz="4000"/>
                    </a:p>
                  </a:txBody>
                  <a:tcPr/>
                </a:tc>
                <a:extLst>
                  <a:ext uri="{0D108BD9-81ED-4DB2-BD59-A6C34878D82A}">
                    <a16:rowId xmlns:a16="http://schemas.microsoft.com/office/drawing/2014/main" val="7278273"/>
                  </a:ext>
                </a:extLst>
              </a:tr>
              <a:tr h="370840">
                <a:tc>
                  <a:txBody>
                    <a:bodyPr/>
                    <a:lstStyle/>
                    <a:p>
                      <a:r>
                        <a:rPr lang="en-GB" sz="4000" dirty="0"/>
                        <a:t>Criteria</a:t>
                      </a:r>
                    </a:p>
                  </a:txBody>
                  <a:tcPr/>
                </a:tc>
                <a:tc>
                  <a:txBody>
                    <a:bodyPr/>
                    <a:lstStyle/>
                    <a:p>
                      <a:r>
                        <a:rPr lang="en-GB" sz="4000" dirty="0">
                          <a:solidFill>
                            <a:srgbClr val="FF0000"/>
                          </a:solidFill>
                        </a:rPr>
                        <a:t>Not used</a:t>
                      </a:r>
                    </a:p>
                  </a:txBody>
                  <a:tcPr/>
                </a:tc>
                <a:extLst>
                  <a:ext uri="{0D108BD9-81ED-4DB2-BD59-A6C34878D82A}">
                    <a16:rowId xmlns:a16="http://schemas.microsoft.com/office/drawing/2014/main" val="163770991"/>
                  </a:ext>
                </a:extLst>
              </a:tr>
            </a:tbl>
          </a:graphicData>
        </a:graphic>
      </p:graphicFrame>
    </p:spTree>
    <p:extLst>
      <p:ext uri="{BB962C8B-B14F-4D97-AF65-F5344CB8AC3E}">
        <p14:creationId xmlns:p14="http://schemas.microsoft.com/office/powerpoint/2010/main" val="764657735"/>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Query Design (INSERT)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5629651"/>
              </p:ext>
            </p:extLst>
          </p:nvPr>
        </p:nvGraphicFramePr>
        <p:xfrm>
          <a:off x="838200" y="1825625"/>
          <a:ext cx="10515600" cy="2804160"/>
        </p:xfrm>
        <a:graphic>
          <a:graphicData uri="http://schemas.openxmlformats.org/drawingml/2006/table">
            <a:tbl>
              <a:tblPr bandRow="1">
                <a:tableStyleId>{5C22544A-7EE6-4342-B048-85BDC9FD1C3A}</a:tableStyleId>
              </a:tblPr>
              <a:tblGrid>
                <a:gridCol w="3368040">
                  <a:extLst>
                    <a:ext uri="{9D8B030D-6E8A-4147-A177-3AD203B41FA5}">
                      <a16:colId xmlns:a16="http://schemas.microsoft.com/office/drawing/2014/main" val="1440578478"/>
                    </a:ext>
                  </a:extLst>
                </a:gridCol>
                <a:gridCol w="7147560">
                  <a:extLst>
                    <a:ext uri="{9D8B030D-6E8A-4147-A177-3AD203B41FA5}">
                      <a16:colId xmlns:a16="http://schemas.microsoft.com/office/drawing/2014/main" val="4238155148"/>
                    </a:ext>
                  </a:extLst>
                </a:gridCol>
              </a:tblGrid>
              <a:tr h="370840">
                <a:tc>
                  <a:txBody>
                    <a:bodyPr/>
                    <a:lstStyle/>
                    <a:p>
                      <a:r>
                        <a:rPr lang="en-GB" sz="4000" dirty="0"/>
                        <a:t>Type</a:t>
                      </a:r>
                      <a:r>
                        <a:rPr lang="en-GB" sz="4000" baseline="0" dirty="0"/>
                        <a:t> of query</a:t>
                      </a:r>
                      <a:endParaRPr lang="en-GB" sz="4000" dirty="0"/>
                    </a:p>
                  </a:txBody>
                  <a:tcPr/>
                </a:tc>
                <a:tc>
                  <a:txBody>
                    <a:bodyPr/>
                    <a:lstStyle/>
                    <a:p>
                      <a:endParaRPr lang="en-GB" sz="4000" dirty="0"/>
                    </a:p>
                  </a:txBody>
                  <a:tcPr/>
                </a:tc>
                <a:extLst>
                  <a:ext uri="{0D108BD9-81ED-4DB2-BD59-A6C34878D82A}">
                    <a16:rowId xmlns:a16="http://schemas.microsoft.com/office/drawing/2014/main" val="1001484436"/>
                  </a:ext>
                </a:extLst>
              </a:tr>
              <a:tr h="370840">
                <a:tc>
                  <a:txBody>
                    <a:bodyPr/>
                    <a:lstStyle/>
                    <a:p>
                      <a:r>
                        <a:rPr lang="en-GB" sz="4000" dirty="0"/>
                        <a:t>Table</a:t>
                      </a:r>
                    </a:p>
                  </a:txBody>
                  <a:tcPr/>
                </a:tc>
                <a:tc>
                  <a:txBody>
                    <a:bodyPr/>
                    <a:lstStyle/>
                    <a:p>
                      <a:endParaRPr lang="en-GB" sz="4000"/>
                    </a:p>
                  </a:txBody>
                  <a:tcPr/>
                </a:tc>
                <a:extLst>
                  <a:ext uri="{0D108BD9-81ED-4DB2-BD59-A6C34878D82A}">
                    <a16:rowId xmlns:a16="http://schemas.microsoft.com/office/drawing/2014/main" val="2648906904"/>
                  </a:ext>
                </a:extLst>
              </a:tr>
              <a:tr h="370840">
                <a:tc>
                  <a:txBody>
                    <a:bodyPr/>
                    <a:lstStyle/>
                    <a:p>
                      <a:r>
                        <a:rPr lang="en-GB" sz="4000" dirty="0"/>
                        <a:t>Value(s)</a:t>
                      </a:r>
                    </a:p>
                  </a:txBody>
                  <a:tcPr/>
                </a:tc>
                <a:tc>
                  <a:txBody>
                    <a:bodyPr/>
                    <a:lstStyle/>
                    <a:p>
                      <a:endParaRPr lang="en-GB" sz="4000" dirty="0"/>
                    </a:p>
                  </a:txBody>
                  <a:tcPr/>
                </a:tc>
                <a:extLst>
                  <a:ext uri="{0D108BD9-81ED-4DB2-BD59-A6C34878D82A}">
                    <a16:rowId xmlns:a16="http://schemas.microsoft.com/office/drawing/2014/main" val="7278273"/>
                  </a:ext>
                </a:extLst>
              </a:tr>
              <a:tr h="370840">
                <a:tc>
                  <a:txBody>
                    <a:bodyPr/>
                    <a:lstStyle/>
                    <a:p>
                      <a:r>
                        <a:rPr lang="en-GB" sz="4000" dirty="0"/>
                        <a:t>Criteria</a:t>
                      </a:r>
                    </a:p>
                  </a:txBody>
                  <a:tcPr/>
                </a:tc>
                <a:tc>
                  <a:txBody>
                    <a:bodyPr/>
                    <a:lstStyle/>
                    <a:p>
                      <a:endParaRPr lang="en-GB" sz="4000" dirty="0">
                        <a:solidFill>
                          <a:srgbClr val="FF0000"/>
                        </a:solidFill>
                      </a:endParaRPr>
                    </a:p>
                  </a:txBody>
                  <a:tcPr/>
                </a:tc>
                <a:extLst>
                  <a:ext uri="{0D108BD9-81ED-4DB2-BD59-A6C34878D82A}">
                    <a16:rowId xmlns:a16="http://schemas.microsoft.com/office/drawing/2014/main" val="163770991"/>
                  </a:ext>
                </a:extLst>
              </a:tr>
            </a:tbl>
          </a:graphicData>
        </a:graphic>
      </p:graphicFrame>
    </p:spTree>
    <p:extLst>
      <p:ext uri="{BB962C8B-B14F-4D97-AF65-F5344CB8AC3E}">
        <p14:creationId xmlns:p14="http://schemas.microsoft.com/office/powerpoint/2010/main" val="3145385377"/>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Query Design (UPDATE)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00195048"/>
              </p:ext>
            </p:extLst>
          </p:nvPr>
        </p:nvGraphicFramePr>
        <p:xfrm>
          <a:off x="838200" y="1825625"/>
          <a:ext cx="10515600" cy="2804160"/>
        </p:xfrm>
        <a:graphic>
          <a:graphicData uri="http://schemas.openxmlformats.org/drawingml/2006/table">
            <a:tbl>
              <a:tblPr bandRow="1">
                <a:tableStyleId>{5C22544A-7EE6-4342-B048-85BDC9FD1C3A}</a:tableStyleId>
              </a:tblPr>
              <a:tblGrid>
                <a:gridCol w="3368040">
                  <a:extLst>
                    <a:ext uri="{9D8B030D-6E8A-4147-A177-3AD203B41FA5}">
                      <a16:colId xmlns:a16="http://schemas.microsoft.com/office/drawing/2014/main" val="1440578478"/>
                    </a:ext>
                  </a:extLst>
                </a:gridCol>
                <a:gridCol w="7147560">
                  <a:extLst>
                    <a:ext uri="{9D8B030D-6E8A-4147-A177-3AD203B41FA5}">
                      <a16:colId xmlns:a16="http://schemas.microsoft.com/office/drawing/2014/main" val="4238155148"/>
                    </a:ext>
                  </a:extLst>
                </a:gridCol>
              </a:tblGrid>
              <a:tr h="370840">
                <a:tc>
                  <a:txBody>
                    <a:bodyPr/>
                    <a:lstStyle/>
                    <a:p>
                      <a:r>
                        <a:rPr lang="en-GB" sz="4000" dirty="0"/>
                        <a:t>Type</a:t>
                      </a:r>
                      <a:r>
                        <a:rPr lang="en-GB" sz="4000" baseline="0" dirty="0"/>
                        <a:t> of query</a:t>
                      </a:r>
                      <a:endParaRPr lang="en-GB" sz="4000" dirty="0"/>
                    </a:p>
                  </a:txBody>
                  <a:tcPr/>
                </a:tc>
                <a:tc>
                  <a:txBody>
                    <a:bodyPr/>
                    <a:lstStyle/>
                    <a:p>
                      <a:r>
                        <a:rPr lang="en-GB" sz="4000" dirty="0"/>
                        <a:t>UPDATE</a:t>
                      </a:r>
                    </a:p>
                  </a:txBody>
                  <a:tcPr/>
                </a:tc>
                <a:extLst>
                  <a:ext uri="{0D108BD9-81ED-4DB2-BD59-A6C34878D82A}">
                    <a16:rowId xmlns:a16="http://schemas.microsoft.com/office/drawing/2014/main" val="1001484436"/>
                  </a:ext>
                </a:extLst>
              </a:tr>
              <a:tr h="370840">
                <a:tc>
                  <a:txBody>
                    <a:bodyPr/>
                    <a:lstStyle/>
                    <a:p>
                      <a:r>
                        <a:rPr lang="en-GB" sz="4000" dirty="0"/>
                        <a:t>Table</a:t>
                      </a:r>
                    </a:p>
                  </a:txBody>
                  <a:tcPr/>
                </a:tc>
                <a:tc>
                  <a:txBody>
                    <a:bodyPr/>
                    <a:lstStyle/>
                    <a:p>
                      <a:endParaRPr lang="en-GB" sz="4000"/>
                    </a:p>
                  </a:txBody>
                  <a:tcPr/>
                </a:tc>
                <a:extLst>
                  <a:ext uri="{0D108BD9-81ED-4DB2-BD59-A6C34878D82A}">
                    <a16:rowId xmlns:a16="http://schemas.microsoft.com/office/drawing/2014/main" val="2648906904"/>
                  </a:ext>
                </a:extLst>
              </a:tr>
              <a:tr h="370840">
                <a:tc>
                  <a:txBody>
                    <a:bodyPr/>
                    <a:lstStyle/>
                    <a:p>
                      <a:r>
                        <a:rPr lang="en-GB" sz="4000" dirty="0"/>
                        <a:t>Value(s)</a:t>
                      </a:r>
                    </a:p>
                  </a:txBody>
                  <a:tcPr/>
                </a:tc>
                <a:tc>
                  <a:txBody>
                    <a:bodyPr/>
                    <a:lstStyle/>
                    <a:p>
                      <a:endParaRPr lang="en-GB" sz="4000"/>
                    </a:p>
                  </a:txBody>
                  <a:tcPr/>
                </a:tc>
                <a:extLst>
                  <a:ext uri="{0D108BD9-81ED-4DB2-BD59-A6C34878D82A}">
                    <a16:rowId xmlns:a16="http://schemas.microsoft.com/office/drawing/2014/main" val="7278273"/>
                  </a:ext>
                </a:extLst>
              </a:tr>
              <a:tr h="370840">
                <a:tc>
                  <a:txBody>
                    <a:bodyPr/>
                    <a:lstStyle/>
                    <a:p>
                      <a:r>
                        <a:rPr lang="en-GB" sz="4000" dirty="0"/>
                        <a:t>Criteria</a:t>
                      </a:r>
                    </a:p>
                  </a:txBody>
                  <a:tcPr/>
                </a:tc>
                <a:tc>
                  <a:txBody>
                    <a:bodyPr/>
                    <a:lstStyle/>
                    <a:p>
                      <a:endParaRPr lang="en-GB" sz="4000" dirty="0"/>
                    </a:p>
                  </a:txBody>
                  <a:tcPr/>
                </a:tc>
                <a:extLst>
                  <a:ext uri="{0D108BD9-81ED-4DB2-BD59-A6C34878D82A}">
                    <a16:rowId xmlns:a16="http://schemas.microsoft.com/office/drawing/2014/main" val="163770991"/>
                  </a:ext>
                </a:extLst>
              </a:tr>
            </a:tbl>
          </a:graphicData>
        </a:graphic>
      </p:graphicFrame>
    </p:spTree>
    <p:extLst>
      <p:ext uri="{BB962C8B-B14F-4D97-AF65-F5344CB8AC3E}">
        <p14:creationId xmlns:p14="http://schemas.microsoft.com/office/powerpoint/2010/main" val="520357845"/>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Query Design (UPDATE)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5435468"/>
              </p:ext>
            </p:extLst>
          </p:nvPr>
        </p:nvGraphicFramePr>
        <p:xfrm>
          <a:off x="838200" y="1825625"/>
          <a:ext cx="10515600" cy="2804160"/>
        </p:xfrm>
        <a:graphic>
          <a:graphicData uri="http://schemas.openxmlformats.org/drawingml/2006/table">
            <a:tbl>
              <a:tblPr bandRow="1">
                <a:tableStyleId>{5C22544A-7EE6-4342-B048-85BDC9FD1C3A}</a:tableStyleId>
              </a:tblPr>
              <a:tblGrid>
                <a:gridCol w="3368040">
                  <a:extLst>
                    <a:ext uri="{9D8B030D-6E8A-4147-A177-3AD203B41FA5}">
                      <a16:colId xmlns:a16="http://schemas.microsoft.com/office/drawing/2014/main" val="1440578478"/>
                    </a:ext>
                  </a:extLst>
                </a:gridCol>
                <a:gridCol w="7147560">
                  <a:extLst>
                    <a:ext uri="{9D8B030D-6E8A-4147-A177-3AD203B41FA5}">
                      <a16:colId xmlns:a16="http://schemas.microsoft.com/office/drawing/2014/main" val="4238155148"/>
                    </a:ext>
                  </a:extLst>
                </a:gridCol>
              </a:tblGrid>
              <a:tr h="370840">
                <a:tc>
                  <a:txBody>
                    <a:bodyPr/>
                    <a:lstStyle/>
                    <a:p>
                      <a:r>
                        <a:rPr lang="en-GB" sz="4000" dirty="0"/>
                        <a:t>Type</a:t>
                      </a:r>
                      <a:r>
                        <a:rPr lang="en-GB" sz="4000" baseline="0" dirty="0"/>
                        <a:t> of query</a:t>
                      </a:r>
                      <a:endParaRPr lang="en-GB" sz="4000" dirty="0"/>
                    </a:p>
                  </a:txBody>
                  <a:tcPr/>
                </a:tc>
                <a:tc>
                  <a:txBody>
                    <a:bodyPr/>
                    <a:lstStyle/>
                    <a:p>
                      <a:endParaRPr lang="en-GB" sz="4000" dirty="0"/>
                    </a:p>
                  </a:txBody>
                  <a:tcPr/>
                </a:tc>
                <a:extLst>
                  <a:ext uri="{0D108BD9-81ED-4DB2-BD59-A6C34878D82A}">
                    <a16:rowId xmlns:a16="http://schemas.microsoft.com/office/drawing/2014/main" val="1001484436"/>
                  </a:ext>
                </a:extLst>
              </a:tr>
              <a:tr h="370840">
                <a:tc>
                  <a:txBody>
                    <a:bodyPr/>
                    <a:lstStyle/>
                    <a:p>
                      <a:r>
                        <a:rPr lang="en-GB" sz="4000" dirty="0"/>
                        <a:t>Table</a:t>
                      </a:r>
                    </a:p>
                  </a:txBody>
                  <a:tcPr/>
                </a:tc>
                <a:tc>
                  <a:txBody>
                    <a:bodyPr/>
                    <a:lstStyle/>
                    <a:p>
                      <a:endParaRPr lang="en-GB" sz="4000"/>
                    </a:p>
                  </a:txBody>
                  <a:tcPr/>
                </a:tc>
                <a:extLst>
                  <a:ext uri="{0D108BD9-81ED-4DB2-BD59-A6C34878D82A}">
                    <a16:rowId xmlns:a16="http://schemas.microsoft.com/office/drawing/2014/main" val="2648906904"/>
                  </a:ext>
                </a:extLst>
              </a:tr>
              <a:tr h="370840">
                <a:tc>
                  <a:txBody>
                    <a:bodyPr/>
                    <a:lstStyle/>
                    <a:p>
                      <a:r>
                        <a:rPr lang="en-GB" sz="4000" dirty="0"/>
                        <a:t>Value(s)</a:t>
                      </a:r>
                    </a:p>
                  </a:txBody>
                  <a:tcPr/>
                </a:tc>
                <a:tc>
                  <a:txBody>
                    <a:bodyPr/>
                    <a:lstStyle/>
                    <a:p>
                      <a:endParaRPr lang="en-GB" sz="4000"/>
                    </a:p>
                  </a:txBody>
                  <a:tcPr/>
                </a:tc>
                <a:extLst>
                  <a:ext uri="{0D108BD9-81ED-4DB2-BD59-A6C34878D82A}">
                    <a16:rowId xmlns:a16="http://schemas.microsoft.com/office/drawing/2014/main" val="7278273"/>
                  </a:ext>
                </a:extLst>
              </a:tr>
              <a:tr h="370840">
                <a:tc>
                  <a:txBody>
                    <a:bodyPr/>
                    <a:lstStyle/>
                    <a:p>
                      <a:r>
                        <a:rPr lang="en-GB" sz="4000" dirty="0"/>
                        <a:t>Criteria</a:t>
                      </a:r>
                    </a:p>
                  </a:txBody>
                  <a:tcPr/>
                </a:tc>
                <a:tc>
                  <a:txBody>
                    <a:bodyPr/>
                    <a:lstStyle/>
                    <a:p>
                      <a:endParaRPr lang="en-GB" sz="4000" dirty="0"/>
                    </a:p>
                  </a:txBody>
                  <a:tcPr/>
                </a:tc>
                <a:extLst>
                  <a:ext uri="{0D108BD9-81ED-4DB2-BD59-A6C34878D82A}">
                    <a16:rowId xmlns:a16="http://schemas.microsoft.com/office/drawing/2014/main" val="163770991"/>
                  </a:ext>
                </a:extLst>
              </a:tr>
            </a:tbl>
          </a:graphicData>
        </a:graphic>
      </p:graphicFrame>
    </p:spTree>
    <p:extLst>
      <p:ext uri="{BB962C8B-B14F-4D97-AF65-F5344CB8AC3E}">
        <p14:creationId xmlns:p14="http://schemas.microsoft.com/office/powerpoint/2010/main" val="135559416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Query Design (DELETE)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88527796"/>
              </p:ext>
            </p:extLst>
          </p:nvPr>
        </p:nvGraphicFramePr>
        <p:xfrm>
          <a:off x="838200" y="1825625"/>
          <a:ext cx="10515600" cy="2804160"/>
        </p:xfrm>
        <a:graphic>
          <a:graphicData uri="http://schemas.openxmlformats.org/drawingml/2006/table">
            <a:tbl>
              <a:tblPr bandRow="1">
                <a:tableStyleId>{5C22544A-7EE6-4342-B048-85BDC9FD1C3A}</a:tableStyleId>
              </a:tblPr>
              <a:tblGrid>
                <a:gridCol w="3368040">
                  <a:extLst>
                    <a:ext uri="{9D8B030D-6E8A-4147-A177-3AD203B41FA5}">
                      <a16:colId xmlns:a16="http://schemas.microsoft.com/office/drawing/2014/main" val="1440578478"/>
                    </a:ext>
                  </a:extLst>
                </a:gridCol>
                <a:gridCol w="7147560">
                  <a:extLst>
                    <a:ext uri="{9D8B030D-6E8A-4147-A177-3AD203B41FA5}">
                      <a16:colId xmlns:a16="http://schemas.microsoft.com/office/drawing/2014/main" val="4238155148"/>
                    </a:ext>
                  </a:extLst>
                </a:gridCol>
              </a:tblGrid>
              <a:tr h="370840">
                <a:tc>
                  <a:txBody>
                    <a:bodyPr/>
                    <a:lstStyle/>
                    <a:p>
                      <a:r>
                        <a:rPr lang="en-GB" sz="4000" dirty="0"/>
                        <a:t>Type</a:t>
                      </a:r>
                      <a:r>
                        <a:rPr lang="en-GB" sz="4000" baseline="0" dirty="0"/>
                        <a:t> of query</a:t>
                      </a:r>
                      <a:endParaRPr lang="en-GB" sz="4000" dirty="0"/>
                    </a:p>
                  </a:txBody>
                  <a:tcPr/>
                </a:tc>
                <a:tc>
                  <a:txBody>
                    <a:bodyPr/>
                    <a:lstStyle/>
                    <a:p>
                      <a:r>
                        <a:rPr lang="en-GB" sz="4000" dirty="0"/>
                        <a:t>DELETE</a:t>
                      </a:r>
                    </a:p>
                  </a:txBody>
                  <a:tcPr/>
                </a:tc>
                <a:extLst>
                  <a:ext uri="{0D108BD9-81ED-4DB2-BD59-A6C34878D82A}">
                    <a16:rowId xmlns:a16="http://schemas.microsoft.com/office/drawing/2014/main" val="1001484436"/>
                  </a:ext>
                </a:extLst>
              </a:tr>
              <a:tr h="370840">
                <a:tc>
                  <a:txBody>
                    <a:bodyPr/>
                    <a:lstStyle/>
                    <a:p>
                      <a:r>
                        <a:rPr lang="en-GB" sz="4000" dirty="0"/>
                        <a:t>Table</a:t>
                      </a:r>
                    </a:p>
                  </a:txBody>
                  <a:tcPr/>
                </a:tc>
                <a:tc>
                  <a:txBody>
                    <a:bodyPr/>
                    <a:lstStyle/>
                    <a:p>
                      <a:endParaRPr lang="en-GB" sz="4000" dirty="0"/>
                    </a:p>
                  </a:txBody>
                  <a:tcPr/>
                </a:tc>
                <a:extLst>
                  <a:ext uri="{0D108BD9-81ED-4DB2-BD59-A6C34878D82A}">
                    <a16:rowId xmlns:a16="http://schemas.microsoft.com/office/drawing/2014/main" val="2648906904"/>
                  </a:ext>
                </a:extLst>
              </a:tr>
              <a:tr h="370840">
                <a:tc>
                  <a:txBody>
                    <a:bodyPr/>
                    <a:lstStyle/>
                    <a:p>
                      <a:r>
                        <a:rPr lang="en-GB" sz="4000" dirty="0"/>
                        <a:t>Value(s)</a:t>
                      </a:r>
                    </a:p>
                  </a:txBody>
                  <a:tcPr/>
                </a:tc>
                <a:tc>
                  <a:txBody>
                    <a:bodyPr/>
                    <a:lstStyle/>
                    <a:p>
                      <a:r>
                        <a:rPr lang="en-GB" sz="4000" dirty="0">
                          <a:solidFill>
                            <a:srgbClr val="FF0000"/>
                          </a:solidFill>
                        </a:rPr>
                        <a:t>Not used</a:t>
                      </a:r>
                    </a:p>
                  </a:txBody>
                  <a:tcPr/>
                </a:tc>
                <a:extLst>
                  <a:ext uri="{0D108BD9-81ED-4DB2-BD59-A6C34878D82A}">
                    <a16:rowId xmlns:a16="http://schemas.microsoft.com/office/drawing/2014/main" val="7278273"/>
                  </a:ext>
                </a:extLst>
              </a:tr>
              <a:tr h="370840">
                <a:tc>
                  <a:txBody>
                    <a:bodyPr/>
                    <a:lstStyle/>
                    <a:p>
                      <a:r>
                        <a:rPr lang="en-GB" sz="4000" dirty="0"/>
                        <a:t>Criteria</a:t>
                      </a:r>
                    </a:p>
                  </a:txBody>
                  <a:tcPr/>
                </a:tc>
                <a:tc>
                  <a:txBody>
                    <a:bodyPr/>
                    <a:lstStyle/>
                    <a:p>
                      <a:endParaRPr lang="en-GB" sz="4000" dirty="0"/>
                    </a:p>
                  </a:txBody>
                  <a:tcPr/>
                </a:tc>
                <a:extLst>
                  <a:ext uri="{0D108BD9-81ED-4DB2-BD59-A6C34878D82A}">
                    <a16:rowId xmlns:a16="http://schemas.microsoft.com/office/drawing/2014/main" val="163770991"/>
                  </a:ext>
                </a:extLst>
              </a:tr>
            </a:tbl>
          </a:graphicData>
        </a:graphic>
      </p:graphicFrame>
    </p:spTree>
    <p:extLst>
      <p:ext uri="{BB962C8B-B14F-4D97-AF65-F5344CB8AC3E}">
        <p14:creationId xmlns:p14="http://schemas.microsoft.com/office/powerpoint/2010/main" val="2968985016"/>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Query Design (DELETE)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46218872"/>
              </p:ext>
            </p:extLst>
          </p:nvPr>
        </p:nvGraphicFramePr>
        <p:xfrm>
          <a:off x="838200" y="1825625"/>
          <a:ext cx="10515600" cy="2804160"/>
        </p:xfrm>
        <a:graphic>
          <a:graphicData uri="http://schemas.openxmlformats.org/drawingml/2006/table">
            <a:tbl>
              <a:tblPr bandRow="1">
                <a:tableStyleId>{5C22544A-7EE6-4342-B048-85BDC9FD1C3A}</a:tableStyleId>
              </a:tblPr>
              <a:tblGrid>
                <a:gridCol w="3368040">
                  <a:extLst>
                    <a:ext uri="{9D8B030D-6E8A-4147-A177-3AD203B41FA5}">
                      <a16:colId xmlns:a16="http://schemas.microsoft.com/office/drawing/2014/main" val="1440578478"/>
                    </a:ext>
                  </a:extLst>
                </a:gridCol>
                <a:gridCol w="7147560">
                  <a:extLst>
                    <a:ext uri="{9D8B030D-6E8A-4147-A177-3AD203B41FA5}">
                      <a16:colId xmlns:a16="http://schemas.microsoft.com/office/drawing/2014/main" val="4238155148"/>
                    </a:ext>
                  </a:extLst>
                </a:gridCol>
              </a:tblGrid>
              <a:tr h="370840">
                <a:tc>
                  <a:txBody>
                    <a:bodyPr/>
                    <a:lstStyle/>
                    <a:p>
                      <a:r>
                        <a:rPr lang="en-GB" sz="4000" dirty="0"/>
                        <a:t>Type</a:t>
                      </a:r>
                      <a:r>
                        <a:rPr lang="en-GB" sz="4000" baseline="0" dirty="0"/>
                        <a:t> of query</a:t>
                      </a:r>
                      <a:endParaRPr lang="en-GB" sz="4000" dirty="0"/>
                    </a:p>
                  </a:txBody>
                  <a:tcPr/>
                </a:tc>
                <a:tc>
                  <a:txBody>
                    <a:bodyPr/>
                    <a:lstStyle/>
                    <a:p>
                      <a:endParaRPr lang="en-GB" sz="4000" dirty="0"/>
                    </a:p>
                  </a:txBody>
                  <a:tcPr/>
                </a:tc>
                <a:extLst>
                  <a:ext uri="{0D108BD9-81ED-4DB2-BD59-A6C34878D82A}">
                    <a16:rowId xmlns:a16="http://schemas.microsoft.com/office/drawing/2014/main" val="1001484436"/>
                  </a:ext>
                </a:extLst>
              </a:tr>
              <a:tr h="370840">
                <a:tc>
                  <a:txBody>
                    <a:bodyPr/>
                    <a:lstStyle/>
                    <a:p>
                      <a:r>
                        <a:rPr lang="en-GB" sz="4000" dirty="0"/>
                        <a:t>Table</a:t>
                      </a:r>
                    </a:p>
                  </a:txBody>
                  <a:tcPr/>
                </a:tc>
                <a:tc>
                  <a:txBody>
                    <a:bodyPr/>
                    <a:lstStyle/>
                    <a:p>
                      <a:endParaRPr lang="en-GB" sz="4000" dirty="0"/>
                    </a:p>
                  </a:txBody>
                  <a:tcPr/>
                </a:tc>
                <a:extLst>
                  <a:ext uri="{0D108BD9-81ED-4DB2-BD59-A6C34878D82A}">
                    <a16:rowId xmlns:a16="http://schemas.microsoft.com/office/drawing/2014/main" val="2648906904"/>
                  </a:ext>
                </a:extLst>
              </a:tr>
              <a:tr h="370840">
                <a:tc>
                  <a:txBody>
                    <a:bodyPr/>
                    <a:lstStyle/>
                    <a:p>
                      <a:r>
                        <a:rPr lang="en-GB" sz="4000" dirty="0"/>
                        <a:t>Value(s)</a:t>
                      </a:r>
                    </a:p>
                  </a:txBody>
                  <a:tcPr/>
                </a:tc>
                <a:tc>
                  <a:txBody>
                    <a:bodyPr/>
                    <a:lstStyle/>
                    <a:p>
                      <a:endParaRPr lang="en-GB" sz="4000" dirty="0">
                        <a:solidFill>
                          <a:srgbClr val="FF0000"/>
                        </a:solidFill>
                      </a:endParaRPr>
                    </a:p>
                  </a:txBody>
                  <a:tcPr/>
                </a:tc>
                <a:extLst>
                  <a:ext uri="{0D108BD9-81ED-4DB2-BD59-A6C34878D82A}">
                    <a16:rowId xmlns:a16="http://schemas.microsoft.com/office/drawing/2014/main" val="7278273"/>
                  </a:ext>
                </a:extLst>
              </a:tr>
              <a:tr h="370840">
                <a:tc>
                  <a:txBody>
                    <a:bodyPr/>
                    <a:lstStyle/>
                    <a:p>
                      <a:r>
                        <a:rPr lang="en-GB" sz="4000" dirty="0"/>
                        <a:t>Criteria</a:t>
                      </a:r>
                    </a:p>
                  </a:txBody>
                  <a:tcPr/>
                </a:tc>
                <a:tc>
                  <a:txBody>
                    <a:bodyPr/>
                    <a:lstStyle/>
                    <a:p>
                      <a:endParaRPr lang="en-GB" sz="4000" dirty="0"/>
                    </a:p>
                  </a:txBody>
                  <a:tcPr/>
                </a:tc>
                <a:extLst>
                  <a:ext uri="{0D108BD9-81ED-4DB2-BD59-A6C34878D82A}">
                    <a16:rowId xmlns:a16="http://schemas.microsoft.com/office/drawing/2014/main" val="163770991"/>
                  </a:ext>
                </a:extLst>
              </a:tr>
            </a:tbl>
          </a:graphicData>
        </a:graphic>
      </p:graphicFrame>
    </p:spTree>
    <p:extLst>
      <p:ext uri="{BB962C8B-B14F-4D97-AF65-F5344CB8AC3E}">
        <p14:creationId xmlns:p14="http://schemas.microsoft.com/office/powerpoint/2010/main" val="42332149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E745-10CE-4DCA-964A-D2D9EC6AC194}"/>
              </a:ext>
            </a:extLst>
          </p:cNvPr>
          <p:cNvSpPr>
            <a:spLocks noGrp="1"/>
          </p:cNvSpPr>
          <p:nvPr>
            <p:ph type="title"/>
          </p:nvPr>
        </p:nvSpPr>
        <p:spPr/>
        <p:txBody>
          <a:bodyPr/>
          <a:lstStyle/>
          <a:p>
            <a:r>
              <a:rPr lang="en-GB" dirty="0"/>
              <a:t>Learning Intentions</a:t>
            </a:r>
          </a:p>
        </p:txBody>
      </p:sp>
      <p:sp>
        <p:nvSpPr>
          <p:cNvPr id="3" name="Content Placeholder 2">
            <a:extLst>
              <a:ext uri="{FF2B5EF4-FFF2-40B4-BE49-F238E27FC236}">
                <a16:creationId xmlns:a16="http://schemas.microsoft.com/office/drawing/2014/main" id="{ABB964B2-0CC2-489B-8E1F-1BC040B76915}"/>
              </a:ext>
            </a:extLst>
          </p:cNvPr>
          <p:cNvSpPr>
            <a:spLocks noGrp="1"/>
          </p:cNvSpPr>
          <p:nvPr>
            <p:ph idx="1"/>
          </p:nvPr>
        </p:nvSpPr>
        <p:spPr/>
        <p:txBody>
          <a:bodyPr>
            <a:normAutofit/>
          </a:bodyPr>
          <a:lstStyle/>
          <a:p>
            <a:r>
              <a:rPr lang="en-GB" sz="3200" dirty="0"/>
              <a:t>Describe and exemplify testing:</a:t>
            </a:r>
          </a:p>
          <a:p>
            <a:pPr lvl="1"/>
            <a:r>
              <a:rPr lang="en-GB" sz="3200" dirty="0"/>
              <a:t>SQL operations work correctly at this level</a:t>
            </a:r>
          </a:p>
          <a:p>
            <a:pPr>
              <a:spcBef>
                <a:spcPts val="1200"/>
              </a:spcBef>
            </a:pPr>
            <a:r>
              <a:rPr lang="en-GB" sz="3200" dirty="0"/>
              <a:t>Evaluate solution in terms of:</a:t>
            </a:r>
          </a:p>
          <a:p>
            <a:pPr lvl="1"/>
            <a:r>
              <a:rPr lang="en-GB" sz="3200" dirty="0"/>
              <a:t>fitness for purpose</a:t>
            </a:r>
          </a:p>
          <a:p>
            <a:pPr lvl="1"/>
            <a:r>
              <a:rPr lang="en-GB" sz="3200" dirty="0"/>
              <a:t>accuracy of output</a:t>
            </a:r>
          </a:p>
        </p:txBody>
      </p:sp>
    </p:spTree>
    <p:extLst>
      <p:ext uri="{BB962C8B-B14F-4D97-AF65-F5344CB8AC3E}">
        <p14:creationId xmlns:p14="http://schemas.microsoft.com/office/powerpoint/2010/main" val="78050133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BA070-2C10-4880-9E17-C099725CF02B}"/>
              </a:ext>
            </a:extLst>
          </p:cNvPr>
          <p:cNvSpPr>
            <a:spLocks noGrp="1"/>
          </p:cNvSpPr>
          <p:nvPr>
            <p:ph type="title"/>
          </p:nvPr>
        </p:nvSpPr>
        <p:spPr/>
        <p:txBody>
          <a:bodyPr/>
          <a:lstStyle/>
          <a:p>
            <a:r>
              <a:rPr lang="en-GB" dirty="0"/>
              <a:t>Testing</a:t>
            </a:r>
          </a:p>
        </p:txBody>
      </p:sp>
      <p:sp>
        <p:nvSpPr>
          <p:cNvPr id="3" name="Content Placeholder 2">
            <a:extLst>
              <a:ext uri="{FF2B5EF4-FFF2-40B4-BE49-F238E27FC236}">
                <a16:creationId xmlns:a16="http://schemas.microsoft.com/office/drawing/2014/main" id="{DBA10379-742D-4968-A43A-99F7383FD78F}"/>
              </a:ext>
            </a:extLst>
          </p:cNvPr>
          <p:cNvSpPr>
            <a:spLocks noGrp="1"/>
          </p:cNvSpPr>
          <p:nvPr>
            <p:ph idx="1"/>
          </p:nvPr>
        </p:nvSpPr>
        <p:spPr/>
        <p:txBody>
          <a:bodyPr>
            <a:normAutofit/>
          </a:bodyPr>
          <a:lstStyle/>
          <a:p>
            <a:r>
              <a:rPr lang="en-GB" sz="3200" dirty="0"/>
              <a:t>Compare actual output with expected output</a:t>
            </a:r>
          </a:p>
        </p:txBody>
      </p:sp>
    </p:spTree>
    <p:extLst>
      <p:ext uri="{BB962C8B-B14F-4D97-AF65-F5344CB8AC3E}">
        <p14:creationId xmlns:p14="http://schemas.microsoft.com/office/powerpoint/2010/main" val="887359266"/>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3451D-0114-4DF6-AABC-755019BC213E}"/>
              </a:ext>
            </a:extLst>
          </p:cNvPr>
          <p:cNvSpPr>
            <a:spLocks noGrp="1"/>
          </p:cNvSpPr>
          <p:nvPr>
            <p:ph type="title"/>
          </p:nvPr>
        </p:nvSpPr>
        <p:spPr/>
        <p:txBody>
          <a:bodyPr/>
          <a:lstStyle/>
          <a:p>
            <a:r>
              <a:rPr lang="en-GB" dirty="0"/>
              <a:t>Fit for Purpose</a:t>
            </a:r>
          </a:p>
        </p:txBody>
      </p:sp>
      <p:sp>
        <p:nvSpPr>
          <p:cNvPr id="3" name="Content Placeholder 2">
            <a:extLst>
              <a:ext uri="{FF2B5EF4-FFF2-40B4-BE49-F238E27FC236}">
                <a16:creationId xmlns:a16="http://schemas.microsoft.com/office/drawing/2014/main" id="{BFCD6E65-E1E8-4D4D-8116-9135D4F98C8D}"/>
              </a:ext>
            </a:extLst>
          </p:cNvPr>
          <p:cNvSpPr>
            <a:spLocks noGrp="1"/>
          </p:cNvSpPr>
          <p:nvPr>
            <p:ph idx="1"/>
          </p:nvPr>
        </p:nvSpPr>
        <p:spPr/>
        <p:txBody>
          <a:bodyPr>
            <a:normAutofit/>
          </a:bodyPr>
          <a:lstStyle/>
          <a:p>
            <a:r>
              <a:rPr lang="en-GB" sz="3200" dirty="0"/>
              <a:t>Correct records:</a:t>
            </a:r>
          </a:p>
          <a:p>
            <a:pPr lvl="1"/>
            <a:r>
              <a:rPr lang="en-GB" sz="3200" dirty="0"/>
              <a:t>Selected</a:t>
            </a:r>
          </a:p>
          <a:p>
            <a:pPr lvl="1"/>
            <a:r>
              <a:rPr lang="en-GB" sz="3200" dirty="0"/>
              <a:t>Inserted</a:t>
            </a:r>
          </a:p>
          <a:p>
            <a:pPr lvl="1"/>
            <a:r>
              <a:rPr lang="en-GB" sz="3200" dirty="0"/>
              <a:t>Updated</a:t>
            </a:r>
          </a:p>
          <a:p>
            <a:pPr lvl="1"/>
            <a:r>
              <a:rPr lang="en-GB" sz="3200" dirty="0"/>
              <a:t>Deleted</a:t>
            </a:r>
          </a:p>
          <a:p>
            <a:r>
              <a:rPr lang="en-GB" sz="3200" dirty="0"/>
              <a:t>Referential integrity enforced</a:t>
            </a:r>
          </a:p>
        </p:txBody>
      </p:sp>
    </p:spTree>
    <p:extLst>
      <p:ext uri="{BB962C8B-B14F-4D97-AF65-F5344CB8AC3E}">
        <p14:creationId xmlns:p14="http://schemas.microsoft.com/office/powerpoint/2010/main" val="109368753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738DC-44E3-415F-846C-13186E7135B2}"/>
              </a:ext>
            </a:extLst>
          </p:cNvPr>
          <p:cNvSpPr>
            <a:spLocks noGrp="1"/>
          </p:cNvSpPr>
          <p:nvPr>
            <p:ph type="title"/>
          </p:nvPr>
        </p:nvSpPr>
        <p:spPr/>
        <p:txBody>
          <a:bodyPr/>
          <a:lstStyle/>
          <a:p>
            <a:r>
              <a:rPr lang="en-GB" dirty="0"/>
              <a:t>Evaluation</a:t>
            </a:r>
          </a:p>
        </p:txBody>
      </p:sp>
      <p:sp>
        <p:nvSpPr>
          <p:cNvPr id="3" name="Text Placeholder 2">
            <a:extLst>
              <a:ext uri="{FF2B5EF4-FFF2-40B4-BE49-F238E27FC236}">
                <a16:creationId xmlns:a16="http://schemas.microsoft.com/office/drawing/2014/main" id="{3B180056-DE92-4068-A9C9-06CC4271B315}"/>
              </a:ext>
            </a:extLst>
          </p:cNvPr>
          <p:cNvSpPr>
            <a:spLocks noGrp="1"/>
          </p:cNvSpPr>
          <p:nvPr>
            <p:ph type="body" idx="1"/>
          </p:nvPr>
        </p:nvSpPr>
        <p:spPr/>
        <p:txBody>
          <a:bodyPr/>
          <a:lstStyle/>
          <a:p>
            <a:r>
              <a:rPr lang="en-GB" dirty="0"/>
              <a:t>Fitness for purpose</a:t>
            </a:r>
          </a:p>
        </p:txBody>
      </p:sp>
      <p:sp>
        <p:nvSpPr>
          <p:cNvPr id="4" name="Content Placeholder 3">
            <a:extLst>
              <a:ext uri="{FF2B5EF4-FFF2-40B4-BE49-F238E27FC236}">
                <a16:creationId xmlns:a16="http://schemas.microsoft.com/office/drawing/2014/main" id="{ECF8A258-5D7E-4EE3-814B-67DD52E72862}"/>
              </a:ext>
            </a:extLst>
          </p:cNvPr>
          <p:cNvSpPr>
            <a:spLocks noGrp="1"/>
          </p:cNvSpPr>
          <p:nvPr>
            <p:ph sz="half" idx="2"/>
          </p:nvPr>
        </p:nvSpPr>
        <p:spPr/>
        <p:txBody>
          <a:bodyPr/>
          <a:lstStyle/>
          <a:p>
            <a:r>
              <a:rPr lang="en-GB" dirty="0"/>
              <a:t>Functional requirements met:</a:t>
            </a:r>
          </a:p>
          <a:p>
            <a:pPr lvl="1"/>
            <a:r>
              <a:rPr lang="en-GB" sz="2800" dirty="0"/>
              <a:t>Correct search criteria</a:t>
            </a:r>
          </a:p>
          <a:p>
            <a:pPr lvl="1"/>
            <a:r>
              <a:rPr lang="en-GB" sz="2800" dirty="0"/>
              <a:t>Correct sort order</a:t>
            </a:r>
          </a:p>
        </p:txBody>
      </p:sp>
      <p:sp>
        <p:nvSpPr>
          <p:cNvPr id="5" name="Text Placeholder 4">
            <a:extLst>
              <a:ext uri="{FF2B5EF4-FFF2-40B4-BE49-F238E27FC236}">
                <a16:creationId xmlns:a16="http://schemas.microsoft.com/office/drawing/2014/main" id="{2E9184F7-13D0-4D6E-BAF2-5BFD618D3125}"/>
              </a:ext>
            </a:extLst>
          </p:cNvPr>
          <p:cNvSpPr>
            <a:spLocks noGrp="1"/>
          </p:cNvSpPr>
          <p:nvPr>
            <p:ph type="body" sz="quarter" idx="3"/>
          </p:nvPr>
        </p:nvSpPr>
        <p:spPr/>
        <p:txBody>
          <a:bodyPr/>
          <a:lstStyle/>
          <a:p>
            <a:r>
              <a:rPr lang="en-GB" dirty="0"/>
              <a:t>Accuracy of output</a:t>
            </a:r>
          </a:p>
        </p:txBody>
      </p:sp>
      <p:sp>
        <p:nvSpPr>
          <p:cNvPr id="6" name="Content Placeholder 5">
            <a:extLst>
              <a:ext uri="{FF2B5EF4-FFF2-40B4-BE49-F238E27FC236}">
                <a16:creationId xmlns:a16="http://schemas.microsoft.com/office/drawing/2014/main" id="{27C68512-622F-419D-B6CF-F8FEA16C3C08}"/>
              </a:ext>
            </a:extLst>
          </p:cNvPr>
          <p:cNvSpPr>
            <a:spLocks noGrp="1"/>
          </p:cNvSpPr>
          <p:nvPr>
            <p:ph sz="quarter" idx="4"/>
          </p:nvPr>
        </p:nvSpPr>
        <p:spPr/>
        <p:txBody>
          <a:bodyPr/>
          <a:lstStyle/>
          <a:p>
            <a:r>
              <a:rPr lang="en-GB" dirty="0"/>
              <a:t>Required fields displayed</a:t>
            </a:r>
          </a:p>
          <a:p>
            <a:r>
              <a:rPr lang="en-GB" dirty="0"/>
              <a:t>No extra fields displayed</a:t>
            </a:r>
          </a:p>
        </p:txBody>
      </p:sp>
    </p:spTree>
    <p:extLst>
      <p:ext uri="{BB962C8B-B14F-4D97-AF65-F5344CB8AC3E}">
        <p14:creationId xmlns:p14="http://schemas.microsoft.com/office/powerpoint/2010/main" val="469210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2000"/>
                                        <p:tgtEl>
                                          <p:spTgt spid="4">
                                            <p:txEl>
                                              <p:pRg st="0" end="0"/>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wipe(left)">
                                      <p:cBhvr>
                                        <p:cTn id="15" dur="1500"/>
                                        <p:tgtEl>
                                          <p:spTgt spid="4">
                                            <p:txEl>
                                              <p:pRg st="1" end="1"/>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wipe(left)">
                                      <p:cBhvr>
                                        <p:cTn id="18" dur="1000"/>
                                        <p:tgtEl>
                                          <p:spTgt spid="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animEffect transition="in" filter="wipe(left)">
                                      <p:cBhvr>
                                        <p:cTn id="23" dur="1000"/>
                                        <p:tgtEl>
                                          <p:spTgt spid="5">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1750"/>
                                        <p:tgtEl>
                                          <p:spTgt spid="6">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
                                            <p:txEl>
                                              <p:pRg st="1" end="1"/>
                                            </p:txEl>
                                          </p:spTgt>
                                        </p:tgtEl>
                                        <p:attrNameLst>
                                          <p:attrName>style.visibility</p:attrName>
                                        </p:attrNameLst>
                                      </p:cBhvr>
                                      <p:to>
                                        <p:strVal val="visible"/>
                                      </p:to>
                                    </p:set>
                                    <p:animEffect transition="in" filter="wipe(left)">
                                      <p:cBhvr>
                                        <p:cTn id="33" dur="175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6" grpId="0" build="p"/>
    </p:bldLst>
  </p:timing>
</p:sld>
</file>

<file path=ppt/slides/slide2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738DC-44E3-415F-846C-13186E7135B2}"/>
              </a:ext>
            </a:extLst>
          </p:cNvPr>
          <p:cNvSpPr>
            <a:spLocks noGrp="1"/>
          </p:cNvSpPr>
          <p:nvPr>
            <p:ph type="title"/>
          </p:nvPr>
        </p:nvSpPr>
        <p:spPr/>
        <p:txBody>
          <a:bodyPr/>
          <a:lstStyle/>
          <a:p>
            <a:r>
              <a:rPr lang="en-GB" dirty="0"/>
              <a:t>Evaluation</a:t>
            </a:r>
          </a:p>
        </p:txBody>
      </p:sp>
      <p:sp>
        <p:nvSpPr>
          <p:cNvPr id="3" name="Text Placeholder 2">
            <a:extLst>
              <a:ext uri="{FF2B5EF4-FFF2-40B4-BE49-F238E27FC236}">
                <a16:creationId xmlns:a16="http://schemas.microsoft.com/office/drawing/2014/main" id="{3B180056-DE92-4068-A9C9-06CC4271B315}"/>
              </a:ext>
            </a:extLst>
          </p:cNvPr>
          <p:cNvSpPr>
            <a:spLocks noGrp="1"/>
          </p:cNvSpPr>
          <p:nvPr>
            <p:ph type="body" idx="1"/>
          </p:nvPr>
        </p:nvSpPr>
        <p:spPr/>
        <p:txBody>
          <a:bodyPr/>
          <a:lstStyle/>
          <a:p>
            <a:r>
              <a:rPr lang="en-GB" dirty="0"/>
              <a:t>Fitness for purpose</a:t>
            </a:r>
          </a:p>
        </p:txBody>
      </p:sp>
      <p:sp>
        <p:nvSpPr>
          <p:cNvPr id="4" name="Content Placeholder 3">
            <a:extLst>
              <a:ext uri="{FF2B5EF4-FFF2-40B4-BE49-F238E27FC236}">
                <a16:creationId xmlns:a16="http://schemas.microsoft.com/office/drawing/2014/main" id="{ECF8A258-5D7E-4EE3-814B-67DD52E72862}"/>
              </a:ext>
            </a:extLst>
          </p:cNvPr>
          <p:cNvSpPr>
            <a:spLocks noGrp="1"/>
          </p:cNvSpPr>
          <p:nvPr>
            <p:ph sz="half" idx="2"/>
          </p:nvPr>
        </p:nvSpPr>
        <p:spPr/>
        <p:txBody>
          <a:bodyPr>
            <a:normAutofit/>
          </a:bodyPr>
          <a:lstStyle/>
          <a:p>
            <a:r>
              <a:rPr lang="en-GB" sz="3600" dirty="0"/>
              <a:t> </a:t>
            </a:r>
          </a:p>
          <a:p>
            <a:pPr lvl="1"/>
            <a:r>
              <a:rPr lang="en-GB" sz="3600" dirty="0"/>
              <a:t> </a:t>
            </a:r>
          </a:p>
          <a:p>
            <a:pPr lvl="1"/>
            <a:r>
              <a:rPr lang="en-GB" sz="3600" dirty="0"/>
              <a:t> </a:t>
            </a:r>
            <a:endParaRPr lang="en-GB" sz="3200" dirty="0"/>
          </a:p>
        </p:txBody>
      </p:sp>
      <p:sp>
        <p:nvSpPr>
          <p:cNvPr id="5" name="Text Placeholder 4">
            <a:extLst>
              <a:ext uri="{FF2B5EF4-FFF2-40B4-BE49-F238E27FC236}">
                <a16:creationId xmlns:a16="http://schemas.microsoft.com/office/drawing/2014/main" id="{2E9184F7-13D0-4D6E-BAF2-5BFD618D3125}"/>
              </a:ext>
            </a:extLst>
          </p:cNvPr>
          <p:cNvSpPr>
            <a:spLocks noGrp="1"/>
          </p:cNvSpPr>
          <p:nvPr>
            <p:ph type="body" sz="quarter" idx="3"/>
          </p:nvPr>
        </p:nvSpPr>
        <p:spPr/>
        <p:txBody>
          <a:bodyPr/>
          <a:lstStyle/>
          <a:p>
            <a:r>
              <a:rPr lang="en-GB" dirty="0"/>
              <a:t>Accuracy of output</a:t>
            </a:r>
          </a:p>
        </p:txBody>
      </p:sp>
      <p:sp>
        <p:nvSpPr>
          <p:cNvPr id="6" name="Content Placeholder 5">
            <a:extLst>
              <a:ext uri="{FF2B5EF4-FFF2-40B4-BE49-F238E27FC236}">
                <a16:creationId xmlns:a16="http://schemas.microsoft.com/office/drawing/2014/main" id="{27C68512-622F-419D-B6CF-F8FEA16C3C08}"/>
              </a:ext>
            </a:extLst>
          </p:cNvPr>
          <p:cNvSpPr>
            <a:spLocks noGrp="1"/>
          </p:cNvSpPr>
          <p:nvPr>
            <p:ph sz="quarter" idx="4"/>
          </p:nvPr>
        </p:nvSpPr>
        <p:spPr/>
        <p:txBody>
          <a:bodyPr>
            <a:normAutofit/>
          </a:bodyPr>
          <a:lstStyle/>
          <a:p>
            <a:r>
              <a:rPr lang="en-GB" sz="3600" dirty="0"/>
              <a:t> </a:t>
            </a:r>
          </a:p>
          <a:p>
            <a:r>
              <a:rPr lang="en-GB" sz="3600" dirty="0"/>
              <a:t> </a:t>
            </a:r>
          </a:p>
        </p:txBody>
      </p:sp>
    </p:spTree>
    <p:extLst>
      <p:ext uri="{BB962C8B-B14F-4D97-AF65-F5344CB8AC3E}">
        <p14:creationId xmlns:p14="http://schemas.microsoft.com/office/powerpoint/2010/main" val="3750724401"/>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B4CC6-6E56-B86A-B5AD-4E6A2C198265}"/>
            </a:ext>
          </a:extLst>
        </p:cNvPr>
        <p:cNvGrpSpPr/>
        <p:nvPr/>
      </p:nvGrpSpPr>
      <p:grpSpPr>
        <a:xfrm>
          <a:off x="0" y="0"/>
          <a:ext cx="0" cy="0"/>
          <a:chOff x="0" y="0"/>
          <a:chExt cx="0" cy="0"/>
        </a:xfrm>
      </p:grpSpPr>
      <p:sp>
        <p:nvSpPr>
          <p:cNvPr id="2" name="Requirement">
            <a:extLst>
              <a:ext uri="{FF2B5EF4-FFF2-40B4-BE49-F238E27FC236}">
                <a16:creationId xmlns:a16="http://schemas.microsoft.com/office/drawing/2014/main" id="{D2B29E7C-45F3-540D-CF4D-E270304FE431}"/>
              </a:ext>
            </a:extLst>
          </p:cNvPr>
          <p:cNvSpPr txBox="1"/>
          <p:nvPr/>
        </p:nvSpPr>
        <p:spPr>
          <a:xfrm>
            <a:off x="341674" y="497506"/>
            <a:ext cx="11508664" cy="400110"/>
          </a:xfrm>
          <a:prstGeom prst="rect">
            <a:avLst/>
          </a:prstGeom>
          <a:noFill/>
        </p:spPr>
        <p:txBody>
          <a:bodyPr wrap="none" rtlCol="0">
            <a:spAutoFit/>
          </a:bodyPr>
          <a:lstStyle/>
          <a:p>
            <a:pPr algn="ctr"/>
            <a:r>
              <a:rPr lang="en-GB" sz="2000" dirty="0"/>
              <a:t>Requirement: select the full name and town of all customers who live in Gourock, alphabetically by surname.</a:t>
            </a:r>
          </a:p>
        </p:txBody>
      </p:sp>
      <p:cxnSp>
        <p:nvCxnSpPr>
          <p:cNvPr id="9" name="Straight Connector 8">
            <a:extLst>
              <a:ext uri="{FF2B5EF4-FFF2-40B4-BE49-F238E27FC236}">
                <a16:creationId xmlns:a16="http://schemas.microsoft.com/office/drawing/2014/main" id="{99F7101C-CF3A-C341-91DD-BB50E622D03A}"/>
              </a:ext>
            </a:extLst>
          </p:cNvPr>
          <p:cNvCxnSpPr>
            <a:cxnSpLocks/>
          </p:cNvCxnSpPr>
          <p:nvPr/>
        </p:nvCxnSpPr>
        <p:spPr>
          <a:xfrm flipH="1">
            <a:off x="6096000" y="1232106"/>
            <a:ext cx="0" cy="504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ACEC5D8-1CFF-F748-AAD7-ADCD7B332DC8}"/>
              </a:ext>
            </a:extLst>
          </p:cNvPr>
          <p:cNvCxnSpPr>
            <a:cxnSpLocks/>
          </p:cNvCxnSpPr>
          <p:nvPr/>
        </p:nvCxnSpPr>
        <p:spPr>
          <a:xfrm flipH="1">
            <a:off x="904281" y="3758938"/>
            <a:ext cx="10440000"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1">
            <a:extLst>
              <a:ext uri="{FF2B5EF4-FFF2-40B4-BE49-F238E27FC236}">
                <a16:creationId xmlns:a16="http://schemas.microsoft.com/office/drawing/2014/main" id="{D089C6CF-CD40-2FBF-B191-A2E216243790}"/>
              </a:ext>
            </a:extLst>
          </p:cNvPr>
          <p:cNvSpPr txBox="1"/>
          <p:nvPr/>
        </p:nvSpPr>
        <p:spPr>
          <a:xfrm>
            <a:off x="5664290" y="3324753"/>
            <a:ext cx="432000" cy="432000"/>
          </a:xfrm>
          <a:prstGeom prst="rect">
            <a:avLst/>
          </a:prstGeom>
          <a:noFill/>
        </p:spPr>
        <p:txBody>
          <a:bodyPr wrap="none" rtlCol="0">
            <a:spAutoFit/>
          </a:bodyPr>
          <a:lstStyle/>
          <a:p>
            <a:pPr algn="ctr"/>
            <a:r>
              <a:rPr lang="en-GB" sz="2400" b="1" dirty="0">
                <a:solidFill>
                  <a:srgbClr val="FF0000"/>
                </a:solidFill>
              </a:rPr>
              <a:t>1</a:t>
            </a:r>
          </a:p>
        </p:txBody>
      </p:sp>
      <p:sp>
        <p:nvSpPr>
          <p:cNvPr id="8" name="2">
            <a:extLst>
              <a:ext uri="{FF2B5EF4-FFF2-40B4-BE49-F238E27FC236}">
                <a16:creationId xmlns:a16="http://schemas.microsoft.com/office/drawing/2014/main" id="{55500A3A-FE1F-F377-521B-AD405C068CBF}"/>
              </a:ext>
            </a:extLst>
          </p:cNvPr>
          <p:cNvSpPr txBox="1"/>
          <p:nvPr/>
        </p:nvSpPr>
        <p:spPr>
          <a:xfrm>
            <a:off x="6105695" y="3324711"/>
            <a:ext cx="432000" cy="432000"/>
          </a:xfrm>
          <a:prstGeom prst="rect">
            <a:avLst/>
          </a:prstGeom>
          <a:noFill/>
        </p:spPr>
        <p:txBody>
          <a:bodyPr wrap="none" rtlCol="0">
            <a:spAutoFit/>
          </a:bodyPr>
          <a:lstStyle/>
          <a:p>
            <a:pPr algn="ctr"/>
            <a:r>
              <a:rPr lang="en-GB" sz="2400" b="1" dirty="0">
                <a:solidFill>
                  <a:srgbClr val="FF0000"/>
                </a:solidFill>
              </a:rPr>
              <a:t>2</a:t>
            </a:r>
          </a:p>
        </p:txBody>
      </p:sp>
      <p:sp>
        <p:nvSpPr>
          <p:cNvPr id="10" name="3">
            <a:extLst>
              <a:ext uri="{FF2B5EF4-FFF2-40B4-BE49-F238E27FC236}">
                <a16:creationId xmlns:a16="http://schemas.microsoft.com/office/drawing/2014/main" id="{EC8B7B36-F48C-AAD6-55C1-8B1A089DBEDA}"/>
              </a:ext>
            </a:extLst>
          </p:cNvPr>
          <p:cNvSpPr txBox="1"/>
          <p:nvPr/>
        </p:nvSpPr>
        <p:spPr>
          <a:xfrm>
            <a:off x="6104542" y="3770510"/>
            <a:ext cx="432000" cy="432000"/>
          </a:xfrm>
          <a:prstGeom prst="rect">
            <a:avLst/>
          </a:prstGeom>
          <a:noFill/>
        </p:spPr>
        <p:txBody>
          <a:bodyPr wrap="none" rtlCol="0">
            <a:spAutoFit/>
          </a:bodyPr>
          <a:lstStyle/>
          <a:p>
            <a:pPr algn="ctr"/>
            <a:r>
              <a:rPr lang="en-GB" sz="2400" b="1" dirty="0">
                <a:solidFill>
                  <a:srgbClr val="FF0000"/>
                </a:solidFill>
              </a:rPr>
              <a:t>3</a:t>
            </a:r>
          </a:p>
        </p:txBody>
      </p:sp>
      <p:sp>
        <p:nvSpPr>
          <p:cNvPr id="12" name="4">
            <a:extLst>
              <a:ext uri="{FF2B5EF4-FFF2-40B4-BE49-F238E27FC236}">
                <a16:creationId xmlns:a16="http://schemas.microsoft.com/office/drawing/2014/main" id="{2A523A75-C4ED-266C-D111-6E20B72C2E33}"/>
              </a:ext>
            </a:extLst>
          </p:cNvPr>
          <p:cNvSpPr txBox="1"/>
          <p:nvPr/>
        </p:nvSpPr>
        <p:spPr>
          <a:xfrm>
            <a:off x="5663849" y="3769365"/>
            <a:ext cx="432000" cy="432000"/>
          </a:xfrm>
          <a:prstGeom prst="rect">
            <a:avLst/>
          </a:prstGeom>
          <a:noFill/>
        </p:spPr>
        <p:txBody>
          <a:bodyPr wrap="none" rtlCol="0">
            <a:spAutoFit/>
          </a:bodyPr>
          <a:lstStyle/>
          <a:p>
            <a:pPr algn="ctr"/>
            <a:r>
              <a:rPr lang="en-GB" sz="2400" b="1" dirty="0">
                <a:solidFill>
                  <a:srgbClr val="FF0000"/>
                </a:solidFill>
              </a:rPr>
              <a:t>4</a:t>
            </a:r>
          </a:p>
        </p:txBody>
      </p:sp>
      <p:sp>
        <p:nvSpPr>
          <p:cNvPr id="13" name="Oval 12">
            <a:extLst>
              <a:ext uri="{FF2B5EF4-FFF2-40B4-BE49-F238E27FC236}">
                <a16:creationId xmlns:a16="http://schemas.microsoft.com/office/drawing/2014/main" id="{28A6FF22-024A-046F-E816-F58997D0927F}"/>
              </a:ext>
            </a:extLst>
          </p:cNvPr>
          <p:cNvSpPr/>
          <p:nvPr/>
        </p:nvSpPr>
        <p:spPr>
          <a:xfrm>
            <a:off x="5556644" y="3213367"/>
            <a:ext cx="1080000" cy="1080000"/>
          </a:xfrm>
          <a:prstGeom prst="ellips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8" name="SQL 4">
            <a:extLst>
              <a:ext uri="{FF2B5EF4-FFF2-40B4-BE49-F238E27FC236}">
                <a16:creationId xmlns:a16="http://schemas.microsoft.com/office/drawing/2014/main" id="{40095B0C-7ADC-4EC6-9C0C-452644888F39}"/>
              </a:ext>
            </a:extLst>
          </p:cNvPr>
          <p:cNvSpPr>
            <a:spLocks noChangeArrowheads="1"/>
          </p:cNvSpPr>
          <p:nvPr/>
        </p:nvSpPr>
        <p:spPr bwMode="auto">
          <a:xfrm>
            <a:off x="1105274" y="4957953"/>
            <a:ext cx="468036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town</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Customer</a:t>
            </a:r>
            <a:br>
              <a:rPr lang="en-US" altLang="en-US" sz="2000" dirty="0">
                <a:solidFill>
                  <a:srgbClr val="000000"/>
                </a:solidFill>
                <a:latin typeface="Consolas" panose="020B0609020204030204" pitchFamily="49" charset="0"/>
              </a:rPr>
            </a:br>
            <a:r>
              <a:rPr lang="en-US" altLang="en-US" sz="2000" dirty="0">
                <a:solidFill>
                  <a:srgbClr val="B2B2B2"/>
                </a:solidFill>
                <a:latin typeface="Consolas" panose="020B0609020204030204" pitchFamily="49" charset="0"/>
              </a:rPr>
              <a:t>3     </a:t>
            </a:r>
            <a:r>
              <a:rPr lang="en-US" altLang="en-US" sz="2000" dirty="0">
                <a:solidFill>
                  <a:srgbClr val="A71D5D"/>
                </a:solidFill>
                <a:latin typeface="Consolas" panose="020B0609020204030204" pitchFamily="49" charset="0"/>
              </a:rPr>
              <a:t>WHERE </a:t>
            </a:r>
            <a:r>
              <a:rPr lang="en-US" altLang="en-US" sz="2000" dirty="0">
                <a:solidFill>
                  <a:srgbClr val="000000"/>
                </a:solidFill>
                <a:latin typeface="Consolas" panose="020B0609020204030204" pitchFamily="49" charset="0"/>
              </a:rPr>
              <a:t>town = </a:t>
            </a:r>
            <a:r>
              <a:rPr lang="en-US" altLang="en-US" sz="2000" dirty="0">
                <a:solidFill>
                  <a:srgbClr val="183691"/>
                </a:solidFill>
                <a:latin typeface="Consolas" panose="020B0609020204030204" pitchFamily="49" charset="0"/>
              </a:rPr>
              <a:t>"Gourock"</a:t>
            </a:r>
            <a:br>
              <a:rPr lang="en-US" altLang="en-US" sz="2000" dirty="0">
                <a:solidFill>
                  <a:srgbClr val="000000"/>
                </a:solidFill>
                <a:latin typeface="Consolas" panose="020B0609020204030204" pitchFamily="49" charset="0"/>
              </a:rPr>
            </a:br>
            <a:r>
              <a:rPr lang="en-US" altLang="en-US" sz="2000" dirty="0">
                <a:solidFill>
                  <a:srgbClr val="B2B2B2"/>
                </a:solidFill>
                <a:latin typeface="Consolas" panose="020B0609020204030204" pitchFamily="49" charset="0"/>
              </a:rPr>
              <a:t>4     </a:t>
            </a:r>
            <a:r>
              <a:rPr lang="en-US" altLang="en-US" sz="2000" dirty="0">
                <a:solidFill>
                  <a:srgbClr val="A71D5D"/>
                </a:solidFill>
                <a:latin typeface="Consolas" panose="020B0609020204030204" pitchFamily="49" charset="0"/>
              </a:rPr>
              <a:t>ORDER BY</a:t>
            </a:r>
            <a:r>
              <a:rPr lang="en-US" altLang="en-US" sz="2000" dirty="0">
                <a:solidFill>
                  <a:srgbClr val="000000"/>
                </a:solidFill>
                <a:latin typeface="Consolas" panose="020B0609020204030204" pitchFamily="49" charset="0"/>
              </a:rPr>
              <a:t> surname </a:t>
            </a:r>
            <a:r>
              <a:rPr lang="en-US" altLang="en-US" sz="2000" dirty="0">
                <a:solidFill>
                  <a:srgbClr val="A71D5D"/>
                </a:solidFill>
                <a:latin typeface="Consolas" panose="020B0609020204030204" pitchFamily="49" charset="0"/>
              </a:rPr>
              <a:t>ASC</a:t>
            </a:r>
            <a:r>
              <a:rPr lang="en-US" altLang="en-US" sz="2000" dirty="0">
                <a:solidFill>
                  <a:srgbClr val="000000"/>
                </a:solidFill>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6" name="Result 4">
            <a:extLst>
              <a:ext uri="{FF2B5EF4-FFF2-40B4-BE49-F238E27FC236}">
                <a16:creationId xmlns:a16="http://schemas.microsoft.com/office/drawing/2014/main" id="{F59E996A-1250-C409-9FD8-DA2DDEB6EF22}"/>
              </a:ext>
            </a:extLst>
          </p:cNvPr>
          <p:cNvSpPr>
            <a:spLocks noChangeArrowheads="1"/>
          </p:cNvSpPr>
          <p:nvPr/>
        </p:nvSpPr>
        <p:spPr bwMode="auto">
          <a:xfrm>
            <a:off x="1105274" y="4043553"/>
            <a:ext cx="468036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Fit for purpose: Yes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cs typeface="Calibri" panose="020F0502020204030204" pitchFamily="34" charset="0"/>
              </a:rPr>
              <a:t>Accuracy of output: No</a:t>
            </a:r>
          </a:p>
        </p:txBody>
      </p:sp>
      <p:sp>
        <p:nvSpPr>
          <p:cNvPr id="17" name="SQL 3">
            <a:extLst>
              <a:ext uri="{FF2B5EF4-FFF2-40B4-BE49-F238E27FC236}">
                <a16:creationId xmlns:a16="http://schemas.microsoft.com/office/drawing/2014/main" id="{0D71452E-0D77-478C-A19C-ECF33FA17695}"/>
              </a:ext>
            </a:extLst>
          </p:cNvPr>
          <p:cNvSpPr>
            <a:spLocks noChangeArrowheads="1"/>
          </p:cNvSpPr>
          <p:nvPr/>
        </p:nvSpPr>
        <p:spPr bwMode="auto">
          <a:xfrm>
            <a:off x="6712817" y="4961521"/>
            <a:ext cx="468037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 town</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Customer</a:t>
            </a:r>
            <a:br>
              <a:rPr lang="en-US" altLang="en-US" sz="2000" dirty="0">
                <a:solidFill>
                  <a:srgbClr val="000000"/>
                </a:solidFill>
                <a:latin typeface="Consolas" panose="020B0609020204030204" pitchFamily="49" charset="0"/>
              </a:rPr>
            </a:br>
            <a:r>
              <a:rPr lang="en-US" altLang="en-US" sz="2000" dirty="0">
                <a:solidFill>
                  <a:srgbClr val="B2B2B2"/>
                </a:solidFill>
                <a:latin typeface="Consolas" panose="020B0609020204030204" pitchFamily="49" charset="0"/>
              </a:rPr>
              <a:t>3     </a:t>
            </a:r>
            <a:r>
              <a:rPr lang="en-US" altLang="en-US" sz="2000" dirty="0">
                <a:solidFill>
                  <a:srgbClr val="A71D5D"/>
                </a:solidFill>
                <a:latin typeface="Consolas" panose="020B0609020204030204" pitchFamily="49" charset="0"/>
              </a:rPr>
              <a:t>WHERE </a:t>
            </a:r>
            <a:r>
              <a:rPr lang="en-US" altLang="en-US" sz="2000" dirty="0">
                <a:solidFill>
                  <a:srgbClr val="000000"/>
                </a:solidFill>
                <a:latin typeface="Consolas" panose="020B0609020204030204" pitchFamily="49" charset="0"/>
              </a:rPr>
              <a:t>town = </a:t>
            </a:r>
            <a:r>
              <a:rPr lang="en-US" altLang="en-US" sz="2000" dirty="0">
                <a:solidFill>
                  <a:srgbClr val="183691"/>
                </a:solidFill>
                <a:latin typeface="Consolas" panose="020B0609020204030204" pitchFamily="49" charset="0"/>
              </a:rPr>
              <a:t>"Glasgow"</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4     </a:t>
            </a:r>
            <a:r>
              <a:rPr kumimoji="0" lang="en-US" altLang="en-US" sz="2000" b="0" i="0" u="none" strike="noStrike" cap="none" normalizeH="0" baseline="0" dirty="0">
                <a:ln>
                  <a:noFill/>
                </a:ln>
                <a:solidFill>
                  <a:srgbClr val="A71D5D"/>
                </a:solidFill>
                <a:effectLst/>
                <a:latin typeface="Consolas" panose="020B0609020204030204" pitchFamily="49" charset="0"/>
              </a:rPr>
              <a:t>ORDER BY</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 </a:t>
            </a:r>
            <a:r>
              <a:rPr lang="en-US" altLang="en-US" sz="2000" dirty="0">
                <a:solidFill>
                  <a:srgbClr val="A71D5D"/>
                </a:solidFill>
                <a:latin typeface="Consolas" panose="020B0609020204030204" pitchFamily="49" charset="0"/>
              </a:rPr>
              <a:t>ASC</a:t>
            </a:r>
            <a:r>
              <a:rPr lang="en-US" altLang="en-US" sz="2000" dirty="0">
                <a:solidFill>
                  <a:srgbClr val="000000"/>
                </a:solidFill>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5" name="Result 3">
            <a:extLst>
              <a:ext uri="{FF2B5EF4-FFF2-40B4-BE49-F238E27FC236}">
                <a16:creationId xmlns:a16="http://schemas.microsoft.com/office/drawing/2014/main" id="{ED1DB20E-1101-8E35-71D5-F6608F1564F5}"/>
              </a:ext>
            </a:extLst>
          </p:cNvPr>
          <p:cNvSpPr>
            <a:spLocks noChangeArrowheads="1"/>
          </p:cNvSpPr>
          <p:nvPr/>
        </p:nvSpPr>
        <p:spPr bwMode="auto">
          <a:xfrm>
            <a:off x="6712817" y="4047121"/>
            <a:ext cx="468037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Fit for purpose: No</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cs typeface="Calibri" panose="020F0502020204030204" pitchFamily="34" charset="0"/>
              </a:rPr>
              <a:t>Accuracy of output: No</a:t>
            </a:r>
          </a:p>
        </p:txBody>
      </p:sp>
      <p:sp>
        <p:nvSpPr>
          <p:cNvPr id="16" name="SQL 2">
            <a:extLst>
              <a:ext uri="{FF2B5EF4-FFF2-40B4-BE49-F238E27FC236}">
                <a16:creationId xmlns:a16="http://schemas.microsoft.com/office/drawing/2014/main" id="{ED42CE84-7DCB-4264-AA46-6C90335BA14F}"/>
              </a:ext>
            </a:extLst>
          </p:cNvPr>
          <p:cNvSpPr>
            <a:spLocks noChangeArrowheads="1"/>
          </p:cNvSpPr>
          <p:nvPr/>
        </p:nvSpPr>
        <p:spPr bwMode="auto">
          <a:xfrm>
            <a:off x="6712809" y="2096630"/>
            <a:ext cx="468037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 </a:t>
            </a:r>
            <a:r>
              <a:rPr lang="en-US" altLang="en-US" sz="2000" dirty="0">
                <a:solidFill>
                  <a:srgbClr val="000000"/>
                </a:solidFill>
                <a:latin typeface="Consolas" panose="020B0609020204030204" pitchFamily="49" charset="0"/>
              </a:rPr>
              <a:t>forename</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a:t>
            </a:r>
            <a:r>
              <a:rPr kumimoji="0" lang="en-US" altLang="en-US" sz="2000" b="0" i="0" u="none" strike="noStrike" cap="none" normalizeH="0" baseline="0" dirty="0">
                <a:ln>
                  <a:noFill/>
                </a:ln>
                <a:solidFill>
                  <a:srgbClr val="000000"/>
                </a:solidFill>
                <a:effectLst/>
                <a:latin typeface="Consolas" panose="020B0609020204030204" pitchFamily="49" charset="0"/>
              </a:rPr>
              <a:t>, town</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Customer</a:t>
            </a:r>
            <a:br>
              <a:rPr lang="en-US" altLang="en-US" sz="2000" dirty="0">
                <a:solidFill>
                  <a:srgbClr val="000000"/>
                </a:solidFill>
                <a:latin typeface="Consolas" panose="020B0609020204030204" pitchFamily="49" charset="0"/>
              </a:rPr>
            </a:br>
            <a:r>
              <a:rPr lang="en-US" altLang="en-US" sz="2000" dirty="0">
                <a:solidFill>
                  <a:srgbClr val="B2B2B2"/>
                </a:solidFill>
                <a:latin typeface="Consolas" panose="020B0609020204030204" pitchFamily="49" charset="0"/>
              </a:rPr>
              <a:t>3     </a:t>
            </a:r>
            <a:r>
              <a:rPr lang="en-US" altLang="en-US" sz="2000" dirty="0">
                <a:solidFill>
                  <a:srgbClr val="A71D5D"/>
                </a:solidFill>
                <a:latin typeface="Consolas" panose="020B0609020204030204" pitchFamily="49" charset="0"/>
              </a:rPr>
              <a:t>WHERE </a:t>
            </a:r>
            <a:r>
              <a:rPr lang="en-US" altLang="en-US" sz="2000" dirty="0">
                <a:solidFill>
                  <a:srgbClr val="000000"/>
                </a:solidFill>
                <a:latin typeface="Consolas" panose="020B0609020204030204" pitchFamily="49" charset="0"/>
              </a:rPr>
              <a:t>town = </a:t>
            </a:r>
            <a:r>
              <a:rPr lang="en-US" altLang="en-US" sz="2000" dirty="0">
                <a:solidFill>
                  <a:srgbClr val="183691"/>
                </a:solidFill>
                <a:latin typeface="Consolas" panose="020B0609020204030204" pitchFamily="49" charset="0"/>
              </a:rPr>
              <a:t>"Gourock"</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4     </a:t>
            </a:r>
            <a:r>
              <a:rPr kumimoji="0" lang="en-US" altLang="en-US" sz="2000" b="0" i="0" u="none" strike="noStrike" cap="none" normalizeH="0" baseline="0" dirty="0">
                <a:ln>
                  <a:noFill/>
                </a:ln>
                <a:solidFill>
                  <a:srgbClr val="A71D5D"/>
                </a:solidFill>
                <a:effectLst/>
                <a:latin typeface="Consolas" panose="020B0609020204030204" pitchFamily="49" charset="0"/>
              </a:rPr>
              <a:t>ORDER BY</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 </a:t>
            </a:r>
            <a:r>
              <a:rPr lang="en-US" altLang="en-US" sz="2000" dirty="0">
                <a:solidFill>
                  <a:srgbClr val="A71D5D"/>
                </a:solidFill>
                <a:latin typeface="Consolas" panose="020B0609020204030204" pitchFamily="49" charset="0"/>
              </a:rPr>
              <a:t>DESC</a:t>
            </a:r>
            <a:r>
              <a:rPr lang="en-US" altLang="en-US" sz="2000" dirty="0">
                <a:solidFill>
                  <a:srgbClr val="000000"/>
                </a:solidFill>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7" name="Result 2">
            <a:extLst>
              <a:ext uri="{FF2B5EF4-FFF2-40B4-BE49-F238E27FC236}">
                <a16:creationId xmlns:a16="http://schemas.microsoft.com/office/drawing/2014/main" id="{94109815-3832-2453-0AC6-5359CBADAAE9}"/>
              </a:ext>
            </a:extLst>
          </p:cNvPr>
          <p:cNvSpPr>
            <a:spLocks noChangeArrowheads="1"/>
          </p:cNvSpPr>
          <p:nvPr/>
        </p:nvSpPr>
        <p:spPr bwMode="auto">
          <a:xfrm>
            <a:off x="6712809" y="1182230"/>
            <a:ext cx="468037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Fit for purpose: No</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cs typeface="Calibri" panose="020F0502020204030204" pitchFamily="34" charset="0"/>
              </a:rPr>
              <a:t>Accuracy of output: Yes</a:t>
            </a:r>
          </a:p>
        </p:txBody>
      </p:sp>
      <p:sp>
        <p:nvSpPr>
          <p:cNvPr id="15" name="SQL 1">
            <a:extLst>
              <a:ext uri="{FF2B5EF4-FFF2-40B4-BE49-F238E27FC236}">
                <a16:creationId xmlns:a16="http://schemas.microsoft.com/office/drawing/2014/main" id="{A0C9E759-9E8E-4752-B040-B3FBC911D267}"/>
              </a:ext>
            </a:extLst>
          </p:cNvPr>
          <p:cNvSpPr>
            <a:spLocks noChangeArrowheads="1"/>
          </p:cNvSpPr>
          <p:nvPr/>
        </p:nvSpPr>
        <p:spPr bwMode="auto">
          <a:xfrm>
            <a:off x="1105740" y="2099120"/>
            <a:ext cx="468038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 </a:t>
            </a:r>
            <a:r>
              <a:rPr lang="en-US" altLang="en-US" sz="2000" dirty="0">
                <a:solidFill>
                  <a:srgbClr val="000000"/>
                </a:solidFill>
                <a:latin typeface="Consolas" panose="020B0609020204030204" pitchFamily="49" charset="0"/>
              </a:rPr>
              <a:t>forename</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a:t>
            </a:r>
            <a:r>
              <a:rPr kumimoji="0" lang="en-US" altLang="en-US" sz="2000" b="0" i="0" u="none" strike="noStrike" cap="none" normalizeH="0" baseline="0" dirty="0">
                <a:ln>
                  <a:noFill/>
                </a:ln>
                <a:solidFill>
                  <a:srgbClr val="000000"/>
                </a:solidFill>
                <a:effectLst/>
                <a:latin typeface="Consolas" panose="020B0609020204030204" pitchFamily="49" charset="0"/>
              </a:rPr>
              <a:t>, town</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C</a:t>
            </a:r>
            <a:r>
              <a:rPr kumimoji="0" lang="en-US" altLang="en-US" sz="2000" b="0" i="0" u="none" strike="noStrike" cap="none" normalizeH="0" baseline="0" dirty="0">
                <a:ln>
                  <a:noFill/>
                </a:ln>
                <a:solidFill>
                  <a:srgbClr val="000000"/>
                </a:solidFill>
                <a:effectLst/>
                <a:latin typeface="Consolas" panose="020B0609020204030204" pitchFamily="49" charset="0"/>
              </a:rPr>
              <a:t>ustomer</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3     </a:t>
            </a:r>
            <a:r>
              <a:rPr kumimoji="0" lang="en-US" altLang="en-US" sz="2000" b="0" i="0" u="none" strike="noStrike" cap="none" normalizeH="0" baseline="0" dirty="0">
                <a:ln>
                  <a:noFill/>
                </a:ln>
                <a:solidFill>
                  <a:srgbClr val="A71D5D"/>
                </a:solidFill>
                <a:effectLst/>
                <a:latin typeface="Consolas" panose="020B0609020204030204" pitchFamily="49" charset="0"/>
              </a:rPr>
              <a:t>WHERE </a:t>
            </a:r>
            <a:r>
              <a:rPr lang="en-US" altLang="en-US" sz="2000" dirty="0">
                <a:solidFill>
                  <a:srgbClr val="000000"/>
                </a:solidFill>
                <a:latin typeface="Consolas" panose="020B0609020204030204" pitchFamily="49" charset="0"/>
              </a:rPr>
              <a:t>town </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183691"/>
                </a:solidFill>
                <a:effectLst/>
                <a:latin typeface="Consolas" panose="020B0609020204030204" pitchFamily="49" charset="0"/>
              </a:rPr>
              <a:t>"</a:t>
            </a:r>
            <a:r>
              <a:rPr lang="en-US" altLang="en-US" sz="2000" dirty="0">
                <a:solidFill>
                  <a:srgbClr val="183691"/>
                </a:solidFill>
                <a:latin typeface="Consolas" panose="020B0609020204030204" pitchFamily="49" charset="0"/>
              </a:rPr>
              <a:t>Gourock</a:t>
            </a:r>
            <a:r>
              <a:rPr kumimoji="0" lang="en-US" altLang="en-US" sz="2000" b="0" i="0" u="none" strike="noStrike" cap="none" normalizeH="0" baseline="0" dirty="0">
                <a:ln>
                  <a:noFill/>
                </a:ln>
                <a:solidFill>
                  <a:srgbClr val="183691"/>
                </a:solidFill>
                <a:effectLst/>
                <a:latin typeface="Consolas" panose="020B0609020204030204" pitchFamily="49" charset="0"/>
              </a:rPr>
              <a:t>"</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4     </a:t>
            </a:r>
            <a:r>
              <a:rPr kumimoji="0" lang="en-US" altLang="en-US" sz="2000" b="0" i="0" u="none" strike="noStrike" cap="none" normalizeH="0" baseline="0" dirty="0">
                <a:ln>
                  <a:noFill/>
                </a:ln>
                <a:solidFill>
                  <a:srgbClr val="A71D5D"/>
                </a:solidFill>
                <a:effectLst/>
                <a:latin typeface="Consolas" panose="020B0609020204030204" pitchFamily="49" charset="0"/>
              </a:rPr>
              <a:t>ORDER BY</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A71D5D"/>
                </a:solidFill>
                <a:latin typeface="Consolas" panose="020B0609020204030204" pitchFamily="49" charset="0"/>
              </a:rPr>
              <a:t>A</a:t>
            </a:r>
            <a:r>
              <a:rPr kumimoji="0" lang="en-US" altLang="en-US" sz="2000" b="0" i="0" u="none" strike="noStrike" cap="none" normalizeH="0" baseline="0" dirty="0">
                <a:ln>
                  <a:noFill/>
                </a:ln>
                <a:solidFill>
                  <a:srgbClr val="A71D5D"/>
                </a:solidFill>
                <a:effectLst/>
                <a:latin typeface="Consolas" panose="020B0609020204030204" pitchFamily="49" charset="0"/>
              </a:rPr>
              <a:t>SC</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4" name="Result 1">
            <a:extLst>
              <a:ext uri="{FF2B5EF4-FFF2-40B4-BE49-F238E27FC236}">
                <a16:creationId xmlns:a16="http://schemas.microsoft.com/office/drawing/2014/main" id="{7FEE9E88-6A1A-DF2B-6422-FF70A9624CC8}"/>
              </a:ext>
            </a:extLst>
          </p:cNvPr>
          <p:cNvSpPr>
            <a:spLocks noChangeArrowheads="1"/>
          </p:cNvSpPr>
          <p:nvPr/>
        </p:nvSpPr>
        <p:spPr bwMode="auto">
          <a:xfrm>
            <a:off x="1105274" y="1182231"/>
            <a:ext cx="468038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Fit for purpose: Yes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cs typeface="Calibri" panose="020F0502020204030204" pitchFamily="34" charset="0"/>
              </a:rPr>
              <a:t>Accuracy of output: Yes</a:t>
            </a:r>
          </a:p>
        </p:txBody>
      </p:sp>
    </p:spTree>
    <p:extLst>
      <p:ext uri="{BB962C8B-B14F-4D97-AF65-F5344CB8AC3E}">
        <p14:creationId xmlns:p14="http://schemas.microsoft.com/office/powerpoint/2010/main" val="317320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2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2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2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1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1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1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6" grpId="0"/>
      <p:bldP spid="17" grpId="0"/>
      <p:bldP spid="5" grpId="0"/>
      <p:bldP spid="16" grpId="0"/>
      <p:bldP spid="7" grpId="0"/>
      <p:bldP spid="15" grpId="0"/>
      <p:bldP spid="4" grpId="0"/>
    </p:bldLst>
  </p:timing>
</p:sld>
</file>

<file path=ppt/slides/slide20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26B4CC6-6E56-B86A-B5AD-4E6A2C198265}"/>
            </a:ext>
          </a:extLst>
        </p:cNvPr>
        <p:cNvGrpSpPr/>
        <p:nvPr/>
      </p:nvGrpSpPr>
      <p:grpSpPr>
        <a:xfrm>
          <a:off x="0" y="0"/>
          <a:ext cx="0" cy="0"/>
          <a:chOff x="0" y="0"/>
          <a:chExt cx="0" cy="0"/>
        </a:xfrm>
      </p:grpSpPr>
      <p:sp>
        <p:nvSpPr>
          <p:cNvPr id="2" name="Requirement">
            <a:extLst>
              <a:ext uri="{FF2B5EF4-FFF2-40B4-BE49-F238E27FC236}">
                <a16:creationId xmlns:a16="http://schemas.microsoft.com/office/drawing/2014/main" id="{D2B29E7C-45F3-540D-CF4D-E270304FE431}"/>
              </a:ext>
            </a:extLst>
          </p:cNvPr>
          <p:cNvSpPr txBox="1"/>
          <p:nvPr/>
        </p:nvSpPr>
        <p:spPr>
          <a:xfrm>
            <a:off x="341674" y="497506"/>
            <a:ext cx="11508664" cy="400110"/>
          </a:xfrm>
          <a:prstGeom prst="rect">
            <a:avLst/>
          </a:prstGeom>
          <a:noFill/>
        </p:spPr>
        <p:txBody>
          <a:bodyPr wrap="none" rtlCol="0">
            <a:spAutoFit/>
          </a:bodyPr>
          <a:lstStyle/>
          <a:p>
            <a:pPr algn="ctr"/>
            <a:r>
              <a:rPr lang="en-GB" sz="2000" dirty="0"/>
              <a:t>Requirement: select the full name and town of all customers who live in Gourock, alphabetically by surname.</a:t>
            </a:r>
          </a:p>
        </p:txBody>
      </p:sp>
      <p:cxnSp>
        <p:nvCxnSpPr>
          <p:cNvPr id="9" name="Straight Connector 8">
            <a:extLst>
              <a:ext uri="{FF2B5EF4-FFF2-40B4-BE49-F238E27FC236}">
                <a16:creationId xmlns:a16="http://schemas.microsoft.com/office/drawing/2014/main" id="{99F7101C-CF3A-C341-91DD-BB50E622D03A}"/>
              </a:ext>
            </a:extLst>
          </p:cNvPr>
          <p:cNvCxnSpPr>
            <a:cxnSpLocks/>
          </p:cNvCxnSpPr>
          <p:nvPr/>
        </p:nvCxnSpPr>
        <p:spPr>
          <a:xfrm flipH="1">
            <a:off x="6096000" y="1232106"/>
            <a:ext cx="0" cy="504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ACEC5D8-1CFF-F748-AAD7-ADCD7B332DC8}"/>
              </a:ext>
            </a:extLst>
          </p:cNvPr>
          <p:cNvCxnSpPr>
            <a:cxnSpLocks/>
          </p:cNvCxnSpPr>
          <p:nvPr/>
        </p:nvCxnSpPr>
        <p:spPr>
          <a:xfrm flipH="1">
            <a:off x="904281" y="3758938"/>
            <a:ext cx="10440000"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1">
            <a:extLst>
              <a:ext uri="{FF2B5EF4-FFF2-40B4-BE49-F238E27FC236}">
                <a16:creationId xmlns:a16="http://schemas.microsoft.com/office/drawing/2014/main" id="{D089C6CF-CD40-2FBF-B191-A2E216243790}"/>
              </a:ext>
            </a:extLst>
          </p:cNvPr>
          <p:cNvSpPr txBox="1"/>
          <p:nvPr/>
        </p:nvSpPr>
        <p:spPr>
          <a:xfrm>
            <a:off x="5664290" y="3324753"/>
            <a:ext cx="432000" cy="432000"/>
          </a:xfrm>
          <a:prstGeom prst="rect">
            <a:avLst/>
          </a:prstGeom>
          <a:noFill/>
        </p:spPr>
        <p:txBody>
          <a:bodyPr wrap="none" rtlCol="0">
            <a:spAutoFit/>
          </a:bodyPr>
          <a:lstStyle/>
          <a:p>
            <a:pPr algn="ctr"/>
            <a:r>
              <a:rPr lang="en-GB" sz="2400" b="1" dirty="0">
                <a:solidFill>
                  <a:srgbClr val="FF0000"/>
                </a:solidFill>
              </a:rPr>
              <a:t>1</a:t>
            </a:r>
          </a:p>
        </p:txBody>
      </p:sp>
      <p:sp>
        <p:nvSpPr>
          <p:cNvPr id="8" name="2">
            <a:extLst>
              <a:ext uri="{FF2B5EF4-FFF2-40B4-BE49-F238E27FC236}">
                <a16:creationId xmlns:a16="http://schemas.microsoft.com/office/drawing/2014/main" id="{55500A3A-FE1F-F377-521B-AD405C068CBF}"/>
              </a:ext>
            </a:extLst>
          </p:cNvPr>
          <p:cNvSpPr txBox="1"/>
          <p:nvPr/>
        </p:nvSpPr>
        <p:spPr>
          <a:xfrm>
            <a:off x="6105695" y="3324711"/>
            <a:ext cx="432000" cy="432000"/>
          </a:xfrm>
          <a:prstGeom prst="rect">
            <a:avLst/>
          </a:prstGeom>
          <a:noFill/>
        </p:spPr>
        <p:txBody>
          <a:bodyPr wrap="none" rtlCol="0">
            <a:spAutoFit/>
          </a:bodyPr>
          <a:lstStyle/>
          <a:p>
            <a:pPr algn="ctr"/>
            <a:r>
              <a:rPr lang="en-GB" sz="2400" b="1" dirty="0">
                <a:solidFill>
                  <a:srgbClr val="FF0000"/>
                </a:solidFill>
              </a:rPr>
              <a:t>2</a:t>
            </a:r>
          </a:p>
        </p:txBody>
      </p:sp>
      <p:sp>
        <p:nvSpPr>
          <p:cNvPr id="10" name="3">
            <a:extLst>
              <a:ext uri="{FF2B5EF4-FFF2-40B4-BE49-F238E27FC236}">
                <a16:creationId xmlns:a16="http://schemas.microsoft.com/office/drawing/2014/main" id="{EC8B7B36-F48C-AAD6-55C1-8B1A089DBEDA}"/>
              </a:ext>
            </a:extLst>
          </p:cNvPr>
          <p:cNvSpPr txBox="1"/>
          <p:nvPr/>
        </p:nvSpPr>
        <p:spPr>
          <a:xfrm>
            <a:off x="6104542" y="3770510"/>
            <a:ext cx="432000" cy="432000"/>
          </a:xfrm>
          <a:prstGeom prst="rect">
            <a:avLst/>
          </a:prstGeom>
          <a:noFill/>
        </p:spPr>
        <p:txBody>
          <a:bodyPr wrap="none" rtlCol="0">
            <a:spAutoFit/>
          </a:bodyPr>
          <a:lstStyle/>
          <a:p>
            <a:pPr algn="ctr"/>
            <a:r>
              <a:rPr lang="en-GB" sz="2400" b="1" dirty="0">
                <a:solidFill>
                  <a:srgbClr val="FF0000"/>
                </a:solidFill>
              </a:rPr>
              <a:t>3</a:t>
            </a:r>
          </a:p>
        </p:txBody>
      </p:sp>
      <p:sp>
        <p:nvSpPr>
          <p:cNvPr id="12" name="4">
            <a:extLst>
              <a:ext uri="{FF2B5EF4-FFF2-40B4-BE49-F238E27FC236}">
                <a16:creationId xmlns:a16="http://schemas.microsoft.com/office/drawing/2014/main" id="{2A523A75-C4ED-266C-D111-6E20B72C2E33}"/>
              </a:ext>
            </a:extLst>
          </p:cNvPr>
          <p:cNvSpPr txBox="1"/>
          <p:nvPr/>
        </p:nvSpPr>
        <p:spPr>
          <a:xfrm>
            <a:off x="5663849" y="3769365"/>
            <a:ext cx="432000" cy="432000"/>
          </a:xfrm>
          <a:prstGeom prst="rect">
            <a:avLst/>
          </a:prstGeom>
          <a:noFill/>
        </p:spPr>
        <p:txBody>
          <a:bodyPr wrap="none" rtlCol="0">
            <a:spAutoFit/>
          </a:bodyPr>
          <a:lstStyle/>
          <a:p>
            <a:pPr algn="ctr"/>
            <a:r>
              <a:rPr lang="en-GB" sz="2400" b="1" dirty="0">
                <a:solidFill>
                  <a:srgbClr val="FF0000"/>
                </a:solidFill>
              </a:rPr>
              <a:t>4</a:t>
            </a:r>
          </a:p>
        </p:txBody>
      </p:sp>
      <p:sp>
        <p:nvSpPr>
          <p:cNvPr id="13" name="Oval 12">
            <a:extLst>
              <a:ext uri="{FF2B5EF4-FFF2-40B4-BE49-F238E27FC236}">
                <a16:creationId xmlns:a16="http://schemas.microsoft.com/office/drawing/2014/main" id="{28A6FF22-024A-046F-E816-F58997D0927F}"/>
              </a:ext>
            </a:extLst>
          </p:cNvPr>
          <p:cNvSpPr/>
          <p:nvPr/>
        </p:nvSpPr>
        <p:spPr>
          <a:xfrm>
            <a:off x="5556644" y="3213367"/>
            <a:ext cx="1080000" cy="1080000"/>
          </a:xfrm>
          <a:prstGeom prst="ellips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8" name="SQL 4">
            <a:extLst>
              <a:ext uri="{FF2B5EF4-FFF2-40B4-BE49-F238E27FC236}">
                <a16:creationId xmlns:a16="http://schemas.microsoft.com/office/drawing/2014/main" id="{40095B0C-7ADC-4EC6-9C0C-452644888F39}"/>
              </a:ext>
            </a:extLst>
          </p:cNvPr>
          <p:cNvSpPr>
            <a:spLocks noChangeArrowheads="1"/>
          </p:cNvSpPr>
          <p:nvPr/>
        </p:nvSpPr>
        <p:spPr bwMode="auto">
          <a:xfrm>
            <a:off x="1105274" y="4957953"/>
            <a:ext cx="468036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town</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Customer</a:t>
            </a:r>
            <a:br>
              <a:rPr lang="en-US" altLang="en-US" sz="2000" dirty="0">
                <a:solidFill>
                  <a:srgbClr val="000000"/>
                </a:solidFill>
                <a:latin typeface="Consolas" panose="020B0609020204030204" pitchFamily="49" charset="0"/>
              </a:rPr>
            </a:br>
            <a:r>
              <a:rPr lang="en-US" altLang="en-US" sz="2000" dirty="0">
                <a:solidFill>
                  <a:srgbClr val="B2B2B2"/>
                </a:solidFill>
                <a:latin typeface="Consolas" panose="020B0609020204030204" pitchFamily="49" charset="0"/>
              </a:rPr>
              <a:t>3     </a:t>
            </a:r>
            <a:r>
              <a:rPr lang="en-US" altLang="en-US" sz="2000" dirty="0">
                <a:solidFill>
                  <a:srgbClr val="A71D5D"/>
                </a:solidFill>
                <a:latin typeface="Consolas" panose="020B0609020204030204" pitchFamily="49" charset="0"/>
              </a:rPr>
              <a:t>WHERE </a:t>
            </a:r>
            <a:r>
              <a:rPr lang="en-US" altLang="en-US" sz="2000" dirty="0">
                <a:solidFill>
                  <a:srgbClr val="000000"/>
                </a:solidFill>
                <a:latin typeface="Consolas" panose="020B0609020204030204" pitchFamily="49" charset="0"/>
              </a:rPr>
              <a:t>town = </a:t>
            </a:r>
            <a:r>
              <a:rPr lang="en-US" altLang="en-US" sz="2000" dirty="0">
                <a:solidFill>
                  <a:srgbClr val="183691"/>
                </a:solidFill>
                <a:latin typeface="Consolas" panose="020B0609020204030204" pitchFamily="49" charset="0"/>
              </a:rPr>
              <a:t>"Gourock"</a:t>
            </a:r>
            <a:br>
              <a:rPr lang="en-US" altLang="en-US" sz="2000" dirty="0">
                <a:solidFill>
                  <a:srgbClr val="000000"/>
                </a:solidFill>
                <a:latin typeface="Consolas" panose="020B0609020204030204" pitchFamily="49" charset="0"/>
              </a:rPr>
            </a:br>
            <a:r>
              <a:rPr lang="en-US" altLang="en-US" sz="2000" dirty="0">
                <a:solidFill>
                  <a:srgbClr val="B2B2B2"/>
                </a:solidFill>
                <a:latin typeface="Consolas" panose="020B0609020204030204" pitchFamily="49" charset="0"/>
              </a:rPr>
              <a:t>4     </a:t>
            </a:r>
            <a:r>
              <a:rPr lang="en-US" altLang="en-US" sz="2000" dirty="0">
                <a:solidFill>
                  <a:srgbClr val="A71D5D"/>
                </a:solidFill>
                <a:latin typeface="Consolas" panose="020B0609020204030204" pitchFamily="49" charset="0"/>
              </a:rPr>
              <a:t>ORDER BY</a:t>
            </a:r>
            <a:r>
              <a:rPr lang="en-US" altLang="en-US" sz="2000" dirty="0">
                <a:solidFill>
                  <a:srgbClr val="000000"/>
                </a:solidFill>
                <a:latin typeface="Consolas" panose="020B0609020204030204" pitchFamily="49" charset="0"/>
              </a:rPr>
              <a:t> surname </a:t>
            </a:r>
            <a:r>
              <a:rPr lang="en-US" altLang="en-US" sz="2000" dirty="0">
                <a:solidFill>
                  <a:srgbClr val="A71D5D"/>
                </a:solidFill>
                <a:latin typeface="Consolas" panose="020B0609020204030204" pitchFamily="49" charset="0"/>
              </a:rPr>
              <a:t>ASC</a:t>
            </a:r>
            <a:r>
              <a:rPr lang="en-US" altLang="en-US" sz="2000" dirty="0">
                <a:solidFill>
                  <a:srgbClr val="000000"/>
                </a:solidFill>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6" name="Result 4">
            <a:extLst>
              <a:ext uri="{FF2B5EF4-FFF2-40B4-BE49-F238E27FC236}">
                <a16:creationId xmlns:a16="http://schemas.microsoft.com/office/drawing/2014/main" id="{F59E996A-1250-C409-9FD8-DA2DDEB6EF22}"/>
              </a:ext>
            </a:extLst>
          </p:cNvPr>
          <p:cNvSpPr>
            <a:spLocks noChangeArrowheads="1"/>
          </p:cNvSpPr>
          <p:nvPr/>
        </p:nvSpPr>
        <p:spPr bwMode="auto">
          <a:xfrm>
            <a:off x="1105274" y="4043553"/>
            <a:ext cx="468036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Fit for purpose: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cs typeface="Calibri" panose="020F0502020204030204" pitchFamily="34" charset="0"/>
              </a:rPr>
              <a:t>Accuracy of output:  </a:t>
            </a:r>
          </a:p>
        </p:txBody>
      </p:sp>
      <p:sp>
        <p:nvSpPr>
          <p:cNvPr id="17" name="SQL 3">
            <a:extLst>
              <a:ext uri="{FF2B5EF4-FFF2-40B4-BE49-F238E27FC236}">
                <a16:creationId xmlns:a16="http://schemas.microsoft.com/office/drawing/2014/main" id="{0D71452E-0D77-478C-A19C-ECF33FA17695}"/>
              </a:ext>
            </a:extLst>
          </p:cNvPr>
          <p:cNvSpPr>
            <a:spLocks noChangeArrowheads="1"/>
          </p:cNvSpPr>
          <p:nvPr/>
        </p:nvSpPr>
        <p:spPr bwMode="auto">
          <a:xfrm>
            <a:off x="6712817" y="4961521"/>
            <a:ext cx="468037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 </a:t>
            </a:r>
            <a:r>
              <a:rPr kumimoji="0" lang="en-US" altLang="en-US" sz="2000" b="0" i="0" u="none" strike="noStrike" cap="none" normalizeH="0" baseline="0" dirty="0">
                <a:ln>
                  <a:noFill/>
                </a:ln>
                <a:solidFill>
                  <a:srgbClr val="000000"/>
                </a:solidFill>
                <a:effectLst/>
                <a:latin typeface="Consolas" panose="020B0609020204030204" pitchFamily="49" charset="0"/>
              </a:rPr>
              <a:t>surname, town</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Customer</a:t>
            </a:r>
            <a:br>
              <a:rPr lang="en-US" altLang="en-US" sz="2000" dirty="0">
                <a:solidFill>
                  <a:srgbClr val="000000"/>
                </a:solidFill>
                <a:latin typeface="Consolas" panose="020B0609020204030204" pitchFamily="49" charset="0"/>
              </a:rPr>
            </a:br>
            <a:r>
              <a:rPr lang="en-US" altLang="en-US" sz="2000" dirty="0">
                <a:solidFill>
                  <a:srgbClr val="B2B2B2"/>
                </a:solidFill>
                <a:latin typeface="Consolas" panose="020B0609020204030204" pitchFamily="49" charset="0"/>
              </a:rPr>
              <a:t>3     </a:t>
            </a:r>
            <a:r>
              <a:rPr lang="en-US" altLang="en-US" sz="2000" dirty="0">
                <a:solidFill>
                  <a:srgbClr val="A71D5D"/>
                </a:solidFill>
                <a:latin typeface="Consolas" panose="020B0609020204030204" pitchFamily="49" charset="0"/>
              </a:rPr>
              <a:t>WHERE </a:t>
            </a:r>
            <a:r>
              <a:rPr lang="en-US" altLang="en-US" sz="2000" dirty="0">
                <a:solidFill>
                  <a:srgbClr val="000000"/>
                </a:solidFill>
                <a:latin typeface="Consolas" panose="020B0609020204030204" pitchFamily="49" charset="0"/>
              </a:rPr>
              <a:t>town = </a:t>
            </a:r>
            <a:r>
              <a:rPr lang="en-US" altLang="en-US" sz="2000" dirty="0">
                <a:solidFill>
                  <a:srgbClr val="183691"/>
                </a:solidFill>
                <a:latin typeface="Consolas" panose="020B0609020204030204" pitchFamily="49" charset="0"/>
              </a:rPr>
              <a:t>"Glasgow"</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4     </a:t>
            </a:r>
            <a:r>
              <a:rPr kumimoji="0" lang="en-US" altLang="en-US" sz="2000" b="0" i="0" u="none" strike="noStrike" cap="none" normalizeH="0" baseline="0" dirty="0">
                <a:ln>
                  <a:noFill/>
                </a:ln>
                <a:solidFill>
                  <a:srgbClr val="A71D5D"/>
                </a:solidFill>
                <a:effectLst/>
                <a:latin typeface="Consolas" panose="020B0609020204030204" pitchFamily="49" charset="0"/>
              </a:rPr>
              <a:t>ORDER BY</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 </a:t>
            </a:r>
            <a:r>
              <a:rPr lang="en-US" altLang="en-US" sz="2000" dirty="0">
                <a:solidFill>
                  <a:srgbClr val="A71D5D"/>
                </a:solidFill>
                <a:latin typeface="Consolas" panose="020B0609020204030204" pitchFamily="49" charset="0"/>
              </a:rPr>
              <a:t>ASC</a:t>
            </a:r>
            <a:r>
              <a:rPr lang="en-US" altLang="en-US" sz="2000" dirty="0">
                <a:solidFill>
                  <a:srgbClr val="000000"/>
                </a:solidFill>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5" name="Result 3">
            <a:extLst>
              <a:ext uri="{FF2B5EF4-FFF2-40B4-BE49-F238E27FC236}">
                <a16:creationId xmlns:a16="http://schemas.microsoft.com/office/drawing/2014/main" id="{ED1DB20E-1101-8E35-71D5-F6608F1564F5}"/>
              </a:ext>
            </a:extLst>
          </p:cNvPr>
          <p:cNvSpPr>
            <a:spLocks noChangeArrowheads="1"/>
          </p:cNvSpPr>
          <p:nvPr/>
        </p:nvSpPr>
        <p:spPr bwMode="auto">
          <a:xfrm>
            <a:off x="6712817" y="4047121"/>
            <a:ext cx="468037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Fit for purpose: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cs typeface="Calibri" panose="020F0502020204030204" pitchFamily="34" charset="0"/>
              </a:rPr>
              <a:t>Accuracy of output:  </a:t>
            </a:r>
          </a:p>
        </p:txBody>
      </p:sp>
      <p:sp>
        <p:nvSpPr>
          <p:cNvPr id="16" name="SQL 2">
            <a:extLst>
              <a:ext uri="{FF2B5EF4-FFF2-40B4-BE49-F238E27FC236}">
                <a16:creationId xmlns:a16="http://schemas.microsoft.com/office/drawing/2014/main" id="{ED42CE84-7DCB-4264-AA46-6C90335BA14F}"/>
              </a:ext>
            </a:extLst>
          </p:cNvPr>
          <p:cNvSpPr>
            <a:spLocks noChangeArrowheads="1"/>
          </p:cNvSpPr>
          <p:nvPr/>
        </p:nvSpPr>
        <p:spPr bwMode="auto">
          <a:xfrm>
            <a:off x="6712809" y="2096630"/>
            <a:ext cx="468037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 </a:t>
            </a:r>
            <a:r>
              <a:rPr lang="en-US" altLang="en-US" sz="2000" dirty="0">
                <a:solidFill>
                  <a:srgbClr val="000000"/>
                </a:solidFill>
                <a:latin typeface="Consolas" panose="020B0609020204030204" pitchFamily="49" charset="0"/>
              </a:rPr>
              <a:t>forename</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a:t>
            </a:r>
            <a:r>
              <a:rPr kumimoji="0" lang="en-US" altLang="en-US" sz="2000" b="0" i="0" u="none" strike="noStrike" cap="none" normalizeH="0" baseline="0" dirty="0">
                <a:ln>
                  <a:noFill/>
                </a:ln>
                <a:solidFill>
                  <a:srgbClr val="000000"/>
                </a:solidFill>
                <a:effectLst/>
                <a:latin typeface="Consolas" panose="020B0609020204030204" pitchFamily="49" charset="0"/>
              </a:rPr>
              <a:t>, town</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Customer</a:t>
            </a:r>
            <a:br>
              <a:rPr lang="en-US" altLang="en-US" sz="2000" dirty="0">
                <a:solidFill>
                  <a:srgbClr val="000000"/>
                </a:solidFill>
                <a:latin typeface="Consolas" panose="020B0609020204030204" pitchFamily="49" charset="0"/>
              </a:rPr>
            </a:br>
            <a:r>
              <a:rPr lang="en-US" altLang="en-US" sz="2000" dirty="0">
                <a:solidFill>
                  <a:srgbClr val="B2B2B2"/>
                </a:solidFill>
                <a:latin typeface="Consolas" panose="020B0609020204030204" pitchFamily="49" charset="0"/>
              </a:rPr>
              <a:t>3     </a:t>
            </a:r>
            <a:r>
              <a:rPr lang="en-US" altLang="en-US" sz="2000" dirty="0">
                <a:solidFill>
                  <a:srgbClr val="A71D5D"/>
                </a:solidFill>
                <a:latin typeface="Consolas" panose="020B0609020204030204" pitchFamily="49" charset="0"/>
              </a:rPr>
              <a:t>WHERE </a:t>
            </a:r>
            <a:r>
              <a:rPr lang="en-US" altLang="en-US" sz="2000" dirty="0">
                <a:solidFill>
                  <a:srgbClr val="000000"/>
                </a:solidFill>
                <a:latin typeface="Consolas" panose="020B0609020204030204" pitchFamily="49" charset="0"/>
              </a:rPr>
              <a:t>town = </a:t>
            </a:r>
            <a:r>
              <a:rPr lang="en-US" altLang="en-US" sz="2000" dirty="0">
                <a:solidFill>
                  <a:srgbClr val="183691"/>
                </a:solidFill>
                <a:latin typeface="Consolas" panose="020B0609020204030204" pitchFamily="49" charset="0"/>
              </a:rPr>
              <a:t>"Gourock"</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4     </a:t>
            </a:r>
            <a:r>
              <a:rPr kumimoji="0" lang="en-US" altLang="en-US" sz="2000" b="0" i="0" u="none" strike="noStrike" cap="none" normalizeH="0" baseline="0" dirty="0">
                <a:ln>
                  <a:noFill/>
                </a:ln>
                <a:solidFill>
                  <a:srgbClr val="A71D5D"/>
                </a:solidFill>
                <a:effectLst/>
                <a:latin typeface="Consolas" panose="020B0609020204030204" pitchFamily="49" charset="0"/>
              </a:rPr>
              <a:t>ORDER BY</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 </a:t>
            </a:r>
            <a:r>
              <a:rPr lang="en-US" altLang="en-US" sz="2000" dirty="0">
                <a:solidFill>
                  <a:srgbClr val="A71D5D"/>
                </a:solidFill>
                <a:latin typeface="Consolas" panose="020B0609020204030204" pitchFamily="49" charset="0"/>
              </a:rPr>
              <a:t>DESC</a:t>
            </a:r>
            <a:r>
              <a:rPr lang="en-US" altLang="en-US" sz="2000" dirty="0">
                <a:solidFill>
                  <a:srgbClr val="000000"/>
                </a:solidFill>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7" name="Result 2">
            <a:extLst>
              <a:ext uri="{FF2B5EF4-FFF2-40B4-BE49-F238E27FC236}">
                <a16:creationId xmlns:a16="http://schemas.microsoft.com/office/drawing/2014/main" id="{94109815-3832-2453-0AC6-5359CBADAAE9}"/>
              </a:ext>
            </a:extLst>
          </p:cNvPr>
          <p:cNvSpPr>
            <a:spLocks noChangeArrowheads="1"/>
          </p:cNvSpPr>
          <p:nvPr/>
        </p:nvSpPr>
        <p:spPr bwMode="auto">
          <a:xfrm>
            <a:off x="6712809" y="1182230"/>
            <a:ext cx="468037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Fit for purpose: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cs typeface="Calibri" panose="020F0502020204030204" pitchFamily="34" charset="0"/>
              </a:rPr>
              <a:t>Accuracy of output:  </a:t>
            </a:r>
          </a:p>
        </p:txBody>
      </p:sp>
      <p:sp>
        <p:nvSpPr>
          <p:cNvPr id="15" name="SQL 1">
            <a:extLst>
              <a:ext uri="{FF2B5EF4-FFF2-40B4-BE49-F238E27FC236}">
                <a16:creationId xmlns:a16="http://schemas.microsoft.com/office/drawing/2014/main" id="{A0C9E759-9E8E-4752-B040-B3FBC911D267}"/>
              </a:ext>
            </a:extLst>
          </p:cNvPr>
          <p:cNvSpPr>
            <a:spLocks noChangeArrowheads="1"/>
          </p:cNvSpPr>
          <p:nvPr/>
        </p:nvSpPr>
        <p:spPr bwMode="auto">
          <a:xfrm>
            <a:off x="1105740" y="2099120"/>
            <a:ext cx="468038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 </a:t>
            </a:r>
            <a:r>
              <a:rPr lang="en-US" altLang="en-US" sz="2000" dirty="0">
                <a:solidFill>
                  <a:srgbClr val="000000"/>
                </a:solidFill>
                <a:latin typeface="Consolas" panose="020B0609020204030204" pitchFamily="49" charset="0"/>
              </a:rPr>
              <a:t>forename</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a:t>
            </a:r>
            <a:r>
              <a:rPr kumimoji="0" lang="en-US" altLang="en-US" sz="2000" b="0" i="0" u="none" strike="noStrike" cap="none" normalizeH="0" baseline="0" dirty="0">
                <a:ln>
                  <a:noFill/>
                </a:ln>
                <a:solidFill>
                  <a:srgbClr val="000000"/>
                </a:solidFill>
                <a:effectLst/>
                <a:latin typeface="Consolas" panose="020B0609020204030204" pitchFamily="49" charset="0"/>
              </a:rPr>
              <a:t>, town</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C</a:t>
            </a:r>
            <a:r>
              <a:rPr kumimoji="0" lang="en-US" altLang="en-US" sz="2000" b="0" i="0" u="none" strike="noStrike" cap="none" normalizeH="0" baseline="0" dirty="0">
                <a:ln>
                  <a:noFill/>
                </a:ln>
                <a:solidFill>
                  <a:srgbClr val="000000"/>
                </a:solidFill>
                <a:effectLst/>
                <a:latin typeface="Consolas" panose="020B0609020204030204" pitchFamily="49" charset="0"/>
              </a:rPr>
              <a:t>ustomer</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3     </a:t>
            </a:r>
            <a:r>
              <a:rPr kumimoji="0" lang="en-US" altLang="en-US" sz="2000" b="0" i="0" u="none" strike="noStrike" cap="none" normalizeH="0" baseline="0" dirty="0">
                <a:ln>
                  <a:noFill/>
                </a:ln>
                <a:solidFill>
                  <a:srgbClr val="A71D5D"/>
                </a:solidFill>
                <a:effectLst/>
                <a:latin typeface="Consolas" panose="020B0609020204030204" pitchFamily="49" charset="0"/>
              </a:rPr>
              <a:t>WHERE </a:t>
            </a:r>
            <a:r>
              <a:rPr lang="en-US" altLang="en-US" sz="2000" dirty="0">
                <a:solidFill>
                  <a:srgbClr val="000000"/>
                </a:solidFill>
                <a:latin typeface="Consolas" panose="020B0609020204030204" pitchFamily="49" charset="0"/>
              </a:rPr>
              <a:t>town </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183691"/>
                </a:solidFill>
                <a:effectLst/>
                <a:latin typeface="Consolas" panose="020B0609020204030204" pitchFamily="49" charset="0"/>
              </a:rPr>
              <a:t>"</a:t>
            </a:r>
            <a:r>
              <a:rPr lang="en-US" altLang="en-US" sz="2000" dirty="0">
                <a:solidFill>
                  <a:srgbClr val="183691"/>
                </a:solidFill>
                <a:latin typeface="Consolas" panose="020B0609020204030204" pitchFamily="49" charset="0"/>
              </a:rPr>
              <a:t>Gourock</a:t>
            </a:r>
            <a:r>
              <a:rPr kumimoji="0" lang="en-US" altLang="en-US" sz="2000" b="0" i="0" u="none" strike="noStrike" cap="none" normalizeH="0" baseline="0" dirty="0">
                <a:ln>
                  <a:noFill/>
                </a:ln>
                <a:solidFill>
                  <a:srgbClr val="183691"/>
                </a:solidFill>
                <a:effectLst/>
                <a:latin typeface="Consolas" panose="020B0609020204030204" pitchFamily="49" charset="0"/>
              </a:rPr>
              <a:t>"</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4     </a:t>
            </a:r>
            <a:r>
              <a:rPr kumimoji="0" lang="en-US" altLang="en-US" sz="2000" b="0" i="0" u="none" strike="noStrike" cap="none" normalizeH="0" baseline="0" dirty="0">
                <a:ln>
                  <a:noFill/>
                </a:ln>
                <a:solidFill>
                  <a:srgbClr val="A71D5D"/>
                </a:solidFill>
                <a:effectLst/>
                <a:latin typeface="Consolas" panose="020B0609020204030204" pitchFamily="49" charset="0"/>
              </a:rPr>
              <a:t>ORDER BY</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A71D5D"/>
                </a:solidFill>
                <a:latin typeface="Consolas" panose="020B0609020204030204" pitchFamily="49" charset="0"/>
              </a:rPr>
              <a:t>A</a:t>
            </a:r>
            <a:r>
              <a:rPr kumimoji="0" lang="en-US" altLang="en-US" sz="2000" b="0" i="0" u="none" strike="noStrike" cap="none" normalizeH="0" baseline="0" dirty="0">
                <a:ln>
                  <a:noFill/>
                </a:ln>
                <a:solidFill>
                  <a:srgbClr val="A71D5D"/>
                </a:solidFill>
                <a:effectLst/>
                <a:latin typeface="Consolas" panose="020B0609020204030204" pitchFamily="49" charset="0"/>
              </a:rPr>
              <a:t>SC</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4" name="Result 1">
            <a:extLst>
              <a:ext uri="{FF2B5EF4-FFF2-40B4-BE49-F238E27FC236}">
                <a16:creationId xmlns:a16="http://schemas.microsoft.com/office/drawing/2014/main" id="{7FEE9E88-6A1A-DF2B-6422-FF70A9624CC8}"/>
              </a:ext>
            </a:extLst>
          </p:cNvPr>
          <p:cNvSpPr>
            <a:spLocks noChangeArrowheads="1"/>
          </p:cNvSpPr>
          <p:nvPr/>
        </p:nvSpPr>
        <p:spPr bwMode="auto">
          <a:xfrm>
            <a:off x="1105274" y="1182231"/>
            <a:ext cx="468038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Fit for purpose: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cs typeface="Calibri" panose="020F0502020204030204" pitchFamily="34" charset="0"/>
              </a:rPr>
              <a:t>Accuracy of output:  </a:t>
            </a:r>
          </a:p>
        </p:txBody>
      </p:sp>
    </p:spTree>
    <p:extLst>
      <p:ext uri="{BB962C8B-B14F-4D97-AF65-F5344CB8AC3E}">
        <p14:creationId xmlns:p14="http://schemas.microsoft.com/office/powerpoint/2010/main" val="2016678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2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2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2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1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1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1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6" grpId="0"/>
      <p:bldP spid="17" grpId="0"/>
      <p:bldP spid="5" grpId="0"/>
      <p:bldP spid="16" grpId="0"/>
      <p:bldP spid="7" grpId="0"/>
      <p:bldP spid="15" grpId="0"/>
      <p:bldP spid="4" grpId="0"/>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37BFC-C672-44BB-816C-DE539758DCA3}"/>
              </a:ext>
            </a:extLst>
          </p:cNvPr>
          <p:cNvSpPr>
            <a:spLocks noGrp="1"/>
          </p:cNvSpPr>
          <p:nvPr>
            <p:ph type="title"/>
          </p:nvPr>
        </p:nvSpPr>
        <p:spPr/>
        <p:txBody>
          <a:bodyPr/>
          <a:lstStyle/>
          <a:p>
            <a:r>
              <a:rPr lang="en-GB" dirty="0"/>
              <a:t>Evaluation - Overview</a:t>
            </a:r>
          </a:p>
        </p:txBody>
      </p:sp>
      <p:graphicFrame>
        <p:nvGraphicFramePr>
          <p:cNvPr id="4" name="Content Placeholder 3">
            <a:extLst>
              <a:ext uri="{FF2B5EF4-FFF2-40B4-BE49-F238E27FC236}">
                <a16:creationId xmlns:a16="http://schemas.microsoft.com/office/drawing/2014/main" id="{7E36F3D9-1972-4168-9042-BB50C2E7C385}"/>
              </a:ext>
            </a:extLst>
          </p:cNvPr>
          <p:cNvGraphicFramePr>
            <a:graphicFrameLocks noGrp="1"/>
          </p:cNvGraphicFramePr>
          <p:nvPr>
            <p:ph idx="1"/>
            <p:extLst>
              <p:ext uri="{D42A27DB-BD31-4B8C-83A1-F6EECF244321}">
                <p14:modId xmlns:p14="http://schemas.microsoft.com/office/powerpoint/2010/main" val="1487835517"/>
              </p:ext>
            </p:extLst>
          </p:nvPr>
        </p:nvGraphicFramePr>
        <p:xfrm>
          <a:off x="838201" y="1825625"/>
          <a:ext cx="10512000" cy="4846320"/>
        </p:xfrm>
        <a:graphic>
          <a:graphicData uri="http://schemas.openxmlformats.org/drawingml/2006/table">
            <a:tbl>
              <a:tblPr firstRow="1" bandRow="1">
                <a:tableStyleId>{5C22544A-7EE6-4342-B048-85BDC9FD1C3A}</a:tableStyleId>
              </a:tblPr>
              <a:tblGrid>
                <a:gridCol w="1368000">
                  <a:extLst>
                    <a:ext uri="{9D8B030D-6E8A-4147-A177-3AD203B41FA5}">
                      <a16:colId xmlns:a16="http://schemas.microsoft.com/office/drawing/2014/main" val="2050263893"/>
                    </a:ext>
                  </a:extLst>
                </a:gridCol>
                <a:gridCol w="1584000">
                  <a:extLst>
                    <a:ext uri="{9D8B030D-6E8A-4147-A177-3AD203B41FA5}">
                      <a16:colId xmlns:a16="http://schemas.microsoft.com/office/drawing/2014/main" val="3315067239"/>
                    </a:ext>
                  </a:extLst>
                </a:gridCol>
                <a:gridCol w="1836000">
                  <a:extLst>
                    <a:ext uri="{9D8B030D-6E8A-4147-A177-3AD203B41FA5}">
                      <a16:colId xmlns:a16="http://schemas.microsoft.com/office/drawing/2014/main" val="1769506239"/>
                    </a:ext>
                  </a:extLst>
                </a:gridCol>
                <a:gridCol w="5724000">
                  <a:extLst>
                    <a:ext uri="{9D8B030D-6E8A-4147-A177-3AD203B41FA5}">
                      <a16:colId xmlns:a16="http://schemas.microsoft.com/office/drawing/2014/main" val="999377891"/>
                    </a:ext>
                  </a:extLst>
                </a:gridCol>
              </a:tblGrid>
              <a:tr h="370840">
                <a:tc>
                  <a:txBody>
                    <a:bodyPr/>
                    <a:lstStyle/>
                    <a:p>
                      <a:pPr algn="ctr"/>
                      <a:r>
                        <a:rPr lang="en-GB" sz="3200" b="1" kern="1200" dirty="0">
                          <a:solidFill>
                            <a:schemeClr val="lt1"/>
                          </a:solidFill>
                          <a:latin typeface="+mn-lt"/>
                          <a:ea typeface="+mn-ea"/>
                          <a:cs typeface="+mn-cs"/>
                        </a:rPr>
                        <a:t>Option</a:t>
                      </a:r>
                    </a:p>
                  </a:txBody>
                  <a:tcPr anchor="ctr">
                    <a:solidFill>
                      <a:schemeClr val="accent1"/>
                    </a:solidFill>
                  </a:tcPr>
                </a:tc>
                <a:tc>
                  <a:txBody>
                    <a:bodyPr/>
                    <a:lstStyle/>
                    <a:p>
                      <a:pPr algn="ctr"/>
                      <a:r>
                        <a:rPr lang="en-GB" sz="3200" dirty="0"/>
                        <a:t>Fit for Purpose</a:t>
                      </a:r>
                    </a:p>
                  </a:txBody>
                  <a:tcPr anchor="ctr"/>
                </a:tc>
                <a:tc>
                  <a:txBody>
                    <a:bodyPr/>
                    <a:lstStyle/>
                    <a:p>
                      <a:pPr algn="ctr"/>
                      <a:r>
                        <a:rPr lang="en-GB" sz="3200" dirty="0"/>
                        <a:t>Accuracy of Output</a:t>
                      </a:r>
                    </a:p>
                  </a:txBody>
                  <a:tcPr anchor="ctr"/>
                </a:tc>
                <a:tc>
                  <a:txBody>
                    <a:bodyPr/>
                    <a:lstStyle/>
                    <a:p>
                      <a:pPr algn="ctr"/>
                      <a:r>
                        <a:rPr lang="en-GB" sz="3200" dirty="0"/>
                        <a:t>Comment</a:t>
                      </a:r>
                    </a:p>
                  </a:txBody>
                  <a:tcPr anchor="ctr"/>
                </a:tc>
                <a:extLst>
                  <a:ext uri="{0D108BD9-81ED-4DB2-BD59-A6C34878D82A}">
                    <a16:rowId xmlns:a16="http://schemas.microsoft.com/office/drawing/2014/main" val="51545793"/>
                  </a:ext>
                </a:extLst>
              </a:tr>
              <a:tr h="370840">
                <a:tc>
                  <a:txBody>
                    <a:bodyPr/>
                    <a:lstStyle/>
                    <a:p>
                      <a:pPr algn="ctr"/>
                      <a:r>
                        <a:rPr lang="en-GB" sz="3200" dirty="0"/>
                        <a:t>1</a:t>
                      </a:r>
                    </a:p>
                  </a:txBody>
                  <a:tcPr anchor="ctr"/>
                </a:tc>
                <a:tc>
                  <a:txBody>
                    <a:bodyPr/>
                    <a:lstStyle/>
                    <a:p>
                      <a:pPr algn="ctr"/>
                      <a:r>
                        <a:rPr lang="en-GB" sz="3200" dirty="0"/>
                        <a:t>Yes</a:t>
                      </a:r>
                    </a:p>
                  </a:txBody>
                  <a:tcPr anchor="ctr"/>
                </a:tc>
                <a:tc>
                  <a:txBody>
                    <a:bodyPr/>
                    <a:lstStyle/>
                    <a:p>
                      <a:pPr algn="ctr"/>
                      <a:r>
                        <a:rPr lang="en-GB" sz="3200" dirty="0"/>
                        <a:t>Yes</a:t>
                      </a:r>
                    </a:p>
                  </a:txBody>
                  <a:tcPr anchor="ctr"/>
                </a:tc>
                <a:tc>
                  <a:txBody>
                    <a:bodyPr/>
                    <a:lstStyle/>
                    <a:p>
                      <a:pPr marL="457200" indent="-457200">
                        <a:buFont typeface="Arial" panose="020B0604020202020204" pitchFamily="34" charset="0"/>
                        <a:buChar char="•"/>
                      </a:pPr>
                      <a:r>
                        <a:rPr lang="en-GB" sz="3200" dirty="0"/>
                        <a:t>Predicted records and fields</a:t>
                      </a:r>
                    </a:p>
                  </a:txBody>
                  <a:tcPr anchor="ctr"/>
                </a:tc>
                <a:extLst>
                  <a:ext uri="{0D108BD9-81ED-4DB2-BD59-A6C34878D82A}">
                    <a16:rowId xmlns:a16="http://schemas.microsoft.com/office/drawing/2014/main" val="1203211181"/>
                  </a:ext>
                </a:extLst>
              </a:tr>
              <a:tr h="370840">
                <a:tc>
                  <a:txBody>
                    <a:bodyPr/>
                    <a:lstStyle/>
                    <a:p>
                      <a:pPr algn="ctr"/>
                      <a:r>
                        <a:rPr lang="en-GB" sz="3200" dirty="0"/>
                        <a:t>2</a:t>
                      </a:r>
                    </a:p>
                  </a:txBody>
                  <a:tcPr anchor="ctr"/>
                </a:tc>
                <a:tc>
                  <a:txBody>
                    <a:bodyPr/>
                    <a:lstStyle/>
                    <a:p>
                      <a:pPr algn="ctr"/>
                      <a:r>
                        <a:rPr lang="en-GB" sz="3200" dirty="0"/>
                        <a:t>No</a:t>
                      </a:r>
                    </a:p>
                  </a:txBody>
                  <a:tcPr anchor="ctr"/>
                </a:tc>
                <a:tc>
                  <a:txBody>
                    <a:bodyPr/>
                    <a:lstStyle/>
                    <a:p>
                      <a:pPr algn="ctr"/>
                      <a:r>
                        <a:rPr lang="en-GB" sz="3200" dirty="0"/>
                        <a:t>Yes</a:t>
                      </a:r>
                    </a:p>
                  </a:txBody>
                  <a:tcPr anchor="ctr"/>
                </a:tc>
                <a:tc>
                  <a:txBody>
                    <a:bodyPr/>
                    <a:lstStyle/>
                    <a:p>
                      <a:pPr marL="457200" indent="-457200">
                        <a:buFont typeface="Arial" panose="020B0604020202020204" pitchFamily="34" charset="0"/>
                        <a:buChar char="•"/>
                      </a:pPr>
                      <a:r>
                        <a:rPr lang="en-GB" sz="3200" dirty="0"/>
                        <a:t>Wrong criteria or sort</a:t>
                      </a:r>
                    </a:p>
                    <a:p>
                      <a:pPr marL="457200" indent="-457200">
                        <a:buFont typeface="Arial" panose="020B0604020202020204" pitchFamily="34" charset="0"/>
                        <a:buChar char="•"/>
                      </a:pPr>
                      <a:r>
                        <a:rPr lang="en-GB" sz="3200" dirty="0"/>
                        <a:t>Correct fields</a:t>
                      </a:r>
                    </a:p>
                  </a:txBody>
                  <a:tcPr anchor="ctr"/>
                </a:tc>
                <a:extLst>
                  <a:ext uri="{0D108BD9-81ED-4DB2-BD59-A6C34878D82A}">
                    <a16:rowId xmlns:a16="http://schemas.microsoft.com/office/drawing/2014/main" val="2063207591"/>
                  </a:ext>
                </a:extLst>
              </a:tr>
              <a:tr h="370840">
                <a:tc>
                  <a:txBody>
                    <a:bodyPr/>
                    <a:lstStyle/>
                    <a:p>
                      <a:pPr algn="ctr"/>
                      <a:r>
                        <a:rPr lang="en-GB" sz="3200" dirty="0"/>
                        <a:t>3</a:t>
                      </a:r>
                    </a:p>
                  </a:txBody>
                  <a:tcPr anchor="ctr"/>
                </a:tc>
                <a:tc>
                  <a:txBody>
                    <a:bodyPr/>
                    <a:lstStyle/>
                    <a:p>
                      <a:pPr algn="ctr"/>
                      <a:r>
                        <a:rPr lang="en-GB" sz="3200" dirty="0">
                          <a:solidFill>
                            <a:schemeClr val="tx1"/>
                          </a:solidFill>
                        </a:rPr>
                        <a:t>No</a:t>
                      </a:r>
                    </a:p>
                  </a:txBody>
                  <a:tcPr anchor="ctr"/>
                </a:tc>
                <a:tc>
                  <a:txBody>
                    <a:bodyPr/>
                    <a:lstStyle/>
                    <a:p>
                      <a:pPr algn="ctr"/>
                      <a:r>
                        <a:rPr lang="en-GB" sz="3200" dirty="0">
                          <a:solidFill>
                            <a:schemeClr val="tx1"/>
                          </a:solidFill>
                        </a:rPr>
                        <a:t>No</a:t>
                      </a:r>
                    </a:p>
                  </a:txBody>
                  <a:tcPr anchor="ctr"/>
                </a:tc>
                <a:tc>
                  <a:txBody>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3200" dirty="0"/>
                        <a:t>Wrong criteria or sort</a:t>
                      </a:r>
                    </a:p>
                    <a:p>
                      <a:pPr marL="457200" indent="-457200">
                        <a:buFont typeface="Arial" panose="020B0604020202020204" pitchFamily="34" charset="0"/>
                        <a:buChar char="•"/>
                      </a:pPr>
                      <a:r>
                        <a:rPr lang="en-GB" sz="3200" dirty="0"/>
                        <a:t>Missing or extra field(s)</a:t>
                      </a:r>
                    </a:p>
                  </a:txBody>
                  <a:tcPr anchor="ctr"/>
                </a:tc>
                <a:extLst>
                  <a:ext uri="{0D108BD9-81ED-4DB2-BD59-A6C34878D82A}">
                    <a16:rowId xmlns:a16="http://schemas.microsoft.com/office/drawing/2014/main" val="660886561"/>
                  </a:ext>
                </a:extLst>
              </a:tr>
              <a:tr h="310825">
                <a:tc>
                  <a:txBody>
                    <a:bodyPr/>
                    <a:lstStyle/>
                    <a:p>
                      <a:pPr algn="ctr"/>
                      <a:r>
                        <a:rPr lang="en-GB" sz="3200" dirty="0"/>
                        <a:t>4</a:t>
                      </a:r>
                    </a:p>
                  </a:txBody>
                  <a:tcPr anchor="ctr"/>
                </a:tc>
                <a:tc>
                  <a:txBody>
                    <a:bodyPr/>
                    <a:lstStyle/>
                    <a:p>
                      <a:pPr algn="ctr"/>
                      <a:r>
                        <a:rPr lang="en-GB" sz="3200" dirty="0"/>
                        <a:t>Yes</a:t>
                      </a:r>
                    </a:p>
                  </a:txBody>
                  <a:tcPr anchor="ctr"/>
                </a:tc>
                <a:tc>
                  <a:txBody>
                    <a:bodyPr/>
                    <a:lstStyle/>
                    <a:p>
                      <a:pPr algn="ctr"/>
                      <a:r>
                        <a:rPr lang="en-GB" sz="3200" dirty="0"/>
                        <a:t>No</a:t>
                      </a:r>
                    </a:p>
                  </a:txBody>
                  <a:tcPr anchor="ctr"/>
                </a:tc>
                <a:tc>
                  <a:txBody>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3200" dirty="0"/>
                        <a:t>Correct criteria, correct sort</a:t>
                      </a:r>
                    </a:p>
                    <a:p>
                      <a:pPr marL="457200" indent="-457200">
                        <a:buFont typeface="Arial" panose="020B0604020202020204" pitchFamily="34" charset="0"/>
                        <a:buChar char="•"/>
                      </a:pPr>
                      <a:r>
                        <a:rPr lang="en-GB" sz="3200" dirty="0"/>
                        <a:t>Missing or extra field(s)</a:t>
                      </a:r>
                    </a:p>
                  </a:txBody>
                  <a:tcPr anchor="ctr"/>
                </a:tc>
                <a:extLst>
                  <a:ext uri="{0D108BD9-81ED-4DB2-BD59-A6C34878D82A}">
                    <a16:rowId xmlns:a16="http://schemas.microsoft.com/office/drawing/2014/main" val="1307361227"/>
                  </a:ext>
                </a:extLst>
              </a:tr>
            </a:tbl>
          </a:graphicData>
        </a:graphic>
      </p:graphicFrame>
    </p:spTree>
    <p:extLst>
      <p:ext uri="{BB962C8B-B14F-4D97-AF65-F5344CB8AC3E}">
        <p14:creationId xmlns:p14="http://schemas.microsoft.com/office/powerpoint/2010/main" val="2176379997"/>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37BFC-C672-44BB-816C-DE539758DCA3}"/>
              </a:ext>
            </a:extLst>
          </p:cNvPr>
          <p:cNvSpPr>
            <a:spLocks noGrp="1"/>
          </p:cNvSpPr>
          <p:nvPr>
            <p:ph type="title"/>
          </p:nvPr>
        </p:nvSpPr>
        <p:spPr/>
        <p:txBody>
          <a:bodyPr/>
          <a:lstStyle/>
          <a:p>
            <a:r>
              <a:rPr lang="en-GB" dirty="0"/>
              <a:t>Evaluation - Overview</a:t>
            </a:r>
          </a:p>
        </p:txBody>
      </p:sp>
      <p:graphicFrame>
        <p:nvGraphicFramePr>
          <p:cNvPr id="4" name="Content Placeholder 3">
            <a:extLst>
              <a:ext uri="{FF2B5EF4-FFF2-40B4-BE49-F238E27FC236}">
                <a16:creationId xmlns:a16="http://schemas.microsoft.com/office/drawing/2014/main" id="{7E36F3D9-1972-4168-9042-BB50C2E7C385}"/>
              </a:ext>
            </a:extLst>
          </p:cNvPr>
          <p:cNvGraphicFramePr>
            <a:graphicFrameLocks noGrp="1"/>
          </p:cNvGraphicFramePr>
          <p:nvPr>
            <p:ph idx="1"/>
            <p:extLst>
              <p:ext uri="{D42A27DB-BD31-4B8C-83A1-F6EECF244321}">
                <p14:modId xmlns:p14="http://schemas.microsoft.com/office/powerpoint/2010/main" val="761531189"/>
              </p:ext>
            </p:extLst>
          </p:nvPr>
        </p:nvGraphicFramePr>
        <p:xfrm>
          <a:off x="838201" y="1825625"/>
          <a:ext cx="10512000" cy="4846320"/>
        </p:xfrm>
        <a:graphic>
          <a:graphicData uri="http://schemas.openxmlformats.org/drawingml/2006/table">
            <a:tbl>
              <a:tblPr firstRow="1" bandRow="1">
                <a:tableStyleId>{5C22544A-7EE6-4342-B048-85BDC9FD1C3A}</a:tableStyleId>
              </a:tblPr>
              <a:tblGrid>
                <a:gridCol w="1368000">
                  <a:extLst>
                    <a:ext uri="{9D8B030D-6E8A-4147-A177-3AD203B41FA5}">
                      <a16:colId xmlns:a16="http://schemas.microsoft.com/office/drawing/2014/main" val="2050263893"/>
                    </a:ext>
                  </a:extLst>
                </a:gridCol>
                <a:gridCol w="1584000">
                  <a:extLst>
                    <a:ext uri="{9D8B030D-6E8A-4147-A177-3AD203B41FA5}">
                      <a16:colId xmlns:a16="http://schemas.microsoft.com/office/drawing/2014/main" val="3315067239"/>
                    </a:ext>
                  </a:extLst>
                </a:gridCol>
                <a:gridCol w="1836000">
                  <a:extLst>
                    <a:ext uri="{9D8B030D-6E8A-4147-A177-3AD203B41FA5}">
                      <a16:colId xmlns:a16="http://schemas.microsoft.com/office/drawing/2014/main" val="1769506239"/>
                    </a:ext>
                  </a:extLst>
                </a:gridCol>
                <a:gridCol w="5724000">
                  <a:extLst>
                    <a:ext uri="{9D8B030D-6E8A-4147-A177-3AD203B41FA5}">
                      <a16:colId xmlns:a16="http://schemas.microsoft.com/office/drawing/2014/main" val="999377891"/>
                    </a:ext>
                  </a:extLst>
                </a:gridCol>
              </a:tblGrid>
              <a:tr h="370840">
                <a:tc>
                  <a:txBody>
                    <a:bodyPr/>
                    <a:lstStyle/>
                    <a:p>
                      <a:pPr algn="ctr"/>
                      <a:r>
                        <a:rPr lang="en-GB" sz="3200" b="1" kern="1200" dirty="0">
                          <a:solidFill>
                            <a:schemeClr val="lt1"/>
                          </a:solidFill>
                          <a:latin typeface="+mn-lt"/>
                          <a:ea typeface="+mn-ea"/>
                          <a:cs typeface="+mn-cs"/>
                        </a:rPr>
                        <a:t>Option</a:t>
                      </a:r>
                    </a:p>
                  </a:txBody>
                  <a:tcPr anchor="ctr">
                    <a:solidFill>
                      <a:schemeClr val="accent1"/>
                    </a:solidFill>
                  </a:tcPr>
                </a:tc>
                <a:tc>
                  <a:txBody>
                    <a:bodyPr/>
                    <a:lstStyle/>
                    <a:p>
                      <a:pPr algn="ctr"/>
                      <a:r>
                        <a:rPr lang="en-GB" sz="3200" dirty="0"/>
                        <a:t>Fit for Purpose</a:t>
                      </a:r>
                    </a:p>
                  </a:txBody>
                  <a:tcPr anchor="ctr"/>
                </a:tc>
                <a:tc>
                  <a:txBody>
                    <a:bodyPr/>
                    <a:lstStyle/>
                    <a:p>
                      <a:pPr algn="ctr"/>
                      <a:r>
                        <a:rPr lang="en-GB" sz="3200" dirty="0"/>
                        <a:t>Accuracy of Output</a:t>
                      </a:r>
                    </a:p>
                  </a:txBody>
                  <a:tcPr anchor="ctr"/>
                </a:tc>
                <a:tc>
                  <a:txBody>
                    <a:bodyPr/>
                    <a:lstStyle/>
                    <a:p>
                      <a:pPr algn="ctr"/>
                      <a:r>
                        <a:rPr lang="en-GB" sz="3200" dirty="0"/>
                        <a:t>Comment</a:t>
                      </a:r>
                    </a:p>
                  </a:txBody>
                  <a:tcPr anchor="ctr"/>
                </a:tc>
                <a:extLst>
                  <a:ext uri="{0D108BD9-81ED-4DB2-BD59-A6C34878D82A}">
                    <a16:rowId xmlns:a16="http://schemas.microsoft.com/office/drawing/2014/main" val="51545793"/>
                  </a:ext>
                </a:extLst>
              </a:tr>
              <a:tr h="370840">
                <a:tc>
                  <a:txBody>
                    <a:bodyPr/>
                    <a:lstStyle/>
                    <a:p>
                      <a:pPr algn="ctr"/>
                      <a:r>
                        <a:rPr lang="en-GB" sz="3200" dirty="0"/>
                        <a:t>1</a:t>
                      </a:r>
                    </a:p>
                  </a:txBody>
                  <a:tcPr anchor="ctr"/>
                </a:tc>
                <a:tc>
                  <a:txBody>
                    <a:bodyPr/>
                    <a:lstStyle/>
                    <a:p>
                      <a:pPr algn="ctr"/>
                      <a:r>
                        <a:rPr lang="en-GB" sz="3200" dirty="0"/>
                        <a:t>Yes</a:t>
                      </a:r>
                    </a:p>
                  </a:txBody>
                  <a:tcPr anchor="ctr"/>
                </a:tc>
                <a:tc>
                  <a:txBody>
                    <a:bodyPr/>
                    <a:lstStyle/>
                    <a:p>
                      <a:pPr algn="ctr"/>
                      <a:r>
                        <a:rPr lang="en-GB" sz="3200" dirty="0"/>
                        <a:t>Yes</a:t>
                      </a:r>
                    </a:p>
                  </a:txBody>
                  <a:tcPr anchor="ctr"/>
                </a:tc>
                <a:tc>
                  <a:txBody>
                    <a:bodyPr/>
                    <a:lstStyle/>
                    <a:p>
                      <a:pPr marL="457200" indent="-457200">
                        <a:buFont typeface="Arial" panose="020B0604020202020204" pitchFamily="34" charset="0"/>
                        <a:buChar char="•"/>
                      </a:pPr>
                      <a:r>
                        <a:rPr lang="en-GB" sz="3200" dirty="0"/>
                        <a:t> </a:t>
                      </a:r>
                    </a:p>
                  </a:txBody>
                  <a:tcPr anchor="ctr"/>
                </a:tc>
                <a:extLst>
                  <a:ext uri="{0D108BD9-81ED-4DB2-BD59-A6C34878D82A}">
                    <a16:rowId xmlns:a16="http://schemas.microsoft.com/office/drawing/2014/main" val="1203211181"/>
                  </a:ext>
                </a:extLst>
              </a:tr>
              <a:tr h="370840">
                <a:tc>
                  <a:txBody>
                    <a:bodyPr/>
                    <a:lstStyle/>
                    <a:p>
                      <a:pPr algn="ctr"/>
                      <a:r>
                        <a:rPr lang="en-GB" sz="3200" dirty="0"/>
                        <a:t>2</a:t>
                      </a:r>
                    </a:p>
                  </a:txBody>
                  <a:tcPr anchor="ctr"/>
                </a:tc>
                <a:tc>
                  <a:txBody>
                    <a:bodyPr/>
                    <a:lstStyle/>
                    <a:p>
                      <a:pPr algn="ctr"/>
                      <a:r>
                        <a:rPr lang="en-GB" sz="3200" dirty="0"/>
                        <a:t>No</a:t>
                      </a:r>
                    </a:p>
                  </a:txBody>
                  <a:tcPr anchor="ctr"/>
                </a:tc>
                <a:tc>
                  <a:txBody>
                    <a:bodyPr/>
                    <a:lstStyle/>
                    <a:p>
                      <a:pPr algn="ctr"/>
                      <a:r>
                        <a:rPr lang="en-GB" sz="3200" dirty="0"/>
                        <a:t>Yes</a:t>
                      </a:r>
                    </a:p>
                  </a:txBody>
                  <a:tcPr anchor="ctr"/>
                </a:tc>
                <a:tc>
                  <a:txBody>
                    <a:bodyPr/>
                    <a:lstStyle/>
                    <a:p>
                      <a:pPr marL="457200" indent="-457200">
                        <a:buFont typeface="Arial" panose="020B0604020202020204" pitchFamily="34" charset="0"/>
                        <a:buChar char="•"/>
                      </a:pPr>
                      <a:r>
                        <a:rPr lang="en-GB" sz="3200" dirty="0"/>
                        <a:t> </a:t>
                      </a:r>
                    </a:p>
                    <a:p>
                      <a:pPr marL="457200" indent="-457200">
                        <a:buFont typeface="Arial" panose="020B0604020202020204" pitchFamily="34" charset="0"/>
                        <a:buChar char="•"/>
                      </a:pPr>
                      <a:r>
                        <a:rPr lang="en-GB" sz="3200" dirty="0"/>
                        <a:t> </a:t>
                      </a:r>
                    </a:p>
                  </a:txBody>
                  <a:tcPr anchor="ctr"/>
                </a:tc>
                <a:extLst>
                  <a:ext uri="{0D108BD9-81ED-4DB2-BD59-A6C34878D82A}">
                    <a16:rowId xmlns:a16="http://schemas.microsoft.com/office/drawing/2014/main" val="2063207591"/>
                  </a:ext>
                </a:extLst>
              </a:tr>
              <a:tr h="370840">
                <a:tc>
                  <a:txBody>
                    <a:bodyPr/>
                    <a:lstStyle/>
                    <a:p>
                      <a:pPr algn="ctr"/>
                      <a:r>
                        <a:rPr lang="en-GB" sz="3200" dirty="0"/>
                        <a:t>3</a:t>
                      </a:r>
                    </a:p>
                  </a:txBody>
                  <a:tcPr anchor="ctr"/>
                </a:tc>
                <a:tc>
                  <a:txBody>
                    <a:bodyPr/>
                    <a:lstStyle/>
                    <a:p>
                      <a:pPr algn="ctr"/>
                      <a:r>
                        <a:rPr lang="en-GB" sz="3200" dirty="0">
                          <a:solidFill>
                            <a:schemeClr val="tx1"/>
                          </a:solidFill>
                        </a:rPr>
                        <a:t>No</a:t>
                      </a:r>
                    </a:p>
                  </a:txBody>
                  <a:tcPr anchor="ctr"/>
                </a:tc>
                <a:tc>
                  <a:txBody>
                    <a:bodyPr/>
                    <a:lstStyle/>
                    <a:p>
                      <a:pPr algn="ctr"/>
                      <a:r>
                        <a:rPr lang="en-GB" sz="3200" dirty="0">
                          <a:solidFill>
                            <a:schemeClr val="tx1"/>
                          </a:solidFill>
                        </a:rPr>
                        <a:t>No</a:t>
                      </a:r>
                    </a:p>
                  </a:txBody>
                  <a:tcPr anchor="ctr"/>
                </a:tc>
                <a:tc>
                  <a:txBody>
                    <a:bodyPr/>
                    <a:lstStyle/>
                    <a:p>
                      <a:pPr marL="457200" indent="-457200">
                        <a:buFont typeface="Arial" panose="020B0604020202020204" pitchFamily="34" charset="0"/>
                        <a:buChar char="•"/>
                      </a:pPr>
                      <a:r>
                        <a:rPr lang="en-GB" sz="3200" dirty="0"/>
                        <a:t> </a:t>
                      </a:r>
                    </a:p>
                    <a:p>
                      <a:pPr marL="457200" indent="-457200">
                        <a:buFont typeface="Arial" panose="020B0604020202020204" pitchFamily="34" charset="0"/>
                        <a:buChar char="•"/>
                      </a:pPr>
                      <a:r>
                        <a:rPr lang="en-GB" sz="3200" dirty="0"/>
                        <a:t> </a:t>
                      </a:r>
                    </a:p>
                  </a:txBody>
                  <a:tcPr anchor="ctr"/>
                </a:tc>
                <a:extLst>
                  <a:ext uri="{0D108BD9-81ED-4DB2-BD59-A6C34878D82A}">
                    <a16:rowId xmlns:a16="http://schemas.microsoft.com/office/drawing/2014/main" val="660886561"/>
                  </a:ext>
                </a:extLst>
              </a:tr>
              <a:tr h="310825">
                <a:tc>
                  <a:txBody>
                    <a:bodyPr/>
                    <a:lstStyle/>
                    <a:p>
                      <a:pPr algn="ctr"/>
                      <a:r>
                        <a:rPr lang="en-GB" sz="3200" dirty="0"/>
                        <a:t>4</a:t>
                      </a:r>
                    </a:p>
                  </a:txBody>
                  <a:tcPr anchor="ctr"/>
                </a:tc>
                <a:tc>
                  <a:txBody>
                    <a:bodyPr/>
                    <a:lstStyle/>
                    <a:p>
                      <a:pPr algn="ctr"/>
                      <a:r>
                        <a:rPr lang="en-GB" sz="3200" dirty="0"/>
                        <a:t>Yes</a:t>
                      </a:r>
                    </a:p>
                  </a:txBody>
                  <a:tcPr anchor="ctr"/>
                </a:tc>
                <a:tc>
                  <a:txBody>
                    <a:bodyPr/>
                    <a:lstStyle/>
                    <a:p>
                      <a:pPr algn="ctr"/>
                      <a:r>
                        <a:rPr lang="en-GB" sz="3200" dirty="0"/>
                        <a:t>No</a:t>
                      </a:r>
                    </a:p>
                  </a:txBody>
                  <a:tcPr anchor="ctr"/>
                </a:tc>
                <a:tc>
                  <a:txBody>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3200" dirty="0"/>
                        <a:t>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3200" dirty="0"/>
                        <a:t> </a:t>
                      </a:r>
                    </a:p>
                  </a:txBody>
                  <a:tcPr anchor="ctr"/>
                </a:tc>
                <a:extLst>
                  <a:ext uri="{0D108BD9-81ED-4DB2-BD59-A6C34878D82A}">
                    <a16:rowId xmlns:a16="http://schemas.microsoft.com/office/drawing/2014/main" val="1307361227"/>
                  </a:ext>
                </a:extLst>
              </a:tr>
            </a:tbl>
          </a:graphicData>
        </a:graphic>
      </p:graphicFrame>
    </p:spTree>
    <p:extLst>
      <p:ext uri="{BB962C8B-B14F-4D97-AF65-F5344CB8AC3E}">
        <p14:creationId xmlns:p14="http://schemas.microsoft.com/office/powerpoint/2010/main" val="48410603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F5C75-4440-45EA-B288-B1C336048C5E}"/>
              </a:ext>
            </a:extLst>
          </p:cNvPr>
          <p:cNvSpPr>
            <a:spLocks noGrp="1"/>
          </p:cNvSpPr>
          <p:nvPr>
            <p:ph type="title"/>
          </p:nvPr>
        </p:nvSpPr>
        <p:spPr/>
        <p:txBody>
          <a:bodyPr/>
          <a:lstStyle/>
          <a:p>
            <a:r>
              <a:rPr lang="en-GB" dirty="0"/>
              <a:t>Fit for Purpose</a:t>
            </a:r>
          </a:p>
        </p:txBody>
      </p:sp>
      <p:sp>
        <p:nvSpPr>
          <p:cNvPr id="3" name="Content Placeholder 2">
            <a:extLst>
              <a:ext uri="{FF2B5EF4-FFF2-40B4-BE49-F238E27FC236}">
                <a16:creationId xmlns:a16="http://schemas.microsoft.com/office/drawing/2014/main" id="{06B8E349-DC6D-4A5B-8DA3-98695E00841D}"/>
              </a:ext>
            </a:extLst>
          </p:cNvPr>
          <p:cNvSpPr>
            <a:spLocks noGrp="1"/>
          </p:cNvSpPr>
          <p:nvPr>
            <p:ph idx="1"/>
          </p:nvPr>
        </p:nvSpPr>
        <p:spPr/>
        <p:txBody>
          <a:bodyPr>
            <a:normAutofit/>
          </a:bodyPr>
          <a:lstStyle/>
          <a:p>
            <a:pPr marL="0" indent="0">
              <a:spcAft>
                <a:spcPts val="1800"/>
              </a:spcAft>
              <a:buNone/>
            </a:pPr>
            <a:r>
              <a:rPr lang="en-GB" sz="3200" dirty="0"/>
              <a:t>"The query </a:t>
            </a:r>
            <a:r>
              <a:rPr lang="en-GB" sz="3200" dirty="0">
                <a:solidFill>
                  <a:srgbClr val="FF0000"/>
                </a:solidFill>
              </a:rPr>
              <a:t>is </a:t>
            </a:r>
            <a:r>
              <a:rPr lang="en-GB" sz="3200" dirty="0">
                <a:solidFill>
                  <a:srgbClr val="7030A0"/>
                </a:solidFill>
              </a:rPr>
              <a:t>/</a:t>
            </a:r>
            <a:r>
              <a:rPr lang="en-GB" sz="3200" dirty="0">
                <a:solidFill>
                  <a:srgbClr val="FF0000"/>
                </a:solidFill>
              </a:rPr>
              <a:t> is not </a:t>
            </a:r>
            <a:r>
              <a:rPr lang="en-GB" sz="3200" dirty="0"/>
              <a:t>fit for purpose because … "</a:t>
            </a:r>
          </a:p>
          <a:p>
            <a:pPr lvl="1">
              <a:spcAft>
                <a:spcPts val="1800"/>
              </a:spcAft>
            </a:pPr>
            <a:r>
              <a:rPr lang="en-GB" sz="3200" dirty="0"/>
              <a:t>State what is </a:t>
            </a:r>
            <a:r>
              <a:rPr lang="en-GB" sz="3200" dirty="0">
                <a:solidFill>
                  <a:srgbClr val="FF0000"/>
                </a:solidFill>
              </a:rPr>
              <a:t>correct</a:t>
            </a:r>
            <a:r>
              <a:rPr lang="en-GB" sz="3200" dirty="0"/>
              <a:t> / </a:t>
            </a:r>
            <a:r>
              <a:rPr lang="en-GB" sz="3200" dirty="0">
                <a:solidFill>
                  <a:srgbClr val="FF0000"/>
                </a:solidFill>
              </a:rPr>
              <a:t>incorrect</a:t>
            </a:r>
          </a:p>
          <a:p>
            <a:pPr lvl="1">
              <a:spcAft>
                <a:spcPts val="1800"/>
              </a:spcAft>
            </a:pPr>
            <a:r>
              <a:rPr lang="en-GB" sz="3200" dirty="0"/>
              <a:t>State search criteria that </a:t>
            </a:r>
            <a:r>
              <a:rPr lang="en-GB" sz="3200" dirty="0">
                <a:solidFill>
                  <a:srgbClr val="FF0000"/>
                </a:solidFill>
              </a:rPr>
              <a:t>is </a:t>
            </a:r>
            <a:r>
              <a:rPr lang="en-GB" sz="3200" dirty="0">
                <a:solidFill>
                  <a:srgbClr val="7030A0"/>
                </a:solidFill>
              </a:rPr>
              <a:t>/</a:t>
            </a:r>
            <a:r>
              <a:rPr lang="en-GB" sz="3200" dirty="0">
                <a:solidFill>
                  <a:srgbClr val="FF0000"/>
                </a:solidFill>
              </a:rPr>
              <a:t> is not </a:t>
            </a:r>
            <a:r>
              <a:rPr lang="en-GB" sz="3200" dirty="0"/>
              <a:t>met</a:t>
            </a:r>
          </a:p>
          <a:p>
            <a:pPr lvl="1">
              <a:spcAft>
                <a:spcPts val="1800"/>
              </a:spcAft>
            </a:pPr>
            <a:r>
              <a:rPr lang="en-GB" sz="3200" dirty="0"/>
              <a:t>State sort order that </a:t>
            </a:r>
            <a:r>
              <a:rPr lang="en-GB" sz="3200" dirty="0">
                <a:solidFill>
                  <a:srgbClr val="FF0000"/>
                </a:solidFill>
              </a:rPr>
              <a:t>is </a:t>
            </a:r>
            <a:r>
              <a:rPr lang="en-GB" sz="3200" dirty="0">
                <a:solidFill>
                  <a:srgbClr val="7030A0"/>
                </a:solidFill>
              </a:rPr>
              <a:t>/</a:t>
            </a:r>
            <a:r>
              <a:rPr lang="en-GB" sz="3200" dirty="0">
                <a:solidFill>
                  <a:srgbClr val="FF0000"/>
                </a:solidFill>
              </a:rPr>
              <a:t> is not </a:t>
            </a:r>
            <a:r>
              <a:rPr lang="en-GB" sz="3200" dirty="0"/>
              <a:t>met </a:t>
            </a:r>
          </a:p>
          <a:p>
            <a:pPr marL="0" indent="0">
              <a:buNone/>
            </a:pPr>
            <a:endParaRPr lang="en-GB" sz="3200" dirty="0"/>
          </a:p>
        </p:txBody>
      </p:sp>
    </p:spTree>
    <p:extLst>
      <p:ext uri="{BB962C8B-B14F-4D97-AF65-F5344CB8AC3E}">
        <p14:creationId xmlns:p14="http://schemas.microsoft.com/office/powerpoint/2010/main" val="261094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F5C75-4440-45EA-B288-B1C336048C5E}"/>
              </a:ext>
            </a:extLst>
          </p:cNvPr>
          <p:cNvSpPr>
            <a:spLocks noGrp="1"/>
          </p:cNvSpPr>
          <p:nvPr>
            <p:ph type="title"/>
          </p:nvPr>
        </p:nvSpPr>
        <p:spPr/>
        <p:txBody>
          <a:bodyPr/>
          <a:lstStyle/>
          <a:p>
            <a:r>
              <a:rPr lang="en-GB" dirty="0"/>
              <a:t>Fit for Purpose</a:t>
            </a:r>
          </a:p>
        </p:txBody>
      </p:sp>
      <p:sp>
        <p:nvSpPr>
          <p:cNvPr id="3" name="Content Placeholder 2">
            <a:extLst>
              <a:ext uri="{FF2B5EF4-FFF2-40B4-BE49-F238E27FC236}">
                <a16:creationId xmlns:a16="http://schemas.microsoft.com/office/drawing/2014/main" id="{06B8E349-DC6D-4A5B-8DA3-98695E00841D}"/>
              </a:ext>
            </a:extLst>
          </p:cNvPr>
          <p:cNvSpPr>
            <a:spLocks noGrp="1"/>
          </p:cNvSpPr>
          <p:nvPr>
            <p:ph idx="1"/>
          </p:nvPr>
        </p:nvSpPr>
        <p:spPr/>
        <p:txBody>
          <a:bodyPr>
            <a:normAutofit/>
          </a:bodyPr>
          <a:lstStyle/>
          <a:p>
            <a:pPr marL="0" indent="0">
              <a:spcAft>
                <a:spcPts val="1800"/>
              </a:spcAft>
              <a:buNone/>
            </a:pPr>
            <a:r>
              <a:rPr lang="en-GB" sz="3200" dirty="0"/>
              <a:t>"The query </a:t>
            </a:r>
            <a:r>
              <a:rPr lang="en-GB" sz="3200" dirty="0">
                <a:solidFill>
                  <a:srgbClr val="FF0000"/>
                </a:solidFill>
              </a:rPr>
              <a:t>is </a:t>
            </a:r>
            <a:r>
              <a:rPr lang="en-GB" sz="3200" dirty="0">
                <a:solidFill>
                  <a:srgbClr val="7030A0"/>
                </a:solidFill>
              </a:rPr>
              <a:t>/</a:t>
            </a:r>
            <a:r>
              <a:rPr lang="en-GB" sz="3200" dirty="0">
                <a:solidFill>
                  <a:srgbClr val="FF0000"/>
                </a:solidFill>
              </a:rPr>
              <a:t> is not </a:t>
            </a:r>
            <a:r>
              <a:rPr lang="en-GB" sz="3200" dirty="0"/>
              <a:t>fit for purpose because … "</a:t>
            </a:r>
          </a:p>
          <a:p>
            <a:pPr lvl="1">
              <a:spcAft>
                <a:spcPts val="1800"/>
              </a:spcAft>
            </a:pPr>
            <a:r>
              <a:rPr lang="en-GB" sz="3200" dirty="0"/>
              <a:t> </a:t>
            </a:r>
          </a:p>
          <a:p>
            <a:pPr lvl="1">
              <a:spcAft>
                <a:spcPts val="1800"/>
              </a:spcAft>
            </a:pPr>
            <a:r>
              <a:rPr lang="en-GB" sz="3200" dirty="0"/>
              <a:t> </a:t>
            </a:r>
          </a:p>
          <a:p>
            <a:pPr lvl="1">
              <a:spcAft>
                <a:spcPts val="1800"/>
              </a:spcAft>
            </a:pPr>
            <a:r>
              <a:rPr lang="en-GB" sz="3200" dirty="0"/>
              <a:t> </a:t>
            </a:r>
          </a:p>
          <a:p>
            <a:pPr marL="0" indent="0">
              <a:buNone/>
            </a:pPr>
            <a:endParaRPr lang="en-GB" sz="3200" dirty="0"/>
          </a:p>
        </p:txBody>
      </p:sp>
    </p:spTree>
    <p:extLst>
      <p:ext uri="{BB962C8B-B14F-4D97-AF65-F5344CB8AC3E}">
        <p14:creationId xmlns:p14="http://schemas.microsoft.com/office/powerpoint/2010/main" val="4067987028"/>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F5C75-4440-45EA-B288-B1C336048C5E}"/>
              </a:ext>
            </a:extLst>
          </p:cNvPr>
          <p:cNvSpPr>
            <a:spLocks noGrp="1"/>
          </p:cNvSpPr>
          <p:nvPr>
            <p:ph type="title"/>
          </p:nvPr>
        </p:nvSpPr>
        <p:spPr/>
        <p:txBody>
          <a:bodyPr/>
          <a:lstStyle/>
          <a:p>
            <a:r>
              <a:rPr lang="en-GB" dirty="0"/>
              <a:t>Accuracy of Output</a:t>
            </a:r>
          </a:p>
        </p:txBody>
      </p:sp>
      <p:sp>
        <p:nvSpPr>
          <p:cNvPr id="3" name="Content Placeholder 2">
            <a:extLst>
              <a:ext uri="{FF2B5EF4-FFF2-40B4-BE49-F238E27FC236}">
                <a16:creationId xmlns:a16="http://schemas.microsoft.com/office/drawing/2014/main" id="{06B8E349-DC6D-4A5B-8DA3-98695E00841D}"/>
              </a:ext>
            </a:extLst>
          </p:cNvPr>
          <p:cNvSpPr>
            <a:spLocks noGrp="1"/>
          </p:cNvSpPr>
          <p:nvPr>
            <p:ph idx="1"/>
          </p:nvPr>
        </p:nvSpPr>
        <p:spPr/>
        <p:txBody>
          <a:bodyPr>
            <a:normAutofit/>
          </a:bodyPr>
          <a:lstStyle/>
          <a:p>
            <a:pPr marL="0" indent="0">
              <a:spcAft>
                <a:spcPts val="1800"/>
              </a:spcAft>
              <a:buNone/>
            </a:pPr>
            <a:r>
              <a:rPr lang="en-GB" sz="3200" dirty="0"/>
              <a:t>"The output of the query </a:t>
            </a:r>
            <a:r>
              <a:rPr lang="en-GB" sz="3200" dirty="0">
                <a:solidFill>
                  <a:srgbClr val="FF0000"/>
                </a:solidFill>
              </a:rPr>
              <a:t>is </a:t>
            </a:r>
            <a:r>
              <a:rPr lang="en-GB" sz="3200" dirty="0">
                <a:solidFill>
                  <a:srgbClr val="7030A0"/>
                </a:solidFill>
              </a:rPr>
              <a:t>/</a:t>
            </a:r>
            <a:r>
              <a:rPr lang="en-GB" sz="3200" dirty="0">
                <a:solidFill>
                  <a:srgbClr val="FF0000"/>
                </a:solidFill>
              </a:rPr>
              <a:t> is not </a:t>
            </a:r>
            <a:r>
              <a:rPr lang="en-GB" sz="3200" dirty="0"/>
              <a:t>accurate because … "</a:t>
            </a:r>
          </a:p>
          <a:p>
            <a:pPr lvl="1">
              <a:spcAft>
                <a:spcPts val="1800"/>
              </a:spcAft>
            </a:pPr>
            <a:r>
              <a:rPr lang="en-GB" sz="3200" dirty="0"/>
              <a:t>State what is </a:t>
            </a:r>
            <a:r>
              <a:rPr lang="en-GB" sz="3200" dirty="0">
                <a:solidFill>
                  <a:srgbClr val="FF0000"/>
                </a:solidFill>
              </a:rPr>
              <a:t>correct</a:t>
            </a:r>
            <a:r>
              <a:rPr lang="en-GB" sz="3200" dirty="0"/>
              <a:t> / </a:t>
            </a:r>
            <a:r>
              <a:rPr lang="en-GB" sz="3200" dirty="0">
                <a:solidFill>
                  <a:srgbClr val="FF0000"/>
                </a:solidFill>
              </a:rPr>
              <a:t>incorrect</a:t>
            </a:r>
          </a:p>
          <a:p>
            <a:pPr lvl="1">
              <a:spcAft>
                <a:spcPts val="1800"/>
              </a:spcAft>
            </a:pPr>
            <a:r>
              <a:rPr lang="en-GB" sz="3200" dirty="0"/>
              <a:t>State the required fields that </a:t>
            </a:r>
            <a:r>
              <a:rPr lang="en-GB" sz="3200" dirty="0">
                <a:solidFill>
                  <a:srgbClr val="FF0000"/>
                </a:solidFill>
              </a:rPr>
              <a:t>are </a:t>
            </a:r>
            <a:r>
              <a:rPr lang="en-GB" sz="3200" dirty="0">
                <a:solidFill>
                  <a:srgbClr val="7030A0"/>
                </a:solidFill>
              </a:rPr>
              <a:t>/</a:t>
            </a:r>
            <a:r>
              <a:rPr lang="en-GB" sz="3200" dirty="0">
                <a:solidFill>
                  <a:srgbClr val="FF0000"/>
                </a:solidFill>
              </a:rPr>
              <a:t> are not</a:t>
            </a:r>
            <a:r>
              <a:rPr lang="en-GB" sz="3200" dirty="0"/>
              <a:t> displayed</a:t>
            </a:r>
          </a:p>
          <a:p>
            <a:pPr lvl="1">
              <a:spcAft>
                <a:spcPts val="1800"/>
              </a:spcAft>
            </a:pPr>
            <a:r>
              <a:rPr lang="en-GB" sz="3200" dirty="0"/>
              <a:t>State any extra fields that are displayed</a:t>
            </a:r>
          </a:p>
          <a:p>
            <a:pPr marL="0" indent="0">
              <a:buNone/>
            </a:pPr>
            <a:endParaRPr lang="en-GB" sz="3200" dirty="0"/>
          </a:p>
          <a:p>
            <a:pPr marL="0" indent="0">
              <a:buNone/>
            </a:pPr>
            <a:endParaRPr lang="en-GB" sz="3200" dirty="0"/>
          </a:p>
        </p:txBody>
      </p:sp>
    </p:spTree>
    <p:extLst>
      <p:ext uri="{BB962C8B-B14F-4D97-AF65-F5344CB8AC3E}">
        <p14:creationId xmlns:p14="http://schemas.microsoft.com/office/powerpoint/2010/main" val="1175320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F5C75-4440-45EA-B288-B1C336048C5E}"/>
              </a:ext>
            </a:extLst>
          </p:cNvPr>
          <p:cNvSpPr>
            <a:spLocks noGrp="1"/>
          </p:cNvSpPr>
          <p:nvPr>
            <p:ph type="title"/>
          </p:nvPr>
        </p:nvSpPr>
        <p:spPr/>
        <p:txBody>
          <a:bodyPr/>
          <a:lstStyle/>
          <a:p>
            <a:r>
              <a:rPr lang="en-GB" dirty="0"/>
              <a:t>Accuracy of Output</a:t>
            </a:r>
          </a:p>
        </p:txBody>
      </p:sp>
      <p:sp>
        <p:nvSpPr>
          <p:cNvPr id="3" name="Content Placeholder 2">
            <a:extLst>
              <a:ext uri="{FF2B5EF4-FFF2-40B4-BE49-F238E27FC236}">
                <a16:creationId xmlns:a16="http://schemas.microsoft.com/office/drawing/2014/main" id="{06B8E349-DC6D-4A5B-8DA3-98695E00841D}"/>
              </a:ext>
            </a:extLst>
          </p:cNvPr>
          <p:cNvSpPr>
            <a:spLocks noGrp="1"/>
          </p:cNvSpPr>
          <p:nvPr>
            <p:ph idx="1"/>
          </p:nvPr>
        </p:nvSpPr>
        <p:spPr/>
        <p:txBody>
          <a:bodyPr>
            <a:normAutofit/>
          </a:bodyPr>
          <a:lstStyle/>
          <a:p>
            <a:pPr marL="0" indent="0">
              <a:spcAft>
                <a:spcPts val="1800"/>
              </a:spcAft>
              <a:buNone/>
            </a:pPr>
            <a:r>
              <a:rPr lang="en-GB" sz="3200" dirty="0"/>
              <a:t>"The output of the query </a:t>
            </a:r>
            <a:r>
              <a:rPr lang="en-GB" sz="3200" dirty="0">
                <a:solidFill>
                  <a:srgbClr val="FF0000"/>
                </a:solidFill>
              </a:rPr>
              <a:t>is </a:t>
            </a:r>
            <a:r>
              <a:rPr lang="en-GB" sz="3200" dirty="0">
                <a:solidFill>
                  <a:srgbClr val="7030A0"/>
                </a:solidFill>
              </a:rPr>
              <a:t>/</a:t>
            </a:r>
            <a:r>
              <a:rPr lang="en-GB" sz="3200" dirty="0">
                <a:solidFill>
                  <a:srgbClr val="FF0000"/>
                </a:solidFill>
              </a:rPr>
              <a:t> is not </a:t>
            </a:r>
            <a:r>
              <a:rPr lang="en-GB" sz="3200" dirty="0"/>
              <a:t>accurate because … "</a:t>
            </a:r>
          </a:p>
          <a:p>
            <a:pPr lvl="1">
              <a:spcAft>
                <a:spcPts val="1800"/>
              </a:spcAft>
            </a:pPr>
            <a:r>
              <a:rPr lang="en-GB" sz="3200" dirty="0"/>
              <a:t> </a:t>
            </a:r>
          </a:p>
          <a:p>
            <a:pPr lvl="1">
              <a:spcAft>
                <a:spcPts val="1800"/>
              </a:spcAft>
            </a:pPr>
            <a:r>
              <a:rPr lang="en-GB" sz="3200" dirty="0"/>
              <a:t> </a:t>
            </a:r>
          </a:p>
          <a:p>
            <a:pPr lvl="1">
              <a:spcAft>
                <a:spcPts val="1800"/>
              </a:spcAft>
            </a:pPr>
            <a:r>
              <a:rPr lang="en-GB" sz="3200" dirty="0"/>
              <a:t> </a:t>
            </a:r>
          </a:p>
          <a:p>
            <a:pPr marL="0" indent="0">
              <a:buNone/>
            </a:pPr>
            <a:endParaRPr lang="en-GB" sz="3200" dirty="0"/>
          </a:p>
          <a:p>
            <a:pPr marL="0" indent="0">
              <a:buNone/>
            </a:pPr>
            <a:endParaRPr lang="en-GB" sz="3200" dirty="0"/>
          </a:p>
        </p:txBody>
      </p:sp>
    </p:spTree>
    <p:extLst>
      <p:ext uri="{BB962C8B-B14F-4D97-AF65-F5344CB8AC3E}">
        <p14:creationId xmlns:p14="http://schemas.microsoft.com/office/powerpoint/2010/main" val="4233072005"/>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r>
              <a:rPr lang="en-GB" dirty="0"/>
              <a:t>Create a table</a:t>
            </a:r>
          </a:p>
        </p:txBody>
      </p:sp>
    </p:spTree>
    <p:extLst>
      <p:ext uri="{BB962C8B-B14F-4D97-AF65-F5344CB8AC3E}">
        <p14:creationId xmlns:p14="http://schemas.microsoft.com/office/powerpoint/2010/main" val="3685864833"/>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Data Types</a:t>
            </a:r>
          </a:p>
        </p:txBody>
      </p:sp>
      <p:graphicFrame>
        <p:nvGraphicFramePr>
          <p:cNvPr id="5" name="Table 4"/>
          <p:cNvGraphicFramePr>
            <a:graphicFrameLocks noGrp="1"/>
          </p:cNvGraphicFramePr>
          <p:nvPr>
            <p:extLst>
              <p:ext uri="{D42A27DB-BD31-4B8C-83A1-F6EECF244321}">
                <p14:modId xmlns:p14="http://schemas.microsoft.com/office/powerpoint/2010/main" val="1561520139"/>
              </p:ext>
            </p:extLst>
          </p:nvPr>
        </p:nvGraphicFramePr>
        <p:xfrm>
          <a:off x="838199" y="1690688"/>
          <a:ext cx="10700657" cy="4732535"/>
        </p:xfrm>
        <a:graphic>
          <a:graphicData uri="http://schemas.openxmlformats.org/drawingml/2006/table">
            <a:tbl>
              <a:tblPr firstRow="1" bandRow="1">
                <a:tableStyleId>{5C22544A-7EE6-4342-B048-85BDC9FD1C3A}</a:tableStyleId>
              </a:tblPr>
              <a:tblGrid>
                <a:gridCol w="2304620">
                  <a:extLst>
                    <a:ext uri="{9D8B030D-6E8A-4147-A177-3AD203B41FA5}">
                      <a16:colId xmlns:a16="http://schemas.microsoft.com/office/drawing/2014/main" val="3886860534"/>
                    </a:ext>
                  </a:extLst>
                </a:gridCol>
                <a:gridCol w="3796996">
                  <a:extLst>
                    <a:ext uri="{9D8B030D-6E8A-4147-A177-3AD203B41FA5}">
                      <a16:colId xmlns:a16="http://schemas.microsoft.com/office/drawing/2014/main" val="2462689531"/>
                    </a:ext>
                  </a:extLst>
                </a:gridCol>
                <a:gridCol w="4599041">
                  <a:extLst>
                    <a:ext uri="{9D8B030D-6E8A-4147-A177-3AD203B41FA5}">
                      <a16:colId xmlns:a16="http://schemas.microsoft.com/office/drawing/2014/main" val="2428889176"/>
                    </a:ext>
                  </a:extLst>
                </a:gridCol>
              </a:tblGrid>
              <a:tr h="720000">
                <a:tc>
                  <a:txBody>
                    <a:bodyPr/>
                    <a:lstStyle/>
                    <a:p>
                      <a:r>
                        <a:rPr lang="en-GB" sz="4000"/>
                        <a:t>Type</a:t>
                      </a:r>
                    </a:p>
                  </a:txBody>
                  <a:tcPr anchor="ctr"/>
                </a:tc>
                <a:tc>
                  <a:txBody>
                    <a:bodyPr/>
                    <a:lstStyle/>
                    <a:p>
                      <a:r>
                        <a:rPr lang="en-GB" sz="4000" dirty="0"/>
                        <a:t>SQL</a:t>
                      </a:r>
                      <a:endParaRPr lang="en-GB" dirty="0"/>
                    </a:p>
                  </a:txBody>
                  <a:tcPr anchor="ctr"/>
                </a:tc>
                <a:tc>
                  <a:txBody>
                    <a:bodyPr/>
                    <a:lstStyle/>
                    <a:p>
                      <a:r>
                        <a:rPr lang="en-GB" sz="4000" dirty="0"/>
                        <a:t>Comment</a:t>
                      </a:r>
                    </a:p>
                  </a:txBody>
                  <a:tcPr anchor="ctr"/>
                </a:tc>
                <a:extLst>
                  <a:ext uri="{0D108BD9-81ED-4DB2-BD59-A6C34878D82A}">
                    <a16:rowId xmlns:a16="http://schemas.microsoft.com/office/drawing/2014/main" val="2306187331"/>
                  </a:ext>
                </a:extLst>
              </a:tr>
              <a:tr h="802507">
                <a:tc>
                  <a:txBody>
                    <a:bodyPr/>
                    <a:lstStyle/>
                    <a:p>
                      <a:r>
                        <a:rPr lang="en-GB" sz="3600" dirty="0"/>
                        <a:t>text</a:t>
                      </a:r>
                    </a:p>
                  </a:txBody>
                  <a:tcPr anchor="ctr"/>
                </a:tc>
                <a:tc>
                  <a:txBody>
                    <a:bodyPr/>
                    <a:lstStyle/>
                    <a:p>
                      <a:endParaRPr lang="en-GB" sz="3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3600" dirty="0"/>
                    </a:p>
                  </a:txBody>
                  <a:tcPr anchor="ctr"/>
                </a:tc>
                <a:extLst>
                  <a:ext uri="{0D108BD9-81ED-4DB2-BD59-A6C34878D82A}">
                    <a16:rowId xmlns:a16="http://schemas.microsoft.com/office/drawing/2014/main" val="3461540582"/>
                  </a:ext>
                </a:extLst>
              </a:tr>
              <a:tr h="802507">
                <a:tc>
                  <a:txBody>
                    <a:bodyPr/>
                    <a:lstStyle/>
                    <a:p>
                      <a:r>
                        <a:rPr lang="en-GB" sz="3600" dirty="0"/>
                        <a:t>number</a:t>
                      </a:r>
                    </a:p>
                  </a:txBody>
                  <a:tcPr anchor="ctr"/>
                </a:tc>
                <a:tc>
                  <a:txBody>
                    <a:bodyPr/>
                    <a:lstStyle/>
                    <a:p>
                      <a:endParaRPr lang="en-GB" sz="3600" dirty="0"/>
                    </a:p>
                  </a:txBody>
                  <a:tcPr anchor="ctr"/>
                </a:tc>
                <a:tc>
                  <a:txBody>
                    <a:bodyPr/>
                    <a:lstStyle/>
                    <a:p>
                      <a:endParaRPr lang="en-GB" sz="3600" dirty="0"/>
                    </a:p>
                  </a:txBody>
                  <a:tcPr anchor="ctr"/>
                </a:tc>
                <a:extLst>
                  <a:ext uri="{0D108BD9-81ED-4DB2-BD59-A6C34878D82A}">
                    <a16:rowId xmlns:a16="http://schemas.microsoft.com/office/drawing/2014/main" val="3725072174"/>
                  </a:ext>
                </a:extLst>
              </a:tr>
              <a:tr h="802507">
                <a:tc>
                  <a:txBody>
                    <a:bodyPr/>
                    <a:lstStyle/>
                    <a:p>
                      <a:r>
                        <a:rPr lang="en-GB" sz="3600" dirty="0"/>
                        <a:t>date</a:t>
                      </a:r>
                    </a:p>
                  </a:txBody>
                  <a:tcPr anchor="ctr"/>
                </a:tc>
                <a:tc>
                  <a:txBody>
                    <a:bodyPr/>
                    <a:lstStyle/>
                    <a:p>
                      <a:endParaRPr lang="en-GB" sz="3600" dirty="0"/>
                    </a:p>
                  </a:txBody>
                  <a:tcPr anchor="ctr"/>
                </a:tc>
                <a:tc>
                  <a:txBody>
                    <a:bodyPr/>
                    <a:lstStyle/>
                    <a:p>
                      <a:endParaRPr lang="en-GB" sz="3600" dirty="0"/>
                    </a:p>
                  </a:txBody>
                  <a:tcPr anchor="ctr"/>
                </a:tc>
                <a:extLst>
                  <a:ext uri="{0D108BD9-81ED-4DB2-BD59-A6C34878D82A}">
                    <a16:rowId xmlns:a16="http://schemas.microsoft.com/office/drawing/2014/main" val="2280682125"/>
                  </a:ext>
                </a:extLst>
              </a:tr>
              <a:tr h="802507">
                <a:tc>
                  <a:txBody>
                    <a:bodyPr/>
                    <a:lstStyle/>
                    <a:p>
                      <a:r>
                        <a:rPr lang="en-GB" sz="3600" dirty="0"/>
                        <a:t>time</a:t>
                      </a:r>
                    </a:p>
                  </a:txBody>
                  <a:tcPr anchor="ctr"/>
                </a:tc>
                <a:tc>
                  <a:txBody>
                    <a:bodyPr/>
                    <a:lstStyle/>
                    <a:p>
                      <a:endParaRPr lang="en-GB" sz="3600" dirty="0"/>
                    </a:p>
                  </a:txBody>
                  <a:tcPr anchor="ctr"/>
                </a:tc>
                <a:tc>
                  <a:txBody>
                    <a:bodyPr/>
                    <a:lstStyle/>
                    <a:p>
                      <a:endParaRPr lang="en-GB" sz="3600" dirty="0"/>
                    </a:p>
                  </a:txBody>
                  <a:tcPr anchor="ctr"/>
                </a:tc>
                <a:extLst>
                  <a:ext uri="{0D108BD9-81ED-4DB2-BD59-A6C34878D82A}">
                    <a16:rowId xmlns:a16="http://schemas.microsoft.com/office/drawing/2014/main" val="40948160"/>
                  </a:ext>
                </a:extLst>
              </a:tr>
              <a:tr h="802507">
                <a:tc>
                  <a:txBody>
                    <a:bodyPr/>
                    <a:lstStyle/>
                    <a:p>
                      <a:r>
                        <a:rPr lang="en-GB" sz="3600"/>
                        <a:t>Boolean</a:t>
                      </a:r>
                    </a:p>
                  </a:txBody>
                  <a:tcPr anchor="ctr"/>
                </a:tc>
                <a:tc>
                  <a:txBody>
                    <a:bodyPr/>
                    <a:lstStyle/>
                    <a:p>
                      <a:endParaRPr lang="en-GB" sz="3600" dirty="0"/>
                    </a:p>
                  </a:txBody>
                  <a:tcPr anchor="ctr"/>
                </a:tc>
                <a:tc>
                  <a:txBody>
                    <a:bodyPr/>
                    <a:lstStyle/>
                    <a:p>
                      <a:endParaRPr lang="en-GB" sz="3600" dirty="0"/>
                    </a:p>
                  </a:txBody>
                  <a:tcPr anchor="ctr"/>
                </a:tc>
                <a:extLst>
                  <a:ext uri="{0D108BD9-81ED-4DB2-BD59-A6C34878D82A}">
                    <a16:rowId xmlns:a16="http://schemas.microsoft.com/office/drawing/2014/main" val="788213604"/>
                  </a:ext>
                </a:extLst>
              </a:tr>
            </a:tbl>
          </a:graphicData>
        </a:graphic>
      </p:graphicFrame>
      <p:sp>
        <p:nvSpPr>
          <p:cNvPr id="6" name="TextBox 5">
            <a:extLst>
              <a:ext uri="{FF2B5EF4-FFF2-40B4-BE49-F238E27FC236}">
                <a16:creationId xmlns:a16="http://schemas.microsoft.com/office/drawing/2014/main" id="{213C2DD8-DE81-4F49-BB33-3CD1484A4605}"/>
              </a:ext>
            </a:extLst>
          </p:cNvPr>
          <p:cNvSpPr txBox="1"/>
          <p:nvPr/>
        </p:nvSpPr>
        <p:spPr>
          <a:xfrm>
            <a:off x="3138972" y="2481291"/>
            <a:ext cx="2957028" cy="646331"/>
          </a:xfrm>
          <a:prstGeom prst="rect">
            <a:avLst/>
          </a:prstGeom>
          <a:noFill/>
        </p:spPr>
        <p:txBody>
          <a:bodyPr wrap="none" rtlCol="0">
            <a:spAutoFit/>
          </a:bodyPr>
          <a:lstStyle/>
          <a:p>
            <a:r>
              <a:rPr lang="en-GB" sz="3600" dirty="0"/>
              <a:t>VARCHAR(size)</a:t>
            </a:r>
          </a:p>
        </p:txBody>
      </p:sp>
      <p:sp>
        <p:nvSpPr>
          <p:cNvPr id="7" name="TextBox 6">
            <a:extLst>
              <a:ext uri="{FF2B5EF4-FFF2-40B4-BE49-F238E27FC236}">
                <a16:creationId xmlns:a16="http://schemas.microsoft.com/office/drawing/2014/main" id="{3D74CAB3-48D6-4AE8-852D-C1672928A55F}"/>
              </a:ext>
            </a:extLst>
          </p:cNvPr>
          <p:cNvSpPr txBox="1"/>
          <p:nvPr/>
        </p:nvSpPr>
        <p:spPr>
          <a:xfrm>
            <a:off x="3138972" y="3285342"/>
            <a:ext cx="2143407" cy="646331"/>
          </a:xfrm>
          <a:prstGeom prst="rect">
            <a:avLst/>
          </a:prstGeom>
          <a:noFill/>
        </p:spPr>
        <p:txBody>
          <a:bodyPr wrap="none" rtlCol="0">
            <a:spAutoFit/>
          </a:bodyPr>
          <a:lstStyle/>
          <a:p>
            <a:r>
              <a:rPr lang="en-GB" sz="3600" dirty="0"/>
              <a:t>INT </a:t>
            </a:r>
            <a:r>
              <a:rPr lang="en-GB" sz="3600" dirty="0">
                <a:solidFill>
                  <a:srgbClr val="7030A0"/>
                </a:solidFill>
              </a:rPr>
              <a:t>/</a:t>
            </a:r>
            <a:r>
              <a:rPr lang="en-GB" sz="3600" dirty="0"/>
              <a:t> REAL</a:t>
            </a:r>
          </a:p>
        </p:txBody>
      </p:sp>
      <p:sp>
        <p:nvSpPr>
          <p:cNvPr id="8" name="TextBox 7">
            <a:extLst>
              <a:ext uri="{FF2B5EF4-FFF2-40B4-BE49-F238E27FC236}">
                <a16:creationId xmlns:a16="http://schemas.microsoft.com/office/drawing/2014/main" id="{36BA8DDB-5D18-4F8A-8BF1-2999BC1F43EF}"/>
              </a:ext>
            </a:extLst>
          </p:cNvPr>
          <p:cNvSpPr txBox="1"/>
          <p:nvPr/>
        </p:nvSpPr>
        <p:spPr>
          <a:xfrm>
            <a:off x="3138972" y="4107322"/>
            <a:ext cx="1143711" cy="646331"/>
          </a:xfrm>
          <a:prstGeom prst="rect">
            <a:avLst/>
          </a:prstGeom>
          <a:noFill/>
        </p:spPr>
        <p:txBody>
          <a:bodyPr wrap="none" rtlCol="0">
            <a:spAutoFit/>
          </a:bodyPr>
          <a:lstStyle/>
          <a:p>
            <a:r>
              <a:rPr lang="en-GB" sz="3600" dirty="0"/>
              <a:t>DATE</a:t>
            </a:r>
          </a:p>
        </p:txBody>
      </p:sp>
      <p:sp>
        <p:nvSpPr>
          <p:cNvPr id="9" name="TextBox 8">
            <a:extLst>
              <a:ext uri="{FF2B5EF4-FFF2-40B4-BE49-F238E27FC236}">
                <a16:creationId xmlns:a16="http://schemas.microsoft.com/office/drawing/2014/main" id="{DBEE6A21-ECAD-4FB4-9415-223BD7759DC2}"/>
              </a:ext>
            </a:extLst>
          </p:cNvPr>
          <p:cNvSpPr txBox="1"/>
          <p:nvPr/>
        </p:nvSpPr>
        <p:spPr>
          <a:xfrm>
            <a:off x="3138972" y="4907193"/>
            <a:ext cx="1146468" cy="646331"/>
          </a:xfrm>
          <a:prstGeom prst="rect">
            <a:avLst/>
          </a:prstGeom>
          <a:noFill/>
        </p:spPr>
        <p:txBody>
          <a:bodyPr wrap="none" rtlCol="0">
            <a:spAutoFit/>
          </a:bodyPr>
          <a:lstStyle/>
          <a:p>
            <a:r>
              <a:rPr lang="en-GB" sz="3600" dirty="0"/>
              <a:t>TIME</a:t>
            </a:r>
          </a:p>
        </p:txBody>
      </p:sp>
      <p:sp>
        <p:nvSpPr>
          <p:cNvPr id="10" name="TextBox 9">
            <a:extLst>
              <a:ext uri="{FF2B5EF4-FFF2-40B4-BE49-F238E27FC236}">
                <a16:creationId xmlns:a16="http://schemas.microsoft.com/office/drawing/2014/main" id="{EEAD741D-8C95-4152-94FE-5A0F8E9D7B1E}"/>
              </a:ext>
            </a:extLst>
          </p:cNvPr>
          <p:cNvSpPr txBox="1"/>
          <p:nvPr/>
        </p:nvSpPr>
        <p:spPr>
          <a:xfrm>
            <a:off x="3138972" y="5697306"/>
            <a:ext cx="1242648" cy="646331"/>
          </a:xfrm>
          <a:prstGeom prst="rect">
            <a:avLst/>
          </a:prstGeom>
          <a:noFill/>
        </p:spPr>
        <p:txBody>
          <a:bodyPr wrap="none" rtlCol="0">
            <a:spAutoFit/>
          </a:bodyPr>
          <a:lstStyle/>
          <a:p>
            <a:r>
              <a:rPr lang="en-GB" sz="3600" dirty="0"/>
              <a:t>BOOL</a:t>
            </a:r>
          </a:p>
        </p:txBody>
      </p:sp>
      <p:sp>
        <p:nvSpPr>
          <p:cNvPr id="11" name="TextBox 10">
            <a:extLst>
              <a:ext uri="{FF2B5EF4-FFF2-40B4-BE49-F238E27FC236}">
                <a16:creationId xmlns:a16="http://schemas.microsoft.com/office/drawing/2014/main" id="{D3394448-7BFE-4DD1-BCD4-64686E621426}"/>
              </a:ext>
            </a:extLst>
          </p:cNvPr>
          <p:cNvSpPr txBox="1"/>
          <p:nvPr/>
        </p:nvSpPr>
        <p:spPr>
          <a:xfrm>
            <a:off x="6905429" y="2481290"/>
            <a:ext cx="4169603" cy="646331"/>
          </a:xfrm>
          <a:prstGeom prst="rect">
            <a:avLst/>
          </a:prstGeom>
          <a:noFill/>
        </p:spPr>
        <p:txBody>
          <a:bodyPr wrap="none" rtlCol="0">
            <a:spAutoFit/>
          </a:bodyPr>
          <a:lstStyle/>
          <a:p>
            <a:r>
              <a:rPr lang="en-GB" sz="3600" dirty="0"/>
              <a:t>Size = max characters</a:t>
            </a:r>
          </a:p>
        </p:txBody>
      </p:sp>
    </p:spTree>
    <p:extLst>
      <p:ext uri="{BB962C8B-B14F-4D97-AF65-F5344CB8AC3E}">
        <p14:creationId xmlns:p14="http://schemas.microsoft.com/office/powerpoint/2010/main" val="1730634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1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75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Lst>
  </p:timing>
</p:sld>
</file>

<file path=ppt/slides/slide2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Data Types</a:t>
            </a:r>
          </a:p>
        </p:txBody>
      </p:sp>
      <p:graphicFrame>
        <p:nvGraphicFramePr>
          <p:cNvPr id="5" name="Table 4"/>
          <p:cNvGraphicFramePr>
            <a:graphicFrameLocks noGrp="1"/>
          </p:cNvGraphicFramePr>
          <p:nvPr>
            <p:extLst>
              <p:ext uri="{D42A27DB-BD31-4B8C-83A1-F6EECF244321}">
                <p14:modId xmlns:p14="http://schemas.microsoft.com/office/powerpoint/2010/main" val="704281264"/>
              </p:ext>
            </p:extLst>
          </p:nvPr>
        </p:nvGraphicFramePr>
        <p:xfrm>
          <a:off x="838199" y="1690688"/>
          <a:ext cx="10700657" cy="4732535"/>
        </p:xfrm>
        <a:graphic>
          <a:graphicData uri="http://schemas.openxmlformats.org/drawingml/2006/table">
            <a:tbl>
              <a:tblPr firstRow="1" bandRow="1">
                <a:tableStyleId>{5C22544A-7EE6-4342-B048-85BDC9FD1C3A}</a:tableStyleId>
              </a:tblPr>
              <a:tblGrid>
                <a:gridCol w="2304620">
                  <a:extLst>
                    <a:ext uri="{9D8B030D-6E8A-4147-A177-3AD203B41FA5}">
                      <a16:colId xmlns:a16="http://schemas.microsoft.com/office/drawing/2014/main" val="3886860534"/>
                    </a:ext>
                  </a:extLst>
                </a:gridCol>
                <a:gridCol w="3796996">
                  <a:extLst>
                    <a:ext uri="{9D8B030D-6E8A-4147-A177-3AD203B41FA5}">
                      <a16:colId xmlns:a16="http://schemas.microsoft.com/office/drawing/2014/main" val="2462689531"/>
                    </a:ext>
                  </a:extLst>
                </a:gridCol>
                <a:gridCol w="4599041">
                  <a:extLst>
                    <a:ext uri="{9D8B030D-6E8A-4147-A177-3AD203B41FA5}">
                      <a16:colId xmlns:a16="http://schemas.microsoft.com/office/drawing/2014/main" val="2428889176"/>
                    </a:ext>
                  </a:extLst>
                </a:gridCol>
              </a:tblGrid>
              <a:tr h="720000">
                <a:tc>
                  <a:txBody>
                    <a:bodyPr/>
                    <a:lstStyle/>
                    <a:p>
                      <a:r>
                        <a:rPr lang="en-GB" sz="4000"/>
                        <a:t>Type</a:t>
                      </a:r>
                    </a:p>
                  </a:txBody>
                  <a:tcPr anchor="ctr"/>
                </a:tc>
                <a:tc>
                  <a:txBody>
                    <a:bodyPr/>
                    <a:lstStyle/>
                    <a:p>
                      <a:r>
                        <a:rPr lang="en-GB" sz="4000" dirty="0"/>
                        <a:t>SQL</a:t>
                      </a:r>
                      <a:endParaRPr lang="en-GB" dirty="0"/>
                    </a:p>
                  </a:txBody>
                  <a:tcPr anchor="ctr"/>
                </a:tc>
                <a:tc>
                  <a:txBody>
                    <a:bodyPr/>
                    <a:lstStyle/>
                    <a:p>
                      <a:r>
                        <a:rPr lang="en-GB" sz="4000" dirty="0"/>
                        <a:t>Comment</a:t>
                      </a:r>
                    </a:p>
                  </a:txBody>
                  <a:tcPr anchor="ctr"/>
                </a:tc>
                <a:extLst>
                  <a:ext uri="{0D108BD9-81ED-4DB2-BD59-A6C34878D82A}">
                    <a16:rowId xmlns:a16="http://schemas.microsoft.com/office/drawing/2014/main" val="2306187331"/>
                  </a:ext>
                </a:extLst>
              </a:tr>
              <a:tr h="802507">
                <a:tc>
                  <a:txBody>
                    <a:bodyPr/>
                    <a:lstStyle/>
                    <a:p>
                      <a:endParaRPr lang="en-GB" sz="3600" dirty="0"/>
                    </a:p>
                  </a:txBody>
                  <a:tcPr anchor="ctr"/>
                </a:tc>
                <a:tc>
                  <a:txBody>
                    <a:bodyPr/>
                    <a:lstStyle/>
                    <a:p>
                      <a:r>
                        <a:rPr lang="en-GB" sz="3600" dirty="0"/>
                        <a:t>VARCHAR(size)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600" dirty="0"/>
                        <a:t>Size =</a:t>
                      </a:r>
                    </a:p>
                  </a:txBody>
                  <a:tcPr anchor="ctr"/>
                </a:tc>
                <a:extLst>
                  <a:ext uri="{0D108BD9-81ED-4DB2-BD59-A6C34878D82A}">
                    <a16:rowId xmlns:a16="http://schemas.microsoft.com/office/drawing/2014/main" val="3461540582"/>
                  </a:ext>
                </a:extLst>
              </a:tr>
              <a:tr h="802507">
                <a:tc>
                  <a:txBody>
                    <a:bodyPr/>
                    <a:lstStyle/>
                    <a:p>
                      <a:endParaRPr lang="en-GB" sz="3600" dirty="0"/>
                    </a:p>
                  </a:txBody>
                  <a:tcPr anchor="ctr"/>
                </a:tc>
                <a:tc>
                  <a:txBody>
                    <a:bodyPr/>
                    <a:lstStyle/>
                    <a:p>
                      <a:r>
                        <a:rPr lang="en-GB" sz="3600" dirty="0"/>
                        <a:t>INT </a:t>
                      </a:r>
                      <a:r>
                        <a:rPr lang="en-GB" sz="3600" dirty="0">
                          <a:solidFill>
                            <a:srgbClr val="7030A0"/>
                          </a:solidFill>
                        </a:rPr>
                        <a:t>/</a:t>
                      </a:r>
                      <a:r>
                        <a:rPr lang="en-GB" sz="3600" dirty="0"/>
                        <a:t> REAL</a:t>
                      </a:r>
                    </a:p>
                  </a:txBody>
                  <a:tcPr anchor="ctr"/>
                </a:tc>
                <a:tc>
                  <a:txBody>
                    <a:bodyPr/>
                    <a:lstStyle/>
                    <a:p>
                      <a:endParaRPr lang="en-GB" sz="3600" dirty="0"/>
                    </a:p>
                  </a:txBody>
                  <a:tcPr anchor="ctr"/>
                </a:tc>
                <a:extLst>
                  <a:ext uri="{0D108BD9-81ED-4DB2-BD59-A6C34878D82A}">
                    <a16:rowId xmlns:a16="http://schemas.microsoft.com/office/drawing/2014/main" val="3725072174"/>
                  </a:ext>
                </a:extLst>
              </a:tr>
              <a:tr h="802507">
                <a:tc>
                  <a:txBody>
                    <a:bodyPr/>
                    <a:lstStyle/>
                    <a:p>
                      <a:endParaRPr lang="en-GB" sz="3600" dirty="0"/>
                    </a:p>
                  </a:txBody>
                  <a:tcPr anchor="ctr"/>
                </a:tc>
                <a:tc>
                  <a:txBody>
                    <a:bodyPr/>
                    <a:lstStyle/>
                    <a:p>
                      <a:r>
                        <a:rPr lang="en-GB" sz="3600" dirty="0"/>
                        <a:t>DATE</a:t>
                      </a:r>
                    </a:p>
                  </a:txBody>
                  <a:tcPr anchor="ctr"/>
                </a:tc>
                <a:tc>
                  <a:txBody>
                    <a:bodyPr/>
                    <a:lstStyle/>
                    <a:p>
                      <a:endParaRPr lang="en-GB" sz="3600" dirty="0"/>
                    </a:p>
                  </a:txBody>
                  <a:tcPr anchor="ctr"/>
                </a:tc>
                <a:extLst>
                  <a:ext uri="{0D108BD9-81ED-4DB2-BD59-A6C34878D82A}">
                    <a16:rowId xmlns:a16="http://schemas.microsoft.com/office/drawing/2014/main" val="2280682125"/>
                  </a:ext>
                </a:extLst>
              </a:tr>
              <a:tr h="802507">
                <a:tc>
                  <a:txBody>
                    <a:bodyPr/>
                    <a:lstStyle/>
                    <a:p>
                      <a:endParaRPr lang="en-GB" sz="3600" dirty="0"/>
                    </a:p>
                  </a:txBody>
                  <a:tcPr anchor="ctr"/>
                </a:tc>
                <a:tc>
                  <a:txBody>
                    <a:bodyPr/>
                    <a:lstStyle/>
                    <a:p>
                      <a:r>
                        <a:rPr lang="en-GB" sz="3600" dirty="0"/>
                        <a:t>TIME</a:t>
                      </a:r>
                    </a:p>
                  </a:txBody>
                  <a:tcPr anchor="ctr"/>
                </a:tc>
                <a:tc>
                  <a:txBody>
                    <a:bodyPr/>
                    <a:lstStyle/>
                    <a:p>
                      <a:endParaRPr lang="en-GB" sz="3600" dirty="0"/>
                    </a:p>
                  </a:txBody>
                  <a:tcPr anchor="ctr"/>
                </a:tc>
                <a:extLst>
                  <a:ext uri="{0D108BD9-81ED-4DB2-BD59-A6C34878D82A}">
                    <a16:rowId xmlns:a16="http://schemas.microsoft.com/office/drawing/2014/main" val="40948160"/>
                  </a:ext>
                </a:extLst>
              </a:tr>
              <a:tr h="802507">
                <a:tc>
                  <a:txBody>
                    <a:bodyPr/>
                    <a:lstStyle/>
                    <a:p>
                      <a:endParaRPr lang="en-GB" sz="3600" dirty="0"/>
                    </a:p>
                  </a:txBody>
                  <a:tcPr anchor="ctr"/>
                </a:tc>
                <a:tc>
                  <a:txBody>
                    <a:bodyPr/>
                    <a:lstStyle/>
                    <a:p>
                      <a:r>
                        <a:rPr lang="en-GB" sz="3600" dirty="0"/>
                        <a:t>BOOL</a:t>
                      </a:r>
                    </a:p>
                  </a:txBody>
                  <a:tcPr anchor="ctr"/>
                </a:tc>
                <a:tc>
                  <a:txBody>
                    <a:bodyPr/>
                    <a:lstStyle/>
                    <a:p>
                      <a:endParaRPr lang="en-GB" sz="3600" dirty="0"/>
                    </a:p>
                  </a:txBody>
                  <a:tcPr anchor="ctr"/>
                </a:tc>
                <a:extLst>
                  <a:ext uri="{0D108BD9-81ED-4DB2-BD59-A6C34878D82A}">
                    <a16:rowId xmlns:a16="http://schemas.microsoft.com/office/drawing/2014/main" val="788213604"/>
                  </a:ext>
                </a:extLst>
              </a:tr>
            </a:tbl>
          </a:graphicData>
        </a:graphic>
      </p:graphicFrame>
    </p:spTree>
    <p:extLst>
      <p:ext uri="{BB962C8B-B14F-4D97-AF65-F5344CB8AC3E}">
        <p14:creationId xmlns:p14="http://schemas.microsoft.com/office/powerpoint/2010/main" val="1166479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BCD22-4094-7C2D-7AFF-D31CE2E460D0}"/>
              </a:ext>
            </a:extLst>
          </p:cNvPr>
          <p:cNvSpPr>
            <a:spLocks noGrp="1"/>
          </p:cNvSpPr>
          <p:nvPr>
            <p:ph type="title"/>
          </p:nvPr>
        </p:nvSpPr>
        <p:spPr/>
        <p:txBody>
          <a:bodyPr/>
          <a:lstStyle/>
          <a:p>
            <a:r>
              <a:rPr lang="en-GB" dirty="0"/>
              <a:t>Validation</a:t>
            </a:r>
          </a:p>
        </p:txBody>
      </p:sp>
      <p:graphicFrame>
        <p:nvGraphicFramePr>
          <p:cNvPr id="4" name="Table 4">
            <a:extLst>
              <a:ext uri="{FF2B5EF4-FFF2-40B4-BE49-F238E27FC236}">
                <a16:creationId xmlns:a16="http://schemas.microsoft.com/office/drawing/2014/main" id="{2D33DD18-5F25-90D0-9ED0-252DD9A0F5A9}"/>
              </a:ext>
            </a:extLst>
          </p:cNvPr>
          <p:cNvGraphicFramePr>
            <a:graphicFrameLocks noGrp="1"/>
          </p:cNvGraphicFramePr>
          <p:nvPr>
            <p:ph idx="1"/>
          </p:nvPr>
        </p:nvGraphicFramePr>
        <p:xfrm>
          <a:off x="588000" y="1825625"/>
          <a:ext cx="11016000" cy="579120"/>
        </p:xfrm>
        <a:graphic>
          <a:graphicData uri="http://schemas.openxmlformats.org/drawingml/2006/table">
            <a:tbl>
              <a:tblPr firstRow="1" bandRow="1">
                <a:tableStyleId>{5C22544A-7EE6-4342-B048-85BDC9FD1C3A}</a:tableStyleId>
              </a:tblPr>
              <a:tblGrid>
                <a:gridCol w="2780278">
                  <a:extLst>
                    <a:ext uri="{9D8B030D-6E8A-4147-A177-3AD203B41FA5}">
                      <a16:colId xmlns:a16="http://schemas.microsoft.com/office/drawing/2014/main" val="4090402969"/>
                    </a:ext>
                  </a:extLst>
                </a:gridCol>
                <a:gridCol w="8235722">
                  <a:extLst>
                    <a:ext uri="{9D8B030D-6E8A-4147-A177-3AD203B41FA5}">
                      <a16:colId xmlns:a16="http://schemas.microsoft.com/office/drawing/2014/main" val="1722507857"/>
                    </a:ext>
                  </a:extLst>
                </a:gridCol>
              </a:tblGrid>
              <a:tr h="370840">
                <a:tc>
                  <a:txBody>
                    <a:bodyPr/>
                    <a:lstStyle/>
                    <a:p>
                      <a:r>
                        <a:rPr lang="en-GB" sz="3200" dirty="0"/>
                        <a:t>Type</a:t>
                      </a:r>
                    </a:p>
                  </a:txBody>
                  <a:tcPr/>
                </a:tc>
                <a:tc>
                  <a:txBody>
                    <a:bodyPr/>
                    <a:lstStyle/>
                    <a:p>
                      <a:r>
                        <a:rPr lang="en-GB" sz="3200" dirty="0"/>
                        <a:t>SQLite</a:t>
                      </a:r>
                    </a:p>
                  </a:txBody>
                  <a:tcPr/>
                </a:tc>
                <a:extLst>
                  <a:ext uri="{0D108BD9-81ED-4DB2-BD59-A6C34878D82A}">
                    <a16:rowId xmlns:a16="http://schemas.microsoft.com/office/drawing/2014/main" val="2410808451"/>
                  </a:ext>
                </a:extLst>
              </a:tr>
            </a:tbl>
          </a:graphicData>
        </a:graphic>
      </p:graphicFrame>
      <p:graphicFrame>
        <p:nvGraphicFramePr>
          <p:cNvPr id="3" name="Table 4">
            <a:extLst>
              <a:ext uri="{FF2B5EF4-FFF2-40B4-BE49-F238E27FC236}">
                <a16:creationId xmlns:a16="http://schemas.microsoft.com/office/drawing/2014/main" id="{EF8BA731-9234-00F1-1ADD-A00FA76E7140}"/>
              </a:ext>
            </a:extLst>
          </p:cNvPr>
          <p:cNvGraphicFramePr>
            <a:graphicFrameLocks/>
          </p:cNvGraphicFramePr>
          <p:nvPr/>
        </p:nvGraphicFramePr>
        <p:xfrm>
          <a:off x="588000" y="3150433"/>
          <a:ext cx="11016000" cy="720000"/>
        </p:xfrm>
        <a:graphic>
          <a:graphicData uri="http://schemas.openxmlformats.org/drawingml/2006/table">
            <a:tbl>
              <a:tblPr bandRow="1">
                <a:tableStyleId>{5C22544A-7EE6-4342-B048-85BDC9FD1C3A}</a:tableStyleId>
              </a:tblPr>
              <a:tblGrid>
                <a:gridCol w="2780609">
                  <a:extLst>
                    <a:ext uri="{9D8B030D-6E8A-4147-A177-3AD203B41FA5}">
                      <a16:colId xmlns:a16="http://schemas.microsoft.com/office/drawing/2014/main" val="4090402969"/>
                    </a:ext>
                  </a:extLst>
                </a:gridCol>
                <a:gridCol w="8235391">
                  <a:extLst>
                    <a:ext uri="{9D8B030D-6E8A-4147-A177-3AD203B41FA5}">
                      <a16:colId xmlns:a16="http://schemas.microsoft.com/office/drawing/2014/main" val="1722507857"/>
                    </a:ext>
                  </a:extLst>
                </a:gridCol>
              </a:tblGrid>
              <a:tr h="720000">
                <a:tc>
                  <a:txBody>
                    <a:bodyPr/>
                    <a:lstStyle/>
                    <a:p>
                      <a:r>
                        <a:rPr lang="en-GB" sz="2900" dirty="0"/>
                        <a:t>Restricted choice</a:t>
                      </a:r>
                    </a:p>
                  </a:txBody>
                  <a:tcPr anchor="ctr">
                    <a:solidFill>
                      <a:srgbClr val="E9EBF5"/>
                    </a:solidFill>
                  </a:tcPr>
                </a:tc>
                <a:tc>
                  <a:txBody>
                    <a:bodyPr/>
                    <a:lstStyle/>
                    <a:p>
                      <a:r>
                        <a:rPr lang="en-GB" sz="3200" dirty="0">
                          <a:latin typeface="Consolas" panose="020B0609020204030204" pitchFamily="49" charset="0"/>
                        </a:rPr>
                        <a:t>CHECK(</a:t>
                      </a:r>
                      <a:r>
                        <a:rPr lang="en-GB" sz="3200" i="1" dirty="0">
                          <a:solidFill>
                            <a:srgbClr val="7030A0"/>
                          </a:solidFill>
                          <a:latin typeface="Consolas" panose="020B0609020204030204" pitchFamily="49" charset="0"/>
                        </a:rPr>
                        <a:t>field</a:t>
                      </a:r>
                      <a:r>
                        <a:rPr lang="en-GB" sz="3200" dirty="0">
                          <a:latin typeface="Consolas" panose="020B0609020204030204" pitchFamily="49" charset="0"/>
                        </a:rPr>
                        <a:t> IN ("S", "M", "L"))</a:t>
                      </a:r>
                    </a:p>
                  </a:txBody>
                  <a:tcPr anchor="ctr">
                    <a:solidFill>
                      <a:srgbClr val="E9EBF5"/>
                    </a:solidFill>
                  </a:tcPr>
                </a:tc>
                <a:extLst>
                  <a:ext uri="{0D108BD9-81ED-4DB2-BD59-A6C34878D82A}">
                    <a16:rowId xmlns:a16="http://schemas.microsoft.com/office/drawing/2014/main" val="1273096015"/>
                  </a:ext>
                </a:extLst>
              </a:tr>
            </a:tbl>
          </a:graphicData>
        </a:graphic>
      </p:graphicFrame>
      <p:graphicFrame>
        <p:nvGraphicFramePr>
          <p:cNvPr id="5" name="Table 4">
            <a:extLst>
              <a:ext uri="{FF2B5EF4-FFF2-40B4-BE49-F238E27FC236}">
                <a16:creationId xmlns:a16="http://schemas.microsoft.com/office/drawing/2014/main" id="{C8D1E40A-FB62-5AE6-C01B-7AE27F11F35A}"/>
              </a:ext>
            </a:extLst>
          </p:cNvPr>
          <p:cNvGraphicFramePr>
            <a:graphicFrameLocks/>
          </p:cNvGraphicFramePr>
          <p:nvPr/>
        </p:nvGraphicFramePr>
        <p:xfrm>
          <a:off x="588000" y="3883010"/>
          <a:ext cx="11016000" cy="720000"/>
        </p:xfrm>
        <a:graphic>
          <a:graphicData uri="http://schemas.openxmlformats.org/drawingml/2006/table">
            <a:tbl>
              <a:tblPr bandRow="1">
                <a:tableStyleId>{5C22544A-7EE6-4342-B048-85BDC9FD1C3A}</a:tableStyleId>
              </a:tblPr>
              <a:tblGrid>
                <a:gridCol w="2773954">
                  <a:extLst>
                    <a:ext uri="{9D8B030D-6E8A-4147-A177-3AD203B41FA5}">
                      <a16:colId xmlns:a16="http://schemas.microsoft.com/office/drawing/2014/main" val="4090402969"/>
                    </a:ext>
                  </a:extLst>
                </a:gridCol>
                <a:gridCol w="8242046">
                  <a:extLst>
                    <a:ext uri="{9D8B030D-6E8A-4147-A177-3AD203B41FA5}">
                      <a16:colId xmlns:a16="http://schemas.microsoft.com/office/drawing/2014/main" val="1722507857"/>
                    </a:ext>
                  </a:extLst>
                </a:gridCol>
              </a:tblGrid>
              <a:tr h="720000">
                <a:tc>
                  <a:txBody>
                    <a:bodyPr/>
                    <a:lstStyle/>
                    <a:p>
                      <a:r>
                        <a:rPr lang="en-GB" sz="2900" dirty="0"/>
                        <a:t>Field length</a:t>
                      </a:r>
                    </a:p>
                  </a:txBody>
                  <a:tcPr anchor="ctr"/>
                </a:tc>
                <a:tc>
                  <a:txBody>
                    <a:bodyPr/>
                    <a:lstStyle/>
                    <a:p>
                      <a:r>
                        <a:rPr lang="en-GB" sz="3200" dirty="0">
                          <a:latin typeface="Consolas" panose="020B0609020204030204" pitchFamily="49" charset="0"/>
                        </a:rPr>
                        <a:t>CHECK(LENGTH(</a:t>
                      </a:r>
                      <a:r>
                        <a:rPr lang="en-GB" sz="3200" i="1" dirty="0">
                          <a:solidFill>
                            <a:srgbClr val="7030A0"/>
                          </a:solidFill>
                          <a:latin typeface="Consolas" panose="020B0609020204030204" pitchFamily="49" charset="0"/>
                        </a:rPr>
                        <a:t>field</a:t>
                      </a:r>
                      <a:r>
                        <a:rPr lang="en-GB" sz="3200" dirty="0">
                          <a:latin typeface="Consolas" panose="020B0609020204030204" pitchFamily="49" charset="0"/>
                        </a:rPr>
                        <a:t>) = 3)</a:t>
                      </a:r>
                    </a:p>
                  </a:txBody>
                  <a:tcPr anchor="ctr"/>
                </a:tc>
                <a:extLst>
                  <a:ext uri="{0D108BD9-81ED-4DB2-BD59-A6C34878D82A}">
                    <a16:rowId xmlns:a16="http://schemas.microsoft.com/office/drawing/2014/main" val="1789209260"/>
                  </a:ext>
                </a:extLst>
              </a:tr>
            </a:tbl>
          </a:graphicData>
        </a:graphic>
      </p:graphicFrame>
      <p:graphicFrame>
        <p:nvGraphicFramePr>
          <p:cNvPr id="6" name="Table 5">
            <a:extLst>
              <a:ext uri="{FF2B5EF4-FFF2-40B4-BE49-F238E27FC236}">
                <a16:creationId xmlns:a16="http://schemas.microsoft.com/office/drawing/2014/main" id="{F0133006-5F4F-295A-065F-A6D1FD3402DA}"/>
              </a:ext>
            </a:extLst>
          </p:cNvPr>
          <p:cNvGraphicFramePr>
            <a:graphicFrameLocks/>
          </p:cNvGraphicFramePr>
          <p:nvPr/>
        </p:nvGraphicFramePr>
        <p:xfrm>
          <a:off x="588000" y="4615116"/>
          <a:ext cx="11016000" cy="720000"/>
        </p:xfrm>
        <a:graphic>
          <a:graphicData uri="http://schemas.openxmlformats.org/drawingml/2006/table">
            <a:tbl>
              <a:tblPr bandRow="1">
                <a:tableStyleId>{5C22544A-7EE6-4342-B048-85BDC9FD1C3A}</a:tableStyleId>
              </a:tblPr>
              <a:tblGrid>
                <a:gridCol w="2773956">
                  <a:extLst>
                    <a:ext uri="{9D8B030D-6E8A-4147-A177-3AD203B41FA5}">
                      <a16:colId xmlns:a16="http://schemas.microsoft.com/office/drawing/2014/main" val="4090402969"/>
                    </a:ext>
                  </a:extLst>
                </a:gridCol>
                <a:gridCol w="8242044">
                  <a:extLst>
                    <a:ext uri="{9D8B030D-6E8A-4147-A177-3AD203B41FA5}">
                      <a16:colId xmlns:a16="http://schemas.microsoft.com/office/drawing/2014/main" val="1722507857"/>
                    </a:ext>
                  </a:extLst>
                </a:gridCol>
              </a:tblGrid>
              <a:tr h="720000">
                <a:tc>
                  <a:txBody>
                    <a:bodyPr/>
                    <a:lstStyle/>
                    <a:p>
                      <a:r>
                        <a:rPr lang="en-GB" sz="2900" dirty="0"/>
                        <a:t>Range</a:t>
                      </a:r>
                    </a:p>
                  </a:txBody>
                  <a:tcPr anchor="ctr">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dirty="0">
                          <a:latin typeface="Consolas" panose="020B0609020204030204" pitchFamily="49" charset="0"/>
                        </a:rPr>
                        <a:t>CHECK(</a:t>
                      </a:r>
                      <a:r>
                        <a:rPr lang="en-GB" sz="3200" i="1" dirty="0">
                          <a:solidFill>
                            <a:srgbClr val="7030A0"/>
                          </a:solidFill>
                          <a:latin typeface="Consolas" panose="020B0609020204030204" pitchFamily="49" charset="0"/>
                        </a:rPr>
                        <a:t>field</a:t>
                      </a:r>
                      <a:r>
                        <a:rPr lang="en-GB" sz="3200" dirty="0">
                          <a:latin typeface="Consolas" panose="020B0609020204030204" pitchFamily="49" charset="0"/>
                        </a:rPr>
                        <a:t> &gt;= 1 AND </a:t>
                      </a:r>
                      <a:r>
                        <a:rPr lang="en-GB" sz="3200" i="1" dirty="0">
                          <a:solidFill>
                            <a:srgbClr val="7030A0"/>
                          </a:solidFill>
                          <a:latin typeface="Consolas" panose="020B0609020204030204" pitchFamily="49" charset="0"/>
                        </a:rPr>
                        <a:t>field</a:t>
                      </a:r>
                      <a:r>
                        <a:rPr lang="en-GB" sz="3200" dirty="0">
                          <a:latin typeface="Consolas" panose="020B0609020204030204" pitchFamily="49" charset="0"/>
                        </a:rPr>
                        <a:t> &lt;= 6)</a:t>
                      </a:r>
                    </a:p>
                  </a:txBody>
                  <a:tcPr anchor="ctr">
                    <a:solidFill>
                      <a:srgbClr val="E9EBF5"/>
                    </a:solidFill>
                  </a:tcPr>
                </a:tc>
                <a:extLst>
                  <a:ext uri="{0D108BD9-81ED-4DB2-BD59-A6C34878D82A}">
                    <a16:rowId xmlns:a16="http://schemas.microsoft.com/office/drawing/2014/main" val="1838898904"/>
                  </a:ext>
                </a:extLst>
              </a:tr>
            </a:tbl>
          </a:graphicData>
        </a:graphic>
      </p:graphicFrame>
      <p:graphicFrame>
        <p:nvGraphicFramePr>
          <p:cNvPr id="7" name="Table 4">
            <a:extLst>
              <a:ext uri="{FF2B5EF4-FFF2-40B4-BE49-F238E27FC236}">
                <a16:creationId xmlns:a16="http://schemas.microsoft.com/office/drawing/2014/main" id="{49E6C231-1DBD-D004-78B6-4C7CD51B3B1A}"/>
              </a:ext>
            </a:extLst>
          </p:cNvPr>
          <p:cNvGraphicFramePr>
            <a:graphicFrameLocks/>
          </p:cNvGraphicFramePr>
          <p:nvPr/>
        </p:nvGraphicFramePr>
        <p:xfrm>
          <a:off x="588000" y="2417590"/>
          <a:ext cx="11016000" cy="720000"/>
        </p:xfrm>
        <a:graphic>
          <a:graphicData uri="http://schemas.openxmlformats.org/drawingml/2006/table">
            <a:tbl>
              <a:tblPr bandRow="1">
                <a:tableStyleId>{5C22544A-7EE6-4342-B048-85BDC9FD1C3A}</a:tableStyleId>
              </a:tblPr>
              <a:tblGrid>
                <a:gridCol w="2780609">
                  <a:extLst>
                    <a:ext uri="{9D8B030D-6E8A-4147-A177-3AD203B41FA5}">
                      <a16:colId xmlns:a16="http://schemas.microsoft.com/office/drawing/2014/main" val="4090402969"/>
                    </a:ext>
                  </a:extLst>
                </a:gridCol>
                <a:gridCol w="8235391">
                  <a:extLst>
                    <a:ext uri="{9D8B030D-6E8A-4147-A177-3AD203B41FA5}">
                      <a16:colId xmlns:a16="http://schemas.microsoft.com/office/drawing/2014/main" val="1722507857"/>
                    </a:ext>
                  </a:extLst>
                </a:gridCol>
              </a:tblGrid>
              <a:tr h="72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900" dirty="0"/>
                        <a:t>Presence check</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dirty="0">
                          <a:latin typeface="Consolas" panose="020B0609020204030204" pitchFamily="49" charset="0"/>
                        </a:rPr>
                        <a:t>NOT NULL</a:t>
                      </a:r>
                    </a:p>
                  </a:txBody>
                  <a:tcPr anchor="ctr"/>
                </a:tc>
                <a:extLst>
                  <a:ext uri="{0D108BD9-81ED-4DB2-BD59-A6C34878D82A}">
                    <a16:rowId xmlns:a16="http://schemas.microsoft.com/office/drawing/2014/main" val="3222086612"/>
                  </a:ext>
                </a:extLst>
              </a:tr>
            </a:tbl>
          </a:graphicData>
        </a:graphic>
      </p:graphicFrame>
    </p:spTree>
    <p:extLst>
      <p:ext uri="{BB962C8B-B14F-4D97-AF65-F5344CB8AC3E}">
        <p14:creationId xmlns:p14="http://schemas.microsoft.com/office/powerpoint/2010/main" val="361828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3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3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3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3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3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BCD22-4094-7C2D-7AFF-D31CE2E460D0}"/>
              </a:ext>
            </a:extLst>
          </p:cNvPr>
          <p:cNvSpPr>
            <a:spLocks noGrp="1"/>
          </p:cNvSpPr>
          <p:nvPr>
            <p:ph type="title"/>
          </p:nvPr>
        </p:nvSpPr>
        <p:spPr/>
        <p:txBody>
          <a:bodyPr/>
          <a:lstStyle/>
          <a:p>
            <a:r>
              <a:rPr lang="en-GB" dirty="0"/>
              <a:t>Validation</a:t>
            </a:r>
          </a:p>
        </p:txBody>
      </p:sp>
      <p:graphicFrame>
        <p:nvGraphicFramePr>
          <p:cNvPr id="4" name="Table 4">
            <a:extLst>
              <a:ext uri="{FF2B5EF4-FFF2-40B4-BE49-F238E27FC236}">
                <a16:creationId xmlns:a16="http://schemas.microsoft.com/office/drawing/2014/main" id="{2D33DD18-5F25-90D0-9ED0-252DD9A0F5A9}"/>
              </a:ext>
            </a:extLst>
          </p:cNvPr>
          <p:cNvGraphicFramePr>
            <a:graphicFrameLocks noGrp="1"/>
          </p:cNvGraphicFramePr>
          <p:nvPr>
            <p:ph idx="1"/>
          </p:nvPr>
        </p:nvGraphicFramePr>
        <p:xfrm>
          <a:off x="588000" y="1825625"/>
          <a:ext cx="11016000" cy="579120"/>
        </p:xfrm>
        <a:graphic>
          <a:graphicData uri="http://schemas.openxmlformats.org/drawingml/2006/table">
            <a:tbl>
              <a:tblPr firstRow="1" bandRow="1">
                <a:tableStyleId>{5C22544A-7EE6-4342-B048-85BDC9FD1C3A}</a:tableStyleId>
              </a:tblPr>
              <a:tblGrid>
                <a:gridCol w="2780278">
                  <a:extLst>
                    <a:ext uri="{9D8B030D-6E8A-4147-A177-3AD203B41FA5}">
                      <a16:colId xmlns:a16="http://schemas.microsoft.com/office/drawing/2014/main" val="4090402969"/>
                    </a:ext>
                  </a:extLst>
                </a:gridCol>
                <a:gridCol w="8235722">
                  <a:extLst>
                    <a:ext uri="{9D8B030D-6E8A-4147-A177-3AD203B41FA5}">
                      <a16:colId xmlns:a16="http://schemas.microsoft.com/office/drawing/2014/main" val="1722507857"/>
                    </a:ext>
                  </a:extLst>
                </a:gridCol>
              </a:tblGrid>
              <a:tr h="370840">
                <a:tc>
                  <a:txBody>
                    <a:bodyPr/>
                    <a:lstStyle/>
                    <a:p>
                      <a:r>
                        <a:rPr lang="en-GB" sz="3200" dirty="0"/>
                        <a:t>Type</a:t>
                      </a:r>
                    </a:p>
                  </a:txBody>
                  <a:tcPr/>
                </a:tc>
                <a:tc>
                  <a:txBody>
                    <a:bodyPr/>
                    <a:lstStyle/>
                    <a:p>
                      <a:r>
                        <a:rPr lang="en-GB" sz="3200" dirty="0"/>
                        <a:t>SQLite</a:t>
                      </a:r>
                    </a:p>
                  </a:txBody>
                  <a:tcPr/>
                </a:tc>
                <a:extLst>
                  <a:ext uri="{0D108BD9-81ED-4DB2-BD59-A6C34878D82A}">
                    <a16:rowId xmlns:a16="http://schemas.microsoft.com/office/drawing/2014/main" val="2410808451"/>
                  </a:ext>
                </a:extLst>
              </a:tr>
            </a:tbl>
          </a:graphicData>
        </a:graphic>
      </p:graphicFrame>
      <p:graphicFrame>
        <p:nvGraphicFramePr>
          <p:cNvPr id="3" name="Table 4">
            <a:extLst>
              <a:ext uri="{FF2B5EF4-FFF2-40B4-BE49-F238E27FC236}">
                <a16:creationId xmlns:a16="http://schemas.microsoft.com/office/drawing/2014/main" id="{EF8BA731-9234-00F1-1ADD-A00FA76E7140}"/>
              </a:ext>
            </a:extLst>
          </p:cNvPr>
          <p:cNvGraphicFramePr>
            <a:graphicFrameLocks/>
          </p:cNvGraphicFramePr>
          <p:nvPr/>
        </p:nvGraphicFramePr>
        <p:xfrm>
          <a:off x="588000" y="3150433"/>
          <a:ext cx="11016000" cy="720000"/>
        </p:xfrm>
        <a:graphic>
          <a:graphicData uri="http://schemas.openxmlformats.org/drawingml/2006/table">
            <a:tbl>
              <a:tblPr bandRow="1">
                <a:tableStyleId>{5C22544A-7EE6-4342-B048-85BDC9FD1C3A}</a:tableStyleId>
              </a:tblPr>
              <a:tblGrid>
                <a:gridCol w="2780609">
                  <a:extLst>
                    <a:ext uri="{9D8B030D-6E8A-4147-A177-3AD203B41FA5}">
                      <a16:colId xmlns:a16="http://schemas.microsoft.com/office/drawing/2014/main" val="4090402969"/>
                    </a:ext>
                  </a:extLst>
                </a:gridCol>
                <a:gridCol w="8235391">
                  <a:extLst>
                    <a:ext uri="{9D8B030D-6E8A-4147-A177-3AD203B41FA5}">
                      <a16:colId xmlns:a16="http://schemas.microsoft.com/office/drawing/2014/main" val="1722507857"/>
                    </a:ext>
                  </a:extLst>
                </a:gridCol>
              </a:tblGrid>
              <a:tr h="720000">
                <a:tc>
                  <a:txBody>
                    <a:bodyPr/>
                    <a:lstStyle/>
                    <a:p>
                      <a:endParaRPr lang="en-GB" sz="2900" dirty="0"/>
                    </a:p>
                  </a:txBody>
                  <a:tcPr anchor="ctr">
                    <a:solidFill>
                      <a:srgbClr val="E9EBF5"/>
                    </a:solidFill>
                  </a:tcPr>
                </a:tc>
                <a:tc>
                  <a:txBody>
                    <a:bodyPr/>
                    <a:lstStyle/>
                    <a:p>
                      <a:r>
                        <a:rPr lang="en-GB" sz="3200" dirty="0">
                          <a:latin typeface="Consolas" panose="020B0609020204030204" pitchFamily="49" charset="0"/>
                        </a:rPr>
                        <a:t>CHECK(</a:t>
                      </a:r>
                      <a:r>
                        <a:rPr lang="en-GB" sz="3200" i="1" dirty="0">
                          <a:solidFill>
                            <a:srgbClr val="7030A0"/>
                          </a:solidFill>
                          <a:latin typeface="Consolas" panose="020B0609020204030204" pitchFamily="49" charset="0"/>
                        </a:rPr>
                        <a:t>field</a:t>
                      </a:r>
                      <a:r>
                        <a:rPr lang="en-GB" sz="3200" dirty="0">
                          <a:latin typeface="Consolas" panose="020B0609020204030204" pitchFamily="49" charset="0"/>
                        </a:rPr>
                        <a:t> IN ("S", "M", "L"))</a:t>
                      </a:r>
                    </a:p>
                  </a:txBody>
                  <a:tcPr anchor="ctr">
                    <a:solidFill>
                      <a:srgbClr val="E9EBF5"/>
                    </a:solidFill>
                  </a:tcPr>
                </a:tc>
                <a:extLst>
                  <a:ext uri="{0D108BD9-81ED-4DB2-BD59-A6C34878D82A}">
                    <a16:rowId xmlns:a16="http://schemas.microsoft.com/office/drawing/2014/main" val="1273096015"/>
                  </a:ext>
                </a:extLst>
              </a:tr>
            </a:tbl>
          </a:graphicData>
        </a:graphic>
      </p:graphicFrame>
      <p:graphicFrame>
        <p:nvGraphicFramePr>
          <p:cNvPr id="5" name="Table 4">
            <a:extLst>
              <a:ext uri="{FF2B5EF4-FFF2-40B4-BE49-F238E27FC236}">
                <a16:creationId xmlns:a16="http://schemas.microsoft.com/office/drawing/2014/main" id="{C8D1E40A-FB62-5AE6-C01B-7AE27F11F35A}"/>
              </a:ext>
            </a:extLst>
          </p:cNvPr>
          <p:cNvGraphicFramePr>
            <a:graphicFrameLocks/>
          </p:cNvGraphicFramePr>
          <p:nvPr/>
        </p:nvGraphicFramePr>
        <p:xfrm>
          <a:off x="588000" y="3883010"/>
          <a:ext cx="11016000" cy="720000"/>
        </p:xfrm>
        <a:graphic>
          <a:graphicData uri="http://schemas.openxmlformats.org/drawingml/2006/table">
            <a:tbl>
              <a:tblPr bandRow="1">
                <a:tableStyleId>{5C22544A-7EE6-4342-B048-85BDC9FD1C3A}</a:tableStyleId>
              </a:tblPr>
              <a:tblGrid>
                <a:gridCol w="2773954">
                  <a:extLst>
                    <a:ext uri="{9D8B030D-6E8A-4147-A177-3AD203B41FA5}">
                      <a16:colId xmlns:a16="http://schemas.microsoft.com/office/drawing/2014/main" val="4090402969"/>
                    </a:ext>
                  </a:extLst>
                </a:gridCol>
                <a:gridCol w="8242046">
                  <a:extLst>
                    <a:ext uri="{9D8B030D-6E8A-4147-A177-3AD203B41FA5}">
                      <a16:colId xmlns:a16="http://schemas.microsoft.com/office/drawing/2014/main" val="1722507857"/>
                    </a:ext>
                  </a:extLst>
                </a:gridCol>
              </a:tblGrid>
              <a:tr h="720000">
                <a:tc>
                  <a:txBody>
                    <a:bodyPr/>
                    <a:lstStyle/>
                    <a:p>
                      <a:endParaRPr lang="en-GB" sz="2900" dirty="0"/>
                    </a:p>
                  </a:txBody>
                  <a:tcPr anchor="ctr"/>
                </a:tc>
                <a:tc>
                  <a:txBody>
                    <a:bodyPr/>
                    <a:lstStyle/>
                    <a:p>
                      <a:r>
                        <a:rPr lang="en-GB" sz="3200" dirty="0">
                          <a:latin typeface="Consolas" panose="020B0609020204030204" pitchFamily="49" charset="0"/>
                        </a:rPr>
                        <a:t>CHECK(LENGTH(</a:t>
                      </a:r>
                      <a:r>
                        <a:rPr lang="en-GB" sz="3200" i="1" dirty="0">
                          <a:solidFill>
                            <a:srgbClr val="7030A0"/>
                          </a:solidFill>
                          <a:latin typeface="Consolas" panose="020B0609020204030204" pitchFamily="49" charset="0"/>
                        </a:rPr>
                        <a:t>field</a:t>
                      </a:r>
                      <a:r>
                        <a:rPr lang="en-GB" sz="3200" dirty="0">
                          <a:latin typeface="Consolas" panose="020B0609020204030204" pitchFamily="49" charset="0"/>
                        </a:rPr>
                        <a:t>) = 3)</a:t>
                      </a:r>
                    </a:p>
                  </a:txBody>
                  <a:tcPr anchor="ctr"/>
                </a:tc>
                <a:extLst>
                  <a:ext uri="{0D108BD9-81ED-4DB2-BD59-A6C34878D82A}">
                    <a16:rowId xmlns:a16="http://schemas.microsoft.com/office/drawing/2014/main" val="1789209260"/>
                  </a:ext>
                </a:extLst>
              </a:tr>
            </a:tbl>
          </a:graphicData>
        </a:graphic>
      </p:graphicFrame>
      <p:graphicFrame>
        <p:nvGraphicFramePr>
          <p:cNvPr id="6" name="Table 5">
            <a:extLst>
              <a:ext uri="{FF2B5EF4-FFF2-40B4-BE49-F238E27FC236}">
                <a16:creationId xmlns:a16="http://schemas.microsoft.com/office/drawing/2014/main" id="{F0133006-5F4F-295A-065F-A6D1FD3402DA}"/>
              </a:ext>
            </a:extLst>
          </p:cNvPr>
          <p:cNvGraphicFramePr>
            <a:graphicFrameLocks/>
          </p:cNvGraphicFramePr>
          <p:nvPr/>
        </p:nvGraphicFramePr>
        <p:xfrm>
          <a:off x="588000" y="4615116"/>
          <a:ext cx="11016000" cy="720000"/>
        </p:xfrm>
        <a:graphic>
          <a:graphicData uri="http://schemas.openxmlformats.org/drawingml/2006/table">
            <a:tbl>
              <a:tblPr bandRow="1">
                <a:tableStyleId>{5C22544A-7EE6-4342-B048-85BDC9FD1C3A}</a:tableStyleId>
              </a:tblPr>
              <a:tblGrid>
                <a:gridCol w="2773956">
                  <a:extLst>
                    <a:ext uri="{9D8B030D-6E8A-4147-A177-3AD203B41FA5}">
                      <a16:colId xmlns:a16="http://schemas.microsoft.com/office/drawing/2014/main" val="4090402969"/>
                    </a:ext>
                  </a:extLst>
                </a:gridCol>
                <a:gridCol w="8242044">
                  <a:extLst>
                    <a:ext uri="{9D8B030D-6E8A-4147-A177-3AD203B41FA5}">
                      <a16:colId xmlns:a16="http://schemas.microsoft.com/office/drawing/2014/main" val="1722507857"/>
                    </a:ext>
                  </a:extLst>
                </a:gridCol>
              </a:tblGrid>
              <a:tr h="720000">
                <a:tc>
                  <a:txBody>
                    <a:bodyPr/>
                    <a:lstStyle/>
                    <a:p>
                      <a:endParaRPr lang="en-GB" sz="2900" dirty="0"/>
                    </a:p>
                  </a:txBody>
                  <a:tcPr anchor="ctr">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dirty="0">
                          <a:latin typeface="Consolas" panose="020B0609020204030204" pitchFamily="49" charset="0"/>
                        </a:rPr>
                        <a:t>CHECK(</a:t>
                      </a:r>
                      <a:r>
                        <a:rPr lang="en-GB" sz="3200" i="1" dirty="0">
                          <a:solidFill>
                            <a:srgbClr val="7030A0"/>
                          </a:solidFill>
                          <a:latin typeface="Consolas" panose="020B0609020204030204" pitchFamily="49" charset="0"/>
                        </a:rPr>
                        <a:t>field</a:t>
                      </a:r>
                      <a:r>
                        <a:rPr lang="en-GB" sz="3200" dirty="0">
                          <a:latin typeface="Consolas" panose="020B0609020204030204" pitchFamily="49" charset="0"/>
                        </a:rPr>
                        <a:t> &gt;= 1 AND </a:t>
                      </a:r>
                      <a:r>
                        <a:rPr lang="en-GB" sz="3200" i="1" dirty="0">
                          <a:solidFill>
                            <a:srgbClr val="7030A0"/>
                          </a:solidFill>
                          <a:latin typeface="Consolas" panose="020B0609020204030204" pitchFamily="49" charset="0"/>
                        </a:rPr>
                        <a:t>field</a:t>
                      </a:r>
                      <a:r>
                        <a:rPr lang="en-GB" sz="3200" dirty="0">
                          <a:latin typeface="Consolas" panose="020B0609020204030204" pitchFamily="49" charset="0"/>
                        </a:rPr>
                        <a:t> &lt;= 6)</a:t>
                      </a:r>
                    </a:p>
                  </a:txBody>
                  <a:tcPr anchor="ctr">
                    <a:solidFill>
                      <a:srgbClr val="E9EBF5"/>
                    </a:solidFill>
                  </a:tcPr>
                </a:tc>
                <a:extLst>
                  <a:ext uri="{0D108BD9-81ED-4DB2-BD59-A6C34878D82A}">
                    <a16:rowId xmlns:a16="http://schemas.microsoft.com/office/drawing/2014/main" val="1838898904"/>
                  </a:ext>
                </a:extLst>
              </a:tr>
            </a:tbl>
          </a:graphicData>
        </a:graphic>
      </p:graphicFrame>
      <p:graphicFrame>
        <p:nvGraphicFramePr>
          <p:cNvPr id="7" name="Table 4">
            <a:extLst>
              <a:ext uri="{FF2B5EF4-FFF2-40B4-BE49-F238E27FC236}">
                <a16:creationId xmlns:a16="http://schemas.microsoft.com/office/drawing/2014/main" id="{49E6C231-1DBD-D004-78B6-4C7CD51B3B1A}"/>
              </a:ext>
            </a:extLst>
          </p:cNvPr>
          <p:cNvGraphicFramePr>
            <a:graphicFrameLocks/>
          </p:cNvGraphicFramePr>
          <p:nvPr/>
        </p:nvGraphicFramePr>
        <p:xfrm>
          <a:off x="588000" y="2417590"/>
          <a:ext cx="11016000" cy="720000"/>
        </p:xfrm>
        <a:graphic>
          <a:graphicData uri="http://schemas.openxmlformats.org/drawingml/2006/table">
            <a:tbl>
              <a:tblPr bandRow="1">
                <a:tableStyleId>{5C22544A-7EE6-4342-B048-85BDC9FD1C3A}</a:tableStyleId>
              </a:tblPr>
              <a:tblGrid>
                <a:gridCol w="2780609">
                  <a:extLst>
                    <a:ext uri="{9D8B030D-6E8A-4147-A177-3AD203B41FA5}">
                      <a16:colId xmlns:a16="http://schemas.microsoft.com/office/drawing/2014/main" val="4090402969"/>
                    </a:ext>
                  </a:extLst>
                </a:gridCol>
                <a:gridCol w="8235391">
                  <a:extLst>
                    <a:ext uri="{9D8B030D-6E8A-4147-A177-3AD203B41FA5}">
                      <a16:colId xmlns:a16="http://schemas.microsoft.com/office/drawing/2014/main" val="1722507857"/>
                    </a:ext>
                  </a:extLst>
                </a:gridCol>
              </a:tblGrid>
              <a:tr h="72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29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dirty="0">
                          <a:latin typeface="Consolas" panose="020B0609020204030204" pitchFamily="49" charset="0"/>
                        </a:rPr>
                        <a:t>NOT NULL</a:t>
                      </a:r>
                    </a:p>
                  </a:txBody>
                  <a:tcPr anchor="ctr"/>
                </a:tc>
                <a:extLst>
                  <a:ext uri="{0D108BD9-81ED-4DB2-BD59-A6C34878D82A}">
                    <a16:rowId xmlns:a16="http://schemas.microsoft.com/office/drawing/2014/main" val="3222086612"/>
                  </a:ext>
                </a:extLst>
              </a:tr>
            </a:tbl>
          </a:graphicData>
        </a:graphic>
      </p:graphicFrame>
    </p:spTree>
    <p:extLst>
      <p:ext uri="{BB962C8B-B14F-4D97-AF65-F5344CB8AC3E}">
        <p14:creationId xmlns:p14="http://schemas.microsoft.com/office/powerpoint/2010/main" val="1773274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3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3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3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3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3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CREATE TABLE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825625"/>
            <a:ext cx="10800644" cy="4351338"/>
          </a:xfrm>
        </p:spPr>
        <p:txBody>
          <a:bodyPr>
            <a:noAutofit/>
          </a:bodyPr>
          <a:lstStyle/>
          <a:p>
            <a:pPr marL="0" lvl="0" indent="0" eaLnBrk="0" fontAlgn="base" hangingPunct="0">
              <a:lnSpc>
                <a:spcPct val="100000"/>
              </a:lnSpc>
              <a:spcBef>
                <a:spcPct val="0"/>
              </a:spcBef>
              <a:spcAft>
                <a:spcPts val="1200"/>
              </a:spcAft>
              <a:buNone/>
            </a:pPr>
            <a:r>
              <a:rPr lang="en-US" altLang="en-US" sz="3600" dirty="0">
                <a:solidFill>
                  <a:srgbClr val="B2B2B2"/>
                </a:solidFill>
                <a:latin typeface="Consolas" panose="020B0609020204030204" pitchFamily="49" charset="0"/>
              </a:rPr>
              <a:t>1 </a:t>
            </a:r>
            <a:r>
              <a:rPr lang="en-US" altLang="en-US" sz="3600" dirty="0">
                <a:solidFill>
                  <a:srgbClr val="A71D5D"/>
                </a:solidFill>
                <a:latin typeface="Consolas" panose="020B0609020204030204" pitchFamily="49" charset="0"/>
              </a:rPr>
              <a:t>CREATE TABLE</a:t>
            </a:r>
            <a:r>
              <a:rPr lang="en-US" altLang="en-US" sz="3600" dirty="0">
                <a:solidFill>
                  <a:srgbClr val="000000"/>
                </a:solidFill>
                <a:latin typeface="Consolas" panose="020B0609020204030204" pitchFamily="49" charset="0"/>
              </a:rPr>
              <a:t> </a:t>
            </a:r>
            <a:r>
              <a:rPr lang="en-US" altLang="en-US" sz="3600" dirty="0">
                <a:solidFill>
                  <a:srgbClr val="183691"/>
                </a:solidFill>
                <a:latin typeface="Consolas" panose="020B0609020204030204" pitchFamily="49" charset="0"/>
              </a:rPr>
              <a:t>table2</a:t>
            </a:r>
            <a:r>
              <a:rPr lang="en-US" altLang="en-US" sz="36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2   </a:t>
            </a:r>
            <a:r>
              <a:rPr lang="en-US" altLang="en-US" sz="3600" dirty="0">
                <a:solidFill>
                  <a:srgbClr val="183691"/>
                </a:solidFill>
                <a:latin typeface="Consolas" panose="020B0609020204030204" pitchFamily="49" charset="0"/>
              </a:rPr>
              <a:t>field1</a:t>
            </a:r>
            <a:r>
              <a:rPr lang="en-US" altLang="en-US" sz="3600" dirty="0">
                <a:solidFill>
                  <a:srgbClr val="000000"/>
                </a:solidFill>
                <a:latin typeface="Consolas" panose="020B0609020204030204" pitchFamily="49" charset="0"/>
              </a:rPr>
              <a:t> </a:t>
            </a:r>
            <a:r>
              <a:rPr lang="en-US" altLang="en-US" sz="3600" dirty="0">
                <a:solidFill>
                  <a:srgbClr val="49A5CA"/>
                </a:solidFill>
                <a:latin typeface="Consolas" panose="020B0609020204030204" pitchFamily="49" charset="0"/>
              </a:rPr>
              <a:t>datatype</a:t>
            </a:r>
            <a:r>
              <a:rPr lang="en-US" altLang="en-US" sz="3600" dirty="0">
                <a:solidFill>
                  <a:srgbClr val="000000"/>
                </a:solidFill>
                <a:latin typeface="Consolas" panose="020B0609020204030204" pitchFamily="49" charset="0"/>
              </a:rPr>
              <a:t> </a:t>
            </a:r>
            <a:r>
              <a:rPr lang="en-US" altLang="en-US" sz="3600" dirty="0">
                <a:solidFill>
                  <a:srgbClr val="A71D5D"/>
                </a:solidFill>
                <a:latin typeface="Consolas" panose="020B0609020204030204" pitchFamily="49" charset="0"/>
              </a:rPr>
              <a:t>validation</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ts val="1200"/>
              </a:spcAft>
              <a:buNone/>
            </a:pPr>
            <a:r>
              <a:rPr lang="en-US" altLang="en-US" sz="3600" dirty="0">
                <a:solidFill>
                  <a:srgbClr val="B2B2B2"/>
                </a:solidFill>
                <a:latin typeface="Consolas" panose="020B0609020204030204" pitchFamily="49" charset="0"/>
              </a:rPr>
              <a:t>3   </a:t>
            </a:r>
            <a:r>
              <a:rPr lang="en-US" altLang="en-US" sz="3600" dirty="0">
                <a:solidFill>
                  <a:srgbClr val="183691"/>
                </a:solidFill>
                <a:latin typeface="Consolas" panose="020B0609020204030204" pitchFamily="49" charset="0"/>
              </a:rPr>
              <a:t>field2</a:t>
            </a:r>
            <a:r>
              <a:rPr lang="en-US" altLang="en-US" sz="3600" dirty="0">
                <a:solidFill>
                  <a:srgbClr val="000000"/>
                </a:solidFill>
                <a:latin typeface="Consolas" panose="020B0609020204030204" pitchFamily="49" charset="0"/>
              </a:rPr>
              <a:t> </a:t>
            </a:r>
            <a:r>
              <a:rPr lang="en-US" altLang="en-US" sz="3600" dirty="0">
                <a:solidFill>
                  <a:srgbClr val="49A5CA"/>
                </a:solidFill>
                <a:latin typeface="Consolas" panose="020B0609020204030204" pitchFamily="49" charset="0"/>
              </a:rPr>
              <a:t>datatype</a:t>
            </a:r>
            <a:r>
              <a:rPr lang="en-US" altLang="en-US" sz="3600" dirty="0">
                <a:solidFill>
                  <a:srgbClr val="000000"/>
                </a:solidFill>
                <a:latin typeface="Consolas" panose="020B0609020204030204" pitchFamily="49" charset="0"/>
              </a:rPr>
              <a:t> </a:t>
            </a:r>
            <a:r>
              <a:rPr lang="en-US" altLang="en-US" sz="3600" dirty="0">
                <a:solidFill>
                  <a:srgbClr val="A71D5D"/>
                </a:solidFill>
                <a:latin typeface="Consolas" panose="020B0609020204030204" pitchFamily="49" charset="0"/>
              </a:rPr>
              <a:t>validation</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4   </a:t>
            </a:r>
            <a:r>
              <a:rPr lang="en-US" altLang="en-US" sz="3600" dirty="0">
                <a:solidFill>
                  <a:srgbClr val="A71D5D"/>
                </a:solidFill>
                <a:latin typeface="Consolas" panose="020B0609020204030204" pitchFamily="49" charset="0"/>
              </a:rPr>
              <a:t>FOREIGN KEY</a:t>
            </a:r>
            <a:r>
              <a:rPr lang="en-US" altLang="en-US" sz="3600" dirty="0">
                <a:solidFill>
                  <a:srgbClr val="000000"/>
                </a:solidFill>
                <a:latin typeface="Consolas" panose="020B0609020204030204" pitchFamily="49" charset="0"/>
              </a:rPr>
              <a:t>(</a:t>
            </a:r>
            <a:r>
              <a:rPr lang="en-US" altLang="en-US" sz="3600" dirty="0">
                <a:solidFill>
                  <a:srgbClr val="183691"/>
                </a:solidFill>
                <a:latin typeface="Consolas" panose="020B0609020204030204" pitchFamily="49" charset="0"/>
              </a:rPr>
              <a:t>field2</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ts val="1200"/>
              </a:spcAft>
              <a:buNone/>
            </a:pPr>
            <a:r>
              <a:rPr lang="en-US" altLang="en-US" sz="3600" dirty="0">
                <a:solidFill>
                  <a:srgbClr val="000000"/>
                </a:solidFill>
                <a:latin typeface="Consolas" panose="020B0609020204030204" pitchFamily="49" charset="0"/>
              </a:rPr>
              <a:t>      </a:t>
            </a:r>
            <a:r>
              <a:rPr lang="en-US" altLang="en-US" sz="3600" dirty="0">
                <a:solidFill>
                  <a:srgbClr val="A71D5D"/>
                </a:solidFill>
                <a:latin typeface="Consolas" panose="020B0609020204030204" pitchFamily="49" charset="0"/>
              </a:rPr>
              <a:t>REFERENCES</a:t>
            </a:r>
            <a:r>
              <a:rPr lang="en-US" altLang="en-US" sz="3600" dirty="0">
                <a:solidFill>
                  <a:srgbClr val="000000"/>
                </a:solidFill>
                <a:latin typeface="Consolas" panose="020B0609020204030204" pitchFamily="49" charset="0"/>
              </a:rPr>
              <a:t> </a:t>
            </a:r>
            <a:r>
              <a:rPr lang="en-US" altLang="en-US" sz="3600" dirty="0">
                <a:solidFill>
                  <a:srgbClr val="183691"/>
                </a:solidFill>
                <a:latin typeface="Consolas" panose="020B0609020204030204" pitchFamily="49" charset="0"/>
              </a:rPr>
              <a:t>table1</a:t>
            </a:r>
            <a:r>
              <a:rPr lang="en-US" altLang="en-US" sz="3600" dirty="0">
                <a:solidFill>
                  <a:srgbClr val="000000"/>
                </a:solidFill>
                <a:latin typeface="Consolas" panose="020B0609020204030204" pitchFamily="49" charset="0"/>
              </a:rPr>
              <a:t>(</a:t>
            </a:r>
            <a:r>
              <a:rPr lang="en-US" altLang="en-US" sz="3600" dirty="0">
                <a:solidFill>
                  <a:srgbClr val="183691"/>
                </a:solidFill>
                <a:latin typeface="Consolas" panose="020B0609020204030204" pitchFamily="49" charset="0"/>
              </a:rPr>
              <a:t>field1</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5   </a:t>
            </a:r>
            <a:r>
              <a:rPr lang="en-US" altLang="en-US" sz="3600" dirty="0">
                <a:solidFill>
                  <a:srgbClr val="A71D5D"/>
                </a:solidFill>
                <a:latin typeface="Consolas" panose="020B0609020204030204" pitchFamily="49" charset="0"/>
              </a:rPr>
              <a:t>PRIMARY KEY</a:t>
            </a:r>
            <a:r>
              <a:rPr lang="en-US" altLang="en-US" sz="3600" dirty="0">
                <a:solidFill>
                  <a:srgbClr val="000000"/>
                </a:solidFill>
                <a:latin typeface="Consolas" panose="020B0609020204030204" pitchFamily="49" charset="0"/>
              </a:rPr>
              <a:t>(</a:t>
            </a:r>
            <a:r>
              <a:rPr lang="en-US" altLang="en-US" sz="3600" dirty="0">
                <a:solidFill>
                  <a:srgbClr val="183691"/>
                </a:solidFill>
                <a:latin typeface="Consolas" panose="020B0609020204030204" pitchFamily="49" charset="0"/>
              </a:rPr>
              <a:t>field1</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6 </a:t>
            </a:r>
            <a:r>
              <a:rPr lang="en-US" altLang="en-US" sz="3600" dirty="0">
                <a:solidFill>
                  <a:srgbClr val="000000"/>
                </a:solidFill>
                <a:latin typeface="Consolas" panose="020B0609020204030204" pitchFamily="49" charset="0"/>
              </a:rPr>
              <a:t>);</a:t>
            </a:r>
            <a:endParaRPr lang="en-US" altLang="en-US" sz="4800" dirty="0">
              <a:latin typeface="Arial" panose="020B0604020202020204" pitchFamily="34" charset="0"/>
            </a:endParaRPr>
          </a:p>
        </p:txBody>
      </p:sp>
      <p:sp>
        <p:nvSpPr>
          <p:cNvPr id="7" name="Callout: Bent Line with No Border 6">
            <a:extLst>
              <a:ext uri="{FF2B5EF4-FFF2-40B4-BE49-F238E27FC236}">
                <a16:creationId xmlns:a16="http://schemas.microsoft.com/office/drawing/2014/main" id="{2907BCF3-6896-E60D-4077-92B218BC4872}"/>
              </a:ext>
            </a:extLst>
          </p:cNvPr>
          <p:cNvSpPr/>
          <p:nvPr/>
        </p:nvSpPr>
        <p:spPr>
          <a:xfrm>
            <a:off x="7562971" y="5594323"/>
            <a:ext cx="2486025" cy="468340"/>
          </a:xfrm>
          <a:prstGeom prst="callout2">
            <a:avLst>
              <a:gd name="adj1" fmla="val 49990"/>
              <a:gd name="adj2" fmla="val -52"/>
              <a:gd name="adj3" fmla="val 50311"/>
              <a:gd name="adj4" fmla="val -20105"/>
              <a:gd name="adj5" fmla="val -530"/>
              <a:gd name="adj6" fmla="val -3444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No comma</a:t>
            </a:r>
          </a:p>
        </p:txBody>
      </p:sp>
      <p:sp>
        <p:nvSpPr>
          <p:cNvPr id="4" name="Callout: Bent Line with No Border 3">
            <a:extLst>
              <a:ext uri="{FF2B5EF4-FFF2-40B4-BE49-F238E27FC236}">
                <a16:creationId xmlns:a16="http://schemas.microsoft.com/office/drawing/2014/main" id="{D967C08A-DC45-A18B-8F04-2A6DE01DF715}"/>
              </a:ext>
            </a:extLst>
          </p:cNvPr>
          <p:cNvSpPr/>
          <p:nvPr/>
        </p:nvSpPr>
        <p:spPr>
          <a:xfrm>
            <a:off x="6461541" y="1016398"/>
            <a:ext cx="2646850" cy="718344"/>
          </a:xfrm>
          <a:prstGeom prst="callout2">
            <a:avLst>
              <a:gd name="adj1" fmla="val 49990"/>
              <a:gd name="adj2" fmla="val -52"/>
              <a:gd name="adj3" fmla="val 49905"/>
              <a:gd name="adj4" fmla="val -22425"/>
              <a:gd name="adj5" fmla="val 112387"/>
              <a:gd name="adj6" fmla="val -2921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New table name</a:t>
            </a:r>
          </a:p>
        </p:txBody>
      </p:sp>
      <p:sp>
        <p:nvSpPr>
          <p:cNvPr id="8" name="Callout: Bent Line with No Border 7">
            <a:extLst>
              <a:ext uri="{FF2B5EF4-FFF2-40B4-BE49-F238E27FC236}">
                <a16:creationId xmlns:a16="http://schemas.microsoft.com/office/drawing/2014/main" id="{3F36ADB4-DD88-33DC-C546-8F3A963B2B29}"/>
              </a:ext>
            </a:extLst>
          </p:cNvPr>
          <p:cNvSpPr/>
          <p:nvPr/>
        </p:nvSpPr>
        <p:spPr>
          <a:xfrm flipH="1">
            <a:off x="3006299" y="5724923"/>
            <a:ext cx="1941999" cy="452040"/>
          </a:xfrm>
          <a:prstGeom prst="callout2">
            <a:avLst>
              <a:gd name="adj1" fmla="val 49990"/>
              <a:gd name="adj2" fmla="val -52"/>
              <a:gd name="adj3" fmla="val 49905"/>
              <a:gd name="adj4" fmla="val -22425"/>
              <a:gd name="adj5" fmla="val -36667"/>
              <a:gd name="adj6" fmla="val -35789"/>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Field name</a:t>
            </a:r>
          </a:p>
        </p:txBody>
      </p:sp>
      <p:grpSp>
        <p:nvGrpSpPr>
          <p:cNvPr id="5" name="Group 4">
            <a:extLst>
              <a:ext uri="{FF2B5EF4-FFF2-40B4-BE49-F238E27FC236}">
                <a16:creationId xmlns:a16="http://schemas.microsoft.com/office/drawing/2014/main" id="{1A8434B4-01EB-4B43-B14C-4E4F41F9DF80}"/>
              </a:ext>
            </a:extLst>
          </p:cNvPr>
          <p:cNvGrpSpPr/>
          <p:nvPr/>
        </p:nvGrpSpPr>
        <p:grpSpPr>
          <a:xfrm>
            <a:off x="958902" y="3861197"/>
            <a:ext cx="1168783" cy="1023144"/>
            <a:chOff x="1627561" y="5311895"/>
            <a:chExt cx="1168783" cy="1150130"/>
          </a:xfrm>
        </p:grpSpPr>
        <p:sp>
          <p:nvSpPr>
            <p:cNvPr id="10" name="Right Brace 9">
              <a:extLst>
                <a:ext uri="{FF2B5EF4-FFF2-40B4-BE49-F238E27FC236}">
                  <a16:creationId xmlns:a16="http://schemas.microsoft.com/office/drawing/2014/main" id="{819BA9D7-3F25-43FC-B8DE-565215E8B322}"/>
                </a:ext>
              </a:extLst>
            </p:cNvPr>
            <p:cNvSpPr/>
            <p:nvPr/>
          </p:nvSpPr>
          <p:spPr>
            <a:xfrm flipH="1">
              <a:off x="2264230" y="5311895"/>
              <a:ext cx="532114" cy="1150130"/>
            </a:xfrm>
            <a:prstGeom prst="rightBrace">
              <a:avLst>
                <a:gd name="adj1" fmla="val 0"/>
                <a:gd name="adj2" fmla="val 68087"/>
              </a:avLst>
            </a:prstGeom>
            <a:noFill/>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1" name="TextBox 10">
              <a:extLst>
                <a:ext uri="{FF2B5EF4-FFF2-40B4-BE49-F238E27FC236}">
                  <a16:creationId xmlns:a16="http://schemas.microsoft.com/office/drawing/2014/main" id="{4C64850D-8485-41E4-A356-7A5DD26A156B}"/>
                </a:ext>
              </a:extLst>
            </p:cNvPr>
            <p:cNvSpPr txBox="1"/>
            <p:nvPr/>
          </p:nvSpPr>
          <p:spPr>
            <a:xfrm>
              <a:off x="1627561" y="5828213"/>
              <a:ext cx="636669" cy="523220"/>
            </a:xfrm>
            <a:prstGeom prst="rect">
              <a:avLst/>
            </a:prstGeom>
            <a:noFill/>
          </p:spPr>
          <p:txBody>
            <a:bodyPr wrap="square" rtlCol="0">
              <a:spAutoFit/>
            </a:bodyPr>
            <a:lstStyle/>
            <a:p>
              <a:r>
                <a:rPr lang="en-GB" sz="2800" b="1" dirty="0">
                  <a:solidFill>
                    <a:srgbClr val="7030A0"/>
                  </a:solidFill>
                </a:rPr>
                <a:t>FK</a:t>
              </a:r>
            </a:p>
          </p:txBody>
        </p:sp>
      </p:grpSp>
      <p:sp>
        <p:nvSpPr>
          <p:cNvPr id="12" name="Callout: Bent Line with No Border 11">
            <a:extLst>
              <a:ext uri="{FF2B5EF4-FFF2-40B4-BE49-F238E27FC236}">
                <a16:creationId xmlns:a16="http://schemas.microsoft.com/office/drawing/2014/main" id="{2146B694-487C-4FEF-B3E2-FBD92365CDFC}"/>
              </a:ext>
            </a:extLst>
          </p:cNvPr>
          <p:cNvSpPr/>
          <p:nvPr/>
        </p:nvSpPr>
        <p:spPr>
          <a:xfrm>
            <a:off x="7562971" y="1825625"/>
            <a:ext cx="2646850" cy="718344"/>
          </a:xfrm>
          <a:prstGeom prst="callout2">
            <a:avLst>
              <a:gd name="adj1" fmla="val 49990"/>
              <a:gd name="adj2" fmla="val -52"/>
              <a:gd name="adj3" fmla="val 49905"/>
              <a:gd name="adj4" fmla="val -22425"/>
              <a:gd name="adj5" fmla="val 49877"/>
              <a:gd name="adj6" fmla="val -29057"/>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Opening bracket</a:t>
            </a:r>
          </a:p>
        </p:txBody>
      </p:sp>
      <p:sp>
        <p:nvSpPr>
          <p:cNvPr id="13" name="Callout: Bent Line with No Border 12">
            <a:extLst>
              <a:ext uri="{FF2B5EF4-FFF2-40B4-BE49-F238E27FC236}">
                <a16:creationId xmlns:a16="http://schemas.microsoft.com/office/drawing/2014/main" id="{4BD557DE-5399-4B9B-A8B3-E680DB65D68B}"/>
              </a:ext>
            </a:extLst>
          </p:cNvPr>
          <p:cNvSpPr/>
          <p:nvPr/>
        </p:nvSpPr>
        <p:spPr>
          <a:xfrm>
            <a:off x="2746353" y="6230938"/>
            <a:ext cx="2646850" cy="432197"/>
          </a:xfrm>
          <a:prstGeom prst="callout2">
            <a:avLst>
              <a:gd name="adj1" fmla="val 49990"/>
              <a:gd name="adj2" fmla="val -52"/>
              <a:gd name="adj3" fmla="val 49905"/>
              <a:gd name="adj4" fmla="val -22425"/>
              <a:gd name="adj5" fmla="val -15041"/>
              <a:gd name="adj6" fmla="val -4273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Closing bracket</a:t>
            </a:r>
          </a:p>
        </p:txBody>
      </p:sp>
      <p:grpSp>
        <p:nvGrpSpPr>
          <p:cNvPr id="6" name="Group 5">
            <a:extLst>
              <a:ext uri="{FF2B5EF4-FFF2-40B4-BE49-F238E27FC236}">
                <a16:creationId xmlns:a16="http://schemas.microsoft.com/office/drawing/2014/main" id="{37953906-1C97-2535-71FF-3222658B65B1}"/>
              </a:ext>
            </a:extLst>
          </p:cNvPr>
          <p:cNvGrpSpPr/>
          <p:nvPr/>
        </p:nvGrpSpPr>
        <p:grpSpPr>
          <a:xfrm flipH="1">
            <a:off x="8523999" y="2663428"/>
            <a:ext cx="2553576" cy="1023144"/>
            <a:chOff x="242768" y="5311895"/>
            <a:chExt cx="2553576" cy="1150130"/>
          </a:xfrm>
        </p:grpSpPr>
        <p:sp>
          <p:nvSpPr>
            <p:cNvPr id="9" name="Right Brace 8">
              <a:extLst>
                <a:ext uri="{FF2B5EF4-FFF2-40B4-BE49-F238E27FC236}">
                  <a16:creationId xmlns:a16="http://schemas.microsoft.com/office/drawing/2014/main" id="{2B7B8925-DC1C-6B0B-AAC2-DF6718466728}"/>
                </a:ext>
              </a:extLst>
            </p:cNvPr>
            <p:cNvSpPr/>
            <p:nvPr/>
          </p:nvSpPr>
          <p:spPr>
            <a:xfrm flipH="1">
              <a:off x="2264230" y="5311895"/>
              <a:ext cx="532114" cy="1150130"/>
            </a:xfrm>
            <a:prstGeom prst="rightBrace">
              <a:avLst>
                <a:gd name="adj1" fmla="val 0"/>
                <a:gd name="adj2" fmla="val 49468"/>
              </a:avLst>
            </a:prstGeom>
            <a:noFill/>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4" name="TextBox 13">
              <a:extLst>
                <a:ext uri="{FF2B5EF4-FFF2-40B4-BE49-F238E27FC236}">
                  <a16:creationId xmlns:a16="http://schemas.microsoft.com/office/drawing/2014/main" id="{F6667925-6699-BE41-828A-EF263835AA15}"/>
                </a:ext>
              </a:extLst>
            </p:cNvPr>
            <p:cNvSpPr txBox="1"/>
            <p:nvPr/>
          </p:nvSpPr>
          <p:spPr>
            <a:xfrm>
              <a:off x="242768" y="5354666"/>
              <a:ext cx="2021462" cy="1072525"/>
            </a:xfrm>
            <a:prstGeom prst="rect">
              <a:avLst/>
            </a:prstGeom>
            <a:noFill/>
          </p:spPr>
          <p:txBody>
            <a:bodyPr wrap="square" rtlCol="0">
              <a:spAutoFit/>
            </a:bodyPr>
            <a:lstStyle/>
            <a:p>
              <a:r>
                <a:rPr lang="en-GB" sz="2800" b="1" dirty="0">
                  <a:solidFill>
                    <a:srgbClr val="7030A0"/>
                  </a:solidFill>
                </a:rPr>
                <a:t>As many as required</a:t>
              </a:r>
            </a:p>
          </p:txBody>
        </p:sp>
      </p:grpSp>
    </p:spTree>
    <p:extLst>
      <p:ext uri="{BB962C8B-B14F-4D97-AF65-F5344CB8AC3E}">
        <p14:creationId xmlns:p14="http://schemas.microsoft.com/office/powerpoint/2010/main" val="90124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2000"/>
                                        <p:tgtEl>
                                          <p:spTgt spid="3">
                                            <p:txEl>
                                              <p:pRg st="3" end="3"/>
                                            </p:txEl>
                                          </p:spTgt>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wipe(left)">
                                      <p:cBhvr>
                                        <p:cTn id="26" dur="2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wipe(left)">
                                      <p:cBhvr>
                                        <p:cTn id="31" dur="20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wipe(left)">
                                      <p:cBhvr>
                                        <p:cTn id="36" dur="500"/>
                                        <p:tgtEl>
                                          <p:spTgt spid="3">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fade">
                                      <p:cBhvr>
                                        <p:cTn id="41" dur="10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10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wipe(left)">
                                      <p:cBhvr>
                                        <p:cTn id="51" dur="1000"/>
                                        <p:tgtEl>
                                          <p:spTgt spid="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wipe(left)">
                                      <p:cBhvr>
                                        <p:cTn id="56" dur="1000"/>
                                        <p:tgtEl>
                                          <p:spTgt spid="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fade">
                                      <p:cBhvr>
                                        <p:cTn id="61" dur="1000"/>
                                        <p:tgtEl>
                                          <p:spTgt spid="8"/>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7"/>
                                        </p:tgtEl>
                                        <p:attrNameLst>
                                          <p:attrName>style.visibility</p:attrName>
                                        </p:attrNameLst>
                                      </p:cBhvr>
                                      <p:to>
                                        <p:strVal val="visible"/>
                                      </p:to>
                                    </p:set>
                                    <p:animEffect transition="in" filter="fade">
                                      <p:cBhvr>
                                        <p:cTn id="66" dur="1000"/>
                                        <p:tgtEl>
                                          <p:spTgt spid="7"/>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fade">
                                      <p:cBhvr>
                                        <p:cTn id="71"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P spid="4" grpId="0" animBg="1"/>
      <p:bldP spid="8" grpId="0" animBg="1"/>
      <p:bldP spid="12" grpId="0" animBg="1"/>
      <p:bldP spid="13" grpId="0" animBg="1"/>
    </p:bldLst>
  </p:timing>
</p:sld>
</file>

<file path=ppt/slides/slide2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CREATE TABLE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825625"/>
            <a:ext cx="10800644" cy="4351338"/>
          </a:xfrm>
        </p:spPr>
        <p:txBody>
          <a:bodyPr>
            <a:noAutofit/>
          </a:bodyPr>
          <a:lstStyle/>
          <a:p>
            <a:pPr marL="0" lvl="0" indent="0" eaLnBrk="0" fontAlgn="base" hangingPunct="0">
              <a:lnSpc>
                <a:spcPct val="100000"/>
              </a:lnSpc>
              <a:spcBef>
                <a:spcPct val="0"/>
              </a:spcBef>
              <a:spcAft>
                <a:spcPts val="1200"/>
              </a:spcAft>
              <a:buNone/>
            </a:pPr>
            <a:r>
              <a:rPr lang="en-US" altLang="en-US" sz="3600" dirty="0">
                <a:solidFill>
                  <a:srgbClr val="B2B2B2"/>
                </a:solidFill>
                <a:latin typeface="Consolas" panose="020B0609020204030204" pitchFamily="49" charset="0"/>
              </a:rPr>
              <a:t>1 </a:t>
            </a:r>
            <a:r>
              <a:rPr lang="en-US" altLang="en-US" sz="3600" dirty="0">
                <a:solidFill>
                  <a:srgbClr val="A71D5D"/>
                </a:solidFill>
                <a:latin typeface="Consolas" panose="020B0609020204030204" pitchFamily="49" charset="0"/>
              </a:rPr>
              <a:t>CREATE TABLE</a:t>
            </a:r>
            <a:r>
              <a:rPr lang="en-US" altLang="en-US" sz="3600" dirty="0">
                <a:solidFill>
                  <a:srgbClr val="000000"/>
                </a:solidFill>
                <a:latin typeface="Consolas" panose="020B0609020204030204" pitchFamily="49" charset="0"/>
              </a:rPr>
              <a:t> </a:t>
            </a:r>
            <a:r>
              <a:rPr lang="en-US" altLang="en-US" sz="3600" dirty="0">
                <a:solidFill>
                  <a:srgbClr val="183691"/>
                </a:solidFill>
                <a:latin typeface="Consolas" panose="020B0609020204030204" pitchFamily="49" charset="0"/>
              </a:rPr>
              <a:t>table2</a:t>
            </a:r>
            <a:r>
              <a:rPr lang="en-US" altLang="en-US" sz="36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2   </a:t>
            </a:r>
            <a:r>
              <a:rPr lang="en-US" altLang="en-US" sz="3600" dirty="0">
                <a:solidFill>
                  <a:srgbClr val="183691"/>
                </a:solidFill>
                <a:latin typeface="Consolas" panose="020B0609020204030204" pitchFamily="49" charset="0"/>
              </a:rPr>
              <a:t>field1</a:t>
            </a:r>
            <a:r>
              <a:rPr lang="en-US" altLang="en-US" sz="3600" dirty="0">
                <a:solidFill>
                  <a:srgbClr val="000000"/>
                </a:solidFill>
                <a:latin typeface="Consolas" panose="020B0609020204030204" pitchFamily="49" charset="0"/>
              </a:rPr>
              <a:t> </a:t>
            </a:r>
            <a:r>
              <a:rPr lang="en-US" altLang="en-US" sz="3600" dirty="0">
                <a:solidFill>
                  <a:srgbClr val="49A5CA"/>
                </a:solidFill>
                <a:latin typeface="Consolas" panose="020B0609020204030204" pitchFamily="49" charset="0"/>
              </a:rPr>
              <a:t>datatype</a:t>
            </a:r>
            <a:r>
              <a:rPr lang="en-US" altLang="en-US" sz="3600" dirty="0">
                <a:solidFill>
                  <a:srgbClr val="000000"/>
                </a:solidFill>
                <a:latin typeface="Consolas" panose="020B0609020204030204" pitchFamily="49" charset="0"/>
              </a:rPr>
              <a:t> </a:t>
            </a:r>
            <a:r>
              <a:rPr lang="en-US" altLang="en-US" sz="3600" dirty="0">
                <a:solidFill>
                  <a:srgbClr val="A71D5D"/>
                </a:solidFill>
                <a:latin typeface="Consolas" panose="020B0609020204030204" pitchFamily="49" charset="0"/>
              </a:rPr>
              <a:t>validation</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ts val="1200"/>
              </a:spcAft>
              <a:buNone/>
            </a:pPr>
            <a:r>
              <a:rPr lang="en-US" altLang="en-US" sz="3600" dirty="0">
                <a:solidFill>
                  <a:srgbClr val="B2B2B2"/>
                </a:solidFill>
                <a:latin typeface="Consolas" panose="020B0609020204030204" pitchFamily="49" charset="0"/>
              </a:rPr>
              <a:t>3   </a:t>
            </a:r>
            <a:r>
              <a:rPr lang="en-US" altLang="en-US" sz="3600" dirty="0">
                <a:solidFill>
                  <a:srgbClr val="183691"/>
                </a:solidFill>
                <a:latin typeface="Consolas" panose="020B0609020204030204" pitchFamily="49" charset="0"/>
              </a:rPr>
              <a:t>field2</a:t>
            </a:r>
            <a:r>
              <a:rPr lang="en-US" altLang="en-US" sz="3600" dirty="0">
                <a:solidFill>
                  <a:srgbClr val="000000"/>
                </a:solidFill>
                <a:latin typeface="Consolas" panose="020B0609020204030204" pitchFamily="49" charset="0"/>
              </a:rPr>
              <a:t> </a:t>
            </a:r>
            <a:r>
              <a:rPr lang="en-US" altLang="en-US" sz="3600" dirty="0">
                <a:solidFill>
                  <a:srgbClr val="49A5CA"/>
                </a:solidFill>
                <a:latin typeface="Consolas" panose="020B0609020204030204" pitchFamily="49" charset="0"/>
              </a:rPr>
              <a:t>datatype</a:t>
            </a:r>
            <a:r>
              <a:rPr lang="en-US" altLang="en-US" sz="3600" dirty="0">
                <a:solidFill>
                  <a:srgbClr val="000000"/>
                </a:solidFill>
                <a:latin typeface="Consolas" panose="020B0609020204030204" pitchFamily="49" charset="0"/>
              </a:rPr>
              <a:t> </a:t>
            </a:r>
            <a:r>
              <a:rPr lang="en-US" altLang="en-US" sz="3600" dirty="0">
                <a:solidFill>
                  <a:srgbClr val="A71D5D"/>
                </a:solidFill>
                <a:latin typeface="Consolas" panose="020B0609020204030204" pitchFamily="49" charset="0"/>
              </a:rPr>
              <a:t>validation</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4   </a:t>
            </a:r>
            <a:r>
              <a:rPr lang="en-US" altLang="en-US" sz="3600" dirty="0">
                <a:solidFill>
                  <a:srgbClr val="A71D5D"/>
                </a:solidFill>
                <a:latin typeface="Consolas" panose="020B0609020204030204" pitchFamily="49" charset="0"/>
              </a:rPr>
              <a:t>FOREIGN KEY</a:t>
            </a:r>
            <a:r>
              <a:rPr lang="en-US" altLang="en-US" sz="3600" dirty="0">
                <a:solidFill>
                  <a:srgbClr val="000000"/>
                </a:solidFill>
                <a:latin typeface="Consolas" panose="020B0609020204030204" pitchFamily="49" charset="0"/>
              </a:rPr>
              <a:t>(</a:t>
            </a:r>
            <a:r>
              <a:rPr lang="en-US" altLang="en-US" sz="3600" dirty="0">
                <a:solidFill>
                  <a:srgbClr val="183691"/>
                </a:solidFill>
                <a:latin typeface="Consolas" panose="020B0609020204030204" pitchFamily="49" charset="0"/>
              </a:rPr>
              <a:t>field2</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ts val="1200"/>
              </a:spcAft>
              <a:buNone/>
            </a:pPr>
            <a:r>
              <a:rPr lang="en-US" altLang="en-US" sz="3600" dirty="0">
                <a:solidFill>
                  <a:srgbClr val="000000"/>
                </a:solidFill>
                <a:latin typeface="Consolas" panose="020B0609020204030204" pitchFamily="49" charset="0"/>
              </a:rPr>
              <a:t>      </a:t>
            </a:r>
            <a:r>
              <a:rPr lang="en-US" altLang="en-US" sz="3600" dirty="0">
                <a:solidFill>
                  <a:srgbClr val="A71D5D"/>
                </a:solidFill>
                <a:latin typeface="Consolas" panose="020B0609020204030204" pitchFamily="49" charset="0"/>
              </a:rPr>
              <a:t>REFERENCES</a:t>
            </a:r>
            <a:r>
              <a:rPr lang="en-US" altLang="en-US" sz="3600" dirty="0">
                <a:solidFill>
                  <a:srgbClr val="000000"/>
                </a:solidFill>
                <a:latin typeface="Consolas" panose="020B0609020204030204" pitchFamily="49" charset="0"/>
              </a:rPr>
              <a:t> </a:t>
            </a:r>
            <a:r>
              <a:rPr lang="en-US" altLang="en-US" sz="3600" dirty="0">
                <a:solidFill>
                  <a:srgbClr val="183691"/>
                </a:solidFill>
                <a:latin typeface="Consolas" panose="020B0609020204030204" pitchFamily="49" charset="0"/>
              </a:rPr>
              <a:t>table1</a:t>
            </a:r>
            <a:r>
              <a:rPr lang="en-US" altLang="en-US" sz="3600" dirty="0">
                <a:solidFill>
                  <a:srgbClr val="000000"/>
                </a:solidFill>
                <a:latin typeface="Consolas" panose="020B0609020204030204" pitchFamily="49" charset="0"/>
              </a:rPr>
              <a:t>(</a:t>
            </a:r>
            <a:r>
              <a:rPr lang="en-US" altLang="en-US" sz="3600" dirty="0">
                <a:solidFill>
                  <a:srgbClr val="183691"/>
                </a:solidFill>
                <a:latin typeface="Consolas" panose="020B0609020204030204" pitchFamily="49" charset="0"/>
              </a:rPr>
              <a:t>field1</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5   </a:t>
            </a:r>
            <a:r>
              <a:rPr lang="en-US" altLang="en-US" sz="3600" dirty="0">
                <a:solidFill>
                  <a:srgbClr val="A71D5D"/>
                </a:solidFill>
                <a:latin typeface="Consolas" panose="020B0609020204030204" pitchFamily="49" charset="0"/>
              </a:rPr>
              <a:t>PRIMARY KEY</a:t>
            </a:r>
            <a:r>
              <a:rPr lang="en-US" altLang="en-US" sz="3600" dirty="0">
                <a:solidFill>
                  <a:srgbClr val="000000"/>
                </a:solidFill>
                <a:latin typeface="Consolas" panose="020B0609020204030204" pitchFamily="49" charset="0"/>
              </a:rPr>
              <a:t>(</a:t>
            </a:r>
            <a:r>
              <a:rPr lang="en-US" altLang="en-US" sz="3600" dirty="0">
                <a:solidFill>
                  <a:srgbClr val="183691"/>
                </a:solidFill>
                <a:latin typeface="Consolas" panose="020B0609020204030204" pitchFamily="49" charset="0"/>
              </a:rPr>
              <a:t>field1</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6 </a:t>
            </a:r>
            <a:r>
              <a:rPr lang="en-US" altLang="en-US" sz="3600" dirty="0">
                <a:solidFill>
                  <a:srgbClr val="000000"/>
                </a:solidFill>
                <a:latin typeface="Consolas" panose="020B0609020204030204" pitchFamily="49" charset="0"/>
              </a:rPr>
              <a:t>);</a:t>
            </a:r>
            <a:endParaRPr lang="en-US" altLang="en-US" sz="4800" dirty="0">
              <a:latin typeface="Arial" panose="020B0604020202020204" pitchFamily="34" charset="0"/>
            </a:endParaRPr>
          </a:p>
        </p:txBody>
      </p:sp>
    </p:spTree>
    <p:extLst>
      <p:ext uri="{BB962C8B-B14F-4D97-AF65-F5344CB8AC3E}">
        <p14:creationId xmlns:p14="http://schemas.microsoft.com/office/powerpoint/2010/main" val="376945475"/>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CREATE TABLE – Task 1</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extLst>
              <p:ext uri="{D42A27DB-BD31-4B8C-83A1-F6EECF244321}">
                <p14:modId xmlns:p14="http://schemas.microsoft.com/office/powerpoint/2010/main" val="4173441596"/>
              </p:ext>
            </p:extLst>
          </p:nvPr>
        </p:nvGraphicFramePr>
        <p:xfrm>
          <a:off x="838200" y="2239693"/>
          <a:ext cx="10337800" cy="4053840"/>
        </p:xfrm>
        <a:graphic>
          <a:graphicData uri="http://schemas.openxmlformats.org/drawingml/2006/table">
            <a:tbl>
              <a:tblPr firstRow="1" bandRow="1">
                <a:tableStyleId>{5C22544A-7EE6-4342-B048-85BDC9FD1C3A}</a:tableStyleId>
              </a:tblPr>
              <a:tblGrid>
                <a:gridCol w="2056986">
                  <a:extLst>
                    <a:ext uri="{9D8B030D-6E8A-4147-A177-3AD203B41FA5}">
                      <a16:colId xmlns:a16="http://schemas.microsoft.com/office/drawing/2014/main" val="1632358923"/>
                    </a:ext>
                  </a:extLst>
                </a:gridCol>
                <a:gridCol w="829807">
                  <a:extLst>
                    <a:ext uri="{9D8B030D-6E8A-4147-A177-3AD203B41FA5}">
                      <a16:colId xmlns:a16="http://schemas.microsoft.com/office/drawing/2014/main" val="3505833113"/>
                    </a:ext>
                  </a:extLst>
                </a:gridCol>
                <a:gridCol w="1586230">
                  <a:extLst>
                    <a:ext uri="{9D8B030D-6E8A-4147-A177-3AD203B41FA5}">
                      <a16:colId xmlns:a16="http://schemas.microsoft.com/office/drawing/2014/main" val="2732100902"/>
                    </a:ext>
                  </a:extLst>
                </a:gridCol>
                <a:gridCol w="926211">
                  <a:extLst>
                    <a:ext uri="{9D8B030D-6E8A-4147-A177-3AD203B41FA5}">
                      <a16:colId xmlns:a16="http://schemas.microsoft.com/office/drawing/2014/main" val="315362434"/>
                    </a:ext>
                  </a:extLst>
                </a:gridCol>
                <a:gridCol w="1297304">
                  <a:extLst>
                    <a:ext uri="{9D8B030D-6E8A-4147-A177-3AD203B41FA5}">
                      <a16:colId xmlns:a16="http://schemas.microsoft.com/office/drawing/2014/main" val="2971574360"/>
                    </a:ext>
                  </a:extLst>
                </a:gridCol>
                <a:gridCol w="3641262">
                  <a:extLst>
                    <a:ext uri="{9D8B030D-6E8A-4147-A177-3AD203B41FA5}">
                      <a16:colId xmlns:a16="http://schemas.microsoft.com/office/drawing/2014/main" val="2515431282"/>
                    </a:ext>
                  </a:extLst>
                </a:gridCol>
              </a:tblGrid>
              <a:tr h="370840">
                <a:tc>
                  <a:txBody>
                    <a:bodyPr/>
                    <a:lstStyle/>
                    <a:p>
                      <a:pPr algn="ctr"/>
                      <a:r>
                        <a:rPr lang="en-GB" sz="3200" dirty="0"/>
                        <a:t>Attribute</a:t>
                      </a:r>
                    </a:p>
                  </a:txBody>
                  <a:tcPr/>
                </a:tc>
                <a:tc>
                  <a:txBody>
                    <a:bodyPr/>
                    <a:lstStyle/>
                    <a:p>
                      <a:pPr algn="ctr"/>
                      <a:r>
                        <a:rPr lang="en-GB" sz="3200" dirty="0"/>
                        <a:t>Key</a:t>
                      </a:r>
                    </a:p>
                  </a:txBody>
                  <a:tcPr/>
                </a:tc>
                <a:tc>
                  <a:txBody>
                    <a:bodyPr/>
                    <a:lstStyle/>
                    <a:p>
                      <a:pPr algn="ctr"/>
                      <a:r>
                        <a:rPr lang="en-GB" sz="3200" dirty="0"/>
                        <a:t>Type</a:t>
                      </a:r>
                    </a:p>
                  </a:txBody>
                  <a:tcPr/>
                </a:tc>
                <a:tc>
                  <a:txBody>
                    <a:bodyPr/>
                    <a:lstStyle/>
                    <a:p>
                      <a:pPr algn="ctr"/>
                      <a:r>
                        <a:rPr lang="en-GB" sz="3200" dirty="0"/>
                        <a:t>Size</a:t>
                      </a:r>
                    </a:p>
                  </a:txBody>
                  <a:tcPr/>
                </a:tc>
                <a:tc>
                  <a:txBody>
                    <a:bodyPr/>
                    <a:lstStyle/>
                    <a:p>
                      <a:pPr algn="ctr"/>
                      <a:r>
                        <a:rPr lang="en-GB" sz="3200" dirty="0" err="1"/>
                        <a:t>Req'd</a:t>
                      </a:r>
                      <a:endParaRPr lang="en-GB" sz="3200" dirty="0"/>
                    </a:p>
                  </a:txBody>
                  <a:tcPr/>
                </a:tc>
                <a:tc>
                  <a:txBody>
                    <a:bodyPr/>
                    <a:lstStyle/>
                    <a:p>
                      <a:pPr algn="ctr"/>
                      <a:r>
                        <a:rPr lang="en-GB" sz="3200" dirty="0"/>
                        <a:t>Validation</a:t>
                      </a:r>
                    </a:p>
                  </a:txBody>
                  <a:tcPr/>
                </a:tc>
                <a:extLst>
                  <a:ext uri="{0D108BD9-81ED-4DB2-BD59-A6C34878D82A}">
                    <a16:rowId xmlns:a16="http://schemas.microsoft.com/office/drawing/2014/main" val="3459615676"/>
                  </a:ext>
                </a:extLst>
              </a:tr>
              <a:tr h="370840">
                <a:tc>
                  <a:txBody>
                    <a:bodyPr/>
                    <a:lstStyle/>
                    <a:p>
                      <a:r>
                        <a:rPr lang="en-GB" sz="3200" dirty="0" err="1"/>
                        <a:t>supplierID</a:t>
                      </a:r>
                      <a:endParaRPr lang="en-GB" sz="3200" dirty="0"/>
                    </a:p>
                  </a:txBody>
                  <a:tcPr/>
                </a:tc>
                <a:tc>
                  <a:txBody>
                    <a:bodyPr/>
                    <a:lstStyle/>
                    <a:p>
                      <a:pPr algn="ctr"/>
                      <a:r>
                        <a:rPr lang="en-GB" sz="3200" dirty="0"/>
                        <a:t>PK</a:t>
                      </a:r>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1127765656"/>
                  </a:ext>
                </a:extLst>
              </a:tr>
              <a:tr h="370840">
                <a:tc>
                  <a:txBody>
                    <a:bodyPr/>
                    <a:lstStyle/>
                    <a:p>
                      <a:r>
                        <a:rPr lang="en-GB" sz="3200" dirty="0"/>
                        <a:t>name</a:t>
                      </a:r>
                    </a:p>
                  </a:txBody>
                  <a:tcPr/>
                </a:tc>
                <a:tc>
                  <a:txBody>
                    <a:bodyPr/>
                    <a:lstStyle/>
                    <a:p>
                      <a:pPr algn="ctr"/>
                      <a:endParaRPr lang="en-GB" sz="3200" dirty="0"/>
                    </a:p>
                  </a:txBody>
                  <a:tcPr/>
                </a:tc>
                <a:tc>
                  <a:txBody>
                    <a:bodyPr/>
                    <a:lstStyle/>
                    <a:p>
                      <a:r>
                        <a:rPr lang="en-GB" sz="3200" dirty="0"/>
                        <a:t>text</a:t>
                      </a:r>
                    </a:p>
                  </a:txBody>
                  <a:tcPr/>
                </a:tc>
                <a:tc>
                  <a:txBody>
                    <a:bodyPr/>
                    <a:lstStyle/>
                    <a:p>
                      <a:pPr algn="ctr"/>
                      <a:r>
                        <a:rPr lang="en-GB" sz="3200" dirty="0"/>
                        <a:t>30</a:t>
                      </a:r>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2924661129"/>
                  </a:ext>
                </a:extLst>
              </a:tr>
              <a:tr h="370840">
                <a:tc>
                  <a:txBody>
                    <a:bodyPr/>
                    <a:lstStyle/>
                    <a:p>
                      <a:r>
                        <a:rPr lang="en-GB" sz="3200" dirty="0"/>
                        <a:t>address</a:t>
                      </a:r>
                    </a:p>
                  </a:txBody>
                  <a:tcPr/>
                </a:tc>
                <a:tc>
                  <a:txBody>
                    <a:bodyPr/>
                    <a:lstStyle/>
                    <a:p>
                      <a:pPr algn="ctr"/>
                      <a:endParaRPr lang="en-GB" sz="3200" dirty="0"/>
                    </a:p>
                  </a:txBody>
                  <a:tcPr/>
                </a:tc>
                <a:tc>
                  <a:txBody>
                    <a:bodyPr/>
                    <a:lstStyle/>
                    <a:p>
                      <a:r>
                        <a:rPr lang="en-GB" sz="3200" dirty="0"/>
                        <a:t>text</a:t>
                      </a:r>
                    </a:p>
                  </a:txBody>
                  <a:tcPr/>
                </a:tc>
                <a:tc>
                  <a:txBody>
                    <a:bodyPr/>
                    <a:lstStyle/>
                    <a:p>
                      <a:pPr algn="ctr"/>
                      <a:r>
                        <a:rPr lang="en-GB" sz="3200" dirty="0"/>
                        <a:t>50</a:t>
                      </a:r>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3885493841"/>
                  </a:ext>
                </a:extLst>
              </a:tr>
              <a:tr h="370840">
                <a:tc>
                  <a:txBody>
                    <a:bodyPr/>
                    <a:lstStyle/>
                    <a:p>
                      <a:r>
                        <a:rPr lang="en-GB" sz="3200" dirty="0"/>
                        <a:t>phone</a:t>
                      </a:r>
                    </a:p>
                  </a:txBody>
                  <a:tcPr/>
                </a:tc>
                <a:tc>
                  <a:txBody>
                    <a:bodyPr/>
                    <a:lstStyle/>
                    <a:p>
                      <a:pPr algn="ctr"/>
                      <a:endParaRPr lang="en-GB" sz="3200" dirty="0"/>
                    </a:p>
                  </a:txBody>
                  <a:tcPr/>
                </a:tc>
                <a:tc>
                  <a:txBody>
                    <a:bodyPr/>
                    <a:lstStyle/>
                    <a:p>
                      <a:r>
                        <a:rPr lang="en-GB" sz="3200" dirty="0"/>
                        <a:t>text</a:t>
                      </a:r>
                    </a:p>
                  </a:txBody>
                  <a:tcPr/>
                </a:tc>
                <a:tc>
                  <a:txBody>
                    <a:bodyPr/>
                    <a:lstStyle/>
                    <a:p>
                      <a:pPr algn="ctr"/>
                      <a:r>
                        <a:rPr lang="en-GB" sz="3200" dirty="0"/>
                        <a:t>12</a:t>
                      </a:r>
                    </a:p>
                  </a:txBody>
                  <a:tcPr/>
                </a:tc>
                <a:tc>
                  <a:txBody>
                    <a:bodyPr/>
                    <a:lstStyle/>
                    <a:p>
                      <a:pPr algn="ctr"/>
                      <a:r>
                        <a:rPr lang="en-GB" sz="3200" dirty="0"/>
                        <a:t>N</a:t>
                      </a:r>
                    </a:p>
                  </a:txBody>
                  <a:tcPr/>
                </a:tc>
                <a:tc>
                  <a:txBody>
                    <a:bodyPr/>
                    <a:lstStyle/>
                    <a:p>
                      <a:r>
                        <a:rPr lang="en-GB" sz="3200" dirty="0"/>
                        <a:t>length: &gt;= 11</a:t>
                      </a:r>
                    </a:p>
                  </a:txBody>
                  <a:tcPr/>
                </a:tc>
                <a:extLst>
                  <a:ext uri="{0D108BD9-81ED-4DB2-BD59-A6C34878D82A}">
                    <a16:rowId xmlns:a16="http://schemas.microsoft.com/office/drawing/2014/main" val="1487565366"/>
                  </a:ext>
                </a:extLst>
              </a:tr>
              <a:tr h="370840">
                <a:tc>
                  <a:txBody>
                    <a:bodyPr/>
                    <a:lstStyle/>
                    <a:p>
                      <a:r>
                        <a:rPr lang="en-GB" sz="3200" dirty="0"/>
                        <a:t>email</a:t>
                      </a:r>
                    </a:p>
                  </a:txBody>
                  <a:tcPr/>
                </a:tc>
                <a:tc>
                  <a:txBody>
                    <a:bodyPr/>
                    <a:lstStyle/>
                    <a:p>
                      <a:pPr algn="ctr"/>
                      <a:endParaRPr lang="en-GB" sz="3200" dirty="0"/>
                    </a:p>
                  </a:txBody>
                  <a:tcPr/>
                </a:tc>
                <a:tc>
                  <a:txBody>
                    <a:bodyPr/>
                    <a:lstStyle/>
                    <a:p>
                      <a:r>
                        <a:rPr lang="en-GB" sz="3200" dirty="0"/>
                        <a:t>text</a:t>
                      </a:r>
                    </a:p>
                  </a:txBody>
                  <a:tcPr/>
                </a:tc>
                <a:tc>
                  <a:txBody>
                    <a:bodyPr/>
                    <a:lstStyle/>
                    <a:p>
                      <a:pPr algn="ctr"/>
                      <a:r>
                        <a:rPr lang="en-GB" sz="3200" dirty="0"/>
                        <a:t>30</a:t>
                      </a:r>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3947728551"/>
                  </a:ext>
                </a:extLst>
              </a:tr>
              <a:tr h="370840">
                <a:tc>
                  <a:txBody>
                    <a:bodyPr/>
                    <a:lstStyle/>
                    <a:p>
                      <a:r>
                        <a:rPr lang="en-GB" sz="3200" dirty="0"/>
                        <a:t>active</a:t>
                      </a:r>
                    </a:p>
                  </a:txBody>
                  <a:tcPr/>
                </a:tc>
                <a:tc>
                  <a:txBody>
                    <a:bodyPr/>
                    <a:lstStyle/>
                    <a:p>
                      <a:pPr algn="ctr"/>
                      <a:endParaRPr lang="en-GB" sz="3200" dirty="0"/>
                    </a:p>
                  </a:txBody>
                  <a:tcPr/>
                </a:tc>
                <a:tc>
                  <a:txBody>
                    <a:bodyPr/>
                    <a:lstStyle/>
                    <a:p>
                      <a:r>
                        <a:rPr lang="en-GB" sz="3200" dirty="0" err="1"/>
                        <a:t>boolean</a:t>
                      </a:r>
                      <a:endParaRPr lang="en-GB" sz="3200" dirty="0"/>
                    </a:p>
                  </a:txBody>
                  <a:tcPr/>
                </a:tc>
                <a:tc>
                  <a:txBody>
                    <a:bodyPr/>
                    <a:lstStyle/>
                    <a:p>
                      <a:pPr algn="ctr"/>
                      <a:endParaRPr lang="en-GB" sz="3200" dirty="0"/>
                    </a:p>
                  </a:txBody>
                  <a:tcPr/>
                </a:tc>
                <a:tc>
                  <a:txBody>
                    <a:bodyPr/>
                    <a:lstStyle/>
                    <a:p>
                      <a:pPr algn="ctr"/>
                      <a:r>
                        <a:rPr lang="en-GB" sz="3200" dirty="0"/>
                        <a:t>N</a:t>
                      </a:r>
                    </a:p>
                  </a:txBody>
                  <a:tcPr/>
                </a:tc>
                <a:tc>
                  <a:txBody>
                    <a:bodyPr/>
                    <a:lstStyle/>
                    <a:p>
                      <a:endParaRPr lang="en-GB" sz="3200" dirty="0"/>
                    </a:p>
                  </a:txBody>
                  <a:tcPr/>
                </a:tc>
                <a:extLst>
                  <a:ext uri="{0D108BD9-81ED-4DB2-BD59-A6C34878D82A}">
                    <a16:rowId xmlns:a16="http://schemas.microsoft.com/office/drawing/2014/main" val="228004377"/>
                  </a:ext>
                </a:extLst>
              </a:tr>
            </a:tbl>
          </a:graphicData>
        </a:graphic>
      </p:graphicFrame>
      <p:sp>
        <p:nvSpPr>
          <p:cNvPr id="3" name="TextBox 2">
            <a:extLst>
              <a:ext uri="{FF2B5EF4-FFF2-40B4-BE49-F238E27FC236}">
                <a16:creationId xmlns:a16="http://schemas.microsoft.com/office/drawing/2014/main" id="{2870215D-9F81-A8EC-08CB-B997553DFED6}"/>
              </a:ext>
            </a:extLst>
          </p:cNvPr>
          <p:cNvSpPr txBox="1"/>
          <p:nvPr/>
        </p:nvSpPr>
        <p:spPr>
          <a:xfrm>
            <a:off x="838200" y="1592921"/>
            <a:ext cx="3041730" cy="646331"/>
          </a:xfrm>
          <a:prstGeom prst="rect">
            <a:avLst/>
          </a:prstGeom>
          <a:noFill/>
        </p:spPr>
        <p:txBody>
          <a:bodyPr wrap="none" rtlCol="0">
            <a:spAutoFit/>
          </a:bodyPr>
          <a:lstStyle/>
          <a:p>
            <a:r>
              <a:rPr lang="en-GB" sz="3600" b="1" dirty="0"/>
              <a:t>Entity</a:t>
            </a:r>
            <a:r>
              <a:rPr lang="en-GB" sz="3600" dirty="0"/>
              <a:t>: supplier</a:t>
            </a:r>
          </a:p>
        </p:txBody>
      </p:sp>
    </p:spTree>
    <p:extLst>
      <p:ext uri="{BB962C8B-B14F-4D97-AF65-F5344CB8AC3E}">
        <p14:creationId xmlns:p14="http://schemas.microsoft.com/office/powerpoint/2010/main" val="2529387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3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CREATE TABLE – Task 1 - Solution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825625"/>
            <a:ext cx="10515600" cy="4351338"/>
          </a:xfrm>
        </p:spPr>
        <p:txBody>
          <a:bodyPr>
            <a:noAutofit/>
          </a:bodyPr>
          <a:lstStyle/>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1 </a:t>
            </a:r>
            <a:r>
              <a:rPr lang="en-US" altLang="en-US" sz="3000" dirty="0">
                <a:solidFill>
                  <a:srgbClr val="A71D5D"/>
                </a:solidFill>
                <a:latin typeface="Consolas" panose="020B0609020204030204" pitchFamily="49" charset="0"/>
              </a:rPr>
              <a:t>CREATE TABLE</a:t>
            </a:r>
            <a:r>
              <a:rPr lang="en-US" altLang="en-US" sz="3000" dirty="0">
                <a:solidFill>
                  <a:srgbClr val="000000"/>
                </a:solidFill>
                <a:latin typeface="Consolas" panose="020B0609020204030204" pitchFamily="49" charset="0"/>
              </a:rPr>
              <a:t> </a:t>
            </a:r>
            <a:r>
              <a:rPr lang="en-US" altLang="en-US" sz="3000" dirty="0">
                <a:solidFill>
                  <a:srgbClr val="0086B3"/>
                </a:solidFill>
                <a:latin typeface="Consolas" panose="020B0609020204030204" pitchFamily="49" charset="0"/>
              </a:rPr>
              <a:t>supplier</a:t>
            </a:r>
            <a:r>
              <a:rPr lang="en-US" altLang="en-US" sz="30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2 </a:t>
            </a:r>
            <a:r>
              <a:rPr lang="en-US" altLang="en-US" sz="3000" dirty="0">
                <a:solidFill>
                  <a:srgbClr val="000000"/>
                </a:solidFill>
                <a:latin typeface="Consolas" panose="020B0609020204030204" pitchFamily="49" charset="0"/>
              </a:rPr>
              <a:t>  </a:t>
            </a:r>
            <a:r>
              <a:rPr lang="en-US" altLang="en-US" sz="3000" dirty="0" err="1">
                <a:solidFill>
                  <a:srgbClr val="000000"/>
                </a:solidFill>
                <a:latin typeface="Consolas" panose="020B0609020204030204" pitchFamily="49" charset="0"/>
              </a:rPr>
              <a:t>supplierID</a:t>
            </a:r>
            <a:r>
              <a:rPr lang="en-US" altLang="en-US" sz="3000" dirty="0">
                <a:solidFill>
                  <a:srgbClr val="000000"/>
                </a:solidFill>
                <a:latin typeface="Consolas" panose="020B0609020204030204" pitchFamily="49" charset="0"/>
              </a:rPr>
              <a:t> </a:t>
            </a:r>
            <a:r>
              <a:rPr lang="en-US" altLang="en-US" sz="3000" dirty="0">
                <a:solidFill>
                  <a:srgbClr val="0086B3"/>
                </a:solidFill>
                <a:latin typeface="Consolas" panose="020B0609020204030204" pitchFamily="49" charset="0"/>
              </a:rPr>
              <a:t>INT</a:t>
            </a:r>
            <a:r>
              <a:rPr lang="en-US" altLang="en-US" sz="3000" dirty="0">
                <a:solidFill>
                  <a:srgbClr val="000000"/>
                </a:solidFill>
                <a:latin typeface="Consolas" panose="020B0609020204030204" pitchFamily="49" charset="0"/>
              </a:rPr>
              <a:t> </a:t>
            </a:r>
            <a:r>
              <a:rPr lang="en-US" altLang="en-US" sz="3000" dirty="0">
                <a:solidFill>
                  <a:srgbClr val="A71D5D"/>
                </a:solidFill>
                <a:latin typeface="Consolas" panose="020B0609020204030204" pitchFamily="49" charset="0"/>
              </a:rPr>
              <a:t>NOT NULL</a:t>
            </a:r>
            <a:endParaRPr lang="en-US" altLang="en-US" sz="3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3 </a:t>
            </a:r>
            <a:r>
              <a:rPr lang="en-US" altLang="en-US" sz="3000" dirty="0">
                <a:solidFill>
                  <a:srgbClr val="000000"/>
                </a:solidFill>
                <a:latin typeface="Consolas" panose="020B0609020204030204" pitchFamily="49" charset="0"/>
              </a:rPr>
              <a:t>  name </a:t>
            </a:r>
            <a:r>
              <a:rPr lang="en-US" altLang="en-US" sz="3000" dirty="0">
                <a:solidFill>
                  <a:srgbClr val="0086B3"/>
                </a:solidFill>
                <a:latin typeface="Consolas" panose="020B0609020204030204" pitchFamily="49" charset="0"/>
              </a:rPr>
              <a:t>VARCHAR</a:t>
            </a:r>
            <a:r>
              <a:rPr lang="en-US" altLang="en-US" sz="3000" dirty="0">
                <a:solidFill>
                  <a:srgbClr val="000000"/>
                </a:solidFill>
                <a:latin typeface="Consolas" panose="020B0609020204030204" pitchFamily="49" charset="0"/>
              </a:rPr>
              <a:t>(</a:t>
            </a:r>
            <a:r>
              <a:rPr lang="en-US" altLang="en-US" sz="3000" dirty="0">
                <a:solidFill>
                  <a:srgbClr val="0086B3"/>
                </a:solidFill>
                <a:latin typeface="Consolas" panose="020B0609020204030204" pitchFamily="49" charset="0"/>
              </a:rPr>
              <a:t>30</a:t>
            </a:r>
            <a:r>
              <a:rPr lang="en-US" altLang="en-US" sz="3000" dirty="0">
                <a:solidFill>
                  <a:srgbClr val="000000"/>
                </a:solidFill>
                <a:latin typeface="Consolas" panose="020B0609020204030204" pitchFamily="49" charset="0"/>
              </a:rPr>
              <a:t>) </a:t>
            </a:r>
            <a:r>
              <a:rPr lang="en-US" altLang="en-US" sz="3000" dirty="0">
                <a:solidFill>
                  <a:srgbClr val="A71D5D"/>
                </a:solidFill>
                <a:latin typeface="Consolas" panose="020B0609020204030204" pitchFamily="49" charset="0"/>
              </a:rPr>
              <a:t>NOT NULL</a:t>
            </a:r>
            <a:r>
              <a:rPr lang="en-US" altLang="en-US" sz="3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4 </a:t>
            </a:r>
            <a:r>
              <a:rPr lang="en-US" altLang="en-US" sz="3000" dirty="0">
                <a:solidFill>
                  <a:srgbClr val="000000"/>
                </a:solidFill>
                <a:latin typeface="Consolas" panose="020B0609020204030204" pitchFamily="49" charset="0"/>
              </a:rPr>
              <a:t>  address </a:t>
            </a:r>
            <a:r>
              <a:rPr lang="en-US" altLang="en-US" sz="3000" dirty="0">
                <a:solidFill>
                  <a:srgbClr val="0086B3"/>
                </a:solidFill>
                <a:latin typeface="Consolas" panose="020B0609020204030204" pitchFamily="49" charset="0"/>
              </a:rPr>
              <a:t>VARCHAR</a:t>
            </a:r>
            <a:r>
              <a:rPr lang="en-US" altLang="en-US" sz="3000" dirty="0">
                <a:solidFill>
                  <a:srgbClr val="000000"/>
                </a:solidFill>
                <a:latin typeface="Consolas" panose="020B0609020204030204" pitchFamily="49" charset="0"/>
              </a:rPr>
              <a:t>(</a:t>
            </a:r>
            <a:r>
              <a:rPr lang="en-US" altLang="en-US" sz="3000" dirty="0">
                <a:solidFill>
                  <a:srgbClr val="0086B3"/>
                </a:solidFill>
                <a:latin typeface="Consolas" panose="020B0609020204030204" pitchFamily="49" charset="0"/>
              </a:rPr>
              <a:t>50</a:t>
            </a:r>
            <a:r>
              <a:rPr lang="en-US" altLang="en-US" sz="3000" dirty="0">
                <a:solidFill>
                  <a:srgbClr val="000000"/>
                </a:solidFill>
                <a:latin typeface="Consolas" panose="020B0609020204030204" pitchFamily="49" charset="0"/>
              </a:rPr>
              <a:t>) </a:t>
            </a:r>
            <a:r>
              <a:rPr lang="en-US" altLang="en-US" sz="3000" dirty="0">
                <a:solidFill>
                  <a:srgbClr val="A71D5D"/>
                </a:solidFill>
                <a:latin typeface="Consolas" panose="020B0609020204030204" pitchFamily="49" charset="0"/>
              </a:rPr>
              <a:t>NOT NULL</a:t>
            </a:r>
            <a:r>
              <a:rPr lang="en-US" altLang="en-US" sz="3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5 </a:t>
            </a:r>
            <a:r>
              <a:rPr lang="en-US" altLang="en-US" sz="3000" dirty="0">
                <a:solidFill>
                  <a:srgbClr val="000000"/>
                </a:solidFill>
                <a:latin typeface="Consolas" panose="020B0609020204030204" pitchFamily="49" charset="0"/>
              </a:rPr>
              <a:t>  phone </a:t>
            </a:r>
            <a:r>
              <a:rPr lang="en-US" altLang="en-US" sz="3000" dirty="0">
                <a:solidFill>
                  <a:srgbClr val="0086B3"/>
                </a:solidFill>
                <a:latin typeface="Consolas" panose="020B0609020204030204" pitchFamily="49" charset="0"/>
              </a:rPr>
              <a:t>VARCHAR</a:t>
            </a:r>
            <a:r>
              <a:rPr lang="en-US" altLang="en-US" sz="3000" dirty="0">
                <a:solidFill>
                  <a:srgbClr val="000000"/>
                </a:solidFill>
                <a:latin typeface="Consolas" panose="020B0609020204030204" pitchFamily="49" charset="0"/>
              </a:rPr>
              <a:t>(</a:t>
            </a:r>
            <a:r>
              <a:rPr lang="en-US" altLang="en-US" sz="3000" dirty="0">
                <a:solidFill>
                  <a:srgbClr val="0086B3"/>
                </a:solidFill>
                <a:latin typeface="Consolas" panose="020B0609020204030204" pitchFamily="49" charset="0"/>
              </a:rPr>
              <a:t>12</a:t>
            </a:r>
            <a:r>
              <a:rPr lang="en-US" altLang="en-US" sz="3000" dirty="0">
                <a:solidFill>
                  <a:srgbClr val="000000"/>
                </a:solidFill>
                <a:latin typeface="Consolas" panose="020B0609020204030204" pitchFamily="49" charset="0"/>
              </a:rPr>
              <a:t>) </a:t>
            </a:r>
            <a:r>
              <a:rPr lang="en-US" altLang="en-US" sz="3000" dirty="0">
                <a:solidFill>
                  <a:srgbClr val="A71D5D"/>
                </a:solidFill>
                <a:latin typeface="Consolas" panose="020B0609020204030204" pitchFamily="49" charset="0"/>
              </a:rPr>
              <a:t>CHECK</a:t>
            </a:r>
            <a:r>
              <a:rPr lang="en-US" altLang="en-US" sz="3000" dirty="0">
                <a:solidFill>
                  <a:srgbClr val="000000"/>
                </a:solidFill>
                <a:latin typeface="Consolas" panose="020B0609020204030204" pitchFamily="49" charset="0"/>
              </a:rPr>
              <a:t>(</a:t>
            </a:r>
            <a:r>
              <a:rPr lang="en-US" altLang="en-US" sz="3000" dirty="0">
                <a:solidFill>
                  <a:srgbClr val="A71D5D"/>
                </a:solidFill>
                <a:latin typeface="Consolas" panose="020B0609020204030204" pitchFamily="49" charset="0"/>
              </a:rPr>
              <a:t>LENGTH</a:t>
            </a:r>
            <a:r>
              <a:rPr lang="en-US" altLang="en-US" sz="3000" dirty="0">
                <a:solidFill>
                  <a:srgbClr val="000000"/>
                </a:solidFill>
                <a:latin typeface="Consolas" panose="020B0609020204030204" pitchFamily="49" charset="0"/>
              </a:rPr>
              <a:t>(phone) &gt;= </a:t>
            </a:r>
            <a:r>
              <a:rPr lang="en-US" altLang="en-US" sz="3000" dirty="0">
                <a:solidFill>
                  <a:srgbClr val="0086B3"/>
                </a:solidFill>
                <a:latin typeface="Consolas" panose="020B0609020204030204" pitchFamily="49" charset="0"/>
              </a:rPr>
              <a:t>11</a:t>
            </a:r>
            <a:r>
              <a:rPr lang="en-US" altLang="en-US" sz="3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6 </a:t>
            </a:r>
            <a:r>
              <a:rPr lang="en-US" altLang="en-US" sz="3000" dirty="0">
                <a:solidFill>
                  <a:srgbClr val="000000"/>
                </a:solidFill>
                <a:latin typeface="Consolas" panose="020B0609020204030204" pitchFamily="49" charset="0"/>
              </a:rPr>
              <a:t>  email </a:t>
            </a:r>
            <a:r>
              <a:rPr lang="en-US" altLang="en-US" sz="3000" dirty="0">
                <a:solidFill>
                  <a:srgbClr val="0086B3"/>
                </a:solidFill>
                <a:latin typeface="Consolas" panose="020B0609020204030204" pitchFamily="49" charset="0"/>
              </a:rPr>
              <a:t>VARCHAR</a:t>
            </a:r>
            <a:r>
              <a:rPr lang="en-US" altLang="en-US" sz="3000" dirty="0">
                <a:solidFill>
                  <a:srgbClr val="000000"/>
                </a:solidFill>
                <a:latin typeface="Consolas" panose="020B0609020204030204" pitchFamily="49" charset="0"/>
              </a:rPr>
              <a:t>(</a:t>
            </a:r>
            <a:r>
              <a:rPr lang="en-US" altLang="en-US" sz="3000" dirty="0">
                <a:solidFill>
                  <a:srgbClr val="0086B3"/>
                </a:solidFill>
                <a:latin typeface="Consolas" panose="020B0609020204030204" pitchFamily="49" charset="0"/>
              </a:rPr>
              <a:t>30</a:t>
            </a:r>
            <a:r>
              <a:rPr lang="en-US" altLang="en-US" sz="3000" dirty="0">
                <a:solidFill>
                  <a:srgbClr val="000000"/>
                </a:solidFill>
                <a:latin typeface="Consolas" panose="020B0609020204030204" pitchFamily="49" charset="0"/>
              </a:rPr>
              <a:t>) </a:t>
            </a:r>
            <a:r>
              <a:rPr lang="en-US" altLang="en-US" sz="3000" dirty="0">
                <a:solidFill>
                  <a:srgbClr val="A71D5D"/>
                </a:solidFill>
                <a:latin typeface="Consolas" panose="020B0609020204030204" pitchFamily="49" charset="0"/>
              </a:rPr>
              <a:t>NOT NULL</a:t>
            </a:r>
            <a:r>
              <a:rPr lang="en-US" altLang="en-US" sz="3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7 </a:t>
            </a:r>
            <a:r>
              <a:rPr lang="en-US" altLang="en-US" sz="3000" dirty="0">
                <a:solidFill>
                  <a:srgbClr val="000000"/>
                </a:solidFill>
                <a:latin typeface="Consolas" panose="020B0609020204030204" pitchFamily="49" charset="0"/>
              </a:rPr>
              <a:t>  active BOOL,</a:t>
            </a:r>
          </a:p>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8 </a:t>
            </a:r>
            <a:r>
              <a:rPr lang="en-US" altLang="en-US" sz="3000" dirty="0">
                <a:solidFill>
                  <a:srgbClr val="000000"/>
                </a:solidFill>
                <a:latin typeface="Consolas" panose="020B0609020204030204" pitchFamily="49" charset="0"/>
              </a:rPr>
              <a:t>  </a:t>
            </a:r>
            <a:r>
              <a:rPr lang="en-US" altLang="en-US" sz="3000" dirty="0">
                <a:solidFill>
                  <a:srgbClr val="A71D5D"/>
                </a:solidFill>
                <a:latin typeface="Consolas" panose="020B0609020204030204" pitchFamily="49" charset="0"/>
              </a:rPr>
              <a:t>PRIMARY KEY</a:t>
            </a:r>
            <a:r>
              <a:rPr lang="en-US" altLang="en-US" sz="3000" dirty="0">
                <a:solidFill>
                  <a:srgbClr val="000000"/>
                </a:solidFill>
                <a:latin typeface="Consolas" panose="020B0609020204030204" pitchFamily="49" charset="0"/>
              </a:rPr>
              <a:t> (</a:t>
            </a:r>
            <a:r>
              <a:rPr lang="en-US" altLang="en-US" sz="3000" dirty="0" err="1">
                <a:solidFill>
                  <a:srgbClr val="000000"/>
                </a:solidFill>
                <a:latin typeface="Consolas" panose="020B0609020204030204" pitchFamily="49" charset="0"/>
              </a:rPr>
              <a:t>supplierID</a:t>
            </a:r>
            <a:r>
              <a:rPr lang="en-US" altLang="en-US" sz="3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9 </a:t>
            </a:r>
            <a:r>
              <a:rPr lang="en-US" altLang="en-US" sz="3000" dirty="0">
                <a:solidFill>
                  <a:srgbClr val="000000"/>
                </a:solidFill>
                <a:latin typeface="Consolas" panose="020B0609020204030204" pitchFamily="49" charset="0"/>
              </a:rPr>
              <a:t>);</a:t>
            </a:r>
            <a:br>
              <a:rPr lang="en-US" altLang="en-US" sz="3000" dirty="0">
                <a:solidFill>
                  <a:srgbClr val="000000"/>
                </a:solidFill>
                <a:latin typeface="Consolas" panose="020B0609020204030204" pitchFamily="49" charset="0"/>
              </a:rPr>
            </a:br>
            <a:endParaRPr lang="en-US" altLang="en-US" sz="3000" dirty="0">
              <a:latin typeface="Arial" panose="020B0604020202020204" pitchFamily="34" charset="0"/>
            </a:endParaRPr>
          </a:p>
        </p:txBody>
      </p:sp>
    </p:spTree>
    <p:extLst>
      <p:ext uri="{BB962C8B-B14F-4D97-AF65-F5344CB8AC3E}">
        <p14:creationId xmlns:p14="http://schemas.microsoft.com/office/powerpoint/2010/main" val="2543260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left)">
                                      <p:cBhvr>
                                        <p:cTn id="4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CREATE TABLE – Task 2</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extLst>
              <p:ext uri="{D42A27DB-BD31-4B8C-83A1-F6EECF244321}">
                <p14:modId xmlns:p14="http://schemas.microsoft.com/office/powerpoint/2010/main" val="1915562325"/>
              </p:ext>
            </p:extLst>
          </p:nvPr>
        </p:nvGraphicFramePr>
        <p:xfrm>
          <a:off x="838200" y="2239693"/>
          <a:ext cx="10337800" cy="3474720"/>
        </p:xfrm>
        <a:graphic>
          <a:graphicData uri="http://schemas.openxmlformats.org/drawingml/2006/table">
            <a:tbl>
              <a:tblPr firstRow="1" bandRow="1">
                <a:tableStyleId>{5C22544A-7EE6-4342-B048-85BDC9FD1C3A}</a:tableStyleId>
              </a:tblPr>
              <a:tblGrid>
                <a:gridCol w="2056986">
                  <a:extLst>
                    <a:ext uri="{9D8B030D-6E8A-4147-A177-3AD203B41FA5}">
                      <a16:colId xmlns:a16="http://schemas.microsoft.com/office/drawing/2014/main" val="1632358923"/>
                    </a:ext>
                  </a:extLst>
                </a:gridCol>
                <a:gridCol w="829807">
                  <a:extLst>
                    <a:ext uri="{9D8B030D-6E8A-4147-A177-3AD203B41FA5}">
                      <a16:colId xmlns:a16="http://schemas.microsoft.com/office/drawing/2014/main" val="3505833113"/>
                    </a:ext>
                  </a:extLst>
                </a:gridCol>
                <a:gridCol w="1586230">
                  <a:extLst>
                    <a:ext uri="{9D8B030D-6E8A-4147-A177-3AD203B41FA5}">
                      <a16:colId xmlns:a16="http://schemas.microsoft.com/office/drawing/2014/main" val="2732100902"/>
                    </a:ext>
                  </a:extLst>
                </a:gridCol>
                <a:gridCol w="926211">
                  <a:extLst>
                    <a:ext uri="{9D8B030D-6E8A-4147-A177-3AD203B41FA5}">
                      <a16:colId xmlns:a16="http://schemas.microsoft.com/office/drawing/2014/main" val="315362434"/>
                    </a:ext>
                  </a:extLst>
                </a:gridCol>
                <a:gridCol w="1297304">
                  <a:extLst>
                    <a:ext uri="{9D8B030D-6E8A-4147-A177-3AD203B41FA5}">
                      <a16:colId xmlns:a16="http://schemas.microsoft.com/office/drawing/2014/main" val="2971574360"/>
                    </a:ext>
                  </a:extLst>
                </a:gridCol>
                <a:gridCol w="3641262">
                  <a:extLst>
                    <a:ext uri="{9D8B030D-6E8A-4147-A177-3AD203B41FA5}">
                      <a16:colId xmlns:a16="http://schemas.microsoft.com/office/drawing/2014/main" val="2515431282"/>
                    </a:ext>
                  </a:extLst>
                </a:gridCol>
              </a:tblGrid>
              <a:tr h="370840">
                <a:tc>
                  <a:txBody>
                    <a:bodyPr/>
                    <a:lstStyle/>
                    <a:p>
                      <a:pPr algn="ctr"/>
                      <a:r>
                        <a:rPr lang="en-GB" sz="3200" dirty="0"/>
                        <a:t>Attribute</a:t>
                      </a:r>
                    </a:p>
                  </a:txBody>
                  <a:tcPr/>
                </a:tc>
                <a:tc>
                  <a:txBody>
                    <a:bodyPr/>
                    <a:lstStyle/>
                    <a:p>
                      <a:pPr algn="ctr"/>
                      <a:r>
                        <a:rPr lang="en-GB" sz="3200" dirty="0"/>
                        <a:t>Key</a:t>
                      </a:r>
                    </a:p>
                  </a:txBody>
                  <a:tcPr/>
                </a:tc>
                <a:tc>
                  <a:txBody>
                    <a:bodyPr/>
                    <a:lstStyle/>
                    <a:p>
                      <a:pPr algn="ctr"/>
                      <a:r>
                        <a:rPr lang="en-GB" sz="3200" dirty="0"/>
                        <a:t>Type</a:t>
                      </a:r>
                    </a:p>
                  </a:txBody>
                  <a:tcPr/>
                </a:tc>
                <a:tc>
                  <a:txBody>
                    <a:bodyPr/>
                    <a:lstStyle/>
                    <a:p>
                      <a:pPr algn="ctr"/>
                      <a:r>
                        <a:rPr lang="en-GB" sz="3200" dirty="0"/>
                        <a:t>Size</a:t>
                      </a:r>
                    </a:p>
                  </a:txBody>
                  <a:tcPr/>
                </a:tc>
                <a:tc>
                  <a:txBody>
                    <a:bodyPr/>
                    <a:lstStyle/>
                    <a:p>
                      <a:pPr algn="ctr"/>
                      <a:r>
                        <a:rPr lang="en-GB" sz="3200" dirty="0" err="1"/>
                        <a:t>Req'd</a:t>
                      </a:r>
                      <a:endParaRPr lang="en-GB" sz="3200" dirty="0"/>
                    </a:p>
                  </a:txBody>
                  <a:tcPr/>
                </a:tc>
                <a:tc>
                  <a:txBody>
                    <a:bodyPr/>
                    <a:lstStyle/>
                    <a:p>
                      <a:pPr algn="ctr"/>
                      <a:r>
                        <a:rPr lang="en-GB" sz="3200" dirty="0"/>
                        <a:t>Validation</a:t>
                      </a:r>
                    </a:p>
                  </a:txBody>
                  <a:tcPr/>
                </a:tc>
                <a:extLst>
                  <a:ext uri="{0D108BD9-81ED-4DB2-BD59-A6C34878D82A}">
                    <a16:rowId xmlns:a16="http://schemas.microsoft.com/office/drawing/2014/main" val="3459615676"/>
                  </a:ext>
                </a:extLst>
              </a:tr>
              <a:tr h="370840">
                <a:tc>
                  <a:txBody>
                    <a:bodyPr/>
                    <a:lstStyle/>
                    <a:p>
                      <a:r>
                        <a:rPr lang="en-GB" sz="3200" dirty="0" err="1"/>
                        <a:t>stockNo</a:t>
                      </a:r>
                      <a:endParaRPr lang="en-GB" sz="3200" dirty="0"/>
                    </a:p>
                  </a:txBody>
                  <a:tcPr/>
                </a:tc>
                <a:tc>
                  <a:txBody>
                    <a:bodyPr/>
                    <a:lstStyle/>
                    <a:p>
                      <a:pPr algn="ctr"/>
                      <a:r>
                        <a:rPr lang="en-GB" sz="3200" dirty="0"/>
                        <a:t>PK</a:t>
                      </a:r>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11277656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dirty="0" err="1"/>
                        <a:t>supplierID</a:t>
                      </a:r>
                      <a:endParaRPr lang="en-GB" sz="3200" dirty="0"/>
                    </a:p>
                  </a:txBody>
                  <a:tcPr/>
                </a:tc>
                <a:tc>
                  <a:txBody>
                    <a:bodyPr/>
                    <a:lstStyle/>
                    <a:p>
                      <a:pPr algn="ctr"/>
                      <a:r>
                        <a:rPr lang="en-GB" sz="3200" dirty="0"/>
                        <a:t>FK</a:t>
                      </a:r>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r>
                        <a:rPr lang="en-GB" sz="3200" dirty="0"/>
                        <a:t>Exists in supplier</a:t>
                      </a:r>
                    </a:p>
                  </a:txBody>
                  <a:tcPr/>
                </a:tc>
                <a:extLst>
                  <a:ext uri="{0D108BD9-81ED-4DB2-BD59-A6C34878D82A}">
                    <a16:rowId xmlns:a16="http://schemas.microsoft.com/office/drawing/2014/main" val="2924661129"/>
                  </a:ext>
                </a:extLst>
              </a:tr>
              <a:tr h="370840">
                <a:tc>
                  <a:txBody>
                    <a:bodyPr/>
                    <a:lstStyle/>
                    <a:p>
                      <a:r>
                        <a:rPr lang="en-GB" sz="3200" dirty="0"/>
                        <a:t>name</a:t>
                      </a:r>
                    </a:p>
                  </a:txBody>
                  <a:tcPr/>
                </a:tc>
                <a:tc>
                  <a:txBody>
                    <a:bodyPr/>
                    <a:lstStyle/>
                    <a:p>
                      <a:pPr algn="ctr"/>
                      <a:endParaRPr lang="en-GB" sz="3200" dirty="0"/>
                    </a:p>
                  </a:txBody>
                  <a:tcPr/>
                </a:tc>
                <a:tc>
                  <a:txBody>
                    <a:bodyPr/>
                    <a:lstStyle/>
                    <a:p>
                      <a:r>
                        <a:rPr lang="en-GB" sz="3200" dirty="0"/>
                        <a:t>text</a:t>
                      </a:r>
                    </a:p>
                  </a:txBody>
                  <a:tcPr/>
                </a:tc>
                <a:tc>
                  <a:txBody>
                    <a:bodyPr/>
                    <a:lstStyle/>
                    <a:p>
                      <a:pPr algn="ctr"/>
                      <a:r>
                        <a:rPr lang="en-GB" sz="3200" dirty="0"/>
                        <a:t>30</a:t>
                      </a:r>
                    </a:p>
                  </a:txBody>
                  <a:tcPr/>
                </a:tc>
                <a:tc>
                  <a:txBody>
                    <a:bodyPr/>
                    <a:lstStyle/>
                    <a:p>
                      <a:pPr algn="ctr"/>
                      <a:r>
                        <a:rPr lang="en-GB" sz="3200" dirty="0"/>
                        <a:t>Y</a:t>
                      </a:r>
                    </a:p>
                  </a:txBody>
                  <a:tcPr/>
                </a:tc>
                <a:tc>
                  <a:txBody>
                    <a:bodyPr/>
                    <a:lstStyle/>
                    <a:p>
                      <a:endParaRPr lang="en-GB" sz="3200" dirty="0"/>
                    </a:p>
                  </a:txBody>
                  <a:tcPr/>
                </a:tc>
                <a:extLst>
                  <a:ext uri="{0D108BD9-81ED-4DB2-BD59-A6C34878D82A}">
                    <a16:rowId xmlns:a16="http://schemas.microsoft.com/office/drawing/2014/main" val="3885493841"/>
                  </a:ext>
                </a:extLst>
              </a:tr>
              <a:tr h="370840">
                <a:tc>
                  <a:txBody>
                    <a:bodyPr/>
                    <a:lstStyle/>
                    <a:p>
                      <a:r>
                        <a:rPr lang="en-GB" sz="3200" dirty="0"/>
                        <a:t>price</a:t>
                      </a:r>
                    </a:p>
                  </a:txBody>
                  <a:tcPr/>
                </a:tc>
                <a:tc>
                  <a:txBody>
                    <a:bodyPr/>
                    <a:lstStyle/>
                    <a:p>
                      <a:pPr algn="ctr"/>
                      <a:endParaRPr lang="en-GB" sz="3200" dirty="0"/>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Y</a:t>
                      </a:r>
                    </a:p>
                  </a:txBody>
                  <a:tcPr/>
                </a:tc>
                <a:tc>
                  <a:txBody>
                    <a:bodyPr/>
                    <a:lstStyle/>
                    <a:p>
                      <a:r>
                        <a:rPr lang="en-GB" sz="3200" dirty="0"/>
                        <a:t>range: &gt;= 0.01</a:t>
                      </a:r>
                    </a:p>
                  </a:txBody>
                  <a:tcPr/>
                </a:tc>
                <a:extLst>
                  <a:ext uri="{0D108BD9-81ED-4DB2-BD59-A6C34878D82A}">
                    <a16:rowId xmlns:a16="http://schemas.microsoft.com/office/drawing/2014/main" val="1487565366"/>
                  </a:ext>
                </a:extLst>
              </a:tr>
              <a:tr h="370840">
                <a:tc>
                  <a:txBody>
                    <a:bodyPr/>
                    <a:lstStyle/>
                    <a:p>
                      <a:r>
                        <a:rPr lang="en-GB" sz="3200" dirty="0"/>
                        <a:t>quantity</a:t>
                      </a:r>
                    </a:p>
                  </a:txBody>
                  <a:tcPr/>
                </a:tc>
                <a:tc>
                  <a:txBody>
                    <a:bodyPr/>
                    <a:lstStyle/>
                    <a:p>
                      <a:pPr algn="ctr"/>
                      <a:endParaRPr lang="en-GB" sz="3200" dirty="0"/>
                    </a:p>
                  </a:txBody>
                  <a:tcPr/>
                </a:tc>
                <a:tc>
                  <a:txBody>
                    <a:bodyPr/>
                    <a:lstStyle/>
                    <a:p>
                      <a:r>
                        <a:rPr lang="en-GB" sz="3200" dirty="0"/>
                        <a:t>number</a:t>
                      </a:r>
                    </a:p>
                  </a:txBody>
                  <a:tcPr/>
                </a:tc>
                <a:tc>
                  <a:txBody>
                    <a:bodyPr/>
                    <a:lstStyle/>
                    <a:p>
                      <a:pPr algn="ctr"/>
                      <a:endParaRPr lang="en-GB" sz="3200" dirty="0"/>
                    </a:p>
                  </a:txBody>
                  <a:tcPr/>
                </a:tc>
                <a:tc>
                  <a:txBody>
                    <a:bodyPr/>
                    <a:lstStyle/>
                    <a:p>
                      <a:pPr algn="ctr"/>
                      <a:r>
                        <a:rPr lang="en-GB" sz="3200" dirty="0"/>
                        <a:t>N</a:t>
                      </a:r>
                    </a:p>
                  </a:txBody>
                  <a:tcPr/>
                </a:tc>
                <a:tc>
                  <a:txBody>
                    <a:bodyPr/>
                    <a:lstStyle/>
                    <a:p>
                      <a:r>
                        <a:rPr lang="en-GB" sz="3200" dirty="0"/>
                        <a:t>range: &gt;= -1</a:t>
                      </a:r>
                    </a:p>
                  </a:txBody>
                  <a:tcPr/>
                </a:tc>
                <a:extLst>
                  <a:ext uri="{0D108BD9-81ED-4DB2-BD59-A6C34878D82A}">
                    <a16:rowId xmlns:a16="http://schemas.microsoft.com/office/drawing/2014/main" val="3947728551"/>
                  </a:ext>
                </a:extLst>
              </a:tr>
            </a:tbl>
          </a:graphicData>
        </a:graphic>
      </p:graphicFrame>
      <p:sp>
        <p:nvSpPr>
          <p:cNvPr id="3" name="TextBox 2">
            <a:extLst>
              <a:ext uri="{FF2B5EF4-FFF2-40B4-BE49-F238E27FC236}">
                <a16:creationId xmlns:a16="http://schemas.microsoft.com/office/drawing/2014/main" id="{2870215D-9F81-A8EC-08CB-B997553DFED6}"/>
              </a:ext>
            </a:extLst>
          </p:cNvPr>
          <p:cNvSpPr txBox="1"/>
          <p:nvPr/>
        </p:nvSpPr>
        <p:spPr>
          <a:xfrm>
            <a:off x="838200" y="1592921"/>
            <a:ext cx="2507866" cy="646331"/>
          </a:xfrm>
          <a:prstGeom prst="rect">
            <a:avLst/>
          </a:prstGeom>
          <a:noFill/>
        </p:spPr>
        <p:txBody>
          <a:bodyPr wrap="none" rtlCol="0">
            <a:spAutoFit/>
          </a:bodyPr>
          <a:lstStyle/>
          <a:p>
            <a:r>
              <a:rPr lang="en-GB" sz="3600" b="1" dirty="0"/>
              <a:t>Entity</a:t>
            </a:r>
            <a:r>
              <a:rPr lang="en-GB" sz="3600" dirty="0"/>
              <a:t>: stock</a:t>
            </a:r>
          </a:p>
        </p:txBody>
      </p:sp>
    </p:spTree>
    <p:extLst>
      <p:ext uri="{BB962C8B-B14F-4D97-AF65-F5344CB8AC3E}">
        <p14:creationId xmlns:p14="http://schemas.microsoft.com/office/powerpoint/2010/main" val="3090781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2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CREATE TABLE – Task 2 - Solution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825625"/>
            <a:ext cx="10515600" cy="4667250"/>
          </a:xfrm>
        </p:spPr>
        <p:txBody>
          <a:bodyPr>
            <a:noAutofit/>
          </a:bodyPr>
          <a:lstStyle/>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 1 </a:t>
            </a:r>
            <a:r>
              <a:rPr lang="en-US" altLang="en-US" sz="3000" dirty="0">
                <a:solidFill>
                  <a:srgbClr val="A71D5D"/>
                </a:solidFill>
                <a:latin typeface="Consolas" panose="020B0609020204030204" pitchFamily="49" charset="0"/>
              </a:rPr>
              <a:t>CREATE TABLE</a:t>
            </a:r>
            <a:r>
              <a:rPr lang="en-US" altLang="en-US" sz="3000" dirty="0">
                <a:solidFill>
                  <a:srgbClr val="000000"/>
                </a:solidFill>
                <a:latin typeface="Consolas" panose="020B0609020204030204" pitchFamily="49" charset="0"/>
              </a:rPr>
              <a:t> </a:t>
            </a:r>
            <a:r>
              <a:rPr lang="en-US" altLang="en-US" sz="3000" dirty="0">
                <a:solidFill>
                  <a:srgbClr val="0086B3"/>
                </a:solidFill>
                <a:latin typeface="Consolas" panose="020B0609020204030204" pitchFamily="49" charset="0"/>
              </a:rPr>
              <a:t>stock</a:t>
            </a:r>
            <a:r>
              <a:rPr lang="en-US" altLang="en-US" sz="30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 2 </a:t>
            </a:r>
            <a:r>
              <a:rPr lang="en-US" altLang="en-US" sz="3000" dirty="0">
                <a:solidFill>
                  <a:srgbClr val="000000"/>
                </a:solidFill>
                <a:latin typeface="Consolas" panose="020B0609020204030204" pitchFamily="49" charset="0"/>
              </a:rPr>
              <a:t>  </a:t>
            </a:r>
            <a:r>
              <a:rPr lang="en-US" altLang="en-US" sz="3000" dirty="0" err="1">
                <a:solidFill>
                  <a:srgbClr val="000000"/>
                </a:solidFill>
                <a:latin typeface="Consolas" panose="020B0609020204030204" pitchFamily="49" charset="0"/>
              </a:rPr>
              <a:t>stockCode</a:t>
            </a:r>
            <a:r>
              <a:rPr lang="en-US" altLang="en-US" sz="3000" dirty="0">
                <a:solidFill>
                  <a:srgbClr val="000000"/>
                </a:solidFill>
                <a:latin typeface="Consolas" panose="020B0609020204030204" pitchFamily="49" charset="0"/>
              </a:rPr>
              <a:t> </a:t>
            </a:r>
            <a:r>
              <a:rPr lang="en-US" altLang="en-US" sz="3000" dirty="0">
                <a:solidFill>
                  <a:srgbClr val="0086B3"/>
                </a:solidFill>
                <a:latin typeface="Consolas" panose="020B0609020204030204" pitchFamily="49" charset="0"/>
              </a:rPr>
              <a:t>INT</a:t>
            </a:r>
            <a:r>
              <a:rPr lang="en-US" altLang="en-US" sz="3000" dirty="0">
                <a:solidFill>
                  <a:srgbClr val="000000"/>
                </a:solidFill>
                <a:latin typeface="Consolas" panose="020B0609020204030204" pitchFamily="49" charset="0"/>
              </a:rPr>
              <a:t> </a:t>
            </a:r>
            <a:r>
              <a:rPr lang="en-US" altLang="en-US" sz="3000" dirty="0">
                <a:solidFill>
                  <a:srgbClr val="A71D5D"/>
                </a:solidFill>
                <a:latin typeface="Consolas" panose="020B0609020204030204" pitchFamily="49" charset="0"/>
              </a:rPr>
              <a:t>NOT NULL</a:t>
            </a:r>
            <a:r>
              <a:rPr lang="en-US" altLang="en-US" sz="3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 3 </a:t>
            </a:r>
            <a:r>
              <a:rPr lang="en-US" altLang="en-US" sz="3000" dirty="0">
                <a:solidFill>
                  <a:srgbClr val="000000"/>
                </a:solidFill>
                <a:latin typeface="Consolas" panose="020B0609020204030204" pitchFamily="49" charset="0"/>
              </a:rPr>
              <a:t>  </a:t>
            </a:r>
            <a:r>
              <a:rPr lang="en-US" altLang="en-US" sz="3000" dirty="0" err="1">
                <a:solidFill>
                  <a:srgbClr val="000000"/>
                </a:solidFill>
                <a:latin typeface="Consolas" panose="020B0609020204030204" pitchFamily="49" charset="0"/>
              </a:rPr>
              <a:t>supplierID</a:t>
            </a:r>
            <a:r>
              <a:rPr lang="en-US" altLang="en-US" sz="3000" dirty="0">
                <a:solidFill>
                  <a:srgbClr val="000000"/>
                </a:solidFill>
                <a:latin typeface="Consolas" panose="020B0609020204030204" pitchFamily="49" charset="0"/>
              </a:rPr>
              <a:t> </a:t>
            </a:r>
            <a:r>
              <a:rPr lang="en-US" altLang="en-US" sz="3000" dirty="0">
                <a:solidFill>
                  <a:srgbClr val="0086B3"/>
                </a:solidFill>
                <a:latin typeface="Consolas" panose="020B0609020204030204" pitchFamily="49" charset="0"/>
              </a:rPr>
              <a:t>INT</a:t>
            </a:r>
            <a:r>
              <a:rPr lang="en-US" altLang="en-US" sz="3000" dirty="0">
                <a:solidFill>
                  <a:srgbClr val="000000"/>
                </a:solidFill>
                <a:latin typeface="Consolas" panose="020B0609020204030204" pitchFamily="49" charset="0"/>
              </a:rPr>
              <a:t> </a:t>
            </a:r>
            <a:r>
              <a:rPr lang="en-US" altLang="en-US" sz="3000" dirty="0">
                <a:solidFill>
                  <a:srgbClr val="A71D5D"/>
                </a:solidFill>
                <a:latin typeface="Consolas" panose="020B0609020204030204" pitchFamily="49" charset="0"/>
              </a:rPr>
              <a:t>NOT NULL</a:t>
            </a:r>
            <a:r>
              <a:rPr lang="en-US" altLang="en-US" sz="3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 4 </a:t>
            </a:r>
            <a:r>
              <a:rPr lang="en-US" altLang="en-US" sz="3000" dirty="0">
                <a:solidFill>
                  <a:srgbClr val="000000"/>
                </a:solidFill>
                <a:latin typeface="Consolas" panose="020B0609020204030204" pitchFamily="49" charset="0"/>
              </a:rPr>
              <a:t>  name </a:t>
            </a:r>
            <a:r>
              <a:rPr lang="en-US" altLang="en-US" sz="3000" dirty="0">
                <a:solidFill>
                  <a:srgbClr val="0086B3"/>
                </a:solidFill>
                <a:latin typeface="Consolas" panose="020B0609020204030204" pitchFamily="49" charset="0"/>
              </a:rPr>
              <a:t>VARCHAR</a:t>
            </a:r>
            <a:r>
              <a:rPr lang="en-US" altLang="en-US" sz="3000" dirty="0">
                <a:solidFill>
                  <a:srgbClr val="000000"/>
                </a:solidFill>
                <a:latin typeface="Consolas" panose="020B0609020204030204" pitchFamily="49" charset="0"/>
              </a:rPr>
              <a:t>(</a:t>
            </a:r>
            <a:r>
              <a:rPr lang="en-US" altLang="en-US" sz="3000" dirty="0">
                <a:solidFill>
                  <a:srgbClr val="0086B3"/>
                </a:solidFill>
                <a:latin typeface="Consolas" panose="020B0609020204030204" pitchFamily="49" charset="0"/>
              </a:rPr>
              <a:t>30</a:t>
            </a:r>
            <a:r>
              <a:rPr lang="en-US" altLang="en-US" sz="3000" dirty="0">
                <a:solidFill>
                  <a:srgbClr val="000000"/>
                </a:solidFill>
                <a:latin typeface="Consolas" panose="020B0609020204030204" pitchFamily="49" charset="0"/>
              </a:rPr>
              <a:t>) </a:t>
            </a:r>
            <a:r>
              <a:rPr lang="en-US" altLang="en-US" sz="3000" dirty="0">
                <a:solidFill>
                  <a:srgbClr val="A71D5D"/>
                </a:solidFill>
                <a:latin typeface="Consolas" panose="020B0609020204030204" pitchFamily="49" charset="0"/>
              </a:rPr>
              <a:t>NOT NULL</a:t>
            </a:r>
            <a:r>
              <a:rPr lang="en-US" altLang="en-US" sz="3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 5 </a:t>
            </a:r>
            <a:r>
              <a:rPr lang="en-US" altLang="en-US" sz="3000" dirty="0">
                <a:solidFill>
                  <a:srgbClr val="000000"/>
                </a:solidFill>
                <a:latin typeface="Consolas" panose="020B0609020204030204" pitchFamily="49" charset="0"/>
              </a:rPr>
              <a:t>  price </a:t>
            </a:r>
            <a:r>
              <a:rPr lang="en-US" altLang="en-US" sz="3000" dirty="0">
                <a:solidFill>
                  <a:srgbClr val="0086B3"/>
                </a:solidFill>
                <a:latin typeface="Consolas" panose="020B0609020204030204" pitchFamily="49" charset="0"/>
              </a:rPr>
              <a:t>REAL</a:t>
            </a:r>
            <a:r>
              <a:rPr lang="en-US" altLang="en-US" sz="3000" dirty="0">
                <a:solidFill>
                  <a:srgbClr val="A71D5D"/>
                </a:solidFill>
                <a:latin typeface="Consolas" panose="020B0609020204030204" pitchFamily="49" charset="0"/>
              </a:rPr>
              <a:t> NOT NULL CHECK</a:t>
            </a:r>
            <a:r>
              <a:rPr lang="en-US" altLang="en-US" sz="3000" dirty="0">
                <a:solidFill>
                  <a:srgbClr val="000000"/>
                </a:solidFill>
                <a:latin typeface="Consolas" panose="020B0609020204030204" pitchFamily="49" charset="0"/>
              </a:rPr>
              <a:t>(price &gt;= </a:t>
            </a:r>
            <a:r>
              <a:rPr lang="en-US" altLang="en-US" sz="3000" dirty="0">
                <a:solidFill>
                  <a:srgbClr val="0086B3"/>
                </a:solidFill>
                <a:latin typeface="Consolas" panose="020B0609020204030204" pitchFamily="49" charset="0"/>
              </a:rPr>
              <a:t>0.01</a:t>
            </a:r>
            <a:r>
              <a:rPr lang="en-US" altLang="en-US" sz="3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 6 </a:t>
            </a:r>
            <a:r>
              <a:rPr lang="en-US" altLang="en-US" sz="3000" dirty="0">
                <a:solidFill>
                  <a:srgbClr val="000000"/>
                </a:solidFill>
                <a:latin typeface="Consolas" panose="020B0609020204030204" pitchFamily="49" charset="0"/>
              </a:rPr>
              <a:t>  quantity </a:t>
            </a:r>
            <a:r>
              <a:rPr lang="en-US" altLang="en-US" sz="3000" dirty="0">
                <a:solidFill>
                  <a:srgbClr val="0086B3"/>
                </a:solidFill>
                <a:latin typeface="Consolas" panose="020B0609020204030204" pitchFamily="49" charset="0"/>
              </a:rPr>
              <a:t>INT</a:t>
            </a:r>
            <a:r>
              <a:rPr lang="en-US" altLang="en-US" sz="3000" dirty="0">
                <a:solidFill>
                  <a:srgbClr val="000000"/>
                </a:solidFill>
                <a:latin typeface="Consolas" panose="020B0609020204030204" pitchFamily="49" charset="0"/>
              </a:rPr>
              <a:t> </a:t>
            </a:r>
            <a:r>
              <a:rPr lang="en-US" altLang="en-US" sz="3000" dirty="0">
                <a:solidFill>
                  <a:srgbClr val="A71D5D"/>
                </a:solidFill>
                <a:latin typeface="Consolas" panose="020B0609020204030204" pitchFamily="49" charset="0"/>
              </a:rPr>
              <a:t>NOT NULL CHECK</a:t>
            </a:r>
            <a:r>
              <a:rPr lang="en-US" altLang="en-US" sz="3000" dirty="0">
                <a:solidFill>
                  <a:srgbClr val="000000"/>
                </a:solidFill>
                <a:latin typeface="Consolas" panose="020B0609020204030204" pitchFamily="49" charset="0"/>
              </a:rPr>
              <a:t>(quantity &gt;= </a:t>
            </a:r>
            <a:r>
              <a:rPr lang="en-US" altLang="en-US" sz="3000" dirty="0">
                <a:solidFill>
                  <a:srgbClr val="0086B3"/>
                </a:solidFill>
                <a:latin typeface="Consolas" panose="020B0609020204030204" pitchFamily="49" charset="0"/>
              </a:rPr>
              <a:t>-1</a:t>
            </a:r>
            <a:r>
              <a:rPr lang="en-US" altLang="en-US" sz="3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 7 </a:t>
            </a:r>
            <a:r>
              <a:rPr lang="en-US" altLang="en-US" sz="3000" dirty="0">
                <a:solidFill>
                  <a:srgbClr val="000000"/>
                </a:solidFill>
                <a:latin typeface="Consolas" panose="020B0609020204030204" pitchFamily="49" charset="0"/>
              </a:rPr>
              <a:t>  </a:t>
            </a:r>
            <a:r>
              <a:rPr lang="en-US" altLang="en-US" sz="3000" dirty="0">
                <a:solidFill>
                  <a:srgbClr val="A71D5D"/>
                </a:solidFill>
                <a:latin typeface="Consolas" panose="020B0609020204030204" pitchFamily="49" charset="0"/>
              </a:rPr>
              <a:t>FOREIGN KEY</a:t>
            </a:r>
            <a:r>
              <a:rPr lang="en-US" altLang="en-US" sz="3000" dirty="0">
                <a:solidFill>
                  <a:srgbClr val="000000"/>
                </a:solidFill>
                <a:latin typeface="Consolas" panose="020B0609020204030204" pitchFamily="49" charset="0"/>
              </a:rPr>
              <a:t> (</a:t>
            </a:r>
            <a:r>
              <a:rPr lang="en-US" altLang="en-US" sz="3000" dirty="0" err="1">
                <a:solidFill>
                  <a:srgbClr val="000000"/>
                </a:solidFill>
                <a:latin typeface="Consolas" panose="020B0609020204030204" pitchFamily="49" charset="0"/>
              </a:rPr>
              <a:t>supplierID</a:t>
            </a:r>
            <a:r>
              <a:rPr lang="en-US" altLang="en-US" sz="3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 8 </a:t>
            </a:r>
            <a:r>
              <a:rPr lang="en-US" altLang="en-US" sz="3000" dirty="0">
                <a:solidFill>
                  <a:srgbClr val="000000"/>
                </a:solidFill>
                <a:latin typeface="Consolas" panose="020B0609020204030204" pitchFamily="49" charset="0"/>
              </a:rPr>
              <a:t>      </a:t>
            </a:r>
            <a:r>
              <a:rPr lang="en-US" altLang="en-US" sz="3000" dirty="0">
                <a:solidFill>
                  <a:srgbClr val="A71D5D"/>
                </a:solidFill>
                <a:latin typeface="Consolas" panose="020B0609020204030204" pitchFamily="49" charset="0"/>
              </a:rPr>
              <a:t>REFERENCES</a:t>
            </a:r>
            <a:r>
              <a:rPr lang="en-US" altLang="en-US" sz="3000" dirty="0">
                <a:solidFill>
                  <a:srgbClr val="000000"/>
                </a:solidFill>
                <a:latin typeface="Consolas" panose="020B0609020204030204" pitchFamily="49" charset="0"/>
              </a:rPr>
              <a:t> </a:t>
            </a:r>
            <a:r>
              <a:rPr lang="en-US" altLang="en-US" sz="3000" dirty="0">
                <a:solidFill>
                  <a:srgbClr val="0086B3"/>
                </a:solidFill>
                <a:latin typeface="Consolas" panose="020B0609020204030204" pitchFamily="49" charset="0"/>
              </a:rPr>
              <a:t>supplier</a:t>
            </a:r>
            <a:r>
              <a:rPr lang="en-US" altLang="en-US" sz="3000" dirty="0">
                <a:solidFill>
                  <a:srgbClr val="000000"/>
                </a:solidFill>
                <a:latin typeface="Consolas" panose="020B0609020204030204" pitchFamily="49" charset="0"/>
              </a:rPr>
              <a:t>(</a:t>
            </a:r>
            <a:r>
              <a:rPr lang="en-US" altLang="en-US" sz="3000" dirty="0" err="1">
                <a:solidFill>
                  <a:srgbClr val="000000"/>
                </a:solidFill>
                <a:latin typeface="Consolas" panose="020B0609020204030204" pitchFamily="49" charset="0"/>
              </a:rPr>
              <a:t>supplierID</a:t>
            </a:r>
            <a:r>
              <a:rPr lang="en-US" altLang="en-US" sz="3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 9 </a:t>
            </a:r>
            <a:r>
              <a:rPr lang="en-US" altLang="en-US" sz="3000" dirty="0">
                <a:solidFill>
                  <a:srgbClr val="000000"/>
                </a:solidFill>
                <a:latin typeface="Consolas" panose="020B0609020204030204" pitchFamily="49" charset="0"/>
              </a:rPr>
              <a:t>  </a:t>
            </a:r>
            <a:r>
              <a:rPr lang="en-US" altLang="en-US" sz="3000" dirty="0">
                <a:solidFill>
                  <a:srgbClr val="A71D5D"/>
                </a:solidFill>
                <a:latin typeface="Consolas" panose="020B0609020204030204" pitchFamily="49" charset="0"/>
              </a:rPr>
              <a:t>PRIMARY KEY</a:t>
            </a:r>
            <a:r>
              <a:rPr lang="en-US" altLang="en-US" sz="3000" dirty="0">
                <a:solidFill>
                  <a:srgbClr val="000000"/>
                </a:solidFill>
                <a:latin typeface="Consolas" panose="020B0609020204030204" pitchFamily="49" charset="0"/>
              </a:rPr>
              <a:t> (</a:t>
            </a:r>
            <a:r>
              <a:rPr lang="en-US" altLang="en-US" sz="3000" dirty="0" err="1">
                <a:solidFill>
                  <a:srgbClr val="000000"/>
                </a:solidFill>
                <a:latin typeface="Consolas" panose="020B0609020204030204" pitchFamily="49" charset="0"/>
              </a:rPr>
              <a:t>stockCode</a:t>
            </a:r>
            <a:r>
              <a:rPr lang="en-US" altLang="en-US" sz="3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000" dirty="0">
                <a:solidFill>
                  <a:srgbClr val="B2B2B2"/>
                </a:solidFill>
                <a:latin typeface="Consolas" panose="020B0609020204030204" pitchFamily="49" charset="0"/>
              </a:rPr>
              <a:t>10 </a:t>
            </a:r>
            <a:r>
              <a:rPr lang="en-US" altLang="en-US" sz="3000" dirty="0">
                <a:solidFill>
                  <a:srgbClr val="000000"/>
                </a:solidFill>
                <a:latin typeface="Consolas" panose="020B0609020204030204" pitchFamily="49" charset="0"/>
              </a:rPr>
              <a:t>);</a:t>
            </a:r>
            <a:endParaRPr lang="en-US" altLang="en-US" sz="3000" dirty="0">
              <a:latin typeface="Arial" panose="020B0604020202020204" pitchFamily="34" charset="0"/>
            </a:endParaRPr>
          </a:p>
        </p:txBody>
      </p:sp>
    </p:spTree>
    <p:extLst>
      <p:ext uri="{BB962C8B-B14F-4D97-AF65-F5344CB8AC3E}">
        <p14:creationId xmlns:p14="http://schemas.microsoft.com/office/powerpoint/2010/main" val="1162080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left)">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left)">
                                      <p:cBhvr>
                                        <p:cTn id="52"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r>
              <a:rPr lang="en-GB" dirty="0"/>
              <a:t>Implement or modify validation</a:t>
            </a:r>
          </a:p>
          <a:p>
            <a:r>
              <a:rPr lang="en-GB" dirty="0"/>
              <a:t>See 2024S Task 2B Q2c</a:t>
            </a:r>
          </a:p>
        </p:txBody>
      </p:sp>
    </p:spTree>
    <p:extLst>
      <p:ext uri="{BB962C8B-B14F-4D97-AF65-F5344CB8AC3E}">
        <p14:creationId xmlns:p14="http://schemas.microsoft.com/office/powerpoint/2010/main" val="1907564055"/>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4C72E-788B-FC8C-1E58-4206DC25034E}"/>
              </a:ext>
            </a:extLst>
          </p:cNvPr>
          <p:cNvSpPr>
            <a:spLocks noGrp="1"/>
          </p:cNvSpPr>
          <p:nvPr>
            <p:ph type="title"/>
          </p:nvPr>
        </p:nvSpPr>
        <p:spPr/>
        <p:txBody>
          <a:bodyPr/>
          <a:lstStyle/>
          <a:p>
            <a:r>
              <a:rPr lang="en-GB" dirty="0"/>
              <a:t>Modify Table – 8 Steps</a:t>
            </a:r>
          </a:p>
        </p:txBody>
      </p:sp>
      <p:sp>
        <p:nvSpPr>
          <p:cNvPr id="3" name="Content Placeholder 2">
            <a:extLst>
              <a:ext uri="{FF2B5EF4-FFF2-40B4-BE49-F238E27FC236}">
                <a16:creationId xmlns:a16="http://schemas.microsoft.com/office/drawing/2014/main" id="{42ABBBA0-8EAA-7A33-3162-51F1894BF9C3}"/>
              </a:ext>
            </a:extLst>
          </p:cNvPr>
          <p:cNvSpPr>
            <a:spLocks noGrp="1"/>
          </p:cNvSpPr>
          <p:nvPr>
            <p:ph idx="1"/>
          </p:nvPr>
        </p:nvSpPr>
        <p:spPr/>
        <p:txBody>
          <a:bodyPr>
            <a:noAutofit/>
          </a:bodyPr>
          <a:lstStyle/>
          <a:p>
            <a:pPr marL="514350" indent="-514350">
              <a:lnSpc>
                <a:spcPct val="100000"/>
              </a:lnSpc>
              <a:buFont typeface="+mj-lt"/>
              <a:buAutoNum type="arabicPeriod"/>
            </a:pPr>
            <a:r>
              <a:rPr lang="en-GB" sz="3600" dirty="0"/>
              <a:t>Get table definition</a:t>
            </a:r>
          </a:p>
          <a:p>
            <a:pPr marL="514350" indent="-514350">
              <a:lnSpc>
                <a:spcPct val="100000"/>
              </a:lnSpc>
              <a:buFont typeface="+mj-lt"/>
              <a:buAutoNum type="arabicPeriod"/>
            </a:pPr>
            <a:r>
              <a:rPr lang="en-GB" sz="3600" dirty="0"/>
              <a:t>Create empty table with modified definition</a:t>
            </a:r>
          </a:p>
          <a:p>
            <a:pPr marL="514350" indent="-514350">
              <a:lnSpc>
                <a:spcPct val="100000"/>
              </a:lnSpc>
              <a:buFont typeface="+mj-lt"/>
              <a:buAutoNum type="arabicPeriod"/>
            </a:pPr>
            <a:r>
              <a:rPr lang="en-GB" sz="3600" dirty="0"/>
              <a:t>Copy all data to new table</a:t>
            </a:r>
          </a:p>
          <a:p>
            <a:pPr marL="514350" indent="-514350">
              <a:lnSpc>
                <a:spcPct val="100000"/>
              </a:lnSpc>
              <a:buFont typeface="+mj-lt"/>
              <a:buAutoNum type="arabicPeriod"/>
            </a:pPr>
            <a:r>
              <a:rPr lang="en-GB" sz="3600" dirty="0"/>
              <a:t>Check data is copied</a:t>
            </a:r>
          </a:p>
          <a:p>
            <a:pPr marL="514350" indent="-514350">
              <a:lnSpc>
                <a:spcPct val="100000"/>
              </a:lnSpc>
              <a:buFont typeface="+mj-lt"/>
              <a:buAutoNum type="arabicPeriod"/>
            </a:pPr>
            <a:r>
              <a:rPr lang="en-GB" sz="3600" i="1" dirty="0">
                <a:solidFill>
                  <a:srgbClr val="7030A0"/>
                </a:solidFill>
              </a:rPr>
              <a:t>Referential integrity</a:t>
            </a:r>
            <a:r>
              <a:rPr lang="en-GB" sz="3600" dirty="0">
                <a:solidFill>
                  <a:srgbClr val="7030A0"/>
                </a:solidFill>
              </a:rPr>
              <a:t>: </a:t>
            </a:r>
            <a:r>
              <a:rPr lang="en-GB" sz="3600" dirty="0">
                <a:solidFill>
                  <a:srgbClr val="FF0000"/>
                </a:solidFill>
              </a:rPr>
              <a:t>Off</a:t>
            </a:r>
          </a:p>
          <a:p>
            <a:pPr marL="514350" indent="-514350">
              <a:lnSpc>
                <a:spcPct val="100000"/>
              </a:lnSpc>
              <a:buFont typeface="+mj-lt"/>
              <a:buAutoNum type="arabicPeriod"/>
            </a:pPr>
            <a:r>
              <a:rPr lang="en-GB" sz="3600" dirty="0"/>
              <a:t>Delete old table</a:t>
            </a:r>
          </a:p>
          <a:p>
            <a:pPr marL="514350" indent="-514350">
              <a:lnSpc>
                <a:spcPct val="100000"/>
              </a:lnSpc>
              <a:buFont typeface="+mj-lt"/>
              <a:buAutoNum type="arabicPeriod"/>
            </a:pPr>
            <a:r>
              <a:rPr lang="en-GB" sz="3600" dirty="0"/>
              <a:t>Rename new table</a:t>
            </a:r>
          </a:p>
          <a:p>
            <a:pPr marL="514350" indent="-514350">
              <a:lnSpc>
                <a:spcPct val="100000"/>
              </a:lnSpc>
              <a:buFont typeface="+mj-lt"/>
              <a:buAutoNum type="arabicPeriod"/>
            </a:pPr>
            <a:r>
              <a:rPr lang="en-GB" sz="3600" i="1" dirty="0">
                <a:solidFill>
                  <a:srgbClr val="7030A0"/>
                </a:solidFill>
              </a:rPr>
              <a:t>Referential integrity</a:t>
            </a:r>
            <a:r>
              <a:rPr lang="en-GB" sz="3600" dirty="0">
                <a:solidFill>
                  <a:srgbClr val="7030A0"/>
                </a:solidFill>
              </a:rPr>
              <a:t>: </a:t>
            </a:r>
            <a:r>
              <a:rPr lang="en-GB" sz="3600" dirty="0">
                <a:solidFill>
                  <a:srgbClr val="FF0000"/>
                </a:solidFill>
              </a:rPr>
              <a:t>On</a:t>
            </a:r>
          </a:p>
          <a:p>
            <a:pPr marL="514350" indent="-514350">
              <a:lnSpc>
                <a:spcPct val="100000"/>
              </a:lnSpc>
              <a:buFont typeface="+mj-lt"/>
              <a:buAutoNum type="arabicPeriod"/>
            </a:pPr>
            <a:endParaRPr lang="en-GB" sz="3600" dirty="0"/>
          </a:p>
        </p:txBody>
      </p:sp>
      <p:grpSp>
        <p:nvGrpSpPr>
          <p:cNvPr id="12" name="Group 11">
            <a:extLst>
              <a:ext uri="{FF2B5EF4-FFF2-40B4-BE49-F238E27FC236}">
                <a16:creationId xmlns:a16="http://schemas.microsoft.com/office/drawing/2014/main" id="{7B1C52D3-D2CA-C355-3FB3-D69B7DDFA6A0}"/>
              </a:ext>
            </a:extLst>
          </p:cNvPr>
          <p:cNvGrpSpPr/>
          <p:nvPr/>
        </p:nvGrpSpPr>
        <p:grpSpPr>
          <a:xfrm>
            <a:off x="6021426" y="4269871"/>
            <a:ext cx="4717023" cy="1763421"/>
            <a:chOff x="6636777" y="4016829"/>
            <a:chExt cx="4717023" cy="1763421"/>
          </a:xfrm>
        </p:grpSpPr>
        <p:sp>
          <p:nvSpPr>
            <p:cNvPr id="5" name="TextBox 4">
              <a:extLst>
                <a:ext uri="{FF2B5EF4-FFF2-40B4-BE49-F238E27FC236}">
                  <a16:creationId xmlns:a16="http://schemas.microsoft.com/office/drawing/2014/main" id="{5E6A5664-67E9-2018-FAE6-E37705995D43}"/>
                </a:ext>
              </a:extLst>
            </p:cNvPr>
            <p:cNvSpPr txBox="1"/>
            <p:nvPr/>
          </p:nvSpPr>
          <p:spPr>
            <a:xfrm>
              <a:off x="8276793" y="4260318"/>
              <a:ext cx="3077007" cy="1384995"/>
            </a:xfrm>
            <a:prstGeom prst="rect">
              <a:avLst/>
            </a:prstGeom>
            <a:noFill/>
          </p:spPr>
          <p:txBody>
            <a:bodyPr wrap="square" rtlCol="0">
              <a:spAutoFit/>
            </a:bodyPr>
            <a:lstStyle/>
            <a:p>
              <a:r>
                <a:rPr lang="en-GB" sz="2800" b="1" dirty="0">
                  <a:solidFill>
                    <a:srgbClr val="7030A0"/>
                  </a:solidFill>
                </a:rPr>
                <a:t>If any field is used in another table as a Foreign Key (FK)</a:t>
              </a:r>
            </a:p>
          </p:txBody>
        </p:sp>
        <p:cxnSp>
          <p:nvCxnSpPr>
            <p:cNvPr id="7" name="Straight Arrow Connector 6">
              <a:extLst>
                <a:ext uri="{FF2B5EF4-FFF2-40B4-BE49-F238E27FC236}">
                  <a16:creationId xmlns:a16="http://schemas.microsoft.com/office/drawing/2014/main" id="{6D5E464B-EC13-BF7E-D0F5-29933590FC61}"/>
                </a:ext>
              </a:extLst>
            </p:cNvPr>
            <p:cNvCxnSpPr>
              <a:cxnSpLocks/>
              <a:stCxn id="5" idx="1"/>
            </p:cNvCxnSpPr>
            <p:nvPr/>
          </p:nvCxnSpPr>
          <p:spPr>
            <a:xfrm flipH="1" flipV="1">
              <a:off x="6636777" y="4016829"/>
              <a:ext cx="1640016" cy="935987"/>
            </a:xfrm>
            <a:prstGeom prst="straightConnector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cxnSp>
        <p:cxnSp>
          <p:nvCxnSpPr>
            <p:cNvPr id="8" name="Straight Arrow Connector 7">
              <a:extLst>
                <a:ext uri="{FF2B5EF4-FFF2-40B4-BE49-F238E27FC236}">
                  <a16:creationId xmlns:a16="http://schemas.microsoft.com/office/drawing/2014/main" id="{1D5B82FC-98F6-DD8C-5C6F-D9B8F86F5B1C}"/>
                </a:ext>
              </a:extLst>
            </p:cNvPr>
            <p:cNvCxnSpPr>
              <a:cxnSpLocks/>
              <a:stCxn id="5" idx="1"/>
            </p:cNvCxnSpPr>
            <p:nvPr/>
          </p:nvCxnSpPr>
          <p:spPr>
            <a:xfrm flipH="1">
              <a:off x="6636777" y="4952816"/>
              <a:ext cx="1640016" cy="827434"/>
            </a:xfrm>
            <a:prstGeom prst="straightConnector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1046013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225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1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1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225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4C72E-788B-FC8C-1E58-4206DC25034E}"/>
              </a:ext>
            </a:extLst>
          </p:cNvPr>
          <p:cNvSpPr>
            <a:spLocks noGrp="1"/>
          </p:cNvSpPr>
          <p:nvPr>
            <p:ph type="title"/>
          </p:nvPr>
        </p:nvSpPr>
        <p:spPr/>
        <p:txBody>
          <a:bodyPr/>
          <a:lstStyle/>
          <a:p>
            <a:r>
              <a:rPr lang="en-GB" dirty="0"/>
              <a:t>Modify Table – 8 Steps</a:t>
            </a:r>
          </a:p>
        </p:txBody>
      </p:sp>
      <p:sp>
        <p:nvSpPr>
          <p:cNvPr id="3" name="Content Placeholder 2">
            <a:extLst>
              <a:ext uri="{FF2B5EF4-FFF2-40B4-BE49-F238E27FC236}">
                <a16:creationId xmlns:a16="http://schemas.microsoft.com/office/drawing/2014/main" id="{42ABBBA0-8EAA-7A33-3162-51F1894BF9C3}"/>
              </a:ext>
            </a:extLst>
          </p:cNvPr>
          <p:cNvSpPr>
            <a:spLocks noGrp="1"/>
          </p:cNvSpPr>
          <p:nvPr>
            <p:ph idx="1"/>
          </p:nvPr>
        </p:nvSpPr>
        <p:spPr/>
        <p:txBody>
          <a:bodyPr>
            <a:noAutofit/>
          </a:bodyPr>
          <a:lstStyle/>
          <a:p>
            <a:pPr marL="514350" indent="-514350">
              <a:lnSpc>
                <a:spcPct val="100000"/>
              </a:lnSpc>
              <a:buFont typeface="+mj-lt"/>
              <a:buAutoNum type="arabicPeriod"/>
            </a:pPr>
            <a:r>
              <a:rPr lang="en-GB" sz="3600" dirty="0"/>
              <a:t>Get table definition</a:t>
            </a:r>
          </a:p>
          <a:p>
            <a:pPr marL="514350" indent="-514350">
              <a:lnSpc>
                <a:spcPct val="100000"/>
              </a:lnSpc>
              <a:buFont typeface="+mj-lt"/>
              <a:buAutoNum type="arabicPeriod"/>
            </a:pPr>
            <a:r>
              <a:rPr lang="en-GB" sz="3600" dirty="0"/>
              <a:t>Create empty table with modified definition</a:t>
            </a:r>
          </a:p>
          <a:p>
            <a:pPr marL="514350" indent="-514350">
              <a:lnSpc>
                <a:spcPct val="100000"/>
              </a:lnSpc>
              <a:buFont typeface="+mj-lt"/>
              <a:buAutoNum type="arabicPeriod"/>
            </a:pPr>
            <a:r>
              <a:rPr lang="en-GB" sz="3600" dirty="0"/>
              <a:t>Copy all data to new table</a:t>
            </a:r>
          </a:p>
          <a:p>
            <a:pPr marL="514350" indent="-514350">
              <a:lnSpc>
                <a:spcPct val="100000"/>
              </a:lnSpc>
              <a:buFont typeface="+mj-lt"/>
              <a:buAutoNum type="arabicPeriod"/>
            </a:pPr>
            <a:r>
              <a:rPr lang="en-GB" sz="3600" dirty="0"/>
              <a:t>Check data is copied</a:t>
            </a:r>
          </a:p>
          <a:p>
            <a:pPr marL="514350" indent="-514350">
              <a:lnSpc>
                <a:spcPct val="100000"/>
              </a:lnSpc>
              <a:buFont typeface="+mj-lt"/>
              <a:buAutoNum type="arabicPeriod"/>
            </a:pPr>
            <a:r>
              <a:rPr lang="en-GB" sz="3600" i="1" dirty="0">
                <a:solidFill>
                  <a:srgbClr val="7030A0"/>
                </a:solidFill>
              </a:rPr>
              <a:t>Referential integrity</a:t>
            </a:r>
            <a:r>
              <a:rPr lang="en-GB" sz="3600" dirty="0">
                <a:solidFill>
                  <a:srgbClr val="7030A0"/>
                </a:solidFill>
              </a:rPr>
              <a:t>:</a:t>
            </a:r>
            <a:endParaRPr lang="en-GB" sz="3600" dirty="0">
              <a:solidFill>
                <a:srgbClr val="FF0000"/>
              </a:solidFill>
            </a:endParaRPr>
          </a:p>
          <a:p>
            <a:pPr marL="514350" indent="-514350">
              <a:lnSpc>
                <a:spcPct val="100000"/>
              </a:lnSpc>
              <a:buFont typeface="+mj-lt"/>
              <a:buAutoNum type="arabicPeriod"/>
            </a:pPr>
            <a:r>
              <a:rPr lang="en-GB" sz="3600" dirty="0"/>
              <a:t>Delete old table</a:t>
            </a:r>
          </a:p>
          <a:p>
            <a:pPr marL="514350" indent="-514350">
              <a:lnSpc>
                <a:spcPct val="100000"/>
              </a:lnSpc>
              <a:buFont typeface="+mj-lt"/>
              <a:buAutoNum type="arabicPeriod"/>
            </a:pPr>
            <a:r>
              <a:rPr lang="en-GB" sz="3600" dirty="0"/>
              <a:t>Rename new table</a:t>
            </a:r>
          </a:p>
          <a:p>
            <a:pPr marL="514350" indent="-514350">
              <a:lnSpc>
                <a:spcPct val="100000"/>
              </a:lnSpc>
              <a:buFont typeface="+mj-lt"/>
              <a:buAutoNum type="arabicPeriod"/>
            </a:pPr>
            <a:r>
              <a:rPr lang="en-GB" sz="3600" i="1" dirty="0">
                <a:solidFill>
                  <a:srgbClr val="7030A0"/>
                </a:solidFill>
              </a:rPr>
              <a:t>Referential integrity</a:t>
            </a:r>
            <a:r>
              <a:rPr lang="en-GB" sz="3600" dirty="0">
                <a:solidFill>
                  <a:srgbClr val="7030A0"/>
                </a:solidFill>
              </a:rPr>
              <a:t>:</a:t>
            </a:r>
            <a:endParaRPr lang="en-GB" sz="3600" dirty="0">
              <a:solidFill>
                <a:srgbClr val="FF0000"/>
              </a:solidFill>
            </a:endParaRPr>
          </a:p>
          <a:p>
            <a:pPr marL="514350" indent="-514350">
              <a:lnSpc>
                <a:spcPct val="100000"/>
              </a:lnSpc>
              <a:buFont typeface="+mj-lt"/>
              <a:buAutoNum type="arabicPeriod"/>
            </a:pPr>
            <a:endParaRPr lang="en-GB" sz="3600" dirty="0"/>
          </a:p>
        </p:txBody>
      </p:sp>
    </p:spTree>
    <p:extLst>
      <p:ext uri="{BB962C8B-B14F-4D97-AF65-F5344CB8AC3E}">
        <p14:creationId xmlns:p14="http://schemas.microsoft.com/office/powerpoint/2010/main" val="141378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225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1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1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225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D1611-AD0D-4255-8F4D-FFC4F2217C70}"/>
              </a:ext>
            </a:extLst>
          </p:cNvPr>
          <p:cNvSpPr>
            <a:spLocks noGrp="1"/>
          </p:cNvSpPr>
          <p:nvPr>
            <p:ph type="title"/>
          </p:nvPr>
        </p:nvSpPr>
        <p:spPr/>
        <p:txBody>
          <a:bodyPr/>
          <a:lstStyle/>
          <a:p>
            <a:r>
              <a:rPr lang="en-GB" dirty="0"/>
              <a:t>Modify Table Task</a:t>
            </a:r>
          </a:p>
        </p:txBody>
      </p:sp>
      <p:sp>
        <p:nvSpPr>
          <p:cNvPr id="3" name="Content Placeholder 2">
            <a:extLst>
              <a:ext uri="{FF2B5EF4-FFF2-40B4-BE49-F238E27FC236}">
                <a16:creationId xmlns:a16="http://schemas.microsoft.com/office/drawing/2014/main" id="{5F9E7E1D-33F4-47C6-B73D-75FCD303A24F}"/>
              </a:ext>
            </a:extLst>
          </p:cNvPr>
          <p:cNvSpPr>
            <a:spLocks noGrp="1"/>
          </p:cNvSpPr>
          <p:nvPr>
            <p:ph idx="1"/>
          </p:nvPr>
        </p:nvSpPr>
        <p:spPr/>
        <p:txBody>
          <a:bodyPr>
            <a:normAutofit/>
          </a:bodyPr>
          <a:lstStyle/>
          <a:p>
            <a:r>
              <a:rPr lang="en-GB" sz="3200" dirty="0"/>
              <a:t>Update the </a:t>
            </a:r>
            <a:r>
              <a:rPr lang="en-GB" sz="3200" i="1" dirty="0">
                <a:solidFill>
                  <a:srgbClr val="7030A0"/>
                </a:solidFill>
              </a:rPr>
              <a:t>staff</a:t>
            </a:r>
            <a:r>
              <a:rPr lang="en-GB" sz="3200" dirty="0"/>
              <a:t> table to ensure that a surname is required for each record</a:t>
            </a:r>
          </a:p>
        </p:txBody>
      </p:sp>
    </p:spTree>
    <p:extLst>
      <p:ext uri="{BB962C8B-B14F-4D97-AF65-F5344CB8AC3E}">
        <p14:creationId xmlns:p14="http://schemas.microsoft.com/office/powerpoint/2010/main" val="2947939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Database Definition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a:t>
            </a:r>
            <a:r>
              <a:rPr lang="en-US" altLang="en-US" sz="4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sqlite_schema</a:t>
            </a:r>
            <a:r>
              <a:rPr lang="en-US" altLang="en-US" sz="4000" dirty="0">
                <a:solidFill>
                  <a:srgbClr val="000000"/>
                </a:solidFill>
                <a:latin typeface="Consolas" panose="020B0609020204030204" pitchFamily="49" charset="0"/>
              </a:rPr>
              <a:t>;</a:t>
            </a:r>
            <a:br>
              <a:rPr lang="en-US" altLang="en-US" sz="4000" dirty="0">
                <a:solidFill>
                  <a:srgbClr val="000000"/>
                </a:solidFill>
                <a:latin typeface="Consolas" panose="020B0609020204030204" pitchFamily="49" charset="0"/>
              </a:rPr>
            </a:br>
            <a:endParaRPr lang="en-US" altLang="en-US" sz="4000" dirty="0">
              <a:latin typeface="Arial" panose="020B0604020202020204" pitchFamily="34" charset="0"/>
            </a:endParaRPr>
          </a:p>
        </p:txBody>
      </p:sp>
      <p:sp>
        <p:nvSpPr>
          <p:cNvPr id="11" name="TextBox 10">
            <a:extLst>
              <a:ext uri="{FF2B5EF4-FFF2-40B4-BE49-F238E27FC236}">
                <a16:creationId xmlns:a16="http://schemas.microsoft.com/office/drawing/2014/main" id="{027ADC58-29AC-4336-9E4E-EBA26B8FE749}"/>
              </a:ext>
            </a:extLst>
          </p:cNvPr>
          <p:cNvSpPr txBox="1"/>
          <p:nvPr/>
        </p:nvSpPr>
        <p:spPr>
          <a:xfrm>
            <a:off x="2446244" y="5111571"/>
            <a:ext cx="7299511" cy="1200329"/>
          </a:xfrm>
          <a:prstGeom prst="rect">
            <a:avLst/>
          </a:prstGeom>
          <a:noFill/>
        </p:spPr>
        <p:txBody>
          <a:bodyPr wrap="square" rtlCol="0">
            <a:spAutoFit/>
          </a:bodyPr>
          <a:lstStyle/>
          <a:p>
            <a:pPr algn="ctr"/>
            <a:r>
              <a:rPr lang="en-US" altLang="en-US" sz="3600" dirty="0" err="1">
                <a:solidFill>
                  <a:srgbClr val="000000"/>
                </a:solidFill>
                <a:latin typeface="Consolas" panose="020B0609020204030204" pitchFamily="49" charset="0"/>
              </a:rPr>
              <a:t>sqlite_schema</a:t>
            </a:r>
            <a:r>
              <a:rPr lang="en-GB" sz="3600" dirty="0">
                <a:solidFill>
                  <a:srgbClr val="7030A0"/>
                </a:solidFill>
              </a:rPr>
              <a:t> is a table that holds information about the database</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4109683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7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7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wipe(left)">
                                      <p:cBhvr>
                                        <p:cTn id="17" dur="20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build="p"/>
    </p:bldLst>
  </p:timing>
</p:sld>
</file>

<file path=ppt/slides/slide2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Database Definition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a:t>
            </a:r>
            <a:r>
              <a:rPr lang="en-US" altLang="en-US" sz="4000" dirty="0" err="1">
                <a:solidFill>
                  <a:srgbClr val="A71D5D"/>
                </a:solidFill>
                <a:latin typeface="Consolas" panose="020B0609020204030204" pitchFamily="49" charset="0"/>
              </a:rPr>
              <a:t>sql</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sqlite_schema</a:t>
            </a:r>
            <a:r>
              <a:rPr lang="en-US" altLang="en-US" sz="4000" dirty="0">
                <a:solidFill>
                  <a:srgbClr val="000000"/>
                </a:solidFill>
                <a:latin typeface="Consolas" panose="020B0609020204030204" pitchFamily="49" charset="0"/>
              </a:rPr>
              <a:t>;</a:t>
            </a:r>
            <a:br>
              <a:rPr lang="en-US" altLang="en-US" sz="4000" dirty="0">
                <a:solidFill>
                  <a:srgbClr val="000000"/>
                </a:solidFill>
                <a:latin typeface="Consolas" panose="020B0609020204030204" pitchFamily="49" charset="0"/>
              </a:rPr>
            </a:br>
            <a:endParaRPr lang="en-US" altLang="en-US" sz="4000" dirty="0">
              <a:latin typeface="Arial" panose="020B0604020202020204" pitchFamily="34" charset="0"/>
            </a:endParaRPr>
          </a:p>
        </p:txBody>
      </p:sp>
      <p:sp>
        <p:nvSpPr>
          <p:cNvPr id="11" name="TextBox 10">
            <a:extLst>
              <a:ext uri="{FF2B5EF4-FFF2-40B4-BE49-F238E27FC236}">
                <a16:creationId xmlns:a16="http://schemas.microsoft.com/office/drawing/2014/main" id="{027ADC58-29AC-4336-9E4E-EBA26B8FE749}"/>
              </a:ext>
            </a:extLst>
          </p:cNvPr>
          <p:cNvSpPr txBox="1"/>
          <p:nvPr/>
        </p:nvSpPr>
        <p:spPr>
          <a:xfrm>
            <a:off x="2446244" y="5111571"/>
            <a:ext cx="7299511" cy="1200329"/>
          </a:xfrm>
          <a:prstGeom prst="rect">
            <a:avLst/>
          </a:prstGeom>
          <a:noFill/>
        </p:spPr>
        <p:txBody>
          <a:bodyPr wrap="square" rtlCol="0">
            <a:spAutoFit/>
          </a:bodyPr>
          <a:lstStyle/>
          <a:p>
            <a:pPr algn="ctr"/>
            <a:r>
              <a:rPr lang="en-US" altLang="en-US" sz="3600" dirty="0">
                <a:solidFill>
                  <a:srgbClr val="000000"/>
                </a:solidFill>
                <a:latin typeface="Consolas" panose="020B0609020204030204" pitchFamily="49" charset="0"/>
              </a:rPr>
              <a:t>             </a:t>
            </a:r>
            <a:r>
              <a:rPr lang="en-GB" sz="3600" dirty="0">
                <a:solidFill>
                  <a:srgbClr val="7030A0"/>
                </a:solidFill>
              </a:rPr>
              <a:t> is a table that holds information about the database</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1297078891"/>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Modify Table: 1 Get Table Definition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a:t>
            </a:r>
            <a:r>
              <a:rPr lang="en-US" altLang="en-US" sz="4000" dirty="0" err="1">
                <a:solidFill>
                  <a:srgbClr val="000000"/>
                </a:solidFill>
                <a:latin typeface="Consolas" panose="020B0609020204030204" pitchFamily="49" charset="0"/>
              </a:rPr>
              <a:t>sql</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sqlite_schema</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 </a:t>
            </a:r>
            <a:r>
              <a:rPr lang="en-US" altLang="en-US" sz="4000" dirty="0" err="1">
                <a:solidFill>
                  <a:srgbClr val="000000"/>
                </a:solidFill>
                <a:latin typeface="Consolas" panose="020B0609020204030204" pitchFamily="49" charset="0"/>
              </a:rPr>
              <a:t>tbl_name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"staff"</a:t>
            </a:r>
            <a:r>
              <a:rPr lang="en-US" altLang="en-US" sz="4000" dirty="0">
                <a:solidFill>
                  <a:srgbClr val="000000"/>
                </a:solidFill>
                <a:latin typeface="Consolas" panose="020B0609020204030204" pitchFamily="49" charset="0"/>
              </a:rPr>
              <a:t>;</a:t>
            </a:r>
            <a:br>
              <a:rPr lang="en-US" altLang="en-US" sz="4000" dirty="0">
                <a:solidFill>
                  <a:srgbClr val="000000"/>
                </a:solidFill>
                <a:latin typeface="Consolas" panose="020B0609020204030204" pitchFamily="49" charset="0"/>
              </a:rPr>
            </a:br>
            <a:endParaRPr lang="en-US" altLang="en-US" sz="4000" dirty="0">
              <a:latin typeface="Arial" panose="020B0604020202020204" pitchFamily="34" charset="0"/>
            </a:endParaRPr>
          </a:p>
        </p:txBody>
      </p:sp>
      <p:sp>
        <p:nvSpPr>
          <p:cNvPr id="4" name="Callout: Bent Line with No Border 3">
            <a:extLst>
              <a:ext uri="{FF2B5EF4-FFF2-40B4-BE49-F238E27FC236}">
                <a16:creationId xmlns:a16="http://schemas.microsoft.com/office/drawing/2014/main" id="{E047F7BC-FA07-FA57-5095-E57424A36FC7}"/>
              </a:ext>
            </a:extLst>
          </p:cNvPr>
          <p:cNvSpPr/>
          <p:nvPr/>
        </p:nvSpPr>
        <p:spPr>
          <a:xfrm>
            <a:off x="9599390" y="2012695"/>
            <a:ext cx="1085850" cy="718344"/>
          </a:xfrm>
          <a:prstGeom prst="callout2">
            <a:avLst>
              <a:gd name="adj1" fmla="val 49990"/>
              <a:gd name="adj2" fmla="val -52"/>
              <a:gd name="adj3" fmla="val 50311"/>
              <a:gd name="adj4" fmla="val -43860"/>
              <a:gd name="adj5" fmla="val 144769"/>
              <a:gd name="adj6" fmla="val -104575"/>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Table</a:t>
            </a:r>
          </a:p>
        </p:txBody>
      </p:sp>
      <p:sp>
        <p:nvSpPr>
          <p:cNvPr id="10" name="TextBox 9">
            <a:extLst>
              <a:ext uri="{FF2B5EF4-FFF2-40B4-BE49-F238E27FC236}">
                <a16:creationId xmlns:a16="http://schemas.microsoft.com/office/drawing/2014/main" id="{0E523A2E-4E81-1110-D5F2-FAB72AD8D149}"/>
              </a:ext>
            </a:extLst>
          </p:cNvPr>
          <p:cNvSpPr txBox="1"/>
          <p:nvPr/>
        </p:nvSpPr>
        <p:spPr>
          <a:xfrm>
            <a:off x="4413852" y="3962400"/>
            <a:ext cx="5938462" cy="2677656"/>
          </a:xfrm>
          <a:prstGeom prst="rect">
            <a:avLst/>
          </a:prstGeom>
          <a:solidFill>
            <a:schemeClr val="bg1"/>
          </a:solidFill>
        </p:spPr>
        <p:txBody>
          <a:bodyPr wrap="square">
            <a:spAutoFit/>
          </a:bodyPr>
          <a:lstStyle/>
          <a:p>
            <a:r>
              <a:rPr lang="en-GB" sz="2400" dirty="0">
                <a:latin typeface="Consolas" panose="020B0609020204030204" pitchFamily="49" charset="0"/>
              </a:rPr>
              <a:t>CREATE TABLE staff (               </a:t>
            </a:r>
          </a:p>
          <a:p>
            <a:r>
              <a:rPr lang="en-GB" sz="2400" dirty="0">
                <a:latin typeface="Consolas" panose="020B0609020204030204" pitchFamily="49" charset="0"/>
              </a:rPr>
              <a:t>        </a:t>
            </a:r>
            <a:r>
              <a:rPr lang="en-GB" sz="2400" dirty="0" err="1">
                <a:latin typeface="Consolas" panose="020B0609020204030204" pitchFamily="49" charset="0"/>
              </a:rPr>
              <a:t>staffID</a:t>
            </a:r>
            <a:r>
              <a:rPr lang="en-GB" sz="2400" dirty="0">
                <a:latin typeface="Consolas" panose="020B0609020204030204" pitchFamily="49" charset="0"/>
              </a:rPr>
              <a:t> INT NOT NULL,       </a:t>
            </a:r>
          </a:p>
          <a:p>
            <a:r>
              <a:rPr lang="en-GB" sz="2400" dirty="0">
                <a:latin typeface="Consolas" panose="020B0609020204030204" pitchFamily="49" charset="0"/>
              </a:rPr>
              <a:t>        title VARCHAR(6) NOT NULL, </a:t>
            </a:r>
          </a:p>
          <a:p>
            <a:r>
              <a:rPr lang="en-GB" sz="2400" dirty="0">
                <a:latin typeface="Consolas" panose="020B0609020204030204" pitchFamily="49" charset="0"/>
              </a:rPr>
              <a:t>        </a:t>
            </a:r>
            <a:r>
              <a:rPr lang="en-GB" sz="2400" dirty="0" err="1">
                <a:latin typeface="Consolas" panose="020B0609020204030204" pitchFamily="49" charset="0"/>
              </a:rPr>
              <a:t>lastName</a:t>
            </a:r>
            <a:r>
              <a:rPr lang="en-GB" sz="2400" dirty="0">
                <a:latin typeface="Consolas" panose="020B0609020204030204" pitchFamily="49" charset="0"/>
              </a:rPr>
              <a:t> VARCHAR(30),       </a:t>
            </a:r>
          </a:p>
          <a:p>
            <a:r>
              <a:rPr lang="en-GB" sz="2400" dirty="0">
                <a:latin typeface="Consolas" panose="020B0609020204030204" pitchFamily="49" charset="0"/>
              </a:rPr>
              <a:t>        role VARCHAR(15) NOT NULL,</a:t>
            </a:r>
          </a:p>
          <a:p>
            <a:r>
              <a:rPr lang="en-GB" sz="2400" dirty="0">
                <a:latin typeface="Consolas" panose="020B0609020204030204" pitchFamily="49" charset="0"/>
              </a:rPr>
              <a:t>        PRIMARY KEY(</a:t>
            </a:r>
            <a:r>
              <a:rPr lang="en-GB" sz="2400" dirty="0" err="1">
                <a:latin typeface="Consolas" panose="020B0609020204030204" pitchFamily="49" charset="0"/>
              </a:rPr>
              <a:t>staffID</a:t>
            </a:r>
            <a:r>
              <a:rPr lang="en-GB" sz="2400" dirty="0">
                <a:latin typeface="Consolas" panose="020B0609020204030204" pitchFamily="49" charset="0"/>
              </a:rPr>
              <a:t>)        </a:t>
            </a:r>
          </a:p>
          <a:p>
            <a:r>
              <a:rPr lang="en-GB" sz="2400" dirty="0">
                <a:latin typeface="Consolas" panose="020B0609020204030204" pitchFamily="49" charset="0"/>
              </a:rPr>
              <a:t>); </a:t>
            </a:r>
          </a:p>
        </p:txBody>
      </p:sp>
      <p:grpSp>
        <p:nvGrpSpPr>
          <p:cNvPr id="15" name="Group 14">
            <a:extLst>
              <a:ext uri="{FF2B5EF4-FFF2-40B4-BE49-F238E27FC236}">
                <a16:creationId xmlns:a16="http://schemas.microsoft.com/office/drawing/2014/main" id="{472CD3B9-0306-45A5-6465-AEE3EF1CC0DA}"/>
              </a:ext>
            </a:extLst>
          </p:cNvPr>
          <p:cNvGrpSpPr/>
          <p:nvPr/>
        </p:nvGrpSpPr>
        <p:grpSpPr>
          <a:xfrm>
            <a:off x="1603340" y="5039618"/>
            <a:ext cx="2446150" cy="523220"/>
            <a:chOff x="1202984" y="4979421"/>
            <a:chExt cx="2446150" cy="523220"/>
          </a:xfrm>
        </p:grpSpPr>
        <p:sp>
          <p:nvSpPr>
            <p:cNvPr id="13" name="Arrow: Right 12">
              <a:extLst>
                <a:ext uri="{FF2B5EF4-FFF2-40B4-BE49-F238E27FC236}">
                  <a16:creationId xmlns:a16="http://schemas.microsoft.com/office/drawing/2014/main" id="{A36AD98B-BEBE-5C19-71B3-02152A7E31EA}"/>
                </a:ext>
              </a:extLst>
            </p:cNvPr>
            <p:cNvSpPr/>
            <p:nvPr/>
          </p:nvSpPr>
          <p:spPr>
            <a:xfrm>
              <a:off x="2670726" y="4998715"/>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TextBox 13">
              <a:extLst>
                <a:ext uri="{FF2B5EF4-FFF2-40B4-BE49-F238E27FC236}">
                  <a16:creationId xmlns:a16="http://schemas.microsoft.com/office/drawing/2014/main" id="{F7A7BDE9-1158-6911-E928-0344D8411A1E}"/>
                </a:ext>
              </a:extLst>
            </p:cNvPr>
            <p:cNvSpPr txBox="1"/>
            <p:nvPr/>
          </p:nvSpPr>
          <p:spPr>
            <a:xfrm>
              <a:off x="1202984" y="4979421"/>
              <a:ext cx="1253869" cy="523220"/>
            </a:xfrm>
            <a:prstGeom prst="rect">
              <a:avLst/>
            </a:prstGeom>
            <a:noFill/>
          </p:spPr>
          <p:txBody>
            <a:bodyPr wrap="none" rtlCol="0">
              <a:spAutoFit/>
            </a:bodyPr>
            <a:lstStyle/>
            <a:p>
              <a:r>
                <a:rPr lang="en-GB" sz="2800" b="1" dirty="0">
                  <a:solidFill>
                    <a:srgbClr val="7030A0"/>
                  </a:solidFill>
                </a:rPr>
                <a:t>Output</a:t>
              </a:r>
            </a:p>
          </p:txBody>
        </p:sp>
      </p:grpSp>
    </p:spTree>
    <p:extLst>
      <p:ext uri="{BB962C8B-B14F-4D97-AF65-F5344CB8AC3E}">
        <p14:creationId xmlns:p14="http://schemas.microsoft.com/office/powerpoint/2010/main" val="2098198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7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7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75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1500"/>
                                        <p:tgtEl>
                                          <p:spTgt spid="15"/>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10" grpId="0" animBg="1"/>
    </p:bldLst>
  </p:timing>
</p:sld>
</file>

<file path=ppt/slides/slide2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456FBC0-E7A8-E58D-730D-AA3D7AE38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DDA024-3B4D-1DDC-6377-67193DA4B2F9}"/>
              </a:ext>
            </a:extLst>
          </p:cNvPr>
          <p:cNvSpPr>
            <a:spLocks noGrp="1"/>
          </p:cNvSpPr>
          <p:nvPr>
            <p:ph type="title"/>
          </p:nvPr>
        </p:nvSpPr>
        <p:spPr/>
        <p:txBody>
          <a:bodyPr/>
          <a:lstStyle/>
          <a:p>
            <a:r>
              <a:rPr lang="en-GB" dirty="0"/>
              <a:t>Modify Table: 1 Get Table Definition</a:t>
            </a:r>
          </a:p>
        </p:txBody>
      </p:sp>
      <p:sp>
        <p:nvSpPr>
          <p:cNvPr id="3" name="Content Placeholder 2">
            <a:extLst>
              <a:ext uri="{FF2B5EF4-FFF2-40B4-BE49-F238E27FC236}">
                <a16:creationId xmlns:a16="http://schemas.microsoft.com/office/drawing/2014/main" id="{E5D23418-9FC5-76A5-065A-C99BB5BE70F7}"/>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a:t>
            </a:r>
            <a:r>
              <a:rPr lang="en-US" altLang="en-US" sz="4000" dirty="0" err="1">
                <a:solidFill>
                  <a:srgbClr val="000000"/>
                </a:solidFill>
                <a:latin typeface="Consolas" panose="020B0609020204030204" pitchFamily="49" charset="0"/>
              </a:rPr>
              <a:t>sql</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sqlite_schema</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 </a:t>
            </a:r>
            <a:r>
              <a:rPr lang="en-US" altLang="en-US" sz="4000" dirty="0" err="1">
                <a:solidFill>
                  <a:srgbClr val="000000"/>
                </a:solidFill>
                <a:latin typeface="Consolas" panose="020B0609020204030204" pitchFamily="49" charset="0"/>
              </a:rPr>
              <a:t>tbl_name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"staff"</a:t>
            </a:r>
            <a:r>
              <a:rPr lang="en-US" altLang="en-US" sz="4000" dirty="0">
                <a:solidFill>
                  <a:srgbClr val="000000"/>
                </a:solidFill>
                <a:latin typeface="Consolas" panose="020B0609020204030204" pitchFamily="49" charset="0"/>
              </a:rPr>
              <a:t>;</a:t>
            </a:r>
            <a:br>
              <a:rPr lang="en-US" altLang="en-US" sz="4000" dirty="0">
                <a:solidFill>
                  <a:srgbClr val="000000"/>
                </a:solidFill>
                <a:latin typeface="Consolas" panose="020B0609020204030204" pitchFamily="49" charset="0"/>
              </a:rPr>
            </a:br>
            <a:endParaRPr lang="en-US" altLang="en-US" sz="4000" dirty="0">
              <a:latin typeface="Arial" panose="020B0604020202020204" pitchFamily="34" charset="0"/>
            </a:endParaRPr>
          </a:p>
        </p:txBody>
      </p:sp>
      <p:sp>
        <p:nvSpPr>
          <p:cNvPr id="10" name="TextBox 9">
            <a:extLst>
              <a:ext uri="{FF2B5EF4-FFF2-40B4-BE49-F238E27FC236}">
                <a16:creationId xmlns:a16="http://schemas.microsoft.com/office/drawing/2014/main" id="{DC2B2D4D-62A8-D1A0-DC6A-ACF5A5C232E3}"/>
              </a:ext>
            </a:extLst>
          </p:cNvPr>
          <p:cNvSpPr txBox="1"/>
          <p:nvPr/>
        </p:nvSpPr>
        <p:spPr>
          <a:xfrm>
            <a:off x="4413852" y="3962400"/>
            <a:ext cx="5938462" cy="2677656"/>
          </a:xfrm>
          <a:prstGeom prst="rect">
            <a:avLst/>
          </a:prstGeom>
          <a:solidFill>
            <a:schemeClr val="bg1"/>
          </a:solidFill>
        </p:spPr>
        <p:txBody>
          <a:bodyPr wrap="square">
            <a:spAutoFit/>
          </a:bodyPr>
          <a:lstStyle/>
          <a:p>
            <a:r>
              <a:rPr lang="en-GB" sz="2400" dirty="0">
                <a:latin typeface="Consolas" panose="020B0609020204030204" pitchFamily="49" charset="0"/>
              </a:rPr>
              <a:t>CREATE TABLE staff (               </a:t>
            </a:r>
          </a:p>
          <a:p>
            <a:r>
              <a:rPr lang="en-GB" sz="2400" dirty="0">
                <a:latin typeface="Consolas" panose="020B0609020204030204" pitchFamily="49" charset="0"/>
              </a:rPr>
              <a:t>        </a:t>
            </a:r>
            <a:r>
              <a:rPr lang="en-GB" sz="2400" dirty="0" err="1">
                <a:latin typeface="Consolas" panose="020B0609020204030204" pitchFamily="49" charset="0"/>
              </a:rPr>
              <a:t>staffID</a:t>
            </a:r>
            <a:r>
              <a:rPr lang="en-GB" sz="2400" dirty="0">
                <a:latin typeface="Consolas" panose="020B0609020204030204" pitchFamily="49" charset="0"/>
              </a:rPr>
              <a:t> INT NOT NULL,       </a:t>
            </a:r>
          </a:p>
          <a:p>
            <a:r>
              <a:rPr lang="en-GB" sz="2400" dirty="0">
                <a:latin typeface="Consolas" panose="020B0609020204030204" pitchFamily="49" charset="0"/>
              </a:rPr>
              <a:t>        title VARCHAR(6) NOT NULL, </a:t>
            </a:r>
          </a:p>
          <a:p>
            <a:r>
              <a:rPr lang="en-GB" sz="2400" dirty="0">
                <a:latin typeface="Consolas" panose="020B0609020204030204" pitchFamily="49" charset="0"/>
              </a:rPr>
              <a:t>        </a:t>
            </a:r>
            <a:r>
              <a:rPr lang="en-GB" sz="2400" dirty="0" err="1">
                <a:latin typeface="Consolas" panose="020B0609020204030204" pitchFamily="49" charset="0"/>
              </a:rPr>
              <a:t>lastName</a:t>
            </a:r>
            <a:r>
              <a:rPr lang="en-GB" sz="2400" dirty="0">
                <a:latin typeface="Consolas" panose="020B0609020204030204" pitchFamily="49" charset="0"/>
              </a:rPr>
              <a:t> VARCHAR(30),       </a:t>
            </a:r>
          </a:p>
          <a:p>
            <a:r>
              <a:rPr lang="en-GB" sz="2400" dirty="0">
                <a:latin typeface="Consolas" panose="020B0609020204030204" pitchFamily="49" charset="0"/>
              </a:rPr>
              <a:t>        role VARCHAR(15) NOT NULL,</a:t>
            </a:r>
          </a:p>
          <a:p>
            <a:r>
              <a:rPr lang="en-GB" sz="2400" dirty="0">
                <a:latin typeface="Consolas" panose="020B0609020204030204" pitchFamily="49" charset="0"/>
              </a:rPr>
              <a:t>        PRIMARY KEY(</a:t>
            </a:r>
            <a:r>
              <a:rPr lang="en-GB" sz="2400" dirty="0" err="1">
                <a:latin typeface="Consolas" panose="020B0609020204030204" pitchFamily="49" charset="0"/>
              </a:rPr>
              <a:t>staffID</a:t>
            </a:r>
            <a:r>
              <a:rPr lang="en-GB" sz="2400" dirty="0">
                <a:latin typeface="Consolas" panose="020B0609020204030204" pitchFamily="49" charset="0"/>
              </a:rPr>
              <a:t>)        </a:t>
            </a:r>
          </a:p>
          <a:p>
            <a:r>
              <a:rPr lang="en-GB" sz="2400" dirty="0">
                <a:latin typeface="Consolas" panose="020B0609020204030204" pitchFamily="49" charset="0"/>
              </a:rPr>
              <a:t>); </a:t>
            </a:r>
          </a:p>
        </p:txBody>
      </p:sp>
    </p:spTree>
    <p:extLst>
      <p:ext uri="{BB962C8B-B14F-4D97-AF65-F5344CB8AC3E}">
        <p14:creationId xmlns:p14="http://schemas.microsoft.com/office/powerpoint/2010/main" val="1585838069"/>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Modify Table: 1 Get Table Definition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000000"/>
                </a:solidFill>
                <a:latin typeface="Consolas" panose="020B0609020204030204" pitchFamily="49" charset="0"/>
              </a:rPr>
              <a:t>.</a:t>
            </a:r>
            <a:r>
              <a:rPr lang="en-US" altLang="en-US" sz="4400" dirty="0">
                <a:solidFill>
                  <a:srgbClr val="A71D5D"/>
                </a:solidFill>
                <a:latin typeface="Consolas" panose="020B0609020204030204" pitchFamily="49" charset="0"/>
              </a:rPr>
              <a:t>schema</a:t>
            </a:r>
            <a:r>
              <a:rPr lang="en-US" altLang="en-US" sz="4400" dirty="0">
                <a:solidFill>
                  <a:srgbClr val="000000"/>
                </a:solidFill>
                <a:latin typeface="Consolas" panose="020B0609020204030204" pitchFamily="49" charset="0"/>
              </a:rPr>
              <a:t> staff</a:t>
            </a:r>
            <a:endParaRPr lang="en-US" altLang="en-US" sz="6000" dirty="0">
              <a:latin typeface="Arial" panose="020B0604020202020204" pitchFamily="34" charset="0"/>
            </a:endParaRPr>
          </a:p>
        </p:txBody>
      </p:sp>
      <p:sp>
        <p:nvSpPr>
          <p:cNvPr id="4" name="Callout: Bent Line with No Border 3">
            <a:extLst>
              <a:ext uri="{FF2B5EF4-FFF2-40B4-BE49-F238E27FC236}">
                <a16:creationId xmlns:a16="http://schemas.microsoft.com/office/drawing/2014/main" id="{E047F7BC-FA07-FA57-5095-E57424A36FC7}"/>
              </a:ext>
            </a:extLst>
          </p:cNvPr>
          <p:cNvSpPr/>
          <p:nvPr/>
        </p:nvSpPr>
        <p:spPr>
          <a:xfrm>
            <a:off x="4671479" y="2999410"/>
            <a:ext cx="1085850" cy="718344"/>
          </a:xfrm>
          <a:prstGeom prst="callout2">
            <a:avLst>
              <a:gd name="adj1" fmla="val 49990"/>
              <a:gd name="adj2" fmla="val -52"/>
              <a:gd name="adj3" fmla="val 50311"/>
              <a:gd name="adj4" fmla="val -43860"/>
              <a:gd name="adj5" fmla="val -52329"/>
              <a:gd name="adj6" fmla="val -44813"/>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Table</a:t>
            </a:r>
          </a:p>
        </p:txBody>
      </p:sp>
      <p:sp>
        <p:nvSpPr>
          <p:cNvPr id="6" name="Callout: Bent Line with No Border 5">
            <a:extLst>
              <a:ext uri="{FF2B5EF4-FFF2-40B4-BE49-F238E27FC236}">
                <a16:creationId xmlns:a16="http://schemas.microsoft.com/office/drawing/2014/main" id="{DEC21E10-375A-0A9D-2F84-A3F122B207B0}"/>
              </a:ext>
            </a:extLst>
          </p:cNvPr>
          <p:cNvSpPr/>
          <p:nvPr/>
        </p:nvSpPr>
        <p:spPr>
          <a:xfrm>
            <a:off x="7469302" y="2640238"/>
            <a:ext cx="2486025" cy="718344"/>
          </a:xfrm>
          <a:prstGeom prst="callout2">
            <a:avLst>
              <a:gd name="adj1" fmla="val 49990"/>
              <a:gd name="adj2" fmla="val -52"/>
              <a:gd name="adj3" fmla="val 50057"/>
              <a:gd name="adj4" fmla="val -76310"/>
              <a:gd name="adj5" fmla="val -4410"/>
              <a:gd name="adj6" fmla="val -76242"/>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No semi-colon</a:t>
            </a:r>
          </a:p>
        </p:txBody>
      </p:sp>
      <p:sp>
        <p:nvSpPr>
          <p:cNvPr id="8" name="Callout: Bent Line with No Border 7">
            <a:extLst>
              <a:ext uri="{FF2B5EF4-FFF2-40B4-BE49-F238E27FC236}">
                <a16:creationId xmlns:a16="http://schemas.microsoft.com/office/drawing/2014/main" id="{78DF4B25-8E1A-1EA2-7BCA-BB75BAAA720F}"/>
              </a:ext>
            </a:extLst>
          </p:cNvPr>
          <p:cNvSpPr/>
          <p:nvPr/>
        </p:nvSpPr>
        <p:spPr>
          <a:xfrm>
            <a:off x="2184246" y="2999410"/>
            <a:ext cx="1085850" cy="718344"/>
          </a:xfrm>
          <a:prstGeom prst="callout2">
            <a:avLst>
              <a:gd name="adj1" fmla="val 49990"/>
              <a:gd name="adj2" fmla="val -52"/>
              <a:gd name="adj3" fmla="val 50311"/>
              <a:gd name="adj4" fmla="val -43860"/>
              <a:gd name="adj5" fmla="val -52329"/>
              <a:gd name="adj6" fmla="val -44813"/>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dot</a:t>
            </a:r>
          </a:p>
        </p:txBody>
      </p:sp>
      <p:sp>
        <p:nvSpPr>
          <p:cNvPr id="10" name="TextBox 9">
            <a:extLst>
              <a:ext uri="{FF2B5EF4-FFF2-40B4-BE49-F238E27FC236}">
                <a16:creationId xmlns:a16="http://schemas.microsoft.com/office/drawing/2014/main" id="{0E523A2E-4E81-1110-D5F2-FAB72AD8D149}"/>
              </a:ext>
            </a:extLst>
          </p:cNvPr>
          <p:cNvSpPr txBox="1"/>
          <p:nvPr/>
        </p:nvSpPr>
        <p:spPr>
          <a:xfrm>
            <a:off x="4185338" y="3847965"/>
            <a:ext cx="4599433" cy="2677656"/>
          </a:xfrm>
          <a:prstGeom prst="rect">
            <a:avLst/>
          </a:prstGeom>
          <a:solidFill>
            <a:schemeClr val="bg1"/>
          </a:solidFill>
        </p:spPr>
        <p:txBody>
          <a:bodyPr wrap="square">
            <a:spAutoFit/>
          </a:bodyPr>
          <a:lstStyle/>
          <a:p>
            <a:r>
              <a:rPr lang="en-GB" sz="2400" dirty="0">
                <a:latin typeface="Consolas" panose="020B0609020204030204" pitchFamily="49" charset="0"/>
              </a:rPr>
              <a:t>CREATE TABLE staff (</a:t>
            </a:r>
          </a:p>
          <a:p>
            <a:r>
              <a:rPr lang="en-GB" sz="2400" dirty="0">
                <a:latin typeface="Consolas" panose="020B0609020204030204" pitchFamily="49" charset="0"/>
              </a:rPr>
              <a:t>    </a:t>
            </a:r>
            <a:r>
              <a:rPr lang="en-GB" sz="2400" dirty="0" err="1">
                <a:latin typeface="Consolas" panose="020B0609020204030204" pitchFamily="49" charset="0"/>
              </a:rPr>
              <a:t>staffID</a:t>
            </a:r>
            <a:r>
              <a:rPr lang="en-GB" sz="2400" dirty="0">
                <a:latin typeface="Consolas" panose="020B0609020204030204" pitchFamily="49" charset="0"/>
              </a:rPr>
              <a:t> INT NOT NULL,</a:t>
            </a:r>
          </a:p>
          <a:p>
            <a:r>
              <a:rPr lang="en-GB" sz="2400" dirty="0">
                <a:latin typeface="Consolas" panose="020B0609020204030204" pitchFamily="49" charset="0"/>
              </a:rPr>
              <a:t>    title TEXT NOT NULL,</a:t>
            </a:r>
          </a:p>
          <a:p>
            <a:r>
              <a:rPr lang="en-GB" sz="2400" dirty="0">
                <a:latin typeface="Consolas" panose="020B0609020204030204" pitchFamily="49" charset="0"/>
              </a:rPr>
              <a:t>    </a:t>
            </a:r>
            <a:r>
              <a:rPr lang="en-GB" sz="2400" dirty="0" err="1">
                <a:latin typeface="Consolas" panose="020B0609020204030204" pitchFamily="49" charset="0"/>
              </a:rPr>
              <a:t>lastName</a:t>
            </a:r>
            <a:r>
              <a:rPr lang="en-GB" sz="2400" dirty="0">
                <a:latin typeface="Consolas" panose="020B0609020204030204" pitchFamily="49" charset="0"/>
              </a:rPr>
              <a:t> TEXT,</a:t>
            </a:r>
          </a:p>
          <a:p>
            <a:r>
              <a:rPr lang="en-GB" sz="2400" dirty="0">
                <a:latin typeface="Consolas" panose="020B0609020204030204" pitchFamily="49" charset="0"/>
              </a:rPr>
              <a:t>    role TEXT NOT NULL,</a:t>
            </a:r>
          </a:p>
          <a:p>
            <a:r>
              <a:rPr lang="en-GB" sz="2400" dirty="0">
                <a:latin typeface="Consolas" panose="020B0609020204030204" pitchFamily="49" charset="0"/>
              </a:rPr>
              <a:t>    PRIMARY KEY(</a:t>
            </a:r>
            <a:r>
              <a:rPr lang="en-GB" sz="2400" dirty="0" err="1">
                <a:latin typeface="Consolas" panose="020B0609020204030204" pitchFamily="49" charset="0"/>
              </a:rPr>
              <a:t>staffID</a:t>
            </a:r>
            <a:r>
              <a:rPr lang="en-GB" sz="2400" dirty="0">
                <a:latin typeface="Consolas" panose="020B0609020204030204" pitchFamily="49" charset="0"/>
              </a:rPr>
              <a:t>)</a:t>
            </a:r>
          </a:p>
          <a:p>
            <a:r>
              <a:rPr lang="en-GB" sz="2400" dirty="0">
                <a:latin typeface="Consolas" panose="020B0609020204030204" pitchFamily="49" charset="0"/>
              </a:rPr>
              <a:t>)</a:t>
            </a:r>
          </a:p>
        </p:txBody>
      </p:sp>
      <p:grpSp>
        <p:nvGrpSpPr>
          <p:cNvPr id="15" name="Group 14">
            <a:extLst>
              <a:ext uri="{FF2B5EF4-FFF2-40B4-BE49-F238E27FC236}">
                <a16:creationId xmlns:a16="http://schemas.microsoft.com/office/drawing/2014/main" id="{472CD3B9-0306-45A5-6465-AEE3EF1CC0DA}"/>
              </a:ext>
            </a:extLst>
          </p:cNvPr>
          <p:cNvGrpSpPr/>
          <p:nvPr/>
        </p:nvGrpSpPr>
        <p:grpSpPr>
          <a:xfrm>
            <a:off x="1525315" y="4925183"/>
            <a:ext cx="2446150" cy="523220"/>
            <a:chOff x="1202984" y="4979421"/>
            <a:chExt cx="2446150" cy="523220"/>
          </a:xfrm>
        </p:grpSpPr>
        <p:sp>
          <p:nvSpPr>
            <p:cNvPr id="13" name="Arrow: Right 12">
              <a:extLst>
                <a:ext uri="{FF2B5EF4-FFF2-40B4-BE49-F238E27FC236}">
                  <a16:creationId xmlns:a16="http://schemas.microsoft.com/office/drawing/2014/main" id="{A36AD98B-BEBE-5C19-71B3-02152A7E31EA}"/>
                </a:ext>
              </a:extLst>
            </p:cNvPr>
            <p:cNvSpPr/>
            <p:nvPr/>
          </p:nvSpPr>
          <p:spPr>
            <a:xfrm>
              <a:off x="2670726" y="4998715"/>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F7A7BDE9-1158-6911-E928-0344D8411A1E}"/>
                </a:ext>
              </a:extLst>
            </p:cNvPr>
            <p:cNvSpPr txBox="1"/>
            <p:nvPr/>
          </p:nvSpPr>
          <p:spPr>
            <a:xfrm>
              <a:off x="1202984" y="4979421"/>
              <a:ext cx="1253869" cy="523220"/>
            </a:xfrm>
            <a:prstGeom prst="rect">
              <a:avLst/>
            </a:prstGeom>
            <a:noFill/>
          </p:spPr>
          <p:txBody>
            <a:bodyPr wrap="none" rtlCol="0">
              <a:spAutoFit/>
            </a:bodyPr>
            <a:lstStyle/>
            <a:p>
              <a:r>
                <a:rPr lang="en-GB" sz="2800" b="1" dirty="0">
                  <a:solidFill>
                    <a:srgbClr val="7030A0"/>
                  </a:solidFill>
                </a:rPr>
                <a:t>Output</a:t>
              </a:r>
            </a:p>
          </p:txBody>
        </p:sp>
      </p:grpSp>
      <p:sp>
        <p:nvSpPr>
          <p:cNvPr id="5" name="Callout: Bent Line with No Border 4">
            <a:extLst>
              <a:ext uri="{FF2B5EF4-FFF2-40B4-BE49-F238E27FC236}">
                <a16:creationId xmlns:a16="http://schemas.microsoft.com/office/drawing/2014/main" id="{B20D1658-EAD9-EC45-CE68-EBF3A2D3E7A8}"/>
              </a:ext>
            </a:extLst>
          </p:cNvPr>
          <p:cNvSpPr/>
          <p:nvPr/>
        </p:nvSpPr>
        <p:spPr>
          <a:xfrm>
            <a:off x="5406127" y="6067633"/>
            <a:ext cx="2486025" cy="479082"/>
          </a:xfrm>
          <a:prstGeom prst="callout2">
            <a:avLst>
              <a:gd name="adj1" fmla="val 49990"/>
              <a:gd name="adj2" fmla="val -52"/>
              <a:gd name="adj3" fmla="val 50311"/>
              <a:gd name="adj4" fmla="val -20105"/>
              <a:gd name="adj5" fmla="val 51223"/>
              <a:gd name="adj6" fmla="val -30214"/>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a:solidFill>
                  <a:srgbClr val="7030A0"/>
                </a:solidFill>
              </a:rPr>
              <a:t>Semi-colon</a:t>
            </a:r>
            <a:endParaRPr lang="en-GB" sz="2800" b="1" dirty="0">
              <a:solidFill>
                <a:srgbClr val="7030A0"/>
              </a:solidFill>
            </a:endParaRPr>
          </a:p>
        </p:txBody>
      </p:sp>
    </p:spTree>
    <p:extLst>
      <p:ext uri="{BB962C8B-B14F-4D97-AF65-F5344CB8AC3E}">
        <p14:creationId xmlns:p14="http://schemas.microsoft.com/office/powerpoint/2010/main" val="2509845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7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1500"/>
                                        <p:tgtEl>
                                          <p:spTgt spid="15"/>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6" grpId="0" animBg="1"/>
      <p:bldP spid="8" grpId="0" animBg="1"/>
      <p:bldP spid="10" grpId="0" animBg="1"/>
      <p:bldP spid="5" grpId="0" animBg="1"/>
    </p:bldLst>
  </p:timing>
</p:sld>
</file>

<file path=ppt/slides/slide2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Modify Table: 1 Get Table Definition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000000"/>
                </a:solidFill>
                <a:latin typeface="Consolas" panose="020B0609020204030204" pitchFamily="49" charset="0"/>
              </a:rPr>
              <a:t>.</a:t>
            </a:r>
            <a:r>
              <a:rPr lang="en-US" altLang="en-US" sz="4400" dirty="0">
                <a:solidFill>
                  <a:srgbClr val="A71D5D"/>
                </a:solidFill>
                <a:latin typeface="Consolas" panose="020B0609020204030204" pitchFamily="49" charset="0"/>
              </a:rPr>
              <a:t>schema</a:t>
            </a:r>
            <a:r>
              <a:rPr lang="en-US" altLang="en-US" sz="4400" dirty="0">
                <a:solidFill>
                  <a:srgbClr val="000000"/>
                </a:solidFill>
                <a:latin typeface="Consolas" panose="020B0609020204030204" pitchFamily="49" charset="0"/>
              </a:rPr>
              <a:t> staff</a:t>
            </a:r>
            <a:endParaRPr lang="en-US" altLang="en-US" sz="6000" dirty="0">
              <a:latin typeface="Arial" panose="020B0604020202020204" pitchFamily="34" charset="0"/>
            </a:endParaRPr>
          </a:p>
        </p:txBody>
      </p:sp>
      <p:sp>
        <p:nvSpPr>
          <p:cNvPr id="10" name="TextBox 9">
            <a:extLst>
              <a:ext uri="{FF2B5EF4-FFF2-40B4-BE49-F238E27FC236}">
                <a16:creationId xmlns:a16="http://schemas.microsoft.com/office/drawing/2014/main" id="{0E523A2E-4E81-1110-D5F2-FAB72AD8D149}"/>
              </a:ext>
            </a:extLst>
          </p:cNvPr>
          <p:cNvSpPr txBox="1"/>
          <p:nvPr/>
        </p:nvSpPr>
        <p:spPr>
          <a:xfrm>
            <a:off x="4185339" y="3847965"/>
            <a:ext cx="4566775" cy="2677656"/>
          </a:xfrm>
          <a:prstGeom prst="rect">
            <a:avLst/>
          </a:prstGeom>
          <a:solidFill>
            <a:schemeClr val="bg1"/>
          </a:solidFill>
        </p:spPr>
        <p:txBody>
          <a:bodyPr wrap="square">
            <a:spAutoFit/>
          </a:bodyPr>
          <a:lstStyle/>
          <a:p>
            <a:r>
              <a:rPr lang="en-GB" sz="2400" dirty="0">
                <a:latin typeface="Consolas" panose="020B0609020204030204" pitchFamily="49" charset="0"/>
              </a:rPr>
              <a:t>CREATE TABLE staff (</a:t>
            </a:r>
          </a:p>
          <a:p>
            <a:r>
              <a:rPr lang="en-GB" sz="2400" dirty="0">
                <a:latin typeface="Consolas" panose="020B0609020204030204" pitchFamily="49" charset="0"/>
              </a:rPr>
              <a:t>    </a:t>
            </a:r>
            <a:r>
              <a:rPr lang="en-GB" sz="2400" dirty="0" err="1">
                <a:latin typeface="Consolas" panose="020B0609020204030204" pitchFamily="49" charset="0"/>
              </a:rPr>
              <a:t>staffID</a:t>
            </a:r>
            <a:r>
              <a:rPr lang="en-GB" sz="2400" dirty="0">
                <a:latin typeface="Consolas" panose="020B0609020204030204" pitchFamily="49" charset="0"/>
              </a:rPr>
              <a:t> INT NOT NULL,</a:t>
            </a:r>
          </a:p>
          <a:p>
            <a:r>
              <a:rPr lang="en-GB" sz="2400" dirty="0">
                <a:latin typeface="Consolas" panose="020B0609020204030204" pitchFamily="49" charset="0"/>
              </a:rPr>
              <a:t>    title TEXT NOT NULL,</a:t>
            </a:r>
          </a:p>
          <a:p>
            <a:r>
              <a:rPr lang="en-GB" sz="2400" dirty="0">
                <a:latin typeface="Consolas" panose="020B0609020204030204" pitchFamily="49" charset="0"/>
              </a:rPr>
              <a:t>    </a:t>
            </a:r>
            <a:r>
              <a:rPr lang="en-GB" sz="2400" dirty="0" err="1">
                <a:latin typeface="Consolas" panose="020B0609020204030204" pitchFamily="49" charset="0"/>
              </a:rPr>
              <a:t>lastName</a:t>
            </a:r>
            <a:r>
              <a:rPr lang="en-GB" sz="2400" dirty="0">
                <a:latin typeface="Consolas" panose="020B0609020204030204" pitchFamily="49" charset="0"/>
              </a:rPr>
              <a:t> TEXT,</a:t>
            </a:r>
          </a:p>
          <a:p>
            <a:r>
              <a:rPr lang="en-GB" sz="2400" dirty="0">
                <a:latin typeface="Consolas" panose="020B0609020204030204" pitchFamily="49" charset="0"/>
              </a:rPr>
              <a:t>    role TEXT NOT NULL,</a:t>
            </a:r>
          </a:p>
          <a:p>
            <a:r>
              <a:rPr lang="en-GB" sz="2400" dirty="0">
                <a:latin typeface="Consolas" panose="020B0609020204030204" pitchFamily="49" charset="0"/>
              </a:rPr>
              <a:t>    PRIMARY KEY(</a:t>
            </a:r>
            <a:r>
              <a:rPr lang="en-GB" sz="2400" dirty="0" err="1">
                <a:latin typeface="Consolas" panose="020B0609020204030204" pitchFamily="49" charset="0"/>
              </a:rPr>
              <a:t>staffID</a:t>
            </a:r>
            <a:r>
              <a:rPr lang="en-GB" sz="2400" dirty="0">
                <a:latin typeface="Consolas" panose="020B0609020204030204" pitchFamily="49" charset="0"/>
              </a:rPr>
              <a:t>)</a:t>
            </a:r>
          </a:p>
          <a:p>
            <a:r>
              <a:rPr lang="en-GB" sz="2400" dirty="0">
                <a:latin typeface="Consolas" panose="020B0609020204030204" pitchFamily="49" charset="0"/>
              </a:rPr>
              <a:t>)</a:t>
            </a:r>
          </a:p>
        </p:txBody>
      </p:sp>
    </p:spTree>
    <p:extLst>
      <p:ext uri="{BB962C8B-B14F-4D97-AF65-F5344CB8AC3E}">
        <p14:creationId xmlns:p14="http://schemas.microsoft.com/office/powerpoint/2010/main" val="1819570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750"/>
                                        <p:tgtEl>
                                          <p:spTgt spid="3">
                                            <p:txEl>
                                              <p:pRg st="0" end="0"/>
                                            </p:txEl>
                                          </p:spTgt>
                                        </p:tgtEl>
                                      </p:cBhvr>
                                    </p:animEffect>
                                  </p:childTnLst>
                                </p:cTn>
                              </p:par>
                            </p:childTnLst>
                          </p:cTn>
                        </p:par>
                        <p:par>
                          <p:cTn id="8" fill="hold">
                            <p:stCondLst>
                              <p:cond delay="175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animBg="1"/>
    </p:bld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Modify Table: 2 Create Empty Table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Autofit/>
          </a:bodyPr>
          <a:lstStyle/>
          <a:p>
            <a:pPr marL="0" lvl="0" indent="0" eaLnBrk="0" fontAlgn="base" hangingPunct="0">
              <a:lnSpc>
                <a:spcPct val="100000"/>
              </a:lnSpc>
              <a:spcBef>
                <a:spcPct val="0"/>
              </a:spcBef>
              <a:spcAft>
                <a:spcPts val="1200"/>
              </a:spcAft>
              <a:buNone/>
            </a:pPr>
            <a:r>
              <a:rPr lang="en-US" altLang="en-US" sz="3600" dirty="0">
                <a:solidFill>
                  <a:srgbClr val="B2B2B2"/>
                </a:solidFill>
                <a:latin typeface="Consolas" panose="020B0609020204030204" pitchFamily="49" charset="0"/>
              </a:rPr>
              <a:t>1 </a:t>
            </a:r>
            <a:r>
              <a:rPr lang="en-US" altLang="en-US" sz="3600" dirty="0">
                <a:solidFill>
                  <a:srgbClr val="A71D5D"/>
                </a:solidFill>
                <a:latin typeface="Consolas" panose="020B0609020204030204" pitchFamily="49" charset="0"/>
              </a:rPr>
              <a:t>CREATE TABLE </a:t>
            </a:r>
            <a:r>
              <a:rPr lang="en-US" altLang="en-US" sz="3600" dirty="0" err="1">
                <a:solidFill>
                  <a:srgbClr val="183691"/>
                </a:solidFill>
                <a:latin typeface="Consolas" panose="020B0609020204030204" pitchFamily="49" charset="0"/>
              </a:rPr>
              <a:t>newStaff</a:t>
            </a:r>
            <a:r>
              <a:rPr lang="en-US" altLang="en-US" sz="36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2   </a:t>
            </a:r>
            <a:r>
              <a:rPr lang="en-US" altLang="en-US" sz="3600" dirty="0" err="1">
                <a:solidFill>
                  <a:srgbClr val="183691"/>
                </a:solidFill>
                <a:latin typeface="Consolas" panose="020B0609020204030204" pitchFamily="49" charset="0"/>
              </a:rPr>
              <a:t>staffID</a:t>
            </a:r>
            <a:r>
              <a:rPr lang="en-US" altLang="en-US" sz="3600" dirty="0">
                <a:solidFill>
                  <a:srgbClr val="000000"/>
                </a:solidFill>
                <a:latin typeface="Consolas" panose="020B0609020204030204" pitchFamily="49" charset="0"/>
              </a:rPr>
              <a:t> </a:t>
            </a:r>
            <a:r>
              <a:rPr lang="en-US" altLang="en-US" sz="3600" dirty="0">
                <a:solidFill>
                  <a:srgbClr val="0086B3"/>
                </a:solidFill>
                <a:latin typeface="Consolas" panose="020B0609020204030204" pitchFamily="49" charset="0"/>
              </a:rPr>
              <a:t>INT</a:t>
            </a:r>
            <a:r>
              <a:rPr lang="en-US" altLang="en-US" sz="3600" dirty="0">
                <a:solidFill>
                  <a:srgbClr val="000000"/>
                </a:solidFill>
                <a:latin typeface="Consolas" panose="020B0609020204030204" pitchFamily="49" charset="0"/>
              </a:rPr>
              <a:t> </a:t>
            </a:r>
            <a:r>
              <a:rPr lang="en-US" altLang="en-US" sz="3600" dirty="0">
                <a:solidFill>
                  <a:srgbClr val="A71D5D"/>
                </a:solidFill>
                <a:latin typeface="Consolas" panose="020B0609020204030204" pitchFamily="49" charset="0"/>
              </a:rPr>
              <a:t>NOT NULL</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3   </a:t>
            </a:r>
            <a:r>
              <a:rPr lang="en-US" altLang="en-US" sz="3600" dirty="0">
                <a:solidFill>
                  <a:srgbClr val="183691"/>
                </a:solidFill>
                <a:latin typeface="Consolas" panose="020B0609020204030204" pitchFamily="49" charset="0"/>
              </a:rPr>
              <a:t>title</a:t>
            </a:r>
            <a:r>
              <a:rPr lang="en-US" altLang="en-US" sz="3600" dirty="0">
                <a:solidFill>
                  <a:srgbClr val="000000"/>
                </a:solidFill>
                <a:latin typeface="Consolas" panose="020B0609020204030204" pitchFamily="49" charset="0"/>
              </a:rPr>
              <a:t> </a:t>
            </a:r>
            <a:r>
              <a:rPr lang="en-US" altLang="en-US" sz="3600" dirty="0">
                <a:solidFill>
                  <a:srgbClr val="0086B3"/>
                </a:solidFill>
                <a:latin typeface="Consolas" panose="020B0609020204030204" pitchFamily="49" charset="0"/>
              </a:rPr>
              <a:t>VARCHAR(6)</a:t>
            </a:r>
            <a:r>
              <a:rPr lang="en-US" altLang="en-US" sz="3600" dirty="0">
                <a:solidFill>
                  <a:srgbClr val="000000"/>
                </a:solidFill>
                <a:latin typeface="Consolas" panose="020B0609020204030204" pitchFamily="49" charset="0"/>
              </a:rPr>
              <a:t> </a:t>
            </a:r>
            <a:r>
              <a:rPr lang="en-US" altLang="en-US" sz="3600" dirty="0">
                <a:solidFill>
                  <a:srgbClr val="A71D5D"/>
                </a:solidFill>
                <a:latin typeface="Consolas" panose="020B0609020204030204" pitchFamily="49" charset="0"/>
              </a:rPr>
              <a:t>NOT NULL</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4   </a:t>
            </a:r>
            <a:r>
              <a:rPr lang="en-US" altLang="en-US" sz="3600" dirty="0" err="1">
                <a:solidFill>
                  <a:srgbClr val="183691"/>
                </a:solidFill>
                <a:latin typeface="Consolas" panose="020B0609020204030204" pitchFamily="49" charset="0"/>
              </a:rPr>
              <a:t>lastName</a:t>
            </a:r>
            <a:r>
              <a:rPr lang="en-US" altLang="en-US" sz="3600" dirty="0">
                <a:solidFill>
                  <a:srgbClr val="000000"/>
                </a:solidFill>
                <a:latin typeface="Consolas" panose="020B0609020204030204" pitchFamily="49" charset="0"/>
              </a:rPr>
              <a:t> </a:t>
            </a:r>
            <a:r>
              <a:rPr lang="en-US" altLang="en-US" sz="3600" dirty="0">
                <a:solidFill>
                  <a:srgbClr val="0086B3"/>
                </a:solidFill>
                <a:latin typeface="Consolas" panose="020B0609020204030204" pitchFamily="49" charset="0"/>
              </a:rPr>
              <a:t>VARCHAR(30)</a:t>
            </a:r>
            <a:r>
              <a:rPr lang="en-US" altLang="en-US" sz="3600" dirty="0">
                <a:solidFill>
                  <a:srgbClr val="000000"/>
                </a:solidFill>
                <a:latin typeface="Consolas" panose="020B0609020204030204" pitchFamily="49" charset="0"/>
              </a:rPr>
              <a:t> </a:t>
            </a:r>
            <a:r>
              <a:rPr lang="en-US" altLang="en-US" sz="3600" dirty="0">
                <a:solidFill>
                  <a:srgbClr val="A71D5D"/>
                </a:solidFill>
                <a:latin typeface="Consolas" panose="020B0609020204030204" pitchFamily="49" charset="0"/>
              </a:rPr>
              <a:t>NOT NULL</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ts val="1200"/>
              </a:spcAft>
              <a:buNone/>
            </a:pPr>
            <a:r>
              <a:rPr lang="en-US" altLang="en-US" sz="3600" dirty="0">
                <a:solidFill>
                  <a:srgbClr val="B2B2B2"/>
                </a:solidFill>
                <a:latin typeface="Consolas" panose="020B0609020204030204" pitchFamily="49" charset="0"/>
              </a:rPr>
              <a:t>5   </a:t>
            </a:r>
            <a:r>
              <a:rPr lang="en-US" altLang="en-US" sz="3600" dirty="0">
                <a:solidFill>
                  <a:srgbClr val="183691"/>
                </a:solidFill>
                <a:latin typeface="Consolas" panose="020B0609020204030204" pitchFamily="49" charset="0"/>
              </a:rPr>
              <a:t>role</a:t>
            </a:r>
            <a:r>
              <a:rPr lang="en-US" altLang="en-US" sz="3600" dirty="0">
                <a:solidFill>
                  <a:srgbClr val="000000"/>
                </a:solidFill>
                <a:latin typeface="Consolas" panose="020B0609020204030204" pitchFamily="49" charset="0"/>
              </a:rPr>
              <a:t> </a:t>
            </a:r>
            <a:r>
              <a:rPr lang="en-US" altLang="en-US" sz="3600" dirty="0">
                <a:solidFill>
                  <a:srgbClr val="0086B3"/>
                </a:solidFill>
                <a:latin typeface="Consolas" panose="020B0609020204030204" pitchFamily="49" charset="0"/>
              </a:rPr>
              <a:t>VARCHAR(15)</a:t>
            </a:r>
            <a:r>
              <a:rPr lang="en-US" altLang="en-US" sz="3600" dirty="0">
                <a:solidFill>
                  <a:srgbClr val="000000"/>
                </a:solidFill>
                <a:latin typeface="Consolas" panose="020B0609020204030204" pitchFamily="49" charset="0"/>
              </a:rPr>
              <a:t> </a:t>
            </a:r>
            <a:r>
              <a:rPr lang="en-US" altLang="en-US" sz="3600" dirty="0">
                <a:solidFill>
                  <a:srgbClr val="A71D5D"/>
                </a:solidFill>
                <a:latin typeface="Consolas" panose="020B0609020204030204" pitchFamily="49" charset="0"/>
              </a:rPr>
              <a:t>NOT NULL</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6   </a:t>
            </a:r>
            <a:r>
              <a:rPr lang="en-US" altLang="en-US" sz="3600" dirty="0">
                <a:solidFill>
                  <a:srgbClr val="A71D5D"/>
                </a:solidFill>
                <a:latin typeface="Consolas" panose="020B0609020204030204" pitchFamily="49" charset="0"/>
              </a:rPr>
              <a:t>PRIMARY KEY</a:t>
            </a:r>
            <a:r>
              <a:rPr lang="en-US" altLang="en-US" sz="3600" dirty="0">
                <a:solidFill>
                  <a:srgbClr val="000000"/>
                </a:solidFill>
                <a:latin typeface="Consolas" panose="020B0609020204030204" pitchFamily="49" charset="0"/>
              </a:rPr>
              <a:t>(</a:t>
            </a:r>
            <a:r>
              <a:rPr lang="en-US" altLang="en-US" sz="3600" dirty="0" err="1">
                <a:solidFill>
                  <a:srgbClr val="183691"/>
                </a:solidFill>
                <a:latin typeface="Consolas" panose="020B0609020204030204" pitchFamily="49" charset="0"/>
              </a:rPr>
              <a:t>staffID</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7 </a:t>
            </a:r>
            <a:r>
              <a:rPr lang="en-US" altLang="en-US" sz="3600" dirty="0">
                <a:solidFill>
                  <a:srgbClr val="000000"/>
                </a:solidFill>
                <a:latin typeface="Consolas" panose="020B0609020204030204" pitchFamily="49" charset="0"/>
              </a:rPr>
              <a:t>);</a:t>
            </a:r>
            <a:endParaRPr lang="en-US" altLang="en-US" sz="4800" dirty="0">
              <a:latin typeface="Arial" panose="020B0604020202020204" pitchFamily="34" charset="0"/>
            </a:endParaRPr>
          </a:p>
        </p:txBody>
      </p:sp>
      <p:sp>
        <p:nvSpPr>
          <p:cNvPr id="6" name="Callout: Bent Line with No Border 5">
            <a:extLst>
              <a:ext uri="{FF2B5EF4-FFF2-40B4-BE49-F238E27FC236}">
                <a16:creationId xmlns:a16="http://schemas.microsoft.com/office/drawing/2014/main" id="{DEC21E10-375A-0A9D-2F84-A3F122B207B0}"/>
              </a:ext>
            </a:extLst>
          </p:cNvPr>
          <p:cNvSpPr/>
          <p:nvPr/>
        </p:nvSpPr>
        <p:spPr>
          <a:xfrm>
            <a:off x="7239910" y="1449572"/>
            <a:ext cx="1716036" cy="482231"/>
          </a:xfrm>
          <a:prstGeom prst="callout2">
            <a:avLst>
              <a:gd name="adj1" fmla="val 49990"/>
              <a:gd name="adj2" fmla="val -52"/>
              <a:gd name="adj3" fmla="val 49905"/>
              <a:gd name="adj4" fmla="val -22425"/>
              <a:gd name="adj5" fmla="val 97511"/>
              <a:gd name="adj6" fmla="val -32273"/>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New table</a:t>
            </a:r>
          </a:p>
        </p:txBody>
      </p:sp>
      <p:sp>
        <p:nvSpPr>
          <p:cNvPr id="5" name="Callout: Bent Line with No Border 4">
            <a:extLst>
              <a:ext uri="{FF2B5EF4-FFF2-40B4-BE49-F238E27FC236}">
                <a16:creationId xmlns:a16="http://schemas.microsoft.com/office/drawing/2014/main" id="{FEB24D9D-4EC1-6715-2488-DCA64BDD8B2A}"/>
              </a:ext>
            </a:extLst>
          </p:cNvPr>
          <p:cNvSpPr/>
          <p:nvPr/>
        </p:nvSpPr>
        <p:spPr>
          <a:xfrm>
            <a:off x="9155754" y="4406692"/>
            <a:ext cx="2486025" cy="482231"/>
          </a:xfrm>
          <a:prstGeom prst="callout2">
            <a:avLst>
              <a:gd name="adj1" fmla="val 49990"/>
              <a:gd name="adj2" fmla="val -52"/>
              <a:gd name="adj3" fmla="val 50311"/>
              <a:gd name="adj4" fmla="val -20105"/>
              <a:gd name="adj5" fmla="val -39610"/>
              <a:gd name="adj6" fmla="val -26492"/>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New validation</a:t>
            </a:r>
          </a:p>
        </p:txBody>
      </p:sp>
      <p:sp>
        <p:nvSpPr>
          <p:cNvPr id="7" name="Callout: Bent Line with No Border 6">
            <a:extLst>
              <a:ext uri="{FF2B5EF4-FFF2-40B4-BE49-F238E27FC236}">
                <a16:creationId xmlns:a16="http://schemas.microsoft.com/office/drawing/2014/main" id="{2907BCF3-6896-E60D-4077-92B218BC4872}"/>
              </a:ext>
            </a:extLst>
          </p:cNvPr>
          <p:cNvSpPr/>
          <p:nvPr/>
        </p:nvSpPr>
        <p:spPr>
          <a:xfrm>
            <a:off x="7912742" y="5610198"/>
            <a:ext cx="2486025" cy="482230"/>
          </a:xfrm>
          <a:prstGeom prst="callout2">
            <a:avLst>
              <a:gd name="adj1" fmla="val 49990"/>
              <a:gd name="adj2" fmla="val -52"/>
              <a:gd name="adj3" fmla="val 50311"/>
              <a:gd name="adj4" fmla="val -20105"/>
              <a:gd name="adj5" fmla="val -43220"/>
              <a:gd name="adj6" fmla="val -2831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No comma</a:t>
            </a:r>
          </a:p>
        </p:txBody>
      </p:sp>
      <p:sp>
        <p:nvSpPr>
          <p:cNvPr id="4" name="Callout: Bent Line with No Border 3">
            <a:extLst>
              <a:ext uri="{FF2B5EF4-FFF2-40B4-BE49-F238E27FC236}">
                <a16:creationId xmlns:a16="http://schemas.microsoft.com/office/drawing/2014/main" id="{4677CF7F-9AA9-D658-7CC6-F5CA85ACE72F}"/>
              </a:ext>
            </a:extLst>
          </p:cNvPr>
          <p:cNvSpPr/>
          <p:nvPr/>
        </p:nvSpPr>
        <p:spPr>
          <a:xfrm>
            <a:off x="2469126" y="6092428"/>
            <a:ext cx="2486025" cy="359172"/>
          </a:xfrm>
          <a:prstGeom prst="callout2">
            <a:avLst>
              <a:gd name="adj1" fmla="val 49990"/>
              <a:gd name="adj2" fmla="val -52"/>
              <a:gd name="adj3" fmla="val 50311"/>
              <a:gd name="adj4" fmla="val -20105"/>
              <a:gd name="adj5" fmla="val -10370"/>
              <a:gd name="adj6" fmla="val -24519"/>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Semi-colon</a:t>
            </a:r>
          </a:p>
        </p:txBody>
      </p:sp>
      <p:cxnSp>
        <p:nvCxnSpPr>
          <p:cNvPr id="9" name="Straight Connector 8">
            <a:extLst>
              <a:ext uri="{FF2B5EF4-FFF2-40B4-BE49-F238E27FC236}">
                <a16:creationId xmlns:a16="http://schemas.microsoft.com/office/drawing/2014/main" id="{7423847B-70CA-C332-39E1-9F8F078ECAE9}"/>
              </a:ext>
            </a:extLst>
          </p:cNvPr>
          <p:cNvCxnSpPr/>
          <p:nvPr/>
        </p:nvCxnSpPr>
        <p:spPr>
          <a:xfrm>
            <a:off x="7400925" y="4162425"/>
            <a:ext cx="2052000" cy="0"/>
          </a:xfrm>
          <a:prstGeom prst="line">
            <a:avLst/>
          </a:prstGeom>
          <a:noFill/>
          <a:ln w="38100">
            <a:solidFill>
              <a:schemeClr val="accent6">
                <a:lumMod val="75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474913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3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3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275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2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2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10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1000"/>
                                        <p:tgtEl>
                                          <p:spTgt spid="5"/>
                                        </p:tgtEl>
                                      </p:cBhvr>
                                    </p:animEffect>
                                  </p:childTnLst>
                                </p:cTn>
                              </p:par>
                            </p:childTnLst>
                          </p:cTn>
                        </p:par>
                        <p:par>
                          <p:cTn id="48" fill="hold">
                            <p:stCondLst>
                              <p:cond delay="1000"/>
                            </p:stCondLst>
                            <p:childTnLst>
                              <p:par>
                                <p:cTn id="49" presetID="16" presetClass="entr" presetSubtype="37" fill="hold" nodeType="after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barn(outVertical)">
                                      <p:cBhvr>
                                        <p:cTn id="51" dur="100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fade">
                                      <p:cBhvr>
                                        <p:cTn id="56" dur="1000"/>
                                        <p:tgtEl>
                                          <p:spTgt spid="7"/>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fade">
                                      <p:cBhvr>
                                        <p:cTn id="6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5" grpId="0" animBg="1"/>
      <p:bldP spid="7" grpId="0" animBg="1"/>
      <p:bldP spid="4" grpId="0" animBg="1"/>
    </p:bldLst>
  </p:timing>
</p:sld>
</file>

<file path=ppt/slides/slide2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Modify Table: 2 Create Empty Table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Autofit/>
          </a:bodyPr>
          <a:lstStyle/>
          <a:p>
            <a:pPr marL="0" lvl="0" indent="0" eaLnBrk="0" fontAlgn="base" hangingPunct="0">
              <a:lnSpc>
                <a:spcPct val="100000"/>
              </a:lnSpc>
              <a:spcBef>
                <a:spcPct val="0"/>
              </a:spcBef>
              <a:spcAft>
                <a:spcPts val="1200"/>
              </a:spcAft>
              <a:buNone/>
            </a:pPr>
            <a:r>
              <a:rPr lang="en-US" altLang="en-US" sz="3600" dirty="0">
                <a:solidFill>
                  <a:srgbClr val="B2B2B2"/>
                </a:solidFill>
                <a:latin typeface="Consolas" panose="020B0609020204030204" pitchFamily="49" charset="0"/>
              </a:rPr>
              <a:t>1 </a:t>
            </a:r>
            <a:r>
              <a:rPr lang="en-US" altLang="en-US" sz="3600" dirty="0">
                <a:solidFill>
                  <a:srgbClr val="A71D5D"/>
                </a:solidFill>
                <a:latin typeface="Consolas" panose="020B0609020204030204" pitchFamily="49" charset="0"/>
              </a:rPr>
              <a:t>CREATE TABLE </a:t>
            </a:r>
            <a:r>
              <a:rPr lang="en-US" altLang="en-US" sz="3600" dirty="0" err="1">
                <a:solidFill>
                  <a:srgbClr val="183691"/>
                </a:solidFill>
                <a:latin typeface="Consolas" panose="020B0609020204030204" pitchFamily="49" charset="0"/>
              </a:rPr>
              <a:t>newStaff</a:t>
            </a:r>
            <a:r>
              <a:rPr lang="en-US" altLang="en-US" sz="36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2   </a:t>
            </a:r>
            <a:r>
              <a:rPr lang="en-US" altLang="en-US" sz="3600" dirty="0" err="1">
                <a:solidFill>
                  <a:srgbClr val="183691"/>
                </a:solidFill>
                <a:latin typeface="Consolas" panose="020B0609020204030204" pitchFamily="49" charset="0"/>
              </a:rPr>
              <a:t>staffID</a:t>
            </a:r>
            <a:r>
              <a:rPr lang="en-US" altLang="en-US" sz="3600" dirty="0">
                <a:solidFill>
                  <a:srgbClr val="000000"/>
                </a:solidFill>
                <a:latin typeface="Consolas" panose="020B0609020204030204" pitchFamily="49" charset="0"/>
              </a:rPr>
              <a:t> </a:t>
            </a:r>
            <a:r>
              <a:rPr lang="en-US" altLang="en-US" sz="3600" dirty="0">
                <a:solidFill>
                  <a:srgbClr val="0086B3"/>
                </a:solidFill>
                <a:latin typeface="Consolas" panose="020B0609020204030204" pitchFamily="49" charset="0"/>
              </a:rPr>
              <a:t>INT</a:t>
            </a:r>
            <a:r>
              <a:rPr lang="en-US" altLang="en-US" sz="3600" dirty="0">
                <a:solidFill>
                  <a:srgbClr val="000000"/>
                </a:solidFill>
                <a:latin typeface="Consolas" panose="020B0609020204030204" pitchFamily="49" charset="0"/>
              </a:rPr>
              <a:t> </a:t>
            </a:r>
            <a:r>
              <a:rPr lang="en-US" altLang="en-US" sz="3600" dirty="0">
                <a:solidFill>
                  <a:srgbClr val="A71D5D"/>
                </a:solidFill>
                <a:latin typeface="Consolas" panose="020B0609020204030204" pitchFamily="49" charset="0"/>
              </a:rPr>
              <a:t>NOT NULL</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3   </a:t>
            </a:r>
            <a:r>
              <a:rPr lang="en-US" altLang="en-US" sz="3600" dirty="0">
                <a:solidFill>
                  <a:srgbClr val="183691"/>
                </a:solidFill>
                <a:latin typeface="Consolas" panose="020B0609020204030204" pitchFamily="49" charset="0"/>
              </a:rPr>
              <a:t>title</a:t>
            </a:r>
            <a:r>
              <a:rPr lang="en-US" altLang="en-US" sz="3600" dirty="0">
                <a:solidFill>
                  <a:srgbClr val="000000"/>
                </a:solidFill>
                <a:latin typeface="Consolas" panose="020B0609020204030204" pitchFamily="49" charset="0"/>
              </a:rPr>
              <a:t> </a:t>
            </a:r>
            <a:r>
              <a:rPr lang="en-US" altLang="en-US" sz="3600" dirty="0">
                <a:solidFill>
                  <a:srgbClr val="0086B3"/>
                </a:solidFill>
                <a:latin typeface="Consolas" panose="020B0609020204030204" pitchFamily="49" charset="0"/>
              </a:rPr>
              <a:t>VARCHAR(6)</a:t>
            </a:r>
            <a:r>
              <a:rPr lang="en-US" altLang="en-US" sz="3600" dirty="0">
                <a:solidFill>
                  <a:srgbClr val="000000"/>
                </a:solidFill>
                <a:latin typeface="Consolas" panose="020B0609020204030204" pitchFamily="49" charset="0"/>
              </a:rPr>
              <a:t> </a:t>
            </a:r>
            <a:r>
              <a:rPr lang="en-US" altLang="en-US" sz="3600" dirty="0">
                <a:solidFill>
                  <a:srgbClr val="A71D5D"/>
                </a:solidFill>
                <a:latin typeface="Consolas" panose="020B0609020204030204" pitchFamily="49" charset="0"/>
              </a:rPr>
              <a:t>NOT NULL</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4   </a:t>
            </a:r>
            <a:r>
              <a:rPr lang="en-US" altLang="en-US" sz="3600" dirty="0" err="1">
                <a:solidFill>
                  <a:srgbClr val="183691"/>
                </a:solidFill>
                <a:latin typeface="Consolas" panose="020B0609020204030204" pitchFamily="49" charset="0"/>
              </a:rPr>
              <a:t>lastName</a:t>
            </a:r>
            <a:r>
              <a:rPr lang="en-US" altLang="en-US" sz="3600" dirty="0">
                <a:solidFill>
                  <a:srgbClr val="000000"/>
                </a:solidFill>
                <a:latin typeface="Consolas" panose="020B0609020204030204" pitchFamily="49" charset="0"/>
              </a:rPr>
              <a:t> </a:t>
            </a:r>
            <a:r>
              <a:rPr lang="en-US" altLang="en-US" sz="3600" dirty="0">
                <a:solidFill>
                  <a:srgbClr val="0086B3"/>
                </a:solidFill>
                <a:latin typeface="Consolas" panose="020B0609020204030204" pitchFamily="49" charset="0"/>
              </a:rPr>
              <a:t>VARCHAR(30)</a:t>
            </a:r>
            <a:r>
              <a:rPr lang="en-US" altLang="en-US" sz="3600" dirty="0">
                <a:solidFill>
                  <a:srgbClr val="000000"/>
                </a:solidFill>
                <a:latin typeface="Consolas" panose="020B0609020204030204" pitchFamily="49" charset="0"/>
              </a:rPr>
              <a:t> </a:t>
            </a:r>
            <a:r>
              <a:rPr lang="en-US" altLang="en-US" sz="3600" dirty="0">
                <a:solidFill>
                  <a:srgbClr val="A71D5D"/>
                </a:solidFill>
                <a:latin typeface="Consolas" panose="020B0609020204030204" pitchFamily="49" charset="0"/>
              </a:rPr>
              <a:t>NOT NULL</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ts val="1200"/>
              </a:spcAft>
              <a:buNone/>
            </a:pPr>
            <a:r>
              <a:rPr lang="en-US" altLang="en-US" sz="3600" dirty="0">
                <a:solidFill>
                  <a:srgbClr val="B2B2B2"/>
                </a:solidFill>
                <a:latin typeface="Consolas" panose="020B0609020204030204" pitchFamily="49" charset="0"/>
              </a:rPr>
              <a:t>5   </a:t>
            </a:r>
            <a:r>
              <a:rPr lang="en-US" altLang="en-US" sz="3600" dirty="0">
                <a:solidFill>
                  <a:srgbClr val="183691"/>
                </a:solidFill>
                <a:latin typeface="Consolas" panose="020B0609020204030204" pitchFamily="49" charset="0"/>
              </a:rPr>
              <a:t>role</a:t>
            </a:r>
            <a:r>
              <a:rPr lang="en-US" altLang="en-US" sz="3600" dirty="0">
                <a:solidFill>
                  <a:srgbClr val="000000"/>
                </a:solidFill>
                <a:latin typeface="Consolas" panose="020B0609020204030204" pitchFamily="49" charset="0"/>
              </a:rPr>
              <a:t> </a:t>
            </a:r>
            <a:r>
              <a:rPr lang="en-US" altLang="en-US" sz="3600" dirty="0">
                <a:solidFill>
                  <a:srgbClr val="0086B3"/>
                </a:solidFill>
                <a:latin typeface="Consolas" panose="020B0609020204030204" pitchFamily="49" charset="0"/>
              </a:rPr>
              <a:t>VARCHAR(15)</a:t>
            </a:r>
            <a:r>
              <a:rPr lang="en-US" altLang="en-US" sz="3600" dirty="0">
                <a:solidFill>
                  <a:srgbClr val="000000"/>
                </a:solidFill>
                <a:latin typeface="Consolas" panose="020B0609020204030204" pitchFamily="49" charset="0"/>
              </a:rPr>
              <a:t> </a:t>
            </a:r>
            <a:r>
              <a:rPr lang="en-US" altLang="en-US" sz="3600" dirty="0">
                <a:solidFill>
                  <a:srgbClr val="A71D5D"/>
                </a:solidFill>
                <a:latin typeface="Consolas" panose="020B0609020204030204" pitchFamily="49" charset="0"/>
              </a:rPr>
              <a:t>NOT NULL</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6   </a:t>
            </a:r>
            <a:r>
              <a:rPr lang="en-US" altLang="en-US" sz="3600" dirty="0">
                <a:solidFill>
                  <a:srgbClr val="A71D5D"/>
                </a:solidFill>
                <a:latin typeface="Consolas" panose="020B0609020204030204" pitchFamily="49" charset="0"/>
              </a:rPr>
              <a:t>PRIMARY KEY</a:t>
            </a:r>
            <a:r>
              <a:rPr lang="en-US" altLang="en-US" sz="3600" dirty="0">
                <a:solidFill>
                  <a:srgbClr val="000000"/>
                </a:solidFill>
                <a:latin typeface="Consolas" panose="020B0609020204030204" pitchFamily="49" charset="0"/>
              </a:rPr>
              <a:t>(</a:t>
            </a:r>
            <a:r>
              <a:rPr lang="en-US" altLang="en-US" sz="3600" dirty="0" err="1">
                <a:solidFill>
                  <a:srgbClr val="183691"/>
                </a:solidFill>
                <a:latin typeface="Consolas" panose="020B0609020204030204" pitchFamily="49" charset="0"/>
              </a:rPr>
              <a:t>staffID</a:t>
            </a:r>
            <a:r>
              <a:rPr lang="en-US" altLang="en-US" sz="36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7 </a:t>
            </a:r>
            <a:r>
              <a:rPr lang="en-US" altLang="en-US" sz="3600" dirty="0">
                <a:solidFill>
                  <a:srgbClr val="000000"/>
                </a:solidFill>
                <a:latin typeface="Consolas" panose="020B0609020204030204" pitchFamily="49" charset="0"/>
              </a:rPr>
              <a:t>);</a:t>
            </a:r>
            <a:endParaRPr lang="en-US" altLang="en-US" sz="4800" dirty="0">
              <a:latin typeface="Arial" panose="020B0604020202020204" pitchFamily="34" charset="0"/>
            </a:endParaRPr>
          </a:p>
        </p:txBody>
      </p:sp>
    </p:spTree>
    <p:extLst>
      <p:ext uri="{BB962C8B-B14F-4D97-AF65-F5344CB8AC3E}">
        <p14:creationId xmlns:p14="http://schemas.microsoft.com/office/powerpoint/2010/main" val="1476730994"/>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Modify Table: 3 Copy Data</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1 </a:t>
            </a:r>
            <a:r>
              <a:rPr lang="en-US" altLang="en-US" sz="3600" dirty="0">
                <a:solidFill>
                  <a:srgbClr val="A71D5D"/>
                </a:solidFill>
                <a:latin typeface="Consolas" panose="020B0609020204030204" pitchFamily="49" charset="0"/>
              </a:rPr>
              <a:t>INSERT INTO</a:t>
            </a:r>
            <a:r>
              <a:rPr lang="en-US" altLang="en-US" sz="3600" dirty="0">
                <a:solidFill>
                  <a:srgbClr val="000000"/>
                </a:solidFill>
                <a:latin typeface="Consolas" panose="020B0609020204030204" pitchFamily="49" charset="0"/>
              </a:rPr>
              <a:t> </a:t>
            </a:r>
            <a:r>
              <a:rPr lang="en-US" altLang="en-US" sz="3600" dirty="0" err="1">
                <a:solidFill>
                  <a:srgbClr val="000000"/>
                </a:solidFill>
                <a:latin typeface="Consolas" panose="020B0609020204030204" pitchFamily="49" charset="0"/>
              </a:rPr>
              <a:t>newStaff</a:t>
            </a:r>
            <a:endParaRPr lang="en-US" altLang="en-US" sz="36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2   </a:t>
            </a:r>
            <a:r>
              <a:rPr lang="en-US" altLang="en-US" sz="3600" dirty="0">
                <a:solidFill>
                  <a:srgbClr val="A71D5D"/>
                </a:solidFill>
                <a:latin typeface="Consolas" panose="020B0609020204030204" pitchFamily="49" charset="0"/>
              </a:rPr>
              <a:t>SELECT</a:t>
            </a:r>
            <a:r>
              <a:rPr lang="en-US" altLang="en-US" sz="36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3     </a:t>
            </a:r>
            <a:r>
              <a:rPr lang="en-US" altLang="en-US" sz="3600" dirty="0">
                <a:solidFill>
                  <a:srgbClr val="A71D5D"/>
                </a:solidFill>
                <a:latin typeface="Consolas" panose="020B0609020204030204" pitchFamily="49" charset="0"/>
              </a:rPr>
              <a:t>FROM</a:t>
            </a:r>
            <a:r>
              <a:rPr lang="en-US" altLang="en-US" sz="3600" dirty="0">
                <a:solidFill>
                  <a:srgbClr val="000000"/>
                </a:solidFill>
                <a:latin typeface="Consolas" panose="020B0609020204030204" pitchFamily="49" charset="0"/>
              </a:rPr>
              <a:t> staff;</a:t>
            </a:r>
            <a:endParaRPr lang="en-US" altLang="en-US" sz="4800" dirty="0">
              <a:latin typeface="Arial" panose="020B0604020202020204" pitchFamily="34" charset="0"/>
            </a:endParaRPr>
          </a:p>
        </p:txBody>
      </p:sp>
      <p:sp>
        <p:nvSpPr>
          <p:cNvPr id="6" name="Callout: Bent Line with No Border 5">
            <a:extLst>
              <a:ext uri="{FF2B5EF4-FFF2-40B4-BE49-F238E27FC236}">
                <a16:creationId xmlns:a16="http://schemas.microsoft.com/office/drawing/2014/main" id="{DEC21E10-375A-0A9D-2F84-A3F122B207B0}"/>
              </a:ext>
            </a:extLst>
          </p:cNvPr>
          <p:cNvSpPr/>
          <p:nvPr/>
        </p:nvSpPr>
        <p:spPr>
          <a:xfrm>
            <a:off x="6660853" y="2572764"/>
            <a:ext cx="1716036" cy="718344"/>
          </a:xfrm>
          <a:prstGeom prst="callout2">
            <a:avLst>
              <a:gd name="adj1" fmla="val 49990"/>
              <a:gd name="adj2" fmla="val -52"/>
              <a:gd name="adj3" fmla="val 49905"/>
              <a:gd name="adj4" fmla="val -22425"/>
              <a:gd name="adj5" fmla="val -22628"/>
              <a:gd name="adj6" fmla="val -4762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New table</a:t>
            </a:r>
          </a:p>
        </p:txBody>
      </p:sp>
      <p:sp>
        <p:nvSpPr>
          <p:cNvPr id="7" name="Callout: Bent Line with No Border 6">
            <a:extLst>
              <a:ext uri="{FF2B5EF4-FFF2-40B4-BE49-F238E27FC236}">
                <a16:creationId xmlns:a16="http://schemas.microsoft.com/office/drawing/2014/main" id="{E6763BB3-8CAE-4CE6-9117-2B2F414BC5CC}"/>
              </a:ext>
            </a:extLst>
          </p:cNvPr>
          <p:cNvSpPr/>
          <p:nvPr/>
        </p:nvSpPr>
        <p:spPr>
          <a:xfrm>
            <a:off x="5237982" y="3734715"/>
            <a:ext cx="1716036" cy="718344"/>
          </a:xfrm>
          <a:prstGeom prst="callout2">
            <a:avLst>
              <a:gd name="adj1" fmla="val 49990"/>
              <a:gd name="adj2" fmla="val -52"/>
              <a:gd name="adj3" fmla="val 49905"/>
              <a:gd name="adj4" fmla="val -22425"/>
              <a:gd name="adj5" fmla="val -22628"/>
              <a:gd name="adj6" fmla="val -4762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Old table</a:t>
            </a:r>
          </a:p>
        </p:txBody>
      </p:sp>
    </p:spTree>
    <p:extLst>
      <p:ext uri="{BB962C8B-B14F-4D97-AF65-F5344CB8AC3E}">
        <p14:creationId xmlns:p14="http://schemas.microsoft.com/office/powerpoint/2010/main" val="3632479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Lst>
  </p:timing>
</p:sld>
</file>

<file path=ppt/slides/slide2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Modify Table: 3 Copy Data</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1 </a:t>
            </a:r>
            <a:r>
              <a:rPr lang="en-US" altLang="en-US" sz="3600" dirty="0">
                <a:solidFill>
                  <a:srgbClr val="A71D5D"/>
                </a:solidFill>
                <a:latin typeface="Consolas" panose="020B0609020204030204" pitchFamily="49" charset="0"/>
              </a:rPr>
              <a:t>INSERT INTO</a:t>
            </a:r>
            <a:r>
              <a:rPr lang="en-US" altLang="en-US" sz="3600" dirty="0">
                <a:solidFill>
                  <a:srgbClr val="000000"/>
                </a:solidFill>
                <a:latin typeface="Consolas" panose="020B0609020204030204" pitchFamily="49" charset="0"/>
              </a:rPr>
              <a:t> </a:t>
            </a:r>
            <a:r>
              <a:rPr lang="en-US" altLang="en-US" sz="3600" dirty="0" err="1">
                <a:solidFill>
                  <a:srgbClr val="000000"/>
                </a:solidFill>
                <a:latin typeface="Consolas" panose="020B0609020204030204" pitchFamily="49" charset="0"/>
              </a:rPr>
              <a:t>newStaff</a:t>
            </a:r>
            <a:endParaRPr lang="en-US" altLang="en-US" sz="36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2   </a:t>
            </a:r>
            <a:r>
              <a:rPr lang="en-US" altLang="en-US" sz="3600" dirty="0">
                <a:solidFill>
                  <a:srgbClr val="A71D5D"/>
                </a:solidFill>
                <a:latin typeface="Consolas" panose="020B0609020204030204" pitchFamily="49" charset="0"/>
              </a:rPr>
              <a:t>SELECT</a:t>
            </a:r>
            <a:r>
              <a:rPr lang="en-US" altLang="en-US" sz="36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3     </a:t>
            </a:r>
            <a:r>
              <a:rPr lang="en-US" altLang="en-US" sz="3600" dirty="0">
                <a:solidFill>
                  <a:srgbClr val="A71D5D"/>
                </a:solidFill>
                <a:latin typeface="Consolas" panose="020B0609020204030204" pitchFamily="49" charset="0"/>
              </a:rPr>
              <a:t>FROM</a:t>
            </a:r>
            <a:r>
              <a:rPr lang="en-US" altLang="en-US" sz="3600" dirty="0">
                <a:solidFill>
                  <a:srgbClr val="000000"/>
                </a:solidFill>
                <a:latin typeface="Consolas" panose="020B0609020204030204" pitchFamily="49" charset="0"/>
              </a:rPr>
              <a:t> staff;</a:t>
            </a:r>
            <a:endParaRPr lang="en-US" altLang="en-US" sz="4800" dirty="0">
              <a:latin typeface="Arial" panose="020B0604020202020204" pitchFamily="34" charset="0"/>
            </a:endParaRPr>
          </a:p>
        </p:txBody>
      </p:sp>
    </p:spTree>
    <p:extLst>
      <p:ext uri="{BB962C8B-B14F-4D97-AF65-F5344CB8AC3E}">
        <p14:creationId xmlns:p14="http://schemas.microsoft.com/office/powerpoint/2010/main" val="3068552250"/>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Modify Table: 4 Check Data</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newStaff</a:t>
            </a:r>
            <a:r>
              <a:rPr lang="en-US" altLang="en-US" sz="44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6" name="Callout: Bent Line with No Border 5">
            <a:extLst>
              <a:ext uri="{FF2B5EF4-FFF2-40B4-BE49-F238E27FC236}">
                <a16:creationId xmlns:a16="http://schemas.microsoft.com/office/drawing/2014/main" id="{58A7E803-997A-41BB-B0A2-D305F06E3754}"/>
              </a:ext>
            </a:extLst>
          </p:cNvPr>
          <p:cNvSpPr/>
          <p:nvPr/>
        </p:nvSpPr>
        <p:spPr>
          <a:xfrm>
            <a:off x="2124365" y="3619965"/>
            <a:ext cx="1886610" cy="862642"/>
          </a:xfrm>
          <a:prstGeom prst="callout2">
            <a:avLst>
              <a:gd name="adj1" fmla="val 48750"/>
              <a:gd name="adj2" fmla="val 104056"/>
              <a:gd name="adj3" fmla="val 49417"/>
              <a:gd name="adj4" fmla="val 134218"/>
              <a:gd name="adj5" fmla="val -40415"/>
              <a:gd name="adj6" fmla="val 148618"/>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New name</a:t>
            </a:r>
          </a:p>
        </p:txBody>
      </p:sp>
    </p:spTree>
    <p:extLst>
      <p:ext uri="{BB962C8B-B14F-4D97-AF65-F5344CB8AC3E}">
        <p14:creationId xmlns:p14="http://schemas.microsoft.com/office/powerpoint/2010/main" val="340979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Lst>
  </p:timing>
</p:sld>
</file>

<file path=ppt/slides/slide2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Modify Table: 4 Check Data</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1 </a:t>
            </a:r>
            <a:r>
              <a:rPr lang="en-US" altLang="en-US" sz="4400" dirty="0">
                <a:solidFill>
                  <a:srgbClr val="A71D5D"/>
                </a:solidFill>
                <a:latin typeface="Consolas" panose="020B0609020204030204" pitchFamily="49" charset="0"/>
              </a:rPr>
              <a:t>SELECT</a:t>
            </a:r>
            <a:r>
              <a:rPr lang="en-US" altLang="en-US" sz="44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4400" dirty="0">
                <a:solidFill>
                  <a:srgbClr val="B2B2B2"/>
                </a:solidFill>
                <a:latin typeface="Consolas" panose="020B0609020204030204" pitchFamily="49" charset="0"/>
              </a:rPr>
              <a:t>2   </a:t>
            </a:r>
            <a:r>
              <a:rPr lang="en-US" altLang="en-US" sz="4400" dirty="0">
                <a:solidFill>
                  <a:srgbClr val="A71D5D"/>
                </a:solidFill>
                <a:latin typeface="Consolas" panose="020B0609020204030204" pitchFamily="49" charset="0"/>
              </a:rPr>
              <a:t>FROM</a:t>
            </a:r>
            <a:r>
              <a:rPr lang="en-US" altLang="en-US" sz="4400" dirty="0">
                <a:solidFill>
                  <a:srgbClr val="000000"/>
                </a:solidFill>
                <a:latin typeface="Consolas" panose="020B0609020204030204" pitchFamily="49" charset="0"/>
              </a:rPr>
              <a:t> </a:t>
            </a:r>
            <a:r>
              <a:rPr lang="en-US" altLang="en-US" sz="4400" dirty="0" err="1">
                <a:solidFill>
                  <a:srgbClr val="000000"/>
                </a:solidFill>
                <a:latin typeface="Consolas" panose="020B0609020204030204" pitchFamily="49" charset="0"/>
              </a:rPr>
              <a:t>newStaff</a:t>
            </a:r>
            <a:r>
              <a:rPr lang="en-US" altLang="en-US" sz="44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775382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Modify Table: 5 Referential integrity: Off</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1 </a:t>
            </a:r>
            <a:r>
              <a:rPr lang="en-US" altLang="en-US" sz="3600" dirty="0">
                <a:solidFill>
                  <a:srgbClr val="000000"/>
                </a:solidFill>
                <a:latin typeface="Consolas" panose="020B0609020204030204" pitchFamily="49" charset="0"/>
              </a:rPr>
              <a:t>PRAGMA </a:t>
            </a:r>
            <a:r>
              <a:rPr lang="en-US" altLang="en-US" sz="3600" dirty="0" err="1">
                <a:solidFill>
                  <a:srgbClr val="000000"/>
                </a:solidFill>
                <a:latin typeface="Consolas" panose="020B0609020204030204" pitchFamily="49" charset="0"/>
              </a:rPr>
              <a:t>foreign_keys</a:t>
            </a:r>
            <a:r>
              <a:rPr lang="en-US" altLang="en-US" sz="3600" dirty="0">
                <a:solidFill>
                  <a:srgbClr val="000000"/>
                </a:solidFill>
                <a:latin typeface="Consolas" panose="020B0609020204030204" pitchFamily="49" charset="0"/>
              </a:rPr>
              <a:t> = </a:t>
            </a:r>
            <a:r>
              <a:rPr lang="en-US" altLang="en-US" sz="3600" dirty="0">
                <a:solidFill>
                  <a:srgbClr val="A71D5D"/>
                </a:solidFill>
                <a:latin typeface="Consolas" panose="020B0609020204030204" pitchFamily="49" charset="0"/>
              </a:rPr>
              <a:t>off</a:t>
            </a:r>
            <a:r>
              <a:rPr lang="en-US" altLang="en-US" sz="3600" dirty="0">
                <a:solidFill>
                  <a:srgbClr val="000000"/>
                </a:solidFill>
                <a:latin typeface="Consolas" panose="020B0609020204030204" pitchFamily="49" charset="0"/>
              </a:rPr>
              <a:t>;</a:t>
            </a:r>
            <a:endParaRPr lang="en-US" altLang="en-US" sz="4800" dirty="0">
              <a:latin typeface="Arial" panose="020B0604020202020204" pitchFamily="34" charset="0"/>
            </a:endParaRPr>
          </a:p>
        </p:txBody>
      </p:sp>
      <p:sp>
        <p:nvSpPr>
          <p:cNvPr id="4" name="Callout: Bent Line with No Border 3">
            <a:extLst>
              <a:ext uri="{FF2B5EF4-FFF2-40B4-BE49-F238E27FC236}">
                <a16:creationId xmlns:a16="http://schemas.microsoft.com/office/drawing/2014/main" id="{B72B031F-C16B-44DD-BAE2-1591BA67FDEA}"/>
              </a:ext>
            </a:extLst>
          </p:cNvPr>
          <p:cNvSpPr/>
          <p:nvPr/>
        </p:nvSpPr>
        <p:spPr>
          <a:xfrm>
            <a:off x="2985637" y="3033316"/>
            <a:ext cx="2816447" cy="718344"/>
          </a:xfrm>
          <a:prstGeom prst="callout2">
            <a:avLst>
              <a:gd name="adj1" fmla="val 49990"/>
              <a:gd name="adj2" fmla="val -52"/>
              <a:gd name="adj3" fmla="val 49905"/>
              <a:gd name="adj4" fmla="val -22425"/>
              <a:gd name="adj5" fmla="val -83243"/>
              <a:gd name="adj6" fmla="val -27129"/>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Specific to SQLite</a:t>
            </a:r>
          </a:p>
        </p:txBody>
      </p:sp>
    </p:spTree>
    <p:extLst>
      <p:ext uri="{BB962C8B-B14F-4D97-AF65-F5344CB8AC3E}">
        <p14:creationId xmlns:p14="http://schemas.microsoft.com/office/powerpoint/2010/main" val="1216612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2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Modify Table: 5 Referential integrity: Off</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1 </a:t>
            </a:r>
            <a:r>
              <a:rPr lang="en-US" altLang="en-US" sz="3600" dirty="0">
                <a:solidFill>
                  <a:srgbClr val="000000"/>
                </a:solidFill>
                <a:latin typeface="Consolas" panose="020B0609020204030204" pitchFamily="49" charset="0"/>
              </a:rPr>
              <a:t>PRAGMA </a:t>
            </a:r>
            <a:r>
              <a:rPr lang="en-US" altLang="en-US" sz="3600" dirty="0" err="1">
                <a:solidFill>
                  <a:srgbClr val="000000"/>
                </a:solidFill>
                <a:latin typeface="Consolas" panose="020B0609020204030204" pitchFamily="49" charset="0"/>
              </a:rPr>
              <a:t>foreign_keys</a:t>
            </a:r>
            <a:r>
              <a:rPr lang="en-US" altLang="en-US" sz="3600" dirty="0">
                <a:solidFill>
                  <a:srgbClr val="000000"/>
                </a:solidFill>
                <a:latin typeface="Consolas" panose="020B0609020204030204" pitchFamily="49" charset="0"/>
              </a:rPr>
              <a:t> =</a:t>
            </a:r>
            <a:endParaRPr lang="en-US" altLang="en-US" sz="4800" dirty="0">
              <a:latin typeface="Arial" panose="020B0604020202020204" pitchFamily="34" charset="0"/>
            </a:endParaRPr>
          </a:p>
        </p:txBody>
      </p:sp>
    </p:spTree>
    <p:extLst>
      <p:ext uri="{BB962C8B-B14F-4D97-AF65-F5344CB8AC3E}">
        <p14:creationId xmlns:p14="http://schemas.microsoft.com/office/powerpoint/2010/main" val="2439365964"/>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Modify Table: 6 Delete Old Table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1 </a:t>
            </a:r>
            <a:r>
              <a:rPr lang="en-US" altLang="en-US" sz="3600" dirty="0">
                <a:solidFill>
                  <a:srgbClr val="A71D5D"/>
                </a:solidFill>
                <a:latin typeface="Consolas" panose="020B0609020204030204" pitchFamily="49" charset="0"/>
              </a:rPr>
              <a:t>DROP TABLE</a:t>
            </a:r>
            <a:r>
              <a:rPr lang="en-US" altLang="en-US" sz="3600" dirty="0">
                <a:solidFill>
                  <a:srgbClr val="000000"/>
                </a:solidFill>
                <a:latin typeface="Consolas" panose="020B0609020204030204" pitchFamily="49" charset="0"/>
              </a:rPr>
              <a:t> staff;</a:t>
            </a:r>
            <a:endParaRPr lang="en-US" altLang="en-US" sz="4400" dirty="0">
              <a:latin typeface="Arial" panose="020B0604020202020204" pitchFamily="34" charset="0"/>
            </a:endParaRPr>
          </a:p>
        </p:txBody>
      </p:sp>
      <p:sp>
        <p:nvSpPr>
          <p:cNvPr id="7" name="Callout: Bent Line with No Border 6">
            <a:extLst>
              <a:ext uri="{FF2B5EF4-FFF2-40B4-BE49-F238E27FC236}">
                <a16:creationId xmlns:a16="http://schemas.microsoft.com/office/drawing/2014/main" id="{E6763BB3-8CAE-4CE6-9117-2B2F414BC5CC}"/>
              </a:ext>
            </a:extLst>
          </p:cNvPr>
          <p:cNvSpPr/>
          <p:nvPr/>
        </p:nvSpPr>
        <p:spPr>
          <a:xfrm>
            <a:off x="5772381" y="2637286"/>
            <a:ext cx="1716036" cy="718344"/>
          </a:xfrm>
          <a:prstGeom prst="callout2">
            <a:avLst>
              <a:gd name="adj1" fmla="val 49990"/>
              <a:gd name="adj2" fmla="val -52"/>
              <a:gd name="adj3" fmla="val 49905"/>
              <a:gd name="adj4" fmla="val -22425"/>
              <a:gd name="adj5" fmla="val -22628"/>
              <a:gd name="adj6" fmla="val -4762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Old table</a:t>
            </a:r>
          </a:p>
        </p:txBody>
      </p:sp>
    </p:spTree>
    <p:extLst>
      <p:ext uri="{BB962C8B-B14F-4D97-AF65-F5344CB8AC3E}">
        <p14:creationId xmlns:p14="http://schemas.microsoft.com/office/powerpoint/2010/main" val="3285537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2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Modify Table: 6 Delete Table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1 </a:t>
            </a:r>
            <a:r>
              <a:rPr lang="en-US" altLang="en-US" sz="3600" dirty="0">
                <a:solidFill>
                  <a:srgbClr val="A71D5D"/>
                </a:solidFill>
                <a:latin typeface="Consolas" panose="020B0609020204030204" pitchFamily="49" charset="0"/>
              </a:rPr>
              <a:t>DROP TABLE</a:t>
            </a:r>
            <a:r>
              <a:rPr lang="en-US" altLang="en-US" sz="3600" dirty="0">
                <a:solidFill>
                  <a:srgbClr val="000000"/>
                </a:solidFill>
                <a:latin typeface="Consolas" panose="020B0609020204030204" pitchFamily="49" charset="0"/>
              </a:rPr>
              <a:t> staff;</a:t>
            </a:r>
            <a:endParaRPr lang="en-US" altLang="en-US" sz="4400" dirty="0">
              <a:latin typeface="Arial" panose="020B0604020202020204" pitchFamily="34" charset="0"/>
            </a:endParaRPr>
          </a:p>
        </p:txBody>
      </p:sp>
    </p:spTree>
    <p:extLst>
      <p:ext uri="{BB962C8B-B14F-4D97-AF65-F5344CB8AC3E}">
        <p14:creationId xmlns:p14="http://schemas.microsoft.com/office/powerpoint/2010/main" val="537458580"/>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Modify Table: 7 Rename New Table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1 </a:t>
            </a:r>
            <a:r>
              <a:rPr lang="en-US" altLang="en-US" sz="3600" dirty="0">
                <a:solidFill>
                  <a:srgbClr val="A71D5D"/>
                </a:solidFill>
                <a:latin typeface="Consolas" panose="020B0609020204030204" pitchFamily="49" charset="0"/>
              </a:rPr>
              <a:t>ALTER TABLE</a:t>
            </a:r>
            <a:r>
              <a:rPr lang="en-US" altLang="en-US" sz="3600" dirty="0">
                <a:solidFill>
                  <a:srgbClr val="000000"/>
                </a:solidFill>
                <a:latin typeface="Consolas" panose="020B0609020204030204" pitchFamily="49" charset="0"/>
              </a:rPr>
              <a:t> </a:t>
            </a:r>
            <a:r>
              <a:rPr lang="en-US" altLang="en-US" sz="3600" dirty="0" err="1">
                <a:solidFill>
                  <a:srgbClr val="000000"/>
                </a:solidFill>
                <a:latin typeface="Consolas" panose="020B0609020204030204" pitchFamily="49" charset="0"/>
              </a:rPr>
              <a:t>newStaff</a:t>
            </a:r>
            <a:endParaRPr lang="en-US" altLang="en-US" sz="36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2   </a:t>
            </a:r>
            <a:r>
              <a:rPr lang="en-US" altLang="en-US" sz="3600" dirty="0">
                <a:solidFill>
                  <a:srgbClr val="A71D5D"/>
                </a:solidFill>
                <a:latin typeface="Consolas" panose="020B0609020204030204" pitchFamily="49" charset="0"/>
              </a:rPr>
              <a:t>RENAME TO</a:t>
            </a:r>
            <a:r>
              <a:rPr lang="en-US" altLang="en-US" sz="3600" dirty="0">
                <a:solidFill>
                  <a:srgbClr val="000000"/>
                </a:solidFill>
                <a:latin typeface="Consolas" panose="020B0609020204030204" pitchFamily="49" charset="0"/>
              </a:rPr>
              <a:t> staff;</a:t>
            </a:r>
            <a:endParaRPr lang="en-US" altLang="en-US" sz="4400" dirty="0">
              <a:latin typeface="Arial" panose="020B0604020202020204" pitchFamily="34" charset="0"/>
            </a:endParaRPr>
          </a:p>
        </p:txBody>
      </p:sp>
      <p:sp>
        <p:nvSpPr>
          <p:cNvPr id="6" name="Callout: Bent Line with No Border 5">
            <a:extLst>
              <a:ext uri="{FF2B5EF4-FFF2-40B4-BE49-F238E27FC236}">
                <a16:creationId xmlns:a16="http://schemas.microsoft.com/office/drawing/2014/main" id="{DEC21E10-375A-0A9D-2F84-A3F122B207B0}"/>
              </a:ext>
            </a:extLst>
          </p:cNvPr>
          <p:cNvSpPr/>
          <p:nvPr/>
        </p:nvSpPr>
        <p:spPr>
          <a:xfrm>
            <a:off x="7308430" y="2447607"/>
            <a:ext cx="1716036" cy="718344"/>
          </a:xfrm>
          <a:prstGeom prst="callout2">
            <a:avLst>
              <a:gd name="adj1" fmla="val 49990"/>
              <a:gd name="adj2" fmla="val -52"/>
              <a:gd name="adj3" fmla="val 49905"/>
              <a:gd name="adj4" fmla="val -22425"/>
              <a:gd name="adj5" fmla="val -18819"/>
              <a:gd name="adj6" fmla="val -52250"/>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New table</a:t>
            </a:r>
          </a:p>
        </p:txBody>
      </p:sp>
      <p:sp>
        <p:nvSpPr>
          <p:cNvPr id="5" name="Callout: Bent Line with No Border 4">
            <a:extLst>
              <a:ext uri="{FF2B5EF4-FFF2-40B4-BE49-F238E27FC236}">
                <a16:creationId xmlns:a16="http://schemas.microsoft.com/office/drawing/2014/main" id="{FD072562-D618-0A67-D4FA-BB167CF06F47}"/>
              </a:ext>
            </a:extLst>
          </p:cNvPr>
          <p:cNvSpPr/>
          <p:nvPr/>
        </p:nvSpPr>
        <p:spPr>
          <a:xfrm flipH="1">
            <a:off x="2962339" y="3187467"/>
            <a:ext cx="1716036" cy="718344"/>
          </a:xfrm>
          <a:prstGeom prst="callout2">
            <a:avLst>
              <a:gd name="adj1" fmla="val 49990"/>
              <a:gd name="adj2" fmla="val -52"/>
              <a:gd name="adj3" fmla="val 49905"/>
              <a:gd name="adj4" fmla="val -22425"/>
              <a:gd name="adj5" fmla="val -36883"/>
              <a:gd name="adj6" fmla="val -22694"/>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Old table</a:t>
            </a:r>
          </a:p>
        </p:txBody>
      </p:sp>
    </p:spTree>
    <p:extLst>
      <p:ext uri="{BB962C8B-B14F-4D97-AF65-F5344CB8AC3E}">
        <p14:creationId xmlns:p14="http://schemas.microsoft.com/office/powerpoint/2010/main" val="1125596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1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5" grpId="0" animBg="1"/>
    </p:bldLst>
  </p:timing>
</p:sld>
</file>

<file path=ppt/slides/slide2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Modify Table: 7 Rename New Table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1 </a:t>
            </a:r>
            <a:r>
              <a:rPr lang="en-US" altLang="en-US" sz="3600" dirty="0">
                <a:solidFill>
                  <a:srgbClr val="A71D5D"/>
                </a:solidFill>
                <a:latin typeface="Consolas" panose="020B0609020204030204" pitchFamily="49" charset="0"/>
              </a:rPr>
              <a:t>ALTER TABLE</a:t>
            </a:r>
            <a:r>
              <a:rPr lang="en-US" altLang="en-US" sz="3600" dirty="0">
                <a:solidFill>
                  <a:srgbClr val="000000"/>
                </a:solidFill>
                <a:latin typeface="Consolas" panose="020B0609020204030204" pitchFamily="49" charset="0"/>
              </a:rPr>
              <a:t> </a:t>
            </a:r>
            <a:r>
              <a:rPr lang="en-US" altLang="en-US" sz="3600" dirty="0" err="1">
                <a:solidFill>
                  <a:srgbClr val="000000"/>
                </a:solidFill>
                <a:latin typeface="Consolas" panose="020B0609020204030204" pitchFamily="49" charset="0"/>
              </a:rPr>
              <a:t>newStaff</a:t>
            </a:r>
            <a:endParaRPr lang="en-US" altLang="en-US" sz="36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3600">
                <a:solidFill>
                  <a:srgbClr val="B2B2B2"/>
                </a:solidFill>
                <a:latin typeface="Consolas" panose="020B0609020204030204" pitchFamily="49" charset="0"/>
              </a:rPr>
              <a:t>2  </a:t>
            </a:r>
            <a:r>
              <a:rPr lang="en-US" altLang="en-US" sz="3600">
                <a:solidFill>
                  <a:srgbClr val="000000"/>
                </a:solidFill>
                <a:latin typeface="Consolas" panose="020B0609020204030204" pitchFamily="49" charset="0"/>
              </a:rPr>
              <a:t> </a:t>
            </a:r>
            <a:r>
              <a:rPr lang="en-US" altLang="en-US" sz="3600" dirty="0">
                <a:solidFill>
                  <a:srgbClr val="A71D5D"/>
                </a:solidFill>
                <a:latin typeface="Consolas" panose="020B0609020204030204" pitchFamily="49" charset="0"/>
              </a:rPr>
              <a:t>RENAME TO</a:t>
            </a:r>
            <a:r>
              <a:rPr lang="en-US" altLang="en-US" sz="3600" dirty="0">
                <a:solidFill>
                  <a:srgbClr val="000000"/>
                </a:solidFill>
                <a:latin typeface="Consolas" panose="020B0609020204030204" pitchFamily="49" charset="0"/>
              </a:rPr>
              <a:t> staff;</a:t>
            </a:r>
            <a:endParaRPr lang="en-US" altLang="en-US" sz="4400" dirty="0">
              <a:latin typeface="Arial" panose="020B0604020202020204" pitchFamily="34" charset="0"/>
            </a:endParaRPr>
          </a:p>
        </p:txBody>
      </p:sp>
    </p:spTree>
    <p:extLst>
      <p:ext uri="{BB962C8B-B14F-4D97-AF65-F5344CB8AC3E}">
        <p14:creationId xmlns:p14="http://schemas.microsoft.com/office/powerpoint/2010/main" val="954236486"/>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Modify Table: 8 Referential integrity: On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1 </a:t>
            </a:r>
            <a:r>
              <a:rPr lang="en-US" altLang="en-US" sz="3600" dirty="0">
                <a:solidFill>
                  <a:srgbClr val="000000"/>
                </a:solidFill>
                <a:latin typeface="Consolas" panose="020B0609020204030204" pitchFamily="49" charset="0"/>
              </a:rPr>
              <a:t>PRAGMA </a:t>
            </a:r>
            <a:r>
              <a:rPr lang="en-US" altLang="en-US" sz="3600" dirty="0" err="1">
                <a:solidFill>
                  <a:srgbClr val="000000"/>
                </a:solidFill>
                <a:latin typeface="Consolas" panose="020B0609020204030204" pitchFamily="49" charset="0"/>
              </a:rPr>
              <a:t>foreign_keys</a:t>
            </a:r>
            <a:r>
              <a:rPr lang="en-US" altLang="en-US" sz="3600" dirty="0">
                <a:solidFill>
                  <a:srgbClr val="000000"/>
                </a:solidFill>
                <a:latin typeface="Consolas" panose="020B0609020204030204" pitchFamily="49" charset="0"/>
              </a:rPr>
              <a:t> = </a:t>
            </a:r>
            <a:r>
              <a:rPr lang="en-US" altLang="en-US" sz="3600" dirty="0">
                <a:solidFill>
                  <a:srgbClr val="A71D5D"/>
                </a:solidFill>
                <a:latin typeface="Consolas" panose="020B0609020204030204" pitchFamily="49" charset="0"/>
              </a:rPr>
              <a:t>on</a:t>
            </a:r>
            <a:r>
              <a:rPr lang="en-US" altLang="en-US" sz="3600" dirty="0">
                <a:solidFill>
                  <a:srgbClr val="000000"/>
                </a:solidFill>
                <a:latin typeface="Consolas" panose="020B0609020204030204" pitchFamily="49" charset="0"/>
              </a:rPr>
              <a:t>;</a:t>
            </a:r>
            <a:endParaRPr lang="en-US" altLang="en-US" sz="4800" dirty="0">
              <a:latin typeface="Arial" panose="020B0604020202020204" pitchFamily="34" charset="0"/>
            </a:endParaRPr>
          </a:p>
        </p:txBody>
      </p:sp>
    </p:spTree>
    <p:extLst>
      <p:ext uri="{BB962C8B-B14F-4D97-AF65-F5344CB8AC3E}">
        <p14:creationId xmlns:p14="http://schemas.microsoft.com/office/powerpoint/2010/main" val="1140632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Modify Table: 8 Referential integrity: On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3600" dirty="0">
                <a:solidFill>
                  <a:srgbClr val="B2B2B2"/>
                </a:solidFill>
                <a:latin typeface="Consolas" panose="020B0609020204030204" pitchFamily="49" charset="0"/>
              </a:rPr>
              <a:t>1 </a:t>
            </a:r>
            <a:r>
              <a:rPr lang="en-US" altLang="en-US" sz="3600" dirty="0">
                <a:solidFill>
                  <a:srgbClr val="000000"/>
                </a:solidFill>
                <a:latin typeface="Consolas" panose="020B0609020204030204" pitchFamily="49" charset="0"/>
              </a:rPr>
              <a:t>PRAGMA </a:t>
            </a:r>
            <a:r>
              <a:rPr lang="en-US" altLang="en-US" sz="3600" dirty="0" err="1">
                <a:solidFill>
                  <a:srgbClr val="000000"/>
                </a:solidFill>
                <a:latin typeface="Consolas" panose="020B0609020204030204" pitchFamily="49" charset="0"/>
              </a:rPr>
              <a:t>foreign_keys</a:t>
            </a:r>
            <a:r>
              <a:rPr lang="en-US" altLang="en-US" sz="3600" dirty="0">
                <a:solidFill>
                  <a:srgbClr val="000000"/>
                </a:solidFill>
                <a:latin typeface="Consolas" panose="020B0609020204030204" pitchFamily="49" charset="0"/>
              </a:rPr>
              <a:t> =</a:t>
            </a:r>
            <a:endParaRPr lang="en-US" altLang="en-US" sz="4800" dirty="0">
              <a:latin typeface="Arial" panose="020B0604020202020204" pitchFamily="34" charset="0"/>
            </a:endParaRPr>
          </a:p>
        </p:txBody>
      </p:sp>
    </p:spTree>
    <p:extLst>
      <p:ext uri="{BB962C8B-B14F-4D97-AF65-F5344CB8AC3E}">
        <p14:creationId xmlns:p14="http://schemas.microsoft.com/office/powerpoint/2010/main" val="3916622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Collection of Information</a:t>
            </a:r>
          </a:p>
        </p:txBody>
      </p:sp>
      <p:sp>
        <p:nvSpPr>
          <p:cNvPr id="3" name="Content Placeholder 2"/>
          <p:cNvSpPr>
            <a:spLocks noGrp="1"/>
          </p:cNvSpPr>
          <p:nvPr>
            <p:ph idx="1"/>
          </p:nvPr>
        </p:nvSpPr>
        <p:spPr>
          <a:xfrm>
            <a:off x="2495600" y="1535952"/>
            <a:ext cx="3749040" cy="3840540"/>
          </a:xfrm>
        </p:spPr>
        <p:txBody>
          <a:bodyPr>
            <a:normAutofit/>
          </a:bodyPr>
          <a:lstStyle/>
          <a:p>
            <a:r>
              <a:rPr lang="en-GB" sz="2400" dirty="0"/>
              <a:t>Physical Database</a:t>
            </a:r>
          </a:p>
          <a:p>
            <a:pPr>
              <a:buFontTx/>
              <a:buChar char="-"/>
            </a:pPr>
            <a:r>
              <a:rPr lang="en-GB" sz="2400" dirty="0"/>
              <a:t>Searching can be slow</a:t>
            </a:r>
          </a:p>
          <a:p>
            <a:pPr>
              <a:buFontTx/>
              <a:buChar char="-"/>
            </a:pPr>
            <a:r>
              <a:rPr lang="en-GB" sz="2400" dirty="0"/>
              <a:t>Editing is difficult</a:t>
            </a:r>
          </a:p>
          <a:p>
            <a:pPr>
              <a:buFontTx/>
              <a:buChar char="-"/>
            </a:pPr>
            <a:endParaRPr lang="en-GB" sz="2400" dirty="0"/>
          </a:p>
          <a:p>
            <a:r>
              <a:rPr lang="en-GB" sz="2400" dirty="0"/>
              <a:t>Electronic Database</a:t>
            </a:r>
          </a:p>
          <a:p>
            <a:r>
              <a:rPr lang="en-GB" sz="2400" dirty="0"/>
              <a:t>+ Searching is very fast</a:t>
            </a:r>
          </a:p>
          <a:p>
            <a:r>
              <a:rPr lang="en-GB" sz="2400" dirty="0"/>
              <a:t>+ Editing is easy</a:t>
            </a:r>
          </a:p>
        </p:txBody>
      </p:sp>
      <p:pic>
        <p:nvPicPr>
          <p:cNvPr id="1027" name="Picture 3" descr="C:\Users\cb1935d\AppData\Local\Microsoft\Windows\Temporary Internet Files\Content.IE5\CK4AA76W\MP900409031[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96200" y="980728"/>
            <a:ext cx="2348880" cy="234888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cb1935d\AppData\Local\Microsoft\Windows\Temporary Internet Files\Content.IE5\JYGE0KC2\MC900441466[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4906" y="3645024"/>
            <a:ext cx="1731468" cy="1731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5829400"/>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Advantages &amp; Disadvantages</a:t>
            </a:r>
          </a:p>
        </p:txBody>
      </p:sp>
      <p:sp>
        <p:nvSpPr>
          <p:cNvPr id="5" name="Content Placeholder 2"/>
          <p:cNvSpPr txBox="1">
            <a:spLocks/>
          </p:cNvSpPr>
          <p:nvPr/>
        </p:nvSpPr>
        <p:spPr>
          <a:xfrm>
            <a:off x="2495600" y="1535952"/>
            <a:ext cx="7200800" cy="3549232"/>
          </a:xfrm>
          <a:prstGeom prst="rect">
            <a:avLst/>
          </a:prstGeom>
        </p:spPr>
        <p:txBody>
          <a:bodyPr vert="horz" lIns="91440" tIns="45720" rIns="91440" bIns="45720" rtlCol="0">
            <a:normAutofit/>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r>
              <a:rPr lang="en-GB" sz="2400" dirty="0"/>
              <a:t>Physical Database</a:t>
            </a:r>
          </a:p>
          <a:p>
            <a:pPr>
              <a:buFontTx/>
              <a:buChar char="-"/>
            </a:pPr>
            <a:r>
              <a:rPr lang="en-GB" sz="2400" dirty="0"/>
              <a:t>Searching can be slow</a:t>
            </a:r>
          </a:p>
          <a:p>
            <a:pPr>
              <a:buFontTx/>
              <a:buChar char="-"/>
            </a:pPr>
            <a:r>
              <a:rPr lang="en-GB" sz="2400" dirty="0"/>
              <a:t>Editing is difficult</a:t>
            </a:r>
          </a:p>
          <a:p>
            <a:pPr>
              <a:buFontTx/>
              <a:buChar char="-"/>
            </a:pPr>
            <a:endParaRPr lang="en-GB" sz="2400" dirty="0"/>
          </a:p>
          <a:p>
            <a:r>
              <a:rPr lang="en-GB" sz="2400" dirty="0"/>
              <a:t>Electronic Database</a:t>
            </a:r>
          </a:p>
          <a:p>
            <a:r>
              <a:rPr lang="en-GB" sz="2400" dirty="0"/>
              <a:t>+  Searching is very fast</a:t>
            </a:r>
          </a:p>
          <a:p>
            <a:r>
              <a:rPr lang="en-GB" sz="2400" dirty="0"/>
              <a:t>+  Editing is very easy</a:t>
            </a:r>
          </a:p>
        </p:txBody>
      </p:sp>
      <p:pic>
        <p:nvPicPr>
          <p:cNvPr id="2050" name="Picture 2" descr="C:\Users\cb1935d\AppData\Local\Microsoft\Windows\Temporary Internet Files\Content.IE5\JYGE0KC2\MP900442356[1].jp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184232" y="1268760"/>
            <a:ext cx="2213504" cy="166012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Users\cb1935d\AppData\Local\Microsoft\Windows\Temporary Internet Files\Content.IE5\CK4AA76W\MP900422497[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56040" y="2974000"/>
            <a:ext cx="2627784" cy="1749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8537864"/>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Flat File Database</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nvPr>
        </p:nvGraphicFramePr>
        <p:xfrm>
          <a:off x="838200" y="2193925"/>
          <a:ext cx="10515600" cy="3555312"/>
        </p:xfrm>
        <a:graphic>
          <a:graphicData uri="http://schemas.openxmlformats.org/drawingml/2006/table">
            <a:tbl>
              <a:tblPr firstRow="1" bandRow="1">
                <a:tableStyleId>{5C22544A-7EE6-4342-B048-85BDC9FD1C3A}</a:tableStyleId>
              </a:tblPr>
              <a:tblGrid>
                <a:gridCol w="785386">
                  <a:extLst>
                    <a:ext uri="{9D8B030D-6E8A-4147-A177-3AD203B41FA5}">
                      <a16:colId xmlns:a16="http://schemas.microsoft.com/office/drawing/2014/main" val="1632358923"/>
                    </a:ext>
                  </a:extLst>
                </a:gridCol>
                <a:gridCol w="2399790">
                  <a:extLst>
                    <a:ext uri="{9D8B030D-6E8A-4147-A177-3AD203B41FA5}">
                      <a16:colId xmlns:a16="http://schemas.microsoft.com/office/drawing/2014/main" val="3505833113"/>
                    </a:ext>
                  </a:extLst>
                </a:gridCol>
                <a:gridCol w="2181627">
                  <a:extLst>
                    <a:ext uri="{9D8B030D-6E8A-4147-A177-3AD203B41FA5}">
                      <a16:colId xmlns:a16="http://schemas.microsoft.com/office/drawing/2014/main" val="3401749839"/>
                    </a:ext>
                  </a:extLst>
                </a:gridCol>
                <a:gridCol w="1745301">
                  <a:extLst>
                    <a:ext uri="{9D8B030D-6E8A-4147-A177-3AD203B41FA5}">
                      <a16:colId xmlns:a16="http://schemas.microsoft.com/office/drawing/2014/main" val="315362434"/>
                    </a:ext>
                  </a:extLst>
                </a:gridCol>
                <a:gridCol w="1876357">
                  <a:extLst>
                    <a:ext uri="{9D8B030D-6E8A-4147-A177-3AD203B41FA5}">
                      <a16:colId xmlns:a16="http://schemas.microsoft.com/office/drawing/2014/main" val="415971381"/>
                    </a:ext>
                  </a:extLst>
                </a:gridCol>
                <a:gridCol w="1527139">
                  <a:extLst>
                    <a:ext uri="{9D8B030D-6E8A-4147-A177-3AD203B41FA5}">
                      <a16:colId xmlns:a16="http://schemas.microsoft.com/office/drawing/2014/main" val="3467447067"/>
                    </a:ext>
                  </a:extLst>
                </a:gridCol>
              </a:tblGrid>
              <a:tr h="592552">
                <a:tc>
                  <a:txBody>
                    <a:bodyPr/>
                    <a:lstStyle/>
                    <a:p>
                      <a:pPr algn="ctr"/>
                      <a:r>
                        <a:rPr lang="en-GB" sz="3200" dirty="0"/>
                        <a:t>ID</a:t>
                      </a:r>
                    </a:p>
                  </a:txBody>
                  <a:tcPr/>
                </a:tc>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a:t>Dept</a:t>
                      </a:r>
                    </a:p>
                  </a:txBody>
                  <a:tcPr/>
                </a:tc>
                <a:tc>
                  <a:txBody>
                    <a:bodyPr/>
                    <a:lstStyle/>
                    <a:p>
                      <a:pPr algn="ctr"/>
                      <a:r>
                        <a:rPr lang="en-GB" sz="3200" dirty="0"/>
                        <a:t>Dept ID</a:t>
                      </a:r>
                    </a:p>
                  </a:txBody>
                  <a:tcPr/>
                </a:tc>
                <a:tc>
                  <a:txBody>
                    <a:bodyPr/>
                    <a:lstStyle/>
                    <a:p>
                      <a:pPr algn="ctr"/>
                      <a:r>
                        <a:rPr lang="en-GB" sz="3200" dirty="0"/>
                        <a:t>Phone</a:t>
                      </a:r>
                    </a:p>
                  </a:txBody>
                  <a:tcPr/>
                </a:tc>
                <a:extLst>
                  <a:ext uri="{0D108BD9-81ED-4DB2-BD59-A6C34878D82A}">
                    <a16:rowId xmlns:a16="http://schemas.microsoft.com/office/drawing/2014/main" val="3459615676"/>
                  </a:ext>
                </a:extLst>
              </a:tr>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1127765656"/>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2924661129"/>
                  </a:ext>
                </a:extLst>
              </a:tr>
              <a:tr h="592552">
                <a:tc>
                  <a:txBody>
                    <a:bodyPr/>
                    <a:lstStyle/>
                    <a:p>
                      <a:pPr lvl="0"/>
                      <a:r>
                        <a:rPr lang="en-GB" sz="3200" dirty="0"/>
                        <a:t>3</a:t>
                      </a:r>
                    </a:p>
                  </a:txBody>
                  <a:tcPr/>
                </a:tc>
                <a:tc>
                  <a:txBody>
                    <a:bodyPr/>
                    <a:lstStyle/>
                    <a:p>
                      <a:pPr lvl="0" algn="l"/>
                      <a:r>
                        <a:rPr lang="en-GB" sz="3200" dirty="0"/>
                        <a:t>Stephen</a:t>
                      </a:r>
                    </a:p>
                  </a:txBody>
                  <a:tcPr/>
                </a:tc>
                <a:tc>
                  <a:txBody>
                    <a:bodyPr/>
                    <a:lstStyle/>
                    <a:p>
                      <a:pPr lvl="0" algn="l"/>
                      <a:r>
                        <a:rPr lang="en-GB" sz="3200" dirty="0"/>
                        <a:t>MacLeod</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3885493841"/>
                  </a:ext>
                </a:extLst>
              </a:tr>
              <a:tr h="592552">
                <a:tc>
                  <a:txBody>
                    <a:bodyPr/>
                    <a:lstStyle/>
                    <a:p>
                      <a:pPr lvl="0"/>
                      <a:r>
                        <a:rPr lang="en-GB" sz="3200" dirty="0"/>
                        <a:t>4</a:t>
                      </a:r>
                    </a:p>
                  </a:txBody>
                  <a:tcPr/>
                </a:tc>
                <a:tc>
                  <a:txBody>
                    <a:bodyPr/>
                    <a:lstStyle/>
                    <a:p>
                      <a:pPr lvl="0" algn="l"/>
                      <a:r>
                        <a:rPr lang="en-GB" sz="3200" dirty="0"/>
                        <a:t>Scott</a:t>
                      </a:r>
                    </a:p>
                  </a:txBody>
                  <a:tcPr/>
                </a:tc>
                <a:tc>
                  <a:txBody>
                    <a:bodyPr/>
                    <a:lstStyle/>
                    <a:p>
                      <a:pPr lvl="0" algn="l"/>
                      <a:r>
                        <a:rPr lang="en-GB" sz="3200" dirty="0"/>
                        <a:t>Sinclair</a:t>
                      </a:r>
                    </a:p>
                  </a:txBody>
                  <a:tcPr/>
                </a:tc>
                <a:tc>
                  <a:txBody>
                    <a:bodyPr/>
                    <a:lstStyle/>
                    <a:p>
                      <a:pPr lvl="0" algn="l"/>
                      <a:r>
                        <a:rPr lang="en-GB" sz="3200" dirty="0"/>
                        <a:t>English</a:t>
                      </a:r>
                    </a:p>
                  </a:txBody>
                  <a:tcPr/>
                </a:tc>
                <a:tc>
                  <a:txBody>
                    <a:bodyPr/>
                    <a:lstStyle/>
                    <a:p>
                      <a:pPr lvl="0"/>
                      <a:r>
                        <a:rPr lang="en-GB" sz="3200" dirty="0"/>
                        <a:t>002</a:t>
                      </a:r>
                    </a:p>
                  </a:txBody>
                  <a:tcPr/>
                </a:tc>
                <a:tc>
                  <a:txBody>
                    <a:bodyPr/>
                    <a:lstStyle/>
                    <a:p>
                      <a:pPr lvl="0"/>
                      <a:r>
                        <a:rPr lang="en-GB" sz="3200" dirty="0"/>
                        <a:t>301</a:t>
                      </a:r>
                    </a:p>
                  </a:txBody>
                  <a:tcPr/>
                </a:tc>
                <a:extLst>
                  <a:ext uri="{0D108BD9-81ED-4DB2-BD59-A6C34878D82A}">
                    <a16:rowId xmlns:a16="http://schemas.microsoft.com/office/drawing/2014/main" val="1487565366"/>
                  </a:ext>
                </a:extLst>
              </a:tr>
              <a:tr h="592552">
                <a:tc>
                  <a:txBody>
                    <a:bodyPr/>
                    <a:lstStyle/>
                    <a:p>
                      <a:pPr lvl="0"/>
                      <a:r>
                        <a:rPr lang="en-GB" sz="3200" dirty="0"/>
                        <a:t>5</a:t>
                      </a:r>
                    </a:p>
                  </a:txBody>
                  <a:tcPr/>
                </a:tc>
                <a:tc>
                  <a:txBody>
                    <a:bodyPr/>
                    <a:lstStyle/>
                    <a:p>
                      <a:pPr lvl="0" algn="l"/>
                      <a:r>
                        <a:rPr lang="en-GB" sz="3200" dirty="0"/>
                        <a:t>Michelle</a:t>
                      </a:r>
                    </a:p>
                  </a:txBody>
                  <a:tcPr/>
                </a:tc>
                <a:tc>
                  <a:txBody>
                    <a:bodyPr/>
                    <a:lstStyle/>
                    <a:p>
                      <a:pPr lvl="0" algn="l"/>
                      <a:r>
                        <a:rPr lang="en-GB" sz="3200" dirty="0"/>
                        <a:t>Wie</a:t>
                      </a:r>
                    </a:p>
                  </a:txBody>
                  <a:tcPr/>
                </a:tc>
                <a:tc>
                  <a:txBody>
                    <a:bodyPr/>
                    <a:lstStyle/>
                    <a:p>
                      <a:pPr lvl="0" algn="l"/>
                      <a:r>
                        <a:rPr lang="en-GB" sz="3200" dirty="0"/>
                        <a:t>English</a:t>
                      </a:r>
                    </a:p>
                  </a:txBody>
                  <a:tcPr/>
                </a:tc>
                <a:tc>
                  <a:txBody>
                    <a:bodyPr/>
                    <a:lstStyle/>
                    <a:p>
                      <a:pPr lvl="0"/>
                      <a:r>
                        <a:rPr lang="en-GB" sz="3200" dirty="0"/>
                        <a:t>002</a:t>
                      </a:r>
                    </a:p>
                  </a:txBody>
                  <a:tcPr/>
                </a:tc>
                <a:tc>
                  <a:txBody>
                    <a:bodyPr/>
                    <a:lstStyle/>
                    <a:p>
                      <a:pPr lvl="0"/>
                      <a:r>
                        <a:rPr lang="en-GB" sz="3200" dirty="0"/>
                        <a:t>301</a:t>
                      </a:r>
                    </a:p>
                  </a:txBody>
                  <a:tcPr/>
                </a:tc>
                <a:extLst>
                  <a:ext uri="{0D108BD9-81ED-4DB2-BD59-A6C34878D82A}">
                    <a16:rowId xmlns:a16="http://schemas.microsoft.com/office/drawing/2014/main" val="81894544"/>
                  </a:ext>
                </a:extLst>
              </a:tr>
            </a:tbl>
          </a:graphicData>
        </a:graphic>
      </p:graphicFrame>
      <p:sp>
        <p:nvSpPr>
          <p:cNvPr id="10" name="Rectangle: Rounded Corners 9">
            <a:extLst>
              <a:ext uri="{FF2B5EF4-FFF2-40B4-BE49-F238E27FC236}">
                <a16:creationId xmlns:a16="http://schemas.microsoft.com/office/drawing/2014/main" id="{5D773087-09BD-45AD-89A6-29025E9351DE}"/>
              </a:ext>
            </a:extLst>
          </p:cNvPr>
          <p:cNvSpPr/>
          <p:nvPr/>
        </p:nvSpPr>
        <p:spPr>
          <a:xfrm>
            <a:off x="6209546" y="4589265"/>
            <a:ext cx="4409870" cy="11520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0EC4FDE-CFBC-4CBE-ADDB-EBEBADD6452A}"/>
              </a:ext>
            </a:extLst>
          </p:cNvPr>
          <p:cNvSpPr/>
          <p:nvPr/>
        </p:nvSpPr>
        <p:spPr>
          <a:xfrm>
            <a:off x="6208390" y="2823206"/>
            <a:ext cx="4409870" cy="1692000"/>
          </a:xfrm>
          <a:prstGeom prst="roundRect">
            <a:avLst/>
          </a:prstGeom>
          <a:noFill/>
          <a:ln w="3810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B935E981-B7C6-4BDF-ADC2-EFF2B075D3D8}"/>
              </a:ext>
            </a:extLst>
          </p:cNvPr>
          <p:cNvSpPr txBox="1"/>
          <p:nvPr/>
        </p:nvSpPr>
        <p:spPr>
          <a:xfrm>
            <a:off x="838200" y="1559731"/>
            <a:ext cx="7169207" cy="584775"/>
          </a:xfrm>
          <a:prstGeom prst="rect">
            <a:avLst/>
          </a:prstGeom>
          <a:noFill/>
        </p:spPr>
        <p:txBody>
          <a:bodyPr wrap="none" rtlCol="0">
            <a:spAutoFit/>
          </a:bodyPr>
          <a:lstStyle/>
          <a:p>
            <a:r>
              <a:rPr lang="en-GB" sz="3200" dirty="0"/>
              <a:t>Data is duplicated – this can lead to errors</a:t>
            </a:r>
          </a:p>
        </p:txBody>
      </p:sp>
    </p:spTree>
    <p:extLst>
      <p:ext uri="{BB962C8B-B14F-4D97-AF65-F5344CB8AC3E}">
        <p14:creationId xmlns:p14="http://schemas.microsoft.com/office/powerpoint/2010/main" val="4018443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1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p:bldLst>
  </p:timing>
</p:sld>
</file>

<file path=ppt/slides/slide2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Flat File Database</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nvPr>
        </p:nvGraphicFramePr>
        <p:xfrm>
          <a:off x="838200" y="2193925"/>
          <a:ext cx="10515600" cy="3555312"/>
        </p:xfrm>
        <a:graphic>
          <a:graphicData uri="http://schemas.openxmlformats.org/drawingml/2006/table">
            <a:tbl>
              <a:tblPr firstRow="1" bandRow="1">
                <a:tableStyleId>{5C22544A-7EE6-4342-B048-85BDC9FD1C3A}</a:tableStyleId>
              </a:tblPr>
              <a:tblGrid>
                <a:gridCol w="785386">
                  <a:extLst>
                    <a:ext uri="{9D8B030D-6E8A-4147-A177-3AD203B41FA5}">
                      <a16:colId xmlns:a16="http://schemas.microsoft.com/office/drawing/2014/main" val="1632358923"/>
                    </a:ext>
                  </a:extLst>
                </a:gridCol>
                <a:gridCol w="2399790">
                  <a:extLst>
                    <a:ext uri="{9D8B030D-6E8A-4147-A177-3AD203B41FA5}">
                      <a16:colId xmlns:a16="http://schemas.microsoft.com/office/drawing/2014/main" val="3505833113"/>
                    </a:ext>
                  </a:extLst>
                </a:gridCol>
                <a:gridCol w="2181627">
                  <a:extLst>
                    <a:ext uri="{9D8B030D-6E8A-4147-A177-3AD203B41FA5}">
                      <a16:colId xmlns:a16="http://schemas.microsoft.com/office/drawing/2014/main" val="3401749839"/>
                    </a:ext>
                  </a:extLst>
                </a:gridCol>
                <a:gridCol w="1745301">
                  <a:extLst>
                    <a:ext uri="{9D8B030D-6E8A-4147-A177-3AD203B41FA5}">
                      <a16:colId xmlns:a16="http://schemas.microsoft.com/office/drawing/2014/main" val="315362434"/>
                    </a:ext>
                  </a:extLst>
                </a:gridCol>
                <a:gridCol w="1876357">
                  <a:extLst>
                    <a:ext uri="{9D8B030D-6E8A-4147-A177-3AD203B41FA5}">
                      <a16:colId xmlns:a16="http://schemas.microsoft.com/office/drawing/2014/main" val="415971381"/>
                    </a:ext>
                  </a:extLst>
                </a:gridCol>
                <a:gridCol w="1527139">
                  <a:extLst>
                    <a:ext uri="{9D8B030D-6E8A-4147-A177-3AD203B41FA5}">
                      <a16:colId xmlns:a16="http://schemas.microsoft.com/office/drawing/2014/main" val="3467447067"/>
                    </a:ext>
                  </a:extLst>
                </a:gridCol>
              </a:tblGrid>
              <a:tr h="592552">
                <a:tc>
                  <a:txBody>
                    <a:bodyPr/>
                    <a:lstStyle/>
                    <a:p>
                      <a:pPr algn="ctr"/>
                      <a:r>
                        <a:rPr lang="en-GB" sz="3200" dirty="0"/>
                        <a:t>ID</a:t>
                      </a:r>
                    </a:p>
                  </a:txBody>
                  <a:tcPr/>
                </a:tc>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a:t>Dept</a:t>
                      </a:r>
                    </a:p>
                  </a:txBody>
                  <a:tcPr/>
                </a:tc>
                <a:tc>
                  <a:txBody>
                    <a:bodyPr/>
                    <a:lstStyle/>
                    <a:p>
                      <a:pPr algn="ctr"/>
                      <a:r>
                        <a:rPr lang="en-GB" sz="3200" dirty="0"/>
                        <a:t>Dept ID</a:t>
                      </a:r>
                    </a:p>
                  </a:txBody>
                  <a:tcPr/>
                </a:tc>
                <a:tc>
                  <a:txBody>
                    <a:bodyPr/>
                    <a:lstStyle/>
                    <a:p>
                      <a:pPr algn="ctr"/>
                      <a:r>
                        <a:rPr lang="en-GB" sz="3200" dirty="0"/>
                        <a:t>Phone</a:t>
                      </a:r>
                    </a:p>
                  </a:txBody>
                  <a:tcPr/>
                </a:tc>
                <a:extLst>
                  <a:ext uri="{0D108BD9-81ED-4DB2-BD59-A6C34878D82A}">
                    <a16:rowId xmlns:a16="http://schemas.microsoft.com/office/drawing/2014/main" val="3459615676"/>
                  </a:ext>
                </a:extLst>
              </a:tr>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1127765656"/>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2924661129"/>
                  </a:ext>
                </a:extLst>
              </a:tr>
              <a:tr h="592552">
                <a:tc>
                  <a:txBody>
                    <a:bodyPr/>
                    <a:lstStyle/>
                    <a:p>
                      <a:pPr lvl="0"/>
                      <a:r>
                        <a:rPr lang="en-GB" sz="3200" dirty="0"/>
                        <a:t>3</a:t>
                      </a:r>
                    </a:p>
                  </a:txBody>
                  <a:tcPr/>
                </a:tc>
                <a:tc>
                  <a:txBody>
                    <a:bodyPr/>
                    <a:lstStyle/>
                    <a:p>
                      <a:pPr lvl="0" algn="l"/>
                      <a:r>
                        <a:rPr lang="en-GB" sz="3200" dirty="0"/>
                        <a:t>Stephen</a:t>
                      </a:r>
                    </a:p>
                  </a:txBody>
                  <a:tcPr/>
                </a:tc>
                <a:tc>
                  <a:txBody>
                    <a:bodyPr/>
                    <a:lstStyle/>
                    <a:p>
                      <a:pPr lvl="0" algn="l"/>
                      <a:r>
                        <a:rPr lang="en-GB" sz="3200" dirty="0"/>
                        <a:t>MacLeod</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3885493841"/>
                  </a:ext>
                </a:extLst>
              </a:tr>
              <a:tr h="592552">
                <a:tc>
                  <a:txBody>
                    <a:bodyPr/>
                    <a:lstStyle/>
                    <a:p>
                      <a:pPr lvl="0"/>
                      <a:r>
                        <a:rPr lang="en-GB" sz="3200" dirty="0"/>
                        <a:t>4</a:t>
                      </a:r>
                    </a:p>
                  </a:txBody>
                  <a:tcPr/>
                </a:tc>
                <a:tc>
                  <a:txBody>
                    <a:bodyPr/>
                    <a:lstStyle/>
                    <a:p>
                      <a:pPr lvl="0" algn="l"/>
                      <a:r>
                        <a:rPr lang="en-GB" sz="3200" dirty="0"/>
                        <a:t>Scott</a:t>
                      </a:r>
                    </a:p>
                  </a:txBody>
                  <a:tcPr/>
                </a:tc>
                <a:tc>
                  <a:txBody>
                    <a:bodyPr/>
                    <a:lstStyle/>
                    <a:p>
                      <a:pPr lvl="0" algn="l"/>
                      <a:r>
                        <a:rPr lang="en-GB" sz="3200" dirty="0"/>
                        <a:t>Sinclair</a:t>
                      </a:r>
                    </a:p>
                  </a:txBody>
                  <a:tcPr/>
                </a:tc>
                <a:tc>
                  <a:txBody>
                    <a:bodyPr/>
                    <a:lstStyle/>
                    <a:p>
                      <a:pPr lvl="0" algn="l"/>
                      <a:r>
                        <a:rPr lang="en-GB" sz="3200" dirty="0"/>
                        <a:t>English</a:t>
                      </a:r>
                    </a:p>
                  </a:txBody>
                  <a:tcPr/>
                </a:tc>
                <a:tc>
                  <a:txBody>
                    <a:bodyPr/>
                    <a:lstStyle/>
                    <a:p>
                      <a:pPr lvl="0"/>
                      <a:r>
                        <a:rPr lang="en-GB" sz="3200" dirty="0"/>
                        <a:t>002</a:t>
                      </a:r>
                    </a:p>
                  </a:txBody>
                  <a:tcPr/>
                </a:tc>
                <a:tc>
                  <a:txBody>
                    <a:bodyPr/>
                    <a:lstStyle/>
                    <a:p>
                      <a:pPr lvl="0"/>
                      <a:r>
                        <a:rPr lang="en-GB" sz="3200" dirty="0"/>
                        <a:t>301</a:t>
                      </a:r>
                    </a:p>
                  </a:txBody>
                  <a:tcPr/>
                </a:tc>
                <a:extLst>
                  <a:ext uri="{0D108BD9-81ED-4DB2-BD59-A6C34878D82A}">
                    <a16:rowId xmlns:a16="http://schemas.microsoft.com/office/drawing/2014/main" val="1487565366"/>
                  </a:ext>
                </a:extLst>
              </a:tr>
              <a:tr h="592552">
                <a:tc>
                  <a:txBody>
                    <a:bodyPr/>
                    <a:lstStyle/>
                    <a:p>
                      <a:pPr lvl="0"/>
                      <a:r>
                        <a:rPr lang="en-GB" sz="3200" dirty="0"/>
                        <a:t>5</a:t>
                      </a:r>
                    </a:p>
                  </a:txBody>
                  <a:tcPr/>
                </a:tc>
                <a:tc>
                  <a:txBody>
                    <a:bodyPr/>
                    <a:lstStyle/>
                    <a:p>
                      <a:pPr lvl="0" algn="l"/>
                      <a:r>
                        <a:rPr lang="en-GB" sz="3200" dirty="0"/>
                        <a:t>Michelle</a:t>
                      </a:r>
                    </a:p>
                  </a:txBody>
                  <a:tcPr/>
                </a:tc>
                <a:tc>
                  <a:txBody>
                    <a:bodyPr/>
                    <a:lstStyle/>
                    <a:p>
                      <a:pPr lvl="0" algn="l"/>
                      <a:r>
                        <a:rPr lang="en-GB" sz="3200" dirty="0"/>
                        <a:t>Wie</a:t>
                      </a:r>
                    </a:p>
                  </a:txBody>
                  <a:tcPr/>
                </a:tc>
                <a:tc>
                  <a:txBody>
                    <a:bodyPr/>
                    <a:lstStyle/>
                    <a:p>
                      <a:pPr lvl="0" algn="l"/>
                      <a:r>
                        <a:rPr lang="en-GB" sz="3200" dirty="0"/>
                        <a:t>English</a:t>
                      </a:r>
                    </a:p>
                  </a:txBody>
                  <a:tcPr/>
                </a:tc>
                <a:tc>
                  <a:txBody>
                    <a:bodyPr/>
                    <a:lstStyle/>
                    <a:p>
                      <a:pPr lvl="0"/>
                      <a:r>
                        <a:rPr lang="en-GB" sz="3200" dirty="0"/>
                        <a:t>002</a:t>
                      </a:r>
                    </a:p>
                  </a:txBody>
                  <a:tcPr/>
                </a:tc>
                <a:tc>
                  <a:txBody>
                    <a:bodyPr/>
                    <a:lstStyle/>
                    <a:p>
                      <a:pPr lvl="0"/>
                      <a:r>
                        <a:rPr lang="en-GB" sz="3200" dirty="0"/>
                        <a:t>301</a:t>
                      </a:r>
                    </a:p>
                  </a:txBody>
                  <a:tcPr/>
                </a:tc>
                <a:extLst>
                  <a:ext uri="{0D108BD9-81ED-4DB2-BD59-A6C34878D82A}">
                    <a16:rowId xmlns:a16="http://schemas.microsoft.com/office/drawing/2014/main" val="81894544"/>
                  </a:ext>
                </a:extLst>
              </a:tr>
            </a:tbl>
          </a:graphicData>
        </a:graphic>
      </p:graphicFrame>
    </p:spTree>
    <p:extLst>
      <p:ext uri="{BB962C8B-B14F-4D97-AF65-F5344CB8AC3E}">
        <p14:creationId xmlns:p14="http://schemas.microsoft.com/office/powerpoint/2010/main" val="205046543"/>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Insert Anomaly</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nvPr>
        </p:nvGraphicFramePr>
        <p:xfrm>
          <a:off x="838200" y="2193925"/>
          <a:ext cx="10515600" cy="2962760"/>
        </p:xfrm>
        <a:graphic>
          <a:graphicData uri="http://schemas.openxmlformats.org/drawingml/2006/table">
            <a:tbl>
              <a:tblPr firstRow="1" bandRow="1">
                <a:tableStyleId>{5C22544A-7EE6-4342-B048-85BDC9FD1C3A}</a:tableStyleId>
              </a:tblPr>
              <a:tblGrid>
                <a:gridCol w="785386">
                  <a:extLst>
                    <a:ext uri="{9D8B030D-6E8A-4147-A177-3AD203B41FA5}">
                      <a16:colId xmlns:a16="http://schemas.microsoft.com/office/drawing/2014/main" val="1632358923"/>
                    </a:ext>
                  </a:extLst>
                </a:gridCol>
                <a:gridCol w="2399790">
                  <a:extLst>
                    <a:ext uri="{9D8B030D-6E8A-4147-A177-3AD203B41FA5}">
                      <a16:colId xmlns:a16="http://schemas.microsoft.com/office/drawing/2014/main" val="3505833113"/>
                    </a:ext>
                  </a:extLst>
                </a:gridCol>
                <a:gridCol w="2181627">
                  <a:extLst>
                    <a:ext uri="{9D8B030D-6E8A-4147-A177-3AD203B41FA5}">
                      <a16:colId xmlns:a16="http://schemas.microsoft.com/office/drawing/2014/main" val="3401749839"/>
                    </a:ext>
                  </a:extLst>
                </a:gridCol>
                <a:gridCol w="1745301">
                  <a:extLst>
                    <a:ext uri="{9D8B030D-6E8A-4147-A177-3AD203B41FA5}">
                      <a16:colId xmlns:a16="http://schemas.microsoft.com/office/drawing/2014/main" val="315362434"/>
                    </a:ext>
                  </a:extLst>
                </a:gridCol>
                <a:gridCol w="1876357">
                  <a:extLst>
                    <a:ext uri="{9D8B030D-6E8A-4147-A177-3AD203B41FA5}">
                      <a16:colId xmlns:a16="http://schemas.microsoft.com/office/drawing/2014/main" val="415971381"/>
                    </a:ext>
                  </a:extLst>
                </a:gridCol>
                <a:gridCol w="1527139">
                  <a:extLst>
                    <a:ext uri="{9D8B030D-6E8A-4147-A177-3AD203B41FA5}">
                      <a16:colId xmlns:a16="http://schemas.microsoft.com/office/drawing/2014/main" val="3467447067"/>
                    </a:ext>
                  </a:extLst>
                </a:gridCol>
              </a:tblGrid>
              <a:tr h="592552">
                <a:tc>
                  <a:txBody>
                    <a:bodyPr/>
                    <a:lstStyle/>
                    <a:p>
                      <a:pPr algn="ctr"/>
                      <a:r>
                        <a:rPr lang="en-GB" sz="3200" dirty="0"/>
                        <a:t>ID</a:t>
                      </a:r>
                    </a:p>
                  </a:txBody>
                  <a:tcPr/>
                </a:tc>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a:t>Dept</a:t>
                      </a:r>
                    </a:p>
                  </a:txBody>
                  <a:tcPr/>
                </a:tc>
                <a:tc>
                  <a:txBody>
                    <a:bodyPr/>
                    <a:lstStyle/>
                    <a:p>
                      <a:pPr algn="ctr"/>
                      <a:r>
                        <a:rPr lang="en-GB" sz="3200" dirty="0"/>
                        <a:t>Dept ID</a:t>
                      </a:r>
                    </a:p>
                  </a:txBody>
                  <a:tcPr/>
                </a:tc>
                <a:tc>
                  <a:txBody>
                    <a:bodyPr/>
                    <a:lstStyle/>
                    <a:p>
                      <a:pPr algn="ctr"/>
                      <a:r>
                        <a:rPr lang="en-GB" sz="3200" dirty="0"/>
                        <a:t>Phone</a:t>
                      </a:r>
                    </a:p>
                  </a:txBody>
                  <a:tcPr/>
                </a:tc>
                <a:extLst>
                  <a:ext uri="{0D108BD9-81ED-4DB2-BD59-A6C34878D82A}">
                    <a16:rowId xmlns:a16="http://schemas.microsoft.com/office/drawing/2014/main" val="3459615676"/>
                  </a:ext>
                </a:extLst>
              </a:tr>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1127765656"/>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2924661129"/>
                  </a:ext>
                </a:extLst>
              </a:tr>
              <a:tr h="592552">
                <a:tc>
                  <a:txBody>
                    <a:bodyPr/>
                    <a:lstStyle/>
                    <a:p>
                      <a:pPr lvl="0"/>
                      <a:r>
                        <a:rPr lang="en-GB" sz="3200" dirty="0"/>
                        <a:t>3</a:t>
                      </a:r>
                    </a:p>
                  </a:txBody>
                  <a:tcPr/>
                </a:tc>
                <a:tc>
                  <a:txBody>
                    <a:bodyPr/>
                    <a:lstStyle/>
                    <a:p>
                      <a:pPr lvl="0" algn="l"/>
                      <a:r>
                        <a:rPr lang="en-GB" sz="3200" dirty="0"/>
                        <a:t>Stephen</a:t>
                      </a:r>
                    </a:p>
                  </a:txBody>
                  <a:tcPr/>
                </a:tc>
                <a:tc>
                  <a:txBody>
                    <a:bodyPr/>
                    <a:lstStyle/>
                    <a:p>
                      <a:pPr lvl="0" algn="l"/>
                      <a:r>
                        <a:rPr lang="en-GB" sz="3200" dirty="0"/>
                        <a:t>MacLeod</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3885493841"/>
                  </a:ext>
                </a:extLst>
              </a:tr>
              <a:tr h="592552">
                <a:tc>
                  <a:txBody>
                    <a:bodyPr/>
                    <a:lstStyle/>
                    <a:p>
                      <a:pPr lvl="0"/>
                      <a:r>
                        <a:rPr lang="en-GB" sz="3200" dirty="0"/>
                        <a:t>4</a:t>
                      </a:r>
                    </a:p>
                  </a:txBody>
                  <a:tcPr/>
                </a:tc>
                <a:tc>
                  <a:txBody>
                    <a:bodyPr/>
                    <a:lstStyle/>
                    <a:p>
                      <a:pPr lvl="0" algn="l"/>
                      <a:r>
                        <a:rPr lang="en-GB" sz="3200" dirty="0"/>
                        <a:t>Scott</a:t>
                      </a:r>
                    </a:p>
                  </a:txBody>
                  <a:tcPr/>
                </a:tc>
                <a:tc>
                  <a:txBody>
                    <a:bodyPr/>
                    <a:lstStyle/>
                    <a:p>
                      <a:pPr lvl="0" algn="l"/>
                      <a:r>
                        <a:rPr lang="en-GB" sz="3200" dirty="0"/>
                        <a:t>Sinclair</a:t>
                      </a:r>
                    </a:p>
                  </a:txBody>
                  <a:tcPr/>
                </a:tc>
                <a:tc>
                  <a:txBody>
                    <a:bodyPr/>
                    <a:lstStyle/>
                    <a:p>
                      <a:pPr lvl="0" algn="l"/>
                      <a:r>
                        <a:rPr lang="en-GB" sz="3200" dirty="0"/>
                        <a:t>English</a:t>
                      </a:r>
                    </a:p>
                  </a:txBody>
                  <a:tcPr/>
                </a:tc>
                <a:tc>
                  <a:txBody>
                    <a:bodyPr/>
                    <a:lstStyle/>
                    <a:p>
                      <a:pPr lvl="0"/>
                      <a:r>
                        <a:rPr lang="en-GB" sz="3200" dirty="0"/>
                        <a:t>002</a:t>
                      </a:r>
                    </a:p>
                  </a:txBody>
                  <a:tcPr/>
                </a:tc>
                <a:tc>
                  <a:txBody>
                    <a:bodyPr/>
                    <a:lstStyle/>
                    <a:p>
                      <a:pPr lvl="0"/>
                      <a:r>
                        <a:rPr lang="en-GB" sz="3200" dirty="0"/>
                        <a:t>301</a:t>
                      </a:r>
                    </a:p>
                  </a:txBody>
                  <a:tcPr/>
                </a:tc>
                <a:extLst>
                  <a:ext uri="{0D108BD9-81ED-4DB2-BD59-A6C34878D82A}">
                    <a16:rowId xmlns:a16="http://schemas.microsoft.com/office/drawing/2014/main" val="1487565366"/>
                  </a:ext>
                </a:extLst>
              </a:tr>
            </a:tbl>
          </a:graphicData>
        </a:graphic>
      </p:graphicFrame>
      <p:sp>
        <p:nvSpPr>
          <p:cNvPr id="6" name="Callout: Bent Line with No Border 4">
            <a:extLst>
              <a:ext uri="{FF2B5EF4-FFF2-40B4-BE49-F238E27FC236}">
                <a16:creationId xmlns:a16="http://schemas.microsoft.com/office/drawing/2014/main" id="{924404A3-ED4C-4699-9CA9-EFEB23F51AA9}"/>
              </a:ext>
            </a:extLst>
          </p:cNvPr>
          <p:cNvSpPr/>
          <p:nvPr/>
        </p:nvSpPr>
        <p:spPr>
          <a:xfrm>
            <a:off x="6023295" y="5918200"/>
            <a:ext cx="2400300" cy="882650"/>
          </a:xfrm>
          <a:prstGeom prst="callout2">
            <a:avLst>
              <a:gd name="adj1" fmla="val 49806"/>
              <a:gd name="adj2" fmla="val 101751"/>
              <a:gd name="adj3" fmla="val 50035"/>
              <a:gd name="adj4" fmla="val 135548"/>
              <a:gd name="adj5" fmla="val -19500"/>
              <a:gd name="adj6" fmla="val 156714"/>
            </a:avLst>
          </a:prstGeom>
          <a:noFill/>
          <a:ln w="38100">
            <a:solidFill>
              <a:srgbClr val="FF0000"/>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chemeClr val="tx1"/>
                </a:solidFill>
              </a:rPr>
              <a:t>Insert anomaly</a:t>
            </a:r>
          </a:p>
        </p:txBody>
      </p:sp>
      <p:graphicFrame>
        <p:nvGraphicFramePr>
          <p:cNvPr id="3" name="Table 2">
            <a:extLst>
              <a:ext uri="{FF2B5EF4-FFF2-40B4-BE49-F238E27FC236}">
                <a16:creationId xmlns:a16="http://schemas.microsoft.com/office/drawing/2014/main" id="{E5FB5CC0-6D81-48CA-8C78-BBC6CEB9D8ED}"/>
              </a:ext>
            </a:extLst>
          </p:cNvPr>
          <p:cNvGraphicFramePr>
            <a:graphicFrameLocks noGrp="1"/>
          </p:cNvGraphicFramePr>
          <p:nvPr/>
        </p:nvGraphicFramePr>
        <p:xfrm>
          <a:off x="838200" y="5089525"/>
          <a:ext cx="10515600" cy="592552"/>
        </p:xfrm>
        <a:graphic>
          <a:graphicData uri="http://schemas.openxmlformats.org/drawingml/2006/table">
            <a:tbl>
              <a:tblPr bandRow="1">
                <a:tableStyleId>{5C22544A-7EE6-4342-B048-85BDC9FD1C3A}</a:tableStyleId>
              </a:tblPr>
              <a:tblGrid>
                <a:gridCol w="785386">
                  <a:extLst>
                    <a:ext uri="{9D8B030D-6E8A-4147-A177-3AD203B41FA5}">
                      <a16:colId xmlns:a16="http://schemas.microsoft.com/office/drawing/2014/main" val="2684301988"/>
                    </a:ext>
                  </a:extLst>
                </a:gridCol>
                <a:gridCol w="2399790">
                  <a:extLst>
                    <a:ext uri="{9D8B030D-6E8A-4147-A177-3AD203B41FA5}">
                      <a16:colId xmlns:a16="http://schemas.microsoft.com/office/drawing/2014/main" val="3554510891"/>
                    </a:ext>
                  </a:extLst>
                </a:gridCol>
                <a:gridCol w="2181627">
                  <a:extLst>
                    <a:ext uri="{9D8B030D-6E8A-4147-A177-3AD203B41FA5}">
                      <a16:colId xmlns:a16="http://schemas.microsoft.com/office/drawing/2014/main" val="76118969"/>
                    </a:ext>
                  </a:extLst>
                </a:gridCol>
                <a:gridCol w="1745301">
                  <a:extLst>
                    <a:ext uri="{9D8B030D-6E8A-4147-A177-3AD203B41FA5}">
                      <a16:colId xmlns:a16="http://schemas.microsoft.com/office/drawing/2014/main" val="2256709060"/>
                    </a:ext>
                  </a:extLst>
                </a:gridCol>
                <a:gridCol w="1876357">
                  <a:extLst>
                    <a:ext uri="{9D8B030D-6E8A-4147-A177-3AD203B41FA5}">
                      <a16:colId xmlns:a16="http://schemas.microsoft.com/office/drawing/2014/main" val="2333792100"/>
                    </a:ext>
                  </a:extLst>
                </a:gridCol>
                <a:gridCol w="1527139">
                  <a:extLst>
                    <a:ext uri="{9D8B030D-6E8A-4147-A177-3AD203B41FA5}">
                      <a16:colId xmlns:a16="http://schemas.microsoft.com/office/drawing/2014/main" val="705863989"/>
                    </a:ext>
                  </a:extLst>
                </a:gridCol>
              </a:tblGrid>
              <a:tr h="592552">
                <a:tc>
                  <a:txBody>
                    <a:bodyPr/>
                    <a:lstStyle/>
                    <a:p>
                      <a:pPr lvl="0"/>
                      <a:r>
                        <a:rPr lang="en-GB" sz="3200" dirty="0"/>
                        <a:t>5</a:t>
                      </a:r>
                    </a:p>
                  </a:txBody>
                  <a:tcPr/>
                </a:tc>
                <a:tc>
                  <a:txBody>
                    <a:bodyPr/>
                    <a:lstStyle/>
                    <a:p>
                      <a:pPr lvl="0" algn="l"/>
                      <a:r>
                        <a:rPr lang="en-GB" sz="3200" dirty="0"/>
                        <a:t>Michelle</a:t>
                      </a:r>
                    </a:p>
                  </a:txBody>
                  <a:tcPr/>
                </a:tc>
                <a:tc>
                  <a:txBody>
                    <a:bodyPr/>
                    <a:lstStyle/>
                    <a:p>
                      <a:pPr lvl="0" algn="l"/>
                      <a:r>
                        <a:rPr lang="en-GB" sz="3200" dirty="0"/>
                        <a:t>Wie</a:t>
                      </a:r>
                    </a:p>
                  </a:txBody>
                  <a:tcPr/>
                </a:tc>
                <a:tc>
                  <a:txBody>
                    <a:bodyPr/>
                    <a:lstStyle/>
                    <a:p>
                      <a:pPr lvl="0" algn="l"/>
                      <a:r>
                        <a:rPr lang="en-GB" sz="3200" dirty="0"/>
                        <a:t>English</a:t>
                      </a:r>
                    </a:p>
                  </a:txBody>
                  <a:tcPr/>
                </a:tc>
                <a:tc>
                  <a:txBody>
                    <a:bodyPr/>
                    <a:lstStyle/>
                    <a:p>
                      <a:pPr lvl="0"/>
                      <a:r>
                        <a:rPr lang="en-GB" sz="3200" dirty="0"/>
                        <a:t>002</a:t>
                      </a:r>
                    </a:p>
                  </a:txBody>
                  <a:tcPr/>
                </a:tc>
                <a:tc>
                  <a:txBody>
                    <a:bodyPr/>
                    <a:lstStyle/>
                    <a:p>
                      <a:pPr lvl="0"/>
                      <a:r>
                        <a:rPr lang="en-GB" sz="3200" dirty="0"/>
                        <a:t>302</a:t>
                      </a:r>
                    </a:p>
                  </a:txBody>
                  <a:tcPr/>
                </a:tc>
                <a:extLst>
                  <a:ext uri="{0D108BD9-81ED-4DB2-BD59-A6C34878D82A}">
                    <a16:rowId xmlns:a16="http://schemas.microsoft.com/office/drawing/2014/main" val="2098199609"/>
                  </a:ext>
                </a:extLst>
              </a:tr>
            </a:tbl>
          </a:graphicData>
        </a:graphic>
      </p:graphicFrame>
      <p:sp>
        <p:nvSpPr>
          <p:cNvPr id="7" name="Rectangle: Rounded Corners 6">
            <a:extLst>
              <a:ext uri="{FF2B5EF4-FFF2-40B4-BE49-F238E27FC236}">
                <a16:creationId xmlns:a16="http://schemas.microsoft.com/office/drawing/2014/main" id="{1CCC2A12-DF5C-496B-B881-6647A8EC7DEF}"/>
              </a:ext>
            </a:extLst>
          </p:cNvPr>
          <p:cNvSpPr/>
          <p:nvPr/>
        </p:nvSpPr>
        <p:spPr>
          <a:xfrm>
            <a:off x="9826465" y="5113336"/>
            <a:ext cx="864000" cy="55252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202D0A3C-5F32-45A6-8AB9-883EC44A8D85}"/>
              </a:ext>
            </a:extLst>
          </p:cNvPr>
          <p:cNvSpPr/>
          <p:nvPr/>
        </p:nvSpPr>
        <p:spPr>
          <a:xfrm>
            <a:off x="6206964" y="5113336"/>
            <a:ext cx="2578895" cy="552525"/>
          </a:xfrm>
          <a:prstGeom prst="roundRect">
            <a:avLst/>
          </a:prstGeom>
          <a:noFill/>
          <a:ln w="3810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985E7E1A-C387-4773-BF69-BFCB8B0D718F}"/>
              </a:ext>
            </a:extLst>
          </p:cNvPr>
          <p:cNvSpPr txBox="1"/>
          <p:nvPr/>
        </p:nvSpPr>
        <p:spPr>
          <a:xfrm>
            <a:off x="838200" y="1559731"/>
            <a:ext cx="7765459" cy="584775"/>
          </a:xfrm>
          <a:prstGeom prst="rect">
            <a:avLst/>
          </a:prstGeom>
          <a:noFill/>
        </p:spPr>
        <p:txBody>
          <a:bodyPr wrap="none" rtlCol="0">
            <a:spAutoFit/>
          </a:bodyPr>
          <a:lstStyle/>
          <a:p>
            <a:r>
              <a:rPr lang="en-GB" sz="3200" dirty="0"/>
              <a:t>Add a new teacher to the English department</a:t>
            </a:r>
          </a:p>
        </p:txBody>
      </p:sp>
    </p:spTree>
    <p:extLst>
      <p:ext uri="{BB962C8B-B14F-4D97-AF65-F5344CB8AC3E}">
        <p14:creationId xmlns:p14="http://schemas.microsoft.com/office/powerpoint/2010/main" val="39583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2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1000"/>
                                        <p:tgtEl>
                                          <p:spTgt spid="7"/>
                                        </p:tgtEl>
                                      </p:cBhvr>
                                    </p:animEffect>
                                  </p:childTnLst>
                                </p:cTn>
                              </p:par>
                            </p:childTnLst>
                          </p:cTn>
                        </p:par>
                        <p:par>
                          <p:cTn id="23" fill="hold">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p:bldLst>
  </p:timing>
</p:sld>
</file>

<file path=ppt/slides/slide2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Insert Anomaly</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nvPr>
        </p:nvGraphicFramePr>
        <p:xfrm>
          <a:off x="838200" y="2193925"/>
          <a:ext cx="10515600" cy="2962760"/>
        </p:xfrm>
        <a:graphic>
          <a:graphicData uri="http://schemas.openxmlformats.org/drawingml/2006/table">
            <a:tbl>
              <a:tblPr firstRow="1" bandRow="1">
                <a:tableStyleId>{5C22544A-7EE6-4342-B048-85BDC9FD1C3A}</a:tableStyleId>
              </a:tblPr>
              <a:tblGrid>
                <a:gridCol w="785386">
                  <a:extLst>
                    <a:ext uri="{9D8B030D-6E8A-4147-A177-3AD203B41FA5}">
                      <a16:colId xmlns:a16="http://schemas.microsoft.com/office/drawing/2014/main" val="1632358923"/>
                    </a:ext>
                  </a:extLst>
                </a:gridCol>
                <a:gridCol w="2399790">
                  <a:extLst>
                    <a:ext uri="{9D8B030D-6E8A-4147-A177-3AD203B41FA5}">
                      <a16:colId xmlns:a16="http://schemas.microsoft.com/office/drawing/2014/main" val="3505833113"/>
                    </a:ext>
                  </a:extLst>
                </a:gridCol>
                <a:gridCol w="2181627">
                  <a:extLst>
                    <a:ext uri="{9D8B030D-6E8A-4147-A177-3AD203B41FA5}">
                      <a16:colId xmlns:a16="http://schemas.microsoft.com/office/drawing/2014/main" val="3401749839"/>
                    </a:ext>
                  </a:extLst>
                </a:gridCol>
                <a:gridCol w="1745301">
                  <a:extLst>
                    <a:ext uri="{9D8B030D-6E8A-4147-A177-3AD203B41FA5}">
                      <a16:colId xmlns:a16="http://schemas.microsoft.com/office/drawing/2014/main" val="315362434"/>
                    </a:ext>
                  </a:extLst>
                </a:gridCol>
                <a:gridCol w="1876357">
                  <a:extLst>
                    <a:ext uri="{9D8B030D-6E8A-4147-A177-3AD203B41FA5}">
                      <a16:colId xmlns:a16="http://schemas.microsoft.com/office/drawing/2014/main" val="415971381"/>
                    </a:ext>
                  </a:extLst>
                </a:gridCol>
                <a:gridCol w="1527139">
                  <a:extLst>
                    <a:ext uri="{9D8B030D-6E8A-4147-A177-3AD203B41FA5}">
                      <a16:colId xmlns:a16="http://schemas.microsoft.com/office/drawing/2014/main" val="3467447067"/>
                    </a:ext>
                  </a:extLst>
                </a:gridCol>
              </a:tblGrid>
              <a:tr h="592552">
                <a:tc>
                  <a:txBody>
                    <a:bodyPr/>
                    <a:lstStyle/>
                    <a:p>
                      <a:pPr algn="ctr"/>
                      <a:r>
                        <a:rPr lang="en-GB" sz="3200" dirty="0"/>
                        <a:t>ID</a:t>
                      </a:r>
                    </a:p>
                  </a:txBody>
                  <a:tcPr/>
                </a:tc>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a:t>Dept</a:t>
                      </a:r>
                    </a:p>
                  </a:txBody>
                  <a:tcPr/>
                </a:tc>
                <a:tc>
                  <a:txBody>
                    <a:bodyPr/>
                    <a:lstStyle/>
                    <a:p>
                      <a:pPr algn="ctr"/>
                      <a:r>
                        <a:rPr lang="en-GB" sz="3200" dirty="0"/>
                        <a:t>Dept ID</a:t>
                      </a:r>
                    </a:p>
                  </a:txBody>
                  <a:tcPr/>
                </a:tc>
                <a:tc>
                  <a:txBody>
                    <a:bodyPr/>
                    <a:lstStyle/>
                    <a:p>
                      <a:pPr algn="ctr"/>
                      <a:r>
                        <a:rPr lang="en-GB" sz="3200" dirty="0"/>
                        <a:t>Phone</a:t>
                      </a:r>
                    </a:p>
                  </a:txBody>
                  <a:tcPr/>
                </a:tc>
                <a:extLst>
                  <a:ext uri="{0D108BD9-81ED-4DB2-BD59-A6C34878D82A}">
                    <a16:rowId xmlns:a16="http://schemas.microsoft.com/office/drawing/2014/main" val="3459615676"/>
                  </a:ext>
                </a:extLst>
              </a:tr>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1127765656"/>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2924661129"/>
                  </a:ext>
                </a:extLst>
              </a:tr>
              <a:tr h="592552">
                <a:tc>
                  <a:txBody>
                    <a:bodyPr/>
                    <a:lstStyle/>
                    <a:p>
                      <a:pPr lvl="0"/>
                      <a:r>
                        <a:rPr lang="en-GB" sz="3200" dirty="0"/>
                        <a:t>3</a:t>
                      </a:r>
                    </a:p>
                  </a:txBody>
                  <a:tcPr/>
                </a:tc>
                <a:tc>
                  <a:txBody>
                    <a:bodyPr/>
                    <a:lstStyle/>
                    <a:p>
                      <a:pPr lvl="0" algn="l"/>
                      <a:r>
                        <a:rPr lang="en-GB" sz="3200" dirty="0"/>
                        <a:t>Stephen</a:t>
                      </a:r>
                    </a:p>
                  </a:txBody>
                  <a:tcPr/>
                </a:tc>
                <a:tc>
                  <a:txBody>
                    <a:bodyPr/>
                    <a:lstStyle/>
                    <a:p>
                      <a:pPr lvl="0" algn="l"/>
                      <a:r>
                        <a:rPr lang="en-GB" sz="3200" dirty="0"/>
                        <a:t>MacLeod</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3885493841"/>
                  </a:ext>
                </a:extLst>
              </a:tr>
              <a:tr h="592552">
                <a:tc>
                  <a:txBody>
                    <a:bodyPr/>
                    <a:lstStyle/>
                    <a:p>
                      <a:pPr lvl="0"/>
                      <a:r>
                        <a:rPr lang="en-GB" sz="3200" dirty="0"/>
                        <a:t>4</a:t>
                      </a:r>
                    </a:p>
                  </a:txBody>
                  <a:tcPr/>
                </a:tc>
                <a:tc>
                  <a:txBody>
                    <a:bodyPr/>
                    <a:lstStyle/>
                    <a:p>
                      <a:pPr lvl="0" algn="l"/>
                      <a:r>
                        <a:rPr lang="en-GB" sz="3200" dirty="0"/>
                        <a:t>Scott</a:t>
                      </a:r>
                    </a:p>
                  </a:txBody>
                  <a:tcPr/>
                </a:tc>
                <a:tc>
                  <a:txBody>
                    <a:bodyPr/>
                    <a:lstStyle/>
                    <a:p>
                      <a:pPr lvl="0" algn="l"/>
                      <a:r>
                        <a:rPr lang="en-GB" sz="3200" dirty="0"/>
                        <a:t>Sinclair</a:t>
                      </a:r>
                    </a:p>
                  </a:txBody>
                  <a:tcPr/>
                </a:tc>
                <a:tc>
                  <a:txBody>
                    <a:bodyPr/>
                    <a:lstStyle/>
                    <a:p>
                      <a:pPr lvl="0" algn="l"/>
                      <a:r>
                        <a:rPr lang="en-GB" sz="3200" dirty="0"/>
                        <a:t>English</a:t>
                      </a:r>
                    </a:p>
                  </a:txBody>
                  <a:tcPr/>
                </a:tc>
                <a:tc>
                  <a:txBody>
                    <a:bodyPr/>
                    <a:lstStyle/>
                    <a:p>
                      <a:pPr lvl="0"/>
                      <a:r>
                        <a:rPr lang="en-GB" sz="3200" dirty="0"/>
                        <a:t>002</a:t>
                      </a:r>
                    </a:p>
                  </a:txBody>
                  <a:tcPr/>
                </a:tc>
                <a:tc>
                  <a:txBody>
                    <a:bodyPr/>
                    <a:lstStyle/>
                    <a:p>
                      <a:pPr lvl="0"/>
                      <a:r>
                        <a:rPr lang="en-GB" sz="3200" dirty="0"/>
                        <a:t>301</a:t>
                      </a:r>
                    </a:p>
                  </a:txBody>
                  <a:tcPr/>
                </a:tc>
                <a:extLst>
                  <a:ext uri="{0D108BD9-81ED-4DB2-BD59-A6C34878D82A}">
                    <a16:rowId xmlns:a16="http://schemas.microsoft.com/office/drawing/2014/main" val="1487565366"/>
                  </a:ext>
                </a:extLst>
              </a:tr>
            </a:tbl>
          </a:graphicData>
        </a:graphic>
      </p:graphicFrame>
    </p:spTree>
    <p:extLst>
      <p:ext uri="{BB962C8B-B14F-4D97-AF65-F5344CB8AC3E}">
        <p14:creationId xmlns:p14="http://schemas.microsoft.com/office/powerpoint/2010/main" val="3219669152"/>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Delete Anomaly</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nvPr>
        </p:nvGraphicFramePr>
        <p:xfrm>
          <a:off x="838200" y="2193925"/>
          <a:ext cx="10515600" cy="2962760"/>
        </p:xfrm>
        <a:graphic>
          <a:graphicData uri="http://schemas.openxmlformats.org/drawingml/2006/table">
            <a:tbl>
              <a:tblPr firstRow="1" bandRow="1">
                <a:tableStyleId>{5C22544A-7EE6-4342-B048-85BDC9FD1C3A}</a:tableStyleId>
              </a:tblPr>
              <a:tblGrid>
                <a:gridCol w="785386">
                  <a:extLst>
                    <a:ext uri="{9D8B030D-6E8A-4147-A177-3AD203B41FA5}">
                      <a16:colId xmlns:a16="http://schemas.microsoft.com/office/drawing/2014/main" val="1632358923"/>
                    </a:ext>
                  </a:extLst>
                </a:gridCol>
                <a:gridCol w="2399790">
                  <a:extLst>
                    <a:ext uri="{9D8B030D-6E8A-4147-A177-3AD203B41FA5}">
                      <a16:colId xmlns:a16="http://schemas.microsoft.com/office/drawing/2014/main" val="3505833113"/>
                    </a:ext>
                  </a:extLst>
                </a:gridCol>
                <a:gridCol w="2181627">
                  <a:extLst>
                    <a:ext uri="{9D8B030D-6E8A-4147-A177-3AD203B41FA5}">
                      <a16:colId xmlns:a16="http://schemas.microsoft.com/office/drawing/2014/main" val="3401749839"/>
                    </a:ext>
                  </a:extLst>
                </a:gridCol>
                <a:gridCol w="1745301">
                  <a:extLst>
                    <a:ext uri="{9D8B030D-6E8A-4147-A177-3AD203B41FA5}">
                      <a16:colId xmlns:a16="http://schemas.microsoft.com/office/drawing/2014/main" val="315362434"/>
                    </a:ext>
                  </a:extLst>
                </a:gridCol>
                <a:gridCol w="1876357">
                  <a:extLst>
                    <a:ext uri="{9D8B030D-6E8A-4147-A177-3AD203B41FA5}">
                      <a16:colId xmlns:a16="http://schemas.microsoft.com/office/drawing/2014/main" val="415971381"/>
                    </a:ext>
                  </a:extLst>
                </a:gridCol>
                <a:gridCol w="1527139">
                  <a:extLst>
                    <a:ext uri="{9D8B030D-6E8A-4147-A177-3AD203B41FA5}">
                      <a16:colId xmlns:a16="http://schemas.microsoft.com/office/drawing/2014/main" val="3467447067"/>
                    </a:ext>
                  </a:extLst>
                </a:gridCol>
              </a:tblGrid>
              <a:tr h="592552">
                <a:tc>
                  <a:txBody>
                    <a:bodyPr/>
                    <a:lstStyle/>
                    <a:p>
                      <a:pPr algn="ctr"/>
                      <a:r>
                        <a:rPr lang="en-GB" sz="3200" dirty="0"/>
                        <a:t>ID</a:t>
                      </a:r>
                    </a:p>
                  </a:txBody>
                  <a:tcPr/>
                </a:tc>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a:t>Dept</a:t>
                      </a:r>
                    </a:p>
                  </a:txBody>
                  <a:tcPr/>
                </a:tc>
                <a:tc>
                  <a:txBody>
                    <a:bodyPr/>
                    <a:lstStyle/>
                    <a:p>
                      <a:pPr algn="ctr"/>
                      <a:r>
                        <a:rPr lang="en-GB" sz="3200" dirty="0"/>
                        <a:t>Dept ID</a:t>
                      </a:r>
                    </a:p>
                  </a:txBody>
                  <a:tcPr/>
                </a:tc>
                <a:tc>
                  <a:txBody>
                    <a:bodyPr/>
                    <a:lstStyle/>
                    <a:p>
                      <a:pPr algn="ctr"/>
                      <a:r>
                        <a:rPr lang="en-GB" sz="3200" dirty="0"/>
                        <a:t>Phone</a:t>
                      </a:r>
                    </a:p>
                  </a:txBody>
                  <a:tcPr/>
                </a:tc>
                <a:extLst>
                  <a:ext uri="{0D108BD9-81ED-4DB2-BD59-A6C34878D82A}">
                    <a16:rowId xmlns:a16="http://schemas.microsoft.com/office/drawing/2014/main" val="3459615676"/>
                  </a:ext>
                </a:extLst>
              </a:tr>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1127765656"/>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2924661129"/>
                  </a:ext>
                </a:extLst>
              </a:tr>
              <a:tr h="592552">
                <a:tc>
                  <a:txBody>
                    <a:bodyPr/>
                    <a:lstStyle/>
                    <a:p>
                      <a:pPr lvl="0"/>
                      <a:r>
                        <a:rPr lang="en-GB" sz="3200" dirty="0"/>
                        <a:t>3</a:t>
                      </a:r>
                    </a:p>
                  </a:txBody>
                  <a:tcPr/>
                </a:tc>
                <a:tc>
                  <a:txBody>
                    <a:bodyPr/>
                    <a:lstStyle/>
                    <a:p>
                      <a:pPr lvl="0" algn="l"/>
                      <a:r>
                        <a:rPr lang="en-GB" sz="3200" dirty="0"/>
                        <a:t>Stephen</a:t>
                      </a:r>
                    </a:p>
                  </a:txBody>
                  <a:tcPr/>
                </a:tc>
                <a:tc>
                  <a:txBody>
                    <a:bodyPr/>
                    <a:lstStyle/>
                    <a:p>
                      <a:pPr lvl="0" algn="l"/>
                      <a:r>
                        <a:rPr lang="en-GB" sz="3200" dirty="0"/>
                        <a:t>MacLeod</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3885493841"/>
                  </a:ext>
                </a:extLst>
              </a:tr>
              <a:tr h="592552">
                <a:tc>
                  <a:txBody>
                    <a:bodyPr/>
                    <a:lstStyle/>
                    <a:p>
                      <a:pPr lvl="0"/>
                      <a:r>
                        <a:rPr lang="en-GB" sz="3200" dirty="0"/>
                        <a:t>4</a:t>
                      </a:r>
                    </a:p>
                  </a:txBody>
                  <a:tcPr/>
                </a:tc>
                <a:tc>
                  <a:txBody>
                    <a:bodyPr/>
                    <a:lstStyle/>
                    <a:p>
                      <a:pPr lvl="0" algn="l"/>
                      <a:r>
                        <a:rPr lang="en-GB" sz="3200" dirty="0"/>
                        <a:t>Scott</a:t>
                      </a:r>
                    </a:p>
                  </a:txBody>
                  <a:tcPr/>
                </a:tc>
                <a:tc>
                  <a:txBody>
                    <a:bodyPr/>
                    <a:lstStyle/>
                    <a:p>
                      <a:pPr lvl="0" algn="l"/>
                      <a:r>
                        <a:rPr lang="en-GB" sz="3200" dirty="0"/>
                        <a:t>Sinclair</a:t>
                      </a:r>
                    </a:p>
                  </a:txBody>
                  <a:tcPr/>
                </a:tc>
                <a:tc>
                  <a:txBody>
                    <a:bodyPr/>
                    <a:lstStyle/>
                    <a:p>
                      <a:pPr lvl="0" algn="l"/>
                      <a:r>
                        <a:rPr lang="en-GB" sz="3200" dirty="0"/>
                        <a:t>English</a:t>
                      </a:r>
                    </a:p>
                  </a:txBody>
                  <a:tcPr/>
                </a:tc>
                <a:tc>
                  <a:txBody>
                    <a:bodyPr/>
                    <a:lstStyle/>
                    <a:p>
                      <a:pPr lvl="0"/>
                      <a:r>
                        <a:rPr lang="en-GB" sz="3200" dirty="0"/>
                        <a:t>002</a:t>
                      </a:r>
                    </a:p>
                  </a:txBody>
                  <a:tcPr/>
                </a:tc>
                <a:tc>
                  <a:txBody>
                    <a:bodyPr/>
                    <a:lstStyle/>
                    <a:p>
                      <a:pPr lvl="0"/>
                      <a:r>
                        <a:rPr lang="en-GB" sz="3200" dirty="0"/>
                        <a:t>301</a:t>
                      </a:r>
                    </a:p>
                  </a:txBody>
                  <a:tcPr/>
                </a:tc>
                <a:extLst>
                  <a:ext uri="{0D108BD9-81ED-4DB2-BD59-A6C34878D82A}">
                    <a16:rowId xmlns:a16="http://schemas.microsoft.com/office/drawing/2014/main" val="1487565366"/>
                  </a:ext>
                </a:extLst>
              </a:tr>
            </a:tbl>
          </a:graphicData>
        </a:graphic>
      </p:graphicFrame>
      <p:graphicFrame>
        <p:nvGraphicFramePr>
          <p:cNvPr id="3" name="Table 2">
            <a:extLst>
              <a:ext uri="{FF2B5EF4-FFF2-40B4-BE49-F238E27FC236}">
                <a16:creationId xmlns:a16="http://schemas.microsoft.com/office/drawing/2014/main" id="{E5FB5CC0-6D81-48CA-8C78-BBC6CEB9D8ED}"/>
              </a:ext>
            </a:extLst>
          </p:cNvPr>
          <p:cNvGraphicFramePr>
            <a:graphicFrameLocks noGrp="1"/>
          </p:cNvGraphicFramePr>
          <p:nvPr/>
        </p:nvGraphicFramePr>
        <p:xfrm>
          <a:off x="838200" y="5089525"/>
          <a:ext cx="10515600" cy="592552"/>
        </p:xfrm>
        <a:graphic>
          <a:graphicData uri="http://schemas.openxmlformats.org/drawingml/2006/table">
            <a:tbl>
              <a:tblPr bandRow="1">
                <a:tableStyleId>{5C22544A-7EE6-4342-B048-85BDC9FD1C3A}</a:tableStyleId>
              </a:tblPr>
              <a:tblGrid>
                <a:gridCol w="785386">
                  <a:extLst>
                    <a:ext uri="{9D8B030D-6E8A-4147-A177-3AD203B41FA5}">
                      <a16:colId xmlns:a16="http://schemas.microsoft.com/office/drawing/2014/main" val="2684301988"/>
                    </a:ext>
                  </a:extLst>
                </a:gridCol>
                <a:gridCol w="2399790">
                  <a:extLst>
                    <a:ext uri="{9D8B030D-6E8A-4147-A177-3AD203B41FA5}">
                      <a16:colId xmlns:a16="http://schemas.microsoft.com/office/drawing/2014/main" val="3554510891"/>
                    </a:ext>
                  </a:extLst>
                </a:gridCol>
                <a:gridCol w="2181627">
                  <a:extLst>
                    <a:ext uri="{9D8B030D-6E8A-4147-A177-3AD203B41FA5}">
                      <a16:colId xmlns:a16="http://schemas.microsoft.com/office/drawing/2014/main" val="76118969"/>
                    </a:ext>
                  </a:extLst>
                </a:gridCol>
                <a:gridCol w="1745301">
                  <a:extLst>
                    <a:ext uri="{9D8B030D-6E8A-4147-A177-3AD203B41FA5}">
                      <a16:colId xmlns:a16="http://schemas.microsoft.com/office/drawing/2014/main" val="2256709060"/>
                    </a:ext>
                  </a:extLst>
                </a:gridCol>
                <a:gridCol w="1876357">
                  <a:extLst>
                    <a:ext uri="{9D8B030D-6E8A-4147-A177-3AD203B41FA5}">
                      <a16:colId xmlns:a16="http://schemas.microsoft.com/office/drawing/2014/main" val="2333792100"/>
                    </a:ext>
                  </a:extLst>
                </a:gridCol>
                <a:gridCol w="1527139">
                  <a:extLst>
                    <a:ext uri="{9D8B030D-6E8A-4147-A177-3AD203B41FA5}">
                      <a16:colId xmlns:a16="http://schemas.microsoft.com/office/drawing/2014/main" val="705863989"/>
                    </a:ext>
                  </a:extLst>
                </a:gridCol>
              </a:tblGrid>
              <a:tr h="592552">
                <a:tc>
                  <a:txBody>
                    <a:bodyPr/>
                    <a:lstStyle/>
                    <a:p>
                      <a:pPr lvl="0"/>
                      <a:r>
                        <a:rPr lang="en-GB" sz="3200" dirty="0"/>
                        <a:t>5</a:t>
                      </a:r>
                    </a:p>
                  </a:txBody>
                  <a:tcPr/>
                </a:tc>
                <a:tc>
                  <a:txBody>
                    <a:bodyPr/>
                    <a:lstStyle/>
                    <a:p>
                      <a:pPr lvl="0" algn="l"/>
                      <a:r>
                        <a:rPr lang="en-GB" sz="3200" dirty="0"/>
                        <a:t>Michelle</a:t>
                      </a:r>
                    </a:p>
                  </a:txBody>
                  <a:tcPr/>
                </a:tc>
                <a:tc>
                  <a:txBody>
                    <a:bodyPr/>
                    <a:lstStyle/>
                    <a:p>
                      <a:pPr lvl="0" algn="l"/>
                      <a:r>
                        <a:rPr lang="en-GB" sz="3200" dirty="0"/>
                        <a:t>Wie</a:t>
                      </a:r>
                    </a:p>
                  </a:txBody>
                  <a:tcPr/>
                </a:tc>
                <a:tc>
                  <a:txBody>
                    <a:bodyPr/>
                    <a:lstStyle/>
                    <a:p>
                      <a:pPr lvl="0" algn="l"/>
                      <a:r>
                        <a:rPr lang="en-GB" sz="3200" dirty="0"/>
                        <a:t>English</a:t>
                      </a:r>
                    </a:p>
                  </a:txBody>
                  <a:tcPr/>
                </a:tc>
                <a:tc>
                  <a:txBody>
                    <a:bodyPr/>
                    <a:lstStyle/>
                    <a:p>
                      <a:pPr lvl="0"/>
                      <a:r>
                        <a:rPr lang="en-GB" sz="3200" dirty="0"/>
                        <a:t>002</a:t>
                      </a:r>
                    </a:p>
                  </a:txBody>
                  <a:tcPr/>
                </a:tc>
                <a:tc>
                  <a:txBody>
                    <a:bodyPr/>
                    <a:lstStyle/>
                    <a:p>
                      <a:pPr lvl="0"/>
                      <a:r>
                        <a:rPr lang="en-GB" sz="3200" dirty="0"/>
                        <a:t>301</a:t>
                      </a:r>
                    </a:p>
                  </a:txBody>
                  <a:tcPr/>
                </a:tc>
                <a:extLst>
                  <a:ext uri="{0D108BD9-81ED-4DB2-BD59-A6C34878D82A}">
                    <a16:rowId xmlns:a16="http://schemas.microsoft.com/office/drawing/2014/main" val="2098199609"/>
                  </a:ext>
                </a:extLst>
              </a:tr>
            </a:tbl>
          </a:graphicData>
        </a:graphic>
      </p:graphicFrame>
      <p:sp>
        <p:nvSpPr>
          <p:cNvPr id="6" name="Callout: Bent Line with No Border 4">
            <a:extLst>
              <a:ext uri="{FF2B5EF4-FFF2-40B4-BE49-F238E27FC236}">
                <a16:creationId xmlns:a16="http://schemas.microsoft.com/office/drawing/2014/main" id="{924404A3-ED4C-4699-9CA9-EFEB23F51AA9}"/>
              </a:ext>
            </a:extLst>
          </p:cNvPr>
          <p:cNvSpPr/>
          <p:nvPr/>
        </p:nvSpPr>
        <p:spPr>
          <a:xfrm>
            <a:off x="2928614" y="5337907"/>
            <a:ext cx="2548575" cy="882650"/>
          </a:xfrm>
          <a:prstGeom prst="callout2">
            <a:avLst>
              <a:gd name="adj1" fmla="val 49806"/>
              <a:gd name="adj2" fmla="val 101751"/>
              <a:gd name="adj3" fmla="val 49172"/>
              <a:gd name="adj4" fmla="val 131362"/>
              <a:gd name="adj5" fmla="val -18637"/>
              <a:gd name="adj6" fmla="val 149538"/>
            </a:avLst>
          </a:prstGeom>
          <a:noFill/>
          <a:ln w="38100">
            <a:solidFill>
              <a:srgbClr val="FF0000"/>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chemeClr val="tx1"/>
                </a:solidFill>
              </a:rPr>
              <a:t>Delete anomaly</a:t>
            </a:r>
          </a:p>
        </p:txBody>
      </p:sp>
      <p:sp>
        <p:nvSpPr>
          <p:cNvPr id="7" name="Rectangle: Rounded Corners 6">
            <a:extLst>
              <a:ext uri="{FF2B5EF4-FFF2-40B4-BE49-F238E27FC236}">
                <a16:creationId xmlns:a16="http://schemas.microsoft.com/office/drawing/2014/main" id="{1CCC2A12-DF5C-496B-B881-6647A8EC7DEF}"/>
              </a:ext>
            </a:extLst>
          </p:cNvPr>
          <p:cNvSpPr/>
          <p:nvPr/>
        </p:nvSpPr>
        <p:spPr>
          <a:xfrm>
            <a:off x="838200" y="4561836"/>
            <a:ext cx="9875520" cy="55252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985E7E1A-C387-4773-BF69-BFCB8B0D718F}"/>
              </a:ext>
            </a:extLst>
          </p:cNvPr>
          <p:cNvSpPr txBox="1"/>
          <p:nvPr/>
        </p:nvSpPr>
        <p:spPr>
          <a:xfrm>
            <a:off x="838200" y="1559731"/>
            <a:ext cx="9523376" cy="584775"/>
          </a:xfrm>
          <a:prstGeom prst="rect">
            <a:avLst/>
          </a:prstGeom>
          <a:noFill/>
        </p:spPr>
        <p:txBody>
          <a:bodyPr wrap="none" rtlCol="0">
            <a:spAutoFit/>
          </a:bodyPr>
          <a:lstStyle/>
          <a:p>
            <a:r>
              <a:rPr lang="en-GB" sz="3200" dirty="0"/>
              <a:t>Remove all teachers who are in the English department</a:t>
            </a:r>
          </a:p>
        </p:txBody>
      </p:sp>
    </p:spTree>
    <p:extLst>
      <p:ext uri="{BB962C8B-B14F-4D97-AF65-F5344CB8AC3E}">
        <p14:creationId xmlns:p14="http://schemas.microsoft.com/office/powerpoint/2010/main" val="702006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2" fill="hold" nodeType="clickEffect">
                                  <p:stCondLst>
                                    <p:cond delay="0"/>
                                  </p:stCondLst>
                                  <p:childTnLst>
                                    <p:animEffect transition="out" filter="wipe(right)">
                                      <p:cBhvr>
                                        <p:cTn id="11" dur="1000"/>
                                        <p:tgtEl>
                                          <p:spTgt spid="3"/>
                                        </p:tgtEl>
                                      </p:cBhvr>
                                    </p:animEffect>
                                    <p:set>
                                      <p:cBhvr>
                                        <p:cTn id="12" dur="1" fill="hold">
                                          <p:stCondLst>
                                            <p:cond delay="999"/>
                                          </p:stCondLst>
                                        </p:cTn>
                                        <p:tgtEl>
                                          <p:spTgt spid="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1000"/>
                                        <p:tgtEl>
                                          <p:spTgt spid="7"/>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p:bldLst>
  </p:timing>
</p:sld>
</file>

<file path=ppt/slides/slide2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Delete Anomaly</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nvPr>
        </p:nvGraphicFramePr>
        <p:xfrm>
          <a:off x="838200" y="2193925"/>
          <a:ext cx="10515600" cy="2962760"/>
        </p:xfrm>
        <a:graphic>
          <a:graphicData uri="http://schemas.openxmlformats.org/drawingml/2006/table">
            <a:tbl>
              <a:tblPr firstRow="1" bandRow="1">
                <a:tableStyleId>{5C22544A-7EE6-4342-B048-85BDC9FD1C3A}</a:tableStyleId>
              </a:tblPr>
              <a:tblGrid>
                <a:gridCol w="785386">
                  <a:extLst>
                    <a:ext uri="{9D8B030D-6E8A-4147-A177-3AD203B41FA5}">
                      <a16:colId xmlns:a16="http://schemas.microsoft.com/office/drawing/2014/main" val="1632358923"/>
                    </a:ext>
                  </a:extLst>
                </a:gridCol>
                <a:gridCol w="2399790">
                  <a:extLst>
                    <a:ext uri="{9D8B030D-6E8A-4147-A177-3AD203B41FA5}">
                      <a16:colId xmlns:a16="http://schemas.microsoft.com/office/drawing/2014/main" val="3505833113"/>
                    </a:ext>
                  </a:extLst>
                </a:gridCol>
                <a:gridCol w="2181627">
                  <a:extLst>
                    <a:ext uri="{9D8B030D-6E8A-4147-A177-3AD203B41FA5}">
                      <a16:colId xmlns:a16="http://schemas.microsoft.com/office/drawing/2014/main" val="3401749839"/>
                    </a:ext>
                  </a:extLst>
                </a:gridCol>
                <a:gridCol w="1745301">
                  <a:extLst>
                    <a:ext uri="{9D8B030D-6E8A-4147-A177-3AD203B41FA5}">
                      <a16:colId xmlns:a16="http://schemas.microsoft.com/office/drawing/2014/main" val="315362434"/>
                    </a:ext>
                  </a:extLst>
                </a:gridCol>
                <a:gridCol w="1876357">
                  <a:extLst>
                    <a:ext uri="{9D8B030D-6E8A-4147-A177-3AD203B41FA5}">
                      <a16:colId xmlns:a16="http://schemas.microsoft.com/office/drawing/2014/main" val="415971381"/>
                    </a:ext>
                  </a:extLst>
                </a:gridCol>
                <a:gridCol w="1527139">
                  <a:extLst>
                    <a:ext uri="{9D8B030D-6E8A-4147-A177-3AD203B41FA5}">
                      <a16:colId xmlns:a16="http://schemas.microsoft.com/office/drawing/2014/main" val="3467447067"/>
                    </a:ext>
                  </a:extLst>
                </a:gridCol>
              </a:tblGrid>
              <a:tr h="592552">
                <a:tc>
                  <a:txBody>
                    <a:bodyPr/>
                    <a:lstStyle/>
                    <a:p>
                      <a:pPr algn="ctr"/>
                      <a:r>
                        <a:rPr lang="en-GB" sz="3200" dirty="0"/>
                        <a:t>ID</a:t>
                      </a:r>
                    </a:p>
                  </a:txBody>
                  <a:tcPr/>
                </a:tc>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a:t>Dept</a:t>
                      </a:r>
                    </a:p>
                  </a:txBody>
                  <a:tcPr/>
                </a:tc>
                <a:tc>
                  <a:txBody>
                    <a:bodyPr/>
                    <a:lstStyle/>
                    <a:p>
                      <a:pPr algn="ctr"/>
                      <a:r>
                        <a:rPr lang="en-GB" sz="3200" dirty="0"/>
                        <a:t>Dept ID</a:t>
                      </a:r>
                    </a:p>
                  </a:txBody>
                  <a:tcPr/>
                </a:tc>
                <a:tc>
                  <a:txBody>
                    <a:bodyPr/>
                    <a:lstStyle/>
                    <a:p>
                      <a:pPr algn="ctr"/>
                      <a:r>
                        <a:rPr lang="en-GB" sz="3200" dirty="0"/>
                        <a:t>Phone</a:t>
                      </a:r>
                    </a:p>
                  </a:txBody>
                  <a:tcPr/>
                </a:tc>
                <a:extLst>
                  <a:ext uri="{0D108BD9-81ED-4DB2-BD59-A6C34878D82A}">
                    <a16:rowId xmlns:a16="http://schemas.microsoft.com/office/drawing/2014/main" val="3459615676"/>
                  </a:ext>
                </a:extLst>
              </a:tr>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1127765656"/>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2924661129"/>
                  </a:ext>
                </a:extLst>
              </a:tr>
              <a:tr h="592552">
                <a:tc>
                  <a:txBody>
                    <a:bodyPr/>
                    <a:lstStyle/>
                    <a:p>
                      <a:pPr lvl="0"/>
                      <a:r>
                        <a:rPr lang="en-GB" sz="3200" dirty="0"/>
                        <a:t>3</a:t>
                      </a:r>
                    </a:p>
                  </a:txBody>
                  <a:tcPr/>
                </a:tc>
                <a:tc>
                  <a:txBody>
                    <a:bodyPr/>
                    <a:lstStyle/>
                    <a:p>
                      <a:pPr lvl="0" algn="l"/>
                      <a:r>
                        <a:rPr lang="en-GB" sz="3200" dirty="0"/>
                        <a:t>Stephen</a:t>
                      </a:r>
                    </a:p>
                  </a:txBody>
                  <a:tcPr/>
                </a:tc>
                <a:tc>
                  <a:txBody>
                    <a:bodyPr/>
                    <a:lstStyle/>
                    <a:p>
                      <a:pPr lvl="0" algn="l"/>
                      <a:r>
                        <a:rPr lang="en-GB" sz="3200" dirty="0"/>
                        <a:t>MacLeod</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3885493841"/>
                  </a:ext>
                </a:extLst>
              </a:tr>
              <a:tr h="592552">
                <a:tc>
                  <a:txBody>
                    <a:bodyPr/>
                    <a:lstStyle/>
                    <a:p>
                      <a:pPr lvl="0"/>
                      <a:r>
                        <a:rPr lang="en-GB" sz="3200" dirty="0"/>
                        <a:t>4</a:t>
                      </a:r>
                    </a:p>
                  </a:txBody>
                  <a:tcPr/>
                </a:tc>
                <a:tc>
                  <a:txBody>
                    <a:bodyPr/>
                    <a:lstStyle/>
                    <a:p>
                      <a:pPr lvl="0" algn="l"/>
                      <a:r>
                        <a:rPr lang="en-GB" sz="3200" dirty="0"/>
                        <a:t>Scott</a:t>
                      </a:r>
                    </a:p>
                  </a:txBody>
                  <a:tcPr/>
                </a:tc>
                <a:tc>
                  <a:txBody>
                    <a:bodyPr/>
                    <a:lstStyle/>
                    <a:p>
                      <a:pPr lvl="0" algn="l"/>
                      <a:r>
                        <a:rPr lang="en-GB" sz="3200" dirty="0"/>
                        <a:t>Sinclair</a:t>
                      </a:r>
                    </a:p>
                  </a:txBody>
                  <a:tcPr/>
                </a:tc>
                <a:tc>
                  <a:txBody>
                    <a:bodyPr/>
                    <a:lstStyle/>
                    <a:p>
                      <a:pPr lvl="0" algn="l"/>
                      <a:r>
                        <a:rPr lang="en-GB" sz="3200" dirty="0"/>
                        <a:t>English</a:t>
                      </a:r>
                    </a:p>
                  </a:txBody>
                  <a:tcPr/>
                </a:tc>
                <a:tc>
                  <a:txBody>
                    <a:bodyPr/>
                    <a:lstStyle/>
                    <a:p>
                      <a:pPr lvl="0"/>
                      <a:r>
                        <a:rPr lang="en-GB" sz="3200" dirty="0"/>
                        <a:t>002</a:t>
                      </a:r>
                    </a:p>
                  </a:txBody>
                  <a:tcPr/>
                </a:tc>
                <a:tc>
                  <a:txBody>
                    <a:bodyPr/>
                    <a:lstStyle/>
                    <a:p>
                      <a:pPr lvl="0"/>
                      <a:r>
                        <a:rPr lang="en-GB" sz="3200" dirty="0"/>
                        <a:t>301</a:t>
                      </a:r>
                    </a:p>
                  </a:txBody>
                  <a:tcPr/>
                </a:tc>
                <a:extLst>
                  <a:ext uri="{0D108BD9-81ED-4DB2-BD59-A6C34878D82A}">
                    <a16:rowId xmlns:a16="http://schemas.microsoft.com/office/drawing/2014/main" val="1487565366"/>
                  </a:ext>
                </a:extLst>
              </a:tr>
            </a:tbl>
          </a:graphicData>
        </a:graphic>
      </p:graphicFrame>
    </p:spTree>
    <p:extLst>
      <p:ext uri="{BB962C8B-B14F-4D97-AF65-F5344CB8AC3E}">
        <p14:creationId xmlns:p14="http://schemas.microsoft.com/office/powerpoint/2010/main" val="3166796811"/>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Update Anomaly</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nvPr>
        </p:nvGraphicFramePr>
        <p:xfrm>
          <a:off x="838200" y="2193925"/>
          <a:ext cx="10515600" cy="3555312"/>
        </p:xfrm>
        <a:graphic>
          <a:graphicData uri="http://schemas.openxmlformats.org/drawingml/2006/table">
            <a:tbl>
              <a:tblPr firstRow="1" bandRow="1">
                <a:tableStyleId>{5C22544A-7EE6-4342-B048-85BDC9FD1C3A}</a:tableStyleId>
              </a:tblPr>
              <a:tblGrid>
                <a:gridCol w="785386">
                  <a:extLst>
                    <a:ext uri="{9D8B030D-6E8A-4147-A177-3AD203B41FA5}">
                      <a16:colId xmlns:a16="http://schemas.microsoft.com/office/drawing/2014/main" val="1632358923"/>
                    </a:ext>
                  </a:extLst>
                </a:gridCol>
                <a:gridCol w="2399790">
                  <a:extLst>
                    <a:ext uri="{9D8B030D-6E8A-4147-A177-3AD203B41FA5}">
                      <a16:colId xmlns:a16="http://schemas.microsoft.com/office/drawing/2014/main" val="3505833113"/>
                    </a:ext>
                  </a:extLst>
                </a:gridCol>
                <a:gridCol w="2181627">
                  <a:extLst>
                    <a:ext uri="{9D8B030D-6E8A-4147-A177-3AD203B41FA5}">
                      <a16:colId xmlns:a16="http://schemas.microsoft.com/office/drawing/2014/main" val="3401749839"/>
                    </a:ext>
                  </a:extLst>
                </a:gridCol>
                <a:gridCol w="1745301">
                  <a:extLst>
                    <a:ext uri="{9D8B030D-6E8A-4147-A177-3AD203B41FA5}">
                      <a16:colId xmlns:a16="http://schemas.microsoft.com/office/drawing/2014/main" val="315362434"/>
                    </a:ext>
                  </a:extLst>
                </a:gridCol>
                <a:gridCol w="1876357">
                  <a:extLst>
                    <a:ext uri="{9D8B030D-6E8A-4147-A177-3AD203B41FA5}">
                      <a16:colId xmlns:a16="http://schemas.microsoft.com/office/drawing/2014/main" val="415971381"/>
                    </a:ext>
                  </a:extLst>
                </a:gridCol>
                <a:gridCol w="1527139">
                  <a:extLst>
                    <a:ext uri="{9D8B030D-6E8A-4147-A177-3AD203B41FA5}">
                      <a16:colId xmlns:a16="http://schemas.microsoft.com/office/drawing/2014/main" val="3467447067"/>
                    </a:ext>
                  </a:extLst>
                </a:gridCol>
              </a:tblGrid>
              <a:tr h="592552">
                <a:tc>
                  <a:txBody>
                    <a:bodyPr/>
                    <a:lstStyle/>
                    <a:p>
                      <a:pPr algn="ctr"/>
                      <a:r>
                        <a:rPr lang="en-GB" sz="3200" dirty="0"/>
                        <a:t>ID</a:t>
                      </a:r>
                    </a:p>
                  </a:txBody>
                  <a:tcPr/>
                </a:tc>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a:t>Dept</a:t>
                      </a:r>
                    </a:p>
                  </a:txBody>
                  <a:tcPr/>
                </a:tc>
                <a:tc>
                  <a:txBody>
                    <a:bodyPr/>
                    <a:lstStyle/>
                    <a:p>
                      <a:pPr algn="ctr"/>
                      <a:r>
                        <a:rPr lang="en-GB" sz="3200" dirty="0"/>
                        <a:t>Dept ID</a:t>
                      </a:r>
                    </a:p>
                  </a:txBody>
                  <a:tcPr/>
                </a:tc>
                <a:tc>
                  <a:txBody>
                    <a:bodyPr/>
                    <a:lstStyle/>
                    <a:p>
                      <a:pPr algn="ctr"/>
                      <a:r>
                        <a:rPr lang="en-GB" sz="3200" dirty="0"/>
                        <a:t>Phone</a:t>
                      </a:r>
                    </a:p>
                  </a:txBody>
                  <a:tcPr/>
                </a:tc>
                <a:extLst>
                  <a:ext uri="{0D108BD9-81ED-4DB2-BD59-A6C34878D82A}">
                    <a16:rowId xmlns:a16="http://schemas.microsoft.com/office/drawing/2014/main" val="3459615676"/>
                  </a:ext>
                </a:extLst>
              </a:tr>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1127765656"/>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2924661129"/>
                  </a:ext>
                </a:extLst>
              </a:tr>
              <a:tr h="592552">
                <a:tc>
                  <a:txBody>
                    <a:bodyPr/>
                    <a:lstStyle/>
                    <a:p>
                      <a:pPr lvl="0"/>
                      <a:r>
                        <a:rPr lang="en-GB" sz="3200" dirty="0"/>
                        <a:t>3</a:t>
                      </a:r>
                    </a:p>
                  </a:txBody>
                  <a:tcPr/>
                </a:tc>
                <a:tc>
                  <a:txBody>
                    <a:bodyPr/>
                    <a:lstStyle/>
                    <a:p>
                      <a:pPr lvl="0" algn="l"/>
                      <a:r>
                        <a:rPr lang="en-GB" sz="3200" dirty="0"/>
                        <a:t>Stephen</a:t>
                      </a:r>
                    </a:p>
                  </a:txBody>
                  <a:tcPr/>
                </a:tc>
                <a:tc>
                  <a:txBody>
                    <a:bodyPr/>
                    <a:lstStyle/>
                    <a:p>
                      <a:pPr lvl="0" algn="l"/>
                      <a:r>
                        <a:rPr lang="en-GB" sz="3200" dirty="0"/>
                        <a:t>MacLeod</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3885493841"/>
                  </a:ext>
                </a:extLst>
              </a:tr>
              <a:tr h="592552">
                <a:tc>
                  <a:txBody>
                    <a:bodyPr/>
                    <a:lstStyle/>
                    <a:p>
                      <a:pPr lvl="0"/>
                      <a:r>
                        <a:rPr lang="en-GB" sz="3200" dirty="0"/>
                        <a:t>4</a:t>
                      </a:r>
                    </a:p>
                  </a:txBody>
                  <a:tcPr/>
                </a:tc>
                <a:tc>
                  <a:txBody>
                    <a:bodyPr/>
                    <a:lstStyle/>
                    <a:p>
                      <a:pPr lvl="0" algn="l"/>
                      <a:r>
                        <a:rPr lang="en-GB" sz="3200" dirty="0"/>
                        <a:t>Scott</a:t>
                      </a:r>
                    </a:p>
                  </a:txBody>
                  <a:tcPr/>
                </a:tc>
                <a:tc>
                  <a:txBody>
                    <a:bodyPr/>
                    <a:lstStyle/>
                    <a:p>
                      <a:pPr lvl="0" algn="l"/>
                      <a:r>
                        <a:rPr lang="en-GB" sz="3200" dirty="0"/>
                        <a:t>Sinclair</a:t>
                      </a:r>
                    </a:p>
                  </a:txBody>
                  <a:tcPr/>
                </a:tc>
                <a:tc>
                  <a:txBody>
                    <a:bodyPr/>
                    <a:lstStyle/>
                    <a:p>
                      <a:pPr lvl="0" algn="l"/>
                      <a:r>
                        <a:rPr lang="en-GB" sz="3200" dirty="0"/>
                        <a:t>English</a:t>
                      </a:r>
                    </a:p>
                  </a:txBody>
                  <a:tcPr/>
                </a:tc>
                <a:tc>
                  <a:txBody>
                    <a:bodyPr/>
                    <a:lstStyle/>
                    <a:p>
                      <a:pPr lvl="0"/>
                      <a:r>
                        <a:rPr lang="en-GB" sz="3200" dirty="0"/>
                        <a:t>002</a:t>
                      </a:r>
                    </a:p>
                  </a:txBody>
                  <a:tcPr/>
                </a:tc>
                <a:tc>
                  <a:txBody>
                    <a:bodyPr/>
                    <a:lstStyle/>
                    <a:p>
                      <a:pPr lvl="0"/>
                      <a:r>
                        <a:rPr lang="en-GB" sz="3200" dirty="0"/>
                        <a:t>301</a:t>
                      </a:r>
                    </a:p>
                  </a:txBody>
                  <a:tcPr/>
                </a:tc>
                <a:extLst>
                  <a:ext uri="{0D108BD9-81ED-4DB2-BD59-A6C34878D82A}">
                    <a16:rowId xmlns:a16="http://schemas.microsoft.com/office/drawing/2014/main" val="1487565366"/>
                  </a:ext>
                </a:extLst>
              </a:tr>
              <a:tr h="592552">
                <a:tc>
                  <a:txBody>
                    <a:bodyPr/>
                    <a:lstStyle/>
                    <a:p>
                      <a:pPr lvl="0"/>
                      <a:r>
                        <a:rPr lang="en-GB" sz="3200" dirty="0"/>
                        <a:t>5</a:t>
                      </a:r>
                    </a:p>
                  </a:txBody>
                  <a:tcPr/>
                </a:tc>
                <a:tc>
                  <a:txBody>
                    <a:bodyPr/>
                    <a:lstStyle/>
                    <a:p>
                      <a:pPr lvl="0" algn="l"/>
                      <a:r>
                        <a:rPr lang="en-GB" sz="3200" dirty="0"/>
                        <a:t>Michelle</a:t>
                      </a:r>
                    </a:p>
                  </a:txBody>
                  <a:tcPr/>
                </a:tc>
                <a:tc>
                  <a:txBody>
                    <a:bodyPr/>
                    <a:lstStyle/>
                    <a:p>
                      <a:pPr lvl="0" algn="l"/>
                      <a:r>
                        <a:rPr lang="en-GB" sz="3200" dirty="0"/>
                        <a:t>Wie</a:t>
                      </a:r>
                    </a:p>
                  </a:txBody>
                  <a:tcPr/>
                </a:tc>
                <a:tc>
                  <a:txBody>
                    <a:bodyPr/>
                    <a:lstStyle/>
                    <a:p>
                      <a:pPr lvl="0" algn="l"/>
                      <a:r>
                        <a:rPr lang="en-GB" sz="3200" dirty="0"/>
                        <a:t>English</a:t>
                      </a:r>
                    </a:p>
                  </a:txBody>
                  <a:tcPr/>
                </a:tc>
                <a:tc>
                  <a:txBody>
                    <a:bodyPr/>
                    <a:lstStyle/>
                    <a:p>
                      <a:pPr lvl="0"/>
                      <a:r>
                        <a:rPr lang="en-GB" sz="3200" dirty="0"/>
                        <a:t>002</a:t>
                      </a:r>
                    </a:p>
                  </a:txBody>
                  <a:tcPr/>
                </a:tc>
                <a:tc>
                  <a:txBody>
                    <a:bodyPr/>
                    <a:lstStyle/>
                    <a:p>
                      <a:pPr lvl="0"/>
                      <a:r>
                        <a:rPr lang="en-GB" sz="3200" dirty="0"/>
                        <a:t>301</a:t>
                      </a:r>
                    </a:p>
                  </a:txBody>
                  <a:tcPr/>
                </a:tc>
                <a:extLst>
                  <a:ext uri="{0D108BD9-81ED-4DB2-BD59-A6C34878D82A}">
                    <a16:rowId xmlns:a16="http://schemas.microsoft.com/office/drawing/2014/main" val="81894544"/>
                  </a:ext>
                </a:extLst>
              </a:tr>
            </a:tbl>
          </a:graphicData>
        </a:graphic>
      </p:graphicFrame>
      <p:graphicFrame>
        <p:nvGraphicFramePr>
          <p:cNvPr id="3" name="Table 2">
            <a:extLst>
              <a:ext uri="{FF2B5EF4-FFF2-40B4-BE49-F238E27FC236}">
                <a16:creationId xmlns:a16="http://schemas.microsoft.com/office/drawing/2014/main" id="{E5FB5CC0-6D81-48CA-8C78-BBC6CEB9D8ED}"/>
              </a:ext>
            </a:extLst>
          </p:cNvPr>
          <p:cNvGraphicFramePr>
            <a:graphicFrameLocks noGrp="1"/>
          </p:cNvGraphicFramePr>
          <p:nvPr/>
        </p:nvGraphicFramePr>
        <p:xfrm>
          <a:off x="838200" y="2783896"/>
          <a:ext cx="10515600" cy="1185104"/>
        </p:xfrm>
        <a:graphic>
          <a:graphicData uri="http://schemas.openxmlformats.org/drawingml/2006/table">
            <a:tbl>
              <a:tblPr bandRow="1">
                <a:tableStyleId>{5C22544A-7EE6-4342-B048-85BDC9FD1C3A}</a:tableStyleId>
              </a:tblPr>
              <a:tblGrid>
                <a:gridCol w="785386">
                  <a:extLst>
                    <a:ext uri="{9D8B030D-6E8A-4147-A177-3AD203B41FA5}">
                      <a16:colId xmlns:a16="http://schemas.microsoft.com/office/drawing/2014/main" val="2684301988"/>
                    </a:ext>
                  </a:extLst>
                </a:gridCol>
                <a:gridCol w="2399790">
                  <a:extLst>
                    <a:ext uri="{9D8B030D-6E8A-4147-A177-3AD203B41FA5}">
                      <a16:colId xmlns:a16="http://schemas.microsoft.com/office/drawing/2014/main" val="3554510891"/>
                    </a:ext>
                  </a:extLst>
                </a:gridCol>
                <a:gridCol w="2181627">
                  <a:extLst>
                    <a:ext uri="{9D8B030D-6E8A-4147-A177-3AD203B41FA5}">
                      <a16:colId xmlns:a16="http://schemas.microsoft.com/office/drawing/2014/main" val="76118969"/>
                    </a:ext>
                  </a:extLst>
                </a:gridCol>
                <a:gridCol w="1745301">
                  <a:extLst>
                    <a:ext uri="{9D8B030D-6E8A-4147-A177-3AD203B41FA5}">
                      <a16:colId xmlns:a16="http://schemas.microsoft.com/office/drawing/2014/main" val="2256709060"/>
                    </a:ext>
                  </a:extLst>
                </a:gridCol>
                <a:gridCol w="1876357">
                  <a:extLst>
                    <a:ext uri="{9D8B030D-6E8A-4147-A177-3AD203B41FA5}">
                      <a16:colId xmlns:a16="http://schemas.microsoft.com/office/drawing/2014/main" val="2333792100"/>
                    </a:ext>
                  </a:extLst>
                </a:gridCol>
                <a:gridCol w="1527139">
                  <a:extLst>
                    <a:ext uri="{9D8B030D-6E8A-4147-A177-3AD203B41FA5}">
                      <a16:colId xmlns:a16="http://schemas.microsoft.com/office/drawing/2014/main" val="705863989"/>
                    </a:ext>
                  </a:extLst>
                </a:gridCol>
              </a:tblGrid>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400</a:t>
                      </a:r>
                    </a:p>
                  </a:txBody>
                  <a:tcPr/>
                </a:tc>
                <a:extLst>
                  <a:ext uri="{0D108BD9-81ED-4DB2-BD59-A6C34878D82A}">
                    <a16:rowId xmlns:a16="http://schemas.microsoft.com/office/drawing/2014/main" val="2098199609"/>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400</a:t>
                      </a:r>
                    </a:p>
                  </a:txBody>
                  <a:tcPr/>
                </a:tc>
                <a:extLst>
                  <a:ext uri="{0D108BD9-81ED-4DB2-BD59-A6C34878D82A}">
                    <a16:rowId xmlns:a16="http://schemas.microsoft.com/office/drawing/2014/main" val="3854276890"/>
                  </a:ext>
                </a:extLst>
              </a:tr>
            </a:tbl>
          </a:graphicData>
        </a:graphic>
      </p:graphicFrame>
      <p:sp>
        <p:nvSpPr>
          <p:cNvPr id="6" name="Callout: Bent Line with No Border 4">
            <a:extLst>
              <a:ext uri="{FF2B5EF4-FFF2-40B4-BE49-F238E27FC236}">
                <a16:creationId xmlns:a16="http://schemas.microsoft.com/office/drawing/2014/main" id="{924404A3-ED4C-4699-9CA9-EFEB23F51AA9}"/>
              </a:ext>
            </a:extLst>
          </p:cNvPr>
          <p:cNvSpPr/>
          <p:nvPr/>
        </p:nvSpPr>
        <p:spPr>
          <a:xfrm>
            <a:off x="5353050" y="5599527"/>
            <a:ext cx="2651439" cy="882650"/>
          </a:xfrm>
          <a:prstGeom prst="callout2">
            <a:avLst>
              <a:gd name="adj1" fmla="val 49806"/>
              <a:gd name="adj2" fmla="val 101751"/>
              <a:gd name="adj3" fmla="val 49172"/>
              <a:gd name="adj4" fmla="val 131362"/>
              <a:gd name="adj5" fmla="val -109285"/>
              <a:gd name="adj6" fmla="val 168410"/>
            </a:avLst>
          </a:prstGeom>
          <a:noFill/>
          <a:ln w="38100">
            <a:solidFill>
              <a:srgbClr val="FF0000"/>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chemeClr val="tx1"/>
                </a:solidFill>
              </a:rPr>
              <a:t>Update anomaly</a:t>
            </a:r>
          </a:p>
        </p:txBody>
      </p:sp>
      <p:sp>
        <p:nvSpPr>
          <p:cNvPr id="7" name="Rectangle: Rounded Corners 6">
            <a:extLst>
              <a:ext uri="{FF2B5EF4-FFF2-40B4-BE49-F238E27FC236}">
                <a16:creationId xmlns:a16="http://schemas.microsoft.com/office/drawing/2014/main" id="{1CCC2A12-DF5C-496B-B881-6647A8EC7DEF}"/>
              </a:ext>
            </a:extLst>
          </p:cNvPr>
          <p:cNvSpPr/>
          <p:nvPr/>
        </p:nvSpPr>
        <p:spPr>
          <a:xfrm>
            <a:off x="9817100" y="4009118"/>
            <a:ext cx="900000" cy="5400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985E7E1A-C387-4773-BF69-BFCB8B0D718F}"/>
              </a:ext>
            </a:extLst>
          </p:cNvPr>
          <p:cNvSpPr txBox="1"/>
          <p:nvPr/>
        </p:nvSpPr>
        <p:spPr>
          <a:xfrm>
            <a:off x="838200" y="1559731"/>
            <a:ext cx="7363298" cy="584775"/>
          </a:xfrm>
          <a:prstGeom prst="rect">
            <a:avLst/>
          </a:prstGeom>
          <a:noFill/>
        </p:spPr>
        <p:txBody>
          <a:bodyPr wrap="none" rtlCol="0">
            <a:spAutoFit/>
          </a:bodyPr>
          <a:lstStyle/>
          <a:p>
            <a:r>
              <a:rPr lang="en-GB" sz="3200" dirty="0"/>
              <a:t>Change the ICT department's phone to 400</a:t>
            </a:r>
          </a:p>
        </p:txBody>
      </p:sp>
      <p:sp>
        <p:nvSpPr>
          <p:cNvPr id="8" name="Rectangle: Rounded Corners 7">
            <a:extLst>
              <a:ext uri="{FF2B5EF4-FFF2-40B4-BE49-F238E27FC236}">
                <a16:creationId xmlns:a16="http://schemas.microsoft.com/office/drawing/2014/main" id="{56023B96-802F-402B-B2CE-5DE5DE4C6FB1}"/>
              </a:ext>
            </a:extLst>
          </p:cNvPr>
          <p:cNvSpPr/>
          <p:nvPr/>
        </p:nvSpPr>
        <p:spPr>
          <a:xfrm>
            <a:off x="9817100" y="2781296"/>
            <a:ext cx="900000" cy="1188000"/>
          </a:xfrm>
          <a:prstGeom prst="roundRect">
            <a:avLst/>
          </a:prstGeom>
          <a:noFill/>
          <a:ln w="3810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69543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1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1000"/>
                                        <p:tgtEl>
                                          <p:spTgt spid="7"/>
                                        </p:tgtEl>
                                      </p:cBhvr>
                                    </p:animEffect>
                                  </p:childTnLst>
                                </p:cTn>
                              </p:par>
                            </p:childTnLst>
                          </p:cTn>
                        </p:par>
                        <p:par>
                          <p:cTn id="23" fill="hold">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p:bldP spid="8" grpId="0" animBg="1"/>
    </p:bldLst>
  </p:timing>
</p:sld>
</file>

<file path=ppt/slides/slide2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866C-D163-466F-886D-CDF1E69610EA}"/>
              </a:ext>
            </a:extLst>
          </p:cNvPr>
          <p:cNvSpPr>
            <a:spLocks noGrp="1"/>
          </p:cNvSpPr>
          <p:nvPr>
            <p:ph type="title"/>
          </p:nvPr>
        </p:nvSpPr>
        <p:spPr/>
        <p:txBody>
          <a:bodyPr/>
          <a:lstStyle/>
          <a:p>
            <a:r>
              <a:rPr lang="en-GB" dirty="0"/>
              <a:t>Update Anomaly</a:t>
            </a:r>
          </a:p>
        </p:txBody>
      </p:sp>
      <p:graphicFrame>
        <p:nvGraphicFramePr>
          <p:cNvPr id="5" name="Table 5">
            <a:extLst>
              <a:ext uri="{FF2B5EF4-FFF2-40B4-BE49-F238E27FC236}">
                <a16:creationId xmlns:a16="http://schemas.microsoft.com/office/drawing/2014/main" id="{38A8414E-6490-4AD8-90BD-DF0216F61C69}"/>
              </a:ext>
            </a:extLst>
          </p:cNvPr>
          <p:cNvGraphicFramePr>
            <a:graphicFrameLocks noGrp="1"/>
          </p:cNvGraphicFramePr>
          <p:nvPr>
            <p:ph idx="1"/>
          </p:nvPr>
        </p:nvGraphicFramePr>
        <p:xfrm>
          <a:off x="838200" y="2193925"/>
          <a:ext cx="10515600" cy="3555312"/>
        </p:xfrm>
        <a:graphic>
          <a:graphicData uri="http://schemas.openxmlformats.org/drawingml/2006/table">
            <a:tbl>
              <a:tblPr firstRow="1" bandRow="1">
                <a:tableStyleId>{5C22544A-7EE6-4342-B048-85BDC9FD1C3A}</a:tableStyleId>
              </a:tblPr>
              <a:tblGrid>
                <a:gridCol w="785386">
                  <a:extLst>
                    <a:ext uri="{9D8B030D-6E8A-4147-A177-3AD203B41FA5}">
                      <a16:colId xmlns:a16="http://schemas.microsoft.com/office/drawing/2014/main" val="1632358923"/>
                    </a:ext>
                  </a:extLst>
                </a:gridCol>
                <a:gridCol w="2399790">
                  <a:extLst>
                    <a:ext uri="{9D8B030D-6E8A-4147-A177-3AD203B41FA5}">
                      <a16:colId xmlns:a16="http://schemas.microsoft.com/office/drawing/2014/main" val="3505833113"/>
                    </a:ext>
                  </a:extLst>
                </a:gridCol>
                <a:gridCol w="2181627">
                  <a:extLst>
                    <a:ext uri="{9D8B030D-6E8A-4147-A177-3AD203B41FA5}">
                      <a16:colId xmlns:a16="http://schemas.microsoft.com/office/drawing/2014/main" val="3401749839"/>
                    </a:ext>
                  </a:extLst>
                </a:gridCol>
                <a:gridCol w="1745301">
                  <a:extLst>
                    <a:ext uri="{9D8B030D-6E8A-4147-A177-3AD203B41FA5}">
                      <a16:colId xmlns:a16="http://schemas.microsoft.com/office/drawing/2014/main" val="315362434"/>
                    </a:ext>
                  </a:extLst>
                </a:gridCol>
                <a:gridCol w="1876357">
                  <a:extLst>
                    <a:ext uri="{9D8B030D-6E8A-4147-A177-3AD203B41FA5}">
                      <a16:colId xmlns:a16="http://schemas.microsoft.com/office/drawing/2014/main" val="415971381"/>
                    </a:ext>
                  </a:extLst>
                </a:gridCol>
                <a:gridCol w="1527139">
                  <a:extLst>
                    <a:ext uri="{9D8B030D-6E8A-4147-A177-3AD203B41FA5}">
                      <a16:colId xmlns:a16="http://schemas.microsoft.com/office/drawing/2014/main" val="3467447067"/>
                    </a:ext>
                  </a:extLst>
                </a:gridCol>
              </a:tblGrid>
              <a:tr h="592552">
                <a:tc>
                  <a:txBody>
                    <a:bodyPr/>
                    <a:lstStyle/>
                    <a:p>
                      <a:pPr algn="ctr"/>
                      <a:r>
                        <a:rPr lang="en-GB" sz="3200" dirty="0"/>
                        <a:t>ID</a:t>
                      </a:r>
                    </a:p>
                  </a:txBody>
                  <a:tcPr/>
                </a:tc>
                <a:tc>
                  <a:txBody>
                    <a:bodyPr/>
                    <a:lstStyle/>
                    <a:p>
                      <a:pPr algn="ctr"/>
                      <a:r>
                        <a:rPr lang="en-GB" sz="3200" dirty="0"/>
                        <a:t>Forename</a:t>
                      </a:r>
                    </a:p>
                  </a:txBody>
                  <a:tcPr/>
                </a:tc>
                <a:tc>
                  <a:txBody>
                    <a:bodyPr/>
                    <a:lstStyle/>
                    <a:p>
                      <a:pPr algn="ctr"/>
                      <a:r>
                        <a:rPr lang="en-GB" sz="3200" dirty="0"/>
                        <a:t>Surname</a:t>
                      </a:r>
                    </a:p>
                  </a:txBody>
                  <a:tcPr/>
                </a:tc>
                <a:tc>
                  <a:txBody>
                    <a:bodyPr/>
                    <a:lstStyle/>
                    <a:p>
                      <a:pPr algn="ctr"/>
                      <a:r>
                        <a:rPr lang="en-GB" sz="3200" dirty="0"/>
                        <a:t>Dept</a:t>
                      </a:r>
                    </a:p>
                  </a:txBody>
                  <a:tcPr/>
                </a:tc>
                <a:tc>
                  <a:txBody>
                    <a:bodyPr/>
                    <a:lstStyle/>
                    <a:p>
                      <a:pPr algn="ctr"/>
                      <a:r>
                        <a:rPr lang="en-GB" sz="3200" dirty="0"/>
                        <a:t>Dept ID</a:t>
                      </a:r>
                    </a:p>
                  </a:txBody>
                  <a:tcPr/>
                </a:tc>
                <a:tc>
                  <a:txBody>
                    <a:bodyPr/>
                    <a:lstStyle/>
                    <a:p>
                      <a:pPr algn="ctr"/>
                      <a:r>
                        <a:rPr lang="en-GB" sz="3200" dirty="0"/>
                        <a:t>Phone</a:t>
                      </a:r>
                    </a:p>
                  </a:txBody>
                  <a:tcPr/>
                </a:tc>
                <a:extLst>
                  <a:ext uri="{0D108BD9-81ED-4DB2-BD59-A6C34878D82A}">
                    <a16:rowId xmlns:a16="http://schemas.microsoft.com/office/drawing/2014/main" val="3459615676"/>
                  </a:ext>
                </a:extLst>
              </a:tr>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1127765656"/>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2924661129"/>
                  </a:ext>
                </a:extLst>
              </a:tr>
              <a:tr h="592552">
                <a:tc>
                  <a:txBody>
                    <a:bodyPr/>
                    <a:lstStyle/>
                    <a:p>
                      <a:pPr lvl="0"/>
                      <a:r>
                        <a:rPr lang="en-GB" sz="3200" dirty="0"/>
                        <a:t>3</a:t>
                      </a:r>
                    </a:p>
                  </a:txBody>
                  <a:tcPr/>
                </a:tc>
                <a:tc>
                  <a:txBody>
                    <a:bodyPr/>
                    <a:lstStyle/>
                    <a:p>
                      <a:pPr lvl="0" algn="l"/>
                      <a:r>
                        <a:rPr lang="en-GB" sz="3200" dirty="0"/>
                        <a:t>Stephen</a:t>
                      </a:r>
                    </a:p>
                  </a:txBody>
                  <a:tcPr/>
                </a:tc>
                <a:tc>
                  <a:txBody>
                    <a:bodyPr/>
                    <a:lstStyle/>
                    <a:p>
                      <a:pPr lvl="0" algn="l"/>
                      <a:r>
                        <a:rPr lang="en-GB" sz="3200" dirty="0"/>
                        <a:t>MacLeod</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300</a:t>
                      </a:r>
                    </a:p>
                  </a:txBody>
                  <a:tcPr/>
                </a:tc>
                <a:extLst>
                  <a:ext uri="{0D108BD9-81ED-4DB2-BD59-A6C34878D82A}">
                    <a16:rowId xmlns:a16="http://schemas.microsoft.com/office/drawing/2014/main" val="3885493841"/>
                  </a:ext>
                </a:extLst>
              </a:tr>
              <a:tr h="592552">
                <a:tc>
                  <a:txBody>
                    <a:bodyPr/>
                    <a:lstStyle/>
                    <a:p>
                      <a:pPr lvl="0"/>
                      <a:r>
                        <a:rPr lang="en-GB" sz="3200" dirty="0"/>
                        <a:t>4</a:t>
                      </a:r>
                    </a:p>
                  </a:txBody>
                  <a:tcPr/>
                </a:tc>
                <a:tc>
                  <a:txBody>
                    <a:bodyPr/>
                    <a:lstStyle/>
                    <a:p>
                      <a:pPr lvl="0" algn="l"/>
                      <a:r>
                        <a:rPr lang="en-GB" sz="3200" dirty="0"/>
                        <a:t>Scott</a:t>
                      </a:r>
                    </a:p>
                  </a:txBody>
                  <a:tcPr/>
                </a:tc>
                <a:tc>
                  <a:txBody>
                    <a:bodyPr/>
                    <a:lstStyle/>
                    <a:p>
                      <a:pPr lvl="0" algn="l"/>
                      <a:r>
                        <a:rPr lang="en-GB" sz="3200" dirty="0"/>
                        <a:t>Sinclair</a:t>
                      </a:r>
                    </a:p>
                  </a:txBody>
                  <a:tcPr/>
                </a:tc>
                <a:tc>
                  <a:txBody>
                    <a:bodyPr/>
                    <a:lstStyle/>
                    <a:p>
                      <a:pPr lvl="0" algn="l"/>
                      <a:r>
                        <a:rPr lang="en-GB" sz="3200" dirty="0"/>
                        <a:t>English</a:t>
                      </a:r>
                    </a:p>
                  </a:txBody>
                  <a:tcPr/>
                </a:tc>
                <a:tc>
                  <a:txBody>
                    <a:bodyPr/>
                    <a:lstStyle/>
                    <a:p>
                      <a:pPr lvl="0"/>
                      <a:r>
                        <a:rPr lang="en-GB" sz="3200" dirty="0"/>
                        <a:t>002</a:t>
                      </a:r>
                    </a:p>
                  </a:txBody>
                  <a:tcPr/>
                </a:tc>
                <a:tc>
                  <a:txBody>
                    <a:bodyPr/>
                    <a:lstStyle/>
                    <a:p>
                      <a:pPr lvl="0"/>
                      <a:r>
                        <a:rPr lang="en-GB" sz="3200" dirty="0"/>
                        <a:t>301</a:t>
                      </a:r>
                    </a:p>
                  </a:txBody>
                  <a:tcPr/>
                </a:tc>
                <a:extLst>
                  <a:ext uri="{0D108BD9-81ED-4DB2-BD59-A6C34878D82A}">
                    <a16:rowId xmlns:a16="http://schemas.microsoft.com/office/drawing/2014/main" val="1487565366"/>
                  </a:ext>
                </a:extLst>
              </a:tr>
              <a:tr h="592552">
                <a:tc>
                  <a:txBody>
                    <a:bodyPr/>
                    <a:lstStyle/>
                    <a:p>
                      <a:pPr lvl="0"/>
                      <a:r>
                        <a:rPr lang="en-GB" sz="3200" dirty="0"/>
                        <a:t>5</a:t>
                      </a:r>
                    </a:p>
                  </a:txBody>
                  <a:tcPr/>
                </a:tc>
                <a:tc>
                  <a:txBody>
                    <a:bodyPr/>
                    <a:lstStyle/>
                    <a:p>
                      <a:pPr lvl="0" algn="l"/>
                      <a:r>
                        <a:rPr lang="en-GB" sz="3200" dirty="0"/>
                        <a:t>Michelle</a:t>
                      </a:r>
                    </a:p>
                  </a:txBody>
                  <a:tcPr/>
                </a:tc>
                <a:tc>
                  <a:txBody>
                    <a:bodyPr/>
                    <a:lstStyle/>
                    <a:p>
                      <a:pPr lvl="0" algn="l"/>
                      <a:r>
                        <a:rPr lang="en-GB" sz="3200" dirty="0"/>
                        <a:t>Wie</a:t>
                      </a:r>
                    </a:p>
                  </a:txBody>
                  <a:tcPr/>
                </a:tc>
                <a:tc>
                  <a:txBody>
                    <a:bodyPr/>
                    <a:lstStyle/>
                    <a:p>
                      <a:pPr lvl="0" algn="l"/>
                      <a:r>
                        <a:rPr lang="en-GB" sz="3200" dirty="0"/>
                        <a:t>English</a:t>
                      </a:r>
                    </a:p>
                  </a:txBody>
                  <a:tcPr/>
                </a:tc>
                <a:tc>
                  <a:txBody>
                    <a:bodyPr/>
                    <a:lstStyle/>
                    <a:p>
                      <a:pPr lvl="0"/>
                      <a:r>
                        <a:rPr lang="en-GB" sz="3200" dirty="0"/>
                        <a:t>002</a:t>
                      </a:r>
                    </a:p>
                  </a:txBody>
                  <a:tcPr/>
                </a:tc>
                <a:tc>
                  <a:txBody>
                    <a:bodyPr/>
                    <a:lstStyle/>
                    <a:p>
                      <a:pPr lvl="0"/>
                      <a:r>
                        <a:rPr lang="en-GB" sz="3200" dirty="0"/>
                        <a:t>301</a:t>
                      </a:r>
                    </a:p>
                  </a:txBody>
                  <a:tcPr/>
                </a:tc>
                <a:extLst>
                  <a:ext uri="{0D108BD9-81ED-4DB2-BD59-A6C34878D82A}">
                    <a16:rowId xmlns:a16="http://schemas.microsoft.com/office/drawing/2014/main" val="81894544"/>
                  </a:ext>
                </a:extLst>
              </a:tr>
            </a:tbl>
          </a:graphicData>
        </a:graphic>
      </p:graphicFrame>
      <p:graphicFrame>
        <p:nvGraphicFramePr>
          <p:cNvPr id="3" name="Table 2">
            <a:extLst>
              <a:ext uri="{FF2B5EF4-FFF2-40B4-BE49-F238E27FC236}">
                <a16:creationId xmlns:a16="http://schemas.microsoft.com/office/drawing/2014/main" id="{E5FB5CC0-6D81-48CA-8C78-BBC6CEB9D8ED}"/>
              </a:ext>
            </a:extLst>
          </p:cNvPr>
          <p:cNvGraphicFramePr>
            <a:graphicFrameLocks noGrp="1"/>
          </p:cNvGraphicFramePr>
          <p:nvPr/>
        </p:nvGraphicFramePr>
        <p:xfrm>
          <a:off x="838200" y="2783896"/>
          <a:ext cx="10515600" cy="1185104"/>
        </p:xfrm>
        <a:graphic>
          <a:graphicData uri="http://schemas.openxmlformats.org/drawingml/2006/table">
            <a:tbl>
              <a:tblPr bandRow="1">
                <a:tableStyleId>{5C22544A-7EE6-4342-B048-85BDC9FD1C3A}</a:tableStyleId>
              </a:tblPr>
              <a:tblGrid>
                <a:gridCol w="785386">
                  <a:extLst>
                    <a:ext uri="{9D8B030D-6E8A-4147-A177-3AD203B41FA5}">
                      <a16:colId xmlns:a16="http://schemas.microsoft.com/office/drawing/2014/main" val="2684301988"/>
                    </a:ext>
                  </a:extLst>
                </a:gridCol>
                <a:gridCol w="2399790">
                  <a:extLst>
                    <a:ext uri="{9D8B030D-6E8A-4147-A177-3AD203B41FA5}">
                      <a16:colId xmlns:a16="http://schemas.microsoft.com/office/drawing/2014/main" val="3554510891"/>
                    </a:ext>
                  </a:extLst>
                </a:gridCol>
                <a:gridCol w="2181627">
                  <a:extLst>
                    <a:ext uri="{9D8B030D-6E8A-4147-A177-3AD203B41FA5}">
                      <a16:colId xmlns:a16="http://schemas.microsoft.com/office/drawing/2014/main" val="76118969"/>
                    </a:ext>
                  </a:extLst>
                </a:gridCol>
                <a:gridCol w="1745301">
                  <a:extLst>
                    <a:ext uri="{9D8B030D-6E8A-4147-A177-3AD203B41FA5}">
                      <a16:colId xmlns:a16="http://schemas.microsoft.com/office/drawing/2014/main" val="2256709060"/>
                    </a:ext>
                  </a:extLst>
                </a:gridCol>
                <a:gridCol w="1876357">
                  <a:extLst>
                    <a:ext uri="{9D8B030D-6E8A-4147-A177-3AD203B41FA5}">
                      <a16:colId xmlns:a16="http://schemas.microsoft.com/office/drawing/2014/main" val="2333792100"/>
                    </a:ext>
                  </a:extLst>
                </a:gridCol>
                <a:gridCol w="1527139">
                  <a:extLst>
                    <a:ext uri="{9D8B030D-6E8A-4147-A177-3AD203B41FA5}">
                      <a16:colId xmlns:a16="http://schemas.microsoft.com/office/drawing/2014/main" val="705863989"/>
                    </a:ext>
                  </a:extLst>
                </a:gridCol>
              </a:tblGrid>
              <a:tr h="592552">
                <a:tc>
                  <a:txBody>
                    <a:bodyPr/>
                    <a:lstStyle/>
                    <a:p>
                      <a:pPr lvl="0"/>
                      <a:r>
                        <a:rPr lang="en-GB" sz="3200" dirty="0"/>
                        <a:t>1</a:t>
                      </a:r>
                    </a:p>
                  </a:txBody>
                  <a:tcPr/>
                </a:tc>
                <a:tc>
                  <a:txBody>
                    <a:bodyPr/>
                    <a:lstStyle/>
                    <a:p>
                      <a:pPr lvl="0" algn="l"/>
                      <a:r>
                        <a:rPr lang="en-GB" sz="3200" dirty="0"/>
                        <a:t>Colin</a:t>
                      </a:r>
                    </a:p>
                  </a:txBody>
                  <a:tcPr/>
                </a:tc>
                <a:tc>
                  <a:txBody>
                    <a:bodyPr/>
                    <a:lstStyle/>
                    <a:p>
                      <a:pPr lvl="0" algn="l"/>
                      <a:r>
                        <a:rPr lang="en-GB" sz="3200" dirty="0"/>
                        <a:t>Arthur</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400</a:t>
                      </a:r>
                    </a:p>
                  </a:txBody>
                  <a:tcPr/>
                </a:tc>
                <a:extLst>
                  <a:ext uri="{0D108BD9-81ED-4DB2-BD59-A6C34878D82A}">
                    <a16:rowId xmlns:a16="http://schemas.microsoft.com/office/drawing/2014/main" val="2098199609"/>
                  </a:ext>
                </a:extLst>
              </a:tr>
              <a:tr h="592552">
                <a:tc>
                  <a:txBody>
                    <a:bodyPr/>
                    <a:lstStyle/>
                    <a:p>
                      <a:pPr lvl="0"/>
                      <a:r>
                        <a:rPr lang="en-GB" sz="3200" dirty="0"/>
                        <a:t>2</a:t>
                      </a:r>
                    </a:p>
                  </a:txBody>
                  <a:tcPr/>
                </a:tc>
                <a:tc>
                  <a:txBody>
                    <a:bodyPr/>
                    <a:lstStyle/>
                    <a:p>
                      <a:pPr lvl="0" algn="l"/>
                      <a:r>
                        <a:rPr lang="en-GB" sz="3200" dirty="0"/>
                        <a:t>Laura</a:t>
                      </a:r>
                    </a:p>
                  </a:txBody>
                  <a:tcPr/>
                </a:tc>
                <a:tc>
                  <a:txBody>
                    <a:bodyPr/>
                    <a:lstStyle/>
                    <a:p>
                      <a:pPr lvl="0" algn="l"/>
                      <a:r>
                        <a:rPr lang="en-GB" sz="3200" dirty="0"/>
                        <a:t>Brown</a:t>
                      </a:r>
                    </a:p>
                  </a:txBody>
                  <a:tcPr/>
                </a:tc>
                <a:tc>
                  <a:txBody>
                    <a:bodyPr/>
                    <a:lstStyle/>
                    <a:p>
                      <a:pPr lvl="0" algn="l"/>
                      <a:r>
                        <a:rPr lang="en-GB" sz="3200" dirty="0"/>
                        <a:t>ICT</a:t>
                      </a:r>
                    </a:p>
                  </a:txBody>
                  <a:tcPr/>
                </a:tc>
                <a:tc>
                  <a:txBody>
                    <a:bodyPr/>
                    <a:lstStyle/>
                    <a:p>
                      <a:pPr lvl="0"/>
                      <a:r>
                        <a:rPr lang="en-GB" sz="3200" dirty="0"/>
                        <a:t>001</a:t>
                      </a:r>
                    </a:p>
                  </a:txBody>
                  <a:tcPr/>
                </a:tc>
                <a:tc>
                  <a:txBody>
                    <a:bodyPr/>
                    <a:lstStyle/>
                    <a:p>
                      <a:pPr lvl="0"/>
                      <a:r>
                        <a:rPr lang="en-GB" sz="3200" dirty="0"/>
                        <a:t>400</a:t>
                      </a:r>
                    </a:p>
                  </a:txBody>
                  <a:tcPr/>
                </a:tc>
                <a:extLst>
                  <a:ext uri="{0D108BD9-81ED-4DB2-BD59-A6C34878D82A}">
                    <a16:rowId xmlns:a16="http://schemas.microsoft.com/office/drawing/2014/main" val="3854276890"/>
                  </a:ext>
                </a:extLst>
              </a:tr>
            </a:tbl>
          </a:graphicData>
        </a:graphic>
      </p:graphicFrame>
    </p:spTree>
    <p:extLst>
      <p:ext uri="{BB962C8B-B14F-4D97-AF65-F5344CB8AC3E}">
        <p14:creationId xmlns:p14="http://schemas.microsoft.com/office/powerpoint/2010/main" val="1098034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144</TotalTime>
  <Words>11114</Words>
  <Application>Microsoft Office PowerPoint</Application>
  <PresentationFormat>Widescreen</PresentationFormat>
  <Paragraphs>4232</Paragraphs>
  <Slides>254</Slides>
  <Notes>200</Notes>
  <HiddenSlides>114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254</vt:i4>
      </vt:variant>
    </vt:vector>
  </HeadingPairs>
  <TitlesOfParts>
    <vt:vector size="262" baseType="lpstr">
      <vt:lpstr>Arial</vt:lpstr>
      <vt:lpstr>Calibri</vt:lpstr>
      <vt:lpstr>Calibri Light</vt:lpstr>
      <vt:lpstr>Consolas</vt:lpstr>
      <vt:lpstr>Helvetica Neue</vt:lpstr>
      <vt:lpstr>ReithSans</vt:lpstr>
      <vt:lpstr>Wingdings</vt:lpstr>
      <vt:lpstr>Office Theme</vt:lpstr>
      <vt:lpstr>N5 Computing Science</vt:lpstr>
      <vt:lpstr>Plan – N5 Year 1</vt:lpstr>
      <vt:lpstr>What is a database?</vt:lpstr>
      <vt:lpstr>PowerPoint Presentation</vt:lpstr>
      <vt:lpstr>Records – Paper based</vt:lpstr>
      <vt:lpstr>Records – Paper based</vt:lpstr>
      <vt:lpstr>Records – Electronic</vt:lpstr>
      <vt:lpstr>Records – Electronic</vt:lpstr>
      <vt:lpstr>Relational Database</vt:lpstr>
      <vt:lpstr>Relational Database</vt:lpstr>
      <vt:lpstr>SQL</vt:lpstr>
      <vt:lpstr>SQL</vt:lpstr>
      <vt:lpstr>DB Browser for SQLite</vt:lpstr>
      <vt:lpstr>Edit – Preferences</vt:lpstr>
      <vt:lpstr>View – Edit Pragmas</vt:lpstr>
      <vt:lpstr>Learning Intentions</vt:lpstr>
      <vt:lpstr>Internal Commentary -  Single Line</vt:lpstr>
      <vt:lpstr>Internal Commentary – Single Line</vt:lpstr>
      <vt:lpstr>Internal Commentary – Multiple Lines</vt:lpstr>
      <vt:lpstr>Internal Commentary – Multiple Lines</vt:lpstr>
      <vt:lpstr>Learning Intentions</vt:lpstr>
      <vt:lpstr>Display information</vt:lpstr>
      <vt:lpstr>Display information</vt:lpstr>
      <vt:lpstr>Learning Intentions</vt:lpstr>
      <vt:lpstr>Table: pupil</vt:lpstr>
      <vt:lpstr>Display Data – Everything</vt:lpstr>
      <vt:lpstr>Display Data – Everything</vt:lpstr>
      <vt:lpstr>Display Data – Something</vt:lpstr>
      <vt:lpstr>Display Data – Something</vt:lpstr>
      <vt:lpstr>Order of Operations (1)</vt:lpstr>
      <vt:lpstr>Order of Operations (1)</vt:lpstr>
      <vt:lpstr>Learning Intentions</vt:lpstr>
      <vt:lpstr>Comparison Operators</vt:lpstr>
      <vt:lpstr>Comparison Operators</vt:lpstr>
      <vt:lpstr>Attributes Types</vt:lpstr>
      <vt:lpstr>Attributes Types</vt:lpstr>
      <vt:lpstr>Attributes Example</vt:lpstr>
      <vt:lpstr>Attributes Example</vt:lpstr>
      <vt:lpstr>Filter Results: Text</vt:lpstr>
      <vt:lpstr>Filter Results: Text</vt:lpstr>
      <vt:lpstr>Order of Operations (2)</vt:lpstr>
      <vt:lpstr>Order of Operations (2)</vt:lpstr>
      <vt:lpstr>Filter Results: Number</vt:lpstr>
      <vt:lpstr>Filter Results: Number</vt:lpstr>
      <vt:lpstr>Filter Results: Date</vt:lpstr>
      <vt:lpstr>Filter Results: Date</vt:lpstr>
      <vt:lpstr>Filter Results: Time</vt:lpstr>
      <vt:lpstr>Filter Results: Time</vt:lpstr>
      <vt:lpstr>Filter Results: Boolean</vt:lpstr>
      <vt:lpstr>Filter Results: Boolean</vt:lpstr>
      <vt:lpstr>Learning Intentions</vt:lpstr>
      <vt:lpstr>Sort Results – Small to Big</vt:lpstr>
      <vt:lpstr>Sort Results – Small to Big</vt:lpstr>
      <vt:lpstr>Sort Results – Big to Small</vt:lpstr>
      <vt:lpstr>Sort Results – Big to Small</vt:lpstr>
      <vt:lpstr>Order of Operations (3)</vt:lpstr>
      <vt:lpstr>Order of Operations (3)</vt:lpstr>
      <vt:lpstr>Order of Operations (3)</vt:lpstr>
      <vt:lpstr>Order of Operations (3)</vt:lpstr>
      <vt:lpstr>Sort Results – Multiple fields</vt:lpstr>
      <vt:lpstr>Sort Results – Multiple fields</vt:lpstr>
      <vt:lpstr>Learning Intentions</vt:lpstr>
      <vt:lpstr>Filter Results: Complex - AND</vt:lpstr>
      <vt:lpstr>Filter Results: Complex - AND</vt:lpstr>
      <vt:lpstr>Filter Results: Complex - OR</vt:lpstr>
      <vt:lpstr>Filter Results: Complex - OR</vt:lpstr>
      <vt:lpstr>Filter Results: Complex!</vt:lpstr>
      <vt:lpstr>Filter Results: Complex!</vt:lpstr>
      <vt:lpstr>Order of Operations (4)</vt:lpstr>
      <vt:lpstr>Order of Operations (4)</vt:lpstr>
      <vt:lpstr>Prison Task</vt:lpstr>
      <vt:lpstr>Doing It All!</vt:lpstr>
      <vt:lpstr>Doing It All!</vt:lpstr>
      <vt:lpstr>Santa's List</vt:lpstr>
      <vt:lpstr>Santa's List - SQL</vt:lpstr>
      <vt:lpstr>Video Games Task</vt:lpstr>
      <vt:lpstr>Learning Intentions</vt:lpstr>
      <vt:lpstr>Primary Key (PK)</vt:lpstr>
      <vt:lpstr>Primary Key (PK)</vt:lpstr>
      <vt:lpstr>Foreign Key (FK)</vt:lpstr>
      <vt:lpstr>Foreign Key (FK)</vt:lpstr>
      <vt:lpstr>Relationship – Two Entities</vt:lpstr>
      <vt:lpstr>Relationship – Two Entities</vt:lpstr>
      <vt:lpstr>Entity: Address</vt:lpstr>
      <vt:lpstr>Relationship – Two Entities</vt:lpstr>
      <vt:lpstr>Relationship – Two Entities</vt:lpstr>
      <vt:lpstr>Equi-join - Generic</vt:lpstr>
      <vt:lpstr>Equi-join - Generic</vt:lpstr>
      <vt:lpstr>Equi-join - Example</vt:lpstr>
      <vt:lpstr>Equi-join - Example</vt:lpstr>
      <vt:lpstr>Order of Operations (5)</vt:lpstr>
      <vt:lpstr>Order of Operations (5)</vt:lpstr>
      <vt:lpstr>Order of Operations (6)</vt:lpstr>
      <vt:lpstr>Order of Operations (6)</vt:lpstr>
      <vt:lpstr>Learning Intentions</vt:lpstr>
      <vt:lpstr>Add Data – Single Record (1) – Example</vt:lpstr>
      <vt:lpstr>Add Data – Single Record (1) – Example</vt:lpstr>
      <vt:lpstr>Add Data – Single Record (2) – Example</vt:lpstr>
      <vt:lpstr>Add Data – Single Record (2) – Example</vt:lpstr>
      <vt:lpstr>Add Data – Multiple Records – Example</vt:lpstr>
      <vt:lpstr>Add Data – Multiple Records – Example</vt:lpstr>
      <vt:lpstr>Add Data – Some Fields</vt:lpstr>
      <vt:lpstr>Add Data – Some Fields</vt:lpstr>
      <vt:lpstr>Add Data – Some Fields – Example</vt:lpstr>
      <vt:lpstr>Add Data – Some Fields – Example</vt:lpstr>
      <vt:lpstr>Learning Intentions</vt:lpstr>
      <vt:lpstr>Change Data</vt:lpstr>
      <vt:lpstr>Change Data</vt:lpstr>
      <vt:lpstr>Change Data – In stages</vt:lpstr>
      <vt:lpstr>Change Data – In stages</vt:lpstr>
      <vt:lpstr>Change Data – Multiple fields</vt:lpstr>
      <vt:lpstr>Change Data – Multiple fields</vt:lpstr>
      <vt:lpstr>Learning Intentions</vt:lpstr>
      <vt:lpstr>Remove Data</vt:lpstr>
      <vt:lpstr>Remove Data</vt:lpstr>
      <vt:lpstr>Remove Data – In stages</vt:lpstr>
      <vt:lpstr>Remove Data – In stages</vt:lpstr>
      <vt:lpstr>SQL Queries - Overview</vt:lpstr>
      <vt:lpstr>SQL Queries - Overview</vt:lpstr>
      <vt:lpstr>Membership Task</vt:lpstr>
      <vt:lpstr>Plan – N5 Year 2</vt:lpstr>
      <vt:lpstr>Assessment</vt:lpstr>
      <vt:lpstr>Assessment</vt:lpstr>
      <vt:lpstr>GDPR</vt:lpstr>
      <vt:lpstr>Learning Intentions</vt:lpstr>
      <vt:lpstr>Lawfulness, fairness and transparency</vt:lpstr>
      <vt:lpstr>Purpose limitation</vt:lpstr>
      <vt:lpstr>Data minimisation</vt:lpstr>
      <vt:lpstr>Accuracy</vt:lpstr>
      <vt:lpstr>Storage limitation</vt:lpstr>
      <vt:lpstr>Integrity and confidentiality</vt:lpstr>
      <vt:lpstr>GDPR Key Principles</vt:lpstr>
      <vt:lpstr>GDPR Key Principles</vt:lpstr>
      <vt:lpstr>Learning Intentions</vt:lpstr>
      <vt:lpstr>Requirements</vt:lpstr>
      <vt:lpstr>Requirements</vt:lpstr>
      <vt:lpstr>End-User Requirements</vt:lpstr>
      <vt:lpstr>End-User Requirements</vt:lpstr>
      <vt:lpstr>Functional Requirements (Queries)</vt:lpstr>
      <vt:lpstr>Functional Requirements (Queries)</vt:lpstr>
      <vt:lpstr>Learning Intentions</vt:lpstr>
      <vt:lpstr>Tables / Fields</vt:lpstr>
      <vt:lpstr>Tables / Fields</vt:lpstr>
      <vt:lpstr>Keys</vt:lpstr>
      <vt:lpstr>Keys</vt:lpstr>
      <vt:lpstr>ERD 1:M</vt:lpstr>
      <vt:lpstr>ERD 1:M</vt:lpstr>
      <vt:lpstr>ERD M:1</vt:lpstr>
      <vt:lpstr>ERD M:1</vt:lpstr>
      <vt:lpstr>Analysis and Design</vt:lpstr>
      <vt:lpstr>Analysis and Design</vt:lpstr>
      <vt:lpstr>Learning Intentions</vt:lpstr>
      <vt:lpstr>Entities and Attributes</vt:lpstr>
      <vt:lpstr>Entities and Attributes</vt:lpstr>
      <vt:lpstr>Primary Key</vt:lpstr>
      <vt:lpstr>Primary Key</vt:lpstr>
      <vt:lpstr>Foreign Key</vt:lpstr>
      <vt:lpstr>Foreign Key</vt:lpstr>
      <vt:lpstr>ER Diagram – Attributes (1)</vt:lpstr>
      <vt:lpstr>ER Diagram – Attributes (1)</vt:lpstr>
      <vt:lpstr>ER Diagram – Attributes (2)</vt:lpstr>
      <vt:lpstr>ER Diagram – Attributes (2)</vt:lpstr>
      <vt:lpstr>Entity Relationship Diagram</vt:lpstr>
      <vt:lpstr>Entity Relationship Diagram</vt:lpstr>
      <vt:lpstr>Cardinality: 1 to 1</vt:lpstr>
      <vt:lpstr>Cardinality: 1 to 1</vt:lpstr>
      <vt:lpstr>Cardinality: 1 to Many</vt:lpstr>
      <vt:lpstr>Cardinality: 1 to Many</vt:lpstr>
      <vt:lpstr>Cardinality: Many to Many</vt:lpstr>
      <vt:lpstr>Cardinality: Many to Many</vt:lpstr>
      <vt:lpstr>Cardinality</vt:lpstr>
      <vt:lpstr>Validation</vt:lpstr>
      <vt:lpstr>Validation</vt:lpstr>
      <vt:lpstr>Validation - Examples</vt:lpstr>
      <vt:lpstr>Validation - Examples</vt:lpstr>
      <vt:lpstr>Learning Intentions</vt:lpstr>
      <vt:lpstr>Data Dictionary (1)</vt:lpstr>
      <vt:lpstr>Data Dictionary (1)</vt:lpstr>
      <vt:lpstr>Text Attribute</vt:lpstr>
      <vt:lpstr>Text Attribute</vt:lpstr>
      <vt:lpstr>Data Dictionary (2)</vt:lpstr>
      <vt:lpstr>Data Dictionary (2)</vt:lpstr>
      <vt:lpstr>Referential integrity</vt:lpstr>
      <vt:lpstr>Referential integrity</vt:lpstr>
      <vt:lpstr>Data Dictionary (3)</vt:lpstr>
      <vt:lpstr>Data Dictionary (3)</vt:lpstr>
      <vt:lpstr>Analysis &amp; Design</vt:lpstr>
      <vt:lpstr>PowerPoint Presentation</vt:lpstr>
      <vt:lpstr>Query Design (SELECT)</vt:lpstr>
      <vt:lpstr>Query Design (SELECT)</vt:lpstr>
      <vt:lpstr>Query Design (INSERT)</vt:lpstr>
      <vt:lpstr>Query Design (INSERT)</vt:lpstr>
      <vt:lpstr>Query Design (UPDATE)</vt:lpstr>
      <vt:lpstr>Query Design (UPDATE)</vt:lpstr>
      <vt:lpstr>Query Design (DELETE)</vt:lpstr>
      <vt:lpstr>Query Design (DELETE)</vt:lpstr>
      <vt:lpstr>Learning Intentions</vt:lpstr>
      <vt:lpstr>Testing</vt:lpstr>
      <vt:lpstr>Fit for Purpose</vt:lpstr>
      <vt:lpstr>Evaluation</vt:lpstr>
      <vt:lpstr>Evaluation</vt:lpstr>
      <vt:lpstr>PowerPoint Presentation</vt:lpstr>
      <vt:lpstr>PowerPoint Presentation</vt:lpstr>
      <vt:lpstr>Evaluation - Overview</vt:lpstr>
      <vt:lpstr>Evaluation - Overview</vt:lpstr>
      <vt:lpstr>Fit for Purpose</vt:lpstr>
      <vt:lpstr>Fit for Purpose</vt:lpstr>
      <vt:lpstr>Accuracy of Output</vt:lpstr>
      <vt:lpstr>Accuracy of Output</vt:lpstr>
      <vt:lpstr>Learning Intentions</vt:lpstr>
      <vt:lpstr>Data Types</vt:lpstr>
      <vt:lpstr>Data Types</vt:lpstr>
      <vt:lpstr>Validation</vt:lpstr>
      <vt:lpstr>Validation</vt:lpstr>
      <vt:lpstr>CREATE TABLE</vt:lpstr>
      <vt:lpstr>CREATE TABLE</vt:lpstr>
      <vt:lpstr>CREATE TABLE – Task 1</vt:lpstr>
      <vt:lpstr>CREATE TABLE – Task 1 - Solution</vt:lpstr>
      <vt:lpstr>CREATE TABLE – Task 2</vt:lpstr>
      <vt:lpstr>CREATE TABLE – Task 2 - Solution</vt:lpstr>
      <vt:lpstr>Learning Intentions</vt:lpstr>
      <vt:lpstr>Modify Table – 8 Steps</vt:lpstr>
      <vt:lpstr>Modify Table – 8 Steps</vt:lpstr>
      <vt:lpstr>Modify Table Task</vt:lpstr>
      <vt:lpstr>Database Definition</vt:lpstr>
      <vt:lpstr>Database Definition</vt:lpstr>
      <vt:lpstr>Modify Table: 1 Get Table Definition</vt:lpstr>
      <vt:lpstr>Modify Table: 1 Get Table Definition</vt:lpstr>
      <vt:lpstr>Modify Table: 1 Get Table Definition</vt:lpstr>
      <vt:lpstr>Modify Table: 1 Get Table Definition</vt:lpstr>
      <vt:lpstr>Modify Table: 2 Create Empty Table</vt:lpstr>
      <vt:lpstr>Modify Table: 2 Create Empty Table</vt:lpstr>
      <vt:lpstr>Modify Table: 3 Copy Data</vt:lpstr>
      <vt:lpstr>Modify Table: 3 Copy Data</vt:lpstr>
      <vt:lpstr>Modify Table: 4 Check Data</vt:lpstr>
      <vt:lpstr>Modify Table: 4 Check Data</vt:lpstr>
      <vt:lpstr>Modify Table: 5 Referential integrity: Off</vt:lpstr>
      <vt:lpstr>Modify Table: 5 Referential integrity: Off</vt:lpstr>
      <vt:lpstr>Modify Table: 6 Delete Old Table</vt:lpstr>
      <vt:lpstr>Modify Table: 6 Delete Table</vt:lpstr>
      <vt:lpstr>Modify Table: 7 Rename New Table</vt:lpstr>
      <vt:lpstr>Modify Table: 7 Rename New Table</vt:lpstr>
      <vt:lpstr>Modify Table: 8 Referential integrity: On</vt:lpstr>
      <vt:lpstr>Modify Table: 8 Referential integrity: On</vt:lpstr>
      <vt:lpstr>Collection of Information</vt:lpstr>
      <vt:lpstr>Advantages &amp; Disadvantages</vt:lpstr>
      <vt:lpstr>Flat File Database</vt:lpstr>
      <vt:lpstr>Flat File Database</vt:lpstr>
      <vt:lpstr>Insert Anomaly</vt:lpstr>
      <vt:lpstr>Insert Anomaly</vt:lpstr>
      <vt:lpstr>Delete Anomaly</vt:lpstr>
      <vt:lpstr>Delete Anomaly</vt:lpstr>
      <vt:lpstr>Update Anomaly</vt:lpstr>
      <vt:lpstr>Update Anomaly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 Friend</dc:creator>
  <cp:lastModifiedBy>Al Friend</cp:lastModifiedBy>
  <cp:revision>496</cp:revision>
  <cp:lastPrinted>2021-06-18T08:15:49Z</cp:lastPrinted>
  <dcterms:created xsi:type="dcterms:W3CDTF">2020-11-23T14:36:09Z</dcterms:created>
  <dcterms:modified xsi:type="dcterms:W3CDTF">2026-10-30T10:37:34Z</dcterms:modified>
</cp:coreProperties>
</file>
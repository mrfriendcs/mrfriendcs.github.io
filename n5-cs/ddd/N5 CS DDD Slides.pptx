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6"/>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93" r:id="rId143"/>
    <p:sldId id="528" r:id="rId144"/>
    <p:sldId id="529" r:id="rId145"/>
    <p:sldId id="530" r:id="rId146"/>
    <p:sldId id="499" r:id="rId147"/>
    <p:sldId id="506" r:id="rId148"/>
    <p:sldId id="500" r:id="rId149"/>
    <p:sldId id="507" r:id="rId150"/>
    <p:sldId id="496" r:id="rId151"/>
    <p:sldId id="533" r:id="rId152"/>
    <p:sldId id="763" r:id="rId153"/>
    <p:sldId id="761" r:id="rId154"/>
    <p:sldId id="759" r:id="rId155"/>
    <p:sldId id="760" r:id="rId156"/>
    <p:sldId id="757" r:id="rId157"/>
    <p:sldId id="758" r:id="rId158"/>
    <p:sldId id="501" r:id="rId159"/>
    <p:sldId id="508" r:id="rId160"/>
    <p:sldId id="495" r:id="rId161"/>
    <p:sldId id="509" r:id="rId162"/>
    <p:sldId id="467" r:id="rId163"/>
    <p:sldId id="840" r:id="rId164"/>
    <p:sldId id="838" r:id="rId165"/>
    <p:sldId id="839" r:id="rId166"/>
    <p:sldId id="534" r:id="rId167"/>
    <p:sldId id="503" r:id="rId168"/>
    <p:sldId id="512" r:id="rId169"/>
    <p:sldId id="836" r:id="rId170"/>
    <p:sldId id="837" r:id="rId171"/>
    <p:sldId id="519" r:id="rId172"/>
    <p:sldId id="532" r:id="rId173"/>
    <p:sldId id="502" r:id="rId174"/>
    <p:sldId id="513" r:id="rId175"/>
    <p:sldId id="518" r:id="rId176"/>
    <p:sldId id="535" r:id="rId177"/>
    <p:sldId id="514" r:id="rId178"/>
    <p:sldId id="515" r:id="rId179"/>
    <p:sldId id="520" r:id="rId180"/>
    <p:sldId id="516" r:id="rId181"/>
    <p:sldId id="517" r:id="rId182"/>
    <p:sldId id="538" r:id="rId183"/>
    <p:sldId id="537" r:id="rId184"/>
    <p:sldId id="856" r:id="rId185"/>
    <p:sldId id="866" r:id="rId186"/>
    <p:sldId id="860" r:id="rId187"/>
    <p:sldId id="867" r:id="rId188"/>
    <p:sldId id="858" r:id="rId189"/>
    <p:sldId id="868" r:id="rId190"/>
    <p:sldId id="869" r:id="rId191"/>
    <p:sldId id="871" r:id="rId192"/>
    <p:sldId id="870" r:id="rId193"/>
    <p:sldId id="872" r:id="rId194"/>
    <p:sldId id="461" r:id="rId195"/>
    <p:sldId id="729" r:id="rId196"/>
    <p:sldId id="819" r:id="rId197"/>
    <p:sldId id="256" r:id="rId198"/>
    <p:sldId id="524" r:id="rId199"/>
    <p:sldId id="820" r:id="rId200"/>
    <p:sldId id="821" r:id="rId201"/>
    <p:sldId id="822" r:id="rId202"/>
    <p:sldId id="823" r:id="rId203"/>
    <p:sldId id="824" r:id="rId204"/>
    <p:sldId id="826" r:id="rId205"/>
    <p:sldId id="523" r:id="rId206"/>
    <p:sldId id="827" r:id="rId207"/>
    <p:sldId id="690" r:id="rId208"/>
    <p:sldId id="480" r:id="rId209"/>
    <p:sldId id="777" r:id="rId210"/>
    <p:sldId id="680" r:id="rId211"/>
    <p:sldId id="684" r:id="rId212"/>
    <p:sldId id="682" r:id="rId213"/>
    <p:sldId id="681" r:id="rId214"/>
    <p:sldId id="874" r:id="rId215"/>
    <p:sldId id="482" r:id="rId216"/>
    <p:sldId id="873" r:id="rId217"/>
    <p:sldId id="842" r:id="rId218"/>
    <p:sldId id="843" r:id="rId219"/>
    <p:sldId id="846" r:id="rId220"/>
    <p:sldId id="850" r:id="rId221"/>
    <p:sldId id="847" r:id="rId222"/>
    <p:sldId id="849" r:id="rId223"/>
    <p:sldId id="828" r:id="rId224"/>
    <p:sldId id="829" r:id="rId225"/>
    <p:sldId id="691" r:id="rId226"/>
    <p:sldId id="692" r:id="rId227"/>
    <p:sldId id="693" r:id="rId228"/>
    <p:sldId id="694" r:id="rId229"/>
    <p:sldId id="695" r:id="rId230"/>
    <p:sldId id="696" r:id="rId231"/>
    <p:sldId id="697" r:id="rId232"/>
    <p:sldId id="698" r:id="rId233"/>
    <p:sldId id="699" r:id="rId234"/>
    <p:sldId id="700" r:id="rId235"/>
    <p:sldId id="701" r:id="rId236"/>
    <p:sldId id="740" r:id="rId237"/>
    <p:sldId id="741" r:id="rId238"/>
    <p:sldId id="769" r:id="rId239"/>
    <p:sldId id="742" r:id="rId240"/>
    <p:sldId id="774" r:id="rId241"/>
    <p:sldId id="764" r:id="rId242"/>
    <p:sldId id="766" r:id="rId243"/>
    <p:sldId id="765" r:id="rId244"/>
    <p:sldId id="768" r:id="rId24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Cardinality" id="{12EF5A2B-A0F7-4F06-BD1F-F08B7156C11F}">
          <p14:sldIdLst>
            <p14:sldId id="493"/>
            <p14:sldId id="528"/>
            <p14:sldId id="529"/>
            <p14:sldId id="530"/>
            <p14:sldId id="499"/>
            <p14:sldId id="506"/>
            <p14:sldId id="500"/>
            <p14:sldId id="507"/>
            <p14:sldId id="496"/>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Validation" id="{960C753B-D75F-4BD0-BB9D-EFEB3AE6A3E3}">
          <p14:sldIdLst>
            <p14:sldId id="467"/>
            <p14:sldId id="840"/>
            <p14:sldId id="838"/>
            <p14:sldId id="839"/>
          </p14:sldIdLst>
        </p14:section>
        <p14:section name="Data dictionary" id="{9CA5A04E-ED73-4CF8-B424-44457E4EFEF6}">
          <p14:sldIdLst>
            <p14:sldId id="534"/>
            <p14:sldId id="503"/>
            <p14:sldId id="512"/>
            <p14:sldId id="836"/>
            <p14:sldId id="837"/>
            <p14:sldId id="519"/>
            <p14:sldId id="532"/>
            <p14:sldId id="502"/>
            <p14:sldId id="513"/>
            <p14:sldId id="518"/>
          </p14:sldIdLst>
        </p14:section>
        <p14:section name="Query design" id="{C6B6DB09-4C97-48C8-99C9-D1EA85B0A8EC}">
          <p14:sldIdLst>
            <p14:sldId id="535"/>
            <p14:sldId id="514"/>
            <p14:sldId id="515"/>
            <p14:sldId id="520"/>
            <p14:sldId id="516"/>
            <p14:sldId id="517"/>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commentAuthors" Target="commentAuthor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presProps" Target="pres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viewProps" Target="viewProp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tableStyles" Target="tableStyle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252" Type="http://schemas.microsoft.com/office/2016/11/relationships/changesInfo" Target="changesInfos/changesInfo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notesMaster" Target="notesMasters/notesMaster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custSel addSld delSld modSld modSection">
      <pc:chgData name="Al Friend" userId="e5ed79da-d858-46d4-9eed-a7a24903f2de" providerId="ADAL" clId="{DC736F26-FCCE-4022-AF24-D4DE4D68AC4B}" dt="2025-11-10T13:47:41.106" v="80" actId="403"/>
      <pc:docMkLst>
        <pc:docMk/>
      </pc:docMkLst>
      <pc:sldChg chg="modSp">
        <pc:chgData name="Al Friend" userId="e5ed79da-d858-46d4-9eed-a7a24903f2de" providerId="ADAL" clId="{DC736F26-FCCE-4022-AF24-D4DE4D68AC4B}" dt="2025-11-06T13:50:44.263" v="28" actId="113"/>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modSp">
        <pc:chgData name="Al Friend" userId="e5ed79da-d858-46d4-9eed-a7a24903f2de" providerId="ADAL" clId="{DC736F26-FCCE-4022-AF24-D4DE4D68AC4B}" dt="2025-11-06T13:37:54.429" v="19" actId="20577"/>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pc:chgData name="Al Friend" userId="e5ed79da-d858-46d4-9eed-a7a24903f2de" providerId="ADAL" clId="{DC736F26-FCCE-4022-AF24-D4DE4D68AC4B}" dt="2025-11-06T13:37:46.367" v="9" actId="20577"/>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addSp delSp modSp delAnim modAnim">
        <pc:chgData name="Al Friend" userId="e5ed79da-d858-46d4-9eed-a7a24903f2de" providerId="ADAL" clId="{DC736F26-FCCE-4022-AF24-D4DE4D68AC4B}" dt="2025-11-06T13:54:04.407" v="51" actId="207"/>
        <pc:sldMkLst>
          <pc:docMk/>
          <pc:sldMk cId="1324513705" sldId="842"/>
        </pc:sldMkLst>
        <pc:spChg chg="mod">
          <ac:chgData name="Al Friend" userId="e5ed79da-d858-46d4-9eed-a7a24903f2de" providerId="ADAL" clId="{DC736F26-FCCE-4022-AF24-D4DE4D68AC4B}" dt="2025-11-06T13:51:56.833" v="30" actId="20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06T13:52:00.010" v="31" actId="20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mod">
          <ac:chgData name="Al Friend" userId="e5ed79da-d858-46d4-9eed-a7a24903f2de" providerId="ADAL" clId="{DC736F26-FCCE-4022-AF24-D4DE4D68AC4B}" dt="2025-11-06T13:52:29.785" v="35" actId="207"/>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pc:chgData name="Al Friend" userId="e5ed79da-d858-46d4-9eed-a7a24903f2de" providerId="ADAL" clId="{DC736F26-FCCE-4022-AF24-D4DE4D68AC4B}" dt="2025-11-06T13:58:44.435" v="53" actId="113"/>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pc:chgData name="Al Friend" userId="e5ed79da-d858-46d4-9eed-a7a24903f2de" providerId="ADAL" clId="{DC736F26-FCCE-4022-AF24-D4DE4D68AC4B}" dt="2025-11-06T14:00:08.241" v="58" actId="113"/>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pc:chgData name="Al Friend" userId="e5ed79da-d858-46d4-9eed-a7a24903f2de" providerId="ADAL" clId="{DC736F26-FCCE-4022-AF24-D4DE4D68AC4B}" dt="2025-11-06T14:00:30.866" v="63" actId="113"/>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delSp add modTransition delAnim">
        <pc:chgData name="Al Friend" userId="e5ed79da-d858-46d4-9eed-a7a24903f2de" providerId="ADAL" clId="{DC736F26-FCCE-4022-AF24-D4DE4D68AC4B}" dt="2025-11-06T13:51:17.259" v="29" actId="478"/>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pc:chgData name="Al Friend" userId="e5ed79da-d858-46d4-9eed-a7a24903f2de" providerId="ADAL" clId="{DC736F26-FCCE-4022-AF24-D4DE4D68AC4B}" dt="2025-11-10T13:47:41.106" v="80" actId="403"/>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10/11/2025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Use this for Data Dictionary (1) &amp; Data Dictionary (2)</a:t>
            </a:r>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983591565"/>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2949238574"/>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197</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10/11/2025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10/11/2025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2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3.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4.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6.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07980" y="1825625"/>
            <a:ext cx="6045820" cy="4351338"/>
          </a:xfrm>
        </p:spPr>
        <p:txBody>
          <a:bodyPr>
            <a:normAutofit/>
          </a:bodyPr>
          <a:lstStyle/>
          <a:p>
            <a:pPr marL="0" indent="0">
              <a:buNone/>
              <a:tabLst>
                <a:tab pos="4320000" algn="l"/>
              </a:tabLst>
            </a:pPr>
            <a:r>
              <a:rPr lang="en-GB" sz="4300" dirty="0"/>
              <a:t>Must </a:t>
            </a:r>
            <a:r>
              <a:rPr lang="en-GB" sz="4000" dirty="0"/>
              <a:t>not be left blank</a:t>
            </a:r>
          </a:p>
          <a:p>
            <a:pPr marL="0" indent="0">
              <a:buNone/>
              <a:tabLst>
                <a:tab pos="4320000" algn="l"/>
              </a:tabLst>
            </a:pPr>
            <a:r>
              <a:rPr lang="en-GB" sz="4000" dirty="0"/>
              <a:t>List of acceptable values</a:t>
            </a:r>
          </a:p>
          <a:p>
            <a:pPr marL="0" indent="0">
              <a:buNone/>
              <a:tabLst>
                <a:tab pos="4320000" algn="l"/>
              </a:tabLst>
            </a:pPr>
            <a:r>
              <a:rPr lang="en-GB" sz="4000" dirty="0"/>
              <a:t>Minimum or exact value</a:t>
            </a:r>
          </a:p>
          <a:p>
            <a:pPr marL="0" indent="0">
              <a:buNone/>
              <a:tabLst>
                <a:tab pos="4320000" algn="l"/>
              </a:tabLst>
            </a:pPr>
            <a:r>
              <a:rPr lang="en-GB" sz="4000" dirty="0"/>
              <a:t>Minimum and/or maximum</a:t>
            </a:r>
          </a:p>
          <a:p>
            <a:endParaRPr lang="en-GB" dirty="0"/>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018048" y="1825625"/>
            <a:ext cx="6335752" cy="4351338"/>
          </a:xfrm>
        </p:spPr>
        <p:txBody>
          <a:bodyPr>
            <a:normAutofit/>
          </a:bodyPr>
          <a:lstStyle/>
          <a:p>
            <a:pPr>
              <a:tabLst>
                <a:tab pos="4320000" algn="l"/>
              </a:tabLst>
            </a:pPr>
            <a:r>
              <a:rPr lang="en-GB" sz="4300" dirty="0"/>
              <a:t> </a:t>
            </a:r>
            <a:endParaRPr lang="en-GB" sz="4000" dirty="0"/>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endParaRPr lang="en-GB" dirty="0"/>
          </a:p>
        </p:txBody>
      </p:sp>
    </p:spTree>
    <p:extLst>
      <p:ext uri="{BB962C8B-B14F-4D97-AF65-F5344CB8AC3E}">
        <p14:creationId xmlns:p14="http://schemas.microsoft.com/office/powerpoint/2010/main" val="3208443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30282" y="1825625"/>
            <a:ext cx="6023517" cy="4351338"/>
          </a:xfrm>
        </p:spPr>
        <p:txBody>
          <a:bodyPr>
            <a:normAutofit/>
          </a:bodyPr>
          <a:lstStyle/>
          <a:p>
            <a:pPr marL="0" indent="0">
              <a:buNone/>
              <a:tabLst>
                <a:tab pos="4320000" algn="l"/>
              </a:tabLst>
            </a:pPr>
            <a:r>
              <a:rPr lang="en-GB" sz="4300" i="1" dirty="0"/>
              <a:t>Required</a:t>
            </a:r>
            <a:r>
              <a:rPr lang="en-GB" sz="4300" dirty="0"/>
              <a:t> </a:t>
            </a:r>
            <a:r>
              <a:rPr lang="en-GB" sz="4300" dirty="0">
                <a:solidFill>
                  <a:srgbClr val="FF0000"/>
                </a:solidFill>
              </a:rPr>
              <a:t>Yes</a:t>
            </a:r>
            <a:endParaRPr lang="en-GB" sz="4000" dirty="0">
              <a:solidFill>
                <a:srgbClr val="FF0000"/>
              </a:solidFill>
            </a:endParaRPr>
          </a:p>
          <a:p>
            <a:pPr marL="0" indent="0">
              <a:buNone/>
              <a:tabLst>
                <a:tab pos="4320000" algn="l"/>
              </a:tabLst>
            </a:pPr>
            <a:r>
              <a:rPr lang="en-GB" sz="4000" dirty="0"/>
              <a:t>Restricted choice: Big, Small</a:t>
            </a:r>
          </a:p>
          <a:p>
            <a:pPr marL="0" indent="0">
              <a:buNone/>
              <a:tabLst>
                <a:tab pos="4320000" algn="l"/>
              </a:tabLst>
            </a:pPr>
            <a:r>
              <a:rPr lang="en-GB" sz="4000" dirty="0"/>
              <a:t>Length &gt;= 4</a:t>
            </a:r>
          </a:p>
          <a:p>
            <a:pPr marL="0" indent="0">
              <a:buNone/>
              <a:tabLst>
                <a:tab pos="4320000" algn="l"/>
              </a:tabLst>
            </a:pPr>
            <a:r>
              <a:rPr lang="en-GB" sz="4000" dirty="0"/>
              <a:t>Range &gt;= 0 and &lt;= 100</a:t>
            </a:r>
          </a:p>
          <a:p>
            <a:endParaRPr lang="en-GB" dirty="0"/>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Effect transition="in" filter="wipe(left)">
                                      <p:cBhvr>
                                        <p:cTn id="11" dur="1500"/>
                                        <p:tgtEl>
                                          <p:spTgt spid="4">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wipe(left)">
                                      <p:cBhvr>
                                        <p:cTn id="15" dur="1500"/>
                                        <p:tgtEl>
                                          <p:spTgt spid="4">
                                            <p:txEl>
                                              <p:pRg st="2" end="2"/>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wipe(left)">
                                      <p:cBhvr>
                                        <p:cTn id="19" dur="1500"/>
                                        <p:tgtEl>
                                          <p:spTgt spid="4">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2">
                                            <p:txEl>
                                              <p:pRg st="0" end="0"/>
                                            </p:txEl>
                                          </p:spTgt>
                                        </p:tgtEl>
                                        <p:attrNameLst>
                                          <p:attrName>style.visibility</p:attrName>
                                        </p:attrNameLst>
                                      </p:cBhvr>
                                      <p:to>
                                        <p:strVal val="visible"/>
                                      </p:to>
                                    </p:set>
                                    <p:animEffect transition="in" filter="wipe(left)">
                                      <p:cBhvr>
                                        <p:cTn id="24" dur="2000"/>
                                        <p:tgtEl>
                                          <p:spTgt spid="2">
                                            <p:txEl>
                                              <p:pRg st="0" end="0"/>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
                                            <p:txEl>
                                              <p:pRg st="1" end="1"/>
                                            </p:txEl>
                                          </p:spTgt>
                                        </p:tgtEl>
                                        <p:attrNameLst>
                                          <p:attrName>style.visibility</p:attrName>
                                        </p:attrNameLst>
                                      </p:cBhvr>
                                      <p:to>
                                        <p:strVal val="visible"/>
                                      </p:to>
                                    </p:set>
                                    <p:animEffect transition="in" filter="wipe(left)">
                                      <p:cBhvr>
                                        <p:cTn id="29" dur="2000"/>
                                        <p:tgtEl>
                                          <p:spTgt spid="2">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2" end="2"/>
                                            </p:txEl>
                                          </p:spTgt>
                                        </p:tgtEl>
                                        <p:attrNameLst>
                                          <p:attrName>style.visibility</p:attrName>
                                        </p:attrNameLst>
                                      </p:cBhvr>
                                      <p:to>
                                        <p:strVal val="visible"/>
                                      </p:to>
                                    </p:set>
                                    <p:animEffect transition="in" filter="wipe(left)">
                                      <p:cBhvr>
                                        <p:cTn id="34" dur="2000"/>
                                        <p:tgtEl>
                                          <p:spTgt spid="2">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3" end="3"/>
                                            </p:txEl>
                                          </p:spTgt>
                                        </p:tgtEl>
                                        <p:attrNameLst>
                                          <p:attrName>style.visibility</p:attrName>
                                        </p:attrNameLst>
                                      </p:cBhvr>
                                      <p:to>
                                        <p:strVal val="visible"/>
                                      </p:to>
                                    </p:set>
                                    <p:animEffect transition="in" filter="wipe(left)">
                                      <p:cBhvr>
                                        <p:cTn id="39"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Content Placeholder 5">
            <a:extLst>
              <a:ext uri="{FF2B5EF4-FFF2-40B4-BE49-F238E27FC236}">
                <a16:creationId xmlns:a16="http://schemas.microsoft.com/office/drawing/2014/main" id="{0E4C3F63-B28C-4F12-B047-7FD235E1C8E9}"/>
              </a:ext>
            </a:extLst>
          </p:cNvPr>
          <p:cNvSpPr>
            <a:spLocks noGrp="1"/>
          </p:cNvSpPr>
          <p:nvPr>
            <p:ph sz="half" idx="2"/>
          </p:nvPr>
        </p:nvSpPr>
        <p:spPr>
          <a:xfrm>
            <a:off x="5129561" y="1825625"/>
            <a:ext cx="6224239" cy="4351338"/>
          </a:xfrm>
        </p:spPr>
        <p:txBody>
          <a:bodyPr>
            <a:normAutofit/>
          </a:bodyPr>
          <a:lstStyle/>
          <a:p>
            <a:r>
              <a:rPr lang="en-GB" sz="4000" dirty="0"/>
              <a:t> 	</a:t>
            </a:r>
          </a:p>
          <a:p>
            <a:r>
              <a:rPr lang="en-GB" sz="4000" dirty="0"/>
              <a:t> </a:t>
            </a:r>
          </a:p>
          <a:p>
            <a:r>
              <a:rPr lang="en-GB" sz="4000" dirty="0"/>
              <a:t> </a:t>
            </a:r>
          </a:p>
          <a:p>
            <a:r>
              <a:rPr lang="en-GB" sz="4000" dirty="0"/>
              <a:t> </a:t>
            </a:r>
          </a:p>
        </p:txBody>
      </p:sp>
    </p:spTree>
    <p:extLst>
      <p:ext uri="{BB962C8B-B14F-4D97-AF65-F5344CB8AC3E}">
        <p14:creationId xmlns:p14="http://schemas.microsoft.com/office/powerpoint/2010/main" val="14352352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Only text attributes are given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animEffect transition="in" filter="wipe(left)">
                                      <p:cBhvr>
                                        <p:cTn id="17" dur="1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066695024"/>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167249" y="5285056"/>
            <a:ext cx="3022687" cy="523220"/>
          </a:xfrm>
          <a:prstGeom prst="rect">
            <a:avLst/>
          </a:prstGeom>
          <a:noFill/>
        </p:spPr>
        <p:txBody>
          <a:bodyPr wrap="none" rtlCol="0">
            <a:spAutoFit/>
          </a:bodyPr>
          <a:lstStyle/>
          <a:p>
            <a:r>
              <a:rPr lang="en-GB" sz="2800" b="1" dirty="0">
                <a:solidFill>
                  <a:srgbClr val="7030A0"/>
                </a:solidFill>
              </a:rPr>
              <a:t>FK must exist as PK</a:t>
            </a:r>
            <a:endParaRPr lang="en-GB" sz="3200" b="1" dirty="0">
              <a:solidFill>
                <a:srgbClr val="7030A0"/>
              </a:solidFill>
            </a:endParaRP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7175500" y="4711700"/>
            <a:ext cx="1785620" cy="1373134"/>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1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Referential Integrity</a:t>
            </a:r>
          </a:p>
        </p:txBody>
      </p:sp>
      <p:sp>
        <p:nvSpPr>
          <p:cNvPr id="3" name="Content Placeholder 2"/>
          <p:cNvSpPr>
            <a:spLocks noGrp="1"/>
          </p:cNvSpPr>
          <p:nvPr>
            <p:ph idx="1"/>
          </p:nvPr>
        </p:nvSpPr>
        <p:spPr/>
        <p:txBody>
          <a:bodyPr/>
          <a:lstStyle/>
          <a:p>
            <a:endParaRPr lang="en-GB"/>
          </a:p>
        </p:txBody>
      </p:sp>
    </p:spTree>
    <p:extLst>
      <p:ext uri="{BB962C8B-B14F-4D97-AF65-F5344CB8AC3E}">
        <p14:creationId xmlns:p14="http://schemas.microsoft.com/office/powerpoint/2010/main" val="13070194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54352199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474439757"/>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 / UPDATE /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573864169"/>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6155730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2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23" name="TextBox 22">
            <a:extLst>
              <a:ext uri="{FF2B5EF4-FFF2-40B4-BE49-F238E27FC236}">
                <a16:creationId xmlns:a16="http://schemas.microsoft.com/office/drawing/2014/main" id="{1A324138-540E-483C-9E05-34704F040F08}"/>
              </a:ext>
            </a:extLst>
          </p:cNvPr>
          <p:cNvSpPr txBox="1"/>
          <p:nvPr/>
        </p:nvSpPr>
        <p:spPr>
          <a:xfrm>
            <a:off x="9856551" y="5197693"/>
            <a:ext cx="1052454" cy="523220"/>
          </a:xfrm>
          <a:prstGeom prst="rect">
            <a:avLst/>
          </a:prstGeom>
          <a:noFill/>
        </p:spPr>
        <p:txBody>
          <a:bodyPr wrap="square" rtlCol="0">
            <a:spAutoFit/>
          </a:bodyPr>
          <a:lstStyle/>
          <a:p>
            <a:pPr algn="ctr"/>
            <a:r>
              <a:rPr lang="en-GB" sz="2800" b="1" dirty="0">
                <a:solidFill>
                  <a:srgbClr val="FF0000"/>
                </a:solidFill>
              </a:rPr>
              <a:t>1:M</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wipe(left)">
                                      <p:cBhvr>
                                        <p:cTn id="6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23" grpId="0"/>
      <p:bldP spid="7" grpId="0" animBg="1"/>
      <p:bldP spid="11" grpId="0" animBg="1"/>
      <p:bldP spid="17" grpId="0" animBg="1"/>
    </p:bldLst>
  </p:timing>
</p:sld>
</file>

<file path=ppt/slides/slide2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2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6958</TotalTime>
  <Words>11527</Words>
  <Application>Microsoft Office PowerPoint</Application>
  <PresentationFormat>Widescreen</PresentationFormat>
  <Paragraphs>4676</Paragraphs>
  <Slides>244</Slides>
  <Notes>189</Notes>
  <HiddenSlides>109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244</vt:i4>
      </vt:variant>
    </vt:vector>
  </HeadingPairs>
  <TitlesOfParts>
    <vt:vector size="25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Validation</vt:lpstr>
      <vt:lpstr>Validation</vt:lpstr>
      <vt:lpstr>Validation - Examples</vt:lpstr>
      <vt:lpstr>Validation - Examples</vt:lpstr>
      <vt:lpstr>PowerPoint Presentation</vt:lpstr>
      <vt:lpstr>Data Dictionary (1)</vt:lpstr>
      <vt:lpstr>Data Dictionary</vt:lpstr>
      <vt:lpstr>Text Attribute</vt:lpstr>
      <vt:lpstr>Text Attribute</vt:lpstr>
      <vt:lpstr>Data Dictionary (2)</vt:lpstr>
      <vt:lpstr>Referential integrity</vt:lpstr>
      <vt:lpstr>Data Dictionary (3)</vt:lpstr>
      <vt:lpstr>Analysis &amp; Design</vt:lpstr>
      <vt:lpstr>Referential Integrity</vt:lpstr>
      <vt:lpstr>PowerPoint Presentation</vt:lpstr>
      <vt:lpstr>Query Design (SELECT)</vt:lpstr>
      <vt:lpstr>Query Design (INSERT)</vt:lpstr>
      <vt:lpstr>Query Design (INSERT / UPDATE / DELETE)</vt:lpstr>
      <vt:lpstr>Query Design (UPDATE)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449</cp:revision>
  <cp:lastPrinted>2021-06-18T08:15:49Z</cp:lastPrinted>
  <dcterms:created xsi:type="dcterms:W3CDTF">2020-11-23T14:36:09Z</dcterms:created>
  <dcterms:modified xsi:type="dcterms:W3CDTF">2025-11-10T14:19:52Z</dcterms:modified>
</cp:coreProperties>
</file>
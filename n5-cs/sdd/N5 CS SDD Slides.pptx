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83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271" r:id="rId128"/>
    <p:sldId id="311" r:id="rId129"/>
    <p:sldId id="312" r:id="rId130"/>
    <p:sldId id="313" r:id="rId131"/>
    <p:sldId id="427" r:id="rId132"/>
    <p:sldId id="316" r:id="rId133"/>
    <p:sldId id="642" r:id="rId134"/>
    <p:sldId id="318" r:id="rId135"/>
    <p:sldId id="442" r:id="rId136"/>
    <p:sldId id="451" r:id="rId137"/>
    <p:sldId id="452" r:id="rId138"/>
    <p:sldId id="874" r:id="rId139"/>
    <p:sldId id="875" r:id="rId140"/>
    <p:sldId id="879" r:id="rId141"/>
    <p:sldId id="863" r:id="rId142"/>
    <p:sldId id="867" r:id="rId143"/>
    <p:sldId id="688" r:id="rId144"/>
    <p:sldId id="871" r:id="rId145"/>
    <p:sldId id="878" r:id="rId146"/>
    <p:sldId id="443" r:id="rId147"/>
    <p:sldId id="453" r:id="rId148"/>
    <p:sldId id="669" r:id="rId149"/>
    <p:sldId id="876" r:id="rId150"/>
    <p:sldId id="877" r:id="rId151"/>
    <p:sldId id="786" r:id="rId152"/>
    <p:sldId id="773" r:id="rId153"/>
    <p:sldId id="774" r:id="rId154"/>
    <p:sldId id="775" r:id="rId155"/>
    <p:sldId id="776" r:id="rId156"/>
    <p:sldId id="880" r:id="rId157"/>
    <p:sldId id="685" r:id="rId158"/>
    <p:sldId id="868" r:id="rId159"/>
    <p:sldId id="872" r:id="rId160"/>
    <p:sldId id="873" r:id="rId161"/>
    <p:sldId id="881" r:id="rId162"/>
    <p:sldId id="272" r:id="rId163"/>
    <p:sldId id="343" r:id="rId164"/>
    <p:sldId id="352" r:id="rId165"/>
    <p:sldId id="349" r:id="rId166"/>
    <p:sldId id="671" r:id="rId167"/>
    <p:sldId id="340" r:id="rId168"/>
    <p:sldId id="351" r:id="rId169"/>
    <p:sldId id="348" r:id="rId170"/>
    <p:sldId id="670" r:id="rId171"/>
    <p:sldId id="346" r:id="rId172"/>
    <p:sldId id="353" r:id="rId173"/>
    <p:sldId id="350" r:id="rId174"/>
    <p:sldId id="672" r:id="rId175"/>
    <p:sldId id="319" r:id="rId176"/>
    <p:sldId id="589" r:id="rId177"/>
    <p:sldId id="884" r:id="rId178"/>
    <p:sldId id="883" r:id="rId179"/>
    <p:sldId id="677" r:id="rId180"/>
    <p:sldId id="592" r:id="rId181"/>
    <p:sldId id="882" r:id="rId182"/>
    <p:sldId id="430" r:id="rId183"/>
    <p:sldId id="622" r:id="rId184"/>
    <p:sldId id="767" r:id="rId185"/>
    <p:sldId id="327" r:id="rId186"/>
    <p:sldId id="429" r:id="rId187"/>
    <p:sldId id="437" r:id="rId188"/>
    <p:sldId id="768" r:id="rId189"/>
    <p:sldId id="594" r:id="rId190"/>
    <p:sldId id="275" r:id="rId191"/>
    <p:sldId id="473" r:id="rId192"/>
    <p:sldId id="563" r:id="rId193"/>
    <p:sldId id="474" r:id="rId194"/>
    <p:sldId id="652" r:id="rId195"/>
    <p:sldId id="655" r:id="rId196"/>
    <p:sldId id="402" r:id="rId197"/>
    <p:sldId id="571" r:id="rId198"/>
    <p:sldId id="572" r:id="rId199"/>
    <p:sldId id="564" r:id="rId200"/>
    <p:sldId id="566" r:id="rId201"/>
    <p:sldId id="404" r:id="rId202"/>
    <p:sldId id="405" r:id="rId203"/>
    <p:sldId id="391" r:id="rId204"/>
    <p:sldId id="567" r:id="rId205"/>
    <p:sldId id="885" r:id="rId206"/>
    <p:sldId id="393" r:id="rId207"/>
    <p:sldId id="394" r:id="rId208"/>
    <p:sldId id="270" r:id="rId209"/>
    <p:sldId id="363" r:id="rId210"/>
    <p:sldId id="367" r:id="rId211"/>
    <p:sldId id="362" r:id="rId212"/>
    <p:sldId id="682" r:id="rId213"/>
    <p:sldId id="763" r:id="rId214"/>
    <p:sldId id="274" r:id="rId215"/>
    <p:sldId id="365" r:id="rId216"/>
    <p:sldId id="886" r:id="rId217"/>
    <p:sldId id="887" r:id="rId218"/>
    <p:sldId id="769" r:id="rId219"/>
    <p:sldId id="770" r:id="rId220"/>
    <p:sldId id="892" r:id="rId221"/>
    <p:sldId id="893" r:id="rId222"/>
    <p:sldId id="894" r:id="rId223"/>
    <p:sldId id="895" r:id="rId224"/>
    <p:sldId id="673" r:id="rId225"/>
    <p:sldId id="674" r:id="rId226"/>
    <p:sldId id="675" r:id="rId227"/>
    <p:sldId id="406" r:id="rId228"/>
    <p:sldId id="644" r:id="rId229"/>
    <p:sldId id="771" r:id="rId230"/>
    <p:sldId id="612" r:id="rId231"/>
    <p:sldId id="613" r:id="rId232"/>
    <p:sldId id="820" r:id="rId233"/>
    <p:sldId id="821" r:id="rId234"/>
    <p:sldId id="817" r:id="rId235"/>
    <p:sldId id="818" r:id="rId236"/>
    <p:sldId id="897" r:id="rId237"/>
    <p:sldId id="898" r:id="rId238"/>
    <p:sldId id="273" r:id="rId239"/>
    <p:sldId id="354" r:id="rId240"/>
    <p:sldId id="356" r:id="rId241"/>
    <p:sldId id="805" r:id="rId242"/>
    <p:sldId id="258" r:id="rId243"/>
    <p:sldId id="357" r:id="rId244"/>
    <p:sldId id="358" r:id="rId245"/>
    <p:sldId id="647" r:id="rId246"/>
    <p:sldId id="629" r:id="rId247"/>
    <p:sldId id="636" r:id="rId248"/>
    <p:sldId id="361" r:id="rId249"/>
    <p:sldId id="637" r:id="rId250"/>
    <p:sldId id="797" r:id="rId251"/>
    <p:sldId id="787" r:id="rId252"/>
    <p:sldId id="792" r:id="rId253"/>
    <p:sldId id="793" r:id="rId254"/>
    <p:sldId id="794" r:id="rId255"/>
    <p:sldId id="795" r:id="rId256"/>
    <p:sldId id="277" r:id="rId257"/>
    <p:sldId id="434" r:id="rId258"/>
    <p:sldId id="648" r:id="rId259"/>
    <p:sldId id="380" r:id="rId260"/>
    <p:sldId id="689" r:id="rId261"/>
    <p:sldId id="439" r:id="rId262"/>
    <p:sldId id="440" r:id="rId263"/>
    <p:sldId id="461" r:id="rId264"/>
    <p:sldId id="743" r:id="rId265"/>
    <p:sldId id="729" r:id="rId266"/>
    <p:sldId id="819" r:id="rId267"/>
    <p:sldId id="490" r:id="rId268"/>
    <p:sldId id="487" r:id="rId269"/>
    <p:sldId id="744" r:id="rId270"/>
    <p:sldId id="745" r:id="rId271"/>
    <p:sldId id="482" r:id="rId272"/>
    <p:sldId id="483" r:id="rId273"/>
    <p:sldId id="752" r:id="rId274"/>
    <p:sldId id="753" r:id="rId275"/>
    <p:sldId id="484" r:id="rId276"/>
    <p:sldId id="489" r:id="rId277"/>
    <p:sldId id="748" r:id="rId278"/>
    <p:sldId id="749" r:id="rId279"/>
    <p:sldId id="492" r:id="rId280"/>
    <p:sldId id="493" r:id="rId281"/>
    <p:sldId id="525" r:id="rId282"/>
    <p:sldId id="526" r:id="rId283"/>
    <p:sldId id="906" r:id="rId284"/>
    <p:sldId id="907" r:id="rId285"/>
    <p:sldId id="908" r:id="rId286"/>
    <p:sldId id="507" r:id="rId287"/>
    <p:sldId id="751" r:id="rId288"/>
    <p:sldId id="494" r:id="rId289"/>
    <p:sldId id="495" r:id="rId290"/>
    <p:sldId id="496" r:id="rId291"/>
    <p:sldId id="548" r:id="rId292"/>
    <p:sldId id="549" r:id="rId293"/>
    <p:sldId id="420" r:id="rId294"/>
    <p:sldId id="550" r:id="rId295"/>
    <p:sldId id="554" r:id="rId296"/>
    <p:sldId id="557" r:id="rId297"/>
    <p:sldId id="551" r:id="rId298"/>
    <p:sldId id="862" r:id="rId299"/>
    <p:sldId id="861" r:id="rId300"/>
    <p:sldId id="556" r:id="rId301"/>
    <p:sldId id="552" r:id="rId302"/>
    <p:sldId id="419" r:id="rId303"/>
    <p:sldId id="558" r:id="rId304"/>
    <p:sldId id="559" r:id="rId305"/>
    <p:sldId id="561" r:id="rId306"/>
    <p:sldId id="560" r:id="rId307"/>
    <p:sldId id="562" r:id="rId308"/>
    <p:sldId id="579" r:id="rId309"/>
    <p:sldId id="831" r:id="rId310"/>
    <p:sldId id="581" r:id="rId311"/>
    <p:sldId id="832" r:id="rId312"/>
    <p:sldId id="580" r:id="rId313"/>
    <p:sldId id="833" r:id="rId314"/>
    <p:sldId id="585" r:id="rId315"/>
    <p:sldId id="834" r:id="rId316"/>
    <p:sldId id="822" r:id="rId317"/>
    <p:sldId id="837" r:id="rId318"/>
    <p:sldId id="553" r:id="rId319"/>
    <p:sldId id="418" r:id="rId320"/>
    <p:sldId id="654" r:id="rId321"/>
    <p:sldId id="586" r:id="rId322"/>
    <p:sldId id="632" r:id="rId323"/>
    <p:sldId id="500" r:id="rId324"/>
    <p:sldId id="565" r:id="rId325"/>
    <p:sldId id="634" r:id="rId326"/>
    <p:sldId id="587" r:id="rId327"/>
    <p:sldId id="657" r:id="rId328"/>
    <p:sldId id="838" r:id="rId329"/>
    <p:sldId id="503" r:id="rId330"/>
    <p:sldId id="504" r:id="rId331"/>
    <p:sldId id="798" r:id="rId332"/>
    <p:sldId id="808" r:id="rId333"/>
    <p:sldId id="803" r:id="rId334"/>
    <p:sldId id="809" r:id="rId335"/>
    <p:sldId id="804" r:id="rId336"/>
    <p:sldId id="810" r:id="rId337"/>
    <p:sldId id="802" r:id="rId338"/>
    <p:sldId id="811" r:id="rId339"/>
    <p:sldId id="841" r:id="rId340"/>
    <p:sldId id="842" r:id="rId341"/>
    <p:sldId id="799" r:id="rId342"/>
    <p:sldId id="812" r:id="rId343"/>
    <p:sldId id="800" r:id="rId344"/>
    <p:sldId id="813" r:id="rId345"/>
    <p:sldId id="801" r:id="rId346"/>
    <p:sldId id="814" r:id="rId347"/>
    <p:sldId id="860" r:id="rId348"/>
    <p:sldId id="806" r:id="rId349"/>
    <p:sldId id="807" r:id="rId350"/>
    <p:sldId id="847" r:id="rId351"/>
    <p:sldId id="848" r:id="rId352"/>
    <p:sldId id="849" r:id="rId353"/>
    <p:sldId id="850" r:id="rId354"/>
    <p:sldId id="851" r:id="rId355"/>
    <p:sldId id="852" r:id="rId356"/>
    <p:sldId id="853" r:id="rId357"/>
    <p:sldId id="854" r:id="rId358"/>
    <p:sldId id="891" r:id="rId359"/>
    <p:sldId id="678" r:id="rId360"/>
    <p:sldId id="888" r:id="rId361"/>
    <p:sldId id="690" r:id="rId362"/>
    <p:sldId id="680" r:id="rId363"/>
    <p:sldId id="679" r:id="rId364"/>
    <p:sldId id="681" r:id="rId365"/>
    <p:sldId id="684" r:id="rId366"/>
    <p:sldId id="889" r:id="rId367"/>
    <p:sldId id="890" r:id="rId368"/>
    <p:sldId id="595" r:id="rId369"/>
    <p:sldId id="683" r:id="rId370"/>
    <p:sldId id="458" r:id="rId371"/>
    <p:sldId id="459" r:id="rId372"/>
    <p:sldId id="481" r:id="rId373"/>
    <p:sldId id="796" r:id="rId374"/>
    <p:sldId id="899" r:id="rId375"/>
    <p:sldId id="904" r:id="rId376"/>
    <p:sldId id="905" r:id="rId377"/>
    <p:sldId id="731" r:id="rId378"/>
    <p:sldId id="732" r:id="rId379"/>
    <p:sldId id="734" r:id="rId380"/>
    <p:sldId id="733" r:id="rId381"/>
    <p:sldId id="735" r:id="rId382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</p14:sldIdLst>
        </p14:section>
        <p14:section name="Testing - Extreme 1" id="{84316217-DE4B-4C3C-A4BE-C8DE44862DAE}">
          <p14:sldIdLst>
            <p14:sldId id="391"/>
            <p14:sldId id="567"/>
            <p14:sldId id="885"/>
            <p14:sldId id="393"/>
            <p14:sldId id="394"/>
          </p14:sldIdLst>
        </p14:section>
        <p14:section name="Conditional loop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 1" id="{A769AF5A-7466-4756-B97E-427C1719D541}">
          <p14:sldIdLst>
            <p14:sldId id="274"/>
            <p14:sldId id="365"/>
            <p14:sldId id="886"/>
            <p14:sldId id="887"/>
            <p14:sldId id="769"/>
            <p14:sldId id="770"/>
            <p14:sldId id="892"/>
            <p14:sldId id="893"/>
            <p14:sldId id="894"/>
            <p14:sldId id="895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Testing - Random" id="{B53A5A28-8189-4647-8F53-925E15674DD6}">
          <p14:sldIdLst>
            <p14:sldId id="817"/>
            <p14:sldId id="818"/>
            <p14:sldId id="897"/>
            <p14:sldId id="898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906"/>
            <p14:sldId id="907"/>
            <p14:sldId id="908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Input validation 2" id="{C01F10CC-F84F-4E54-B968-77F160551168}">
          <p14:sldIdLst>
            <p14:sldId id="891"/>
            <p14:sldId id="678"/>
            <p14:sldId id="888"/>
            <p14:sldId id="690"/>
            <p14:sldId id="680"/>
            <p14:sldId id="679"/>
            <p14:sldId id="681"/>
            <p14:sldId id="684"/>
            <p14:sldId id="889"/>
            <p14:sldId id="890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raversing 1-D Array 2" id="{A7979518-F93C-47A9-BB09-869261A0E69B}">
          <p14:sldIdLst>
            <p14:sldId id="899"/>
            <p14:sldId id="904"/>
            <p14:sldId id="905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473" autoAdjust="0"/>
    <p:restoredTop sz="83483" autoAdjust="0"/>
  </p:normalViewPr>
  <p:slideViewPr>
    <p:cSldViewPr snapToGrid="0" showGuides="1">
      <p:cViewPr varScale="1">
        <p:scale>
          <a:sx n="55" d="100"/>
          <a:sy n="55" d="100"/>
        </p:scale>
        <p:origin x="84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97472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377" Type="http://schemas.openxmlformats.org/officeDocument/2006/relationships/slide" Target="slides/slide376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388" Type="http://schemas.openxmlformats.org/officeDocument/2006/relationships/tableStyles" Target="tableStyles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379" Type="http://schemas.openxmlformats.org/officeDocument/2006/relationships/slide" Target="slides/slide378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slide" Target="slides/slide369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101" Type="http://schemas.openxmlformats.org/officeDocument/2006/relationships/slide" Target="slides/slide100.xml"/><Relationship Id="rId143" Type="http://schemas.openxmlformats.org/officeDocument/2006/relationships/slide" Target="slides/slide142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52" Type="http://schemas.openxmlformats.org/officeDocument/2006/relationships/slide" Target="slides/slide251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382" Type="http://schemas.openxmlformats.org/officeDocument/2006/relationships/slide" Target="slides/slide381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slide" Target="slides/slide371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383" Type="http://schemas.openxmlformats.org/officeDocument/2006/relationships/notesMaster" Target="notesMasters/notesMaster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slide" Target="slides/slide372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384" Type="http://schemas.openxmlformats.org/officeDocument/2006/relationships/commentAuthors" Target="commentAuthors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slide" Target="slides/slide373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385" Type="http://schemas.openxmlformats.org/officeDocument/2006/relationships/presProps" Target="presProps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75" Type="http://schemas.openxmlformats.org/officeDocument/2006/relationships/slide" Target="slides/slide374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386" Type="http://schemas.openxmlformats.org/officeDocument/2006/relationships/viewProps" Target="viewProps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376" Type="http://schemas.openxmlformats.org/officeDocument/2006/relationships/slide" Target="slides/slide375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387" Type="http://schemas.openxmlformats.org/officeDocument/2006/relationships/theme" Target="theme/theme1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378" Type="http://schemas.openxmlformats.org/officeDocument/2006/relationships/slide" Target="slides/slide377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slide" Target="slides/slide368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380" Type="http://schemas.openxmlformats.org/officeDocument/2006/relationships/slide" Target="slides/slide379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Relationship Id="rId99" Type="http://schemas.openxmlformats.org/officeDocument/2006/relationships/slide" Target="slides/slide98.xml"/><Relationship Id="rId122" Type="http://schemas.openxmlformats.org/officeDocument/2006/relationships/slide" Target="slides/slide12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73" Type="http://schemas.openxmlformats.org/officeDocument/2006/relationships/slide" Target="slides/slide272.xml"/><Relationship Id="rId329" Type="http://schemas.openxmlformats.org/officeDocument/2006/relationships/slide" Target="slides/slide32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6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9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6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8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0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6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7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8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9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4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5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3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4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5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2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8.xml"/><Relationship Id="rId1" Type="http://schemas.openxmlformats.org/officeDocument/2006/relationships/notesMaster" Target="../notesMasters/notesMaster1.xml"/></Relationships>
</file>

<file path=ppt/notesSlides/_rels/notesSlide2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9.xml"/><Relationship Id="rId1" Type="http://schemas.openxmlformats.org/officeDocument/2006/relationships/notesMaster" Target="../notesMasters/notesMaster1.xml"/></Relationships>
</file>

<file path=ppt/notesSlides/_rels/notesSlide2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0.xml"/><Relationship Id="rId1" Type="http://schemas.openxmlformats.org/officeDocument/2006/relationships/notesMaster" Target="../notesMasters/notesMaster1.xml"/></Relationships>
</file>

<file path=ppt/notesSlides/_rels/notesSlide2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1.xml"/><Relationship Id="rId1" Type="http://schemas.openxmlformats.org/officeDocument/2006/relationships/notesMaster" Target="../notesMasters/notesMaster1.xml"/></Relationships>
</file>

<file path=ppt/notesSlides/_rels/notesSlide2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2.xml"/><Relationship Id="rId1" Type="http://schemas.openxmlformats.org/officeDocument/2006/relationships/notesMaster" Target="../notesMasters/notesMaster1.xml"/></Relationships>
</file>

<file path=ppt/notesSlides/_rels/notesSlide2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3.xml"/><Relationship Id="rId1" Type="http://schemas.openxmlformats.org/officeDocument/2006/relationships/notesMaster" Target="../notesMasters/notesMaster1.xml"/></Relationships>
</file>

<file path=ppt/notesSlides/_rels/notesSlide2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4.xml"/><Relationship Id="rId1" Type="http://schemas.openxmlformats.org/officeDocument/2006/relationships/notesMaster" Target="../notesMasters/notesMaster1.xml"/></Relationships>
</file>

<file path=ppt/notesSlides/_rels/notesSlide2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5.xml"/><Relationship Id="rId1" Type="http://schemas.openxmlformats.org/officeDocument/2006/relationships/notesMaster" Target="../notesMasters/notesMaster1.xml"/></Relationships>
</file>

<file path=ppt/notesSlides/_rels/notesSlide2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6.xml"/><Relationship Id="rId1" Type="http://schemas.openxmlformats.org/officeDocument/2006/relationships/notesMaster" Target="../notesMasters/notesMaster1.xml"/></Relationships>
</file>

<file path=ppt/notesSlides/_rels/notesSlide2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7.xml"/><Relationship Id="rId1" Type="http://schemas.openxmlformats.org/officeDocument/2006/relationships/notesMaster" Target="../notesMasters/notesMaster1.xml"/></Relationships>
</file>

<file path=ppt/notesSlides/_rels/notesSlide2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8.xml"/><Relationship Id="rId1" Type="http://schemas.openxmlformats.org/officeDocument/2006/relationships/notesMaster" Target="../notesMasters/notesMaster1.xml"/></Relationships>
</file>

<file path=ppt/notesSlides/_rels/notesSlide2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9.xml"/><Relationship Id="rId1" Type="http://schemas.openxmlformats.org/officeDocument/2006/relationships/notesMaster" Target="../notesMasters/notesMaster1.xml"/></Relationships>
</file>

<file path=ppt/notesSlides/_rels/notesSlide2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0.xml"/><Relationship Id="rId1" Type="http://schemas.openxmlformats.org/officeDocument/2006/relationships/notesMaster" Target="../notesMasters/notesMaster1.xml"/></Relationships>
</file>

<file path=ppt/notesSlides/_rels/notesSlide2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Mixed case – lower case with humps</a:t>
            </a:r>
            <a:r>
              <a:rPr lang="en-GB"/>
              <a:t>, not CamelCase</a:t>
            </a:r>
            <a:endParaRPr lang="en-GB" dirty="0"/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237052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718760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0918434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0833040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5880380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711013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4971609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ACB25-44E4-89FB-BE42-CFBA53124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7279C-5F85-2688-D159-97951A359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EA68F4-CDE3-BD8D-E42B-628301D6E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Exceptional testing: Enter loop / Stay in loop / Exit loop – using extreme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A7D295-CFA8-F0E7-60A6-6DAD73128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2670150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A695C-EB09-3CA7-8F86-F20AE974D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585FF9-4C53-9035-7B23-F059A2A045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25AEE-C58D-B7F8-1727-D28505D47A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7F8A0-7684-E40A-64CA-B8B4AFD369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76564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252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253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https://caledoniaplay.com/wp-content/uploads/2024/06/EDU-PRODUCT-DESCRIPTION-gallery-image-AGILITY-TRAVERSING-WALL-3.jpg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687376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3948343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OneNote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 / If Else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Code it.  Paste into </a:t>
            </a:r>
            <a:r>
              <a:rPr lang="en-GB" dirty="0" err="1"/>
              <a:t>Onenote</a:t>
            </a:r>
            <a:r>
              <a:rPr lang="en-GB" dirty="0"/>
              <a:t> page plus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2447053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9580485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256126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2867964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1784163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432831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8113469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10/06/2026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10/06/2026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4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5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4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4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5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5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5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5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6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6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6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4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4.xml"/></Relationships>
</file>

<file path=ppt/slides/_rels/slide2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4.xml"/></Relationships>
</file>

<file path=ppt/slides/_rels/slide2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6.xml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6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6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6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6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6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6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6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5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5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3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6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6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6.xml"/></Relationships>
</file>

<file path=ppt/slides/_rels/slide2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6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3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3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6.xml"/></Relationships>
</file>

<file path=ppt/slides/_rels/slide2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6.xml"/></Relationships>
</file>

<file path=ppt/slides/_rels/slide2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6.xml"/></Relationships>
</file>

<file path=ppt/slides/_rels/slide2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6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6.xml"/></Relationships>
</file>

<file path=ppt/slides/_rels/slide3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4.xml"/></Relationships>
</file>

<file path=ppt/slides/_rels/slide3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4.xml"/></Relationships>
</file>

<file path=ppt/slides/_rels/slide3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4.xml"/></Relationships>
</file>

<file path=ppt/slides/_rels/slide3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4.xml"/></Relationships>
</file>

<file path=ppt/slides/_rels/slide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4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6.xml"/></Relationships>
</file>

<file path=ppt/slides/_rels/slide3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6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6.xml"/></Relationships>
</file>

<file path=ppt/slides/_rels/slide3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6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6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6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6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6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6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6.xml"/></Relationships>
</file>

<file path=ppt/slides/_rels/slide3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5.xml"/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6.xml"/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7.xml"/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8.xml"/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9.xml"/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0.xml"/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1.xml"/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2.xml"/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3.xml"/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4.xml"/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5.xml"/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6.xml"/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noProof="0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Thonny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noProof="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Sharepoint</a:t>
            </a:r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Use internal commentary in all </a:t>
            </a:r>
            <a:r>
              <a:rPr lang="en-GB" b="1" i="1" noProof="0" dirty="0"/>
              <a:t>programs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noProof="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noProof="0" smtClean="0">
                <a:effectLst/>
                <a:latin typeface="Consolas" panose="020B0609020204030204" pitchFamily="49" charset="0"/>
              </a:rPr>
              <a:t>10 June 2026</a:t>
            </a:fld>
            <a:endParaRPr lang="en-GB" sz="3200" noProof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Start all programs with internal commentary</a:t>
            </a:r>
          </a:p>
          <a:p>
            <a:r>
              <a:rPr lang="en-GB" noProof="0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noProof="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output to the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376677" y="3573767"/>
            <a:ext cx="3254916" cy="396349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to be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768727" y="5904900"/>
            <a:ext cx="3745661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to be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898442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(extra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 </a:t>
            </a:r>
            <a:r>
              <a:rPr lang="en-GB" b="1" noProof="0" dirty="0"/>
              <a:t>string</a:t>
            </a:r>
            <a:r>
              <a:rPr lang="en-GB" noProof="0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noProof="0" dirty="0"/>
              <a:t> </a:t>
            </a:r>
            <a:endParaRPr lang="en-GB" noProof="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Letters  –  "</a:t>
            </a:r>
            <a:r>
              <a:rPr lang="en-GB" noProof="0" dirty="0" err="1"/>
              <a:t>abcXYZ</a:t>
            </a:r>
            <a:r>
              <a:rPr lang="en-GB" noProof="0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0·0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True</a:t>
            </a:r>
            <a:r>
              <a:rPr lang="en-GB" noProof="0" dirty="0"/>
              <a:t> or </a:t>
            </a:r>
            <a:r>
              <a:rPr lang="en-GB" b="1" noProof="0" dirty="0"/>
              <a:t>False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b="1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Somewhere to store information</a:t>
            </a:r>
          </a:p>
          <a:p>
            <a:r>
              <a:rPr lang="en-GB" noProof="0" dirty="0"/>
              <a:t>Has a name</a:t>
            </a:r>
          </a:p>
          <a:p>
            <a:r>
              <a:rPr lang="en-GB" noProof="0" dirty="0"/>
              <a:t>Can be thought of as a box</a:t>
            </a:r>
          </a:p>
          <a:p>
            <a:r>
              <a:rPr lang="en-GB" i="1" noProof="0" dirty="0"/>
              <a:t>Can only store </a:t>
            </a:r>
            <a:r>
              <a:rPr lang="en-GB" b="1" i="1" noProof="0" dirty="0"/>
              <a:t>1</a:t>
            </a:r>
            <a:r>
              <a:rPr lang="en-GB" i="1" noProof="0" dirty="0"/>
              <a:t> piece of info</a:t>
            </a:r>
          </a:p>
          <a:p>
            <a:endParaRPr lang="en-GB" noProof="0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noProof="0" dirty="0"/>
              <a:t>Store 11 in variable1</a:t>
            </a:r>
          </a:p>
          <a:p>
            <a:endParaRPr lang="en-GB" noProof="0" dirty="0"/>
          </a:p>
          <a:p>
            <a:r>
              <a:rPr lang="en-GB" noProof="0" dirty="0"/>
              <a:t>Copy variable1 to variable2</a:t>
            </a:r>
          </a:p>
          <a:p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Variable created, with a name</a:t>
            </a:r>
          </a:p>
          <a:p>
            <a:r>
              <a:rPr lang="en-GB" noProof="0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variables do not!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93859E3-0575-48B2-8C84-48D087AEC867}"/>
              </a:ext>
            </a:extLst>
          </p:cNvPr>
          <p:cNvSpPr/>
          <p:nvPr/>
        </p:nvSpPr>
        <p:spPr>
          <a:xfrm>
            <a:off x="6714456" y="3655189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28272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FB7C40D1-FC48-487E-B0AD-FCBB25C05F09}"/>
              </a:ext>
            </a:extLst>
          </p:cNvPr>
          <p:cNvSpPr/>
          <p:nvPr/>
        </p:nvSpPr>
        <p:spPr>
          <a:xfrm>
            <a:off x="7095343" y="169985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12914"/>
              <a:gd name="adj6" fmla="val -3548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  <p:bldP spid="10" grpId="0" animBg="1"/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28F40BC-46D5-495C-B05A-D288E7E60068}"/>
              </a:ext>
            </a:extLst>
          </p:cNvPr>
          <p:cNvSpPr/>
          <p:nvPr/>
        </p:nvSpPr>
        <p:spPr>
          <a:xfrm>
            <a:off x="6944699" y="1511746"/>
            <a:ext cx="181304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04609"/>
              <a:gd name="adj6" fmla="val -273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Number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5A660EF9-961F-43D4-8DC3-081CD5141727}"/>
              </a:ext>
            </a:extLst>
          </p:cNvPr>
          <p:cNvSpPr/>
          <p:nvPr/>
        </p:nvSpPr>
        <p:spPr>
          <a:xfrm>
            <a:off x="6928024" y="3149311"/>
            <a:ext cx="1432153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17406"/>
              <a:gd name="adj6" fmla="val -28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  <p:bldP spid="9" grpId="0" animBg="1"/>
      <p:bldP spid="1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Unique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7030A0"/>
                </a:solidFill>
              </a:rPr>
              <a:t>age		number_2			number1	</a:t>
            </a:r>
            <a:r>
              <a:rPr lang="en-GB" sz="3200" noProof="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noProof="0" dirty="0"/>
              <a:t> </a:t>
            </a: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  <a:r>
              <a:rPr lang="en-GB" sz="3200" noProof="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Mixed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pupilAge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costPerKilo</a:t>
            </a:r>
            <a:r>
              <a:rPr lang="en-GB" sz="3200" noProof="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 err="1">
                <a:solidFill>
                  <a:srgbClr val="7030A0"/>
                </a:solidFill>
              </a:rPr>
              <a:t>petName</a:t>
            </a:r>
            <a:r>
              <a:rPr lang="en-GB" sz="3200" noProof="0" dirty="0">
                <a:solidFill>
                  <a:srgbClr val="7030A0"/>
                </a:solidFill>
              </a:rPr>
              <a:t>		</a:t>
            </a:r>
            <a:r>
              <a:rPr lang="en-GB" sz="3200" noProof="0" dirty="0" err="1">
                <a:solidFill>
                  <a:srgbClr val="7030A0"/>
                </a:solidFill>
              </a:rPr>
              <a:t>examGrade</a:t>
            </a:r>
            <a:endParaRPr lang="en-GB" sz="3200" noProof="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noProof="0" dirty="0"/>
          </a:p>
          <a:p>
            <a:pPr marL="0" indent="0">
              <a:spcBef>
                <a:spcPts val="0"/>
              </a:spcBef>
              <a:buNone/>
            </a:pPr>
            <a:r>
              <a:rPr lang="en-GB" noProof="0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noProof="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Python shell</a:t>
            </a:r>
          </a:p>
          <a:p>
            <a:pPr lvl="1"/>
            <a:r>
              <a:rPr lang="en-GB" sz="3200" noProof="0" dirty="0">
                <a:ea typeface="Calibri"/>
                <a:cs typeface="Calibri"/>
              </a:rPr>
              <a:t>print</a:t>
            </a:r>
          </a:p>
          <a:p>
            <a:pPr lvl="1"/>
            <a:r>
              <a:rPr lang="en-GB" sz="3200" i="1" noProof="0" dirty="0"/>
              <a:t>input</a:t>
            </a:r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i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26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noProof="0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noProof="0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use:</a:t>
            </a:r>
          </a:p>
          <a:p>
            <a:pPr lvl="1"/>
            <a:r>
              <a:rPr lang="en-GB" sz="3200" noProof="0" dirty="0"/>
              <a:t>meaningful identifiers</a:t>
            </a:r>
          </a:p>
          <a:p>
            <a:pPr lvl="1"/>
            <a:r>
              <a:rPr lang="en-GB" sz="3200" noProof="0" dirty="0"/>
              <a:t>internal commentary</a:t>
            </a:r>
          </a:p>
          <a:p>
            <a:pPr lvl="1"/>
            <a:r>
              <a:rPr lang="en-GB" sz="3200" noProof="0" dirty="0"/>
              <a:t>white space</a:t>
            </a:r>
          </a:p>
          <a:p>
            <a:pPr lvl="1"/>
            <a:r>
              <a:rPr lang="en-GB" sz="3200" b="1" noProof="0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start of a line</a:t>
            </a:r>
          </a:p>
          <a:p>
            <a:r>
              <a:rPr lang="en-GB" noProof="0" dirty="0"/>
              <a:t>indicates a block of code</a:t>
            </a:r>
          </a:p>
          <a:p>
            <a:r>
              <a:rPr lang="en-GB" noProof="0" dirty="0"/>
              <a:t>Python: very important</a:t>
            </a:r>
          </a:p>
          <a:p>
            <a:r>
              <a:rPr lang="en-GB" noProof="0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spaces at the </a:t>
            </a:r>
          </a:p>
          <a:p>
            <a:r>
              <a:rPr lang="en-GB" noProof="0" dirty="0"/>
              <a:t>indicates a </a:t>
            </a:r>
          </a:p>
          <a:p>
            <a:r>
              <a:rPr lang="en-GB" noProof="0" dirty="0"/>
              <a:t>Python: </a:t>
            </a:r>
          </a:p>
          <a:p>
            <a:r>
              <a:rPr lang="en-GB" noProof="0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2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2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GB" altLang="en-US" sz="2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GB" altLang="en-US" sz="2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8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GB" altLang="en-US" sz="26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sz="4000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40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GB" altLang="en-US" sz="5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True</a:t>
            </a:r>
          </a:p>
          <a:p>
            <a:pPr marL="0" indent="0" algn="ctr">
              <a:buNone/>
            </a:pPr>
            <a:r>
              <a:rPr lang="en-GB" noProof="0" dirty="0"/>
              <a:t>1</a:t>
            </a:r>
          </a:p>
          <a:p>
            <a:pPr marL="0" indent="0" algn="ctr">
              <a:buNone/>
            </a:pPr>
            <a:r>
              <a:rPr lang="en-GB" noProof="0" dirty="0"/>
              <a:t>On</a:t>
            </a:r>
          </a:p>
          <a:p>
            <a:pPr marL="0" indent="0" algn="ctr">
              <a:buNone/>
            </a:pPr>
            <a:r>
              <a:rPr lang="en-GB" noProof="0" dirty="0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 noProof="0" dirty="0"/>
              <a:t>False</a:t>
            </a:r>
          </a:p>
          <a:p>
            <a:pPr marL="0" indent="0" algn="ctr">
              <a:buNone/>
            </a:pPr>
            <a:r>
              <a:rPr lang="en-GB" noProof="0" dirty="0"/>
              <a:t>0</a:t>
            </a:r>
          </a:p>
          <a:p>
            <a:pPr marL="0" indent="0" algn="ctr">
              <a:buNone/>
            </a:pPr>
            <a:r>
              <a:rPr lang="en-GB" noProof="0" dirty="0"/>
              <a:t>Off</a:t>
            </a:r>
          </a:p>
          <a:p>
            <a:pPr marL="0" indent="0" algn="ctr">
              <a:buNone/>
            </a:pPr>
            <a:r>
              <a:rPr lang="en-GB" noProof="0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noProof="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noProof="0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endParaRPr lang="en-GB" noProof="0" dirty="0"/>
          </a:p>
          <a:p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 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    if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en-GB" sz="2800" noProof="0" dirty="0">
                <a:latin typeface="Consolas" panose="020B0609020204030204" pitchFamily="49" charset="0"/>
              </a:rPr>
              <a:t>    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en-GB" sz="2800" noProof="0" dirty="0">
                <a:latin typeface="Consolas" panose="020B0609020204030204" pitchFamily="49" charset="0"/>
              </a:rPr>
              <a:t>         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noProof="0" dirty="0"/>
              <a:t>Otherwise, put a finger </a:t>
            </a:r>
            <a:r>
              <a:rPr lang="en-GB" sz="3200" b="1" i="1" noProof="0" dirty="0"/>
              <a:t>on</a:t>
            </a:r>
            <a:r>
              <a:rPr lang="en-GB" sz="3200" noProof="0" dirty="0"/>
              <a:t> your nose</a:t>
            </a:r>
            <a:endParaRPr lang="en-GB" noProof="0" dirty="0"/>
          </a:p>
          <a:p>
            <a:pPr>
              <a:spcBef>
                <a:spcPts val="2400"/>
              </a:spcBef>
            </a:pPr>
            <a:r>
              <a:rPr lang="en-GB" noProof="0" dirty="0"/>
              <a:t>If your hair is dark, put a finger </a:t>
            </a:r>
            <a:r>
              <a:rPr lang="en-GB" b="1" i="1" noProof="0" dirty="0"/>
              <a:t>on</a:t>
            </a:r>
            <a:r>
              <a:rPr lang="en-GB" noProof="0" dirty="0"/>
              <a:t> your nose</a:t>
            </a:r>
          </a:p>
          <a:p>
            <a:pPr marL="914400" lvl="2" indent="0">
              <a:buNone/>
            </a:pPr>
            <a:r>
              <a:rPr lang="en-GB" sz="3200" noProof="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 -</a:t>
            </a:r>
            <a:r>
              <a:rPr lang="en-GB" sz="3600" noProof="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36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== </a:t>
            </a:r>
            <a:r>
              <a:rPr lang="en-GB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GB" sz="36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36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False</a:t>
            </a:r>
            <a:endParaRPr lang="en-GB" sz="3600" noProof="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noProof="0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</a:t>
            </a:r>
            <a:r>
              <a:rPr lang="en-GB" noProof="0" dirty="0" err="1"/>
              <a:t>elif</a:t>
            </a:r>
            <a:r>
              <a:rPr lang="en-GB" noProof="0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noProof="0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noProof="0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noProof="0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1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28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GB" altLang="en-US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if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&gt;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noProof="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noProof="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noProof="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number &lt; </a:t>
            </a:r>
            <a:r>
              <a:rPr lang="en-GB" sz="28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sz="28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noProof="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noProof="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noProof="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en-GB" sz="2800" noProof="0" dirty="0">
                <a:latin typeface="Consolas" panose="020B0609020204030204" pitchFamily="49" charset="0"/>
              </a:rPr>
              <a:t>    </a:t>
            </a:r>
            <a:r>
              <a:rPr lang="en-GB" sz="28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noProof="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noProof="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"Body temp (</a:t>
            </a:r>
            <a:r>
              <a:rPr lang="en-GB" altLang="en-US" noProof="0" dirty="0" err="1">
                <a:solidFill>
                  <a:srgbClr val="183691"/>
                </a:solidFill>
                <a:latin typeface="Consolas" panose="020B0609020204030204" pitchFamily="49" charset="0"/>
              </a:rPr>
              <a:t>deg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 C):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"Height (metres):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altLang="en-US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noProof="0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noProof="0" dirty="0">
                <a:latin typeface="Consolas" panose="020B0609020204030204" pitchFamily="49" charset="0"/>
              </a:rPr>
              <a:t>	Maximum height of 1 metre,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Maximum weight </a:t>
            </a:r>
            <a:r>
              <a:rPr lang="en-GB" noProof="0" dirty="0">
                <a:latin typeface="Consolas" panose="020B0609020204030204" pitchFamily="49" charset="0"/>
              </a:rPr>
              <a:t>of</a:t>
            </a:r>
            <a:r>
              <a:rPr lang="en-GB" sz="3200" noProof="0" dirty="0">
                <a:latin typeface="Consolas" panose="020B0609020204030204" pitchFamily="49" charset="0"/>
              </a:rPr>
              <a:t> 15 kg, i.e.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r>
              <a:rPr lang="en-GB" noProof="0" dirty="0"/>
              <a:t>ELSE IF &lt;condition 2&gt; is true THEN</a:t>
            </a:r>
          </a:p>
          <a:p>
            <a:pPr marL="0" indent="0">
              <a:buNone/>
            </a:pPr>
            <a:r>
              <a:rPr lang="en-GB" noProof="0" dirty="0"/>
              <a:t> 	do something else</a:t>
            </a:r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r>
              <a:rPr lang="en-GB" noProof="0" dirty="0" err="1"/>
              <a:t>elif</a:t>
            </a:r>
            <a:r>
              <a:rPr lang="en-GB" noProof="0" dirty="0"/>
              <a:t> 5 == 2:</a:t>
            </a:r>
          </a:p>
          <a:p>
            <a:pPr marL="0" indent="361950">
              <a:buNone/>
            </a:pPr>
            <a:r>
              <a:rPr lang="en-GB" noProof="0" dirty="0"/>
              <a:t>print("Another option")</a:t>
            </a:r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Generic</a:t>
            </a:r>
            <a:endParaRPr lang="en-GB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noProof="0" dirty="0"/>
              <a:t>IF &lt;condition 1&gt; is true THEN</a:t>
            </a:r>
          </a:p>
          <a:p>
            <a:pPr marL="0" indent="0">
              <a:buNone/>
            </a:pPr>
            <a:r>
              <a:rPr lang="en-GB" noProof="0" dirty="0"/>
              <a:t> 	do something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</a:t>
            </a:r>
          </a:p>
          <a:p>
            <a:pPr marL="0" indent="0">
              <a:buNone/>
            </a:pPr>
            <a:r>
              <a:rPr lang="en-GB" noProof="0" dirty="0"/>
              <a:t> 	do this instead</a:t>
            </a:r>
          </a:p>
          <a:p>
            <a:pPr marL="0" indent="0">
              <a:buNone/>
            </a:pPr>
            <a:r>
              <a:rPr lang="en-GB" noProof="0" dirty="0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 noProof="0" dirty="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noProof="0" dirty="0"/>
              <a:t>if 5 &lt; 2:</a:t>
            </a:r>
          </a:p>
          <a:p>
            <a:pPr marL="0" indent="361950">
              <a:buNone/>
            </a:pPr>
            <a:r>
              <a:rPr lang="en-GB" noProof="0" dirty="0"/>
              <a:t>print("True")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r>
              <a:rPr lang="en-GB" noProof="0" dirty="0"/>
              <a:t>else:</a:t>
            </a:r>
          </a:p>
          <a:p>
            <a:pPr marL="0" indent="361950">
              <a:buNone/>
            </a:pPr>
            <a:r>
              <a:rPr lang="en-GB" noProof="0" dirty="0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noProof="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noProof="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 </a:t>
            </a:r>
            <a:r>
              <a:rPr lang="en-GB" sz="2400" b="1" noProof="0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noProof="0" dirty="0">
                <a:latin typeface="Consolas" panose="020B0609020204030204" pitchFamily="49" charset="0"/>
              </a:rPr>
              <a:t>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&lt;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en-GB" sz="2400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sz="2400" noProof="0" dirty="0">
                <a:latin typeface="Consolas" panose="020B0609020204030204" pitchFamily="49" charset="0"/>
              </a:rPr>
              <a:t> age &gt;= </a:t>
            </a:r>
            <a:r>
              <a:rPr lang="en-GB" sz="2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noProof="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noProof="0" dirty="0">
                <a:latin typeface="Consolas" panose="020B0609020204030204" pitchFamily="49" charset="0"/>
              </a:rPr>
              <a:t>   </a:t>
            </a:r>
            <a:r>
              <a:rPr lang="en-GB" sz="2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noProof="0" dirty="0">
                <a:latin typeface="Consolas" panose="020B0609020204030204" pitchFamily="49" charset="0"/>
              </a:rPr>
              <a:t>(</a:t>
            </a:r>
            <a:r>
              <a:rPr lang="en-GB" sz="2400" noProof="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noProof="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</a:t>
            </a:r>
            <a:r>
              <a:rPr lang="en-GB" noProof="0" dirty="0" err="1"/>
              <a:t>SQA</a:t>
            </a:r>
            <a:r>
              <a:rPr lang="en-GB" noProof="0" dirty="0"/>
              <a:t>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noProof="0" dirty="0" err="1">
                <a:latin typeface="Consolas" panose="020B0609020204030204" pitchFamily="49" charset="0"/>
              </a:rPr>
              <a:t>SQA</a:t>
            </a:r>
            <a:r>
              <a:rPr lang="en-GB" noProof="0" dirty="0">
                <a:latin typeface="Consolas" panose="020B0609020204030204" pitchFamily="49" charset="0"/>
              </a:rPr>
              <a:t>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noProof="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random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900A7BE-6369-4056-905A-7466FA1105E3}"/>
              </a:ext>
            </a:extLst>
          </p:cNvPr>
          <p:cNvGrpSpPr/>
          <p:nvPr/>
        </p:nvGrpSpPr>
        <p:grpSpPr>
          <a:xfrm>
            <a:off x="2293618" y="2503811"/>
            <a:ext cx="1600589" cy="403591"/>
            <a:chOff x="2293618" y="2434361"/>
            <a:chExt cx="1600589" cy="403591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0030311-795A-405A-8834-DD62D151D3A4}"/>
                </a:ext>
              </a:extLst>
            </p:cNvPr>
            <p:cNvSpPr txBox="1"/>
            <p:nvPr/>
          </p:nvSpPr>
          <p:spPr>
            <a:xfrm>
              <a:off x="22936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A846B9-1F22-4447-BE10-82927557E73B}"/>
                </a:ext>
              </a:extLst>
            </p:cNvPr>
            <p:cNvSpPr txBox="1"/>
            <p:nvPr/>
          </p:nvSpPr>
          <p:spPr>
            <a:xfrm>
              <a:off x="32582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81893-E3C2-40F1-9682-75DB305A6AAF}"/>
              </a:ext>
            </a:extLst>
          </p:cNvPr>
          <p:cNvGrpSpPr/>
          <p:nvPr/>
        </p:nvGrpSpPr>
        <p:grpSpPr>
          <a:xfrm>
            <a:off x="1729597" y="3815306"/>
            <a:ext cx="1832089" cy="403591"/>
            <a:chOff x="2201018" y="2434361"/>
            <a:chExt cx="1832089" cy="403591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4A68D3-4F84-4D59-BDAC-F627386EE8B3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CE5968-4B74-40B1-8D86-AF171FD066B5}"/>
                </a:ext>
              </a:extLst>
            </p:cNvPr>
            <p:cNvSpPr txBox="1"/>
            <p:nvPr/>
          </p:nvSpPr>
          <p:spPr>
            <a:xfrm>
              <a:off x="339716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81E82D1-CDB7-4C43-A24B-D76E0EFE51C5}"/>
              </a:ext>
            </a:extLst>
          </p:cNvPr>
          <p:cNvGrpSpPr/>
          <p:nvPr/>
        </p:nvGrpSpPr>
        <p:grpSpPr>
          <a:xfrm>
            <a:off x="1550525" y="5154183"/>
            <a:ext cx="2017279" cy="403591"/>
            <a:chOff x="2201018" y="2434361"/>
            <a:chExt cx="2017279" cy="403591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B025A3-0F87-429F-9305-456125313D57}"/>
                </a:ext>
              </a:extLst>
            </p:cNvPr>
            <p:cNvSpPr txBox="1"/>
            <p:nvPr/>
          </p:nvSpPr>
          <p:spPr>
            <a:xfrm>
              <a:off x="2201018" y="2437842"/>
              <a:ext cx="66236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Min,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602FF9E-4F50-4152-8D5F-10C30A658988}"/>
                </a:ext>
              </a:extLst>
            </p:cNvPr>
            <p:cNvSpPr txBox="1"/>
            <p:nvPr/>
          </p:nvSpPr>
          <p:spPr>
            <a:xfrm>
              <a:off x="3582354" y="2434361"/>
              <a:ext cx="63594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>
                  <a:solidFill>
                    <a:srgbClr val="FF0000"/>
                  </a:solidFill>
                </a:rPr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4000"/>
                            </p:stCondLst>
                            <p:childTnLst>
                              <p:par>
                                <p:cTn id="6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6681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1015585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93386" y="4627635"/>
            <a:ext cx="144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512923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8" y="3906123"/>
            <a:ext cx="665656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26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Throwing a dice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Get extra code for random</a:t>
            </a:r>
          </a:p>
          <a:p>
            <a:r>
              <a:rPr lang="en-GB" noProof="0" dirty="0"/>
              <a:t>Loop 5 times</a:t>
            </a:r>
          </a:p>
          <a:p>
            <a:pPr lvl="1"/>
            <a:r>
              <a:rPr lang="en-GB" sz="3200" noProof="0" dirty="0"/>
              <a:t>'Throw' a dice</a:t>
            </a:r>
          </a:p>
          <a:p>
            <a:pPr lvl="1"/>
            <a:r>
              <a:rPr lang="en-GB" sz="3200" noProof="0" dirty="0"/>
              <a:t>Show what the computer threw</a:t>
            </a:r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normal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noProof="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noProof="0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6167054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2 and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85654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49259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syntax, execution, and </a:t>
            </a:r>
            <a:r>
              <a:rPr lang="en-GB" b="1" noProof="0" dirty="0"/>
              <a:t>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1764946"/>
              </p:ext>
            </p:extLst>
          </p:nvPr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01F56-8847-4ED1-22AF-E0FE259B466B}"/>
              </a:ext>
            </a:extLst>
          </p:cNvPr>
          <p:cNvGrpSpPr/>
          <p:nvPr/>
        </p:nvGrpSpPr>
        <p:grpSpPr>
          <a:xfrm>
            <a:off x="6096000" y="4817964"/>
            <a:ext cx="2584537" cy="1781460"/>
            <a:chOff x="6096000" y="4817964"/>
            <a:chExt cx="2584537" cy="17814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20CE1FB-F213-948B-6A89-D8410F65254F}"/>
                </a:ext>
              </a:extLst>
            </p:cNvPr>
            <p:cNvSpPr/>
            <p:nvPr/>
          </p:nvSpPr>
          <p:spPr>
            <a:xfrm>
              <a:off x="6096000" y="5303444"/>
              <a:ext cx="2584537" cy="1295980"/>
            </a:xfrm>
            <a:prstGeom prst="rect">
              <a:avLst/>
            </a:prstGeom>
            <a:noFill/>
            <a:ln w="571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9AD9BC3-916B-DEB8-8933-17BA5040DD72}"/>
                </a:ext>
              </a:extLst>
            </p:cNvPr>
            <p:cNvSpPr txBox="1"/>
            <p:nvPr/>
          </p:nvSpPr>
          <p:spPr>
            <a:xfrm>
              <a:off x="6146485" y="4817964"/>
              <a:ext cx="24835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Extreme Values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28CED7C0-A3E7-B61A-9579-912948FB8574}"/>
              </a:ext>
            </a:extLst>
          </p:cNvPr>
          <p:cNvSpPr txBox="1"/>
          <p:nvPr/>
        </p:nvSpPr>
        <p:spPr>
          <a:xfrm>
            <a:off x="3660794" y="5941479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7655B3-E95E-416C-186A-4F401899A90F}"/>
              </a:ext>
            </a:extLst>
          </p:cNvPr>
          <p:cNvSpPr txBox="1"/>
          <p:nvPr/>
        </p:nvSpPr>
        <p:spPr>
          <a:xfrm>
            <a:off x="4953060" y="5956093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A4123E-D472-5B5B-CFA3-7760833B324F}"/>
              </a:ext>
            </a:extLst>
          </p:cNvPr>
          <p:cNvSpPr txBox="1"/>
          <p:nvPr/>
        </p:nvSpPr>
        <p:spPr>
          <a:xfrm>
            <a:off x="6245326" y="5945655"/>
            <a:ext cx="101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EAA3E2-7982-26BD-F3D8-DB6B382FD7DD}"/>
              </a:ext>
            </a:extLst>
          </p:cNvPr>
          <p:cNvSpPr txBox="1"/>
          <p:nvPr/>
        </p:nvSpPr>
        <p:spPr>
          <a:xfrm>
            <a:off x="7474962" y="5947743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F8EE4B-9E57-D976-2BB9-1913D7E05DD0}"/>
              </a:ext>
            </a:extLst>
          </p:cNvPr>
          <p:cNvSpPr txBox="1"/>
          <p:nvPr/>
        </p:nvSpPr>
        <p:spPr>
          <a:xfrm>
            <a:off x="8767228" y="5949831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1E57EF-E573-9D88-6E1C-89437FDDF413}"/>
              </a:ext>
            </a:extLst>
          </p:cNvPr>
          <p:cNvSpPr txBox="1"/>
          <p:nvPr/>
        </p:nvSpPr>
        <p:spPr>
          <a:xfrm>
            <a:off x="10059494" y="5951919"/>
            <a:ext cx="11212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  <p:bldP spid="7" grpId="0"/>
      <p:bldP spid="8" grpId="0"/>
      <p:bldP spid="9" grpId="0"/>
      <p:bldP spid="10" grpId="0"/>
      <p:bldP spid="11" grpId="0"/>
      <p:bldP spid="14" grpId="0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at limit of </a:t>
            </a:r>
            <a:r>
              <a:rPr lang="en-GB" sz="3200" noProof="0" dirty="0"/>
              <a:t>selection – both sides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22555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/>
        </p:nvGraphicFramePr>
        <p:xfrm>
          <a:off x="917405" y="5303444"/>
          <a:ext cx="10357190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40413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548883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  <a:gridCol w="1294649">
                  <a:extLst>
                    <a:ext uri="{9D8B030D-6E8A-4147-A177-3AD203B41FA5}">
                      <a16:colId xmlns:a16="http://schemas.microsoft.com/office/drawing/2014/main" val="3248446210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b="1" dirty="0"/>
                        <a:t>Boolean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3836159" y="5305103"/>
            <a:ext cx="72218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-3         -2         -1          0          1          2</a:t>
            </a:r>
          </a:p>
        </p:txBody>
      </p:sp>
    </p:spTree>
    <p:extLst>
      <p:ext uri="{BB962C8B-B14F-4D97-AF65-F5344CB8AC3E}">
        <p14:creationId xmlns:p14="http://schemas.microsoft.com/office/powerpoint/2010/main" val="2605745702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1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91925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Determine if an integer bigger than 10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GB" sz="4000" noProof="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error message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user input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1761110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Display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Get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38199" y="365125"/>
            <a:ext cx="10794357" cy="1325563"/>
          </a:xfrm>
        </p:spPr>
        <p:txBody>
          <a:bodyPr/>
          <a:lstStyle/>
          <a:p>
            <a:r>
              <a:rPr lang="en-GB" noProof="0" dirty="0"/>
              <a:t>Input validation – Input Before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338383255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Simple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Integers – Simple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6950033" y="2375783"/>
            <a:ext cx="2653031" cy="862642"/>
          </a:xfrm>
          <a:prstGeom prst="callout2">
            <a:avLst>
              <a:gd name="adj1" fmla="val 50721"/>
              <a:gd name="adj2" fmla="val -95"/>
              <a:gd name="adj3" fmla="val 50361"/>
              <a:gd name="adj4" fmla="val -31724"/>
              <a:gd name="adj5" fmla="val 80360"/>
              <a:gd name="adj6" fmla="val -463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Logical operator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3939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 and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between 1 and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Integers – Complex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65815599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61DEF2F-5892-4BDF-BBEB-3F943E6A1A7B}"/>
              </a:ext>
            </a:extLst>
          </p:cNvPr>
          <p:cNvSpPr/>
          <p:nvPr/>
        </p:nvSpPr>
        <p:spPr>
          <a:xfrm>
            <a:off x="6339549" y="2256946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9753"/>
              <a:gd name="adj6" fmla="val -297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</p:spTree>
    <p:extLst>
      <p:ext uri="{BB962C8B-B14F-4D97-AF65-F5344CB8AC3E}">
        <p14:creationId xmlns:p14="http://schemas.microsoft.com/office/powerpoint/2010/main" val="63843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8" grpId="0" animBg="1"/>
      <p:bldP spid="7" grpId="0"/>
      <p:bldP spid="9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02701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!=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"yes"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"Have another think!"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answer = </a:t>
            </a:r>
            <a:r>
              <a:rPr lang="en-GB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"Is computing best? "</a:t>
            </a:r>
            <a:r>
              <a:rPr lang="en-GB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Strings – Simple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206040" y="6176963"/>
            <a:ext cx="77799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not used if Line 3 is False</a:t>
            </a:r>
          </a:p>
        </p:txBody>
      </p:sp>
    </p:spTree>
    <p:extLst>
      <p:ext uri="{BB962C8B-B14F-4D97-AF65-F5344CB8AC3E}">
        <p14:creationId xmlns:p14="http://schemas.microsoft.com/office/powerpoint/2010/main" val="2575066772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extreme test data in a test table</a:t>
            </a:r>
          </a:p>
          <a:p>
            <a:r>
              <a:rPr lang="en-GB" noProof="0" dirty="0"/>
              <a:t>Describe and identify execution and logic errors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Extreme – normal test data but at limit of:</a:t>
            </a:r>
          </a:p>
          <a:p>
            <a:pPr lvl="1"/>
            <a:r>
              <a:rPr lang="en-GB" sz="3200" noProof="0" dirty="0"/>
              <a:t>acceptable values</a:t>
            </a:r>
          </a:p>
          <a:p>
            <a:pPr lvl="1"/>
            <a:r>
              <a:rPr lang="en-GB" sz="3200" noProof="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exceptional test data in a test table</a:t>
            </a:r>
          </a:p>
          <a:p>
            <a:r>
              <a:rPr lang="en-GB" noProof="0" dirty="0"/>
              <a:t>Describe and identify syntax, execution, and logic errors</a:t>
            </a:r>
          </a:p>
          <a:p>
            <a:pPr marL="0" indent="0">
              <a:buNone/>
            </a:pP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Stay in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0111222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1. 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>
                          <a:solidFill>
                            <a:srgbClr val="7030A0"/>
                          </a:solidFill>
                        </a:rPr>
                        <a:t>2. 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>
                          <a:solidFill>
                            <a:srgbClr val="7030A0"/>
                          </a:solidFill>
                        </a:rPr>
                        <a:t>3. Exit</a:t>
                      </a:r>
                      <a:endParaRPr lang="en-GB" sz="2600" i="1" dirty="0">
                        <a:solidFill>
                          <a:srgbClr val="7030A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noProof="0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2783818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4914157" y="4682020"/>
            <a:ext cx="4043470" cy="515127"/>
          </a:xfrm>
          <a:prstGeom prst="callout2">
            <a:avLst>
              <a:gd name="adj1" fmla="val 49740"/>
              <a:gd name="adj2" fmla="val -432"/>
              <a:gd name="adj3" fmla="val 48737"/>
              <a:gd name="adj4" fmla="val -13283"/>
              <a:gd name="adj5" fmla="val -27194"/>
              <a:gd name="adj6" fmla="val -267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528462" y="3316888"/>
            <a:ext cx="1594671" cy="379593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108658"/>
              <a:gd name="adj6" fmla="val -3612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</a:t>
            </a:r>
            <a:r>
              <a:rPr lang="en-GB" noProof="0" dirty="0" err="1"/>
              <a:t>andom</a:t>
            </a:r>
            <a:r>
              <a:rPr lang="en-GB" noProof="0" dirty="0"/>
              <a:t>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147856"/>
            <a:ext cx="8773556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number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only used for testing logic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65725-A425-7A16-0EE6-7B9A4403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A867DFA2-2AAC-0F37-3009-7FBBDC4366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4914368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>
                          <a:solidFill>
                            <a:srgbClr val="FF000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"Incorrect"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D9526C75-87E7-C3E7-0C5E-159B24296560}"/>
              </a:ext>
            </a:extLst>
          </p:cNvPr>
          <p:cNvSpPr/>
          <p:nvPr/>
        </p:nvSpPr>
        <p:spPr>
          <a:xfrm>
            <a:off x="742950" y="5262027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F0EBB6-4134-4CF1-BD23-C3DD84FA7C51}"/>
              </a:ext>
            </a:extLst>
          </p:cNvPr>
          <p:cNvSpPr/>
          <p:nvPr/>
        </p:nvSpPr>
        <p:spPr>
          <a:xfrm>
            <a:off x="742950" y="4698952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B9B772-3E1A-3A14-67DF-5D049442848E}"/>
              </a:ext>
            </a:extLst>
          </p:cNvPr>
          <p:cNvSpPr/>
          <p:nvPr/>
        </p:nvSpPr>
        <p:spPr>
          <a:xfrm>
            <a:off x="742950" y="2979985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0016BE-A4B2-83B0-FD2E-EAB30674BB47}"/>
              </a:ext>
            </a:extLst>
          </p:cNvPr>
          <p:cNvSpPr/>
          <p:nvPr/>
        </p:nvSpPr>
        <p:spPr>
          <a:xfrm>
            <a:off x="742950" y="3542668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791AD-2295-99F5-693A-08C1086B553D}"/>
              </a:ext>
            </a:extLst>
          </p:cNvPr>
          <p:cNvSpPr/>
          <p:nvPr/>
        </p:nvSpPr>
        <p:spPr>
          <a:xfrm>
            <a:off x="742950" y="4121006"/>
            <a:ext cx="7493000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CA952F-C83D-FB42-F274-238025EC0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ED5775-6CC0-A037-C385-9ABCF3F00385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6E0A058C-DFC4-F91F-DB40-DB5369DF5125}"/>
              </a:ext>
            </a:extLst>
          </p:cNvPr>
          <p:cNvSpPr/>
          <p:nvPr/>
        </p:nvSpPr>
        <p:spPr>
          <a:xfrm>
            <a:off x="3236810" y="6145060"/>
            <a:ext cx="5176940" cy="515127"/>
          </a:xfrm>
          <a:prstGeom prst="callout2">
            <a:avLst>
              <a:gd name="adj1" fmla="val 50433"/>
              <a:gd name="adj2" fmla="val -30"/>
              <a:gd name="adj3" fmla="val 50124"/>
              <a:gd name="adj4" fmla="val -9150"/>
              <a:gd name="adj5" fmla="val -47626"/>
              <a:gd name="adj6" fmla="val -1273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Random value or picked by tester</a:t>
            </a:r>
          </a:p>
        </p:txBody>
      </p:sp>
    </p:spTree>
    <p:extLst>
      <p:ext uri="{BB962C8B-B14F-4D97-AF65-F5344CB8AC3E}">
        <p14:creationId xmlns:p14="http://schemas.microsoft.com/office/powerpoint/2010/main" val="176060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0" grpId="0" animBg="1"/>
      <p:bldP spid="5" grpId="0" animBg="1"/>
      <p:bldP spid="6" grpId="0" animBg="1"/>
      <p:bldP spid="7" grpId="0" animBg="1"/>
      <p:bldP spid="15" grpId="0"/>
      <p:bldP spid="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104334F-43A4-1866-1061-1164A2EF7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5617849A-8D06-9704-D003-BA4F7F8697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6049266"/>
              </p:ext>
            </p:extLst>
          </p:nvPr>
        </p:nvGraphicFramePr>
        <p:xfrm>
          <a:off x="742950" y="2380517"/>
          <a:ext cx="107061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774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3780168869"/>
                    </a:ext>
                  </a:extLst>
                </a:gridCol>
                <a:gridCol w="212598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31699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13030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 dirty="0"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 dirty="0"/>
                        <a:t>Display 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Error / Re-enter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5023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 algn="ctr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/>
                      <a:endParaRPr lang="en-GB" sz="3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9660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2C4E4BA-7134-4AEA-BB13-DC8C8135F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Table – Random Values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4F58F-DCB5-0307-212E-980F007FE4B3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b="1" dirty="0"/>
              <a:t>Problem: Guess a number (1 – 10)</a:t>
            </a:r>
          </a:p>
        </p:txBody>
      </p:sp>
    </p:spTree>
    <p:extLst>
      <p:ext uri="{BB962C8B-B14F-4D97-AF65-F5344CB8AC3E}">
        <p14:creationId xmlns:p14="http://schemas.microsoft.com/office/powerpoint/2010/main" val="297595096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noProof="0" dirty="0"/>
              <a:t>The ages of 5 pupils</a:t>
            </a:r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endParaRPr lang="en-GB" noProof="0" dirty="0"/>
          </a:p>
          <a:p>
            <a:pPr>
              <a:spcAft>
                <a:spcPts val="600"/>
              </a:spcAft>
            </a:pPr>
            <a:r>
              <a:rPr lang="en-GB" noProof="0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noProof="0" dirty="0">
                <a:latin typeface="Consolas" panose="020B0609020204030204" pitchFamily="49" charset="0"/>
              </a:rPr>
              <a:t>postcode = "</a:t>
            </a:r>
            <a:r>
              <a:rPr lang="en-GB" noProof="0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noProof="0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noProof="0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noProof="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age1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age2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age3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age4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noProof="0" dirty="0">
                <a:latin typeface="Consolas" panose="020B0609020204030204" pitchFamily="49" charset="0"/>
              </a:rPr>
              <a:t>age5 = </a:t>
            </a:r>
            <a:r>
              <a:rPr lang="en-GB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noProof="0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len</a:t>
            </a:r>
            <a:r>
              <a:rPr lang="en-GB" noProof="0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altLang="en-US" sz="4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noProof="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140742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2377209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1389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491718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SDD</a:t>
            </a:r>
            <a:r>
              <a:rPr lang="en-GB" sz="2800" noProof="0" dirty="0"/>
              <a:t>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 err="1"/>
              <a:t>DDD</a:t>
            </a:r>
            <a:r>
              <a:rPr lang="en-GB" sz="2800" noProof="0" dirty="0"/>
              <a:t>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noProof="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noProof="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noProof="0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noProof="0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0</a:t>
            </a:r>
            <a:endParaRPr lang="en-GB" b="1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noProof="0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noProof="0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noProof="0" dirty="0"/>
              <a:t>Computer Systems	10 – 14</a:t>
            </a:r>
            <a:endParaRPr lang="en-GB" b="1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08453856-E93E-4A56-9945-99A67F86BBC4}"/>
              </a:ext>
            </a:extLst>
          </p:cNvPr>
          <p:cNvSpPr/>
          <p:nvPr/>
        </p:nvSpPr>
        <p:spPr>
          <a:xfrm>
            <a:off x="5761264" y="1515224"/>
            <a:ext cx="2736560" cy="314074"/>
          </a:xfrm>
          <a:prstGeom prst="callout1">
            <a:avLst>
              <a:gd name="adj1" fmla="val 51692"/>
              <a:gd name="adj2" fmla="val 149"/>
              <a:gd name="adj3" fmla="val 264699"/>
              <a:gd name="adj4" fmla="val -181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will it look?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04DCB41F-F18D-4F67-982A-E05709CCCB0A}"/>
              </a:ext>
            </a:extLst>
          </p:cNvPr>
          <p:cNvSpPr/>
          <p:nvPr/>
        </p:nvSpPr>
        <p:spPr>
          <a:xfrm flipH="1">
            <a:off x="749094" y="5553321"/>
            <a:ext cx="6200170" cy="1044115"/>
          </a:xfrm>
          <a:prstGeom prst="callout1">
            <a:avLst>
              <a:gd name="adj1" fmla="val 51692"/>
              <a:gd name="adj2" fmla="val 149"/>
              <a:gd name="adj3" fmla="val 29683"/>
              <a:gd name="adj4" fmla="val -247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Fit for purpose?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Code: readable, efficient, maintainable?</a:t>
            </a: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Write the code and 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noProof="0" dirty="0"/>
              <a:t>inputs</a:t>
            </a:r>
          </a:p>
          <a:p>
            <a:pPr lvl="1"/>
            <a:r>
              <a:rPr lang="en-GB" sz="3200" noProof="0" dirty="0"/>
              <a:t>processes</a:t>
            </a:r>
          </a:p>
          <a:p>
            <a:pPr lvl="1"/>
            <a:r>
              <a:rPr lang="en-GB" sz="3200" noProof="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424761" y="3969016"/>
            <a:ext cx="273805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must </a:t>
            </a:r>
          </a:p>
          <a:p>
            <a:r>
              <a:rPr lang="en-GB" sz="3200" dirty="0"/>
              <a:t>the user enter?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424761" y="5266176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What does the program do with the data?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4217588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 must the user enter?</a:t>
            </a:r>
          </a:p>
          <a:p>
            <a:r>
              <a:rPr lang="en-GB" dirty="0"/>
              <a:t>What sensor data is provided?</a:t>
            </a:r>
          </a:p>
          <a:p>
            <a:r>
              <a:rPr lang="en-GB" dirty="0"/>
              <a:t>What does the program do with the data?</a:t>
            </a:r>
          </a:p>
          <a:p>
            <a:r>
              <a:rPr lang="en-GB" dirty="0"/>
              <a:t>How does the program create the outputs?</a:t>
            </a:r>
          </a:p>
          <a:p>
            <a:r>
              <a:rPr lang="en-GB" dirty="0"/>
              <a:t>What messages does the user see?</a:t>
            </a:r>
          </a:p>
          <a:p>
            <a:r>
              <a:rPr lang="en-GB" dirty="0"/>
              <a:t>What data is sent to another program?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48BFF9C-2457-4488-BFEA-E1745BE48FC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E7C454-56C2-447E-8313-986B6C8A9FD6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498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3C53-9313-4F21-A434-DFE318D88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5E3AA-1E23-4D7C-AB76-6AF53F918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2379562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Input(s)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Process(es)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Output(s)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56FF52-EC91-47CE-AB5F-9CAEEE96E5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17762" y="1825625"/>
            <a:ext cx="8136038" cy="4351338"/>
          </a:xfrm>
        </p:spPr>
        <p:txBody>
          <a:bodyPr>
            <a:normAutofit lnSpcReduction="10000"/>
          </a:bodyPr>
          <a:lstStyle/>
          <a:p>
            <a:r>
              <a:rPr lang="en-GB" dirty="0"/>
              <a:t>What data</a:t>
            </a:r>
          </a:p>
          <a:p>
            <a:r>
              <a:rPr lang="en-GB" dirty="0"/>
              <a:t>What sensor </a:t>
            </a:r>
          </a:p>
          <a:p>
            <a:r>
              <a:rPr lang="en-GB" dirty="0"/>
              <a:t>What does the</a:t>
            </a:r>
          </a:p>
          <a:p>
            <a:r>
              <a:rPr lang="en-GB" dirty="0"/>
              <a:t>How does the</a:t>
            </a:r>
          </a:p>
          <a:p>
            <a:r>
              <a:rPr lang="en-GB" dirty="0"/>
              <a:t>What messages</a:t>
            </a:r>
          </a:p>
          <a:p>
            <a:r>
              <a:rPr lang="en-GB" dirty="0"/>
              <a:t>What data is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97E81A7-448D-4F0C-8B45-D707C7250260}"/>
              </a:ext>
            </a:extLst>
          </p:cNvPr>
          <p:cNvCxnSpPr/>
          <p:nvPr/>
        </p:nvCxnSpPr>
        <p:spPr>
          <a:xfrm>
            <a:off x="671332" y="3136739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6892A66-088D-4484-83B8-121C052787D7}"/>
              </a:ext>
            </a:extLst>
          </p:cNvPr>
          <p:cNvCxnSpPr/>
          <p:nvPr/>
        </p:nvCxnSpPr>
        <p:spPr>
          <a:xfrm>
            <a:off x="671332" y="4643377"/>
            <a:ext cx="10579260" cy="0"/>
          </a:xfrm>
          <a:prstGeom prst="line">
            <a:avLst/>
          </a:prstGeom>
          <a:ln w="381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9998953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The inputs, processes, and outputs </a:t>
            </a:r>
          </a:p>
          <a:p>
            <a:pPr marL="0" indent="0">
              <a:buNone/>
            </a:pPr>
            <a:endParaRPr lang="en-GB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b="1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noProof="0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b="1" noProof="0" dirty="0"/>
              <a:t>flowcharts</a:t>
            </a:r>
          </a:p>
          <a:p>
            <a:pPr lvl="1"/>
            <a:r>
              <a:rPr lang="en-GB" sz="3200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 </a:t>
            </a:r>
            <a:r>
              <a:rPr lang="en-GB" i="1" noProof="0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 </a:t>
            </a:r>
            <a:r>
              <a:rPr lang="en-GB" i="1" noProof="0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  <a:r>
              <a:rPr lang="en-GB" i="1" noProof="0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noProof="0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altLang="en-US" noProof="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noProof="0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GB" altLang="en-US" noProof="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altLang="en-US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GB" altLang="en-US" sz="4400" noProof="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identify, and be able to read and understand:</a:t>
            </a:r>
          </a:p>
          <a:p>
            <a:pPr lvl="1"/>
            <a:r>
              <a:rPr lang="en-GB" sz="3200" noProof="0" dirty="0"/>
              <a:t>structure diagrams</a:t>
            </a:r>
          </a:p>
          <a:p>
            <a:pPr lvl="1"/>
            <a:r>
              <a:rPr lang="en-GB" sz="3200" noProof="0" dirty="0"/>
              <a:t>flowcharts</a:t>
            </a:r>
          </a:p>
          <a:p>
            <a:pPr lvl="1"/>
            <a:r>
              <a:rPr lang="en-GB" sz="3200" b="1" noProof="0" dirty="0"/>
              <a:t>pseudocode</a:t>
            </a:r>
          </a:p>
          <a:p>
            <a:r>
              <a:rPr lang="en-GB" noProof="0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 structured English</a:t>
            </a:r>
          </a:p>
          <a:p>
            <a:r>
              <a:rPr lang="en-GB" noProof="0" dirty="0"/>
              <a:t>Main steps show algorithm</a:t>
            </a:r>
          </a:p>
          <a:p>
            <a:r>
              <a:rPr lang="en-GB" noProof="0" dirty="0"/>
              <a:t>Refinements show detail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 </a:t>
            </a:r>
            <a:r>
              <a:rPr lang="en-GB" b="1" noProof="0" dirty="0">
                <a:solidFill>
                  <a:srgbClr val="FF0000"/>
                </a:solidFill>
              </a:rPr>
              <a:t>!=</a:t>
            </a:r>
            <a:r>
              <a:rPr lang="en-GB" noProof="0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noProof="0" dirty="0"/>
              <a:t>Written in</a:t>
            </a:r>
          </a:p>
          <a:p>
            <a:r>
              <a:rPr lang="en-GB" noProof="0" dirty="0"/>
              <a:t>Main steps</a:t>
            </a:r>
          </a:p>
          <a:p>
            <a:r>
              <a:rPr lang="en-GB" noProof="0" dirty="0"/>
              <a:t>Refinements</a:t>
            </a:r>
          </a:p>
          <a:p>
            <a:pPr marL="0" indent="0">
              <a:buNone/>
            </a:pP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 err="1"/>
              <a:t>SQA</a:t>
            </a:r>
            <a:r>
              <a:rPr lang="en-GB" noProof="0" dirty="0"/>
              <a:t> Reference Language (</a:t>
            </a:r>
            <a:r>
              <a:rPr lang="en-GB" noProof="0" dirty="0" err="1"/>
              <a:t>SQARL</a:t>
            </a:r>
            <a:r>
              <a:rPr lang="en-GB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noProof="0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noProof="0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noProof="0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noProof="0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noProof="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noProof="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noProof="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analysis, not design, and expected output</a:t>
            </a:r>
          </a:p>
          <a:p>
            <a:r>
              <a:rPr lang="en-GB" noProof="0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Comparison of solution (code and testing) with program </a:t>
            </a:r>
          </a:p>
          <a:p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 efficiencies or inefficiencies such as</a:t>
            </a:r>
          </a:p>
          <a:p>
            <a:pPr lvl="1"/>
            <a:r>
              <a:rPr lang="en-GB" sz="3200" noProof="0" dirty="0"/>
              <a:t>Array vs multiple variables</a:t>
            </a:r>
          </a:p>
          <a:p>
            <a:pPr lvl="1"/>
            <a:r>
              <a:rPr lang="en-GB" sz="3200" noProof="0" dirty="0"/>
              <a:t>Nested ifs (else ifs) vs individual ifs</a:t>
            </a:r>
          </a:p>
          <a:p>
            <a:pPr lvl="1"/>
            <a:r>
              <a:rPr lang="en-GB" sz="3200" noProof="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noProof="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tests), or lack of it</a:t>
            </a:r>
          </a:p>
          <a:p>
            <a:r>
              <a:rPr lang="en-GB" noProof="0" dirty="0"/>
              <a:t>Potential for errors – possible to enter incorrect values?</a:t>
            </a:r>
          </a:p>
          <a:p>
            <a:r>
              <a:rPr lang="en-GB" noProof="0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Input validation (exceptional tests)</a:t>
            </a:r>
          </a:p>
          <a:p>
            <a:r>
              <a:rPr lang="en-GB" noProof="0" dirty="0"/>
              <a:t>Potential for errors </a:t>
            </a:r>
          </a:p>
          <a:p>
            <a:r>
              <a:rPr lang="en-GB" noProof="0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the code does</a:t>
            </a:r>
          </a:p>
          <a:p>
            <a:r>
              <a:rPr lang="en-GB" noProof="0" dirty="0"/>
              <a:t>Helps clarify complex code</a:t>
            </a:r>
          </a:p>
          <a:p>
            <a:r>
              <a:rPr lang="en-GB" noProof="0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Explains what </a:t>
            </a:r>
          </a:p>
          <a:p>
            <a:r>
              <a:rPr lang="en-GB" noProof="0" dirty="0"/>
              <a:t>Helps clarify</a:t>
            </a:r>
          </a:p>
          <a:p>
            <a:r>
              <a:rPr lang="en-GB" noProof="0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 relate to the data</a:t>
            </a:r>
          </a:p>
          <a:p>
            <a:r>
              <a:rPr lang="en-GB" noProof="0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Names</a:t>
            </a:r>
          </a:p>
          <a:p>
            <a:r>
              <a:rPr lang="en-GB" noProof="0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 structures in program</a:t>
            </a:r>
          </a:p>
          <a:p>
            <a:r>
              <a:rPr lang="en-GB" noProof="0" dirty="0"/>
              <a:t>Easier to see sections of code</a:t>
            </a:r>
          </a:p>
          <a:p>
            <a:pPr marL="0" indent="0">
              <a:buNone/>
            </a:pPr>
            <a:endParaRPr lang="en-GB" noProof="0" dirty="0"/>
          </a:p>
          <a:p>
            <a:endParaRPr lang="en-GB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Between</a:t>
            </a:r>
          </a:p>
          <a:p>
            <a:r>
              <a:rPr lang="en-GB" noProof="0" dirty="0"/>
              <a:t>Easier to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noProof="0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200" noProof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TODO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sz="3200" noProof="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noProof="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noProof="0" dirty="0">
                <a:latin typeface="Consolas" panose="020B0609020204030204" pitchFamily="49" charset="0"/>
              </a:rPr>
              <a:t> </a:t>
            </a:r>
            <a:r>
              <a:rPr lang="en-GB" sz="3200" noProof="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noProof="0" dirty="0">
                <a:latin typeface="Consolas" panose="020B0609020204030204" pitchFamily="49" charset="0"/>
              </a:rPr>
              <a:t> Not calculating correctly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GB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GB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668997133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message, if needed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75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Initialise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        until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 Get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GB" altLang="en-US" sz="24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 - Overview</a:t>
            </a:r>
          </a:p>
        </p:txBody>
      </p:sp>
    </p:spTree>
    <p:extLst>
      <p:ext uri="{BB962C8B-B14F-4D97-AF65-F5344CB8AC3E}">
        <p14:creationId xmlns:p14="http://schemas.microsoft.com/office/powerpoint/2010/main" val="2810289383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8">
            <a:extLst>
              <a:ext uri="{FF2B5EF4-FFF2-40B4-BE49-F238E27FC236}">
                <a16:creationId xmlns:a16="http://schemas.microsoft.com/office/drawing/2014/main" id="{C6ADAFB5-1AD9-42B1-ADD2-1E5E095A36BF}"/>
              </a:ext>
            </a:extLst>
          </p:cNvPr>
          <p:cNvSpPr/>
          <p:nvPr/>
        </p:nvSpPr>
        <p:spPr>
          <a:xfrm>
            <a:off x="5720317" y="1880797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75CF1897-1D9D-4564-B4FD-1FDE40E0C63E}"/>
              </a:ext>
            </a:extLst>
          </p:cNvPr>
          <p:cNvSpPr/>
          <p:nvPr/>
        </p:nvSpPr>
        <p:spPr>
          <a:xfrm>
            <a:off x="8968686" y="272299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1132DD35-78C3-4132-A664-55E86DA2368B}"/>
              </a:ext>
            </a:extLst>
          </p:cNvPr>
          <p:cNvSpPr/>
          <p:nvPr/>
        </p:nvSpPr>
        <p:spPr>
          <a:xfrm>
            <a:off x="9463297" y="43903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303EA23D-B5C1-4330-A185-768E32AD54D2}"/>
              </a:ext>
            </a:extLst>
          </p:cNvPr>
          <p:cNvSpPr/>
          <p:nvPr/>
        </p:nvSpPr>
        <p:spPr>
          <a:xfrm>
            <a:off x="5061576" y="1233393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6" grpId="0" animBg="1"/>
      <p:bldP spid="7" grpId="0" animBg="1"/>
      <p:bldP spid="8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6220898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8758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2650028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</a:t>
            </a:r>
            <a:r>
              <a:rPr lang="en-GB" sz="36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Replit</a:t>
            </a: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N5 </a:t>
            </a:r>
            <a:r>
              <a:rPr lang="en-GB" sz="3200" noProof="0" dirty="0" err="1">
                <a:latin typeface="Calibri" panose="020F0502020204030204" pitchFamily="34" charset="0"/>
                <a:cs typeface="Calibri" panose="020F0502020204030204" pitchFamily="34" charset="0"/>
              </a:rPr>
              <a:t>SDD</a:t>
            </a:r>
            <a:r>
              <a:rPr lang="en-GB" sz="3200" noProof="0" dirty="0">
                <a:latin typeface="Calibri" panose="020F0502020204030204" pitchFamily="34" charset="0"/>
                <a:cs typeface="Calibri" panose="020F0502020204030204" pitchFamily="34" charset="0"/>
              </a:rPr>
              <a:t> Ask Questions – Loops: </a:t>
            </a:r>
            <a:r>
              <a:rPr lang="en-GB" sz="3200" noProof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School Days Left – Days: </a:t>
            </a:r>
            <a:r>
              <a:rPr lang="en-GB" sz="3200" noProof="0" dirty="0">
                <a:solidFill>
                  <a:srgbClr val="FF0000"/>
                </a:solidFill>
              </a:rPr>
              <a:t>Min 0</a:t>
            </a:r>
            <a:r>
              <a:rPr lang="en-GB" sz="3200" noProof="0" dirty="0"/>
              <a:t>, </a:t>
            </a:r>
            <a:r>
              <a:rPr lang="en-GB" sz="3200" noProof="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noProof="0" dirty="0"/>
              <a:t>N5 </a:t>
            </a:r>
            <a:r>
              <a:rPr lang="en-GB" sz="3200" noProof="0" dirty="0" err="1"/>
              <a:t>SDD</a:t>
            </a:r>
            <a:r>
              <a:rPr lang="en-GB" sz="3200" noProof="0" dirty="0"/>
              <a:t> - Decisions </a:t>
            </a:r>
            <a:r>
              <a:rPr lang="en-GB" sz="3200" noProof="0" dirty="0" err="1"/>
              <a:t>Decisions</a:t>
            </a:r>
            <a:r>
              <a:rPr lang="en-GB" sz="3200" noProof="0" dirty="0"/>
              <a:t> – Voucher: </a:t>
            </a:r>
            <a:r>
              <a:rPr lang="en-GB" sz="3200" noProof="0" dirty="0">
                <a:solidFill>
                  <a:srgbClr val="FF0000"/>
                </a:solidFill>
              </a:rPr>
              <a:t>"yes" </a:t>
            </a:r>
            <a:r>
              <a:rPr lang="en-GB" sz="3200" noProof="0" dirty="0"/>
              <a:t>or </a:t>
            </a:r>
            <a:r>
              <a:rPr lang="en-GB" sz="3200" noProof="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noProof="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noProof="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noProof="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noProof="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noProof="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noProof="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GB" altLang="en-US" sz="3600" noProof="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36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GB" altLang="en-US" sz="3600" noProof="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altLang="en-US" sz="36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GB" altLang="en-US" sz="36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36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GB" altLang="en-US" sz="36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altLang="en-US" sz="48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172222253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a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r>
              <a:rPr lang="en-GB" sz="3200" dirty="0">
                <a:solidFill>
                  <a:srgbClr val="7030A0"/>
                </a:solidFill>
              </a:rPr>
              <a:t> loop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0491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GB" altLang="en-US" sz="44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GB" altLang="en-US" sz="44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GB" altLang="en-US" sz="44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4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GB" altLang="en-US" sz="6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723907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                               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830356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GB" altLang="en-US" sz="4000" noProof="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noProof="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noProof="0" dirty="0"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GB" altLang="en-US" sz="4000" noProof="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altLang="en-US" sz="4000" noProof="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GB" altLang="en-US" sz="4000" noProof="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GB" altLang="en-US" sz="4000" noProof="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altLang="en-US" sz="4000" noProof="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GB" altLang="en-US" sz="4000" noProof="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14596</Words>
  <Application>Microsoft Office PowerPoint</Application>
  <PresentationFormat>Widescreen</PresentationFormat>
  <Paragraphs>3628</Paragraphs>
  <Slides>381</Slides>
  <Notes>297</Notes>
  <HiddenSlides>164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381</vt:i4>
      </vt:variant>
    </vt:vector>
  </HeadingPairs>
  <TitlesOfParts>
    <vt:vector size="386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Throwing a dice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Input Before Loop - Overview</vt:lpstr>
      <vt:lpstr>Input validation – Input Before Loop - Overview</vt:lpstr>
      <vt:lpstr>Input Validation – Integers – Simple</vt:lpstr>
      <vt:lpstr>Input Validation – Integers – Simple</vt:lpstr>
      <vt:lpstr>Input Validation – Integers – Complex</vt:lpstr>
      <vt:lpstr>Input Validation – Integers – Complex</vt:lpstr>
      <vt:lpstr>Input Validation – Strings – Simple</vt:lpstr>
      <vt:lpstr>Input Validation – Strings – Simple</vt:lpstr>
      <vt:lpstr>Learning Intentions</vt:lpstr>
      <vt:lpstr>Extreme Test Data</vt:lpstr>
      <vt:lpstr>Extreme Test Data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Random – Testing</vt:lpstr>
      <vt:lpstr>Random – Testing</vt:lpstr>
      <vt:lpstr>Test Table – Random Values</vt:lpstr>
      <vt:lpstr>Test Table – Random Values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Functional Requirements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Input validation – Input in Loop - Overview</vt:lpstr>
      <vt:lpstr>Input validation – Input in Loop - Overview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Input Validation – Simple String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Traversing an array – Data out (2)</vt:lpstr>
      <vt:lpstr>Traversing an array – Data out (2)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2026-06-10T14:55:45Z</dcterms:modified>
</cp:coreProperties>
</file>